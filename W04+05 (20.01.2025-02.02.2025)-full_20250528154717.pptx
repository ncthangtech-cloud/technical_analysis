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charts/chart3.xml" ContentType="application/vnd.openxmlformats-officedocument.drawingml.chart+xml"/>
  <Override PartName="/ppt/theme/themeOverride3.xml" ContentType="application/vnd.openxmlformats-officedocument.themeOverr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4.xml" ContentType="application/vnd.openxmlformats-officedocument.themeOverride+xml"/>
  <Override PartName="/ppt/notesSlides/notesSlide3.xml" ContentType="application/vnd.openxmlformats-officedocument.presentationml.notesSlide+xml"/>
  <Override PartName="/ppt/charts/chart5.xml" ContentType="application/vnd.openxmlformats-officedocument.drawingml.chart+xml"/>
  <Override PartName="/ppt/theme/themeOverride5.xml" ContentType="application/vnd.openxmlformats-officedocument.themeOverride+xml"/>
  <Override PartName="/ppt/charts/chart6.xml" ContentType="application/vnd.openxmlformats-officedocument.drawingml.chart+xml"/>
  <Override PartName="/ppt/theme/themeOverride6.xml" ContentType="application/vnd.openxmlformats-officedocument.themeOverr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5.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7.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rts/chart8.xml" ContentType="application/vnd.openxmlformats-officedocument.drawingml.chart+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4.xml" ContentType="application/vnd.openxmlformats-officedocument.presentationml.notesSl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45.xml" ContentType="application/vnd.openxmlformats-officedocument.presentationml.notesSlid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46.xml" ContentType="application/vnd.openxmlformats-officedocument.presentationml.notesSlid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1.xml" ContentType="application/vnd.openxmlformats-officedocument.drawingml.chartshapes+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charts/chart14.xml" ContentType="application/vnd.openxmlformats-officedocument.drawingml.chart+xml"/>
  <Override PartName="/ppt/charts/style9.xml" ContentType="application/vnd.ms-office.chartstyle+xml"/>
  <Override PartName="/ppt/charts/colors9.xml" ContentType="application/vnd.ms-office.chartcolorstyle+xml"/>
  <Override PartName="/ppt/drawings/drawing2.xml" ContentType="application/vnd.openxmlformats-officedocument.drawingml.chartshapes+xml"/>
  <Override PartName="/ppt/charts/chart15.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rts/chart16.xml" ContentType="application/vnd.openxmlformats-officedocument.drawingml.chart+xml"/>
  <Override PartName="/ppt/theme/themeOverride7.xml" ContentType="application/vnd.openxmlformats-officedocument.themeOverride+xml"/>
  <Override PartName="/ppt/notesSlides/notesSlide52.xml" ContentType="application/vnd.openxmlformats-officedocument.presentationml.notesSlid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8.xml" ContentType="application/vnd.openxmlformats-officedocument.themeOverride+xml"/>
  <Override PartName="/ppt/notesSlides/notesSlide53.xml" ContentType="application/vnd.openxmlformats-officedocument.presentationml.notesSlid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9.xml" ContentType="application/vnd.openxmlformats-officedocument.themeOverride+xml"/>
  <Override PartName="/ppt/notesSlides/notesSlide54.xml" ContentType="application/vnd.openxmlformats-officedocument.presentationml.notesSlide+xml"/>
  <Override PartName="/ppt/charts/chart19.xml" ContentType="application/vnd.openxmlformats-officedocument.drawingml.chart+xml"/>
  <Override PartName="/ppt/charts/style13.xml" ContentType="application/vnd.ms-office.chartstyle+xml"/>
  <Override PartName="/ppt/charts/colors13.xml" ContentType="application/vnd.ms-office.chartcolorstyle+xml"/>
  <Override PartName="/ppt/theme/themeOverride10.xml" ContentType="application/vnd.openxmlformats-officedocument.themeOverr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Lst>
  <p:notesMasterIdLst>
    <p:notesMasterId r:id="rId92"/>
  </p:notesMasterIdLst>
  <p:sldIdLst>
    <p:sldId id="11486" r:id="rId5"/>
    <p:sldId id="11487" r:id="rId6"/>
    <p:sldId id="11488" r:id="rId7"/>
    <p:sldId id="11574" r:id="rId8"/>
    <p:sldId id="11489" r:id="rId9"/>
    <p:sldId id="11490" r:id="rId10"/>
    <p:sldId id="11491" r:id="rId11"/>
    <p:sldId id="11492" r:id="rId12"/>
    <p:sldId id="11493" r:id="rId13"/>
    <p:sldId id="11494" r:id="rId14"/>
    <p:sldId id="11495" r:id="rId15"/>
    <p:sldId id="11496" r:id="rId16"/>
    <p:sldId id="11497" r:id="rId17"/>
    <p:sldId id="11498" r:id="rId18"/>
    <p:sldId id="11499" r:id="rId19"/>
    <p:sldId id="11500" r:id="rId20"/>
    <p:sldId id="11501" r:id="rId21"/>
    <p:sldId id="11502" r:id="rId22"/>
    <p:sldId id="11503" r:id="rId23"/>
    <p:sldId id="11504" r:id="rId24"/>
    <p:sldId id="11505" r:id="rId25"/>
    <p:sldId id="11506" r:id="rId26"/>
    <p:sldId id="11507" r:id="rId27"/>
    <p:sldId id="11508" r:id="rId28"/>
    <p:sldId id="11509" r:id="rId29"/>
    <p:sldId id="11510" r:id="rId30"/>
    <p:sldId id="11511" r:id="rId31"/>
    <p:sldId id="11512" r:id="rId32"/>
    <p:sldId id="11513" r:id="rId33"/>
    <p:sldId id="11571" r:id="rId34"/>
    <p:sldId id="11572" r:id="rId35"/>
    <p:sldId id="11515" r:id="rId36"/>
    <p:sldId id="11516" r:id="rId37"/>
    <p:sldId id="11517" r:id="rId38"/>
    <p:sldId id="11518" r:id="rId39"/>
    <p:sldId id="11519" r:id="rId40"/>
    <p:sldId id="11573" r:id="rId41"/>
    <p:sldId id="11521" r:id="rId42"/>
    <p:sldId id="11522" r:id="rId43"/>
    <p:sldId id="11523" r:id="rId44"/>
    <p:sldId id="11524" r:id="rId45"/>
    <p:sldId id="11525" r:id="rId46"/>
    <p:sldId id="11526" r:id="rId47"/>
    <p:sldId id="11527" r:id="rId48"/>
    <p:sldId id="11528" r:id="rId49"/>
    <p:sldId id="11529" r:id="rId50"/>
    <p:sldId id="11530" r:id="rId51"/>
    <p:sldId id="11531" r:id="rId52"/>
    <p:sldId id="11532" r:id="rId53"/>
    <p:sldId id="11533" r:id="rId54"/>
    <p:sldId id="11534" r:id="rId55"/>
    <p:sldId id="11535" r:id="rId56"/>
    <p:sldId id="11536" r:id="rId57"/>
    <p:sldId id="11537" r:id="rId58"/>
    <p:sldId id="11538" r:id="rId59"/>
    <p:sldId id="11539" r:id="rId60"/>
    <p:sldId id="11540" r:id="rId61"/>
    <p:sldId id="11541" r:id="rId62"/>
    <p:sldId id="11542" r:id="rId63"/>
    <p:sldId id="11543" r:id="rId64"/>
    <p:sldId id="11544" r:id="rId65"/>
    <p:sldId id="11545" r:id="rId66"/>
    <p:sldId id="11546" r:id="rId67"/>
    <p:sldId id="11547" r:id="rId68"/>
    <p:sldId id="11548" r:id="rId69"/>
    <p:sldId id="11549" r:id="rId70"/>
    <p:sldId id="11550" r:id="rId71"/>
    <p:sldId id="11551" r:id="rId72"/>
    <p:sldId id="11552" r:id="rId73"/>
    <p:sldId id="11553" r:id="rId74"/>
    <p:sldId id="11554" r:id="rId75"/>
    <p:sldId id="11555" r:id="rId76"/>
    <p:sldId id="11556" r:id="rId77"/>
    <p:sldId id="11557" r:id="rId78"/>
    <p:sldId id="11558" r:id="rId79"/>
    <p:sldId id="11559" r:id="rId80"/>
    <p:sldId id="11560" r:id="rId81"/>
    <p:sldId id="11561" r:id="rId82"/>
    <p:sldId id="11562" r:id="rId83"/>
    <p:sldId id="11563" r:id="rId84"/>
    <p:sldId id="11564" r:id="rId85"/>
    <p:sldId id="11565" r:id="rId86"/>
    <p:sldId id="11566" r:id="rId87"/>
    <p:sldId id="11567" r:id="rId88"/>
    <p:sldId id="11568" r:id="rId89"/>
    <p:sldId id="11569" r:id="rId90"/>
    <p:sldId id="11570" r:id="rId91"/>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499" autoAdjust="0"/>
    <p:restoredTop sz="95337" autoAdjust="0"/>
  </p:normalViewPr>
  <p:slideViewPr>
    <p:cSldViewPr>
      <p:cViewPr varScale="1">
        <p:scale>
          <a:sx n="74" d="100"/>
          <a:sy n="74" d="100"/>
        </p:scale>
        <p:origin x="108" y="54"/>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D:\P.MOC\B&#225;o%20c&#225;o%20tu&#7847;n\2025\W04+05\W04+05%20(20.01.2025-02.02.2025).xlsx" TargetMode="External"/></Relationships>
</file>

<file path=ppt/charts/_rels/chart2.xml.rels><?xml version="1.0" encoding="UTF-8" standalone="yes"?>
<Relationships xmlns="http://schemas.openxmlformats.org/package/2006/relationships"><Relationship Id="rId2" Type="http://schemas.openxmlformats.org/officeDocument/2006/relationships/oleObject" Target="file:///D:\P.MOC\B&#225;o%20c&#225;o%20tu&#7847;n\2025\W04+05\W04+05%20(20.01.2025-02.02.2025).xlsx"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2" Type="http://schemas.openxmlformats.org/officeDocument/2006/relationships/oleObject" Target="file:///D:\P.MOC\B&#225;o%20c&#225;o%20tu&#7847;n\2025\W04+05\W04+05%20(20.01.2025-02.02.2025).xlsx" TargetMode="External"/><Relationship Id="rId1" Type="http://schemas.openxmlformats.org/officeDocument/2006/relationships/themeOverride" Target="../theme/themeOverride3.xm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D:\P.MOC\B&#225;o%20c&#225;o%20tu&#7847;n\2025\W04+05\W04+05%20(20.01.2025-02.02.2025).xlsx" TargetMode="External"/></Relationships>
</file>

<file path=ppt/charts/_rels/chart5.xml.rels><?xml version="1.0" encoding="UTF-8" standalone="yes"?>
<Relationships xmlns="http://schemas.openxmlformats.org/package/2006/relationships"><Relationship Id="rId2" Type="http://schemas.openxmlformats.org/officeDocument/2006/relationships/oleObject" Target="file:///D:\P.MOC\B&#225;o%20c&#225;o%20tu&#7847;n\2025\W04+05\W04+05%20(20.01.2025-02.02.2025).xlsx" TargetMode="External"/><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2" Type="http://schemas.openxmlformats.org/officeDocument/2006/relationships/oleObject" Target="file:///D:\P.MOC\B&#225;o%20c&#225;o%20tu&#7847;n\2025\W04+05\W04+05%20(20.01.2025-02.02.2025).xlsx" TargetMode="External"/><Relationship Id="rId1" Type="http://schemas.openxmlformats.org/officeDocument/2006/relationships/themeOverride" Target="../theme/themeOverrid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8.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04\DR\DR-W04+05.xlsx" TargetMode="Externa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1.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8.xml"/><Relationship Id="rId1" Type="http://schemas.microsoft.com/office/2011/relationships/chartStyle" Target="style8.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chartUserShapes" Target="../drawings/drawing2.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10.xml"/><Relationship Id="rId1" Type="http://schemas.microsoft.com/office/2011/relationships/chartStyle" Target="style10.xml"/></Relationships>
</file>

<file path=ppt/charts/_rels/chart16.xml.rels><?xml version="1.0" encoding="UTF-8" standalone="yes"?>
<Relationships xmlns="http://schemas.openxmlformats.org/package/2006/relationships"><Relationship Id="rId2" Type="http://schemas.openxmlformats.org/officeDocument/2006/relationships/oleObject" Target="file:///D:\P.MOC\B&#225;o%20c&#225;o%20tu&#7847;n\2025\W04+05\W04+05%20(20.01.2025-02.02.2025).xlsx" TargetMode="External"/><Relationship Id="rId1" Type="http://schemas.openxmlformats.org/officeDocument/2006/relationships/themeOverride" Target="../theme/themeOverride7.xm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B&#225;o%20c&#225;o%20tu&#7847;n\L&#7883;ch%20bay%20h&#224;ng%20tu&#7847;n%202025.xlsx" TargetMode="Externa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file:///D:\P.MOC\B&#225;o%20c&#225;o%20tu&#7847;n\L&#7883;ch%20bay%20h&#224;ng%20tu&#7847;n%202025.xlsx" TargetMode="External"/></Relationships>
</file>

<file path=ppt/charts/_rels/chart19.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3.xml"/><Relationship Id="rId1" Type="http://schemas.microsoft.com/office/2011/relationships/chartStyle" Target="style13.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Chart'!$C$1</c:f>
              <c:strCache>
                <c:ptCount val="1"/>
                <c:pt idx="0">
                  <c:v>Last week</c:v>
                </c:pt>
              </c:strCache>
              <c:extLst xmlns:c15="http://schemas.microsoft.com/office/drawing/2012/chart"/>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Chart'!$B$2:$B$7</c:f>
              <c:strCache>
                <c:ptCount val="6"/>
                <c:pt idx="0">
                  <c:v>A320</c:v>
                </c:pt>
                <c:pt idx="1">
                  <c:v>A321</c:v>
                </c:pt>
                <c:pt idx="2">
                  <c:v>A350</c:v>
                </c:pt>
                <c:pt idx="3">
                  <c:v>B787</c:v>
                </c:pt>
                <c:pt idx="4">
                  <c:v>ATR72</c:v>
                </c:pt>
                <c:pt idx="5">
                  <c:v>Tất cả</c:v>
                </c:pt>
              </c:strCache>
              <c:extLst xmlns:c15="http://schemas.microsoft.com/office/drawing/2012/chart"/>
            </c:strRef>
          </c:cat>
          <c:val>
            <c:numRef>
              <c:f>'Data Chart'!$C$2:$C$7</c:f>
              <c:numCache>
                <c:formatCode>General</c:formatCode>
                <c:ptCount val="6"/>
                <c:pt idx="0">
                  <c:v>0</c:v>
                </c:pt>
                <c:pt idx="1">
                  <c:v>2</c:v>
                </c:pt>
                <c:pt idx="2">
                  <c:v>0</c:v>
                </c:pt>
                <c:pt idx="3">
                  <c:v>1</c:v>
                </c:pt>
                <c:pt idx="4">
                  <c:v>0</c:v>
                </c:pt>
                <c:pt idx="5">
                  <c:v>3</c:v>
                </c:pt>
              </c:numCache>
              <c:extLst xmlns:c15="http://schemas.microsoft.com/office/drawing/2012/chart"/>
            </c:numRef>
          </c:val>
          <c:extLst xmlns:c15="http://schemas.microsoft.com/office/drawing/2012/chart">
            <c:ext xmlns:c16="http://schemas.microsoft.com/office/drawing/2014/chart" uri="{C3380CC4-5D6E-409C-BE32-E72D297353CC}">
              <c16:uniqueId val="{00000000-7A45-4BDF-8974-9F9584102982}"/>
            </c:ext>
          </c:extLst>
        </c:ser>
        <c:ser>
          <c:idx val="1"/>
          <c:order val="1"/>
          <c:tx>
            <c:strRef>
              <c:f>'Data Chart'!$D$1</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Chart'!$B$2:$B$7</c:f>
              <c:strCache>
                <c:ptCount val="6"/>
                <c:pt idx="0">
                  <c:v>A320</c:v>
                </c:pt>
                <c:pt idx="1">
                  <c:v>A321</c:v>
                </c:pt>
                <c:pt idx="2">
                  <c:v>A350</c:v>
                </c:pt>
                <c:pt idx="3">
                  <c:v>B787</c:v>
                </c:pt>
                <c:pt idx="4">
                  <c:v>ATR72</c:v>
                </c:pt>
                <c:pt idx="5">
                  <c:v>Tất cả</c:v>
                </c:pt>
              </c:strCache>
            </c:strRef>
          </c:cat>
          <c:val>
            <c:numRef>
              <c:f>'Data Chart'!$D$2:$D$7</c:f>
              <c:numCache>
                <c:formatCode>General</c:formatCode>
                <c:ptCount val="6"/>
                <c:pt idx="0">
                  <c:v>0</c:v>
                </c:pt>
                <c:pt idx="1">
                  <c:v>1</c:v>
                </c:pt>
                <c:pt idx="2">
                  <c:v>0</c:v>
                </c:pt>
                <c:pt idx="3">
                  <c:v>1</c:v>
                </c:pt>
                <c:pt idx="4">
                  <c:v>0</c:v>
                </c:pt>
                <c:pt idx="5">
                  <c:v>2</c:v>
                </c:pt>
              </c:numCache>
            </c:numRef>
          </c:val>
          <c:extLst>
            <c:ext xmlns:c16="http://schemas.microsoft.com/office/drawing/2014/chart" uri="{C3380CC4-5D6E-409C-BE32-E72D297353CC}">
              <c16:uniqueId val="{00000001-7A45-4BDF-8974-9F9584102982}"/>
            </c:ext>
          </c:extLst>
        </c:ser>
        <c:dLbls>
          <c:dLblPos val="outEnd"/>
          <c:showLegendKey val="0"/>
          <c:showVal val="1"/>
          <c:showCatName val="0"/>
          <c:showSerName val="0"/>
          <c:showPercent val="0"/>
          <c:showBubbleSize val="0"/>
        </c:dLbls>
        <c:gapWidth val="219"/>
        <c:overlap val="-27"/>
        <c:axId val="314614112"/>
        <c:axId val="314610192"/>
        <c:extLst/>
      </c:barChart>
      <c:catAx>
        <c:axId val="314614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4610192"/>
        <c:crosses val="autoZero"/>
        <c:auto val="1"/>
        <c:lblAlgn val="ctr"/>
        <c:lblOffset val="100"/>
        <c:noMultiLvlLbl val="0"/>
      </c:catAx>
      <c:valAx>
        <c:axId val="314610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4614112"/>
        <c:crosses val="autoZero"/>
        <c:crossBetween val="between"/>
        <c:majorUnit val="3"/>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Chart'!$C$9</c:f>
              <c:strCache>
                <c:ptCount val="1"/>
                <c:pt idx="0">
                  <c:v>Last week</c:v>
                </c:pt>
              </c:strCache>
              <c:extLst xmlns:c15="http://schemas.microsoft.com/office/drawing/2012/chart"/>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Chart'!$B$10:$B$15</c:f>
              <c:strCache>
                <c:ptCount val="6"/>
                <c:pt idx="0">
                  <c:v>A320</c:v>
                </c:pt>
                <c:pt idx="1">
                  <c:v>A321</c:v>
                </c:pt>
                <c:pt idx="2">
                  <c:v>A350</c:v>
                </c:pt>
                <c:pt idx="3">
                  <c:v>B787</c:v>
                </c:pt>
                <c:pt idx="4">
                  <c:v>ATR72</c:v>
                </c:pt>
                <c:pt idx="5">
                  <c:v>Tất cả</c:v>
                </c:pt>
              </c:strCache>
              <c:extLst xmlns:c15="http://schemas.microsoft.com/office/drawing/2012/chart"/>
            </c:strRef>
          </c:cat>
          <c:val>
            <c:numRef>
              <c:f>'Data Chart'!$C$10:$C$15</c:f>
              <c:numCache>
                <c:formatCode>General</c:formatCode>
                <c:ptCount val="6"/>
                <c:pt idx="0">
                  <c:v>0</c:v>
                </c:pt>
                <c:pt idx="1">
                  <c:v>5</c:v>
                </c:pt>
                <c:pt idx="2">
                  <c:v>3</c:v>
                </c:pt>
                <c:pt idx="3">
                  <c:v>0</c:v>
                </c:pt>
                <c:pt idx="4">
                  <c:v>2</c:v>
                </c:pt>
                <c:pt idx="5">
                  <c:v>10</c:v>
                </c:pt>
              </c:numCache>
              <c:extLst xmlns:c15="http://schemas.microsoft.com/office/drawing/2012/chart"/>
            </c:numRef>
          </c:val>
          <c:extLst xmlns:c15="http://schemas.microsoft.com/office/drawing/2012/chart">
            <c:ext xmlns:c16="http://schemas.microsoft.com/office/drawing/2014/chart" uri="{C3380CC4-5D6E-409C-BE32-E72D297353CC}">
              <c16:uniqueId val="{00000000-1367-4A0A-8241-B93A75DCCFFF}"/>
            </c:ext>
          </c:extLst>
        </c:ser>
        <c:ser>
          <c:idx val="1"/>
          <c:order val="1"/>
          <c:tx>
            <c:strRef>
              <c:f>'Data Chart'!$D$9</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Chart'!$B$10:$B$15</c:f>
              <c:strCache>
                <c:ptCount val="6"/>
                <c:pt idx="0">
                  <c:v>A320</c:v>
                </c:pt>
                <c:pt idx="1">
                  <c:v>A321</c:v>
                </c:pt>
                <c:pt idx="2">
                  <c:v>A350</c:v>
                </c:pt>
                <c:pt idx="3">
                  <c:v>B787</c:v>
                </c:pt>
                <c:pt idx="4">
                  <c:v>ATR72</c:v>
                </c:pt>
                <c:pt idx="5">
                  <c:v>Tất cả</c:v>
                </c:pt>
              </c:strCache>
            </c:strRef>
          </c:cat>
          <c:val>
            <c:numRef>
              <c:f>'Data Chart'!$D$10:$D$15</c:f>
              <c:numCache>
                <c:formatCode>General</c:formatCode>
                <c:ptCount val="6"/>
                <c:pt idx="0">
                  <c:v>0</c:v>
                </c:pt>
                <c:pt idx="1">
                  <c:v>6</c:v>
                </c:pt>
                <c:pt idx="2">
                  <c:v>4</c:v>
                </c:pt>
                <c:pt idx="3">
                  <c:v>2</c:v>
                </c:pt>
                <c:pt idx="4">
                  <c:v>0</c:v>
                </c:pt>
                <c:pt idx="5">
                  <c:v>12</c:v>
                </c:pt>
              </c:numCache>
            </c:numRef>
          </c:val>
          <c:extLst>
            <c:ext xmlns:c16="http://schemas.microsoft.com/office/drawing/2014/chart" uri="{C3380CC4-5D6E-409C-BE32-E72D297353CC}">
              <c16:uniqueId val="{00000001-1367-4A0A-8241-B93A75DCCFFF}"/>
            </c:ext>
          </c:extLst>
        </c:ser>
        <c:dLbls>
          <c:dLblPos val="outEnd"/>
          <c:showLegendKey val="0"/>
          <c:showVal val="1"/>
          <c:showCatName val="0"/>
          <c:showSerName val="0"/>
          <c:showPercent val="0"/>
          <c:showBubbleSize val="0"/>
        </c:dLbls>
        <c:gapWidth val="219"/>
        <c:overlap val="-27"/>
        <c:axId val="313732480"/>
        <c:axId val="313738360"/>
        <c:extLst/>
      </c:barChart>
      <c:catAx>
        <c:axId val="3137324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13738360"/>
        <c:crosses val="autoZero"/>
        <c:auto val="1"/>
        <c:lblAlgn val="ctr"/>
        <c:lblOffset val="100"/>
        <c:noMultiLvlLbl val="0"/>
      </c:catAx>
      <c:valAx>
        <c:axId val="313738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13732480"/>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layout/>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Chart'!$C$19</c:f>
              <c:strCache>
                <c:ptCount val="1"/>
                <c:pt idx="0">
                  <c:v>Last week</c:v>
                </c:pt>
              </c:strCache>
              <c:extLst xmlns:c15="http://schemas.microsoft.com/office/drawing/2012/chart"/>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Chart'!$B$20:$B$25</c:f>
              <c:strCache>
                <c:ptCount val="6"/>
                <c:pt idx="0">
                  <c:v>A320</c:v>
                </c:pt>
                <c:pt idx="1">
                  <c:v>A321</c:v>
                </c:pt>
                <c:pt idx="2">
                  <c:v>A350</c:v>
                </c:pt>
                <c:pt idx="3">
                  <c:v>B787</c:v>
                </c:pt>
                <c:pt idx="4">
                  <c:v>ATR72</c:v>
                </c:pt>
                <c:pt idx="5">
                  <c:v>Tất cả</c:v>
                </c:pt>
              </c:strCache>
              <c:extLst xmlns:c15="http://schemas.microsoft.com/office/drawing/2012/chart"/>
            </c:strRef>
          </c:cat>
          <c:val>
            <c:numRef>
              <c:f>'Data Chart'!$C$20:$C$25</c:f>
              <c:numCache>
                <c:formatCode>General</c:formatCode>
                <c:ptCount val="6"/>
                <c:pt idx="0">
                  <c:v>0</c:v>
                </c:pt>
                <c:pt idx="1">
                  <c:v>0</c:v>
                </c:pt>
                <c:pt idx="2">
                  <c:v>2</c:v>
                </c:pt>
                <c:pt idx="3">
                  <c:v>0</c:v>
                </c:pt>
                <c:pt idx="4">
                  <c:v>0</c:v>
                </c:pt>
                <c:pt idx="5">
                  <c:v>2</c:v>
                </c:pt>
              </c:numCache>
              <c:extLst xmlns:c15="http://schemas.microsoft.com/office/drawing/2012/chart"/>
            </c:numRef>
          </c:val>
          <c:extLst xmlns:c15="http://schemas.microsoft.com/office/drawing/2012/chart">
            <c:ext xmlns:c16="http://schemas.microsoft.com/office/drawing/2014/chart" uri="{C3380CC4-5D6E-409C-BE32-E72D297353CC}">
              <c16:uniqueId val="{00000000-1077-49B5-B318-E4B76A1256FD}"/>
            </c:ext>
          </c:extLst>
        </c:ser>
        <c:ser>
          <c:idx val="1"/>
          <c:order val="1"/>
          <c:tx>
            <c:strRef>
              <c:f>'Data Chart'!$D$19</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Chart'!$B$20:$B$25</c:f>
              <c:strCache>
                <c:ptCount val="6"/>
                <c:pt idx="0">
                  <c:v>A320</c:v>
                </c:pt>
                <c:pt idx="1">
                  <c:v>A321</c:v>
                </c:pt>
                <c:pt idx="2">
                  <c:v>A350</c:v>
                </c:pt>
                <c:pt idx="3">
                  <c:v>B787</c:v>
                </c:pt>
                <c:pt idx="4">
                  <c:v>ATR72</c:v>
                </c:pt>
                <c:pt idx="5">
                  <c:v>Tất cả</c:v>
                </c:pt>
              </c:strCache>
            </c:strRef>
          </c:cat>
          <c:val>
            <c:numRef>
              <c:f>'Data Chart'!$D$20:$D$25</c:f>
              <c:numCache>
                <c:formatCode>General</c:formatCode>
                <c:ptCount val="6"/>
                <c:pt idx="0">
                  <c:v>0</c:v>
                </c:pt>
                <c:pt idx="1">
                  <c:v>1</c:v>
                </c:pt>
                <c:pt idx="2">
                  <c:v>1</c:v>
                </c:pt>
                <c:pt idx="3">
                  <c:v>1</c:v>
                </c:pt>
                <c:pt idx="4">
                  <c:v>0</c:v>
                </c:pt>
                <c:pt idx="5">
                  <c:v>3</c:v>
                </c:pt>
              </c:numCache>
            </c:numRef>
          </c:val>
          <c:extLst>
            <c:ext xmlns:c16="http://schemas.microsoft.com/office/drawing/2014/chart" uri="{C3380CC4-5D6E-409C-BE32-E72D297353CC}">
              <c16:uniqueId val="{00000001-1077-49B5-B318-E4B76A1256FD}"/>
            </c:ext>
          </c:extLst>
        </c:ser>
        <c:dLbls>
          <c:showLegendKey val="0"/>
          <c:showVal val="0"/>
          <c:showCatName val="0"/>
          <c:showSerName val="0"/>
          <c:showPercent val="0"/>
          <c:showBubbleSize val="0"/>
        </c:dLbls>
        <c:gapWidth val="219"/>
        <c:overlap val="-27"/>
        <c:axId val="313737184"/>
        <c:axId val="313736400"/>
        <c:extLst/>
      </c:barChart>
      <c:catAx>
        <c:axId val="313737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736400"/>
        <c:crosses val="autoZero"/>
        <c:auto val="1"/>
        <c:lblAlgn val="ctr"/>
        <c:lblOffset val="100"/>
        <c:noMultiLvlLbl val="0"/>
      </c:catAx>
      <c:valAx>
        <c:axId val="3137364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737184"/>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Chart'!$C$26</c:f>
              <c:strCache>
                <c:ptCount val="1"/>
                <c:pt idx="0">
                  <c:v>Last week</c:v>
                </c:pt>
              </c:strCache>
              <c:extLst xmlns:c15="http://schemas.microsoft.com/office/drawing/2012/chart"/>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Chart'!$B$27:$B$32</c:f>
              <c:strCache>
                <c:ptCount val="6"/>
                <c:pt idx="0">
                  <c:v>A320</c:v>
                </c:pt>
                <c:pt idx="1">
                  <c:v>A321</c:v>
                </c:pt>
                <c:pt idx="2">
                  <c:v>A350</c:v>
                </c:pt>
                <c:pt idx="3">
                  <c:v>B787</c:v>
                </c:pt>
                <c:pt idx="4">
                  <c:v>ATR72</c:v>
                </c:pt>
                <c:pt idx="5">
                  <c:v>Tất cả</c:v>
                </c:pt>
              </c:strCache>
              <c:extLst xmlns:c15="http://schemas.microsoft.com/office/drawing/2012/chart"/>
            </c:strRef>
          </c:cat>
          <c:val>
            <c:numRef>
              <c:f>'Data Chart'!$C$27:$C$32</c:f>
              <c:numCache>
                <c:formatCode>General</c:formatCode>
                <c:ptCount val="6"/>
                <c:pt idx="0">
                  <c:v>0</c:v>
                </c:pt>
                <c:pt idx="1">
                  <c:v>0</c:v>
                </c:pt>
                <c:pt idx="2">
                  <c:v>0</c:v>
                </c:pt>
                <c:pt idx="3">
                  <c:v>0</c:v>
                </c:pt>
                <c:pt idx="4">
                  <c:v>0</c:v>
                </c:pt>
                <c:pt idx="5">
                  <c:v>0</c:v>
                </c:pt>
              </c:numCache>
              <c:extLst xmlns:c15="http://schemas.microsoft.com/office/drawing/2012/chart"/>
            </c:numRef>
          </c:val>
          <c:extLst xmlns:c15="http://schemas.microsoft.com/office/drawing/2012/chart">
            <c:ext xmlns:c16="http://schemas.microsoft.com/office/drawing/2014/chart" uri="{C3380CC4-5D6E-409C-BE32-E72D297353CC}">
              <c16:uniqueId val="{00000000-19E5-480E-9207-4E20DACFCCBF}"/>
            </c:ext>
          </c:extLst>
        </c:ser>
        <c:ser>
          <c:idx val="1"/>
          <c:order val="1"/>
          <c:tx>
            <c:strRef>
              <c:f>'Data Chart'!$D$26</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Chart'!$B$27:$B$32</c:f>
              <c:strCache>
                <c:ptCount val="6"/>
                <c:pt idx="0">
                  <c:v>A320</c:v>
                </c:pt>
                <c:pt idx="1">
                  <c:v>A321</c:v>
                </c:pt>
                <c:pt idx="2">
                  <c:v>A350</c:v>
                </c:pt>
                <c:pt idx="3">
                  <c:v>B787</c:v>
                </c:pt>
                <c:pt idx="4">
                  <c:v>ATR72</c:v>
                </c:pt>
                <c:pt idx="5">
                  <c:v>Tất cả</c:v>
                </c:pt>
              </c:strCache>
            </c:strRef>
          </c:cat>
          <c:val>
            <c:numRef>
              <c:f>'Data Chart'!$D$27:$D$32</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19E5-480E-9207-4E20DACFCCBF}"/>
            </c:ext>
          </c:extLst>
        </c:ser>
        <c:dLbls>
          <c:showLegendKey val="0"/>
          <c:showVal val="0"/>
          <c:showCatName val="0"/>
          <c:showSerName val="0"/>
          <c:showPercent val="0"/>
          <c:showBubbleSize val="0"/>
        </c:dLbls>
        <c:gapWidth val="219"/>
        <c:overlap val="-27"/>
        <c:axId val="314609408"/>
        <c:axId val="314610976"/>
        <c:extLst/>
      </c:barChart>
      <c:catAx>
        <c:axId val="314609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4610976"/>
        <c:crosses val="autoZero"/>
        <c:auto val="1"/>
        <c:lblAlgn val="ctr"/>
        <c:lblOffset val="100"/>
        <c:noMultiLvlLbl val="0"/>
      </c:catAx>
      <c:valAx>
        <c:axId val="3146109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4609408"/>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a:pPr>
            <a:r>
              <a:rPr lang="en-US"/>
              <a:t>ATB Comparison</a:t>
            </a:r>
          </a:p>
        </c:rich>
      </c:tx>
      <c:layout/>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54F5-4755-984B-0F4609537BAE}"/>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numCache>
            </c:numRef>
          </c:val>
          <c:smooth val="0"/>
          <c:extLst>
            <c:ext xmlns:c16="http://schemas.microsoft.com/office/drawing/2014/chart" uri="{C3380CC4-5D6E-409C-BE32-E72D297353CC}">
              <c16:uniqueId val="{00000001-54F5-4755-984B-0F4609537BAE}"/>
            </c:ext>
          </c:extLst>
        </c:ser>
        <c:dLbls>
          <c:showLegendKey val="0"/>
          <c:showVal val="0"/>
          <c:showCatName val="0"/>
          <c:showSerName val="0"/>
          <c:showPercent val="0"/>
          <c:showBubbleSize val="0"/>
        </c:dLbls>
        <c:marker val="1"/>
        <c:smooth val="0"/>
        <c:axId val="266741624"/>
        <c:axId val="267136992"/>
      </c:lineChart>
      <c:catAx>
        <c:axId val="266741624"/>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vert="horz"/>
              <a:lstStyle/>
              <a:p>
                <a:pPr>
                  <a:defRPr/>
                </a:pPr>
                <a:r>
                  <a:rPr lang="en-US"/>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pPr>
            <a:endParaRPr lang="en-US"/>
          </a:p>
        </c:txPr>
        <c:crossAx val="267136992"/>
        <c:crosses val="autoZero"/>
        <c:auto val="1"/>
        <c:lblAlgn val="ctr"/>
        <c:lblOffset val="100"/>
        <c:noMultiLvlLbl val="0"/>
      </c:catAx>
      <c:valAx>
        <c:axId val="26713699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vert="horz"/>
              <a:lstStyle/>
              <a:p>
                <a:pPr>
                  <a:defRPr/>
                </a:pPr>
                <a:r>
                  <a:rPr lang="en-US"/>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vert="horz"/>
          <a:lstStyle/>
          <a:p>
            <a:pPr>
              <a:defRPr/>
            </a:pPr>
            <a:endParaRPr lang="en-US"/>
          </a:p>
        </c:txPr>
        <c:crossAx val="266741624"/>
        <c:crosses val="autoZero"/>
        <c:crossBetween val="between"/>
        <c:majorUnit val="1"/>
        <c:minorUnit val="1"/>
      </c:valAx>
      <c:spPr>
        <a:noFill/>
        <a:ln>
          <a:solidFill>
            <a:schemeClr val="tx1">
              <a:lumMod val="25000"/>
              <a:lumOff val="75000"/>
            </a:schemeClr>
          </a:solidFill>
        </a:ln>
        <a:effectLst/>
      </c:spPr>
    </c:plotArea>
    <c:legend>
      <c:legendPos val="r"/>
      <c:layout/>
      <c:overlay val="0"/>
      <c:spPr>
        <a:noFill/>
        <a:ln>
          <a:noFill/>
        </a:ln>
        <a:effectLst/>
      </c:spPr>
      <c:txPr>
        <a:bodyPr rot="0" vert="horz"/>
        <a:lstStyle/>
        <a:p>
          <a:pPr>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sz="1100">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layout/>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22E8-4634-983E-83BD68F94D12}"/>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numCache>
            </c:numRef>
          </c:val>
          <c:smooth val="0"/>
          <c:extLst>
            <c:ext xmlns:c16="http://schemas.microsoft.com/office/drawing/2014/chart" uri="{C3380CC4-5D6E-409C-BE32-E72D297353CC}">
              <c16:uniqueId val="{00000001-22E8-4634-983E-83BD68F94D12}"/>
            </c:ext>
          </c:extLst>
        </c:ser>
        <c:dLbls>
          <c:showLegendKey val="0"/>
          <c:showVal val="0"/>
          <c:showCatName val="0"/>
          <c:showSerName val="0"/>
          <c:showPercent val="0"/>
          <c:showBubbleSize val="0"/>
        </c:dLbls>
        <c:marker val="1"/>
        <c:smooth val="0"/>
        <c:axId val="313596064"/>
        <c:axId val="313596448"/>
      </c:lineChart>
      <c:catAx>
        <c:axId val="313596064"/>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596448"/>
        <c:crosses val="autoZero"/>
        <c:auto val="1"/>
        <c:lblAlgn val="ctr"/>
        <c:lblOffset val="100"/>
        <c:noMultiLvlLbl val="0"/>
      </c:catAx>
      <c:valAx>
        <c:axId val="313596448"/>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596064"/>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400" b="1" dirty="0" err="1">
                <a:solidFill>
                  <a:schemeClr val="tx1"/>
                </a:solidFill>
              </a:rPr>
              <a:t>Số</a:t>
            </a:r>
            <a:r>
              <a:rPr lang="en-US" sz="1400" b="1" baseline="0" dirty="0">
                <a:solidFill>
                  <a:schemeClr val="tx1"/>
                </a:solidFill>
              </a:rPr>
              <a:t> </a:t>
            </a:r>
            <a:r>
              <a:rPr lang="en-US" sz="1400" b="1" baseline="0" dirty="0" err="1">
                <a:solidFill>
                  <a:schemeClr val="tx1"/>
                </a:solidFill>
              </a:rPr>
              <a:t>sự</a:t>
            </a:r>
            <a:r>
              <a:rPr lang="en-US" sz="1400" b="1" baseline="0" dirty="0">
                <a:solidFill>
                  <a:schemeClr val="tx1"/>
                </a:solidFill>
              </a:rPr>
              <a:t> </a:t>
            </a:r>
            <a:r>
              <a:rPr lang="en-US" sz="1400" b="1" baseline="0" dirty="0" err="1">
                <a:solidFill>
                  <a:schemeClr val="tx1"/>
                </a:solidFill>
              </a:rPr>
              <a:t>vụ</a:t>
            </a:r>
            <a:r>
              <a:rPr lang="en-US" sz="1400" b="1" baseline="0" dirty="0">
                <a:solidFill>
                  <a:schemeClr val="tx1"/>
                </a:solidFill>
              </a:rPr>
              <a:t> FADEC SYS FAULT</a:t>
            </a:r>
            <a:endParaRPr lang="en-US" sz="1400" b="1" dirty="0">
              <a:solidFill>
                <a:schemeClr val="tx1"/>
              </a:solidFill>
            </a:endParaRPr>
          </a:p>
        </c:rich>
      </c:tx>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4.7242419776671173E-2"/>
          <c:y val="3.2725603332538003E-2"/>
          <c:w val="0.943893299494588"/>
          <c:h val="0.83551920140990887"/>
        </c:manualLayout>
      </c:layout>
      <c:barChart>
        <c:barDir val="col"/>
        <c:grouping val="stacked"/>
        <c:varyColors val="0"/>
        <c:ser>
          <c:idx val="0"/>
          <c:order val="0"/>
          <c:tx>
            <c:strRef>
              <c:f>Sheet1!$B$1</c:f>
              <c:strCache>
                <c:ptCount val="1"/>
                <c:pt idx="0">
                  <c:v>NL báo KHPT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Sheet1!$A$9:$A$21</c:f>
              <c:numCache>
                <c:formatCode>General</c:formatCode>
                <c:ptCount val="9"/>
                <c:pt idx="0">
                  <c:v>2017</c:v>
                </c:pt>
                <c:pt idx="1">
                  <c:v>2018</c:v>
                </c:pt>
                <c:pt idx="2">
                  <c:v>2019</c:v>
                </c:pt>
                <c:pt idx="3">
                  <c:v>2020</c:v>
                </c:pt>
                <c:pt idx="4">
                  <c:v>2021</c:v>
                </c:pt>
                <c:pt idx="5">
                  <c:v>2022</c:v>
                </c:pt>
                <c:pt idx="6">
                  <c:v>2023</c:v>
                </c:pt>
                <c:pt idx="7">
                  <c:v>2024</c:v>
                </c:pt>
                <c:pt idx="8">
                  <c:v>2025</c:v>
                </c:pt>
              </c:numCache>
            </c:numRef>
          </c:cat>
          <c:val>
            <c:numRef>
              <c:f>Sheet1!$B$9:$B$21</c:f>
            </c:numRef>
          </c:val>
          <c:extLst>
            <c:ext xmlns:c16="http://schemas.microsoft.com/office/drawing/2014/chart" uri="{C3380CC4-5D6E-409C-BE32-E72D297353CC}">
              <c16:uniqueId val="{00000000-0D4E-4D61-BE39-DAB06B8C7F7D}"/>
            </c:ext>
          </c:extLst>
        </c:ser>
        <c:ser>
          <c:idx val="1"/>
          <c:order val="1"/>
          <c:tx>
            <c:strRef>
              <c:f>Sheet1!$C$1</c:f>
              <c:strCache>
                <c:ptCount val="1"/>
                <c:pt idx="0">
                  <c:v>KH hiện tại</c:v>
                </c:pt>
              </c:strCache>
            </c:strRef>
          </c:tx>
          <c:spPr>
            <a:solidFill>
              <a:schemeClr val="accent2"/>
            </a:solidFill>
            <a:ln>
              <a:solidFill>
                <a:srgbClr val="FF00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Sheet1!$A$9:$A$21</c:f>
              <c:numCache>
                <c:formatCode>General</c:formatCode>
                <c:ptCount val="9"/>
                <c:pt idx="0">
                  <c:v>2017</c:v>
                </c:pt>
                <c:pt idx="1">
                  <c:v>2018</c:v>
                </c:pt>
                <c:pt idx="2">
                  <c:v>2019</c:v>
                </c:pt>
                <c:pt idx="3">
                  <c:v>2020</c:v>
                </c:pt>
                <c:pt idx="4">
                  <c:v>2021</c:v>
                </c:pt>
                <c:pt idx="5">
                  <c:v>2022</c:v>
                </c:pt>
                <c:pt idx="6">
                  <c:v>2023</c:v>
                </c:pt>
                <c:pt idx="7">
                  <c:v>2024</c:v>
                </c:pt>
                <c:pt idx="8">
                  <c:v>2025</c:v>
                </c:pt>
              </c:numCache>
            </c:numRef>
          </c:cat>
          <c:val>
            <c:numRef>
              <c:f>Sheet1!$C$9:$C$21</c:f>
              <c:numCache>
                <c:formatCode>General</c:formatCode>
                <c:ptCount val="9"/>
                <c:pt idx="0">
                  <c:v>2</c:v>
                </c:pt>
                <c:pt idx="1">
                  <c:v>2</c:v>
                </c:pt>
                <c:pt idx="2">
                  <c:v>0</c:v>
                </c:pt>
                <c:pt idx="3">
                  <c:v>0</c:v>
                </c:pt>
                <c:pt idx="4">
                  <c:v>1</c:v>
                </c:pt>
                <c:pt idx="5">
                  <c:v>0</c:v>
                </c:pt>
                <c:pt idx="6">
                  <c:v>4</c:v>
                </c:pt>
                <c:pt idx="7">
                  <c:v>1</c:v>
                </c:pt>
                <c:pt idx="8">
                  <c:v>1</c:v>
                </c:pt>
              </c:numCache>
            </c:numRef>
          </c:val>
          <c:extLst>
            <c:ext xmlns:c16="http://schemas.microsoft.com/office/drawing/2014/chart" uri="{C3380CC4-5D6E-409C-BE32-E72D297353CC}">
              <c16:uniqueId val="{00000001-0D4E-4D61-BE39-DAB06B8C7F7D}"/>
            </c:ext>
          </c:extLst>
        </c:ser>
        <c:dLbls>
          <c:showLegendKey val="0"/>
          <c:showVal val="0"/>
          <c:showCatName val="0"/>
          <c:showSerName val="0"/>
          <c:showPercent val="0"/>
          <c:showBubbleSize val="0"/>
        </c:dLbls>
        <c:gapWidth val="60"/>
        <c:overlap val="100"/>
        <c:axId val="322945400"/>
        <c:axId val="322952456"/>
      </c:barChart>
      <c:catAx>
        <c:axId val="322945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US"/>
          </a:p>
        </c:txPr>
        <c:crossAx val="322952456"/>
        <c:crosses val="autoZero"/>
        <c:auto val="1"/>
        <c:lblAlgn val="ctr"/>
        <c:lblOffset val="100"/>
        <c:noMultiLvlLbl val="0"/>
      </c:catAx>
      <c:valAx>
        <c:axId val="322952456"/>
        <c:scaling>
          <c:orientation val="minMax"/>
          <c:max val="6"/>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22945400"/>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solid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W03</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6FDE-4E51-B25F-E95B13BA8A8C}"/>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99.868189806678387</c:v>
                </c:pt>
                <c:pt idx="1">
                  <c:v>98.936170212765958</c:v>
                </c:pt>
                <c:pt idx="2">
                  <c:v>99.415204678362571</c:v>
                </c:pt>
                <c:pt idx="3">
                  <c:v>99.056603773584911</c:v>
                </c:pt>
              </c:numCache>
            </c:numRef>
          </c:val>
          <c:extLst>
            <c:ext xmlns:c16="http://schemas.microsoft.com/office/drawing/2014/chart" uri="{C3380CC4-5D6E-409C-BE32-E72D297353CC}">
              <c16:uniqueId val="{00000001-6FDE-4E51-B25F-E95B13BA8A8C}"/>
            </c:ext>
          </c:extLst>
        </c:ser>
        <c:ser>
          <c:idx val="1"/>
          <c:order val="1"/>
          <c:tx>
            <c:strRef>
              <c:f>DR!$D$3</c:f>
              <c:strCache>
                <c:ptCount val="1"/>
                <c:pt idx="0">
                  <c:v>W04 &amp; 05</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99.813606710158439</c:v>
                </c:pt>
                <c:pt idx="1">
                  <c:v>98.325358851674636</c:v>
                </c:pt>
                <c:pt idx="2">
                  <c:v>99.742268041237111</c:v>
                </c:pt>
                <c:pt idx="3">
                  <c:v>99.626865671641795</c:v>
                </c:pt>
              </c:numCache>
            </c:numRef>
          </c:val>
          <c:extLst>
            <c:ext xmlns:c16="http://schemas.microsoft.com/office/drawing/2014/chart" uri="{C3380CC4-5D6E-409C-BE32-E72D297353CC}">
              <c16:uniqueId val="{00000002-6FDE-4E51-B25F-E95B13BA8A8C}"/>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6FDE-4E51-B25F-E95B13BA8A8C}"/>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6FDE-4E51-B25F-E95B13BA8A8C}"/>
            </c:ext>
          </c:extLst>
        </c:ser>
        <c:dLbls>
          <c:showLegendKey val="0"/>
          <c:showVal val="0"/>
          <c:showCatName val="0"/>
          <c:showSerName val="0"/>
          <c:showPercent val="0"/>
          <c:showBubbleSize val="0"/>
        </c:dLbls>
        <c:gapWidth val="219"/>
        <c:overlap val="-27"/>
        <c:axId val="-95521472"/>
        <c:axId val="-95499712"/>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6FDE-4E51-B25F-E95B13BA8A8C}"/>
                  </c:ext>
                </c:extLst>
              </c15:ser>
            </c15:filteredBarSeries>
          </c:ext>
        </c:extLst>
      </c:barChart>
      <c:catAx>
        <c:axId val="-95521472"/>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95499712"/>
        <c:crosses val="autoZero"/>
        <c:auto val="1"/>
        <c:lblAlgn val="ctr"/>
        <c:lblOffset val="100"/>
        <c:noMultiLvlLbl val="0"/>
      </c:catAx>
      <c:valAx>
        <c:axId val="-95499712"/>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95521472"/>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789942122619287E-2"/>
          <c:y val="4.4293689684825485E-2"/>
          <c:w val="0.93681234355610998"/>
          <c:h val="0.8358298845569484"/>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Sheet1!$D$8:$AC$8</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0-D6AD-4063-8EE1-45911A2334ED}"/>
            </c:ext>
          </c:extLst>
        </c:ser>
        <c:ser>
          <c:idx val="2"/>
          <c:order val="2"/>
          <c:tx>
            <c:strRef>
              <c:f>Sheet1!$C$10</c:f>
              <c:strCache>
                <c:ptCount val="1"/>
                <c:pt idx="0">
                  <c:v>A350</c:v>
                </c:pt>
              </c:strCache>
            </c:strRef>
          </c:tx>
          <c:spPr>
            <a:ln w="19050" cap="rnd">
              <a:solidFill>
                <a:srgbClr val="00B0F0"/>
              </a:solidFill>
              <a:round/>
            </a:ln>
            <a:effectLst/>
          </c:spPr>
          <c:marker>
            <c:symbol val="circle"/>
            <c:size val="23"/>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Sheet1!$D$10:$AC$10</c:f>
              <c:numCache>
                <c:formatCode>General</c:formatCode>
                <c:ptCount val="6"/>
                <c:pt idx="0">
                  <c:v>8</c:v>
                </c:pt>
                <c:pt idx="1">
                  <c:v>8</c:v>
                </c:pt>
                <c:pt idx="2">
                  <c:v>8</c:v>
                </c:pt>
                <c:pt idx="3">
                  <c:v>6</c:v>
                </c:pt>
                <c:pt idx="4">
                  <c:v>5</c:v>
                </c:pt>
                <c:pt idx="5">
                  <c:v>4</c:v>
                </c:pt>
              </c:numCache>
            </c:numRef>
          </c:val>
          <c:smooth val="0"/>
          <c:extLst>
            <c:ext xmlns:c16="http://schemas.microsoft.com/office/drawing/2014/chart" uri="{C3380CC4-5D6E-409C-BE32-E72D297353CC}">
              <c16:uniqueId val="{00000001-D6AD-4063-8EE1-45911A2334ED}"/>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Sheet1!$D$11:$AC$11</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2-D6AD-4063-8EE1-45911A2334ED}"/>
            </c:ext>
          </c:extLst>
        </c:ser>
        <c:dLbls>
          <c:dLblPos val="ctr"/>
          <c:showLegendKey val="0"/>
          <c:showVal val="1"/>
          <c:showCatName val="0"/>
          <c:showSerName val="0"/>
          <c:showPercent val="0"/>
          <c:showBubbleSize val="0"/>
        </c:dLbls>
        <c:marker val="1"/>
        <c:smooth val="0"/>
        <c:axId val="369124040"/>
        <c:axId val="369143248"/>
      </c:lineChart>
      <c:lineChart>
        <c:grouping val="standard"/>
        <c:varyColors val="0"/>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Sheet1!$D$9:$AC$9</c:f>
              <c:numCache>
                <c:formatCode>General</c:formatCode>
                <c:ptCount val="6"/>
                <c:pt idx="0">
                  <c:v>27</c:v>
                </c:pt>
                <c:pt idx="1">
                  <c:v>26.5</c:v>
                </c:pt>
                <c:pt idx="2">
                  <c:v>28.25</c:v>
                </c:pt>
                <c:pt idx="3">
                  <c:v>26</c:v>
                </c:pt>
                <c:pt idx="4">
                  <c:v>24.25</c:v>
                </c:pt>
                <c:pt idx="5">
                  <c:v>22</c:v>
                </c:pt>
              </c:numCache>
            </c:numRef>
          </c:val>
          <c:smooth val="0"/>
          <c:extLst>
            <c:ext xmlns:c16="http://schemas.microsoft.com/office/drawing/2014/chart" uri="{C3380CC4-5D6E-409C-BE32-E72D297353CC}">
              <c16:uniqueId val="{00000003-D6AD-4063-8EE1-45911A2334ED}"/>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Sheet1!$D$12:$AC$12</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4-D6AD-4063-8EE1-45911A2334ED}"/>
            </c:ext>
          </c:extLst>
        </c:ser>
        <c:dLbls>
          <c:showLegendKey val="0"/>
          <c:showVal val="0"/>
          <c:showCatName val="0"/>
          <c:showSerName val="0"/>
          <c:showPercent val="0"/>
          <c:showBubbleSize val="0"/>
        </c:dLbls>
        <c:marker val="1"/>
        <c:smooth val="0"/>
        <c:axId val="369141680"/>
        <c:axId val="369140112"/>
      </c:lineChart>
      <c:catAx>
        <c:axId val="3691240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3248"/>
        <c:crosses val="autoZero"/>
        <c:auto val="1"/>
        <c:lblAlgn val="ctr"/>
        <c:lblOffset val="100"/>
        <c:noMultiLvlLbl val="0"/>
      </c:catAx>
      <c:valAx>
        <c:axId val="369143248"/>
        <c:scaling>
          <c:orientation val="minMax"/>
          <c:max val="2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24040"/>
        <c:crosses val="autoZero"/>
        <c:crossBetween val="between"/>
      </c:valAx>
      <c:valAx>
        <c:axId val="369140112"/>
        <c:scaling>
          <c:orientation val="minMax"/>
          <c:max val="35"/>
          <c:min val="0"/>
        </c:scaling>
        <c:delete val="0"/>
        <c:axPos val="r"/>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1680"/>
        <c:crosses val="max"/>
        <c:crossBetween val="between"/>
      </c:valAx>
      <c:catAx>
        <c:axId val="369141680"/>
        <c:scaling>
          <c:orientation val="minMax"/>
        </c:scaling>
        <c:delete val="1"/>
        <c:axPos val="b"/>
        <c:numFmt formatCode="General" sourceLinked="1"/>
        <c:majorTickMark val="out"/>
        <c:minorTickMark val="none"/>
        <c:tickLblPos val="nextTo"/>
        <c:crossAx val="369140112"/>
        <c:crosses val="autoZero"/>
        <c:auto val="1"/>
        <c:lblAlgn val="ctr"/>
        <c:lblOffset val="100"/>
        <c:noMultiLvlLbl val="0"/>
      </c:catAx>
      <c:spPr>
        <a:noFill/>
        <a:ln>
          <a:noFill/>
        </a:ln>
        <a:effectLst/>
      </c:spPr>
    </c:plotArea>
    <c:legend>
      <c:legendPos val="b"/>
      <c:layout>
        <c:manualLayout>
          <c:xMode val="edge"/>
          <c:yMode val="edge"/>
          <c:x val="3.2108065818695741E-2"/>
          <c:y val="1.3638679970698371E-2"/>
          <c:w val="0.89903166467431961"/>
          <c:h val="7.3197199055431955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Sheet1!$D$8:$AI$8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Sheet1!$D$9:$AI$9</c:f>
              <c:numCache>
                <c:formatCode>General</c:formatCode>
                <c:ptCount val="12"/>
                <c:pt idx="0">
                  <c:v>28</c:v>
                </c:pt>
                <c:pt idx="1">
                  <c:v>28</c:v>
                </c:pt>
                <c:pt idx="2">
                  <c:v>26</c:v>
                </c:pt>
                <c:pt idx="3">
                  <c:v>26</c:v>
                </c:pt>
                <c:pt idx="4">
                  <c:v>26</c:v>
                </c:pt>
                <c:pt idx="5">
                  <c:v>26</c:v>
                </c:pt>
                <c:pt idx="6">
                  <c:v>26</c:v>
                </c:pt>
                <c:pt idx="7">
                  <c:v>28</c:v>
                </c:pt>
                <c:pt idx="8">
                  <c:v>29</c:v>
                </c:pt>
                <c:pt idx="9">
                  <c:v>28</c:v>
                </c:pt>
                <c:pt idx="10">
                  <c:v>28</c:v>
                </c:pt>
                <c:pt idx="11">
                  <c:v>28</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chemeClr val="accent6"/>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Sheet1!$D$10:$AI$10</c:f>
              <c:numCache>
                <c:formatCode>General</c:formatCode>
                <c:ptCount val="12"/>
                <c:pt idx="0">
                  <c:v>8</c:v>
                </c:pt>
                <c:pt idx="1">
                  <c:v>8</c:v>
                </c:pt>
                <c:pt idx="2">
                  <c:v>8</c:v>
                </c:pt>
                <c:pt idx="3">
                  <c:v>8</c:v>
                </c:pt>
                <c:pt idx="4">
                  <c:v>8</c:v>
                </c:pt>
                <c:pt idx="5">
                  <c:v>8</c:v>
                </c:pt>
                <c:pt idx="6">
                  <c:v>8</c:v>
                </c:pt>
                <c:pt idx="7">
                  <c:v>8</c:v>
                </c:pt>
                <c:pt idx="8">
                  <c:v>8</c:v>
                </c:pt>
                <c:pt idx="9">
                  <c:v>8</c:v>
                </c:pt>
                <c:pt idx="10">
                  <c:v>7</c:v>
                </c:pt>
                <c:pt idx="11">
                  <c:v>7</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chemeClr val="accent2">
                  <a:lumMod val="50000"/>
                </a:schemeClr>
              </a:solidFill>
              <a:ln w="9525">
                <a:solidFill>
                  <a:schemeClr val="accent2">
                    <a:lumMod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Sheet1!$D$11:$AI$11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rgbClr val="FFC000"/>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Sheet1!$D$12:$AI$12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valAx>
      <c:spPr>
        <a:noFill/>
        <a:ln>
          <a:noFill/>
        </a:ln>
        <a:effectLst/>
      </c:spPr>
    </c:plotArea>
    <c:legend>
      <c:legendPos val="b"/>
      <c:layout>
        <c:manualLayout>
          <c:xMode val="edge"/>
          <c:yMode val="edge"/>
          <c:x val="0.45427866677955575"/>
          <c:y val="0.36957218535300551"/>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5445543480618638E-2"/>
          <c:y val="2.2682228076795662E-2"/>
          <c:w val="0.943893299494588"/>
          <c:h val="0.90560716838710642"/>
        </c:manualLayout>
      </c:layout>
      <c:lineChart>
        <c:grouping val="standard"/>
        <c:varyColors val="0"/>
        <c:ser>
          <c:idx val="0"/>
          <c:order val="0"/>
          <c:tx>
            <c:strRef>
              <c:f>Sheet1!$B$1</c:f>
              <c:strCache>
                <c:ptCount val="1"/>
                <c:pt idx="0">
                  <c:v>KH Hiện tại</c:v>
                </c:pt>
              </c:strCache>
            </c:strRef>
          </c:tx>
          <c:spPr>
            <a:ln w="28575" cap="rnd">
              <a:solidFill>
                <a:srgbClr val="00B0F0"/>
              </a:solidFill>
              <a:round/>
            </a:ln>
            <a:effectLst/>
          </c:spPr>
          <c:marker>
            <c:symbol val="circle"/>
            <c:size val="25"/>
            <c:spPr>
              <a:solidFill>
                <a:srgbClr val="0099FF"/>
              </a:solidFill>
              <a:ln w="9525">
                <a:solidFill>
                  <a:srgbClr val="0099FF"/>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3"/>
                <c:pt idx="0">
                  <c:v>T1/25</c:v>
                </c:pt>
                <c:pt idx="1">
                  <c:v>T2</c:v>
                </c:pt>
                <c:pt idx="2">
                  <c:v>T3</c:v>
                </c:pt>
              </c:strCache>
            </c:strRef>
          </c:cat>
          <c:val>
            <c:numRef>
              <c:f>Sheet1!$B$2:$B$16</c:f>
              <c:numCache>
                <c:formatCode>General</c:formatCode>
                <c:ptCount val="3"/>
                <c:pt idx="0">
                  <c:v>14.25</c:v>
                </c:pt>
                <c:pt idx="1">
                  <c:v>13.75</c:v>
                </c:pt>
                <c:pt idx="2">
                  <c:v>14</c:v>
                </c:pt>
              </c:numCache>
            </c:numRef>
          </c:val>
          <c:smooth val="1"/>
          <c:extLst>
            <c:ext xmlns:c16="http://schemas.microsoft.com/office/drawing/2014/chart" uri="{C3380CC4-5D6E-409C-BE32-E72D297353CC}">
              <c16:uniqueId val="{00000000-1A84-4B14-B83A-F9020AB8809D}"/>
            </c:ext>
          </c:extLst>
        </c:ser>
        <c:ser>
          <c:idx val="1"/>
          <c:order val="1"/>
          <c:tx>
            <c:strRef>
              <c:f>Sheet1!$C$1</c:f>
              <c:strCache>
                <c:ptCount val="1"/>
                <c:pt idx="0">
                  <c:v>KB cũ </c:v>
                </c:pt>
              </c:strCache>
            </c:strRef>
          </c:tx>
          <c:spPr>
            <a:ln w="28575" cap="rnd">
              <a:solidFill>
                <a:srgbClr val="C00000"/>
              </a:solidFill>
              <a:prstDash val="sysDash"/>
              <a:round/>
            </a:ln>
            <a:effectLst/>
          </c:spPr>
          <c:marker>
            <c:symbol val="circle"/>
            <c:size val="25"/>
            <c:spPr>
              <a:solidFill>
                <a:schemeClr val="bg1"/>
              </a:solidFill>
              <a:ln w="222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F0000"/>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3"/>
                <c:pt idx="0">
                  <c:v>T1/25</c:v>
                </c:pt>
                <c:pt idx="1">
                  <c:v>T2</c:v>
                </c:pt>
                <c:pt idx="2">
                  <c:v>T3</c:v>
                </c:pt>
              </c:strCache>
            </c:strRef>
          </c:cat>
          <c:val>
            <c:numRef>
              <c:f>Sheet1!$C$2:$C$16</c:f>
              <c:numCache>
                <c:formatCode>General</c:formatCode>
                <c:ptCount val="3"/>
                <c:pt idx="0">
                  <c:v>13</c:v>
                </c:pt>
                <c:pt idx="1">
                  <c:v>12.5</c:v>
                </c:pt>
                <c:pt idx="2">
                  <c:v>13</c:v>
                </c:pt>
              </c:numCache>
            </c:numRef>
          </c:val>
          <c:smooth val="1"/>
          <c:extLst>
            <c:ext xmlns:c16="http://schemas.microsoft.com/office/drawing/2014/chart" uri="{C3380CC4-5D6E-409C-BE32-E72D297353CC}">
              <c16:uniqueId val="{00000001-1A84-4B14-B83A-F9020AB8809D}"/>
            </c:ext>
          </c:extLst>
        </c:ser>
        <c:ser>
          <c:idx val="3"/>
          <c:order val="2"/>
          <c:tx>
            <c:strRef>
              <c:f>Sheet1!$E$1</c:f>
              <c:strCache>
                <c:ptCount val="1"/>
                <c:pt idx="0">
                  <c:v>Giải pháp triển khai thêm để giảm 01 AOG (khả thi)</c:v>
                </c:pt>
              </c:strCache>
            </c:strRef>
          </c:tx>
          <c:spPr>
            <a:ln w="28575" cap="rnd">
              <a:solidFill>
                <a:schemeClr val="accent4"/>
              </a:solidFill>
              <a:round/>
            </a:ln>
            <a:effectLst/>
          </c:spPr>
          <c:marker>
            <c:symbol val="circle"/>
            <c:size val="3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3"/>
                <c:pt idx="0">
                  <c:v>T1/25</c:v>
                </c:pt>
                <c:pt idx="1">
                  <c:v>T2</c:v>
                </c:pt>
                <c:pt idx="2">
                  <c:v>T3</c:v>
                </c:pt>
              </c:strCache>
            </c:strRef>
          </c:cat>
          <c:val>
            <c:numRef>
              <c:f>Sheet1!$E$2:$E$16</c:f>
            </c:numRef>
          </c:val>
          <c:smooth val="1"/>
          <c:extLst>
            <c:ext xmlns:c16="http://schemas.microsoft.com/office/drawing/2014/chart" uri="{C3380CC4-5D6E-409C-BE32-E72D297353CC}">
              <c16:uniqueId val="{00000002-1A84-4B14-B83A-F9020AB8809D}"/>
            </c:ext>
          </c:extLst>
        </c:ser>
        <c:dLbls>
          <c:showLegendKey val="0"/>
          <c:showVal val="0"/>
          <c:showCatName val="0"/>
          <c:showSerName val="0"/>
          <c:showPercent val="0"/>
          <c:showBubbleSize val="0"/>
        </c:dLbls>
        <c:marker val="1"/>
        <c:smooth val="0"/>
        <c:axId val="369140504"/>
        <c:axId val="369142464"/>
      </c:lineChart>
      <c:catAx>
        <c:axId val="3691405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69142464"/>
        <c:crosses val="autoZero"/>
        <c:auto val="1"/>
        <c:lblAlgn val="ctr"/>
        <c:lblOffset val="100"/>
        <c:noMultiLvlLbl val="0"/>
      </c:catAx>
      <c:valAx>
        <c:axId val="369142464"/>
        <c:scaling>
          <c:orientation val="minMax"/>
          <c:max val="16"/>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69140504"/>
        <c:crosses val="autoZero"/>
        <c:crossBetween val="between"/>
        <c:majorUnit val="1"/>
      </c:valAx>
      <c:spPr>
        <a:noFill/>
        <a:ln>
          <a:noFill/>
        </a:ln>
        <a:effectLst/>
      </c:spPr>
    </c:plotArea>
    <c:legend>
      <c:legendPos val="r"/>
      <c:layout>
        <c:manualLayout>
          <c:xMode val="edge"/>
          <c:yMode val="edge"/>
          <c:x val="0.74928376782223216"/>
          <c:y val="0.76358296622613808"/>
          <c:w val="0.16189253624902974"/>
          <c:h val="0.16291558268872777"/>
        </c:manualLayout>
      </c:layout>
      <c:overlay val="0"/>
      <c:spPr>
        <a:solidFill>
          <a:schemeClr val="bg1"/>
        </a:solidFill>
        <a:ln>
          <a:solidFill>
            <a:srgbClr val="0070C0"/>
          </a:solid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9400996275743063"/>
        </c:manualLayout>
      </c:layout>
      <c:lineChart>
        <c:grouping val="standard"/>
        <c:varyColors val="0"/>
        <c:ser>
          <c:idx val="5"/>
          <c:order val="0"/>
          <c:tx>
            <c:strRef>
              <c:f>Sheet1!$G$1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Sheet1!$A$100:$A$111</c:f>
              <c:strCache>
                <c:ptCount val="12"/>
                <c:pt idx="0">
                  <c:v>Dec-W1</c:v>
                </c:pt>
                <c:pt idx="1">
                  <c:v>Dec-W2</c:v>
                </c:pt>
                <c:pt idx="2">
                  <c:v>Dec-W3</c:v>
                </c:pt>
                <c:pt idx="3">
                  <c:v>Dec-W4</c:v>
                </c:pt>
                <c:pt idx="4">
                  <c:v>Jan-W1</c:v>
                </c:pt>
                <c:pt idx="5">
                  <c:v>Jan-W2</c:v>
                </c:pt>
                <c:pt idx="6">
                  <c:v>Jan-W3</c:v>
                </c:pt>
                <c:pt idx="7">
                  <c:v>Jan-W4</c:v>
                </c:pt>
                <c:pt idx="8">
                  <c:v>Feb-W1</c:v>
                </c:pt>
                <c:pt idx="9">
                  <c:v>Feb-W2</c:v>
                </c:pt>
                <c:pt idx="10">
                  <c:v>Feb-W3</c:v>
                </c:pt>
                <c:pt idx="11">
                  <c:v>Feb-W4</c:v>
                </c:pt>
              </c:strCache>
            </c:strRef>
          </c:cat>
          <c:val>
            <c:numRef>
              <c:f>Sheet1!$G$100:$G$111</c:f>
              <c:numCache>
                <c:formatCode>General</c:formatCode>
                <c:ptCount val="12"/>
                <c:pt idx="0">
                  <c:v>16</c:v>
                </c:pt>
                <c:pt idx="1">
                  <c:v>16</c:v>
                </c:pt>
                <c:pt idx="2">
                  <c:v>16</c:v>
                </c:pt>
                <c:pt idx="3">
                  <c:v>17</c:v>
                </c:pt>
                <c:pt idx="4">
                  <c:v>17</c:v>
                </c:pt>
                <c:pt idx="5">
                  <c:v>17</c:v>
                </c:pt>
                <c:pt idx="6">
                  <c:v>17</c:v>
                </c:pt>
                <c:pt idx="7">
                  <c:v>17</c:v>
                </c:pt>
                <c:pt idx="8">
                  <c:v>17</c:v>
                </c:pt>
                <c:pt idx="9">
                  <c:v>17</c:v>
                </c:pt>
                <c:pt idx="10">
                  <c:v>17</c:v>
                </c:pt>
                <c:pt idx="11">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322939128"/>
        <c:axId val="322941088"/>
      </c:lineChart>
      <c:catAx>
        <c:axId val="322939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41088"/>
        <c:crosses val="autoZero"/>
        <c:auto val="1"/>
        <c:lblAlgn val="ctr"/>
        <c:lblOffset val="100"/>
        <c:noMultiLvlLbl val="0"/>
      </c:catAx>
      <c:valAx>
        <c:axId val="322941088"/>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3912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userShapes r:id="rId4"/>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400" b="1">
                <a:solidFill>
                  <a:schemeClr val="tx1"/>
                </a:solidFill>
              </a:rPr>
              <a:t>Số</a:t>
            </a:r>
            <a:r>
              <a:rPr lang="en-US" sz="1400" b="1" baseline="0">
                <a:solidFill>
                  <a:schemeClr val="tx1"/>
                </a:solidFill>
              </a:rPr>
              <a:t> lượng A350 thiếu động cơ</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4.7242419776671173E-2"/>
          <c:y val="0.11299273833944892"/>
          <c:w val="0.943893299494588"/>
          <c:h val="0.67116276858031643"/>
        </c:manualLayout>
      </c:layout>
      <c:lineChart>
        <c:grouping val="standard"/>
        <c:varyColors val="0"/>
        <c:ser>
          <c:idx val="0"/>
          <c:order val="0"/>
          <c:tx>
            <c:strRef>
              <c:f>Sheet1!$B$1</c:f>
              <c:strCache>
                <c:ptCount val="1"/>
                <c:pt idx="0">
                  <c:v>NL báo KHPT</c:v>
                </c:pt>
              </c:strCache>
            </c:strRef>
          </c:tx>
          <c:spPr>
            <a:ln w="28575" cap="rnd">
              <a:solidFill>
                <a:schemeClr val="accent1"/>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Sheet1!$A$9:$A$24</c:f>
              <c:strCache>
                <c:ptCount val="12"/>
                <c:pt idx="0">
                  <c:v>Jan-W1</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Sheet1!$B$9:$B$24</c:f>
            </c:numRef>
          </c:val>
          <c:smooth val="1"/>
          <c:extLst>
            <c:ext xmlns:c16="http://schemas.microsoft.com/office/drawing/2014/chart" uri="{C3380CC4-5D6E-409C-BE32-E72D297353CC}">
              <c16:uniqueId val="{00000000-7DB7-40A0-96F5-1D2E7AF0F464}"/>
            </c:ext>
          </c:extLst>
        </c:ser>
        <c:ser>
          <c:idx val="1"/>
          <c:order val="1"/>
          <c:tx>
            <c:strRef>
              <c:f>Sheet1!$C$1</c:f>
              <c:strCache>
                <c:ptCount val="1"/>
                <c:pt idx="0">
                  <c:v>KH hiện tại</c:v>
                </c:pt>
              </c:strCache>
            </c:strRef>
          </c:tx>
          <c:spPr>
            <a:ln w="28575"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Sheet1!$A$9:$A$24</c:f>
              <c:strCache>
                <c:ptCount val="12"/>
                <c:pt idx="0">
                  <c:v>Jan-W1</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Sheet1!$C$9:$C$24</c:f>
              <c:numCache>
                <c:formatCode>General</c:formatCode>
                <c:ptCount val="12"/>
                <c:pt idx="0">
                  <c:v>4</c:v>
                </c:pt>
                <c:pt idx="1">
                  <c:v>4</c:v>
                </c:pt>
                <c:pt idx="2">
                  <c:v>4</c:v>
                </c:pt>
                <c:pt idx="3">
                  <c:v>4</c:v>
                </c:pt>
                <c:pt idx="4">
                  <c:v>4</c:v>
                </c:pt>
                <c:pt idx="5">
                  <c:v>4</c:v>
                </c:pt>
                <c:pt idx="6">
                  <c:v>4</c:v>
                </c:pt>
                <c:pt idx="7">
                  <c:v>4</c:v>
                </c:pt>
                <c:pt idx="8">
                  <c:v>4</c:v>
                </c:pt>
                <c:pt idx="9">
                  <c:v>4</c:v>
                </c:pt>
                <c:pt idx="10">
                  <c:v>4</c:v>
                </c:pt>
                <c:pt idx="11">
                  <c:v>4</c:v>
                </c:pt>
              </c:numCache>
            </c:numRef>
          </c:val>
          <c:smooth val="1"/>
          <c:extLst>
            <c:ext xmlns:c16="http://schemas.microsoft.com/office/drawing/2014/chart" uri="{C3380CC4-5D6E-409C-BE32-E72D297353CC}">
              <c16:uniqueId val="{00000001-7DB7-40A0-96F5-1D2E7AF0F464}"/>
            </c:ext>
          </c:extLst>
        </c:ser>
        <c:dLbls>
          <c:showLegendKey val="0"/>
          <c:showVal val="0"/>
          <c:showCatName val="0"/>
          <c:showSerName val="0"/>
          <c:showPercent val="0"/>
          <c:showBubbleSize val="0"/>
        </c:dLbls>
        <c:marker val="1"/>
        <c:smooth val="0"/>
        <c:axId val="322945400"/>
        <c:axId val="322952456"/>
      </c:lineChart>
      <c:catAx>
        <c:axId val="32294540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n-US"/>
          </a:p>
        </c:txPr>
        <c:crossAx val="322952456"/>
        <c:crosses val="autoZero"/>
        <c:auto val="1"/>
        <c:lblAlgn val="ctr"/>
        <c:lblOffset val="100"/>
        <c:noMultiLvlLbl val="0"/>
      </c:catAx>
      <c:valAx>
        <c:axId val="322952456"/>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22945400"/>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1059458913E-2"/>
          <c:y val="7.9544479126264098E-2"/>
          <c:w val="0.89607850198693251"/>
          <c:h val="0.73802210163219706"/>
        </c:manualLayout>
      </c:layout>
      <c:lineChart>
        <c:grouping val="standard"/>
        <c:varyColors val="0"/>
        <c:ser>
          <c:idx val="3"/>
          <c:order val="0"/>
          <c:tx>
            <c:strRef>
              <c:f>Sheet1!$B$1</c:f>
              <c:strCache>
                <c:ptCount val="1"/>
                <c:pt idx="0">
                  <c:v>A350 đủ động cơ</c:v>
                </c:pt>
              </c:strCache>
            </c:strRef>
          </c:tx>
          <c:spPr>
            <a:ln w="28575" cap="rnd">
              <a:solidFill>
                <a:srgbClr val="FF0000"/>
              </a:solidFill>
              <a:round/>
            </a:ln>
            <a:effectLst/>
          </c:spPr>
          <c:marker>
            <c:symbol val="circle"/>
            <c:size val="20"/>
            <c:spPr>
              <a:solidFill>
                <a:srgbClr val="003300"/>
              </a:solidFill>
              <a:ln w="9525">
                <a:solidFill>
                  <a:srgbClr val="003300"/>
                </a:solidFill>
              </a:ln>
              <a:effectLst/>
            </c:spPr>
          </c:marker>
          <c:dLbls>
            <c:spPr>
              <a:noFill/>
              <a:ln>
                <a:noFill/>
              </a:ln>
              <a:effectLst/>
            </c:spPr>
            <c:txPr>
              <a:bodyPr rot="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Sheet1!$A$7:$A$107</c:f>
              <c:strCache>
                <c:ptCount val="16"/>
                <c:pt idx="0">
                  <c:v>Nov-W1</c:v>
                </c:pt>
                <c:pt idx="1">
                  <c:v>Nov-W2</c:v>
                </c:pt>
                <c:pt idx="2">
                  <c:v>Nov-W3</c:v>
                </c:pt>
                <c:pt idx="3">
                  <c:v>Nov-W4</c:v>
                </c:pt>
                <c:pt idx="4">
                  <c:v>Dec-W1</c:v>
                </c:pt>
                <c:pt idx="5">
                  <c:v>Dec-W2</c:v>
                </c:pt>
                <c:pt idx="6">
                  <c:v>Dec-W3</c:v>
                </c:pt>
                <c:pt idx="7">
                  <c:v>Dec-W4</c:v>
                </c:pt>
                <c:pt idx="8">
                  <c:v>Jan-W1</c:v>
                </c:pt>
                <c:pt idx="9">
                  <c:v>Jan-W2</c:v>
                </c:pt>
                <c:pt idx="10">
                  <c:v>Jan-W3</c:v>
                </c:pt>
                <c:pt idx="11">
                  <c:v>Jan-W4</c:v>
                </c:pt>
                <c:pt idx="12">
                  <c:v>Feb-W1</c:v>
                </c:pt>
                <c:pt idx="13">
                  <c:v>Feb-W2</c:v>
                </c:pt>
                <c:pt idx="14">
                  <c:v>Feb-W3</c:v>
                </c:pt>
                <c:pt idx="15">
                  <c:v>Feb-W4</c:v>
                </c:pt>
              </c:strCache>
            </c:strRef>
          </c:cat>
          <c:val>
            <c:numRef>
              <c:f>Sheet1!$B$7:$B$107</c:f>
              <c:numCache>
                <c:formatCode>General</c:formatCode>
                <c:ptCount val="16"/>
                <c:pt idx="0">
                  <c:v>10</c:v>
                </c:pt>
                <c:pt idx="1">
                  <c:v>10</c:v>
                </c:pt>
                <c:pt idx="2">
                  <c:v>9</c:v>
                </c:pt>
                <c:pt idx="3">
                  <c:v>9</c:v>
                </c:pt>
                <c:pt idx="4">
                  <c:v>9</c:v>
                </c:pt>
                <c:pt idx="5">
                  <c:v>9</c:v>
                </c:pt>
                <c:pt idx="6">
                  <c:v>9</c:v>
                </c:pt>
                <c:pt idx="7">
                  <c:v>10</c:v>
                </c:pt>
                <c:pt idx="8">
                  <c:v>10</c:v>
                </c:pt>
                <c:pt idx="9">
                  <c:v>10</c:v>
                </c:pt>
                <c:pt idx="10">
                  <c:v>10</c:v>
                </c:pt>
                <c:pt idx="11">
                  <c:v>10</c:v>
                </c:pt>
                <c:pt idx="12">
                  <c:v>10</c:v>
                </c:pt>
                <c:pt idx="13">
                  <c:v>10</c:v>
                </c:pt>
                <c:pt idx="14">
                  <c:v>10</c:v>
                </c:pt>
                <c:pt idx="15">
                  <c:v>10</c:v>
                </c:pt>
              </c:numCache>
            </c:numRef>
          </c:val>
          <c:smooth val="0"/>
          <c:extLst>
            <c:ext xmlns:c16="http://schemas.microsoft.com/office/drawing/2014/chart" uri="{C3380CC4-5D6E-409C-BE32-E72D297353CC}">
              <c16:uniqueId val="{00000000-37CD-47C2-9C96-FB4BA1EFE2D2}"/>
            </c:ext>
          </c:extLst>
        </c:ser>
        <c:ser>
          <c:idx val="0"/>
          <c:order val="1"/>
          <c:tx>
            <c:strRef>
              <c:f>Sheet1!$C$1</c:f>
              <c:strCache>
                <c:ptCount val="1"/>
                <c:pt idx="0">
                  <c:v>Nhu cầu A350</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Sheet1!$A$7:$A$107</c:f>
              <c:strCache>
                <c:ptCount val="16"/>
                <c:pt idx="0">
                  <c:v>Nov-W1</c:v>
                </c:pt>
                <c:pt idx="1">
                  <c:v>Nov-W2</c:v>
                </c:pt>
                <c:pt idx="2">
                  <c:v>Nov-W3</c:v>
                </c:pt>
                <c:pt idx="3">
                  <c:v>Nov-W4</c:v>
                </c:pt>
                <c:pt idx="4">
                  <c:v>Dec-W1</c:v>
                </c:pt>
                <c:pt idx="5">
                  <c:v>Dec-W2</c:v>
                </c:pt>
                <c:pt idx="6">
                  <c:v>Dec-W3</c:v>
                </c:pt>
                <c:pt idx="7">
                  <c:v>Dec-W4</c:v>
                </c:pt>
                <c:pt idx="8">
                  <c:v>Jan-W1</c:v>
                </c:pt>
                <c:pt idx="9">
                  <c:v>Jan-W2</c:v>
                </c:pt>
                <c:pt idx="10">
                  <c:v>Jan-W3</c:v>
                </c:pt>
                <c:pt idx="11">
                  <c:v>Jan-W4</c:v>
                </c:pt>
                <c:pt idx="12">
                  <c:v>Feb-W1</c:v>
                </c:pt>
                <c:pt idx="13">
                  <c:v>Feb-W2</c:v>
                </c:pt>
                <c:pt idx="14">
                  <c:v>Feb-W3</c:v>
                </c:pt>
                <c:pt idx="15">
                  <c:v>Feb-W4</c:v>
                </c:pt>
              </c:strCache>
            </c:strRef>
          </c:cat>
          <c:val>
            <c:numRef>
              <c:f>Sheet1!$C$7:$C$107</c:f>
            </c:numRef>
          </c:val>
          <c:smooth val="0"/>
          <c:extLst>
            <c:ext xmlns:c16="http://schemas.microsoft.com/office/drawing/2014/chart" uri="{C3380CC4-5D6E-409C-BE32-E72D297353CC}">
              <c16:uniqueId val="{00000001-37CD-47C2-9C96-FB4BA1EFE2D2}"/>
            </c:ext>
          </c:extLst>
        </c:ser>
        <c:dLbls>
          <c:dLblPos val="ctr"/>
          <c:showLegendKey val="0"/>
          <c:showVal val="1"/>
          <c:showCatName val="0"/>
          <c:showSerName val="0"/>
          <c:showPercent val="0"/>
          <c:showBubbleSize val="0"/>
        </c:dLbls>
        <c:marker val="1"/>
        <c:smooth val="0"/>
        <c:axId val="322941480"/>
        <c:axId val="322943048"/>
      </c:lineChart>
      <c:catAx>
        <c:axId val="32294148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322943048"/>
        <c:crosses val="autoZero"/>
        <c:auto val="1"/>
        <c:lblAlgn val="ctr"/>
        <c:lblOffset val="100"/>
        <c:noMultiLvlLbl val="0"/>
      </c:catAx>
      <c:valAx>
        <c:axId val="322943048"/>
        <c:scaling>
          <c:orientation val="minMax"/>
          <c:max val="11"/>
          <c:min val="1"/>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322941480"/>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sz="1600" b="1"/>
      </a:pPr>
      <a:endParaRPr lang="en-US"/>
    </a:p>
  </c:txPr>
  <c:externalData r:id="rId3">
    <c:autoUpdate val="0"/>
  </c:externalData>
  <c:userShapes r:id="rId4"/>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rPr>
              <a:t>ĐỘI</a:t>
            </a:r>
            <a:r>
              <a:rPr lang="en-US" sz="1000" baseline="0" dirty="0">
                <a:solidFill>
                  <a:schemeClr val="tx1"/>
                </a:solidFill>
              </a:rPr>
              <a:t> </a:t>
            </a:r>
            <a:r>
              <a:rPr lang="en-US" sz="1000" baseline="0">
                <a:solidFill>
                  <a:schemeClr val="tx1"/>
                </a:solidFill>
              </a:rPr>
              <a:t>BAY ATR72</a:t>
            </a:r>
            <a:endParaRPr lang="en-US" sz="1000" dirty="0">
              <a:solidFill>
                <a:schemeClr val="tx1"/>
              </a:solidFill>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5DD9-45B0-A857-E17C1999913E}"/>
            </c:ext>
          </c:extLst>
        </c:ser>
        <c:dLbls>
          <c:dLblPos val="ctr"/>
          <c:showLegendKey val="0"/>
          <c:showVal val="1"/>
          <c:showCatName val="0"/>
          <c:showSerName val="0"/>
          <c:showPercent val="0"/>
          <c:showBubbleSize val="0"/>
        </c:dLbls>
        <c:gapWidth val="150"/>
        <c:axId val="322954024"/>
        <c:axId val="322950888"/>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6</c:v>
                </c:pt>
                <c:pt idx="7">
                  <c:v>6</c:v>
                </c:pt>
                <c:pt idx="8">
                  <c:v>6</c:v>
                </c:pt>
                <c:pt idx="9">
                  <c:v>6</c:v>
                </c:pt>
                <c:pt idx="10">
                  <c:v>6</c:v>
                </c:pt>
                <c:pt idx="11">
                  <c:v>6</c:v>
                </c:pt>
              </c:numCache>
            </c:numRef>
          </c:val>
          <c:smooth val="0"/>
          <c:extLst>
            <c:ext xmlns:c16="http://schemas.microsoft.com/office/drawing/2014/chart" uri="{C3380CC4-5D6E-409C-BE32-E72D297353CC}">
              <c16:uniqueId val="{00000001-5DD9-45B0-A857-E17C1999913E}"/>
            </c:ext>
          </c:extLst>
        </c:ser>
        <c:dLbls>
          <c:showLegendKey val="0"/>
          <c:showVal val="0"/>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valAx>
      <c:spPr>
        <a:noFill/>
        <a:ln>
          <a:noFill/>
        </a:ln>
        <a:effectLst/>
      </c:spPr>
    </c:plotArea>
    <c:legend>
      <c:legendPos val="b"/>
      <c:layout>
        <c:manualLayout>
          <c:xMode val="edge"/>
          <c:yMode val="edge"/>
          <c:x val="0.67513027291531713"/>
          <c:y val="6.004108159602075E-2"/>
          <c:w val="0.30713392618610735"/>
          <c:h val="5.4412364558412099E-2"/>
        </c:manualLayout>
      </c:layout>
      <c:overlay val="0"/>
      <c:spPr>
        <a:solidFill>
          <a:schemeClr val="bg1"/>
        </a:solidFill>
        <a:ln>
          <a:solidFill>
            <a:srgbClr val="00FF0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600"/>
            </a:pPr>
            <a:r>
              <a:rPr lang="en-US" sz="1600"/>
              <a:t>Số nhân nhượng theo tuần</a:t>
            </a:r>
            <a:endParaRPr lang="vi-VN" sz="1600"/>
          </a:p>
        </c:rich>
      </c:tx>
      <c:overlay val="0"/>
    </c:title>
    <c:autoTitleDeleted val="0"/>
    <c:plotArea>
      <c:layout/>
      <c:barChart>
        <c:barDir val="col"/>
        <c:grouping val="clustered"/>
        <c:varyColors val="0"/>
        <c:ser>
          <c:idx val="0"/>
          <c:order val="0"/>
          <c:tx>
            <c:strRef>
              <c:f>'Data Chart'!$C$34</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Chart'!$A$35:$B$40</c:f>
              <c:strCache>
                <c:ptCount val="6"/>
                <c:pt idx="0">
                  <c:v>A320</c:v>
                </c:pt>
                <c:pt idx="1">
                  <c:v>A321</c:v>
                </c:pt>
                <c:pt idx="2">
                  <c:v>A350</c:v>
                </c:pt>
                <c:pt idx="3">
                  <c:v>B787</c:v>
                </c:pt>
                <c:pt idx="4">
                  <c:v>ATR72</c:v>
                </c:pt>
                <c:pt idx="5">
                  <c:v>Tất cả</c:v>
                </c:pt>
              </c:strCache>
            </c:strRef>
          </c:cat>
          <c:val>
            <c:numRef>
              <c:f>'Data Chart'!$C$35:$C$40</c:f>
              <c:numCache>
                <c:formatCode>General</c:formatCode>
                <c:ptCount val="6"/>
                <c:pt idx="0">
                  <c:v>0</c:v>
                </c:pt>
                <c:pt idx="1">
                  <c:v>13</c:v>
                </c:pt>
                <c:pt idx="2">
                  <c:v>3</c:v>
                </c:pt>
                <c:pt idx="3">
                  <c:v>7</c:v>
                </c:pt>
                <c:pt idx="4">
                  <c:v>0</c:v>
                </c:pt>
                <c:pt idx="5" formatCode="0">
                  <c:v>23</c:v>
                </c:pt>
              </c:numCache>
            </c:numRef>
          </c:val>
          <c:extLst>
            <c:ext xmlns:c16="http://schemas.microsoft.com/office/drawing/2014/chart" uri="{C3380CC4-5D6E-409C-BE32-E72D297353CC}">
              <c16:uniqueId val="{00000000-3B18-4EF3-946E-536546BE2994}"/>
            </c:ext>
          </c:extLst>
        </c:ser>
        <c:ser>
          <c:idx val="1"/>
          <c:order val="1"/>
          <c:tx>
            <c:strRef>
              <c:f>'Data Chart'!$D$34</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Chart'!$A$35:$B$40</c:f>
              <c:strCache>
                <c:ptCount val="6"/>
                <c:pt idx="0">
                  <c:v>A320</c:v>
                </c:pt>
                <c:pt idx="1">
                  <c:v>A321</c:v>
                </c:pt>
                <c:pt idx="2">
                  <c:v>A350</c:v>
                </c:pt>
                <c:pt idx="3">
                  <c:v>B787</c:v>
                </c:pt>
                <c:pt idx="4">
                  <c:v>ATR72</c:v>
                </c:pt>
                <c:pt idx="5">
                  <c:v>Tất cả</c:v>
                </c:pt>
              </c:strCache>
            </c:strRef>
          </c:cat>
          <c:val>
            <c:numRef>
              <c:f>'Data Chart'!$D$35:$D$40</c:f>
              <c:numCache>
                <c:formatCode>General</c:formatCode>
                <c:ptCount val="6"/>
                <c:pt idx="0">
                  <c:v>0</c:v>
                </c:pt>
                <c:pt idx="1">
                  <c:v>2</c:v>
                </c:pt>
                <c:pt idx="2">
                  <c:v>0</c:v>
                </c:pt>
                <c:pt idx="3">
                  <c:v>1</c:v>
                </c:pt>
                <c:pt idx="4">
                  <c:v>0</c:v>
                </c:pt>
                <c:pt idx="5" formatCode="0">
                  <c:v>3</c:v>
                </c:pt>
              </c:numCache>
            </c:numRef>
          </c:val>
          <c:extLst>
            <c:ext xmlns:c16="http://schemas.microsoft.com/office/drawing/2014/chart" uri="{C3380CC4-5D6E-409C-BE32-E72D297353CC}">
              <c16:uniqueId val="{00000001-3B18-4EF3-946E-536546BE2994}"/>
            </c:ext>
          </c:extLst>
        </c:ser>
        <c:dLbls>
          <c:showLegendKey val="0"/>
          <c:showVal val="0"/>
          <c:showCatName val="0"/>
          <c:showSerName val="0"/>
          <c:showPercent val="0"/>
          <c:showBubbleSize val="0"/>
        </c:dLbls>
        <c:gapWidth val="150"/>
        <c:axId val="313739144"/>
        <c:axId val="313732872"/>
      </c:barChart>
      <c:catAx>
        <c:axId val="313739144"/>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13732872"/>
        <c:crosses val="autoZero"/>
        <c:auto val="1"/>
        <c:lblAlgn val="ctr"/>
        <c:lblOffset val="100"/>
        <c:noMultiLvlLbl val="0"/>
      </c:catAx>
      <c:valAx>
        <c:axId val="313732872"/>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13739144"/>
        <c:crosses val="autoZero"/>
        <c:crossBetween val="between"/>
        <c:majorUnit val="4"/>
        <c:minorUnit val="2"/>
      </c:valAx>
    </c:plotArea>
    <c:legend>
      <c:legendPos val="b"/>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6.7239114114114165E-2</c:v>
                </c:pt>
                <c:pt idx="1">
                  <c:v>7.6461811164961507E-2</c:v>
                </c:pt>
                <c:pt idx="2">
                  <c:v>8.3481991165477443E-2</c:v>
                </c:pt>
                <c:pt idx="3">
                  <c:v>0.14448302469135796</c:v>
                </c:pt>
                <c:pt idx="4">
                  <c:v>0.26116071428571447</c:v>
                </c:pt>
                <c:pt idx="5">
                  <c:v>0.24823943661971851</c:v>
                </c:pt>
                <c:pt idx="6">
                  <c:v>0.15552849927849938</c:v>
                </c:pt>
                <c:pt idx="7">
                  <c:v>0.13615451388888916</c:v>
                </c:pt>
                <c:pt idx="8">
                  <c:v>4.5778508771929884E-2</c:v>
                </c:pt>
              </c:numCache>
            </c:numRef>
          </c:val>
          <c:extLst>
            <c:ext xmlns:c16="http://schemas.microsoft.com/office/drawing/2014/chart" uri="{C3380CC4-5D6E-409C-BE32-E72D297353CC}">
              <c16:uniqueId val="{00000000-05E9-41BA-99C7-3FF95B3BBCAD}"/>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6.7377167630057841E-2</c:v>
                </c:pt>
                <c:pt idx="1">
                  <c:v>7.6677392201585898E-2</c:v>
                </c:pt>
                <c:pt idx="2">
                  <c:v>8.4381551362683507E-2</c:v>
                </c:pt>
                <c:pt idx="3">
                  <c:v>0.1079940025252525</c:v>
                </c:pt>
                <c:pt idx="4">
                  <c:v>0.25285689170182862</c:v>
                </c:pt>
                <c:pt idx="5">
                  <c:v>0.22702020202020243</c:v>
                </c:pt>
                <c:pt idx="6">
                  <c:v>0.14096506300114553</c:v>
                </c:pt>
                <c:pt idx="7">
                  <c:v>0.12885802469135826</c:v>
                </c:pt>
                <c:pt idx="8">
                  <c:v>4.3968762718762766E-2</c:v>
                </c:pt>
              </c:numCache>
            </c:numRef>
          </c:val>
          <c:extLst>
            <c:ext xmlns:c16="http://schemas.microsoft.com/office/drawing/2014/chart" uri="{C3380CC4-5D6E-409C-BE32-E72D297353CC}">
              <c16:uniqueId val="{00000001-05E9-41BA-99C7-3FF95B3BBCAD}"/>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7.0476190476190483</c:v>
                </c:pt>
                <c:pt idx="1">
                  <c:v>6.802197802197802</c:v>
                </c:pt>
                <c:pt idx="2">
                  <c:v>6.6734693877551026</c:v>
                </c:pt>
                <c:pt idx="3">
                  <c:v>2.7714285714285714</c:v>
                </c:pt>
                <c:pt idx="4">
                  <c:v>3.1848739495798322</c:v>
                </c:pt>
                <c:pt idx="5">
                  <c:v>7.6000000000000005</c:v>
                </c:pt>
              </c:numCache>
            </c:numRef>
          </c:val>
          <c:extLst>
            <c:ext xmlns:c16="http://schemas.microsoft.com/office/drawing/2014/chart" uri="{C3380CC4-5D6E-409C-BE32-E72D297353CC}">
              <c16:uniqueId val="{00000000-54C4-4698-869D-16E28194E314}"/>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8.238095238095239</c:v>
                </c:pt>
                <c:pt idx="1">
                  <c:v>7.4945054945054954</c:v>
                </c:pt>
                <c:pt idx="2">
                  <c:v>6.4897959183673475</c:v>
                </c:pt>
                <c:pt idx="3">
                  <c:v>3.5142857142857147</c:v>
                </c:pt>
                <c:pt idx="4">
                  <c:v>3.7142857142857144</c:v>
                </c:pt>
                <c:pt idx="5">
                  <c:v>7.7999999999999989</c:v>
                </c:pt>
              </c:numCache>
            </c:numRef>
          </c:val>
          <c:extLst>
            <c:ext xmlns:c16="http://schemas.microsoft.com/office/drawing/2014/chart" uri="{C3380CC4-5D6E-409C-BE32-E72D297353CC}">
              <c16:uniqueId val="{00000001-54C4-4698-869D-16E28194E314}"/>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53E5-4E96-A7C5-28FE863700BA}"/>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53E5-4E96-A7C5-28FE863700BA}"/>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53E5-4E96-A7C5-28FE863700BA}"/>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53E5-4E96-A7C5-28FE863700BA}"/>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53E5-4E96-A7C5-28FE863700BA}"/>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53E5-4E96-A7C5-28FE863700BA}"/>
              </c:ext>
            </c:extLst>
          </c:dPt>
          <c:dPt>
            <c:idx val="15"/>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53E5-4E96-A7C5-28FE863700BA}"/>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Week!$B$35:$BQ$35</c:f>
              <c:numCache>
                <c:formatCode>d\-mmm</c:formatCode>
                <c:ptCount val="68"/>
                <c:pt idx="0">
                  <c:v>45671</c:v>
                </c:pt>
                <c:pt idx="1">
                  <c:v>45672</c:v>
                </c:pt>
                <c:pt idx="2">
                  <c:v>45673</c:v>
                </c:pt>
                <c:pt idx="3">
                  <c:v>45674</c:v>
                </c:pt>
                <c:pt idx="4">
                  <c:v>45675</c:v>
                </c:pt>
                <c:pt idx="5">
                  <c:v>45676</c:v>
                </c:pt>
                <c:pt idx="6">
                  <c:v>45677</c:v>
                </c:pt>
                <c:pt idx="7">
                  <c:v>45678</c:v>
                </c:pt>
                <c:pt idx="8">
                  <c:v>45679</c:v>
                </c:pt>
                <c:pt idx="9">
                  <c:v>45680</c:v>
                </c:pt>
                <c:pt idx="10">
                  <c:v>45681</c:v>
                </c:pt>
                <c:pt idx="11">
                  <c:v>45682</c:v>
                </c:pt>
                <c:pt idx="12">
                  <c:v>45683</c:v>
                </c:pt>
                <c:pt idx="13">
                  <c:v>45684</c:v>
                </c:pt>
                <c:pt idx="14">
                  <c:v>45685</c:v>
                </c:pt>
                <c:pt idx="15">
                  <c:v>45686</c:v>
                </c:pt>
                <c:pt idx="16">
                  <c:v>45687</c:v>
                </c:pt>
                <c:pt idx="17">
                  <c:v>45688</c:v>
                </c:pt>
                <c:pt idx="18">
                  <c:v>45689</c:v>
                </c:pt>
                <c:pt idx="19">
                  <c:v>45690</c:v>
                </c:pt>
                <c:pt idx="20">
                  <c:v>45691</c:v>
                </c:pt>
                <c:pt idx="21">
                  <c:v>45692</c:v>
                </c:pt>
                <c:pt idx="22">
                  <c:v>45693</c:v>
                </c:pt>
                <c:pt idx="23">
                  <c:v>45694</c:v>
                </c:pt>
                <c:pt idx="24">
                  <c:v>45695</c:v>
                </c:pt>
                <c:pt idx="25">
                  <c:v>45696</c:v>
                </c:pt>
                <c:pt idx="26">
                  <c:v>45697</c:v>
                </c:pt>
                <c:pt idx="27">
                  <c:v>45698</c:v>
                </c:pt>
                <c:pt idx="28">
                  <c:v>45699</c:v>
                </c:pt>
                <c:pt idx="29">
                  <c:v>45700</c:v>
                </c:pt>
                <c:pt idx="30">
                  <c:v>45701</c:v>
                </c:pt>
                <c:pt idx="31">
                  <c:v>45702</c:v>
                </c:pt>
                <c:pt idx="32">
                  <c:v>45703</c:v>
                </c:pt>
                <c:pt idx="33">
                  <c:v>45704</c:v>
                </c:pt>
                <c:pt idx="34">
                  <c:v>45705</c:v>
                </c:pt>
                <c:pt idx="35">
                  <c:v>45706</c:v>
                </c:pt>
                <c:pt idx="36">
                  <c:v>45707</c:v>
                </c:pt>
                <c:pt idx="37">
                  <c:v>45708</c:v>
                </c:pt>
                <c:pt idx="38">
                  <c:v>45709</c:v>
                </c:pt>
                <c:pt idx="39">
                  <c:v>45710</c:v>
                </c:pt>
                <c:pt idx="40">
                  <c:v>45711</c:v>
                </c:pt>
                <c:pt idx="41">
                  <c:v>45712</c:v>
                </c:pt>
                <c:pt idx="42">
                  <c:v>45713</c:v>
                </c:pt>
                <c:pt idx="43">
                  <c:v>45714</c:v>
                </c:pt>
                <c:pt idx="44">
                  <c:v>45715</c:v>
                </c:pt>
                <c:pt idx="45">
                  <c:v>45716</c:v>
                </c:pt>
              </c:numCache>
            </c:numRef>
          </c:cat>
          <c:val>
            <c:numRef>
              <c:f>Week!$B$36:$BQ$36</c:f>
              <c:numCache>
                <c:formatCode>General</c:formatCode>
                <c:ptCount val="68"/>
                <c:pt idx="0">
                  <c:v>414</c:v>
                </c:pt>
                <c:pt idx="1">
                  <c:v>423</c:v>
                </c:pt>
                <c:pt idx="2">
                  <c:v>424</c:v>
                </c:pt>
                <c:pt idx="3">
                  <c:v>446</c:v>
                </c:pt>
                <c:pt idx="4">
                  <c:v>460</c:v>
                </c:pt>
                <c:pt idx="5">
                  <c:v>438</c:v>
                </c:pt>
                <c:pt idx="6">
                  <c:v>439</c:v>
                </c:pt>
                <c:pt idx="7">
                  <c:v>463</c:v>
                </c:pt>
                <c:pt idx="8">
                  <c:v>527</c:v>
                </c:pt>
                <c:pt idx="9">
                  <c:v>545</c:v>
                </c:pt>
                <c:pt idx="10">
                  <c:v>550</c:v>
                </c:pt>
                <c:pt idx="11">
                  <c:v>559</c:v>
                </c:pt>
                <c:pt idx="12">
                  <c:v>552</c:v>
                </c:pt>
                <c:pt idx="13">
                  <c:v>548</c:v>
                </c:pt>
                <c:pt idx="14">
                  <c:v>450</c:v>
                </c:pt>
                <c:pt idx="15">
                  <c:v>414</c:v>
                </c:pt>
                <c:pt idx="16">
                  <c:v>459</c:v>
                </c:pt>
                <c:pt idx="17">
                  <c:v>473</c:v>
                </c:pt>
                <c:pt idx="18">
                  <c:v>551</c:v>
                </c:pt>
                <c:pt idx="19">
                  <c:v>565</c:v>
                </c:pt>
                <c:pt idx="20">
                  <c:v>568</c:v>
                </c:pt>
                <c:pt idx="21">
                  <c:v>566</c:v>
                </c:pt>
                <c:pt idx="22">
                  <c:v>544</c:v>
                </c:pt>
                <c:pt idx="23">
                  <c:v>550</c:v>
                </c:pt>
                <c:pt idx="24">
                  <c:v>535</c:v>
                </c:pt>
                <c:pt idx="25">
                  <c:v>523</c:v>
                </c:pt>
                <c:pt idx="26">
                  <c:v>533</c:v>
                </c:pt>
                <c:pt idx="27">
                  <c:v>507</c:v>
                </c:pt>
                <c:pt idx="28">
                  <c:v>494</c:v>
                </c:pt>
                <c:pt idx="29">
                  <c:v>496</c:v>
                </c:pt>
                <c:pt idx="30">
                  <c:v>443</c:v>
                </c:pt>
                <c:pt idx="31">
                  <c:v>436</c:v>
                </c:pt>
                <c:pt idx="32">
                  <c:v>438</c:v>
                </c:pt>
                <c:pt idx="33">
                  <c:v>453</c:v>
                </c:pt>
                <c:pt idx="34">
                  <c:v>423</c:v>
                </c:pt>
                <c:pt idx="35">
                  <c:v>412</c:v>
                </c:pt>
                <c:pt idx="36">
                  <c:v>416</c:v>
                </c:pt>
                <c:pt idx="37">
                  <c:v>409</c:v>
                </c:pt>
                <c:pt idx="38">
                  <c:v>429</c:v>
                </c:pt>
                <c:pt idx="39">
                  <c:v>426</c:v>
                </c:pt>
                <c:pt idx="40">
                  <c:v>433</c:v>
                </c:pt>
                <c:pt idx="41">
                  <c:v>408</c:v>
                </c:pt>
                <c:pt idx="42">
                  <c:v>403</c:v>
                </c:pt>
                <c:pt idx="43">
                  <c:v>408</c:v>
                </c:pt>
                <c:pt idx="44">
                  <c:v>414</c:v>
                </c:pt>
                <c:pt idx="45">
                  <c:v>408</c:v>
                </c:pt>
              </c:numCache>
            </c:numRef>
          </c:val>
          <c:extLst>
            <c:ext xmlns:c16="http://schemas.microsoft.com/office/drawing/2014/chart" uri="{C3380CC4-5D6E-409C-BE32-E72D297353CC}">
              <c16:uniqueId val="{0000000E-53E5-4E96-A7C5-28FE863700BA}"/>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590"/>
          <c:min val="25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drawings/drawing1.xml><?xml version="1.0" encoding="utf-8"?>
<c:userShapes xmlns:c="http://schemas.openxmlformats.org/drawingml/2006/chart">
  <cdr:relSizeAnchor xmlns:cdr="http://schemas.openxmlformats.org/drawingml/2006/chartDrawing">
    <cdr:from>
      <cdr:x>0.3797</cdr:x>
      <cdr:y>0.79526</cdr:y>
    </cdr:from>
    <cdr:to>
      <cdr:x>0.48327</cdr:x>
      <cdr:y>0.86114</cdr:y>
    </cdr:to>
    <cdr:sp macro="" textlink="">
      <cdr:nvSpPr>
        <cdr:cNvPr id="2" name="TextBox 1">
          <a:extLst xmlns:a="http://schemas.openxmlformats.org/drawingml/2006/main">
            <a:ext uri="{FF2B5EF4-FFF2-40B4-BE49-F238E27FC236}">
              <a16:creationId xmlns:a16="http://schemas.microsoft.com/office/drawing/2014/main" id="{06015A32-1E3C-6359-2AE7-55045DA3B5A1}"/>
            </a:ext>
          </a:extLst>
        </cdr:cNvPr>
        <cdr:cNvSpPr txBox="1"/>
      </cdr:nvSpPr>
      <cdr:spPr>
        <a:xfrm xmlns:a="http://schemas.openxmlformats.org/drawingml/2006/main">
          <a:off x="1828811" y="2972323"/>
          <a:ext cx="498855" cy="246221"/>
        </a:xfrm>
        <a:prstGeom xmlns:a="http://schemas.openxmlformats.org/drawingml/2006/main" prst="rect">
          <a:avLst/>
        </a:prstGeom>
        <a:noFill xmlns:a="http://schemas.openxmlformats.org/drawingml/2006/main"/>
      </cdr:spPr>
      <cdr:txBody>
        <a:bodyPr xmlns:a="http://schemas.openxmlformats.org/drawingml/2006/main" vertOverflow="clip" wrap="none" rtlCol="0">
          <a:spAutoFit/>
        </a:bodyPr>
        <a:lstStyle xmlns:a="http://schemas.openxmlformats.org/drawingml/2006/main"/>
        <a:p xmlns:a="http://schemas.openxmlformats.org/drawingml/2006/main">
          <a:r>
            <a:rPr lang="en-US" sz="1000" b="1" kern="1200" dirty="0">
              <a:solidFill>
                <a:srgbClr val="D2A43B"/>
              </a:solidFill>
              <a:latin typeface="Montserrat" pitchFamily="2" charset="77"/>
            </a:rPr>
            <a:t>2025</a:t>
          </a:r>
        </a:p>
      </cdr:txBody>
    </cdr:sp>
  </cdr:relSizeAnchor>
</c:userShapes>
</file>

<file path=ppt/drawings/drawing2.xml><?xml version="1.0" encoding="utf-8"?>
<c:userShapes xmlns:c="http://schemas.openxmlformats.org/drawingml/2006/chart">
  <cdr:relSizeAnchor xmlns:cdr="http://schemas.openxmlformats.org/drawingml/2006/chartDrawing">
    <cdr:from>
      <cdr:x>0.07349</cdr:x>
      <cdr:y>0.76219</cdr:y>
    </cdr:from>
    <cdr:to>
      <cdr:x>0.97416</cdr:x>
      <cdr:y>0.82679</cdr:y>
    </cdr:to>
    <cdr:sp macro="" textlink="">
      <cdr:nvSpPr>
        <cdr:cNvPr id="4" name="Rectangle 3">
          <a:extLst xmlns:a="http://schemas.openxmlformats.org/drawingml/2006/main">
            <a:ext uri="{FF2B5EF4-FFF2-40B4-BE49-F238E27FC236}">
              <a16:creationId xmlns:a16="http://schemas.microsoft.com/office/drawing/2014/main" id="{338E3D7E-F7D1-440F-A166-CB5C793E6271}"/>
            </a:ext>
          </a:extLst>
        </cdr:cNvPr>
        <cdr:cNvSpPr/>
      </cdr:nvSpPr>
      <cdr:spPr>
        <a:xfrm xmlns:a="http://schemas.openxmlformats.org/drawingml/2006/main">
          <a:off x="838200" y="2910954"/>
          <a:ext cx="10272399" cy="246705"/>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A886  trống 2 động cơ</a:t>
          </a:r>
          <a:endParaRPr lang="en-US" sz="900" b="1" dirty="0"/>
        </a:p>
      </cdr:txBody>
    </cdr:sp>
  </cdr:relSizeAnchor>
  <cdr:relSizeAnchor xmlns:cdr="http://schemas.openxmlformats.org/drawingml/2006/chartDrawing">
    <cdr:from>
      <cdr:x>0.07349</cdr:x>
      <cdr:y>0.68238</cdr:y>
    </cdr:from>
    <cdr:to>
      <cdr:x>0.97416</cdr:x>
      <cdr:y>0.74224</cdr:y>
    </cdr:to>
    <cdr:sp macro="" textlink="">
      <cdr:nvSpPr>
        <cdr:cNvPr id="5" name="Rectangle 4">
          <a:extLst xmlns:a="http://schemas.openxmlformats.org/drawingml/2006/main">
            <a:ext uri="{FF2B5EF4-FFF2-40B4-BE49-F238E27FC236}">
              <a16:creationId xmlns:a16="http://schemas.microsoft.com/office/drawing/2014/main" id="{AC001FB9-20D7-43C4-8A74-EF08DC900745}"/>
            </a:ext>
          </a:extLst>
        </cdr:cNvPr>
        <cdr:cNvSpPr/>
      </cdr:nvSpPr>
      <cdr:spPr>
        <a:xfrm xmlns:a="http://schemas.openxmlformats.org/drawingml/2006/main">
          <a:off x="838201" y="2606136"/>
          <a:ext cx="10272406" cy="228617"/>
        </a:xfrm>
        <a:prstGeom xmlns:a="http://schemas.openxmlformats.org/drawingml/2006/main" prst="rect">
          <a:avLst/>
        </a:prstGeom>
        <a:solidFill xmlns:a="http://schemas.openxmlformats.org/drawingml/2006/main">
          <a:srgbClr val="0070C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A887 có 1 động cơ đến hạn kiểm tra LPT</a:t>
          </a:r>
        </a:p>
        <a:p xmlns:a="http://schemas.openxmlformats.org/drawingml/2006/main">
          <a:endParaRPr lang="en-US" sz="900" b="1" dirty="0"/>
        </a:p>
      </cdr:txBody>
    </cdr:sp>
  </cdr:relSizeAnchor>
  <cdr:relSizeAnchor xmlns:cdr="http://schemas.openxmlformats.org/drawingml/2006/chartDrawing">
    <cdr:from>
      <cdr:x>0.07702</cdr:x>
      <cdr:y>0.60258</cdr:y>
    </cdr:from>
    <cdr:to>
      <cdr:x>0.97416</cdr:x>
      <cdr:y>0.66243</cdr:y>
    </cdr:to>
    <cdr:sp macro="" textlink="">
      <cdr:nvSpPr>
        <cdr:cNvPr id="3" name="Rectangle 2">
          <a:extLst xmlns:a="http://schemas.openxmlformats.org/drawingml/2006/main">
            <a:ext uri="{FF2B5EF4-FFF2-40B4-BE49-F238E27FC236}">
              <a16:creationId xmlns:a16="http://schemas.microsoft.com/office/drawing/2014/main" id="{8C06442C-9D9E-F4F8-6680-E3EEBE834D35}"/>
            </a:ext>
          </a:extLst>
        </cdr:cNvPr>
        <cdr:cNvSpPr/>
      </cdr:nvSpPr>
      <cdr:spPr>
        <a:xfrm xmlns:a="http://schemas.openxmlformats.org/drawingml/2006/main">
          <a:off x="684017" y="1912981"/>
          <a:ext cx="7967945" cy="190003"/>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A898 đang có 2 động ơ đến hạn kiểm tra LPT</a:t>
          </a:r>
          <a:endParaRPr lang="en-US" sz="900" b="1" dirty="0"/>
        </a:p>
      </cdr:txBody>
    </cdr:sp>
  </cdr:relSizeAnchor>
  <cdr:relSizeAnchor xmlns:cdr="http://schemas.openxmlformats.org/drawingml/2006/chartDrawing">
    <cdr:from>
      <cdr:x>0.07446</cdr:x>
      <cdr:y>0.51411</cdr:y>
    </cdr:from>
    <cdr:to>
      <cdr:x>0.97416</cdr:x>
      <cdr:y>0.57397</cdr:y>
    </cdr:to>
    <cdr:sp macro="" textlink="">
      <cdr:nvSpPr>
        <cdr:cNvPr id="6" name="Rectangle 5">
          <a:extLst xmlns:a="http://schemas.openxmlformats.org/drawingml/2006/main">
            <a:ext uri="{FF2B5EF4-FFF2-40B4-BE49-F238E27FC236}">
              <a16:creationId xmlns:a16="http://schemas.microsoft.com/office/drawing/2014/main" id="{3CB04933-FC0C-D6B1-4ACB-5A3CDF5466E3}"/>
            </a:ext>
          </a:extLst>
        </cdr:cNvPr>
        <cdr:cNvSpPr/>
      </cdr:nvSpPr>
      <cdr:spPr>
        <a:xfrm xmlns:a="http://schemas.openxmlformats.org/drawingml/2006/main">
          <a:off x="661347" y="1632120"/>
          <a:ext cx="7990616" cy="190034"/>
        </a:xfrm>
        <a:prstGeom xmlns:a="http://schemas.openxmlformats.org/drawingml/2006/main" prst="rect">
          <a:avLst/>
        </a:prstGeom>
        <a:solidFill xmlns:a="http://schemas.openxmlformats.org/drawingml/2006/main">
          <a:srgbClr val="0070C0"/>
        </a:solidFill>
        <a:ln xmlns:a="http://schemas.openxmlformats.org/drawingml/2006/main">
          <a:solidFill>
            <a:schemeClr val="accent1">
              <a:lumMod val="50000"/>
            </a:schemeClr>
          </a:solidFill>
        </a:ln>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A895 trống 2 động cơ</a:t>
          </a:r>
          <a:endParaRPr lang="en-US" sz="900" b="1" dirty="0"/>
        </a:p>
      </cdr:txBody>
    </cdr:sp>
  </cdr:relSizeAnchor>
  <cdr:relSizeAnchor xmlns:cdr="http://schemas.openxmlformats.org/drawingml/2006/chartDrawing">
    <cdr:from>
      <cdr:x>0.18916</cdr:x>
      <cdr:y>0.42163</cdr:y>
    </cdr:from>
    <cdr:to>
      <cdr:x>0.46724</cdr:x>
      <cdr:y>0.49663</cdr:y>
    </cdr:to>
    <cdr:sp macro="" textlink="">
      <cdr:nvSpPr>
        <cdr:cNvPr id="7" name="Rectangle 6">
          <a:extLst xmlns:a="http://schemas.openxmlformats.org/drawingml/2006/main">
            <a:ext uri="{FF2B5EF4-FFF2-40B4-BE49-F238E27FC236}">
              <a16:creationId xmlns:a16="http://schemas.microsoft.com/office/drawing/2014/main" id="{36D639A6-0073-B7D2-F93D-836D7CB3B552}"/>
            </a:ext>
          </a:extLst>
        </cdr:cNvPr>
        <cdr:cNvSpPr/>
      </cdr:nvSpPr>
      <cdr:spPr>
        <a:xfrm xmlns:a="http://schemas.openxmlformats.org/drawingml/2006/main">
          <a:off x="1680017" y="1338532"/>
          <a:ext cx="2469786" cy="238095"/>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A896 thay 2 động cơ</a:t>
          </a:r>
          <a:endParaRPr lang="en-US" sz="900" b="1" dirty="0"/>
        </a:p>
      </cdr:txBody>
    </cdr:sp>
  </cdr:relSizeAnchor>
  <cdr:relSizeAnchor xmlns:cdr="http://schemas.openxmlformats.org/drawingml/2006/chartDrawing">
    <cdr:from>
      <cdr:x>0.86228</cdr:x>
      <cdr:y>0.33519</cdr:y>
    </cdr:from>
    <cdr:to>
      <cdr:x>0.92092</cdr:x>
      <cdr:y>0.5</cdr:y>
    </cdr:to>
    <cdr:sp macro="" textlink="">
      <cdr:nvSpPr>
        <cdr:cNvPr id="8" name="Rectangle 7">
          <a:extLst xmlns:a="http://schemas.openxmlformats.org/drawingml/2006/main">
            <a:ext uri="{FF2B5EF4-FFF2-40B4-BE49-F238E27FC236}">
              <a16:creationId xmlns:a16="http://schemas.microsoft.com/office/drawing/2014/main" id="{6760457E-4D8D-4A41-A351-EB1CFCF9A605}"/>
            </a:ext>
          </a:extLst>
        </cdr:cNvPr>
        <cdr:cNvSpPr/>
      </cdr:nvSpPr>
      <cdr:spPr>
        <a:xfrm xmlns:a="http://schemas.openxmlformats.org/drawingml/2006/main">
          <a:off x="7658278" y="1064111"/>
          <a:ext cx="520809" cy="523214"/>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800" b="1"/>
            <a:t>A899 thay đ/c</a:t>
          </a:r>
          <a:endParaRPr lang="en-US" sz="800" b="1" dirty="0"/>
        </a:p>
      </cdr:txBody>
    </cdr:sp>
  </cdr:relSizeAnchor>
  <cdr:relSizeAnchor xmlns:cdr="http://schemas.openxmlformats.org/drawingml/2006/chartDrawing">
    <cdr:from>
      <cdr:x>0.69853</cdr:x>
      <cdr:y>0.33021</cdr:y>
    </cdr:from>
    <cdr:to>
      <cdr:x>0.75298</cdr:x>
      <cdr:y>0.49502</cdr:y>
    </cdr:to>
    <cdr:sp macro="" textlink="">
      <cdr:nvSpPr>
        <cdr:cNvPr id="9" name="Rectangle 8">
          <a:extLst xmlns:a="http://schemas.openxmlformats.org/drawingml/2006/main">
            <a:ext uri="{FF2B5EF4-FFF2-40B4-BE49-F238E27FC236}">
              <a16:creationId xmlns:a16="http://schemas.microsoft.com/office/drawing/2014/main" id="{89DA79E5-4D55-4BFD-99AB-8A66C78C61D0}"/>
            </a:ext>
          </a:extLst>
        </cdr:cNvPr>
        <cdr:cNvSpPr/>
      </cdr:nvSpPr>
      <cdr:spPr>
        <a:xfrm xmlns:a="http://schemas.openxmlformats.org/drawingml/2006/main">
          <a:off x="8271934" y="1397738"/>
          <a:ext cx="644794" cy="697619"/>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800" b="1"/>
            <a:t>A893 thay đ/c</a:t>
          </a:r>
          <a:endParaRPr lang="en-US" sz="800" b="1" dirty="0"/>
        </a:p>
      </cdr:txBody>
    </cdr:sp>
  </cdr:relSizeAnchor>
  <cdr:relSizeAnchor xmlns:cdr="http://schemas.openxmlformats.org/drawingml/2006/chartDrawing">
    <cdr:from>
      <cdr:x>0.82079</cdr:x>
      <cdr:y>0.06467</cdr:y>
    </cdr:from>
    <cdr:to>
      <cdr:x>0.82079</cdr:x>
      <cdr:y>0.85675</cdr:y>
    </cdr:to>
    <cdr:cxnSp macro="">
      <cdr:nvCxnSpPr>
        <cdr:cNvPr id="10" name="Straight Connector 9">
          <a:extLst xmlns:a="http://schemas.openxmlformats.org/drawingml/2006/main">
            <a:ext uri="{FF2B5EF4-FFF2-40B4-BE49-F238E27FC236}">
              <a16:creationId xmlns:a16="http://schemas.microsoft.com/office/drawing/2014/main" id="{0A14C737-04A0-4D39-A697-23AF9BD360C2}"/>
            </a:ext>
          </a:extLst>
        </cdr:cNvPr>
        <cdr:cNvCxnSpPr/>
      </cdr:nvCxnSpPr>
      <cdr:spPr>
        <a:xfrm xmlns:a="http://schemas.openxmlformats.org/drawingml/2006/main" flipV="1">
          <a:off x="9719734" y="273719"/>
          <a:ext cx="0" cy="3352770"/>
        </a:xfrm>
        <a:prstGeom xmlns:a="http://schemas.openxmlformats.org/drawingml/2006/main" prst="line">
          <a:avLst/>
        </a:prstGeom>
        <a:ln xmlns:a="http://schemas.openxmlformats.org/drawingml/2006/main" w="28575">
          <a:solidFill>
            <a:srgbClr val="FF0000"/>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2/2/2025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930382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82EC9-639E-C614-1544-76444C956CF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4041BC34-4C34-9FF4-4C0B-9484B48513E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2CEF8A93-07DD-A67E-789E-325D0B0E2F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7FAF72DD-5AB3-3651-F8EF-26348ED2F66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4098482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51BD8-7C67-338E-7DF3-EE9A34DCD9F6}"/>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1B960162-38A6-93F4-2B4D-3464BD1AFEA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3B22649E-0CDC-8742-B7BC-6E1242CBEF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68037329-3029-2CB3-EB57-4D47E0063AC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688480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D84F2-4CFA-A9AB-FBB1-D03E98374DE2}"/>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F1E2C0EB-120A-2969-5834-95465D9A3CD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CE7C1D2A-3A12-F503-3238-61A49B9B4F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6B7E3901-142D-EE75-3E62-483075E6590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735321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Slide Image Placeholder 1"/>
          <p:cNvSpPr>
            <a:spLocks noGrp="1" noRot="1" noChangeAspect="1"/>
          </p:cNvSpPr>
          <p:nvPr>
            <p:ph type="sldImg"/>
          </p:nvPr>
        </p:nvSpPr>
        <p:spPr/>
      </p:sp>
      <p:sp>
        <p:nvSpPr>
          <p:cNvPr id="1048600" name="Notes Placeholder 2"/>
          <p:cNvSpPr>
            <a:spLocks noGrp="1"/>
          </p:cNvSpPr>
          <p:nvPr>
            <p:ph type="body" idx="1"/>
          </p:nvPr>
        </p:nvSpPr>
        <p:spPr/>
        <p:txBody>
          <a:bodyPr/>
          <a:lstStyle/>
          <a:p>
            <a:endParaRPr lang="en-US" dirty="0"/>
          </a:p>
        </p:txBody>
      </p:sp>
      <p:sp>
        <p:nvSpPr>
          <p:cNvPr id="1048601"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217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8</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9</a:t>
            </a:fld>
            <a:endParaRPr/>
          </a:p>
        </p:txBody>
      </p:sp>
    </p:spTree>
    <p:extLst>
      <p:ext uri="{BB962C8B-B14F-4D97-AF65-F5344CB8AC3E}">
        <p14:creationId xmlns:p14="http://schemas.microsoft.com/office/powerpoint/2010/main" val="4053349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94681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921492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4FC7621-E071-029B-BF36-0F838B798C88}"/>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E21ABD0-DAA7-2013-7918-037DA5E64FE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19FE1B90-DDE0-FF88-E36D-D86B93CA7F8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9E2FACCC-AE3D-9133-C492-922CCB88F4B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152347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0D691747-ABE3-AEDA-9371-446F6AB0A15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E5E5740D-8E27-E474-5400-08CAA38393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7F7F8FD-990A-6207-4FC3-2C696CA93BC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6E627366-ADFE-3F65-1EBA-D3572CE8A31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925263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F76E7AF-8D3B-4CEA-EF31-0DD31D5B802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380D3A4-9D1E-6C34-ED72-32907FE2DD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BE2C1920-71EF-1C2A-A1B7-3D6D9BB7789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02FFC1D-FDDF-B989-BCED-A100F40D9CC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40449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85ED0571-64E6-4CF4-EB3B-6B92302BD4FE}"/>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422A06D3-AE3B-060F-6B1F-1B57EB1BDF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046C7BAD-2043-094E-BE8D-EC35A7760B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1019BB3E-7F54-9FEE-6F1F-01E6BD58B06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49952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7701C3-2D30-4640-8F77-E546D80A15CA}" type="slidenum">
              <a:rPr lang="en-US" smtClean="0"/>
              <a:t>16</a:t>
            </a:fld>
            <a:endParaRPr lang="en-US"/>
          </a:p>
        </p:txBody>
      </p:sp>
    </p:spTree>
    <p:extLst>
      <p:ext uri="{BB962C8B-B14F-4D97-AF65-F5344CB8AC3E}">
        <p14:creationId xmlns:p14="http://schemas.microsoft.com/office/powerpoint/2010/main" val="9430511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14-Dec </a:t>
            </a:r>
            <a:endParaRPr lang="en-US"/>
          </a:p>
        </p:txBody>
      </p:sp>
      <p:sp>
        <p:nvSpPr>
          <p:cNvPr id="4" name="Slide Number Placeholder 3"/>
          <p:cNvSpPr>
            <a:spLocks noGrp="1"/>
          </p:cNvSpPr>
          <p:nvPr>
            <p:ph type="sldNum" sz="quarter" idx="10"/>
          </p:nvPr>
        </p:nvSpPr>
        <p:spPr/>
        <p:txBody>
          <a:bodyPr/>
          <a:lstStyle/>
          <a:p>
            <a:fld id="{D27FAC9D-6C4D-45A1-835A-6091318B370B}" type="slidenum">
              <a:rPr lang="en-US" smtClean="0"/>
              <a:pPr/>
              <a:t>17</a:t>
            </a:fld>
            <a:endParaRPr lang="en-US" dirty="0"/>
          </a:p>
        </p:txBody>
      </p:sp>
    </p:spTree>
    <p:extLst>
      <p:ext uri="{BB962C8B-B14F-4D97-AF65-F5344CB8AC3E}">
        <p14:creationId xmlns:p14="http://schemas.microsoft.com/office/powerpoint/2010/main" val="32929308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305A1-350D-AFC0-D3D8-C68CDC8A48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0F8FF6-4C57-6C13-5D0B-8DABB91310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BEB4FF-5A63-D61B-FA51-81EF3E5D0F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14-Dec </a:t>
            </a:r>
            <a:endParaRPr lang="en-US"/>
          </a:p>
        </p:txBody>
      </p:sp>
      <p:sp>
        <p:nvSpPr>
          <p:cNvPr id="4" name="Slide Number Placeholder 3">
            <a:extLst>
              <a:ext uri="{FF2B5EF4-FFF2-40B4-BE49-F238E27FC236}">
                <a16:creationId xmlns:a16="http://schemas.microsoft.com/office/drawing/2014/main" id="{4D09957B-56C2-C588-85CA-F886BE433611}"/>
              </a:ext>
            </a:extLst>
          </p:cNvPr>
          <p:cNvSpPr>
            <a:spLocks noGrp="1"/>
          </p:cNvSpPr>
          <p:nvPr>
            <p:ph type="sldNum" sz="quarter" idx="10"/>
          </p:nvPr>
        </p:nvSpPr>
        <p:spPr/>
        <p:txBody>
          <a:bodyPr/>
          <a:lstStyle/>
          <a:p>
            <a:fld id="{D27FAC9D-6C4D-45A1-835A-6091318B370B}" type="slidenum">
              <a:rPr lang="en-US" smtClean="0"/>
              <a:pPr/>
              <a:t>18</a:t>
            </a:fld>
            <a:endParaRPr lang="en-US" dirty="0"/>
          </a:p>
        </p:txBody>
      </p:sp>
    </p:spTree>
    <p:extLst>
      <p:ext uri="{BB962C8B-B14F-4D97-AF65-F5344CB8AC3E}">
        <p14:creationId xmlns:p14="http://schemas.microsoft.com/office/powerpoint/2010/main" val="31102406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CE61F-433C-2DEB-CBA3-0532D03432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B97A32-6AF3-EF17-347F-985ABD5C4D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5C91C0-FA2A-DF75-5CCA-F118115C26A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14-Dec </a:t>
            </a:r>
            <a:endParaRPr lang="en-US"/>
          </a:p>
        </p:txBody>
      </p:sp>
      <p:sp>
        <p:nvSpPr>
          <p:cNvPr id="4" name="Slide Number Placeholder 3">
            <a:extLst>
              <a:ext uri="{FF2B5EF4-FFF2-40B4-BE49-F238E27FC236}">
                <a16:creationId xmlns:a16="http://schemas.microsoft.com/office/drawing/2014/main" id="{F331E3C8-E2ED-6C30-AC7B-AADAB897067C}"/>
              </a:ext>
            </a:extLst>
          </p:cNvPr>
          <p:cNvSpPr>
            <a:spLocks noGrp="1"/>
          </p:cNvSpPr>
          <p:nvPr>
            <p:ph type="sldNum" sz="quarter" idx="10"/>
          </p:nvPr>
        </p:nvSpPr>
        <p:spPr/>
        <p:txBody>
          <a:bodyPr/>
          <a:lstStyle/>
          <a:p>
            <a:fld id="{D27FAC9D-6C4D-45A1-835A-6091318B370B}" type="slidenum">
              <a:rPr lang="en-US" smtClean="0"/>
              <a:pPr/>
              <a:t>19</a:t>
            </a:fld>
            <a:endParaRPr lang="en-US" dirty="0"/>
          </a:p>
        </p:txBody>
      </p:sp>
    </p:spTree>
    <p:extLst>
      <p:ext uri="{BB962C8B-B14F-4D97-AF65-F5344CB8AC3E}">
        <p14:creationId xmlns:p14="http://schemas.microsoft.com/office/powerpoint/2010/main" val="3600153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A07728F-659E-4563-8681-F0461742A695}" type="slidenum">
              <a:rPr lang="en-US" altLang="en-US" smtClean="0">
                <a:solidFill>
                  <a:srgbClr val="000000"/>
                </a:solidFill>
              </a:rPr>
              <a:pPr fontAlgn="base">
                <a:spcBef>
                  <a:spcPct val="0"/>
                </a:spcBef>
                <a:spcAft>
                  <a:spcPct val="0"/>
                </a:spcAft>
              </a:pPr>
              <a:t>20</a:t>
            </a:fld>
            <a:endParaRPr lang="en-US" altLang="en-US">
              <a:solidFill>
                <a:srgbClr val="000000"/>
              </a:solidFill>
            </a:endParaRPr>
          </a:p>
        </p:txBody>
      </p:sp>
    </p:spTree>
    <p:extLst>
      <p:ext uri="{BB962C8B-B14F-4D97-AF65-F5344CB8AC3E}">
        <p14:creationId xmlns:p14="http://schemas.microsoft.com/office/powerpoint/2010/main" val="41359332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9B2C098-1399-3AC6-C11E-41BDFEAE79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BEB6950-9C70-A6C1-BC2E-0C640CD5F3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5E37D5B6-F191-5366-455B-BA1C5133AF4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6E1ADCC2-0F01-8374-40FF-BA8375C81A2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005742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7384779B-E117-EF4E-0D65-14D0B4196EE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441C9972-C19C-0924-55F6-571F764758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2CDF107-5592-7201-0C13-5D2B491594B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ECA508D-4344-A470-7DDE-9F014D1DA5C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253355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D182BCA9-17E0-0389-A453-1D093DA9548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1990B18-7850-A35E-E39F-D604CF081BC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83E9F61-C065-9CDA-962A-02041C2789A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FA735EC8-C015-D38F-46A4-B3D5DAA336C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520665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FE11B4DD-2003-1A32-653F-F46F08790CE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40762365-86C7-8D57-A3A7-5A71CAE5DC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692463A0-0C7B-9F23-5A4D-A757253354A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B9A59FA7-350F-25B2-A1E1-469BE390388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923557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8FA5C73-DB82-F7BC-86B4-07A9F352104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936754D-74A0-CFC9-2F27-A0A7EA92A6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3BEB99A6-C8F9-9F01-8A5E-422FFD81C80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DCDF2BC6-4025-1188-337A-45CE3141830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716143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A869 14-Jul-24 HAN-DAD GTB STS: ELEC BRAKE POWER UNIT LO. A/C came back to gate </a:t>
            </a:r>
            <a:r>
              <a:rPr lang="en-US" b="1" dirty="0">
                <a:sym typeface="Wingdings" panose="05000000000000000000" pitchFamily="2" charset="2"/>
              </a:rPr>
              <a:t> </a:t>
            </a:r>
            <a:r>
              <a:rPr lang="en-US" b="1" dirty="0" err="1">
                <a:sym typeface="Wingdings" panose="05000000000000000000" pitchFamily="2" charset="2"/>
              </a:rPr>
              <a:t>thay</a:t>
            </a:r>
            <a:r>
              <a:rPr lang="en-US" b="1" dirty="0">
                <a:sym typeface="Wingdings" panose="05000000000000000000" pitchFamily="2" charset="2"/>
              </a:rPr>
              <a:t> contactor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87-FTD-24-14005 Failure of the Hot Battery Bus (HBB) contactor coil that results in a short, can propagate the failure to the EBPSU contactor driver thereby damaging the EBPSU. EBPSU damage will trigger the "ELEC BRAKE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POWER UNIT" EICAS status message identifying an EBPSU failure.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An operator reported one event that resulted in damage to 4 EBPSUs. In this case the shorted contactor was not replaced prior to installing the new EBPSU's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ELEC BRAKE POWER UNIT LI ® MM 24-43611 - Left Electric Brake Power Supply Unit is failed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ELEC BRAKE POWER UNIT LO® MM 24-43612 - Right Electric Brake Power Supply Unit is failed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ELEC BRAKE POWER UNIT RI ® MM 24-43612 - Right Electric Brake Power Supply Unit is failed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ELEC BRAKE POWER UNIT RO ® 24-43622 Center 2 Electric Brake Power Supply Unit is failed</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476798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27</a:t>
            </a:fld>
            <a:endParaRPr lang="en-US"/>
          </a:p>
        </p:txBody>
      </p:sp>
    </p:spTree>
    <p:extLst>
      <p:ext uri="{BB962C8B-B14F-4D97-AF65-F5344CB8AC3E}">
        <p14:creationId xmlns:p14="http://schemas.microsoft.com/office/powerpoint/2010/main" val="1885082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47393-EA22-B95A-EF02-4D2E2964E1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51AD5E-1112-74A4-0FF3-071F7EC129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9E3FEF-7ADE-3B9F-7109-AA04CC165A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A55B5FF-E104-38B7-865A-D3416C1219A4}"/>
              </a:ext>
            </a:extLst>
          </p:cNvPr>
          <p:cNvSpPr>
            <a:spLocks noGrp="1"/>
          </p:cNvSpPr>
          <p:nvPr>
            <p:ph type="sldNum" sz="quarter" idx="10"/>
          </p:nvPr>
        </p:nvSpPr>
        <p:spPr/>
        <p:txBody>
          <a:bodyPr/>
          <a:lstStyle/>
          <a:p>
            <a:fld id="{19A373DA-F9AA-A644-86AE-7CBAAC246365}" type="slidenum">
              <a:rPr lang="en-US" smtClean="0"/>
              <a:t>28</a:t>
            </a:fld>
            <a:endParaRPr lang="en-US"/>
          </a:p>
        </p:txBody>
      </p:sp>
    </p:spTree>
    <p:extLst>
      <p:ext uri="{BB962C8B-B14F-4D97-AF65-F5344CB8AC3E}">
        <p14:creationId xmlns:p14="http://schemas.microsoft.com/office/powerpoint/2010/main" val="27847779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29</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297303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30</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8062015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31</a:t>
            </a:fld>
            <a:endParaRPr/>
          </a:p>
        </p:txBody>
      </p:sp>
    </p:spTree>
    <p:extLst>
      <p:ext uri="{BB962C8B-B14F-4D97-AF65-F5344CB8AC3E}">
        <p14:creationId xmlns:p14="http://schemas.microsoft.com/office/powerpoint/2010/main" val="13020794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1C37559-10CF-F4E8-3BA8-13B63B0928A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57FB483D-45ED-DD61-38D0-EF3B853D8C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39A311E-C81A-0917-D6D6-0DE351CBF3D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362467A-F209-FCB3-9047-66FAD8EAC0D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829930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6D6698A7-A523-FA8F-1560-38B78DE6C5C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D2FE96-8DD4-7F86-2AD5-717EFC1A57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7893F7A7-EB19-4D7A-3CFF-F28D2ED9E1F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163EDE2-855A-FFA1-3437-7A3D1A0D74D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704940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34</a:t>
            </a:fld>
            <a:endParaRPr lang="en-US"/>
          </a:p>
        </p:txBody>
      </p:sp>
    </p:spTree>
    <p:extLst>
      <p:ext uri="{BB962C8B-B14F-4D97-AF65-F5344CB8AC3E}">
        <p14:creationId xmlns:p14="http://schemas.microsoft.com/office/powerpoint/2010/main" val="11003809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39265-223D-7D2A-B90A-233C83325A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B9D47-119D-1921-8239-DA7F5EE19B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1BE006-092E-DA17-DF5F-8EBCFC0E1DE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DF01B83-DCBE-9AE0-2614-FB1B42332B6D}"/>
              </a:ext>
            </a:extLst>
          </p:cNvPr>
          <p:cNvSpPr>
            <a:spLocks noGrp="1"/>
          </p:cNvSpPr>
          <p:nvPr>
            <p:ph type="sldNum" sz="quarter" idx="10"/>
          </p:nvPr>
        </p:nvSpPr>
        <p:spPr/>
        <p:txBody>
          <a:bodyPr/>
          <a:lstStyle/>
          <a:p>
            <a:fld id="{19A373DA-F9AA-A644-86AE-7CBAAC246365}" type="slidenum">
              <a:rPr lang="en-US" smtClean="0"/>
              <a:t>35</a:t>
            </a:fld>
            <a:endParaRPr lang="en-US"/>
          </a:p>
        </p:txBody>
      </p:sp>
    </p:spTree>
    <p:extLst>
      <p:ext uri="{BB962C8B-B14F-4D97-AF65-F5344CB8AC3E}">
        <p14:creationId xmlns:p14="http://schemas.microsoft.com/office/powerpoint/2010/main" val="38392765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36</a:t>
            </a:fld>
            <a:endParaRPr/>
          </a:p>
        </p:txBody>
      </p:sp>
    </p:spTree>
    <p:extLst>
      <p:ext uri="{BB962C8B-B14F-4D97-AF65-F5344CB8AC3E}">
        <p14:creationId xmlns:p14="http://schemas.microsoft.com/office/powerpoint/2010/main" val="13293973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37</a:t>
            </a:fld>
            <a:endParaRPr/>
          </a:p>
        </p:txBody>
      </p:sp>
    </p:spTree>
    <p:extLst>
      <p:ext uri="{BB962C8B-B14F-4D97-AF65-F5344CB8AC3E}">
        <p14:creationId xmlns:p14="http://schemas.microsoft.com/office/powerpoint/2010/main" val="38459429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408519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A07728F-659E-4563-8681-F0461742A695}" type="slidenum">
              <a:rPr lang="en-US" altLang="en-US" smtClean="0">
                <a:solidFill>
                  <a:srgbClr val="000000"/>
                </a:solidFill>
              </a:rPr>
              <a:pPr fontAlgn="base">
                <a:spcBef>
                  <a:spcPct val="0"/>
                </a:spcBef>
                <a:spcAft>
                  <a:spcPct val="0"/>
                </a:spcAft>
              </a:pPr>
              <a:t>39</a:t>
            </a:fld>
            <a:endParaRPr lang="en-US" altLang="en-US">
              <a:solidFill>
                <a:srgbClr val="000000"/>
              </a:solidFill>
            </a:endParaRPr>
          </a:p>
        </p:txBody>
      </p:sp>
    </p:spTree>
    <p:extLst>
      <p:ext uri="{BB962C8B-B14F-4D97-AF65-F5344CB8AC3E}">
        <p14:creationId xmlns:p14="http://schemas.microsoft.com/office/powerpoint/2010/main" val="37276371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41</a:t>
            </a:fld>
            <a:endParaRPr/>
          </a:p>
        </p:txBody>
      </p:sp>
    </p:spTree>
    <p:extLst>
      <p:ext uri="{BB962C8B-B14F-4D97-AF65-F5344CB8AC3E}">
        <p14:creationId xmlns:p14="http://schemas.microsoft.com/office/powerpoint/2010/main" val="31713866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42</a:t>
            </a:fld>
            <a:endParaRPr/>
          </a:p>
        </p:txBody>
      </p:sp>
    </p:spTree>
    <p:extLst>
      <p:ext uri="{BB962C8B-B14F-4D97-AF65-F5344CB8AC3E}">
        <p14:creationId xmlns:p14="http://schemas.microsoft.com/office/powerpoint/2010/main" val="18610759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C2FA8-72AD-740C-B2A4-D59CA329E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3B04E-D2CA-6404-597A-9282068096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E61739-826D-7AAF-B33B-18FF92150DF4}"/>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76FAD88-11AB-C429-5B65-435A43FFA94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539371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44</a:t>
            </a:fld>
            <a:endParaRPr/>
          </a:p>
        </p:txBody>
      </p:sp>
    </p:spTree>
    <p:extLst>
      <p:ext uri="{BB962C8B-B14F-4D97-AF65-F5344CB8AC3E}">
        <p14:creationId xmlns:p14="http://schemas.microsoft.com/office/powerpoint/2010/main" val="11073534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26068CF-38DB-1D6C-6DC7-F7D2D084AA3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5B994C1-1E18-D0D0-66A3-BAFA78B7E1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F0393F5-5A1F-BE21-BFE8-F6468BBE15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DCB08EB-58F1-3868-A15A-E5412B0FB1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45</a:t>
            </a:fld>
            <a:endParaRPr/>
          </a:p>
        </p:txBody>
      </p:sp>
    </p:spTree>
    <p:extLst>
      <p:ext uri="{BB962C8B-B14F-4D97-AF65-F5344CB8AC3E}">
        <p14:creationId xmlns:p14="http://schemas.microsoft.com/office/powerpoint/2010/main" val="29537241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45BC7C4-A2AF-0A92-C797-AFA7332B9B7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DE54FAD-9C5B-FBB2-4944-B4F81AD9AC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D2EAB10-7BA4-F850-28F0-A084C51F22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983371B-1407-FBAF-7F23-5A67DD72E0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46</a:t>
            </a:fld>
            <a:endParaRPr/>
          </a:p>
        </p:txBody>
      </p:sp>
    </p:spTree>
    <p:extLst>
      <p:ext uri="{BB962C8B-B14F-4D97-AF65-F5344CB8AC3E}">
        <p14:creationId xmlns:p14="http://schemas.microsoft.com/office/powerpoint/2010/main" val="23376132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56</a:t>
            </a:fld>
            <a:endParaRPr/>
          </a:p>
        </p:txBody>
      </p:sp>
    </p:spTree>
    <p:extLst>
      <p:ext uri="{BB962C8B-B14F-4D97-AF65-F5344CB8AC3E}">
        <p14:creationId xmlns:p14="http://schemas.microsoft.com/office/powerpoint/2010/main" val="31917802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58</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3507012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59</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4727081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01f5ae314a_0_3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g301f5ae314a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21303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61</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7284593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7571016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747816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65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99263605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2b7222f7b3_0_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2b7222f7b3_0_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2b7222f7b3_0_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66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22783177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1ccdae391d_0_27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31ccdae391d_0_27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31ccdae391d_0_27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67</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95918329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68</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701205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 name="Google Shape;188;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69</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74795507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1ccdae391d_0_29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31ccdae391d_0_29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g31ccdae391d_0_29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70</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80955299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71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17931510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72</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88779722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73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48338112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74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89602114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75</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36978402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76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04789713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 name="Google Shape;258;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77</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31282411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78</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68940199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79</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30552181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80</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56016936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81</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04363499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82</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90823890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06" name="Google Shape;306;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83</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36462639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84</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28643682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 name="Google Shape;321;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2" name="Google Shape;322;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85</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94081323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7637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7CD31424-8E36-40E6-9371-E332C871D5A5}"/>
              </a:ext>
            </a:extLst>
          </p:cNvPr>
          <p:cNvSpPr txBox="1">
            <a:spLocks/>
          </p:cNvSpPr>
          <p:nvPr userDrawn="1"/>
        </p:nvSpPr>
        <p:spPr>
          <a:xfrm>
            <a:off x="11486223" y="6421949"/>
            <a:ext cx="611905" cy="365125"/>
          </a:xfrm>
          <a:prstGeom prst="rect">
            <a:avLst/>
          </a:prstGeom>
        </p:spPr>
        <p:txBody>
          <a:bodyPr vert="horz" lIns="91440" tIns="45720" rIns="91440" bIns="45720" rtlCol="0" anchor="ctr"/>
          <a:lstStyle>
            <a:defPPr>
              <a:defRPr lang="en-V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3A1DAE-E79D-4DA5-B482-81DDF4B01157}" type="slidenum">
              <a:rPr lang="en-VN" sz="1200" smtClean="0">
                <a:solidFill>
                  <a:schemeClr val="bg1"/>
                </a:solidFill>
                <a:latin typeface="Exo"/>
              </a:rPr>
              <a:t>‹#›</a:t>
            </a:fld>
            <a:endParaRPr lang="en-VN" sz="1200" dirty="0">
              <a:solidFill>
                <a:schemeClr val="bg1"/>
              </a:solidFill>
              <a:latin typeface="Exo"/>
            </a:endParaRPr>
          </a:p>
        </p:txBody>
      </p:sp>
      <p:pic>
        <p:nvPicPr>
          <p:cNvPr id="11" name="Picture 10">
            <a:extLst>
              <a:ext uri="{FF2B5EF4-FFF2-40B4-BE49-F238E27FC236}">
                <a16:creationId xmlns:a16="http://schemas.microsoft.com/office/drawing/2014/main" id="{E46A7E23-6711-4728-BF6F-BC4B89E39E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0096" y="136257"/>
            <a:ext cx="537821" cy="505652"/>
          </a:xfrm>
          <a:prstGeom prst="rect">
            <a:avLst/>
          </a:prstGeom>
        </p:spPr>
      </p:pic>
    </p:spTree>
    <p:extLst>
      <p:ext uri="{BB962C8B-B14F-4D97-AF65-F5344CB8AC3E}">
        <p14:creationId xmlns:p14="http://schemas.microsoft.com/office/powerpoint/2010/main" val="37230318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2_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D2A43B"/>
              </a:solidFill>
              <a:effectLst/>
              <a:uLnTx/>
              <a:uFillTx/>
              <a:latin typeface="Montserrat"/>
              <a:sym typeface="Montserrat"/>
            </a:endParaRPr>
          </a:p>
        </p:txBody>
      </p:sp>
    </p:spTree>
    <p:extLst>
      <p:ext uri="{BB962C8B-B14F-4D97-AF65-F5344CB8AC3E}">
        <p14:creationId xmlns:p14="http://schemas.microsoft.com/office/powerpoint/2010/main" val="3104006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2/2/2025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675" r:id="rId11"/>
    <p:sldLayoutId id="2147483676"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10.png"/><Relationship Id="rId2" Type="http://schemas.openxmlformats.org/officeDocument/2006/relationships/slideLayout" Target="../slideLayouts/slideLayout6.xml"/><Relationship Id="rId1" Type="http://schemas.openxmlformats.org/officeDocument/2006/relationships/tags" Target="../tags/tag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1.xml"/><Relationship Id="rId5" Type="http://schemas.openxmlformats.org/officeDocument/2006/relationships/image" Target="../media/image9.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1.xml"/><Relationship Id="rId6" Type="http://schemas.openxmlformats.org/officeDocument/2006/relationships/image" Target="../media/image14.png"/><Relationship Id="rId5" Type="http://schemas.openxmlformats.org/officeDocument/2006/relationships/image" Target="../media/image9.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chart" Target="../charts/chart7.xml"/><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8.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2.png"/><Relationship Id="rId7"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0.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0.xml"/><Relationship Id="rId6" Type="http://schemas.openxmlformats.org/officeDocument/2006/relationships/image" Target="../media/image20.png"/><Relationship Id="rId5" Type="http://schemas.openxmlformats.org/officeDocument/2006/relationships/image" Target="../media/image18.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2.png"/><Relationship Id="rId7"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10.xml"/><Relationship Id="rId6" Type="http://schemas.openxmlformats.org/officeDocument/2006/relationships/image" Target="../media/image22.png"/><Relationship Id="rId5" Type="http://schemas.openxmlformats.org/officeDocument/2006/relationships/image" Target="../media/image18.png"/><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10.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3.xml"/><Relationship Id="rId5" Type="http://schemas.openxmlformats.org/officeDocument/2006/relationships/chart" Target="../charts/chart9.xml"/><Relationship Id="rId4" Type="http://schemas.openxmlformats.org/officeDocument/2006/relationships/image" Target="../media/image12.png"/></Relationships>
</file>

<file path=ppt/slides/_rels/slide45.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10.xml"/><Relationship Id="rId4" Type="http://schemas.openxmlformats.org/officeDocument/2006/relationships/chart" Target="../charts/chart17.xml"/></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3.xml"/><Relationship Id="rId1" Type="http://schemas.openxmlformats.org/officeDocument/2006/relationships/slideLayout" Target="../slideLayouts/slideLayout10.xml"/><Relationship Id="rId4" Type="http://schemas.openxmlformats.org/officeDocument/2006/relationships/chart" Target="../charts/chart18.xml"/></Relationships>
</file>

<file path=ppt/slides/_rels/slide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4.xml"/><Relationship Id="rId1" Type="http://schemas.openxmlformats.org/officeDocument/2006/relationships/slideLayout" Target="../slideLayouts/slideLayout10.xml"/><Relationship Id="rId4" Type="http://schemas.openxmlformats.org/officeDocument/2006/relationships/chart" Target="../charts/chart19.xml"/></Relationships>
</file>

<file path=ppt/slides/_rels/slide6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04+05</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20/01/2025</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02</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02</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00000000-0008-0000-0900-00000F000000}"/>
              </a:ext>
            </a:extLst>
          </p:cNvPr>
          <p:cNvGraphicFramePr>
            <a:graphicFrameLocks/>
          </p:cNvGraphicFramePr>
          <p:nvPr>
            <p:extLst/>
          </p:nvPr>
        </p:nvGraphicFramePr>
        <p:xfrm>
          <a:off x="990599" y="859292"/>
          <a:ext cx="4989817" cy="264590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00000000-0008-0000-0900-000004000000}"/>
              </a:ext>
            </a:extLst>
          </p:cNvPr>
          <p:cNvGraphicFramePr>
            <a:graphicFrameLocks/>
          </p:cNvGraphicFramePr>
          <p:nvPr>
            <p:extLst/>
          </p:nvPr>
        </p:nvGraphicFramePr>
        <p:xfrm>
          <a:off x="6306794" y="859292"/>
          <a:ext cx="4989816" cy="264590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00000000-0008-0000-0900-000005000000}"/>
              </a:ext>
            </a:extLst>
          </p:cNvPr>
          <p:cNvGraphicFramePr>
            <a:graphicFrameLocks/>
          </p:cNvGraphicFramePr>
          <p:nvPr>
            <p:extLst/>
          </p:nvPr>
        </p:nvGraphicFramePr>
        <p:xfrm>
          <a:off x="6306794" y="3898006"/>
          <a:ext cx="4989816" cy="2667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10">
            <a:extLst>
              <a:ext uri="{FF2B5EF4-FFF2-40B4-BE49-F238E27FC236}">
                <a16:creationId xmlns:a16="http://schemas.microsoft.com/office/drawing/2014/main" id="{8347F7AA-5E77-475C-B68E-49E6EF5DA0A7}"/>
              </a:ext>
            </a:extLst>
          </p:cNvPr>
          <p:cNvGraphicFramePr>
            <a:graphicFrameLocks/>
          </p:cNvGraphicFramePr>
          <p:nvPr>
            <p:extLst/>
          </p:nvPr>
        </p:nvGraphicFramePr>
        <p:xfrm>
          <a:off x="990600" y="3886200"/>
          <a:ext cx="4989817" cy="2678806"/>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6" name="Chart 5">
            <a:extLst>
              <a:ext uri="{FF2B5EF4-FFF2-40B4-BE49-F238E27FC236}">
                <a16:creationId xmlns:a16="http://schemas.microsoft.com/office/drawing/2014/main" id="{00000000-0008-0000-0600-000004000000}"/>
              </a:ext>
            </a:extLst>
          </p:cNvPr>
          <p:cNvGraphicFramePr>
            <a:graphicFrameLocks/>
          </p:cNvGraphicFramePr>
          <p:nvPr>
            <p:extLst/>
          </p:nvPr>
        </p:nvGraphicFramePr>
        <p:xfrm>
          <a:off x="1139094" y="1066800"/>
          <a:ext cx="10157516"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1233983468"/>
              </p:ext>
            </p:extLst>
          </p:nvPr>
        </p:nvGraphicFramePr>
        <p:xfrm>
          <a:off x="1144460" y="3892544"/>
          <a:ext cx="10152150" cy="284987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CFEE23C1-B7EA-476A-9DFD-176A034D5BAE}"/>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1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06		    DIV: 00</a:t>
            </a:r>
          </a:p>
        </p:txBody>
      </p:sp>
      <p:graphicFrame>
        <p:nvGraphicFramePr>
          <p:cNvPr id="3" name="Table 2">
            <a:extLst>
              <a:ext uri="{FF2B5EF4-FFF2-40B4-BE49-F238E27FC236}">
                <a16:creationId xmlns:a16="http://schemas.microsoft.com/office/drawing/2014/main" id="{CB65E8BD-5566-7B73-B8AD-4B51A89C972E}"/>
              </a:ext>
            </a:extLst>
          </p:cNvPr>
          <p:cNvGraphicFramePr>
            <a:graphicFrameLocks noGrp="1"/>
          </p:cNvGraphicFramePr>
          <p:nvPr>
            <p:extLst>
              <p:ext uri="{D42A27DB-BD31-4B8C-83A1-F6EECF244321}">
                <p14:modId xmlns:p14="http://schemas.microsoft.com/office/powerpoint/2010/main" val="2318072641"/>
              </p:ext>
            </p:extLst>
          </p:nvPr>
        </p:nvGraphicFramePr>
        <p:xfrm>
          <a:off x="264460" y="1371600"/>
          <a:ext cx="11517424" cy="5036820"/>
        </p:xfrm>
        <a:graphic>
          <a:graphicData uri="http://schemas.openxmlformats.org/drawingml/2006/table">
            <a:tbl>
              <a:tblPr/>
              <a:tblGrid>
                <a:gridCol w="421339">
                  <a:extLst>
                    <a:ext uri="{9D8B030D-6E8A-4147-A177-3AD203B41FA5}">
                      <a16:colId xmlns:a16="http://schemas.microsoft.com/office/drawing/2014/main" val="3441338988"/>
                    </a:ext>
                  </a:extLst>
                </a:gridCol>
                <a:gridCol w="381000">
                  <a:extLst>
                    <a:ext uri="{9D8B030D-6E8A-4147-A177-3AD203B41FA5}">
                      <a16:colId xmlns:a16="http://schemas.microsoft.com/office/drawing/2014/main" val="864944279"/>
                    </a:ext>
                  </a:extLst>
                </a:gridCol>
                <a:gridCol w="685800">
                  <a:extLst>
                    <a:ext uri="{9D8B030D-6E8A-4147-A177-3AD203B41FA5}">
                      <a16:colId xmlns:a16="http://schemas.microsoft.com/office/drawing/2014/main" val="1230293020"/>
                    </a:ext>
                  </a:extLst>
                </a:gridCol>
                <a:gridCol w="609600">
                  <a:extLst>
                    <a:ext uri="{9D8B030D-6E8A-4147-A177-3AD203B41FA5}">
                      <a16:colId xmlns:a16="http://schemas.microsoft.com/office/drawing/2014/main" val="2750884634"/>
                    </a:ext>
                  </a:extLst>
                </a:gridCol>
                <a:gridCol w="990600">
                  <a:extLst>
                    <a:ext uri="{9D8B030D-6E8A-4147-A177-3AD203B41FA5}">
                      <a16:colId xmlns:a16="http://schemas.microsoft.com/office/drawing/2014/main" val="133176833"/>
                    </a:ext>
                  </a:extLst>
                </a:gridCol>
                <a:gridCol w="685800">
                  <a:extLst>
                    <a:ext uri="{9D8B030D-6E8A-4147-A177-3AD203B41FA5}">
                      <a16:colId xmlns:a16="http://schemas.microsoft.com/office/drawing/2014/main" val="2744726422"/>
                    </a:ext>
                  </a:extLst>
                </a:gridCol>
                <a:gridCol w="1905000">
                  <a:extLst>
                    <a:ext uri="{9D8B030D-6E8A-4147-A177-3AD203B41FA5}">
                      <a16:colId xmlns:a16="http://schemas.microsoft.com/office/drawing/2014/main" val="674967127"/>
                    </a:ext>
                  </a:extLst>
                </a:gridCol>
                <a:gridCol w="2438400">
                  <a:extLst>
                    <a:ext uri="{9D8B030D-6E8A-4147-A177-3AD203B41FA5}">
                      <a16:colId xmlns:a16="http://schemas.microsoft.com/office/drawing/2014/main" val="1613102766"/>
                    </a:ext>
                  </a:extLst>
                </a:gridCol>
                <a:gridCol w="533400">
                  <a:extLst>
                    <a:ext uri="{9D8B030D-6E8A-4147-A177-3AD203B41FA5}">
                      <a16:colId xmlns:a16="http://schemas.microsoft.com/office/drawing/2014/main" val="666514525"/>
                    </a:ext>
                  </a:extLst>
                </a:gridCol>
                <a:gridCol w="2866485">
                  <a:extLst>
                    <a:ext uri="{9D8B030D-6E8A-4147-A177-3AD203B41FA5}">
                      <a16:colId xmlns:a16="http://schemas.microsoft.com/office/drawing/2014/main" val="749522768"/>
                    </a:ext>
                  </a:extLst>
                </a:gridCol>
              </a:tblGrid>
              <a:tr h="403033">
                <a:tc>
                  <a:txBody>
                    <a:bodyPr/>
                    <a:lstStyle/>
                    <a:p>
                      <a:pPr algn="ctr" fontAlgn="ctr"/>
                      <a:r>
                        <a:rPr lang="en-US" sz="1200" b="0" i="0" u="none" strike="noStrike">
                          <a:solidFill>
                            <a:srgbClr val="000000"/>
                          </a:solidFill>
                          <a:effectLst/>
                          <a:latin typeface="Times New Roman" panose="02020603050405020304" pitchFamily="18" charset="0"/>
                        </a:rPr>
                        <a:t>A/C</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STA</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FLIGHT NO</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ROUTE</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DATE</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EVENT</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REASON</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ACTION TAKEN</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ATA</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Engineering Assessment</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007129995"/>
                  </a:ext>
                </a:extLst>
              </a:tr>
              <a:tr h="1273367">
                <a:tc>
                  <a:txBody>
                    <a:bodyPr/>
                    <a:lstStyle/>
                    <a:p>
                      <a:pPr algn="l" fontAlgn="ctr"/>
                      <a:r>
                        <a:rPr lang="en-US" sz="1100" b="0" i="0" u="none" strike="noStrike" dirty="0">
                          <a:solidFill>
                            <a:srgbClr val="000000"/>
                          </a:solidFill>
                          <a:effectLst/>
                          <a:latin typeface="Times New Roman" panose="02020603050405020304" pitchFamily="18" charset="0"/>
                        </a:rPr>
                        <a:t>A879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VN216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28/01/2025 16:30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RTO/</a:t>
                      </a:r>
                    </a:p>
                    <a:p>
                      <a:pPr algn="l" fontAlgn="ctr"/>
                      <a:r>
                        <a:rPr lang="en-US" sz="1100" b="0" i="0" u="none" strike="noStrike" dirty="0">
                          <a:solidFill>
                            <a:srgbClr val="000000"/>
                          </a:solidFill>
                          <a:effectLst/>
                          <a:latin typeface="Times New Roman" panose="02020603050405020304" pitchFamily="18" charset="0"/>
                        </a:rPr>
                        <a:t>OGTB</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smtClean="0">
                          <a:solidFill>
                            <a:srgbClr val="000000"/>
                          </a:solidFill>
                          <a:effectLst/>
                          <a:latin typeface="Times New Roman" panose="02020603050405020304" pitchFamily="18" charset="0"/>
                        </a:rPr>
                        <a:t>DURING </a:t>
                      </a:r>
                      <a:r>
                        <a:rPr lang="en-US" sz="1100" b="0" i="0" u="none" strike="noStrike">
                          <a:solidFill>
                            <a:srgbClr val="000000"/>
                          </a:solidFill>
                          <a:effectLst/>
                          <a:latin typeface="Times New Roman" panose="02020603050405020304" pitchFamily="18" charset="0"/>
                        </a:rPr>
                        <a:t>PREPARE FOR TAKE OFF, CAPT </a:t>
                      </a:r>
                      <a:r>
                        <a:rPr lang="en-US" sz="1100" b="0" i="0" u="none" strike="noStrike" smtClean="0">
                          <a:solidFill>
                            <a:srgbClr val="000000"/>
                          </a:solidFill>
                          <a:effectLst/>
                          <a:latin typeface="Times New Roman" panose="02020603050405020304" pitchFamily="18" charset="0"/>
                        </a:rPr>
                        <a:t>INFORMELEC </a:t>
                      </a:r>
                      <a:r>
                        <a:rPr lang="en-US" sz="1100" b="0" i="0" u="none" strike="noStrike">
                          <a:solidFill>
                            <a:srgbClr val="000000"/>
                          </a:solidFill>
                          <a:effectLst/>
                          <a:latin typeface="Times New Roman" panose="02020603050405020304" pitchFamily="18" charset="0"/>
                        </a:rPr>
                        <a:t>GEN </a:t>
                      </a:r>
                      <a:r>
                        <a:rPr lang="en-US" sz="1100" b="0" i="0" u="none" strike="noStrike" smtClean="0">
                          <a:solidFill>
                            <a:srgbClr val="000000"/>
                          </a:solidFill>
                          <a:effectLst/>
                          <a:latin typeface="Times New Roman" panose="02020603050405020304" pitchFamily="18" charset="0"/>
                        </a:rPr>
                        <a:t>R, </a:t>
                      </a:r>
                      <a:r>
                        <a:rPr lang="en-US" sz="1100" b="0" i="0" u="none" strike="noStrike">
                          <a:solidFill>
                            <a:srgbClr val="000000"/>
                          </a:solidFill>
                          <a:effectLst/>
                          <a:latin typeface="Times New Roman" panose="02020603050405020304" pitchFamily="18" charset="0"/>
                        </a:rPr>
                        <a:t>CAPT DECIDED RTO </a:t>
                      </a:r>
                      <a:r>
                        <a:rPr lang="en-US" sz="1100" b="0" i="0" u="none" strike="noStrike" smtClean="0">
                          <a:solidFill>
                            <a:srgbClr val="000000"/>
                          </a:solidFill>
                          <a:effectLst/>
                          <a:latin typeface="Times New Roman" panose="02020603050405020304" pitchFamily="18" charset="0"/>
                        </a:rPr>
                        <a:t>&amp; GTB </a:t>
                      </a:r>
                      <a:endParaRPr lang="en-US" sz="1100" b="0" i="0" u="none" strike="noStrike">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smtClean="0">
                          <a:solidFill>
                            <a:srgbClr val="000000"/>
                          </a:solidFill>
                          <a:effectLst/>
                          <a:latin typeface="Times New Roman" panose="02020603050405020304" pitchFamily="18" charset="0"/>
                        </a:rPr>
                        <a:t>OPEN </a:t>
                      </a:r>
                      <a:r>
                        <a:rPr lang="en-US" sz="1100" b="0" i="0" u="none" strike="noStrike" dirty="0">
                          <a:solidFill>
                            <a:srgbClr val="000000"/>
                          </a:solidFill>
                          <a:effectLst/>
                          <a:latin typeface="Times New Roman" panose="02020603050405020304" pitchFamily="18" charset="0"/>
                        </a:rPr>
                        <a:t>ADD FOR ELEC </a:t>
                      </a:r>
                      <a:r>
                        <a:rPr lang="en-US" sz="1100" b="0" i="0" u="none" strike="noStrike">
                          <a:solidFill>
                            <a:srgbClr val="000000"/>
                          </a:solidFill>
                          <a:effectLst/>
                          <a:latin typeface="Times New Roman" panose="02020603050405020304" pitchFamily="18" charset="0"/>
                        </a:rPr>
                        <a:t>GEN </a:t>
                      </a:r>
                      <a:r>
                        <a:rPr lang="en-US" sz="1100" b="0" i="0" u="none" strike="noStrike" smtClean="0">
                          <a:solidFill>
                            <a:srgbClr val="000000"/>
                          </a:solidFill>
                          <a:effectLst/>
                          <a:latin typeface="Times New Roman" panose="02020603050405020304" pitchFamily="18" charset="0"/>
                        </a:rPr>
                        <a:t>R</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mn-lt"/>
                        </a:rPr>
                        <a:t>Tàu A879 chuyến bay NRT-SGN trước đó cũng hiện MSG ELEC GEN SYS khi đang bay tuy nhiên lúc đáp SGN thợ máy kiểm tra tình trạng kĩ thuật tàu bay tốt, không có cảnh báo. VFSG R1 on wing trên A879 từ 2019 chưa thực hiện thay thế lần nào, có TSN/CSN = 32188 FH/ 7483 FC. Final action: thay VFSG R1, MSG clear.</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3141332"/>
                  </a:ext>
                </a:extLst>
              </a:tr>
              <a:tr h="1447800">
                <a:tc>
                  <a:txBody>
                    <a:bodyPr/>
                    <a:lstStyle/>
                    <a:p>
                      <a:pPr algn="l" fontAlgn="ctr"/>
                      <a:r>
                        <a:rPr lang="en-US" sz="1100" b="0" i="0" u="none" strike="noStrike" dirty="0">
                          <a:solidFill>
                            <a:srgbClr val="000000"/>
                          </a:solidFill>
                          <a:effectLst/>
                          <a:latin typeface="Times New Roman" panose="02020603050405020304" pitchFamily="18" charset="0"/>
                        </a:rPr>
                        <a:t>A892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VN7452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14:00 28/01/2025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OGTB</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DURING PUSH BACK CAPT INFORM "ENG 1 FADEC FAULT"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smtClean="0">
                          <a:solidFill>
                            <a:srgbClr val="000000"/>
                          </a:solidFill>
                          <a:effectLst/>
                          <a:latin typeface="Times New Roman" panose="02020603050405020304" pitchFamily="18" charset="0"/>
                        </a:rPr>
                        <a:t>RESET </a:t>
                      </a:r>
                      <a:r>
                        <a:rPr lang="en-US" sz="1100" b="0" i="0" u="none" strike="noStrike" dirty="0">
                          <a:solidFill>
                            <a:srgbClr val="000000"/>
                          </a:solidFill>
                          <a:effectLst/>
                          <a:latin typeface="Times New Roman" panose="02020603050405020304" pitchFamily="18" charset="0"/>
                        </a:rPr>
                        <a:t>TEST OK, ERU SATIS</a:t>
                      </a:r>
                      <a:r>
                        <a:rPr lang="en-US" sz="1100" b="0" i="0" u="none" strike="noStrike">
                          <a:solidFill>
                            <a:srgbClr val="000000"/>
                          </a:solidFill>
                          <a:effectLst/>
                          <a:latin typeface="Times New Roman" panose="02020603050405020304" pitchFamily="18" charset="0"/>
                        </a:rPr>
                        <a:t>. </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mn-lt"/>
                        </a:rPr>
                        <a:t>Vấn đề đã xảy ra nhiều lần trên đội bay, VNA đã triển khai thử nghiệm các giải pháp bao gồm tiến hành clear lỗi theo hướng dẫn của TFU 73.21.00.109 (luôn hiệu quả) và cập nhật quy trình nổ máy theo TFU 73.20.00006 (có hiệu quả nhưng không triệt để). Theo thống kê cho thấy lỗi này xuất hiện ngẫu nhiên trên các động cơ, không phụ thuộc vào giờ khai thác và không có tính lặp lại. Do vậy nghi ngờ nguyên nhân hỏng hóc do lỗi liên quan đến phần cứng/ phần mềm của EEC nói chung và cần giải pháp từ NSX để khắc phục triệt để. VNA liên tục làm việc và yêu cầu NSX đưa ra giải pháp cho vấn đề này, tuy nhiên đến nay NSX vẫn chưa đưa ra được nguyên nhân gốc cũng như giải pháp khắc phục. </a:t>
                      </a:r>
                    </a:p>
                    <a:p>
                      <a:pPr algn="l" fontAlgn="ctr"/>
                      <a:r>
                        <a:rPr lang="vi-VN" sz="1100" b="0" i="0" u="none" strike="noStrike" dirty="0">
                          <a:solidFill>
                            <a:srgbClr val="000000"/>
                          </a:solidFill>
                          <a:effectLst/>
                          <a:latin typeface="+mn-lt"/>
                        </a:rPr>
                        <a:t>Để giảm thiểu ảnh hưởng tới khai thác, Ban KT đã gửi TR đề nghị Airbus nghiên cứu và đưa hướng dẫn thực hiện quy trình reset cho tổ bay để tránh GTB và giảm thời gian delay, hiện đang đợi phản hồi.</a:t>
                      </a:r>
                      <a:r>
                        <a:rPr lang="en-US" sz="1100" b="0" i="0" u="none" strike="noStrike" dirty="0">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43689891"/>
                  </a:ext>
                </a:extLst>
              </a:tr>
            </a:tbl>
          </a:graphicData>
        </a:graphic>
      </p:graphicFrame>
    </p:spTree>
    <p:custDataLst>
      <p:tags r:id="rId1"/>
    </p:custDataLst>
    <p:extLst>
      <p:ext uri="{BB962C8B-B14F-4D97-AF65-F5344CB8AC3E}">
        <p14:creationId xmlns:p14="http://schemas.microsoft.com/office/powerpoint/2010/main" val="3715460726"/>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8EF58-A2EB-903F-3D07-F9D4BFF7EBE3}"/>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75D80542-84B1-AD83-18C1-C3785F22BFED}"/>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CD672A5-BFEF-6B36-5EC5-F56E4CDD9A9A}"/>
              </a:ext>
            </a:extLst>
          </p:cNvPr>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4A1464AA-D9CF-DC79-B21F-52F0A7F36422}"/>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1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06		    DIV: 00</a:t>
            </a:r>
          </a:p>
        </p:txBody>
      </p:sp>
      <p:graphicFrame>
        <p:nvGraphicFramePr>
          <p:cNvPr id="3" name="Table 2">
            <a:extLst>
              <a:ext uri="{FF2B5EF4-FFF2-40B4-BE49-F238E27FC236}">
                <a16:creationId xmlns:a16="http://schemas.microsoft.com/office/drawing/2014/main" id="{6BD6B40E-6B92-86DD-EF04-46B898ABACCC}"/>
              </a:ext>
            </a:extLst>
          </p:cNvPr>
          <p:cNvGraphicFramePr>
            <a:graphicFrameLocks noGrp="1"/>
          </p:cNvGraphicFramePr>
          <p:nvPr>
            <p:extLst/>
          </p:nvPr>
        </p:nvGraphicFramePr>
        <p:xfrm>
          <a:off x="264461" y="1371600"/>
          <a:ext cx="11517424" cy="5279833"/>
        </p:xfrm>
        <a:graphic>
          <a:graphicData uri="http://schemas.openxmlformats.org/drawingml/2006/table">
            <a:tbl>
              <a:tblPr/>
              <a:tblGrid>
                <a:gridCol w="421339">
                  <a:extLst>
                    <a:ext uri="{9D8B030D-6E8A-4147-A177-3AD203B41FA5}">
                      <a16:colId xmlns:a16="http://schemas.microsoft.com/office/drawing/2014/main" val="3441338988"/>
                    </a:ext>
                  </a:extLst>
                </a:gridCol>
                <a:gridCol w="381000">
                  <a:extLst>
                    <a:ext uri="{9D8B030D-6E8A-4147-A177-3AD203B41FA5}">
                      <a16:colId xmlns:a16="http://schemas.microsoft.com/office/drawing/2014/main" val="864944279"/>
                    </a:ext>
                  </a:extLst>
                </a:gridCol>
                <a:gridCol w="609600">
                  <a:extLst>
                    <a:ext uri="{9D8B030D-6E8A-4147-A177-3AD203B41FA5}">
                      <a16:colId xmlns:a16="http://schemas.microsoft.com/office/drawing/2014/main" val="1230293020"/>
                    </a:ext>
                  </a:extLst>
                </a:gridCol>
                <a:gridCol w="685800">
                  <a:extLst>
                    <a:ext uri="{9D8B030D-6E8A-4147-A177-3AD203B41FA5}">
                      <a16:colId xmlns:a16="http://schemas.microsoft.com/office/drawing/2014/main" val="2750884634"/>
                    </a:ext>
                  </a:extLst>
                </a:gridCol>
                <a:gridCol w="685800">
                  <a:extLst>
                    <a:ext uri="{9D8B030D-6E8A-4147-A177-3AD203B41FA5}">
                      <a16:colId xmlns:a16="http://schemas.microsoft.com/office/drawing/2014/main" val="133176833"/>
                    </a:ext>
                  </a:extLst>
                </a:gridCol>
                <a:gridCol w="533400">
                  <a:extLst>
                    <a:ext uri="{9D8B030D-6E8A-4147-A177-3AD203B41FA5}">
                      <a16:colId xmlns:a16="http://schemas.microsoft.com/office/drawing/2014/main" val="2744726422"/>
                    </a:ext>
                  </a:extLst>
                </a:gridCol>
                <a:gridCol w="1524000">
                  <a:extLst>
                    <a:ext uri="{9D8B030D-6E8A-4147-A177-3AD203B41FA5}">
                      <a16:colId xmlns:a16="http://schemas.microsoft.com/office/drawing/2014/main" val="674967127"/>
                    </a:ext>
                  </a:extLst>
                </a:gridCol>
                <a:gridCol w="3657600">
                  <a:extLst>
                    <a:ext uri="{9D8B030D-6E8A-4147-A177-3AD203B41FA5}">
                      <a16:colId xmlns:a16="http://schemas.microsoft.com/office/drawing/2014/main" val="1613102766"/>
                    </a:ext>
                  </a:extLst>
                </a:gridCol>
                <a:gridCol w="609600">
                  <a:extLst>
                    <a:ext uri="{9D8B030D-6E8A-4147-A177-3AD203B41FA5}">
                      <a16:colId xmlns:a16="http://schemas.microsoft.com/office/drawing/2014/main" val="666514525"/>
                    </a:ext>
                  </a:extLst>
                </a:gridCol>
                <a:gridCol w="2409285">
                  <a:extLst>
                    <a:ext uri="{9D8B030D-6E8A-4147-A177-3AD203B41FA5}">
                      <a16:colId xmlns:a16="http://schemas.microsoft.com/office/drawing/2014/main" val="749522768"/>
                    </a:ext>
                  </a:extLst>
                </a:gridCol>
              </a:tblGrid>
              <a:tr h="403033">
                <a:tc>
                  <a:txBody>
                    <a:bodyPr/>
                    <a:lstStyle/>
                    <a:p>
                      <a:pPr algn="ctr" fontAlgn="ctr"/>
                      <a:r>
                        <a:rPr lang="en-US" sz="1200" b="0" i="0" u="none" strike="noStrike">
                          <a:solidFill>
                            <a:srgbClr val="000000"/>
                          </a:solidFill>
                          <a:effectLst/>
                          <a:latin typeface="Times New Roman" panose="02020603050405020304" pitchFamily="18" charset="0"/>
                        </a:rPr>
                        <a:t>A/C</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STA</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FLIGHT NO</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ROUTE</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DATE</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EVENT</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REASON</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ACTION TAKEN</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ATA</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Engineering Assessment</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007129995"/>
                  </a:ext>
                </a:extLst>
              </a:tr>
              <a:tr h="1143000">
                <a:tc>
                  <a:txBody>
                    <a:bodyPr/>
                    <a:lstStyle/>
                    <a:p>
                      <a:pPr algn="l" fontAlgn="ctr"/>
                      <a:r>
                        <a:rPr lang="en-US" sz="1100" b="0" i="0" u="none" strike="noStrike">
                          <a:solidFill>
                            <a:srgbClr val="000000"/>
                          </a:solidFill>
                          <a:effectLst/>
                          <a:latin typeface="Times New Roman" panose="02020603050405020304" pitchFamily="18" charset="0"/>
                        </a:rPr>
                        <a:t>A358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VN513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07:20 27/01/2025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OGTB</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MCDU 1 INOP &lt;p&gt;During eng run up before depart, Capt report MCDU 1 INOP, reset nil help, A/C return to gate.&lt;/p&gt;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 EVENT CLOSED &lt;p&gt;Raised ADD for MCDU 1 INOP, additional refuel 2 tons.&lt;/p&gt;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22-82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mn-lt"/>
                        </a:rPr>
                        <a:t>Hỏng hóc liên quan đến MCDU PN C19266AA01. Hỏng hóc được khắc phục sau khi thay part. Part hiện không có ISI, TFU liên quan đến ĐTC. Theo thống kê ĐTC: Tỉ lệ tháo ngoài kế hoạch các năm gần đây ít (2023: 2 lần, 2024: 3 lần). Theo SFR, các hỏng hóc thường gặp liên quan đến nút bấm và đèn hiển thị. Part hỏng được lắp lên tàu bay vào T2/2016, có TSN/CSN là 36392/25004. Theo dõi thêm.</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7700626"/>
                  </a:ext>
                </a:extLst>
              </a:tr>
              <a:tr h="1143000">
                <a:tc>
                  <a:txBody>
                    <a:bodyPr/>
                    <a:lstStyle/>
                    <a:p>
                      <a:pPr algn="l" fontAlgn="ctr"/>
                      <a:r>
                        <a:rPr lang="en-US" sz="1100" b="0" i="0" u="none" strike="noStrike" dirty="0">
                          <a:solidFill>
                            <a:srgbClr val="000000"/>
                          </a:solidFill>
                          <a:effectLst/>
                          <a:latin typeface="Times New Roman" panose="02020603050405020304" pitchFamily="18" charset="0"/>
                        </a:rPr>
                        <a:t>A353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VN7402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SGN-VDH</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17:00 26/01/2025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OGTB</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A353/GTB/MOR: ANTI ICE STBY PROBES AND NAV ILS 1  FAULT &lt;p&gt;DURING PUSH BACK AND START ENG: CAPT REPORT A/C HAS MSG : ANTI ICE STBY PROBES. AND NAV ILS 1 &amp;#160;FAULT , A/C GTB NO CALL VHF,&lt;/p&gt;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 </a:t>
                      </a:r>
                      <a:r>
                        <a:rPr lang="vi-VN" sz="1100" b="0" i="0" u="none" strike="noStrike" dirty="0">
                          <a:solidFill>
                            <a:srgbClr val="000000"/>
                          </a:solidFill>
                          <a:effectLst/>
                          <a:latin typeface="Times New Roman" panose="02020603050405020304" pitchFamily="18" charset="0"/>
                        </a:rPr>
                        <a:t>15:25 TÀU VÀO BÃI , TÀU VỀ MUỘN 95mins&lt;br /&gt;</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- 15:40-16:50: SGN TRAFFIC JAM&lt;br /&gt;</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- 16:50: TRONG QUÁ TRÌNH ĐẨY TÀU RA VÀ NỔ ĐỘNG CƠ CAPT BÁO QUA HEADSET TÀU CÓ HỎNG HÓC , VÀ QUYẾT ĐỊNH QUAY LẠI BÃI,SAU ĐÓ &amp;#160;CRS BÁO VỀ MAINTROL: &amp;#160;CAPT BÁO TÀU CÓ MSG: A/C HAS MSG : ANTI ICE STBY PROBES. AND NAV ILS 1 &amp;#160;FAULT , CAPT TỰ QUYẾT CHO A/C GTB BÃI 39</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- 16:58: TÀU QUAY LẠI BÃI 39, CRS B TIẾP CẬN TÀU</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- 17:10: C/O RESET TEST OK, BÁO TÀU SER&lt;br /&gt;</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- 17:15: BÁO TÀU HOÀN THIỆN SỔ SÁCH VÀ ĐÓNG CỬA</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- 17:15-17:49: CHỜ VIAGS RÚT THANG, CHÈN CHÓP, ĐÓNG CỬA VÀ ĐẨY TÀU (DO TRONG CAO ĐIỂM ĐẨY TÀU KẸT NHÂN SỰ</a:t>
                      </a:r>
                      <a:r>
                        <a:rPr lang="en-US" sz="1100" b="0" i="0" u="none" strike="noStrike" dirty="0">
                          <a:solidFill>
                            <a:srgbClr val="000000"/>
                          </a:solidFill>
                          <a:effectLst/>
                          <a:latin typeface="Times New Roman" panose="02020603050405020304" pitchFamily="18" charset="0"/>
                        </a:rPr>
                        <a:t>)</a:t>
                      </a:r>
                      <a:r>
                        <a:rPr lang="vi-VN" sz="1100" b="0" i="0" u="none" strike="noStrike" dirty="0">
                          <a:solidFill>
                            <a:srgbClr val="000000"/>
                          </a:solidFill>
                          <a:effectLst/>
                          <a:latin typeface="Times New Roman" panose="02020603050405020304" pitchFamily="18" charset="0"/>
                        </a:rPr>
                        <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ACTION: C/O RESET AND OPS TEST , MSG GONE , A/C SERVICE ,&lt;/p&gt; A/C HAS MSG : ANTI ICE STBY PROBES. AND NAV ILS 1  FAULT EVENT CLOSED &lt;p&gt;ACTION: C/O RESET AND OPS TEST , MSG GONE , A/C SERVICE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30-00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mn-lt"/>
                        </a:rPr>
                        <a:t>Theo báo cáo của phi công do không đủ thời gian tra tài liệu, nhiều tàu phía sau đang đợi và tàu đang ở vị trí gần gate nên phi công đã quay lại mà không sử dụng FON 2024/007. Sau khi tàu vào gate NVKT thực hiện reset là không còn cảnh báo và tàu khai thác bình thường.</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79804867"/>
                  </a:ext>
                </a:extLst>
              </a:tr>
            </a:tbl>
          </a:graphicData>
        </a:graphic>
      </p:graphicFrame>
    </p:spTree>
    <p:custDataLst>
      <p:tags r:id="rId1"/>
    </p:custDataLst>
    <p:extLst>
      <p:ext uri="{BB962C8B-B14F-4D97-AF65-F5344CB8AC3E}">
        <p14:creationId xmlns:p14="http://schemas.microsoft.com/office/powerpoint/2010/main" val="3223259459"/>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6590D-D266-CE96-245B-54B3A1C68268}"/>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C83D173F-3A70-24AF-AFF7-41D0EE958B0E}"/>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E6E2F6F0-3266-E42F-A269-A27965E090D2}"/>
              </a:ext>
            </a:extLst>
          </p:cNvPr>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C9574AF7-28FC-613F-B60F-A699A48F07E6}"/>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1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06		    DIV: 00</a:t>
            </a:r>
          </a:p>
        </p:txBody>
      </p:sp>
      <p:graphicFrame>
        <p:nvGraphicFramePr>
          <p:cNvPr id="3" name="Table 2">
            <a:extLst>
              <a:ext uri="{FF2B5EF4-FFF2-40B4-BE49-F238E27FC236}">
                <a16:creationId xmlns:a16="http://schemas.microsoft.com/office/drawing/2014/main" id="{84C938D6-A8EB-B417-25FC-979DFD445F28}"/>
              </a:ext>
            </a:extLst>
          </p:cNvPr>
          <p:cNvGraphicFramePr>
            <a:graphicFrameLocks noGrp="1"/>
          </p:cNvGraphicFramePr>
          <p:nvPr>
            <p:extLst/>
          </p:nvPr>
        </p:nvGraphicFramePr>
        <p:xfrm>
          <a:off x="264461" y="1371600"/>
          <a:ext cx="11517424" cy="4098733"/>
        </p:xfrm>
        <a:graphic>
          <a:graphicData uri="http://schemas.openxmlformats.org/drawingml/2006/table">
            <a:tbl>
              <a:tblPr/>
              <a:tblGrid>
                <a:gridCol w="421339">
                  <a:extLst>
                    <a:ext uri="{9D8B030D-6E8A-4147-A177-3AD203B41FA5}">
                      <a16:colId xmlns:a16="http://schemas.microsoft.com/office/drawing/2014/main" val="3441338988"/>
                    </a:ext>
                  </a:extLst>
                </a:gridCol>
                <a:gridCol w="381000">
                  <a:extLst>
                    <a:ext uri="{9D8B030D-6E8A-4147-A177-3AD203B41FA5}">
                      <a16:colId xmlns:a16="http://schemas.microsoft.com/office/drawing/2014/main" val="864944279"/>
                    </a:ext>
                  </a:extLst>
                </a:gridCol>
                <a:gridCol w="685800">
                  <a:extLst>
                    <a:ext uri="{9D8B030D-6E8A-4147-A177-3AD203B41FA5}">
                      <a16:colId xmlns:a16="http://schemas.microsoft.com/office/drawing/2014/main" val="1230293020"/>
                    </a:ext>
                  </a:extLst>
                </a:gridCol>
                <a:gridCol w="609600">
                  <a:extLst>
                    <a:ext uri="{9D8B030D-6E8A-4147-A177-3AD203B41FA5}">
                      <a16:colId xmlns:a16="http://schemas.microsoft.com/office/drawing/2014/main" val="2750884634"/>
                    </a:ext>
                  </a:extLst>
                </a:gridCol>
                <a:gridCol w="990600">
                  <a:extLst>
                    <a:ext uri="{9D8B030D-6E8A-4147-A177-3AD203B41FA5}">
                      <a16:colId xmlns:a16="http://schemas.microsoft.com/office/drawing/2014/main" val="133176833"/>
                    </a:ext>
                  </a:extLst>
                </a:gridCol>
                <a:gridCol w="685800">
                  <a:extLst>
                    <a:ext uri="{9D8B030D-6E8A-4147-A177-3AD203B41FA5}">
                      <a16:colId xmlns:a16="http://schemas.microsoft.com/office/drawing/2014/main" val="2744726422"/>
                    </a:ext>
                  </a:extLst>
                </a:gridCol>
                <a:gridCol w="1905000">
                  <a:extLst>
                    <a:ext uri="{9D8B030D-6E8A-4147-A177-3AD203B41FA5}">
                      <a16:colId xmlns:a16="http://schemas.microsoft.com/office/drawing/2014/main" val="674967127"/>
                    </a:ext>
                  </a:extLst>
                </a:gridCol>
                <a:gridCol w="2438400">
                  <a:extLst>
                    <a:ext uri="{9D8B030D-6E8A-4147-A177-3AD203B41FA5}">
                      <a16:colId xmlns:a16="http://schemas.microsoft.com/office/drawing/2014/main" val="1613102766"/>
                    </a:ext>
                  </a:extLst>
                </a:gridCol>
                <a:gridCol w="533400">
                  <a:extLst>
                    <a:ext uri="{9D8B030D-6E8A-4147-A177-3AD203B41FA5}">
                      <a16:colId xmlns:a16="http://schemas.microsoft.com/office/drawing/2014/main" val="666514525"/>
                    </a:ext>
                  </a:extLst>
                </a:gridCol>
                <a:gridCol w="2866485">
                  <a:extLst>
                    <a:ext uri="{9D8B030D-6E8A-4147-A177-3AD203B41FA5}">
                      <a16:colId xmlns:a16="http://schemas.microsoft.com/office/drawing/2014/main" val="749522768"/>
                    </a:ext>
                  </a:extLst>
                </a:gridCol>
              </a:tblGrid>
              <a:tr h="403033">
                <a:tc>
                  <a:txBody>
                    <a:bodyPr/>
                    <a:lstStyle/>
                    <a:p>
                      <a:pPr algn="ctr" fontAlgn="ctr"/>
                      <a:r>
                        <a:rPr lang="en-US" sz="1200" b="0" i="0" u="none" strike="noStrike">
                          <a:solidFill>
                            <a:srgbClr val="000000"/>
                          </a:solidFill>
                          <a:effectLst/>
                          <a:latin typeface="Times New Roman" panose="02020603050405020304" pitchFamily="18" charset="0"/>
                        </a:rPr>
                        <a:t>A/C</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STA</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FLIGHT NO</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ROUTE</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DATE</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EVENT</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REASON</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ACTION TAKEN</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ATA</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Engineering Assessment</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007129995"/>
                  </a:ext>
                </a:extLst>
              </a:tr>
              <a:tr h="2795375">
                <a:tc>
                  <a:txBody>
                    <a:bodyPr/>
                    <a:lstStyle/>
                    <a:p>
                      <a:pPr algn="l" fontAlgn="ctr"/>
                      <a:r>
                        <a:rPr lang="en-US" sz="1100" b="0" i="0" u="none" strike="noStrike">
                          <a:solidFill>
                            <a:srgbClr val="000000"/>
                          </a:solidFill>
                          <a:effectLst/>
                          <a:latin typeface="Times New Roman" panose="02020603050405020304" pitchFamily="18" charset="0"/>
                        </a:rPr>
                        <a:t>A889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ICN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VN415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ICN-HAN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18:00 25/01/2025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OGTB</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GTB MSG   FUEL ENG 1 LP VLV FAULT &lt;p&gt;VN415 &amp;#160;ICN-HAN, A/C GTB AT ICN- DUE TO msg no go FUEL ENG 1 LP VLV FAULT.&lt;/p&gt;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&lt;p&gt;RESET TEST FQMS TEST OK&lt;/p&gt; ERU CHECK SATIS. EVENT CLOSED &lt;p&gt;&lt;/p&gt;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28-51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mn-lt"/>
                        </a:rPr>
                        <a:t>Khi thực hiện chuyến bay trước đó VN414, HAN-ICN, thì cảnh báo xuất hiện trên Skywise (landing phase), nhưng sau khi tàu bay hạ cánh tại ICN thì không có MSG nào trên ECAM, thực hiện OPT TEST thì không xuất hiện lỗi (NO FAULT CONFIRM).</a:t>
                      </a:r>
                    </a:p>
                    <a:p>
                      <a:pPr algn="l" fontAlgn="ctr"/>
                      <a:r>
                        <a:rPr lang="vi-VN" sz="1100" b="0" i="0" u="none" strike="noStrike" dirty="0">
                          <a:solidFill>
                            <a:srgbClr val="000000"/>
                          </a:solidFill>
                          <a:effectLst/>
                          <a:latin typeface="+mn-lt"/>
                        </a:rPr>
                        <a:t>Khi thực hiện chuyến bay VN415, ICN-HAN, thì cảnh báo xuất hiện lại trong quá trình pushback, tổ bay quyết định quay lại. </a:t>
                      </a:r>
                    </a:p>
                    <a:p>
                      <a:pPr algn="l" fontAlgn="ctr"/>
                      <a:r>
                        <a:rPr lang="vi-VN" sz="1100" b="0" i="0" u="none" strike="noStrike" dirty="0">
                          <a:solidFill>
                            <a:srgbClr val="000000"/>
                          </a:solidFill>
                          <a:effectLst/>
                          <a:latin typeface="+mn-lt"/>
                        </a:rPr>
                        <a:t>Sau khi quay lại thì thợ máy reset hết MSG và thực hiện chuyến bay về.</a:t>
                      </a:r>
                    </a:p>
                    <a:p>
                      <a:pPr algn="l" fontAlgn="ctr"/>
                      <a:r>
                        <a:rPr lang="vi-VN" sz="1100" b="0" i="0" u="none" strike="noStrike" dirty="0">
                          <a:solidFill>
                            <a:srgbClr val="000000"/>
                          </a:solidFill>
                          <a:effectLst/>
                          <a:latin typeface="+mn-lt"/>
                        </a:rPr>
                        <a:t>Hỏng hóc nghi ngờ do Fuel LP valve bị intermittent. Khối bị hỏng là gốc của tàu bay, có TSN/CSN = 26076.88 FH/ 7456 FC. Đã thực hiện thay valve này khi tàu bay về main-base.</a:t>
                      </a:r>
                    </a:p>
                    <a:p>
                      <a:pPr algn="l" fontAlgn="ctr"/>
                      <a:r>
                        <a:rPr lang="vi-VN" sz="1100" b="0" i="0" u="none" strike="noStrike" dirty="0">
                          <a:solidFill>
                            <a:srgbClr val="000000"/>
                          </a:solidFill>
                          <a:effectLst/>
                          <a:latin typeface="+mn-lt"/>
                        </a:rPr>
                        <a:t>- Hiện tại, không có tài liệu nào (kể cả AiB và operator khác) về độ tin cậy của valve này trên thế giới .Tính từ khi khai thác A350 thì có 5 lần thay valve này nhưng chỉ có 1 lần gây gián đoạn khai thác trên A887 năm 2016.</a:t>
                      </a:r>
                    </a:p>
                    <a:p>
                      <a:pPr algn="l" fontAlgn="ctr"/>
                      <a:r>
                        <a:rPr lang="vi-VN" sz="1100" b="0" i="0" u="none" strike="noStrike" dirty="0">
                          <a:solidFill>
                            <a:srgbClr val="000000"/>
                          </a:solidFill>
                          <a:effectLst/>
                          <a:latin typeface="+mn-lt"/>
                        </a:rPr>
                        <a:t>- Đang chờ SFR và làm việc với AIB qua TR 81532467 để đánh giá thêm hỏng hóc.</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65628529"/>
                  </a:ext>
                </a:extLst>
              </a:tr>
            </a:tbl>
          </a:graphicData>
        </a:graphic>
      </p:graphicFrame>
    </p:spTree>
    <p:custDataLst>
      <p:tags r:id="rId1"/>
    </p:custDataLst>
    <p:extLst>
      <p:ext uri="{BB962C8B-B14F-4D97-AF65-F5344CB8AC3E}">
        <p14:creationId xmlns:p14="http://schemas.microsoft.com/office/powerpoint/2010/main" val="425539724"/>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3B02C-C1CA-59C0-94EC-86BAE6292878}"/>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5A6D81DC-8CAB-57BA-173E-8B26413C3E6E}"/>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16F28B74-6268-A743-6975-BD4E2A8D0320}"/>
              </a:ext>
            </a:extLst>
          </p:cNvPr>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3D0BACE9-BF72-4C20-5F35-6D193875562A}"/>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1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06		    DIV: 00</a:t>
            </a:r>
          </a:p>
        </p:txBody>
      </p:sp>
      <p:graphicFrame>
        <p:nvGraphicFramePr>
          <p:cNvPr id="3" name="Table 2">
            <a:extLst>
              <a:ext uri="{FF2B5EF4-FFF2-40B4-BE49-F238E27FC236}">
                <a16:creationId xmlns:a16="http://schemas.microsoft.com/office/drawing/2014/main" id="{401EE15E-1573-6F56-921F-DBA31A2744F1}"/>
              </a:ext>
            </a:extLst>
          </p:cNvPr>
          <p:cNvGraphicFramePr>
            <a:graphicFrameLocks noGrp="1"/>
          </p:cNvGraphicFramePr>
          <p:nvPr>
            <p:extLst/>
          </p:nvPr>
        </p:nvGraphicFramePr>
        <p:xfrm>
          <a:off x="264461" y="1371600"/>
          <a:ext cx="11517424" cy="4266373"/>
        </p:xfrm>
        <a:graphic>
          <a:graphicData uri="http://schemas.openxmlformats.org/drawingml/2006/table">
            <a:tbl>
              <a:tblPr/>
              <a:tblGrid>
                <a:gridCol w="421339">
                  <a:extLst>
                    <a:ext uri="{9D8B030D-6E8A-4147-A177-3AD203B41FA5}">
                      <a16:colId xmlns:a16="http://schemas.microsoft.com/office/drawing/2014/main" val="3441338988"/>
                    </a:ext>
                  </a:extLst>
                </a:gridCol>
                <a:gridCol w="381000">
                  <a:extLst>
                    <a:ext uri="{9D8B030D-6E8A-4147-A177-3AD203B41FA5}">
                      <a16:colId xmlns:a16="http://schemas.microsoft.com/office/drawing/2014/main" val="864944279"/>
                    </a:ext>
                  </a:extLst>
                </a:gridCol>
                <a:gridCol w="685800">
                  <a:extLst>
                    <a:ext uri="{9D8B030D-6E8A-4147-A177-3AD203B41FA5}">
                      <a16:colId xmlns:a16="http://schemas.microsoft.com/office/drawing/2014/main" val="1230293020"/>
                    </a:ext>
                  </a:extLst>
                </a:gridCol>
                <a:gridCol w="609600">
                  <a:extLst>
                    <a:ext uri="{9D8B030D-6E8A-4147-A177-3AD203B41FA5}">
                      <a16:colId xmlns:a16="http://schemas.microsoft.com/office/drawing/2014/main" val="2750884634"/>
                    </a:ext>
                  </a:extLst>
                </a:gridCol>
                <a:gridCol w="990600">
                  <a:extLst>
                    <a:ext uri="{9D8B030D-6E8A-4147-A177-3AD203B41FA5}">
                      <a16:colId xmlns:a16="http://schemas.microsoft.com/office/drawing/2014/main" val="133176833"/>
                    </a:ext>
                  </a:extLst>
                </a:gridCol>
                <a:gridCol w="685800">
                  <a:extLst>
                    <a:ext uri="{9D8B030D-6E8A-4147-A177-3AD203B41FA5}">
                      <a16:colId xmlns:a16="http://schemas.microsoft.com/office/drawing/2014/main" val="2744726422"/>
                    </a:ext>
                  </a:extLst>
                </a:gridCol>
                <a:gridCol w="1905000">
                  <a:extLst>
                    <a:ext uri="{9D8B030D-6E8A-4147-A177-3AD203B41FA5}">
                      <a16:colId xmlns:a16="http://schemas.microsoft.com/office/drawing/2014/main" val="674967127"/>
                    </a:ext>
                  </a:extLst>
                </a:gridCol>
                <a:gridCol w="2438400">
                  <a:extLst>
                    <a:ext uri="{9D8B030D-6E8A-4147-A177-3AD203B41FA5}">
                      <a16:colId xmlns:a16="http://schemas.microsoft.com/office/drawing/2014/main" val="1613102766"/>
                    </a:ext>
                  </a:extLst>
                </a:gridCol>
                <a:gridCol w="533400">
                  <a:extLst>
                    <a:ext uri="{9D8B030D-6E8A-4147-A177-3AD203B41FA5}">
                      <a16:colId xmlns:a16="http://schemas.microsoft.com/office/drawing/2014/main" val="666514525"/>
                    </a:ext>
                  </a:extLst>
                </a:gridCol>
                <a:gridCol w="2866485">
                  <a:extLst>
                    <a:ext uri="{9D8B030D-6E8A-4147-A177-3AD203B41FA5}">
                      <a16:colId xmlns:a16="http://schemas.microsoft.com/office/drawing/2014/main" val="749522768"/>
                    </a:ext>
                  </a:extLst>
                </a:gridCol>
              </a:tblGrid>
              <a:tr h="403033">
                <a:tc>
                  <a:txBody>
                    <a:bodyPr/>
                    <a:lstStyle/>
                    <a:p>
                      <a:pPr algn="ctr" fontAlgn="ctr"/>
                      <a:r>
                        <a:rPr lang="en-US" sz="1200" b="0" i="0" u="none" strike="noStrike">
                          <a:solidFill>
                            <a:srgbClr val="000000"/>
                          </a:solidFill>
                          <a:effectLst/>
                          <a:latin typeface="Times New Roman" panose="02020603050405020304" pitchFamily="18" charset="0"/>
                        </a:rPr>
                        <a:t>A/C</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STA</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FLIGHT NO</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ROUTE</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DATE</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EVENT</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REASON</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ACTION TAKEN</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ATA</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Engineering Assessment</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007129995"/>
                  </a:ext>
                </a:extLst>
              </a:tr>
              <a:tr h="2795375">
                <a:tc>
                  <a:txBody>
                    <a:bodyPr/>
                    <a:lstStyle/>
                    <a:p>
                      <a:pPr algn="l" fontAlgn="ctr"/>
                      <a:r>
                        <a:rPr lang="en-US" sz="1100" b="0" i="0" u="none" strike="noStrike" dirty="0">
                          <a:solidFill>
                            <a:srgbClr val="000000"/>
                          </a:solidFill>
                          <a:effectLst/>
                          <a:latin typeface="Times New Roman" panose="02020603050405020304" pitchFamily="18" charset="0"/>
                        </a:rPr>
                        <a:t>A890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SFO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VN99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SFO-SGN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12:35 23/01/2025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OGTB</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FUEL CTR TK L INLET VLV &lt;p&gt;VN99 SFO-SGN, DURING TAXI OUT APPEAR MSG:&lt;br /&gt;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&amp;#43; FUEL WEIGHT DATA DISAGREE&lt;br /&gt;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&amp;#43; FUEL LEAK DET&lt;br /&gt;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&amp;#43; FUEL CTR TK L INLET VLV&lt;br /&gt;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A/C ON GROUND TURN BACK.&lt;/p&gt;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 EVENT CLOSED &lt;p&gt;CRS KLM C/O RESET AND RAISED ADD FOR "FUEL CTR TK L INLET VLV"&lt;/p&gt;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28-25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rPr>
                        <a:t>Theo báo cáo tổ bay dưới đây thì nguyên nhân ban đầu do MSG &gt; FUEL &gt; FUEL CTR TK L INLET VLV xuất hiện từ lúc PREPARE, tổ bay thực hiện reset được. Tuy nhiên, khi đẩy tàu bay ra khai thác thì cảnh báo xuất hiện lại. =&gt; Tổ bay thực hiện Manual Reset thì xuất hiện thêm các cảnh báo NOGO khác và phải RTG để deactivate Center tank fuel inlet valve (505QU1)</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Nguyên nhân do Fuel Valve Actuator failures (SPSA) gây cảnh báo &gt; FUEL CTR TK L INLET VLV. Hỏng hóc do cầu chì bị cháy do quá dòng (resulting from a short circuit in the motor commutator)</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Hỏng hóc này có thể raise MEL để đưa tàu bay vào khai thác.</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Giải pháp: </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Nâng cấp SPSA từ P/N PN 2080026-104 lên PN 2080026-105A. Tàu bay A890 đã thực hiện nâng cấp từ 24/12/2024. Các khối trên tàu là post-MOD và khối lắp lên tàu bay là NEW</a:t>
                      </a:r>
                      <a:r>
                        <a:rPr lang="en-US" sz="1100" b="0" i="0" u="none" strike="noStrike" dirty="0">
                          <a:solidFill>
                            <a:srgbClr val="000000"/>
                          </a:solidFill>
                          <a:effectLst/>
                          <a:latin typeface="Times New Roman" panose="02020603050405020304" pitchFamily="18" charset="0"/>
                        </a:rPr>
                        <a:t>.</a:t>
                      </a:r>
                      <a:r>
                        <a:rPr lang="vi-VN" sz="1100" b="0" i="0" u="none" strike="noStrike" dirty="0">
                          <a:solidFill>
                            <a:srgbClr val="000000"/>
                          </a:solidFill>
                          <a:effectLst/>
                          <a:latin typeface="Times New Roman" panose="02020603050405020304" pitchFamily="18" charset="0"/>
                        </a:rPr>
                        <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Sẽ tiếp tục làm việc với Airbus và chờ SFR để đánh giá thêm hỏng hóc.</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9288682"/>
                  </a:ext>
                </a:extLst>
              </a:tr>
            </a:tbl>
          </a:graphicData>
        </a:graphic>
      </p:graphicFrame>
    </p:spTree>
    <p:custDataLst>
      <p:tags r:id="rId1"/>
    </p:custDataLst>
    <p:extLst>
      <p:ext uri="{BB962C8B-B14F-4D97-AF65-F5344CB8AC3E}">
        <p14:creationId xmlns:p14="http://schemas.microsoft.com/office/powerpoint/2010/main" val="2415636425"/>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t>7</a:t>
            </a:fld>
            <a:endParaRPr kumimoji="0" lang="en-US" sz="1200" b="0" i="0" u="none" strike="noStrike" kern="1200" cap="none" spc="0" normalizeH="0" baseline="0" noProof="0">
              <a:ln>
                <a:noFill/>
              </a:ln>
              <a:solidFill>
                <a:srgbClr val="D2A43B"/>
              </a:solidFill>
              <a:effectLst/>
              <a:uLnTx/>
              <a:uFillTx/>
              <a:latin typeface="Montserrat" pitchFamily="2" charset="77"/>
              <a:ea typeface="+mn-ea"/>
              <a:cs typeface="+mn-cs"/>
            </a:endParaRPr>
          </a:p>
        </p:txBody>
      </p:sp>
      <p:sp>
        <p:nvSpPr>
          <p:cNvPr id="1048595" name="Title 4"/>
          <p:cNvSpPr>
            <a:spLocks noGrp="1"/>
          </p:cNvSpPr>
          <p:nvPr>
            <p:ph type="title"/>
          </p:nvPr>
        </p:nvSpPr>
        <p:spPr>
          <a:xfrm>
            <a:off x="381000" y="290517"/>
            <a:ext cx="11277597" cy="428634"/>
          </a:xfrm>
        </p:spPr>
        <p:txBody>
          <a:bodyPr>
            <a:normAutofit fontScale="90000"/>
          </a:bodyPr>
          <a:lstStyle/>
          <a:p>
            <a:pPr algn="ctr"/>
            <a:r>
              <a:rPr kumimoji="0" lang="en-US" sz="2800" b="1" i="0" u="none" strike="noStrike" kern="1200" cap="none" spc="0" normalizeH="0" baseline="0" noProof="0">
                <a:ln>
                  <a:noFill/>
                </a:ln>
                <a:solidFill>
                  <a:srgbClr val="FFC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CÁC SỰ KIỆN </a:t>
            </a:r>
            <a:r>
              <a:rPr 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MOR</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EA4D34B4-E819-745C-D25C-251608F339BF}"/>
              </a:ext>
            </a:extLst>
          </p:cNvPr>
          <p:cNvGraphicFramePr>
            <a:graphicFrameLocks noGrp="1"/>
          </p:cNvGraphicFramePr>
          <p:nvPr>
            <p:extLst/>
          </p:nvPr>
        </p:nvGraphicFramePr>
        <p:xfrm>
          <a:off x="381000" y="891400"/>
          <a:ext cx="11277597" cy="5326222"/>
        </p:xfrm>
        <a:graphic>
          <a:graphicData uri="http://schemas.openxmlformats.org/drawingml/2006/table">
            <a:tbl>
              <a:tblPr/>
              <a:tblGrid>
                <a:gridCol w="557744">
                  <a:extLst>
                    <a:ext uri="{9D8B030D-6E8A-4147-A177-3AD203B41FA5}">
                      <a16:colId xmlns:a16="http://schemas.microsoft.com/office/drawing/2014/main" val="2920741844"/>
                    </a:ext>
                  </a:extLst>
                </a:gridCol>
                <a:gridCol w="557744">
                  <a:extLst>
                    <a:ext uri="{9D8B030D-6E8A-4147-A177-3AD203B41FA5}">
                      <a16:colId xmlns:a16="http://schemas.microsoft.com/office/drawing/2014/main" val="1279338562"/>
                    </a:ext>
                  </a:extLst>
                </a:gridCol>
                <a:gridCol w="635830">
                  <a:extLst>
                    <a:ext uri="{9D8B030D-6E8A-4147-A177-3AD203B41FA5}">
                      <a16:colId xmlns:a16="http://schemas.microsoft.com/office/drawing/2014/main" val="3637084285"/>
                    </a:ext>
                  </a:extLst>
                </a:gridCol>
                <a:gridCol w="687082">
                  <a:extLst>
                    <a:ext uri="{9D8B030D-6E8A-4147-A177-3AD203B41FA5}">
                      <a16:colId xmlns:a16="http://schemas.microsoft.com/office/drawing/2014/main" val="2325167655"/>
                    </a:ext>
                  </a:extLst>
                </a:gridCol>
                <a:gridCol w="533400">
                  <a:extLst>
                    <a:ext uri="{9D8B030D-6E8A-4147-A177-3AD203B41FA5}">
                      <a16:colId xmlns:a16="http://schemas.microsoft.com/office/drawing/2014/main" val="3428103472"/>
                    </a:ext>
                  </a:extLst>
                </a:gridCol>
                <a:gridCol w="533400">
                  <a:extLst>
                    <a:ext uri="{9D8B030D-6E8A-4147-A177-3AD203B41FA5}">
                      <a16:colId xmlns:a16="http://schemas.microsoft.com/office/drawing/2014/main" val="2770578331"/>
                    </a:ext>
                  </a:extLst>
                </a:gridCol>
                <a:gridCol w="655574">
                  <a:extLst>
                    <a:ext uri="{9D8B030D-6E8A-4147-A177-3AD203B41FA5}">
                      <a16:colId xmlns:a16="http://schemas.microsoft.com/office/drawing/2014/main" val="772046923"/>
                    </a:ext>
                  </a:extLst>
                </a:gridCol>
                <a:gridCol w="792226">
                  <a:extLst>
                    <a:ext uri="{9D8B030D-6E8A-4147-A177-3AD203B41FA5}">
                      <a16:colId xmlns:a16="http://schemas.microsoft.com/office/drawing/2014/main" val="852384717"/>
                    </a:ext>
                  </a:extLst>
                </a:gridCol>
                <a:gridCol w="2743200">
                  <a:extLst>
                    <a:ext uri="{9D8B030D-6E8A-4147-A177-3AD203B41FA5}">
                      <a16:colId xmlns:a16="http://schemas.microsoft.com/office/drawing/2014/main" val="420554717"/>
                    </a:ext>
                  </a:extLst>
                </a:gridCol>
                <a:gridCol w="2979033">
                  <a:extLst>
                    <a:ext uri="{9D8B030D-6E8A-4147-A177-3AD203B41FA5}">
                      <a16:colId xmlns:a16="http://schemas.microsoft.com/office/drawing/2014/main" val="1155985481"/>
                    </a:ext>
                  </a:extLst>
                </a:gridCol>
                <a:gridCol w="602364">
                  <a:extLst>
                    <a:ext uri="{9D8B030D-6E8A-4147-A177-3AD203B41FA5}">
                      <a16:colId xmlns:a16="http://schemas.microsoft.com/office/drawing/2014/main" val="1816810672"/>
                    </a:ext>
                  </a:extLst>
                </a:gridCol>
              </a:tblGrid>
              <a:tr h="318243">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REG.</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YEAR</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MONTH</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DATE</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FLIGHT</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DEP-ARV</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DEFECT</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CORRECTIVE ACTION</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ATA</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118676145"/>
                  </a:ext>
                </a:extLst>
              </a:tr>
              <a:tr h="1048475">
                <a:tc>
                  <a:txBody>
                    <a:bodyPr/>
                    <a:lstStyle/>
                    <a:p>
                      <a:pPr algn="ctr" fontAlgn="ctr"/>
                      <a:r>
                        <a:rPr lang="en-US" sz="11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VN216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SGN-HAN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DURING PREPARE FOR TAKE OFF, CAPT INFORM ELEC GEN R, CAPT DECIDED RTO &amp; 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OPEN ADD FOR ELEC GEN R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5469491"/>
                  </a:ext>
                </a:extLst>
              </a:tr>
              <a:tr h="725692">
                <a:tc>
                  <a:txBody>
                    <a:bodyPr/>
                    <a:lstStyle/>
                    <a:p>
                      <a:pPr algn="ctr" fontAlgn="ctr"/>
                      <a:r>
                        <a:rPr lang="en-US" sz="11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VN7452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SGN-HAN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DURING PUSH BACK CAPT INFORM "ENG 1 FADEC FAULT"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RESET TEST OK, ERU SATIS.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870332"/>
                  </a:ext>
                </a:extLst>
              </a:tr>
              <a:tr h="635346">
                <a:tc>
                  <a:txBody>
                    <a:bodyPr/>
                    <a:lstStyle/>
                    <a:p>
                      <a:pPr algn="ctr" fontAlgn="ctr"/>
                      <a:r>
                        <a:rPr lang="en-US" sz="11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VN7457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SGN -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A888 VN786/VN7457 SYD-HAN-SGN (TRANSIT) FOUND TIRE PRESSURE OF M/W #2 IS 211 PSI.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C/O REPLACED M/W #2 AND CHECK M/W #1 -&gt; CHECK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7016828"/>
                  </a:ext>
                </a:extLst>
              </a:tr>
              <a:tr h="635346">
                <a:tc>
                  <a:txBody>
                    <a:bodyPr/>
                    <a:lstStyle/>
                    <a:p>
                      <a:pPr algn="ctr" fontAlgn="ctr"/>
                      <a:r>
                        <a:rPr lang="en-US" sz="11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ICN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VN415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ICN-HAN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A/C GTB AT ICN- DUE TO msg no go FUEL ENG 1 LP VLV FAULT.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RESET TEST FQMS TEST OK ERU CHECK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28-51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1368082"/>
                  </a:ext>
                </a:extLst>
              </a:tr>
              <a:tr h="1084327">
                <a:tc>
                  <a:txBody>
                    <a:bodyPr/>
                    <a:lstStyle/>
                    <a:p>
                      <a:pPr algn="ctr" fontAlgn="ctr"/>
                      <a:r>
                        <a:rPr lang="en-US" sz="11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A606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VN1623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HAN-UIH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T/X CHECK FOUND CRACK AND MISSING SOME RIVET AT BLISTER FAIRING AT RH TR ENG 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C/O REPLACE ENG 1 RH TR SLEEVE ASSY REF AMM 78-32-76-04 CONF 13 REV85</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DO AN OPERATIONAL TEST OF THE THRUST REVERSER SYSTEM REF. AMM TASK 78-31-00-710-041;FOUND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78-32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9936616"/>
                  </a:ext>
                </a:extLst>
              </a:tr>
              <a:tr h="878793">
                <a:tc>
                  <a:txBody>
                    <a:bodyPr/>
                    <a:lstStyle/>
                    <a:p>
                      <a:pPr algn="ctr" fontAlgn="ctr"/>
                      <a:r>
                        <a:rPr lang="en-US" sz="11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SFO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VN99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SFO-SGN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DURING TAXI OUT APPEAR MSG:</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-FUEL WEIGHT DATA DISAGREE</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-FUEL LEAK DET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-FUEL CTR TK L INLET VLV</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A/C ON GROUND TURN BACK.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CRS KLM C/O RESET AND RAISED ADD FOR "FUEL CTR TK L INLET VLV"</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28-25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5650803"/>
                  </a:ext>
                </a:extLst>
              </a:tr>
            </a:tbl>
          </a:graphicData>
        </a:graphic>
      </p:graphicFrame>
    </p:spTree>
    <p:extLst>
      <p:ext uri="{BB962C8B-B14F-4D97-AF65-F5344CB8AC3E}">
        <p14:creationId xmlns:p14="http://schemas.microsoft.com/office/powerpoint/2010/main" val="2167133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8</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1053717"/>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sp>
        <p:nvSpPr>
          <p:cNvPr id="7" name="TextBox 6">
            <a:extLst>
              <a:ext uri="{FF2B5EF4-FFF2-40B4-BE49-F238E27FC236}">
                <a16:creationId xmlns:a16="http://schemas.microsoft.com/office/drawing/2014/main" id="{380D0EF5-CAED-4228-924A-DD9228564476}"/>
              </a:ext>
            </a:extLst>
          </p:cNvPr>
          <p:cNvSpPr txBox="1"/>
          <p:nvPr/>
        </p:nvSpPr>
        <p:spPr>
          <a:xfrm>
            <a:off x="302664" y="2467387"/>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a:t>
            </a:r>
          </a:p>
        </p:txBody>
      </p:sp>
      <p:graphicFrame>
        <p:nvGraphicFramePr>
          <p:cNvPr id="3" name="Table 2"/>
          <p:cNvGraphicFramePr>
            <a:graphicFrameLocks noGrp="1"/>
          </p:cNvGraphicFramePr>
          <p:nvPr/>
        </p:nvGraphicFramePr>
        <p:xfrm>
          <a:off x="301591" y="1389962"/>
          <a:ext cx="11463226" cy="837819"/>
        </p:xfrm>
        <a:graphic>
          <a:graphicData uri="http://schemas.openxmlformats.org/drawingml/2006/table">
            <a:tbl>
              <a:tblPr/>
              <a:tblGrid>
                <a:gridCol w="427560">
                  <a:extLst>
                    <a:ext uri="{9D8B030D-6E8A-4147-A177-3AD203B41FA5}">
                      <a16:colId xmlns:a16="http://schemas.microsoft.com/office/drawing/2014/main" val="1400939127"/>
                    </a:ext>
                  </a:extLst>
                </a:gridCol>
                <a:gridCol w="531561">
                  <a:extLst>
                    <a:ext uri="{9D8B030D-6E8A-4147-A177-3AD203B41FA5}">
                      <a16:colId xmlns:a16="http://schemas.microsoft.com/office/drawing/2014/main" val="815328117"/>
                    </a:ext>
                  </a:extLst>
                </a:gridCol>
                <a:gridCol w="381337">
                  <a:extLst>
                    <a:ext uri="{9D8B030D-6E8A-4147-A177-3AD203B41FA5}">
                      <a16:colId xmlns:a16="http://schemas.microsoft.com/office/drawing/2014/main" val="1720360630"/>
                    </a:ext>
                  </a:extLst>
                </a:gridCol>
                <a:gridCol w="1155567">
                  <a:extLst>
                    <a:ext uri="{9D8B030D-6E8A-4147-A177-3AD203B41FA5}">
                      <a16:colId xmlns:a16="http://schemas.microsoft.com/office/drawing/2014/main" val="1684777201"/>
                    </a:ext>
                  </a:extLst>
                </a:gridCol>
                <a:gridCol w="392893">
                  <a:extLst>
                    <a:ext uri="{9D8B030D-6E8A-4147-A177-3AD203B41FA5}">
                      <a16:colId xmlns:a16="http://schemas.microsoft.com/office/drawing/2014/main" val="1451179484"/>
                    </a:ext>
                  </a:extLst>
                </a:gridCol>
                <a:gridCol w="751118">
                  <a:extLst>
                    <a:ext uri="{9D8B030D-6E8A-4147-A177-3AD203B41FA5}">
                      <a16:colId xmlns:a16="http://schemas.microsoft.com/office/drawing/2014/main" val="2273417757"/>
                    </a:ext>
                  </a:extLst>
                </a:gridCol>
                <a:gridCol w="658673">
                  <a:extLst>
                    <a:ext uri="{9D8B030D-6E8A-4147-A177-3AD203B41FA5}">
                      <a16:colId xmlns:a16="http://schemas.microsoft.com/office/drawing/2014/main" val="3922052826"/>
                    </a:ext>
                  </a:extLst>
                </a:gridCol>
                <a:gridCol w="774230">
                  <a:extLst>
                    <a:ext uri="{9D8B030D-6E8A-4147-A177-3AD203B41FA5}">
                      <a16:colId xmlns:a16="http://schemas.microsoft.com/office/drawing/2014/main" val="3029852354"/>
                    </a:ext>
                  </a:extLst>
                </a:gridCol>
                <a:gridCol w="2403580">
                  <a:extLst>
                    <a:ext uri="{9D8B030D-6E8A-4147-A177-3AD203B41FA5}">
                      <a16:colId xmlns:a16="http://schemas.microsoft.com/office/drawing/2014/main" val="2636508086"/>
                    </a:ext>
                  </a:extLst>
                </a:gridCol>
                <a:gridCol w="3986707">
                  <a:extLst>
                    <a:ext uri="{9D8B030D-6E8A-4147-A177-3AD203B41FA5}">
                      <a16:colId xmlns:a16="http://schemas.microsoft.com/office/drawing/2014/main" val="1882276902"/>
                    </a:ext>
                  </a:extLst>
                </a:gridCol>
              </a:tblGrid>
              <a:tr h="289698">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39288818"/>
                  </a:ext>
                </a:extLst>
              </a:tr>
              <a:tr h="496179">
                <a:tc>
                  <a:txBody>
                    <a:bodyPr/>
                    <a:lstStyle/>
                    <a:p>
                      <a:pPr algn="ctr" fontAlgn="ctr"/>
                      <a:r>
                        <a:rPr lang="en-US" sz="1100" b="0" i="0" u="none" strike="noStrike">
                          <a:solidFill>
                            <a:srgbClr val="00000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B223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20/01/2025 14:09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VN7476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SGN-VCS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PREFLIGHT FOUND INVERTER #1 FAULT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C/O REPLACED STATIC INVERTER #1 PREFLIGHT FOUND INVERTER #1 FAULT EVENT CLOSED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7811605"/>
                  </a:ext>
                </a:extLst>
              </a:tr>
            </a:tbl>
          </a:graphicData>
        </a:graphic>
      </p:graphicFrame>
      <p:graphicFrame>
        <p:nvGraphicFramePr>
          <p:cNvPr id="9" name="Table 8"/>
          <p:cNvGraphicFramePr>
            <a:graphicFrameLocks noGrp="1"/>
          </p:cNvGraphicFramePr>
          <p:nvPr/>
        </p:nvGraphicFramePr>
        <p:xfrm>
          <a:off x="341297" y="2941244"/>
          <a:ext cx="11509405" cy="3931786"/>
        </p:xfrm>
        <a:graphic>
          <a:graphicData uri="http://schemas.openxmlformats.org/drawingml/2006/table">
            <a:tbl>
              <a:tblPr/>
              <a:tblGrid>
                <a:gridCol w="384207">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3810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gridCol w="3236896">
                  <a:extLst>
                    <a:ext uri="{9D8B030D-6E8A-4147-A177-3AD203B41FA5}">
                      <a16:colId xmlns:a16="http://schemas.microsoft.com/office/drawing/2014/main" val="20008"/>
                    </a:ext>
                  </a:extLst>
                </a:gridCol>
                <a:gridCol w="3240102">
                  <a:extLst>
                    <a:ext uri="{9D8B030D-6E8A-4147-A177-3AD203B41FA5}">
                      <a16:colId xmlns:a16="http://schemas.microsoft.com/office/drawing/2014/main" val="20009"/>
                    </a:ext>
                  </a:extLst>
                </a:gridCol>
              </a:tblGrid>
              <a:tr h="325812">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DELAY DATE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STA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555413">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A357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31/01/2025 22:50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rPr>
                        <a:t>18</a:t>
                      </a:r>
                      <a:r>
                        <a:rPr lang="en-US" sz="1100" b="0" i="0" u="none" strike="noStrike">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VN7386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SGN-DLI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TRANSIT CHECK FOUND MW #2 TREAD WORN TO LIMIT TRANSIT CHECK FOUND MW #2 TREAD WORN TO LIMIT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MW #2  REPLACED SATIS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42299">
                <a:tc>
                  <a:txBody>
                    <a:bodyPr/>
                    <a:lstStyle/>
                    <a:p>
                      <a:pPr algn="ctr" fontAlgn="t"/>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A336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30/01/2025 23:53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VN148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DAD-NRT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MW#1 WORN TO LIMIT AND 02 STUDS LOOSEN AT PANEL 191KB </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DURING PERFORM WO 6982480 “PDA CHK FOR FLT VN318” FOUND 2 STUDS AT PANEL 191KB LOOSEN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REPACED NEW WHEEL REF AMM 32-41-11-00CONF00. SATIS</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ADJUSTED AND RETIGHTEN STUDS REF AMM 53-35-00-200-002-A, AMM 53-35-13-000/400/002-A.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92438">
                <a:tc>
                  <a:txBody>
                    <a:bodyPr/>
                    <a:lstStyle/>
                    <a:p>
                      <a:pPr algn="ctr" fontAlgn="t"/>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A605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30/01/2025 16:20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rPr>
                        <a:t>25</a:t>
                      </a:r>
                      <a:r>
                        <a:rPr lang="en-US" sz="1100" b="0" i="0" u="none" strike="noStrike">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VN607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SGN-BKK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MW #3 SHOULDER WORN TO LIMIT (ABNORMAL) TRANSIT CHECK FOUND MW #3 SHOULDER WORN TO LIMIT (ABNORMAL),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MW #3 REPLACED SATIS,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4639563"/>
                  </a:ext>
                </a:extLst>
              </a:tr>
              <a:tr h="731415">
                <a:tc>
                  <a:txBody>
                    <a:bodyPr/>
                    <a:lstStyle/>
                    <a:p>
                      <a:pPr algn="ctr" fontAlgn="t"/>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29/01/2025 16:56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VN135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rPr>
                        <a:t>DAD-SGN</a:t>
                      </a: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MW #2 SHOULDER WORN TO LIMIT AFTER FLT VN134 T/X FOUND MW #2 SHOULDER WORN TO LIMIT (ABNORMAL)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C/O RPLD NEW MAINT WHEEL CHECK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7477452"/>
                  </a:ext>
                </a:extLst>
              </a:tr>
              <a:tr h="731415">
                <a:tc>
                  <a:txBody>
                    <a:bodyPr/>
                    <a:lstStyle/>
                    <a:p>
                      <a:pPr algn="ctr" fontAlgn="t"/>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A603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28/01/2025 18:45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r>
                        <a:rPr lang="en-US" sz="1100" b="0" i="0" u="none" strike="noStrike" smtClean="0">
                          <a:solidFill>
                            <a:srgbClr val="000000"/>
                          </a:solidFill>
                          <a:effectLst/>
                          <a:latin typeface="Times New Roman" panose="02020603050405020304" pitchFamily="18" charset="0"/>
                        </a:rPr>
                        <a:t>28</a:t>
                      </a: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VN7386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SGN-DLI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TRANSIT CHECK FOUND MW #2 TREAD WORN TO LIMIT TRANSIT CHECK FOUND MW #2 TREAD WORN TO LIMIT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MW #2  REPLACED SATIS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13604453"/>
                  </a:ext>
                </a:extLst>
              </a:tr>
            </a:tbl>
          </a:graphicData>
        </a:graphic>
      </p:graphicFrame>
    </p:spTree>
    <p:extLst>
      <p:ext uri="{BB962C8B-B14F-4D97-AF65-F5344CB8AC3E}">
        <p14:creationId xmlns:p14="http://schemas.microsoft.com/office/powerpoint/2010/main" val="550881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9</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7" name="TextBox 6">
            <a:extLst>
              <a:ext uri="{FF2B5EF4-FFF2-40B4-BE49-F238E27FC236}">
                <a16:creationId xmlns:a16="http://schemas.microsoft.com/office/drawing/2014/main" id="{380D0EF5-CAED-4228-924A-DD9228564476}"/>
              </a:ext>
            </a:extLst>
          </p:cNvPr>
          <p:cNvSpPr txBox="1"/>
          <p:nvPr/>
        </p:nvSpPr>
        <p:spPr>
          <a:xfrm>
            <a:off x="341297" y="852138"/>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a:t>
            </a:r>
          </a:p>
        </p:txBody>
      </p:sp>
      <p:graphicFrame>
        <p:nvGraphicFramePr>
          <p:cNvPr id="9" name="Table 8"/>
          <p:cNvGraphicFramePr>
            <a:graphicFrameLocks noGrp="1"/>
          </p:cNvGraphicFramePr>
          <p:nvPr/>
        </p:nvGraphicFramePr>
        <p:xfrm>
          <a:off x="316612" y="1358260"/>
          <a:ext cx="11509405" cy="4554755"/>
        </p:xfrm>
        <a:graphic>
          <a:graphicData uri="http://schemas.openxmlformats.org/drawingml/2006/table">
            <a:tbl>
              <a:tblPr/>
              <a:tblGrid>
                <a:gridCol w="384207">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3810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gridCol w="3109181">
                  <a:extLst>
                    <a:ext uri="{9D8B030D-6E8A-4147-A177-3AD203B41FA5}">
                      <a16:colId xmlns:a16="http://schemas.microsoft.com/office/drawing/2014/main" val="20008"/>
                    </a:ext>
                  </a:extLst>
                </a:gridCol>
                <a:gridCol w="3367817">
                  <a:extLst>
                    <a:ext uri="{9D8B030D-6E8A-4147-A177-3AD203B41FA5}">
                      <a16:colId xmlns:a16="http://schemas.microsoft.com/office/drawing/2014/main" val="20009"/>
                    </a:ext>
                  </a:extLst>
                </a:gridCol>
              </a:tblGrid>
              <a:tr h="325812">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DELAY DATE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STA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325760">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A603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28/01/2025 18:45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r>
                        <a:rPr lang="en-US" sz="1100" b="0" i="0" u="none" strike="noStrike" smtClean="0">
                          <a:solidFill>
                            <a:srgbClr val="000000"/>
                          </a:solidFill>
                          <a:effectLst/>
                          <a:latin typeface="Times New Roman" panose="02020603050405020304" pitchFamily="18" charset="0"/>
                        </a:rPr>
                        <a:t>13</a:t>
                      </a: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VN141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DAD-SGN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LH NW TREAD WORN TO LIMIT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 RPLD NEW NW</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42299">
                <a:tc>
                  <a:txBody>
                    <a:bodyPr/>
                    <a:lstStyle/>
                    <a:p>
                      <a:pPr algn="ctr" fontAlgn="t"/>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A615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28/01/2025 17:10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rPr>
                        <a:t>17</a:t>
                      </a:r>
                      <a:r>
                        <a:rPr lang="en-US" sz="1100" b="0" i="0" u="none" strike="noStrike">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VN218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T/X CHK FOUND RH NW TREAD WORN TO LIMIT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RH NW RPLD.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32462">
                <a:tc>
                  <a:txBody>
                    <a:bodyPr/>
                    <a:lstStyle/>
                    <a:p>
                      <a:pPr algn="ctr" fontAlgn="t"/>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A612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28/01/2025 16:30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r>
                        <a:rPr lang="en-US" sz="1100" b="0" i="0" u="none" strike="noStrike" smtClean="0">
                          <a:solidFill>
                            <a:srgbClr val="000000"/>
                          </a:solidFill>
                          <a:effectLst/>
                          <a:latin typeface="Times New Roman" panose="02020603050405020304" pitchFamily="18" charset="0"/>
                        </a:rPr>
                        <a:t>18</a:t>
                      </a: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VN570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SGN-TPE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TRANSIT CHECK FOUND MW #4 SHOULDER WORN TO LIMIT (ABNORMAL)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MW #4 REPLACED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4412169"/>
                  </a:ext>
                </a:extLst>
              </a:tr>
              <a:tr h="731415">
                <a:tc>
                  <a:txBody>
                    <a:bodyPr/>
                    <a:lstStyle/>
                    <a:p>
                      <a:pPr algn="ctr" fontAlgn="t"/>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A615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27/01/2025 18:45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VN261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HAN-SGN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(TRANSIT): FOUND M/W #4 WORN TO LIMIT. A615 VN531/VN261 PVG-HAN-SGN (TRANSIT): FOUND M/W #4 WORN TO LIMIT.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C/O REPLACED NEW ONE -&gt;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4639563"/>
                  </a:ext>
                </a:extLst>
              </a:tr>
              <a:tr h="560175">
                <a:tc>
                  <a:txBody>
                    <a:bodyPr/>
                    <a:lstStyle/>
                    <a:p>
                      <a:pPr algn="ctr" fontAlgn="t"/>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A604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27/01/2025 18:12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r>
                        <a:rPr lang="en-US" sz="1100" b="0" i="0" u="none" strike="noStrike" smtClean="0">
                          <a:solidFill>
                            <a:srgbClr val="000000"/>
                          </a:solidFill>
                          <a:effectLst/>
                          <a:latin typeface="Times New Roman" panose="02020603050405020304" pitchFamily="18" charset="0"/>
                        </a:rPr>
                        <a:t>20</a:t>
                      </a: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VN1268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SGN-VII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`TRANSIT CHECK FOUND RH NW TREAD WORN TO LIMIT (ABNORMAL)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a:solidFill>
                            <a:srgbClr val="000000"/>
                          </a:solidFill>
                          <a:effectLst/>
                          <a:latin typeface="Times New Roman" panose="02020603050405020304" pitchFamily="18" charset="0"/>
                        </a:rPr>
                        <a:t> C/O RPLD RH NW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18688200"/>
                  </a:ext>
                </a:extLst>
              </a:tr>
              <a:tr h="609600">
                <a:tc>
                  <a:txBody>
                    <a:bodyPr/>
                    <a:lstStyle/>
                    <a:p>
                      <a:pPr algn="ctr" fontAlgn="t"/>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A392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27/01/2025 18:00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rPr>
                        <a:t>19</a:t>
                      </a:r>
                      <a:r>
                        <a:rPr lang="en-US" sz="1100" b="0" i="0" u="none" strike="noStrike">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VN580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SGN-KHH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TRANSIT CHECK FOUND MW #4 SHOULDER WORN TO LIMIT (ABNORMAL)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a:solidFill>
                            <a:srgbClr val="000000"/>
                          </a:solidFill>
                          <a:effectLst/>
                          <a:latin typeface="Times New Roman" panose="02020603050405020304" pitchFamily="18" charset="0"/>
                        </a:rPr>
                        <a:t>C/O RPLD MW #4 SATIS.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6043385"/>
                  </a:ext>
                </a:extLst>
              </a:tr>
              <a:tr h="533400">
                <a:tc>
                  <a:txBody>
                    <a:bodyPr/>
                    <a:lstStyle/>
                    <a:p>
                      <a:pPr algn="ctr" fontAlgn="t"/>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27/01/2025 10:10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VN7100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TRANSIT CHECK FOUND MW #3 TREAD WORN TO LIMIT (ABNORMAL)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MW #3 REPLACED SATIS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8095512"/>
                  </a:ext>
                </a:extLst>
              </a:tr>
              <a:tr h="731415">
                <a:tc>
                  <a:txBody>
                    <a:bodyPr/>
                    <a:lstStyle/>
                    <a:p>
                      <a:pPr algn="ctr" fontAlgn="t"/>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A603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27/01/2025 07:00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VN1392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SGN-UIH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TRANSIT CHECK FOUND MW #3 SHOULDER WORN TO LIMIT (ABNORMAL)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MW #3 REPLACED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2847959"/>
                  </a:ext>
                </a:extLst>
              </a:tr>
            </a:tbl>
          </a:graphicData>
        </a:graphic>
      </p:graphicFrame>
    </p:spTree>
    <p:extLst>
      <p:ext uri="{BB962C8B-B14F-4D97-AF65-F5344CB8AC3E}">
        <p14:creationId xmlns:p14="http://schemas.microsoft.com/office/powerpoint/2010/main" val="34075151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03 (Tech: 02; Non-tech: 01)</a:t>
            </a:r>
          </a:p>
        </p:txBody>
      </p:sp>
      <p:sp>
        <p:nvSpPr>
          <p:cNvPr id="9" name="TextBox 8">
            <a:extLst>
              <a:ext uri="{FF2B5EF4-FFF2-40B4-BE49-F238E27FC236}">
                <a16:creationId xmlns:a16="http://schemas.microsoft.com/office/drawing/2014/main" id="{5FE3B712-9690-42A3-A50E-24E99475755A}"/>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(Tech: 02; Non-tech: 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Delay: 47 (Tech: 13; Non-tech: 34)</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p>
        </p:txBody>
      </p:sp>
      <p:graphicFrame>
        <p:nvGraphicFramePr>
          <p:cNvPr id="3" name="Table 2">
            <a:extLst>
              <a:ext uri="{FF2B5EF4-FFF2-40B4-BE49-F238E27FC236}">
                <a16:creationId xmlns:a16="http://schemas.microsoft.com/office/drawing/2014/main" id="{A8AA4BD9-FDEC-2CC2-1A85-C72F397A4621}"/>
              </a:ext>
            </a:extLst>
          </p:cNvPr>
          <p:cNvGraphicFramePr>
            <a:graphicFrameLocks noGrp="1"/>
          </p:cNvGraphicFramePr>
          <p:nvPr>
            <p:extLst/>
          </p:nvPr>
        </p:nvGraphicFramePr>
        <p:xfrm>
          <a:off x="170509" y="1553215"/>
          <a:ext cx="11670605" cy="4664409"/>
        </p:xfrm>
        <a:graphic>
          <a:graphicData uri="http://schemas.openxmlformats.org/drawingml/2006/table">
            <a:tbl>
              <a:tblPr/>
              <a:tblGrid>
                <a:gridCol w="375833">
                  <a:extLst>
                    <a:ext uri="{9D8B030D-6E8A-4147-A177-3AD203B41FA5}">
                      <a16:colId xmlns:a16="http://schemas.microsoft.com/office/drawing/2014/main" val="435942644"/>
                    </a:ext>
                  </a:extLst>
                </a:gridCol>
                <a:gridCol w="1087938">
                  <a:extLst>
                    <a:ext uri="{9D8B030D-6E8A-4147-A177-3AD203B41FA5}">
                      <a16:colId xmlns:a16="http://schemas.microsoft.com/office/drawing/2014/main" val="276862112"/>
                    </a:ext>
                  </a:extLst>
                </a:gridCol>
                <a:gridCol w="1087938">
                  <a:extLst>
                    <a:ext uri="{9D8B030D-6E8A-4147-A177-3AD203B41FA5}">
                      <a16:colId xmlns:a16="http://schemas.microsoft.com/office/drawing/2014/main" val="2191467762"/>
                    </a:ext>
                  </a:extLst>
                </a:gridCol>
                <a:gridCol w="375833">
                  <a:extLst>
                    <a:ext uri="{9D8B030D-6E8A-4147-A177-3AD203B41FA5}">
                      <a16:colId xmlns:a16="http://schemas.microsoft.com/office/drawing/2014/main" val="2342651692"/>
                    </a:ext>
                  </a:extLst>
                </a:gridCol>
                <a:gridCol w="2769349">
                  <a:extLst>
                    <a:ext uri="{9D8B030D-6E8A-4147-A177-3AD203B41FA5}">
                      <a16:colId xmlns:a16="http://schemas.microsoft.com/office/drawing/2014/main" val="3654957790"/>
                    </a:ext>
                  </a:extLst>
                </a:gridCol>
                <a:gridCol w="2590800">
                  <a:extLst>
                    <a:ext uri="{9D8B030D-6E8A-4147-A177-3AD203B41FA5}">
                      <a16:colId xmlns:a16="http://schemas.microsoft.com/office/drawing/2014/main" val="3278939196"/>
                    </a:ext>
                  </a:extLst>
                </a:gridCol>
                <a:gridCol w="381000">
                  <a:extLst>
                    <a:ext uri="{9D8B030D-6E8A-4147-A177-3AD203B41FA5}">
                      <a16:colId xmlns:a16="http://schemas.microsoft.com/office/drawing/2014/main" val="3446310582"/>
                    </a:ext>
                  </a:extLst>
                </a:gridCol>
                <a:gridCol w="3001914">
                  <a:extLst>
                    <a:ext uri="{9D8B030D-6E8A-4147-A177-3AD203B41FA5}">
                      <a16:colId xmlns:a16="http://schemas.microsoft.com/office/drawing/2014/main" val="1400684824"/>
                    </a:ext>
                  </a:extLst>
                </a:gridCol>
              </a:tblGrid>
              <a:tr h="129110">
                <a:tc>
                  <a:txBody>
                    <a:bodyPr/>
                    <a:lstStyle/>
                    <a:p>
                      <a:pPr algn="ctr" fontAlgn="ctr"/>
                      <a:r>
                        <a:rPr lang="en-US" sz="800" b="0" i="0" u="none" strike="noStrike">
                          <a:solidFill>
                            <a:srgbClr val="000000"/>
                          </a:solidFill>
                          <a:effectLst/>
                          <a:latin typeface="Times New Roman" panose="02020603050405020304" pitchFamily="18" charset="0"/>
                        </a:rPr>
                        <a:t>A/C</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OPEN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CLOSED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STA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DEFECT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ACTION</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ATA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Engineering Assessment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94249764"/>
                  </a:ext>
                </a:extLst>
              </a:tr>
              <a:tr h="2643584">
                <a:tc>
                  <a:txBody>
                    <a:bodyPr/>
                    <a:lstStyle/>
                    <a:p>
                      <a:pPr algn="l" fontAlgn="ctr"/>
                      <a:r>
                        <a:rPr lang="en-US" sz="1100" b="0" i="0" u="none" strike="noStrike" dirty="0">
                          <a:solidFill>
                            <a:srgbClr val="000000"/>
                          </a:solidFill>
                          <a:effectLst/>
                          <a:latin typeface="Times New Roman" panose="02020603050405020304" pitchFamily="18" charset="0"/>
                        </a:rPr>
                        <a:t>A606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10:41 25/01/2025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15:00 25/01/2025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CRACK &amp; MISSING RIVETS AT BLISTER FAIRING AT RH TR ENG 1 &lt;p&gt;VN1640-1623 VCL-HAN-UIH (10:34-11:30) T/X CHECK FOUND CRACK AND MISSING SOME RIVET AT BLISTER FAIRING AT RH TR ENG 1&lt;/p&gt;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&lt;p&gt;C/O REPLACE ENG 1 RH TR SLEEVE ASSY REF AMM 78-32-76-04 CONF 13 REV85&lt;</a:t>
                      </a:r>
                      <a:r>
                        <a:rPr lang="en-US" sz="1100" b="0" i="0" u="none" strike="noStrike" dirty="0" err="1">
                          <a:solidFill>
                            <a:srgbClr val="000000"/>
                          </a:solidFill>
                          <a:effectLst/>
                          <a:latin typeface="Times New Roman" panose="02020603050405020304" pitchFamily="18" charset="0"/>
                        </a:rPr>
                        <a:t>br</a:t>
                      </a:r>
                      <a:r>
                        <a:rPr lang="en-US" sz="1100" b="0" i="0" u="none" strike="noStrike" dirty="0">
                          <a:solidFill>
                            <a:srgbClr val="000000"/>
                          </a:solidFill>
                          <a:effectLst/>
                          <a:latin typeface="Times New Roman" panose="02020603050405020304" pitchFamily="18" charset="0"/>
                        </a:rPr>
                        <a:t> /&gt;</a:t>
                      </a:r>
                      <a:br>
                        <a:rPr lang="en-US" sz="1100" b="0" i="0" u="none" strike="noStrike" dirty="0">
                          <a:solidFill>
                            <a:srgbClr val="000000"/>
                          </a:solidFill>
                          <a:effectLst/>
                          <a:latin typeface="Times New Roman" panose="02020603050405020304" pitchFamily="18" charset="0"/>
                        </a:rPr>
                      </a:br>
                      <a:r>
                        <a:rPr lang="en-US" sz="1100" b="0" i="0" u="none" strike="noStrike" dirty="0">
                          <a:solidFill>
                            <a:srgbClr val="000000"/>
                          </a:solidFill>
                          <a:effectLst/>
                          <a:latin typeface="Times New Roman" panose="02020603050405020304" pitchFamily="18" charset="0"/>
                        </a:rPr>
                        <a:t>DO AN OPERATIONAL TEST OF THE THRUST REVERSER SYSTEM REF. AMM TASK 78-31-00-710-041&amp;#61;&amp;</a:t>
                      </a:r>
                      <a:r>
                        <a:rPr lang="en-US" sz="1100" b="0" i="0" u="none" strike="noStrike" dirty="0" err="1">
                          <a:solidFill>
                            <a:srgbClr val="000000"/>
                          </a:solidFill>
                          <a:effectLst/>
                          <a:latin typeface="Times New Roman" panose="02020603050405020304" pitchFamily="18" charset="0"/>
                        </a:rPr>
                        <a:t>gt;FOUND</a:t>
                      </a:r>
                      <a:r>
                        <a:rPr lang="en-US" sz="1100" b="0" i="0" u="none" strike="noStrike" dirty="0">
                          <a:solidFill>
                            <a:srgbClr val="000000"/>
                          </a:solidFill>
                          <a:effectLst/>
                          <a:latin typeface="Times New Roman" panose="02020603050405020304" pitchFamily="18" charset="0"/>
                        </a:rPr>
                        <a:t> SATIS&lt;/p&gt; CRACK &amp; MISSING RIVETS AT BLISTER FAIRING AT RH TR ENG 1 EVENT CLOSED &lt;p&gt;&lt;/p&gt;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78-32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mn-lt"/>
                        </a:rPr>
                        <a:t>- Khối thổi ngược này là gốc từ tàu bay A606.</a:t>
                      </a:r>
                    </a:p>
                    <a:p>
                      <a:pPr algn="l" fontAlgn="ctr"/>
                      <a:r>
                        <a:rPr lang="vi-VN" sz="1100" b="0" i="0" u="none" strike="noStrike" dirty="0">
                          <a:solidFill>
                            <a:srgbClr val="000000"/>
                          </a:solidFill>
                          <a:effectLst/>
                          <a:latin typeface="+mn-lt"/>
                        </a:rPr>
                        <a:t>- Hỏng hóc rivet bị missing ở Blister panel gặp nhiều trên đội tàu bay A321, nguyên nhân do rivet bị loosen sau một thời gian khai thác, nếu bị missing nhiều không phát hiện sớm có thể gây crack panel do khí động khi bay ở tốc độ cao.</a:t>
                      </a:r>
                    </a:p>
                    <a:p>
                      <a:pPr algn="l" fontAlgn="ctr"/>
                      <a:r>
                        <a:rPr lang="vi-VN" sz="1100" b="0" i="0" u="none" strike="noStrike" dirty="0">
                          <a:solidFill>
                            <a:srgbClr val="000000"/>
                          </a:solidFill>
                          <a:effectLst/>
                          <a:latin typeface="+mn-lt"/>
                        </a:rPr>
                        <a:t>Hỏng hóc thường được phát hiện trong check, để phòng tránh gián đoạn khai thác, KTMB đã ban hành EO-2017-3173 để kiểm tra thổi ngược ở tần suất 1Year. </a:t>
                      </a:r>
                    </a:p>
                    <a:p>
                      <a:pPr algn="l" fontAlgn="ctr"/>
                      <a:r>
                        <a:rPr lang="vi-VN" sz="1100" b="0" i="0" u="none" strike="noStrike" dirty="0">
                          <a:solidFill>
                            <a:srgbClr val="000000"/>
                          </a:solidFill>
                          <a:effectLst/>
                          <a:latin typeface="+mn-lt"/>
                        </a:rPr>
                        <a:t>A606 được kiểm tra lần gần nhất vào 09/Jun/2024, và có findings 01 rivet bị loosen ở RH TR, ENG1.</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7600614"/>
                  </a:ext>
                </a:extLst>
              </a:tr>
              <a:tr h="1891715">
                <a:tc>
                  <a:txBody>
                    <a:bodyPr/>
                    <a:lstStyle/>
                    <a:p>
                      <a:pPr algn="l" fontAlgn="ctr"/>
                      <a:r>
                        <a:rPr lang="en-US" sz="1100" b="0" i="0" u="none" strike="noStrike">
                          <a:solidFill>
                            <a:srgbClr val="000000"/>
                          </a:solidFill>
                          <a:effectLst/>
                          <a:latin typeface="Times New Roman" panose="02020603050405020304" pitchFamily="18" charset="0"/>
                        </a:rPr>
                        <a:t>A357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15:35 23/01/2025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00:30 24/01/2025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BKK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PACK#2 OVERHEAT &lt;p&gt;- DURING T/X CAPT REPORT PACK#2 OVERHEAT. CRS OF TVJ RESET OK. BUT AFFTER BOARDING, APPEAR MSG L/H WING LEAK&lt;/p&gt;</a:t>
                      </a:r>
                      <a:br>
                        <a:rPr lang="en-US" sz="1100" b="0" i="0" u="none" strike="noStrike" dirty="0">
                          <a:solidFill>
                            <a:srgbClr val="000000"/>
                          </a:solidFill>
                          <a:effectLst/>
                          <a:latin typeface="Times New Roman" panose="02020603050405020304" pitchFamily="18" charset="0"/>
                        </a:rPr>
                      </a:br>
                      <a:r>
                        <a:rPr lang="en-US" sz="1100" b="0" i="0" u="none" strike="noStrike" dirty="0">
                          <a:solidFill>
                            <a:srgbClr val="000000"/>
                          </a:solidFill>
                          <a:effectLst/>
                          <a:latin typeface="Times New Roman" panose="02020603050405020304" pitchFamily="18" charset="0"/>
                        </a:rPr>
                        <a:t/>
                      </a:r>
                      <a:br>
                        <a:rPr lang="en-US" sz="1100" b="0" i="0" u="none" strike="noStrike" dirty="0">
                          <a:solidFill>
                            <a:srgbClr val="000000"/>
                          </a:solidFill>
                          <a:effectLst/>
                          <a:latin typeface="Times New Roman" panose="02020603050405020304" pitchFamily="18" charset="0"/>
                        </a:rPr>
                      </a:br>
                      <a:r>
                        <a:rPr lang="en-US" sz="1100" b="0" i="0" u="none" strike="noStrike" dirty="0">
                          <a:solidFill>
                            <a:srgbClr val="000000"/>
                          </a:solidFill>
                          <a:effectLst/>
                          <a:latin typeface="Times New Roman" panose="02020603050405020304" pitchFamily="18" charset="0"/>
                        </a:rPr>
                        <a:t>&lt;p&gt;- A/C ARRIVED LATE 27MINS&lt;/p&gt;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&lt;p&gt;WHEN SELECT PACK 1 ON, MESG LWING LEAK STILL APPEAR -&amp;gt; C/O TSM 36-22-00-810-832A, TEST WITH. ENG 1 IDLE, MESG NOT APPEAR AGAIN. A/C SERVICEABLE.&lt;/p&gt; ACT 2:&lt;p&gt;FOUND PACK #2 MALFINCTION IN WORKING AND HOT AIR OUT TO RAM AIR INTAKE OF PACK #2 -&amp;gt; C/O RAISED ADD PACK 2 INOP. A/C SERVICEABLE.&lt;/p&gt; ACTION: EVENT CLOSED &lt;p&gt;CLOSED&lt;/p&gt;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21-61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 </a:t>
                      </a:r>
                      <a:r>
                        <a:rPr lang="vi-VN" sz="1100" b="0" i="0" u="none" strike="noStrike" dirty="0">
                          <a:solidFill>
                            <a:srgbClr val="000000"/>
                          </a:solidFill>
                          <a:effectLst/>
                          <a:latin typeface="+mn-lt"/>
                        </a:rPr>
                        <a:t>Hỏng hóc liên quan đến nhiều thiết bị của cả pack 1 và pack 2 như ACM, plenum, trim air checl valve. Đây đều là các thiết bị nguyên bản trên tàu và có giờ khai thác cao. Tuy nhiên tình trạng hỏng đồng loạt các thiết bị của pack cũng ít khi xảy ra. Đánh giá nguyên nhân có thể hệ thống pack hoat động quá tải. Hiện vẫn đang triển khai chương trình kiểm tra check leak hàng năm để phát hiện sớm các hỏng hóc tiềm ẩn của pack</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5191701"/>
                  </a:ext>
                </a:extLst>
              </a:tr>
            </a:tbl>
          </a:graphicData>
        </a:graphic>
      </p:graphicFrame>
    </p:spTree>
    <p:extLst>
      <p:ext uri="{BB962C8B-B14F-4D97-AF65-F5344CB8AC3E}">
        <p14:creationId xmlns:p14="http://schemas.microsoft.com/office/powerpoint/2010/main" val="2025669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47</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 (Tech: 13; Non-tech: 34)</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(Tech: 02; Non-tech: 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Delay: 47 (Tech: 13; Non-tech: 34)</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p>
        </p:txBody>
      </p:sp>
      <p:graphicFrame>
        <p:nvGraphicFramePr>
          <p:cNvPr id="5" name="Table 4">
            <a:extLst>
              <a:ext uri="{FF2B5EF4-FFF2-40B4-BE49-F238E27FC236}">
                <a16:creationId xmlns:a16="http://schemas.microsoft.com/office/drawing/2014/main" id="{A63AE000-73D5-A499-5571-75ACA673658F}"/>
              </a:ext>
            </a:extLst>
          </p:cNvPr>
          <p:cNvGraphicFramePr>
            <a:graphicFrameLocks noGrp="1"/>
          </p:cNvGraphicFramePr>
          <p:nvPr>
            <p:extLst/>
          </p:nvPr>
        </p:nvGraphicFramePr>
        <p:xfrm>
          <a:off x="152399" y="1570679"/>
          <a:ext cx="11688717" cy="4620738"/>
        </p:xfrm>
        <a:graphic>
          <a:graphicData uri="http://schemas.openxmlformats.org/drawingml/2006/table">
            <a:tbl>
              <a:tblPr/>
              <a:tblGrid>
                <a:gridCol w="381001">
                  <a:extLst>
                    <a:ext uri="{9D8B030D-6E8A-4147-A177-3AD203B41FA5}">
                      <a16:colId xmlns:a16="http://schemas.microsoft.com/office/drawing/2014/main" val="3316182388"/>
                    </a:ext>
                  </a:extLst>
                </a:gridCol>
                <a:gridCol w="685800">
                  <a:extLst>
                    <a:ext uri="{9D8B030D-6E8A-4147-A177-3AD203B41FA5}">
                      <a16:colId xmlns:a16="http://schemas.microsoft.com/office/drawing/2014/main" val="4104333813"/>
                    </a:ext>
                  </a:extLst>
                </a:gridCol>
                <a:gridCol w="304800">
                  <a:extLst>
                    <a:ext uri="{9D8B030D-6E8A-4147-A177-3AD203B41FA5}">
                      <a16:colId xmlns:a16="http://schemas.microsoft.com/office/drawing/2014/main" val="2544045720"/>
                    </a:ext>
                  </a:extLst>
                </a:gridCol>
                <a:gridCol w="762000">
                  <a:extLst>
                    <a:ext uri="{9D8B030D-6E8A-4147-A177-3AD203B41FA5}">
                      <a16:colId xmlns:a16="http://schemas.microsoft.com/office/drawing/2014/main" val="3951547359"/>
                    </a:ext>
                  </a:extLst>
                </a:gridCol>
                <a:gridCol w="457200">
                  <a:extLst>
                    <a:ext uri="{9D8B030D-6E8A-4147-A177-3AD203B41FA5}">
                      <a16:colId xmlns:a16="http://schemas.microsoft.com/office/drawing/2014/main" val="379936116"/>
                    </a:ext>
                  </a:extLst>
                </a:gridCol>
                <a:gridCol w="685800">
                  <a:extLst>
                    <a:ext uri="{9D8B030D-6E8A-4147-A177-3AD203B41FA5}">
                      <a16:colId xmlns:a16="http://schemas.microsoft.com/office/drawing/2014/main" val="905265164"/>
                    </a:ext>
                  </a:extLst>
                </a:gridCol>
                <a:gridCol w="2165161">
                  <a:extLst>
                    <a:ext uri="{9D8B030D-6E8A-4147-A177-3AD203B41FA5}">
                      <a16:colId xmlns:a16="http://schemas.microsoft.com/office/drawing/2014/main" val="1766184023"/>
                    </a:ext>
                  </a:extLst>
                </a:gridCol>
                <a:gridCol w="2845015">
                  <a:extLst>
                    <a:ext uri="{9D8B030D-6E8A-4147-A177-3AD203B41FA5}">
                      <a16:colId xmlns:a16="http://schemas.microsoft.com/office/drawing/2014/main" val="3411328682"/>
                    </a:ext>
                  </a:extLst>
                </a:gridCol>
                <a:gridCol w="261688">
                  <a:extLst>
                    <a:ext uri="{9D8B030D-6E8A-4147-A177-3AD203B41FA5}">
                      <a16:colId xmlns:a16="http://schemas.microsoft.com/office/drawing/2014/main" val="3312070597"/>
                    </a:ext>
                  </a:extLst>
                </a:gridCol>
                <a:gridCol w="3140252">
                  <a:extLst>
                    <a:ext uri="{9D8B030D-6E8A-4147-A177-3AD203B41FA5}">
                      <a16:colId xmlns:a16="http://schemas.microsoft.com/office/drawing/2014/main" val="1807191619"/>
                    </a:ext>
                  </a:extLst>
                </a:gridCol>
              </a:tblGrid>
              <a:tr h="29521">
                <a:tc>
                  <a:txBody>
                    <a:bodyPr/>
                    <a:lstStyle/>
                    <a:p>
                      <a:pPr algn="ctr" fontAlgn="t"/>
                      <a:r>
                        <a:rPr lang="en-US" sz="500" b="0" i="0" u="none" strike="noStrike">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2164507">
                <a:tc>
                  <a:txBody>
                    <a:bodyPr/>
                    <a:lstStyle/>
                    <a:p>
                      <a:pPr algn="l" fontAlgn="ctr"/>
                      <a:r>
                        <a:rPr lang="en-US" sz="1100" b="0" i="0" u="none" strike="noStrike" dirty="0">
                          <a:solidFill>
                            <a:srgbClr val="000000"/>
                          </a:solidFill>
                          <a:effectLst/>
                          <a:latin typeface="Times New Roman" panose="02020603050405020304" pitchFamily="18" charset="0"/>
                        </a:rPr>
                        <a:t>A335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00" b="0" i="0" u="none" strike="noStrike">
                          <a:solidFill>
                            <a:srgbClr val="000000"/>
                          </a:solidFill>
                          <a:effectLst/>
                          <a:latin typeface="Times New Roman" panose="02020603050405020304" pitchFamily="18" charset="0"/>
                        </a:rPr>
                        <a:t>02/02/2025 00:20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30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VN342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SGN-NGO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DURING RE-FUEL ON LH WING . FUEL IS SPILL OVER FLOW PORT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DURING TRANSIT CHECK AND  RE-FUEL ON LH WING . FUEL IS SPILL OVER FLOW PORT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- 23:02: TÀU ĐÁP VÀO BÃI , MUỘN 12mins</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- 00:20: TRONG QUÁ TRÌNH NẠP DẦU , CRS BÁO DẦU BỊ TRÀN  VÀ , BÁO B1 LÊN KIỂM TRA</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- 00:30: CRS B1 ĐẾN TÀU THỰC HIỆN KIỂM TRA VÀ TEST HỆ THỐNG FUEL</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- 00:40: THỰC HIỆN NẠP LẠI DẦU ĐỂ KIỂM TRA. BÁO VỊ TRÍ NẠP TỐT, VALVE NẠP TỐT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- 00:50: BẮT ĐẦU BOARDING </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- 01:27: TÀU ĐÓNG CỬA VÀ ĐẨY</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FINAL ACTION: C/O OPS TEST RE-FUEL SYS , SATIS , A/C SERVICEABLE .</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DURING RE-FUEL ON LH WING . FUEL IS SPILL OVER FLOW PORT EVENT CLOSED</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FINAL ACTION: C/O OPS TEST RE-FUEL SYS , SATIS , A/C SERVICEABLE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28-00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rPr>
                        <a:t>Sau khi test hệ thống nạp dầu hoạt động bình thường. Tiếp tục theo dõi thêm.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96778"/>
                  </a:ext>
                </a:extLst>
              </a:tr>
              <a:tr h="1253323">
                <a:tc>
                  <a:txBody>
                    <a:bodyPr/>
                    <a:lstStyle/>
                    <a:p>
                      <a:pPr algn="l" fontAlgn="ctr"/>
                      <a:r>
                        <a:rPr lang="en-US" sz="1100" b="0" i="0" u="none" strike="noStrike" dirty="0">
                          <a:solidFill>
                            <a:srgbClr val="000000"/>
                          </a:solidFill>
                          <a:effectLst/>
                          <a:latin typeface="Times New Roman" panose="02020603050405020304" pitchFamily="18" charset="0"/>
                        </a:rPr>
                        <a:t>A329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08:30 01/02/2025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VN601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SGN-BKK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DURING BOARDING FOUND "IR1 FAULT"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&lt;p&gt;SWAP IR1 &amp;amp; 3 AND RAISED ADD FOR IR3 FAULT&lt;/p&gt; DURING BOARDING FOUND "IR1 FAULT" EVENT CLOSED &lt;p&gt;&lt;/p&gt;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 </a:t>
                      </a:r>
                      <a:r>
                        <a:rPr lang="vi-VN" sz="1100" b="0" i="0" u="none" strike="noStrike" dirty="0">
                          <a:solidFill>
                            <a:srgbClr val="000000"/>
                          </a:solidFill>
                          <a:effectLst/>
                          <a:latin typeface="+mn-lt"/>
                        </a:rPr>
                        <a:t>Hỏng hóc liên quan đến ADIRU PN HG2030BE03. Hỏng hóc được khắc phục sau khi thay part. Part có TSN/CSN: 31522:36/22006, được sử dụng từ t11/2011. Hiện không có vấn đề kỹ thuật ảnh hưởng đến độ tin cậy của part. Dựa trên báo cáo SFR, nguyên nhân hỏng hóc chủ yếu thường nằm ở các bộ phận Gyro, hỏng hóc này chủ yếu xảy ra ở các khối cao giờ (&gt;18,000 FC). Hỏng hóc này có thể do aging, chờ SFR, theo dõi thêm.</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5640721"/>
                  </a:ext>
                </a:extLst>
              </a:tr>
            </a:tbl>
          </a:graphicData>
        </a:graphic>
      </p:graphicFrame>
    </p:spTree>
    <p:extLst>
      <p:ext uri="{BB962C8B-B14F-4D97-AF65-F5344CB8AC3E}">
        <p14:creationId xmlns:p14="http://schemas.microsoft.com/office/powerpoint/2010/main" val="1733747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6BE038D0-1344-C9C5-5CEC-4B6617079FD5}"/>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F69C8234-F58C-B87C-5166-DF9B6EB790FD}"/>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17D0EAF-640F-1FF0-FD64-402B25A0349A}"/>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247CBB73-9D40-1728-10A1-BF00951681B0}"/>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47</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 (Tech: 13; Non-tech: 34)</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5F2F067E-F64E-7928-C86A-09B7F3615F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(Tech: 02; Non-tech: 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Delay: 47 (Tech: 13; Non-tech: 34)</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p>
        </p:txBody>
      </p:sp>
      <p:graphicFrame>
        <p:nvGraphicFramePr>
          <p:cNvPr id="5" name="Table 4">
            <a:extLst>
              <a:ext uri="{FF2B5EF4-FFF2-40B4-BE49-F238E27FC236}">
                <a16:creationId xmlns:a16="http://schemas.microsoft.com/office/drawing/2014/main" id="{2D3CCD49-770D-B17C-A3B8-9443DF906E2A}"/>
              </a:ext>
            </a:extLst>
          </p:cNvPr>
          <p:cNvGraphicFramePr>
            <a:graphicFrameLocks noGrp="1"/>
          </p:cNvGraphicFramePr>
          <p:nvPr>
            <p:extLst/>
          </p:nvPr>
        </p:nvGraphicFramePr>
        <p:xfrm>
          <a:off x="152399" y="1570678"/>
          <a:ext cx="11688717" cy="3991921"/>
        </p:xfrm>
        <a:graphic>
          <a:graphicData uri="http://schemas.openxmlformats.org/drawingml/2006/table">
            <a:tbl>
              <a:tblPr/>
              <a:tblGrid>
                <a:gridCol w="381001">
                  <a:extLst>
                    <a:ext uri="{9D8B030D-6E8A-4147-A177-3AD203B41FA5}">
                      <a16:colId xmlns:a16="http://schemas.microsoft.com/office/drawing/2014/main" val="3316182388"/>
                    </a:ext>
                  </a:extLst>
                </a:gridCol>
                <a:gridCol w="685800">
                  <a:extLst>
                    <a:ext uri="{9D8B030D-6E8A-4147-A177-3AD203B41FA5}">
                      <a16:colId xmlns:a16="http://schemas.microsoft.com/office/drawing/2014/main" val="4104333813"/>
                    </a:ext>
                  </a:extLst>
                </a:gridCol>
                <a:gridCol w="304800">
                  <a:extLst>
                    <a:ext uri="{9D8B030D-6E8A-4147-A177-3AD203B41FA5}">
                      <a16:colId xmlns:a16="http://schemas.microsoft.com/office/drawing/2014/main" val="2544045720"/>
                    </a:ext>
                  </a:extLst>
                </a:gridCol>
                <a:gridCol w="762000">
                  <a:extLst>
                    <a:ext uri="{9D8B030D-6E8A-4147-A177-3AD203B41FA5}">
                      <a16:colId xmlns:a16="http://schemas.microsoft.com/office/drawing/2014/main" val="3951547359"/>
                    </a:ext>
                  </a:extLst>
                </a:gridCol>
                <a:gridCol w="457200">
                  <a:extLst>
                    <a:ext uri="{9D8B030D-6E8A-4147-A177-3AD203B41FA5}">
                      <a16:colId xmlns:a16="http://schemas.microsoft.com/office/drawing/2014/main" val="379936116"/>
                    </a:ext>
                  </a:extLst>
                </a:gridCol>
                <a:gridCol w="685800">
                  <a:extLst>
                    <a:ext uri="{9D8B030D-6E8A-4147-A177-3AD203B41FA5}">
                      <a16:colId xmlns:a16="http://schemas.microsoft.com/office/drawing/2014/main" val="905265164"/>
                    </a:ext>
                  </a:extLst>
                </a:gridCol>
                <a:gridCol w="2165161">
                  <a:extLst>
                    <a:ext uri="{9D8B030D-6E8A-4147-A177-3AD203B41FA5}">
                      <a16:colId xmlns:a16="http://schemas.microsoft.com/office/drawing/2014/main" val="1766184023"/>
                    </a:ext>
                  </a:extLst>
                </a:gridCol>
                <a:gridCol w="2845015">
                  <a:extLst>
                    <a:ext uri="{9D8B030D-6E8A-4147-A177-3AD203B41FA5}">
                      <a16:colId xmlns:a16="http://schemas.microsoft.com/office/drawing/2014/main" val="3411328682"/>
                    </a:ext>
                  </a:extLst>
                </a:gridCol>
                <a:gridCol w="261688">
                  <a:extLst>
                    <a:ext uri="{9D8B030D-6E8A-4147-A177-3AD203B41FA5}">
                      <a16:colId xmlns:a16="http://schemas.microsoft.com/office/drawing/2014/main" val="3312070597"/>
                    </a:ext>
                  </a:extLst>
                </a:gridCol>
                <a:gridCol w="3140252">
                  <a:extLst>
                    <a:ext uri="{9D8B030D-6E8A-4147-A177-3AD203B41FA5}">
                      <a16:colId xmlns:a16="http://schemas.microsoft.com/office/drawing/2014/main" val="1807191619"/>
                    </a:ext>
                  </a:extLst>
                </a:gridCol>
              </a:tblGrid>
              <a:tr h="91436">
                <a:tc>
                  <a:txBody>
                    <a:bodyPr/>
                    <a:lstStyle/>
                    <a:p>
                      <a:pPr algn="ctr" fontAlgn="t"/>
                      <a:r>
                        <a:rPr lang="en-US" sz="500" b="0" i="0" u="none" strike="noStrike">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1086016">
                <a:tc>
                  <a:txBody>
                    <a:bodyPr/>
                    <a:lstStyle/>
                    <a:p>
                      <a:pPr algn="l" fontAlgn="ctr"/>
                      <a:r>
                        <a:rPr lang="en-US" sz="1100" b="0" i="0" u="none" strike="noStrike">
                          <a:solidFill>
                            <a:srgbClr val="000000"/>
                          </a:solidFill>
                          <a:effectLst/>
                          <a:latin typeface="Times New Roman" panose="02020603050405020304" pitchFamily="18" charset="0"/>
                        </a:rPr>
                        <a:t>A621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11:50 31/01/2025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DAD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VN7942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DAD-CXR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MSG: IDG1 OIL LO LVL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 REPLENISH OIL IDG AND RAISED ADD B575 EVENT CLOSED &lt;p&gt;&lt;/p&gt;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24-20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 </a:t>
                      </a:r>
                      <a:r>
                        <a:rPr lang="vi-VN" sz="1100" b="0" i="0" u="none" strike="noStrike" dirty="0">
                          <a:solidFill>
                            <a:srgbClr val="000000"/>
                          </a:solidFill>
                          <a:effectLst/>
                          <a:latin typeface="+mn-lt"/>
                        </a:rPr>
                        <a:t>Sau khi test hệ thống nạp dầu hoạt động bình thường. Tiếp tục theo dõi thêm.</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8216369"/>
                  </a:ext>
                </a:extLst>
              </a:tr>
              <a:tr h="1750248">
                <a:tc>
                  <a:txBody>
                    <a:bodyPr/>
                    <a:lstStyle/>
                    <a:p>
                      <a:pPr algn="l" fontAlgn="ctr"/>
                      <a:r>
                        <a:rPr lang="en-US" sz="1100" b="0" i="0" u="none" strike="noStrike" dirty="0">
                          <a:solidFill>
                            <a:srgbClr val="000000"/>
                          </a:solidFill>
                          <a:effectLst/>
                          <a:latin typeface="Times New Roman" panose="02020603050405020304" pitchFamily="18" charset="0"/>
                        </a:rPr>
                        <a:t>A395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10:00 31/01/2025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VN7052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SGN-DAD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T/X FOUND PA AT DOOR 1LH INOP &lt;p&gt;T/X FOUND PA AT DOOR 1LH INOP&lt;/p&gt;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&lt;p&gt;&amp;#160;&lt;/p&gt;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&lt;p&gt;&amp;#96;FINAL ACTION: &amp;#160;SWAP DEU B BTW DOOR 1 AND DOOR 4 AND RAISED ADD FOR DEU &amp;#160;B AT DOOR 4&lt;/p&gt; T/X FOUND PA AT DOOR 1LH INOP EVENT CLOSED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23-00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mn-lt"/>
                        </a:rPr>
                        <a:t>Hỏng hóc được xác định do lỗi của DEU B P/N Z043H000351A. Part DEU B này có vấn đề liên quan đến một số linh kiện ngừng sản xuất. Hiện AIB đã phát triển part mới DEU-B P/N Z043H0100110 thay thế part cũ. Part mới khắc phục được một số cảnh báo giả của part cũ và các cải tiến phần cứng. Part mới mix và fully interchange với part cũ (ref TR 23.73.00.112). Đã gửi thông tin cho QLVT yêu cầu làm việc với STEA để thay thế DEU-B bằng part mới trên.</a:t>
                      </a:r>
                      <a:r>
                        <a:rPr lang="en-US" sz="1100" b="0" i="0" u="none" strike="noStrike" dirty="0">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1241311"/>
                  </a:ext>
                </a:extLst>
              </a:tr>
              <a:tr h="1064221">
                <a:tc>
                  <a:txBody>
                    <a:bodyPr/>
                    <a:lstStyle/>
                    <a:p>
                      <a:pPr algn="l" fontAlgn="ctr"/>
                      <a:r>
                        <a:rPr lang="en-US" sz="1100" b="0" i="0" u="none" strike="noStrike" dirty="0">
                          <a:solidFill>
                            <a:srgbClr val="000000"/>
                          </a:solidFill>
                          <a:effectLst/>
                          <a:latin typeface="Times New Roman" panose="02020603050405020304" pitchFamily="18" charset="0"/>
                        </a:rPr>
                        <a:t>A602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00" b="0" i="0" u="none" strike="noStrike">
                          <a:solidFill>
                            <a:srgbClr val="000000"/>
                          </a:solidFill>
                          <a:effectLst/>
                          <a:latin typeface="Times New Roman" panose="02020603050405020304" pitchFamily="18" charset="0"/>
                        </a:rPr>
                        <a:t>30/01/2025 10:05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VN592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HAN-HKG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CAPT REPORT “F/CTL SPOILER FAULT”. &lt;p&gt;A602 VN1716/VN592 VII-HAN-HKG (TRANSIT): CAPT REPORT “F/CTL SPOILER FAULT”.&lt;/p&gt;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 EVENT CLOSED &lt;p&gt;ACTION: C/O DEACTIVATED SPOILER 1 AND RAISED ADD ‘SPOILER 1 INOP”. &lt;/p&gt;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err="1">
                          <a:solidFill>
                            <a:srgbClr val="000000"/>
                          </a:solidFill>
                          <a:effectLst/>
                          <a:latin typeface="Times New Roman" panose="02020603050405020304" pitchFamily="18" charset="0"/>
                        </a:rPr>
                        <a:t>Vaeco</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đang</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xin</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lịch</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dừng</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để</a:t>
                      </a:r>
                      <a:r>
                        <a:rPr lang="en-US" sz="1100" b="0" i="0" u="none" strike="noStrike" dirty="0">
                          <a:solidFill>
                            <a:srgbClr val="000000"/>
                          </a:solidFill>
                          <a:effectLst/>
                          <a:latin typeface="Times New Roman" panose="02020603050405020304" pitchFamily="18" charset="0"/>
                        </a:rPr>
                        <a:t> TS. </a:t>
                      </a:r>
                      <a:r>
                        <a:rPr lang="en-US" sz="1100" b="0" i="0" u="none" strike="noStrike" dirty="0" err="1">
                          <a:solidFill>
                            <a:srgbClr val="000000"/>
                          </a:solidFill>
                          <a:effectLst/>
                          <a:latin typeface="Times New Roman" panose="02020603050405020304" pitchFamily="18" charset="0"/>
                        </a:rPr>
                        <a:t>Tiếp</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tục</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theo</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dõi</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54498"/>
                  </a:ext>
                </a:extLst>
              </a:tr>
            </a:tbl>
          </a:graphicData>
        </a:graphic>
      </p:graphicFrame>
    </p:spTree>
    <p:extLst>
      <p:ext uri="{BB962C8B-B14F-4D97-AF65-F5344CB8AC3E}">
        <p14:creationId xmlns:p14="http://schemas.microsoft.com/office/powerpoint/2010/main" val="3937344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BACD2D2B-476F-21FF-2BCE-F2A5F274FDBD}"/>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923BBFC1-F410-D515-52DF-762B41200206}"/>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9C4A3D14-6272-B5DD-234D-D02F3F1491E1}"/>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A55BCAD1-83ED-DF39-1ECB-2F12FD5C5903}"/>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47</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 (Tech: 13; Non-tech: 34)</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F437B598-4EC4-22D8-CCCB-FB50321DCD9D}"/>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(Tech: 02; Non-tech: 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Delay: 47 (Tech: 13; Non-tech: 34)</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p>
        </p:txBody>
      </p:sp>
      <p:graphicFrame>
        <p:nvGraphicFramePr>
          <p:cNvPr id="5" name="Table 4">
            <a:extLst>
              <a:ext uri="{FF2B5EF4-FFF2-40B4-BE49-F238E27FC236}">
                <a16:creationId xmlns:a16="http://schemas.microsoft.com/office/drawing/2014/main" id="{7763242E-3126-D646-7D83-92E7C460373E}"/>
              </a:ext>
            </a:extLst>
          </p:cNvPr>
          <p:cNvGraphicFramePr>
            <a:graphicFrameLocks noGrp="1"/>
          </p:cNvGraphicFramePr>
          <p:nvPr>
            <p:extLst/>
          </p:nvPr>
        </p:nvGraphicFramePr>
        <p:xfrm>
          <a:off x="152399" y="1570679"/>
          <a:ext cx="11688717" cy="4830120"/>
        </p:xfrm>
        <a:graphic>
          <a:graphicData uri="http://schemas.openxmlformats.org/drawingml/2006/table">
            <a:tbl>
              <a:tblPr/>
              <a:tblGrid>
                <a:gridCol w="381001">
                  <a:extLst>
                    <a:ext uri="{9D8B030D-6E8A-4147-A177-3AD203B41FA5}">
                      <a16:colId xmlns:a16="http://schemas.microsoft.com/office/drawing/2014/main" val="3316182388"/>
                    </a:ext>
                  </a:extLst>
                </a:gridCol>
                <a:gridCol w="685800">
                  <a:extLst>
                    <a:ext uri="{9D8B030D-6E8A-4147-A177-3AD203B41FA5}">
                      <a16:colId xmlns:a16="http://schemas.microsoft.com/office/drawing/2014/main" val="4104333813"/>
                    </a:ext>
                  </a:extLst>
                </a:gridCol>
                <a:gridCol w="304800">
                  <a:extLst>
                    <a:ext uri="{9D8B030D-6E8A-4147-A177-3AD203B41FA5}">
                      <a16:colId xmlns:a16="http://schemas.microsoft.com/office/drawing/2014/main" val="2544045720"/>
                    </a:ext>
                  </a:extLst>
                </a:gridCol>
                <a:gridCol w="762000">
                  <a:extLst>
                    <a:ext uri="{9D8B030D-6E8A-4147-A177-3AD203B41FA5}">
                      <a16:colId xmlns:a16="http://schemas.microsoft.com/office/drawing/2014/main" val="3951547359"/>
                    </a:ext>
                  </a:extLst>
                </a:gridCol>
                <a:gridCol w="457200">
                  <a:extLst>
                    <a:ext uri="{9D8B030D-6E8A-4147-A177-3AD203B41FA5}">
                      <a16:colId xmlns:a16="http://schemas.microsoft.com/office/drawing/2014/main" val="379936116"/>
                    </a:ext>
                  </a:extLst>
                </a:gridCol>
                <a:gridCol w="685800">
                  <a:extLst>
                    <a:ext uri="{9D8B030D-6E8A-4147-A177-3AD203B41FA5}">
                      <a16:colId xmlns:a16="http://schemas.microsoft.com/office/drawing/2014/main" val="905265164"/>
                    </a:ext>
                  </a:extLst>
                </a:gridCol>
                <a:gridCol w="2165161">
                  <a:extLst>
                    <a:ext uri="{9D8B030D-6E8A-4147-A177-3AD203B41FA5}">
                      <a16:colId xmlns:a16="http://schemas.microsoft.com/office/drawing/2014/main" val="1766184023"/>
                    </a:ext>
                  </a:extLst>
                </a:gridCol>
                <a:gridCol w="2845015">
                  <a:extLst>
                    <a:ext uri="{9D8B030D-6E8A-4147-A177-3AD203B41FA5}">
                      <a16:colId xmlns:a16="http://schemas.microsoft.com/office/drawing/2014/main" val="3411328682"/>
                    </a:ext>
                  </a:extLst>
                </a:gridCol>
                <a:gridCol w="261688">
                  <a:extLst>
                    <a:ext uri="{9D8B030D-6E8A-4147-A177-3AD203B41FA5}">
                      <a16:colId xmlns:a16="http://schemas.microsoft.com/office/drawing/2014/main" val="3312070597"/>
                    </a:ext>
                  </a:extLst>
                </a:gridCol>
                <a:gridCol w="3140252">
                  <a:extLst>
                    <a:ext uri="{9D8B030D-6E8A-4147-A177-3AD203B41FA5}">
                      <a16:colId xmlns:a16="http://schemas.microsoft.com/office/drawing/2014/main" val="1807191619"/>
                    </a:ext>
                  </a:extLst>
                </a:gridCol>
              </a:tblGrid>
              <a:tr h="97257">
                <a:tc>
                  <a:txBody>
                    <a:bodyPr/>
                    <a:lstStyle/>
                    <a:p>
                      <a:pPr algn="ctr" fontAlgn="t"/>
                      <a:r>
                        <a:rPr lang="en-US" sz="500" b="0" i="0" u="none" strike="noStrike">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2704627">
                <a:tc>
                  <a:txBody>
                    <a:bodyPr/>
                    <a:lstStyle/>
                    <a:p>
                      <a:pPr algn="l" fontAlgn="ctr"/>
                      <a:r>
                        <a:rPr lang="en-US" sz="1100" b="0" i="0" u="none" strike="noStrike" dirty="0">
                          <a:solidFill>
                            <a:srgbClr val="000000"/>
                          </a:solidFill>
                          <a:effectLst/>
                          <a:latin typeface="Times New Roman" panose="02020603050405020304" pitchFamily="18" charset="0"/>
                        </a:rPr>
                        <a:t>A325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20:18 27/01/2025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VII</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40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VN1718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VII-HAN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DURING BOARDING HAVE MESSAGE “AEVC SYS FAULT”. &lt;p&gt;A325 VN1717/VN1718 HAN-VII-HAN (TRANSIT): DURING BOARDING HAVE MESSAGE “AEVC SYS FAULT”.&lt;/p&gt;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 EVENT CLOSED &lt;p&gt;ACTION: C/O CHECK FOUND SKIN AIR OUTLET 22HQ FAULT. C/O RAISED ADD B1810 AVIONIC SKIN AIR OUTLET VALVE FAULT. C/O MAINTENACE DEACTIVE VALVE AND TEST AVIONIC SYS -&gt; SATIS.&lt;/p&gt;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mn-lt"/>
                        </a:rPr>
                        <a:t>Khối Skin air outlet valve trên A325 là một trong các khối được VSTEA OVH từ 7/2023, hiện đã khai thác được khoảng hơn 4k FH. Khối này cũng là một trong những khối VSTEA làm không đúng theo CMM, chỉ thay một số part có findings mà ko thay cả kit nhưng vẫn release chứng chỉ OVH. Hiện VSTEA đã gửi CV hứa sẽ rà soát lại tất cả các khối đã làm tại VSTEA và xin bảo hành bằng việc thay thế lại cho những khối làm lỗi tuy nhiên lại không đưa ra thời hạn cụ thể. Ban KT đã gửi danh sách các khối hiện đang lắp trên tàu và đã thực hiện OVH tại VSTEA cho ban SQD và yêu cầu làm việc lại với VSTEA đưa ra phương án tổng thể về thời gian thực hiện và đền bù cả thời gian dừng tàu và MH tháo lắp cho các khối thực hiện sai.</a:t>
                      </a:r>
                      <a:r>
                        <a:rPr lang="en-US" sz="1100" b="0" i="0" u="none" strike="noStrike" dirty="0">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8216369"/>
                  </a:ext>
                </a:extLst>
              </a:tr>
              <a:tr h="626796">
                <a:tc>
                  <a:txBody>
                    <a:bodyPr/>
                    <a:lstStyle/>
                    <a:p>
                      <a:pPr algn="l" fontAlgn="ctr"/>
                      <a:r>
                        <a:rPr lang="en-US" sz="1100" b="0" i="0" u="none" strike="noStrike" dirty="0">
                          <a:solidFill>
                            <a:srgbClr val="000000"/>
                          </a:solidFill>
                          <a:effectLst/>
                          <a:latin typeface="Times New Roman" panose="02020603050405020304" pitchFamily="18" charset="0"/>
                        </a:rPr>
                        <a:t>A515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10:00 27/01/2025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BMV</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35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VN1602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BMV-HAN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T/X FOUND A/C HAD LOAD REPORT 15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&lt;p&gt;C/O CHECK REPORT FOUND SATIS. A/C SERVICEABLE.&lt;/p&gt; T/X FOUND HAD LOAD REPORT 15 EVENT CLOSED &lt;p&gt;&lt;/p&gt;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05-51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 </a:t>
                      </a:r>
                      <a:r>
                        <a:rPr lang="vi-VN" sz="1100" b="0" i="0" u="none" strike="noStrike" dirty="0">
                          <a:solidFill>
                            <a:srgbClr val="000000"/>
                          </a:solidFill>
                          <a:effectLst/>
                          <a:latin typeface="+mn-lt"/>
                        </a:rPr>
                        <a:t>Báo giả. Sau khi kiểm tra theo hướng dẫn của AIB thì không có thông số nào vượt limit, tàu khai thác bình thường.</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1241311"/>
                  </a:ext>
                </a:extLst>
              </a:tr>
              <a:tr h="1401440">
                <a:tc>
                  <a:txBody>
                    <a:bodyPr/>
                    <a:lstStyle/>
                    <a:p>
                      <a:pPr algn="l" fontAlgn="ctr"/>
                      <a:r>
                        <a:rPr lang="en-US" sz="1100" b="0" i="0" u="none" strike="noStrike" dirty="0">
                          <a:solidFill>
                            <a:srgbClr val="000000"/>
                          </a:solidFill>
                          <a:effectLst/>
                          <a:latin typeface="Times New Roman" panose="02020603050405020304" pitchFamily="18" charset="0"/>
                        </a:rPr>
                        <a:t>A358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00" b="0" i="0" u="none" strike="noStrike">
                          <a:solidFill>
                            <a:srgbClr val="000000"/>
                          </a:solidFill>
                          <a:effectLst/>
                          <a:latin typeface="Times New Roman" panose="02020603050405020304" pitchFamily="18" charset="0"/>
                        </a:rPr>
                        <a:t>27/01/2025 07:20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23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VN513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MCDU 1 INOP &lt;p&gt;During eng run up before depart, Capt report MCDU 1 INOP, reset nil help, A/C return to gate.&lt;/p&gt;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 EVENT CLOSED &lt;p&gt;Raised ADD for MCDU 1 INOP, additional refuel 2 tons.&lt;/p&gt;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22-82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rPr>
                        <a:t>Hỏng hóc liên quan đến MCDU PN C19266AA01. Hỏng hóc được khắc phục sau khi thay part. Part hiện không có ISI, TFU liên quan đến ĐTC. Theo thống kê ĐTC: Tỉ lệ tháo ngoài kế hoạch các năm gần đây ít (2023: 2 lần, 2024: 3 lần). Theo SFR, các hỏng hóc thường gặp liên quan đến nút bấm và đèn hiển thị. Part hỏng được lắp lên tàu bay vào T2/2016, có TSN/CSN là 36392/25004. Theo dõi thêm.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1140701"/>
                  </a:ext>
                </a:extLst>
              </a:tr>
            </a:tbl>
          </a:graphicData>
        </a:graphic>
      </p:graphicFrame>
    </p:spTree>
    <p:extLst>
      <p:ext uri="{BB962C8B-B14F-4D97-AF65-F5344CB8AC3E}">
        <p14:creationId xmlns:p14="http://schemas.microsoft.com/office/powerpoint/2010/main" val="2674475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2A6C0C19-0DD3-02DB-776B-A5E2072D251E}"/>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81238444-893A-87E3-88A0-0C5F8CB49D81}"/>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1A106DF-6FED-05FF-2273-E9BA34E4E862}"/>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87FF5507-933E-44AD-72A4-C8849DA69291}"/>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47</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 (Tech: 13; Non-tech: 34)</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C72B956E-1956-CEE5-501C-65DB202D4BD0}"/>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(Tech: 02; Non-tech: 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Delay: 47 (Tech: 13; Non-tech: 34)</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p>
        </p:txBody>
      </p:sp>
      <p:graphicFrame>
        <p:nvGraphicFramePr>
          <p:cNvPr id="5" name="Table 4">
            <a:extLst>
              <a:ext uri="{FF2B5EF4-FFF2-40B4-BE49-F238E27FC236}">
                <a16:creationId xmlns:a16="http://schemas.microsoft.com/office/drawing/2014/main" id="{F3F141E7-07CE-5EE9-0ADC-E0980B002570}"/>
              </a:ext>
            </a:extLst>
          </p:cNvPr>
          <p:cNvGraphicFramePr>
            <a:graphicFrameLocks noGrp="1"/>
          </p:cNvGraphicFramePr>
          <p:nvPr>
            <p:extLst/>
          </p:nvPr>
        </p:nvGraphicFramePr>
        <p:xfrm>
          <a:off x="152399" y="1570679"/>
          <a:ext cx="11688717" cy="3540693"/>
        </p:xfrm>
        <a:graphic>
          <a:graphicData uri="http://schemas.openxmlformats.org/drawingml/2006/table">
            <a:tbl>
              <a:tblPr/>
              <a:tblGrid>
                <a:gridCol w="381001">
                  <a:extLst>
                    <a:ext uri="{9D8B030D-6E8A-4147-A177-3AD203B41FA5}">
                      <a16:colId xmlns:a16="http://schemas.microsoft.com/office/drawing/2014/main" val="3316182388"/>
                    </a:ext>
                  </a:extLst>
                </a:gridCol>
                <a:gridCol w="685800">
                  <a:extLst>
                    <a:ext uri="{9D8B030D-6E8A-4147-A177-3AD203B41FA5}">
                      <a16:colId xmlns:a16="http://schemas.microsoft.com/office/drawing/2014/main" val="4104333813"/>
                    </a:ext>
                  </a:extLst>
                </a:gridCol>
                <a:gridCol w="304800">
                  <a:extLst>
                    <a:ext uri="{9D8B030D-6E8A-4147-A177-3AD203B41FA5}">
                      <a16:colId xmlns:a16="http://schemas.microsoft.com/office/drawing/2014/main" val="2544045720"/>
                    </a:ext>
                  </a:extLst>
                </a:gridCol>
                <a:gridCol w="533400">
                  <a:extLst>
                    <a:ext uri="{9D8B030D-6E8A-4147-A177-3AD203B41FA5}">
                      <a16:colId xmlns:a16="http://schemas.microsoft.com/office/drawing/2014/main" val="3951547359"/>
                    </a:ext>
                  </a:extLst>
                </a:gridCol>
                <a:gridCol w="685800">
                  <a:extLst>
                    <a:ext uri="{9D8B030D-6E8A-4147-A177-3AD203B41FA5}">
                      <a16:colId xmlns:a16="http://schemas.microsoft.com/office/drawing/2014/main" val="379936116"/>
                    </a:ext>
                  </a:extLst>
                </a:gridCol>
                <a:gridCol w="685800">
                  <a:extLst>
                    <a:ext uri="{9D8B030D-6E8A-4147-A177-3AD203B41FA5}">
                      <a16:colId xmlns:a16="http://schemas.microsoft.com/office/drawing/2014/main" val="905265164"/>
                    </a:ext>
                  </a:extLst>
                </a:gridCol>
                <a:gridCol w="2165161">
                  <a:extLst>
                    <a:ext uri="{9D8B030D-6E8A-4147-A177-3AD203B41FA5}">
                      <a16:colId xmlns:a16="http://schemas.microsoft.com/office/drawing/2014/main" val="1766184023"/>
                    </a:ext>
                  </a:extLst>
                </a:gridCol>
                <a:gridCol w="3016439">
                  <a:extLst>
                    <a:ext uri="{9D8B030D-6E8A-4147-A177-3AD203B41FA5}">
                      <a16:colId xmlns:a16="http://schemas.microsoft.com/office/drawing/2014/main" val="3411328682"/>
                    </a:ext>
                  </a:extLst>
                </a:gridCol>
                <a:gridCol w="228600">
                  <a:extLst>
                    <a:ext uri="{9D8B030D-6E8A-4147-A177-3AD203B41FA5}">
                      <a16:colId xmlns:a16="http://schemas.microsoft.com/office/drawing/2014/main" val="3312070597"/>
                    </a:ext>
                  </a:extLst>
                </a:gridCol>
                <a:gridCol w="3001916">
                  <a:extLst>
                    <a:ext uri="{9D8B030D-6E8A-4147-A177-3AD203B41FA5}">
                      <a16:colId xmlns:a16="http://schemas.microsoft.com/office/drawing/2014/main" val="1807191619"/>
                    </a:ext>
                  </a:extLst>
                </a:gridCol>
              </a:tblGrid>
              <a:tr h="29521">
                <a:tc>
                  <a:txBody>
                    <a:bodyPr/>
                    <a:lstStyle/>
                    <a:p>
                      <a:pPr algn="ctr" fontAlgn="t"/>
                      <a:r>
                        <a:rPr lang="en-US" sz="500" b="0" i="0" u="none" strike="noStrike">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1398103">
                <a:tc>
                  <a:txBody>
                    <a:bodyPr/>
                    <a:lstStyle/>
                    <a:p>
                      <a:pPr algn="l" fontAlgn="ctr"/>
                      <a:r>
                        <a:rPr lang="en-US" sz="1100" b="0" i="0" u="none" strike="noStrike" dirty="0">
                          <a:solidFill>
                            <a:srgbClr val="000000"/>
                          </a:solidFill>
                          <a:effectLst/>
                          <a:latin typeface="Times New Roman" panose="02020603050405020304" pitchFamily="18" charset="0"/>
                        </a:rPr>
                        <a:t>A358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15:31 26/01/2025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PEK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660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VN513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PEK-HAN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LEAK AT FLEX HYD HOSE L/H MLG DOOR ACT &lt;p&gt;FOUND LEAK AT FLEXIBLE HYDRAULIC HOSES OF L/H MLG DOOR ACTUATOR&lt;/p&gt;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&lt;p&gt;WAITING SPARE HOSE P/N: AE2463921G0097&lt;/p&gt; ACT: EVENT CLOSED &lt;p&gt;CRS OF AMECO C/O RPL L/H MLG DOOR ACTUATOR FLEXIBLE HOSE, LEAK CHL SATIS&lt;/p&gt;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22-82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 </a:t>
                      </a:r>
                      <a:r>
                        <a:rPr lang="vi-VN" sz="1100" b="0" i="0" u="none" strike="noStrike" dirty="0">
                          <a:solidFill>
                            <a:srgbClr val="000000"/>
                          </a:solidFill>
                          <a:effectLst/>
                          <a:latin typeface="+mn-lt"/>
                        </a:rPr>
                        <a:t>Các tàu A35x là tàu pre mod sử dụng ống AE2463921G0097. Loại ống này đã được nhận diện là sẽ tiềm ẩn hỏng hóc sau khoảng 6000FC, và AIB cũng đã khuyến cáo là nên thay trước thời điểm này. Hiện các tàu của TCT đang được áp dụng tần suất thay là 6000FC hoặc 4 năm. Ống trên A358 đã thay vào 03/2021. Hạn tiếp theo vào khoảng 5/2025. Chi phí thay ống cũ khoảng 100-200 usd/ 1 ống. Các tàu 39x trở lên của TCT thì đã làm SB từ delivery sử dụng ống post mod. chi phí làm SB cho tàu pre-mod khoảng 8-10k tàu. Do chi phí chênh lệch lớn nên đánh giá việc thay ống cũ cho tàu pre-mod theo tần suất sẽ tiết kiệm hơn.</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5640721"/>
                  </a:ext>
                </a:extLst>
              </a:tr>
              <a:tr h="1274535">
                <a:tc>
                  <a:txBody>
                    <a:bodyPr/>
                    <a:lstStyle/>
                    <a:p>
                      <a:pPr algn="l" fontAlgn="ctr"/>
                      <a:r>
                        <a:rPr lang="en-US" sz="1100" b="0" i="0" u="none" strike="noStrike" dirty="0">
                          <a:solidFill>
                            <a:srgbClr val="000000"/>
                          </a:solidFill>
                          <a:effectLst/>
                          <a:latin typeface="Times New Roman" panose="02020603050405020304" pitchFamily="18" charset="0"/>
                        </a:rPr>
                        <a:t>A397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05:30 26/01/2025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DAD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45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VN7112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DAD-SGN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FWC #1 FAULT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&lt;p&gt;C/O RESET BUT NIL HELP . REF WO VN 6974913 SWAP FWC #1 AND FWC #2 I.A.W AMM 31-53-34-000(400)-004A, FOUND FWC #1 WORKING NOMRAL . ADD B1462 &amp;#34; FWC #2 INOP &amp;#34; IS RAISED&lt;/p&gt; SWAP FWC #1 AND FWC #2 EVENT CLOSED &lt;p&gt;&lt;/p&gt;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30-00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mn-lt"/>
                        </a:rPr>
                        <a:t>Hỏng hóc liên quan đến FWC PN 350E053022020. Hỏng hóc đã được khắc phục sau khi thay part. </a:t>
                      </a:r>
                    </a:p>
                    <a:p>
                      <a:pPr algn="l" fontAlgn="ctr"/>
                      <a:r>
                        <a:rPr lang="vi-VN" sz="1100" b="0" i="0" u="none" strike="noStrike" dirty="0">
                          <a:solidFill>
                            <a:srgbClr val="000000"/>
                          </a:solidFill>
                          <a:effectLst/>
                          <a:latin typeface="+mn-lt"/>
                        </a:rPr>
                        <a:t>Các hỏng hóc trước đây của khối chủ yếu do gián đoạn dữ liệu từ máy tính và được khắc phục sau khi reset. Part này có MTBUR/GMTBUR: 12348/6000 FH. Không có TFU liên quan đến ĐTC của part trên. Theo dõi thêm.</a:t>
                      </a:r>
                      <a:r>
                        <a:rPr lang="en-US" sz="1100" b="0" i="0" u="none" strike="noStrike" dirty="0">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8216369"/>
                  </a:ext>
                </a:extLst>
              </a:tr>
            </a:tbl>
          </a:graphicData>
        </a:graphic>
      </p:graphicFrame>
    </p:spTree>
    <p:extLst>
      <p:ext uri="{BB962C8B-B14F-4D97-AF65-F5344CB8AC3E}">
        <p14:creationId xmlns:p14="http://schemas.microsoft.com/office/powerpoint/2010/main" val="3182896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FA06DA8-EF46-0A66-06C7-6F0DE1FEDC1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2E89C432-6C68-FC01-BE0B-941D0B728DDC}"/>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550B38A5-4236-F2F2-54EB-40EFF77F230F}"/>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D68FF550-F103-EE6A-A821-A6F977FA6239}"/>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47</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 (Tech: 13; Non-tech: 34)</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A25C2707-C7AF-1EDE-9589-FD938044B295}"/>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(Tech: 02; Non-tech: 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Delay: 47 (Tech: 13; Non-tech: 34)</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p>
        </p:txBody>
      </p:sp>
      <p:graphicFrame>
        <p:nvGraphicFramePr>
          <p:cNvPr id="5" name="Table 4">
            <a:extLst>
              <a:ext uri="{FF2B5EF4-FFF2-40B4-BE49-F238E27FC236}">
                <a16:creationId xmlns:a16="http://schemas.microsoft.com/office/drawing/2014/main" id="{D606D63D-AD9A-1B2B-858B-25FC90AFFBA1}"/>
              </a:ext>
            </a:extLst>
          </p:cNvPr>
          <p:cNvGraphicFramePr>
            <a:graphicFrameLocks noGrp="1"/>
          </p:cNvGraphicFramePr>
          <p:nvPr>
            <p:extLst/>
          </p:nvPr>
        </p:nvGraphicFramePr>
        <p:xfrm>
          <a:off x="152399" y="1570679"/>
          <a:ext cx="11688717" cy="4677721"/>
        </p:xfrm>
        <a:graphic>
          <a:graphicData uri="http://schemas.openxmlformats.org/drawingml/2006/table">
            <a:tbl>
              <a:tblPr/>
              <a:tblGrid>
                <a:gridCol w="381001">
                  <a:extLst>
                    <a:ext uri="{9D8B030D-6E8A-4147-A177-3AD203B41FA5}">
                      <a16:colId xmlns:a16="http://schemas.microsoft.com/office/drawing/2014/main" val="3316182388"/>
                    </a:ext>
                  </a:extLst>
                </a:gridCol>
                <a:gridCol w="685800">
                  <a:extLst>
                    <a:ext uri="{9D8B030D-6E8A-4147-A177-3AD203B41FA5}">
                      <a16:colId xmlns:a16="http://schemas.microsoft.com/office/drawing/2014/main" val="4104333813"/>
                    </a:ext>
                  </a:extLst>
                </a:gridCol>
                <a:gridCol w="304800">
                  <a:extLst>
                    <a:ext uri="{9D8B030D-6E8A-4147-A177-3AD203B41FA5}">
                      <a16:colId xmlns:a16="http://schemas.microsoft.com/office/drawing/2014/main" val="2544045720"/>
                    </a:ext>
                  </a:extLst>
                </a:gridCol>
                <a:gridCol w="533400">
                  <a:extLst>
                    <a:ext uri="{9D8B030D-6E8A-4147-A177-3AD203B41FA5}">
                      <a16:colId xmlns:a16="http://schemas.microsoft.com/office/drawing/2014/main" val="3951547359"/>
                    </a:ext>
                  </a:extLst>
                </a:gridCol>
                <a:gridCol w="685800">
                  <a:extLst>
                    <a:ext uri="{9D8B030D-6E8A-4147-A177-3AD203B41FA5}">
                      <a16:colId xmlns:a16="http://schemas.microsoft.com/office/drawing/2014/main" val="379936116"/>
                    </a:ext>
                  </a:extLst>
                </a:gridCol>
                <a:gridCol w="685800">
                  <a:extLst>
                    <a:ext uri="{9D8B030D-6E8A-4147-A177-3AD203B41FA5}">
                      <a16:colId xmlns:a16="http://schemas.microsoft.com/office/drawing/2014/main" val="905265164"/>
                    </a:ext>
                  </a:extLst>
                </a:gridCol>
                <a:gridCol w="2165161">
                  <a:extLst>
                    <a:ext uri="{9D8B030D-6E8A-4147-A177-3AD203B41FA5}">
                      <a16:colId xmlns:a16="http://schemas.microsoft.com/office/drawing/2014/main" val="1766184023"/>
                    </a:ext>
                  </a:extLst>
                </a:gridCol>
                <a:gridCol w="3016439">
                  <a:extLst>
                    <a:ext uri="{9D8B030D-6E8A-4147-A177-3AD203B41FA5}">
                      <a16:colId xmlns:a16="http://schemas.microsoft.com/office/drawing/2014/main" val="3411328682"/>
                    </a:ext>
                  </a:extLst>
                </a:gridCol>
                <a:gridCol w="228600">
                  <a:extLst>
                    <a:ext uri="{9D8B030D-6E8A-4147-A177-3AD203B41FA5}">
                      <a16:colId xmlns:a16="http://schemas.microsoft.com/office/drawing/2014/main" val="3312070597"/>
                    </a:ext>
                  </a:extLst>
                </a:gridCol>
                <a:gridCol w="3001916">
                  <a:extLst>
                    <a:ext uri="{9D8B030D-6E8A-4147-A177-3AD203B41FA5}">
                      <a16:colId xmlns:a16="http://schemas.microsoft.com/office/drawing/2014/main" val="1807191619"/>
                    </a:ext>
                  </a:extLst>
                </a:gridCol>
              </a:tblGrid>
              <a:tr h="29521">
                <a:tc>
                  <a:txBody>
                    <a:bodyPr/>
                    <a:lstStyle/>
                    <a:p>
                      <a:pPr algn="ctr" fontAlgn="t"/>
                      <a:r>
                        <a:rPr lang="en-US" sz="500" b="0" i="0" u="none" strike="noStrike">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1398103">
                <a:tc>
                  <a:txBody>
                    <a:bodyPr/>
                    <a:lstStyle/>
                    <a:p>
                      <a:pPr algn="l" fontAlgn="ctr"/>
                      <a:r>
                        <a:rPr lang="en-US" sz="1100" b="0" i="0" u="none" strike="noStrike" dirty="0">
                          <a:solidFill>
                            <a:srgbClr val="000000"/>
                          </a:solidFill>
                          <a:effectLst/>
                          <a:latin typeface="Times New Roman" panose="02020603050405020304" pitchFamily="18" charset="0"/>
                        </a:rPr>
                        <a:t>A606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10:41 25/01/2025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30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HAN-UIH</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CRACK &amp; MISSING RIVETS AT BLISTER FAIRING AT RH TR ENG 1 &lt;p&gt;VN1640-1623 VCL-HAN-UIH (10:34-11:30) T/X CHECK FOUND CRACK AND MISSING SOME RIVET AT BLISTER FAIRING AT RH TR ENG 1&lt;/p&gt;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&lt;p&gt;C/O REPLACE ENG 1 RH TR SLEEVE ASSY REF AMM 78-32-76-04 CONF 13 REV85&lt;br /&gt;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DO AN OPERATIONAL TEST OF THE THRUST REVERSER SYSTEM REF. AMM TASK 78-31-00-710-041&amp;#61;&amp;gt;FOUND SATIS&lt;/p&gt; CRACK &amp; MISSING RIVETS AT BLISTER FAIRING AT RH TR ENG 1 EVENT CLOSED &lt;p&gt;&lt;/p&gt;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78-32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mn-lt"/>
                        </a:rPr>
                        <a:t>- Khối thổi ngược này là gốc từ tàu bay A606.</a:t>
                      </a:r>
                    </a:p>
                    <a:p>
                      <a:pPr algn="l" fontAlgn="ctr"/>
                      <a:r>
                        <a:rPr lang="vi-VN" sz="1100" b="0" i="0" u="none" strike="noStrike" dirty="0">
                          <a:solidFill>
                            <a:srgbClr val="000000"/>
                          </a:solidFill>
                          <a:effectLst/>
                          <a:latin typeface="+mn-lt"/>
                        </a:rPr>
                        <a:t>- Hỏng hóc rivet bị missing ở Blister panel gặp nhiều trên đội tàu bay A321, nguyên nhân do rivet bị loosen sau một thời gian khai thác, nếu bị missing nhiều không phát hiện sớm có thể gây crack panel do khí động khi bay ở tốc độ cao.</a:t>
                      </a:r>
                    </a:p>
                    <a:p>
                      <a:pPr algn="l" fontAlgn="ctr"/>
                      <a:r>
                        <a:rPr lang="vi-VN" sz="1100" b="0" i="0" u="none" strike="noStrike" dirty="0">
                          <a:solidFill>
                            <a:srgbClr val="000000"/>
                          </a:solidFill>
                          <a:effectLst/>
                          <a:latin typeface="+mn-lt"/>
                        </a:rPr>
                        <a:t>Hỏng hóc thường được phát hiện trong check, để phòng tránh gián đoạn khai thác, KTMB đã ban hành EO-2017-3173 để kiểm tra thổi ngược ở tần suất 1Year. </a:t>
                      </a:r>
                    </a:p>
                    <a:p>
                      <a:pPr algn="l" fontAlgn="ctr"/>
                      <a:r>
                        <a:rPr lang="vi-VN" sz="1100" b="0" i="0" u="none" strike="noStrike" dirty="0">
                          <a:solidFill>
                            <a:srgbClr val="000000"/>
                          </a:solidFill>
                          <a:effectLst/>
                          <a:latin typeface="+mn-lt"/>
                        </a:rPr>
                        <a:t>A606 được kiểm tra lần gần nhất vào 09/Jun/2024, và có findings 01 rivet bị loosen ở RH TR, ENG1.</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5640721"/>
                  </a:ext>
                </a:extLst>
              </a:tr>
              <a:tr h="1398103">
                <a:tc>
                  <a:txBody>
                    <a:bodyPr/>
                    <a:lstStyle/>
                    <a:p>
                      <a:pPr algn="l" fontAlgn="ctr"/>
                      <a:r>
                        <a:rPr lang="en-US" sz="1100" b="0" i="0" u="none" strike="noStrike">
                          <a:solidFill>
                            <a:srgbClr val="000000"/>
                          </a:solidFill>
                          <a:effectLst/>
                          <a:latin typeface="Times New Roman" panose="02020603050405020304" pitchFamily="18" charset="0"/>
                        </a:rPr>
                        <a:t>A356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10:00 24/01/2025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VN502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SGN-CAN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DURING BOARDING APU AUTO SHUTDOWN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&lt;p&gt;ADD APU INOP RAISED&lt;/p&gt; DURING BOARDING APU AUTO SHUTDOWN EVENT CLOSED &lt;p&gt;&lt;/p&gt;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49-00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mn-lt"/>
                        </a:rPr>
                        <a:t>APU tàu A356 SN P-5198 có TSN/CSN = 26617/22863, TSLSV/CSLSV = 4127/3409, là APU thấp giờ. APU phát sinh hỏng hóc Auto Shutdown ngày 24/01, đã được clear vào ngày 30/01 sau khi thay Oil Temperature Sensor. Tiếp tục theo dõi.</a:t>
                      </a:r>
                      <a:r>
                        <a:rPr lang="en-US" sz="1100" b="0" i="0" u="none" strike="noStrike" dirty="0">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93390305"/>
                  </a:ext>
                </a:extLst>
              </a:tr>
              <a:tr h="1181100">
                <a:tc>
                  <a:txBody>
                    <a:bodyPr/>
                    <a:lstStyle/>
                    <a:p>
                      <a:pPr algn="l" fontAlgn="ctr"/>
                      <a:r>
                        <a:rPr lang="en-US" sz="1100" b="0" i="0" u="none" strike="noStrike">
                          <a:solidFill>
                            <a:srgbClr val="000000"/>
                          </a:solidFill>
                          <a:effectLst/>
                          <a:latin typeface="Times New Roman" panose="02020603050405020304" pitchFamily="18" charset="0"/>
                        </a:rPr>
                        <a:t>A324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12:00 21/01/2025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SIN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50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VN650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SIN-SGN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FWD CARGO DOOR HARD TO CLOSE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 EVENT CLOSED &lt;p&gt;SIAEC TEAM IN SIN (ON-CALL) SUPPORTED, DOOR CLOSED- SATIS &lt;/p&gt;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52-31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T</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àu A324 đã được kiểm tra và bôi trơn cargo door vào</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T10</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/2024. Kiểm tra phát hiện hỏng SWITCH 2507MJ gây ELECTRICAL CTROL INOP.  Hiện Airbus không có thông tin về hỏng hóc này, tuy nhiên trong quá khứ cũng đã có một số tàu hỏng hóc SWITCH. KTMB sẽ tìm hiểu và theo dõi thêm.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8216369"/>
                  </a:ext>
                </a:extLst>
              </a:tr>
            </a:tbl>
          </a:graphicData>
        </a:graphic>
      </p:graphicFrame>
    </p:spTree>
    <p:extLst>
      <p:ext uri="{BB962C8B-B14F-4D97-AF65-F5344CB8AC3E}">
        <p14:creationId xmlns:p14="http://schemas.microsoft.com/office/powerpoint/2010/main" val="3502815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Single Corner Rounded 30">
            <a:extLst>
              <a:ext uri="{FF2B5EF4-FFF2-40B4-BE49-F238E27FC236}">
                <a16:creationId xmlns:a16="http://schemas.microsoft.com/office/drawing/2014/main" id="{2808C5EC-9343-4686-B4B1-4758E42C4551}"/>
              </a:ext>
            </a:extLst>
          </p:cNvPr>
          <p:cNvSpPr/>
          <p:nvPr/>
        </p:nvSpPr>
        <p:spPr>
          <a:xfrm flipH="1" flipV="1">
            <a:off x="465678" y="749284"/>
            <a:ext cx="7594105" cy="2519200"/>
          </a:xfrm>
          <a:prstGeom prst="round1Rect">
            <a:avLst/>
          </a:prstGeom>
          <a:pattFill prst="lgGrid">
            <a:fgClr>
              <a:schemeClr val="accent1">
                <a:lumMod val="40000"/>
                <a:lumOff val="60000"/>
              </a:schemeClr>
            </a:fgClr>
            <a:bgClr>
              <a:schemeClr val="accent5">
                <a:lumMod val="20000"/>
                <a:lumOff val="80000"/>
              </a:schemeClr>
            </a:bgClr>
          </a:patt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0" name="Rectangle 4"/>
          <p:cNvSpPr>
            <a:spLocks noChangeArrowheads="1"/>
          </p:cNvSpPr>
          <p:nvPr/>
        </p:nvSpPr>
        <p:spPr bwMode="auto">
          <a:xfrm>
            <a:off x="0" y="26823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1"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2"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3"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4" name="Picture 13">
            <a:extLst>
              <a:ext uri="{FF2B5EF4-FFF2-40B4-BE49-F238E27FC236}">
                <a16:creationId xmlns:a16="http://schemas.microsoft.com/office/drawing/2014/main" id="{9AC171E4-B7C3-487F-9250-B7099A792C3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0522" y="134657"/>
            <a:ext cx="537821" cy="505652"/>
          </a:xfrm>
          <a:prstGeom prst="rect">
            <a:avLst/>
          </a:prstGeom>
        </p:spPr>
      </p:pic>
      <p:sp>
        <p:nvSpPr>
          <p:cNvPr id="15" name="AutoShape 2" descr="https://w3.airbus.com/1H43/MEFO_AW/ISI/MDAuMDAuMDA0Mzc=/html/bpHEScontentext/Aspose.Words.d1192d83-b481-4a56-93e5-9ad2352fe3cd.00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6" name="AutoShape 2" descr="https://w3.airbus.com/1H43/MEFO_AW/ISI/MDAuMDAuMDA0Mzc=/html/bpHEScontentext/Aspose.Words.d1192d83-b481-4a56-93e5-9ad2352fe3cd.003.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7" name="AutoShape 2" descr="https://w3.airbus.com/1H43/MEFO_AW/ISI/MDAuMDAuMDA0Mzc=/html/bpHEScontentext/Aspose.Words.d1192d83-b481-4a56-93e5-9ad2352fe3cd.004.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8" name="AutoShape 4" descr="https://w3.airbus.com/1H43/MEFO_AW/ISI/MDAuMDAuMDA0Mzc=/html/bpHEScontentext/Aspose.Words.d1192d83-b481-4a56-93e5-9ad2352fe3cd.004.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9" name="AutoShape 2" descr="https://w3.airbus.com/1H43/MEFO_AW/ISI/MDAuMDAuMDA0Mzc=/html/bpHEScontentext/Aspose.Words.d1192d83-b481-4a56-93e5-9ad2352fe3cd.031.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0" name="AutoShape 4" descr="https://w3.airbus.com/1H43/MEFO_AW/ISI/MDAuMDAuMDA0Mzc=/html/bpHEScontentext/Aspose.Words.d1192d83-b481-4a56-93e5-9ad2352fe3cd.028.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cxnSp>
        <p:nvCxnSpPr>
          <p:cNvPr id="21" name="Straight Connector 20">
            <a:extLst>
              <a:ext uri="{FF2B5EF4-FFF2-40B4-BE49-F238E27FC236}">
                <a16:creationId xmlns:a16="http://schemas.microsoft.com/office/drawing/2014/main" id="{9F5E9139-8C7A-459E-8697-0AFC14D23879}"/>
              </a:ext>
            </a:extLst>
          </p:cNvPr>
          <p:cNvCxnSpPr>
            <a:cxnSpLocks/>
          </p:cNvCxnSpPr>
          <p:nvPr/>
        </p:nvCxnSpPr>
        <p:spPr>
          <a:xfrm>
            <a:off x="798343" y="1128263"/>
            <a:ext cx="6557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B0959498-11B2-4444-99B1-B42D92E2B619}"/>
              </a:ext>
            </a:extLst>
          </p:cNvPr>
          <p:cNvSpPr/>
          <p:nvPr/>
        </p:nvSpPr>
        <p:spPr>
          <a:xfrm>
            <a:off x="612775" y="789709"/>
            <a:ext cx="7447008" cy="338554"/>
          </a:xfrm>
          <a:prstGeom prst="rect">
            <a:avLst/>
          </a:prstGeom>
        </p:spPr>
        <p:txBody>
          <a:bodyPr wrap="square">
            <a:spAutoFit/>
          </a:bodyPr>
          <a:lstStyle/>
          <a:p>
            <a:pPr lvl="0" indent="114300">
              <a:defRPr/>
            </a:pPr>
            <a:r>
              <a:rPr kumimoji="0" lang="en-US" sz="16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A358 </a:t>
            </a:r>
            <a:r>
              <a:rPr lang="en-US" sz="16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GTB</a:t>
            </a:r>
            <a:r>
              <a:rPr kumimoji="0" lang="en-US" sz="16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 HAN (</a:t>
            </a:r>
            <a:r>
              <a:rPr lang="en-US" sz="16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27/01/2025</a:t>
            </a:r>
            <a:r>
              <a:rPr kumimoji="0" lang="en-US" sz="16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t>
            </a:r>
          </a:p>
        </p:txBody>
      </p:sp>
      <p:sp>
        <p:nvSpPr>
          <p:cNvPr id="24" name="TextBox 23">
            <a:extLst>
              <a:ext uri="{FF2B5EF4-FFF2-40B4-BE49-F238E27FC236}">
                <a16:creationId xmlns:a16="http://schemas.microsoft.com/office/drawing/2014/main" id="{02C261E8-9107-4B19-8E39-7FAD7508571C}"/>
              </a:ext>
            </a:extLst>
          </p:cNvPr>
          <p:cNvSpPr txBox="1"/>
          <p:nvPr/>
        </p:nvSpPr>
        <p:spPr>
          <a:xfrm>
            <a:off x="722764" y="1172429"/>
            <a:ext cx="7337020" cy="1877437"/>
          </a:xfrm>
          <a:prstGeom prst="rect">
            <a:avLst/>
          </a:prstGeom>
          <a:noFill/>
        </p:spPr>
        <p:txBody>
          <a:bodyPr wrap="square" rtlCol="0">
            <a:spAutoFit/>
          </a:bodyPr>
          <a:lstStyle/>
          <a:p>
            <a:pPr marL="285750" lvl="0" indent="-285750">
              <a:spcBef>
                <a:spcPts val="1200"/>
              </a:spcBef>
              <a:buFont typeface="Arial" panose="020B0604020202020204" pitchFamily="34" charset="0"/>
              <a:buChar char="•"/>
              <a:defRPr/>
            </a:pPr>
            <a:r>
              <a:rPr lang="vi-VN"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Đây là chuyến bay </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HAN – VCL,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tàu</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bay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có</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thể</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bay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tiếp</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và</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quay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lại</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rồi</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về</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sửa</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nhưng</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sân</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bay Chu Lai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không</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có</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thợ</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máy</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B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để</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raise MEL. Do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đó</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tàu</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bay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phải</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quay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lại</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gate.</a:t>
            </a:r>
          </a:p>
          <a:p>
            <a:pPr marL="285750" lvl="0" indent="-285750">
              <a:spcBef>
                <a:spcPts val="1200"/>
              </a:spcBef>
              <a:buFont typeface="Arial" panose="020B0604020202020204" pitchFamily="34" charset="0"/>
              <a:buChar char="•"/>
              <a:defRPr/>
            </a:pPr>
            <a:r>
              <a:rPr lang="vi-VN"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Part có TSN/CSN:  36392/25004, </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a:t>
            </a:r>
            <a:r>
              <a:rPr lang="vi-VN"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heo thống kê ĐTC: Tỉ lệ tháo ngoài kế hoạch các năm gần đây ít (2023: 2 lần, 2024: 3 lần).</a:t>
            </a:r>
            <a:endPar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endParaRPr>
          </a:p>
          <a:p>
            <a:pPr marL="285750" lvl="0" indent="-285750">
              <a:spcBef>
                <a:spcPts val="1200"/>
              </a:spcBef>
              <a:buFont typeface="Arial" panose="020B0604020202020204" pitchFamily="34" charset="0"/>
              <a:buChar char="•"/>
              <a:defRPr/>
            </a:pP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Khối</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có</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MTBUR/RSPL: 11,385/12750</a:t>
            </a:r>
            <a:endParaRPr kumimoji="0" lang="en-US" sz="16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endParaRPr>
          </a:p>
        </p:txBody>
      </p:sp>
      <p:sp>
        <p:nvSpPr>
          <p:cNvPr id="25" name="Title 1">
            <a:extLst>
              <a:ext uri="{FF2B5EF4-FFF2-40B4-BE49-F238E27FC236}">
                <a16:creationId xmlns:a16="http://schemas.microsoft.com/office/drawing/2014/main" id="{88D62ACE-92F7-43A9-A921-E66AF898547E}"/>
              </a:ext>
            </a:extLst>
          </p:cNvPr>
          <p:cNvSpPr txBox="1">
            <a:spLocks/>
          </p:cNvSpPr>
          <p:nvPr/>
        </p:nvSpPr>
        <p:spPr>
          <a:xfrm>
            <a:off x="871239" y="203760"/>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lvl="0">
              <a:defRPr/>
            </a:pPr>
            <a:r>
              <a:rPr lang="en-US" sz="2800" b="1" dirty="0">
                <a:solidFill>
                  <a:srgbClr val="D2A43B"/>
                </a:solidFill>
                <a:ea typeface="Tahoma" pitchFamily="34" charset="0"/>
                <a:cs typeface="Times New Roman" panose="02020603050405020304" pitchFamily="18" charset="0"/>
              </a:rPr>
              <a:t>A321</a:t>
            </a:r>
            <a:r>
              <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 – ATA </a:t>
            </a:r>
            <a:r>
              <a:rPr lang="en-US" sz="2800" b="1" noProof="0" dirty="0">
                <a:solidFill>
                  <a:srgbClr val="D2A43B"/>
                </a:solidFill>
                <a:ea typeface="Tahoma" pitchFamily="34" charset="0"/>
                <a:cs typeface="Times New Roman" panose="02020603050405020304" pitchFamily="18" charset="0"/>
              </a:rPr>
              <a:t>22</a:t>
            </a:r>
            <a:r>
              <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 – </a:t>
            </a:r>
            <a:r>
              <a:rPr lang="en-US" sz="2800" b="1" dirty="0">
                <a:solidFill>
                  <a:srgbClr val="D2A43B"/>
                </a:solidFill>
                <a:ea typeface="Tahoma" pitchFamily="34" charset="0"/>
                <a:cs typeface="Times New Roman" panose="02020603050405020304" pitchFamily="18" charset="0"/>
              </a:rPr>
              <a:t>MCDU PN C19266AA01 </a:t>
            </a:r>
            <a:endPar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endParaRPr>
          </a:p>
        </p:txBody>
      </p:sp>
      <p:grpSp>
        <p:nvGrpSpPr>
          <p:cNvPr id="27" name="Group 26"/>
          <p:cNvGrpSpPr/>
          <p:nvPr/>
        </p:nvGrpSpPr>
        <p:grpSpPr>
          <a:xfrm>
            <a:off x="460375" y="3355392"/>
            <a:ext cx="7599408" cy="772359"/>
            <a:chOff x="197986" y="2896265"/>
            <a:chExt cx="7803125" cy="772359"/>
          </a:xfrm>
        </p:grpSpPr>
        <p:sp>
          <p:nvSpPr>
            <p:cNvPr id="28" name="TextBox 27">
              <a:extLst>
                <a:ext uri="{FF2B5EF4-FFF2-40B4-BE49-F238E27FC236}">
                  <a16:creationId xmlns:a16="http://schemas.microsoft.com/office/drawing/2014/main" id="{4FBB82BB-9691-4886-8645-5B1C95F325C4}"/>
                </a:ext>
              </a:extLst>
            </p:cNvPr>
            <p:cNvSpPr txBox="1"/>
            <p:nvPr/>
          </p:nvSpPr>
          <p:spPr>
            <a:xfrm>
              <a:off x="722765" y="2929960"/>
              <a:ext cx="7278346" cy="73866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1200"/>
                </a:spcBef>
                <a:spcAft>
                  <a:spcPts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Root Cause / Investigation</a:t>
              </a:r>
            </a:p>
            <a:p>
              <a:pPr marL="285750" indent="-285750" algn="just">
                <a:spcBef>
                  <a:spcPts val="1200"/>
                </a:spcBef>
                <a:buFont typeface="Arial" panose="020B0604020202020204" pitchFamily="34" charset="0"/>
                <a:buChar char="•"/>
                <a:defRPr/>
              </a:pPr>
              <a:r>
                <a:rPr lang="en-US" sz="1600" dirty="0">
                  <a:solidFill>
                    <a:srgbClr val="4472C4">
                      <a:lumMod val="50000"/>
                    </a:srgbClr>
                  </a:solidFill>
                  <a:latin typeface="Times New Roman" panose="02020603050405020304" pitchFamily="18" charset="0"/>
                  <a:ea typeface="Cambria" panose="02040503050406030204" pitchFamily="18" charset="0"/>
                </a:rPr>
                <a:t>Theo SFR, </a:t>
              </a:r>
              <a:r>
                <a:rPr lang="en-US" sz="1600" dirty="0" err="1">
                  <a:solidFill>
                    <a:srgbClr val="4472C4">
                      <a:lumMod val="50000"/>
                    </a:srgbClr>
                  </a:solidFill>
                  <a:latin typeface="Times New Roman" panose="02020603050405020304" pitchFamily="18" charset="0"/>
                  <a:ea typeface="Cambria" panose="02040503050406030204" pitchFamily="18" charset="0"/>
                </a:rPr>
                <a:t>hỏng</a:t>
              </a:r>
              <a:r>
                <a:rPr lang="en-US" sz="1600" dirty="0">
                  <a:solidFill>
                    <a:srgbClr val="4472C4">
                      <a:lumMod val="50000"/>
                    </a:srgbClr>
                  </a:solidFill>
                  <a:latin typeface="Times New Roman" panose="02020603050405020304" pitchFamily="18" charset="0"/>
                  <a:ea typeface="Cambria" panose="02040503050406030204" pitchFamily="18" charset="0"/>
                </a:rPr>
                <a:t> </a:t>
              </a:r>
              <a:r>
                <a:rPr lang="en-US" sz="1600" dirty="0" err="1">
                  <a:solidFill>
                    <a:srgbClr val="4472C4">
                      <a:lumMod val="50000"/>
                    </a:srgbClr>
                  </a:solidFill>
                  <a:latin typeface="Times New Roman" panose="02020603050405020304" pitchFamily="18" charset="0"/>
                  <a:ea typeface="Cambria" panose="02040503050406030204" pitchFamily="18" charset="0"/>
                </a:rPr>
                <a:t>hóc</a:t>
              </a:r>
              <a:r>
                <a:rPr lang="en-US" sz="1600" dirty="0">
                  <a:solidFill>
                    <a:srgbClr val="4472C4">
                      <a:lumMod val="50000"/>
                    </a:srgbClr>
                  </a:solidFill>
                  <a:latin typeface="Times New Roman" panose="02020603050405020304" pitchFamily="18" charset="0"/>
                  <a:ea typeface="Cambria" panose="02040503050406030204" pitchFamily="18" charset="0"/>
                </a:rPr>
                <a:t> </a:t>
              </a:r>
              <a:r>
                <a:rPr lang="en-US" sz="1600" dirty="0" err="1">
                  <a:solidFill>
                    <a:srgbClr val="4472C4">
                      <a:lumMod val="50000"/>
                    </a:srgbClr>
                  </a:solidFill>
                  <a:latin typeface="Times New Roman" panose="02020603050405020304" pitchFamily="18" charset="0"/>
                  <a:ea typeface="Cambria" panose="02040503050406030204" pitchFamily="18" charset="0"/>
                </a:rPr>
                <a:t>chủ</a:t>
              </a:r>
              <a:r>
                <a:rPr lang="en-US" sz="1600" dirty="0">
                  <a:solidFill>
                    <a:srgbClr val="4472C4">
                      <a:lumMod val="50000"/>
                    </a:srgbClr>
                  </a:solidFill>
                  <a:latin typeface="Times New Roman" panose="02020603050405020304" pitchFamily="18" charset="0"/>
                  <a:ea typeface="Cambria" panose="02040503050406030204" pitchFamily="18" charset="0"/>
                </a:rPr>
                <a:t> </a:t>
              </a:r>
              <a:r>
                <a:rPr lang="en-US" sz="1600" dirty="0" err="1">
                  <a:solidFill>
                    <a:srgbClr val="4472C4">
                      <a:lumMod val="50000"/>
                    </a:srgbClr>
                  </a:solidFill>
                  <a:latin typeface="Times New Roman" panose="02020603050405020304" pitchFamily="18" charset="0"/>
                  <a:ea typeface="Cambria" panose="02040503050406030204" pitchFamily="18" charset="0"/>
                </a:rPr>
                <a:t>yếu</a:t>
              </a:r>
              <a:r>
                <a:rPr lang="en-US" sz="1600" dirty="0">
                  <a:solidFill>
                    <a:srgbClr val="4472C4">
                      <a:lumMod val="50000"/>
                    </a:srgbClr>
                  </a:solidFill>
                  <a:latin typeface="Times New Roman" panose="02020603050405020304" pitchFamily="18" charset="0"/>
                  <a:ea typeface="Cambria" panose="02040503050406030204" pitchFamily="18" charset="0"/>
                </a:rPr>
                <a:t> </a:t>
              </a:r>
              <a:r>
                <a:rPr lang="en-US" sz="1600" dirty="0" err="1">
                  <a:solidFill>
                    <a:srgbClr val="4472C4">
                      <a:lumMod val="50000"/>
                    </a:srgbClr>
                  </a:solidFill>
                  <a:latin typeface="Times New Roman" panose="02020603050405020304" pitchFamily="18" charset="0"/>
                  <a:ea typeface="Cambria" panose="02040503050406030204" pitchFamily="18" charset="0"/>
                </a:rPr>
                <a:t>nằm</a:t>
              </a:r>
              <a:r>
                <a:rPr lang="en-US" sz="1600" dirty="0">
                  <a:solidFill>
                    <a:srgbClr val="4472C4">
                      <a:lumMod val="50000"/>
                    </a:srgbClr>
                  </a:solidFill>
                  <a:latin typeface="Times New Roman" panose="02020603050405020304" pitchFamily="18" charset="0"/>
                  <a:ea typeface="Cambria" panose="02040503050406030204" pitchFamily="18" charset="0"/>
                </a:rPr>
                <a:t> ở </a:t>
              </a:r>
              <a:r>
                <a:rPr lang="en-US" sz="1600" dirty="0" err="1">
                  <a:solidFill>
                    <a:srgbClr val="4472C4">
                      <a:lumMod val="50000"/>
                    </a:srgbClr>
                  </a:solidFill>
                  <a:latin typeface="Times New Roman" panose="02020603050405020304" pitchFamily="18" charset="0"/>
                  <a:ea typeface="Cambria" panose="02040503050406030204" pitchFamily="18" charset="0"/>
                </a:rPr>
                <a:t>màn</a:t>
              </a:r>
              <a:r>
                <a:rPr lang="en-US" sz="1600" dirty="0">
                  <a:solidFill>
                    <a:srgbClr val="4472C4">
                      <a:lumMod val="50000"/>
                    </a:srgbClr>
                  </a:solidFill>
                  <a:latin typeface="Times New Roman" panose="02020603050405020304" pitchFamily="18" charset="0"/>
                  <a:ea typeface="Cambria" panose="02040503050406030204" pitchFamily="18" charset="0"/>
                </a:rPr>
                <a:t> </a:t>
              </a:r>
              <a:r>
                <a:rPr lang="en-US" sz="1600" dirty="0" err="1">
                  <a:solidFill>
                    <a:srgbClr val="4472C4">
                      <a:lumMod val="50000"/>
                    </a:srgbClr>
                  </a:solidFill>
                  <a:latin typeface="Times New Roman" panose="02020603050405020304" pitchFamily="18" charset="0"/>
                  <a:ea typeface="Cambria" panose="02040503050406030204" pitchFamily="18" charset="0"/>
                </a:rPr>
                <a:t>hình</a:t>
              </a:r>
              <a:r>
                <a:rPr lang="en-US" sz="1600" dirty="0">
                  <a:solidFill>
                    <a:srgbClr val="4472C4">
                      <a:lumMod val="50000"/>
                    </a:srgbClr>
                  </a:solidFill>
                  <a:latin typeface="Times New Roman" panose="02020603050405020304" pitchFamily="18" charset="0"/>
                  <a:ea typeface="Cambria" panose="02040503050406030204" pitchFamily="18" charset="0"/>
                </a:rPr>
                <a:t> </a:t>
              </a:r>
              <a:r>
                <a:rPr lang="en-US" sz="1600" dirty="0" err="1">
                  <a:solidFill>
                    <a:srgbClr val="4472C4">
                      <a:lumMod val="50000"/>
                    </a:srgbClr>
                  </a:solidFill>
                  <a:latin typeface="Times New Roman" panose="02020603050405020304" pitchFamily="18" charset="0"/>
                  <a:ea typeface="Cambria" panose="02040503050406030204" pitchFamily="18" charset="0"/>
                </a:rPr>
                <a:t>và</a:t>
              </a:r>
              <a:r>
                <a:rPr lang="en-US" sz="1600" dirty="0">
                  <a:solidFill>
                    <a:srgbClr val="4472C4">
                      <a:lumMod val="50000"/>
                    </a:srgbClr>
                  </a:solidFill>
                  <a:latin typeface="Times New Roman" panose="02020603050405020304" pitchFamily="18" charset="0"/>
                  <a:ea typeface="Cambria" panose="02040503050406030204" pitchFamily="18" charset="0"/>
                </a:rPr>
                <a:t> </a:t>
              </a:r>
              <a:r>
                <a:rPr lang="en-US" sz="1600" dirty="0" err="1">
                  <a:solidFill>
                    <a:srgbClr val="4472C4">
                      <a:lumMod val="50000"/>
                    </a:srgbClr>
                  </a:solidFill>
                  <a:latin typeface="Times New Roman" panose="02020603050405020304" pitchFamily="18" charset="0"/>
                  <a:ea typeface="Cambria" panose="02040503050406030204" pitchFamily="18" charset="0"/>
                </a:rPr>
                <a:t>nút</a:t>
              </a:r>
              <a:r>
                <a:rPr lang="en-US" sz="1600" dirty="0">
                  <a:solidFill>
                    <a:srgbClr val="4472C4">
                      <a:lumMod val="50000"/>
                    </a:srgbClr>
                  </a:solidFill>
                  <a:latin typeface="Times New Roman" panose="02020603050405020304" pitchFamily="18" charset="0"/>
                  <a:ea typeface="Cambria" panose="02040503050406030204" pitchFamily="18" charset="0"/>
                </a:rPr>
                <a:t> </a:t>
              </a:r>
              <a:r>
                <a:rPr lang="en-US" sz="1600" dirty="0" err="1">
                  <a:solidFill>
                    <a:srgbClr val="4472C4">
                      <a:lumMod val="50000"/>
                    </a:srgbClr>
                  </a:solidFill>
                  <a:latin typeface="Times New Roman" panose="02020603050405020304" pitchFamily="18" charset="0"/>
                  <a:ea typeface="Cambria" panose="02040503050406030204" pitchFamily="18" charset="0"/>
                </a:rPr>
                <a:t>bấm</a:t>
              </a:r>
              <a:r>
                <a:rPr lang="en-US" sz="1600" dirty="0">
                  <a:solidFill>
                    <a:srgbClr val="4472C4">
                      <a:lumMod val="50000"/>
                    </a:srgbClr>
                  </a:solidFill>
                  <a:latin typeface="Times New Roman" panose="02020603050405020304" pitchFamily="18" charset="0"/>
                  <a:ea typeface="Cambria" panose="02040503050406030204" pitchFamily="18" charset="0"/>
                </a:rPr>
                <a:t>. </a:t>
              </a:r>
            </a:p>
          </p:txBody>
        </p:sp>
        <p:pic>
          <p:nvPicPr>
            <p:cNvPr id="29" name="Picture 28">
              <a:extLst>
                <a:ext uri="{FF2B5EF4-FFF2-40B4-BE49-F238E27FC236}">
                  <a16:creationId xmlns:a16="http://schemas.microsoft.com/office/drawing/2014/main" id="{0969630F-CCFF-4E5C-A701-27D11B7F73C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7986" y="2896265"/>
              <a:ext cx="524778" cy="502242"/>
            </a:xfrm>
            <a:prstGeom prst="rect">
              <a:avLst/>
            </a:prstGeom>
          </p:spPr>
        </p:pic>
      </p:grpSp>
      <p:grpSp>
        <p:nvGrpSpPr>
          <p:cNvPr id="30" name="Group 29"/>
          <p:cNvGrpSpPr/>
          <p:nvPr/>
        </p:nvGrpSpPr>
        <p:grpSpPr>
          <a:xfrm>
            <a:off x="260522" y="4334766"/>
            <a:ext cx="7751808" cy="1620726"/>
            <a:chOff x="74954" y="3693184"/>
            <a:chExt cx="5809854" cy="1620726"/>
          </a:xfrm>
        </p:grpSpPr>
        <p:pic>
          <p:nvPicPr>
            <p:cNvPr id="31" name="Picture 30">
              <a:extLst>
                <a:ext uri="{FF2B5EF4-FFF2-40B4-BE49-F238E27FC236}">
                  <a16:creationId xmlns:a16="http://schemas.microsoft.com/office/drawing/2014/main" id="{F1E75855-BFF9-4060-8514-50C2582B62B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954" y="3693184"/>
              <a:ext cx="537821" cy="502241"/>
            </a:xfrm>
            <a:prstGeom prst="rect">
              <a:avLst/>
            </a:prstGeom>
          </p:spPr>
        </p:pic>
        <p:sp>
          <p:nvSpPr>
            <p:cNvPr id="32" name="TextBox 31">
              <a:extLst>
                <a:ext uri="{FF2B5EF4-FFF2-40B4-BE49-F238E27FC236}">
                  <a16:creationId xmlns:a16="http://schemas.microsoft.com/office/drawing/2014/main" id="{3FDC07A6-2071-4D02-9540-D46ECD1C61E5}"/>
                </a:ext>
              </a:extLst>
            </p:cNvPr>
            <p:cNvSpPr txBox="1"/>
            <p:nvPr/>
          </p:nvSpPr>
          <p:spPr>
            <a:xfrm>
              <a:off x="612775" y="3775027"/>
              <a:ext cx="5272033" cy="153888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1200"/>
                </a:spcBef>
                <a:spcAft>
                  <a:spcPts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Mitigation / Interim Action</a:t>
              </a:r>
            </a:p>
            <a:p>
              <a:pPr marL="285750" lvl="0" indent="-285750" algn="just">
                <a:spcBef>
                  <a:spcPts val="1200"/>
                </a:spcBef>
                <a:buFont typeface="Wingdings" panose="05000000000000000000" pitchFamily="2" charset="2"/>
                <a:buChar char="v"/>
                <a:defRPr/>
              </a:pPr>
              <a:r>
                <a:rPr lang="en-US" sz="16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Hiện</a:t>
              </a:r>
              <a:r>
                <a:rPr lang="en-US"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6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không</a:t>
              </a:r>
              <a:r>
                <a:rPr lang="en-US"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6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có</a:t>
              </a:r>
              <a:r>
                <a:rPr lang="en-US"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ISI, TFU </a:t>
              </a:r>
              <a:r>
                <a:rPr lang="en-US" sz="16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liên</a:t>
              </a:r>
              <a:r>
                <a:rPr lang="en-US"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6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quan</a:t>
              </a:r>
              <a:r>
                <a:rPr lang="en-US"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6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đến</a:t>
              </a:r>
              <a:r>
                <a:rPr lang="en-US"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6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độ</a:t>
              </a:r>
              <a:r>
                <a:rPr lang="en-US"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tin </a:t>
              </a:r>
              <a:r>
                <a:rPr lang="en-US" sz="16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cậy</a:t>
              </a:r>
              <a:r>
                <a:rPr lang="en-US"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part.</a:t>
              </a:r>
            </a:p>
            <a:p>
              <a:pPr marL="285750" lvl="0" indent="-285750" algn="just">
                <a:spcBef>
                  <a:spcPts val="1200"/>
                </a:spcBef>
                <a:buFont typeface="Wingdings" panose="05000000000000000000" pitchFamily="2" charset="2"/>
                <a:buChar char="v"/>
                <a:defRPr/>
              </a:pPr>
              <a:r>
                <a:rPr lang="en-US"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Theo SFR, HVN </a:t>
              </a:r>
              <a:r>
                <a:rPr lang="en-US" sz="16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không</a:t>
              </a:r>
              <a:r>
                <a:rPr lang="en-US"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6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có</a:t>
              </a:r>
              <a:r>
                <a:rPr lang="en-US"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6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các</a:t>
              </a:r>
              <a:r>
                <a:rPr lang="en-US"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6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hỏng</a:t>
              </a:r>
              <a:r>
                <a:rPr lang="en-US"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6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hóc</a:t>
              </a:r>
              <a:r>
                <a:rPr lang="en-US"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6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bất</a:t>
              </a:r>
              <a:r>
                <a:rPr lang="en-US"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6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thường</a:t>
              </a:r>
              <a:r>
                <a:rPr lang="en-US"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a:t>
              </a:r>
            </a:p>
            <a:p>
              <a:pPr marL="285750" lvl="0" indent="-285750" algn="just">
                <a:spcBef>
                  <a:spcPts val="1200"/>
                </a:spcBef>
                <a:buFont typeface="Wingdings" panose="05000000000000000000" pitchFamily="2" charset="2"/>
                <a:buChar char="v"/>
                <a:defRPr/>
              </a:pPr>
              <a:r>
                <a:rPr lang="en-US"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Theo </a:t>
              </a:r>
              <a:r>
                <a:rPr lang="en-US" sz="16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dõi</a:t>
              </a:r>
              <a:r>
                <a:rPr lang="en-US"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6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thêm</a:t>
              </a:r>
              <a:r>
                <a:rPr lang="en-US"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a:t>
              </a:r>
            </a:p>
          </p:txBody>
        </p:sp>
      </p:grpSp>
      <p:pic>
        <p:nvPicPr>
          <p:cNvPr id="4" name="Picture 3"/>
          <p:cNvPicPr>
            <a:picLocks noChangeAspect="1"/>
          </p:cNvPicPr>
          <p:nvPr/>
        </p:nvPicPr>
        <p:blipFill>
          <a:blip r:embed="rId7"/>
          <a:stretch>
            <a:fillRect/>
          </a:stretch>
        </p:blipFill>
        <p:spPr>
          <a:xfrm rot="5400000">
            <a:off x="7576256" y="1774859"/>
            <a:ext cx="5099303" cy="3228455"/>
          </a:xfrm>
          <a:prstGeom prst="rect">
            <a:avLst/>
          </a:prstGeom>
        </p:spPr>
      </p:pic>
    </p:spTree>
    <p:custDataLst>
      <p:tags r:id="rId1"/>
    </p:custDataLst>
    <p:extLst>
      <p:ext uri="{BB962C8B-B14F-4D97-AF65-F5344CB8AC3E}">
        <p14:creationId xmlns:p14="http://schemas.microsoft.com/office/powerpoint/2010/main" val="555260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331A5E89-8330-4CC5-8E86-DC6C55D3DE22}"/>
              </a:ext>
            </a:extLst>
          </p:cNvPr>
          <p:cNvSpPr txBox="1"/>
          <p:nvPr/>
        </p:nvSpPr>
        <p:spPr>
          <a:xfrm>
            <a:off x="737417" y="168860"/>
            <a:ext cx="10293572" cy="523220"/>
          </a:xfrm>
          <a:prstGeom prst="rect">
            <a:avLst/>
          </a:prstGeom>
          <a:noFill/>
        </p:spPr>
        <p:txBody>
          <a:bodyPr wrap="square" rtlCol="0">
            <a:spAutoFit/>
          </a:bodyPr>
          <a:lstStyle/>
          <a:p>
            <a:pPr algn="just"/>
            <a:r>
              <a:rPr lang="en-US" sz="2800" b="1" dirty="0">
                <a:solidFill>
                  <a:srgbClr val="DEA610"/>
                </a:solidFill>
                <a:latin typeface="Times New Roman" panose="02020603050405020304" pitchFamily="18" charset="0"/>
                <a:cs typeface="Times New Roman" panose="02020603050405020304" pitchFamily="18" charset="0"/>
              </a:rPr>
              <a:t>A321 – ATA 32 – MLG DOOR ACTUATOR HOSE</a:t>
            </a:r>
          </a:p>
        </p:txBody>
      </p:sp>
      <p:sp>
        <p:nvSpPr>
          <p:cNvPr id="25" name="Rectangle: Single Corner Rounded 24">
            <a:extLst>
              <a:ext uri="{FF2B5EF4-FFF2-40B4-BE49-F238E27FC236}">
                <a16:creationId xmlns:a16="http://schemas.microsoft.com/office/drawing/2014/main" id="{D5DADBD9-6852-441A-BF72-7DAFAE15B1FD}"/>
              </a:ext>
            </a:extLst>
          </p:cNvPr>
          <p:cNvSpPr/>
          <p:nvPr/>
        </p:nvSpPr>
        <p:spPr>
          <a:xfrm flipH="1" flipV="1">
            <a:off x="302018" y="790661"/>
            <a:ext cx="11496864" cy="1298365"/>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CB07695F-044B-46D6-B43C-B700EFBA7248}"/>
              </a:ext>
            </a:extLst>
          </p:cNvPr>
          <p:cNvSpPr/>
          <p:nvPr/>
        </p:nvSpPr>
        <p:spPr>
          <a:xfrm>
            <a:off x="782968" y="785145"/>
            <a:ext cx="10069062" cy="461665"/>
          </a:xfrm>
          <a:prstGeom prst="rect">
            <a:avLst/>
          </a:prstGeom>
        </p:spPr>
        <p:txBody>
          <a:bodyPr wrap="square">
            <a:spAutoFit/>
          </a:bodyPr>
          <a:lstStyle/>
          <a:p>
            <a:pPr lvl="0">
              <a:defRPr/>
            </a:pP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A35</a:t>
            </a:r>
            <a:r>
              <a:rPr lang="en-US" sz="24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8</a:t>
            </a: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 AOG due to hydraulic leak	</a:t>
            </a:r>
            <a:r>
              <a:rPr lang="en-US" sz="24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 	</a:t>
            </a:r>
          </a:p>
        </p:txBody>
      </p:sp>
      <p:sp>
        <p:nvSpPr>
          <p:cNvPr id="27" name="Rectangle 26">
            <a:extLst>
              <a:ext uri="{FF2B5EF4-FFF2-40B4-BE49-F238E27FC236}">
                <a16:creationId xmlns:a16="http://schemas.microsoft.com/office/drawing/2014/main" id="{367F70C2-5165-479E-AFB9-34EDD474B128}"/>
              </a:ext>
            </a:extLst>
          </p:cNvPr>
          <p:cNvSpPr/>
          <p:nvPr/>
        </p:nvSpPr>
        <p:spPr>
          <a:xfrm>
            <a:off x="737417" y="1210054"/>
            <a:ext cx="10882536" cy="600164"/>
          </a:xfrm>
          <a:prstGeom prst="rect">
            <a:avLst/>
          </a:prstGeom>
        </p:spPr>
        <p:txBody>
          <a:bodyPr wrap="square">
            <a:spAutoFit/>
          </a:bodyPr>
          <a:lstStyle/>
          <a:p>
            <a:pPr marL="285750" indent="-285750">
              <a:spcBef>
                <a:spcPts val="600"/>
              </a:spcBef>
              <a:buFont typeface="Arial" panose="020B0604020202020204" pitchFamily="34" charset="0"/>
              <a:buChar char="•"/>
            </a:pP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VN513 A358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Thợ</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máy</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thông</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báo</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ống</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dầu</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thuỷ</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lực</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càng</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chính</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trái</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bị</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rò</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rỉ</a:t>
            </a:r>
            <a:endPar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endParaRPr>
          </a:p>
          <a:p>
            <a:pPr marL="285750" indent="-285750">
              <a:spcBef>
                <a:spcPts val="600"/>
              </a:spcBef>
              <a:buFont typeface="Arial" panose="020B0604020202020204" pitchFamily="34" charset="0"/>
              <a:buChar char="•"/>
            </a:pPr>
            <a:r>
              <a:rPr lang="en-US" sz="1400" dirty="0" err="1">
                <a:solidFill>
                  <a:srgbClr val="203864"/>
                </a:solidFill>
                <a:latin typeface="Times New Roman" panose="02020603050405020304" pitchFamily="18" charset="0"/>
                <a:cs typeface="Times New Roman" panose="02020603050405020304" pitchFamily="18" charset="0"/>
              </a:rPr>
              <a:t>Nguyên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nhân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là</a:t>
            </a:r>
            <a:r>
              <a:rPr lang="en-US" sz="1400" dirty="0">
                <a:solidFill>
                  <a:srgbClr val="203864"/>
                </a:solidFill>
                <a:latin typeface="Times New Roman" panose="02020603050405020304" pitchFamily="18" charset="0"/>
                <a:cs typeface="Times New Roman" panose="02020603050405020304" pitchFamily="18" charset="0"/>
              </a:rPr>
              <a:t> do MLG door actuator hose </a:t>
            </a:r>
            <a:r>
              <a:rPr lang="en-US" sz="1400" dirty="0" err="1">
                <a:solidFill>
                  <a:srgbClr val="203864"/>
                </a:solidFill>
                <a:latin typeface="Times New Roman" panose="02020603050405020304" pitchFamily="18" charset="0"/>
                <a:cs typeface="Times New Roman" panose="02020603050405020304" pitchFamily="18" charset="0"/>
              </a:rPr>
              <a:t>bị</a:t>
            </a:r>
            <a:r>
              <a:rPr lang="en-US" sz="1400" dirty="0">
                <a:solidFill>
                  <a:srgbClr val="203864"/>
                </a:solidFill>
                <a:latin typeface="Times New Roman" panose="02020603050405020304" pitchFamily="18" charset="0"/>
                <a:cs typeface="Times New Roman" panose="02020603050405020304" pitchFamily="18" charset="0"/>
              </a:rPr>
              <a:t> damage </a:t>
            </a:r>
            <a:r>
              <a:rPr lang="en-US" sz="1400" dirty="0" err="1">
                <a:solidFill>
                  <a:srgbClr val="203864"/>
                </a:solidFill>
                <a:latin typeface="Times New Roman" panose="02020603050405020304" pitchFamily="18" charset="0"/>
                <a:cs typeface="Times New Roman" panose="02020603050405020304" pitchFamily="18" charset="0"/>
              </a:rPr>
              <a:t>dẫn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tới</a:t>
            </a:r>
            <a:r>
              <a:rPr lang="en-US" sz="1400" dirty="0">
                <a:solidFill>
                  <a:srgbClr val="203864"/>
                </a:solidFill>
                <a:latin typeface="Times New Roman" panose="02020603050405020304" pitchFamily="18" charset="0"/>
                <a:cs typeface="Times New Roman" panose="02020603050405020304" pitchFamily="18" charset="0"/>
              </a:rPr>
              <a:t> leak </a:t>
            </a:r>
            <a:r>
              <a:rPr lang="en-US" sz="1400" dirty="0" err="1">
                <a:solidFill>
                  <a:srgbClr val="203864"/>
                </a:solidFill>
                <a:latin typeface="Times New Roman" panose="02020603050405020304" pitchFamily="18" charset="0"/>
                <a:cs typeface="Times New Roman" panose="02020603050405020304" pitchFamily="18" charset="0"/>
              </a:rPr>
              <a:t>thủy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lực</a:t>
            </a:r>
            <a:endParaRPr lang="en-US" sz="1400" dirty="0">
              <a:solidFill>
                <a:srgbClr val="203864"/>
              </a:solidFill>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4210CCF0-33AF-4035-BD27-3303A8633E6C}"/>
              </a:ext>
            </a:extLst>
          </p:cNvPr>
          <p:cNvSpPr txBox="1"/>
          <p:nvPr/>
        </p:nvSpPr>
        <p:spPr>
          <a:xfrm>
            <a:off x="795408" y="2477974"/>
            <a:ext cx="2662062" cy="369332"/>
          </a:xfrm>
          <a:prstGeom prst="rect">
            <a:avLst/>
          </a:prstGeom>
          <a:noFill/>
        </p:spPr>
        <p:txBody>
          <a:bodyPr wrap="square" rtlCol="0">
            <a:spAutoFit/>
          </a:bodyPr>
          <a:lstStyle/>
          <a:p>
            <a:pPr lvl="0" algn="just">
              <a:spcBef>
                <a:spcPts val="600"/>
              </a:spcBef>
              <a:defRPr/>
            </a:pP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Phân</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tích</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Đánh</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giá</a:t>
            </a:r>
            <a:endPar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102" name="TextBox 101">
            <a:extLst>
              <a:ext uri="{FF2B5EF4-FFF2-40B4-BE49-F238E27FC236}">
                <a16:creationId xmlns:a16="http://schemas.microsoft.com/office/drawing/2014/main" id="{E05FED27-E33B-4C7E-85F6-BC470EC52ECB}"/>
              </a:ext>
            </a:extLst>
          </p:cNvPr>
          <p:cNvSpPr txBox="1"/>
          <p:nvPr/>
        </p:nvSpPr>
        <p:spPr>
          <a:xfrm>
            <a:off x="795407" y="2990319"/>
            <a:ext cx="6700767" cy="1107996"/>
          </a:xfrm>
          <a:prstGeom prst="rect">
            <a:avLst/>
          </a:prstGeom>
          <a:noFill/>
        </p:spPr>
        <p:txBody>
          <a:bodyPr wrap="square" rtlCol="0">
            <a:spAutoFit/>
          </a:bodyPr>
          <a:lstStyle/>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Các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tàu</a:t>
            </a:r>
            <a:r>
              <a:rPr lang="en-US" sz="1400" dirty="0">
                <a:solidFill>
                  <a:srgbClr val="203864"/>
                </a:solidFill>
                <a:latin typeface="Times New Roman" panose="02020603050405020304" pitchFamily="18" charset="0"/>
                <a:cs typeface="Times New Roman" panose="02020603050405020304" pitchFamily="18" charset="0"/>
              </a:rPr>
              <a:t> A35x </a:t>
            </a:r>
            <a:r>
              <a:rPr lang="en-US" sz="1400" dirty="0" err="1">
                <a:solidFill>
                  <a:srgbClr val="203864"/>
                </a:solidFill>
                <a:latin typeface="Times New Roman" panose="02020603050405020304" pitchFamily="18" charset="0"/>
                <a:cs typeface="Times New Roman" panose="02020603050405020304" pitchFamily="18" charset="0"/>
              </a:rPr>
              <a:t>lắp</a:t>
            </a:r>
            <a:r>
              <a:rPr lang="en-US" sz="1400" dirty="0">
                <a:solidFill>
                  <a:srgbClr val="203864"/>
                </a:solidFill>
                <a:latin typeface="Times New Roman" panose="02020603050405020304" pitchFamily="18" charset="0"/>
                <a:cs typeface="Times New Roman" panose="02020603050405020304" pitchFamily="18" charset="0"/>
              </a:rPr>
              <a:t> MLG door actuator hose </a:t>
            </a:r>
            <a:r>
              <a:rPr lang="en-US" sz="1400" dirty="0" err="1">
                <a:solidFill>
                  <a:srgbClr val="203864"/>
                </a:solidFill>
                <a:latin typeface="Times New Roman" panose="02020603050405020304" pitchFamily="18" charset="0"/>
                <a:cs typeface="Times New Roman" panose="02020603050405020304" pitchFamily="18" charset="0"/>
              </a:rPr>
              <a:t>loại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cũ</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có</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độ</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bền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thấp</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và</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được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khuyến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cáo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thay</a:t>
            </a:r>
            <a:r>
              <a:rPr lang="en-US" sz="1400" dirty="0">
                <a:solidFill>
                  <a:srgbClr val="203864"/>
                </a:solidFill>
                <a:latin typeface="Times New Roman" panose="02020603050405020304" pitchFamily="18" charset="0"/>
                <a:cs typeface="Times New Roman" panose="02020603050405020304" pitchFamily="18" charset="0"/>
              </a:rPr>
              <a:t> ở </a:t>
            </a:r>
            <a:r>
              <a:rPr lang="en-US" sz="1400" dirty="0" err="1">
                <a:solidFill>
                  <a:srgbClr val="203864"/>
                </a:solidFill>
                <a:latin typeface="Times New Roman" panose="02020603050405020304" pitchFamily="18" charset="0"/>
                <a:cs typeface="Times New Roman" panose="02020603050405020304" pitchFamily="18" charset="0"/>
              </a:rPr>
              <a:t>khoảng</a:t>
            </a:r>
            <a:r>
              <a:rPr lang="en-US" sz="1400" dirty="0">
                <a:solidFill>
                  <a:srgbClr val="203864"/>
                </a:solidFill>
                <a:latin typeface="Times New Roman" panose="02020603050405020304" pitchFamily="18" charset="0"/>
                <a:cs typeface="Times New Roman" panose="02020603050405020304" pitchFamily="18" charset="0"/>
              </a:rPr>
              <a:t> 6000FC</a:t>
            </a:r>
          </a:p>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Các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tàu</a:t>
            </a:r>
            <a:r>
              <a:rPr lang="en-US" sz="1400" dirty="0">
                <a:solidFill>
                  <a:srgbClr val="203864"/>
                </a:solidFill>
                <a:latin typeface="Times New Roman" panose="02020603050405020304" pitchFamily="18" charset="0"/>
                <a:cs typeface="Times New Roman" panose="02020603050405020304" pitchFamily="18" charset="0"/>
              </a:rPr>
              <a:t> A39X </a:t>
            </a:r>
            <a:r>
              <a:rPr lang="en-US" sz="1400" dirty="0" err="1">
                <a:solidFill>
                  <a:srgbClr val="203864"/>
                </a:solidFill>
                <a:latin typeface="Times New Roman" panose="02020603050405020304" pitchFamily="18" charset="0"/>
                <a:cs typeface="Times New Roman" panose="02020603050405020304" pitchFamily="18" charset="0"/>
              </a:rPr>
              <a:t>trở</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đã</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làm</a:t>
            </a:r>
            <a:r>
              <a:rPr lang="en-US" sz="1400" dirty="0">
                <a:solidFill>
                  <a:srgbClr val="203864"/>
                </a:solidFill>
                <a:latin typeface="Times New Roman" panose="02020603050405020304" pitchFamily="18" charset="0"/>
                <a:cs typeface="Times New Roman" panose="02020603050405020304" pitchFamily="18" charset="0"/>
              </a:rPr>
              <a:t> Mod </a:t>
            </a:r>
            <a:r>
              <a:rPr lang="en-US" sz="1400" dirty="0" err="1">
                <a:solidFill>
                  <a:srgbClr val="203864"/>
                </a:solidFill>
                <a:latin typeface="Times New Roman" panose="02020603050405020304" pitchFamily="18" charset="0"/>
                <a:cs typeface="Times New Roman" panose="02020603050405020304" pitchFamily="18" charset="0"/>
              </a:rPr>
              <a:t>thay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ống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mới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từ</a:t>
            </a:r>
            <a:r>
              <a:rPr lang="en-US" sz="1400" dirty="0">
                <a:solidFill>
                  <a:srgbClr val="203864"/>
                </a:solidFill>
                <a:latin typeface="Times New Roman" panose="02020603050405020304" pitchFamily="18" charset="0"/>
                <a:cs typeface="Times New Roman" panose="02020603050405020304" pitchFamily="18" charset="0"/>
              </a:rPr>
              <a:t> delivery, chi </a:t>
            </a:r>
            <a:r>
              <a:rPr lang="en-US" sz="1400" dirty="0" err="1">
                <a:solidFill>
                  <a:srgbClr val="203864"/>
                </a:solidFill>
                <a:latin typeface="Times New Roman" panose="02020603050405020304" pitchFamily="18" charset="0"/>
                <a:cs typeface="Times New Roman" panose="02020603050405020304" pitchFamily="18" charset="0"/>
              </a:rPr>
              <a:t>phí</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làm</a:t>
            </a:r>
            <a:r>
              <a:rPr lang="en-US" sz="1400" dirty="0">
                <a:solidFill>
                  <a:srgbClr val="203864"/>
                </a:solidFill>
                <a:latin typeface="Times New Roman" panose="02020603050405020304" pitchFamily="18" charset="0"/>
                <a:cs typeface="Times New Roman" panose="02020603050405020304" pitchFamily="18" charset="0"/>
              </a:rPr>
              <a:t> SB </a:t>
            </a:r>
            <a:r>
              <a:rPr lang="en-US" sz="1400" dirty="0" err="1">
                <a:solidFill>
                  <a:srgbClr val="203864"/>
                </a:solidFill>
                <a:latin typeface="Times New Roman" panose="02020603050405020304" pitchFamily="18" charset="0"/>
                <a:cs typeface="Times New Roman" panose="02020603050405020304" pitchFamily="18" charset="0"/>
              </a:rPr>
              <a:t>để</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thay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ống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mới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khoảng</a:t>
            </a:r>
            <a:r>
              <a:rPr lang="en-US" sz="1400" dirty="0">
                <a:solidFill>
                  <a:srgbClr val="203864"/>
                </a:solidFill>
                <a:latin typeface="Times New Roman" panose="02020603050405020304" pitchFamily="18" charset="0"/>
                <a:cs typeface="Times New Roman" panose="02020603050405020304" pitchFamily="18" charset="0"/>
              </a:rPr>
              <a:t> 8000 USD/1 </a:t>
            </a:r>
            <a:r>
              <a:rPr lang="en-US" sz="1400" dirty="0" err="1">
                <a:solidFill>
                  <a:srgbClr val="203864"/>
                </a:solidFill>
                <a:latin typeface="Times New Roman" panose="02020603050405020304" pitchFamily="18" charset="0"/>
                <a:cs typeface="Times New Roman" panose="02020603050405020304" pitchFamily="18" charset="0"/>
              </a:rPr>
              <a:t>tàu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và</a:t>
            </a:r>
            <a:r>
              <a:rPr lang="en-US" sz="1400" dirty="0">
                <a:solidFill>
                  <a:srgbClr val="203864"/>
                </a:solidFill>
                <a:latin typeface="Times New Roman" panose="02020603050405020304" pitchFamily="18" charset="0"/>
                <a:cs typeface="Times New Roman" panose="02020603050405020304" pitchFamily="18" charset="0"/>
              </a:rPr>
              <a:t> chi </a:t>
            </a:r>
            <a:r>
              <a:rPr lang="en-US" sz="1400" dirty="0" err="1">
                <a:solidFill>
                  <a:srgbClr val="203864"/>
                </a:solidFill>
                <a:latin typeface="Times New Roman" panose="02020603050405020304" pitchFamily="18" charset="0"/>
                <a:cs typeface="Times New Roman" panose="02020603050405020304" pitchFamily="18" charset="0"/>
              </a:rPr>
              <a:t>phí</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thay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ống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mới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khoảng</a:t>
            </a:r>
            <a:r>
              <a:rPr lang="en-US" sz="1400" dirty="0">
                <a:solidFill>
                  <a:srgbClr val="203864"/>
                </a:solidFill>
                <a:latin typeface="Times New Roman" panose="02020603050405020304" pitchFamily="18" charset="0"/>
                <a:cs typeface="Times New Roman" panose="02020603050405020304" pitchFamily="18" charset="0"/>
              </a:rPr>
              <a:t> 4000 USD 1 </a:t>
            </a:r>
            <a:r>
              <a:rPr lang="en-US" sz="1400" dirty="0" err="1">
                <a:solidFill>
                  <a:srgbClr val="203864"/>
                </a:solidFill>
                <a:latin typeface="Times New Roman" panose="02020603050405020304" pitchFamily="18" charset="0"/>
                <a:cs typeface="Times New Roman" panose="02020603050405020304" pitchFamily="18" charset="0"/>
              </a:rPr>
              <a:t>ống</a:t>
            </a:r>
            <a:endParaRPr lang="en-US" sz="1400" dirty="0">
              <a:solidFill>
                <a:srgbClr val="203864"/>
              </a:solidFill>
              <a:latin typeface="Times New Roman" panose="02020603050405020304" pitchFamily="18" charset="0"/>
              <a:cs typeface="Times New Roman" panose="02020603050405020304" pitchFamily="18" charset="0"/>
            </a:endParaRPr>
          </a:p>
        </p:txBody>
      </p:sp>
      <p:pic>
        <p:nvPicPr>
          <p:cNvPr id="105" name="Picture 104">
            <a:extLst>
              <a:ext uri="{FF2B5EF4-FFF2-40B4-BE49-F238E27FC236}">
                <a16:creationId xmlns:a16="http://schemas.microsoft.com/office/drawing/2014/main" id="{6C0963AF-2C0C-426C-8070-5E29C3C95D73}"/>
              </a:ext>
            </a:extLst>
          </p:cNvPr>
          <p:cNvPicPr>
            <a:picLocks noChangeAspect="1"/>
          </p:cNvPicPr>
          <p:nvPr/>
        </p:nvPicPr>
        <p:blipFill>
          <a:blip r:embed="rId3"/>
          <a:stretch>
            <a:fillRect/>
          </a:stretch>
        </p:blipFill>
        <p:spPr>
          <a:xfrm>
            <a:off x="365624" y="2419483"/>
            <a:ext cx="510877" cy="512345"/>
          </a:xfrm>
          <a:prstGeom prst="rect">
            <a:avLst/>
          </a:prstGeom>
        </p:spPr>
      </p:pic>
      <p:grpSp>
        <p:nvGrpSpPr>
          <p:cNvPr id="43" name="Group 42">
            <a:extLst>
              <a:ext uri="{FF2B5EF4-FFF2-40B4-BE49-F238E27FC236}">
                <a16:creationId xmlns:a16="http://schemas.microsoft.com/office/drawing/2014/main" id="{96848787-7A9F-4F52-ABC0-1107EA34F5F0}"/>
              </a:ext>
            </a:extLst>
          </p:cNvPr>
          <p:cNvGrpSpPr/>
          <p:nvPr/>
        </p:nvGrpSpPr>
        <p:grpSpPr>
          <a:xfrm>
            <a:off x="795408" y="288234"/>
            <a:ext cx="11396592" cy="678753"/>
            <a:chOff x="976560" y="323070"/>
            <a:chExt cx="10755065" cy="678753"/>
          </a:xfrm>
        </p:grpSpPr>
        <p:cxnSp>
          <p:nvCxnSpPr>
            <p:cNvPr id="44" name="Straight Connector 43">
              <a:extLst>
                <a:ext uri="{FF2B5EF4-FFF2-40B4-BE49-F238E27FC236}">
                  <a16:creationId xmlns:a16="http://schemas.microsoft.com/office/drawing/2014/main" id="{EF38EC88-2153-4950-B37C-5AA23CFFE443}"/>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id="{E261425C-3820-49B8-A55E-025BA5C93B4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3" name="Rectangle 2">
            <a:extLst>
              <a:ext uri="{FF2B5EF4-FFF2-40B4-BE49-F238E27FC236}">
                <a16:creationId xmlns:a16="http://schemas.microsoft.com/office/drawing/2014/main" id="{44661636-EB8A-415F-84D1-76873A64495B}"/>
              </a:ext>
            </a:extLst>
          </p:cNvPr>
          <p:cNvSpPr/>
          <p:nvPr/>
        </p:nvSpPr>
        <p:spPr>
          <a:xfrm>
            <a:off x="347568" y="753635"/>
            <a:ext cx="389850" cy="369332"/>
          </a:xfrm>
          <a:prstGeom prst="rect">
            <a:avLst/>
          </a:prstGeom>
        </p:spPr>
        <p:txBody>
          <a:bodyPr wrap="none">
            <a:spAutoFit/>
          </a:bodyPr>
          <a:lstStyle/>
          <a:p>
            <a:r>
              <a:rPr lang="en-US" b="1">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sym typeface="Wingdings" panose="05000000000000000000" pitchFamily="2" charset="2"/>
              </a:rPr>
              <a:t></a:t>
            </a:r>
            <a:endParaRPr lang="en-US"/>
          </a:p>
        </p:txBody>
      </p:sp>
      <p:sp>
        <p:nvSpPr>
          <p:cNvPr id="18" name="TextBox 17">
            <a:extLst>
              <a:ext uri="{FF2B5EF4-FFF2-40B4-BE49-F238E27FC236}">
                <a16:creationId xmlns:a16="http://schemas.microsoft.com/office/drawing/2014/main" id="{B299EA22-CE66-4152-AA3B-0EE67E068BED}"/>
              </a:ext>
            </a:extLst>
          </p:cNvPr>
          <p:cNvSpPr txBox="1"/>
          <p:nvPr/>
        </p:nvSpPr>
        <p:spPr>
          <a:xfrm>
            <a:off x="927866" y="4152735"/>
            <a:ext cx="1969253" cy="369332"/>
          </a:xfrm>
          <a:prstGeom prst="rect">
            <a:avLst/>
          </a:prstGeom>
          <a:noFill/>
        </p:spPr>
        <p:txBody>
          <a:bodyPr wrap="square" rtlCol="0">
            <a:spAutoFit/>
          </a:bodyPr>
          <a:lstStyle/>
          <a:p>
            <a:pPr algn="just">
              <a:spcBef>
                <a:spcPts val="600"/>
              </a:spcBef>
              <a:defRPr/>
            </a:pP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Giải</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pháp</a:t>
            </a:r>
            <a:endPar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24EBB0B7-3B29-442D-AB18-AC8C4C118BD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5624" y="3981203"/>
            <a:ext cx="550890" cy="464480"/>
          </a:xfrm>
          <a:prstGeom prst="rect">
            <a:avLst/>
          </a:prstGeom>
        </p:spPr>
      </p:pic>
      <p:sp>
        <p:nvSpPr>
          <p:cNvPr id="6" name="Rectangle 5">
            <a:extLst>
              <a:ext uri="{FF2B5EF4-FFF2-40B4-BE49-F238E27FC236}">
                <a16:creationId xmlns:a16="http://schemas.microsoft.com/office/drawing/2014/main" id="{8577CEAE-802D-4767-9717-645CEE87B488}"/>
              </a:ext>
            </a:extLst>
          </p:cNvPr>
          <p:cNvSpPr/>
          <p:nvPr/>
        </p:nvSpPr>
        <p:spPr>
          <a:xfrm>
            <a:off x="795407" y="4522067"/>
            <a:ext cx="8305869" cy="1261884"/>
          </a:xfrm>
          <a:prstGeom prst="rect">
            <a:avLst/>
          </a:prstGeom>
        </p:spPr>
        <p:txBody>
          <a:bodyPr wrap="square">
            <a:spAutoFit/>
          </a:bodyPr>
          <a:lstStyle/>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Thay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thế</a:t>
            </a:r>
            <a:r>
              <a:rPr lang="en-US" sz="1400" dirty="0">
                <a:solidFill>
                  <a:srgbClr val="203864"/>
                </a:solidFill>
                <a:latin typeface="Times New Roman" panose="02020603050405020304" pitchFamily="18" charset="0"/>
                <a:cs typeface="Times New Roman" panose="02020603050405020304" pitchFamily="18" charset="0"/>
              </a:rPr>
              <a:t> hose </a:t>
            </a:r>
            <a:r>
              <a:rPr lang="en-US" sz="1400" dirty="0" err="1">
                <a:solidFill>
                  <a:srgbClr val="203864"/>
                </a:solidFill>
                <a:latin typeface="Times New Roman" panose="02020603050405020304" pitchFamily="18" charset="0"/>
                <a:cs typeface="Times New Roman" panose="02020603050405020304" pitchFamily="18" charset="0"/>
              </a:rPr>
              <a:t>theo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tần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suất</a:t>
            </a:r>
            <a:r>
              <a:rPr lang="en-US" sz="1400" dirty="0">
                <a:solidFill>
                  <a:srgbClr val="203864"/>
                </a:solidFill>
                <a:latin typeface="Times New Roman" panose="02020603050405020304" pitchFamily="18" charset="0"/>
                <a:cs typeface="Times New Roman" panose="02020603050405020304" pitchFamily="18" charset="0"/>
              </a:rPr>
              <a:t> 6000FC </a:t>
            </a:r>
            <a:r>
              <a:rPr lang="en-US" sz="1400" dirty="0" err="1">
                <a:solidFill>
                  <a:srgbClr val="203864"/>
                </a:solidFill>
                <a:latin typeface="Times New Roman" panose="02020603050405020304" pitchFamily="18" charset="0"/>
                <a:cs typeface="Times New Roman" panose="02020603050405020304" pitchFamily="18" charset="0"/>
              </a:rPr>
              <a:t>cho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các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tàu</a:t>
            </a:r>
            <a:r>
              <a:rPr lang="en-US" sz="1400" dirty="0">
                <a:solidFill>
                  <a:srgbClr val="203864"/>
                </a:solidFill>
                <a:latin typeface="Times New Roman" panose="02020603050405020304" pitchFamily="18" charset="0"/>
                <a:cs typeface="Times New Roman" panose="02020603050405020304" pitchFamily="18" charset="0"/>
              </a:rPr>
              <a:t> pre-mod, </a:t>
            </a:r>
            <a:r>
              <a:rPr lang="en-US" sz="1400" dirty="0" err="1">
                <a:solidFill>
                  <a:srgbClr val="203864"/>
                </a:solidFill>
                <a:latin typeface="Times New Roman" panose="02020603050405020304" pitchFamily="18" charset="0"/>
                <a:cs typeface="Times New Roman" panose="02020603050405020304" pitchFamily="18" charset="0"/>
              </a:rPr>
              <a:t>tàu</a:t>
            </a:r>
            <a:r>
              <a:rPr lang="en-US" sz="1400" dirty="0">
                <a:solidFill>
                  <a:srgbClr val="203864"/>
                </a:solidFill>
                <a:latin typeface="Times New Roman" panose="02020603050405020304" pitchFamily="18" charset="0"/>
                <a:cs typeface="Times New Roman" panose="02020603050405020304" pitchFamily="18" charset="0"/>
              </a:rPr>
              <a:t> A358 </a:t>
            </a:r>
            <a:r>
              <a:rPr lang="en-US" sz="1400" dirty="0" err="1">
                <a:solidFill>
                  <a:srgbClr val="203864"/>
                </a:solidFill>
                <a:latin typeface="Times New Roman" panose="02020603050405020304" pitchFamily="18" charset="0"/>
                <a:cs typeface="Times New Roman" panose="02020603050405020304" pitchFamily="18" charset="0"/>
              </a:rPr>
              <a:t>đã</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thay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từ</a:t>
            </a:r>
            <a:r>
              <a:rPr lang="en-US" sz="1400" dirty="0">
                <a:solidFill>
                  <a:srgbClr val="203864"/>
                </a:solidFill>
                <a:latin typeface="Times New Roman" panose="02020603050405020304" pitchFamily="18" charset="0"/>
                <a:cs typeface="Times New Roman" panose="02020603050405020304" pitchFamily="18" charset="0"/>
              </a:rPr>
              <a:t> 03/2021 </a:t>
            </a:r>
            <a:r>
              <a:rPr lang="en-US" sz="1400" dirty="0" err="1">
                <a:solidFill>
                  <a:srgbClr val="203864"/>
                </a:solidFill>
                <a:latin typeface="Times New Roman" panose="02020603050405020304" pitchFamily="18" charset="0"/>
                <a:cs typeface="Times New Roman" panose="02020603050405020304" pitchFamily="18" charset="0"/>
              </a:rPr>
              <a:t>và</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hạn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thay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tiếp</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theo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khoảng</a:t>
            </a:r>
            <a:r>
              <a:rPr lang="en-US" sz="1400" dirty="0">
                <a:solidFill>
                  <a:srgbClr val="203864"/>
                </a:solidFill>
                <a:latin typeface="Times New Roman" panose="02020603050405020304" pitchFamily="18" charset="0"/>
                <a:cs typeface="Times New Roman" panose="02020603050405020304" pitchFamily="18" charset="0"/>
              </a:rPr>
              <a:t> 05/2025</a:t>
            </a:r>
          </a:p>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Kiểm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tra</a:t>
            </a:r>
            <a:r>
              <a:rPr lang="en-US" sz="1400" dirty="0">
                <a:solidFill>
                  <a:srgbClr val="203864"/>
                </a:solidFill>
                <a:latin typeface="Times New Roman" panose="02020603050405020304" pitchFamily="18" charset="0"/>
                <a:cs typeface="Times New Roman" panose="02020603050405020304" pitchFamily="18" charset="0"/>
              </a:rPr>
              <a:t> leak </a:t>
            </a:r>
            <a:r>
              <a:rPr lang="en-US" sz="1400" dirty="0" err="1">
                <a:solidFill>
                  <a:srgbClr val="203864"/>
                </a:solidFill>
                <a:latin typeface="Times New Roman" panose="02020603050405020304" pitchFamily="18" charset="0"/>
                <a:cs typeface="Times New Roman" panose="02020603050405020304" pitchFamily="18" charset="0"/>
              </a:rPr>
              <a:t>thủy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lực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theo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tần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suất</a:t>
            </a:r>
            <a:r>
              <a:rPr lang="en-US" sz="1400" dirty="0">
                <a:solidFill>
                  <a:srgbClr val="203864"/>
                </a:solidFill>
                <a:latin typeface="Times New Roman" panose="02020603050405020304" pitchFamily="18" charset="0"/>
                <a:cs typeface="Times New Roman" panose="02020603050405020304" pitchFamily="18" charset="0"/>
              </a:rPr>
              <a:t> hang </a:t>
            </a:r>
            <a:r>
              <a:rPr lang="en-US" sz="1400" dirty="0" err="1">
                <a:solidFill>
                  <a:srgbClr val="203864"/>
                </a:solidFill>
                <a:latin typeface="Times New Roman" panose="02020603050405020304" pitchFamily="18" charset="0"/>
                <a:cs typeface="Times New Roman" panose="02020603050405020304" pitchFamily="18" charset="0"/>
              </a:rPr>
              <a:t>năm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để</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phát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hiện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hỏng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hóc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tiềm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ẩn</a:t>
            </a:r>
            <a:endParaRPr lang="en-US" sz="1400" dirty="0">
              <a:solidFill>
                <a:srgbClr val="203864"/>
              </a:solidFill>
              <a:latin typeface="Times New Roman" panose="02020603050405020304" pitchFamily="18" charset="0"/>
              <a:cs typeface="Times New Roman" panose="02020603050405020304" pitchFamily="18" charset="0"/>
            </a:endParaRPr>
          </a:p>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Đặt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sẵn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ống</a:t>
            </a:r>
            <a:r>
              <a:rPr lang="en-US" sz="1400" dirty="0">
                <a:solidFill>
                  <a:srgbClr val="203864"/>
                </a:solidFill>
                <a:latin typeface="Times New Roman" panose="02020603050405020304" pitchFamily="18" charset="0"/>
                <a:cs typeface="Times New Roman" panose="02020603050405020304" pitchFamily="18" charset="0"/>
              </a:rPr>
              <a:t> spare </a:t>
            </a:r>
            <a:r>
              <a:rPr lang="en-US" sz="1400" dirty="0" err="1">
                <a:solidFill>
                  <a:srgbClr val="203864"/>
                </a:solidFill>
                <a:latin typeface="Times New Roman" panose="02020603050405020304" pitchFamily="18" charset="0"/>
                <a:cs typeface="Times New Roman" panose="02020603050405020304" pitchFamily="18" charset="0"/>
              </a:rPr>
              <a:t>trên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các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tàu</a:t>
            </a:r>
            <a:r>
              <a:rPr lang="en-US" sz="1400" dirty="0">
                <a:solidFill>
                  <a:srgbClr val="203864"/>
                </a:solidFill>
                <a:latin typeface="Times New Roman" panose="02020603050405020304" pitchFamily="18" charset="0"/>
                <a:cs typeface="Times New Roman" panose="02020603050405020304" pitchFamily="18" charset="0"/>
              </a:rPr>
              <a:t> A35x </a:t>
            </a:r>
            <a:r>
              <a:rPr lang="en-US" sz="1400" dirty="0" err="1">
                <a:solidFill>
                  <a:srgbClr val="203864"/>
                </a:solidFill>
                <a:latin typeface="Times New Roman" panose="02020603050405020304" pitchFamily="18" charset="0"/>
                <a:cs typeface="Times New Roman" panose="02020603050405020304" pitchFamily="18" charset="0"/>
              </a:rPr>
              <a:t>để</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thực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hiện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thay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thế</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ngay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xảy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ra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hỏng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hóc</a:t>
            </a:r>
            <a:endParaRPr lang="en-US" sz="1400" dirty="0">
              <a:solidFill>
                <a:srgbClr val="203864"/>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7733A97-D40C-2B4F-4604-2B89B1DE08BA}"/>
              </a:ext>
            </a:extLst>
          </p:cNvPr>
          <p:cNvPicPr>
            <a:picLocks noChangeAspect="1"/>
          </p:cNvPicPr>
          <p:nvPr/>
        </p:nvPicPr>
        <p:blipFill>
          <a:blip r:embed="rId6"/>
          <a:stretch>
            <a:fillRect/>
          </a:stretch>
        </p:blipFill>
        <p:spPr>
          <a:xfrm>
            <a:off x="10160476" y="800789"/>
            <a:ext cx="1505027" cy="1301817"/>
          </a:xfrm>
          <a:prstGeom prst="rect">
            <a:avLst/>
          </a:prstGeom>
        </p:spPr>
      </p:pic>
    </p:spTree>
    <p:extLst>
      <p:ext uri="{BB962C8B-B14F-4D97-AF65-F5344CB8AC3E}">
        <p14:creationId xmlns:p14="http://schemas.microsoft.com/office/powerpoint/2010/main" val="5737125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92260-660D-D027-A580-1ACF85D8EC9B}"/>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41E2D192-73BA-CFC8-4835-6636B4250492}"/>
              </a:ext>
            </a:extLst>
          </p:cNvPr>
          <p:cNvSpPr txBox="1"/>
          <p:nvPr/>
        </p:nvSpPr>
        <p:spPr>
          <a:xfrm>
            <a:off x="737417" y="168860"/>
            <a:ext cx="10293572" cy="523220"/>
          </a:xfrm>
          <a:prstGeom prst="rect">
            <a:avLst/>
          </a:prstGeom>
          <a:noFill/>
        </p:spPr>
        <p:txBody>
          <a:bodyPr wrap="square" rtlCol="0">
            <a:spAutoFit/>
          </a:bodyPr>
          <a:lstStyle/>
          <a:p>
            <a:pPr algn="just"/>
            <a:r>
              <a:rPr lang="en-US" sz="2800" b="1" dirty="0">
                <a:solidFill>
                  <a:srgbClr val="DEA610"/>
                </a:solidFill>
                <a:latin typeface="Times New Roman" panose="02020603050405020304" pitchFamily="18" charset="0"/>
                <a:cs typeface="Times New Roman" panose="02020603050405020304" pitchFamily="18" charset="0"/>
              </a:rPr>
              <a:t>A321 – ATA 30 – ANTI ICE PROBE</a:t>
            </a:r>
          </a:p>
        </p:txBody>
      </p:sp>
      <p:sp>
        <p:nvSpPr>
          <p:cNvPr id="25" name="Rectangle: Single Corner Rounded 24">
            <a:extLst>
              <a:ext uri="{FF2B5EF4-FFF2-40B4-BE49-F238E27FC236}">
                <a16:creationId xmlns:a16="http://schemas.microsoft.com/office/drawing/2014/main" id="{95BF05C0-A2A7-2A67-8125-09DAFA8350AB}"/>
              </a:ext>
            </a:extLst>
          </p:cNvPr>
          <p:cNvSpPr/>
          <p:nvPr/>
        </p:nvSpPr>
        <p:spPr>
          <a:xfrm flipH="1" flipV="1">
            <a:off x="302018" y="790661"/>
            <a:ext cx="11496864" cy="1298365"/>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622BCB92-960C-9B1F-952A-1AB21E9CB305}"/>
              </a:ext>
            </a:extLst>
          </p:cNvPr>
          <p:cNvSpPr/>
          <p:nvPr/>
        </p:nvSpPr>
        <p:spPr>
          <a:xfrm>
            <a:off x="782968" y="785145"/>
            <a:ext cx="10069062" cy="461665"/>
          </a:xfrm>
          <a:prstGeom prst="rect">
            <a:avLst/>
          </a:prstGeom>
        </p:spPr>
        <p:txBody>
          <a:bodyPr wrap="square">
            <a:spAutoFit/>
          </a:bodyPr>
          <a:lstStyle/>
          <a:p>
            <a:pPr lvl="0">
              <a:defRPr/>
            </a:pP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A353 GTB due to ANTI ICE STBY PROBES</a:t>
            </a:r>
            <a:r>
              <a:rPr lang="en-US" sz="24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	</a:t>
            </a:r>
          </a:p>
        </p:txBody>
      </p:sp>
      <p:sp>
        <p:nvSpPr>
          <p:cNvPr id="27" name="Rectangle 26">
            <a:extLst>
              <a:ext uri="{FF2B5EF4-FFF2-40B4-BE49-F238E27FC236}">
                <a16:creationId xmlns:a16="http://schemas.microsoft.com/office/drawing/2014/main" id="{685F8813-AF5A-3FB6-27D0-2523F6866983}"/>
              </a:ext>
            </a:extLst>
          </p:cNvPr>
          <p:cNvSpPr/>
          <p:nvPr/>
        </p:nvSpPr>
        <p:spPr>
          <a:xfrm>
            <a:off x="737417" y="1210054"/>
            <a:ext cx="10882536" cy="600164"/>
          </a:xfrm>
          <a:prstGeom prst="rect">
            <a:avLst/>
          </a:prstGeom>
        </p:spPr>
        <p:txBody>
          <a:bodyPr wrap="square">
            <a:spAutoFit/>
          </a:bodyPr>
          <a:lstStyle/>
          <a:p>
            <a:pPr marL="285750" indent="-285750">
              <a:spcBef>
                <a:spcPts val="600"/>
              </a:spcBef>
              <a:buFont typeface="Arial" panose="020B0604020202020204" pitchFamily="34" charset="0"/>
              <a:buChar char="•"/>
            </a:pP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VN7402 A353 during push back and start ENG A/C has msg: ANTI ICE PROBES.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Capt</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decide RTG (NO CALL VHF)</a:t>
            </a:r>
          </a:p>
          <a:p>
            <a:pPr marL="285750" indent="-285750">
              <a:spcBef>
                <a:spcPts val="600"/>
              </a:spcBef>
              <a:buFont typeface="Arial" panose="020B0604020202020204" pitchFamily="34" charset="0"/>
              <a:buChar char="•"/>
            </a:pPr>
            <a:r>
              <a:rPr lang="en-US" sz="1400" dirty="0" err="1">
                <a:solidFill>
                  <a:srgbClr val="203864"/>
                </a:solidFill>
                <a:latin typeface="Times New Roman" panose="02020603050405020304" pitchFamily="18" charset="0"/>
                <a:cs typeface="Times New Roman" panose="02020603050405020304" pitchFamily="18" charset="0"/>
              </a:rPr>
              <a:t>Nguyên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nhân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là</a:t>
            </a:r>
            <a:r>
              <a:rPr lang="en-US" sz="1400" dirty="0">
                <a:solidFill>
                  <a:srgbClr val="203864"/>
                </a:solidFill>
                <a:latin typeface="Times New Roman" panose="02020603050405020304" pitchFamily="18" charset="0"/>
                <a:cs typeface="Times New Roman" panose="02020603050405020304" pitchFamily="18" charset="0"/>
              </a:rPr>
              <a:t> do </a:t>
            </a:r>
            <a:r>
              <a:rPr lang="en-US" sz="1400" dirty="0" err="1">
                <a:solidFill>
                  <a:srgbClr val="203864"/>
                </a:solidFill>
                <a:latin typeface="Times New Roman" panose="02020603050405020304" pitchFamily="18" charset="0"/>
                <a:cs typeface="Times New Roman" panose="02020603050405020304" pitchFamily="18" charset="0"/>
              </a:rPr>
              <a:t>báo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giả</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trong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khởi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động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động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cơ</a:t>
            </a:r>
            <a:endParaRPr lang="en-US" sz="1400" dirty="0">
              <a:solidFill>
                <a:srgbClr val="203864"/>
              </a:solidFill>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715F3207-FF08-D52C-5BE2-5463DB5D45D8}"/>
              </a:ext>
            </a:extLst>
          </p:cNvPr>
          <p:cNvSpPr txBox="1"/>
          <p:nvPr/>
        </p:nvSpPr>
        <p:spPr>
          <a:xfrm>
            <a:off x="795408" y="2477974"/>
            <a:ext cx="2662062" cy="369332"/>
          </a:xfrm>
          <a:prstGeom prst="rect">
            <a:avLst/>
          </a:prstGeom>
          <a:noFill/>
        </p:spPr>
        <p:txBody>
          <a:bodyPr wrap="square" rtlCol="0">
            <a:spAutoFit/>
          </a:bodyPr>
          <a:lstStyle/>
          <a:p>
            <a:pPr lvl="0" algn="just">
              <a:spcBef>
                <a:spcPts val="600"/>
              </a:spcBef>
              <a:defRPr/>
            </a:pP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Phân</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tích</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Đánh</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giá</a:t>
            </a:r>
            <a:endPar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102" name="TextBox 101">
            <a:extLst>
              <a:ext uri="{FF2B5EF4-FFF2-40B4-BE49-F238E27FC236}">
                <a16:creationId xmlns:a16="http://schemas.microsoft.com/office/drawing/2014/main" id="{79864F8F-A08D-94D5-BC91-5E98657C9062}"/>
              </a:ext>
            </a:extLst>
          </p:cNvPr>
          <p:cNvSpPr txBox="1"/>
          <p:nvPr/>
        </p:nvSpPr>
        <p:spPr>
          <a:xfrm>
            <a:off x="795407" y="2990319"/>
            <a:ext cx="11030969" cy="1261884"/>
          </a:xfrm>
          <a:prstGeom prst="rect">
            <a:avLst/>
          </a:prstGeom>
          <a:noFill/>
        </p:spPr>
        <p:txBody>
          <a:bodyPr wrap="square" rtlCol="0">
            <a:spAutoFit/>
          </a:bodyPr>
          <a:lstStyle/>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Hiện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tượng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cảnh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báo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liên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quan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đến</a:t>
            </a:r>
            <a:r>
              <a:rPr lang="en-US" sz="1400" dirty="0">
                <a:solidFill>
                  <a:srgbClr val="203864"/>
                </a:solidFill>
                <a:latin typeface="Times New Roman" panose="02020603050405020304" pitchFamily="18" charset="0"/>
                <a:cs typeface="Times New Roman" panose="02020603050405020304" pitchFamily="18" charset="0"/>
              </a:rPr>
              <a:t> Anti ice probes </a:t>
            </a:r>
            <a:r>
              <a:rPr lang="en-US" sz="1400" dirty="0" err="1">
                <a:solidFill>
                  <a:srgbClr val="203864"/>
                </a:solidFill>
                <a:latin typeface="Times New Roman" panose="02020603050405020304" pitchFamily="18" charset="0"/>
                <a:cs typeface="Times New Roman" panose="02020603050405020304" pitchFamily="18" charset="0"/>
              </a:rPr>
              <a:t>khi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khởi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động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động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cơ</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đã</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được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nhận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diện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hầu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hết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các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trường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hợp</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sau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khi</a:t>
            </a:r>
            <a:r>
              <a:rPr lang="en-US" sz="1400" dirty="0">
                <a:solidFill>
                  <a:srgbClr val="203864"/>
                </a:solidFill>
                <a:latin typeface="Times New Roman" panose="02020603050405020304" pitchFamily="18" charset="0"/>
                <a:cs typeface="Times New Roman" panose="02020603050405020304" pitchFamily="18" charset="0"/>
              </a:rPr>
              <a:t> reset </a:t>
            </a:r>
            <a:r>
              <a:rPr lang="en-US" sz="1400" dirty="0" err="1">
                <a:solidFill>
                  <a:srgbClr val="203864"/>
                </a:solidFill>
                <a:latin typeface="Times New Roman" panose="02020603050405020304" pitchFamily="18" charset="0"/>
                <a:cs typeface="Times New Roman" panose="02020603050405020304" pitchFamily="18" charset="0"/>
              </a:rPr>
              <a:t>máy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tính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thì</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không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còn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cảnh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báo</a:t>
            </a:r>
            <a:endParaRPr lang="en-US" sz="1400" dirty="0">
              <a:solidFill>
                <a:srgbClr val="203864"/>
              </a:solidFill>
              <a:latin typeface="Times New Roman" panose="02020603050405020304" pitchFamily="18" charset="0"/>
              <a:cs typeface="Times New Roman" panose="02020603050405020304" pitchFamily="18" charset="0"/>
            </a:endParaRPr>
          </a:p>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Ban KT </a:t>
            </a:r>
            <a:r>
              <a:rPr lang="en-US" sz="1400" dirty="0" err="1">
                <a:solidFill>
                  <a:srgbClr val="203864"/>
                </a:solidFill>
                <a:latin typeface="Times New Roman" panose="02020603050405020304" pitchFamily="18" charset="0"/>
                <a:cs typeface="Times New Roman" panose="02020603050405020304" pitchFamily="18" charset="0"/>
              </a:rPr>
              <a:t>đã</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phối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hợp</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với</a:t>
            </a:r>
            <a:r>
              <a:rPr lang="en-US" sz="1400" dirty="0">
                <a:solidFill>
                  <a:srgbClr val="203864"/>
                </a:solidFill>
                <a:latin typeface="Times New Roman" panose="02020603050405020304" pitchFamily="18" charset="0"/>
                <a:cs typeface="Times New Roman" panose="02020603050405020304" pitchFamily="18" charset="0"/>
              </a:rPr>
              <a:t> OCC ban </a:t>
            </a:r>
            <a:r>
              <a:rPr lang="en-US" sz="1400" dirty="0" err="1">
                <a:solidFill>
                  <a:srgbClr val="203864"/>
                </a:solidFill>
                <a:latin typeface="Times New Roman" panose="02020603050405020304" pitchFamily="18" charset="0"/>
                <a:cs typeface="Times New Roman" panose="02020603050405020304" pitchFamily="18" charset="0"/>
              </a:rPr>
              <a:t>hành</a:t>
            </a:r>
            <a:r>
              <a:rPr lang="en-US" sz="1400" dirty="0">
                <a:solidFill>
                  <a:srgbClr val="203864"/>
                </a:solidFill>
                <a:latin typeface="Times New Roman" panose="02020603050405020304" pitchFamily="18" charset="0"/>
                <a:cs typeface="Times New Roman" panose="02020603050405020304" pitchFamily="18" charset="0"/>
              </a:rPr>
              <a:t> FON 2024/007 </a:t>
            </a:r>
            <a:r>
              <a:rPr lang="en-US" sz="1400" dirty="0" err="1">
                <a:solidFill>
                  <a:srgbClr val="203864"/>
                </a:solidFill>
                <a:latin typeface="Times New Roman" panose="02020603050405020304" pitchFamily="18" charset="0"/>
                <a:cs typeface="Times New Roman" panose="02020603050405020304" pitchFamily="18" charset="0"/>
              </a:rPr>
              <a:t>hướng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dẫn</a:t>
            </a:r>
            <a:r>
              <a:rPr lang="en-US" sz="1400" dirty="0">
                <a:solidFill>
                  <a:srgbClr val="203864"/>
                </a:solidFill>
                <a:latin typeface="Times New Roman" panose="02020603050405020304" pitchFamily="18" charset="0"/>
                <a:cs typeface="Times New Roman" panose="02020603050405020304" pitchFamily="18" charset="0"/>
              </a:rPr>
              <a:t> reset </a:t>
            </a:r>
            <a:r>
              <a:rPr lang="en-US" sz="1400" dirty="0" err="1">
                <a:solidFill>
                  <a:srgbClr val="203864"/>
                </a:solidFill>
                <a:latin typeface="Times New Roman" panose="02020603050405020304" pitchFamily="18" charset="0"/>
                <a:cs typeface="Times New Roman" panose="02020603050405020304" pitchFamily="18" charset="0"/>
              </a:rPr>
              <a:t>bằng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cách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ngắt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cầu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chì</a:t>
            </a:r>
            <a:endParaRPr lang="en-US" sz="1400" dirty="0">
              <a:solidFill>
                <a:srgbClr val="203864"/>
              </a:solidFill>
              <a:latin typeface="Times New Roman" panose="02020603050405020304" pitchFamily="18" charset="0"/>
              <a:cs typeface="Times New Roman" panose="02020603050405020304" pitchFamily="18" charset="0"/>
            </a:endParaRPr>
          </a:p>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Theo </a:t>
            </a:r>
            <a:r>
              <a:rPr lang="en-US" sz="1400" dirty="0" err="1">
                <a:solidFill>
                  <a:srgbClr val="203864"/>
                </a:solidFill>
                <a:latin typeface="Times New Roman" panose="02020603050405020304" pitchFamily="18" charset="0"/>
                <a:cs typeface="Times New Roman" panose="02020603050405020304" pitchFamily="18" charset="0"/>
              </a:rPr>
              <a:t>báo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cáo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của</a:t>
            </a:r>
            <a:r>
              <a:rPr lang="en-US" sz="1400" dirty="0">
                <a:solidFill>
                  <a:srgbClr val="203864"/>
                </a:solidFill>
                <a:latin typeface="Times New Roman" panose="02020603050405020304" pitchFamily="18" charset="0"/>
                <a:cs typeface="Times New Roman" panose="02020603050405020304" pitchFamily="18" charset="0"/>
              </a:rPr>
              <a:t> PC, do </a:t>
            </a:r>
            <a:r>
              <a:rPr lang="en-US" sz="1400" dirty="0" err="1">
                <a:solidFill>
                  <a:srgbClr val="203864"/>
                </a:solidFill>
                <a:latin typeface="Times New Roman" panose="02020603050405020304" pitchFamily="18" charset="0"/>
                <a:cs typeface="Times New Roman" panose="02020603050405020304" pitchFamily="18" charset="0"/>
              </a:rPr>
              <a:t>không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có</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đủ</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thời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gian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tài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liệu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nhiều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tàu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đợi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phía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sau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và</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tàu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đang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đỗ</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gần</a:t>
            </a:r>
            <a:r>
              <a:rPr lang="en-US" sz="1400" dirty="0">
                <a:solidFill>
                  <a:srgbClr val="203864"/>
                </a:solidFill>
                <a:latin typeface="Times New Roman" panose="02020603050405020304" pitchFamily="18" charset="0"/>
                <a:cs typeface="Times New Roman" panose="02020603050405020304" pitchFamily="18" charset="0"/>
              </a:rPr>
              <a:t> gate </a:t>
            </a:r>
            <a:r>
              <a:rPr lang="en-US" sz="1400" dirty="0" err="1">
                <a:solidFill>
                  <a:srgbClr val="203864"/>
                </a:solidFill>
                <a:latin typeface="Times New Roman" panose="02020603050405020304" pitchFamily="18" charset="0"/>
                <a:cs typeface="Times New Roman" panose="02020603050405020304" pitchFamily="18" charset="0"/>
              </a:rPr>
              <a:t>nên</a:t>
            </a:r>
            <a:r>
              <a:rPr lang="en-US" sz="1400" dirty="0">
                <a:solidFill>
                  <a:srgbClr val="203864"/>
                </a:solidFill>
                <a:latin typeface="Times New Roman" panose="02020603050405020304" pitchFamily="18" charset="0"/>
                <a:cs typeface="Times New Roman" panose="02020603050405020304" pitchFamily="18" charset="0"/>
              </a:rPr>
              <a:t> OC </a:t>
            </a:r>
            <a:r>
              <a:rPr lang="en-US" sz="1400" dirty="0" err="1">
                <a:solidFill>
                  <a:srgbClr val="203864"/>
                </a:solidFill>
                <a:latin typeface="Times New Roman" panose="02020603050405020304" pitchFamily="18" charset="0"/>
                <a:cs typeface="Times New Roman" panose="02020603050405020304" pitchFamily="18" charset="0"/>
              </a:rPr>
              <a:t>quyết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định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tàu</a:t>
            </a:r>
            <a:r>
              <a:rPr lang="en-US" sz="1400" dirty="0">
                <a:solidFill>
                  <a:srgbClr val="203864"/>
                </a:solidFill>
                <a:latin typeface="Times New Roman" panose="02020603050405020304" pitchFamily="18" charset="0"/>
                <a:cs typeface="Times New Roman" panose="02020603050405020304" pitchFamily="18" charset="0"/>
              </a:rPr>
              <a:t> quay </a:t>
            </a:r>
            <a:r>
              <a:rPr lang="en-US" sz="1400" dirty="0" err="1">
                <a:solidFill>
                  <a:srgbClr val="203864"/>
                </a:solidFill>
                <a:latin typeface="Times New Roman" panose="02020603050405020304" pitchFamily="18" charset="0"/>
                <a:cs typeface="Times New Roman" panose="02020603050405020304" pitchFamily="18" charset="0"/>
              </a:rPr>
              <a:t>lại</a:t>
            </a:r>
            <a:endParaRPr lang="en-US" sz="1400" dirty="0">
              <a:solidFill>
                <a:srgbClr val="203864"/>
              </a:solidFill>
              <a:latin typeface="Times New Roman" panose="02020603050405020304" pitchFamily="18" charset="0"/>
              <a:cs typeface="Times New Roman" panose="02020603050405020304" pitchFamily="18" charset="0"/>
            </a:endParaRPr>
          </a:p>
        </p:txBody>
      </p:sp>
      <p:pic>
        <p:nvPicPr>
          <p:cNvPr id="105" name="Picture 104">
            <a:extLst>
              <a:ext uri="{FF2B5EF4-FFF2-40B4-BE49-F238E27FC236}">
                <a16:creationId xmlns:a16="http://schemas.microsoft.com/office/drawing/2014/main" id="{40EDF8E2-0489-3DE1-8456-E2824B828DE1}"/>
              </a:ext>
            </a:extLst>
          </p:cNvPr>
          <p:cNvPicPr>
            <a:picLocks noChangeAspect="1"/>
          </p:cNvPicPr>
          <p:nvPr/>
        </p:nvPicPr>
        <p:blipFill>
          <a:blip r:embed="rId3"/>
          <a:stretch>
            <a:fillRect/>
          </a:stretch>
        </p:blipFill>
        <p:spPr>
          <a:xfrm>
            <a:off x="365624" y="2419483"/>
            <a:ext cx="510877" cy="512345"/>
          </a:xfrm>
          <a:prstGeom prst="rect">
            <a:avLst/>
          </a:prstGeom>
        </p:spPr>
      </p:pic>
      <p:grpSp>
        <p:nvGrpSpPr>
          <p:cNvPr id="43" name="Group 42">
            <a:extLst>
              <a:ext uri="{FF2B5EF4-FFF2-40B4-BE49-F238E27FC236}">
                <a16:creationId xmlns:a16="http://schemas.microsoft.com/office/drawing/2014/main" id="{0EF8F251-F156-C4FC-73ED-2B171DE7EE71}"/>
              </a:ext>
            </a:extLst>
          </p:cNvPr>
          <p:cNvGrpSpPr/>
          <p:nvPr/>
        </p:nvGrpSpPr>
        <p:grpSpPr>
          <a:xfrm>
            <a:off x="795408" y="288234"/>
            <a:ext cx="11396592" cy="678753"/>
            <a:chOff x="976560" y="323070"/>
            <a:chExt cx="10755065" cy="678753"/>
          </a:xfrm>
        </p:grpSpPr>
        <p:cxnSp>
          <p:nvCxnSpPr>
            <p:cNvPr id="44" name="Straight Connector 43">
              <a:extLst>
                <a:ext uri="{FF2B5EF4-FFF2-40B4-BE49-F238E27FC236}">
                  <a16:creationId xmlns:a16="http://schemas.microsoft.com/office/drawing/2014/main" id="{371BB7EC-FDD8-F2A4-8180-55BED4FDF11F}"/>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id="{D8C366F0-9773-F0E9-D64F-37571869389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3" name="Rectangle 2">
            <a:extLst>
              <a:ext uri="{FF2B5EF4-FFF2-40B4-BE49-F238E27FC236}">
                <a16:creationId xmlns:a16="http://schemas.microsoft.com/office/drawing/2014/main" id="{7D112DD8-DA80-FE6A-637D-EE986576639F}"/>
              </a:ext>
            </a:extLst>
          </p:cNvPr>
          <p:cNvSpPr/>
          <p:nvPr/>
        </p:nvSpPr>
        <p:spPr>
          <a:xfrm>
            <a:off x="347568" y="753635"/>
            <a:ext cx="389850" cy="369332"/>
          </a:xfrm>
          <a:prstGeom prst="rect">
            <a:avLst/>
          </a:prstGeom>
        </p:spPr>
        <p:txBody>
          <a:bodyPr wrap="none">
            <a:spAutoFit/>
          </a:bodyPr>
          <a:lstStyle/>
          <a:p>
            <a:r>
              <a:rPr lang="en-US" b="1">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sym typeface="Wingdings" panose="05000000000000000000" pitchFamily="2" charset="2"/>
              </a:rPr>
              <a:t></a:t>
            </a:r>
            <a:endParaRPr lang="en-US"/>
          </a:p>
        </p:txBody>
      </p:sp>
      <p:sp>
        <p:nvSpPr>
          <p:cNvPr id="18" name="TextBox 17">
            <a:extLst>
              <a:ext uri="{FF2B5EF4-FFF2-40B4-BE49-F238E27FC236}">
                <a16:creationId xmlns:a16="http://schemas.microsoft.com/office/drawing/2014/main" id="{8876A72E-A71B-06CB-9230-06CDBE67DCF7}"/>
              </a:ext>
            </a:extLst>
          </p:cNvPr>
          <p:cNvSpPr txBox="1"/>
          <p:nvPr/>
        </p:nvSpPr>
        <p:spPr>
          <a:xfrm>
            <a:off x="916514" y="4291124"/>
            <a:ext cx="1969253" cy="369332"/>
          </a:xfrm>
          <a:prstGeom prst="rect">
            <a:avLst/>
          </a:prstGeom>
          <a:noFill/>
        </p:spPr>
        <p:txBody>
          <a:bodyPr wrap="square" rtlCol="0">
            <a:spAutoFit/>
          </a:bodyPr>
          <a:lstStyle/>
          <a:p>
            <a:pPr algn="just">
              <a:spcBef>
                <a:spcPts val="600"/>
              </a:spcBef>
              <a:defRPr/>
            </a:pP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Giải</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pháp</a:t>
            </a:r>
            <a:endPar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51154793-8FC7-AE28-14E9-1BD7F96B811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5624" y="4110731"/>
            <a:ext cx="550890" cy="512346"/>
          </a:xfrm>
          <a:prstGeom prst="rect">
            <a:avLst/>
          </a:prstGeom>
        </p:spPr>
      </p:pic>
      <p:sp>
        <p:nvSpPr>
          <p:cNvPr id="6" name="Rectangle 5">
            <a:extLst>
              <a:ext uri="{FF2B5EF4-FFF2-40B4-BE49-F238E27FC236}">
                <a16:creationId xmlns:a16="http://schemas.microsoft.com/office/drawing/2014/main" id="{0C65E5B1-5928-C8C1-CF0C-2658668876E5}"/>
              </a:ext>
            </a:extLst>
          </p:cNvPr>
          <p:cNvSpPr/>
          <p:nvPr/>
        </p:nvSpPr>
        <p:spPr>
          <a:xfrm>
            <a:off x="782968" y="4737511"/>
            <a:ext cx="8305869" cy="677108"/>
          </a:xfrm>
          <a:prstGeom prst="rect">
            <a:avLst/>
          </a:prstGeom>
        </p:spPr>
        <p:txBody>
          <a:bodyPr wrap="square">
            <a:spAutoFit/>
          </a:bodyPr>
          <a:lstStyle/>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Tiếp</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tục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sử</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dụng</a:t>
            </a:r>
            <a:r>
              <a:rPr lang="en-US" sz="1400" dirty="0">
                <a:solidFill>
                  <a:srgbClr val="203864"/>
                </a:solidFill>
                <a:latin typeface="Times New Roman" panose="02020603050405020304" pitchFamily="18" charset="0"/>
                <a:cs typeface="Times New Roman" panose="02020603050405020304" pitchFamily="18" charset="0"/>
              </a:rPr>
              <a:t> FON 2024/007 </a:t>
            </a:r>
            <a:r>
              <a:rPr lang="en-US" sz="1400" dirty="0" err="1">
                <a:solidFill>
                  <a:srgbClr val="203864"/>
                </a:solidFill>
                <a:latin typeface="Times New Roman" panose="02020603050405020304" pitchFamily="18" charset="0"/>
                <a:cs typeface="Times New Roman" panose="02020603050405020304" pitchFamily="18" charset="0"/>
              </a:rPr>
              <a:t>khi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xảy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ra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cảnh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báo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liên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quan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đến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hệ</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thống</a:t>
            </a:r>
            <a:r>
              <a:rPr lang="en-US" sz="1400" dirty="0">
                <a:solidFill>
                  <a:srgbClr val="203864"/>
                </a:solidFill>
                <a:latin typeface="Times New Roman" panose="02020603050405020304" pitchFamily="18" charset="0"/>
                <a:cs typeface="Times New Roman" panose="02020603050405020304" pitchFamily="18" charset="0"/>
              </a:rPr>
              <a:t> anti ice probe</a:t>
            </a:r>
          </a:p>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Xây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dựng</a:t>
            </a:r>
            <a:r>
              <a:rPr lang="en-US" sz="1400" dirty="0">
                <a:solidFill>
                  <a:srgbClr val="203864"/>
                </a:solidFill>
                <a:latin typeface="Times New Roman" panose="02020603050405020304" pitchFamily="18" charset="0"/>
                <a:cs typeface="Times New Roman" panose="02020603050405020304" pitchFamily="18" charset="0"/>
              </a:rPr>
              <a:t> booklet </a:t>
            </a:r>
            <a:r>
              <a:rPr lang="en-US" sz="1400" dirty="0" err="1">
                <a:solidFill>
                  <a:srgbClr val="203864"/>
                </a:solidFill>
                <a:latin typeface="Times New Roman" panose="02020603050405020304" pitchFamily="18" charset="0"/>
                <a:cs typeface="Times New Roman" panose="02020603050405020304" pitchFamily="18" charset="0"/>
              </a:rPr>
              <a:t>để</a:t>
            </a:r>
            <a:r>
              <a:rPr lang="en-US" sz="1400" dirty="0">
                <a:solidFill>
                  <a:srgbClr val="203864"/>
                </a:solidFill>
                <a:latin typeface="Times New Roman" panose="02020603050405020304" pitchFamily="18" charset="0"/>
                <a:cs typeface="Times New Roman" panose="02020603050405020304" pitchFamily="18" charset="0"/>
              </a:rPr>
              <a:t> PC </a:t>
            </a:r>
            <a:r>
              <a:rPr lang="en-US" sz="1400" dirty="0" err="1">
                <a:solidFill>
                  <a:srgbClr val="203864"/>
                </a:solidFill>
                <a:latin typeface="Times New Roman" panose="02020603050405020304" pitchFamily="18" charset="0"/>
                <a:cs typeface="Times New Roman" panose="02020603050405020304" pitchFamily="18" charset="0"/>
              </a:rPr>
              <a:t>tra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cứu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nhanh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và</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thuận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tiện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hơn</a:t>
            </a:r>
            <a:endParaRPr lang="en-US" sz="1400" dirty="0">
              <a:solidFill>
                <a:srgbClr val="20386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5398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FF7D4-83AA-DBC5-E062-62D5C553A66E}"/>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360951DD-9C1E-4F44-8815-80E2382F3694}"/>
              </a:ext>
            </a:extLst>
          </p:cNvPr>
          <p:cNvSpPr txBox="1"/>
          <p:nvPr/>
        </p:nvSpPr>
        <p:spPr>
          <a:xfrm>
            <a:off x="737417" y="168860"/>
            <a:ext cx="10293572" cy="523220"/>
          </a:xfrm>
          <a:prstGeom prst="rect">
            <a:avLst/>
          </a:prstGeom>
          <a:noFill/>
        </p:spPr>
        <p:txBody>
          <a:bodyPr wrap="square" rtlCol="0">
            <a:spAutoFit/>
          </a:bodyPr>
          <a:lstStyle/>
          <a:p>
            <a:pPr algn="just"/>
            <a:r>
              <a:rPr lang="en-US" sz="2800" b="1" dirty="0">
                <a:solidFill>
                  <a:srgbClr val="DEA610"/>
                </a:solidFill>
                <a:latin typeface="Times New Roman" panose="02020603050405020304" pitchFamily="18" charset="0"/>
                <a:cs typeface="Times New Roman" panose="02020603050405020304" pitchFamily="18" charset="0"/>
              </a:rPr>
              <a:t>A321 – ATA 21 – SKIN AIR OUTLET VALVE</a:t>
            </a:r>
          </a:p>
        </p:txBody>
      </p:sp>
      <p:sp>
        <p:nvSpPr>
          <p:cNvPr id="25" name="Rectangle: Single Corner Rounded 24">
            <a:extLst>
              <a:ext uri="{FF2B5EF4-FFF2-40B4-BE49-F238E27FC236}">
                <a16:creationId xmlns:a16="http://schemas.microsoft.com/office/drawing/2014/main" id="{D4A63A04-E3F6-284A-B56D-1BAE85C3D681}"/>
              </a:ext>
            </a:extLst>
          </p:cNvPr>
          <p:cNvSpPr/>
          <p:nvPr/>
        </p:nvSpPr>
        <p:spPr>
          <a:xfrm flipH="1" flipV="1">
            <a:off x="302018" y="790661"/>
            <a:ext cx="11496864" cy="1298365"/>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805CFA0C-84E3-E99A-3478-122023CAFAE7}"/>
              </a:ext>
            </a:extLst>
          </p:cNvPr>
          <p:cNvSpPr/>
          <p:nvPr/>
        </p:nvSpPr>
        <p:spPr>
          <a:xfrm>
            <a:off x="782968" y="785145"/>
            <a:ext cx="10069062" cy="461665"/>
          </a:xfrm>
          <a:prstGeom prst="rect">
            <a:avLst/>
          </a:prstGeom>
        </p:spPr>
        <p:txBody>
          <a:bodyPr wrap="square">
            <a:spAutoFit/>
          </a:bodyPr>
          <a:lstStyle/>
          <a:p>
            <a:pPr lvl="0">
              <a:defRPr/>
            </a:pP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A325 DELAY due to AEVC SYS FAULT</a:t>
            </a:r>
            <a:endParaRPr lang="en-US" sz="24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endParaRPr>
          </a:p>
        </p:txBody>
      </p:sp>
      <p:sp>
        <p:nvSpPr>
          <p:cNvPr id="27" name="Rectangle 26">
            <a:extLst>
              <a:ext uri="{FF2B5EF4-FFF2-40B4-BE49-F238E27FC236}">
                <a16:creationId xmlns:a16="http://schemas.microsoft.com/office/drawing/2014/main" id="{C261CF61-6470-58A4-94B6-F956DF575515}"/>
              </a:ext>
            </a:extLst>
          </p:cNvPr>
          <p:cNvSpPr/>
          <p:nvPr/>
        </p:nvSpPr>
        <p:spPr>
          <a:xfrm>
            <a:off x="737417" y="1210054"/>
            <a:ext cx="7126423" cy="600164"/>
          </a:xfrm>
          <a:prstGeom prst="rect">
            <a:avLst/>
          </a:prstGeom>
        </p:spPr>
        <p:txBody>
          <a:bodyPr wrap="square">
            <a:spAutoFit/>
          </a:bodyPr>
          <a:lstStyle/>
          <a:p>
            <a:pPr marL="285750" indent="-285750">
              <a:spcBef>
                <a:spcPts val="600"/>
              </a:spcBef>
              <a:buFont typeface="Arial" panose="020B0604020202020204" pitchFamily="34" charset="0"/>
              <a:buChar char="•"/>
            </a:pP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VN1717 A325 during boarding have msg AEVC SYS FAULT</a:t>
            </a:r>
          </a:p>
          <a:p>
            <a:pPr marL="285750" indent="-285750">
              <a:spcBef>
                <a:spcPts val="600"/>
              </a:spcBef>
              <a:buFont typeface="Arial" panose="020B0604020202020204" pitchFamily="34" charset="0"/>
              <a:buChar char="•"/>
            </a:pPr>
            <a:r>
              <a:rPr lang="en-US" sz="1400" dirty="0" err="1">
                <a:solidFill>
                  <a:srgbClr val="203864"/>
                </a:solidFill>
                <a:latin typeface="Times New Roman" panose="02020603050405020304" pitchFamily="18" charset="0"/>
                <a:cs typeface="Times New Roman" panose="02020603050405020304" pitchFamily="18" charset="0"/>
              </a:rPr>
              <a:t>Nguyên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nhân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là</a:t>
            </a:r>
            <a:r>
              <a:rPr lang="en-US" sz="1400" dirty="0">
                <a:solidFill>
                  <a:srgbClr val="203864"/>
                </a:solidFill>
                <a:latin typeface="Times New Roman" panose="02020603050405020304" pitchFamily="18" charset="0"/>
                <a:cs typeface="Times New Roman" panose="02020603050405020304" pitchFamily="18" charset="0"/>
              </a:rPr>
              <a:t> do </a:t>
            </a:r>
            <a:r>
              <a:rPr lang="en-US" sz="1400" dirty="0" err="1">
                <a:solidFill>
                  <a:srgbClr val="203864"/>
                </a:solidFill>
                <a:latin typeface="Times New Roman" panose="02020603050405020304" pitchFamily="18" charset="0"/>
                <a:cs typeface="Times New Roman" panose="02020603050405020304" pitchFamily="18" charset="0"/>
              </a:rPr>
              <a:t>hỏng</a:t>
            </a:r>
            <a:r>
              <a:rPr lang="en-US" sz="1400" dirty="0">
                <a:solidFill>
                  <a:srgbClr val="203864"/>
                </a:solidFill>
                <a:latin typeface="Times New Roman" panose="02020603050405020304" pitchFamily="18" charset="0"/>
                <a:cs typeface="Times New Roman" panose="02020603050405020304" pitchFamily="18" charset="0"/>
              </a:rPr>
              <a:t> skin air outlet valve</a:t>
            </a:r>
          </a:p>
        </p:txBody>
      </p:sp>
      <p:sp>
        <p:nvSpPr>
          <p:cNvPr id="39" name="TextBox 38">
            <a:extLst>
              <a:ext uri="{FF2B5EF4-FFF2-40B4-BE49-F238E27FC236}">
                <a16:creationId xmlns:a16="http://schemas.microsoft.com/office/drawing/2014/main" id="{8562346B-2EDA-69FB-B82C-7CFA4D4BE33B}"/>
              </a:ext>
            </a:extLst>
          </p:cNvPr>
          <p:cNvSpPr txBox="1"/>
          <p:nvPr/>
        </p:nvSpPr>
        <p:spPr>
          <a:xfrm>
            <a:off x="795408" y="2477974"/>
            <a:ext cx="2662062" cy="369332"/>
          </a:xfrm>
          <a:prstGeom prst="rect">
            <a:avLst/>
          </a:prstGeom>
          <a:noFill/>
        </p:spPr>
        <p:txBody>
          <a:bodyPr wrap="square" rtlCol="0">
            <a:spAutoFit/>
          </a:bodyPr>
          <a:lstStyle/>
          <a:p>
            <a:pPr lvl="0" algn="just">
              <a:spcBef>
                <a:spcPts val="600"/>
              </a:spcBef>
              <a:defRPr/>
            </a:pP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Phân</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tích</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Đánh</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giá</a:t>
            </a:r>
            <a:endPar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102" name="TextBox 101">
            <a:extLst>
              <a:ext uri="{FF2B5EF4-FFF2-40B4-BE49-F238E27FC236}">
                <a16:creationId xmlns:a16="http://schemas.microsoft.com/office/drawing/2014/main" id="{FD80F078-248D-61AE-8E09-89A4BAD8D059}"/>
              </a:ext>
            </a:extLst>
          </p:cNvPr>
          <p:cNvSpPr txBox="1"/>
          <p:nvPr/>
        </p:nvSpPr>
        <p:spPr>
          <a:xfrm>
            <a:off x="795407" y="2990319"/>
            <a:ext cx="11030969" cy="892552"/>
          </a:xfrm>
          <a:prstGeom prst="rect">
            <a:avLst/>
          </a:prstGeom>
          <a:noFill/>
        </p:spPr>
        <p:txBody>
          <a:bodyPr wrap="square" rtlCol="0">
            <a:spAutoFit/>
          </a:bodyPr>
          <a:lstStyle/>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Khối</a:t>
            </a:r>
            <a:r>
              <a:rPr lang="en-US" sz="1400" dirty="0">
                <a:solidFill>
                  <a:srgbClr val="203864"/>
                </a:solidFill>
                <a:latin typeface="Times New Roman" panose="02020603050405020304" pitchFamily="18" charset="0"/>
                <a:cs typeface="Times New Roman" panose="02020603050405020304" pitchFamily="18" charset="0"/>
              </a:rPr>
              <a:t> Skin air outlet valve </a:t>
            </a:r>
            <a:r>
              <a:rPr lang="en-US" sz="1400" dirty="0" err="1">
                <a:solidFill>
                  <a:srgbClr val="203864"/>
                </a:solidFill>
                <a:latin typeface="Times New Roman" panose="02020603050405020304" pitchFamily="18" charset="0"/>
                <a:cs typeface="Times New Roman" panose="02020603050405020304" pitchFamily="18" charset="0"/>
              </a:rPr>
              <a:t>trên</a:t>
            </a:r>
            <a:r>
              <a:rPr lang="en-US" sz="1400" dirty="0">
                <a:solidFill>
                  <a:srgbClr val="203864"/>
                </a:solidFill>
                <a:latin typeface="Times New Roman" panose="02020603050405020304" pitchFamily="18" charset="0"/>
                <a:cs typeface="Times New Roman" panose="02020603050405020304" pitchFamily="18" charset="0"/>
              </a:rPr>
              <a:t> A325 </a:t>
            </a:r>
            <a:r>
              <a:rPr lang="en-US" sz="1400" dirty="0" err="1">
                <a:solidFill>
                  <a:srgbClr val="203864"/>
                </a:solidFill>
                <a:latin typeface="Times New Roman" panose="02020603050405020304" pitchFamily="18" charset="0"/>
                <a:cs typeface="Times New Roman" panose="02020603050405020304" pitchFamily="18" charset="0"/>
              </a:rPr>
              <a:t>được</a:t>
            </a:r>
            <a:r>
              <a:rPr lang="en-US" sz="1400" dirty="0">
                <a:solidFill>
                  <a:srgbClr val="203864"/>
                </a:solidFill>
                <a:latin typeface="Times New Roman" panose="02020603050405020304" pitchFamily="18" charset="0"/>
                <a:cs typeface="Times New Roman" panose="02020603050405020304" pitchFamily="18" charset="0"/>
              </a:rPr>
              <a:t> VSTEA </a:t>
            </a:r>
            <a:r>
              <a:rPr lang="en-US" sz="1400" dirty="0" err="1">
                <a:solidFill>
                  <a:srgbClr val="203864"/>
                </a:solidFill>
                <a:latin typeface="Times New Roman" panose="02020603050405020304" pitchFamily="18" charset="0"/>
                <a:cs typeface="Times New Roman" panose="02020603050405020304" pitchFamily="18" charset="0"/>
              </a:rPr>
              <a:t>thực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hiện</a:t>
            </a:r>
            <a:r>
              <a:rPr lang="en-US" sz="1400" dirty="0">
                <a:solidFill>
                  <a:srgbClr val="203864"/>
                </a:solidFill>
                <a:latin typeface="Times New Roman" panose="02020603050405020304" pitchFamily="18" charset="0"/>
                <a:cs typeface="Times New Roman" panose="02020603050405020304" pitchFamily="18" charset="0"/>
              </a:rPr>
              <a:t> OVH </a:t>
            </a:r>
            <a:r>
              <a:rPr lang="en-US" sz="1400" dirty="0" err="1">
                <a:solidFill>
                  <a:srgbClr val="203864"/>
                </a:solidFill>
                <a:latin typeface="Times New Roman" panose="02020603050405020304" pitchFamily="18" charset="0"/>
                <a:cs typeface="Times New Roman" panose="02020603050405020304" pitchFamily="18" charset="0"/>
              </a:rPr>
              <a:t>từ</a:t>
            </a:r>
            <a:r>
              <a:rPr lang="en-US" sz="1400" dirty="0">
                <a:solidFill>
                  <a:srgbClr val="203864"/>
                </a:solidFill>
                <a:latin typeface="Times New Roman" panose="02020603050405020304" pitchFamily="18" charset="0"/>
                <a:cs typeface="Times New Roman" panose="02020603050405020304" pitchFamily="18" charset="0"/>
              </a:rPr>
              <a:t> 07/2023 </a:t>
            </a:r>
            <a:r>
              <a:rPr lang="en-US" sz="1400" dirty="0" err="1">
                <a:solidFill>
                  <a:srgbClr val="203864"/>
                </a:solidFill>
                <a:latin typeface="Times New Roman" panose="02020603050405020304" pitchFamily="18" charset="0"/>
                <a:cs typeface="Times New Roman" panose="02020603050405020304" pitchFamily="18" charset="0"/>
              </a:rPr>
              <a:t>và</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đã</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khai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thác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được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hơn</a:t>
            </a:r>
            <a:r>
              <a:rPr lang="en-US" sz="1400" dirty="0">
                <a:solidFill>
                  <a:srgbClr val="203864"/>
                </a:solidFill>
                <a:latin typeface="Times New Roman" panose="02020603050405020304" pitchFamily="18" charset="0"/>
                <a:cs typeface="Times New Roman" panose="02020603050405020304" pitchFamily="18" charset="0"/>
              </a:rPr>
              <a:t> 4.000FH</a:t>
            </a:r>
          </a:p>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VSTEA </a:t>
            </a:r>
            <a:r>
              <a:rPr lang="en-US" sz="1400" dirty="0" err="1">
                <a:solidFill>
                  <a:srgbClr val="203864"/>
                </a:solidFill>
                <a:latin typeface="Times New Roman" panose="02020603050405020304" pitchFamily="18" charset="0"/>
                <a:cs typeface="Times New Roman" panose="02020603050405020304" pitchFamily="18" charset="0"/>
              </a:rPr>
              <a:t>đã</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không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thực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hiện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theo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đúng</a:t>
            </a:r>
            <a:r>
              <a:rPr lang="en-US" sz="1400" dirty="0">
                <a:solidFill>
                  <a:srgbClr val="203864"/>
                </a:solidFill>
                <a:latin typeface="Times New Roman" panose="02020603050405020304" pitchFamily="18" charset="0"/>
                <a:cs typeface="Times New Roman" panose="02020603050405020304" pitchFamily="18" charset="0"/>
              </a:rPr>
              <a:t> CMM </a:t>
            </a:r>
            <a:r>
              <a:rPr lang="en-US" sz="1400" dirty="0" err="1">
                <a:solidFill>
                  <a:srgbClr val="203864"/>
                </a:solidFill>
                <a:latin typeface="Times New Roman" panose="02020603050405020304" pitchFamily="18" charset="0"/>
                <a:cs typeface="Times New Roman" panose="02020603050405020304" pitchFamily="18" charset="0"/>
              </a:rPr>
              <a:t>nội</a:t>
            </a:r>
            <a:r>
              <a:rPr lang="en-US" sz="1400" dirty="0">
                <a:solidFill>
                  <a:srgbClr val="203864"/>
                </a:solidFill>
                <a:latin typeface="Times New Roman" panose="02020603050405020304" pitchFamily="18" charset="0"/>
                <a:cs typeface="Times New Roman" panose="02020603050405020304" pitchFamily="18" charset="0"/>
              </a:rPr>
              <a:t> dung OVH </a:t>
            </a:r>
            <a:r>
              <a:rPr lang="en-US" sz="1400" dirty="0" err="1">
                <a:solidFill>
                  <a:srgbClr val="203864"/>
                </a:solidFill>
                <a:latin typeface="Times New Roman" panose="02020603050405020304" pitchFamily="18" charset="0"/>
                <a:cs typeface="Times New Roman" panose="02020603050405020304" pitchFamily="18" charset="0"/>
              </a:rPr>
              <a:t>mà</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chỉ</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thực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hiện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thay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thế</a:t>
            </a:r>
            <a:r>
              <a:rPr lang="en-US" sz="1400" dirty="0">
                <a:solidFill>
                  <a:srgbClr val="203864"/>
                </a:solidFill>
                <a:latin typeface="Times New Roman" panose="02020603050405020304" pitchFamily="18" charset="0"/>
                <a:cs typeface="Times New Roman" panose="02020603050405020304" pitchFamily="18" charset="0"/>
              </a:rPr>
              <a:t> 1 </a:t>
            </a:r>
            <a:r>
              <a:rPr lang="en-US" sz="1400" dirty="0" err="1">
                <a:solidFill>
                  <a:srgbClr val="203864"/>
                </a:solidFill>
                <a:latin typeface="Times New Roman" panose="02020603050405020304" pitchFamily="18" charset="0"/>
                <a:cs typeface="Times New Roman" panose="02020603050405020304" pitchFamily="18" charset="0"/>
              </a:rPr>
              <a:t>số</a:t>
            </a:r>
            <a:r>
              <a:rPr lang="en-US" sz="1400" dirty="0">
                <a:solidFill>
                  <a:srgbClr val="203864"/>
                </a:solidFill>
                <a:latin typeface="Times New Roman" panose="02020603050405020304" pitchFamily="18" charset="0"/>
                <a:cs typeface="Times New Roman" panose="02020603050405020304" pitchFamily="18" charset="0"/>
              </a:rPr>
              <a:t> part </a:t>
            </a:r>
            <a:r>
              <a:rPr lang="en-US" sz="1400" dirty="0" err="1">
                <a:solidFill>
                  <a:srgbClr val="203864"/>
                </a:solidFill>
                <a:latin typeface="Times New Roman" panose="02020603050405020304" pitchFamily="18" charset="0"/>
                <a:cs typeface="Times New Roman" panose="02020603050405020304" pitchFamily="18" charset="0"/>
              </a:rPr>
              <a:t>có</a:t>
            </a:r>
            <a:r>
              <a:rPr lang="en-US" sz="1400" dirty="0">
                <a:solidFill>
                  <a:srgbClr val="203864"/>
                </a:solidFill>
                <a:latin typeface="Times New Roman" panose="02020603050405020304" pitchFamily="18" charset="0"/>
                <a:cs typeface="Times New Roman" panose="02020603050405020304" pitchFamily="18" charset="0"/>
              </a:rPr>
              <a:t> findings, </a:t>
            </a:r>
            <a:r>
              <a:rPr lang="en-US" sz="1400" dirty="0" err="1">
                <a:solidFill>
                  <a:srgbClr val="203864"/>
                </a:solidFill>
                <a:latin typeface="Times New Roman" panose="02020603050405020304" pitchFamily="18" charset="0"/>
                <a:cs typeface="Times New Roman" panose="02020603050405020304" pitchFamily="18" charset="0"/>
              </a:rPr>
              <a:t>dẫn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tới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chất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lượng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của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thiết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bị</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không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được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đảm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bảo</a:t>
            </a:r>
            <a:endParaRPr lang="en-US" sz="1400" dirty="0">
              <a:solidFill>
                <a:srgbClr val="203864"/>
              </a:solidFill>
              <a:latin typeface="Times New Roman" panose="02020603050405020304" pitchFamily="18" charset="0"/>
              <a:cs typeface="Times New Roman" panose="02020603050405020304" pitchFamily="18" charset="0"/>
            </a:endParaRPr>
          </a:p>
        </p:txBody>
      </p:sp>
      <p:pic>
        <p:nvPicPr>
          <p:cNvPr id="105" name="Picture 104">
            <a:extLst>
              <a:ext uri="{FF2B5EF4-FFF2-40B4-BE49-F238E27FC236}">
                <a16:creationId xmlns:a16="http://schemas.microsoft.com/office/drawing/2014/main" id="{BC0CAD81-8020-1AF5-333C-4A766F40BB4B}"/>
              </a:ext>
            </a:extLst>
          </p:cNvPr>
          <p:cNvPicPr>
            <a:picLocks noChangeAspect="1"/>
          </p:cNvPicPr>
          <p:nvPr/>
        </p:nvPicPr>
        <p:blipFill>
          <a:blip r:embed="rId3"/>
          <a:stretch>
            <a:fillRect/>
          </a:stretch>
        </p:blipFill>
        <p:spPr>
          <a:xfrm>
            <a:off x="365624" y="2419483"/>
            <a:ext cx="510877" cy="512345"/>
          </a:xfrm>
          <a:prstGeom prst="rect">
            <a:avLst/>
          </a:prstGeom>
        </p:spPr>
      </p:pic>
      <p:grpSp>
        <p:nvGrpSpPr>
          <p:cNvPr id="43" name="Group 42">
            <a:extLst>
              <a:ext uri="{FF2B5EF4-FFF2-40B4-BE49-F238E27FC236}">
                <a16:creationId xmlns:a16="http://schemas.microsoft.com/office/drawing/2014/main" id="{E73F65F0-B695-BC59-BDE0-C34373215196}"/>
              </a:ext>
            </a:extLst>
          </p:cNvPr>
          <p:cNvGrpSpPr/>
          <p:nvPr/>
        </p:nvGrpSpPr>
        <p:grpSpPr>
          <a:xfrm>
            <a:off x="795408" y="288234"/>
            <a:ext cx="11396592" cy="678753"/>
            <a:chOff x="976560" y="323070"/>
            <a:chExt cx="10755065" cy="678753"/>
          </a:xfrm>
        </p:grpSpPr>
        <p:cxnSp>
          <p:nvCxnSpPr>
            <p:cNvPr id="44" name="Straight Connector 43">
              <a:extLst>
                <a:ext uri="{FF2B5EF4-FFF2-40B4-BE49-F238E27FC236}">
                  <a16:creationId xmlns:a16="http://schemas.microsoft.com/office/drawing/2014/main" id="{B10300C1-A623-73F8-724E-9F827E75FA89}"/>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id="{C5A9B8D0-11D7-D6F0-DC88-992515C387A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3" name="Rectangle 2">
            <a:extLst>
              <a:ext uri="{FF2B5EF4-FFF2-40B4-BE49-F238E27FC236}">
                <a16:creationId xmlns:a16="http://schemas.microsoft.com/office/drawing/2014/main" id="{F106B4D6-C4A4-971D-17FC-88845EE467C2}"/>
              </a:ext>
            </a:extLst>
          </p:cNvPr>
          <p:cNvSpPr/>
          <p:nvPr/>
        </p:nvSpPr>
        <p:spPr>
          <a:xfrm>
            <a:off x="347568" y="753635"/>
            <a:ext cx="389850" cy="369332"/>
          </a:xfrm>
          <a:prstGeom prst="rect">
            <a:avLst/>
          </a:prstGeom>
        </p:spPr>
        <p:txBody>
          <a:bodyPr wrap="none">
            <a:spAutoFit/>
          </a:bodyPr>
          <a:lstStyle/>
          <a:p>
            <a:r>
              <a:rPr lang="en-US" b="1">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sym typeface="Wingdings" panose="05000000000000000000" pitchFamily="2" charset="2"/>
              </a:rPr>
              <a:t></a:t>
            </a:r>
            <a:endParaRPr lang="en-US"/>
          </a:p>
        </p:txBody>
      </p:sp>
      <p:sp>
        <p:nvSpPr>
          <p:cNvPr id="18" name="TextBox 17">
            <a:extLst>
              <a:ext uri="{FF2B5EF4-FFF2-40B4-BE49-F238E27FC236}">
                <a16:creationId xmlns:a16="http://schemas.microsoft.com/office/drawing/2014/main" id="{02E1197E-8EB5-3AD4-8AAC-B6C4FBF9EA49}"/>
              </a:ext>
            </a:extLst>
          </p:cNvPr>
          <p:cNvSpPr txBox="1"/>
          <p:nvPr/>
        </p:nvSpPr>
        <p:spPr>
          <a:xfrm>
            <a:off x="916514" y="4291124"/>
            <a:ext cx="1969253" cy="369332"/>
          </a:xfrm>
          <a:prstGeom prst="rect">
            <a:avLst/>
          </a:prstGeom>
          <a:noFill/>
        </p:spPr>
        <p:txBody>
          <a:bodyPr wrap="square" rtlCol="0">
            <a:spAutoFit/>
          </a:bodyPr>
          <a:lstStyle/>
          <a:p>
            <a:pPr algn="just">
              <a:spcBef>
                <a:spcPts val="600"/>
              </a:spcBef>
              <a:defRPr/>
            </a:pP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Giải</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pháp</a:t>
            </a:r>
            <a:endPar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600CFB9E-5ABE-FA09-41D4-D09A774B0DE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5624" y="4110731"/>
            <a:ext cx="550890" cy="512346"/>
          </a:xfrm>
          <a:prstGeom prst="rect">
            <a:avLst/>
          </a:prstGeom>
        </p:spPr>
      </p:pic>
      <p:sp>
        <p:nvSpPr>
          <p:cNvPr id="6" name="Rectangle 5">
            <a:extLst>
              <a:ext uri="{FF2B5EF4-FFF2-40B4-BE49-F238E27FC236}">
                <a16:creationId xmlns:a16="http://schemas.microsoft.com/office/drawing/2014/main" id="{881427B2-27FA-A3B9-5D43-0D884744137C}"/>
              </a:ext>
            </a:extLst>
          </p:cNvPr>
          <p:cNvSpPr/>
          <p:nvPr/>
        </p:nvSpPr>
        <p:spPr>
          <a:xfrm>
            <a:off x="782968" y="4737511"/>
            <a:ext cx="11043408" cy="892552"/>
          </a:xfrm>
          <a:prstGeom prst="rect">
            <a:avLst/>
          </a:prstGeom>
        </p:spPr>
        <p:txBody>
          <a:bodyPr wrap="square">
            <a:spAutoFit/>
          </a:bodyPr>
          <a:lstStyle/>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Ban KT </a:t>
            </a:r>
            <a:r>
              <a:rPr lang="en-US" sz="1400" dirty="0" err="1">
                <a:solidFill>
                  <a:srgbClr val="203864"/>
                </a:solidFill>
                <a:latin typeface="Times New Roman" panose="02020603050405020304" pitchFamily="18" charset="0"/>
                <a:cs typeface="Times New Roman" panose="02020603050405020304" pitchFamily="18" charset="0"/>
              </a:rPr>
              <a:t>đã</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gửi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danh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sách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các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khối</a:t>
            </a:r>
            <a:r>
              <a:rPr lang="en-US" sz="1400" dirty="0">
                <a:solidFill>
                  <a:srgbClr val="203864"/>
                </a:solidFill>
                <a:latin typeface="Times New Roman" panose="02020603050405020304" pitchFamily="18" charset="0"/>
                <a:cs typeface="Times New Roman" panose="02020603050405020304" pitchFamily="18" charset="0"/>
              </a:rPr>
              <a:t> SAV </a:t>
            </a:r>
            <a:r>
              <a:rPr lang="en-US" sz="1400" dirty="0" err="1">
                <a:solidFill>
                  <a:srgbClr val="203864"/>
                </a:solidFill>
                <a:latin typeface="Times New Roman" panose="02020603050405020304" pitchFamily="18" charset="0"/>
                <a:cs typeface="Times New Roman" panose="02020603050405020304" pitchFamily="18" charset="0"/>
              </a:rPr>
              <a:t>được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thực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hiện</a:t>
            </a:r>
            <a:r>
              <a:rPr lang="en-US" sz="1400" dirty="0">
                <a:solidFill>
                  <a:srgbClr val="203864"/>
                </a:solidFill>
                <a:latin typeface="Times New Roman" panose="02020603050405020304" pitchFamily="18" charset="0"/>
                <a:cs typeface="Times New Roman" panose="02020603050405020304" pitchFamily="18" charset="0"/>
              </a:rPr>
              <a:t> OVH </a:t>
            </a:r>
            <a:r>
              <a:rPr lang="en-US" sz="1400" dirty="0" err="1">
                <a:solidFill>
                  <a:srgbClr val="203864"/>
                </a:solidFill>
                <a:latin typeface="Times New Roman" panose="02020603050405020304" pitchFamily="18" charset="0"/>
                <a:cs typeface="Times New Roman" panose="02020603050405020304" pitchFamily="18" charset="0"/>
              </a:rPr>
              <a:t>bởi</a:t>
            </a:r>
            <a:r>
              <a:rPr lang="en-US" sz="1400" dirty="0">
                <a:solidFill>
                  <a:srgbClr val="203864"/>
                </a:solidFill>
                <a:latin typeface="Times New Roman" panose="02020603050405020304" pitchFamily="18" charset="0"/>
                <a:cs typeface="Times New Roman" panose="02020603050405020304" pitchFamily="18" charset="0"/>
              </a:rPr>
              <a:t> VSTEA </a:t>
            </a:r>
            <a:r>
              <a:rPr lang="en-US" sz="1400" dirty="0" err="1">
                <a:solidFill>
                  <a:srgbClr val="203864"/>
                </a:solidFill>
                <a:latin typeface="Times New Roman" panose="02020603050405020304" pitchFamily="18" charset="0"/>
                <a:cs typeface="Times New Roman" panose="02020603050405020304" pitchFamily="18" charset="0"/>
              </a:rPr>
              <a:t>cho</a:t>
            </a:r>
            <a:r>
              <a:rPr lang="en-US" sz="1400" dirty="0">
                <a:solidFill>
                  <a:srgbClr val="203864"/>
                </a:solidFill>
                <a:latin typeface="Times New Roman" panose="02020603050405020304" pitchFamily="18" charset="0"/>
                <a:cs typeface="Times New Roman" panose="02020603050405020304" pitchFamily="18" charset="0"/>
              </a:rPr>
              <a:t> ban SQD </a:t>
            </a:r>
            <a:r>
              <a:rPr lang="en-US" sz="1400" dirty="0" err="1">
                <a:solidFill>
                  <a:srgbClr val="203864"/>
                </a:solidFill>
                <a:latin typeface="Times New Roman" panose="02020603050405020304" pitchFamily="18" charset="0"/>
                <a:cs typeface="Times New Roman" panose="02020603050405020304" pitchFamily="18" charset="0"/>
              </a:rPr>
              <a:t>và</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yêu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cầu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làm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việc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với</a:t>
            </a:r>
            <a:r>
              <a:rPr lang="en-US" sz="1400" dirty="0">
                <a:solidFill>
                  <a:srgbClr val="203864"/>
                </a:solidFill>
                <a:latin typeface="Times New Roman" panose="02020603050405020304" pitchFamily="18" charset="0"/>
                <a:cs typeface="Times New Roman" panose="02020603050405020304" pitchFamily="18" charset="0"/>
              </a:rPr>
              <a:t> VSTEA </a:t>
            </a:r>
            <a:r>
              <a:rPr lang="en-US" sz="1400" dirty="0" err="1">
                <a:solidFill>
                  <a:srgbClr val="203864"/>
                </a:solidFill>
                <a:latin typeface="Times New Roman" panose="02020603050405020304" pitchFamily="18" charset="0"/>
                <a:cs typeface="Times New Roman" panose="02020603050405020304" pitchFamily="18" charset="0"/>
              </a:rPr>
              <a:t>đưa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ra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lộ</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trình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khắc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phục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cụ</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thể</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cũng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như</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bồi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thường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cả</a:t>
            </a:r>
            <a:r>
              <a:rPr lang="en-US" sz="1400" dirty="0">
                <a:solidFill>
                  <a:srgbClr val="203864"/>
                </a:solidFill>
                <a:latin typeface="Times New Roman" panose="02020603050405020304" pitchFamily="18" charset="0"/>
                <a:cs typeface="Times New Roman" panose="02020603050405020304" pitchFamily="18" charset="0"/>
              </a:rPr>
              <a:t> chi </a:t>
            </a:r>
            <a:r>
              <a:rPr lang="en-US" sz="1400" dirty="0" err="1">
                <a:solidFill>
                  <a:srgbClr val="203864"/>
                </a:solidFill>
                <a:latin typeface="Times New Roman" panose="02020603050405020304" pitchFamily="18" charset="0"/>
                <a:cs typeface="Times New Roman" panose="02020603050405020304" pitchFamily="18" charset="0"/>
              </a:rPr>
              <a:t>phí</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dừng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tàu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và</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nhân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công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tháo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lắp</a:t>
            </a:r>
            <a:endParaRPr lang="en-US" sz="1400" dirty="0">
              <a:solidFill>
                <a:srgbClr val="203864"/>
              </a:solidFill>
              <a:latin typeface="Times New Roman" panose="02020603050405020304" pitchFamily="18" charset="0"/>
              <a:cs typeface="Times New Roman" panose="02020603050405020304" pitchFamily="18" charset="0"/>
            </a:endParaRPr>
          </a:p>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Tiếp</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tục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tháo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gửi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các</a:t>
            </a:r>
            <a:r>
              <a:rPr lang="en-US" sz="1400" dirty="0">
                <a:solidFill>
                  <a:srgbClr val="203864"/>
                </a:solidFill>
                <a:latin typeface="Times New Roman" panose="02020603050405020304" pitchFamily="18" charset="0"/>
                <a:cs typeface="Times New Roman" panose="02020603050405020304" pitchFamily="18" charset="0"/>
              </a:rPr>
              <a:t> SAV </a:t>
            </a:r>
            <a:r>
              <a:rPr lang="en-US" sz="1400" dirty="0" err="1">
                <a:solidFill>
                  <a:srgbClr val="203864"/>
                </a:solidFill>
                <a:latin typeface="Times New Roman" panose="02020603050405020304" pitchFamily="18" charset="0"/>
                <a:cs typeface="Times New Roman" panose="02020603050405020304" pitchFamily="18" charset="0"/>
              </a:rPr>
              <a:t>cao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giờ</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gửi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đi</a:t>
            </a:r>
            <a:r>
              <a:rPr lang="en-US" sz="1400" dirty="0">
                <a:solidFill>
                  <a:srgbClr val="203864"/>
                </a:solidFill>
                <a:latin typeface="Times New Roman" panose="02020603050405020304" pitchFamily="18" charset="0"/>
                <a:cs typeface="Times New Roman" panose="02020603050405020304" pitchFamily="18" charset="0"/>
              </a:rPr>
              <a:t> OVH </a:t>
            </a:r>
            <a:r>
              <a:rPr lang="en-US" sz="1400" dirty="0" err="1">
                <a:solidFill>
                  <a:srgbClr val="203864"/>
                </a:solidFill>
                <a:latin typeface="Times New Roman" panose="02020603050405020304" pitchFamily="18" charset="0"/>
                <a:cs typeface="Times New Roman" panose="02020603050405020304" pitchFamily="18" charset="0"/>
              </a:rPr>
              <a:t>theo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chương</a:t>
            </a:r>
            <a:r>
              <a:rPr lang="en-US" sz="1400" dirty="0">
                <a:solidFill>
                  <a:srgbClr val="203864"/>
                </a:solidFill>
                <a:latin typeface="Times New Roman" panose="02020603050405020304" pitchFamily="18" charset="0"/>
                <a:cs typeface="Times New Roman" panose="02020603050405020304" pitchFamily="18" charset="0"/>
              </a:rPr>
              <a:t> trinh soft-time</a:t>
            </a:r>
          </a:p>
        </p:txBody>
      </p:sp>
      <p:pic>
        <p:nvPicPr>
          <p:cNvPr id="4" name="Picture 3">
            <a:extLst>
              <a:ext uri="{FF2B5EF4-FFF2-40B4-BE49-F238E27FC236}">
                <a16:creationId xmlns:a16="http://schemas.microsoft.com/office/drawing/2014/main" id="{163ABA72-9F2A-43D4-6ED0-54E3E397CFBC}"/>
              </a:ext>
            </a:extLst>
          </p:cNvPr>
          <p:cNvPicPr>
            <a:picLocks noChangeAspect="1"/>
          </p:cNvPicPr>
          <p:nvPr/>
        </p:nvPicPr>
        <p:blipFill>
          <a:blip r:embed="rId6"/>
          <a:stretch>
            <a:fillRect/>
          </a:stretch>
        </p:blipFill>
        <p:spPr>
          <a:xfrm>
            <a:off x="9507742" y="915941"/>
            <a:ext cx="2121009" cy="1047804"/>
          </a:xfrm>
          <a:prstGeom prst="rect">
            <a:avLst/>
          </a:prstGeom>
        </p:spPr>
      </p:pic>
    </p:spTree>
    <p:extLst>
      <p:ext uri="{BB962C8B-B14F-4D97-AF65-F5344CB8AC3E}">
        <p14:creationId xmlns:p14="http://schemas.microsoft.com/office/powerpoint/2010/main" val="27148774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4F79AF3-24C5-47EC-8B09-710ADAA97244}" type="slidenum">
              <a:rPr lang="en-US" altLang="en-US" sz="1200" smtClean="0">
                <a:solidFill>
                  <a:srgbClr val="D2A43B"/>
                </a:solidFill>
                <a:latin typeface="Montserrat"/>
              </a:rPr>
              <a:pPr fontAlgn="base">
                <a:lnSpc>
                  <a:spcPct val="100000"/>
                </a:lnSpc>
                <a:spcBef>
                  <a:spcPct val="0"/>
                </a:spcBef>
                <a:spcAft>
                  <a:spcPct val="0"/>
                </a:spcAft>
                <a:buFontTx/>
                <a:buNone/>
              </a:pPr>
              <a:t>20</a:t>
            </a:fld>
            <a:endParaRPr lang="en-US" altLang="en-US" sz="1200">
              <a:solidFill>
                <a:srgbClr val="D2A43B"/>
              </a:solidFill>
              <a:latin typeface="Montserrat"/>
            </a:endParaRPr>
          </a:p>
        </p:txBody>
      </p:sp>
      <p:sp>
        <p:nvSpPr>
          <p:cNvPr id="1048638" name="Title 4"/>
          <p:cNvSpPr>
            <a:spLocks noGrp="1"/>
          </p:cNvSpPr>
          <p:nvPr>
            <p:ph type="title"/>
          </p:nvPr>
        </p:nvSpPr>
        <p:spPr>
          <a:xfrm>
            <a:off x="1047482" y="228600"/>
            <a:ext cx="8686799" cy="609600"/>
          </a:xfrm>
        </p:spPr>
        <p:txBody>
          <a:bodyPr rtlCol="0">
            <a:normAutofit/>
          </a:bodyPr>
          <a:lstStyle/>
          <a:p>
            <a:pPr eaLnBrk="1" fontAlgn="auto" hangingPunct="1">
              <a:spcAft>
                <a:spcPts val="0"/>
              </a:spcAft>
              <a:defRPr/>
            </a:pPr>
            <a:r>
              <a:rPr lang="en-US" sz="2400" dirty="0">
                <a:ln w="0"/>
                <a:solidFill>
                  <a:schemeClr val="accent4"/>
                </a:solidFill>
                <a:latin typeface="Times New Roman" panose="02020603050405020304" pitchFamily="18" charset="0"/>
                <a:cs typeface="Times New Roman" panose="02020603050405020304" pitchFamily="18" charset="0"/>
              </a:rPr>
              <a:t>TÌNH TRẠNG KỸ THUẬT ĐỘI BAY A320/ A321 </a:t>
            </a:r>
            <a:endParaRPr lang="vi-VN" sz="2400"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311CC99-42A4-BD10-390B-EE6B3A4DC329}"/>
              </a:ext>
            </a:extLst>
          </p:cNvPr>
          <p:cNvSpPr txBox="1"/>
          <p:nvPr/>
        </p:nvSpPr>
        <p:spPr>
          <a:xfrm>
            <a:off x="1066800" y="838200"/>
            <a:ext cx="10229811" cy="4478149"/>
          </a:xfrm>
          <a:prstGeom prst="rect">
            <a:avLst/>
          </a:prstGeom>
          <a:noFill/>
        </p:spPr>
        <p:txBody>
          <a:bodyPr wrap="square">
            <a:spAutoFit/>
          </a:bodyPr>
          <a:lstStyle/>
          <a:p>
            <a:pPr lvl="0" algn="just">
              <a:defRPr/>
            </a:pPr>
            <a:r>
              <a:rPr lang="en-US" sz="1500" b="1" dirty="0" err="1">
                <a:latin typeface="Times New Roman" panose="02020603050405020304" pitchFamily="18" charset="0"/>
                <a:cs typeface="Times New Roman" panose="02020603050405020304" pitchFamily="18" charset="0"/>
              </a:rPr>
              <a:t>Nhận</a:t>
            </a: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xét</a:t>
            </a:r>
            <a:r>
              <a:rPr lang="en-US" sz="1500" b="1" dirty="0">
                <a:latin typeface="Times New Roman" panose="02020603050405020304" pitchFamily="18" charset="0"/>
                <a:cs typeface="Times New Roman" panose="02020603050405020304" pitchFamily="18" charset="0"/>
              </a:rPr>
              <a:t>: </a:t>
            </a:r>
            <a:r>
              <a:rPr lang="vi-VN" sz="1500" dirty="0">
                <a:latin typeface="Times New Roman" panose="02020603050405020304" pitchFamily="18" charset="0"/>
                <a:cs typeface="Times New Roman" panose="02020603050405020304" pitchFamily="18" charset="0"/>
              </a:rPr>
              <a:t>Một số hỏng hóc nổi cộm đội bay A321 </a:t>
            </a:r>
            <a:r>
              <a:rPr lang="vi-VN" sz="1500">
                <a:latin typeface="Times New Roman" panose="02020603050405020304" pitchFamily="18" charset="0"/>
                <a:cs typeface="Times New Roman" panose="02020603050405020304" pitchFamily="18" charset="0"/>
              </a:rPr>
              <a:t>trong </a:t>
            </a:r>
            <a:r>
              <a:rPr lang="vi-VN" sz="1500" smtClean="0">
                <a:latin typeface="Times New Roman" panose="02020603050405020304" pitchFamily="18" charset="0"/>
                <a:cs typeface="Times New Roman" panose="02020603050405020304" pitchFamily="18" charset="0"/>
              </a:rPr>
              <a:t>tuần</a:t>
            </a:r>
            <a:r>
              <a:rPr lang="en-US" sz="1500" smtClean="0">
                <a:latin typeface="Times New Roman" panose="02020603050405020304" pitchFamily="18" charset="0"/>
                <a:cs typeface="Times New Roman" panose="02020603050405020304" pitchFamily="18" charset="0"/>
              </a:rPr>
              <a:t> 4+5</a:t>
            </a:r>
            <a:r>
              <a:rPr lang="vi-VN" sz="1500" smtClean="0">
                <a:latin typeface="Times New Roman" panose="02020603050405020304" pitchFamily="18" charset="0"/>
                <a:cs typeface="Times New Roman" panose="02020603050405020304" pitchFamily="18" charset="0"/>
              </a:rPr>
              <a:t>:</a:t>
            </a:r>
            <a:endParaRPr lang="en-US" sz="1500" dirty="0">
              <a:latin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US" sz="1500">
                <a:latin typeface="Times New Roman" panose="02020603050405020304" pitchFamily="18" charset="0"/>
                <a:cs typeface="Times New Roman" panose="02020603050405020304" pitchFamily="18" charset="0"/>
              </a:rPr>
              <a:t>A357 AOG/BKK PACK#2 OVERHEAT và MSG L/H WING LEAK nhưng sau khi nổ máy lại đã mất mess về wing leak, tàu mở MEL về pack 2 để bay về. Tàu sau đó đã thay Heat exchanger để khắc phục hỏng hóc Pack2.</a:t>
            </a:r>
          </a:p>
          <a:p>
            <a:pPr marL="342900" lvl="0" indent="-342900" algn="just">
              <a:buFont typeface="+mj-lt"/>
              <a:buAutoNum type="arabicPeriod"/>
            </a:pPr>
            <a:r>
              <a:rPr lang="en-US" sz="1500">
                <a:latin typeface="Times New Roman" panose="02020603050405020304" pitchFamily="18" charset="0"/>
                <a:cs typeface="Times New Roman" panose="02020603050405020304" pitchFamily="18" charset="0"/>
              </a:rPr>
              <a:t>A606 AOG/HAN khi T/X CHECK FOUND CRACK AND MISSING SOME RIVET AT BLISTER FAIRING AT RH TR ENG 1 phải thay TR SLEEVE, hỏng hóc đã có EO-2017-3173 để kiểm tra thổi ngược ở tần suất 1 năm và lần gần nhất vào 06/2024 chỉ phát hiện 01 rivet bị lỏng</a:t>
            </a:r>
          </a:p>
          <a:p>
            <a:pPr marL="342900" lvl="0" indent="-342900" algn="just">
              <a:buFont typeface="+mj-lt"/>
              <a:buAutoNum type="arabicPeriod"/>
            </a:pPr>
            <a:r>
              <a:rPr lang="en-US" sz="1500">
                <a:latin typeface="Times New Roman" panose="02020603050405020304" pitchFamily="18" charset="0"/>
                <a:cs typeface="Times New Roman" panose="02020603050405020304" pitchFamily="18" charset="0"/>
              </a:rPr>
              <a:t>A353/GTB/MOR: ANTI ICE STBY PROBES AND NAV ILS 1 FAULT (capt không gọi VHF). Hỏng hóc đã có FON gửi ĐB về việc reset lại hệ thống khi Mess xuất hiện, Capt cũng xác nhận là không đọc kỹ các tài liệu FON khi hỏng hóc xảy ra. </a:t>
            </a:r>
          </a:p>
          <a:p>
            <a:pPr marL="342900" lvl="0" indent="-342900" algn="just">
              <a:buFont typeface="+mj-lt"/>
              <a:buAutoNum type="arabicPeriod"/>
            </a:pPr>
            <a:r>
              <a:rPr lang="en-US" sz="1500">
                <a:latin typeface="Times New Roman" panose="02020603050405020304" pitchFamily="18" charset="0"/>
                <a:cs typeface="Times New Roman" panose="02020603050405020304" pitchFamily="18" charset="0"/>
              </a:rPr>
              <a:t>A358 PEK-HAN LEAK AT FLEX HYD HOSE L/H MLG DOOR ACT. CRS OF AMECO C/O RPL L/H MLG DOOR ACTUATOR FLEXIBLE HOSE, LEAK CHECK SATIS. Đường ống được thay từ năm 2021, đường ống này cũng nằm trong các vị trí kiểm tra leak theo EO-2023-2007 có tần suất kiểm tra 1 năm (lần kiểm tra gần nhất vào tháng 1/24 không phát hiện bất thường)</a:t>
            </a:r>
          </a:p>
          <a:p>
            <a:pPr marL="342900" lvl="0" indent="-342900" algn="just">
              <a:buFont typeface="+mj-lt"/>
              <a:buAutoNum type="arabicPeriod"/>
            </a:pPr>
            <a:r>
              <a:rPr lang="en-US" sz="1500">
                <a:latin typeface="Times New Roman" panose="02020603050405020304" pitchFamily="18" charset="0"/>
                <a:cs typeface="Times New Roman" panose="02020603050405020304" pitchFamily="18" charset="0"/>
              </a:rPr>
              <a:t>A358 GTB Capt report MCDU 1 INOP, reset nil help, A/C return to gate and raise ADD for MCDU1 (tàu trước đó mới bay từ PEK-HAN về có làm weekly check). Capt yc quay lại do VCS không có CRS để mở MEL</a:t>
            </a:r>
          </a:p>
          <a:p>
            <a:pPr marL="342900" lvl="0" indent="-342900" algn="just">
              <a:buFont typeface="+mj-lt"/>
              <a:buAutoNum type="arabicPeriod"/>
            </a:pPr>
            <a:r>
              <a:rPr lang="en-US" sz="1500">
                <a:latin typeface="Times New Roman" panose="02020603050405020304" pitchFamily="18" charset="0"/>
                <a:cs typeface="Times New Roman" panose="02020603050405020304" pitchFamily="18" charset="0"/>
              </a:rPr>
              <a:t>A390 AOG/HAN: Trong PHASE CHECK phát hiện LEAK tại HYD TUBE RH WING REAR SPAR.CRS đã thực bóp lại đường ống và trát lại sealent để khắc </a:t>
            </a:r>
            <a:r>
              <a:rPr lang="en-US" sz="1500" smtClean="0">
                <a:latin typeface="Times New Roman" panose="02020603050405020304" pitchFamily="18" charset="0"/>
                <a:cs typeface="Times New Roman" panose="02020603050405020304" pitchFamily="18" charset="0"/>
              </a:rPr>
              <a:t>phục.</a:t>
            </a:r>
          </a:p>
          <a:p>
            <a:pPr lvl="0" algn="just"/>
            <a:endParaRPr lang="en-US" sz="1500">
              <a:latin typeface="Times New Roman" panose="02020603050405020304" pitchFamily="18" charset="0"/>
              <a:cs typeface="Times New Roman" panose="02020603050405020304" pitchFamily="18" charset="0"/>
            </a:endParaRPr>
          </a:p>
          <a:p>
            <a:pPr algn="just"/>
            <a:r>
              <a:rPr lang="en-US" sz="1500" b="1">
                <a:latin typeface="Times New Roman" panose="02020603050405020304" pitchFamily="18" charset="0"/>
                <a:cs typeface="Times New Roman" panose="02020603050405020304" pitchFamily="18" charset="0"/>
              </a:rPr>
              <a:t>Ngoài ra trong 2 tuần có 33 vụ delay do mòn lốp, trong đó có 22 vụ ghi nhận mòn bất thường, Ban KT sẽ làm việc với VAECO và Ban QLVT để đánh giá nguyen nhân hỏng hóc</a:t>
            </a:r>
            <a:endParaRPr lang="en-US" sz="15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0225025"/>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4C773CCA-50EF-9047-3B43-17B793B9D30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E22311FB-BEC8-026B-A2D2-6AA6A7EF2AC2}"/>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E604DA61-E459-7D42-3904-510AE3B0432E}"/>
              </a:ext>
            </a:extLst>
          </p:cNvPr>
          <p:cNvSpPr>
            <a:spLocks noGrp="1"/>
          </p:cNvSpPr>
          <p:nvPr>
            <p:ph type="title"/>
          </p:nvPr>
        </p:nvSpPr>
        <p:spPr>
          <a:xfrm>
            <a:off x="152398" y="28337"/>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dirty="0">
                <a:ln w="0"/>
                <a:solidFill>
                  <a:schemeClr val="accent4"/>
                </a:solidFill>
                <a:latin typeface="Times New Roman" panose="02020603050405020304" pitchFamily="18" charset="0"/>
                <a:cs typeface="Times New Roman" panose="02020603050405020304" pitchFamily="18" charset="0"/>
              </a:rPr>
              <a:t>A350</a:t>
            </a:r>
          </a:p>
        </p:txBody>
      </p:sp>
      <p:sp>
        <p:nvSpPr>
          <p:cNvPr id="4" name="TextBox 3">
            <a:extLst>
              <a:ext uri="{FF2B5EF4-FFF2-40B4-BE49-F238E27FC236}">
                <a16:creationId xmlns:a16="http://schemas.microsoft.com/office/drawing/2014/main" id="{A241D3BB-99E3-41C3-B94F-9DF60819084A}"/>
              </a:ext>
            </a:extLst>
          </p:cNvPr>
          <p:cNvSpPr txBox="1"/>
          <p:nvPr/>
        </p:nvSpPr>
        <p:spPr>
          <a:xfrm>
            <a:off x="152397" y="1236922"/>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8 (Tech: 07; Non-tech: 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id="{704078EF-7094-5C98-4A5B-6721CC4526F5}"/>
              </a:ext>
            </a:extLst>
          </p:cNvPr>
          <p:cNvSpPr txBox="1"/>
          <p:nvPr/>
        </p:nvSpPr>
        <p:spPr>
          <a:xfrm>
            <a:off x="152398" y="78833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08 (Tech: 07; Non-tech: 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71C39D52-01F6-A2D5-A590-BDB2DF59F54D}"/>
              </a:ext>
            </a:extLst>
          </p:cNvPr>
          <p:cNvGraphicFramePr>
            <a:graphicFrameLocks noGrp="1"/>
          </p:cNvGraphicFramePr>
          <p:nvPr>
            <p:extLst/>
          </p:nvPr>
        </p:nvGraphicFramePr>
        <p:xfrm>
          <a:off x="152397" y="1667581"/>
          <a:ext cx="11688714" cy="4232118"/>
        </p:xfrm>
        <a:graphic>
          <a:graphicData uri="http://schemas.openxmlformats.org/drawingml/2006/table">
            <a:tbl>
              <a:tblPr/>
              <a:tblGrid>
                <a:gridCol w="381003">
                  <a:extLst>
                    <a:ext uri="{9D8B030D-6E8A-4147-A177-3AD203B41FA5}">
                      <a16:colId xmlns:a16="http://schemas.microsoft.com/office/drawing/2014/main" val="1256133665"/>
                    </a:ext>
                  </a:extLst>
                </a:gridCol>
                <a:gridCol w="612068">
                  <a:extLst>
                    <a:ext uri="{9D8B030D-6E8A-4147-A177-3AD203B41FA5}">
                      <a16:colId xmlns:a16="http://schemas.microsoft.com/office/drawing/2014/main" val="4239982419"/>
                    </a:ext>
                  </a:extLst>
                </a:gridCol>
                <a:gridCol w="254977">
                  <a:extLst>
                    <a:ext uri="{9D8B030D-6E8A-4147-A177-3AD203B41FA5}">
                      <a16:colId xmlns:a16="http://schemas.microsoft.com/office/drawing/2014/main" val="1384707772"/>
                    </a:ext>
                  </a:extLst>
                </a:gridCol>
                <a:gridCol w="691123">
                  <a:extLst>
                    <a:ext uri="{9D8B030D-6E8A-4147-A177-3AD203B41FA5}">
                      <a16:colId xmlns:a16="http://schemas.microsoft.com/office/drawing/2014/main" val="2863662307"/>
                    </a:ext>
                  </a:extLst>
                </a:gridCol>
                <a:gridCol w="516665">
                  <a:extLst>
                    <a:ext uri="{9D8B030D-6E8A-4147-A177-3AD203B41FA5}">
                      <a16:colId xmlns:a16="http://schemas.microsoft.com/office/drawing/2014/main" val="1357122553"/>
                    </a:ext>
                  </a:extLst>
                </a:gridCol>
                <a:gridCol w="429437">
                  <a:extLst>
                    <a:ext uri="{9D8B030D-6E8A-4147-A177-3AD203B41FA5}">
                      <a16:colId xmlns:a16="http://schemas.microsoft.com/office/drawing/2014/main" val="2137684697"/>
                    </a:ext>
                  </a:extLst>
                </a:gridCol>
                <a:gridCol w="2556487">
                  <a:extLst>
                    <a:ext uri="{9D8B030D-6E8A-4147-A177-3AD203B41FA5}">
                      <a16:colId xmlns:a16="http://schemas.microsoft.com/office/drawing/2014/main" val="2650876194"/>
                    </a:ext>
                  </a:extLst>
                </a:gridCol>
                <a:gridCol w="2845014">
                  <a:extLst>
                    <a:ext uri="{9D8B030D-6E8A-4147-A177-3AD203B41FA5}">
                      <a16:colId xmlns:a16="http://schemas.microsoft.com/office/drawing/2014/main" val="3156420628"/>
                    </a:ext>
                  </a:extLst>
                </a:gridCol>
                <a:gridCol w="261688">
                  <a:extLst>
                    <a:ext uri="{9D8B030D-6E8A-4147-A177-3AD203B41FA5}">
                      <a16:colId xmlns:a16="http://schemas.microsoft.com/office/drawing/2014/main" val="229850816"/>
                    </a:ext>
                  </a:extLst>
                </a:gridCol>
                <a:gridCol w="3140252">
                  <a:extLst>
                    <a:ext uri="{9D8B030D-6E8A-4147-A177-3AD203B41FA5}">
                      <a16:colId xmlns:a16="http://schemas.microsoft.com/office/drawing/2014/main" val="3980041142"/>
                    </a:ext>
                  </a:extLst>
                </a:gridCol>
              </a:tblGrid>
              <a:tr h="85019">
                <a:tc>
                  <a:txBody>
                    <a:bodyPr/>
                    <a:lstStyle/>
                    <a:p>
                      <a:pPr algn="ctr" fontAlgn="t"/>
                      <a:r>
                        <a:rPr lang="en-US" sz="1200" b="0" i="0" u="none" strike="noStrike">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378657601"/>
                  </a:ext>
                </a:extLst>
              </a:tr>
              <a:tr h="338045">
                <a:tc>
                  <a:txBody>
                    <a:bodyPr/>
                    <a:lstStyle/>
                    <a:p>
                      <a:pPr algn="l" fontAlgn="ctr"/>
                      <a:r>
                        <a:rPr lang="en-US" sz="1100" b="0" i="0" u="none" strike="noStrike" dirty="0">
                          <a:solidFill>
                            <a:srgbClr val="000000"/>
                          </a:solidFill>
                          <a:effectLst/>
                          <a:latin typeface="Times New Roman" panose="02020603050405020304" pitchFamily="18" charset="0"/>
                        </a:rPr>
                        <a:t>A899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12:00 01/02/2025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VN212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DURING BOARDING DM SHOW "F/CTL ELEVATOR ACTUATOR"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&lt;p&gt;RESET TEST SATIS, DM GONE. A/C SERVICEABLE&lt;/p&gt; DURING BOARDING DM SHOW "F/CTL ELEVATOR ACTUATOR EVENT CLOSED &lt;p&gt;&lt;/p&gt;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mn-lt"/>
                        </a:rPr>
                        <a:t>Hỏng hóc do NVRAM failure on EHA-R ELEVR (2CT2) như AIB đề cập trong TR 81535740</a:t>
                      </a:r>
                      <a:r>
                        <a:rPr lang="en-US" sz="1100" b="0" i="0" u="none" strike="noStrike" dirty="0">
                          <a:solidFill>
                            <a:srgbClr val="000000"/>
                          </a:solidFill>
                          <a:effectLst/>
                          <a:latin typeface="+mn-lt"/>
                        </a:rPr>
                        <a:t>: </a:t>
                      </a:r>
                      <a:r>
                        <a:rPr lang="vi-VN" sz="1100" b="0" i="0" u="none" strike="noStrike" dirty="0">
                          <a:solidFill>
                            <a:srgbClr val="000000"/>
                          </a:solidFill>
                          <a:effectLst/>
                          <a:latin typeface="+mn-lt"/>
                        </a:rPr>
                        <a:t>The actuator NVRAM module is located on the actuator cylinder, it is external to the Remote Module. Rigging information are sent to the Remote Module (FCRM or EM) before being sent to the Flight Control Computers (PRIM or SEC).</a:t>
                      </a:r>
                    </a:p>
                    <a:p>
                      <a:pPr algn="l" fontAlgn="ctr"/>
                      <a:r>
                        <a:rPr lang="vi-VN" sz="1100" b="0" i="0" u="none" strike="noStrike" dirty="0">
                          <a:solidFill>
                            <a:srgbClr val="000000"/>
                          </a:solidFill>
                          <a:effectLst/>
                          <a:latin typeface="+mn-lt"/>
                        </a:rPr>
                        <a:t>Hỏng hóc này được AIB nêu trong TFU 27.00.00111. AIB đang phối hợp với MOOG để tìm hiểu nguyên nhân.</a:t>
                      </a:r>
                      <a:r>
                        <a:rPr lang="en-US" sz="1100" b="0" i="0" u="none" strike="noStrike" dirty="0">
                          <a:solidFill>
                            <a:srgbClr val="000000"/>
                          </a:solidFill>
                          <a:effectLst/>
                          <a:latin typeface="+mn-lt"/>
                        </a:rPr>
                        <a:t> </a:t>
                      </a:r>
                      <a:r>
                        <a:rPr lang="vi-VN" sz="1100" b="0" i="0" u="none" strike="noStrike" dirty="0">
                          <a:solidFill>
                            <a:srgbClr val="000000"/>
                          </a:solidFill>
                          <a:effectLst/>
                          <a:latin typeface="+mn-lt"/>
                        </a:rPr>
                        <a:t>NVRAM investigation</a:t>
                      </a:r>
                      <a:r>
                        <a:rPr lang="en-US" sz="1100" b="0" i="0" u="none" strike="noStrike" dirty="0">
                          <a:solidFill>
                            <a:srgbClr val="000000"/>
                          </a:solidFill>
                          <a:effectLst/>
                          <a:latin typeface="+mn-lt"/>
                        </a:rPr>
                        <a:t>:</a:t>
                      </a:r>
                      <a:endParaRPr lang="vi-VN" sz="1100" b="0" i="0" u="none" strike="noStrike" dirty="0">
                        <a:solidFill>
                          <a:srgbClr val="000000"/>
                        </a:solidFill>
                        <a:effectLst/>
                        <a:latin typeface="+mn-lt"/>
                      </a:endParaRPr>
                    </a:p>
                    <a:p>
                      <a:pPr algn="l" fontAlgn="ctr"/>
                      <a:r>
                        <a:rPr lang="vi-VN" sz="1100" b="0" i="0" u="none" strike="noStrike" dirty="0">
                          <a:solidFill>
                            <a:srgbClr val="000000"/>
                          </a:solidFill>
                          <a:effectLst/>
                          <a:latin typeface="+mn-lt"/>
                        </a:rPr>
                        <a:t>- Soldering issue observed most of the time (not systematically)</a:t>
                      </a:r>
                    </a:p>
                    <a:p>
                      <a:pPr algn="l" fontAlgn="ctr"/>
                      <a:r>
                        <a:rPr lang="vi-VN" sz="1100" b="0" i="0" u="none" strike="noStrike" dirty="0">
                          <a:solidFill>
                            <a:srgbClr val="000000"/>
                          </a:solidFill>
                          <a:effectLst/>
                          <a:latin typeface="+mn-lt"/>
                        </a:rPr>
                        <a:t>- Thermal tests and cross sectioning in progress. Root cause report expected in Q3-2025</a:t>
                      </a:r>
                    </a:p>
                    <a:p>
                      <a:pPr algn="l" fontAlgn="ctr"/>
                      <a:r>
                        <a:rPr lang="vi-VN" sz="1100" b="0" i="0" u="none" strike="noStrike" dirty="0">
                          <a:solidFill>
                            <a:srgbClr val="000000"/>
                          </a:solidFill>
                          <a:effectLst/>
                          <a:latin typeface="+mn-lt"/>
                        </a:rPr>
                        <a:t>Giải pháp:</a:t>
                      </a:r>
                    </a:p>
                    <a:p>
                      <a:pPr algn="l" fontAlgn="ctr"/>
                      <a:r>
                        <a:rPr lang="vi-VN" sz="1100" b="0" i="0" u="none" strike="noStrike" dirty="0">
                          <a:solidFill>
                            <a:srgbClr val="000000"/>
                          </a:solidFill>
                          <a:effectLst/>
                          <a:latin typeface="+mn-lt"/>
                        </a:rPr>
                        <a:t>- Do đây là thiết bị điện tử nên AIB không có giải pháp đánh chặn cho hỏng hóc này.</a:t>
                      </a:r>
                    </a:p>
                    <a:p>
                      <a:pPr algn="l" fontAlgn="ctr"/>
                      <a:r>
                        <a:rPr lang="vi-VN" sz="1100" b="0" i="0" u="none" strike="noStrike" dirty="0">
                          <a:solidFill>
                            <a:srgbClr val="000000"/>
                          </a:solidFill>
                          <a:effectLst/>
                          <a:latin typeface="+mn-lt"/>
                        </a:rPr>
                        <a:t>- AIB đang nghiên cứu để có thể raise MEL được cho hỏng hóc này. -Dispatch improvement for all EHAs (from NO GO to GO IF) is confirmed to be implemented under FCGS 15(Q4-2025).</a:t>
                      </a:r>
                    </a:p>
                    <a:p>
                      <a:pPr algn="l" fontAlgn="ctr"/>
                      <a:r>
                        <a:rPr lang="vi-VN" sz="1100" b="0" i="0" u="none" strike="noStrike" dirty="0">
                          <a:solidFill>
                            <a:srgbClr val="000000"/>
                          </a:solidFill>
                          <a:effectLst/>
                          <a:latin typeface="+mn-lt"/>
                        </a:rPr>
                        <a:t>- Hỏng hóc này ít xảy ra và đang tiếp tục theo dõi thêm khi có điều tra nguyên nhân, giải pháp từ AIB</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7654174"/>
                  </a:ext>
                </a:extLst>
              </a:tr>
            </a:tbl>
          </a:graphicData>
        </a:graphic>
      </p:graphicFrame>
    </p:spTree>
    <p:extLst>
      <p:ext uri="{BB962C8B-B14F-4D97-AF65-F5344CB8AC3E}">
        <p14:creationId xmlns:p14="http://schemas.microsoft.com/office/powerpoint/2010/main" val="11562785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22D772EA-FE5E-EDCC-3EB1-651813F7719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ECB6B3C-1099-5DC2-1C4B-B5818269B6E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D22EE223-58F2-34DE-2321-69EED81DAA49}"/>
              </a:ext>
            </a:extLst>
          </p:cNvPr>
          <p:cNvSpPr>
            <a:spLocks noGrp="1"/>
          </p:cNvSpPr>
          <p:nvPr>
            <p:ph type="title"/>
          </p:nvPr>
        </p:nvSpPr>
        <p:spPr>
          <a:xfrm>
            <a:off x="152398" y="28337"/>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dirty="0">
                <a:ln w="0"/>
                <a:solidFill>
                  <a:schemeClr val="accent4"/>
                </a:solidFill>
                <a:latin typeface="Times New Roman" panose="02020603050405020304" pitchFamily="18" charset="0"/>
                <a:cs typeface="Times New Roman" panose="02020603050405020304" pitchFamily="18" charset="0"/>
              </a:rPr>
              <a:t>A350</a:t>
            </a:r>
          </a:p>
        </p:txBody>
      </p:sp>
      <p:sp>
        <p:nvSpPr>
          <p:cNvPr id="4" name="TextBox 3">
            <a:extLst>
              <a:ext uri="{FF2B5EF4-FFF2-40B4-BE49-F238E27FC236}">
                <a16:creationId xmlns:a16="http://schemas.microsoft.com/office/drawing/2014/main" id="{056E19F9-8D8C-7C75-BF7B-A9265A21D829}"/>
              </a:ext>
            </a:extLst>
          </p:cNvPr>
          <p:cNvSpPr txBox="1"/>
          <p:nvPr/>
        </p:nvSpPr>
        <p:spPr>
          <a:xfrm>
            <a:off x="152397" y="1236922"/>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8 (Tech: 07; Non-tech: 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id="{3AA08AB8-57DA-F51A-C731-7E505993D18E}"/>
              </a:ext>
            </a:extLst>
          </p:cNvPr>
          <p:cNvSpPr txBox="1"/>
          <p:nvPr/>
        </p:nvSpPr>
        <p:spPr>
          <a:xfrm>
            <a:off x="152398" y="78833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08 (Tech: 07; Non-tech: 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E9469AE-CF99-468E-8E30-B3678BDBD569}"/>
              </a:ext>
            </a:extLst>
          </p:cNvPr>
          <p:cNvGraphicFramePr>
            <a:graphicFrameLocks noGrp="1"/>
          </p:cNvGraphicFramePr>
          <p:nvPr>
            <p:extLst/>
          </p:nvPr>
        </p:nvGraphicFramePr>
        <p:xfrm>
          <a:off x="152397" y="1667581"/>
          <a:ext cx="11688714" cy="4742658"/>
        </p:xfrm>
        <a:graphic>
          <a:graphicData uri="http://schemas.openxmlformats.org/drawingml/2006/table">
            <a:tbl>
              <a:tblPr/>
              <a:tblGrid>
                <a:gridCol w="381003">
                  <a:extLst>
                    <a:ext uri="{9D8B030D-6E8A-4147-A177-3AD203B41FA5}">
                      <a16:colId xmlns:a16="http://schemas.microsoft.com/office/drawing/2014/main" val="1256133665"/>
                    </a:ext>
                  </a:extLst>
                </a:gridCol>
                <a:gridCol w="612068">
                  <a:extLst>
                    <a:ext uri="{9D8B030D-6E8A-4147-A177-3AD203B41FA5}">
                      <a16:colId xmlns:a16="http://schemas.microsoft.com/office/drawing/2014/main" val="4239982419"/>
                    </a:ext>
                  </a:extLst>
                </a:gridCol>
                <a:gridCol w="254977">
                  <a:extLst>
                    <a:ext uri="{9D8B030D-6E8A-4147-A177-3AD203B41FA5}">
                      <a16:colId xmlns:a16="http://schemas.microsoft.com/office/drawing/2014/main" val="1384707772"/>
                    </a:ext>
                  </a:extLst>
                </a:gridCol>
                <a:gridCol w="691123">
                  <a:extLst>
                    <a:ext uri="{9D8B030D-6E8A-4147-A177-3AD203B41FA5}">
                      <a16:colId xmlns:a16="http://schemas.microsoft.com/office/drawing/2014/main" val="2863662307"/>
                    </a:ext>
                  </a:extLst>
                </a:gridCol>
                <a:gridCol w="516665">
                  <a:extLst>
                    <a:ext uri="{9D8B030D-6E8A-4147-A177-3AD203B41FA5}">
                      <a16:colId xmlns:a16="http://schemas.microsoft.com/office/drawing/2014/main" val="1357122553"/>
                    </a:ext>
                  </a:extLst>
                </a:gridCol>
                <a:gridCol w="429437">
                  <a:extLst>
                    <a:ext uri="{9D8B030D-6E8A-4147-A177-3AD203B41FA5}">
                      <a16:colId xmlns:a16="http://schemas.microsoft.com/office/drawing/2014/main" val="2137684697"/>
                    </a:ext>
                  </a:extLst>
                </a:gridCol>
                <a:gridCol w="1762930">
                  <a:extLst>
                    <a:ext uri="{9D8B030D-6E8A-4147-A177-3AD203B41FA5}">
                      <a16:colId xmlns:a16="http://schemas.microsoft.com/office/drawing/2014/main" val="2650876194"/>
                    </a:ext>
                  </a:extLst>
                </a:gridCol>
                <a:gridCol w="2362200">
                  <a:extLst>
                    <a:ext uri="{9D8B030D-6E8A-4147-A177-3AD203B41FA5}">
                      <a16:colId xmlns:a16="http://schemas.microsoft.com/office/drawing/2014/main" val="3156420628"/>
                    </a:ext>
                  </a:extLst>
                </a:gridCol>
                <a:gridCol w="609600">
                  <a:extLst>
                    <a:ext uri="{9D8B030D-6E8A-4147-A177-3AD203B41FA5}">
                      <a16:colId xmlns:a16="http://schemas.microsoft.com/office/drawing/2014/main" val="229850816"/>
                    </a:ext>
                  </a:extLst>
                </a:gridCol>
                <a:gridCol w="4068711">
                  <a:extLst>
                    <a:ext uri="{9D8B030D-6E8A-4147-A177-3AD203B41FA5}">
                      <a16:colId xmlns:a16="http://schemas.microsoft.com/office/drawing/2014/main" val="3980041142"/>
                    </a:ext>
                  </a:extLst>
                </a:gridCol>
              </a:tblGrid>
              <a:tr h="85019">
                <a:tc>
                  <a:txBody>
                    <a:bodyPr/>
                    <a:lstStyle/>
                    <a:p>
                      <a:pPr algn="ctr" fontAlgn="t"/>
                      <a:r>
                        <a:rPr lang="en-US" sz="1200" b="0" i="0" u="none" strike="noStrike">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378657601"/>
                  </a:ext>
                </a:extLst>
              </a:tr>
              <a:tr h="338045">
                <a:tc>
                  <a:txBody>
                    <a:bodyPr/>
                    <a:lstStyle/>
                    <a:p>
                      <a:pPr algn="l" fontAlgn="ctr"/>
                      <a:r>
                        <a:rPr lang="en-US" sz="1100" b="0" i="0" u="none" strike="noStrike" dirty="0">
                          <a:solidFill>
                            <a:srgbClr val="000000"/>
                          </a:solidFill>
                          <a:effectLst/>
                          <a:latin typeface="Times New Roman" panose="02020603050405020304" pitchFamily="18" charset="0"/>
                        </a:rPr>
                        <a:t>A899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00" b="0" i="0" u="none" strike="noStrike">
                          <a:solidFill>
                            <a:srgbClr val="000000"/>
                          </a:solidFill>
                          <a:effectLst/>
                          <a:latin typeface="Times New Roman" panose="02020603050405020304" pitchFamily="18" charset="0"/>
                        </a:rPr>
                        <a:t>01/02/2025 23:50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00" b="0" i="0" u="none" strike="noStrike">
                          <a:solidFill>
                            <a:srgbClr val="000000"/>
                          </a:solidFill>
                          <a:effectLst/>
                          <a:latin typeface="Times New Roman" panose="02020603050405020304" pitchFamily="18" charset="0"/>
                        </a:rPr>
                        <a:t>180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VN11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SGN-CDG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DURING TRANSIT CHECK A/C HAS DM SHOW "F/CTL L SPOILER#4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DEACTIVED SPOILER#4 DONE, RAISED ADD "F/CTL L SPOILER#4  INOP ", AC SERVICEABLE.</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A/C HAS DM SHOW "F/CTL L SPOILER#4 " EVENT CLOSED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rPr>
                        <a:t>Hỏng hóc do FCRM, nguyên nhân do đứt gãy mối hàn bên trong bảng mạch. Dự kiến tháng 4/2025, MOOG sẽ ban hành giải pháp tạm thời để bôi lớp keo lên các mối hàn để hạn chế việc đứt gãy mối hàn.</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Hỏng hóc này có 2 phương án raise MEL:</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 Raise MEL without Collar được 3FC: Raise MEL phương án này sẽ chỉ thao tác trên máy tính Cockpit, không gây delay chuyến bay nhưng phải thực hiện ở mỗi chuyến bay.</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 Raise MEL with Collar được 10 ngày: Raise MEL phương án này sẽ gây delay do phải tiếp cận actuator dể lắp Collar. MOC/OCC yêu cầu phải thực hiện phương án raise MEL này.</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7654174"/>
                  </a:ext>
                </a:extLst>
              </a:tr>
              <a:tr h="338045">
                <a:tc>
                  <a:txBody>
                    <a:bodyPr/>
                    <a:lstStyle/>
                    <a:p>
                      <a:pPr algn="l" fontAlgn="ctr"/>
                      <a:r>
                        <a:rPr lang="en-US" sz="1100" b="0" i="0" u="none" strike="noStrike" dirty="0">
                          <a:solidFill>
                            <a:srgbClr val="000000"/>
                          </a:solidFill>
                          <a:effectLst/>
                          <a:latin typeface="Times New Roman" panose="02020603050405020304" pitchFamily="18" charset="0"/>
                        </a:rPr>
                        <a:t>A893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07:50 01/02/2025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SYD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40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VN772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SYD-SGN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ENG 1 CTL SYS FAULT &lt;p&gt;BEFORE DEPART ENG 1 CTL SYS FAULT&lt;/p&gt;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&lt;p&gt;RESET TEST SATIS&lt;/p&gt; RESET TEST SATIS EVENT CLOSED &lt;p&gt;&lt;/p&gt;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80-00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mn-lt"/>
                        </a:rPr>
                        <a:t>Nguyên nhân cảnh báo được xác định do trong quá trình nổ máy động cơ, EEC cho thực hiện Variable Stator Vane (VSV) check và khi phát hiện VSV xoay bị chậm hoặc kẹt sẽ phát cảnh báo liên quan đến điều khiển động cơ. </a:t>
                      </a:r>
                    </a:p>
                    <a:p>
                      <a:pPr algn="l" fontAlgn="ctr"/>
                      <a:r>
                        <a:rPr lang="vi-VN" sz="1100" b="0" i="0" u="none" strike="noStrike" dirty="0">
                          <a:solidFill>
                            <a:srgbClr val="000000"/>
                          </a:solidFill>
                          <a:effectLst/>
                          <a:latin typeface="+mn-lt"/>
                        </a:rPr>
                        <a:t>Trường hợp động cơ của A893 là động cơ mới được sản xuất và lắp lên khai thác, do vậy khả năng VSV được bôi trơn chưa đủ trong quá trình lắp ráp và gây ra lỗi nhiều lần liên tiếp. </a:t>
                      </a:r>
                    </a:p>
                    <a:p>
                      <a:pPr algn="l" fontAlgn="ctr"/>
                      <a:r>
                        <a:rPr lang="vi-VN" sz="1100" b="0" i="0" u="none" strike="noStrike" dirty="0">
                          <a:solidFill>
                            <a:srgbClr val="000000"/>
                          </a:solidFill>
                          <a:effectLst/>
                          <a:latin typeface="+mn-lt"/>
                        </a:rPr>
                        <a:t>NSX có ban hành TFU 73.20.00.045 mô tả hiện tượng này, và đưa ra giải pháp thực hiện bôi trơn VSV để khắc phục. Hiện VNA đang chờ đặt tool để thực hiện công việc này. </a:t>
                      </a:r>
                    </a:p>
                    <a:p>
                      <a:pPr algn="l" fontAlgn="ctr"/>
                      <a:r>
                        <a:rPr lang="vi-VN" sz="1100" b="0" i="0" u="none" strike="noStrike" dirty="0">
                          <a:solidFill>
                            <a:srgbClr val="000000"/>
                          </a:solidFill>
                          <a:effectLst/>
                          <a:latin typeface="+mn-lt"/>
                        </a:rPr>
                        <a:t>Do dạng hỏng này mới xuất hiện lần đầu, VNA đang làm việc thêm với RR để đánh giá thêm vấn đề này. Ngoài ra, VNA cũng làm việc với Lessor để claim vấn đề động cơ được lắp ráp chưa đạt tiêu chuẩn gây ra lỗi.</a:t>
                      </a:r>
                    </a:p>
                    <a:p>
                      <a:pPr algn="l" fontAlgn="ctr"/>
                      <a:r>
                        <a:rPr lang="vi-VN" sz="1100" b="0" i="0" u="none" strike="noStrike" dirty="0">
                          <a:solidFill>
                            <a:srgbClr val="000000"/>
                          </a:solidFill>
                          <a:effectLst/>
                          <a:latin typeface="+mn-lt"/>
                        </a:rPr>
                        <a:t>Đối với các động cơ thuê mới sau này, Ban KT sẽ bổ sung yêu cầu bôi trơn VSV trước khi lắp động cơ để phòng ngừa vấn đề tương tự xảy ra.</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4686829"/>
                  </a:ext>
                </a:extLst>
              </a:tr>
            </a:tbl>
          </a:graphicData>
        </a:graphic>
      </p:graphicFrame>
    </p:spTree>
    <p:extLst>
      <p:ext uri="{BB962C8B-B14F-4D97-AF65-F5344CB8AC3E}">
        <p14:creationId xmlns:p14="http://schemas.microsoft.com/office/powerpoint/2010/main" val="11179032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BED62343-02E4-39C0-1AFB-A8CE56B2C269}"/>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835E0A52-3798-A70B-F626-00CE3FD7BC9B}"/>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9CAEF7C8-F7F5-6DE7-8613-AC96417F71F9}"/>
              </a:ext>
            </a:extLst>
          </p:cNvPr>
          <p:cNvSpPr>
            <a:spLocks noGrp="1"/>
          </p:cNvSpPr>
          <p:nvPr>
            <p:ph type="title"/>
          </p:nvPr>
        </p:nvSpPr>
        <p:spPr>
          <a:xfrm>
            <a:off x="152398" y="28337"/>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dirty="0">
                <a:ln w="0"/>
                <a:solidFill>
                  <a:schemeClr val="accent4"/>
                </a:solidFill>
                <a:latin typeface="Times New Roman" panose="02020603050405020304" pitchFamily="18" charset="0"/>
                <a:cs typeface="Times New Roman" panose="02020603050405020304" pitchFamily="18" charset="0"/>
              </a:rPr>
              <a:t>A350</a:t>
            </a:r>
          </a:p>
        </p:txBody>
      </p:sp>
      <p:sp>
        <p:nvSpPr>
          <p:cNvPr id="4" name="TextBox 3">
            <a:extLst>
              <a:ext uri="{FF2B5EF4-FFF2-40B4-BE49-F238E27FC236}">
                <a16:creationId xmlns:a16="http://schemas.microsoft.com/office/drawing/2014/main" id="{2EFF9F7C-A798-4355-24C2-6420972B84C9}"/>
              </a:ext>
            </a:extLst>
          </p:cNvPr>
          <p:cNvSpPr txBox="1"/>
          <p:nvPr/>
        </p:nvSpPr>
        <p:spPr>
          <a:xfrm>
            <a:off x="152397" y="1236922"/>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8 (Tech: 07; Non-tech: 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id="{A0CED63A-8F29-7D75-3A44-EA3E782DC6E4}"/>
              </a:ext>
            </a:extLst>
          </p:cNvPr>
          <p:cNvSpPr txBox="1"/>
          <p:nvPr/>
        </p:nvSpPr>
        <p:spPr>
          <a:xfrm>
            <a:off x="152398" y="78833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08 (Tech: 07; Non-tech: 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3EACA1F4-341F-AAD0-A915-811BBE17BB09}"/>
              </a:ext>
            </a:extLst>
          </p:cNvPr>
          <p:cNvGraphicFramePr>
            <a:graphicFrameLocks noGrp="1"/>
          </p:cNvGraphicFramePr>
          <p:nvPr>
            <p:extLst/>
          </p:nvPr>
        </p:nvGraphicFramePr>
        <p:xfrm>
          <a:off x="152397" y="1667581"/>
          <a:ext cx="11688714" cy="5009724"/>
        </p:xfrm>
        <a:graphic>
          <a:graphicData uri="http://schemas.openxmlformats.org/drawingml/2006/table">
            <a:tbl>
              <a:tblPr/>
              <a:tblGrid>
                <a:gridCol w="381003">
                  <a:extLst>
                    <a:ext uri="{9D8B030D-6E8A-4147-A177-3AD203B41FA5}">
                      <a16:colId xmlns:a16="http://schemas.microsoft.com/office/drawing/2014/main" val="1256133665"/>
                    </a:ext>
                  </a:extLst>
                </a:gridCol>
                <a:gridCol w="612068">
                  <a:extLst>
                    <a:ext uri="{9D8B030D-6E8A-4147-A177-3AD203B41FA5}">
                      <a16:colId xmlns:a16="http://schemas.microsoft.com/office/drawing/2014/main" val="4239982419"/>
                    </a:ext>
                  </a:extLst>
                </a:gridCol>
                <a:gridCol w="254977">
                  <a:extLst>
                    <a:ext uri="{9D8B030D-6E8A-4147-A177-3AD203B41FA5}">
                      <a16:colId xmlns:a16="http://schemas.microsoft.com/office/drawing/2014/main" val="1384707772"/>
                    </a:ext>
                  </a:extLst>
                </a:gridCol>
                <a:gridCol w="691123">
                  <a:extLst>
                    <a:ext uri="{9D8B030D-6E8A-4147-A177-3AD203B41FA5}">
                      <a16:colId xmlns:a16="http://schemas.microsoft.com/office/drawing/2014/main" val="2863662307"/>
                    </a:ext>
                  </a:extLst>
                </a:gridCol>
                <a:gridCol w="516665">
                  <a:extLst>
                    <a:ext uri="{9D8B030D-6E8A-4147-A177-3AD203B41FA5}">
                      <a16:colId xmlns:a16="http://schemas.microsoft.com/office/drawing/2014/main" val="1357122553"/>
                    </a:ext>
                  </a:extLst>
                </a:gridCol>
                <a:gridCol w="429437">
                  <a:extLst>
                    <a:ext uri="{9D8B030D-6E8A-4147-A177-3AD203B41FA5}">
                      <a16:colId xmlns:a16="http://schemas.microsoft.com/office/drawing/2014/main" val="2137684697"/>
                    </a:ext>
                  </a:extLst>
                </a:gridCol>
                <a:gridCol w="1762930">
                  <a:extLst>
                    <a:ext uri="{9D8B030D-6E8A-4147-A177-3AD203B41FA5}">
                      <a16:colId xmlns:a16="http://schemas.microsoft.com/office/drawing/2014/main" val="2650876194"/>
                    </a:ext>
                  </a:extLst>
                </a:gridCol>
                <a:gridCol w="2362200">
                  <a:extLst>
                    <a:ext uri="{9D8B030D-6E8A-4147-A177-3AD203B41FA5}">
                      <a16:colId xmlns:a16="http://schemas.microsoft.com/office/drawing/2014/main" val="3156420628"/>
                    </a:ext>
                  </a:extLst>
                </a:gridCol>
                <a:gridCol w="609600">
                  <a:extLst>
                    <a:ext uri="{9D8B030D-6E8A-4147-A177-3AD203B41FA5}">
                      <a16:colId xmlns:a16="http://schemas.microsoft.com/office/drawing/2014/main" val="229850816"/>
                    </a:ext>
                  </a:extLst>
                </a:gridCol>
                <a:gridCol w="4068711">
                  <a:extLst>
                    <a:ext uri="{9D8B030D-6E8A-4147-A177-3AD203B41FA5}">
                      <a16:colId xmlns:a16="http://schemas.microsoft.com/office/drawing/2014/main" val="3980041142"/>
                    </a:ext>
                  </a:extLst>
                </a:gridCol>
              </a:tblGrid>
              <a:tr h="404942">
                <a:tc>
                  <a:txBody>
                    <a:bodyPr/>
                    <a:lstStyle/>
                    <a:p>
                      <a:pPr algn="ctr" fontAlgn="t"/>
                      <a:r>
                        <a:rPr lang="en-US" sz="1200" b="0" i="0" u="none" strike="noStrike">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378657601"/>
                  </a:ext>
                </a:extLst>
              </a:tr>
              <a:tr h="2585482">
                <a:tc>
                  <a:txBody>
                    <a:bodyPr/>
                    <a:lstStyle/>
                    <a:p>
                      <a:pPr algn="l" fontAlgn="ctr"/>
                      <a:r>
                        <a:rPr lang="en-US" sz="1100" b="0" i="0" u="none" strike="noStrike" dirty="0">
                          <a:solidFill>
                            <a:srgbClr val="000000"/>
                          </a:solidFill>
                          <a:effectLst/>
                          <a:latin typeface="Times New Roman" panose="02020603050405020304" pitchFamily="18" charset="0"/>
                        </a:rPr>
                        <a:t>A892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14:00 28/01/2025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35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VN7452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DURING PUSH BACK CAPT INFORM "ENG 1 FADEC FAULT"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&lt;p&gt;RESET TEST OK, ERU SATIS. A/C SERVICEABLE&lt;/p&gt; DURING PUSH BACK CAPT INFORM "ENG 1 FADEC FAULT" EVENT CLOSED &lt;p&gt;&lt;/p&gt;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mn-lt"/>
                        </a:rPr>
                        <a:t>Vấn đề đã xảy ra nhiều lần trên đội bay, VNA đã triển khai thử nghiệm các giải pháp bao gồm tiến hành clear lỗi theo hướng dẫn của TFU 73.21.00.109 (luôn hiệu quả) và cập nhật quy trình nổ máy theo TFU 73.20.00006 (có hiệu quả nhưng không triệt để). Theo thống kê cho thấy lỗi này xuất hiện ngẫu nhiên trên các động cơ, không phụ thuộc vào giờ khai thác và không có tính lặp lại. Do vậy nghi ngờ nguyên nhân hỏng hóc do lỗi liên quan đến phần cứng/ phần mềm của EEC nói chung và cần giải pháp từ NSX để khắc phục triệt để. VNA liên tục làm việc và yêu cầu NSX đưa ra giải pháp cho vấn đề này, tuy nhiên đến nay NSX vẫn chưa đưa ra được nguyên nhân gốc cũng như giải pháp khắc phục. </a:t>
                      </a:r>
                    </a:p>
                    <a:p>
                      <a:pPr algn="l" fontAlgn="ctr"/>
                      <a:r>
                        <a:rPr lang="vi-VN" sz="1100" b="0" i="0" u="none" strike="noStrike" dirty="0">
                          <a:solidFill>
                            <a:srgbClr val="000000"/>
                          </a:solidFill>
                          <a:effectLst/>
                          <a:latin typeface="+mn-lt"/>
                        </a:rPr>
                        <a:t>Để giảm thiểu ảnh hưởng tới khai thác, Ban KT đã gửi TR đề nghị Airbus nghiên cứu và đưa hướng dẫn thực hiện quy trình reset cho tổ bay để tránh GTB và giảm thời gian delay, hiện đang đợi phản hồi.</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499567"/>
                  </a:ext>
                </a:extLst>
              </a:tr>
              <a:tr h="371195">
                <a:tc>
                  <a:txBody>
                    <a:bodyPr/>
                    <a:lstStyle/>
                    <a:p>
                      <a:pPr algn="l" fontAlgn="ctr"/>
                      <a:r>
                        <a:rPr lang="en-US" sz="1100" b="0" i="0" u="none" strike="noStrike" dirty="0">
                          <a:solidFill>
                            <a:srgbClr val="000000"/>
                          </a:solidFill>
                          <a:effectLst/>
                          <a:latin typeface="Times New Roman" panose="02020603050405020304" pitchFamily="18" charset="0"/>
                        </a:rPr>
                        <a:t>A888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00" b="0" i="0" u="none" strike="noStrike">
                          <a:solidFill>
                            <a:srgbClr val="000000"/>
                          </a:solidFill>
                          <a:effectLst/>
                          <a:latin typeface="Times New Roman" panose="02020603050405020304" pitchFamily="18" charset="0"/>
                        </a:rPr>
                        <a:t>26/01/2025 19:15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30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VN258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A/C HAS MSG : ELEC DRIVE 1A +1B DISCONNECTED &lt;p&gt;AFTER TOWING TO BRIDGE 20 FOR DEPART A/C HAS MSG : ELEC DRIVE 1A &amp;#43;1B DISCONNECTED&lt;/p&gt;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&lt;p&gt;- 18:25 A/C HAS TOWING FR BAY 39 TO BAY 20 FOR DISPATCH COMPLETED&lt;br /&gt;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- 19:08 AFTER TOWING TO BRIDGE 20 FOR DEPART A/C HAS MSG : ELEC DRIVE 1A &amp;#43;1B DISCONNECTED&lt;br /&gt;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- 19:40 C/O RESET OK. MSG GONE&lt;br /&gt;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- 19:50 A/C DOORS CLOSED&lt;/p&gt; TIMELINE (LCT) EVENT CLOSED &lt;p&gt;C/O RESET OK. MSG GONE&lt;/p&gt;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24-22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rPr>
                        <a:t>Hỏng hóc sau khi reset thì biến mất, không xuất hiện lại. Trước đó trên skywise cũng không xuất hiện msg liên quan đến hỏng hóc này trong 1 tháng trở lại đây. Đánh giá đây là cảnh báo giả, tiếp tục theo dõi thêm.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9575672"/>
                  </a:ext>
                </a:extLst>
              </a:tr>
            </a:tbl>
          </a:graphicData>
        </a:graphic>
      </p:graphicFrame>
    </p:spTree>
    <p:extLst>
      <p:ext uri="{BB962C8B-B14F-4D97-AF65-F5344CB8AC3E}">
        <p14:creationId xmlns:p14="http://schemas.microsoft.com/office/powerpoint/2010/main" val="21508042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A3EE69EC-8B86-79F1-C6B7-2DD8CD1B3CD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132255E2-CFC5-984E-CE53-47CF661D958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A97519A0-F1F1-BD5B-4FE1-F883F6D3BD6A}"/>
              </a:ext>
            </a:extLst>
          </p:cNvPr>
          <p:cNvSpPr>
            <a:spLocks noGrp="1"/>
          </p:cNvSpPr>
          <p:nvPr>
            <p:ph type="title"/>
          </p:nvPr>
        </p:nvSpPr>
        <p:spPr>
          <a:xfrm>
            <a:off x="152398" y="28337"/>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dirty="0">
                <a:ln w="0"/>
                <a:solidFill>
                  <a:schemeClr val="accent4"/>
                </a:solidFill>
                <a:latin typeface="Times New Roman" panose="02020603050405020304" pitchFamily="18" charset="0"/>
                <a:cs typeface="Times New Roman" panose="02020603050405020304" pitchFamily="18" charset="0"/>
              </a:rPr>
              <a:t>A350</a:t>
            </a:r>
          </a:p>
        </p:txBody>
      </p:sp>
      <p:sp>
        <p:nvSpPr>
          <p:cNvPr id="4" name="TextBox 3">
            <a:extLst>
              <a:ext uri="{FF2B5EF4-FFF2-40B4-BE49-F238E27FC236}">
                <a16:creationId xmlns:a16="http://schemas.microsoft.com/office/drawing/2014/main" id="{1D90EE84-C6BB-2F29-8681-8CC456AC5297}"/>
              </a:ext>
            </a:extLst>
          </p:cNvPr>
          <p:cNvSpPr txBox="1"/>
          <p:nvPr/>
        </p:nvSpPr>
        <p:spPr>
          <a:xfrm>
            <a:off x="152397" y="1236922"/>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8 (Tech: 07; Non-tech: 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id="{FB560EBF-6DFB-B9F1-02FD-0D125846179A}"/>
              </a:ext>
            </a:extLst>
          </p:cNvPr>
          <p:cNvSpPr txBox="1"/>
          <p:nvPr/>
        </p:nvSpPr>
        <p:spPr>
          <a:xfrm>
            <a:off x="152398" y="78833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08 (Tech: 07; Non-tech: 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121D8554-0F27-3983-4AFD-A57E7B0CBF54}"/>
              </a:ext>
            </a:extLst>
          </p:cNvPr>
          <p:cNvGraphicFramePr>
            <a:graphicFrameLocks noGrp="1"/>
          </p:cNvGraphicFramePr>
          <p:nvPr>
            <p:extLst/>
          </p:nvPr>
        </p:nvGraphicFramePr>
        <p:xfrm>
          <a:off x="152397" y="1667581"/>
          <a:ext cx="11688714" cy="3896838"/>
        </p:xfrm>
        <a:graphic>
          <a:graphicData uri="http://schemas.openxmlformats.org/drawingml/2006/table">
            <a:tbl>
              <a:tblPr/>
              <a:tblGrid>
                <a:gridCol w="381003">
                  <a:extLst>
                    <a:ext uri="{9D8B030D-6E8A-4147-A177-3AD203B41FA5}">
                      <a16:colId xmlns:a16="http://schemas.microsoft.com/office/drawing/2014/main" val="1256133665"/>
                    </a:ext>
                  </a:extLst>
                </a:gridCol>
                <a:gridCol w="612068">
                  <a:extLst>
                    <a:ext uri="{9D8B030D-6E8A-4147-A177-3AD203B41FA5}">
                      <a16:colId xmlns:a16="http://schemas.microsoft.com/office/drawing/2014/main" val="4239982419"/>
                    </a:ext>
                  </a:extLst>
                </a:gridCol>
                <a:gridCol w="254977">
                  <a:extLst>
                    <a:ext uri="{9D8B030D-6E8A-4147-A177-3AD203B41FA5}">
                      <a16:colId xmlns:a16="http://schemas.microsoft.com/office/drawing/2014/main" val="1384707772"/>
                    </a:ext>
                  </a:extLst>
                </a:gridCol>
                <a:gridCol w="691123">
                  <a:extLst>
                    <a:ext uri="{9D8B030D-6E8A-4147-A177-3AD203B41FA5}">
                      <a16:colId xmlns:a16="http://schemas.microsoft.com/office/drawing/2014/main" val="2863662307"/>
                    </a:ext>
                  </a:extLst>
                </a:gridCol>
                <a:gridCol w="516665">
                  <a:extLst>
                    <a:ext uri="{9D8B030D-6E8A-4147-A177-3AD203B41FA5}">
                      <a16:colId xmlns:a16="http://schemas.microsoft.com/office/drawing/2014/main" val="1357122553"/>
                    </a:ext>
                  </a:extLst>
                </a:gridCol>
                <a:gridCol w="429437">
                  <a:extLst>
                    <a:ext uri="{9D8B030D-6E8A-4147-A177-3AD203B41FA5}">
                      <a16:colId xmlns:a16="http://schemas.microsoft.com/office/drawing/2014/main" val="2137684697"/>
                    </a:ext>
                  </a:extLst>
                </a:gridCol>
                <a:gridCol w="2556487">
                  <a:extLst>
                    <a:ext uri="{9D8B030D-6E8A-4147-A177-3AD203B41FA5}">
                      <a16:colId xmlns:a16="http://schemas.microsoft.com/office/drawing/2014/main" val="2650876194"/>
                    </a:ext>
                  </a:extLst>
                </a:gridCol>
                <a:gridCol w="2845014">
                  <a:extLst>
                    <a:ext uri="{9D8B030D-6E8A-4147-A177-3AD203B41FA5}">
                      <a16:colId xmlns:a16="http://schemas.microsoft.com/office/drawing/2014/main" val="3156420628"/>
                    </a:ext>
                  </a:extLst>
                </a:gridCol>
                <a:gridCol w="261688">
                  <a:extLst>
                    <a:ext uri="{9D8B030D-6E8A-4147-A177-3AD203B41FA5}">
                      <a16:colId xmlns:a16="http://schemas.microsoft.com/office/drawing/2014/main" val="229850816"/>
                    </a:ext>
                  </a:extLst>
                </a:gridCol>
                <a:gridCol w="3140252">
                  <a:extLst>
                    <a:ext uri="{9D8B030D-6E8A-4147-A177-3AD203B41FA5}">
                      <a16:colId xmlns:a16="http://schemas.microsoft.com/office/drawing/2014/main" val="3980041142"/>
                    </a:ext>
                  </a:extLst>
                </a:gridCol>
              </a:tblGrid>
              <a:tr h="85019">
                <a:tc>
                  <a:txBody>
                    <a:bodyPr/>
                    <a:lstStyle/>
                    <a:p>
                      <a:pPr algn="ctr" fontAlgn="t"/>
                      <a:r>
                        <a:rPr lang="en-US" sz="1200" b="0" i="0" u="none" strike="noStrike">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378657601"/>
                  </a:ext>
                </a:extLst>
              </a:tr>
              <a:tr h="338045">
                <a:tc>
                  <a:txBody>
                    <a:bodyPr/>
                    <a:lstStyle/>
                    <a:p>
                      <a:pPr algn="l" fontAlgn="ctr"/>
                      <a:r>
                        <a:rPr lang="en-US" sz="1100" b="0" i="0" u="none" strike="noStrike" dirty="0">
                          <a:solidFill>
                            <a:srgbClr val="000000"/>
                          </a:solidFill>
                          <a:effectLst/>
                          <a:latin typeface="Times New Roman" panose="02020603050405020304" pitchFamily="18" charset="0"/>
                        </a:rPr>
                        <a:t>A889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00" b="0" i="0" u="none" strike="noStrike">
                          <a:solidFill>
                            <a:srgbClr val="000000"/>
                          </a:solidFill>
                          <a:effectLst/>
                          <a:latin typeface="Times New Roman" panose="02020603050405020304" pitchFamily="18" charset="0"/>
                        </a:rPr>
                        <a:t>25/01/2025 18:00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ICN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130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VN415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ICN-HAN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GTB MSG   FUEL ENG 1 LP VLV FAULT &lt;p&gt;VN415 &amp;#160;ICN-HAN, A/C GTB AT ICN- DUE TO msg no go FUEL ENG 1 LP VLV FAULT.&lt;/p&gt;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&lt;p&gt;RESET TEST FQMS TEST OK&lt;/p&gt; ERU CHECK SATIS. EVENT CLOSED &lt;p&gt;&lt;/p&gt;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28-51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mn-lt"/>
                        </a:rPr>
                        <a:t>Khi thực hiện chuyến bay trước đó VN414, HAN-ICN, thì cảnh báo xuất hiện trên Skywise (landing phase), nhưng sau khi tàu bay hạ cánh tại ICN thì không có MSG nào trên ECAM, thực hiện OPT TEST thì không xuất hiện lỗi (NO FAULT CONFIRM).</a:t>
                      </a:r>
                    </a:p>
                    <a:p>
                      <a:pPr algn="l" fontAlgn="ctr"/>
                      <a:r>
                        <a:rPr lang="vi-VN" sz="1100" b="0" i="0" u="none" strike="noStrike" dirty="0">
                          <a:solidFill>
                            <a:srgbClr val="000000"/>
                          </a:solidFill>
                          <a:effectLst/>
                          <a:latin typeface="+mn-lt"/>
                        </a:rPr>
                        <a:t>Khi thực hiện chuyến bay VN415, ICN-HAN, thì cảnh báo xuất hiện lại trong quá trình pushback, tổ bay quyết định quay lại. </a:t>
                      </a:r>
                    </a:p>
                    <a:p>
                      <a:pPr algn="l" fontAlgn="ctr"/>
                      <a:r>
                        <a:rPr lang="vi-VN" sz="1100" b="0" i="0" u="none" strike="noStrike" dirty="0">
                          <a:solidFill>
                            <a:srgbClr val="000000"/>
                          </a:solidFill>
                          <a:effectLst/>
                          <a:latin typeface="+mn-lt"/>
                        </a:rPr>
                        <a:t>Sau khi quay lại thì thợ máy reset hết MSG và thực hiện chuyến bay về.</a:t>
                      </a:r>
                    </a:p>
                    <a:p>
                      <a:pPr algn="l" fontAlgn="ctr"/>
                      <a:r>
                        <a:rPr lang="vi-VN" sz="1100" b="0" i="0" u="none" strike="noStrike" dirty="0">
                          <a:solidFill>
                            <a:srgbClr val="000000"/>
                          </a:solidFill>
                          <a:effectLst/>
                          <a:latin typeface="+mn-lt"/>
                        </a:rPr>
                        <a:t>Hỏng hóc nghi ngờ do Fuel LP valve bị intermittent. Khối bị hỏng là gốc của tàu bay, có TSN/CSN = 26076.88 FH/ 7456 FC. Đã thực hiện thay valve này khi tàu bay về main-base.</a:t>
                      </a:r>
                    </a:p>
                    <a:p>
                      <a:pPr algn="l" fontAlgn="ctr"/>
                      <a:r>
                        <a:rPr lang="vi-VN" sz="1100" b="0" i="0" u="none" strike="noStrike" dirty="0">
                          <a:solidFill>
                            <a:srgbClr val="000000"/>
                          </a:solidFill>
                          <a:effectLst/>
                          <a:latin typeface="+mn-lt"/>
                        </a:rPr>
                        <a:t>- Hiện tại, không có tài liệu nào (kể cả AiB và operator khác) về độ tin cậy của valve này trên thế giới .Tính từ khi khai thác A350 thì có 5 lần thay valve này nhưng chỉ có 1 lần gây gián đoạn khai thác trên A887 năm 2016.</a:t>
                      </a:r>
                    </a:p>
                    <a:p>
                      <a:pPr algn="l" fontAlgn="ctr"/>
                      <a:r>
                        <a:rPr lang="vi-VN" sz="1100" b="0" i="0" u="none" strike="noStrike" dirty="0">
                          <a:solidFill>
                            <a:srgbClr val="000000"/>
                          </a:solidFill>
                          <a:effectLst/>
                          <a:latin typeface="+mn-lt"/>
                        </a:rPr>
                        <a:t>- Đang chờ SFR và làm việc với AIB qua TR 81532467 để đánh giá thêm hỏng hóc.</a:t>
                      </a:r>
                      <a:endParaRPr lang="vi-VN"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4686829"/>
                  </a:ext>
                </a:extLst>
              </a:tr>
            </a:tbl>
          </a:graphicData>
        </a:graphic>
      </p:graphicFrame>
    </p:spTree>
    <p:extLst>
      <p:ext uri="{BB962C8B-B14F-4D97-AF65-F5344CB8AC3E}">
        <p14:creationId xmlns:p14="http://schemas.microsoft.com/office/powerpoint/2010/main" val="13987722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56BCA1A-7FAB-7C53-8234-DDB699CAED9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02D1A8B-8061-0B26-E98C-4936906088C6}"/>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429720EE-4796-BFE9-09C7-63C1CFC7E5FA}"/>
              </a:ext>
            </a:extLst>
          </p:cNvPr>
          <p:cNvSpPr>
            <a:spLocks noGrp="1"/>
          </p:cNvSpPr>
          <p:nvPr>
            <p:ph type="title"/>
          </p:nvPr>
        </p:nvSpPr>
        <p:spPr>
          <a:xfrm>
            <a:off x="152398" y="28337"/>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dirty="0">
                <a:ln w="0"/>
                <a:solidFill>
                  <a:schemeClr val="accent4"/>
                </a:solidFill>
                <a:latin typeface="Times New Roman" panose="02020603050405020304" pitchFamily="18" charset="0"/>
                <a:cs typeface="Times New Roman" panose="02020603050405020304" pitchFamily="18" charset="0"/>
              </a:rPr>
              <a:t>A350</a:t>
            </a:r>
          </a:p>
        </p:txBody>
      </p:sp>
      <p:sp>
        <p:nvSpPr>
          <p:cNvPr id="4" name="TextBox 3">
            <a:extLst>
              <a:ext uri="{FF2B5EF4-FFF2-40B4-BE49-F238E27FC236}">
                <a16:creationId xmlns:a16="http://schemas.microsoft.com/office/drawing/2014/main" id="{3769CFEB-3F13-A05E-CCF5-B56B854C62AF}"/>
              </a:ext>
            </a:extLst>
          </p:cNvPr>
          <p:cNvSpPr txBox="1"/>
          <p:nvPr/>
        </p:nvSpPr>
        <p:spPr>
          <a:xfrm>
            <a:off x="152397" y="1236922"/>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8 (Tech: 07; Non-tech: 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id="{98F944CE-2FFE-5412-E3B7-1B32C3577B9C}"/>
              </a:ext>
            </a:extLst>
          </p:cNvPr>
          <p:cNvSpPr txBox="1"/>
          <p:nvPr/>
        </p:nvSpPr>
        <p:spPr>
          <a:xfrm>
            <a:off x="152398" y="78833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08 (Tech: 07; Non-tech: 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E71BC3DF-95A5-848C-A29D-995465022F1F}"/>
              </a:ext>
            </a:extLst>
          </p:cNvPr>
          <p:cNvGraphicFramePr>
            <a:graphicFrameLocks noGrp="1"/>
          </p:cNvGraphicFramePr>
          <p:nvPr>
            <p:extLst/>
          </p:nvPr>
        </p:nvGraphicFramePr>
        <p:xfrm>
          <a:off x="152397" y="1667581"/>
          <a:ext cx="11688714" cy="3896838"/>
        </p:xfrm>
        <a:graphic>
          <a:graphicData uri="http://schemas.openxmlformats.org/drawingml/2006/table">
            <a:tbl>
              <a:tblPr/>
              <a:tblGrid>
                <a:gridCol w="381003">
                  <a:extLst>
                    <a:ext uri="{9D8B030D-6E8A-4147-A177-3AD203B41FA5}">
                      <a16:colId xmlns:a16="http://schemas.microsoft.com/office/drawing/2014/main" val="1256133665"/>
                    </a:ext>
                  </a:extLst>
                </a:gridCol>
                <a:gridCol w="612068">
                  <a:extLst>
                    <a:ext uri="{9D8B030D-6E8A-4147-A177-3AD203B41FA5}">
                      <a16:colId xmlns:a16="http://schemas.microsoft.com/office/drawing/2014/main" val="4239982419"/>
                    </a:ext>
                  </a:extLst>
                </a:gridCol>
                <a:gridCol w="254977">
                  <a:extLst>
                    <a:ext uri="{9D8B030D-6E8A-4147-A177-3AD203B41FA5}">
                      <a16:colId xmlns:a16="http://schemas.microsoft.com/office/drawing/2014/main" val="1384707772"/>
                    </a:ext>
                  </a:extLst>
                </a:gridCol>
                <a:gridCol w="691123">
                  <a:extLst>
                    <a:ext uri="{9D8B030D-6E8A-4147-A177-3AD203B41FA5}">
                      <a16:colId xmlns:a16="http://schemas.microsoft.com/office/drawing/2014/main" val="2863662307"/>
                    </a:ext>
                  </a:extLst>
                </a:gridCol>
                <a:gridCol w="516665">
                  <a:extLst>
                    <a:ext uri="{9D8B030D-6E8A-4147-A177-3AD203B41FA5}">
                      <a16:colId xmlns:a16="http://schemas.microsoft.com/office/drawing/2014/main" val="1357122553"/>
                    </a:ext>
                  </a:extLst>
                </a:gridCol>
                <a:gridCol w="429437">
                  <a:extLst>
                    <a:ext uri="{9D8B030D-6E8A-4147-A177-3AD203B41FA5}">
                      <a16:colId xmlns:a16="http://schemas.microsoft.com/office/drawing/2014/main" val="2137684697"/>
                    </a:ext>
                  </a:extLst>
                </a:gridCol>
                <a:gridCol w="2556487">
                  <a:extLst>
                    <a:ext uri="{9D8B030D-6E8A-4147-A177-3AD203B41FA5}">
                      <a16:colId xmlns:a16="http://schemas.microsoft.com/office/drawing/2014/main" val="2650876194"/>
                    </a:ext>
                  </a:extLst>
                </a:gridCol>
                <a:gridCol w="2845014">
                  <a:extLst>
                    <a:ext uri="{9D8B030D-6E8A-4147-A177-3AD203B41FA5}">
                      <a16:colId xmlns:a16="http://schemas.microsoft.com/office/drawing/2014/main" val="3156420628"/>
                    </a:ext>
                  </a:extLst>
                </a:gridCol>
                <a:gridCol w="261688">
                  <a:extLst>
                    <a:ext uri="{9D8B030D-6E8A-4147-A177-3AD203B41FA5}">
                      <a16:colId xmlns:a16="http://schemas.microsoft.com/office/drawing/2014/main" val="229850816"/>
                    </a:ext>
                  </a:extLst>
                </a:gridCol>
                <a:gridCol w="3140252">
                  <a:extLst>
                    <a:ext uri="{9D8B030D-6E8A-4147-A177-3AD203B41FA5}">
                      <a16:colId xmlns:a16="http://schemas.microsoft.com/office/drawing/2014/main" val="3980041142"/>
                    </a:ext>
                  </a:extLst>
                </a:gridCol>
              </a:tblGrid>
              <a:tr h="85019">
                <a:tc>
                  <a:txBody>
                    <a:bodyPr/>
                    <a:lstStyle/>
                    <a:p>
                      <a:pPr algn="ctr" fontAlgn="t"/>
                      <a:r>
                        <a:rPr lang="en-US" sz="1200" b="0" i="0" u="none" strike="noStrike">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378657601"/>
                  </a:ext>
                </a:extLst>
              </a:tr>
              <a:tr h="338045">
                <a:tc>
                  <a:txBody>
                    <a:bodyPr/>
                    <a:lstStyle/>
                    <a:p>
                      <a:pPr algn="l" fontAlgn="ctr"/>
                      <a:r>
                        <a:rPr lang="en-US" sz="1100" b="0" i="0" u="none" strike="noStrike" dirty="0">
                          <a:solidFill>
                            <a:srgbClr val="000000"/>
                          </a:solidFill>
                          <a:effectLst/>
                          <a:latin typeface="Times New Roman" panose="02020603050405020304" pitchFamily="18" charset="0"/>
                        </a:rPr>
                        <a:t>A890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12:35 23/01/2025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SFO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108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VN99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SFO-SGN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FUEL CTR TK L INLET VLV &lt;p&gt;VN99 SFO-SGN, DURING TAXI OUT APPEAR MSG:&lt;br /&gt;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&amp;#43; FUEL WEIGHT DATA DISAGREE&lt;br /&gt;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&amp;#43; FUEL LEAK DET&lt;br /&gt;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&amp;#43; FUEL CTR TK L INLET VLV&lt;br /&gt;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A/C ON GROUND TURN BACK.&lt;/p&gt;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 EVENT CLOSED &lt;p&gt;CRS KLM C/O RESET AND RAISED ADD FOR "FUEL CTR TK L INLET VLV"&lt;/p&gt;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28-25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rPr>
                        <a:t>Theo báo cáo tổ bay dưới đây thì nguyên nhân ban đầu do MSG &gt; FUEL &gt; FUEL CTR TK L INLET VLV xuất hiện từ lúc PREPARE, tổ bay thực hiện reset được. Tuy nhiên, khi đẩy tàu bay ra khai thác thì cảnh báo xuất hiện lại. =&gt; Tổ bay thực hiện Manual Reset thì xuất hiện thêm các cảnh báo NOGO khác và phải RTG để deactivate Center tank fuel inlet valve (505QU1)</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Nguyên nhân do Fuel Valve Actuator failures (SPSA) gây cảnh báo &gt; FUEL CTR TK L INLET VLV. Hỏng hóc do cầu chì bị cháy do quá dòng (resulting from a short circuit in the motor commutator)</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Hỏng hóc này có thể raise MEL để đưa tàu bay vào khai thác.</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Giải pháp: </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Nâng cấp SPSA từ P/N PN 2080026-104 lên PN 2080026-105A. Tàu bay A890 đã thực hiện nâng cấp từ 24/12/2024. Các khối trên tàu là post-MOD và khối lắp lên tàu bay là NEW</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Sẽ tiếp tục làm việc với Airbus và chờ SFR để đánh giá thêm hỏng hóc.</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499567"/>
                  </a:ext>
                </a:extLst>
              </a:tr>
            </a:tbl>
          </a:graphicData>
        </a:graphic>
      </p:graphicFrame>
    </p:spTree>
    <p:extLst>
      <p:ext uri="{BB962C8B-B14F-4D97-AF65-F5344CB8AC3E}">
        <p14:creationId xmlns:p14="http://schemas.microsoft.com/office/powerpoint/2010/main" val="17694465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Single Corner Rounded 30">
            <a:extLst>
              <a:ext uri="{FF2B5EF4-FFF2-40B4-BE49-F238E27FC236}">
                <a16:creationId xmlns:a16="http://schemas.microsoft.com/office/drawing/2014/main" id="{2808C5EC-9343-4686-B4B1-4758E42C4551}"/>
              </a:ext>
            </a:extLst>
          </p:cNvPr>
          <p:cNvSpPr/>
          <p:nvPr/>
        </p:nvSpPr>
        <p:spPr>
          <a:xfrm flipH="1" flipV="1">
            <a:off x="465678" y="749285"/>
            <a:ext cx="11555668" cy="1689159"/>
          </a:xfrm>
          <a:prstGeom prst="round1Rect">
            <a:avLst/>
          </a:prstGeom>
          <a:pattFill prst="lgGrid">
            <a:fgClr>
              <a:schemeClr val="accent1">
                <a:lumMod val="40000"/>
                <a:lumOff val="60000"/>
              </a:schemeClr>
            </a:fgClr>
            <a:bgClr>
              <a:schemeClr val="accent5">
                <a:lumMod val="20000"/>
                <a:lumOff val="80000"/>
              </a:schemeClr>
            </a:bgClr>
          </a:patt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4" name="Rectangle 4"/>
          <p:cNvSpPr>
            <a:spLocks noChangeArrowheads="1"/>
          </p:cNvSpPr>
          <p:nvPr/>
        </p:nvSpPr>
        <p:spPr bwMode="auto">
          <a:xfrm>
            <a:off x="0" y="26823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8"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4"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6"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7" name="Picture 16">
            <a:extLst>
              <a:ext uri="{FF2B5EF4-FFF2-40B4-BE49-F238E27FC236}">
                <a16:creationId xmlns:a16="http://schemas.microsoft.com/office/drawing/2014/main" id="{9AC171E4-B7C3-487F-9250-B7099A792C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22" y="134657"/>
            <a:ext cx="537821" cy="505652"/>
          </a:xfrm>
          <a:prstGeom prst="rect">
            <a:avLst/>
          </a:prstGeom>
        </p:spPr>
      </p:pic>
      <p:sp>
        <p:nvSpPr>
          <p:cNvPr id="7" name="AutoShape 2" descr="https://w3.airbus.com/1H43/MEFO_AW/ISI/MDAuMDAuMDA0Mzc=/html/bpHEScontentext/Aspose.Words.d1192d83-b481-4a56-93e5-9ad2352fe3cd.00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 name="AutoShape 2" descr="https://w3.airbus.com/1H43/MEFO_AW/ISI/MDAuMDAuMDA0Mzc=/html/bpHEScontentext/Aspose.Words.d1192d83-b481-4a56-93e5-9ad2352fe3cd.003.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0" name="AutoShape 2" descr="https://w3.airbus.com/1H43/MEFO_AW/ISI/MDAuMDAuMDA0Mzc=/html/bpHEScontentext/Aspose.Words.d1192d83-b481-4a56-93e5-9ad2352fe3cd.004.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1" name="AutoShape 4" descr="https://w3.airbus.com/1H43/MEFO_AW/ISI/MDAuMDAuMDA0Mzc=/html/bpHEScontentext/Aspose.Words.d1192d83-b481-4a56-93e5-9ad2352fe3cd.004.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 name="AutoShape 2" descr="https://w3.airbus.com/1H43/MEFO_AW/ISI/MDAuMDAuMDA0Mzc=/html/bpHEScontentext/Aspose.Words.d1192d83-b481-4a56-93e5-9ad2352fe3cd.031.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0" name="AutoShape 4" descr="https://w3.airbus.com/1H43/MEFO_AW/ISI/MDAuMDAuMDA0Mzc=/html/bpHEScontentext/Aspose.Words.d1192d83-b481-4a56-93e5-9ad2352fe3cd.028.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cxnSp>
        <p:nvCxnSpPr>
          <p:cNvPr id="25" name="Straight Connector 24">
            <a:extLst>
              <a:ext uri="{FF2B5EF4-FFF2-40B4-BE49-F238E27FC236}">
                <a16:creationId xmlns:a16="http://schemas.microsoft.com/office/drawing/2014/main" id="{9F5E9139-8C7A-459E-8697-0AFC14D23879}"/>
              </a:ext>
            </a:extLst>
          </p:cNvPr>
          <p:cNvCxnSpPr>
            <a:cxnSpLocks/>
          </p:cNvCxnSpPr>
          <p:nvPr/>
        </p:nvCxnSpPr>
        <p:spPr>
          <a:xfrm>
            <a:off x="798343" y="1128263"/>
            <a:ext cx="6557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0959498-11B2-4444-99B1-B42D92E2B619}"/>
              </a:ext>
            </a:extLst>
          </p:cNvPr>
          <p:cNvSpPr/>
          <p:nvPr/>
        </p:nvSpPr>
        <p:spPr>
          <a:xfrm>
            <a:off x="612775" y="789709"/>
            <a:ext cx="7447008" cy="338554"/>
          </a:xfrm>
          <a:prstGeom prst="rect">
            <a:avLst/>
          </a:prstGeom>
        </p:spPr>
        <p:txBody>
          <a:bodyPr wrap="square">
            <a:spAutoFit/>
          </a:bodyPr>
          <a:lstStyle/>
          <a:p>
            <a:pPr marL="0" marR="0" lvl="0" indent="11430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A892 GTB </a:t>
            </a:r>
            <a:r>
              <a:rPr kumimoji="0" lang="en-US" sz="16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due to </a:t>
            </a:r>
            <a:r>
              <a:rPr kumimoji="0" lang="sv-SE" sz="16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ENG FADEC SYSTEM FAULT</a:t>
            </a:r>
            <a:endParaRPr kumimoji="0" lang="en-US" sz="16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endParaRPr>
          </a:p>
        </p:txBody>
      </p:sp>
      <p:sp>
        <p:nvSpPr>
          <p:cNvPr id="33" name="TextBox 32">
            <a:extLst>
              <a:ext uri="{FF2B5EF4-FFF2-40B4-BE49-F238E27FC236}">
                <a16:creationId xmlns:a16="http://schemas.microsoft.com/office/drawing/2014/main" id="{02C261E8-9107-4B19-8E39-7FAD7508571C}"/>
              </a:ext>
            </a:extLst>
          </p:cNvPr>
          <p:cNvSpPr txBox="1"/>
          <p:nvPr/>
        </p:nvSpPr>
        <p:spPr>
          <a:xfrm>
            <a:off x="722764" y="1172429"/>
            <a:ext cx="6265035" cy="1231106"/>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Khi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nổ</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máy</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động</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cơ</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tàu</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có</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cảnh</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báo</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FADEC SYS FAULT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với</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Fault Code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liên</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quan</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đến</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EEC,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phải</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GTB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để</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tiến</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hành</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kiểm</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tra</a:t>
            </a:r>
            <a:r>
              <a:rPr lang="en-US" sz="160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p>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a:t>
            </a:r>
            <a:r>
              <a:rPr lang="en-US" sz="160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ực hiện reset theo h</a:t>
            </a:r>
            <a:r>
              <a:rPr lang="vi-VN" sz="160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ư</a:t>
            </a:r>
            <a:r>
              <a:rPr lang="en-US" sz="160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ớng dẫn TFU 73.21.00.109 clear đ</a:t>
            </a:r>
            <a:r>
              <a:rPr lang="vi-VN" sz="160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ư</a:t>
            </a:r>
            <a:r>
              <a:rPr lang="en-US" sz="160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ợc message</a:t>
            </a:r>
            <a:endParaRPr kumimoji="0" lang="en-US" sz="16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endParaRPr>
          </a:p>
        </p:txBody>
      </p:sp>
      <p:sp>
        <p:nvSpPr>
          <p:cNvPr id="27" name="Title 1">
            <a:extLst>
              <a:ext uri="{FF2B5EF4-FFF2-40B4-BE49-F238E27FC236}">
                <a16:creationId xmlns:a16="http://schemas.microsoft.com/office/drawing/2014/main" id="{88D62ACE-92F7-43A9-A921-E66AF898547E}"/>
              </a:ext>
            </a:extLst>
          </p:cNvPr>
          <p:cNvSpPr txBox="1">
            <a:spLocks/>
          </p:cNvSpPr>
          <p:nvPr/>
        </p:nvSpPr>
        <p:spPr>
          <a:xfrm>
            <a:off x="871239" y="203760"/>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A892 – </a:t>
            </a:r>
            <a:r>
              <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ENG FADEC SYS FAULT</a:t>
            </a:r>
          </a:p>
        </p:txBody>
      </p:sp>
      <p:sp>
        <p:nvSpPr>
          <p:cNvPr id="34" name="TextBox 33">
            <a:extLst>
              <a:ext uri="{FF2B5EF4-FFF2-40B4-BE49-F238E27FC236}">
                <a16:creationId xmlns:a16="http://schemas.microsoft.com/office/drawing/2014/main" id="{4FBB82BB-9691-4886-8645-5B1C95F325C4}"/>
              </a:ext>
            </a:extLst>
          </p:cNvPr>
          <p:cNvSpPr txBox="1"/>
          <p:nvPr/>
        </p:nvSpPr>
        <p:spPr>
          <a:xfrm>
            <a:off x="798343" y="2522323"/>
            <a:ext cx="4717415" cy="33855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1200"/>
              </a:spcBef>
              <a:spcAft>
                <a:spcPts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Root Cause / Investigation</a:t>
            </a:r>
          </a:p>
        </p:txBody>
      </p:sp>
      <p:pic>
        <p:nvPicPr>
          <p:cNvPr id="36" name="Picture 35">
            <a:extLst>
              <a:ext uri="{FF2B5EF4-FFF2-40B4-BE49-F238E27FC236}">
                <a16:creationId xmlns:a16="http://schemas.microsoft.com/office/drawing/2014/main" id="{F1E75855-BFF9-4060-8514-50C2582B62B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7354" y="3286720"/>
            <a:ext cx="537821" cy="502241"/>
          </a:xfrm>
          <a:prstGeom prst="rect">
            <a:avLst/>
          </a:prstGeom>
        </p:spPr>
      </p:pic>
      <p:sp>
        <p:nvSpPr>
          <p:cNvPr id="37" name="TextBox 36">
            <a:extLst>
              <a:ext uri="{FF2B5EF4-FFF2-40B4-BE49-F238E27FC236}">
                <a16:creationId xmlns:a16="http://schemas.microsoft.com/office/drawing/2014/main" id="{3FDC07A6-2071-4D02-9540-D46ECD1C61E5}"/>
              </a:ext>
            </a:extLst>
          </p:cNvPr>
          <p:cNvSpPr txBox="1"/>
          <p:nvPr/>
        </p:nvSpPr>
        <p:spPr>
          <a:xfrm>
            <a:off x="722764" y="3410503"/>
            <a:ext cx="5272033" cy="33855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1200"/>
              </a:spcBef>
              <a:spcAft>
                <a:spcPts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Mitigation / Interim Action</a:t>
            </a:r>
          </a:p>
        </p:txBody>
      </p:sp>
      <p:pic>
        <p:nvPicPr>
          <p:cNvPr id="38" name="Picture 37">
            <a:extLst>
              <a:ext uri="{FF2B5EF4-FFF2-40B4-BE49-F238E27FC236}">
                <a16:creationId xmlns:a16="http://schemas.microsoft.com/office/drawing/2014/main" id="{0969630F-CCFF-4E5C-A701-27D11B7F73C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3565" y="2438444"/>
            <a:ext cx="524778" cy="502242"/>
          </a:xfrm>
          <a:prstGeom prst="rect">
            <a:avLst/>
          </a:prstGeom>
        </p:spPr>
      </p:pic>
      <p:sp>
        <p:nvSpPr>
          <p:cNvPr id="13" name="TextBox 12"/>
          <p:cNvSpPr txBox="1"/>
          <p:nvPr/>
        </p:nvSpPr>
        <p:spPr>
          <a:xfrm>
            <a:off x="765175" y="2820799"/>
            <a:ext cx="11210998" cy="52322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Hiện</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nay NSX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chưa</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tìm</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được</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nguyên</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nhân</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chính</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xác</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chỉ</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có</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nhận</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định</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chung</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là</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do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lỗi</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có</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thể</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liên</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quan</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đến</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phần</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mềm</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EEC Software</a:t>
            </a:r>
            <a:r>
              <a:rPr kumimoji="0" lang="en-US" sz="1400" b="0" i="0" u="none" strike="noStrike" kern="1200" cap="none" spc="0" normalizeH="0" baseline="0" noProof="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Thống kê cho thấy hỏng hóc xảy ra ngẫu nhiên trên các động c</a:t>
            </a:r>
            <a:r>
              <a:rPr kumimoji="0" lang="vi-VN" sz="1400" b="0" i="0" u="none" strike="noStrike" kern="1200" cap="none" spc="0" normalizeH="0" baseline="0" noProof="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ơ</a:t>
            </a:r>
            <a:r>
              <a:rPr kumimoji="0" lang="en-US" sz="1400" b="0" i="0" u="none" strike="noStrike" kern="1200" cap="none" spc="0" normalizeH="0" baseline="0" noProof="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không phụ thuộc vào gi</a:t>
            </a:r>
            <a:r>
              <a:rPr lang="en-US" sz="1400">
                <a:solidFill>
                  <a:srgbClr val="4472C4">
                    <a:lumMod val="50000"/>
                  </a:srgbClr>
                </a:solidFill>
                <a:latin typeface="Times New Roman" panose="02020603050405020304" pitchFamily="18" charset="0"/>
                <a:ea typeface="Cambria" panose="02040503050406030204" pitchFamily="18" charset="0"/>
              </a:rPr>
              <a:t>ờ bay, không có tính lặp lại, do vậy nhận định này có c</a:t>
            </a:r>
            <a:r>
              <a:rPr lang="vi-VN" sz="1400">
                <a:solidFill>
                  <a:srgbClr val="4472C4">
                    <a:lumMod val="50000"/>
                  </a:srgbClr>
                </a:solidFill>
                <a:latin typeface="Times New Roman" panose="02020603050405020304" pitchFamily="18" charset="0"/>
                <a:ea typeface="Cambria" panose="02040503050406030204" pitchFamily="18" charset="0"/>
              </a:rPr>
              <a:t>ơ</a:t>
            </a:r>
            <a:r>
              <a:rPr lang="en-US" sz="1400">
                <a:solidFill>
                  <a:srgbClr val="4472C4">
                    <a:lumMod val="50000"/>
                  </a:srgbClr>
                </a:solidFill>
                <a:latin typeface="Times New Roman" panose="02020603050405020304" pitchFamily="18" charset="0"/>
                <a:ea typeface="Cambria" panose="02040503050406030204" pitchFamily="18" charset="0"/>
              </a:rPr>
              <a:t> sở. </a:t>
            </a:r>
            <a:endParaRPr kumimoji="0" lang="en-US" sz="1400" b="0" i="0" u="none" strike="noStrike" kern="1200" cap="none" spc="0" normalizeH="0" baseline="0" noProof="0" dirty="0">
              <a:ln>
                <a:noFill/>
              </a:ln>
              <a:solidFill>
                <a:srgbClr val="4472C4">
                  <a:lumMod val="50000"/>
                </a:srgbClr>
              </a:solidFill>
              <a:effectLst/>
              <a:uLnTx/>
              <a:uFillTx/>
              <a:latin typeface="Calibri Light" panose="020F0302020204030204"/>
              <a:ea typeface="Cambria" panose="02040503050406030204" pitchFamily="18" charset="0"/>
              <a:cs typeface="+mn-cs"/>
            </a:endParaRPr>
          </a:p>
        </p:txBody>
      </p:sp>
      <p:sp>
        <p:nvSpPr>
          <p:cNvPr id="15" name="TextBox 14"/>
          <p:cNvSpPr txBox="1"/>
          <p:nvPr/>
        </p:nvSpPr>
        <p:spPr>
          <a:xfrm>
            <a:off x="521499" y="3702268"/>
            <a:ext cx="7111332" cy="3139321"/>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1200"/>
              </a:spcBef>
              <a:spcAft>
                <a:spcPts val="0"/>
              </a:spcAft>
              <a:buClrTx/>
              <a:buSzTx/>
              <a:buFont typeface="Wingdings" panose="05000000000000000000" pitchFamily="2" charset="2"/>
              <a:buChar char="v"/>
              <a:tabLst/>
              <a:defRPr/>
            </a:pPr>
            <a:r>
              <a:rPr kumimoji="0" lang="vi-VN"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Hiện NSX chưa có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giải</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pháp</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về</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vấn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đề</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này</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tuy</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nhiên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Ban KT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đán</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h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giá</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vi-VN"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có hai TFU liên quan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đến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lỗi</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EEC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và</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đã</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áp</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dụng</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các</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giải</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pháp</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trong</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TFU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này</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một</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cách</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hiệu</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quả</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cho</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vấn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đề</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này</a:t>
            </a:r>
            <a:r>
              <a:rPr kumimoji="0" lang="vi-VN"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endPar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120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Khi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vấn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đề</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xảy</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ra</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sử</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dụng</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hướng</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dẫn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trong</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vi-VN"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TFU 73.21.00.109</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ngắt</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điện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EEC 15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phút</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rồi</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tiến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hành</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reset)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để</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clear message.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Đến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nay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phương</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án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này</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vẫn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hiệu</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quả</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tuyệt</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đối</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p>
          <a:p>
            <a:pPr marL="342900" marR="0" lvl="0" indent="-342900" algn="just" defTabSz="914400" rtl="0" eaLnBrk="1" fontAlgn="auto" latinLnBrk="0" hangingPunct="1">
              <a:lnSpc>
                <a:spcPct val="100000"/>
              </a:lnSpc>
              <a:spcBef>
                <a:spcPts val="1200"/>
              </a:spcBef>
              <a:spcAft>
                <a:spcPts val="0"/>
              </a:spcAft>
              <a:buClrTx/>
              <a:buSzTx/>
              <a:buFont typeface="+mj-lt"/>
              <a:buAutoNum type="arabicPeriod"/>
              <a:tabLst/>
              <a:defRPr/>
            </a:pP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Để</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phòng</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ngừa</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vấn</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đề</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áp</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dụng</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quy</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trình</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nổ</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máy</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trong</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kumimoji="0" lang="vi-VN"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TFU 73.20.00006 </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a:t>
            </a:r>
            <a:r>
              <a:rPr kumimoji="0" lang="vi-VN"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đợi 10 giây sau khi chọn ENG START selector rồi mới bật ENG MASTER</a:t>
            </a:r>
            <a:r>
              <a:rPr kumimoji="0" lang="en-US" sz="1400" b="0" i="0" u="none" strike="noStrike" kern="1200" cap="none" spc="0" normalizeH="0" baseline="0" noProof="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a:t>
            </a:r>
            <a:r>
              <a:rPr kumimoji="0" lang="vi-VN" sz="1400" b="0" i="0" u="none" strike="noStrike" kern="1200" cap="none" spc="0" normalizeH="0" baseline="0" noProof="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a:t>
            </a:r>
            <a:r>
              <a:rPr kumimoji="0" lang="en-US" sz="1400" b="0" i="0" u="none" strike="noStrike" kern="1200" cap="none" spc="0" normalizeH="0" baseline="0" noProof="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Năm </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2023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đội</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bay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bị</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4 event,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tuy</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nhiên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kể</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từ</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khi</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áp</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dụng</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kumimoji="0" lang="vi-VN"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a:t>
            </a:r>
            <a:r>
              <a:rPr kumimoji="0" lang="vi-VN" sz="1400" b="0" i="0" u="none" strike="noStrike" kern="1200" cap="none" spc="0" normalizeH="0" baseline="0" noProof="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tháng 7/2023</a:t>
            </a:r>
            <a:r>
              <a:rPr lang="en-US" sz="140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đế nay xuất hiện thêm một lần vào năm 2024 và một lần năm 2025. Nh</a:t>
            </a:r>
            <a:r>
              <a:rPr lang="vi-VN" sz="1400">
                <a:solidFill>
                  <a:srgbClr val="002060"/>
                </a:solidFill>
                <a:latin typeface="Times New Roman" panose="02020603050405020304" pitchFamily="18" charset="0"/>
                <a:ea typeface="Cambria" panose="02040503050406030204" pitchFamily="18" charset="0"/>
                <a:cs typeface="Times New Roman" panose="02020603050405020304" pitchFamily="18" charset="0"/>
              </a:rPr>
              <a:t>ư</a:t>
            </a:r>
            <a:r>
              <a:rPr lang="en-US" sz="140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vậy giải pháp này có hiệu quả nh</a:t>
            </a:r>
            <a:r>
              <a:rPr lang="vi-VN" sz="1400">
                <a:solidFill>
                  <a:srgbClr val="002060"/>
                </a:solidFill>
                <a:latin typeface="Times New Roman" panose="02020603050405020304" pitchFamily="18" charset="0"/>
                <a:ea typeface="Cambria" panose="02040503050406030204" pitchFamily="18" charset="0"/>
                <a:cs typeface="Times New Roman" panose="02020603050405020304" pitchFamily="18" charset="0"/>
              </a:rPr>
              <a:t>ư</a:t>
            </a:r>
            <a:r>
              <a:rPr lang="en-US" sz="1400">
                <a:solidFill>
                  <a:srgbClr val="002060"/>
                </a:solidFill>
                <a:latin typeface="Times New Roman" panose="02020603050405020304" pitchFamily="18" charset="0"/>
                <a:ea typeface="Cambria" panose="02040503050406030204" pitchFamily="18" charset="0"/>
                <a:cs typeface="Times New Roman" panose="02020603050405020304" pitchFamily="18" charset="0"/>
              </a:rPr>
              <a:t>ng không triệt để, hỏng hóc vẫn có nguy c</a:t>
            </a:r>
            <a:r>
              <a:rPr lang="vi-VN" sz="1400">
                <a:solidFill>
                  <a:srgbClr val="002060"/>
                </a:solidFill>
                <a:latin typeface="Times New Roman" panose="02020603050405020304" pitchFamily="18" charset="0"/>
                <a:ea typeface="Cambria" panose="02040503050406030204" pitchFamily="18" charset="0"/>
                <a:cs typeface="Times New Roman" panose="02020603050405020304" pitchFamily="18" charset="0"/>
              </a:rPr>
              <a:t>ơ</a:t>
            </a:r>
            <a:r>
              <a:rPr lang="en-US" sz="140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xả ra. </a:t>
            </a:r>
          </a:p>
          <a:p>
            <a:pPr marL="342900" lvl="0" indent="-342900" algn="just">
              <a:spcBef>
                <a:spcPts val="1200"/>
              </a:spcBef>
              <a:buFont typeface="+mj-lt"/>
              <a:buAutoNum type="arabicPeriod"/>
              <a:defRPr/>
            </a:pPr>
            <a:r>
              <a:rPr lang="vi-VN" sz="1400">
                <a:solidFill>
                  <a:srgbClr val="FF0000"/>
                </a:solidFill>
                <a:latin typeface="Times New Roman" panose="02020603050405020304" pitchFamily="18" charset="0"/>
                <a:ea typeface="Cambria" panose="02040503050406030204" pitchFamily="18" charset="0"/>
                <a:cs typeface="Times New Roman" panose="02020603050405020304" pitchFamily="18" charset="0"/>
              </a:rPr>
              <a:t>Để giảm thiểu ảnh hưởng tới khai thác, Ban KT đã gửi TR đề nghị Airbus nghiên cứu và đưa hướng dẫn thực hiện quy trình reset cho tổ bay để tránh GTB và giảm thời gian delay, hiện đang đợi phản hồ</a:t>
            </a:r>
            <a:endPar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6FC3BBCB-D6B2-3E77-D3E2-69F9C4DF912F}"/>
              </a:ext>
            </a:extLst>
          </p:cNvPr>
          <p:cNvPicPr>
            <a:picLocks noChangeAspect="1"/>
          </p:cNvPicPr>
          <p:nvPr/>
        </p:nvPicPr>
        <p:blipFill>
          <a:blip r:embed="rId6"/>
          <a:stretch>
            <a:fillRect/>
          </a:stretch>
        </p:blipFill>
        <p:spPr>
          <a:xfrm>
            <a:off x="7140199" y="910255"/>
            <a:ext cx="4803923" cy="1296092"/>
          </a:xfrm>
          <a:prstGeom prst="rect">
            <a:avLst/>
          </a:prstGeom>
          <a:ln>
            <a:noFill/>
          </a:ln>
          <a:effectLst>
            <a:outerShdw blurRad="292100" dist="139700" dir="2700000" algn="tl" rotWithShape="0">
              <a:srgbClr val="333333">
                <a:alpha val="65000"/>
              </a:srgbClr>
            </a:outerShdw>
          </a:effectLst>
        </p:spPr>
      </p:pic>
      <p:graphicFrame>
        <p:nvGraphicFramePr>
          <p:cNvPr id="2" name="Chart 1">
            <a:extLst>
              <a:ext uri="{FF2B5EF4-FFF2-40B4-BE49-F238E27FC236}">
                <a16:creationId xmlns:a16="http://schemas.microsoft.com/office/drawing/2014/main" id="{03316ADE-F085-C71C-C813-CBA1E1A87D3B}"/>
              </a:ext>
            </a:extLst>
          </p:cNvPr>
          <p:cNvGraphicFramePr/>
          <p:nvPr/>
        </p:nvGraphicFramePr>
        <p:xfrm>
          <a:off x="7823427" y="3726374"/>
          <a:ext cx="4190516" cy="2927865"/>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926648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27</a:t>
            </a:fld>
            <a:endParaRPr lang="en-US"/>
          </a:p>
        </p:txBody>
      </p:sp>
      <p:sp>
        <p:nvSpPr>
          <p:cNvPr id="30" name="Slide Number Placeholder 3">
            <a:extLst>
              <a:ext uri="{FF2B5EF4-FFF2-40B4-BE49-F238E27FC236}">
                <a16:creationId xmlns:a16="http://schemas.microsoft.com/office/drawing/2014/main" id="{750EDDA6-1339-2CDD-30C4-7B99D11D9417}"/>
              </a:ext>
            </a:extLst>
          </p:cNvPr>
          <p:cNvSpPr txBox="1">
            <a:spLocks/>
          </p:cNvSpPr>
          <p:nvPr/>
        </p:nvSpPr>
        <p:spPr>
          <a:xfrm>
            <a:off x="8610600" y="6356350"/>
            <a:ext cx="2743200" cy="365125"/>
          </a:xfrm>
          <a:prstGeom prst="rect">
            <a:avLst/>
          </a:prstGeom>
        </p:spPr>
        <p:txBody>
          <a:bodyPr spcFirstLastPara="1" vert="horz" wrap="square" lIns="91425" tIns="91425" rIns="91425" bIns="91425" rtlCol="0" anchor="ctr" anchorCtr="0">
            <a:normAutofit lnSpcReduction="10000"/>
          </a:bodyPr>
          <a:lstStyle>
            <a:defPPr>
              <a:defRPr lang="en-US"/>
            </a:defPPr>
            <a:lvl1pPr marL="0" lvl="0" algn="r" defTabSz="914400" rtl="0" eaLnBrk="1" latinLnBrk="0" hangingPunct="1">
              <a:buNone/>
              <a:defRPr sz="1200" kern="1200">
                <a:solidFill>
                  <a:schemeClr val="tx1">
                    <a:tint val="75000"/>
                  </a:schemeClr>
                </a:solidFill>
                <a:latin typeface="+mn-lt"/>
                <a:ea typeface="+mn-ea"/>
                <a:cs typeface="+mn-cs"/>
              </a:defRPr>
            </a:lvl1pPr>
            <a:lvl2pPr marL="457200" lvl="1" algn="l" defTabSz="914400" rtl="0" eaLnBrk="1" latinLnBrk="0" hangingPunct="1">
              <a:buNone/>
              <a:defRPr sz="1800" kern="1200">
                <a:solidFill>
                  <a:schemeClr val="tx1"/>
                </a:solidFill>
                <a:latin typeface="+mn-lt"/>
                <a:ea typeface="+mn-ea"/>
                <a:cs typeface="+mn-cs"/>
              </a:defRPr>
            </a:lvl2pPr>
            <a:lvl3pPr marL="914400" lvl="2" algn="l" defTabSz="914400" rtl="0" eaLnBrk="1" latinLnBrk="0" hangingPunct="1">
              <a:buNone/>
              <a:defRPr sz="1800" kern="1200">
                <a:solidFill>
                  <a:schemeClr val="tx1"/>
                </a:solidFill>
                <a:latin typeface="+mn-lt"/>
                <a:ea typeface="+mn-ea"/>
                <a:cs typeface="+mn-cs"/>
              </a:defRPr>
            </a:lvl3pPr>
            <a:lvl4pPr marL="1371600" lvl="3" algn="l" defTabSz="914400" rtl="0" eaLnBrk="1" latinLnBrk="0" hangingPunct="1">
              <a:buNone/>
              <a:defRPr sz="1800" kern="1200">
                <a:solidFill>
                  <a:schemeClr val="tx1"/>
                </a:solidFill>
                <a:latin typeface="+mn-lt"/>
                <a:ea typeface="+mn-ea"/>
                <a:cs typeface="+mn-cs"/>
              </a:defRPr>
            </a:lvl4pPr>
            <a:lvl5pPr marL="1828800" lvl="4" algn="l" defTabSz="914400" rtl="0" eaLnBrk="1" latinLnBrk="0" hangingPunct="1">
              <a:buNone/>
              <a:defRPr sz="1800" kern="1200">
                <a:solidFill>
                  <a:schemeClr val="tx1"/>
                </a:solidFill>
                <a:latin typeface="+mn-lt"/>
                <a:ea typeface="+mn-ea"/>
                <a:cs typeface="+mn-cs"/>
              </a:defRPr>
            </a:lvl5pPr>
            <a:lvl6pPr marL="2286000" lvl="5" algn="l" defTabSz="914400" rtl="0" eaLnBrk="1" latinLnBrk="0" hangingPunct="1">
              <a:buNone/>
              <a:defRPr sz="1800" kern="1200">
                <a:solidFill>
                  <a:schemeClr val="tx1"/>
                </a:solidFill>
                <a:latin typeface="+mn-lt"/>
                <a:ea typeface="+mn-ea"/>
                <a:cs typeface="+mn-cs"/>
              </a:defRPr>
            </a:lvl6pPr>
            <a:lvl7pPr marL="2743200" lvl="6" algn="l" defTabSz="914400" rtl="0" eaLnBrk="1" latinLnBrk="0" hangingPunct="1">
              <a:buNone/>
              <a:defRPr sz="1800" kern="1200">
                <a:solidFill>
                  <a:schemeClr val="tx1"/>
                </a:solidFill>
                <a:latin typeface="+mn-lt"/>
                <a:ea typeface="+mn-ea"/>
                <a:cs typeface="+mn-cs"/>
              </a:defRPr>
            </a:lvl7pPr>
            <a:lvl8pPr marL="3200400" lvl="7" algn="l" defTabSz="914400" rtl="0" eaLnBrk="1" latinLnBrk="0" hangingPunct="1">
              <a:buNone/>
              <a:defRPr sz="1800" kern="1200">
                <a:solidFill>
                  <a:schemeClr val="tx1"/>
                </a:solidFill>
                <a:latin typeface="+mn-lt"/>
                <a:ea typeface="+mn-ea"/>
                <a:cs typeface="+mn-cs"/>
              </a:defRPr>
            </a:lvl8pPr>
            <a:lvl9pPr marL="3657600" lvl="8" algn="l" defTabSz="914400" rtl="0" eaLnBrk="1" latinLnBrk="0" hangingPunct="1">
              <a:buNone/>
              <a:defRPr sz="1800" kern="1200">
                <a:solidFill>
                  <a:schemeClr val="tx1"/>
                </a:solidFill>
                <a:latin typeface="+mn-lt"/>
                <a:ea typeface="+mn-ea"/>
                <a:cs typeface="+mn-cs"/>
              </a:defRPr>
            </a:lvl9pPr>
          </a:lstStyle>
          <a:p>
            <a:fld id="{6C6B6B8D-D74E-47CD-B5EE-156060B7CD17}" type="slidenum">
              <a:rPr lang="en-US" smtClean="0"/>
              <a:pPr/>
              <a:t>27</a:t>
            </a:fld>
            <a:endParaRPr lang="en-US" dirty="0"/>
          </a:p>
        </p:txBody>
      </p:sp>
      <p:sp>
        <p:nvSpPr>
          <p:cNvPr id="31" name="Title 3">
            <a:extLst>
              <a:ext uri="{FF2B5EF4-FFF2-40B4-BE49-F238E27FC236}">
                <a16:creationId xmlns:a16="http://schemas.microsoft.com/office/drawing/2014/main" id="{D90D6871-C70F-E25E-B7CA-766C74B84D20}"/>
              </a:ext>
            </a:extLst>
          </p:cNvPr>
          <p:cNvSpPr txBox="1">
            <a:spLocks/>
          </p:cNvSpPr>
          <p:nvPr/>
        </p:nvSpPr>
        <p:spPr>
          <a:xfrm>
            <a:off x="304800" y="2057400"/>
            <a:ext cx="11658600" cy="14700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i="0" kern="1200">
                <a:solidFill>
                  <a:srgbClr val="D2A43B"/>
                </a:solidFill>
                <a:latin typeface="Montserrat" pitchFamily="2" charset="77"/>
                <a:ea typeface="+mj-ea"/>
                <a:cs typeface="+mj-cs"/>
              </a:defRPr>
            </a:lvl1pPr>
          </a:lstStyle>
          <a:p>
            <a:endParaRPr lang="en-US" altLang="en-US" sz="5400" dirty="0">
              <a:latin typeface="Arial" panose="020B0604020202020204" pitchFamily="34" charset="0"/>
              <a:cs typeface="Arial" panose="020B0604020202020204" pitchFamily="34" charset="0"/>
            </a:endParaRPr>
          </a:p>
        </p:txBody>
      </p:sp>
      <p:sp>
        <p:nvSpPr>
          <p:cNvPr id="33" name="Title 1">
            <a:extLst>
              <a:ext uri="{FF2B5EF4-FFF2-40B4-BE49-F238E27FC236}">
                <a16:creationId xmlns:a16="http://schemas.microsoft.com/office/drawing/2014/main" id="{7632533F-2F07-C886-8F8E-3798DB6E4127}"/>
              </a:ext>
            </a:extLst>
          </p:cNvPr>
          <p:cNvSpPr txBox="1">
            <a:spLocks/>
          </p:cNvSpPr>
          <p:nvPr/>
        </p:nvSpPr>
        <p:spPr>
          <a:xfrm>
            <a:off x="871239" y="203760"/>
            <a:ext cx="7045845"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800" b="1" dirty="0">
                <a:solidFill>
                  <a:srgbClr val="D2A43B"/>
                </a:solidFill>
                <a:ea typeface="Tahoma" pitchFamily="34" charset="0"/>
                <a:cs typeface="Times New Roman" panose="02020603050405020304" pitchFamily="18" charset="0"/>
              </a:rPr>
              <a:t>A890- GTB/Delay due to FUEL SYSTEM</a:t>
            </a:r>
          </a:p>
        </p:txBody>
      </p:sp>
      <p:grpSp>
        <p:nvGrpSpPr>
          <p:cNvPr id="34" name="Group 33">
            <a:extLst>
              <a:ext uri="{FF2B5EF4-FFF2-40B4-BE49-F238E27FC236}">
                <a16:creationId xmlns:a16="http://schemas.microsoft.com/office/drawing/2014/main" id="{68FC8838-20BB-3633-A72A-92558D8709DB}"/>
              </a:ext>
            </a:extLst>
          </p:cNvPr>
          <p:cNvGrpSpPr/>
          <p:nvPr/>
        </p:nvGrpSpPr>
        <p:grpSpPr>
          <a:xfrm>
            <a:off x="976560" y="288234"/>
            <a:ext cx="10755065" cy="678753"/>
            <a:chOff x="976560" y="323070"/>
            <a:chExt cx="10755065" cy="678753"/>
          </a:xfrm>
        </p:grpSpPr>
        <p:cxnSp>
          <p:nvCxnSpPr>
            <p:cNvPr id="35" name="Straight Connector 34">
              <a:extLst>
                <a:ext uri="{FF2B5EF4-FFF2-40B4-BE49-F238E27FC236}">
                  <a16:creationId xmlns:a16="http://schemas.microsoft.com/office/drawing/2014/main" id="{5F25F9E4-8510-7DE6-4BB0-8640AF841FF7}"/>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64F510DD-DC0F-F1BF-AB86-DEBA35F771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37" name="Rectangle: Single Corner Rounded 36">
            <a:extLst>
              <a:ext uri="{FF2B5EF4-FFF2-40B4-BE49-F238E27FC236}">
                <a16:creationId xmlns:a16="http://schemas.microsoft.com/office/drawing/2014/main" id="{EFF21663-E6E9-0E26-98CD-9613DF3DEFEA}"/>
              </a:ext>
            </a:extLst>
          </p:cNvPr>
          <p:cNvSpPr/>
          <p:nvPr/>
        </p:nvSpPr>
        <p:spPr>
          <a:xfrm rot="10800000" flipH="1" flipV="1">
            <a:off x="510814" y="778306"/>
            <a:ext cx="7045845" cy="1106248"/>
          </a:xfrm>
          <a:prstGeom prst="round1Rect">
            <a:avLst/>
          </a:prstGeom>
          <a:pattFill prst="lgGrid">
            <a:fgClr>
              <a:schemeClr val="accent1">
                <a:lumMod val="40000"/>
                <a:lumOff val="60000"/>
              </a:schemeClr>
            </a:fgClr>
            <a:bgClr>
              <a:schemeClr val="accent5">
                <a:lumMod val="20000"/>
                <a:lumOff val="80000"/>
              </a:schemeClr>
            </a:bgClr>
          </a:patt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1600" b="0" i="0" dirty="0">
                <a:solidFill>
                  <a:srgbClr val="121111"/>
                </a:solidFill>
                <a:effectLst/>
                <a:latin typeface="Arial" panose="020B0604020202020204" pitchFamily="34" charset="0"/>
              </a:rPr>
              <a:t>A890/ VN99, SFO-SGN (23/Jan), DURING TAXI OUT APPEAR MSG:</a:t>
            </a:r>
            <a:r>
              <a:rPr lang="en-US" sz="1600" dirty="0"/>
              <a:t/>
            </a:r>
            <a:br>
              <a:rPr lang="en-US" sz="1600" dirty="0"/>
            </a:br>
            <a:r>
              <a:rPr lang="en-US" sz="1600" b="1" i="0" dirty="0">
                <a:solidFill>
                  <a:schemeClr val="accent2">
                    <a:lumMod val="75000"/>
                  </a:schemeClr>
                </a:solidFill>
                <a:effectLst/>
                <a:latin typeface="Arial" panose="020B0604020202020204" pitchFamily="34" charset="0"/>
              </a:rPr>
              <a:t>+ FUEL CTR TK L INLET VLV </a:t>
            </a:r>
            <a:r>
              <a:rPr lang="en-US" sz="1600" b="1" i="0" dirty="0">
                <a:solidFill>
                  <a:schemeClr val="tx1"/>
                </a:solidFill>
                <a:effectLst/>
                <a:latin typeface="Arial" panose="020B0604020202020204" pitchFamily="34" charset="0"/>
              </a:rPr>
              <a:t>(GO-IF)</a:t>
            </a:r>
          </a:p>
          <a:p>
            <a:pPr>
              <a:defRPr/>
            </a:pPr>
            <a:r>
              <a:rPr lang="en-US" sz="1600" b="1" i="0" dirty="0">
                <a:solidFill>
                  <a:srgbClr val="FF0000"/>
                </a:solidFill>
                <a:effectLst/>
                <a:latin typeface="Arial" panose="020B0604020202020204" pitchFamily="34" charset="0"/>
              </a:rPr>
              <a:t>+ FUEL WEIGHT DATA DISAGREE </a:t>
            </a:r>
            <a:r>
              <a:rPr lang="en-US" sz="1600" b="1" i="0" dirty="0">
                <a:solidFill>
                  <a:schemeClr val="tx1"/>
                </a:solidFill>
                <a:effectLst/>
                <a:latin typeface="Arial" panose="020B0604020202020204" pitchFamily="34" charset="0"/>
              </a:rPr>
              <a:t>(NO-GO)</a:t>
            </a:r>
            <a:r>
              <a:rPr lang="en-US" sz="1600" b="1" dirty="0"/>
              <a:t/>
            </a:r>
            <a:br>
              <a:rPr lang="en-US" sz="1600" b="1" dirty="0"/>
            </a:br>
            <a:r>
              <a:rPr lang="en-US" sz="1600" b="1" i="0" dirty="0">
                <a:solidFill>
                  <a:srgbClr val="FF0000"/>
                </a:solidFill>
                <a:effectLst/>
                <a:latin typeface="Arial" panose="020B0604020202020204" pitchFamily="34" charset="0"/>
              </a:rPr>
              <a:t>+ FUEL LEAK DET </a:t>
            </a:r>
            <a:r>
              <a:rPr lang="en-US" sz="1600" b="1" i="0" dirty="0">
                <a:solidFill>
                  <a:schemeClr val="tx1"/>
                </a:solidFill>
                <a:effectLst/>
                <a:latin typeface="Arial" panose="020B0604020202020204" pitchFamily="34" charset="0"/>
              </a:rPr>
              <a:t>(NO-GO)</a:t>
            </a:r>
          </a:p>
        </p:txBody>
      </p:sp>
      <p:sp>
        <p:nvSpPr>
          <p:cNvPr id="41" name="Rectangle 40">
            <a:extLst>
              <a:ext uri="{FF2B5EF4-FFF2-40B4-BE49-F238E27FC236}">
                <a16:creationId xmlns:a16="http://schemas.microsoft.com/office/drawing/2014/main" id="{B94767F1-3ACE-551D-59DE-CCEF5A10C6D5}"/>
              </a:ext>
            </a:extLst>
          </p:cNvPr>
          <p:cNvSpPr/>
          <p:nvPr/>
        </p:nvSpPr>
        <p:spPr>
          <a:xfrm>
            <a:off x="976560" y="5387197"/>
            <a:ext cx="9786515" cy="1323439"/>
          </a:xfrm>
          <a:prstGeom prst="rect">
            <a:avLst/>
          </a:prstGeom>
        </p:spPr>
        <p:txBody>
          <a:bodyPr wrap="square">
            <a:spAutoFit/>
          </a:bodyPr>
          <a:lstStyle/>
          <a:p>
            <a:pPr marL="285750" indent="-285750">
              <a:spcBef>
                <a:spcPts val="1200"/>
              </a:spcBef>
              <a:buFont typeface="Wingdings" panose="05000000000000000000" pitchFamily="2" charset="2"/>
              <a:buChar char="v"/>
            </a:pPr>
            <a:r>
              <a:rPr lang="vi-VN" sz="1500" b="0" i="0" dirty="0">
                <a:solidFill>
                  <a:srgbClr val="121111"/>
                </a:solidFill>
                <a:effectLst/>
                <a:latin typeface="Arial" panose="020B0604020202020204" pitchFamily="34" charset="0"/>
              </a:rPr>
              <a:t>Hỏng hóc này có thể raise MEL để đưa tàu bay vào khai thác. </a:t>
            </a:r>
            <a:endParaRPr lang="en-US" sz="1500" b="0" i="0" dirty="0">
              <a:solidFill>
                <a:srgbClr val="121111"/>
              </a:solidFill>
              <a:effectLst/>
              <a:latin typeface="Arial" panose="020B0604020202020204" pitchFamily="34" charset="0"/>
            </a:endParaRPr>
          </a:p>
          <a:p>
            <a:pPr marL="285750" indent="-285750">
              <a:spcBef>
                <a:spcPts val="1200"/>
              </a:spcBef>
              <a:buFont typeface="Wingdings" panose="05000000000000000000" pitchFamily="2" charset="2"/>
              <a:buChar char="v"/>
            </a:pPr>
            <a:r>
              <a:rPr lang="vi-VN" sz="1500" b="0" i="0" dirty="0">
                <a:solidFill>
                  <a:srgbClr val="121111"/>
                </a:solidFill>
                <a:effectLst/>
                <a:latin typeface="Arial" panose="020B0604020202020204" pitchFamily="34" charset="0"/>
              </a:rPr>
              <a:t>Giải pháp</a:t>
            </a:r>
            <a:r>
              <a:rPr lang="en-US" sz="1500" b="0" i="0" dirty="0">
                <a:solidFill>
                  <a:srgbClr val="121111"/>
                </a:solidFill>
                <a:effectLst/>
                <a:latin typeface="Arial" panose="020B0604020202020204" pitchFamily="34" charset="0"/>
              </a:rPr>
              <a:t> </a:t>
            </a:r>
            <a:r>
              <a:rPr lang="en-US" sz="1500" b="0" i="0" dirty="0" err="1">
                <a:solidFill>
                  <a:srgbClr val="121111"/>
                </a:solidFill>
                <a:effectLst/>
                <a:latin typeface="Arial" panose="020B0604020202020204" pitchFamily="34" charset="0"/>
              </a:rPr>
              <a:t>triệt</a:t>
            </a:r>
            <a:r>
              <a:rPr lang="en-US" sz="1500" b="0" i="0" dirty="0">
                <a:solidFill>
                  <a:srgbClr val="121111"/>
                </a:solidFill>
                <a:effectLst/>
                <a:latin typeface="Arial" panose="020B0604020202020204" pitchFamily="34" charset="0"/>
              </a:rPr>
              <a:t> </a:t>
            </a:r>
            <a:r>
              <a:rPr lang="en-US" sz="1500" b="0" i="0" dirty="0" err="1">
                <a:solidFill>
                  <a:srgbClr val="121111"/>
                </a:solidFill>
                <a:effectLst/>
                <a:latin typeface="Arial" panose="020B0604020202020204" pitchFamily="34" charset="0"/>
              </a:rPr>
              <a:t>để</a:t>
            </a:r>
            <a:r>
              <a:rPr lang="vi-VN" sz="1500" b="0" i="0" dirty="0">
                <a:solidFill>
                  <a:srgbClr val="121111"/>
                </a:solidFill>
                <a:effectLst/>
                <a:latin typeface="Arial" panose="020B0604020202020204" pitchFamily="34" charset="0"/>
              </a:rPr>
              <a:t>: Nâng cấp SPSA từ P/N PN 2080026-104 lên PN 2080026-105A. Tàu bay A890 đã thực hiện nâng cấp từ 24/12/2024. Các khối trên tàu là post-MOD và khối lắp lên tàu bay là NEW </a:t>
            </a:r>
            <a:endParaRPr lang="en-US" sz="1500" b="0" i="0" dirty="0">
              <a:solidFill>
                <a:srgbClr val="121111"/>
              </a:solidFill>
              <a:effectLst/>
              <a:latin typeface="Arial" panose="020B0604020202020204" pitchFamily="34" charset="0"/>
            </a:endParaRPr>
          </a:p>
          <a:p>
            <a:pPr marL="285750" indent="-285750">
              <a:spcBef>
                <a:spcPts val="1200"/>
              </a:spcBef>
              <a:buFont typeface="Wingdings" panose="05000000000000000000" pitchFamily="2" charset="2"/>
              <a:buChar char="v"/>
            </a:pPr>
            <a:r>
              <a:rPr lang="vi-VN" sz="1500" b="0" i="0" dirty="0">
                <a:solidFill>
                  <a:srgbClr val="121111"/>
                </a:solidFill>
                <a:effectLst/>
                <a:latin typeface="Arial" panose="020B0604020202020204" pitchFamily="34" charset="0"/>
              </a:rPr>
              <a:t>Đang chờ SFR để đánh giá</a:t>
            </a:r>
            <a:r>
              <a:rPr lang="en-US" sz="1500" b="0" i="0" dirty="0">
                <a:solidFill>
                  <a:srgbClr val="121111"/>
                </a:solidFill>
                <a:effectLst/>
                <a:latin typeface="Arial" panose="020B0604020202020204" pitchFamily="34" charset="0"/>
              </a:rPr>
              <a:t> </a:t>
            </a:r>
            <a:r>
              <a:rPr lang="vi-VN" sz="1500" b="0" i="0" dirty="0">
                <a:solidFill>
                  <a:srgbClr val="121111"/>
                </a:solidFill>
                <a:effectLst/>
                <a:latin typeface="Arial" panose="020B0604020202020204" pitchFamily="34" charset="0"/>
              </a:rPr>
              <a:t>thêm hỏng hóc</a:t>
            </a:r>
            <a:r>
              <a:rPr lang="en-US" sz="1500" b="0" i="0" dirty="0">
                <a:solidFill>
                  <a:srgbClr val="121111"/>
                </a:solidFill>
                <a:effectLst/>
                <a:latin typeface="Arial" panose="020B0604020202020204" pitchFamily="34" charset="0"/>
              </a:rPr>
              <a:t> </a:t>
            </a:r>
            <a:r>
              <a:rPr lang="en-US" sz="1500" b="0" i="0" dirty="0" err="1">
                <a:solidFill>
                  <a:srgbClr val="121111"/>
                </a:solidFill>
                <a:effectLst/>
                <a:latin typeface="Arial" panose="020B0604020202020204" pitchFamily="34" charset="0"/>
              </a:rPr>
              <a:t>và</a:t>
            </a:r>
            <a:r>
              <a:rPr lang="en-US" sz="1500" b="0" i="0" dirty="0">
                <a:solidFill>
                  <a:srgbClr val="121111"/>
                </a:solidFill>
                <a:effectLst/>
                <a:latin typeface="Arial" panose="020B0604020202020204" pitchFamily="34" charset="0"/>
              </a:rPr>
              <a:t> </a:t>
            </a:r>
            <a:r>
              <a:rPr lang="en-US" sz="1500" b="0" i="0" dirty="0" err="1">
                <a:solidFill>
                  <a:srgbClr val="121111"/>
                </a:solidFill>
                <a:effectLst/>
                <a:latin typeface="Arial" panose="020B0604020202020204" pitchFamily="34" charset="0"/>
              </a:rPr>
              <a:t>làm</a:t>
            </a:r>
            <a:r>
              <a:rPr lang="en-US" sz="1500" b="0" i="0" dirty="0">
                <a:solidFill>
                  <a:srgbClr val="121111"/>
                </a:solidFill>
                <a:effectLst/>
                <a:latin typeface="Arial" panose="020B0604020202020204" pitchFamily="34" charset="0"/>
              </a:rPr>
              <a:t> </a:t>
            </a:r>
            <a:r>
              <a:rPr lang="en-US" sz="1500" b="0" i="0" dirty="0" err="1">
                <a:solidFill>
                  <a:srgbClr val="121111"/>
                </a:solidFill>
                <a:effectLst/>
                <a:latin typeface="Arial" panose="020B0604020202020204" pitchFamily="34" charset="0"/>
              </a:rPr>
              <a:t>việc</a:t>
            </a:r>
            <a:r>
              <a:rPr lang="en-US" sz="1500" b="0" i="0" dirty="0">
                <a:solidFill>
                  <a:srgbClr val="121111"/>
                </a:solidFill>
                <a:effectLst/>
                <a:latin typeface="Arial" panose="020B0604020202020204" pitchFamily="34" charset="0"/>
              </a:rPr>
              <a:t> </a:t>
            </a:r>
            <a:r>
              <a:rPr lang="en-US" sz="1500" b="0" i="0" dirty="0" err="1">
                <a:solidFill>
                  <a:srgbClr val="121111"/>
                </a:solidFill>
                <a:effectLst/>
                <a:latin typeface="Arial" panose="020B0604020202020204" pitchFamily="34" charset="0"/>
              </a:rPr>
              <a:t>với</a:t>
            </a:r>
            <a:r>
              <a:rPr lang="en-US" sz="1500" b="0" i="0" dirty="0">
                <a:solidFill>
                  <a:srgbClr val="121111"/>
                </a:solidFill>
                <a:effectLst/>
                <a:latin typeface="Arial" panose="020B0604020202020204" pitchFamily="34" charset="0"/>
              </a:rPr>
              <a:t> AIB</a:t>
            </a:r>
            <a:r>
              <a:rPr lang="vi-VN" sz="1500" b="0" i="0" dirty="0">
                <a:solidFill>
                  <a:srgbClr val="121111"/>
                </a:solidFill>
                <a:effectLst/>
                <a:latin typeface="Arial" panose="020B0604020202020204" pitchFamily="34" charset="0"/>
              </a:rPr>
              <a:t>.</a:t>
            </a:r>
            <a:endParaRPr lang="en-US" sz="1500" dirty="0">
              <a:ln w="0"/>
              <a:solidFill>
                <a:schemeClr val="accent5">
                  <a:lumMod val="75000"/>
                </a:schemeClr>
              </a:solidFill>
              <a:latin typeface="Cambria" panose="02040503050406030204" pitchFamily="18" charset="0"/>
              <a:ea typeface="Cambria" panose="02040503050406030204" pitchFamily="18" charset="0"/>
              <a:cs typeface="Times New Roman" panose="02020603050405020304" pitchFamily="18" charset="0"/>
              <a:sym typeface="Symbol" panose="05050102010706020507" pitchFamily="18" charset="2"/>
            </a:endParaRPr>
          </a:p>
        </p:txBody>
      </p:sp>
      <p:pic>
        <p:nvPicPr>
          <p:cNvPr id="42" name="Picture 41">
            <a:extLst>
              <a:ext uri="{FF2B5EF4-FFF2-40B4-BE49-F238E27FC236}">
                <a16:creationId xmlns:a16="http://schemas.microsoft.com/office/drawing/2014/main" id="{401F3672-17FC-3199-4DB9-8F6E80B848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3631" y="5481348"/>
            <a:ext cx="537821" cy="502241"/>
          </a:xfrm>
          <a:prstGeom prst="rect">
            <a:avLst/>
          </a:prstGeom>
        </p:spPr>
      </p:pic>
      <p:pic>
        <p:nvPicPr>
          <p:cNvPr id="51" name="Picture 50">
            <a:extLst>
              <a:ext uri="{FF2B5EF4-FFF2-40B4-BE49-F238E27FC236}">
                <a16:creationId xmlns:a16="http://schemas.microsoft.com/office/drawing/2014/main" id="{D7951749-2F12-9824-C40E-297237CB7816}"/>
              </a:ext>
            </a:extLst>
          </p:cNvPr>
          <p:cNvPicPr>
            <a:picLocks noChangeAspect="1"/>
          </p:cNvPicPr>
          <p:nvPr/>
        </p:nvPicPr>
        <p:blipFill>
          <a:blip r:embed="rId5"/>
          <a:stretch>
            <a:fillRect/>
          </a:stretch>
        </p:blipFill>
        <p:spPr>
          <a:xfrm>
            <a:off x="9741284" y="3258375"/>
            <a:ext cx="1870556" cy="1758495"/>
          </a:xfrm>
          <a:prstGeom prst="rect">
            <a:avLst/>
          </a:prstGeom>
        </p:spPr>
      </p:pic>
      <p:pic>
        <p:nvPicPr>
          <p:cNvPr id="53" name="Picture 52">
            <a:extLst>
              <a:ext uri="{FF2B5EF4-FFF2-40B4-BE49-F238E27FC236}">
                <a16:creationId xmlns:a16="http://schemas.microsoft.com/office/drawing/2014/main" id="{98C2D219-71FC-BE49-20AE-CB6BF170BEAD}"/>
              </a:ext>
            </a:extLst>
          </p:cNvPr>
          <p:cNvPicPr>
            <a:picLocks noChangeAspect="1"/>
          </p:cNvPicPr>
          <p:nvPr/>
        </p:nvPicPr>
        <p:blipFill>
          <a:blip r:embed="rId6"/>
          <a:stretch>
            <a:fillRect/>
          </a:stretch>
        </p:blipFill>
        <p:spPr>
          <a:xfrm>
            <a:off x="7556659" y="850937"/>
            <a:ext cx="4263429" cy="2230634"/>
          </a:xfrm>
          <a:prstGeom prst="rect">
            <a:avLst/>
          </a:prstGeom>
        </p:spPr>
      </p:pic>
      <p:cxnSp>
        <p:nvCxnSpPr>
          <p:cNvPr id="55" name="Straight Arrow Connector 54">
            <a:extLst>
              <a:ext uri="{FF2B5EF4-FFF2-40B4-BE49-F238E27FC236}">
                <a16:creationId xmlns:a16="http://schemas.microsoft.com/office/drawing/2014/main" id="{8B140955-95B7-690D-1F67-AE6FCA832ACF}"/>
              </a:ext>
            </a:extLst>
          </p:cNvPr>
          <p:cNvCxnSpPr>
            <a:cxnSpLocks/>
          </p:cNvCxnSpPr>
          <p:nvPr/>
        </p:nvCxnSpPr>
        <p:spPr>
          <a:xfrm>
            <a:off x="9529894" y="2541879"/>
            <a:ext cx="587229" cy="910019"/>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57" name="Picture 56">
            <a:extLst>
              <a:ext uri="{FF2B5EF4-FFF2-40B4-BE49-F238E27FC236}">
                <a16:creationId xmlns:a16="http://schemas.microsoft.com/office/drawing/2014/main" id="{862C1165-FB5D-0D6B-631A-64105BDAE51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31416" y="2098872"/>
            <a:ext cx="708237" cy="708237"/>
          </a:xfrm>
          <a:prstGeom prst="rect">
            <a:avLst/>
          </a:prstGeom>
        </p:spPr>
      </p:pic>
      <p:sp>
        <p:nvSpPr>
          <p:cNvPr id="60" name="TextBox 59">
            <a:extLst>
              <a:ext uri="{FF2B5EF4-FFF2-40B4-BE49-F238E27FC236}">
                <a16:creationId xmlns:a16="http://schemas.microsoft.com/office/drawing/2014/main" id="{3FA19499-6B08-1F36-2552-3717FCC395C4}"/>
              </a:ext>
            </a:extLst>
          </p:cNvPr>
          <p:cNvSpPr txBox="1"/>
          <p:nvPr/>
        </p:nvSpPr>
        <p:spPr>
          <a:xfrm>
            <a:off x="1132514" y="2098872"/>
            <a:ext cx="6285769" cy="1246495"/>
          </a:xfrm>
          <a:prstGeom prst="rect">
            <a:avLst/>
          </a:prstGeom>
          <a:noFill/>
        </p:spPr>
        <p:txBody>
          <a:bodyPr wrap="square" rtlCol="0">
            <a:spAutoFit/>
          </a:bodyPr>
          <a:lstStyle/>
          <a:p>
            <a:r>
              <a:rPr lang="vi-VN" sz="1500" b="0" i="0" dirty="0">
                <a:solidFill>
                  <a:srgbClr val="121111"/>
                </a:solidFill>
                <a:effectLst/>
                <a:latin typeface="Arial" panose="020B0604020202020204" pitchFamily="34" charset="0"/>
              </a:rPr>
              <a:t>Theo báo cáo tổ bay thì nguyên nhân ban đầu do MSG &gt; FUEL &gt; FUEL CTR TK L INLET VLV xuất hiện từ lúc PREPARE, tổ bay thực hiện reset được. Tuy nhiên, khi đẩy tàu bay ra khai thác thì cảnh báo xuất hiện lại =&gt; Tổ bay thực hiện Manual Reset thì xuất hiện thêm các cảnh báo NOGO khác và phải RTG để deactivate Center tank fuel inlet valve</a:t>
            </a:r>
            <a:endParaRPr lang="en-US" sz="1500" dirty="0"/>
          </a:p>
        </p:txBody>
      </p:sp>
      <p:pic>
        <p:nvPicPr>
          <p:cNvPr id="63" name="Picture 62">
            <a:extLst>
              <a:ext uri="{FF2B5EF4-FFF2-40B4-BE49-F238E27FC236}">
                <a16:creationId xmlns:a16="http://schemas.microsoft.com/office/drawing/2014/main" id="{AFAEB68D-0EBF-A8AE-8B70-6FB86F644510}"/>
              </a:ext>
            </a:extLst>
          </p:cNvPr>
          <p:cNvPicPr>
            <a:picLocks noChangeAspect="1"/>
          </p:cNvPicPr>
          <p:nvPr/>
        </p:nvPicPr>
        <p:blipFill>
          <a:blip r:embed="rId8"/>
          <a:stretch>
            <a:fillRect/>
          </a:stretch>
        </p:blipFill>
        <p:spPr>
          <a:xfrm>
            <a:off x="1203062" y="3568897"/>
            <a:ext cx="7459801" cy="1636242"/>
          </a:xfrm>
          <a:prstGeom prst="rect">
            <a:avLst/>
          </a:prstGeom>
          <a:ln>
            <a:solidFill>
              <a:schemeClr val="accent1"/>
            </a:solidFill>
          </a:ln>
        </p:spPr>
      </p:pic>
    </p:spTree>
    <p:extLst>
      <p:ext uri="{BB962C8B-B14F-4D97-AF65-F5344CB8AC3E}">
        <p14:creationId xmlns:p14="http://schemas.microsoft.com/office/powerpoint/2010/main" val="25635940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93A9B-9DEA-B2B6-D712-1BC3831D843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4F9C25-4BFA-511E-EDB1-A08B282D15F7}"/>
              </a:ext>
            </a:extLst>
          </p:cNvPr>
          <p:cNvSpPr>
            <a:spLocks noGrp="1"/>
          </p:cNvSpPr>
          <p:nvPr>
            <p:ph type="sldNum" idx="12"/>
          </p:nvPr>
        </p:nvSpPr>
        <p:spPr/>
        <p:txBody>
          <a:bodyPr/>
          <a:lstStyle/>
          <a:p>
            <a:fld id="{6C6B6B8D-D74E-47CD-B5EE-156060B7CD17}" type="slidenum">
              <a:rPr lang="en-US" smtClean="0"/>
              <a:pPr/>
              <a:t>28</a:t>
            </a:fld>
            <a:endParaRPr lang="en-US"/>
          </a:p>
        </p:txBody>
      </p:sp>
      <p:sp>
        <p:nvSpPr>
          <p:cNvPr id="30" name="Slide Number Placeholder 3">
            <a:extLst>
              <a:ext uri="{FF2B5EF4-FFF2-40B4-BE49-F238E27FC236}">
                <a16:creationId xmlns:a16="http://schemas.microsoft.com/office/drawing/2014/main" id="{EF17EA18-5CC9-87CE-2193-A91EAB8F69A9}"/>
              </a:ext>
            </a:extLst>
          </p:cNvPr>
          <p:cNvSpPr txBox="1">
            <a:spLocks/>
          </p:cNvSpPr>
          <p:nvPr/>
        </p:nvSpPr>
        <p:spPr>
          <a:xfrm>
            <a:off x="8610600" y="6356350"/>
            <a:ext cx="2743200" cy="365125"/>
          </a:xfrm>
          <a:prstGeom prst="rect">
            <a:avLst/>
          </a:prstGeom>
        </p:spPr>
        <p:txBody>
          <a:bodyPr spcFirstLastPara="1" vert="horz" wrap="square" lIns="91425" tIns="91425" rIns="91425" bIns="91425" rtlCol="0" anchor="ctr" anchorCtr="0">
            <a:normAutofit lnSpcReduction="10000"/>
          </a:bodyPr>
          <a:lstStyle>
            <a:defPPr>
              <a:defRPr lang="en-US"/>
            </a:defPPr>
            <a:lvl1pPr marL="0" lvl="0" algn="r" defTabSz="914400" rtl="0" eaLnBrk="1" latinLnBrk="0" hangingPunct="1">
              <a:buNone/>
              <a:defRPr sz="1200" kern="1200">
                <a:solidFill>
                  <a:schemeClr val="tx1">
                    <a:tint val="75000"/>
                  </a:schemeClr>
                </a:solidFill>
                <a:latin typeface="+mn-lt"/>
                <a:ea typeface="+mn-ea"/>
                <a:cs typeface="+mn-cs"/>
              </a:defRPr>
            </a:lvl1pPr>
            <a:lvl2pPr marL="457200" lvl="1" algn="l" defTabSz="914400" rtl="0" eaLnBrk="1" latinLnBrk="0" hangingPunct="1">
              <a:buNone/>
              <a:defRPr sz="1800" kern="1200">
                <a:solidFill>
                  <a:schemeClr val="tx1"/>
                </a:solidFill>
                <a:latin typeface="+mn-lt"/>
                <a:ea typeface="+mn-ea"/>
                <a:cs typeface="+mn-cs"/>
              </a:defRPr>
            </a:lvl2pPr>
            <a:lvl3pPr marL="914400" lvl="2" algn="l" defTabSz="914400" rtl="0" eaLnBrk="1" latinLnBrk="0" hangingPunct="1">
              <a:buNone/>
              <a:defRPr sz="1800" kern="1200">
                <a:solidFill>
                  <a:schemeClr val="tx1"/>
                </a:solidFill>
                <a:latin typeface="+mn-lt"/>
                <a:ea typeface="+mn-ea"/>
                <a:cs typeface="+mn-cs"/>
              </a:defRPr>
            </a:lvl3pPr>
            <a:lvl4pPr marL="1371600" lvl="3" algn="l" defTabSz="914400" rtl="0" eaLnBrk="1" latinLnBrk="0" hangingPunct="1">
              <a:buNone/>
              <a:defRPr sz="1800" kern="1200">
                <a:solidFill>
                  <a:schemeClr val="tx1"/>
                </a:solidFill>
                <a:latin typeface="+mn-lt"/>
                <a:ea typeface="+mn-ea"/>
                <a:cs typeface="+mn-cs"/>
              </a:defRPr>
            </a:lvl4pPr>
            <a:lvl5pPr marL="1828800" lvl="4" algn="l" defTabSz="914400" rtl="0" eaLnBrk="1" latinLnBrk="0" hangingPunct="1">
              <a:buNone/>
              <a:defRPr sz="1800" kern="1200">
                <a:solidFill>
                  <a:schemeClr val="tx1"/>
                </a:solidFill>
                <a:latin typeface="+mn-lt"/>
                <a:ea typeface="+mn-ea"/>
                <a:cs typeface="+mn-cs"/>
              </a:defRPr>
            </a:lvl5pPr>
            <a:lvl6pPr marL="2286000" lvl="5" algn="l" defTabSz="914400" rtl="0" eaLnBrk="1" latinLnBrk="0" hangingPunct="1">
              <a:buNone/>
              <a:defRPr sz="1800" kern="1200">
                <a:solidFill>
                  <a:schemeClr val="tx1"/>
                </a:solidFill>
                <a:latin typeface="+mn-lt"/>
                <a:ea typeface="+mn-ea"/>
                <a:cs typeface="+mn-cs"/>
              </a:defRPr>
            </a:lvl6pPr>
            <a:lvl7pPr marL="2743200" lvl="6" algn="l" defTabSz="914400" rtl="0" eaLnBrk="1" latinLnBrk="0" hangingPunct="1">
              <a:buNone/>
              <a:defRPr sz="1800" kern="1200">
                <a:solidFill>
                  <a:schemeClr val="tx1"/>
                </a:solidFill>
                <a:latin typeface="+mn-lt"/>
                <a:ea typeface="+mn-ea"/>
                <a:cs typeface="+mn-cs"/>
              </a:defRPr>
            </a:lvl7pPr>
            <a:lvl8pPr marL="3200400" lvl="7" algn="l" defTabSz="914400" rtl="0" eaLnBrk="1" latinLnBrk="0" hangingPunct="1">
              <a:buNone/>
              <a:defRPr sz="1800" kern="1200">
                <a:solidFill>
                  <a:schemeClr val="tx1"/>
                </a:solidFill>
                <a:latin typeface="+mn-lt"/>
                <a:ea typeface="+mn-ea"/>
                <a:cs typeface="+mn-cs"/>
              </a:defRPr>
            </a:lvl8pPr>
            <a:lvl9pPr marL="3657600" lvl="8" algn="l" defTabSz="914400" rtl="0" eaLnBrk="1" latinLnBrk="0" hangingPunct="1">
              <a:buNone/>
              <a:defRPr sz="1800" kern="1200">
                <a:solidFill>
                  <a:schemeClr val="tx1"/>
                </a:solidFill>
                <a:latin typeface="+mn-lt"/>
                <a:ea typeface="+mn-ea"/>
                <a:cs typeface="+mn-cs"/>
              </a:defRPr>
            </a:lvl9pPr>
          </a:lstStyle>
          <a:p>
            <a:fld id="{6C6B6B8D-D74E-47CD-B5EE-156060B7CD17}" type="slidenum">
              <a:rPr lang="en-US" smtClean="0"/>
              <a:pPr/>
              <a:t>28</a:t>
            </a:fld>
            <a:endParaRPr lang="en-US" dirty="0"/>
          </a:p>
        </p:txBody>
      </p:sp>
      <p:sp>
        <p:nvSpPr>
          <p:cNvPr id="31" name="Title 3">
            <a:extLst>
              <a:ext uri="{FF2B5EF4-FFF2-40B4-BE49-F238E27FC236}">
                <a16:creationId xmlns:a16="http://schemas.microsoft.com/office/drawing/2014/main" id="{8230EEEA-22EE-F124-D410-1D2E19E2A7CC}"/>
              </a:ext>
            </a:extLst>
          </p:cNvPr>
          <p:cNvSpPr txBox="1">
            <a:spLocks/>
          </p:cNvSpPr>
          <p:nvPr/>
        </p:nvSpPr>
        <p:spPr>
          <a:xfrm>
            <a:off x="304800" y="2057400"/>
            <a:ext cx="11658600" cy="14700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i="0" kern="1200">
                <a:solidFill>
                  <a:srgbClr val="D2A43B"/>
                </a:solidFill>
                <a:latin typeface="Montserrat" pitchFamily="2" charset="77"/>
                <a:ea typeface="+mj-ea"/>
                <a:cs typeface="+mj-cs"/>
              </a:defRPr>
            </a:lvl1pPr>
          </a:lstStyle>
          <a:p>
            <a:endParaRPr lang="en-US" altLang="en-US" sz="5400" dirty="0">
              <a:latin typeface="Arial" panose="020B0604020202020204" pitchFamily="34" charset="0"/>
              <a:cs typeface="Arial" panose="020B0604020202020204" pitchFamily="34" charset="0"/>
            </a:endParaRPr>
          </a:p>
        </p:txBody>
      </p:sp>
      <p:sp>
        <p:nvSpPr>
          <p:cNvPr id="33" name="Title 1">
            <a:extLst>
              <a:ext uri="{FF2B5EF4-FFF2-40B4-BE49-F238E27FC236}">
                <a16:creationId xmlns:a16="http://schemas.microsoft.com/office/drawing/2014/main" id="{F82680BB-2EFD-7148-23BE-CD617222BB06}"/>
              </a:ext>
            </a:extLst>
          </p:cNvPr>
          <p:cNvSpPr txBox="1">
            <a:spLocks/>
          </p:cNvSpPr>
          <p:nvPr/>
        </p:nvSpPr>
        <p:spPr>
          <a:xfrm>
            <a:off x="871239" y="203760"/>
            <a:ext cx="9807946"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800" b="1" dirty="0">
                <a:solidFill>
                  <a:srgbClr val="D2A43B"/>
                </a:solidFill>
                <a:ea typeface="Tahoma" pitchFamily="34" charset="0"/>
                <a:cs typeface="Times New Roman" panose="02020603050405020304" pitchFamily="18" charset="0"/>
              </a:rPr>
              <a:t>A889- GTB/Delay due to MSG FUEL ENG 1 LP VLV FAULT</a:t>
            </a:r>
          </a:p>
        </p:txBody>
      </p:sp>
      <p:grpSp>
        <p:nvGrpSpPr>
          <p:cNvPr id="34" name="Group 33">
            <a:extLst>
              <a:ext uri="{FF2B5EF4-FFF2-40B4-BE49-F238E27FC236}">
                <a16:creationId xmlns:a16="http://schemas.microsoft.com/office/drawing/2014/main" id="{1829B053-003C-12EB-9781-BD947BA818D0}"/>
              </a:ext>
            </a:extLst>
          </p:cNvPr>
          <p:cNvGrpSpPr/>
          <p:nvPr/>
        </p:nvGrpSpPr>
        <p:grpSpPr>
          <a:xfrm>
            <a:off x="976560" y="288234"/>
            <a:ext cx="10755065" cy="678753"/>
            <a:chOff x="976560" y="323070"/>
            <a:chExt cx="10755065" cy="678753"/>
          </a:xfrm>
        </p:grpSpPr>
        <p:cxnSp>
          <p:nvCxnSpPr>
            <p:cNvPr id="35" name="Straight Connector 34">
              <a:extLst>
                <a:ext uri="{FF2B5EF4-FFF2-40B4-BE49-F238E27FC236}">
                  <a16:creationId xmlns:a16="http://schemas.microsoft.com/office/drawing/2014/main" id="{B43F4E8B-E1DA-FD9A-7FDD-047BF58E85A7}"/>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DF18CE37-0060-7EBF-2533-B46D672A47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37" name="Rectangle: Single Corner Rounded 36">
            <a:extLst>
              <a:ext uri="{FF2B5EF4-FFF2-40B4-BE49-F238E27FC236}">
                <a16:creationId xmlns:a16="http://schemas.microsoft.com/office/drawing/2014/main" id="{3A7FA45D-741A-BE6C-14EF-942E62D5DB9D}"/>
              </a:ext>
            </a:extLst>
          </p:cNvPr>
          <p:cNvSpPr/>
          <p:nvPr/>
        </p:nvSpPr>
        <p:spPr>
          <a:xfrm rot="10800000" flipH="1" flipV="1">
            <a:off x="510814" y="778306"/>
            <a:ext cx="11517397" cy="691534"/>
          </a:xfrm>
          <a:prstGeom prst="round1Rect">
            <a:avLst/>
          </a:prstGeom>
          <a:pattFill prst="lgGrid">
            <a:fgClr>
              <a:schemeClr val="accent1">
                <a:lumMod val="40000"/>
                <a:lumOff val="60000"/>
              </a:schemeClr>
            </a:fgClr>
            <a:bgClr>
              <a:schemeClr val="accent5">
                <a:lumMod val="20000"/>
                <a:lumOff val="80000"/>
              </a:schemeClr>
            </a:bgClr>
          </a:patt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b="0" i="0" dirty="0">
                <a:solidFill>
                  <a:srgbClr val="121111"/>
                </a:solidFill>
                <a:effectLst/>
                <a:latin typeface="Arial" panose="020B0604020202020204" pitchFamily="34" charset="0"/>
              </a:rPr>
              <a:t>A889/ VN415 (25/Jan), ICN-HAN, A/C GTB AT ICN- DUE TO NO-GO MSG: “</a:t>
            </a:r>
            <a:r>
              <a:rPr lang="en-US" b="1" i="0" dirty="0">
                <a:solidFill>
                  <a:schemeClr val="accent2"/>
                </a:solidFill>
                <a:effectLst/>
                <a:latin typeface="Arial" panose="020B0604020202020204" pitchFamily="34" charset="0"/>
              </a:rPr>
              <a:t>FUEL ENG 1 LP VLV FAULT</a:t>
            </a:r>
            <a:r>
              <a:rPr lang="en-US" b="1" i="0" dirty="0">
                <a:solidFill>
                  <a:schemeClr val="tx1"/>
                </a:solidFill>
                <a:effectLst/>
                <a:latin typeface="Arial" panose="020B0604020202020204" pitchFamily="34" charset="0"/>
              </a:rPr>
              <a:t>”</a:t>
            </a:r>
          </a:p>
          <a:p>
            <a:pPr marL="0" marR="0" lvl="0" indent="0" defTabSz="914400" rtl="0" eaLnBrk="1" fontAlgn="auto" latinLnBrk="0" hangingPunct="1">
              <a:lnSpc>
                <a:spcPct val="100000"/>
              </a:lnSpc>
              <a:spcBef>
                <a:spcPts val="0"/>
              </a:spcBef>
              <a:spcAft>
                <a:spcPts val="0"/>
              </a:spcAft>
              <a:buClrTx/>
              <a:buSzTx/>
              <a:buFontTx/>
              <a:buNone/>
              <a:tabLst/>
              <a:defRPr/>
            </a:pPr>
            <a:r>
              <a:rPr lang="en-US" dirty="0">
                <a:solidFill>
                  <a:srgbClr val="121111"/>
                </a:solidFill>
                <a:latin typeface="Arial" panose="020B0604020202020204" pitchFamily="34" charset="0"/>
              </a:rPr>
              <a:t>FC: 2851F4EN, 2851F7Z4 - ACTUATOR-FUEL LP VLV,ENG1(400QG1)</a:t>
            </a:r>
          </a:p>
        </p:txBody>
      </p:sp>
      <p:sp>
        <p:nvSpPr>
          <p:cNvPr id="41" name="Rectangle 40">
            <a:extLst>
              <a:ext uri="{FF2B5EF4-FFF2-40B4-BE49-F238E27FC236}">
                <a16:creationId xmlns:a16="http://schemas.microsoft.com/office/drawing/2014/main" id="{373EC48F-B1C4-13C5-96E8-AF9FA48AA65E}"/>
              </a:ext>
            </a:extLst>
          </p:cNvPr>
          <p:cNvSpPr/>
          <p:nvPr/>
        </p:nvSpPr>
        <p:spPr>
          <a:xfrm>
            <a:off x="1089987" y="3992817"/>
            <a:ext cx="5973480" cy="2246769"/>
          </a:xfrm>
          <a:prstGeom prst="rect">
            <a:avLst/>
          </a:prstGeom>
        </p:spPr>
        <p:txBody>
          <a:bodyPr wrap="square">
            <a:spAutoFit/>
          </a:bodyPr>
          <a:lstStyle/>
          <a:p>
            <a:pPr marL="285750" indent="-285750">
              <a:spcBef>
                <a:spcPts val="1200"/>
              </a:spcBef>
              <a:buFont typeface="Wingdings" panose="05000000000000000000" pitchFamily="2" charset="2"/>
              <a:buChar char="v"/>
            </a:pPr>
            <a:r>
              <a:rPr lang="vi-VN" sz="1500" b="0" i="0" dirty="0">
                <a:solidFill>
                  <a:srgbClr val="121111"/>
                </a:solidFill>
                <a:effectLst/>
                <a:latin typeface="Arial" panose="020B0604020202020204" pitchFamily="34" charset="0"/>
              </a:rPr>
              <a:t>Hỏng hóc </a:t>
            </a:r>
            <a:r>
              <a:rPr lang="en-US" sz="1500" dirty="0" err="1">
                <a:solidFill>
                  <a:srgbClr val="121111"/>
                </a:solidFill>
                <a:latin typeface="Arial" panose="020B0604020202020204" pitchFamily="34" charset="0"/>
              </a:rPr>
              <a:t>nghi</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ngờ</a:t>
            </a:r>
            <a:r>
              <a:rPr lang="en-US" sz="1500" dirty="0">
                <a:solidFill>
                  <a:srgbClr val="121111"/>
                </a:solidFill>
                <a:latin typeface="Arial" panose="020B0604020202020204" pitchFamily="34" charset="0"/>
              </a:rPr>
              <a:t> do Fuel LP valve </a:t>
            </a:r>
            <a:r>
              <a:rPr lang="en-US" sz="1500" dirty="0" err="1">
                <a:solidFill>
                  <a:srgbClr val="121111"/>
                </a:solidFill>
                <a:latin typeface="Arial" panose="020B0604020202020204" pitchFamily="34" charset="0"/>
              </a:rPr>
              <a:t>bị</a:t>
            </a:r>
            <a:r>
              <a:rPr lang="en-US" sz="1500" dirty="0">
                <a:solidFill>
                  <a:srgbClr val="121111"/>
                </a:solidFill>
                <a:latin typeface="Arial" panose="020B0604020202020204" pitchFamily="34" charset="0"/>
              </a:rPr>
              <a:t> intermittent. </a:t>
            </a:r>
            <a:r>
              <a:rPr lang="en-US" sz="1500" dirty="0" err="1">
                <a:solidFill>
                  <a:srgbClr val="121111"/>
                </a:solidFill>
                <a:latin typeface="Arial" panose="020B0604020202020204" pitchFamily="34" charset="0"/>
              </a:rPr>
              <a:t>Đã</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thực</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hiện</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thay</a:t>
            </a:r>
            <a:r>
              <a:rPr lang="en-US" sz="1500" dirty="0">
                <a:solidFill>
                  <a:srgbClr val="121111"/>
                </a:solidFill>
                <a:latin typeface="Arial" panose="020B0604020202020204" pitchFamily="34" charset="0"/>
              </a:rPr>
              <a:t> valve này </a:t>
            </a:r>
            <a:r>
              <a:rPr lang="en-US" sz="1500" dirty="0" err="1">
                <a:solidFill>
                  <a:srgbClr val="121111"/>
                </a:solidFill>
                <a:latin typeface="Arial" panose="020B0604020202020204" pitchFamily="34" charset="0"/>
              </a:rPr>
              <a:t>khi</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tàu</a:t>
            </a:r>
            <a:r>
              <a:rPr lang="en-US" sz="1500" dirty="0">
                <a:solidFill>
                  <a:srgbClr val="121111"/>
                </a:solidFill>
                <a:latin typeface="Arial" panose="020B0604020202020204" pitchFamily="34" charset="0"/>
              </a:rPr>
              <a:t> bay </a:t>
            </a:r>
            <a:r>
              <a:rPr lang="en-US" sz="1500" dirty="0" err="1">
                <a:solidFill>
                  <a:srgbClr val="121111"/>
                </a:solidFill>
                <a:latin typeface="Arial" panose="020B0604020202020204" pitchFamily="34" charset="0"/>
              </a:rPr>
              <a:t>về</a:t>
            </a:r>
            <a:r>
              <a:rPr lang="en-US" sz="1500" dirty="0">
                <a:solidFill>
                  <a:srgbClr val="121111"/>
                </a:solidFill>
                <a:latin typeface="Arial" panose="020B0604020202020204" pitchFamily="34" charset="0"/>
              </a:rPr>
              <a:t> main-base.</a:t>
            </a:r>
            <a:endParaRPr lang="en-US" sz="1500" b="0" i="0" dirty="0">
              <a:solidFill>
                <a:srgbClr val="121111"/>
              </a:solidFill>
              <a:effectLst/>
              <a:latin typeface="Arial" panose="020B0604020202020204" pitchFamily="34" charset="0"/>
            </a:endParaRPr>
          </a:p>
          <a:p>
            <a:pPr marL="285750" indent="-285750">
              <a:spcBef>
                <a:spcPts val="1200"/>
              </a:spcBef>
              <a:buFont typeface="Wingdings" panose="05000000000000000000" pitchFamily="2" charset="2"/>
              <a:buChar char="v"/>
            </a:pPr>
            <a:r>
              <a:rPr lang="vi-VN" sz="1500" b="0" i="0" dirty="0">
                <a:solidFill>
                  <a:srgbClr val="121111"/>
                </a:solidFill>
                <a:effectLst/>
                <a:latin typeface="Arial" panose="020B0604020202020204" pitchFamily="34" charset="0"/>
              </a:rPr>
              <a:t>Hiện tại, không có tài liệu nào (kể cả AiB và operator khác) về độ tin cậy của valve này trên thế giới </a:t>
            </a:r>
            <a:r>
              <a:rPr lang="en-US" sz="1500" b="0" i="0" dirty="0">
                <a:solidFill>
                  <a:srgbClr val="121111"/>
                </a:solidFill>
                <a:effectLst/>
                <a:latin typeface="Arial" panose="020B0604020202020204" pitchFamily="34" charset="0"/>
              </a:rPr>
              <a:t>.</a:t>
            </a:r>
            <a:r>
              <a:rPr lang="vi-VN" sz="1500" b="0" i="0" dirty="0">
                <a:solidFill>
                  <a:srgbClr val="121111"/>
                </a:solidFill>
                <a:effectLst/>
                <a:latin typeface="Arial" panose="020B0604020202020204" pitchFamily="34" charset="0"/>
              </a:rPr>
              <a:t>Tính từ khi khai thác A350 thì có 5 lần thay valve này nhưng chỉ có 1 lần </a:t>
            </a:r>
            <a:r>
              <a:rPr lang="en-US" sz="1500" b="0" i="0" dirty="0" err="1">
                <a:solidFill>
                  <a:srgbClr val="121111"/>
                </a:solidFill>
                <a:effectLst/>
                <a:latin typeface="Arial" panose="020B0604020202020204" pitchFamily="34" charset="0"/>
              </a:rPr>
              <a:t>gây</a:t>
            </a:r>
            <a:r>
              <a:rPr lang="en-US" sz="1500" b="0" i="0" dirty="0">
                <a:solidFill>
                  <a:srgbClr val="121111"/>
                </a:solidFill>
                <a:effectLst/>
                <a:latin typeface="Arial" panose="020B0604020202020204" pitchFamily="34" charset="0"/>
              </a:rPr>
              <a:t> </a:t>
            </a:r>
            <a:r>
              <a:rPr lang="vi-VN" sz="1500" b="0" i="0" dirty="0">
                <a:solidFill>
                  <a:srgbClr val="121111"/>
                </a:solidFill>
                <a:effectLst/>
                <a:latin typeface="Arial" panose="020B0604020202020204" pitchFamily="34" charset="0"/>
              </a:rPr>
              <a:t>gián đoạn khai thác trên A887 năm 2016</a:t>
            </a:r>
            <a:endParaRPr lang="en-US" sz="1500" b="0" i="0" dirty="0">
              <a:solidFill>
                <a:srgbClr val="121111"/>
              </a:solidFill>
              <a:effectLst/>
              <a:latin typeface="Arial" panose="020B0604020202020204" pitchFamily="34" charset="0"/>
            </a:endParaRPr>
          </a:p>
          <a:p>
            <a:pPr marL="285750" indent="-285750">
              <a:spcBef>
                <a:spcPts val="1200"/>
              </a:spcBef>
              <a:buFont typeface="Wingdings" panose="05000000000000000000" pitchFamily="2" charset="2"/>
              <a:buChar char="v"/>
            </a:pPr>
            <a:r>
              <a:rPr lang="vi-VN" sz="1500" b="0" i="0" dirty="0">
                <a:solidFill>
                  <a:srgbClr val="121111"/>
                </a:solidFill>
                <a:effectLst/>
                <a:latin typeface="Arial" panose="020B0604020202020204" pitchFamily="34" charset="0"/>
              </a:rPr>
              <a:t>Đang chờ SFR </a:t>
            </a:r>
            <a:r>
              <a:rPr lang="en-US" sz="1500" b="0" i="0" dirty="0" err="1">
                <a:solidFill>
                  <a:srgbClr val="121111"/>
                </a:solidFill>
                <a:effectLst/>
                <a:latin typeface="Arial" panose="020B0604020202020204" pitchFamily="34" charset="0"/>
              </a:rPr>
              <a:t>và</a:t>
            </a:r>
            <a:r>
              <a:rPr lang="en-US" sz="1500" b="0" i="0" dirty="0">
                <a:solidFill>
                  <a:srgbClr val="121111"/>
                </a:solidFill>
                <a:effectLst/>
                <a:latin typeface="Arial" panose="020B0604020202020204" pitchFamily="34" charset="0"/>
              </a:rPr>
              <a:t> </a:t>
            </a:r>
            <a:r>
              <a:rPr lang="en-US" sz="1500" b="0" i="0" dirty="0" err="1">
                <a:solidFill>
                  <a:srgbClr val="121111"/>
                </a:solidFill>
                <a:effectLst/>
                <a:latin typeface="Arial" panose="020B0604020202020204" pitchFamily="34" charset="0"/>
              </a:rPr>
              <a:t>làm</a:t>
            </a:r>
            <a:r>
              <a:rPr lang="en-US" sz="1500" b="0" i="0" dirty="0">
                <a:solidFill>
                  <a:srgbClr val="121111"/>
                </a:solidFill>
                <a:effectLst/>
                <a:latin typeface="Arial" panose="020B0604020202020204" pitchFamily="34" charset="0"/>
              </a:rPr>
              <a:t> </a:t>
            </a:r>
            <a:r>
              <a:rPr lang="en-US" sz="1500" b="0" i="0" dirty="0" err="1">
                <a:solidFill>
                  <a:srgbClr val="121111"/>
                </a:solidFill>
                <a:effectLst/>
                <a:latin typeface="Arial" panose="020B0604020202020204" pitchFamily="34" charset="0"/>
              </a:rPr>
              <a:t>việc</a:t>
            </a:r>
            <a:r>
              <a:rPr lang="en-US" sz="1500" b="0" i="0" dirty="0">
                <a:solidFill>
                  <a:srgbClr val="121111"/>
                </a:solidFill>
                <a:effectLst/>
                <a:latin typeface="Arial" panose="020B0604020202020204" pitchFamily="34" charset="0"/>
              </a:rPr>
              <a:t> </a:t>
            </a:r>
            <a:r>
              <a:rPr lang="en-US" sz="1500" b="0" i="0" dirty="0" err="1">
                <a:solidFill>
                  <a:srgbClr val="121111"/>
                </a:solidFill>
                <a:effectLst/>
                <a:latin typeface="Arial" panose="020B0604020202020204" pitchFamily="34" charset="0"/>
              </a:rPr>
              <a:t>với</a:t>
            </a:r>
            <a:r>
              <a:rPr lang="en-US" sz="1500" b="0" i="0" dirty="0">
                <a:solidFill>
                  <a:srgbClr val="121111"/>
                </a:solidFill>
                <a:effectLst/>
                <a:latin typeface="Arial" panose="020B0604020202020204" pitchFamily="34" charset="0"/>
              </a:rPr>
              <a:t> AIB</a:t>
            </a:r>
            <a:r>
              <a:rPr lang="en-US" sz="1500" dirty="0">
                <a:solidFill>
                  <a:srgbClr val="121111"/>
                </a:solidFill>
                <a:latin typeface="Arial" panose="020B0604020202020204" pitchFamily="34" charset="0"/>
              </a:rPr>
              <a:t> qua TR 81532467 </a:t>
            </a:r>
            <a:r>
              <a:rPr lang="vi-VN" sz="1500" b="0" i="0" dirty="0">
                <a:solidFill>
                  <a:srgbClr val="121111"/>
                </a:solidFill>
                <a:effectLst/>
                <a:latin typeface="Arial" panose="020B0604020202020204" pitchFamily="34" charset="0"/>
              </a:rPr>
              <a:t>để đánh giá</a:t>
            </a:r>
            <a:r>
              <a:rPr lang="en-US" sz="1500" b="0" i="0" dirty="0">
                <a:solidFill>
                  <a:srgbClr val="121111"/>
                </a:solidFill>
                <a:effectLst/>
                <a:latin typeface="Arial" panose="020B0604020202020204" pitchFamily="34" charset="0"/>
              </a:rPr>
              <a:t> </a:t>
            </a:r>
            <a:r>
              <a:rPr lang="vi-VN" sz="1500" b="0" i="0" dirty="0">
                <a:solidFill>
                  <a:srgbClr val="121111"/>
                </a:solidFill>
                <a:effectLst/>
                <a:latin typeface="Arial" panose="020B0604020202020204" pitchFamily="34" charset="0"/>
              </a:rPr>
              <a:t>thêm hỏng hóc </a:t>
            </a:r>
            <a:r>
              <a:rPr lang="en-US" sz="1500" dirty="0">
                <a:solidFill>
                  <a:srgbClr val="121111"/>
                </a:solidFill>
                <a:latin typeface="Arial" panose="020B0604020202020204" pitchFamily="34" charset="0"/>
              </a:rPr>
              <a:t>	</a:t>
            </a:r>
            <a:endParaRPr lang="en-US" sz="1500" dirty="0">
              <a:ln w="0"/>
              <a:solidFill>
                <a:schemeClr val="accent5">
                  <a:lumMod val="75000"/>
                </a:schemeClr>
              </a:solidFill>
              <a:latin typeface="Cambria" panose="02040503050406030204" pitchFamily="18" charset="0"/>
              <a:ea typeface="Cambria" panose="02040503050406030204" pitchFamily="18" charset="0"/>
              <a:cs typeface="Times New Roman" panose="02020603050405020304" pitchFamily="18" charset="0"/>
              <a:sym typeface="Symbol" panose="05050102010706020507" pitchFamily="18" charset="2"/>
            </a:endParaRPr>
          </a:p>
        </p:txBody>
      </p:sp>
      <p:pic>
        <p:nvPicPr>
          <p:cNvPr id="42" name="Picture 41">
            <a:extLst>
              <a:ext uri="{FF2B5EF4-FFF2-40B4-BE49-F238E27FC236}">
                <a16:creationId xmlns:a16="http://schemas.microsoft.com/office/drawing/2014/main" id="{CE552BD7-5F3C-1765-DBD7-B120A04FB1A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4800" y="4986397"/>
            <a:ext cx="537821" cy="502241"/>
          </a:xfrm>
          <a:prstGeom prst="rect">
            <a:avLst/>
          </a:prstGeom>
        </p:spPr>
      </p:pic>
      <p:pic>
        <p:nvPicPr>
          <p:cNvPr id="57" name="Picture 56">
            <a:extLst>
              <a:ext uri="{FF2B5EF4-FFF2-40B4-BE49-F238E27FC236}">
                <a16:creationId xmlns:a16="http://schemas.microsoft.com/office/drawing/2014/main" id="{862B5323-EE5B-2997-384B-DFE0D8DB674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1750" y="1903148"/>
            <a:ext cx="708237" cy="708237"/>
          </a:xfrm>
          <a:prstGeom prst="rect">
            <a:avLst/>
          </a:prstGeom>
        </p:spPr>
      </p:pic>
      <p:sp>
        <p:nvSpPr>
          <p:cNvPr id="60" name="TextBox 59">
            <a:extLst>
              <a:ext uri="{FF2B5EF4-FFF2-40B4-BE49-F238E27FC236}">
                <a16:creationId xmlns:a16="http://schemas.microsoft.com/office/drawing/2014/main" id="{551CD8C3-8E6F-D081-0E7C-B5C19CCE9743}"/>
              </a:ext>
            </a:extLst>
          </p:cNvPr>
          <p:cNvSpPr txBox="1"/>
          <p:nvPr/>
        </p:nvSpPr>
        <p:spPr>
          <a:xfrm>
            <a:off x="1182848" y="1761833"/>
            <a:ext cx="5803669" cy="1938992"/>
          </a:xfrm>
          <a:prstGeom prst="rect">
            <a:avLst/>
          </a:prstGeom>
          <a:noFill/>
        </p:spPr>
        <p:txBody>
          <a:bodyPr wrap="square" rtlCol="0">
            <a:spAutoFit/>
          </a:bodyPr>
          <a:lstStyle/>
          <a:p>
            <a:pPr marL="285750" indent="-285750">
              <a:buFont typeface="Wingdings" panose="05000000000000000000" pitchFamily="2" charset="2"/>
              <a:buChar char="q"/>
            </a:pPr>
            <a:r>
              <a:rPr lang="en-US" sz="1500" dirty="0">
                <a:solidFill>
                  <a:srgbClr val="121111"/>
                </a:solidFill>
                <a:latin typeface="Arial" panose="020B0604020202020204" pitchFamily="34" charset="0"/>
              </a:rPr>
              <a:t>Khi </a:t>
            </a:r>
            <a:r>
              <a:rPr lang="en-US" sz="1500" dirty="0" err="1">
                <a:solidFill>
                  <a:srgbClr val="121111"/>
                </a:solidFill>
                <a:latin typeface="Arial" panose="020B0604020202020204" pitchFamily="34" charset="0"/>
              </a:rPr>
              <a:t>thực</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hiện</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chuyến</a:t>
            </a:r>
            <a:r>
              <a:rPr lang="en-US" sz="1500" dirty="0">
                <a:solidFill>
                  <a:srgbClr val="121111"/>
                </a:solidFill>
                <a:latin typeface="Arial" panose="020B0604020202020204" pitchFamily="34" charset="0"/>
              </a:rPr>
              <a:t> bay </a:t>
            </a:r>
            <a:r>
              <a:rPr lang="en-US" sz="1500" dirty="0" err="1">
                <a:solidFill>
                  <a:srgbClr val="121111"/>
                </a:solidFill>
                <a:latin typeface="Arial" panose="020B0604020202020204" pitchFamily="34" charset="0"/>
              </a:rPr>
              <a:t>trước</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đó</a:t>
            </a:r>
            <a:r>
              <a:rPr lang="en-US" sz="1500" dirty="0">
                <a:solidFill>
                  <a:srgbClr val="121111"/>
                </a:solidFill>
                <a:latin typeface="Arial" panose="020B0604020202020204" pitchFamily="34" charset="0"/>
              </a:rPr>
              <a:t> VN414, HAN-ICN, </a:t>
            </a:r>
            <a:r>
              <a:rPr lang="en-US" sz="1500" dirty="0" err="1">
                <a:solidFill>
                  <a:srgbClr val="121111"/>
                </a:solidFill>
                <a:latin typeface="Arial" panose="020B0604020202020204" pitchFamily="34" charset="0"/>
              </a:rPr>
              <a:t>thì</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cảnh</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báo</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xuất</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hiện</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trên</a:t>
            </a:r>
            <a:r>
              <a:rPr lang="en-US" sz="1500" dirty="0">
                <a:solidFill>
                  <a:srgbClr val="121111"/>
                </a:solidFill>
                <a:latin typeface="Arial" panose="020B0604020202020204" pitchFamily="34" charset="0"/>
              </a:rPr>
              <a:t> Skywise (landing phase), </a:t>
            </a:r>
            <a:r>
              <a:rPr lang="en-US" sz="1500" dirty="0" err="1">
                <a:solidFill>
                  <a:srgbClr val="121111"/>
                </a:solidFill>
                <a:latin typeface="Arial" panose="020B0604020202020204" pitchFamily="34" charset="0"/>
              </a:rPr>
              <a:t>nhưng</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sau</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khi</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tàu</a:t>
            </a:r>
            <a:r>
              <a:rPr lang="en-US" sz="1500" dirty="0">
                <a:solidFill>
                  <a:srgbClr val="121111"/>
                </a:solidFill>
                <a:latin typeface="Arial" panose="020B0604020202020204" pitchFamily="34" charset="0"/>
              </a:rPr>
              <a:t> bay </a:t>
            </a:r>
            <a:r>
              <a:rPr lang="en-US" sz="1500" dirty="0" err="1">
                <a:solidFill>
                  <a:srgbClr val="121111"/>
                </a:solidFill>
                <a:latin typeface="Arial" panose="020B0604020202020204" pitchFamily="34" charset="0"/>
              </a:rPr>
              <a:t>hạ</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cánh</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tại</a:t>
            </a:r>
            <a:r>
              <a:rPr lang="en-US" sz="1500" dirty="0">
                <a:solidFill>
                  <a:srgbClr val="121111"/>
                </a:solidFill>
                <a:latin typeface="Arial" panose="020B0604020202020204" pitchFamily="34" charset="0"/>
              </a:rPr>
              <a:t> ICN </a:t>
            </a:r>
            <a:r>
              <a:rPr lang="en-US" sz="1500" dirty="0" err="1">
                <a:solidFill>
                  <a:srgbClr val="121111"/>
                </a:solidFill>
                <a:latin typeface="Arial" panose="020B0604020202020204" pitchFamily="34" charset="0"/>
              </a:rPr>
              <a:t>thì</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không</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có</a:t>
            </a:r>
            <a:r>
              <a:rPr lang="en-US" sz="1500" dirty="0">
                <a:solidFill>
                  <a:srgbClr val="121111"/>
                </a:solidFill>
                <a:latin typeface="Arial" panose="020B0604020202020204" pitchFamily="34" charset="0"/>
              </a:rPr>
              <a:t> MSG </a:t>
            </a:r>
            <a:r>
              <a:rPr lang="en-US" sz="1500" dirty="0" err="1">
                <a:solidFill>
                  <a:srgbClr val="121111"/>
                </a:solidFill>
                <a:latin typeface="Arial" panose="020B0604020202020204" pitchFamily="34" charset="0"/>
              </a:rPr>
              <a:t>nào</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trên</a:t>
            </a:r>
            <a:r>
              <a:rPr lang="en-US" sz="1500" dirty="0">
                <a:solidFill>
                  <a:srgbClr val="121111"/>
                </a:solidFill>
                <a:latin typeface="Arial" panose="020B0604020202020204" pitchFamily="34" charset="0"/>
              </a:rPr>
              <a:t> ECAM, </a:t>
            </a:r>
            <a:r>
              <a:rPr lang="en-US" sz="1500" dirty="0" err="1">
                <a:solidFill>
                  <a:srgbClr val="121111"/>
                </a:solidFill>
                <a:latin typeface="Arial" panose="020B0604020202020204" pitchFamily="34" charset="0"/>
              </a:rPr>
              <a:t>thực</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hiện</a:t>
            </a:r>
            <a:r>
              <a:rPr lang="en-US" sz="1500" dirty="0">
                <a:solidFill>
                  <a:srgbClr val="121111"/>
                </a:solidFill>
                <a:latin typeface="Arial" panose="020B0604020202020204" pitchFamily="34" charset="0"/>
              </a:rPr>
              <a:t> OPT TEST </a:t>
            </a:r>
            <a:r>
              <a:rPr lang="en-US" sz="1500" dirty="0" err="1">
                <a:solidFill>
                  <a:srgbClr val="121111"/>
                </a:solidFill>
                <a:latin typeface="Arial" panose="020B0604020202020204" pitchFamily="34" charset="0"/>
              </a:rPr>
              <a:t>thì</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không</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xuất</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hiện</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lỗi</a:t>
            </a:r>
            <a:r>
              <a:rPr lang="en-US" sz="1500" dirty="0">
                <a:solidFill>
                  <a:srgbClr val="121111"/>
                </a:solidFill>
                <a:latin typeface="Arial" panose="020B0604020202020204" pitchFamily="34" charset="0"/>
              </a:rPr>
              <a:t> (NO FAULT CONFIRM)</a:t>
            </a:r>
          </a:p>
          <a:p>
            <a:pPr marL="285750" indent="-285750">
              <a:buFont typeface="Wingdings" panose="05000000000000000000" pitchFamily="2" charset="2"/>
              <a:buChar char="q"/>
            </a:pPr>
            <a:r>
              <a:rPr lang="en-US" sz="1500" dirty="0">
                <a:solidFill>
                  <a:srgbClr val="121111"/>
                </a:solidFill>
                <a:latin typeface="Arial" panose="020B0604020202020204" pitchFamily="34" charset="0"/>
              </a:rPr>
              <a:t>Khi </a:t>
            </a:r>
            <a:r>
              <a:rPr lang="en-US" sz="1500" dirty="0" err="1">
                <a:solidFill>
                  <a:srgbClr val="121111"/>
                </a:solidFill>
                <a:latin typeface="Arial" panose="020B0604020202020204" pitchFamily="34" charset="0"/>
              </a:rPr>
              <a:t>thực</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hiện</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chuyến</a:t>
            </a:r>
            <a:r>
              <a:rPr lang="en-US" sz="1500" dirty="0">
                <a:solidFill>
                  <a:srgbClr val="121111"/>
                </a:solidFill>
                <a:latin typeface="Arial" panose="020B0604020202020204" pitchFamily="34" charset="0"/>
              </a:rPr>
              <a:t> bay VN415, ICN-HAN, </a:t>
            </a:r>
            <a:r>
              <a:rPr lang="en-US" sz="1500" dirty="0" err="1">
                <a:solidFill>
                  <a:srgbClr val="121111"/>
                </a:solidFill>
                <a:latin typeface="Arial" panose="020B0604020202020204" pitchFamily="34" charset="0"/>
              </a:rPr>
              <a:t>thì</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cảnh</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báo</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xuất</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hiện</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lại</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trong</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quá</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trình</a:t>
            </a:r>
            <a:r>
              <a:rPr lang="en-US" sz="1500" dirty="0">
                <a:solidFill>
                  <a:srgbClr val="121111"/>
                </a:solidFill>
                <a:latin typeface="Arial" panose="020B0604020202020204" pitchFamily="34" charset="0"/>
              </a:rPr>
              <a:t> pushback, </a:t>
            </a:r>
            <a:r>
              <a:rPr lang="en-US" sz="1500" dirty="0" err="1">
                <a:solidFill>
                  <a:srgbClr val="121111"/>
                </a:solidFill>
                <a:latin typeface="Arial" panose="020B0604020202020204" pitchFamily="34" charset="0"/>
              </a:rPr>
              <a:t>tổ</a:t>
            </a:r>
            <a:r>
              <a:rPr lang="en-US" sz="1500" dirty="0">
                <a:solidFill>
                  <a:srgbClr val="121111"/>
                </a:solidFill>
                <a:latin typeface="Arial" panose="020B0604020202020204" pitchFamily="34" charset="0"/>
              </a:rPr>
              <a:t> bay </a:t>
            </a:r>
            <a:r>
              <a:rPr lang="en-US" sz="1500" dirty="0" err="1">
                <a:solidFill>
                  <a:srgbClr val="121111"/>
                </a:solidFill>
                <a:latin typeface="Arial" panose="020B0604020202020204" pitchFamily="34" charset="0"/>
              </a:rPr>
              <a:t>quyết</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định</a:t>
            </a:r>
            <a:r>
              <a:rPr lang="en-US" sz="1500" dirty="0">
                <a:solidFill>
                  <a:srgbClr val="121111"/>
                </a:solidFill>
                <a:latin typeface="Arial" panose="020B0604020202020204" pitchFamily="34" charset="0"/>
              </a:rPr>
              <a:t> quay </a:t>
            </a:r>
            <a:r>
              <a:rPr lang="en-US" sz="1500" dirty="0" err="1">
                <a:solidFill>
                  <a:srgbClr val="121111"/>
                </a:solidFill>
                <a:latin typeface="Arial" panose="020B0604020202020204" pitchFamily="34" charset="0"/>
              </a:rPr>
              <a:t>lại</a:t>
            </a:r>
            <a:r>
              <a:rPr lang="en-US" sz="1500" dirty="0">
                <a:solidFill>
                  <a:srgbClr val="121111"/>
                </a:solidFill>
                <a:latin typeface="Arial" panose="020B0604020202020204" pitchFamily="34" charset="0"/>
              </a:rPr>
              <a:t>. </a:t>
            </a:r>
          </a:p>
          <a:p>
            <a:pPr marL="285750" indent="-285750">
              <a:buFont typeface="Wingdings" panose="05000000000000000000" pitchFamily="2" charset="2"/>
              <a:buChar char="q"/>
            </a:pPr>
            <a:r>
              <a:rPr lang="en-US" sz="1500" dirty="0">
                <a:solidFill>
                  <a:srgbClr val="121111"/>
                </a:solidFill>
                <a:latin typeface="Arial" panose="020B0604020202020204" pitchFamily="34" charset="0"/>
              </a:rPr>
              <a:t>Sau </a:t>
            </a:r>
            <a:r>
              <a:rPr lang="en-US" sz="1500" dirty="0" err="1">
                <a:solidFill>
                  <a:srgbClr val="121111"/>
                </a:solidFill>
                <a:latin typeface="Arial" panose="020B0604020202020204" pitchFamily="34" charset="0"/>
              </a:rPr>
              <a:t>khi</a:t>
            </a:r>
            <a:r>
              <a:rPr lang="en-US" sz="1500" dirty="0">
                <a:solidFill>
                  <a:srgbClr val="121111"/>
                </a:solidFill>
                <a:latin typeface="Arial" panose="020B0604020202020204" pitchFamily="34" charset="0"/>
              </a:rPr>
              <a:t> quay </a:t>
            </a:r>
            <a:r>
              <a:rPr lang="en-US" sz="1500" dirty="0" err="1">
                <a:solidFill>
                  <a:srgbClr val="121111"/>
                </a:solidFill>
                <a:latin typeface="Arial" panose="020B0604020202020204" pitchFamily="34" charset="0"/>
              </a:rPr>
              <a:t>lại</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thì</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thợ</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máy</a:t>
            </a:r>
            <a:r>
              <a:rPr lang="en-US" sz="1500" dirty="0">
                <a:solidFill>
                  <a:srgbClr val="121111"/>
                </a:solidFill>
                <a:latin typeface="Arial" panose="020B0604020202020204" pitchFamily="34" charset="0"/>
              </a:rPr>
              <a:t> reset </a:t>
            </a:r>
            <a:r>
              <a:rPr lang="en-US" sz="1500" dirty="0" err="1">
                <a:solidFill>
                  <a:srgbClr val="121111"/>
                </a:solidFill>
                <a:latin typeface="Arial" panose="020B0604020202020204" pitchFamily="34" charset="0"/>
              </a:rPr>
              <a:t>hết</a:t>
            </a:r>
            <a:r>
              <a:rPr lang="en-US" sz="1500" dirty="0">
                <a:solidFill>
                  <a:srgbClr val="121111"/>
                </a:solidFill>
                <a:latin typeface="Arial" panose="020B0604020202020204" pitchFamily="34" charset="0"/>
              </a:rPr>
              <a:t> MSG </a:t>
            </a:r>
            <a:r>
              <a:rPr lang="en-US" sz="1500" dirty="0" err="1">
                <a:solidFill>
                  <a:srgbClr val="121111"/>
                </a:solidFill>
                <a:latin typeface="Arial" panose="020B0604020202020204" pitchFamily="34" charset="0"/>
              </a:rPr>
              <a:t>và</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thực</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hiện</a:t>
            </a:r>
            <a:r>
              <a:rPr lang="en-US" sz="1500" dirty="0">
                <a:solidFill>
                  <a:srgbClr val="121111"/>
                </a:solidFill>
                <a:latin typeface="Arial" panose="020B0604020202020204" pitchFamily="34" charset="0"/>
              </a:rPr>
              <a:t> </a:t>
            </a:r>
            <a:r>
              <a:rPr lang="en-US" sz="1500" dirty="0" err="1">
                <a:solidFill>
                  <a:srgbClr val="121111"/>
                </a:solidFill>
                <a:latin typeface="Arial" panose="020B0604020202020204" pitchFamily="34" charset="0"/>
              </a:rPr>
              <a:t>chuyến</a:t>
            </a:r>
            <a:r>
              <a:rPr lang="en-US" sz="1500" dirty="0">
                <a:solidFill>
                  <a:srgbClr val="121111"/>
                </a:solidFill>
                <a:latin typeface="Arial" panose="020B0604020202020204" pitchFamily="34" charset="0"/>
              </a:rPr>
              <a:t> bay </a:t>
            </a:r>
            <a:r>
              <a:rPr lang="en-US" sz="1500" dirty="0" err="1">
                <a:solidFill>
                  <a:srgbClr val="121111"/>
                </a:solidFill>
                <a:latin typeface="Arial" panose="020B0604020202020204" pitchFamily="34" charset="0"/>
              </a:rPr>
              <a:t>về</a:t>
            </a:r>
            <a:endParaRPr lang="en-US" sz="1500" dirty="0"/>
          </a:p>
        </p:txBody>
      </p:sp>
      <p:pic>
        <p:nvPicPr>
          <p:cNvPr id="6" name="Picture 5">
            <a:extLst>
              <a:ext uri="{FF2B5EF4-FFF2-40B4-BE49-F238E27FC236}">
                <a16:creationId xmlns:a16="http://schemas.microsoft.com/office/drawing/2014/main" id="{23321794-9274-C041-B04F-E43729264853}"/>
              </a:ext>
            </a:extLst>
          </p:cNvPr>
          <p:cNvPicPr>
            <a:picLocks noChangeAspect="1"/>
          </p:cNvPicPr>
          <p:nvPr/>
        </p:nvPicPr>
        <p:blipFill>
          <a:blip r:embed="rId6"/>
          <a:stretch>
            <a:fillRect/>
          </a:stretch>
        </p:blipFill>
        <p:spPr>
          <a:xfrm>
            <a:off x="7063467" y="1585700"/>
            <a:ext cx="4976883" cy="2743418"/>
          </a:xfrm>
          <a:prstGeom prst="rect">
            <a:avLst/>
          </a:prstGeom>
        </p:spPr>
      </p:pic>
      <p:pic>
        <p:nvPicPr>
          <p:cNvPr id="10" name="Picture 9">
            <a:extLst>
              <a:ext uri="{FF2B5EF4-FFF2-40B4-BE49-F238E27FC236}">
                <a16:creationId xmlns:a16="http://schemas.microsoft.com/office/drawing/2014/main" id="{E89CDF1F-C0B6-F769-7444-4DD1BFC4A047}"/>
              </a:ext>
            </a:extLst>
          </p:cNvPr>
          <p:cNvPicPr>
            <a:picLocks noChangeAspect="1"/>
          </p:cNvPicPr>
          <p:nvPr/>
        </p:nvPicPr>
        <p:blipFill>
          <a:blip r:embed="rId7"/>
          <a:stretch>
            <a:fillRect/>
          </a:stretch>
        </p:blipFill>
        <p:spPr>
          <a:xfrm>
            <a:off x="7541541" y="4916677"/>
            <a:ext cx="4555798" cy="1923102"/>
          </a:xfrm>
          <a:prstGeom prst="rect">
            <a:avLst/>
          </a:prstGeom>
        </p:spPr>
      </p:pic>
    </p:spTree>
    <p:extLst>
      <p:ext uri="{BB962C8B-B14F-4D97-AF65-F5344CB8AC3E}">
        <p14:creationId xmlns:p14="http://schemas.microsoft.com/office/powerpoint/2010/main" val="21071541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2" name="Table 1"/>
          <p:cNvGraphicFramePr>
            <a:graphicFrameLocks noGrp="1"/>
          </p:cNvGraphicFramePr>
          <p:nvPr>
            <p:extLst/>
          </p:nvPr>
        </p:nvGraphicFramePr>
        <p:xfrm>
          <a:off x="304798" y="1066800"/>
          <a:ext cx="11506204" cy="5334001"/>
        </p:xfrm>
        <a:graphic>
          <a:graphicData uri="http://schemas.openxmlformats.org/drawingml/2006/table">
            <a:tbl>
              <a:tblPr/>
              <a:tblGrid>
                <a:gridCol w="334483">
                  <a:extLst>
                    <a:ext uri="{9D8B030D-6E8A-4147-A177-3AD203B41FA5}">
                      <a16:colId xmlns:a16="http://schemas.microsoft.com/office/drawing/2014/main" val="895238949"/>
                    </a:ext>
                  </a:extLst>
                </a:gridCol>
                <a:gridCol w="2354757">
                  <a:extLst>
                    <a:ext uri="{9D8B030D-6E8A-4147-A177-3AD203B41FA5}">
                      <a16:colId xmlns:a16="http://schemas.microsoft.com/office/drawing/2014/main" val="107210452"/>
                    </a:ext>
                  </a:extLst>
                </a:gridCol>
                <a:gridCol w="481655">
                  <a:extLst>
                    <a:ext uri="{9D8B030D-6E8A-4147-A177-3AD203B41FA5}">
                      <a16:colId xmlns:a16="http://schemas.microsoft.com/office/drawing/2014/main" val="2664292215"/>
                    </a:ext>
                  </a:extLst>
                </a:gridCol>
                <a:gridCol w="495034">
                  <a:extLst>
                    <a:ext uri="{9D8B030D-6E8A-4147-A177-3AD203B41FA5}">
                      <a16:colId xmlns:a16="http://schemas.microsoft.com/office/drawing/2014/main" val="3984037877"/>
                    </a:ext>
                  </a:extLst>
                </a:gridCol>
                <a:gridCol w="495034">
                  <a:extLst>
                    <a:ext uri="{9D8B030D-6E8A-4147-A177-3AD203B41FA5}">
                      <a16:colId xmlns:a16="http://schemas.microsoft.com/office/drawing/2014/main" val="1726830800"/>
                    </a:ext>
                  </a:extLst>
                </a:gridCol>
                <a:gridCol w="508414">
                  <a:extLst>
                    <a:ext uri="{9D8B030D-6E8A-4147-A177-3AD203B41FA5}">
                      <a16:colId xmlns:a16="http://schemas.microsoft.com/office/drawing/2014/main" val="2880879593"/>
                    </a:ext>
                  </a:extLst>
                </a:gridCol>
                <a:gridCol w="508414">
                  <a:extLst>
                    <a:ext uri="{9D8B030D-6E8A-4147-A177-3AD203B41FA5}">
                      <a16:colId xmlns:a16="http://schemas.microsoft.com/office/drawing/2014/main" val="1801174694"/>
                    </a:ext>
                  </a:extLst>
                </a:gridCol>
                <a:gridCol w="508414">
                  <a:extLst>
                    <a:ext uri="{9D8B030D-6E8A-4147-A177-3AD203B41FA5}">
                      <a16:colId xmlns:a16="http://schemas.microsoft.com/office/drawing/2014/main" val="1434886073"/>
                    </a:ext>
                  </a:extLst>
                </a:gridCol>
                <a:gridCol w="508414">
                  <a:extLst>
                    <a:ext uri="{9D8B030D-6E8A-4147-A177-3AD203B41FA5}">
                      <a16:colId xmlns:a16="http://schemas.microsoft.com/office/drawing/2014/main" val="2220154482"/>
                    </a:ext>
                  </a:extLst>
                </a:gridCol>
                <a:gridCol w="508414">
                  <a:extLst>
                    <a:ext uri="{9D8B030D-6E8A-4147-A177-3AD203B41FA5}">
                      <a16:colId xmlns:a16="http://schemas.microsoft.com/office/drawing/2014/main" val="2738921391"/>
                    </a:ext>
                  </a:extLst>
                </a:gridCol>
                <a:gridCol w="508414">
                  <a:extLst>
                    <a:ext uri="{9D8B030D-6E8A-4147-A177-3AD203B41FA5}">
                      <a16:colId xmlns:a16="http://schemas.microsoft.com/office/drawing/2014/main" val="3076182844"/>
                    </a:ext>
                  </a:extLst>
                </a:gridCol>
                <a:gridCol w="508414">
                  <a:extLst>
                    <a:ext uri="{9D8B030D-6E8A-4147-A177-3AD203B41FA5}">
                      <a16:colId xmlns:a16="http://schemas.microsoft.com/office/drawing/2014/main" val="744924042"/>
                    </a:ext>
                  </a:extLst>
                </a:gridCol>
                <a:gridCol w="508414">
                  <a:extLst>
                    <a:ext uri="{9D8B030D-6E8A-4147-A177-3AD203B41FA5}">
                      <a16:colId xmlns:a16="http://schemas.microsoft.com/office/drawing/2014/main" val="3053662662"/>
                    </a:ext>
                  </a:extLst>
                </a:gridCol>
                <a:gridCol w="508414">
                  <a:extLst>
                    <a:ext uri="{9D8B030D-6E8A-4147-A177-3AD203B41FA5}">
                      <a16:colId xmlns:a16="http://schemas.microsoft.com/office/drawing/2014/main" val="3005564659"/>
                    </a:ext>
                  </a:extLst>
                </a:gridCol>
                <a:gridCol w="2769515">
                  <a:extLst>
                    <a:ext uri="{9D8B030D-6E8A-4147-A177-3AD203B41FA5}">
                      <a16:colId xmlns:a16="http://schemas.microsoft.com/office/drawing/2014/main" val="1451295329"/>
                    </a:ext>
                  </a:extLst>
                </a:gridCol>
              </a:tblGrid>
              <a:tr h="475992">
                <a:tc gridSpan="15">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NGUỒN LỰC KỸ THUÂT FLEET A321 </a:t>
                      </a:r>
                      <a:r>
                        <a:rPr lang="en-US" sz="1200" b="1" i="0" u="none" strike="noStrike" dirty="0" smtClean="0">
                          <a:solidFill>
                            <a:srgbClr val="000000"/>
                          </a:solidFill>
                          <a:effectLst/>
                          <a:latin typeface="Times New Roman" panose="02020603050405020304" pitchFamily="18" charset="0"/>
                          <a:cs typeface="Times New Roman" panose="02020603050405020304" pitchFamily="18" charset="0"/>
                        </a:rPr>
                        <a:t>(CẬP</a:t>
                      </a:r>
                      <a:r>
                        <a:rPr lang="en-US" sz="1200" b="1" i="0" u="none" strike="noStrike" baseline="0" dirty="0" smtClean="0">
                          <a:solidFill>
                            <a:srgbClr val="000000"/>
                          </a:solidFill>
                          <a:effectLst/>
                          <a:latin typeface="Times New Roman" panose="02020603050405020304" pitchFamily="18" charset="0"/>
                          <a:cs typeface="Times New Roman" panose="02020603050405020304" pitchFamily="18" charset="0"/>
                        </a:rPr>
                        <a:t> NHẬT </a:t>
                      </a:r>
                      <a:r>
                        <a:rPr lang="en-US" sz="1200" b="1" i="0" u="none" strike="noStrike" dirty="0" smtClean="0">
                          <a:solidFill>
                            <a:srgbClr val="000000"/>
                          </a:solidFill>
                          <a:effectLst/>
                          <a:latin typeface="Times New Roman" panose="02020603050405020304" pitchFamily="18" charset="0"/>
                          <a:cs typeface="Times New Roman" panose="02020603050405020304" pitchFamily="18" charset="0"/>
                        </a:rPr>
                        <a:t>02/02)</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33264817"/>
                  </a:ext>
                </a:extLst>
              </a:tr>
              <a:tr h="576960">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Jan-25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Feb-25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16904581"/>
                  </a:ext>
                </a:extLst>
              </a:tr>
              <a:tr h="888519">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dirty="0">
                          <a:solidFill>
                            <a:srgbClr val="000000"/>
                          </a:solidFill>
                          <a:effectLst/>
                          <a:latin typeface="Times New Roman" panose="02020603050405020304" pitchFamily="18" charset="0"/>
                          <a:cs typeface="Times New Roman" panose="02020603050405020304" pitchFamily="18" charset="0"/>
                        </a:rPr>
                        <a:t>A321 NEO AOG</a:t>
                      </a:r>
                      <a:br>
                        <a:rPr lang="pt-BR" sz="1200" b="1" i="0" u="none" strike="noStrike" dirty="0">
                          <a:solidFill>
                            <a:srgbClr val="000000"/>
                          </a:solidFill>
                          <a:effectLst/>
                          <a:latin typeface="Times New Roman" panose="02020603050405020304" pitchFamily="18" charset="0"/>
                          <a:cs typeface="Times New Roman" panose="02020603050405020304" pitchFamily="18" charset="0"/>
                        </a:rPr>
                      </a:br>
                      <a:r>
                        <a:rPr lang="pt-BR" sz="1200" b="1" i="0" u="none" strike="noStrike" dirty="0">
                          <a:solidFill>
                            <a:srgbClr val="000000"/>
                          </a:solidFill>
                          <a:effectLst/>
                          <a:latin typeface="Times New Roman" panose="02020603050405020304" pitchFamily="18" charset="0"/>
                          <a:cs typeface="Times New Roman" panose="02020603050405020304" pitchFamily="18" charset="0"/>
                        </a:rPr>
                        <a:t>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02/2025: thêm 01 tàu dừng do ENG về muộn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4361035"/>
                  </a:ext>
                </a:extLst>
              </a:tr>
              <a:tr h="807746">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cs typeface="Times New Roman" panose="02020603050405020304" pitchFamily="18" charset="0"/>
                        </a:rPr>
                        <a:t>A321 CEO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048821190"/>
                  </a:ext>
                </a:extLst>
              </a:tr>
              <a:tr h="1061608">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A321 dừng thực hiện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17.00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03/2025:</a:t>
                      </a:r>
                      <a:r>
                        <a:rPr lang="en-US" sz="1200" b="0" i="0" u="none" strike="noStrike" baseline="0" dirty="0" smtClean="0">
                          <a:solidFill>
                            <a:srgbClr val="000000"/>
                          </a:solidFill>
                          <a:effectLst/>
                          <a:latin typeface="Times New Roman" panose="02020603050405020304" pitchFamily="18" charset="0"/>
                          <a:cs typeface="Times New Roman" panose="02020603050405020304" pitchFamily="18" charset="0"/>
                        </a:rPr>
                        <a:t> </a:t>
                      </a:r>
                      <a:r>
                        <a:rPr lang="vi-VN" sz="1200" b="0" i="0" u="none" strike="noStrike" dirty="0" smtClean="0">
                          <a:solidFill>
                            <a:srgbClr val="000000"/>
                          </a:solidFill>
                          <a:effectLst/>
                          <a:latin typeface="Times New Roman" panose="02020603050405020304" pitchFamily="18" charset="0"/>
                          <a:cs typeface="Times New Roman" panose="02020603050405020304" pitchFamily="18" charset="0"/>
                        </a:rPr>
                        <a:t>Giảm </a:t>
                      </a:r>
                      <a:r>
                        <a:rPr lang="vi-VN" sz="1200" b="0" i="0" u="none" strike="noStrike" dirty="0">
                          <a:solidFill>
                            <a:srgbClr val="000000"/>
                          </a:solidFill>
                          <a:effectLst/>
                          <a:latin typeface="Times New Roman" panose="02020603050405020304" pitchFamily="18" charset="0"/>
                          <a:cs typeface="Times New Roman" panose="02020603050405020304" pitchFamily="18" charset="0"/>
                        </a:rPr>
                        <a:t>0.3 tàu dừng BD từ 18-27/03 để bay bù A870 sơn cánh.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2471416"/>
                  </a:ext>
                </a:extLst>
              </a:tr>
              <a:tr h="761588">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(Do thiếu ENG + BD)</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(4) = (1) + (2)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768191437"/>
                  </a:ext>
                </a:extLst>
              </a:tr>
              <a:tr h="761588">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Tổng số tàu A321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dirty="0">
                          <a:solidFill>
                            <a:srgbClr val="FF0000"/>
                          </a:solidFill>
                          <a:effectLst/>
                          <a:latin typeface="Times New Roman" panose="02020603050405020304" pitchFamily="18" charset="0"/>
                          <a:cs typeface="Times New Roman" panose="02020603050405020304" pitchFamily="18" charset="0"/>
                        </a:rPr>
                        <a:t>Chưa bao gồm các tàu thuê ướt khai thác cao điểm têt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5236036"/>
                  </a:ext>
                </a:extLst>
              </a:tr>
            </a:tbl>
          </a:graphicData>
        </a:graphic>
      </p:graphicFrame>
    </p:spTree>
    <p:extLst>
      <p:ext uri="{BB962C8B-B14F-4D97-AF65-F5344CB8AC3E}">
        <p14:creationId xmlns:p14="http://schemas.microsoft.com/office/powerpoint/2010/main" val="40731024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457200" y="152400"/>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2" name="Table 1"/>
          <p:cNvGraphicFramePr>
            <a:graphicFrameLocks noGrp="1"/>
          </p:cNvGraphicFramePr>
          <p:nvPr>
            <p:extLst/>
          </p:nvPr>
        </p:nvGraphicFramePr>
        <p:xfrm>
          <a:off x="228600" y="914400"/>
          <a:ext cx="11745719" cy="5741278"/>
        </p:xfrm>
        <a:graphic>
          <a:graphicData uri="http://schemas.openxmlformats.org/drawingml/2006/table">
            <a:tbl>
              <a:tblPr/>
              <a:tblGrid>
                <a:gridCol w="375579">
                  <a:extLst>
                    <a:ext uri="{9D8B030D-6E8A-4147-A177-3AD203B41FA5}">
                      <a16:colId xmlns:a16="http://schemas.microsoft.com/office/drawing/2014/main" val="817375"/>
                    </a:ext>
                  </a:extLst>
                </a:gridCol>
                <a:gridCol w="2568483">
                  <a:extLst>
                    <a:ext uri="{9D8B030D-6E8A-4147-A177-3AD203B41FA5}">
                      <a16:colId xmlns:a16="http://schemas.microsoft.com/office/drawing/2014/main" val="1529949278"/>
                    </a:ext>
                  </a:extLst>
                </a:gridCol>
                <a:gridCol w="484619">
                  <a:extLst>
                    <a:ext uri="{9D8B030D-6E8A-4147-A177-3AD203B41FA5}">
                      <a16:colId xmlns:a16="http://schemas.microsoft.com/office/drawing/2014/main" val="4149010681"/>
                    </a:ext>
                  </a:extLst>
                </a:gridCol>
                <a:gridCol w="487363">
                  <a:extLst>
                    <a:ext uri="{9D8B030D-6E8A-4147-A177-3AD203B41FA5}">
                      <a16:colId xmlns:a16="http://schemas.microsoft.com/office/drawing/2014/main" val="2252686956"/>
                    </a:ext>
                  </a:extLst>
                </a:gridCol>
                <a:gridCol w="524573">
                  <a:extLst>
                    <a:ext uri="{9D8B030D-6E8A-4147-A177-3AD203B41FA5}">
                      <a16:colId xmlns:a16="http://schemas.microsoft.com/office/drawing/2014/main" val="4140546131"/>
                    </a:ext>
                  </a:extLst>
                </a:gridCol>
                <a:gridCol w="460388">
                  <a:extLst>
                    <a:ext uri="{9D8B030D-6E8A-4147-A177-3AD203B41FA5}">
                      <a16:colId xmlns:a16="http://schemas.microsoft.com/office/drawing/2014/main" val="1448379832"/>
                    </a:ext>
                  </a:extLst>
                </a:gridCol>
                <a:gridCol w="538163">
                  <a:extLst>
                    <a:ext uri="{9D8B030D-6E8A-4147-A177-3AD203B41FA5}">
                      <a16:colId xmlns:a16="http://schemas.microsoft.com/office/drawing/2014/main" val="405589188"/>
                    </a:ext>
                  </a:extLst>
                </a:gridCol>
                <a:gridCol w="460388">
                  <a:extLst>
                    <a:ext uri="{9D8B030D-6E8A-4147-A177-3AD203B41FA5}">
                      <a16:colId xmlns:a16="http://schemas.microsoft.com/office/drawing/2014/main" val="1909601477"/>
                    </a:ext>
                  </a:extLst>
                </a:gridCol>
                <a:gridCol w="460388">
                  <a:extLst>
                    <a:ext uri="{9D8B030D-6E8A-4147-A177-3AD203B41FA5}">
                      <a16:colId xmlns:a16="http://schemas.microsoft.com/office/drawing/2014/main" val="2845246498"/>
                    </a:ext>
                  </a:extLst>
                </a:gridCol>
                <a:gridCol w="484619">
                  <a:extLst>
                    <a:ext uri="{9D8B030D-6E8A-4147-A177-3AD203B41FA5}">
                      <a16:colId xmlns:a16="http://schemas.microsoft.com/office/drawing/2014/main" val="3919526665"/>
                    </a:ext>
                  </a:extLst>
                </a:gridCol>
                <a:gridCol w="484619">
                  <a:extLst>
                    <a:ext uri="{9D8B030D-6E8A-4147-A177-3AD203B41FA5}">
                      <a16:colId xmlns:a16="http://schemas.microsoft.com/office/drawing/2014/main" val="1767973540"/>
                    </a:ext>
                  </a:extLst>
                </a:gridCol>
                <a:gridCol w="460388">
                  <a:extLst>
                    <a:ext uri="{9D8B030D-6E8A-4147-A177-3AD203B41FA5}">
                      <a16:colId xmlns:a16="http://schemas.microsoft.com/office/drawing/2014/main" val="1087598064"/>
                    </a:ext>
                  </a:extLst>
                </a:gridCol>
                <a:gridCol w="503237">
                  <a:extLst>
                    <a:ext uri="{9D8B030D-6E8A-4147-A177-3AD203B41FA5}">
                      <a16:colId xmlns:a16="http://schemas.microsoft.com/office/drawing/2014/main" val="501344570"/>
                    </a:ext>
                  </a:extLst>
                </a:gridCol>
                <a:gridCol w="484619">
                  <a:extLst>
                    <a:ext uri="{9D8B030D-6E8A-4147-A177-3AD203B41FA5}">
                      <a16:colId xmlns:a16="http://schemas.microsoft.com/office/drawing/2014/main" val="3595488883"/>
                    </a:ext>
                  </a:extLst>
                </a:gridCol>
                <a:gridCol w="2968293">
                  <a:extLst>
                    <a:ext uri="{9D8B030D-6E8A-4147-A177-3AD203B41FA5}">
                      <a16:colId xmlns:a16="http://schemas.microsoft.com/office/drawing/2014/main" val="2246397765"/>
                    </a:ext>
                  </a:extLst>
                </a:gridCol>
              </a:tblGrid>
              <a:tr h="378175">
                <a:tc gridSpan="15">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NGUỒN LỰC KỸ THUÂT A350/B787 </a:t>
                      </a:r>
                      <a:r>
                        <a:rPr lang="en-US" sz="1200" b="1" i="0" u="none" strike="noStrike" dirty="0" smtClean="0">
                          <a:solidFill>
                            <a:srgbClr val="000000"/>
                          </a:solidFill>
                          <a:effectLst/>
                          <a:latin typeface="Times New Roman" panose="02020603050405020304" pitchFamily="18" charset="0"/>
                          <a:cs typeface="Times New Roman" panose="02020603050405020304" pitchFamily="18" charset="0"/>
                        </a:rPr>
                        <a:t>(CẬP</a:t>
                      </a:r>
                      <a:r>
                        <a:rPr lang="en-US" sz="1200" b="1" i="0" u="none" strike="noStrike" baseline="0" dirty="0" smtClean="0">
                          <a:solidFill>
                            <a:srgbClr val="000000"/>
                          </a:solidFill>
                          <a:effectLst/>
                          <a:latin typeface="Times New Roman" panose="02020603050405020304" pitchFamily="18" charset="0"/>
                          <a:cs typeface="Times New Roman" panose="02020603050405020304" pitchFamily="18" charset="0"/>
                        </a:rPr>
                        <a:t> NHẬT </a:t>
                      </a:r>
                      <a:r>
                        <a:rPr lang="en-US" sz="1200" b="1" i="0" u="none" strike="noStrike" dirty="0" smtClean="0">
                          <a:solidFill>
                            <a:srgbClr val="000000"/>
                          </a:solidFill>
                          <a:effectLst/>
                          <a:latin typeface="Times New Roman" panose="02020603050405020304" pitchFamily="18" charset="0"/>
                          <a:cs typeface="Times New Roman" panose="02020603050405020304" pitchFamily="18" charset="0"/>
                        </a:rPr>
                        <a:t>02/02)</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87534103"/>
                  </a:ext>
                </a:extLst>
              </a:tr>
              <a:tr h="536225">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Jan-25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Feb-25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730821952"/>
                  </a:ext>
                </a:extLst>
              </a:tr>
              <a:tr h="495064">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cs typeface="Times New Roman" panose="02020603050405020304" pitchFamily="18" charset="0"/>
                        </a:rPr>
                        <a:t>A350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7925164"/>
                  </a:ext>
                </a:extLst>
              </a:tr>
              <a:tr h="458393">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780480580"/>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(3) = (1) +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5747064"/>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(4) = 14 -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406399928"/>
                  </a:ext>
                </a:extLst>
              </a:tr>
              <a:tr h="664670">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cs typeface="Times New Roman" panose="02020603050405020304" pitchFamily="18" charset="0"/>
                        </a:rPr>
                        <a:t>B787 rủi ro AOG do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6564457"/>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B787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dirty="0">
                          <a:solidFill>
                            <a:schemeClr val="tx1"/>
                          </a:solidFill>
                          <a:effectLst/>
                          <a:latin typeface="Times New Roman" panose="02020603050405020304" pitchFamily="18" charset="0"/>
                          <a:cs typeface="Times New Roman" panose="02020603050405020304" pitchFamily="18" charset="0"/>
                        </a:rPr>
                        <a:t>03/2025: tăng 0.3 tàu dừng do bổ sung sơn cánh A870 từ 18-27/03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407918521"/>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nb-NO" sz="1200" b="1" i="0" u="none" strike="noStrike">
                          <a:solidFill>
                            <a:srgbClr val="000000"/>
                          </a:solidFill>
                          <a:effectLst/>
                          <a:latin typeface="Times New Roman" panose="02020603050405020304" pitchFamily="18" charset="0"/>
                          <a:cs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cs typeface="Times New Roman" panose="02020603050405020304" pitchFamily="18" charset="0"/>
                        </a:rPr>
                      </a:br>
                      <a:r>
                        <a:rPr lang="nb-NO" sz="1200" b="1" i="0" u="none" strike="noStrike">
                          <a:solidFill>
                            <a:srgbClr val="000000"/>
                          </a:solidFill>
                          <a:effectLst/>
                          <a:latin typeface="Times New Roman" panose="02020603050405020304" pitchFamily="18" charset="0"/>
                          <a:cs typeface="Times New Roman" panose="02020603050405020304" pitchFamily="18" charset="0"/>
                        </a:rPr>
                        <a:t>(7) = (5) + (6)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4114399"/>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B787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472917714"/>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(9) = (3) + (7)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13649207"/>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A350/B787 thực tế có thể khai thác</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(10) = (8) +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86130565"/>
                  </a:ext>
                </a:extLst>
              </a:tr>
            </a:tbl>
          </a:graphicData>
        </a:graphic>
      </p:graphicFrame>
    </p:spTree>
    <p:extLst>
      <p:ext uri="{BB962C8B-B14F-4D97-AF65-F5344CB8AC3E}">
        <p14:creationId xmlns:p14="http://schemas.microsoft.com/office/powerpoint/2010/main" val="41647925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31</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881131" y="223120"/>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914401" y="730407"/>
            <a:ext cx="10515600" cy="5478423"/>
          </a:xfrm>
          <a:prstGeom prst="rect">
            <a:avLst/>
          </a:prstGeom>
        </p:spPr>
        <p:txBody>
          <a:bodyPr wrap="square">
            <a:spAutoFit/>
          </a:bodyPr>
          <a:lstStyle/>
          <a:p>
            <a:pPr algn="just">
              <a:buClrTx/>
              <a:buFontTx/>
              <a:buNone/>
            </a:pPr>
            <a:r>
              <a:rPr lang="en-US" sz="1400" b="1" err="1">
                <a:solidFill>
                  <a:prstClr val="black"/>
                </a:solidFill>
                <a:latin typeface="Times New Roman" panose="02020603050405020304" pitchFamily="18" charset="0"/>
                <a:cs typeface="Times New Roman" panose="02020603050405020304" pitchFamily="18" charset="0"/>
              </a:rPr>
              <a:t>Nhận</a:t>
            </a:r>
            <a:r>
              <a:rPr lang="en-US" sz="1400" b="1">
                <a:solidFill>
                  <a:prstClr val="black"/>
                </a:solidFill>
                <a:latin typeface="Times New Roman" panose="02020603050405020304" pitchFamily="18" charset="0"/>
                <a:cs typeface="Times New Roman" panose="02020603050405020304" pitchFamily="18" charset="0"/>
              </a:rPr>
              <a:t> </a:t>
            </a:r>
            <a:r>
              <a:rPr lang="en-US" sz="1400" b="1" err="1">
                <a:solidFill>
                  <a:prstClr val="black"/>
                </a:solidFill>
                <a:latin typeface="Times New Roman" panose="02020603050405020304" pitchFamily="18" charset="0"/>
                <a:cs typeface="Times New Roman" panose="02020603050405020304" pitchFamily="18" charset="0"/>
              </a:rPr>
              <a:t>xét</a:t>
            </a:r>
            <a:r>
              <a:rPr lang="en-US" sz="1400" b="1">
                <a:solidFill>
                  <a:prstClr val="black"/>
                </a:solidFill>
                <a:latin typeface="Times New Roman" panose="02020603050405020304" pitchFamily="18" charset="0"/>
                <a:cs typeface="Times New Roman" panose="02020603050405020304" pitchFamily="18" charset="0"/>
              </a:rPr>
              <a:t>: </a:t>
            </a:r>
          </a:p>
          <a:p>
            <a:pPr marL="285750" indent="-285750" algn="just">
              <a:buClrTx/>
              <a:buFontTx/>
              <a:buChar char="-"/>
            </a:pPr>
            <a:r>
              <a:rPr lang="vi-VN" sz="1400">
                <a:solidFill>
                  <a:prstClr val="black"/>
                </a:solidFill>
                <a:latin typeface="Times New Roman" panose="02020603050405020304" pitchFamily="18" charset="0"/>
                <a:cs typeface="Times New Roman" panose="02020603050405020304" pitchFamily="18" charset="0"/>
              </a:rPr>
              <a:t>Tình hình kỹ thuật đội bay A3</a:t>
            </a:r>
            <a:r>
              <a:rPr lang="en-US" sz="1400">
                <a:solidFill>
                  <a:prstClr val="black"/>
                </a:solidFill>
                <a:latin typeface="Times New Roman" panose="02020603050405020304" pitchFamily="18" charset="0"/>
                <a:cs typeface="Times New Roman" panose="02020603050405020304" pitchFamily="18" charset="0"/>
              </a:rPr>
              <a:t>50 trong tuần 04+05 chưa tốt với 02 TH GTB.</a:t>
            </a:r>
          </a:p>
          <a:p>
            <a:pPr marL="285750" indent="-285750" algn="just">
              <a:buClrTx/>
              <a:buFontTx/>
              <a:buChar char="-"/>
            </a:pPr>
            <a:r>
              <a:rPr lang="en-US" sz="1400">
                <a:solidFill>
                  <a:prstClr val="black"/>
                </a:solidFill>
                <a:latin typeface="Times New Roman" panose="02020603050405020304" pitchFamily="18" charset="0"/>
                <a:cs typeface="Times New Roman" panose="02020603050405020304" pitchFamily="18" charset="0"/>
              </a:rPr>
              <a:t>Hỏng hóc nổi cộm: </a:t>
            </a:r>
          </a:p>
          <a:p>
            <a:pPr lvl="1" algn="just"/>
            <a:r>
              <a:rPr lang="en-US" sz="1400">
                <a:solidFill>
                  <a:prstClr val="black"/>
                </a:solidFill>
                <a:latin typeface="Times New Roman" panose="02020603050405020304" pitchFamily="18" charset="0"/>
                <a:cs typeface="Times New Roman" panose="02020603050405020304" pitchFamily="18" charset="0"/>
              </a:rPr>
              <a:t>+ A890 GTB VN99 SFO-SGN ngày 23/01 do hỏng hóc FUEL CTR TK L INLET VLV</a:t>
            </a:r>
            <a:r>
              <a:rPr lang="en-SG" sz="1400">
                <a:solidFill>
                  <a:prstClr val="black"/>
                </a:solidFill>
                <a:latin typeface="Times New Roman" panose="02020603050405020304" pitchFamily="18" charset="0"/>
                <a:cs typeface="Times New Roman" panose="02020603050405020304" pitchFamily="18" charset="0"/>
              </a:rPr>
              <a:t>. -&gt; RAISED ADD FOR "FUEL CTR TK L INLET VLV"</a:t>
            </a:r>
            <a:endParaRPr lang="vi-VN" sz="1400">
              <a:solidFill>
                <a:srgbClr val="FF0000"/>
              </a:solidFill>
              <a:latin typeface="Times New Roman" panose="02020603050405020304" pitchFamily="18" charset="0"/>
              <a:cs typeface="Times New Roman" panose="02020603050405020304" pitchFamily="18" charset="0"/>
            </a:endParaRPr>
          </a:p>
          <a:p>
            <a:pPr lvl="1" algn="just"/>
            <a:r>
              <a:rPr lang="vi-VN" sz="1400">
                <a:solidFill>
                  <a:srgbClr val="FF0000"/>
                </a:solidFill>
                <a:latin typeface="Times New Roman" panose="02020603050405020304" pitchFamily="18" charset="0"/>
                <a:cs typeface="Times New Roman" panose="02020603050405020304" pitchFamily="18" charset="0"/>
              </a:rPr>
              <a:t>Theo báo cáo tổ bay dưới đây thì nguyên nhân ban đầu do MSG &gt; FUEL &gt; FUEL CTR TK L INLET VLV xuất hiện từ lúc PREPARE, tổ bay thực hiện reset được. Tuy nhiên, khi đẩy tàu bay ra khai thác thì cảnh báo xuất hiện lại. =&gt; Tổ bay thực hiện Manual Reset thì xuất hiện thêm các cảnh báo NOGO khác và phải RTG để deactivate Center tank fuel inlet valve (505QU1)</a:t>
            </a:r>
          </a:p>
          <a:p>
            <a:pPr lvl="1" algn="just"/>
            <a:r>
              <a:rPr lang="vi-VN" sz="1400">
                <a:solidFill>
                  <a:srgbClr val="FF0000"/>
                </a:solidFill>
                <a:latin typeface="Times New Roman" panose="02020603050405020304" pitchFamily="18" charset="0"/>
                <a:cs typeface="Times New Roman" panose="02020603050405020304" pitchFamily="18" charset="0"/>
              </a:rPr>
              <a:t>Theo đánh giá của AIB qua TR 81531693,nguyên nhân do Fuel Valve Actuator failures (SPSA) gây cảnh báo &gt; FUEL CTR TK L INLET VLV. Hỏng hóc do cầu chì bị cháy do quá dòng (resulting from a short circuit in the motor commutator)</a:t>
            </a:r>
          </a:p>
          <a:p>
            <a:pPr lvl="1" algn="just"/>
            <a:r>
              <a:rPr lang="vi-VN" sz="1400">
                <a:solidFill>
                  <a:srgbClr val="FF0000"/>
                </a:solidFill>
                <a:latin typeface="Times New Roman" panose="02020603050405020304" pitchFamily="18" charset="0"/>
                <a:cs typeface="Times New Roman" panose="02020603050405020304" pitchFamily="18" charset="0"/>
              </a:rPr>
              <a:t>Hỏng hóc này có thể raise MEL để đưa tàu bay vào khai thác.</a:t>
            </a:r>
          </a:p>
          <a:p>
            <a:pPr lvl="1" algn="just"/>
            <a:r>
              <a:rPr lang="vi-VN" sz="1400">
                <a:solidFill>
                  <a:srgbClr val="FF0000"/>
                </a:solidFill>
                <a:latin typeface="Times New Roman" panose="02020603050405020304" pitchFamily="18" charset="0"/>
                <a:cs typeface="Times New Roman" panose="02020603050405020304" pitchFamily="18" charset="0"/>
              </a:rPr>
              <a:t>Giải pháp: </a:t>
            </a:r>
          </a:p>
          <a:p>
            <a:pPr lvl="1" algn="just"/>
            <a:r>
              <a:rPr lang="vi-VN" sz="1400">
                <a:solidFill>
                  <a:srgbClr val="FF0000"/>
                </a:solidFill>
                <a:latin typeface="Times New Roman" panose="02020603050405020304" pitchFamily="18" charset="0"/>
                <a:cs typeface="Times New Roman" panose="02020603050405020304" pitchFamily="18" charset="0"/>
              </a:rPr>
              <a:t>Nâng cấp SPSA từ P/N PN 2080026-104 lên PN 2080026-105A. Tàu bay A890 đã thực hiện nâng cấp từ 24/12/2024. Các khối trên tàu là post-MOD và khối lắp lên tàu bay là NEW</a:t>
            </a:r>
          </a:p>
          <a:p>
            <a:pPr lvl="1" algn="just"/>
            <a:r>
              <a:rPr lang="vi-VN" sz="1400">
                <a:solidFill>
                  <a:srgbClr val="FF0000"/>
                </a:solidFill>
                <a:latin typeface="Times New Roman" panose="02020603050405020304" pitchFamily="18" charset="0"/>
                <a:cs typeface="Times New Roman" panose="02020603050405020304" pitchFamily="18" charset="0"/>
              </a:rPr>
              <a:t>Đang chờ SFR để đánh giá thêm hỏng hóc.</a:t>
            </a:r>
            <a:endParaRPr lang="en-US" sz="1400">
              <a:solidFill>
                <a:srgbClr val="FF0000"/>
              </a:solidFill>
              <a:latin typeface="Times New Roman" panose="02020603050405020304" pitchFamily="18" charset="0"/>
              <a:cs typeface="Times New Roman" panose="02020603050405020304" pitchFamily="18" charset="0"/>
            </a:endParaRPr>
          </a:p>
          <a:p>
            <a:pPr lvl="1" algn="just"/>
            <a:endParaRPr lang="en-US" sz="1400">
              <a:solidFill>
                <a:srgbClr val="FF0000"/>
              </a:solidFill>
              <a:latin typeface="Times New Roman" panose="02020603050405020304" pitchFamily="18" charset="0"/>
              <a:cs typeface="Times New Roman" panose="02020603050405020304" pitchFamily="18" charset="0"/>
            </a:endParaRPr>
          </a:p>
          <a:p>
            <a:pPr lvl="1" algn="just"/>
            <a:r>
              <a:rPr lang="en-US" sz="1400">
                <a:latin typeface="Times New Roman" panose="02020603050405020304" pitchFamily="18" charset="0"/>
                <a:cs typeface="Times New Roman" panose="02020603050405020304" pitchFamily="18" charset="0"/>
              </a:rPr>
              <a:t>+ A889 GTB VN415 ICN-HAN ngày 25/01 do phát sinh FUEL ENG 1 LP VLV FAULT -&gt; </a:t>
            </a:r>
            <a:r>
              <a:rPr lang="en-SG" sz="1400">
                <a:latin typeface="Times New Roman" panose="02020603050405020304" pitchFamily="18" charset="0"/>
                <a:cs typeface="Times New Roman" panose="02020603050405020304" pitchFamily="18" charset="0"/>
              </a:rPr>
              <a:t>RESET TEST FQMS TEST OK</a:t>
            </a:r>
          </a:p>
          <a:p>
            <a:pPr lvl="1" algn="just"/>
            <a:r>
              <a:rPr lang="vi-VN" sz="1400">
                <a:solidFill>
                  <a:srgbClr val="FF0000"/>
                </a:solidFill>
                <a:latin typeface="Times New Roman" panose="02020603050405020304" pitchFamily="18" charset="0"/>
                <a:cs typeface="Times New Roman" panose="02020603050405020304" pitchFamily="18" charset="0"/>
              </a:rPr>
              <a:t>Khi thực hiện chuyến bay trước đó VN414, HAN-ICN, thì cảnh báo xuất hiện trên Skywise (landing phase), nhưng sau khi tàu bay hạ cánh tại ICN thì không có MSG nào trên ECAM, thực hiện OPT TEST thì không xuất hiện lỗi (NO FAULT CONFIRM)</a:t>
            </a:r>
          </a:p>
          <a:p>
            <a:pPr lvl="1" algn="just"/>
            <a:r>
              <a:rPr lang="vi-VN" sz="1400">
                <a:solidFill>
                  <a:srgbClr val="FF0000"/>
                </a:solidFill>
                <a:latin typeface="Times New Roman" panose="02020603050405020304" pitchFamily="18" charset="0"/>
                <a:cs typeface="Times New Roman" panose="02020603050405020304" pitchFamily="18" charset="0"/>
              </a:rPr>
              <a:t>Khi thực hiện chuyến bay VN415, ICN-HAN, thì cảnh báo xuất hiện lại trong quá trình pushback, tổ bay quyết định quay lại. </a:t>
            </a:r>
          </a:p>
          <a:p>
            <a:pPr lvl="1" algn="just"/>
            <a:r>
              <a:rPr lang="vi-VN" sz="1400">
                <a:solidFill>
                  <a:srgbClr val="FF0000"/>
                </a:solidFill>
                <a:latin typeface="Times New Roman" panose="02020603050405020304" pitchFamily="18" charset="0"/>
                <a:cs typeface="Times New Roman" panose="02020603050405020304" pitchFamily="18" charset="0"/>
              </a:rPr>
              <a:t>Sau khi quay lại thì thợ máy reset hết MSG và thực hiện chuyến bay về</a:t>
            </a:r>
          </a:p>
          <a:p>
            <a:pPr lvl="1" algn="just"/>
            <a:r>
              <a:rPr lang="vi-VN" sz="1400">
                <a:solidFill>
                  <a:srgbClr val="FF0000"/>
                </a:solidFill>
                <a:latin typeface="Times New Roman" panose="02020603050405020304" pitchFamily="18" charset="0"/>
                <a:cs typeface="Times New Roman" panose="02020603050405020304" pitchFamily="18" charset="0"/>
              </a:rPr>
              <a:t>Hỏng hóc nghi ngờ do Fuel LP valve bị intermittent. Đã thực hiện thay valve này khi tàu bay về main-base.</a:t>
            </a:r>
          </a:p>
          <a:p>
            <a:pPr lvl="1" algn="just"/>
            <a:r>
              <a:rPr lang="vi-VN" sz="1400">
                <a:solidFill>
                  <a:srgbClr val="FF0000"/>
                </a:solidFill>
                <a:latin typeface="Times New Roman" panose="02020603050405020304" pitchFamily="18" charset="0"/>
                <a:cs typeface="Times New Roman" panose="02020603050405020304" pitchFamily="18" charset="0"/>
              </a:rPr>
              <a:t>- Hiện tại, không có tài liệu nào (kể cả AiB và operator khác) về độ tin cậy của valve này trên thế giới .Tính từ khi khai thác A350 thì có 5 lần thay valve này nhưng chỉ có 1 lần gây gián đoạn khai thác trên A887 năm 2016</a:t>
            </a:r>
          </a:p>
          <a:p>
            <a:pPr lvl="1" algn="just"/>
            <a:r>
              <a:rPr lang="vi-VN" sz="1400">
                <a:solidFill>
                  <a:srgbClr val="FF0000"/>
                </a:solidFill>
                <a:latin typeface="Times New Roman" panose="02020603050405020304" pitchFamily="18" charset="0"/>
                <a:cs typeface="Times New Roman" panose="02020603050405020304" pitchFamily="18" charset="0"/>
              </a:rPr>
              <a:t>- Đang chờ SFR và làm việc với AIB qua TR 81532467 để đánh giá thêm hỏng hóc</a:t>
            </a:r>
            <a:endParaRPr lang="en-US" sz="14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1173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762DCB5-A06C-81CC-D348-E7890899FC1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9ECE87A-B22E-6F64-7F31-DCC73D07027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01B4DC2A-8ABF-D61A-743E-2F00432D5CD7}"/>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BD215952-46E0-0532-F529-2108A42DAFC2}"/>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3 (Tech: 02; Non-tech: 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AC65ECFB-A040-C258-1A53-E52D9E8819FD}"/>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(Tech: 02; Non-tech: 01) 		Delay: 04 (Tech: 03; Non-tech: 01)</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id="{25ED7DCA-7173-6836-6E7A-002274202443}"/>
              </a:ext>
            </a:extLst>
          </p:cNvPr>
          <p:cNvGraphicFramePr>
            <a:graphicFrameLocks noGrp="1"/>
          </p:cNvGraphicFramePr>
          <p:nvPr>
            <p:extLst/>
          </p:nvPr>
        </p:nvGraphicFramePr>
        <p:xfrm>
          <a:off x="170509" y="1553215"/>
          <a:ext cx="11670605" cy="4756990"/>
        </p:xfrm>
        <a:graphic>
          <a:graphicData uri="http://schemas.openxmlformats.org/drawingml/2006/table">
            <a:tbl>
              <a:tblPr/>
              <a:tblGrid>
                <a:gridCol w="375833">
                  <a:extLst>
                    <a:ext uri="{9D8B030D-6E8A-4147-A177-3AD203B41FA5}">
                      <a16:colId xmlns:a16="http://schemas.microsoft.com/office/drawing/2014/main" val="435942644"/>
                    </a:ext>
                  </a:extLst>
                </a:gridCol>
                <a:gridCol w="1087938">
                  <a:extLst>
                    <a:ext uri="{9D8B030D-6E8A-4147-A177-3AD203B41FA5}">
                      <a16:colId xmlns:a16="http://schemas.microsoft.com/office/drawing/2014/main" val="276862112"/>
                    </a:ext>
                  </a:extLst>
                </a:gridCol>
                <a:gridCol w="1087938">
                  <a:extLst>
                    <a:ext uri="{9D8B030D-6E8A-4147-A177-3AD203B41FA5}">
                      <a16:colId xmlns:a16="http://schemas.microsoft.com/office/drawing/2014/main" val="2191467762"/>
                    </a:ext>
                  </a:extLst>
                </a:gridCol>
                <a:gridCol w="375833">
                  <a:extLst>
                    <a:ext uri="{9D8B030D-6E8A-4147-A177-3AD203B41FA5}">
                      <a16:colId xmlns:a16="http://schemas.microsoft.com/office/drawing/2014/main" val="2342651692"/>
                    </a:ext>
                  </a:extLst>
                </a:gridCol>
                <a:gridCol w="2007349">
                  <a:extLst>
                    <a:ext uri="{9D8B030D-6E8A-4147-A177-3AD203B41FA5}">
                      <a16:colId xmlns:a16="http://schemas.microsoft.com/office/drawing/2014/main" val="3654957790"/>
                    </a:ext>
                  </a:extLst>
                </a:gridCol>
                <a:gridCol w="3124200">
                  <a:extLst>
                    <a:ext uri="{9D8B030D-6E8A-4147-A177-3AD203B41FA5}">
                      <a16:colId xmlns:a16="http://schemas.microsoft.com/office/drawing/2014/main" val="3278939196"/>
                    </a:ext>
                  </a:extLst>
                </a:gridCol>
                <a:gridCol w="381000">
                  <a:extLst>
                    <a:ext uri="{9D8B030D-6E8A-4147-A177-3AD203B41FA5}">
                      <a16:colId xmlns:a16="http://schemas.microsoft.com/office/drawing/2014/main" val="3446310582"/>
                    </a:ext>
                  </a:extLst>
                </a:gridCol>
                <a:gridCol w="3230514">
                  <a:extLst>
                    <a:ext uri="{9D8B030D-6E8A-4147-A177-3AD203B41FA5}">
                      <a16:colId xmlns:a16="http://schemas.microsoft.com/office/drawing/2014/main" val="1400684824"/>
                    </a:ext>
                  </a:extLst>
                </a:gridCol>
              </a:tblGrid>
              <a:tr h="41557">
                <a:tc>
                  <a:txBody>
                    <a:bodyPr/>
                    <a:lstStyle/>
                    <a:p>
                      <a:pPr algn="ctr" fontAlgn="ctr"/>
                      <a:r>
                        <a:rPr lang="en-US" sz="800" b="0" i="0" u="none" strike="noStrike">
                          <a:solidFill>
                            <a:srgbClr val="000000"/>
                          </a:solidFill>
                          <a:effectLst/>
                          <a:latin typeface="Times New Roman" panose="02020603050405020304" pitchFamily="18" charset="0"/>
                        </a:rPr>
                        <a:t>A/C</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OPEN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CLOSED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STA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DEFECT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ACTION</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ATA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Engineering Assessment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94249764"/>
                  </a:ext>
                </a:extLst>
              </a:tr>
              <a:tr h="3142409">
                <a:tc>
                  <a:txBody>
                    <a:bodyPr/>
                    <a:lstStyle/>
                    <a:p>
                      <a:pPr algn="l" fontAlgn="ctr"/>
                      <a:r>
                        <a:rPr lang="en-US" sz="1100" b="0" i="0" u="none" strike="noStrike" dirty="0">
                          <a:solidFill>
                            <a:srgbClr val="000000"/>
                          </a:solidFill>
                          <a:effectLst/>
                          <a:latin typeface="Times New Roman" panose="02020603050405020304" pitchFamily="18" charset="0"/>
                        </a:rPr>
                        <a:t>A863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04:30 28/01/2025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10:20 28/01/2025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FOUND FLUID LEAK AT HSTA &lt;p&gt;TERM CHECK FOUND FLUID LEAK AT HSTA. REQ HSTA REPLACEMENT (PN: C99145-006 NIL SPARE)&lt;/p&gt;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&lt;p&gt;- 00:30 HSTA HAS A SIGN OF FLUID LEAK, INFORMED MCC&lt;</a:t>
                      </a:r>
                      <a:r>
                        <a:rPr lang="en-US" sz="1100" b="0" i="0" u="none" strike="noStrike" dirty="0" err="1">
                          <a:solidFill>
                            <a:srgbClr val="000000"/>
                          </a:solidFill>
                          <a:effectLst/>
                          <a:latin typeface="Times New Roman" panose="02020603050405020304" pitchFamily="18" charset="0"/>
                        </a:rPr>
                        <a:t>br</a:t>
                      </a:r>
                      <a:r>
                        <a:rPr lang="en-US" sz="1100" b="0" i="0" u="none" strike="noStrike" dirty="0">
                          <a:solidFill>
                            <a:srgbClr val="000000"/>
                          </a:solidFill>
                          <a:effectLst/>
                          <a:latin typeface="Times New Roman" panose="02020603050405020304" pitchFamily="18" charset="0"/>
                        </a:rPr>
                        <a:t> /&gt;</a:t>
                      </a:r>
                      <a:br>
                        <a:rPr lang="en-US" sz="1100" b="0" i="0" u="none" strike="noStrike" dirty="0">
                          <a:solidFill>
                            <a:srgbClr val="000000"/>
                          </a:solidFill>
                          <a:effectLst/>
                          <a:latin typeface="Times New Roman" panose="02020603050405020304" pitchFamily="18" charset="0"/>
                        </a:rPr>
                      </a:br>
                      <a:r>
                        <a:rPr lang="en-US" sz="1100" b="0" i="0" u="none" strike="noStrike" dirty="0">
                          <a:solidFill>
                            <a:srgbClr val="000000"/>
                          </a:solidFill>
                          <a:effectLst/>
                          <a:latin typeface="Times New Roman" panose="02020603050405020304" pitchFamily="18" charset="0"/>
                        </a:rPr>
                        <a:t>- 01:10 MCC RA WO 6978507 DO DETAILED INSP, SERVICE FLUID FOR CHECK&lt;</a:t>
                      </a:r>
                      <a:r>
                        <a:rPr lang="en-US" sz="1100" b="0" i="0" u="none" strike="noStrike" dirty="0" err="1">
                          <a:solidFill>
                            <a:srgbClr val="000000"/>
                          </a:solidFill>
                          <a:effectLst/>
                          <a:latin typeface="Times New Roman" panose="02020603050405020304" pitchFamily="18" charset="0"/>
                        </a:rPr>
                        <a:t>br</a:t>
                      </a:r>
                      <a:r>
                        <a:rPr lang="en-US" sz="1100" b="0" i="0" u="none" strike="noStrike" dirty="0">
                          <a:solidFill>
                            <a:srgbClr val="000000"/>
                          </a:solidFill>
                          <a:effectLst/>
                          <a:latin typeface="Times New Roman" panose="02020603050405020304" pitchFamily="18" charset="0"/>
                        </a:rPr>
                        <a:t> /&gt;</a:t>
                      </a:r>
                      <a:br>
                        <a:rPr lang="en-US" sz="1100" b="0" i="0" u="none" strike="noStrike" dirty="0">
                          <a:solidFill>
                            <a:srgbClr val="000000"/>
                          </a:solidFill>
                          <a:effectLst/>
                          <a:latin typeface="Times New Roman" panose="02020603050405020304" pitchFamily="18" charset="0"/>
                        </a:rPr>
                      </a:br>
                      <a:r>
                        <a:rPr lang="en-US" sz="1100" b="0" i="0" u="none" strike="noStrike" dirty="0">
                          <a:solidFill>
                            <a:srgbClr val="000000"/>
                          </a:solidFill>
                          <a:effectLst/>
                          <a:latin typeface="Times New Roman" panose="02020603050405020304" pitchFamily="18" charset="0"/>
                        </a:rPr>
                        <a:t>- 04:30 FOUND FLUID LEAK AT HSTA. REQ HSTA REPLACEMENT (PN: C99145-006 NIL SPARE). A863 AOG&lt;/p&gt; TIMELINE (LCT) EVENT CLOSED &lt;p&gt;REF RDR BOEING OPEN ADD HSTA NEED REPLACE WITHIN 20FC, OPM CHECK EACH 3 DAYS. A/C SERVICEABLE&lt;/p&gt;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mn-lt"/>
                        </a:rPr>
                        <a:t>Hỏng hóc HSTA do hỏng lower seal có nguyên nhân từ do nước xâm nhập.</a:t>
                      </a:r>
                    </a:p>
                    <a:p>
                      <a:pPr algn="l" fontAlgn="ctr"/>
                      <a:r>
                        <a:rPr lang="vi-VN" sz="1100" b="0" i="0" u="none" strike="noStrike" dirty="0">
                          <a:solidFill>
                            <a:srgbClr val="000000"/>
                          </a:solidFill>
                          <a:effectLst/>
                          <a:latin typeface="+mn-lt"/>
                        </a:rPr>
                        <a:t>Giải pháp: thực hiện SB nâng cấp tại shop: Lower seal hiện còn 3 tàu chưa nâng cấp; Upper seal còn 5 tàu chưa nâng cấp. Chí phí nâng cấp Lower seal khoảng 17,5k, Upper seal là 7,7k. MOOG không có hỗ trợ cho việc thực hiện 2 VSB này. </a:t>
                      </a:r>
                    </a:p>
                    <a:p>
                      <a:pPr algn="l" fontAlgn="ctr"/>
                      <a:r>
                        <a:rPr lang="vi-VN" sz="1100" b="0" i="0" u="none" strike="noStrike" dirty="0">
                          <a:solidFill>
                            <a:srgbClr val="000000"/>
                          </a:solidFill>
                          <a:effectLst/>
                          <a:latin typeface="+mn-lt"/>
                        </a:rPr>
                        <a:t>Theo BOE thì nâng cấp seal cũng chưa ngăn chặn được hỏng hóc này. Do đó cần kiểm tra kiểm tra rỉ dầu HSTA ở 2000FH theo MPD 12-020-00: Nếu phát hiện leak sẽ bổ sung dầu bôi trơn để trì hoãn thay thế: </a:t>
                      </a:r>
                    </a:p>
                    <a:p>
                      <a:pPr algn="l" fontAlgn="ctr"/>
                      <a:r>
                        <a:rPr lang="vi-VN" sz="1100" b="0" i="0" u="none" strike="noStrike" dirty="0">
                          <a:solidFill>
                            <a:srgbClr val="000000"/>
                          </a:solidFill>
                          <a:effectLst/>
                          <a:latin typeface="+mn-lt"/>
                        </a:rPr>
                        <a:t>- Thêm nhiều hơn 185ml thì thay HSTA;</a:t>
                      </a:r>
                    </a:p>
                    <a:p>
                      <a:pPr algn="l" fontAlgn="ctr"/>
                      <a:r>
                        <a:rPr lang="vi-VN" sz="1100" b="0" i="0" u="none" strike="noStrike" dirty="0">
                          <a:solidFill>
                            <a:srgbClr val="000000"/>
                          </a:solidFill>
                          <a:effectLst/>
                          <a:latin typeface="+mn-lt"/>
                        </a:rPr>
                        <a:t>- Thêm từ 40-185ml thì kiểm tra interval 3day/10FC:</a:t>
                      </a:r>
                    </a:p>
                    <a:p>
                      <a:pPr algn="l" fontAlgn="ctr"/>
                      <a:r>
                        <a:rPr lang="vi-VN" sz="1100" b="0" i="0" u="none" strike="noStrike" dirty="0">
                          <a:solidFill>
                            <a:srgbClr val="000000"/>
                          </a:solidFill>
                          <a:effectLst/>
                          <a:latin typeface="+mn-lt"/>
                        </a:rPr>
                        <a:t>- Thêm nhỏ hơn 40ml: kiểm tra theo interval của MPD </a:t>
                      </a:r>
                    </a:p>
                    <a:p>
                      <a:pPr algn="l" fontAlgn="ctr"/>
                      <a:r>
                        <a:rPr lang="vi-VN" sz="1100" b="0" i="0" u="none" strike="noStrike" dirty="0">
                          <a:solidFill>
                            <a:srgbClr val="000000"/>
                          </a:solidFill>
                          <a:effectLst/>
                          <a:latin typeface="+mn-lt"/>
                        </a:rPr>
                        <a:t>Với A863, MPD last done 07/Nov/2024. Next due Mar/2025. Leak phải thêm 540 ml dầu. BOE cấp RDR để bay 20FC đợi spare để thay.</a:t>
                      </a:r>
                    </a:p>
                    <a:p>
                      <a:pPr algn="l" fontAlgn="ctr"/>
                      <a:r>
                        <a:rPr lang="vi-VN" sz="1100" b="0" i="0" u="none" strike="noStrike" dirty="0">
                          <a:solidFill>
                            <a:srgbClr val="000000"/>
                          </a:solidFill>
                          <a:effectLst/>
                          <a:latin typeface="+mn-lt"/>
                        </a:rPr>
                        <a:t>Khối tháo xuống SN 0246 là khối nhận từ KLM lắp lên ngày 23Dec2021 (TSN 24949FH; CSN 3625FC): Khối này được lấy từ Shop sau khi sửa Heavy leak và cũng không được làm VSB cho cả lower và upper seal.</a:t>
                      </a:r>
                      <a:r>
                        <a:rPr lang="en-US" sz="1100" b="0" i="0" u="none" strike="noStrike" dirty="0">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7600614"/>
                  </a:ext>
                </a:extLst>
              </a:tr>
              <a:tr h="1102554">
                <a:tc>
                  <a:txBody>
                    <a:bodyPr/>
                    <a:lstStyle/>
                    <a:p>
                      <a:pPr algn="l" fontAlgn="ctr"/>
                      <a:r>
                        <a:rPr lang="en-US" sz="1100" b="0" i="0" u="none" strike="noStrike">
                          <a:solidFill>
                            <a:srgbClr val="000000"/>
                          </a:solidFill>
                          <a:effectLst/>
                          <a:latin typeface="Times New Roman" panose="02020603050405020304" pitchFamily="18" charset="0"/>
                        </a:rPr>
                        <a:t>A869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07:10 23/01/2025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10:30 24/01/2025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PUS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NO-GO MSG ELEVATOR SYS &lt;p&gt;DURING T/X FOUND NO GO MSG ELEVATOR SYS&lt;/p&gt;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&lt;p&gt;-AOG team NGT HAN chuyển sân VN428 HAN-PUS hạ cánh 04:45 sáng 24/01 giờ VN&lt;/p&gt;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&lt;p&gt;-C/O RPLD ELEVATOR&lt;/p&gt; RPLD ELEVATOR EVENT CLOSED &lt;p&gt;&lt;/p&gt;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27-31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Thực</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hiện</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thay</a:t>
                      </a:r>
                      <a:r>
                        <a:rPr lang="en-US" sz="1100" b="0" i="0" u="none" strike="noStrike" dirty="0">
                          <a:solidFill>
                            <a:srgbClr val="000000"/>
                          </a:solidFill>
                          <a:effectLst/>
                          <a:latin typeface="Times New Roman" panose="02020603050405020304" pitchFamily="18" charset="0"/>
                        </a:rPr>
                        <a:t> PCU </a:t>
                      </a:r>
                      <a:r>
                        <a:rPr lang="en-US" sz="1100" b="0" i="0" u="none" strike="noStrike" dirty="0" err="1">
                          <a:solidFill>
                            <a:srgbClr val="000000"/>
                          </a:solidFill>
                          <a:effectLst/>
                          <a:latin typeface="Times New Roman" panose="02020603050405020304" pitchFamily="18" charset="0"/>
                        </a:rPr>
                        <a:t>để</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khắc</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phục</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hỏng</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hóc</a:t>
                      </a:r>
                      <a:r>
                        <a:rPr lang="en-US" sz="1100" b="0" i="0" u="none" strike="noStrike" dirty="0">
                          <a:solidFill>
                            <a:srgbClr val="000000"/>
                          </a:solidFill>
                          <a:effectLst/>
                          <a:latin typeface="Times New Roman" panose="02020603050405020304" pitchFamily="18" charset="0"/>
                        </a:rPr>
                        <a:t>.</a:t>
                      </a:r>
                    </a:p>
                    <a:p>
                      <a:pPr algn="l" fontAlgn="ctr"/>
                      <a:r>
                        <a:rPr lang="en-US" sz="1100" b="0" i="0" u="none" strike="noStrike" dirty="0">
                          <a:solidFill>
                            <a:srgbClr val="000000"/>
                          </a:solidFill>
                          <a:effectLst/>
                          <a:latin typeface="Times New Roman" panose="02020603050405020304" pitchFamily="18" charset="0"/>
                        </a:rPr>
                        <a:t>ĐTC: Fleet B787 </a:t>
                      </a:r>
                      <a:r>
                        <a:rPr lang="en-US" sz="1100" b="0" i="0" u="none" strike="noStrike" dirty="0" err="1">
                          <a:solidFill>
                            <a:srgbClr val="000000"/>
                          </a:solidFill>
                          <a:effectLst/>
                          <a:latin typeface="Times New Roman" panose="02020603050405020304" pitchFamily="18" charset="0"/>
                        </a:rPr>
                        <a:t>đã</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từng</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thay</a:t>
                      </a:r>
                      <a:r>
                        <a:rPr lang="en-US" sz="1100" b="0" i="0" u="none" strike="noStrike" dirty="0">
                          <a:solidFill>
                            <a:srgbClr val="000000"/>
                          </a:solidFill>
                          <a:effectLst/>
                          <a:latin typeface="Times New Roman" panose="02020603050405020304" pitchFamily="18" charset="0"/>
                        </a:rPr>
                        <a:t> 6 </a:t>
                      </a:r>
                      <a:r>
                        <a:rPr lang="en-US" sz="1100" b="0" i="0" u="none" strike="noStrike" dirty="0" err="1">
                          <a:solidFill>
                            <a:srgbClr val="000000"/>
                          </a:solidFill>
                          <a:effectLst/>
                          <a:latin typeface="Times New Roman" panose="02020603050405020304" pitchFamily="18" charset="0"/>
                        </a:rPr>
                        <a:t>khối</a:t>
                      </a:r>
                      <a:r>
                        <a:rPr lang="en-US" sz="1100" b="0" i="0" u="none" strike="noStrike" dirty="0">
                          <a:solidFill>
                            <a:srgbClr val="000000"/>
                          </a:solidFill>
                          <a:effectLst/>
                          <a:latin typeface="Times New Roman" panose="02020603050405020304" pitchFamily="18" charset="0"/>
                        </a:rPr>
                        <a:t>. Boe </a:t>
                      </a:r>
                      <a:r>
                        <a:rPr lang="en-US" sz="1100" b="0" i="0" u="none" strike="noStrike" dirty="0" err="1">
                          <a:solidFill>
                            <a:srgbClr val="000000"/>
                          </a:solidFill>
                          <a:effectLst/>
                          <a:latin typeface="Times New Roman" panose="02020603050405020304" pitchFamily="18" charset="0"/>
                        </a:rPr>
                        <a:t>không</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có</a:t>
                      </a:r>
                      <a:r>
                        <a:rPr lang="en-US" sz="1100" b="0" i="0" u="none" strike="noStrike" dirty="0">
                          <a:solidFill>
                            <a:srgbClr val="000000"/>
                          </a:solidFill>
                          <a:effectLst/>
                          <a:latin typeface="Times New Roman" panose="02020603050405020304" pitchFamily="18" charset="0"/>
                        </a:rPr>
                        <a:t> issue </a:t>
                      </a:r>
                      <a:r>
                        <a:rPr lang="en-US" sz="1100" b="0" i="0" u="none" strike="noStrike" dirty="0" err="1">
                          <a:solidFill>
                            <a:srgbClr val="000000"/>
                          </a:solidFill>
                          <a:effectLst/>
                          <a:latin typeface="Times New Roman" panose="02020603050405020304" pitchFamily="18" charset="0"/>
                        </a:rPr>
                        <a:t>nào</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liên</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quan</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đến</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hỏng</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hóc</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của</a:t>
                      </a:r>
                      <a:r>
                        <a:rPr lang="en-US" sz="1100" b="0" i="0" u="none" strike="noStrike" dirty="0">
                          <a:solidFill>
                            <a:srgbClr val="000000"/>
                          </a:solidFill>
                          <a:effectLst/>
                          <a:latin typeface="Times New Roman" panose="02020603050405020304" pitchFamily="18" charset="0"/>
                        </a:rPr>
                        <a:t> Elevator PCU.</a:t>
                      </a:r>
                    </a:p>
                    <a:p>
                      <a:pPr algn="l" fontAlgn="ctr"/>
                      <a:r>
                        <a:rPr lang="en-US" sz="1100" b="0" i="0" u="none" strike="noStrike" dirty="0">
                          <a:solidFill>
                            <a:srgbClr val="000000"/>
                          </a:solidFill>
                          <a:effectLst/>
                          <a:latin typeface="Times New Roman" panose="02020603050405020304" pitchFamily="18" charset="0"/>
                        </a:rPr>
                        <a:t>Ban KT </a:t>
                      </a:r>
                      <a:r>
                        <a:rPr lang="en-US" sz="1100" b="0" i="0" u="none" strike="noStrike" dirty="0" err="1">
                          <a:solidFill>
                            <a:srgbClr val="000000"/>
                          </a:solidFill>
                          <a:effectLst/>
                          <a:latin typeface="Times New Roman" panose="02020603050405020304" pitchFamily="18" charset="0"/>
                        </a:rPr>
                        <a:t>sẽ</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làm</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việc</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thêm</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với</a:t>
                      </a:r>
                      <a:r>
                        <a:rPr lang="en-US" sz="1100" b="0" i="0" u="none" strike="noStrike" dirty="0">
                          <a:solidFill>
                            <a:srgbClr val="000000"/>
                          </a:solidFill>
                          <a:effectLst/>
                          <a:latin typeface="Times New Roman" panose="02020603050405020304" pitchFamily="18" charset="0"/>
                        </a:rPr>
                        <a:t> BOE </a:t>
                      </a:r>
                      <a:r>
                        <a:rPr lang="en-US" sz="1100" b="0" i="0" u="none" strike="noStrike" dirty="0" err="1">
                          <a:solidFill>
                            <a:srgbClr val="000000"/>
                          </a:solidFill>
                          <a:effectLst/>
                          <a:latin typeface="Times New Roman" panose="02020603050405020304" pitchFamily="18" charset="0"/>
                        </a:rPr>
                        <a:t>và</a:t>
                      </a:r>
                      <a:r>
                        <a:rPr lang="en-US" sz="1100" b="0" i="0" u="none" strike="noStrike" dirty="0">
                          <a:solidFill>
                            <a:srgbClr val="000000"/>
                          </a:solidFill>
                          <a:effectLst/>
                          <a:latin typeface="Times New Roman" panose="02020603050405020304" pitchFamily="18" charset="0"/>
                        </a:rPr>
                        <a:t> OEM </a:t>
                      </a:r>
                      <a:r>
                        <a:rPr lang="en-US" sz="1100" b="0" i="0" u="none" strike="noStrike" dirty="0" err="1">
                          <a:solidFill>
                            <a:srgbClr val="000000"/>
                          </a:solidFill>
                          <a:effectLst/>
                          <a:latin typeface="Times New Roman" panose="02020603050405020304" pitchFamily="18" charset="0"/>
                        </a:rPr>
                        <a:t>về</a:t>
                      </a:r>
                      <a:r>
                        <a:rPr lang="en-US" sz="1100" b="0" i="0" u="none" strike="noStrike" dirty="0">
                          <a:solidFill>
                            <a:srgbClr val="000000"/>
                          </a:solidFill>
                          <a:effectLst/>
                          <a:latin typeface="Times New Roman" panose="02020603050405020304" pitchFamily="18" charset="0"/>
                        </a:rPr>
                        <a:t> ĐTC </a:t>
                      </a:r>
                      <a:r>
                        <a:rPr lang="en-US" sz="1100" b="0" i="0" u="none" strike="noStrike" dirty="0" err="1">
                          <a:solidFill>
                            <a:srgbClr val="000000"/>
                          </a:solidFill>
                          <a:effectLst/>
                          <a:latin typeface="Times New Roman" panose="02020603050405020304" pitchFamily="18" charset="0"/>
                        </a:rPr>
                        <a:t>của</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thiết</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bị</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này</a:t>
                      </a:r>
                      <a:r>
                        <a:rPr lang="en-US" sz="1100" b="0" i="0" u="none" strike="noStrike" dirty="0">
                          <a:solidFill>
                            <a:srgbClr val="000000"/>
                          </a:solidFill>
                          <a:effectLst/>
                          <a:latin typeface="Times New Roman" panose="02020603050405020304" pitchFamily="18" charset="0"/>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5191701"/>
                  </a:ext>
                </a:extLst>
              </a:tr>
            </a:tbl>
          </a:graphicData>
        </a:graphic>
      </p:graphicFrame>
    </p:spTree>
    <p:extLst>
      <p:ext uri="{BB962C8B-B14F-4D97-AF65-F5344CB8AC3E}">
        <p14:creationId xmlns:p14="http://schemas.microsoft.com/office/powerpoint/2010/main" val="33396699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2D70F59A-F75E-2F2B-E505-E3D07F7E24A1}"/>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AEA3FCE7-A57A-5EAD-1892-C0E7A4FE0C3C}"/>
              </a:ext>
            </a:extLst>
          </p:cNvPr>
          <p:cNvSpPr txBox="1">
            <a:spLocks noGrp="1"/>
          </p:cNvSpPr>
          <p:nvPr>
            <p:ph type="sldNum" idx="12"/>
          </p:nvPr>
        </p:nvSpPr>
        <p:spPr>
          <a:xfrm>
            <a:off x="11484784" y="6310756"/>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34276AA2-D940-E01C-D7BC-0F3A4DE83381}"/>
              </a:ext>
            </a:extLst>
          </p:cNvPr>
          <p:cNvSpPr>
            <a:spLocks noGrp="1"/>
          </p:cNvSpPr>
          <p:nvPr>
            <p:ph type="title"/>
          </p:nvPr>
        </p:nvSpPr>
        <p:spPr>
          <a:xfrm>
            <a:off x="228600" y="93133"/>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dirty="0">
                <a:ln w="0"/>
                <a:solidFill>
                  <a:schemeClr val="accent4"/>
                </a:solidFill>
                <a:latin typeface="Times New Roman" panose="02020603050405020304" pitchFamily="18" charset="0"/>
                <a:cs typeface="Times New Roman" panose="02020603050405020304" pitchFamily="18" charset="0"/>
              </a:rPr>
              <a:t>B787</a:t>
            </a:r>
          </a:p>
        </p:txBody>
      </p:sp>
      <p:sp>
        <p:nvSpPr>
          <p:cNvPr id="8" name="TextBox 7">
            <a:extLst>
              <a:ext uri="{FF2B5EF4-FFF2-40B4-BE49-F238E27FC236}">
                <a16:creationId xmlns:a16="http://schemas.microsoft.com/office/drawing/2014/main" id="{707FA246-4B8B-393F-FE30-333DDD45FBD4}"/>
              </a:ext>
            </a:extLst>
          </p:cNvPr>
          <p:cNvSpPr txBox="1"/>
          <p:nvPr/>
        </p:nvSpPr>
        <p:spPr>
          <a:xfrm>
            <a:off x="152397"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(Tech: 02; Non-tech: 01) 		Delay: 04 (Tech: 03; Non-tech: 01)</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D81119D0-6F80-6B55-5FD9-8175EDB24096}"/>
              </a:ext>
            </a:extLst>
          </p:cNvPr>
          <p:cNvSpPr txBox="1"/>
          <p:nvPr/>
        </p:nvSpPr>
        <p:spPr>
          <a:xfrm>
            <a:off x="152397" y="1236922"/>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04 (Tech: 03; Non-tech: 01)</a:t>
            </a:r>
          </a:p>
        </p:txBody>
      </p:sp>
      <p:graphicFrame>
        <p:nvGraphicFramePr>
          <p:cNvPr id="4" name="Table 3">
            <a:extLst>
              <a:ext uri="{FF2B5EF4-FFF2-40B4-BE49-F238E27FC236}">
                <a16:creationId xmlns:a16="http://schemas.microsoft.com/office/drawing/2014/main" id="{36D228A3-2957-9776-AA00-6ED0500D28D6}"/>
              </a:ext>
            </a:extLst>
          </p:cNvPr>
          <p:cNvGraphicFramePr>
            <a:graphicFrameLocks noGrp="1"/>
          </p:cNvGraphicFramePr>
          <p:nvPr>
            <p:extLst/>
          </p:nvPr>
        </p:nvGraphicFramePr>
        <p:xfrm>
          <a:off x="152397" y="1774593"/>
          <a:ext cx="11688716" cy="4511907"/>
        </p:xfrm>
        <a:graphic>
          <a:graphicData uri="http://schemas.openxmlformats.org/drawingml/2006/table">
            <a:tbl>
              <a:tblPr/>
              <a:tblGrid>
                <a:gridCol w="420683">
                  <a:extLst>
                    <a:ext uri="{9D8B030D-6E8A-4147-A177-3AD203B41FA5}">
                      <a16:colId xmlns:a16="http://schemas.microsoft.com/office/drawing/2014/main" val="3532412126"/>
                    </a:ext>
                  </a:extLst>
                </a:gridCol>
                <a:gridCol w="727397">
                  <a:extLst>
                    <a:ext uri="{9D8B030D-6E8A-4147-A177-3AD203B41FA5}">
                      <a16:colId xmlns:a16="http://schemas.microsoft.com/office/drawing/2014/main" val="2246453922"/>
                    </a:ext>
                  </a:extLst>
                </a:gridCol>
                <a:gridCol w="251282">
                  <a:extLst>
                    <a:ext uri="{9D8B030D-6E8A-4147-A177-3AD203B41FA5}">
                      <a16:colId xmlns:a16="http://schemas.microsoft.com/office/drawing/2014/main" val="3831941748"/>
                    </a:ext>
                  </a:extLst>
                </a:gridCol>
                <a:gridCol w="681109">
                  <a:extLst>
                    <a:ext uri="{9D8B030D-6E8A-4147-A177-3AD203B41FA5}">
                      <a16:colId xmlns:a16="http://schemas.microsoft.com/office/drawing/2014/main" val="961761706"/>
                    </a:ext>
                  </a:extLst>
                </a:gridCol>
                <a:gridCol w="509177">
                  <a:extLst>
                    <a:ext uri="{9D8B030D-6E8A-4147-A177-3AD203B41FA5}">
                      <a16:colId xmlns:a16="http://schemas.microsoft.com/office/drawing/2014/main" val="1638648152"/>
                    </a:ext>
                  </a:extLst>
                </a:gridCol>
                <a:gridCol w="423213">
                  <a:extLst>
                    <a:ext uri="{9D8B030D-6E8A-4147-A177-3AD203B41FA5}">
                      <a16:colId xmlns:a16="http://schemas.microsoft.com/office/drawing/2014/main" val="1768356610"/>
                    </a:ext>
                  </a:extLst>
                </a:gridCol>
                <a:gridCol w="2519436">
                  <a:extLst>
                    <a:ext uri="{9D8B030D-6E8A-4147-A177-3AD203B41FA5}">
                      <a16:colId xmlns:a16="http://schemas.microsoft.com/office/drawing/2014/main" val="3401757400"/>
                    </a:ext>
                  </a:extLst>
                </a:gridCol>
                <a:gridCol w="2803782">
                  <a:extLst>
                    <a:ext uri="{9D8B030D-6E8A-4147-A177-3AD203B41FA5}">
                      <a16:colId xmlns:a16="http://schemas.microsoft.com/office/drawing/2014/main" val="3320069203"/>
                    </a:ext>
                  </a:extLst>
                </a:gridCol>
                <a:gridCol w="257896">
                  <a:extLst>
                    <a:ext uri="{9D8B030D-6E8A-4147-A177-3AD203B41FA5}">
                      <a16:colId xmlns:a16="http://schemas.microsoft.com/office/drawing/2014/main" val="4279825923"/>
                    </a:ext>
                  </a:extLst>
                </a:gridCol>
                <a:gridCol w="3094741">
                  <a:extLst>
                    <a:ext uri="{9D8B030D-6E8A-4147-A177-3AD203B41FA5}">
                      <a16:colId xmlns:a16="http://schemas.microsoft.com/office/drawing/2014/main" val="1988727542"/>
                    </a:ext>
                  </a:extLst>
                </a:gridCol>
              </a:tblGrid>
              <a:tr h="87529">
                <a:tc>
                  <a:txBody>
                    <a:bodyPr/>
                    <a:lstStyle/>
                    <a:p>
                      <a:pPr algn="ctr" fontAlgn="t"/>
                      <a:r>
                        <a:rPr lang="en-US" sz="1200" b="0" i="0" u="none" strike="noStrike">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627700936"/>
                  </a:ext>
                </a:extLst>
              </a:tr>
              <a:tr h="1331349">
                <a:tc>
                  <a:txBody>
                    <a:bodyPr/>
                    <a:lstStyle/>
                    <a:p>
                      <a:pPr algn="l" fontAlgn="ctr"/>
                      <a:r>
                        <a:rPr lang="en-US" sz="1100" b="0" i="0" u="none" strike="noStrike" dirty="0">
                          <a:solidFill>
                            <a:srgbClr val="000000"/>
                          </a:solidFill>
                          <a:effectLst/>
                          <a:latin typeface="Times New Roman" panose="02020603050405020304" pitchFamily="18" charset="0"/>
                        </a:rPr>
                        <a:t>A864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18:00 30/01/2025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LHR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75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VN50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LHR-SGN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TERRAIN AUDIO AND VISUAL WARNING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 EVENT CLOSED &lt;p&gt;&lt;/p&gt;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 </a:t>
                      </a:r>
                      <a:r>
                        <a:rPr lang="vi-VN" sz="1100" b="0" i="0" u="none" strike="noStrike" dirty="0">
                          <a:solidFill>
                            <a:srgbClr val="000000"/>
                          </a:solidFill>
                          <a:effectLst/>
                          <a:latin typeface="+mn-lt"/>
                        </a:rPr>
                        <a:t>Do ảnh hưởng của sóng GPS tại khu vực Châu Âu. Ban KT đã làm việc với các đơn vị liên quan VAECO, OCC phổ biến các tài liệu cho thợ máy, phi công về cách nhận diện và khắc phục hiện tượng này. Ngoài ra cũng đang gửi dữ liệu CPL sang Boeing để đánh giá thêm trường hợp này.</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760425"/>
                  </a:ext>
                </a:extLst>
              </a:tr>
              <a:tr h="1143000">
                <a:tc>
                  <a:txBody>
                    <a:bodyPr/>
                    <a:lstStyle/>
                    <a:p>
                      <a:pPr algn="l" fontAlgn="ctr"/>
                      <a:r>
                        <a:rPr lang="en-US" sz="1100" b="0" i="0" u="none" strike="noStrike">
                          <a:solidFill>
                            <a:srgbClr val="000000"/>
                          </a:solidFill>
                          <a:effectLst/>
                          <a:latin typeface="Times New Roman" panose="02020603050405020304" pitchFamily="18" charset="0"/>
                        </a:rPr>
                        <a:t>A879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16:30 28/01/2025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VN216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[RTO][GTB] ELEC GEN R &lt;p&gt;DURING PREPARE FOR TAKE OFF, CAPT INFORM &amp;#34;ELEC GEN R&amp;#34;, CAPT DECIDED RTO &amp;amp; GTB&lt;/p&gt;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&lt;p&gt;OPEN ADD FOR ELEC GEN R&lt;/p&gt; ABOVE EVENT CLOSED &lt;p&gt;&lt;/p&gt;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mn-lt"/>
                        </a:rPr>
                        <a:t>Tàu A879 chuyến bay NRT-SGN trước đó cũng hiện MSG ELEC GEN SYS khi đang bay tuy nhiên lúc đáp SGN thợ máy kiểm tra tình trạng kĩ thuật tàu bay tốt, không có cảnh báo. VFSG R1 on wing trên A879 từ 2019 chưa thực hiện thay thế lần nào, có TSN/CSN = 32188 FH/ 7483 FC. Final action: thay VFSG R1, MSG clear.</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6929310"/>
                  </a:ext>
                </a:extLst>
              </a:tr>
              <a:tr h="1447800">
                <a:tc>
                  <a:txBody>
                    <a:bodyPr/>
                    <a:lstStyle/>
                    <a:p>
                      <a:pPr algn="l" fontAlgn="ctr"/>
                      <a:r>
                        <a:rPr lang="en-US" sz="1100" b="0" i="0" u="none" strike="noStrike" dirty="0">
                          <a:solidFill>
                            <a:srgbClr val="000000"/>
                          </a:solidFill>
                          <a:effectLst/>
                          <a:latin typeface="Times New Roman" panose="02020603050405020304" pitchFamily="18" charset="0"/>
                        </a:rPr>
                        <a:t>A862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23:46 27/01/2025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VN37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HAN-FRA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CAPT REPORT "DOOR 2L NOT ARM" &lt;p&gt;AFTER BOARDING FINISHED, DOOR CLOSED, CAPT REPORT &amp;#34;DOOR 2L NOT ARM&amp;#34;&lt;/p&gt;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 EVENT CLOSED &lt;p&gt;C/O ADJUST GIRT BAR, CHECK DOOR 2L ARM -&gt; SATIS&lt;/p&gt;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mn-lt"/>
                        </a:rPr>
                        <a:t>Ngày 29/1, đã thực hiện kiểm tra Opt test theo AMM nhưng không phát hiện các bất thường. Tiếp tục theo dõi.</a:t>
                      </a:r>
                      <a:r>
                        <a:rPr lang="en-US" sz="1100" b="0" i="0" u="none" strike="noStrike" dirty="0">
                          <a:solidFill>
                            <a:srgbClr val="000000"/>
                          </a:solidFill>
                          <a:effectLst/>
                          <a:latin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429169"/>
                  </a:ext>
                </a:extLst>
              </a:tr>
            </a:tbl>
          </a:graphicData>
        </a:graphic>
      </p:graphicFrame>
    </p:spTree>
    <p:extLst>
      <p:ext uri="{BB962C8B-B14F-4D97-AF65-F5344CB8AC3E}">
        <p14:creationId xmlns:p14="http://schemas.microsoft.com/office/powerpoint/2010/main" val="11983334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34</a:t>
            </a:fld>
            <a:endParaRPr lang="en-US"/>
          </a:p>
        </p:txBody>
      </p:sp>
      <p:sp>
        <p:nvSpPr>
          <p:cNvPr id="30" name="Slide Number Placeholder 3">
            <a:extLst>
              <a:ext uri="{FF2B5EF4-FFF2-40B4-BE49-F238E27FC236}">
                <a16:creationId xmlns:a16="http://schemas.microsoft.com/office/drawing/2014/main" id="{750EDDA6-1339-2CDD-30C4-7B99D11D9417}"/>
              </a:ext>
            </a:extLst>
          </p:cNvPr>
          <p:cNvSpPr txBox="1">
            <a:spLocks/>
          </p:cNvSpPr>
          <p:nvPr/>
        </p:nvSpPr>
        <p:spPr>
          <a:xfrm>
            <a:off x="8610600" y="6356350"/>
            <a:ext cx="2743200" cy="365125"/>
          </a:xfrm>
          <a:prstGeom prst="rect">
            <a:avLst/>
          </a:prstGeom>
        </p:spPr>
        <p:txBody>
          <a:bodyPr spcFirstLastPara="1" vert="horz" wrap="square" lIns="91425" tIns="91425" rIns="91425" bIns="91425" rtlCol="0" anchor="ctr" anchorCtr="0">
            <a:normAutofit lnSpcReduction="10000"/>
          </a:bodyPr>
          <a:lstStyle>
            <a:defPPr>
              <a:defRPr lang="en-US"/>
            </a:defPPr>
            <a:lvl1pPr marL="0" lvl="0" algn="r" defTabSz="914400" rtl="0" eaLnBrk="1" latinLnBrk="0" hangingPunct="1">
              <a:buNone/>
              <a:defRPr sz="1200" kern="1200">
                <a:solidFill>
                  <a:schemeClr val="tx1">
                    <a:tint val="75000"/>
                  </a:schemeClr>
                </a:solidFill>
                <a:latin typeface="+mn-lt"/>
                <a:ea typeface="+mn-ea"/>
                <a:cs typeface="+mn-cs"/>
              </a:defRPr>
            </a:lvl1pPr>
            <a:lvl2pPr marL="457200" lvl="1" algn="l" defTabSz="914400" rtl="0" eaLnBrk="1" latinLnBrk="0" hangingPunct="1">
              <a:buNone/>
              <a:defRPr sz="1800" kern="1200">
                <a:solidFill>
                  <a:schemeClr val="tx1"/>
                </a:solidFill>
                <a:latin typeface="+mn-lt"/>
                <a:ea typeface="+mn-ea"/>
                <a:cs typeface="+mn-cs"/>
              </a:defRPr>
            </a:lvl2pPr>
            <a:lvl3pPr marL="914400" lvl="2" algn="l" defTabSz="914400" rtl="0" eaLnBrk="1" latinLnBrk="0" hangingPunct="1">
              <a:buNone/>
              <a:defRPr sz="1800" kern="1200">
                <a:solidFill>
                  <a:schemeClr val="tx1"/>
                </a:solidFill>
                <a:latin typeface="+mn-lt"/>
                <a:ea typeface="+mn-ea"/>
                <a:cs typeface="+mn-cs"/>
              </a:defRPr>
            </a:lvl3pPr>
            <a:lvl4pPr marL="1371600" lvl="3" algn="l" defTabSz="914400" rtl="0" eaLnBrk="1" latinLnBrk="0" hangingPunct="1">
              <a:buNone/>
              <a:defRPr sz="1800" kern="1200">
                <a:solidFill>
                  <a:schemeClr val="tx1"/>
                </a:solidFill>
                <a:latin typeface="+mn-lt"/>
                <a:ea typeface="+mn-ea"/>
                <a:cs typeface="+mn-cs"/>
              </a:defRPr>
            </a:lvl4pPr>
            <a:lvl5pPr marL="1828800" lvl="4" algn="l" defTabSz="914400" rtl="0" eaLnBrk="1" latinLnBrk="0" hangingPunct="1">
              <a:buNone/>
              <a:defRPr sz="1800" kern="1200">
                <a:solidFill>
                  <a:schemeClr val="tx1"/>
                </a:solidFill>
                <a:latin typeface="+mn-lt"/>
                <a:ea typeface="+mn-ea"/>
                <a:cs typeface="+mn-cs"/>
              </a:defRPr>
            </a:lvl5pPr>
            <a:lvl6pPr marL="2286000" lvl="5" algn="l" defTabSz="914400" rtl="0" eaLnBrk="1" latinLnBrk="0" hangingPunct="1">
              <a:buNone/>
              <a:defRPr sz="1800" kern="1200">
                <a:solidFill>
                  <a:schemeClr val="tx1"/>
                </a:solidFill>
                <a:latin typeface="+mn-lt"/>
                <a:ea typeface="+mn-ea"/>
                <a:cs typeface="+mn-cs"/>
              </a:defRPr>
            </a:lvl6pPr>
            <a:lvl7pPr marL="2743200" lvl="6" algn="l" defTabSz="914400" rtl="0" eaLnBrk="1" latinLnBrk="0" hangingPunct="1">
              <a:buNone/>
              <a:defRPr sz="1800" kern="1200">
                <a:solidFill>
                  <a:schemeClr val="tx1"/>
                </a:solidFill>
                <a:latin typeface="+mn-lt"/>
                <a:ea typeface="+mn-ea"/>
                <a:cs typeface="+mn-cs"/>
              </a:defRPr>
            </a:lvl7pPr>
            <a:lvl8pPr marL="3200400" lvl="7" algn="l" defTabSz="914400" rtl="0" eaLnBrk="1" latinLnBrk="0" hangingPunct="1">
              <a:buNone/>
              <a:defRPr sz="1800" kern="1200">
                <a:solidFill>
                  <a:schemeClr val="tx1"/>
                </a:solidFill>
                <a:latin typeface="+mn-lt"/>
                <a:ea typeface="+mn-ea"/>
                <a:cs typeface="+mn-cs"/>
              </a:defRPr>
            </a:lvl8pPr>
            <a:lvl9pPr marL="3657600" lvl="8" algn="l" defTabSz="914400" rtl="0" eaLnBrk="1" latinLnBrk="0" hangingPunct="1">
              <a:buNone/>
              <a:defRPr sz="1800" kern="1200">
                <a:solidFill>
                  <a:schemeClr val="tx1"/>
                </a:solidFill>
                <a:latin typeface="+mn-lt"/>
                <a:ea typeface="+mn-ea"/>
                <a:cs typeface="+mn-cs"/>
              </a:defRPr>
            </a:lvl9pPr>
          </a:lstStyle>
          <a:p>
            <a:fld id="{6C6B6B8D-D74E-47CD-B5EE-156060B7CD17}" type="slidenum">
              <a:rPr lang="en-US" smtClean="0"/>
              <a:pPr/>
              <a:t>34</a:t>
            </a:fld>
            <a:endParaRPr lang="en-US" dirty="0"/>
          </a:p>
        </p:txBody>
      </p:sp>
      <p:sp>
        <p:nvSpPr>
          <p:cNvPr id="31" name="Title 3">
            <a:extLst>
              <a:ext uri="{FF2B5EF4-FFF2-40B4-BE49-F238E27FC236}">
                <a16:creationId xmlns:a16="http://schemas.microsoft.com/office/drawing/2014/main" id="{D90D6871-C70F-E25E-B7CA-766C74B84D20}"/>
              </a:ext>
            </a:extLst>
          </p:cNvPr>
          <p:cNvSpPr txBox="1">
            <a:spLocks/>
          </p:cNvSpPr>
          <p:nvPr/>
        </p:nvSpPr>
        <p:spPr>
          <a:xfrm>
            <a:off x="304800" y="2057400"/>
            <a:ext cx="11658600" cy="14700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i="0" kern="1200">
                <a:solidFill>
                  <a:srgbClr val="D2A43B"/>
                </a:solidFill>
                <a:latin typeface="Montserrat" pitchFamily="2" charset="77"/>
                <a:ea typeface="+mj-ea"/>
                <a:cs typeface="+mj-cs"/>
              </a:defRPr>
            </a:lvl1pPr>
          </a:lstStyle>
          <a:p>
            <a:endParaRPr lang="en-US" altLang="en-US" sz="5400" dirty="0">
              <a:latin typeface="Arial" panose="020B0604020202020204" pitchFamily="34" charset="0"/>
              <a:cs typeface="Arial" panose="020B0604020202020204" pitchFamily="34" charset="0"/>
            </a:endParaRPr>
          </a:p>
        </p:txBody>
      </p:sp>
      <p:sp>
        <p:nvSpPr>
          <p:cNvPr id="33" name="Title 1">
            <a:extLst>
              <a:ext uri="{FF2B5EF4-FFF2-40B4-BE49-F238E27FC236}">
                <a16:creationId xmlns:a16="http://schemas.microsoft.com/office/drawing/2014/main" id="{7632533F-2F07-C886-8F8E-3798DB6E4127}"/>
              </a:ext>
            </a:extLst>
          </p:cNvPr>
          <p:cNvSpPr txBox="1">
            <a:spLocks/>
          </p:cNvSpPr>
          <p:nvPr/>
        </p:nvSpPr>
        <p:spPr>
          <a:xfrm>
            <a:off x="976560" y="48126"/>
            <a:ext cx="8686186"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800" b="1" dirty="0">
                <a:solidFill>
                  <a:srgbClr val="D2A43B"/>
                </a:solidFill>
                <a:ea typeface="Tahoma" pitchFamily="34" charset="0"/>
                <a:cs typeface="Times New Roman" panose="02020603050405020304" pitchFamily="18" charset="0"/>
              </a:rPr>
              <a:t>A863- AOG due to LEAK AT HSTA</a:t>
            </a:r>
          </a:p>
        </p:txBody>
      </p:sp>
      <p:grpSp>
        <p:nvGrpSpPr>
          <p:cNvPr id="34" name="Group 33">
            <a:extLst>
              <a:ext uri="{FF2B5EF4-FFF2-40B4-BE49-F238E27FC236}">
                <a16:creationId xmlns:a16="http://schemas.microsoft.com/office/drawing/2014/main" id="{68FC8838-20BB-3633-A72A-92558D8709DB}"/>
              </a:ext>
            </a:extLst>
          </p:cNvPr>
          <p:cNvGrpSpPr/>
          <p:nvPr/>
        </p:nvGrpSpPr>
        <p:grpSpPr>
          <a:xfrm>
            <a:off x="976560" y="288234"/>
            <a:ext cx="10755065" cy="678753"/>
            <a:chOff x="976560" y="323070"/>
            <a:chExt cx="10755065" cy="678753"/>
          </a:xfrm>
        </p:grpSpPr>
        <p:cxnSp>
          <p:nvCxnSpPr>
            <p:cNvPr id="35" name="Straight Connector 34">
              <a:extLst>
                <a:ext uri="{FF2B5EF4-FFF2-40B4-BE49-F238E27FC236}">
                  <a16:creationId xmlns:a16="http://schemas.microsoft.com/office/drawing/2014/main" id="{5F25F9E4-8510-7DE6-4BB0-8640AF841FF7}"/>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64F510DD-DC0F-F1BF-AB86-DEBA35F771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37" name="Rectangle: Single Corner Rounded 36">
            <a:extLst>
              <a:ext uri="{FF2B5EF4-FFF2-40B4-BE49-F238E27FC236}">
                <a16:creationId xmlns:a16="http://schemas.microsoft.com/office/drawing/2014/main" id="{EFF21663-E6E9-0E26-98CD-9613DF3DEFEA}"/>
              </a:ext>
            </a:extLst>
          </p:cNvPr>
          <p:cNvSpPr/>
          <p:nvPr/>
        </p:nvSpPr>
        <p:spPr>
          <a:xfrm rot="10800000" flipH="1" flipV="1">
            <a:off x="510814" y="778306"/>
            <a:ext cx="7045845" cy="770793"/>
          </a:xfrm>
          <a:prstGeom prst="round1Rect">
            <a:avLst/>
          </a:prstGeom>
          <a:pattFill prst="lgGrid">
            <a:fgClr>
              <a:schemeClr val="accent1">
                <a:lumMod val="40000"/>
                <a:lumOff val="60000"/>
              </a:schemeClr>
            </a:fgClr>
            <a:bgClr>
              <a:schemeClr val="accent5">
                <a:lumMod val="20000"/>
                <a:lumOff val="80000"/>
              </a:schemeClr>
            </a:bgClr>
          </a:patt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600" b="0" i="0" dirty="0">
                <a:solidFill>
                  <a:schemeClr val="tx1"/>
                </a:solidFill>
                <a:effectLst/>
                <a:latin typeface="Arial" panose="020B0604020202020204" pitchFamily="34" charset="0"/>
              </a:rPr>
              <a:t>A863/SGN 28/1: </a:t>
            </a:r>
            <a:r>
              <a:rPr lang="en-US" dirty="0">
                <a:solidFill>
                  <a:schemeClr val="tx1"/>
                </a:solidFill>
              </a:rPr>
              <a:t>TERM CHECK FOUND FLUID LEAK AT HSTA. REQ HSTA REPLACEMENT (PN: C99145-006 NIL SPARE)</a:t>
            </a:r>
            <a:endParaRPr lang="en-US" sz="1600" b="1" i="0" dirty="0">
              <a:solidFill>
                <a:schemeClr val="tx1"/>
              </a:solidFill>
              <a:effectLst/>
              <a:latin typeface="Arial" panose="020B0604020202020204" pitchFamily="34" charset="0"/>
            </a:endParaRPr>
          </a:p>
        </p:txBody>
      </p:sp>
      <p:pic>
        <p:nvPicPr>
          <p:cNvPr id="42" name="Picture 41">
            <a:extLst>
              <a:ext uri="{FF2B5EF4-FFF2-40B4-BE49-F238E27FC236}">
                <a16:creationId xmlns:a16="http://schemas.microsoft.com/office/drawing/2014/main" id="{401F3672-17FC-3199-4DB9-8F6E80B848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5987" y="2310894"/>
            <a:ext cx="537821" cy="502241"/>
          </a:xfrm>
          <a:prstGeom prst="rect">
            <a:avLst/>
          </a:prstGeom>
        </p:spPr>
      </p:pic>
      <p:pic>
        <p:nvPicPr>
          <p:cNvPr id="57" name="Picture 56">
            <a:extLst>
              <a:ext uri="{FF2B5EF4-FFF2-40B4-BE49-F238E27FC236}">
                <a16:creationId xmlns:a16="http://schemas.microsoft.com/office/drawing/2014/main" id="{862C1165-FB5D-0D6B-631A-64105BDAE51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1415" y="1589282"/>
            <a:ext cx="708237" cy="708237"/>
          </a:xfrm>
          <a:prstGeom prst="rect">
            <a:avLst/>
          </a:prstGeom>
        </p:spPr>
      </p:pic>
      <p:sp>
        <p:nvSpPr>
          <p:cNvPr id="60" name="TextBox 59">
            <a:extLst>
              <a:ext uri="{FF2B5EF4-FFF2-40B4-BE49-F238E27FC236}">
                <a16:creationId xmlns:a16="http://schemas.microsoft.com/office/drawing/2014/main" id="{3FA19499-6B08-1F36-2552-3717FCC395C4}"/>
              </a:ext>
            </a:extLst>
          </p:cNvPr>
          <p:cNvSpPr txBox="1"/>
          <p:nvPr/>
        </p:nvSpPr>
        <p:spPr>
          <a:xfrm>
            <a:off x="954444" y="1584269"/>
            <a:ext cx="6546821" cy="5016758"/>
          </a:xfrm>
          <a:prstGeom prst="rect">
            <a:avLst/>
          </a:prstGeom>
          <a:noFill/>
        </p:spPr>
        <p:txBody>
          <a:bodyPr wrap="square" rtlCol="0">
            <a:spAutoFit/>
          </a:bodyPr>
          <a:lstStyle/>
          <a:p>
            <a:r>
              <a:rPr lang="vi-VN" sz="1600" dirty="0">
                <a:latin typeface="+mj-lt"/>
              </a:rPr>
              <a:t>Hỏng hóc HSTA do hỏng lower seal có nguyên nhân từ do </a:t>
            </a:r>
            <a:r>
              <a:rPr lang="en-US" sz="1600" dirty="0" err="1">
                <a:latin typeface="Times New Roman" panose="02020603050405020304" pitchFamily="18" charset="0"/>
                <a:cs typeface="Times New Roman" panose="02020603050405020304" pitchFamily="18" charset="0"/>
              </a:rPr>
              <a:t>nước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hoặc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tạp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chất</a:t>
            </a:r>
            <a:r>
              <a:rPr lang="en-US" sz="1600" dirty="0">
                <a:latin typeface="Times New Roman" panose="02020603050405020304" pitchFamily="18" charset="0"/>
                <a:cs typeface="Times New Roman" panose="02020603050405020304" pitchFamily="18" charset="0"/>
              </a:rPr>
              <a:t> x</a:t>
            </a:r>
            <a:r>
              <a:rPr lang="vi-VN" sz="1600" dirty="0">
                <a:latin typeface="+mj-lt"/>
              </a:rPr>
              <a:t>âm nhập.</a:t>
            </a:r>
            <a:endParaRPr lang="en-US" sz="1600" dirty="0">
              <a:latin typeface="+mj-lt"/>
            </a:endParaRPr>
          </a:p>
          <a:p>
            <a:endParaRPr lang="vi-VN" sz="1600" dirty="0">
              <a:latin typeface="+mj-lt"/>
            </a:endParaRPr>
          </a:p>
          <a:p>
            <a:r>
              <a:rPr lang="vi-VN" sz="1600" dirty="0">
                <a:latin typeface="+mj-lt"/>
              </a:rPr>
              <a:t>Giải pháp: </a:t>
            </a:r>
            <a:endParaRPr lang="en-US" sz="1600" dirty="0">
              <a:latin typeface="+mj-lt"/>
            </a:endParaRPr>
          </a:p>
          <a:p>
            <a:r>
              <a:rPr lang="en-US" sz="1600" dirty="0">
                <a:latin typeface="Times New Roman" panose="02020603050405020304" pitchFamily="18" charset="0"/>
                <a:cs typeface="Times New Roman" panose="02020603050405020304" pitchFamily="18" charset="0"/>
              </a:rPr>
              <a:t>T</a:t>
            </a:r>
            <a:r>
              <a:rPr lang="vi-VN" sz="1600" dirty="0">
                <a:latin typeface="+mj-lt"/>
              </a:rPr>
              <a:t>hực hiện SB nâng cấp tại shop: </a:t>
            </a:r>
            <a:endParaRPr lang="en-US" sz="1600" dirty="0">
              <a:latin typeface="+mj-lt"/>
            </a:endParaRPr>
          </a:p>
          <a:p>
            <a:pPr marL="285750" indent="-285750">
              <a:buFontTx/>
              <a:buChar char="-"/>
            </a:pPr>
            <a:r>
              <a:rPr lang="vi-VN" sz="1600" dirty="0">
                <a:latin typeface="+mj-lt"/>
              </a:rPr>
              <a:t>Lower seal hiện còn 3 tàu chưa nâng cấp</a:t>
            </a:r>
            <a:r>
              <a:rPr lang="en-US" sz="1600" dirty="0">
                <a:latin typeface="Times New Roman" panose="02020603050405020304" pitchFamily="18" charset="0"/>
                <a:cs typeface="Times New Roman" panose="02020603050405020304" pitchFamily="18" charset="0"/>
              </a:rPr>
              <a:t>, chi </a:t>
            </a:r>
            <a:r>
              <a:rPr lang="en-US" sz="1600" dirty="0" err="1">
                <a:latin typeface="Times New Roman" panose="02020603050405020304" pitchFamily="18" charset="0"/>
                <a:cs typeface="Times New Roman" panose="02020603050405020304" pitchFamily="18" charset="0"/>
              </a:rPr>
              <a:t>phí</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khoảng</a:t>
            </a:r>
            <a:r>
              <a:rPr lang="en-US" sz="1600" dirty="0">
                <a:latin typeface="Times New Roman" panose="02020603050405020304" pitchFamily="18" charset="0"/>
                <a:cs typeface="Times New Roman" panose="02020603050405020304" pitchFamily="18" charset="0"/>
              </a:rPr>
              <a:t> 17,5k </a:t>
            </a:r>
          </a:p>
          <a:p>
            <a:pPr marL="285750" indent="-285750">
              <a:buFontTx/>
              <a:buChar char="-"/>
            </a:pPr>
            <a:r>
              <a:rPr lang="vi-VN" sz="1600" dirty="0">
                <a:latin typeface="+mj-lt"/>
              </a:rPr>
              <a:t>Upper seal còn 5 tàu chưa nâng cấp</a:t>
            </a:r>
            <a:r>
              <a:rPr lang="en-US" sz="1600" dirty="0">
                <a:latin typeface="Times New Roman" panose="02020603050405020304" pitchFamily="18" charset="0"/>
                <a:cs typeface="Times New Roman" panose="02020603050405020304" pitchFamily="18" charset="0"/>
              </a:rPr>
              <a:t>, chi </a:t>
            </a:r>
            <a:r>
              <a:rPr lang="en-US" sz="1600" dirty="0" err="1">
                <a:latin typeface="Times New Roman" panose="02020603050405020304" pitchFamily="18" charset="0"/>
                <a:cs typeface="Times New Roman" panose="02020603050405020304" pitchFamily="18" charset="0"/>
              </a:rPr>
              <a:t>phí</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khoảng</a:t>
            </a:r>
            <a:r>
              <a:rPr lang="en-US" sz="1600" dirty="0">
                <a:latin typeface="Times New Roman" panose="02020603050405020304" pitchFamily="18" charset="0"/>
                <a:cs typeface="Times New Roman" panose="02020603050405020304" pitchFamily="18" charset="0"/>
              </a:rPr>
              <a:t> 7,7k</a:t>
            </a:r>
            <a:r>
              <a:rPr lang="vi-VN" sz="1600"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r>
              <a:rPr lang="vi-VN" sz="1600" dirty="0">
                <a:latin typeface="+mj-lt"/>
              </a:rPr>
              <a:t>MOOG không có hỗ trợ cho việc thực hiện 2 VSB này. </a:t>
            </a:r>
          </a:p>
          <a:p>
            <a:r>
              <a:rPr lang="vi-VN" sz="1600" dirty="0">
                <a:latin typeface="+mj-lt"/>
              </a:rPr>
              <a:t>Theo BOE thì nâng cấp seal cũng chưa ngăn chặn được hỏng hóc này. Do đó cần kiểm tra kiểm tra rỉ dầu HSTA ở 2000FH theo MPD 12-020-00: Nếu phát hiện leak sẽ bổ sung dầu bôi trơn để trì hoãn thay thế: </a:t>
            </a:r>
          </a:p>
          <a:p>
            <a:r>
              <a:rPr lang="vi-VN" sz="1600" dirty="0">
                <a:latin typeface="+mj-lt"/>
              </a:rPr>
              <a:t>- Thêm nhiều hơn 185ml thì thay HSTA;</a:t>
            </a:r>
          </a:p>
          <a:p>
            <a:r>
              <a:rPr lang="vi-VN" sz="1600" dirty="0">
                <a:latin typeface="+mj-lt"/>
              </a:rPr>
              <a:t>- Thêm từ 40-185ml thì kiểm tra interval 3day/10FC:</a:t>
            </a:r>
          </a:p>
          <a:p>
            <a:r>
              <a:rPr lang="vi-VN" sz="1600" dirty="0">
                <a:latin typeface="+mj-lt"/>
              </a:rPr>
              <a:t>- Thêm nhỏ hơn 40ml: kiểm tra theo interval của MPD </a:t>
            </a:r>
          </a:p>
          <a:p>
            <a:r>
              <a:rPr lang="vi-VN" sz="1600" dirty="0">
                <a:latin typeface="+mj-lt"/>
              </a:rPr>
              <a:t>Với A863, MPD last done 07/Nov/2024. Next due Mar/2025. </a:t>
            </a:r>
            <a:endParaRPr lang="en-US" sz="1600" dirty="0">
              <a:latin typeface="+mj-lt"/>
            </a:endParaRPr>
          </a:p>
          <a:p>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AOG do </a:t>
            </a:r>
            <a:r>
              <a:rPr lang="vi-VN" sz="1600" dirty="0">
                <a:latin typeface="+mj-lt"/>
              </a:rPr>
              <a:t>Leak phải thêm 540 ml dầu. BOE cấp RDR để bay 20FC đợi spare để thay.</a:t>
            </a:r>
          </a:p>
          <a:p>
            <a:r>
              <a:rPr lang="vi-VN" sz="1600" dirty="0">
                <a:latin typeface="+mj-lt"/>
              </a:rPr>
              <a:t>Khối tháo xuống SN 0246 là khối nhận từ KLM lắp lên ngày 23Dec2021 (TSN 24949FH; CSN 3625FC): Khối này được lấy từ Shop sau khi sửa Heavy leak và cũng không được làm VSB cho cả lower và upper seal.</a:t>
            </a:r>
            <a:endParaRPr lang="en-US" sz="1600" dirty="0">
              <a:latin typeface="+mj-lt"/>
            </a:endParaRPr>
          </a:p>
        </p:txBody>
      </p:sp>
      <p:pic>
        <p:nvPicPr>
          <p:cNvPr id="2" name="Picture 1"/>
          <p:cNvPicPr>
            <a:picLocks noChangeAspect="1"/>
          </p:cNvPicPr>
          <p:nvPr/>
        </p:nvPicPr>
        <p:blipFill>
          <a:blip r:embed="rId6"/>
          <a:stretch>
            <a:fillRect/>
          </a:stretch>
        </p:blipFill>
        <p:spPr>
          <a:xfrm>
            <a:off x="7590677" y="796535"/>
            <a:ext cx="4372723" cy="3252756"/>
          </a:xfrm>
          <a:prstGeom prst="rect">
            <a:avLst/>
          </a:prstGeom>
        </p:spPr>
      </p:pic>
      <p:pic>
        <p:nvPicPr>
          <p:cNvPr id="3" name="Picture 2"/>
          <p:cNvPicPr>
            <a:picLocks noChangeAspect="1"/>
          </p:cNvPicPr>
          <p:nvPr/>
        </p:nvPicPr>
        <p:blipFill>
          <a:blip r:embed="rId7"/>
          <a:stretch>
            <a:fillRect/>
          </a:stretch>
        </p:blipFill>
        <p:spPr>
          <a:xfrm>
            <a:off x="7541029" y="4300306"/>
            <a:ext cx="2179717" cy="2179717"/>
          </a:xfrm>
          <a:prstGeom prst="rect">
            <a:avLst/>
          </a:prstGeom>
        </p:spPr>
      </p:pic>
      <p:pic>
        <p:nvPicPr>
          <p:cNvPr id="5" name="Picture 4"/>
          <p:cNvPicPr>
            <a:picLocks noChangeAspect="1"/>
          </p:cNvPicPr>
          <p:nvPr/>
        </p:nvPicPr>
        <p:blipFill>
          <a:blip r:embed="rId8"/>
          <a:stretch>
            <a:fillRect/>
          </a:stretch>
        </p:blipFill>
        <p:spPr>
          <a:xfrm>
            <a:off x="9777038" y="4300306"/>
            <a:ext cx="2186362" cy="2186362"/>
          </a:xfrm>
          <a:prstGeom prst="rect">
            <a:avLst/>
          </a:prstGeom>
        </p:spPr>
      </p:pic>
    </p:spTree>
    <p:extLst>
      <p:ext uri="{BB962C8B-B14F-4D97-AF65-F5344CB8AC3E}">
        <p14:creationId xmlns:p14="http://schemas.microsoft.com/office/powerpoint/2010/main" val="12116946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47354-9256-FE9A-9DFF-20B2AE9F7CA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FC7AECE-D81E-1EB8-644E-2045F4B1206B}"/>
              </a:ext>
            </a:extLst>
          </p:cNvPr>
          <p:cNvSpPr>
            <a:spLocks noGrp="1"/>
          </p:cNvSpPr>
          <p:nvPr>
            <p:ph type="sldNum" idx="12"/>
          </p:nvPr>
        </p:nvSpPr>
        <p:spPr/>
        <p:txBody>
          <a:bodyPr/>
          <a:lstStyle/>
          <a:p>
            <a:fld id="{6C6B6B8D-D74E-47CD-B5EE-156060B7CD17}" type="slidenum">
              <a:rPr lang="en-US" smtClean="0"/>
              <a:pPr/>
              <a:t>35</a:t>
            </a:fld>
            <a:endParaRPr lang="en-US"/>
          </a:p>
        </p:txBody>
      </p:sp>
      <p:sp>
        <p:nvSpPr>
          <p:cNvPr id="30" name="Slide Number Placeholder 3">
            <a:extLst>
              <a:ext uri="{FF2B5EF4-FFF2-40B4-BE49-F238E27FC236}">
                <a16:creationId xmlns:a16="http://schemas.microsoft.com/office/drawing/2014/main" id="{63CA2AC1-A4F3-7902-5F36-85F435B40B29}"/>
              </a:ext>
            </a:extLst>
          </p:cNvPr>
          <p:cNvSpPr txBox="1">
            <a:spLocks/>
          </p:cNvSpPr>
          <p:nvPr/>
        </p:nvSpPr>
        <p:spPr>
          <a:xfrm>
            <a:off x="8610600" y="6356350"/>
            <a:ext cx="2743200" cy="365125"/>
          </a:xfrm>
          <a:prstGeom prst="rect">
            <a:avLst/>
          </a:prstGeom>
        </p:spPr>
        <p:txBody>
          <a:bodyPr spcFirstLastPara="1" vert="horz" wrap="square" lIns="91425" tIns="91425" rIns="91425" bIns="91425" rtlCol="0" anchor="ctr" anchorCtr="0">
            <a:normAutofit lnSpcReduction="10000"/>
          </a:bodyPr>
          <a:lstStyle>
            <a:defPPr>
              <a:defRPr lang="en-US"/>
            </a:defPPr>
            <a:lvl1pPr marL="0" lvl="0" algn="r" defTabSz="914400" rtl="0" eaLnBrk="1" latinLnBrk="0" hangingPunct="1">
              <a:buNone/>
              <a:defRPr sz="1200" kern="1200">
                <a:solidFill>
                  <a:schemeClr val="tx1">
                    <a:tint val="75000"/>
                  </a:schemeClr>
                </a:solidFill>
                <a:latin typeface="+mn-lt"/>
                <a:ea typeface="+mn-ea"/>
                <a:cs typeface="+mn-cs"/>
              </a:defRPr>
            </a:lvl1pPr>
            <a:lvl2pPr marL="457200" lvl="1" algn="l" defTabSz="914400" rtl="0" eaLnBrk="1" latinLnBrk="0" hangingPunct="1">
              <a:buNone/>
              <a:defRPr sz="1800" kern="1200">
                <a:solidFill>
                  <a:schemeClr val="tx1"/>
                </a:solidFill>
                <a:latin typeface="+mn-lt"/>
                <a:ea typeface="+mn-ea"/>
                <a:cs typeface="+mn-cs"/>
              </a:defRPr>
            </a:lvl2pPr>
            <a:lvl3pPr marL="914400" lvl="2" algn="l" defTabSz="914400" rtl="0" eaLnBrk="1" latinLnBrk="0" hangingPunct="1">
              <a:buNone/>
              <a:defRPr sz="1800" kern="1200">
                <a:solidFill>
                  <a:schemeClr val="tx1"/>
                </a:solidFill>
                <a:latin typeface="+mn-lt"/>
                <a:ea typeface="+mn-ea"/>
                <a:cs typeface="+mn-cs"/>
              </a:defRPr>
            </a:lvl3pPr>
            <a:lvl4pPr marL="1371600" lvl="3" algn="l" defTabSz="914400" rtl="0" eaLnBrk="1" latinLnBrk="0" hangingPunct="1">
              <a:buNone/>
              <a:defRPr sz="1800" kern="1200">
                <a:solidFill>
                  <a:schemeClr val="tx1"/>
                </a:solidFill>
                <a:latin typeface="+mn-lt"/>
                <a:ea typeface="+mn-ea"/>
                <a:cs typeface="+mn-cs"/>
              </a:defRPr>
            </a:lvl4pPr>
            <a:lvl5pPr marL="1828800" lvl="4" algn="l" defTabSz="914400" rtl="0" eaLnBrk="1" latinLnBrk="0" hangingPunct="1">
              <a:buNone/>
              <a:defRPr sz="1800" kern="1200">
                <a:solidFill>
                  <a:schemeClr val="tx1"/>
                </a:solidFill>
                <a:latin typeface="+mn-lt"/>
                <a:ea typeface="+mn-ea"/>
                <a:cs typeface="+mn-cs"/>
              </a:defRPr>
            </a:lvl5pPr>
            <a:lvl6pPr marL="2286000" lvl="5" algn="l" defTabSz="914400" rtl="0" eaLnBrk="1" latinLnBrk="0" hangingPunct="1">
              <a:buNone/>
              <a:defRPr sz="1800" kern="1200">
                <a:solidFill>
                  <a:schemeClr val="tx1"/>
                </a:solidFill>
                <a:latin typeface="+mn-lt"/>
                <a:ea typeface="+mn-ea"/>
                <a:cs typeface="+mn-cs"/>
              </a:defRPr>
            </a:lvl6pPr>
            <a:lvl7pPr marL="2743200" lvl="6" algn="l" defTabSz="914400" rtl="0" eaLnBrk="1" latinLnBrk="0" hangingPunct="1">
              <a:buNone/>
              <a:defRPr sz="1800" kern="1200">
                <a:solidFill>
                  <a:schemeClr val="tx1"/>
                </a:solidFill>
                <a:latin typeface="+mn-lt"/>
                <a:ea typeface="+mn-ea"/>
                <a:cs typeface="+mn-cs"/>
              </a:defRPr>
            </a:lvl7pPr>
            <a:lvl8pPr marL="3200400" lvl="7" algn="l" defTabSz="914400" rtl="0" eaLnBrk="1" latinLnBrk="0" hangingPunct="1">
              <a:buNone/>
              <a:defRPr sz="1800" kern="1200">
                <a:solidFill>
                  <a:schemeClr val="tx1"/>
                </a:solidFill>
                <a:latin typeface="+mn-lt"/>
                <a:ea typeface="+mn-ea"/>
                <a:cs typeface="+mn-cs"/>
              </a:defRPr>
            </a:lvl8pPr>
            <a:lvl9pPr marL="3657600" lvl="8" algn="l" defTabSz="914400" rtl="0" eaLnBrk="1" latinLnBrk="0" hangingPunct="1">
              <a:buNone/>
              <a:defRPr sz="1800" kern="1200">
                <a:solidFill>
                  <a:schemeClr val="tx1"/>
                </a:solidFill>
                <a:latin typeface="+mn-lt"/>
                <a:ea typeface="+mn-ea"/>
                <a:cs typeface="+mn-cs"/>
              </a:defRPr>
            </a:lvl9pPr>
          </a:lstStyle>
          <a:p>
            <a:fld id="{6C6B6B8D-D74E-47CD-B5EE-156060B7CD17}" type="slidenum">
              <a:rPr lang="en-US" smtClean="0"/>
              <a:pPr/>
              <a:t>35</a:t>
            </a:fld>
            <a:endParaRPr lang="en-US" dirty="0"/>
          </a:p>
        </p:txBody>
      </p:sp>
      <p:sp>
        <p:nvSpPr>
          <p:cNvPr id="31" name="Title 3">
            <a:extLst>
              <a:ext uri="{FF2B5EF4-FFF2-40B4-BE49-F238E27FC236}">
                <a16:creationId xmlns:a16="http://schemas.microsoft.com/office/drawing/2014/main" id="{E845019C-89CD-2204-E09A-1914E94AC95B}"/>
              </a:ext>
            </a:extLst>
          </p:cNvPr>
          <p:cNvSpPr txBox="1">
            <a:spLocks/>
          </p:cNvSpPr>
          <p:nvPr/>
        </p:nvSpPr>
        <p:spPr>
          <a:xfrm>
            <a:off x="304800" y="2057400"/>
            <a:ext cx="11658600" cy="14700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i="0" kern="1200">
                <a:solidFill>
                  <a:srgbClr val="D2A43B"/>
                </a:solidFill>
                <a:latin typeface="Montserrat" pitchFamily="2" charset="77"/>
                <a:ea typeface="+mj-ea"/>
                <a:cs typeface="+mj-cs"/>
              </a:defRPr>
            </a:lvl1pPr>
          </a:lstStyle>
          <a:p>
            <a:endParaRPr lang="en-US" altLang="en-US" sz="5400" dirty="0">
              <a:latin typeface="Arial" panose="020B0604020202020204" pitchFamily="34" charset="0"/>
              <a:cs typeface="Arial" panose="020B0604020202020204" pitchFamily="34" charset="0"/>
            </a:endParaRPr>
          </a:p>
        </p:txBody>
      </p:sp>
      <p:grpSp>
        <p:nvGrpSpPr>
          <p:cNvPr id="34" name="Group 33">
            <a:extLst>
              <a:ext uri="{FF2B5EF4-FFF2-40B4-BE49-F238E27FC236}">
                <a16:creationId xmlns:a16="http://schemas.microsoft.com/office/drawing/2014/main" id="{22A3911A-C718-FE02-0B4E-505CABFF79AA}"/>
              </a:ext>
            </a:extLst>
          </p:cNvPr>
          <p:cNvGrpSpPr/>
          <p:nvPr/>
        </p:nvGrpSpPr>
        <p:grpSpPr>
          <a:xfrm>
            <a:off x="976560" y="288234"/>
            <a:ext cx="10755065" cy="678753"/>
            <a:chOff x="976560" y="323070"/>
            <a:chExt cx="10755065" cy="678753"/>
          </a:xfrm>
        </p:grpSpPr>
        <p:cxnSp>
          <p:nvCxnSpPr>
            <p:cNvPr id="35" name="Straight Connector 34">
              <a:extLst>
                <a:ext uri="{FF2B5EF4-FFF2-40B4-BE49-F238E27FC236}">
                  <a16:creationId xmlns:a16="http://schemas.microsoft.com/office/drawing/2014/main" id="{DC24D79C-E706-6877-64B1-5E6D0B5F6B11}"/>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2E21C6AD-47E3-5EB3-3BBE-3C6BA558B9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6" name="Rectangle: Single Corner Rounded 5">
            <a:extLst>
              <a:ext uri="{FF2B5EF4-FFF2-40B4-BE49-F238E27FC236}">
                <a16:creationId xmlns:a16="http://schemas.microsoft.com/office/drawing/2014/main" id="{562488D9-0F70-B293-2327-05165C11C4DA}"/>
              </a:ext>
            </a:extLst>
          </p:cNvPr>
          <p:cNvSpPr/>
          <p:nvPr/>
        </p:nvSpPr>
        <p:spPr>
          <a:xfrm flipH="1" flipV="1">
            <a:off x="408978" y="801332"/>
            <a:ext cx="11555668" cy="2856268"/>
          </a:xfrm>
          <a:prstGeom prst="round1Rect">
            <a:avLst/>
          </a:prstGeom>
          <a:pattFill prst="lgGrid">
            <a:fgClr>
              <a:schemeClr val="accent1">
                <a:lumMod val="40000"/>
                <a:lumOff val="60000"/>
              </a:schemeClr>
            </a:fgClr>
            <a:bgClr>
              <a:schemeClr val="accent5">
                <a:lumMod val="20000"/>
                <a:lumOff val="80000"/>
              </a:schemeClr>
            </a:bgClr>
          </a:patt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30264E5F-CF75-88B4-F2F7-BFAC3CC334A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7354" y="76200"/>
            <a:ext cx="537821" cy="505652"/>
          </a:xfrm>
          <a:prstGeom prst="rect">
            <a:avLst/>
          </a:prstGeom>
        </p:spPr>
      </p:pic>
      <p:sp>
        <p:nvSpPr>
          <p:cNvPr id="8" name="Title 1">
            <a:extLst>
              <a:ext uri="{FF2B5EF4-FFF2-40B4-BE49-F238E27FC236}">
                <a16:creationId xmlns:a16="http://schemas.microsoft.com/office/drawing/2014/main" id="{424C5813-E05C-E9B4-EB1C-A01A50699FEC}"/>
              </a:ext>
            </a:extLst>
          </p:cNvPr>
          <p:cNvSpPr txBox="1">
            <a:spLocks/>
          </p:cNvSpPr>
          <p:nvPr/>
        </p:nvSpPr>
        <p:spPr>
          <a:xfrm>
            <a:off x="730894" y="86668"/>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B787 – ATA 24 – </a:t>
            </a:r>
            <a:r>
              <a:rPr lang="en-US" sz="2800" b="1" dirty="0">
                <a:solidFill>
                  <a:srgbClr val="D2A43B"/>
                </a:solidFill>
                <a:ea typeface="Tahoma" pitchFamily="34" charset="0"/>
                <a:cs typeface="Times New Roman" panose="02020603050405020304" pitchFamily="18" charset="0"/>
              </a:rPr>
              <a:t>VFSG</a:t>
            </a:r>
            <a:endPar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7FB20AC9-3973-75D1-2835-3DAB134A4819}"/>
              </a:ext>
            </a:extLst>
          </p:cNvPr>
          <p:cNvSpPr txBox="1"/>
          <p:nvPr/>
        </p:nvSpPr>
        <p:spPr>
          <a:xfrm>
            <a:off x="832753" y="3799344"/>
            <a:ext cx="5059127" cy="150810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1200"/>
              </a:spcBef>
              <a:spcAft>
                <a:spcPts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Root Cause / Investigation</a:t>
            </a:r>
          </a:p>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MMSG 24-16003 </a:t>
            </a:r>
            <a:r>
              <a:rPr kumimoji="0" lang="en-US" sz="140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th</a:t>
            </a:r>
            <a:r>
              <a:rPr kumimoji="0" lang="vi-VN" sz="140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ư</a:t>
            </a:r>
            <a:r>
              <a:rPr kumimoji="0" lang="en-US" sz="140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ờng</a:t>
            </a:r>
            <a:r>
              <a:rPr kumimoji="0" lang="en-US" sz="140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do </a:t>
            </a:r>
            <a:r>
              <a:rPr kumimoji="0" lang="en-US" sz="140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lỗi</a:t>
            </a:r>
            <a:r>
              <a:rPr kumimoji="0" lang="en-US" sz="140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đến</a:t>
            </a:r>
            <a:r>
              <a:rPr kumimoji="0" lang="en-US" sz="140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VFSG rectifier diode assembly.</a:t>
            </a:r>
          </a:p>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Khối</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VFSG R1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onwing</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trên</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A879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từ</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2019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chưa</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thực</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hiện</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thay</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thế</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lần</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nào</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a:t>
            </a:r>
            <a:endParaRPr kumimoji="0" lang="en-US" sz="140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D3F2D54-728C-F6CA-DB73-D75F01F7ADF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17901" y="3680555"/>
            <a:ext cx="537821" cy="502241"/>
          </a:xfrm>
          <a:prstGeom prst="rect">
            <a:avLst/>
          </a:prstGeom>
        </p:spPr>
      </p:pic>
      <p:sp>
        <p:nvSpPr>
          <p:cNvPr id="11" name="TextBox 10">
            <a:extLst>
              <a:ext uri="{FF2B5EF4-FFF2-40B4-BE49-F238E27FC236}">
                <a16:creationId xmlns:a16="http://schemas.microsoft.com/office/drawing/2014/main" id="{92873990-1CC0-4855-45BA-6FE36BFA24EB}"/>
              </a:ext>
            </a:extLst>
          </p:cNvPr>
          <p:cNvSpPr txBox="1"/>
          <p:nvPr/>
        </p:nvSpPr>
        <p:spPr>
          <a:xfrm>
            <a:off x="6320226" y="3799344"/>
            <a:ext cx="5272033" cy="267765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1200"/>
              </a:spcBef>
              <a:spcAft>
                <a:spcPts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Final action:</a:t>
            </a:r>
          </a:p>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Thay</a:t>
            </a:r>
            <a:r>
              <a:rPr kumimoji="0" lang="en-US" sz="140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VFSG R1, MSG Clear. </a:t>
            </a:r>
            <a:r>
              <a:rPr kumimoji="0" lang="en-US" sz="140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Đến</a:t>
            </a:r>
            <a:r>
              <a:rPr kumimoji="0" lang="en-US" sz="140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nay </a:t>
            </a:r>
            <a:r>
              <a:rPr kumimoji="0" lang="en-US" sz="140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không</a:t>
            </a:r>
            <a:r>
              <a:rPr kumimoji="0" lang="en-US" sz="140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xuất</a:t>
            </a:r>
            <a:r>
              <a:rPr kumimoji="0" lang="en-US" sz="140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hiện</a:t>
            </a:r>
            <a:r>
              <a:rPr kumimoji="0" lang="en-US" sz="140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lại</a:t>
            </a:r>
            <a:r>
              <a:rPr kumimoji="0" lang="en-US" sz="140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cảnh</a:t>
            </a:r>
            <a:r>
              <a:rPr kumimoji="0" lang="en-US" sz="140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báo</a:t>
            </a:r>
            <a:r>
              <a:rPr kumimoji="0" lang="en-US" sz="140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a:t>
            </a:r>
          </a:p>
          <a:p>
            <a:pPr marL="285750" lvl="0" indent="-285750" algn="just">
              <a:spcBef>
                <a:spcPts val="1200"/>
              </a:spcBef>
              <a:buFont typeface="Arial" panose="020B0604020202020204" pitchFamily="34" charset="0"/>
              <a:buChar char="•"/>
              <a:defRPr/>
            </a:pP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Boeing, Collins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sẽ</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nâng</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cấp</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diode, rotor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trên</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cấu</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hình</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H05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dự</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kiến</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SB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có</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trong</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3/2025)</a:t>
            </a:r>
          </a:p>
          <a:p>
            <a:pPr lvl="0" algn="just">
              <a:spcBef>
                <a:spcPts val="1200"/>
              </a:spcBef>
              <a:defRPr/>
            </a:pP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7001330H05 will include improved rotating rectifier diode assembly and rotor winding improvements.</a:t>
            </a:r>
          </a:p>
          <a:p>
            <a:pPr lvl="0" algn="just">
              <a:spcBef>
                <a:spcPts val="1200"/>
              </a:spcBef>
              <a:defRPr/>
            </a:pP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The new rotating rectifier diode assembly will also be available for VFSG H04 configuration through a separate Collins service bulletin.</a:t>
            </a:r>
            <a:endParaRPr kumimoji="0" lang="en-US" sz="140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6C8E4E40-18B1-4D7F-AC44-D33A5165490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07975" y="3719367"/>
            <a:ext cx="524778" cy="502242"/>
          </a:xfrm>
          <a:prstGeom prst="rect">
            <a:avLst/>
          </a:prstGeom>
        </p:spPr>
      </p:pic>
      <p:sp>
        <p:nvSpPr>
          <p:cNvPr id="13" name="Rectangle 12">
            <a:extLst>
              <a:ext uri="{FF2B5EF4-FFF2-40B4-BE49-F238E27FC236}">
                <a16:creationId xmlns:a16="http://schemas.microsoft.com/office/drawing/2014/main" id="{65908593-1FD0-012E-0ADC-4651129EC069}"/>
              </a:ext>
            </a:extLst>
          </p:cNvPr>
          <p:cNvSpPr/>
          <p:nvPr/>
        </p:nvSpPr>
        <p:spPr>
          <a:xfrm>
            <a:off x="601051" y="838200"/>
            <a:ext cx="11133749" cy="646331"/>
          </a:xfrm>
          <a:prstGeom prst="rect">
            <a:avLst/>
          </a:prstGeom>
        </p:spPr>
        <p:txBody>
          <a:bodyPr wrap="square">
            <a:spAutoFit/>
          </a:bodyPr>
          <a:lstStyle/>
          <a:p>
            <a:pPr lvl="0" indent="114300">
              <a:defRPr/>
            </a:pPr>
            <a:r>
              <a:rPr kumimoji="0" lang="en-US"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A879 GTB </a:t>
            </a:r>
            <a:r>
              <a:rPr lang="en-US"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 ELEC GEN R</a:t>
            </a:r>
          </a:p>
          <a:p>
            <a:pPr lvl="0" indent="114300">
              <a:defRPr/>
            </a:pPr>
            <a:r>
              <a:rPr lang="en-US"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DURING PREPARE FOR TAKE OFF, CAPT INFORM "ELEC GEN R", CAPT DECIDED RTO &amp; GTB (</a:t>
            </a:r>
            <a:r>
              <a:rPr kumimoji="0" lang="en-US"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14/10/2024)</a:t>
            </a:r>
          </a:p>
        </p:txBody>
      </p:sp>
      <p:sp>
        <p:nvSpPr>
          <p:cNvPr id="14" name="TextBox 13">
            <a:extLst>
              <a:ext uri="{FF2B5EF4-FFF2-40B4-BE49-F238E27FC236}">
                <a16:creationId xmlns:a16="http://schemas.microsoft.com/office/drawing/2014/main" id="{69971D4F-A272-D2D1-E2C7-36C7A7F34EA2}"/>
              </a:ext>
            </a:extLst>
          </p:cNvPr>
          <p:cNvSpPr txBox="1"/>
          <p:nvPr/>
        </p:nvSpPr>
        <p:spPr>
          <a:xfrm>
            <a:off x="712905" y="1453039"/>
            <a:ext cx="6825888" cy="830997"/>
          </a:xfrm>
          <a:prstGeom prst="rect">
            <a:avLst/>
          </a:prstGeom>
          <a:noFill/>
        </p:spPr>
        <p:txBody>
          <a:bodyPr wrap="square" rtlCol="0">
            <a:spAutoFit/>
          </a:bodyPr>
          <a:lstStyle/>
          <a:p>
            <a:pPr marL="285750" lvl="0" indent="-285750" algn="just">
              <a:spcBef>
                <a:spcPts val="1200"/>
              </a:spcBef>
              <a:buFont typeface="Arial" panose="020B0604020202020204" pitchFamily="34" charset="0"/>
              <a:buChar char="•"/>
              <a:defRPr/>
            </a:pPr>
            <a:r>
              <a:rPr lang="vi-VN" sz="1600" dirty="0">
                <a:solidFill>
                  <a:srgbClr val="4472C4">
                    <a:lumMod val="50000"/>
                  </a:srgbClr>
                </a:solidFill>
                <a:latin typeface="Times New Roman" panose="02020603050405020304" pitchFamily="18" charset="0"/>
                <a:ea typeface="Cambria" panose="02040503050406030204" pitchFamily="18" charset="0"/>
                <a:cs typeface="Times New Roman" panose="02020603050405020304" pitchFamily="18" charset="0"/>
              </a:rPr>
              <a:t>Tàu A879 chuyến bay NRT-SGN trước đó cũng hiện MSG ELEC GEN SYS khi đang bay tuy nhiên lúc đáp SGN thợ máy kiểm tra tình trạng kĩ thuật tàu bay tốt, không có cảnh báo</a:t>
            </a:r>
            <a:endParaRPr kumimoji="0" lang="en-US" sz="16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5331A720-26C7-9921-747D-D3D040EC9AB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3435" y="2232007"/>
            <a:ext cx="9428769" cy="1328975"/>
          </a:xfrm>
          <a:prstGeom prst="rect">
            <a:avLst/>
          </a:prstGeom>
        </p:spPr>
      </p:pic>
    </p:spTree>
    <p:extLst>
      <p:ext uri="{BB962C8B-B14F-4D97-AF65-F5344CB8AC3E}">
        <p14:creationId xmlns:p14="http://schemas.microsoft.com/office/powerpoint/2010/main" val="11277657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36</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id="{A9960ADF-4BA9-6E95-B78C-DB578E31A789}"/>
              </a:ext>
            </a:extLst>
          </p:cNvPr>
          <p:cNvGraphicFramePr>
            <a:graphicFrameLocks noGrp="1"/>
          </p:cNvGraphicFramePr>
          <p:nvPr>
            <p:extLst/>
          </p:nvPr>
        </p:nvGraphicFramePr>
        <p:xfrm>
          <a:off x="175690" y="501463"/>
          <a:ext cx="11840622" cy="6547594"/>
        </p:xfrm>
        <a:graphic>
          <a:graphicData uri="http://schemas.openxmlformats.org/drawingml/2006/table">
            <a:tbl>
              <a:tblPr/>
              <a:tblGrid>
                <a:gridCol w="397516">
                  <a:extLst>
                    <a:ext uri="{9D8B030D-6E8A-4147-A177-3AD203B41FA5}">
                      <a16:colId xmlns:a16="http://schemas.microsoft.com/office/drawing/2014/main" val="3368476717"/>
                    </a:ext>
                  </a:extLst>
                </a:gridCol>
                <a:gridCol w="527715">
                  <a:extLst>
                    <a:ext uri="{9D8B030D-6E8A-4147-A177-3AD203B41FA5}">
                      <a16:colId xmlns:a16="http://schemas.microsoft.com/office/drawing/2014/main" val="2638635183"/>
                    </a:ext>
                  </a:extLst>
                </a:gridCol>
                <a:gridCol w="636895">
                  <a:extLst>
                    <a:ext uri="{9D8B030D-6E8A-4147-A177-3AD203B41FA5}">
                      <a16:colId xmlns:a16="http://schemas.microsoft.com/office/drawing/2014/main" val="1575756061"/>
                    </a:ext>
                  </a:extLst>
                </a:gridCol>
                <a:gridCol w="1173708">
                  <a:extLst>
                    <a:ext uri="{9D8B030D-6E8A-4147-A177-3AD203B41FA5}">
                      <a16:colId xmlns:a16="http://schemas.microsoft.com/office/drawing/2014/main" val="1465200028"/>
                    </a:ext>
                  </a:extLst>
                </a:gridCol>
                <a:gridCol w="1091820">
                  <a:extLst>
                    <a:ext uri="{9D8B030D-6E8A-4147-A177-3AD203B41FA5}">
                      <a16:colId xmlns:a16="http://schemas.microsoft.com/office/drawing/2014/main" val="3922870039"/>
                    </a:ext>
                  </a:extLst>
                </a:gridCol>
                <a:gridCol w="1919785">
                  <a:extLst>
                    <a:ext uri="{9D8B030D-6E8A-4147-A177-3AD203B41FA5}">
                      <a16:colId xmlns:a16="http://schemas.microsoft.com/office/drawing/2014/main" val="1245279948"/>
                    </a:ext>
                  </a:extLst>
                </a:gridCol>
                <a:gridCol w="6093183">
                  <a:extLst>
                    <a:ext uri="{9D8B030D-6E8A-4147-A177-3AD203B41FA5}">
                      <a16:colId xmlns:a16="http://schemas.microsoft.com/office/drawing/2014/main" val="2156147322"/>
                    </a:ext>
                  </a:extLst>
                </a:gridCol>
              </a:tblGrid>
              <a:tr h="166061">
                <a:tc>
                  <a:txBody>
                    <a:bodyPr/>
                    <a:lstStyle/>
                    <a:p>
                      <a:pPr algn="ctr" fontAlgn="ctr"/>
                      <a:r>
                        <a:rPr lang="en-US" sz="1100" b="0" i="0" u="none" strike="noStrike">
                          <a:solidFill>
                            <a:srgbClr val="000000"/>
                          </a:solidFill>
                          <a:effectLst/>
                          <a:latin typeface="Calibri" panose="020F0502020204030204" pitchFamily="34" charset="0"/>
                        </a:rPr>
                        <a:t>No</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Fleet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Tình trạng tàu bay</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Tình trạng KT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100" b="0" i="0" u="none" strike="noStrike">
                          <a:solidFill>
                            <a:srgbClr val="000000"/>
                          </a:solidFill>
                          <a:effectLst/>
                          <a:latin typeface="Calibri" panose="020F0502020204030204" pitchFamily="34" charset="0"/>
                        </a:rPr>
                        <a:t>Điều kiện chuyên cơ</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Ghi chú</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36555444"/>
                  </a:ext>
                </a:extLst>
              </a:tr>
              <a:tr h="166061">
                <a:tc>
                  <a:txBody>
                    <a:bodyPr/>
                    <a:lstStyle/>
                    <a:p>
                      <a:pPr algn="ctr" fontAlgn="ctr"/>
                      <a:r>
                        <a:rPr lang="en-US" sz="1100" b="0" i="0" u="none" strike="noStrike">
                          <a:solidFill>
                            <a:srgbClr val="000000"/>
                          </a:solidFill>
                          <a:effectLst/>
                          <a:latin typeface="Calibri" panose="020F0502020204030204" pitchFamily="34" charset="0"/>
                        </a:rPr>
                        <a:t>1</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A861</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6380384"/>
                  </a:ext>
                </a:extLst>
              </a:tr>
              <a:tr h="166061">
                <a:tc>
                  <a:txBody>
                    <a:bodyPr/>
                    <a:lstStyle/>
                    <a:p>
                      <a:pPr algn="ctr" fontAlgn="ctr"/>
                      <a:r>
                        <a:rPr lang="en-US" sz="1100" b="0" i="0" u="none" strike="noStrike">
                          <a:solidFill>
                            <a:srgbClr val="000000"/>
                          </a:solidFill>
                          <a:effectLst/>
                          <a:latin typeface="Calibri" panose="020F0502020204030204" pitchFamily="34" charset="0"/>
                        </a:rPr>
                        <a:t>2</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A862</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0493992"/>
                  </a:ext>
                </a:extLst>
              </a:tr>
              <a:tr h="348364">
                <a:tc>
                  <a:txBody>
                    <a:bodyPr/>
                    <a:lstStyle/>
                    <a:p>
                      <a:pPr algn="ctr" fontAlgn="ctr"/>
                      <a:r>
                        <a:rPr lang="en-US" sz="1100" b="0" i="0" u="none" strike="noStrike">
                          <a:solidFill>
                            <a:srgbClr val="000000"/>
                          </a:solidFill>
                          <a:effectLst/>
                          <a:latin typeface="Calibri" panose="020F0502020204030204" pitchFamily="34" charset="0"/>
                        </a:rPr>
                        <a:t>3</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A863</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Engine 1 (958170) HPT 1B có hỏng hóc (giảm tần suất 50FC)</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B1601 STS TAIL AIRFLOW SYS</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0536219"/>
                  </a:ext>
                </a:extLst>
              </a:tr>
              <a:tr h="580055">
                <a:tc>
                  <a:txBody>
                    <a:bodyPr/>
                    <a:lstStyle/>
                    <a:p>
                      <a:pPr algn="ctr" fontAlgn="ctr"/>
                      <a:r>
                        <a:rPr lang="en-US" sz="1100" b="0" i="0" u="none" strike="noStrike">
                          <a:solidFill>
                            <a:srgbClr val="000000"/>
                          </a:solidFill>
                          <a:effectLst/>
                          <a:latin typeface="Calibri" panose="020F0502020204030204" pitchFamily="34" charset="0"/>
                        </a:rPr>
                        <a:t>4</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A864</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Engine 2 (956577) HPT 1B có hỏng hóc (giảm tần suất 50FC)</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B1223 RAISED " LEFT WING TIP WHITE POSITION LIGHT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B1224 RAISED FOR 01 LED MODULE OF FWD RH WING POSITION LIGHT INOP</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6672043"/>
                  </a:ext>
                </a:extLst>
              </a:tr>
              <a:tr h="166061">
                <a:tc>
                  <a:txBody>
                    <a:bodyPr/>
                    <a:lstStyle/>
                    <a:p>
                      <a:pPr algn="ctr" fontAlgn="ctr"/>
                      <a:r>
                        <a:rPr lang="en-US" sz="1100" b="0" i="0" u="none" strike="noStrike">
                          <a:solidFill>
                            <a:srgbClr val="000000"/>
                          </a:solidFill>
                          <a:effectLst/>
                          <a:latin typeface="Calibri" panose="020F0502020204030204" pitchFamily="34" charset="0"/>
                        </a:rPr>
                        <a:t>5</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A865</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4457128"/>
                  </a:ext>
                </a:extLst>
              </a:tr>
              <a:tr h="696312">
                <a:tc>
                  <a:txBody>
                    <a:bodyPr/>
                    <a:lstStyle/>
                    <a:p>
                      <a:pPr algn="ctr" fontAlgn="ctr"/>
                      <a:r>
                        <a:rPr lang="en-US" sz="1100" b="0" i="0" u="none" strike="noStrike">
                          <a:solidFill>
                            <a:srgbClr val="000000"/>
                          </a:solidFill>
                          <a:effectLst/>
                          <a:latin typeface="Calibri" panose="020F0502020204030204" pitchFamily="34" charset="0"/>
                        </a:rPr>
                        <a:t>6</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A866</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Calibri" panose="020F0502020204030204" pitchFamily="34" charset="0"/>
                        </a:rPr>
                        <a:t>+ Động cơ số 2 giảm tần suất soi 100 FC HPTS1B missing material theo Departure Recommendation 01643368 Revision 0.0</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B1307 RAISED : “BRAKE 1 WORN TO LIMIT, DEACTIVATED BY CMCF</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B1308 RAISED 01 RED WING TIP POSITION LIGHT INOP</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6180541"/>
                  </a:ext>
                </a:extLst>
              </a:tr>
              <a:tr h="464209">
                <a:tc>
                  <a:txBody>
                    <a:bodyPr/>
                    <a:lstStyle/>
                    <a:p>
                      <a:pPr algn="ctr" fontAlgn="ctr"/>
                      <a:r>
                        <a:rPr lang="en-US" sz="1100" b="0" i="0" u="none" strike="noStrike">
                          <a:solidFill>
                            <a:srgbClr val="000000"/>
                          </a:solidFill>
                          <a:effectLst/>
                          <a:latin typeface="Calibri" panose="020F0502020204030204" pitchFamily="34" charset="0"/>
                        </a:rPr>
                        <a:t>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A867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Calibri" panose="020F0502020204030204" pitchFamily="34" charset="0"/>
                        </a:rPr>
                        <a:t>+ Động cơ số 1 HPT STG 2 CRACK, giảm tần suất soi 250 FC theo DR Recommendation 01379322 Revision 0.0</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B1528 AFT CARGO HANDLING SYS INOP </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7150555"/>
                  </a:ext>
                </a:extLst>
              </a:tr>
              <a:tr h="232104">
                <a:tc>
                  <a:txBody>
                    <a:bodyPr/>
                    <a:lstStyle/>
                    <a:p>
                      <a:pPr algn="ctr" fontAlgn="ctr"/>
                      <a:r>
                        <a:rPr lang="en-US" sz="1100" b="0" i="0" u="none" strike="noStrike">
                          <a:solidFill>
                            <a:srgbClr val="000000"/>
                          </a:solidFill>
                          <a:effectLst/>
                          <a:latin typeface="Calibri" panose="020F0502020204030204" pitchFamily="34" charset="0"/>
                        </a:rPr>
                        <a:t>8</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A868</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Calibri" panose="020F0502020204030204" pitchFamily="34" charset="0"/>
                        </a:rPr>
                        <a:t>B1061 RAISED: ENG#1 REPLACE OR RE-INSPECT NOT TO EXCEED 50 CYCLES, REF DR#02104796, EXP: 6074 FC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5816813"/>
                  </a:ext>
                </a:extLst>
              </a:tr>
              <a:tr h="348364">
                <a:tc>
                  <a:txBody>
                    <a:bodyPr/>
                    <a:lstStyle/>
                    <a:p>
                      <a:pPr algn="ctr" fontAlgn="ctr"/>
                      <a:r>
                        <a:rPr lang="en-US" sz="1100" b="0" i="0" u="none" strike="noStrike">
                          <a:solidFill>
                            <a:srgbClr val="000000"/>
                          </a:solidFill>
                          <a:effectLst/>
                          <a:latin typeface="Calibri" panose="020F0502020204030204" pitchFamily="34" charset="0"/>
                        </a:rPr>
                        <a:t>9</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A869</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4989154"/>
                  </a:ext>
                </a:extLst>
              </a:tr>
              <a:tr h="348364">
                <a:tc>
                  <a:txBody>
                    <a:bodyPr/>
                    <a:lstStyle/>
                    <a:p>
                      <a:pPr algn="ctr" fontAlgn="ctr"/>
                      <a:r>
                        <a:rPr lang="en-US" sz="1100" b="0" i="0" u="none" strike="noStrike">
                          <a:solidFill>
                            <a:srgbClr val="000000"/>
                          </a:solidFill>
                          <a:effectLst/>
                          <a:latin typeface="Calibri" panose="020F0502020204030204" pitchFamily="34" charset="0"/>
                        </a:rPr>
                        <a:t>10</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A870</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Calibri" panose="020F0502020204030204" pitchFamily="34" charset="0"/>
                        </a:rPr>
                        <a:t>B1378 - LEFT LOWER RECIRCULATION FAN INOPERATIVE.</a:t>
                      </a: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B1374 STS: "TAIL AIRFLOW SYS"</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6113280"/>
                  </a:ext>
                </a:extLst>
              </a:tr>
              <a:tr h="232104">
                <a:tc>
                  <a:txBody>
                    <a:bodyPr/>
                    <a:lstStyle/>
                    <a:p>
                      <a:pPr algn="ctr" fontAlgn="ctr"/>
                      <a:r>
                        <a:rPr lang="en-US" sz="1100" b="0" i="0" u="none" strike="noStrike">
                          <a:solidFill>
                            <a:srgbClr val="000000"/>
                          </a:solidFill>
                          <a:effectLst/>
                          <a:latin typeface="Calibri" panose="020F0502020204030204" pitchFamily="34" charset="0"/>
                        </a:rPr>
                        <a:t>11</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A871</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Engine 1 (956913) HPT 1B có hỏng hóc (giảm tần suất 50FC)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4684709"/>
                  </a:ext>
                </a:extLst>
              </a:tr>
              <a:tr h="348364">
                <a:tc>
                  <a:txBody>
                    <a:bodyPr/>
                    <a:lstStyle/>
                    <a:p>
                      <a:pPr algn="ctr" fontAlgn="ctr"/>
                      <a:r>
                        <a:rPr lang="en-US" sz="1100" b="0" i="0" u="none" strike="noStrike">
                          <a:solidFill>
                            <a:srgbClr val="000000"/>
                          </a:solidFill>
                          <a:effectLst/>
                          <a:latin typeface="Calibri" panose="020F0502020204030204" pitchFamily="34" charset="0"/>
                        </a:rPr>
                        <a:t>12</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A872</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Calibri" panose="020F0502020204030204" pitchFamily="34" charset="0"/>
                        </a:rPr>
                        <a:t>+ REF DEPARTURE RECOMMENDATION 02117441 ADD B1240 AT THE END OF THE 50 CYCLES REMOVE THE ENGINE OR RE-INSPEC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1856437"/>
                  </a:ext>
                </a:extLst>
              </a:tr>
              <a:tr h="653741">
                <a:tc>
                  <a:txBody>
                    <a:bodyPr/>
                    <a:lstStyle/>
                    <a:p>
                      <a:pPr algn="ctr" fontAlgn="ctr"/>
                      <a:r>
                        <a:rPr lang="en-US" sz="1100" b="0" i="0" u="none" strike="noStrike">
                          <a:solidFill>
                            <a:srgbClr val="000000"/>
                          </a:solidFill>
                          <a:effectLst/>
                          <a:latin typeface="Calibri" panose="020F0502020204030204" pitchFamily="34" charset="0"/>
                        </a:rPr>
                        <a:t>13</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A873</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Calibri" panose="020F0502020204030204" pitchFamily="34" charset="0"/>
                        </a:rPr>
                        <a:t>+ động cơ số 2 giảm tần suất soi HPT 1nd stage 100 FC</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B489 AFT CARGO HANDLING SYS INOP</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B495 STS MSG: ANTISKID 2</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B501 APU INOP DUE TO OIL LEAK</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1226375"/>
                  </a:ext>
                </a:extLst>
              </a:tr>
              <a:tr h="166061">
                <a:tc>
                  <a:txBody>
                    <a:bodyPr/>
                    <a:lstStyle/>
                    <a:p>
                      <a:pPr algn="ctr" fontAlgn="ctr"/>
                      <a:r>
                        <a:rPr lang="en-US" sz="1100" b="0" i="0" u="none" strike="noStrike">
                          <a:solidFill>
                            <a:srgbClr val="000000"/>
                          </a:solidFill>
                          <a:effectLst/>
                          <a:latin typeface="Calibri" panose="020F0502020204030204" pitchFamily="34" charset="0"/>
                        </a:rPr>
                        <a:t>14</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A874</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Calibri" panose="020F0502020204030204" pitchFamily="34" charset="0"/>
                        </a:rPr>
                        <a:t>+ động cơ số 2 giảm tần suất soi HPT 1nd stage 100 FC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70123051"/>
                  </a:ext>
                </a:extLst>
              </a:tr>
              <a:tr h="166061">
                <a:tc>
                  <a:txBody>
                    <a:bodyPr/>
                    <a:lstStyle/>
                    <a:p>
                      <a:pPr algn="ctr" fontAlgn="ctr"/>
                      <a:r>
                        <a:rPr lang="en-US" sz="1100" b="0" i="0" u="none" strike="noStrike">
                          <a:solidFill>
                            <a:srgbClr val="000000"/>
                          </a:solidFill>
                          <a:effectLst/>
                          <a:latin typeface="Calibri" panose="020F0502020204030204" pitchFamily="34" charset="0"/>
                        </a:rPr>
                        <a:t>15</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A877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0519456"/>
                  </a:ext>
                </a:extLst>
              </a:tr>
              <a:tr h="166061">
                <a:tc>
                  <a:txBody>
                    <a:bodyPr/>
                    <a:lstStyle/>
                    <a:p>
                      <a:pPr algn="ctr" fontAlgn="ctr"/>
                      <a:r>
                        <a:rPr lang="en-US" sz="1100" b="0" i="0" u="none" strike="noStrike">
                          <a:solidFill>
                            <a:srgbClr val="000000"/>
                          </a:solidFill>
                          <a:effectLst/>
                          <a:latin typeface="Calibri" panose="020F0502020204030204" pitchFamily="34" charset="0"/>
                        </a:rPr>
                        <a:t>16</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A878</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8857420"/>
                  </a:ext>
                </a:extLst>
              </a:tr>
              <a:tr h="928417">
                <a:tc>
                  <a:txBody>
                    <a:bodyPr/>
                    <a:lstStyle/>
                    <a:p>
                      <a:pPr algn="ctr" fontAlgn="ctr"/>
                      <a:r>
                        <a:rPr lang="en-US" sz="1100" b="0" i="0" u="none" strike="noStrike">
                          <a:solidFill>
                            <a:srgbClr val="000000"/>
                          </a:solidFill>
                          <a:effectLst/>
                          <a:latin typeface="Calibri" panose="020F0502020204030204" pitchFamily="34" charset="0"/>
                        </a:rPr>
                        <a:t>17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B787</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A879</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B498 FWD CARGO HANDLING SYSTEM INOP (ELECTRICAL POWER NOT AVAIL)</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B532: STS MSG: PASSENGER ADDRESS</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B533: BEFORE FLT STS MSG "CABIN INTERPHONE" APPEARED</a:t>
                      </a:r>
                    </a:p>
                  </a:txBody>
                  <a:tcPr marL="3501" marR="3501" marT="3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2842036"/>
                  </a:ext>
                </a:extLst>
              </a:tr>
            </a:tbl>
          </a:graphicData>
        </a:graphic>
      </p:graphicFrame>
    </p:spTree>
    <p:extLst>
      <p:ext uri="{BB962C8B-B14F-4D97-AF65-F5344CB8AC3E}">
        <p14:creationId xmlns:p14="http://schemas.microsoft.com/office/powerpoint/2010/main" val="28540417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37</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592825" y="292619"/>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685800" y="1066800"/>
            <a:ext cx="10668000" cy="4832092"/>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285750" indent="-285750" algn="just">
              <a:buClrTx/>
              <a:buFontTx/>
              <a:buChar char="-"/>
            </a:pPr>
            <a:r>
              <a:rPr lang="vi-VN" sz="1200">
                <a:solidFill>
                  <a:prstClr val="black"/>
                </a:solidFill>
                <a:cs typeface="Times New Roman" panose="02020603050405020304" pitchFamily="18" charset="0"/>
              </a:rPr>
              <a:t>Tình hình kỹ thuật đội bay </a:t>
            </a:r>
            <a:r>
              <a:rPr lang="en-US" sz="1200">
                <a:solidFill>
                  <a:prstClr val="black"/>
                </a:solidFill>
                <a:latin typeface="Times New Roman" panose="02020603050405020304" pitchFamily="18" charset="0"/>
                <a:cs typeface="Times New Roman" panose="02020603050405020304" pitchFamily="18" charset="0"/>
              </a:rPr>
              <a:t>B787 trong tuần 04+05 chưa tốt với các TH AOG và RTO. </a:t>
            </a:r>
          </a:p>
          <a:p>
            <a:pPr marL="285750" indent="-285750" algn="just">
              <a:buClrTx/>
              <a:buFontTx/>
              <a:buChar char="-"/>
            </a:pPr>
            <a:r>
              <a:rPr lang="en-US" sz="1200">
                <a:solidFill>
                  <a:prstClr val="black"/>
                </a:solidFill>
                <a:latin typeface="Times New Roman" panose="02020603050405020304" pitchFamily="18" charset="0"/>
                <a:cs typeface="Times New Roman" panose="02020603050405020304" pitchFamily="18" charset="0"/>
              </a:rPr>
              <a:t>Hỏng hóc nổi cộm: </a:t>
            </a:r>
          </a:p>
          <a:p>
            <a:pPr lvl="1" algn="just"/>
            <a:r>
              <a:rPr lang="en-SG" sz="1200">
                <a:solidFill>
                  <a:prstClr val="black"/>
                </a:solidFill>
                <a:latin typeface="Times New Roman" panose="02020603050405020304" pitchFamily="18" charset="0"/>
                <a:cs typeface="Times New Roman" panose="02020603050405020304" pitchFamily="18" charset="0"/>
              </a:rPr>
              <a:t>+ A869 AOG tại PUS ngày 23/01 do phát sinh NO-GO MSG ELEVATOR SYS -&gt; Cử AOG team sang thay thế ELEVATOR PCU.</a:t>
            </a:r>
          </a:p>
          <a:p>
            <a:pPr lvl="1" algn="just"/>
            <a:r>
              <a:rPr lang="en-SG" sz="1200">
                <a:solidFill>
                  <a:srgbClr val="FF0000"/>
                </a:solidFill>
                <a:latin typeface="Times New Roman" panose="02020603050405020304" pitchFamily="18" charset="0"/>
                <a:cs typeface="Times New Roman" panose="02020603050405020304" pitchFamily="18" charset="0"/>
              </a:rPr>
              <a:t>ĐTC: Fleet B787 đã từng thay 6 khối. Boe không có issue nào liên quan đến hỏng hóc của Elevator PCU.</a:t>
            </a:r>
          </a:p>
          <a:p>
            <a:pPr lvl="1" algn="just"/>
            <a:r>
              <a:rPr lang="en-SG" sz="1200">
                <a:solidFill>
                  <a:srgbClr val="FF0000"/>
                </a:solidFill>
                <a:latin typeface="Times New Roman" panose="02020603050405020304" pitchFamily="18" charset="0"/>
                <a:cs typeface="Times New Roman" panose="02020603050405020304" pitchFamily="18" charset="0"/>
              </a:rPr>
              <a:t>Ban KT sẽ làm việc thêm với BOE và OEM về ĐTC của thiết bị này.</a:t>
            </a:r>
          </a:p>
          <a:p>
            <a:pPr lvl="1" algn="just"/>
            <a:endParaRPr lang="en-SG" sz="1200">
              <a:solidFill>
                <a:prstClr val="black"/>
              </a:solidFill>
              <a:latin typeface="Times New Roman" panose="02020603050405020304" pitchFamily="18" charset="0"/>
              <a:cs typeface="Times New Roman" panose="02020603050405020304" pitchFamily="18" charset="0"/>
            </a:endParaRPr>
          </a:p>
          <a:p>
            <a:pPr lvl="1" algn="just"/>
            <a:r>
              <a:rPr lang="en-SG" sz="1200">
                <a:solidFill>
                  <a:prstClr val="black"/>
                </a:solidFill>
                <a:latin typeface="Times New Roman" panose="02020603050405020304" pitchFamily="18" charset="0"/>
                <a:cs typeface="Times New Roman" panose="02020603050405020304" pitchFamily="18" charset="0"/>
              </a:rPr>
              <a:t>+ A863 AOG tại SGN ngày 28/01 do phát sinh FOUND FLUID LEAK AT HSTA -&gt; REF RDR BOEING OPEN ADD HSTA NEED REPLACE WITHIN 20FC, OPM CHECK EACH 3 DAYS. Đã thay HSTA ngày 30/01 để khắc phục.</a:t>
            </a:r>
          </a:p>
          <a:p>
            <a:pPr lvl="1" algn="just"/>
            <a:r>
              <a:rPr lang="vi-VN" sz="1200">
                <a:solidFill>
                  <a:srgbClr val="FF0000"/>
                </a:solidFill>
                <a:cs typeface="Times New Roman" panose="02020603050405020304" pitchFamily="18" charset="0"/>
              </a:rPr>
              <a:t>Hỏng hóc HSTA do hỏng lower seal có nguyên nhân từ do nước xâm nhập.</a:t>
            </a:r>
          </a:p>
          <a:p>
            <a:pPr lvl="1" algn="just"/>
            <a:r>
              <a:rPr lang="vi-VN" sz="1200">
                <a:solidFill>
                  <a:srgbClr val="FF0000"/>
                </a:solidFill>
                <a:cs typeface="Times New Roman" panose="02020603050405020304" pitchFamily="18" charset="0"/>
              </a:rPr>
              <a:t>Giải pháp: thực hiện SB nâng cấp tại shop: Lower seal hiện còn 3 tàu chưa nâng cấp; Upper seal còn 5 tàu chưa nâng cấp. Chí phí nâng cấp Lower seal khoảng 17,5k, Upper seal là 7,7k. MOOG không có hỗ trợ cho việc thực hiện 2 VSB này. </a:t>
            </a:r>
          </a:p>
          <a:p>
            <a:pPr lvl="1" algn="just"/>
            <a:r>
              <a:rPr lang="vi-VN" sz="1200">
                <a:solidFill>
                  <a:srgbClr val="FF0000"/>
                </a:solidFill>
                <a:cs typeface="Times New Roman" panose="02020603050405020304" pitchFamily="18" charset="0"/>
              </a:rPr>
              <a:t>Theo BOE thì nâng cấp seal cũng chưa ngăn chặn được hỏng hóc này. Do đó cần kiểm tra kiểm tra rỉ dầu HSTA ở 2000FH theo MPD 12-020-00: Nếu phát hiện leak sẽ bổ sung dầu bôi trơn để trì hoãn thay thế: </a:t>
            </a:r>
          </a:p>
          <a:p>
            <a:pPr lvl="1" algn="just"/>
            <a:r>
              <a:rPr lang="vi-VN" sz="1200">
                <a:solidFill>
                  <a:srgbClr val="FF0000"/>
                </a:solidFill>
                <a:cs typeface="Times New Roman" panose="02020603050405020304" pitchFamily="18" charset="0"/>
              </a:rPr>
              <a:t>- Thêm nhiều hơn 185ml thì thay HSTA;</a:t>
            </a:r>
          </a:p>
          <a:p>
            <a:pPr lvl="1" algn="just"/>
            <a:r>
              <a:rPr lang="vi-VN" sz="1200">
                <a:solidFill>
                  <a:srgbClr val="FF0000"/>
                </a:solidFill>
                <a:cs typeface="Times New Roman" panose="02020603050405020304" pitchFamily="18" charset="0"/>
              </a:rPr>
              <a:t>- Thêm từ 40-185ml thì kiểm tra interval 3day/10FC:</a:t>
            </a:r>
          </a:p>
          <a:p>
            <a:pPr lvl="1" algn="just"/>
            <a:r>
              <a:rPr lang="vi-VN" sz="1200">
                <a:solidFill>
                  <a:srgbClr val="FF0000"/>
                </a:solidFill>
                <a:cs typeface="Times New Roman" panose="02020603050405020304" pitchFamily="18" charset="0"/>
              </a:rPr>
              <a:t>- Thêm nhỏ hơn 40ml: kiểm tra theo interval của MPD </a:t>
            </a:r>
          </a:p>
          <a:p>
            <a:pPr lvl="1" algn="just"/>
            <a:r>
              <a:rPr lang="vi-VN" sz="1200">
                <a:solidFill>
                  <a:srgbClr val="FF0000"/>
                </a:solidFill>
                <a:cs typeface="Times New Roman" panose="02020603050405020304" pitchFamily="18" charset="0"/>
              </a:rPr>
              <a:t>Với A863, MPD last done 07/Nov/2024. Next due Mar/2025. Leak phải thêm 540 ml dầu. BOE cấp RDR để bay 20FC đợi spare để thay.Khối tháo xuống SN 0246 là khối nhận từ KLM lắp lên ngày 23Dec2021 (TSN 24949FH; CSN 3625FC): Khối này được lấy từ Shop sau khi sửa Heavy leak và cũng không được làm VSB cho cả lower và upper seal.</a:t>
            </a:r>
            <a:endParaRPr lang="en-US" sz="1200">
              <a:solidFill>
                <a:srgbClr val="FF0000"/>
              </a:solidFill>
              <a:latin typeface="Times New Roman" panose="02020603050405020304" pitchFamily="18" charset="0"/>
              <a:cs typeface="Times New Roman" panose="02020603050405020304" pitchFamily="18" charset="0"/>
            </a:endParaRPr>
          </a:p>
          <a:p>
            <a:pPr lvl="1" algn="just"/>
            <a:endParaRPr lang="en-SG" sz="1200">
              <a:solidFill>
                <a:prstClr val="black"/>
              </a:solidFill>
              <a:latin typeface="Times New Roman" panose="02020603050405020304" pitchFamily="18" charset="0"/>
              <a:cs typeface="Times New Roman" panose="02020603050405020304" pitchFamily="18" charset="0"/>
            </a:endParaRPr>
          </a:p>
          <a:p>
            <a:pPr lvl="1" algn="just"/>
            <a:r>
              <a:rPr lang="en-SG" sz="1200">
                <a:solidFill>
                  <a:prstClr val="black"/>
                </a:solidFill>
                <a:latin typeface="Times New Roman" panose="02020603050405020304" pitchFamily="18" charset="0"/>
                <a:cs typeface="Times New Roman" panose="02020603050405020304" pitchFamily="18" charset="0"/>
              </a:rPr>
              <a:t>+ A879 RTO VN216 SGN-HAN ngày 28/01 do phát sinh ELEC GEN R -&gt; OPEN ADD FOR ELEC GEN R</a:t>
            </a:r>
          </a:p>
          <a:p>
            <a:pPr lvl="1" algn="just"/>
            <a:r>
              <a:rPr lang="vi-VN" sz="1200">
                <a:solidFill>
                  <a:srgbClr val="FF0000"/>
                </a:solidFill>
                <a:cs typeface="Times New Roman" panose="02020603050405020304" pitchFamily="18" charset="0"/>
              </a:rPr>
              <a:t>Tàu A879 chuyến bay NRT-SGN trước đó cũng hiện MSG ELEC GEN SYS khi đang bay tuy nhiên lúc đáp SGN thợ máy kiểm tra tình trạng kĩ thuật tàu bay tốt, không có cảnh báo. VFSG R1 on wing trên A879 từ 2019 chưa thực hiện thay thế lần nào. Final action: thay VFSG R1, MSG clear.</a:t>
            </a:r>
            <a:endParaRPr lang="en-SG" sz="1200">
              <a:solidFill>
                <a:srgbClr val="FF0000"/>
              </a:solidFill>
              <a:latin typeface="Times New Roman" panose="02020603050405020304" pitchFamily="18" charset="0"/>
              <a:cs typeface="Times New Roman" panose="02020603050405020304" pitchFamily="18" charset="0"/>
            </a:endParaRPr>
          </a:p>
          <a:p>
            <a:pPr marL="609585" lvl="1" algn="just"/>
            <a:endParaRPr lang="en-SG" sz="160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86355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ATR72</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6315A99-7C22-BCBB-51AE-B39776276C50}"/>
              </a:ext>
            </a:extLst>
          </p:cNvPr>
          <p:cNvSpPr txBox="1"/>
          <p:nvPr/>
        </p:nvSpPr>
        <p:spPr>
          <a:xfrm>
            <a:off x="457199" y="974924"/>
            <a:ext cx="11383915" cy="33855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02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sp>
        <p:nvSpPr>
          <p:cNvPr id="3" name="TextBox 2">
            <a:extLst>
              <a:ext uri="{FF2B5EF4-FFF2-40B4-BE49-F238E27FC236}">
                <a16:creationId xmlns:a16="http://schemas.microsoft.com/office/drawing/2014/main" id="{6F27D0E6-6319-F9BB-EBF8-9A0BC977766E}"/>
              </a:ext>
            </a:extLst>
          </p:cNvPr>
          <p:cNvSpPr txBox="1"/>
          <p:nvPr/>
        </p:nvSpPr>
        <p:spPr>
          <a:xfrm>
            <a:off x="457200" y="1447800"/>
            <a:ext cx="11360150" cy="33855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02</a:t>
            </a:r>
          </a:p>
        </p:txBody>
      </p:sp>
      <p:graphicFrame>
        <p:nvGraphicFramePr>
          <p:cNvPr id="6" name="Table 5">
            <a:extLst>
              <a:ext uri="{FF2B5EF4-FFF2-40B4-BE49-F238E27FC236}">
                <a16:creationId xmlns:a16="http://schemas.microsoft.com/office/drawing/2014/main" id="{92666C20-307F-48D4-06E3-46E4784DF667}"/>
              </a:ext>
            </a:extLst>
          </p:cNvPr>
          <p:cNvGraphicFramePr>
            <a:graphicFrameLocks noGrp="1"/>
          </p:cNvGraphicFramePr>
          <p:nvPr>
            <p:extLst/>
          </p:nvPr>
        </p:nvGraphicFramePr>
        <p:xfrm>
          <a:off x="457199" y="1923818"/>
          <a:ext cx="11360150" cy="3410182"/>
        </p:xfrm>
        <a:graphic>
          <a:graphicData uri="http://schemas.openxmlformats.org/drawingml/2006/table">
            <a:tbl>
              <a:tblPr/>
              <a:tblGrid>
                <a:gridCol w="381001">
                  <a:extLst>
                    <a:ext uri="{9D8B030D-6E8A-4147-A177-3AD203B41FA5}">
                      <a16:colId xmlns:a16="http://schemas.microsoft.com/office/drawing/2014/main" val="2102544248"/>
                    </a:ext>
                  </a:extLst>
                </a:gridCol>
                <a:gridCol w="685800">
                  <a:extLst>
                    <a:ext uri="{9D8B030D-6E8A-4147-A177-3AD203B41FA5}">
                      <a16:colId xmlns:a16="http://schemas.microsoft.com/office/drawing/2014/main" val="1963927053"/>
                    </a:ext>
                  </a:extLst>
                </a:gridCol>
                <a:gridCol w="304800">
                  <a:extLst>
                    <a:ext uri="{9D8B030D-6E8A-4147-A177-3AD203B41FA5}">
                      <a16:colId xmlns:a16="http://schemas.microsoft.com/office/drawing/2014/main" val="3840043019"/>
                    </a:ext>
                  </a:extLst>
                </a:gridCol>
                <a:gridCol w="685800">
                  <a:extLst>
                    <a:ext uri="{9D8B030D-6E8A-4147-A177-3AD203B41FA5}">
                      <a16:colId xmlns:a16="http://schemas.microsoft.com/office/drawing/2014/main" val="3600809505"/>
                    </a:ext>
                  </a:extLst>
                </a:gridCol>
                <a:gridCol w="609600">
                  <a:extLst>
                    <a:ext uri="{9D8B030D-6E8A-4147-A177-3AD203B41FA5}">
                      <a16:colId xmlns:a16="http://schemas.microsoft.com/office/drawing/2014/main" val="3227864369"/>
                    </a:ext>
                  </a:extLst>
                </a:gridCol>
                <a:gridCol w="762000">
                  <a:extLst>
                    <a:ext uri="{9D8B030D-6E8A-4147-A177-3AD203B41FA5}">
                      <a16:colId xmlns:a16="http://schemas.microsoft.com/office/drawing/2014/main" val="82454695"/>
                    </a:ext>
                  </a:extLst>
                </a:gridCol>
                <a:gridCol w="1676400">
                  <a:extLst>
                    <a:ext uri="{9D8B030D-6E8A-4147-A177-3AD203B41FA5}">
                      <a16:colId xmlns:a16="http://schemas.microsoft.com/office/drawing/2014/main" val="879352902"/>
                    </a:ext>
                  </a:extLst>
                </a:gridCol>
                <a:gridCol w="2743200">
                  <a:extLst>
                    <a:ext uri="{9D8B030D-6E8A-4147-A177-3AD203B41FA5}">
                      <a16:colId xmlns:a16="http://schemas.microsoft.com/office/drawing/2014/main" val="354175309"/>
                    </a:ext>
                  </a:extLst>
                </a:gridCol>
                <a:gridCol w="459568">
                  <a:extLst>
                    <a:ext uri="{9D8B030D-6E8A-4147-A177-3AD203B41FA5}">
                      <a16:colId xmlns:a16="http://schemas.microsoft.com/office/drawing/2014/main" val="503895615"/>
                    </a:ext>
                  </a:extLst>
                </a:gridCol>
                <a:gridCol w="3051981">
                  <a:extLst>
                    <a:ext uri="{9D8B030D-6E8A-4147-A177-3AD203B41FA5}">
                      <a16:colId xmlns:a16="http://schemas.microsoft.com/office/drawing/2014/main" val="817022626"/>
                    </a:ext>
                  </a:extLst>
                </a:gridCol>
              </a:tblGrid>
              <a:tr h="676760">
                <a:tc>
                  <a:txBody>
                    <a:bodyPr/>
                    <a:lstStyle/>
                    <a:p>
                      <a:pPr algn="ctr" fontAlgn="t"/>
                      <a:r>
                        <a:rPr lang="en-US" sz="1200" b="0" i="0" u="none" strike="noStrike">
                          <a:solidFill>
                            <a:srgbClr val="000000"/>
                          </a:solidFill>
                          <a:effectLst/>
                          <a:latin typeface="Times New Roman" panose="02020603050405020304" pitchFamily="18" charset="0"/>
                        </a:rPr>
                        <a:t>A/C</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DATE</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STA</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dirty="0">
                          <a:solidFill>
                            <a:srgbClr val="000000"/>
                          </a:solidFill>
                          <a:effectLst/>
                          <a:latin typeface="Times New Roman" panose="02020603050405020304" pitchFamily="18" charset="0"/>
                        </a:rPr>
                        <a:t>DELAY MINUTES</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FLIGHT NO</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dirty="0">
                          <a:solidFill>
                            <a:srgbClr val="000000"/>
                          </a:solidFill>
                          <a:effectLst/>
                          <a:latin typeface="Times New Roman" panose="02020603050405020304" pitchFamily="18" charset="0"/>
                        </a:rPr>
                        <a:t>ROUTINE</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DESC</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ACTION</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ATA</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Engineering Assessment</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307967990"/>
                  </a:ext>
                </a:extLst>
              </a:tr>
              <a:tr h="1079551">
                <a:tc>
                  <a:txBody>
                    <a:bodyPr/>
                    <a:lstStyle/>
                    <a:p>
                      <a:pPr algn="l" fontAlgn="ctr"/>
                      <a:r>
                        <a:rPr lang="en-US" sz="1100" b="0" i="0" u="none" strike="noStrike" dirty="0">
                          <a:solidFill>
                            <a:srgbClr val="000000"/>
                          </a:solidFill>
                          <a:effectLst/>
                          <a:latin typeface="Times New Roman" panose="02020603050405020304" pitchFamily="18" charset="0"/>
                        </a:rPr>
                        <a:t>B225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14:42 20/01/2025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dirty="0">
                          <a:solidFill>
                            <a:srgbClr val="000000"/>
                          </a:solidFill>
                          <a:effectLst/>
                          <a:latin typeface="Times New Roman" panose="02020603050405020304" pitchFamily="18" charset="0"/>
                        </a:rPr>
                        <a:t>21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VN7436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SGN-PXU</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AFTER ENG START: STARTER 1 FAULT,  INV 1 FAULT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&lt;p&gt;C/O RESET BPCU FOUND SATIS. A/C SERVICEABLE.&lt;/p&gt; AFTER ENG START: STARTER 1 FAULT, INV 1 FAULT EVENT CLOSED &lt;p&gt;&lt;/p&gt;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24-00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Đã</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thay</a:t>
                      </a:r>
                      <a:r>
                        <a:rPr lang="en-US" sz="1100" b="0" i="0" u="none" strike="noStrike" dirty="0">
                          <a:solidFill>
                            <a:srgbClr val="000000"/>
                          </a:solidFill>
                          <a:effectLst/>
                          <a:latin typeface="Times New Roman" panose="02020603050405020304" pitchFamily="18" charset="0"/>
                        </a:rPr>
                        <a:t> contactor 16PU </a:t>
                      </a:r>
                      <a:r>
                        <a:rPr lang="en-US" sz="1100" b="0" i="0" u="none" strike="noStrike" dirty="0" err="1">
                          <a:solidFill>
                            <a:srgbClr val="000000"/>
                          </a:solidFill>
                          <a:effectLst/>
                          <a:latin typeface="Times New Roman" panose="02020603050405020304" pitchFamily="18" charset="0"/>
                        </a:rPr>
                        <a:t>để</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khắc</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phục</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hỏng</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hóc</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Hỏng</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hóc</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liên</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quan</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đến</a:t>
                      </a:r>
                      <a:r>
                        <a:rPr lang="en-US" sz="1100" b="0" i="0" u="none" strike="noStrike" dirty="0">
                          <a:solidFill>
                            <a:srgbClr val="000000"/>
                          </a:solidFill>
                          <a:effectLst/>
                          <a:latin typeface="Times New Roman" panose="02020603050405020304" pitchFamily="18" charset="0"/>
                        </a:rPr>
                        <a:t> contactor 16PU </a:t>
                      </a:r>
                      <a:r>
                        <a:rPr lang="en-US" sz="1100" b="0" i="0" u="none" strike="noStrike" dirty="0" err="1">
                          <a:solidFill>
                            <a:srgbClr val="000000"/>
                          </a:solidFill>
                          <a:effectLst/>
                          <a:latin typeface="Times New Roman" panose="02020603050405020304" pitchFamily="18" charset="0"/>
                        </a:rPr>
                        <a:t>có</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thể</a:t>
                      </a:r>
                      <a:r>
                        <a:rPr lang="en-US" sz="1100" b="0" i="0" u="none" strike="noStrike" dirty="0">
                          <a:solidFill>
                            <a:srgbClr val="000000"/>
                          </a:solidFill>
                          <a:effectLst/>
                          <a:latin typeface="Times New Roman" panose="02020603050405020304" pitchFamily="18" charset="0"/>
                        </a:rPr>
                        <a:t> raise MEL. </a:t>
                      </a:r>
                      <a:r>
                        <a:rPr lang="en-US" sz="1100" b="0" i="0" u="none" strike="noStrike" dirty="0" err="1">
                          <a:solidFill>
                            <a:srgbClr val="000000"/>
                          </a:solidFill>
                          <a:effectLst/>
                          <a:latin typeface="Times New Roman" panose="02020603050405020304" pitchFamily="18" charset="0"/>
                        </a:rPr>
                        <a:t>Hiện</a:t>
                      </a:r>
                      <a:r>
                        <a:rPr lang="en-US" sz="1100" b="0" i="0" u="none" strike="noStrike" dirty="0">
                          <a:solidFill>
                            <a:srgbClr val="000000"/>
                          </a:solidFill>
                          <a:effectLst/>
                          <a:latin typeface="Times New Roman" panose="02020603050405020304" pitchFamily="18" charset="0"/>
                        </a:rPr>
                        <a:t> ATR </a:t>
                      </a:r>
                      <a:r>
                        <a:rPr lang="en-US" sz="1100" b="0" i="0" u="none" strike="noStrike" dirty="0" err="1">
                          <a:solidFill>
                            <a:srgbClr val="000000"/>
                          </a:solidFill>
                          <a:effectLst/>
                          <a:latin typeface="Times New Roman" panose="02020603050405020304" pitchFamily="18" charset="0"/>
                        </a:rPr>
                        <a:t>không</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có</a:t>
                      </a:r>
                      <a:r>
                        <a:rPr lang="en-US" sz="1100" b="0" i="0" u="none" strike="noStrike" dirty="0">
                          <a:solidFill>
                            <a:srgbClr val="000000"/>
                          </a:solidFill>
                          <a:effectLst/>
                          <a:latin typeface="Times New Roman" panose="02020603050405020304" pitchFamily="18" charset="0"/>
                        </a:rPr>
                        <a:t> TPS </a:t>
                      </a:r>
                      <a:r>
                        <a:rPr lang="en-US" sz="1100" b="0" i="0" u="none" strike="noStrike" dirty="0" err="1">
                          <a:solidFill>
                            <a:srgbClr val="000000"/>
                          </a:solidFill>
                          <a:effectLst/>
                          <a:latin typeface="Times New Roman" panose="02020603050405020304" pitchFamily="18" charset="0"/>
                        </a:rPr>
                        <a:t>liên</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quan</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đến</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hỏng</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hóc</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này</a:t>
                      </a:r>
                      <a:r>
                        <a:rPr lang="en-US" sz="1100" b="0" i="0" u="none" strike="noStrike" dirty="0">
                          <a:solidFill>
                            <a:srgbClr val="000000"/>
                          </a:solidFill>
                          <a:effectLst/>
                          <a:latin typeface="Times New Roman" panose="02020603050405020304" pitchFamily="18" charset="0"/>
                        </a:rPr>
                        <a:t>, B225 </a:t>
                      </a:r>
                      <a:r>
                        <a:rPr lang="en-US" sz="1100" b="0" i="0" u="none" strike="noStrike" dirty="0" err="1">
                          <a:solidFill>
                            <a:srgbClr val="000000"/>
                          </a:solidFill>
                          <a:effectLst/>
                          <a:latin typeface="Times New Roman" panose="02020603050405020304" pitchFamily="18" charset="0"/>
                        </a:rPr>
                        <a:t>từ</a:t>
                      </a:r>
                      <a:r>
                        <a:rPr lang="en-US" sz="1100" b="0" i="0" u="none" strike="noStrike" dirty="0">
                          <a:solidFill>
                            <a:srgbClr val="000000"/>
                          </a:solidFill>
                          <a:effectLst/>
                          <a:latin typeface="Times New Roman" panose="02020603050405020304" pitchFamily="18" charset="0"/>
                        </a:rPr>
                        <a:t> 2015 </a:t>
                      </a:r>
                      <a:r>
                        <a:rPr lang="en-US" sz="1100" b="0" i="0" u="none" strike="noStrike" dirty="0" err="1">
                          <a:solidFill>
                            <a:srgbClr val="000000"/>
                          </a:solidFill>
                          <a:effectLst/>
                          <a:latin typeface="Times New Roman" panose="02020603050405020304" pitchFamily="18" charset="0"/>
                        </a:rPr>
                        <a:t>đến</a:t>
                      </a:r>
                      <a:r>
                        <a:rPr lang="en-US" sz="1100" b="0" i="0" u="none" strike="noStrike" dirty="0">
                          <a:solidFill>
                            <a:srgbClr val="000000"/>
                          </a:solidFill>
                          <a:effectLst/>
                          <a:latin typeface="Times New Roman" panose="02020603050405020304" pitchFamily="18" charset="0"/>
                        </a:rPr>
                        <a:t> nay </a:t>
                      </a:r>
                      <a:r>
                        <a:rPr lang="en-US" sz="1100" b="0" i="0" u="none" strike="noStrike" dirty="0" err="1">
                          <a:solidFill>
                            <a:srgbClr val="000000"/>
                          </a:solidFill>
                          <a:effectLst/>
                          <a:latin typeface="Times New Roman" panose="02020603050405020304" pitchFamily="18" charset="0"/>
                        </a:rPr>
                        <a:t>chỉ</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thay</a:t>
                      </a:r>
                      <a:r>
                        <a:rPr lang="en-US" sz="1100" b="0" i="0" u="none" strike="noStrike" dirty="0">
                          <a:solidFill>
                            <a:srgbClr val="000000"/>
                          </a:solidFill>
                          <a:effectLst/>
                          <a:latin typeface="Times New Roman" panose="02020603050405020304" pitchFamily="18" charset="0"/>
                        </a:rPr>
                        <a:t> 02 </a:t>
                      </a:r>
                      <a:r>
                        <a:rPr lang="en-US" sz="1100" b="0" i="0" u="none" strike="noStrike" dirty="0" err="1">
                          <a:solidFill>
                            <a:srgbClr val="000000"/>
                          </a:solidFill>
                          <a:effectLst/>
                          <a:latin typeface="Times New Roman" panose="02020603050405020304" pitchFamily="18" charset="0"/>
                        </a:rPr>
                        <a:t>lần</a:t>
                      </a:r>
                      <a:r>
                        <a:rPr lang="en-US" sz="1100" b="0" i="0" u="none" strike="noStrike" dirty="0">
                          <a:solidFill>
                            <a:srgbClr val="000000"/>
                          </a:solidFill>
                          <a:effectLst/>
                          <a:latin typeface="Times New Roman" panose="02020603050405020304" pitchFamily="18" charset="0"/>
                        </a:rPr>
                        <a:t> (01 </a:t>
                      </a:r>
                      <a:r>
                        <a:rPr lang="en-US" sz="1100" b="0" i="0" u="none" strike="noStrike" dirty="0" err="1">
                          <a:solidFill>
                            <a:srgbClr val="000000"/>
                          </a:solidFill>
                          <a:effectLst/>
                          <a:latin typeface="Times New Roman" panose="02020603050405020304" pitchFamily="18" charset="0"/>
                        </a:rPr>
                        <a:t>lần</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năm</a:t>
                      </a:r>
                      <a:r>
                        <a:rPr lang="en-US" sz="1100" b="0" i="0" u="none" strike="noStrike" dirty="0">
                          <a:solidFill>
                            <a:srgbClr val="000000"/>
                          </a:solidFill>
                          <a:effectLst/>
                          <a:latin typeface="Times New Roman" panose="02020603050405020304" pitchFamily="18" charset="0"/>
                        </a:rPr>
                        <a:t> 2020 </a:t>
                      </a:r>
                      <a:r>
                        <a:rPr lang="en-US" sz="1100" b="0" i="0" u="none" strike="noStrike" dirty="0" err="1">
                          <a:solidFill>
                            <a:srgbClr val="000000"/>
                          </a:solidFill>
                          <a:effectLst/>
                          <a:latin typeface="Times New Roman" panose="02020603050405020304" pitchFamily="18" charset="0"/>
                        </a:rPr>
                        <a:t>và</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lần</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này</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Tiếp</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tục</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theo</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dõi</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thêm</a:t>
                      </a:r>
                      <a:r>
                        <a:rPr lang="en-US" sz="1100" b="0" i="0" u="none" strike="noStrike" dirty="0">
                          <a:solidFill>
                            <a:srgbClr val="000000"/>
                          </a:solidFill>
                          <a:effectLst/>
                          <a:latin typeface="Times New Roman" panose="02020603050405020304" pitchFamily="18" charset="0"/>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3246091"/>
                  </a:ext>
                </a:extLst>
              </a:tr>
              <a:tr h="1653871">
                <a:tc>
                  <a:txBody>
                    <a:bodyPr/>
                    <a:lstStyle/>
                    <a:p>
                      <a:pPr algn="l" fontAlgn="ctr"/>
                      <a:r>
                        <a:rPr lang="en-US" sz="1100" b="0" i="0" u="none" strike="noStrike">
                          <a:solidFill>
                            <a:srgbClr val="000000"/>
                          </a:solidFill>
                          <a:effectLst/>
                          <a:latin typeface="Times New Roman" panose="02020603050405020304" pitchFamily="18" charset="0"/>
                        </a:rPr>
                        <a:t>B223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14:09 20/01/2025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dirty="0">
                          <a:solidFill>
                            <a:srgbClr val="000000"/>
                          </a:solidFill>
                          <a:effectLst/>
                          <a:latin typeface="Times New Roman" panose="02020603050405020304" pitchFamily="18" charset="0"/>
                        </a:rPr>
                        <a:t>43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VN7476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SGN-VCS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PREFLIGHT FOUND INVERTER #1 FAULT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&lt;p&gt;C/O REPLACED STATIC INVERTER #1&lt;/p&gt; PREFLIGHT FOUND INVERTER #1 FAULT EVENT CLOSED &lt;p&gt;&lt;/p&gt;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rPr>
                        <a:t>24-00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rPr>
                        <a:t>Hỏng hóc liên quan đến Static Inverter PN 559-012D, khối này có độ tin cậy tốt, từ 2015 đến nay chỉ thay 6 lần (2015, 2019, 2021, 2023, 2024 và 2025), hai khối hỏng gần nhát năm 2023 và 2024 đều là khối có tuổi đời cao, đã lắp ở trên tàu bay rất lâu trước khi hỏng, lần lượt là 9 năm và 16 năm .Hiện ATR cũng không có TPS liên quan, đánh giá là hỏng do tuổi đời sử dung lâu, là hỏng hóc đơn lẻ.</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9795424"/>
                  </a:ext>
                </a:extLst>
              </a:tr>
            </a:tbl>
          </a:graphicData>
        </a:graphic>
      </p:graphicFrame>
    </p:spTree>
    <p:extLst>
      <p:ext uri="{BB962C8B-B14F-4D97-AF65-F5344CB8AC3E}">
        <p14:creationId xmlns:p14="http://schemas.microsoft.com/office/powerpoint/2010/main" val="29995082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4F79AF3-24C5-47EC-8B09-710ADAA97244}" type="slidenum">
              <a:rPr lang="en-US" altLang="en-US" sz="1200" smtClean="0">
                <a:solidFill>
                  <a:srgbClr val="D2A43B"/>
                </a:solidFill>
                <a:latin typeface="Montserrat"/>
              </a:rPr>
              <a:pPr fontAlgn="base">
                <a:lnSpc>
                  <a:spcPct val="100000"/>
                </a:lnSpc>
                <a:spcBef>
                  <a:spcPct val="0"/>
                </a:spcBef>
                <a:spcAft>
                  <a:spcPct val="0"/>
                </a:spcAft>
                <a:buFontTx/>
                <a:buNone/>
              </a:pPr>
              <a:t>39</a:t>
            </a:fld>
            <a:endParaRPr lang="en-US" altLang="en-US" sz="1200">
              <a:solidFill>
                <a:srgbClr val="D2A43B"/>
              </a:solidFill>
              <a:latin typeface="Montserrat"/>
            </a:endParaRPr>
          </a:p>
        </p:txBody>
      </p:sp>
      <p:sp>
        <p:nvSpPr>
          <p:cNvPr id="1048638" name="Title 4"/>
          <p:cNvSpPr>
            <a:spLocks noGrp="1"/>
          </p:cNvSpPr>
          <p:nvPr>
            <p:ph type="title"/>
          </p:nvPr>
        </p:nvSpPr>
        <p:spPr>
          <a:xfrm>
            <a:off x="152400" y="76200"/>
            <a:ext cx="8686799" cy="815200"/>
          </a:xfrm>
        </p:spPr>
        <p:txBody>
          <a:bodyPr rtlCol="0">
            <a:normAutofit/>
          </a:bodyPr>
          <a:lstStyle/>
          <a:p>
            <a:pPr eaLnBrk="1" fontAlgn="auto" hangingPunct="1">
              <a:spcAft>
                <a:spcPts val="0"/>
              </a:spcAft>
              <a:defRPr/>
            </a:pPr>
            <a:r>
              <a:rPr lang="en-US" sz="2800" dirty="0">
                <a:ln w="0"/>
                <a:solidFill>
                  <a:schemeClr val="accent4"/>
                </a:solidFill>
                <a:latin typeface="Times New Roman" panose="02020603050405020304" pitchFamily="18" charset="0"/>
                <a:cs typeface="Times New Roman" panose="02020603050405020304" pitchFamily="18" charset="0"/>
              </a:rPr>
              <a:t>TÌNH TRẠNG KỸ THUẬT ĐỘI BAY ATR72 </a:t>
            </a:r>
            <a:endParaRPr lang="vi-VN" sz="2800" dirty="0">
              <a:ln w="0"/>
              <a:solidFill>
                <a:schemeClr val="accent4"/>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52C54B9-AD3B-54B9-0F8F-0728352A297E}"/>
              </a:ext>
            </a:extLst>
          </p:cNvPr>
          <p:cNvSpPr txBox="1"/>
          <p:nvPr/>
        </p:nvSpPr>
        <p:spPr>
          <a:xfrm>
            <a:off x="381000" y="762000"/>
            <a:ext cx="10287000" cy="1815882"/>
          </a:xfrm>
          <a:prstGeom prst="rect">
            <a:avLst/>
          </a:prstGeom>
          <a:noFill/>
        </p:spPr>
        <p:txBody>
          <a:bodyPr wrap="square">
            <a:spAutoFit/>
          </a:bodyPr>
          <a:lstStyle/>
          <a:p>
            <a:pPr lvl="0" algn="just">
              <a:defRPr/>
            </a:pPr>
            <a:r>
              <a:rPr lang="en-US" sz="1600" b="1" dirty="0" err="1">
                <a:latin typeface="Times New Roman" panose="02020603050405020304" pitchFamily="18" charset="0"/>
                <a:cs typeface="Times New Roman" panose="02020603050405020304" pitchFamily="18" charset="0"/>
              </a:rPr>
              <a:t>Nhận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xét</a:t>
            </a:r>
            <a:r>
              <a:rPr lang="en-US" sz="1600" b="1">
                <a:latin typeface="Times New Roman" panose="02020603050405020304" pitchFamily="18" charset="0"/>
                <a:cs typeface="Times New Roman" panose="02020603050405020304" pitchFamily="18" charset="0"/>
              </a:rPr>
              <a:t>: </a:t>
            </a:r>
            <a:r>
              <a:rPr lang="en-US" sz="1600">
                <a:latin typeface="Times New Roman" panose="02020603050405020304" pitchFamily="18" charset="0"/>
                <a:cs typeface="Times New Roman" panose="02020603050405020304" pitchFamily="18" charset="0"/>
              </a:rPr>
              <a:t>Tình trạng kỹ thuật ATR72 trong tuần không tốt, phát </a:t>
            </a:r>
            <a:r>
              <a:rPr lang="en-US" sz="1600" err="1">
                <a:latin typeface="Times New Roman" panose="02020603050405020304" pitchFamily="18" charset="0"/>
                <a:cs typeface="Times New Roman" panose="02020603050405020304" pitchFamily="18" charset="0"/>
              </a:rPr>
              <a:t>sinh</a:t>
            </a:r>
            <a:r>
              <a:rPr lang="en-US" sz="1600">
                <a:latin typeface="Times New Roman" panose="02020603050405020304" pitchFamily="18" charset="0"/>
                <a:cs typeface="Times New Roman" panose="02020603050405020304" pitchFamily="18" charset="0"/>
              </a:rPr>
              <a:t> 01 </a:t>
            </a:r>
            <a:r>
              <a:rPr lang="en-US" sz="1600" dirty="0" err="1">
                <a:latin typeface="Times New Roman" panose="02020603050405020304" pitchFamily="18" charset="0"/>
                <a:cs typeface="Times New Roman" panose="02020603050405020304" pitchFamily="18" charset="0"/>
              </a:rPr>
              <a:t>trường</a:t>
            </a:r>
            <a:r>
              <a:rPr lang="en-US" sz="1600" dirty="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hợp</a:t>
            </a:r>
            <a:r>
              <a:rPr lang="en-US" sz="1600">
                <a:latin typeface="Times New Roman" panose="02020603050405020304" pitchFamily="18" charset="0"/>
                <a:cs typeface="Times New Roman" panose="02020603050405020304" pitchFamily="18" charset="0"/>
              </a:rPr>
              <a:t> AOG và 01 trường hợp Delay:</a:t>
            </a:r>
            <a:endParaRPr lang="en-US" sz="1600" dirty="0">
              <a:latin typeface="Times New Roman" panose="02020603050405020304" pitchFamily="18" charset="0"/>
              <a:cs typeface="Times New Roman" panose="02020603050405020304" pitchFamily="18" charset="0"/>
            </a:endParaRPr>
          </a:p>
          <a:p>
            <a:pPr marL="285750" lvl="0" indent="-285750" algn="just">
              <a:buFontTx/>
              <a:buChar char="-"/>
              <a:defRPr/>
            </a:pPr>
            <a:r>
              <a:rPr lang="vi-VN" sz="1600">
                <a:latin typeface="Times New Roman" panose="02020603050405020304" pitchFamily="18" charset="0"/>
                <a:cs typeface="Times New Roman" panose="02020603050405020304" pitchFamily="18" charset="0"/>
              </a:rPr>
              <a:t>B2</a:t>
            </a:r>
            <a:r>
              <a:rPr lang="en-US" sz="1600">
                <a:latin typeface="Times New Roman" panose="02020603050405020304" pitchFamily="18" charset="0"/>
                <a:cs typeface="Times New Roman" panose="02020603050405020304" pitchFamily="18" charset="0"/>
              </a:rPr>
              <a:t>25/SGN/AOG do </a:t>
            </a:r>
            <a:r>
              <a:rPr lang="en-US" sz="1600" i="1">
                <a:latin typeface="Times New Roman" panose="02020603050405020304" pitchFamily="18" charset="0"/>
                <a:cs typeface="Times New Roman" panose="02020603050405020304" pitchFamily="18" charset="0"/>
              </a:rPr>
              <a:t>DC SERV BUS SHED, </a:t>
            </a:r>
            <a:r>
              <a:rPr lang="vi-VN" sz="1600">
                <a:latin typeface="Times New Roman" panose="02020603050405020304" pitchFamily="18" charset="0"/>
                <a:cs typeface="Times New Roman" panose="02020603050405020304" pitchFamily="18" charset="0"/>
              </a:rPr>
              <a:t>đã thay thế BPCU nhưng chưa khắc phục được, phải</a:t>
            </a:r>
            <a:r>
              <a:rPr lang="en-US" sz="1600">
                <a:latin typeface="Times New Roman" panose="02020603050405020304" pitchFamily="18" charset="0"/>
                <a:cs typeface="Times New Roman" panose="02020603050405020304" pitchFamily="18" charset="0"/>
              </a:rPr>
              <a:t> </a:t>
            </a:r>
            <a:r>
              <a:rPr lang="vi-VN" sz="1600">
                <a:latin typeface="Times New Roman" panose="02020603050405020304" pitchFamily="18" charset="0"/>
                <a:cs typeface="Times New Roman" panose="02020603050405020304" pitchFamily="18" charset="0"/>
              </a:rPr>
              <a:t>thay</a:t>
            </a:r>
            <a:r>
              <a:rPr lang="en-US" sz="1600">
                <a:latin typeface="Times New Roman" panose="02020603050405020304" pitchFamily="18" charset="0"/>
                <a:cs typeface="Times New Roman" panose="02020603050405020304" pitchFamily="18" charset="0"/>
              </a:rPr>
              <a:t> thêm</a:t>
            </a:r>
            <a:r>
              <a:rPr lang="vi-VN" sz="1600">
                <a:latin typeface="Times New Roman" panose="02020603050405020304" pitchFamily="18" charset="0"/>
                <a:cs typeface="Times New Roman" panose="02020603050405020304" pitchFamily="18" charset="0"/>
              </a:rPr>
              <a:t> contactor 42PA để khắc phục triệt</a:t>
            </a:r>
            <a:r>
              <a:rPr lang="en-US" sz="1600">
                <a:latin typeface="Times New Roman" panose="02020603050405020304" pitchFamily="18" charset="0"/>
                <a:cs typeface="Times New Roman" panose="02020603050405020304" pitchFamily="18" charset="0"/>
              </a:rPr>
              <a:t>. </a:t>
            </a:r>
            <a:r>
              <a:rPr lang="vi-VN" sz="1600">
                <a:latin typeface="Times New Roman" panose="02020603050405020304" pitchFamily="18" charset="0"/>
                <a:cs typeface="Times New Roman" panose="02020603050405020304" pitchFamily="18" charset="0"/>
              </a:rPr>
              <a:t>Hỏng hóc contactor 42PA là hỏng hóc hiếm gặp, từ 2015 đến nay là lần đầu bị hỏng, đánh giá là hỏng hóc đơn lẻ.</a:t>
            </a:r>
            <a:endParaRPr lang="en-US" sz="1600">
              <a:latin typeface="Times New Roman" panose="02020603050405020304" pitchFamily="18" charset="0"/>
              <a:cs typeface="Times New Roman" panose="02020603050405020304" pitchFamily="18" charset="0"/>
            </a:endParaRPr>
          </a:p>
          <a:p>
            <a:pPr marL="285750" lvl="0" indent="-285750" algn="just">
              <a:buFontTx/>
              <a:buChar char="-"/>
              <a:defRPr/>
            </a:pPr>
            <a:r>
              <a:rPr lang="en-US" sz="1600">
                <a:latin typeface="Times New Roman" panose="02020603050405020304" pitchFamily="18" charset="0"/>
                <a:cs typeface="Times New Roman" panose="02020603050405020304" pitchFamily="18" charset="0"/>
              </a:rPr>
              <a:t>B219/PQC/DELAY do GPWS FAULT , TERRAIN FAULT ( WARNING DONT SINK BELOW 1000 FT ), VAECO đã raise ADD B664 để theo dõi, sau đó tàu về SGN đã </a:t>
            </a:r>
            <a:r>
              <a:rPr lang="vi-VN" sz="1600">
                <a:latin typeface="Times New Roman" panose="02020603050405020304" pitchFamily="18" charset="0"/>
                <a:cs typeface="Times New Roman" panose="02020603050405020304" pitchFamily="18" charset="0"/>
              </a:rPr>
              <a:t>thực hiện ops test hệ thống thì không thấy có vấn đề gì nên đã clear ADD. Đánh giá có thể là cảnh báo giả, hiện chưa thấy xuất hiện lại hỏng hóc, tiếp tục theo dõi thêm.</a:t>
            </a:r>
            <a:endParaRPr lang="vi-V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587204"/>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76510" y="546733"/>
            <a:ext cx="10515600" cy="444137"/>
          </a:xfrm>
        </p:spPr>
        <p:txBody>
          <a:bodyPr>
            <a:noAutofit/>
          </a:bodyPr>
          <a:lstStyle/>
          <a:p>
            <a:r>
              <a:rPr lang="en-US" sz="2800" dirty="0">
                <a:ln w="0"/>
                <a:solidFill>
                  <a:schemeClr val="accent4"/>
                </a:solidFill>
                <a:latin typeface="Times New Roman" panose="02020603050405020304" pitchFamily="18" charset="0"/>
                <a:cs typeface="Times New Roman" panose="02020603050405020304" pitchFamily="18" charset="0"/>
              </a:rPr>
              <a:t>Dispatch </a:t>
            </a:r>
            <a:r>
              <a:rPr lang="en-US" sz="2800">
                <a:ln w="0"/>
                <a:solidFill>
                  <a:schemeClr val="accent4"/>
                </a:solidFill>
                <a:latin typeface="Times New Roman" panose="02020603050405020304" pitchFamily="18" charset="0"/>
                <a:cs typeface="Times New Roman" panose="02020603050405020304" pitchFamily="18" charset="0"/>
              </a:rPr>
              <a:t>Reliability W04&amp;05 </a:t>
            </a:r>
            <a:r>
              <a:rPr lang="vi-VN" sz="2800">
                <a:ln w="0"/>
                <a:solidFill>
                  <a:schemeClr val="accent4"/>
                </a:solidFill>
                <a:latin typeface="Times New Roman" panose="02020603050405020304" pitchFamily="18" charset="0"/>
                <a:cs typeface="Times New Roman" panose="02020603050405020304" pitchFamily="18" charset="0"/>
              </a:rPr>
              <a:t>(</a:t>
            </a:r>
            <a:r>
              <a:rPr lang="en-US" sz="2800">
                <a:ln w="0"/>
                <a:solidFill>
                  <a:schemeClr val="accent4"/>
                </a:solidFill>
                <a:latin typeface="Times New Roman" panose="02020603050405020304" pitchFamily="18" charset="0"/>
                <a:cs typeface="Times New Roman" panose="02020603050405020304" pitchFamily="18" charset="0"/>
              </a:rPr>
              <a:t>20/01/2025-02/02/20</a:t>
            </a:r>
            <a:r>
              <a:rPr lang="vi-VN" sz="2800">
                <a:ln w="0"/>
                <a:solidFill>
                  <a:schemeClr val="accent4"/>
                </a:solidFill>
                <a:latin typeface="Times New Roman" panose="02020603050405020304" pitchFamily="18" charset="0"/>
                <a:cs typeface="Times New Roman" panose="02020603050405020304" pitchFamily="18" charset="0"/>
              </a:rPr>
              <a:t>2</a:t>
            </a:r>
            <a:r>
              <a:rPr lang="en-US" sz="2800">
                <a:ln w="0"/>
                <a:solidFill>
                  <a:schemeClr val="accent4"/>
                </a:solidFill>
                <a:latin typeface="Times New Roman" panose="02020603050405020304" pitchFamily="18" charset="0"/>
                <a:cs typeface="Times New Roman" panose="02020603050405020304" pitchFamily="18" charset="0"/>
              </a:rPr>
              <a:t>5)</a:t>
            </a:r>
            <a:endParaRPr lang="vi-VN" sz="2800" dirty="0">
              <a:ln w="0"/>
              <a:solidFill>
                <a:schemeClr val="accent4"/>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4294967295"/>
          </p:nvPr>
        </p:nvSpPr>
        <p:spPr>
          <a:xfrm>
            <a:off x="10789920" y="5809416"/>
            <a:ext cx="56388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t>1</a:t>
            </a:r>
          </a:p>
        </p:txBody>
      </p:sp>
      <p:sp>
        <p:nvSpPr>
          <p:cNvPr id="6" name="TextBox 5"/>
          <p:cNvSpPr txBox="1"/>
          <p:nvPr/>
        </p:nvSpPr>
        <p:spPr>
          <a:xfrm>
            <a:off x="552666" y="4395787"/>
            <a:ext cx="7073084" cy="18928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04&amp;05/2025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tin cậy cất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cánh</a:t>
            </a:r>
            <a:r>
              <a:rPr lang="en-US" sz="1300">
                <a:solidFill>
                  <a:prstClr val="black"/>
                </a:solidFill>
                <a:latin typeface="Times New Roman" panose="02020603050405020304" pitchFamily="18" charset="0"/>
                <a:cs typeface="Times New Roman" panose="02020603050405020304" pitchFamily="18" charset="0"/>
              </a:rPr>
              <a:t> đội A321 và B787 đạt mục tiêu, đội ATR72 xấp xỉ đạt mục tiêu, riêng đội A350 không đạt mục tiêu:</a:t>
            </a:r>
            <a:endParaRPr kumimoji="0" lang="en-US" sz="13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300" dirty="0">
                <a:solidFill>
                  <a:prstClr val="black"/>
                </a:solidFill>
                <a:latin typeface="Times New Roman" panose="02020603050405020304" pitchFamily="18" charset="0"/>
                <a:cs typeface="Times New Roman" panose="02020603050405020304" pitchFamily="18" charset="0"/>
              </a:rPr>
              <a:t>A3</a:t>
            </a:r>
            <a:r>
              <a:rPr lang="vi-VN" sz="1300" dirty="0">
                <a:solidFill>
                  <a:prstClr val="black"/>
                </a:solidFill>
                <a:latin typeface="Times New Roman" panose="02020603050405020304" pitchFamily="18" charset="0"/>
                <a:cs typeface="Times New Roman" panose="02020603050405020304" pitchFamily="18" charset="0"/>
              </a:rPr>
              <a:t>21</a:t>
            </a:r>
            <a:r>
              <a:rPr lang="en-US" sz="1300">
                <a:solidFill>
                  <a:prstClr val="black"/>
                </a:solidFill>
                <a:latin typeface="Times New Roman" panose="02020603050405020304" pitchFamily="18" charset="0"/>
                <a:cs typeface="Times New Roman" panose="02020603050405020304" pitchFamily="18" charset="0"/>
              </a:rPr>
              <a:t>: 99,81% cao hơn 0,18%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a:t>
            </a:r>
            <a:endParaRPr lang="vi-VN" sz="1300" dirty="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300" dirty="0">
                <a:solidFill>
                  <a:prstClr val="black"/>
                </a:solidFill>
                <a:latin typeface="Times New Roman" panose="02020603050405020304" pitchFamily="18" charset="0"/>
                <a:cs typeface="Times New Roman" panose="02020603050405020304" pitchFamily="18" charset="0"/>
              </a:rPr>
              <a:t>A350</a:t>
            </a:r>
            <a:r>
              <a:rPr lang="en-US" sz="1300">
                <a:solidFill>
                  <a:prstClr val="black"/>
                </a:solidFill>
                <a:latin typeface="Times New Roman" panose="02020603050405020304" pitchFamily="18" charset="0"/>
                <a:cs typeface="Times New Roman" panose="02020603050405020304" pitchFamily="18" charset="0"/>
              </a:rPr>
              <a:t>: 98,22% thấp  hơn 1,11%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 do có 07 sự kiện OI, trong đó có  </a:t>
            </a:r>
            <a:r>
              <a:rPr lang="vi-VN" sz="1300">
                <a:solidFill>
                  <a:prstClr val="black"/>
                </a:solidFill>
                <a:latin typeface="Times New Roman" panose="02020603050405020304" pitchFamily="18" charset="0"/>
                <a:cs typeface="Times New Roman" panose="02020603050405020304" pitchFamily="18" charset="0"/>
              </a:rPr>
              <a:t>2 sự kiện liên quan tới hệ thống Fuel, 2 sự kiện liên quan tới hệ thống F/CTL, 2 sự kiện liên quan tới hệ thống điều khiển động cơ, 1 sự kiện liên quan tới hệ thống phát điện.</a:t>
            </a:r>
            <a:endParaRPr lang="en-US" sz="130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B787: 99,74% </a:t>
            </a:r>
            <a:r>
              <a:rPr lang="en-US" sz="1300">
                <a:latin typeface="Times New Roman" panose="02020603050405020304" pitchFamily="18" charset="0"/>
                <a:cs typeface="Times New Roman" panose="02020603050405020304" pitchFamily="18" charset="0"/>
              </a:rPr>
              <a:t>cao </a:t>
            </a:r>
            <a:r>
              <a:rPr lang="vi-VN" sz="1300">
                <a:latin typeface="Times New Roman" panose="02020603050405020304" pitchFamily="18" charset="0"/>
                <a:cs typeface="Times New Roman" panose="02020603050405020304" pitchFamily="18" charset="0"/>
              </a:rPr>
              <a:t>hơn</a:t>
            </a:r>
            <a:r>
              <a:rPr lang="en-US" sz="1300">
                <a:latin typeface="Times New Roman" panose="02020603050405020304" pitchFamily="18" charset="0"/>
                <a:cs typeface="Times New Roman" panose="02020603050405020304" pitchFamily="18" charset="0"/>
              </a:rPr>
              <a:t> 0,38% </a:t>
            </a:r>
            <a:r>
              <a:rPr lang="en-US" sz="1300" dirty="0">
                <a:latin typeface="Times New Roman" panose="02020603050405020304" pitchFamily="18" charset="0"/>
                <a:cs typeface="Times New Roman" panose="02020603050405020304" pitchFamily="18" charset="0"/>
              </a:rPr>
              <a:t>so với </a:t>
            </a:r>
            <a:r>
              <a:rPr lang="en-US" sz="1300">
                <a:latin typeface="Times New Roman" panose="02020603050405020304" pitchFamily="18" charset="0"/>
                <a:cs typeface="Times New Roman" panose="02020603050405020304" pitchFamily="18" charset="0"/>
              </a:rPr>
              <a:t>mục tiêu.</a:t>
            </a: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ATR72: 99,63% xấp xỉ đạt mục tiêu (thấp hơn 0,02%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 do có 02 sự kiện liên quan tới hỏng hóc contactor 16PU tàu B225 và Static Inverter tàu B223.</a:t>
            </a:r>
            <a:endParaRPr lang="en-US" sz="1300" dirty="0">
              <a:solidFill>
                <a:prstClr val="black"/>
              </a:solidFill>
              <a:latin typeface="Times New Roman" panose="02020603050405020304" pitchFamily="18" charset="0"/>
              <a:cs typeface="Times New Roman" panose="02020603050405020304" pitchFamily="18" charset="0"/>
            </a:endParaRPr>
          </a:p>
        </p:txBody>
      </p:sp>
      <p:pic>
        <p:nvPicPr>
          <p:cNvPr id="1025" name="Picture 1" desc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2400" cy="1524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29C63447-9F0E-F5EB-F621-78A1848A848E}"/>
              </a:ext>
            </a:extLst>
          </p:cNvPr>
          <p:cNvGraphicFramePr>
            <a:graphicFrameLocks noGrp="1"/>
          </p:cNvGraphicFramePr>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5365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418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776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536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8" name="Chart 7"/>
          <p:cNvGraphicFramePr>
            <a:graphicFrameLocks/>
          </p:cNvGraphicFramePr>
          <p:nvPr/>
        </p:nvGraphicFramePr>
        <p:xfrm>
          <a:off x="552666" y="1176337"/>
          <a:ext cx="11155680" cy="32194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1506983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41</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156784" y="0"/>
            <a:ext cx="9155880"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nvGraphicFramePr>
        <p:xfrm>
          <a:off x="156784" y="652238"/>
          <a:ext cx="11878434" cy="6021612"/>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542151">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762312">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06/04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11k$/</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9k$/</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75tr,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kèm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một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điều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13.5k/10k,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90M.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bao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gồm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2022.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23/10: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Shop)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a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l</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SV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vẫn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giữ</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nguyên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07/11: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xác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T12 </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17 slot.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29/12: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PW &amp;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hành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87019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28 (02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đco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956556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T11/2023 induct 12/07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956533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T01/2024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T9/2024)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total 05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ESN 956695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a:t>
                      </a:r>
                      <a:endPar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Group 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chế</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02 ĐC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đáp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ứng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gói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sắp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Letter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Airshow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23/07/2025.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26/11: EVP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cập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bay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Leadership</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846952">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VP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A350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SV...).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QLVT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toán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nhằm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HĐ TCA.</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Trong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buổi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MRO Asia,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bổ</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T10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giai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đoạn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17/12 SVP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CEO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đạt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cụ</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thể</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rPr>
                        <a:t>Ngày 11/2, lãnh đạo RRFP (bên cho thuê động c</a:t>
                      </a:r>
                      <a:r>
                        <a:rPr lang="vi-VN" sz="1300" u="none" strike="noStrike" kern="1200" baseline="0">
                          <a:solidFill>
                            <a:srgbClr val="FF0000"/>
                          </a:solidFill>
                          <a:effectLst/>
                          <a:latin typeface="Times New Roman" panose="02020603050405020304" pitchFamily="18" charset="0"/>
                          <a:ea typeface="+mn-ea"/>
                          <a:cs typeface="Times New Roman" panose="02020603050405020304" pitchFamily="18" charset="0"/>
                        </a:rPr>
                        <a:t>ơ</a:t>
                      </a: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rPr>
                        <a:t>) sẽ sang làm việc với VNA. Hiện VNA cũng đang đề nghị RR sang làm việc cấp cao vào đầu tháng 2 để tiếp tục claim hỗ trợ. </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3926811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34491883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22A72-54FF-8086-CABE-943B9F79B5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4848883-0D37-D0EE-F00E-CA550378B7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23" y="134658"/>
            <a:ext cx="537821" cy="505652"/>
          </a:xfrm>
          <a:prstGeom prst="rect">
            <a:avLst/>
          </a:prstGeom>
        </p:spPr>
      </p:pic>
      <p:sp>
        <p:nvSpPr>
          <p:cNvPr id="7" name="Title 1">
            <a:extLst>
              <a:ext uri="{FF2B5EF4-FFF2-40B4-BE49-F238E27FC236}">
                <a16:creationId xmlns:a16="http://schemas.microsoft.com/office/drawing/2014/main" id="{209F39F1-CDB6-3B62-4B32-ACAA9A730526}"/>
              </a:ext>
            </a:extLst>
          </p:cNvPr>
          <p:cNvSpPr txBox="1">
            <a:spLocks/>
          </p:cNvSpPr>
          <p:nvPr/>
        </p:nvSpPr>
        <p:spPr>
          <a:xfrm>
            <a:off x="844871" y="203761"/>
            <a:ext cx="9132732" cy="458687"/>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2800" b="1">
                <a:solidFill>
                  <a:srgbClr val="D2A43B"/>
                </a:solidFill>
                <a:latin typeface="Times New Roman" panose="02020603050405020304" pitchFamily="18" charset="0"/>
                <a:ea typeface="Tahoma" pitchFamily="34" charset="0"/>
                <a:cs typeface="Times New Roman" panose="02020603050405020304" pitchFamily="18" charset="0"/>
              </a:defRPr>
            </a:lvl1pPr>
          </a:lstStyle>
          <a:p>
            <a:pPr defTabSz="914377">
              <a:defRPr/>
            </a:pPr>
            <a:r>
              <a:rPr lang="en-US" dirty="0"/>
              <a:t>NHU CẦU ĐỘNG CƠ DỰ </a:t>
            </a:r>
            <a:r>
              <a:rPr lang="en-US"/>
              <a:t>PHÒNG Q1-Q2/2025</a:t>
            </a:r>
            <a:endParaRPr lang="vi-VN" dirty="0"/>
          </a:p>
        </p:txBody>
      </p:sp>
      <p:grpSp>
        <p:nvGrpSpPr>
          <p:cNvPr id="8" name="Group 7">
            <a:extLst>
              <a:ext uri="{FF2B5EF4-FFF2-40B4-BE49-F238E27FC236}">
                <a16:creationId xmlns:a16="http://schemas.microsoft.com/office/drawing/2014/main" id="{9743D403-841B-4C88-9A8E-7F9B02422512}"/>
              </a:ext>
            </a:extLst>
          </p:cNvPr>
          <p:cNvGrpSpPr/>
          <p:nvPr/>
        </p:nvGrpSpPr>
        <p:grpSpPr>
          <a:xfrm>
            <a:off x="932601" y="288236"/>
            <a:ext cx="10799027" cy="678753"/>
            <a:chOff x="1363421" y="323070"/>
            <a:chExt cx="10799027" cy="678753"/>
          </a:xfrm>
        </p:grpSpPr>
        <p:cxnSp>
          <p:nvCxnSpPr>
            <p:cNvPr id="9" name="Straight Connector 8">
              <a:extLst>
                <a:ext uri="{FF2B5EF4-FFF2-40B4-BE49-F238E27FC236}">
                  <a16:creationId xmlns:a16="http://schemas.microsoft.com/office/drawing/2014/main" id="{02D9B4C5-DC85-8A40-532D-EB022CFB7B1B}"/>
                </a:ext>
              </a:extLst>
            </p:cNvPr>
            <p:cNvCxnSpPr/>
            <p:nvPr/>
          </p:nvCxnSpPr>
          <p:spPr>
            <a:xfrm>
              <a:off x="1363421"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0941FC1-E581-6BDB-582E-7D9D8FDE8A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709946" y="323070"/>
              <a:ext cx="452502" cy="678753"/>
            </a:xfrm>
            <a:prstGeom prst="rect">
              <a:avLst/>
            </a:prstGeom>
          </p:spPr>
        </p:pic>
      </p:grpSp>
      <p:graphicFrame>
        <p:nvGraphicFramePr>
          <p:cNvPr id="19" name="Chart 18">
            <a:extLst>
              <a:ext uri="{FF2B5EF4-FFF2-40B4-BE49-F238E27FC236}">
                <a16:creationId xmlns:a16="http://schemas.microsoft.com/office/drawing/2014/main" id="{211010DD-A36B-7A4B-2FF6-01A604A6123F}"/>
              </a:ext>
            </a:extLst>
          </p:cNvPr>
          <p:cNvGraphicFramePr>
            <a:graphicFrameLocks/>
          </p:cNvGraphicFramePr>
          <p:nvPr/>
        </p:nvGraphicFramePr>
        <p:xfrm>
          <a:off x="495300" y="801732"/>
          <a:ext cx="11236328" cy="4607249"/>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a:extLst>
              <a:ext uri="{FF2B5EF4-FFF2-40B4-BE49-F238E27FC236}">
                <a16:creationId xmlns:a16="http://schemas.microsoft.com/office/drawing/2014/main" id="{4DD2277F-2B8A-7B9C-24AD-6310EB414239}"/>
              </a:ext>
            </a:extLst>
          </p:cNvPr>
          <p:cNvSpPr txBox="1"/>
          <p:nvPr/>
        </p:nvSpPr>
        <p:spPr>
          <a:xfrm>
            <a:off x="477836" y="5458746"/>
            <a:ext cx="11236328" cy="1323054"/>
          </a:xfrm>
          <a:prstGeom prst="rect">
            <a:avLst/>
          </a:prstGeom>
          <a:noFill/>
          <a:ln>
            <a:solidFill>
              <a:schemeClr val="accent1"/>
            </a:solidFill>
          </a:ln>
        </p:spPr>
        <p:txBody>
          <a:bodyPr wrap="square" rtlCol="0">
            <a:spAutoFit/>
          </a:bodyPr>
          <a:lstStyle/>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*A321CEO: </a:t>
            </a:r>
            <a:r>
              <a:rPr lang="en-US" sz="1333" dirty="0" err="1">
                <a:solidFill>
                  <a:prstClr val="black"/>
                </a:solidFill>
                <a:latin typeface="Times New Roman" panose="02020603050405020304" pitchFamily="18" charset="0"/>
                <a:cs typeface="Times New Roman" panose="02020603050405020304" pitchFamily="18" charset="0"/>
              </a:rPr>
              <a:t>Có</a:t>
            </a:r>
            <a:r>
              <a:rPr lang="en-US" sz="1333" dirty="0">
                <a:solidFill>
                  <a:prstClr val="black"/>
                </a:solidFill>
                <a:latin typeface="Times New Roman" panose="02020603050405020304" pitchFamily="18" charset="0"/>
                <a:cs typeface="Times New Roman" panose="02020603050405020304" pitchFamily="18" charset="0"/>
              </a:rPr>
              <a:t> 01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phòng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trong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giai</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đoạn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cao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điểm</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Tết</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Ngày</a:t>
            </a:r>
            <a:r>
              <a:rPr lang="en-US" sz="1333" dirty="0">
                <a:solidFill>
                  <a:prstClr val="black"/>
                </a:solidFill>
                <a:latin typeface="Times New Roman" panose="02020603050405020304" pitchFamily="18" charset="0"/>
                <a:cs typeface="Times New Roman" panose="02020603050405020304" pitchFamily="18" charset="0"/>
              </a:rPr>
              <a:t> 10/02 </a:t>
            </a:r>
            <a:r>
              <a:rPr lang="en-US" sz="1333" dirty="0" err="1">
                <a:solidFill>
                  <a:prstClr val="black"/>
                </a:solidFill>
                <a:latin typeface="Times New Roman" panose="02020603050405020304" pitchFamily="18" charset="0"/>
                <a:cs typeface="Times New Roman" panose="02020603050405020304" pitchFamily="18" charset="0"/>
              </a:rPr>
              <a:t>có</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thêm</a:t>
            </a:r>
            <a:r>
              <a:rPr lang="en-US" sz="1333" dirty="0">
                <a:solidFill>
                  <a:prstClr val="black"/>
                </a:solidFill>
                <a:latin typeface="Times New Roman" panose="02020603050405020304" pitchFamily="18" charset="0"/>
                <a:cs typeface="Times New Roman" panose="02020603050405020304" pitchFamily="18" charset="0"/>
              </a:rPr>
              <a:t> 1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phòng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nữa</a:t>
            </a:r>
            <a:r>
              <a:rPr lang="en-US" sz="1333" dirty="0">
                <a:solidFill>
                  <a:prstClr val="black"/>
                </a:solidFill>
                <a:latin typeface="Times New Roman" panose="02020603050405020304" pitchFamily="18" charset="0"/>
                <a:cs typeface="Times New Roman" panose="02020603050405020304" pitchFamily="18" charset="0"/>
              </a:rPr>
              <a:t>.</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*A321NEO</a:t>
            </a:r>
            <a:r>
              <a:rPr lang="en-US" sz="1333" dirty="0">
                <a:solidFill>
                  <a:prstClr val="black"/>
                </a:solidFill>
                <a:latin typeface="Times New Roman" panose="02020603050405020304" pitchFamily="18" charset="0"/>
                <a:cs typeface="Times New Roman" panose="02020603050405020304" pitchFamily="18" charset="0"/>
              </a:rPr>
              <a:t>: </a:t>
            </a:r>
            <a:r>
              <a:rPr lang="vi-VN" sz="1333" dirty="0">
                <a:solidFill>
                  <a:prstClr val="black"/>
                </a:solidFill>
                <a:latin typeface="Times New Roman" panose="02020603050405020304" pitchFamily="18" charset="0"/>
                <a:cs typeface="Times New Roman" panose="02020603050405020304" pitchFamily="18" charset="0"/>
              </a:rPr>
              <a:t>Rủi ro động cơ đi shop về muộn (thực tế đã bị shop delay nhiều lần) và rủi ro tháo động cơ </a:t>
            </a:r>
            <a:r>
              <a:rPr lang="vi-VN" sz="1333" dirty="0">
                <a:latin typeface="Times New Roman" panose="02020603050405020304" pitchFamily="18" charset="0"/>
                <a:cs typeface="Times New Roman" panose="02020603050405020304" pitchFamily="18" charset="0"/>
              </a:rPr>
              <a:t>ngoài KH do Vibration, Oil Leak…08 động cơ đang sửa chữa bị delay nhiều lần từ đầu tháng 12, với tổng ~ 366 days, tương ứng ~ 183 AOG days.</a:t>
            </a:r>
            <a:endParaRPr lang="en-US" sz="1333" dirty="0">
              <a:highlight>
                <a:srgbClr val="FFFF00"/>
              </a:highlight>
              <a:latin typeface="Times New Roman" panose="02020603050405020304" pitchFamily="18" charset="0"/>
              <a:cs typeface="Times New Roman" panose="02020603050405020304" pitchFamily="18" charset="0"/>
            </a:endParaRP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*B787: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trên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kế</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hoạch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nhận</a:t>
            </a:r>
            <a:r>
              <a:rPr lang="en-US" sz="1333" dirty="0">
                <a:solidFill>
                  <a:prstClr val="black"/>
                </a:solidFill>
                <a:latin typeface="Times New Roman" panose="02020603050405020304" pitchFamily="18" charset="0"/>
                <a:cs typeface="Times New Roman" panose="02020603050405020304" pitchFamily="18" charset="0"/>
              </a:rPr>
              <a:t> 02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thuê</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vào</a:t>
            </a:r>
            <a:r>
              <a:rPr lang="en-US" sz="1333" dirty="0">
                <a:solidFill>
                  <a:prstClr val="black"/>
                </a:solidFill>
                <a:latin typeface="Times New Roman" panose="02020603050405020304" pitchFamily="18" charset="0"/>
                <a:cs typeface="Times New Roman" panose="02020603050405020304" pitchFamily="18" charset="0"/>
              </a:rPr>
              <a:t> T9 </a:t>
            </a:r>
            <a:r>
              <a:rPr lang="en-US" sz="1333" dirty="0" err="1">
                <a:solidFill>
                  <a:prstClr val="black"/>
                </a:solidFill>
                <a:latin typeface="Times New Roman" panose="02020603050405020304" pitchFamily="18" charset="0"/>
                <a:cs typeface="Times New Roman" panose="02020603050405020304" pitchFamily="18" charset="0"/>
              </a:rPr>
              <a:t>và</a:t>
            </a:r>
            <a:r>
              <a:rPr lang="en-US" sz="1333" dirty="0">
                <a:solidFill>
                  <a:prstClr val="black"/>
                </a:solidFill>
                <a:latin typeface="Times New Roman" panose="02020603050405020304" pitchFamily="18" charset="0"/>
                <a:cs typeface="Times New Roman" panose="02020603050405020304" pitchFamily="18" charset="0"/>
              </a:rPr>
              <a:t> T11.</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*ATR: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này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đã</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tính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nguồn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lực</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cho</a:t>
            </a:r>
            <a:r>
              <a:rPr lang="en-US" sz="1333" dirty="0">
                <a:solidFill>
                  <a:prstClr val="black"/>
                </a:solidFill>
                <a:latin typeface="Times New Roman" panose="02020603050405020304" pitchFamily="18" charset="0"/>
                <a:cs typeface="Times New Roman" panose="02020603050405020304" pitchFamily="18" charset="0"/>
              </a:rPr>
              <a:t> 05 </a:t>
            </a:r>
            <a:r>
              <a:rPr lang="en-US" sz="1333" dirty="0" err="1">
                <a:solidFill>
                  <a:prstClr val="black"/>
                </a:solidFill>
                <a:latin typeface="Times New Roman" panose="02020603050405020304" pitchFamily="18" charset="0"/>
                <a:cs typeface="Times New Roman" panose="02020603050405020304" pitchFamily="18" charset="0"/>
              </a:rPr>
              <a:t>tàu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gồm</a:t>
            </a:r>
            <a:r>
              <a:rPr lang="en-US" sz="1333" dirty="0">
                <a:solidFill>
                  <a:prstClr val="black"/>
                </a:solidFill>
                <a:latin typeface="Times New Roman" panose="02020603050405020304" pitchFamily="18" charset="0"/>
                <a:cs typeface="Times New Roman" panose="02020603050405020304" pitchFamily="18" charset="0"/>
              </a:rPr>
              <a:t> B225 RTS </a:t>
            </a:r>
            <a:r>
              <a:rPr lang="en-US" sz="1333" dirty="0" err="1">
                <a:solidFill>
                  <a:prstClr val="black"/>
                </a:solidFill>
                <a:latin typeface="Times New Roman" panose="02020603050405020304" pitchFamily="18" charset="0"/>
                <a:cs typeface="Times New Roman" panose="02020603050405020304" pitchFamily="18" charset="0"/>
              </a:rPr>
              <a:t>từ</a:t>
            </a:r>
            <a:r>
              <a:rPr lang="en-US" sz="1333" dirty="0">
                <a:solidFill>
                  <a:prstClr val="black"/>
                </a:solidFill>
                <a:latin typeface="Times New Roman" panose="02020603050405020304" pitchFamily="18" charset="0"/>
                <a:cs typeface="Times New Roman" panose="02020603050405020304" pitchFamily="18" charset="0"/>
              </a:rPr>
              <a:t> T1/2025).</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*A350</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Rủi</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tháo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c</a:t>
            </a:r>
            <a:r>
              <a:rPr lang="vi-VN" sz="1333" dirty="0">
                <a:solidFill>
                  <a:prstClr val="black"/>
                </a:solidFill>
                <a:latin typeface="Times New Roman" panose="02020603050405020304" pitchFamily="18" charset="0"/>
                <a:cs typeface="Times New Roman" panose="02020603050405020304" pitchFamily="18" charset="0"/>
              </a:rPr>
              <a:t>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ngoài</a:t>
            </a:r>
            <a:r>
              <a:rPr lang="en-US" sz="1333" dirty="0">
                <a:solidFill>
                  <a:prstClr val="black"/>
                </a:solidFill>
                <a:latin typeface="Times New Roman" panose="02020603050405020304" pitchFamily="18" charset="0"/>
                <a:cs typeface="Times New Roman" panose="02020603050405020304" pitchFamily="18" charset="0"/>
              </a:rPr>
              <a:t> KH do High oil consumption, HPT Blade</a:t>
            </a:r>
          </a:p>
        </p:txBody>
      </p:sp>
    </p:spTree>
    <p:extLst>
      <p:ext uri="{BB962C8B-B14F-4D97-AF65-F5344CB8AC3E}">
        <p14:creationId xmlns:p14="http://schemas.microsoft.com/office/powerpoint/2010/main" val="2781462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44</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a:t>
            </a:r>
            <a:r>
              <a:rPr lang="en-US" sz="2667" b="1">
                <a:ln w="0"/>
                <a:solidFill>
                  <a:srgbClr val="FBAC00"/>
                </a:solidFill>
                <a:latin typeface="Times New Roman" panose="02020603050405020304" pitchFamily="18" charset="0"/>
                <a:cs typeface="Times New Roman" panose="02020603050405020304" pitchFamily="18" charset="0"/>
              </a:rPr>
              <a:t>FLEET T1-T3/2025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190500" y="592815"/>
          <a:ext cx="11811000" cy="467367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E40E499-B08B-C67F-623B-F023D733338B}"/>
              </a:ext>
            </a:extLst>
          </p:cNvPr>
          <p:cNvSpPr txBox="1"/>
          <p:nvPr/>
        </p:nvSpPr>
        <p:spPr>
          <a:xfrm>
            <a:off x="190500" y="5266487"/>
            <a:ext cx="11811000" cy="1384995"/>
          </a:xfrm>
          <a:prstGeom prst="rect">
            <a:avLst/>
          </a:prstGeom>
          <a:noFill/>
          <a:ln>
            <a:solidFill>
              <a:schemeClr val="accent1"/>
            </a:solidFill>
          </a:ln>
        </p:spPr>
        <p:txBody>
          <a:bodyPr wrap="square" rtlCol="0">
            <a:spAutoFit/>
          </a:bodyPr>
          <a:lstStyle/>
          <a:p>
            <a:r>
              <a:rPr lang="en-US" sz="1200" b="1" dirty="0">
                <a:latin typeface="Times New Roman" panose="02020603050405020304" pitchFamily="18" charset="0"/>
                <a:cs typeface="Times New Roman" panose="02020603050405020304" pitchFamily="18" charset="0"/>
              </a:rPr>
              <a:t>Action </a:t>
            </a:r>
            <a:r>
              <a:rPr lang="en-US" sz="1200" b="1" dirty="0" err="1">
                <a:latin typeface="Times New Roman" panose="02020603050405020304" pitchFamily="18" charset="0"/>
                <a:cs typeface="Times New Roman" panose="02020603050405020304" pitchFamily="18" charset="0"/>
              </a:rPr>
              <a:t>ngắn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hạn</a:t>
            </a:r>
            <a:r>
              <a:rPr lang="en-US" sz="1200" b="1" dirty="0">
                <a:latin typeface="Times New Roman" panose="02020603050405020304" pitchFamily="18" charset="0"/>
                <a:cs typeface="Times New Roman" panose="02020603050405020304" pitchFamily="18" charset="0"/>
              </a:rPr>
              <a:t> &amp; </a:t>
            </a:r>
            <a:r>
              <a:rPr lang="en-US" sz="1200" b="1" dirty="0" err="1">
                <a:latin typeface="Times New Roman" panose="02020603050405020304" pitchFamily="18" charset="0"/>
                <a:cs typeface="Times New Roman" panose="02020603050405020304" pitchFamily="18" charset="0"/>
              </a:rPr>
              <a:t>rủi</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ro</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nhận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diện</a:t>
            </a:r>
            <a:r>
              <a:rPr lang="en-US" sz="1200" dirty="0">
                <a:latin typeface="Times New Roman" panose="02020603050405020304" pitchFamily="18" charset="0"/>
                <a:cs typeface="Times New Roman" panose="02020603050405020304" pitchFamily="18" charset="0"/>
              </a:rPr>
              <a:t>:</a:t>
            </a:r>
          </a:p>
          <a:p>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A321CEO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Có</a:t>
            </a:r>
            <a:r>
              <a:rPr lang="en-US" sz="1200" dirty="0">
                <a:latin typeface="Times New Roman" panose="02020603050405020304" pitchFamily="18" charset="0"/>
                <a:cs typeface="Times New Roman" panose="02020603050405020304" pitchFamily="18" charset="0"/>
              </a:rPr>
              <a:t> 02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phòng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trong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cao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điểm</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Tết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10/02 </a:t>
            </a:r>
            <a:r>
              <a:rPr lang="en-US" sz="1200" dirty="0" err="1">
                <a:latin typeface="Times New Roman" panose="02020603050405020304" pitchFamily="18" charset="0"/>
                <a:cs typeface="Times New Roman" panose="02020603050405020304" pitchFamily="18" charset="0"/>
              </a:rPr>
              <a:t>có</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thêm</a:t>
            </a:r>
            <a:r>
              <a:rPr lang="en-US" sz="1200" dirty="0">
                <a:latin typeface="Times New Roman" panose="02020603050405020304" pitchFamily="18" charset="0"/>
                <a:cs typeface="Times New Roman" panose="02020603050405020304" pitchFamily="18" charset="0"/>
              </a:rPr>
              <a:t> 1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phòng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nữa</a:t>
            </a:r>
            <a:r>
              <a:rPr lang="en-US" sz="1200" dirty="0">
                <a:latin typeface="Times New Roman" panose="02020603050405020304" pitchFamily="18" charset="0"/>
                <a:cs typeface="Times New Roman" panose="02020603050405020304" pitchFamily="18" charset="0"/>
              </a:rPr>
              <a:t>.</a:t>
            </a:r>
          </a:p>
          <a:p>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A321NEO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đi</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muộn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thực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đã</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bị</a:t>
            </a:r>
            <a:r>
              <a:rPr lang="en-US" sz="1200" dirty="0">
                <a:latin typeface="Times New Roman" panose="02020603050405020304" pitchFamily="18" charset="0"/>
                <a:cs typeface="Times New Roman" panose="02020603050405020304" pitchFamily="18" charset="0"/>
              </a:rPr>
              <a:t> shop delay </a:t>
            </a:r>
            <a:r>
              <a:rPr lang="en-US" sz="1200" dirty="0" err="1">
                <a:latin typeface="Times New Roman" panose="02020603050405020304" pitchFamily="18" charset="0"/>
                <a:cs typeface="Times New Roman" panose="02020603050405020304" pitchFamily="18" charset="0"/>
              </a:rPr>
              <a:t>nhiều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lần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ngoài</a:t>
            </a:r>
            <a:r>
              <a:rPr lang="en-US" sz="1200" dirty="0">
                <a:latin typeface="Times New Roman" panose="02020603050405020304" pitchFamily="18" charset="0"/>
                <a:cs typeface="Times New Roman" panose="02020603050405020304" pitchFamily="18" charset="0"/>
              </a:rPr>
              <a:t> KH do Vibration, Oil Leak, HPT </a:t>
            </a:r>
            <a:r>
              <a:rPr lang="en-US" sz="1200" dirty="0" err="1">
                <a:latin typeface="Times New Roman" panose="02020603050405020304" pitchFamily="18" charset="0"/>
                <a:cs typeface="Times New Roman" panose="02020603050405020304" pitchFamily="18" charset="0"/>
              </a:rPr>
              <a:t>Balde</a:t>
            </a:r>
            <a:r>
              <a:rPr lang="en-US" sz="1200" dirty="0">
                <a:latin typeface="Times New Roman" panose="02020603050405020304" pitchFamily="18" charset="0"/>
                <a:cs typeface="Times New Roman" panose="02020603050405020304" pitchFamily="18" charset="0"/>
              </a:rPr>
              <a:t>…</a:t>
            </a:r>
            <a:r>
              <a:rPr lang="vi-VN" sz="1200" dirty="0">
                <a:cs typeface="Times New Roman" panose="02020603050405020304" pitchFamily="18" charset="0"/>
              </a:rPr>
              <a:t>08 động cơ đang sửa chữa bị delay nhiều lần từ đầu tháng 12, với tổng ~ 366 days, tương ứng ~ 183 AOG days</a:t>
            </a:r>
            <a:r>
              <a:rPr lang="vi-VN" sz="1200" dirty="0">
                <a:solidFill>
                  <a:srgbClr val="FF0000"/>
                </a:solidFill>
                <a:cs typeface="Times New Roman" panose="02020603050405020304" pitchFamily="18" charset="0"/>
              </a:rPr>
              <a:t>.</a:t>
            </a:r>
            <a:endParaRPr lang="en-US" sz="1200" dirty="0">
              <a:highlight>
                <a:srgbClr val="FFFF00"/>
              </a:highlight>
              <a:latin typeface="Times New Roman" panose="02020603050405020304" pitchFamily="18" charset="0"/>
              <a:cs typeface="Times New Roman" panose="02020603050405020304" pitchFamily="18" charset="0"/>
            </a:endParaRP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B787 </a:t>
            </a:r>
            <a:r>
              <a:rPr lang="en-US" sz="1200" dirty="0">
                <a:latin typeface="Times New Roman" panose="02020603050405020304" pitchFamily="18" charset="0"/>
                <a:cs typeface="Times New Roman" panose="02020603050405020304" pitchFamily="18" charset="0"/>
              </a:rPr>
              <a:t>: Nhu </a:t>
            </a:r>
            <a:r>
              <a:rPr lang="en-US" sz="1200" dirty="0" err="1">
                <a:latin typeface="Times New Roman" panose="02020603050405020304" pitchFamily="18" charset="0"/>
                <a:cs typeface="Times New Roman" panose="02020603050405020304" pitchFamily="18" charset="0"/>
              </a:rPr>
              <a:t>cầu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cập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nhật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sau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có</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hoạch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nhận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thêm</a:t>
            </a:r>
            <a:r>
              <a:rPr lang="en-US" sz="1200" dirty="0">
                <a:latin typeface="Times New Roman" panose="02020603050405020304" pitchFamily="18" charset="0"/>
                <a:cs typeface="Times New Roman" panose="02020603050405020304" pitchFamily="18" charset="0"/>
              </a:rPr>
              <a:t> 02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thuê</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T9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T12/2024.</a:t>
            </a: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A350: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ngoài</a:t>
            </a:r>
            <a:r>
              <a:rPr lang="en-US" sz="1200" dirty="0">
                <a:latin typeface="Times New Roman" panose="02020603050405020304" pitchFamily="18" charset="0"/>
                <a:cs typeface="Times New Roman" panose="02020603050405020304" pitchFamily="18" charset="0"/>
              </a:rPr>
              <a:t> KH do High oil consumption, HPT Blade</a:t>
            </a:r>
          </a:p>
          <a:p>
            <a:pPr marL="0" lvl="1"/>
            <a:r>
              <a:rPr lang="en-US" sz="1200" b="1" dirty="0">
                <a:latin typeface="Times New Roman" panose="02020603050405020304" pitchFamily="18" charset="0"/>
                <a:cs typeface="Times New Roman" panose="02020603050405020304" pitchFamily="18" charset="0"/>
              </a:rPr>
              <a:t>*ATR72: </a:t>
            </a:r>
            <a:r>
              <a:rPr lang="vi-VN" sz="1200" dirty="0">
                <a:latin typeface="Times New Roman" panose="02020603050405020304" pitchFamily="18" charset="0"/>
                <a:cs typeface="Times New Roman" panose="02020603050405020304" pitchFamily="18" charset="0"/>
              </a:rPr>
              <a:t>B225</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dùng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ED0214 </a:t>
            </a:r>
            <a:r>
              <a:rPr lang="en-US" sz="1200" dirty="0" err="1">
                <a:latin typeface="Times New Roman" panose="02020603050405020304" pitchFamily="18" charset="0"/>
                <a:cs typeface="Times New Roman" panose="02020603050405020304" pitchFamily="18" charset="0"/>
              </a:rPr>
              <a:t>trong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151 FC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ED0241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giữa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tháng</a:t>
            </a:r>
            <a:r>
              <a:rPr lang="en-US" sz="1200" dirty="0">
                <a:latin typeface="Times New Roman" panose="02020603050405020304" pitchFamily="18" charset="0"/>
                <a:cs typeface="Times New Roman" panose="02020603050405020304" pitchFamily="18" charset="0"/>
              </a:rPr>
              <a:t> 1/25 </a:t>
            </a:r>
            <a:r>
              <a:rPr lang="en-US" sz="1200" dirty="0" err="1">
                <a:latin typeface="Times New Roman" panose="02020603050405020304" pitchFamily="18" charset="0"/>
                <a:cs typeface="Times New Roman" panose="02020603050405020304" pitchFamily="18" charset="0"/>
              </a:rPr>
              <a:t>sẽ</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lấy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ED0181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thay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cho</a:t>
            </a:r>
            <a:r>
              <a:rPr lang="en-US" sz="1200" dirty="0">
                <a:latin typeface="Times New Roman" panose="02020603050405020304" pitchFamily="18" charset="0"/>
                <a:cs typeface="Times New Roman" panose="02020603050405020304" pitchFamily="18" charset="0"/>
              </a:rPr>
              <a:t> ED0214.</a:t>
            </a:r>
          </a:p>
        </p:txBody>
      </p:sp>
    </p:spTree>
    <p:extLst>
      <p:ext uri="{BB962C8B-B14F-4D97-AF65-F5344CB8AC3E}">
        <p14:creationId xmlns:p14="http://schemas.microsoft.com/office/powerpoint/2010/main" val="6598780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66920A6-6915-5AA0-8C7B-86FFAA7C8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36F650-D34B-32F5-0EFD-8481BE8666F3}"/>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AOG </a:t>
            </a:r>
            <a:r>
              <a:rPr lang="en-US" sz="2667" b="1">
                <a:ln w="0"/>
                <a:solidFill>
                  <a:srgbClr val="FBAC00"/>
                </a:solidFill>
                <a:latin typeface="Times New Roman" panose="02020603050405020304" pitchFamily="18" charset="0"/>
                <a:cs typeface="Times New Roman" panose="02020603050405020304" pitchFamily="18" charset="0"/>
              </a:rPr>
              <a:t>A321NEO 2024-T3/2025 </a:t>
            </a:r>
            <a:r>
              <a:rPr lang="en-US" sz="2667" b="1" dirty="0">
                <a:ln w="0"/>
                <a:solidFill>
                  <a:srgbClr val="FBAC00"/>
                </a:solidFill>
                <a:latin typeface="Times New Roman" panose="02020603050405020304" pitchFamily="18" charset="0"/>
                <a:cs typeface="Times New Roman" panose="02020603050405020304" pitchFamily="18" charset="0"/>
              </a:rPr>
              <a:t>DO HPT HUB</a:t>
            </a:r>
          </a:p>
        </p:txBody>
      </p:sp>
      <p:graphicFrame>
        <p:nvGraphicFramePr>
          <p:cNvPr id="3" name="Chart 2">
            <a:extLst>
              <a:ext uri="{FF2B5EF4-FFF2-40B4-BE49-F238E27FC236}">
                <a16:creationId xmlns:a16="http://schemas.microsoft.com/office/drawing/2014/main" id="{AB08D076-E070-83E5-6CED-DDB5B772B9A8}"/>
              </a:ext>
            </a:extLst>
          </p:cNvPr>
          <p:cNvGraphicFramePr/>
          <p:nvPr/>
        </p:nvGraphicFramePr>
        <p:xfrm>
          <a:off x="690251" y="812800"/>
          <a:ext cx="11247749" cy="5765800"/>
        </p:xfrm>
        <a:graphic>
          <a:graphicData uri="http://schemas.openxmlformats.org/drawingml/2006/chart">
            <c:chart xmlns:c="http://schemas.openxmlformats.org/drawingml/2006/chart" xmlns:r="http://schemas.openxmlformats.org/officeDocument/2006/relationships" r:id="rId3"/>
          </a:graphicData>
        </a:graphic>
      </p:graphicFrame>
      <p:sp>
        <p:nvSpPr>
          <p:cNvPr id="7" name="Speech Bubble: Rectangle with Corners Rounded 6">
            <a:extLst>
              <a:ext uri="{FF2B5EF4-FFF2-40B4-BE49-F238E27FC236}">
                <a16:creationId xmlns:a16="http://schemas.microsoft.com/office/drawing/2014/main" id="{DC56874D-4E6C-1D0F-C9BC-DCA9D7A2D2DE}"/>
              </a:ext>
            </a:extLst>
          </p:cNvPr>
          <p:cNvSpPr/>
          <p:nvPr/>
        </p:nvSpPr>
        <p:spPr>
          <a:xfrm>
            <a:off x="6934200" y="1371600"/>
            <a:ext cx="3105168" cy="871328"/>
          </a:xfrm>
          <a:prstGeom prst="wedgeRoundRectCallout">
            <a:avLst>
              <a:gd name="adj1" fmla="val 6679"/>
              <a:gd name="adj2" fmla="val 88321"/>
              <a:gd name="adj3" fmla="val 16667"/>
            </a:avLst>
          </a:prstGeom>
          <a:solidFill>
            <a:srgbClr val="FFFF0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1200">
                <a:solidFill>
                  <a:srgbClr val="FF0000"/>
                </a:solidFill>
                <a:cs typeface="Times New Roman" panose="02020603050405020304" pitchFamily="18" charset="0"/>
              </a:rPr>
              <a:t>08 động cơ đang sửa chữa bị delay nhiều lần từ đầu tháng 12, </a:t>
            </a:r>
            <a:r>
              <a:rPr lang="en-US" sz="1200">
                <a:solidFill>
                  <a:srgbClr val="FF0000"/>
                </a:solidFill>
                <a:cs typeface="Times New Roman" panose="02020603050405020304" pitchFamily="18" charset="0"/>
              </a:rPr>
              <a:t>trung bình 45 ngày/động c</a:t>
            </a:r>
            <a:r>
              <a:rPr lang="vi-VN" sz="1200">
                <a:solidFill>
                  <a:srgbClr val="FF0000"/>
                </a:solidFill>
                <a:cs typeface="Times New Roman" panose="02020603050405020304" pitchFamily="18" charset="0"/>
              </a:rPr>
              <a:t>ơ</a:t>
            </a:r>
            <a:r>
              <a:rPr lang="en-US" sz="1200">
                <a:solidFill>
                  <a:srgbClr val="FF0000"/>
                </a:solidFill>
                <a:cs typeface="Times New Roman" panose="02020603050405020304" pitchFamily="18" charset="0"/>
              </a:rPr>
              <a:t>, </a:t>
            </a:r>
            <a:r>
              <a:rPr lang="vi-VN" sz="1200">
                <a:solidFill>
                  <a:srgbClr val="FF0000"/>
                </a:solidFill>
                <a:cs typeface="Times New Roman" panose="02020603050405020304" pitchFamily="18" charset="0"/>
              </a:rPr>
              <a:t>với tổng ~ 366 days, tương ứng ~ 183 AOG days.</a:t>
            </a:r>
            <a:endParaRPr lang="en-US" sz="1200"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24982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F201DCB-0F48-45FA-23D1-D69FC207E9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759506-148F-6ED1-3F13-4D127FBBC4FC}"/>
              </a:ext>
            </a:extLst>
          </p:cNvPr>
          <p:cNvSpPr txBox="1"/>
          <p:nvPr/>
        </p:nvSpPr>
        <p:spPr>
          <a:xfrm>
            <a:off x="153472" y="517989"/>
            <a:ext cx="42672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AC2A46E-4E4A-6339-72C3-1800A18927D9}"/>
              </a:ext>
            </a:extLst>
          </p:cNvPr>
          <p:cNvGraphicFramePr>
            <a:graphicFrameLocks noGrp="1"/>
          </p:cNvGraphicFramePr>
          <p:nvPr/>
        </p:nvGraphicFramePr>
        <p:xfrm>
          <a:off x="162461" y="1051468"/>
          <a:ext cx="11867079" cy="5703491"/>
        </p:xfrm>
        <a:graphic>
          <a:graphicData uri="http://schemas.openxmlformats.org/drawingml/2006/table">
            <a:tbl>
              <a:tblPr firstRow="1" bandRow="1">
                <a:tableStyleId>{5C22544A-7EE6-4342-B048-85BDC9FD1C3A}</a:tableStyleId>
              </a:tblPr>
              <a:tblGrid>
                <a:gridCol w="474684">
                  <a:extLst>
                    <a:ext uri="{9D8B030D-6E8A-4147-A177-3AD203B41FA5}">
                      <a16:colId xmlns:a16="http://schemas.microsoft.com/office/drawing/2014/main" val="1598605427"/>
                    </a:ext>
                  </a:extLst>
                </a:gridCol>
                <a:gridCol w="870252">
                  <a:extLst>
                    <a:ext uri="{9D8B030D-6E8A-4147-A177-3AD203B41FA5}">
                      <a16:colId xmlns:a16="http://schemas.microsoft.com/office/drawing/2014/main" val="3845954792"/>
                    </a:ext>
                  </a:extLst>
                </a:gridCol>
                <a:gridCol w="1186707">
                  <a:extLst>
                    <a:ext uri="{9D8B030D-6E8A-4147-A177-3AD203B41FA5}">
                      <a16:colId xmlns:a16="http://schemas.microsoft.com/office/drawing/2014/main" val="2148822928"/>
                    </a:ext>
                  </a:extLst>
                </a:gridCol>
                <a:gridCol w="1265823">
                  <a:extLst>
                    <a:ext uri="{9D8B030D-6E8A-4147-A177-3AD203B41FA5}">
                      <a16:colId xmlns:a16="http://schemas.microsoft.com/office/drawing/2014/main" val="2136763095"/>
                    </a:ext>
                  </a:extLst>
                </a:gridCol>
                <a:gridCol w="1740505">
                  <a:extLst>
                    <a:ext uri="{9D8B030D-6E8A-4147-A177-3AD203B41FA5}">
                      <a16:colId xmlns:a16="http://schemas.microsoft.com/office/drawing/2014/main" val="1185879436"/>
                    </a:ext>
                  </a:extLst>
                </a:gridCol>
                <a:gridCol w="2768984">
                  <a:extLst>
                    <a:ext uri="{9D8B030D-6E8A-4147-A177-3AD203B41FA5}">
                      <a16:colId xmlns:a16="http://schemas.microsoft.com/office/drawing/2014/main" val="3807119371"/>
                    </a:ext>
                  </a:extLst>
                </a:gridCol>
                <a:gridCol w="3560124">
                  <a:extLst>
                    <a:ext uri="{9D8B030D-6E8A-4147-A177-3AD203B41FA5}">
                      <a16:colId xmlns:a16="http://schemas.microsoft.com/office/drawing/2014/main" val="3735753066"/>
                    </a:ext>
                  </a:extLst>
                </a:gridCol>
              </a:tblGrid>
              <a:tr h="302140">
                <a:tc>
                  <a:txBody>
                    <a:bodyPr/>
                    <a:lstStyle/>
                    <a:p>
                      <a:pPr algn="ctr"/>
                      <a:r>
                        <a:rPr lang="en-GB" sz="11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308355">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P771481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Completed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T2/2024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b="0">
                          <a:solidFill>
                            <a:schemeClr val="tx1"/>
                          </a:solidFill>
                          <a:latin typeface="Times New Roman" panose="02020603050405020304" pitchFamily="18" charset="0"/>
                          <a:cs typeface="Times New Roman" panose="02020603050405020304" pitchFamily="18" charset="0"/>
                        </a:rPr>
                        <a:t>T5/2024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277853865"/>
                  </a:ext>
                </a:extLst>
              </a:tr>
              <a:tr h="308355">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P800098</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Completed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18/06/2024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07/09/2024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A618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124338883"/>
                  </a:ext>
                </a:extLst>
              </a:tr>
              <a:tr h="308355">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P800150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Completed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20/06/2024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24/08/2024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A618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2165882103"/>
                  </a:ext>
                </a:extLst>
              </a:tr>
              <a:tr h="308355">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P772905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Completed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27/06/2024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09/09/2024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Thay cho A620#2 giữ giờ bay CĐ tết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227979002"/>
                  </a:ext>
                </a:extLst>
              </a:tr>
              <a:tr h="308355">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P771703</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28/02/2024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b="0">
                          <a:solidFill>
                            <a:schemeClr val="tx1"/>
                          </a:solidFill>
                          <a:latin typeface="Times New Roman" panose="02020603050405020304" pitchFamily="18" charset="0"/>
                          <a:cs typeface="Times New Roman" panose="02020603050405020304" pitchFamily="18" charset="0"/>
                        </a:rPr>
                        <a:t>23/10/2024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Thay cho A512#1 AD Hub</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70956559"/>
                  </a:ext>
                </a:extLst>
              </a:tr>
              <a:tr h="308355">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P770910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20/08/2024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08/11/2024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A621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75667320"/>
                  </a:ext>
                </a:extLst>
              </a:tr>
              <a:tr h="308355">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P771710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06/09/2024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23/11/2024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A621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959370187"/>
                  </a:ext>
                </a:extLst>
              </a:tr>
              <a:tr h="308355">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P770982</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16/09/2024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07/12/2024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Thay cho A507#1 AD Hub</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WSC QT, Delay 06 days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029850511"/>
                  </a:ext>
                </a:extLst>
              </a:tr>
              <a:tr h="308355">
                <a:tc>
                  <a:txBody>
                    <a:bodyPr/>
                    <a:lstStyle/>
                    <a:p>
                      <a:pPr algn="ctr"/>
                      <a:r>
                        <a:rPr lang="en-GB" sz="1100" dirty="0">
                          <a:latin typeface="Times New Roman" panose="02020603050405020304" pitchFamily="18" charset="0"/>
                          <a:cs typeface="Times New Roman" panose="02020603050405020304" pitchFamily="18" charset="0"/>
                        </a:rPr>
                        <a:t>9</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P771056</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09/01/2025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A619</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Đã sửa xong, đang lắp QEC tại VAECO</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276263675"/>
                  </a:ext>
                </a:extLst>
              </a:tr>
              <a:tr h="308355">
                <a:tc>
                  <a:txBody>
                    <a:bodyPr/>
                    <a:lstStyle/>
                    <a:p>
                      <a:pPr algn="ctr"/>
                      <a:r>
                        <a:rPr lang="en-GB" sz="1100">
                          <a:latin typeface="Times New Roman" panose="02020603050405020304" pitchFamily="18" charset="0"/>
                          <a:cs typeface="Times New Roman" panose="02020603050405020304" pitchFamily="18" charset="0"/>
                        </a:rPr>
                        <a:t>10</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P770903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18/07/2024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i="0" u="none" strike="noStrike">
                          <a:solidFill>
                            <a:schemeClr val="tx1"/>
                          </a:solidFill>
                          <a:effectLst/>
                          <a:latin typeface="Arial Narrow" panose="020B0606020202030204" pitchFamily="34" charset="0"/>
                        </a:rPr>
                        <a:t>10/04/2025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A501</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67959161"/>
                  </a:ext>
                </a:extLst>
              </a:tr>
              <a:tr h="467671">
                <a:tc>
                  <a:txBody>
                    <a:bodyPr/>
                    <a:lstStyle/>
                    <a:p>
                      <a:pPr algn="ctr"/>
                      <a:r>
                        <a:rPr lang="en-GB" sz="1100">
                          <a:latin typeface="Times New Roman" panose="02020603050405020304" pitchFamily="18" charset="0"/>
                          <a:cs typeface="Times New Roman" panose="02020603050405020304" pitchFamily="18" charset="0"/>
                        </a:rPr>
                        <a:t>11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100" dirty="0">
                          <a:solidFill>
                            <a:schemeClr val="tx1"/>
                          </a:solidFill>
                          <a:effectLst/>
                          <a:latin typeface="Times New Roman" panose="02020603050405020304" pitchFamily="18" charset="0"/>
                          <a:cs typeface="Times New Roman" panose="02020603050405020304" pitchFamily="18" charset="0"/>
                        </a:rPr>
                        <a:t>P770904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22/04/2024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11/03/2025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Delay do post test </a:t>
                      </a:r>
                      <a:r>
                        <a:rPr lang="en-US" sz="1100">
                          <a:solidFill>
                            <a:schemeClr val="tx1"/>
                          </a:solidFill>
                          <a:latin typeface="Times New Roman" panose="02020603050405020304" pitchFamily="18" charset="0"/>
                          <a:cs typeface="Times New Roman" panose="02020603050405020304" pitchFamily="18" charset="0"/>
                        </a:rPr>
                        <a:t>BSI finding on IBR6 &amp; TB1. Re-induct, dự kiến delay sang T2/2025.</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10844604"/>
                  </a:ext>
                </a:extLst>
              </a:tr>
              <a:tr h="308355">
                <a:tc>
                  <a:txBody>
                    <a:bodyPr/>
                    <a:lstStyle/>
                    <a:p>
                      <a:pPr algn="ctr"/>
                      <a:r>
                        <a:rPr lang="en-GB" sz="1100">
                          <a:latin typeface="Times New Roman" panose="02020603050405020304" pitchFamily="18" charset="0"/>
                          <a:cs typeface="Times New Roman" panose="02020603050405020304" pitchFamily="18" charset="0"/>
                        </a:rPr>
                        <a:t>12</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P771075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25/07/2024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04/03/2025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A506</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36697217"/>
                  </a:ext>
                </a:extLst>
              </a:tr>
              <a:tr h="308355">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13</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P771414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09/08/2024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13/02/2025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A507#2 ENG CHANGE</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518084637"/>
                  </a:ext>
                </a:extLst>
              </a:tr>
              <a:tr h="308355">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14</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P771130</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A501</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753673127"/>
                  </a:ext>
                </a:extLst>
              </a:tr>
              <a:tr h="308355">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15</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P771391</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Inducted</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11/10/2024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16/04/2025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A625</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502614763"/>
                  </a:ext>
                </a:extLst>
              </a:tr>
              <a:tr h="308355">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16</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P771077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24/10/2024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07/05/2025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A625</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91877321"/>
                  </a:ext>
                </a:extLst>
              </a:tr>
              <a:tr h="308355">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P771387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A508</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dirty="0">
                          <a:solidFill>
                            <a:schemeClr val="tx1"/>
                          </a:solidFill>
                          <a:effectLst/>
                          <a:latin typeface="Times New Roman" panose="02020603050405020304" pitchFamily="18" charset="0"/>
                          <a:ea typeface="+mn-ea"/>
                          <a:cs typeface="Times New Roman" panose="02020603050405020304" pitchFamily="18" charset="0"/>
                        </a:rPr>
                        <a:t>Target build ~4280 FC do HPT Hub not affected by AD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06751762"/>
                  </a:ext>
                </a:extLst>
              </a:tr>
            </a:tbl>
          </a:graphicData>
        </a:graphic>
      </p:graphicFrame>
      <p:sp>
        <p:nvSpPr>
          <p:cNvPr id="4" name="TextBox 3">
            <a:extLst>
              <a:ext uri="{FF2B5EF4-FFF2-40B4-BE49-F238E27FC236}">
                <a16:creationId xmlns:a16="http://schemas.microsoft.com/office/drawing/2014/main" id="{8E657E58-C6AA-4957-1D5D-8F4F96FE5488}"/>
              </a:ext>
            </a:extLst>
          </p:cNvPr>
          <p:cNvSpPr txBox="1"/>
          <p:nvPr/>
        </p:nvSpPr>
        <p:spPr>
          <a:xfrm>
            <a:off x="153473" y="103041"/>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44588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566C40-78C1-9EC0-1727-A8DD49C3FD9B}"/>
              </a:ext>
            </a:extLst>
          </p:cNvPr>
          <p:cNvSpPr>
            <a:spLocks noGrp="1"/>
          </p:cNvSpPr>
          <p:nvPr>
            <p:ph type="sldNum" idx="12"/>
          </p:nvPr>
        </p:nvSpPr>
        <p:spPr/>
        <p:txBody>
          <a:bodyPr/>
          <a:lstStyle/>
          <a:p>
            <a:fld id="{00000000-1234-1234-1234-123412341234}" type="slidenum">
              <a:rPr lang="vi" smtClean="0"/>
              <a:pPr/>
              <a:t>47</a:t>
            </a:fld>
            <a:endParaRPr lang="vi"/>
          </a:p>
        </p:txBody>
      </p:sp>
      <p:sp>
        <p:nvSpPr>
          <p:cNvPr id="16" name="TextBox 15">
            <a:extLst>
              <a:ext uri="{FF2B5EF4-FFF2-40B4-BE49-F238E27FC236}">
                <a16:creationId xmlns:a16="http://schemas.microsoft.com/office/drawing/2014/main" id="{A2528A14-5474-03B4-BF8A-AFDB59E54730}"/>
              </a:ext>
            </a:extLst>
          </p:cNvPr>
          <p:cNvSpPr txBox="1"/>
          <p:nvPr/>
        </p:nvSpPr>
        <p:spPr>
          <a:xfrm>
            <a:off x="0" y="431801"/>
            <a:ext cx="7890933"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Kế</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hoạch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thay</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động</a:t>
            </a:r>
            <a:r>
              <a:rPr lang="en-US" sz="2400" b="1" dirty="0">
                <a:solidFill>
                  <a:srgbClr val="002060"/>
                </a:solidFill>
                <a:latin typeface="Times New Roman" panose="02020603050405020304" pitchFamily="18" charset="0"/>
                <a:cs typeface="Times New Roman" panose="02020603050405020304" pitchFamily="18" charset="0"/>
              </a:rPr>
              <a:t> c</a:t>
            </a:r>
            <a:r>
              <a:rPr lang="vi-VN" sz="2400" b="1" dirty="0">
                <a:solidFill>
                  <a:srgbClr val="002060"/>
                </a:solidFill>
                <a:latin typeface="Times New Roman" panose="02020603050405020304" pitchFamily="18" charset="0"/>
                <a:cs typeface="Times New Roman" panose="02020603050405020304" pitchFamily="18" charset="0"/>
              </a:rPr>
              <a:t>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a:solidFill>
                  <a:srgbClr val="002060"/>
                </a:solidFill>
                <a:latin typeface="Times New Roman" panose="02020603050405020304" pitchFamily="18" charset="0"/>
                <a:cs typeface="Times New Roman" panose="02020603050405020304" pitchFamily="18" charset="0"/>
              </a:rPr>
              <a:t>A321NEO T1-T3/25</a:t>
            </a:r>
            <a:endParaRPr lang="en-GB" sz="2400" b="1" dirty="0">
              <a:solidFill>
                <a:srgbClr val="00206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FF648BE0-3FB3-B153-2A56-6AAF25C6C6E2}"/>
              </a:ext>
            </a:extLst>
          </p:cNvPr>
          <p:cNvSpPr txBox="1"/>
          <p:nvPr/>
        </p:nvSpPr>
        <p:spPr>
          <a:xfrm>
            <a:off x="1" y="-5952"/>
            <a:ext cx="9584267"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18" name="Table 2">
            <a:extLst>
              <a:ext uri="{FF2B5EF4-FFF2-40B4-BE49-F238E27FC236}">
                <a16:creationId xmlns:a16="http://schemas.microsoft.com/office/drawing/2014/main" id="{6F2FE8BC-4850-BD1B-EABA-12CA92CD86BA}"/>
              </a:ext>
            </a:extLst>
          </p:cNvPr>
          <p:cNvGraphicFramePr>
            <a:graphicFrameLocks noGrp="1"/>
          </p:cNvGraphicFramePr>
          <p:nvPr/>
        </p:nvGraphicFramePr>
        <p:xfrm>
          <a:off x="163790" y="1032931"/>
          <a:ext cx="11594304" cy="5693952"/>
        </p:xfrm>
        <a:graphic>
          <a:graphicData uri="http://schemas.openxmlformats.org/drawingml/2006/table">
            <a:tbl>
              <a:tblPr firstRow="1" bandRow="1">
                <a:tableStyleId>{5C22544A-7EE6-4342-B048-85BDC9FD1C3A}</a:tableStyleId>
              </a:tblPr>
              <a:tblGrid>
                <a:gridCol w="506307">
                  <a:extLst>
                    <a:ext uri="{9D8B030D-6E8A-4147-A177-3AD203B41FA5}">
                      <a16:colId xmlns:a16="http://schemas.microsoft.com/office/drawing/2014/main" val="1598605427"/>
                    </a:ext>
                  </a:extLst>
                </a:gridCol>
                <a:gridCol w="1136124">
                  <a:extLst>
                    <a:ext uri="{9D8B030D-6E8A-4147-A177-3AD203B41FA5}">
                      <a16:colId xmlns:a16="http://schemas.microsoft.com/office/drawing/2014/main" val="3845954792"/>
                    </a:ext>
                  </a:extLst>
                </a:gridCol>
                <a:gridCol w="1163319">
                  <a:extLst>
                    <a:ext uri="{9D8B030D-6E8A-4147-A177-3AD203B41FA5}">
                      <a16:colId xmlns:a16="http://schemas.microsoft.com/office/drawing/2014/main" val="2148822928"/>
                    </a:ext>
                  </a:extLst>
                </a:gridCol>
                <a:gridCol w="1163319">
                  <a:extLst>
                    <a:ext uri="{9D8B030D-6E8A-4147-A177-3AD203B41FA5}">
                      <a16:colId xmlns:a16="http://schemas.microsoft.com/office/drawing/2014/main" val="2136763095"/>
                    </a:ext>
                  </a:extLst>
                </a:gridCol>
                <a:gridCol w="1163319">
                  <a:extLst>
                    <a:ext uri="{9D8B030D-6E8A-4147-A177-3AD203B41FA5}">
                      <a16:colId xmlns:a16="http://schemas.microsoft.com/office/drawing/2014/main" val="4058157000"/>
                    </a:ext>
                  </a:extLst>
                </a:gridCol>
                <a:gridCol w="1163319">
                  <a:extLst>
                    <a:ext uri="{9D8B030D-6E8A-4147-A177-3AD203B41FA5}">
                      <a16:colId xmlns:a16="http://schemas.microsoft.com/office/drawing/2014/main" val="1185879436"/>
                    </a:ext>
                  </a:extLst>
                </a:gridCol>
                <a:gridCol w="1163319">
                  <a:extLst>
                    <a:ext uri="{9D8B030D-6E8A-4147-A177-3AD203B41FA5}">
                      <a16:colId xmlns:a16="http://schemas.microsoft.com/office/drawing/2014/main" val="3807119371"/>
                    </a:ext>
                  </a:extLst>
                </a:gridCol>
                <a:gridCol w="1038679">
                  <a:extLst>
                    <a:ext uri="{9D8B030D-6E8A-4147-A177-3AD203B41FA5}">
                      <a16:colId xmlns:a16="http://schemas.microsoft.com/office/drawing/2014/main" val="2251645117"/>
                    </a:ext>
                  </a:extLst>
                </a:gridCol>
                <a:gridCol w="3096599">
                  <a:extLst>
                    <a:ext uri="{9D8B030D-6E8A-4147-A177-3AD203B41FA5}">
                      <a16:colId xmlns:a16="http://schemas.microsoft.com/office/drawing/2014/main" val="3735753066"/>
                    </a:ext>
                  </a:extLst>
                </a:gridCol>
              </a:tblGrid>
              <a:tr h="649767">
                <a:tc>
                  <a:txBody>
                    <a:bodyPr/>
                    <a:lstStyle/>
                    <a:p>
                      <a:pPr algn="ctr"/>
                      <a:r>
                        <a:rPr lang="en-GB" sz="12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ESN OFF</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ESN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Remove from</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dirty="0">
                          <a:solidFill>
                            <a:schemeClr val="lt1"/>
                          </a:solidFill>
                          <a:latin typeface="Times New Roman" panose="02020603050405020304" pitchFamily="18" charset="0"/>
                          <a:ea typeface="+mn-ea"/>
                          <a:cs typeface="Times New Roman" panose="02020603050405020304" pitchFamily="18" charset="0"/>
                        </a:rPr>
                        <a:t>Removal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Shopvisit</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200">
                          <a:latin typeface="Times New Roman" panose="02020603050405020304" pitchFamily="18" charset="0"/>
                          <a:cs typeface="Times New Roman" panose="02020603050405020304" pitchFamily="18" charset="0"/>
                        </a:rPr>
                        <a:t>Remark</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51065">
                <a:tc>
                  <a:txBody>
                    <a:bodyPr/>
                    <a:lstStyle/>
                    <a:p>
                      <a:pPr algn="ctr"/>
                      <a:r>
                        <a:rPr lang="en-US" sz="1200" b="0" i="0" u="none" strike="noStrike" kern="1200">
                          <a:solidFill>
                            <a:schemeClr val="tx1"/>
                          </a:solidFill>
                          <a:effectLst/>
                          <a:latin typeface="Calibri" panose="020F0502020204030204" pitchFamily="34" charset="0"/>
                          <a:ea typeface="+mn-ea"/>
                          <a:cs typeface="+mn-cs"/>
                        </a:rPr>
                        <a:t>1</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P772905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P771668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15-Feb-25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17-Feb-25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Calibri" panose="020F0502020204030204" pitchFamily="34" charset="0"/>
                        </a:rPr>
                        <a:t>Swap engine with A619, A620 </a:t>
                      </a:r>
                      <a:r>
                        <a:rPr lang="en-US" sz="1200" b="0" i="0" u="none" strike="noStrike" dirty="0" err="1">
                          <a:solidFill>
                            <a:schemeClr val="tx1"/>
                          </a:solidFill>
                          <a:effectLst/>
                          <a:latin typeface="Calibri" panose="020F0502020204030204" pitchFamily="34" charset="0"/>
                        </a:rPr>
                        <a:t>dừng</a:t>
                      </a:r>
                      <a:r>
                        <a:rPr lang="en-US" sz="1200" b="0" i="0" u="none" strike="noStrike" dirty="0">
                          <a:solidFill>
                            <a:schemeClr val="tx1"/>
                          </a:solidFill>
                          <a:effectLst/>
                          <a:latin typeface="Calibri" panose="020F0502020204030204" pitchFamily="34" charset="0"/>
                        </a:rPr>
                        <a:t> </a:t>
                      </a:r>
                      <a:r>
                        <a:rPr lang="en-US" sz="1200" b="0" i="0" u="none" strike="noStrike" dirty="0" err="1">
                          <a:solidFill>
                            <a:schemeClr val="tx1"/>
                          </a:solidFill>
                          <a:effectLst/>
                          <a:latin typeface="Calibri" panose="020F0502020204030204" pitchFamily="34" charset="0"/>
                        </a:rPr>
                        <a:t>làm</a:t>
                      </a:r>
                      <a:r>
                        <a:rPr lang="en-US" sz="1200" b="0" i="0" u="none" strike="noStrike" dirty="0">
                          <a:solidFill>
                            <a:schemeClr val="tx1"/>
                          </a:solidFill>
                          <a:effectLst/>
                          <a:latin typeface="Calibri" panose="020F0502020204030204" pitchFamily="34" charset="0"/>
                        </a:rPr>
                        <a:t> check</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3596114"/>
                  </a:ext>
                </a:extLst>
              </a:tr>
              <a:tr h="561640">
                <a:tc>
                  <a:txBody>
                    <a:bodyPr/>
                    <a:lstStyle/>
                    <a:p>
                      <a:pPr algn="ctr"/>
                      <a:r>
                        <a:rPr lang="en-GB" sz="1200" b="0" i="0" u="none" strike="noStrike" kern="1200">
                          <a:solidFill>
                            <a:schemeClr val="tx1"/>
                          </a:solidFill>
                          <a:effectLst/>
                          <a:latin typeface="Calibri" panose="020F0502020204030204" pitchFamily="34" charset="0"/>
                          <a:ea typeface="+mn-ea"/>
                          <a:cs typeface="+mn-cs"/>
                        </a:rPr>
                        <a:t>2</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P771668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P772905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Calibri" panose="020F0502020204030204" pitchFamily="34" charset="0"/>
                        </a:rPr>
                        <a:t>15-Feb-25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17-Feb-25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Calibri" panose="020F0502020204030204" pitchFamily="34" charset="0"/>
                        </a:rPr>
                        <a:t>Swap engine with A620, A619 </a:t>
                      </a:r>
                      <a:r>
                        <a:rPr lang="en-US" sz="1200" b="0" i="0" u="none" strike="noStrike" dirty="0" err="1">
                          <a:solidFill>
                            <a:schemeClr val="tx1"/>
                          </a:solidFill>
                          <a:effectLst/>
                          <a:latin typeface="Calibri" panose="020F0502020204030204" pitchFamily="34" charset="0"/>
                        </a:rPr>
                        <a:t>tiếp</a:t>
                      </a:r>
                      <a:r>
                        <a:rPr lang="en-US" sz="1200" b="0" i="0" u="none" strike="noStrike" dirty="0">
                          <a:solidFill>
                            <a:schemeClr val="tx1"/>
                          </a:solidFill>
                          <a:effectLst/>
                          <a:latin typeface="Calibri" panose="020F0502020204030204" pitchFamily="34" charset="0"/>
                        </a:rPr>
                        <a:t> </a:t>
                      </a:r>
                      <a:r>
                        <a:rPr lang="en-US" sz="1200" b="0" i="0" u="none" strike="noStrike" dirty="0" err="1">
                          <a:solidFill>
                            <a:schemeClr val="tx1"/>
                          </a:solidFill>
                          <a:effectLst/>
                          <a:latin typeface="Calibri" panose="020F0502020204030204" pitchFamily="34" charset="0"/>
                        </a:rPr>
                        <a:t>tục</a:t>
                      </a:r>
                      <a:r>
                        <a:rPr lang="en-US" sz="1200" b="0" i="0" u="none" strike="noStrike" dirty="0">
                          <a:solidFill>
                            <a:schemeClr val="tx1"/>
                          </a:solidFill>
                          <a:effectLst/>
                          <a:latin typeface="Calibri" panose="020F0502020204030204" pitchFamily="34" charset="0"/>
                        </a:rPr>
                        <a:t> </a:t>
                      </a:r>
                      <a:r>
                        <a:rPr lang="en-US" sz="1200" b="0" i="0" u="none" strike="noStrike" dirty="0" err="1">
                          <a:solidFill>
                            <a:schemeClr val="tx1"/>
                          </a:solidFill>
                          <a:effectLst/>
                          <a:latin typeface="Calibri" panose="020F0502020204030204" pitchFamily="34" charset="0"/>
                        </a:rPr>
                        <a:t>khai</a:t>
                      </a:r>
                      <a:r>
                        <a:rPr lang="en-US" sz="1200" b="0" i="0" u="none" strike="noStrike" dirty="0">
                          <a:solidFill>
                            <a:schemeClr val="tx1"/>
                          </a:solidFill>
                          <a:effectLst/>
                          <a:latin typeface="Calibri" panose="020F0502020204030204" pitchFamily="34" charset="0"/>
                        </a:rPr>
                        <a:t> </a:t>
                      </a:r>
                      <a:r>
                        <a:rPr lang="en-US" sz="1200" b="0" i="0" u="none" strike="noStrike" dirty="0" err="1">
                          <a:solidFill>
                            <a:schemeClr val="tx1"/>
                          </a:solidFill>
                          <a:effectLst/>
                          <a:latin typeface="Calibri" panose="020F0502020204030204" pitchFamily="34" charset="0"/>
                        </a:rPr>
                        <a:t>thác</a:t>
                      </a:r>
                      <a:endParaRPr lang="en-US" sz="1200" b="0" i="0" u="none" strike="noStrike" dirty="0">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9894405"/>
                  </a:ext>
                </a:extLst>
              </a:tr>
              <a:tr h="561640">
                <a:tc>
                  <a:txBody>
                    <a:bodyPr/>
                    <a:lstStyle/>
                    <a:p>
                      <a:pPr algn="ctr"/>
                      <a:r>
                        <a:rPr lang="en-GB" sz="1200" b="0" i="0" u="none" strike="noStrike" kern="1200">
                          <a:solidFill>
                            <a:schemeClr val="tx1"/>
                          </a:solidFill>
                          <a:effectLst/>
                          <a:latin typeface="Calibri" panose="020F0502020204030204" pitchFamily="34" charset="0"/>
                          <a:ea typeface="+mn-ea"/>
                          <a:cs typeface="+mn-cs"/>
                        </a:rPr>
                        <a:t>3</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P771488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a:t>
                      </a:r>
                      <a:r>
                        <a:rPr lang="vi-VN" sz="1200" b="0" i="0" u="none" strike="noStrike">
                          <a:solidFill>
                            <a:schemeClr val="tx1"/>
                          </a:solidFill>
                          <a:effectLst/>
                          <a:latin typeface="Calibri" panose="020F0502020204030204" pitchFamily="34" charset="0"/>
                        </a:rPr>
                        <a:t>414</a:t>
                      </a:r>
                      <a:endParaRPr lang="en-US" sz="1200" b="0" i="0" u="none" strike="noStrike">
                        <a:solidFill>
                          <a:schemeClr val="tx1"/>
                        </a:solidFill>
                        <a:effectLst/>
                        <a:latin typeface="Calibri" panose="020F0502020204030204" pitchFamily="34" charset="0"/>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26-Feb-25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28-Feb-25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6505085"/>
                  </a:ext>
                </a:extLst>
              </a:tr>
              <a:tr h="561640">
                <a:tc>
                  <a:txBody>
                    <a:bodyPr/>
                    <a:lstStyle/>
                    <a:p>
                      <a:pPr algn="ctr"/>
                      <a:r>
                        <a:rPr lang="en-GB" sz="1200" b="0" i="0" u="none" strike="noStrike" kern="1200">
                          <a:solidFill>
                            <a:schemeClr val="tx1"/>
                          </a:solidFill>
                          <a:effectLst/>
                          <a:latin typeface="Calibri" panose="020F0502020204030204" pitchFamily="34" charset="0"/>
                          <a:ea typeface="+mn-ea"/>
                          <a:cs typeface="+mn-cs"/>
                        </a:rPr>
                        <a:t>4</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P771488</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2066291"/>
                  </a:ext>
                </a:extLst>
              </a:tr>
              <a:tr h="561640">
                <a:tc>
                  <a:txBody>
                    <a:bodyPr/>
                    <a:lstStyle/>
                    <a:p>
                      <a:pPr algn="ctr"/>
                      <a:r>
                        <a:rPr lang="en-GB" sz="1200" b="0" i="0" u="none" strike="noStrike" kern="1200">
                          <a:solidFill>
                            <a:schemeClr val="tx1"/>
                          </a:solidFill>
                          <a:effectLst/>
                          <a:latin typeface="Calibri" panose="020F0502020204030204" pitchFamily="34" charset="0"/>
                          <a:ea typeface="+mn-ea"/>
                          <a:cs typeface="+mn-cs"/>
                        </a:rPr>
                        <a:t>5</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P771423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A506#2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20-Feb-25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ENG REMOVAL</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4227953"/>
                  </a:ext>
                </a:extLst>
              </a:tr>
              <a:tr h="561640">
                <a:tc>
                  <a:txBody>
                    <a:bodyPr/>
                    <a:lstStyle/>
                    <a:p>
                      <a:pPr algn="ctr"/>
                      <a:r>
                        <a:rPr lang="en-GB" sz="1200" b="0" i="0" u="none" strike="noStrike" kern="1200">
                          <a:solidFill>
                            <a:schemeClr val="tx1"/>
                          </a:solidFill>
                          <a:effectLst/>
                          <a:latin typeface="Calibri" panose="020F0502020204030204" pitchFamily="34" charset="0"/>
                          <a:ea typeface="+mn-ea"/>
                          <a:cs typeface="+mn-cs"/>
                        </a:rPr>
                        <a:t>6</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P771376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A506#1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20-Feb-25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ENG REMOVAL</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1565641"/>
                  </a:ext>
                </a:extLst>
              </a:tr>
              <a:tr h="561640">
                <a:tc>
                  <a:txBody>
                    <a:bodyPr/>
                    <a:lstStyle/>
                    <a:p>
                      <a:pPr algn="ctr"/>
                      <a:r>
                        <a:rPr lang="en-GB" sz="1200" b="0" i="0" u="none" strike="noStrike" kern="1200">
                          <a:solidFill>
                            <a:schemeClr val="tx1"/>
                          </a:solidFill>
                          <a:effectLst/>
                          <a:latin typeface="Calibri" panose="020F0502020204030204" pitchFamily="34" charset="0"/>
                          <a:ea typeface="+mn-ea"/>
                          <a:cs typeface="+mn-cs"/>
                        </a:rPr>
                        <a:t>7</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P771119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cap="none">
                          <a:solidFill>
                            <a:schemeClr val="tx1"/>
                          </a:solidFill>
                          <a:effectLst/>
                          <a:latin typeface="Calibri" panose="020F0502020204030204" pitchFamily="34" charset="0"/>
                          <a:ea typeface="+mn-ea"/>
                          <a:cs typeface="+mn-cs"/>
                          <a:sym typeface="Arial"/>
                        </a:rPr>
                        <a:t>P771075</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A625#2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A625#2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3-Mar-25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RTS</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644935"/>
                  </a:ext>
                </a:extLst>
              </a:tr>
              <a:tr h="561640">
                <a:tc>
                  <a:txBody>
                    <a:bodyPr/>
                    <a:lstStyle/>
                    <a:p>
                      <a:pPr algn="ctr"/>
                      <a:r>
                        <a:rPr lang="en-GB" sz="1200" b="0" i="0" u="none" strike="noStrike" kern="1200">
                          <a:solidFill>
                            <a:schemeClr val="tx1"/>
                          </a:solidFill>
                          <a:effectLst/>
                          <a:latin typeface="Calibri" panose="020F0502020204030204" pitchFamily="34" charset="0"/>
                          <a:ea typeface="+mn-ea"/>
                          <a:cs typeface="+mn-cs"/>
                        </a:rPr>
                        <a:t>8</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P771463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cap="none">
                          <a:solidFill>
                            <a:schemeClr val="tx1"/>
                          </a:solidFill>
                          <a:effectLst/>
                          <a:latin typeface="Calibri" panose="020F0502020204030204" pitchFamily="34" charset="0"/>
                          <a:ea typeface="+mn-ea"/>
                          <a:cs typeface="+mn-cs"/>
                          <a:sym typeface="Arial"/>
                        </a:rPr>
                        <a:t>P770904</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A625#1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A625#1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10-Mar-25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12-Mar-25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RTS</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236811"/>
                  </a:ext>
                </a:extLst>
              </a:tr>
              <a:tr h="561640">
                <a:tc>
                  <a:txBody>
                    <a:bodyPr/>
                    <a:lstStyle/>
                    <a:p>
                      <a:pPr algn="ctr"/>
                      <a:r>
                        <a:rPr lang="vi-VN" sz="1200" b="0" i="0" u="none" strike="noStrike" kern="1200">
                          <a:solidFill>
                            <a:schemeClr val="tx1"/>
                          </a:solidFill>
                          <a:effectLst/>
                          <a:latin typeface="Calibri" panose="020F0502020204030204" pitchFamily="34" charset="0"/>
                          <a:ea typeface="+mn-ea"/>
                          <a:cs typeface="+mn-cs"/>
                        </a:rPr>
                        <a:t>9</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P771119</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a:solidFill>
                            <a:srgbClr val="000000"/>
                          </a:solidFill>
                          <a:effectLst/>
                          <a:latin typeface="Calibri" panose="020F0502020204030204" pitchFamily="34" charset="0"/>
                        </a:rPr>
                        <a:t>A623#2</a:t>
                      </a: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5520155"/>
                  </a:ext>
                </a:extLst>
              </a:tr>
            </a:tbl>
          </a:graphicData>
        </a:graphic>
      </p:graphicFrame>
    </p:spTree>
    <p:extLst>
      <p:ext uri="{BB962C8B-B14F-4D97-AF65-F5344CB8AC3E}">
        <p14:creationId xmlns:p14="http://schemas.microsoft.com/office/powerpoint/2010/main" val="3596041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48</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V15851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28/01/2024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10/02/2025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07/02)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73734">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2</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V17951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26/12/2024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Đã</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giao</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Vaeco</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2">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3</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V16037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15/03/2025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22/03/2025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V16338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15/04/2025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22/04/2025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30/04/2025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13/05/2025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27/05)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03/05/2025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V12505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19/03/2025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26/03/2025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13/03)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08/06/2025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07/06/2025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14/06/2025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699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Q1-Q2/2025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2071693"/>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V15876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03-05/03/2025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V17951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V11752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A354#2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08-10/03/2025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10-12/04/2025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20-22/04/2025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V16037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23618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V16512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A357#2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05-07/05/2025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V16338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80492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V11704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V16456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607678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A392#2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10-12/06/2025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688097"/>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V17403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194852"/>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378394"/>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861966"/>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29376283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49</a:t>
            </a:fld>
            <a:endParaRPr lang="vi"/>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49</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nvGraphicFramePr>
        <p:xfrm>
          <a:off x="6867116" y="445510"/>
          <a:ext cx="5236309" cy="4256509"/>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1" y="4702019"/>
            <a:ext cx="12014855" cy="1898468"/>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dự</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phòng</a:t>
            </a:r>
            <a:r>
              <a:rPr lang="en-US" sz="1467" dirty="0">
                <a:solidFill>
                  <a:schemeClr val="tx1"/>
                </a:solidFill>
                <a:latin typeface="Times New Roman" panose="02020603050405020304" pitchFamily="18" charset="0"/>
                <a:cs typeface="Times New Roman" panose="02020603050405020304" pitchFamily="18" charset="0"/>
              </a:rPr>
              <a:t>:</a:t>
            </a:r>
            <a:r>
              <a:rPr lang="en-US" sz="1467" dirty="0">
                <a:solidFill>
                  <a:srgbClr val="ED0000"/>
                </a:solidFill>
                <a:latin typeface="Times New Roman" panose="02020603050405020304" pitchFamily="18" charset="0"/>
                <a:cs typeface="Times New Roman" panose="02020603050405020304" pitchFamily="18" charset="0"/>
              </a:rPr>
              <a:t> </a:t>
            </a:r>
            <a:r>
              <a:rPr lang="en-US" sz="1467" b="1">
                <a:solidFill>
                  <a:srgbClr val="388600"/>
                </a:solidFill>
                <a:latin typeface="Times New Roman" panose="02020603050405020304" pitchFamily="18" charset="0"/>
                <a:cs typeface="Times New Roman" panose="02020603050405020304" pitchFamily="18" charset="0"/>
              </a:rPr>
              <a:t>958541 – SGN.</a:t>
            </a:r>
            <a:endParaRPr lang="en-US" sz="1467" b="1" dirty="0">
              <a:solidFill>
                <a:srgbClr val="388600"/>
              </a:solidFill>
              <a:latin typeface="Times New Roman" panose="02020603050405020304" pitchFamily="18" charset="0"/>
              <a:cs typeface="Times New Roman" panose="02020603050405020304" pitchFamily="18" charset="0"/>
            </a:endParaRPr>
          </a:p>
          <a:p>
            <a:pPr marL="380990" indent="-380990" defTabSz="1219170">
              <a:buFontTx/>
              <a:buChar char="-"/>
              <a:defRPr/>
            </a:pP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on-watch:</a:t>
            </a:r>
            <a:endParaRPr lang="en-US" sz="1467" dirty="0">
              <a:solidFill>
                <a:srgbClr val="FF9933"/>
              </a:solidFill>
              <a:latin typeface="Times New Roman" panose="02020603050405020304" pitchFamily="18" charset="0"/>
              <a:cs typeface="Times New Roman" panose="02020603050405020304" pitchFamily="18" charset="0"/>
            </a:endParaRPr>
          </a:p>
          <a:p>
            <a:pPr marL="990575" indent="-38099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958395 (A872) – Remove in 50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or reinspect; </a:t>
            </a:r>
            <a:r>
              <a:rPr lang="en-US" sz="1467" dirty="0" err="1">
                <a:solidFill>
                  <a:schemeClr val="tx1"/>
                </a:solidFill>
                <a:latin typeface="Times New Roman" panose="02020603050405020304" pitchFamily="18" charset="0"/>
                <a:cs typeface="Times New Roman" panose="02020603050405020304" pitchFamily="18" charset="0"/>
              </a:rPr>
              <a:t>Lịch</a:t>
            </a:r>
            <a:r>
              <a:rPr lang="en-US" sz="1467" dirty="0">
                <a:solidFill>
                  <a:schemeClr val="tx1"/>
                </a:solidFill>
                <a:latin typeface="Times New Roman" panose="02020603050405020304" pitchFamily="18" charset="0"/>
                <a:cs typeface="Times New Roman" panose="02020603050405020304" pitchFamily="18" charset="0"/>
              </a:rPr>
              <a:t> soi </a:t>
            </a:r>
            <a:r>
              <a:rPr lang="en-US" sz="1467" dirty="0" err="1">
                <a:solidFill>
                  <a:schemeClr val="tx1"/>
                </a:solidFill>
                <a:latin typeface="Times New Roman" panose="02020603050405020304" pitchFamily="18" charset="0"/>
                <a:cs typeface="Times New Roman" panose="02020603050405020304" pitchFamily="18" charset="0"/>
              </a:rPr>
              <a:t>tiếp</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theo</a:t>
            </a:r>
            <a:r>
              <a:rPr lang="en-US" sz="1467" dirty="0">
                <a:solidFill>
                  <a:schemeClr val="tx1"/>
                </a:solidFill>
                <a:latin typeface="Times New Roman" panose="02020603050405020304" pitchFamily="18" charset="0"/>
                <a:cs typeface="Times New Roman" panose="02020603050405020304" pitchFamily="18" charset="0"/>
              </a:rPr>
              <a:t> 04/02/2025;</a:t>
            </a:r>
          </a:p>
          <a:p>
            <a:pPr marL="990575" indent="-38099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956913 (A871) – Remove in 50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or reinspect; </a:t>
            </a:r>
          </a:p>
          <a:p>
            <a:pPr marL="990575" indent="-38099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958170 (A863) – Remove in 50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or reinspect; </a:t>
            </a:r>
          </a:p>
          <a:p>
            <a:pPr marL="990575" indent="-38099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956769 (A868) – Remove in 50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or reinspect; </a:t>
            </a:r>
            <a:endParaRPr lang="en-US" sz="1467" dirty="0">
              <a:solidFill>
                <a:srgbClr val="ED0000"/>
              </a:solidFill>
              <a:latin typeface="Times New Roman" panose="02020603050405020304" pitchFamily="18" charset="0"/>
              <a:cs typeface="Times New Roman" panose="02020603050405020304" pitchFamily="18" charset="0"/>
            </a:endParaRPr>
          </a:p>
          <a:p>
            <a:pPr marL="990575" lvl="1" indent="-38099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956577 (A864) – Repetitive 50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a:t>
            </a:r>
          </a:p>
          <a:p>
            <a:pPr marL="990575" lvl="1" indent="-38099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100 cycle – 02 ĐC;  150 cycle – 01 ĐC; 250 cycle – 02 ĐC. </a:t>
            </a: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nvGraphicFramePr>
        <p:xfrm>
          <a:off x="88572" y="445510"/>
          <a:ext cx="6778543" cy="4256510"/>
        </p:xfrm>
        <a:graphic>
          <a:graphicData uri="http://schemas.openxmlformats.org/drawingml/2006/table">
            <a:tbl>
              <a:tblPr firstRow="1" bandRow="1">
                <a:tableStyleId>{7DF18680-E054-41AD-8BC1-D1AEF772440D}</a:tableStyleId>
              </a:tblPr>
              <a:tblGrid>
                <a:gridCol w="680205">
                  <a:extLst>
                    <a:ext uri="{9D8B030D-6E8A-4147-A177-3AD203B41FA5}">
                      <a16:colId xmlns:a16="http://schemas.microsoft.com/office/drawing/2014/main" val="1598605427"/>
                    </a:ext>
                  </a:extLst>
                </a:gridCol>
                <a:gridCol w="669252">
                  <a:extLst>
                    <a:ext uri="{9D8B030D-6E8A-4147-A177-3AD203B41FA5}">
                      <a16:colId xmlns:a16="http://schemas.microsoft.com/office/drawing/2014/main" val="3845954792"/>
                    </a:ext>
                  </a:extLst>
                </a:gridCol>
                <a:gridCol w="849128">
                  <a:extLst>
                    <a:ext uri="{9D8B030D-6E8A-4147-A177-3AD203B41FA5}">
                      <a16:colId xmlns:a16="http://schemas.microsoft.com/office/drawing/2014/main" val="3803391337"/>
                    </a:ext>
                  </a:extLst>
                </a:gridCol>
                <a:gridCol w="1797456">
                  <a:extLst>
                    <a:ext uri="{9D8B030D-6E8A-4147-A177-3AD203B41FA5}">
                      <a16:colId xmlns:a16="http://schemas.microsoft.com/office/drawing/2014/main" val="2148822928"/>
                    </a:ext>
                  </a:extLst>
                </a:gridCol>
                <a:gridCol w="954581">
                  <a:extLst>
                    <a:ext uri="{9D8B030D-6E8A-4147-A177-3AD203B41FA5}">
                      <a16:colId xmlns:a16="http://schemas.microsoft.com/office/drawing/2014/main" val="1106888684"/>
                    </a:ext>
                  </a:extLst>
                </a:gridCol>
                <a:gridCol w="721013">
                  <a:extLst>
                    <a:ext uri="{9D8B030D-6E8A-4147-A177-3AD203B41FA5}">
                      <a16:colId xmlns:a16="http://schemas.microsoft.com/office/drawing/2014/main" val="1185879436"/>
                    </a:ext>
                  </a:extLst>
                </a:gridCol>
                <a:gridCol w="1106908">
                  <a:extLst>
                    <a:ext uri="{9D8B030D-6E8A-4147-A177-3AD203B41FA5}">
                      <a16:colId xmlns:a16="http://schemas.microsoft.com/office/drawing/2014/main" val="558551088"/>
                    </a:ext>
                  </a:extLst>
                </a:gridCol>
              </a:tblGrid>
              <a:tr h="467909">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err="1">
                          <a:solidFill>
                            <a:schemeClr val="bg1"/>
                          </a:solidFill>
                          <a:effectLst/>
                          <a:latin typeface="+mn-lt"/>
                        </a:rPr>
                        <a:t>Dùng</a:t>
                      </a:r>
                      <a:r>
                        <a:rPr lang="en-US" sz="1200" u="none" strike="noStrike" dirty="0">
                          <a:solidFill>
                            <a:schemeClr val="bg1"/>
                          </a:solidFill>
                          <a:effectLst/>
                          <a:latin typeface="+mn-lt"/>
                        </a:rPr>
                        <a:t> </a:t>
                      </a:r>
                      <a:r>
                        <a:rPr lang="en-US" sz="1200" u="none" strike="noStrike" dirty="0" err="1">
                          <a:solidFill>
                            <a:schemeClr val="bg1"/>
                          </a:solidFill>
                          <a:effectLst/>
                          <a:latin typeface="+mn-lt"/>
                        </a:rPr>
                        <a:t>cho</a:t>
                      </a:r>
                      <a:r>
                        <a:rPr lang="en-US" sz="1200" u="none" strike="noStrike" dirty="0">
                          <a:solidFill>
                            <a:schemeClr val="bg1"/>
                          </a:solidFill>
                          <a:effectLst/>
                          <a:latin typeface="+mn-lt"/>
                        </a:rPr>
                        <a:t> </a:t>
                      </a:r>
                      <a:r>
                        <a:rPr lang="en-US" sz="1200" u="none" strike="noStrike" dirty="0" err="1">
                          <a:solidFill>
                            <a:schemeClr val="bg1"/>
                          </a:solidFill>
                          <a:effectLst/>
                          <a:latin typeface="+mn-lt"/>
                        </a:rPr>
                        <a:t>tàu</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tháo</a:t>
                      </a:r>
                      <a:r>
                        <a:rPr lang="en-US" sz="1200" b="1" u="none" strike="noStrike" dirty="0">
                          <a:solidFill>
                            <a:schemeClr val="bg1"/>
                          </a:solidFill>
                          <a:effectLst/>
                          <a:latin typeface="+mn-lt"/>
                        </a:rPr>
                        <a:t> ĐC </a:t>
                      </a:r>
                      <a:r>
                        <a:rPr lang="en-US" sz="1200" b="1" u="none" strike="noStrike" dirty="0" err="1">
                          <a:solidFill>
                            <a:schemeClr val="bg1"/>
                          </a:solidFill>
                          <a:effectLst/>
                          <a:latin typeface="+mn-lt"/>
                        </a:rPr>
                        <a:t>tiếp</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409987">
                <a:tc>
                  <a:txBody>
                    <a:bodyPr/>
                    <a:lstStyle/>
                    <a:p>
                      <a:pPr algn="ctr" fontAlgn="ctr"/>
                      <a:r>
                        <a:rPr lang="en-US" sz="1200" b="0" u="none" strike="noStrike" dirty="0">
                          <a:solidFill>
                            <a:schemeClr val="tx1"/>
                          </a:solidFill>
                          <a:effectLst/>
                          <a:latin typeface="+mn-lt"/>
                        </a:rPr>
                        <a:t>956556</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20/11/2023</a:t>
                      </a:r>
                    </a:p>
                  </a:txBody>
                  <a:tcPr marL="12700" marR="12700" marT="12700" marB="0" anchor="ctr"/>
                </a:tc>
                <a:tc>
                  <a:txBody>
                    <a:bodyPr/>
                    <a:lstStyle/>
                    <a:p>
                      <a:pPr algn="ctr" fontAlgn="ctr"/>
                      <a:r>
                        <a:rPr lang="en-US" sz="1200" u="none" strike="noStrike" dirty="0">
                          <a:solidFill>
                            <a:schemeClr val="tx1"/>
                          </a:solidFill>
                          <a:effectLst/>
                          <a:latin typeface="+mn-lt"/>
                        </a:rPr>
                        <a:t>End of Mar/2025</a:t>
                      </a:r>
                    </a:p>
                    <a:p>
                      <a:pPr algn="ctr" fontAlgn="ctr"/>
                      <a:r>
                        <a:rPr lang="en-US" sz="1200" u="none" strike="noStrike" dirty="0">
                          <a:solidFill>
                            <a:schemeClr val="tx1"/>
                          </a:solidFill>
                          <a:effectLst/>
                          <a:latin typeface="+mn-lt"/>
                        </a:rPr>
                        <a:t>Induct 12/08/2024</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428984">
                <a:tc>
                  <a:txBody>
                    <a:bodyPr/>
                    <a:lstStyle/>
                    <a:p>
                      <a:pPr algn="ctr" fontAlgn="ctr"/>
                      <a:r>
                        <a:rPr lang="en-US" sz="1200" b="0" u="none" strike="noStrike" dirty="0">
                          <a:solidFill>
                            <a:schemeClr val="tx1"/>
                          </a:solidFill>
                          <a:effectLst/>
                          <a:latin typeface="+mn-lt"/>
                        </a:rPr>
                        <a:t>956533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26/01/2024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End of TBD</a:t>
                      </a:r>
                    </a:p>
                    <a:p>
                      <a:pPr algn="ctr" fontAlgn="ctr"/>
                      <a:r>
                        <a:rPr lang="en-US" sz="1200" b="0" u="none" strike="noStrike" dirty="0">
                          <a:solidFill>
                            <a:schemeClr val="tx1"/>
                          </a:solidFill>
                          <a:effectLst/>
                          <a:latin typeface="+mn-lt"/>
                          <a:cs typeface="Times New Roman" panose="02020603050405020304" pitchFamily="18" charset="0"/>
                        </a:rPr>
                        <a:t>Induct 05/10/2024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470767">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12/11/2024</a:t>
                      </a:r>
                    </a:p>
                  </a:txBody>
                  <a:tcPr marL="12700" marR="12700" marT="12700" marB="0" anchor="ctr"/>
                </a:tc>
                <a:tc>
                  <a:txBody>
                    <a:bodyPr/>
                    <a:lstStyle/>
                    <a:p>
                      <a:pPr marL="0" algn="ctr" defTabSz="914400" rtl="0" eaLnBrk="1" fontAlgn="ctr" latinLnBrk="0" hangingPunct="1"/>
                      <a:r>
                        <a:rPr lang="en-US" sz="1200" b="0" i="0" u="none" strike="noStrike" dirty="0">
                          <a:solidFill>
                            <a:schemeClr val="tx1"/>
                          </a:solidFill>
                          <a:effectLst/>
                          <a:latin typeface="+mn-lt"/>
                          <a:cs typeface="Times New Roman" panose="02020603050405020304" pitchFamily="18" charset="0"/>
                        </a:rPr>
                        <a:t>TBD</a:t>
                      </a:r>
                      <a:endParaRPr lang="en-US" sz="1200" b="1" i="0" u="none" strike="noStrike" kern="1200" dirty="0">
                        <a:solidFill>
                          <a:srgbClr val="0070C0"/>
                        </a:solidFill>
                        <a:effectLst/>
                        <a:latin typeface="+mn-lt"/>
                        <a:ea typeface="+mn-ea"/>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404556">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17/07/2024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endParaRPr lang="en-US" sz="1200" b="1" i="0" u="none" strike="noStrike" dirty="0">
                        <a:solidFill>
                          <a:srgbClr val="0070C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8631574"/>
                  </a:ext>
                </a:extLst>
              </a:tr>
              <a:tr h="423872">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26/11/2024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378460">
                <a:tc>
                  <a:txBody>
                    <a:bodyPr/>
                    <a:lstStyle/>
                    <a:p>
                      <a:pPr algn="ctr" fontAlgn="ctr"/>
                      <a:r>
                        <a:rPr lang="en-US" sz="1200" b="0" i="0" u="none" strike="noStrike" dirty="0">
                          <a:solidFill>
                            <a:schemeClr val="tx1"/>
                          </a:solidFill>
                          <a:effectLst/>
                          <a:latin typeface="+mn-lt"/>
                          <a:cs typeface="Times New Roman" panose="02020603050405020304" pitchFamily="18" charset="0"/>
                        </a:rPr>
                        <a:t>958537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17/09/2024</a:t>
                      </a: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22/Feb/2025</a:t>
                      </a:r>
                    </a:p>
                    <a:p>
                      <a:pPr algn="ctr" fontAlgn="ctr"/>
                      <a:r>
                        <a:rPr lang="en-US" sz="1200" b="0" u="none" strike="noStrike" dirty="0">
                          <a:solidFill>
                            <a:schemeClr val="tx1"/>
                          </a:solidFill>
                          <a:effectLst/>
                          <a:latin typeface="+mn-lt"/>
                          <a:cs typeface="Times New Roman" panose="02020603050405020304" pitchFamily="18" charset="0"/>
                        </a:rPr>
                        <a:t>Induct 04/11</a:t>
                      </a:r>
                    </a:p>
                  </a:txBody>
                  <a:tcPr marL="12700" marR="12700" marT="12700" marB="0" anchor="ctr"/>
                </a:tc>
                <a:tc>
                  <a:txBody>
                    <a:bodyPr/>
                    <a:lstStyle/>
                    <a:p>
                      <a:pPr algn="ctr" fontAlgn="ctr"/>
                      <a:r>
                        <a:rPr lang="en-US" sz="1200" b="1" i="0" u="none" strike="noStrike" dirty="0">
                          <a:solidFill>
                            <a:schemeClr val="tx1"/>
                          </a:solidFill>
                          <a:effectLst/>
                          <a:latin typeface="+mn-lt"/>
                          <a:cs typeface="Times New Roman" panose="02020603050405020304" pitchFamily="18" charset="0"/>
                        </a:rPr>
                        <a:t>28/Feb/25</a:t>
                      </a:r>
                    </a:p>
                  </a:txBody>
                  <a:tcPr marL="12700" marR="12700" marT="12700" marB="0" anchor="ctr"/>
                </a:tc>
                <a:tc>
                  <a:txBody>
                    <a:bodyPr/>
                    <a:lstStyle/>
                    <a:p>
                      <a:pPr algn="ctr" fontAlgn="ctr"/>
                      <a:endParaRPr lang="en-US" sz="1200" b="0" i="0" u="none" strike="noStrike" dirty="0">
                        <a:solidFill>
                          <a:srgbClr val="008ECC"/>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rgbClr val="008ECC"/>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400604">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rgbClr val="BF0000"/>
                          </a:solidFill>
                          <a:effectLst/>
                          <a:latin typeface="+mn-lt"/>
                          <a:cs typeface="Times New Roman" panose="02020603050405020304" pitchFamily="18" charset="0"/>
                        </a:rPr>
                        <a:t>Induct TBD (KH </a:t>
                      </a:r>
                      <a:r>
                        <a:rPr lang="en-US" sz="1200" b="0" u="none" strike="noStrike" dirty="0" err="1">
                          <a:solidFill>
                            <a:srgbClr val="BF0000"/>
                          </a:solidFill>
                          <a:effectLst/>
                          <a:latin typeface="+mn-lt"/>
                          <a:cs typeface="Times New Roman" panose="02020603050405020304" pitchFamily="18" charset="0"/>
                        </a:rPr>
                        <a:t>cũ</a:t>
                      </a:r>
                      <a:r>
                        <a:rPr lang="en-US" sz="1200" b="0" u="none" strike="noStrike" dirty="0">
                          <a:solidFill>
                            <a:srgbClr val="BF0000"/>
                          </a:solidFill>
                          <a:effectLst/>
                          <a:latin typeface="+mn-lt"/>
                          <a:cs typeface="Times New Roman" panose="02020603050405020304" pitchFamily="18" charset="0"/>
                        </a:rPr>
                        <a:t> 16/12 </a:t>
                      </a:r>
                      <a:r>
                        <a:rPr lang="en-US" sz="1200" b="0" u="none" strike="noStrike" dirty="0" err="1">
                          <a:solidFill>
                            <a:srgbClr val="BF0000"/>
                          </a:solidFill>
                          <a:effectLst/>
                          <a:latin typeface="+mn-lt"/>
                          <a:cs typeface="Times New Roman" panose="02020603050405020304" pitchFamily="18" charset="0"/>
                        </a:rPr>
                        <a:t>nhưng</a:t>
                      </a:r>
                      <a:r>
                        <a:rPr lang="en-US" sz="1200" b="0" u="none" strike="noStrike" dirty="0">
                          <a:solidFill>
                            <a:srgbClr val="BF0000"/>
                          </a:solidFill>
                          <a:effectLst/>
                          <a:latin typeface="+mn-lt"/>
                          <a:cs typeface="Times New Roman" panose="02020603050405020304" pitchFamily="18" charset="0"/>
                        </a:rPr>
                        <a:t> KLM </a:t>
                      </a:r>
                      <a:r>
                        <a:rPr lang="en-US" sz="1200" b="0" u="none" strike="noStrike" dirty="0" err="1">
                          <a:solidFill>
                            <a:srgbClr val="BF0000"/>
                          </a:solidFill>
                          <a:effectLst/>
                          <a:latin typeface="+mn-lt"/>
                          <a:cs typeface="Times New Roman" panose="02020603050405020304" pitchFamily="18" charset="0"/>
                        </a:rPr>
                        <a:t>báo</a:t>
                      </a:r>
                      <a:r>
                        <a:rPr lang="en-US" sz="1200" b="0" u="none" strike="noStrike" dirty="0">
                          <a:solidFill>
                            <a:srgbClr val="BF0000"/>
                          </a:solidFill>
                          <a:effectLst/>
                          <a:latin typeface="+mn-lt"/>
                          <a:cs typeface="Times New Roman" panose="02020603050405020304" pitchFamily="18" charset="0"/>
                        </a:rPr>
                        <a:t> </a:t>
                      </a:r>
                      <a:r>
                        <a:rPr lang="en-US" sz="1200" b="0" u="none" strike="noStrike" dirty="0" err="1">
                          <a:solidFill>
                            <a:srgbClr val="BF0000"/>
                          </a:solidFill>
                          <a:effectLst/>
                          <a:latin typeface="+mn-lt"/>
                          <a:cs typeface="Times New Roman" panose="02020603050405020304" pitchFamily="18" charset="0"/>
                        </a:rPr>
                        <a:t>lùi</a:t>
                      </a:r>
                      <a:r>
                        <a:rPr lang="en-US" sz="1200" b="0" u="none" strike="noStrike" dirty="0">
                          <a:solidFill>
                            <a:srgbClr val="BF0000"/>
                          </a:solidFill>
                          <a:effectLst/>
                          <a:latin typeface="+mn-lt"/>
                          <a:cs typeface="Times New Roman" panose="02020603050405020304" pitchFamily="18" charset="0"/>
                        </a:rPr>
                        <a:t>)</a:t>
                      </a:r>
                    </a:p>
                  </a:txBody>
                  <a:tcPr marL="12700" marR="12700" marT="12700" marB="0" anchor="ctr"/>
                </a:tc>
                <a:tc>
                  <a:txBody>
                    <a:bodyPr/>
                    <a:lstStyle/>
                    <a:p>
                      <a:pPr algn="ctr" fontAlgn="ctr"/>
                      <a:r>
                        <a:rPr lang="en-US" sz="1200" b="0" i="0" u="none" strike="noStrike" dirty="0">
                          <a:solidFill>
                            <a:srgbClr val="BF0000"/>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400604">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rgbClr val="ED0000"/>
                          </a:solidFill>
                          <a:effectLst/>
                          <a:latin typeface="+mn-lt"/>
                          <a:cs typeface="Times New Roman" panose="02020603050405020304" pitchFamily="18" charset="0"/>
                        </a:rPr>
                        <a:t>TBD</a:t>
                      </a:r>
                      <a:br>
                        <a:rPr lang="en-US" sz="1200" b="0" u="none" strike="noStrike" dirty="0">
                          <a:solidFill>
                            <a:srgbClr val="ED0000"/>
                          </a:solidFill>
                          <a:effectLst/>
                          <a:latin typeface="+mn-lt"/>
                          <a:cs typeface="Times New Roman" panose="02020603050405020304" pitchFamily="18" charset="0"/>
                        </a:rPr>
                      </a:br>
                      <a:r>
                        <a:rPr lang="en-US" sz="1200" b="0" u="none" strike="noStrike" dirty="0">
                          <a:solidFill>
                            <a:srgbClr val="ED0000"/>
                          </a:solidFill>
                          <a:effectLst/>
                          <a:latin typeface="+mn-lt"/>
                          <a:cs typeface="Times New Roman" panose="02020603050405020304" pitchFamily="18" charset="0"/>
                        </a:rPr>
                        <a:t>Induction TBD</a:t>
                      </a:r>
                    </a:p>
                  </a:txBody>
                  <a:tcPr marL="12700" marR="12700" marT="12700" marB="0" anchor="ctr"/>
                </a:tc>
                <a:tc>
                  <a:txBody>
                    <a:bodyPr/>
                    <a:lstStyle/>
                    <a:p>
                      <a:pPr algn="ctr" fontAlgn="ctr"/>
                      <a:r>
                        <a:rPr lang="en-US" sz="1200" b="0" i="0" u="none" strike="noStrike" dirty="0">
                          <a:solidFill>
                            <a:srgbClr val="ED0000"/>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470767">
                <a:tc>
                  <a:txBody>
                    <a:bodyPr/>
                    <a:lstStyle/>
                    <a:p>
                      <a:pPr algn="ctr" fontAlgn="ctr"/>
                      <a:r>
                        <a:rPr lang="en-US" sz="1200" b="0" i="0" u="none" strike="noStrike" dirty="0">
                          <a:solidFill>
                            <a:schemeClr val="tx1"/>
                          </a:solidFill>
                          <a:effectLst/>
                          <a:latin typeface="+mn-lt"/>
                          <a:cs typeface="Times New Roman" panose="02020603050405020304" pitchFamily="18" charset="0"/>
                        </a:rPr>
                        <a:t>958541</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15/09/2024</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1" u="none" strike="noStrike" dirty="0">
                          <a:solidFill>
                            <a:srgbClr val="006C00"/>
                          </a:solidFill>
                          <a:effectLst/>
                          <a:latin typeface="+mn-lt"/>
                          <a:cs typeface="Times New Roman" panose="02020603050405020304" pitchFamily="18" charset="0"/>
                        </a:rPr>
                        <a:t>31/12/2024</a:t>
                      </a:r>
                    </a:p>
                    <a:p>
                      <a:pPr algn="ctr" fontAlgn="ctr"/>
                      <a:r>
                        <a:rPr lang="en-US" sz="1200" b="1" u="none" strike="noStrike" dirty="0">
                          <a:solidFill>
                            <a:srgbClr val="006C00"/>
                          </a:solidFill>
                          <a:effectLst/>
                          <a:latin typeface="+mn-lt"/>
                          <a:cs typeface="Times New Roman" panose="02020603050405020304" pitchFamily="18" charset="0"/>
                        </a:rPr>
                        <a:t>Induct 02/10/2024</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1" i="0" u="none" strike="noStrike" dirty="0">
                          <a:solidFill>
                            <a:srgbClr val="006C00"/>
                          </a:solidFill>
                          <a:effectLst/>
                          <a:latin typeface="+mn-lt"/>
                          <a:cs typeface="Times New Roman" panose="02020603050405020304" pitchFamily="18" charset="0"/>
                        </a:rPr>
                        <a:t>12/01/2025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697906"/>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80108" y="-47303"/>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535AC63B-0D0C-0A9D-E19A-23C40E138B08}"/>
              </a:ext>
            </a:extLst>
          </p:cNvPr>
          <p:cNvCxnSpPr>
            <a:cxnSpLocks/>
          </p:cNvCxnSpPr>
          <p:nvPr/>
        </p:nvCxnSpPr>
        <p:spPr>
          <a:xfrm>
            <a:off x="8861868" y="789311"/>
            <a:ext cx="0" cy="3962400"/>
          </a:xfrm>
          <a:prstGeom prst="line">
            <a:avLst/>
          </a:prstGeom>
          <a:ln w="12700"/>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3522896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50</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50</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59590" y="0"/>
            <a:ext cx="14875495"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A350</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nvGraphicFramePr>
        <p:xfrm>
          <a:off x="59590" y="875396"/>
          <a:ext cx="5905159" cy="2926080"/>
        </p:xfrm>
        <a:graphic>
          <a:graphicData uri="http://schemas.openxmlformats.org/drawingml/2006/table">
            <a:tbl>
              <a:tblPr firstRow="1" bandRow="1">
                <a:tableStyleId>{5C22544A-7EE6-4342-B048-85BDC9FD1C3A}</a:tableStyleId>
              </a:tblPr>
              <a:tblGrid>
                <a:gridCol w="1042345">
                  <a:extLst>
                    <a:ext uri="{9D8B030D-6E8A-4147-A177-3AD203B41FA5}">
                      <a16:colId xmlns:a16="http://schemas.microsoft.com/office/drawing/2014/main" val="1930757539"/>
                    </a:ext>
                  </a:extLst>
                </a:gridCol>
                <a:gridCol w="1565065">
                  <a:extLst>
                    <a:ext uri="{9D8B030D-6E8A-4147-A177-3AD203B41FA5}">
                      <a16:colId xmlns:a16="http://schemas.microsoft.com/office/drawing/2014/main" val="1674463010"/>
                    </a:ext>
                  </a:extLst>
                </a:gridCol>
                <a:gridCol w="1334759">
                  <a:extLst>
                    <a:ext uri="{9D8B030D-6E8A-4147-A177-3AD203B41FA5}">
                      <a16:colId xmlns:a16="http://schemas.microsoft.com/office/drawing/2014/main" val="1549944897"/>
                    </a:ext>
                  </a:extLst>
                </a:gridCol>
                <a:gridCol w="942235">
                  <a:extLst>
                    <a:ext uri="{9D8B030D-6E8A-4147-A177-3AD203B41FA5}">
                      <a16:colId xmlns:a16="http://schemas.microsoft.com/office/drawing/2014/main" val="3687717734"/>
                    </a:ext>
                  </a:extLst>
                </a:gridCol>
                <a:gridCol w="1020755">
                  <a:extLst>
                    <a:ext uri="{9D8B030D-6E8A-4147-A177-3AD203B41FA5}">
                      <a16:colId xmlns:a16="http://schemas.microsoft.com/office/drawing/2014/main" val="4100307886"/>
                    </a:ext>
                  </a:extLst>
                </a:gridCol>
              </a:tblGrid>
              <a:tr h="164309">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err="1">
                          <a:latin typeface="Times New Roman" panose="02020603050405020304" pitchFamily="18" charset="0"/>
                          <a:cs typeface="Times New Roman" panose="02020603050405020304" pitchFamily="18" charset="0"/>
                        </a:rPr>
                        <a:t>Ngày</a:t>
                      </a:r>
                      <a:r>
                        <a:rPr lang="en-US" sz="1200">
                          <a:latin typeface="Times New Roman" panose="02020603050405020304" pitchFamily="18" charset="0"/>
                          <a:cs typeface="Times New Roman" panose="02020603050405020304" pitchFamily="18" charset="0"/>
                        </a:rPr>
                        <a:t> xong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200" b="1" dirty="0">
                          <a:latin typeface="Times New Roman" panose="02020603050405020304" pitchFamily="18" charset="0"/>
                          <a:cs typeface="Times New Roman" panose="02020603050405020304" pitchFamily="18" charset="0"/>
                        </a:rPr>
                        <a:t>21047</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N3 </a:t>
                      </a:r>
                      <a:r>
                        <a:rPr lang="en-GB" sz="1200" dirty="0">
                          <a:latin typeface="Times New Roman" panose="02020603050405020304" pitchFamily="18" charset="0"/>
                          <a:cs typeface="Times New Roman" panose="02020603050405020304" pitchFamily="18" charset="0"/>
                        </a:rPr>
                        <a:t>– 2RF</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14/08/24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02/03/</a:t>
                      </a:r>
                      <a:r>
                        <a:rPr lang="vi-VN" sz="1200" b="0" dirty="0">
                          <a:solidFill>
                            <a:schemeClr val="tx1"/>
                          </a:solidFill>
                          <a:latin typeface="Times New Roman" panose="02020603050405020304" pitchFamily="18" charset="0"/>
                          <a:cs typeface="Times New Roman" panose="02020603050405020304" pitchFamily="18" charset="0"/>
                        </a:rPr>
                        <a:t>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12/03/</a:t>
                      </a:r>
                      <a:r>
                        <a:rPr lang="vi-VN" sz="1200" b="0" dirty="0">
                          <a:solidFill>
                            <a:schemeClr val="tx1"/>
                          </a:solidFill>
                          <a:latin typeface="Times New Roman" panose="02020603050405020304" pitchFamily="18" charset="0"/>
                          <a:cs typeface="Times New Roman" panose="02020603050405020304" pitchFamily="18" charset="0"/>
                        </a:rPr>
                        <a:t>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0">
                <a:tc>
                  <a:txBody>
                    <a:bodyPr/>
                    <a:lstStyle/>
                    <a:p>
                      <a:r>
                        <a:rPr lang="en-US" sz="1200" b="1">
                          <a:latin typeface="Times New Roman" panose="02020603050405020304" pitchFamily="18" charset="0"/>
                          <a:cs typeface="Times New Roman" panose="02020603050405020304" pitchFamily="18" charset="0"/>
                        </a:rPr>
                        <a:t>21043</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N3 </a:t>
                      </a:r>
                      <a:r>
                        <a:rPr lang="en-US" sz="1200" dirty="0">
                          <a:latin typeface="Times New Roman" panose="02020603050405020304" pitchFamily="18" charset="0"/>
                          <a:cs typeface="Times New Roman" panose="02020603050405020304" pitchFamily="18" charset="0"/>
                        </a:rPr>
                        <a:t>– 2RF</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14/11/24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02/06/25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10/06/25</a:t>
                      </a:r>
                    </a:p>
                  </a:txBody>
                  <a:tcPr marL="121920" marR="121920" marT="60960" marB="60960" anchor="ctr"/>
                </a:tc>
                <a:extLst>
                  <a:ext uri="{0D108BD9-81ED-4DB2-BD59-A6C34878D82A}">
                    <a16:rowId xmlns:a16="http://schemas.microsoft.com/office/drawing/2014/main" val="83465224"/>
                  </a:ext>
                </a:extLst>
              </a:tr>
              <a:tr h="164309">
                <a:tc>
                  <a:txBody>
                    <a:bodyPr/>
                    <a:lstStyle/>
                    <a:p>
                      <a:r>
                        <a:rPr lang="en-US" sz="1200" b="1" dirty="0">
                          <a:latin typeface="Times New Roman" panose="02020603050405020304" pitchFamily="18" charset="0"/>
                          <a:cs typeface="Times New Roman" panose="02020603050405020304" pitchFamily="18" charset="0"/>
                        </a:rPr>
                        <a:t>21316</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a:t>
                      </a:r>
                      <a:r>
                        <a:rPr lang="en-US" sz="1200" dirty="0">
                          <a:latin typeface="Times New Roman" panose="02020603050405020304" pitchFamily="18" charset="0"/>
                          <a:cs typeface="Times New Roman" panose="02020603050405020304" pitchFamily="18" charset="0"/>
                        </a:rPr>
                        <a:t>– QT</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20/11/24</a:t>
                      </a: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31/01/25</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10/02/25</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r h="0">
                <a:tc>
                  <a:txBody>
                    <a:bodyPr/>
                    <a:lstStyle/>
                    <a:p>
                      <a:r>
                        <a:rPr lang="en-US" sz="1200" b="1">
                          <a:latin typeface="Times New Roman" panose="02020603050405020304" pitchFamily="18" charset="0"/>
                          <a:cs typeface="Times New Roman" panose="02020603050405020304" pitchFamily="18" charset="0"/>
                        </a:rPr>
                        <a:t>21137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N3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12/12/24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20/06/25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30/06/25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553736"/>
                  </a:ext>
                </a:extLst>
              </a:tr>
              <a:tr h="164309">
                <a:tc>
                  <a:txBody>
                    <a:bodyPr/>
                    <a:lstStyle/>
                    <a:p>
                      <a:r>
                        <a:rPr lang="en-US" sz="1200" b="1">
                          <a:latin typeface="Times New Roman" panose="02020603050405020304" pitchFamily="18" charset="0"/>
                          <a:cs typeface="Times New Roman" panose="02020603050405020304" pitchFamily="18" charset="0"/>
                        </a:rPr>
                        <a:t>21422</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1RF – 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21/12/24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a:solidFill>
                            <a:srgbClr val="00B050"/>
                          </a:solidFill>
                          <a:latin typeface="Times New Roman" panose="02020603050405020304" pitchFamily="18" charset="0"/>
                          <a:cs typeface="Times New Roman" panose="02020603050405020304" pitchFamily="18" charset="0"/>
                        </a:rPr>
                        <a:t>30/03/25</a:t>
                      </a:r>
                      <a:endParaRPr lang="en-US" sz="1200" b="1" dirty="0">
                        <a:solidFill>
                          <a:srgbClr val="00B050"/>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a:solidFill>
                            <a:srgbClr val="00B050"/>
                          </a:solidFill>
                          <a:latin typeface="Times New Roman" panose="02020603050405020304" pitchFamily="18" charset="0"/>
                          <a:cs typeface="Times New Roman" panose="02020603050405020304" pitchFamily="18" charset="0"/>
                        </a:rPr>
                        <a:t>10/04/25</a:t>
                      </a:r>
                      <a:endParaRPr lang="en-US" sz="1200" b="1" dirty="0">
                        <a:solidFill>
                          <a:srgbClr val="00B050"/>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75011403"/>
                  </a:ext>
                </a:extLst>
              </a:tr>
              <a:tr h="164309">
                <a:tc>
                  <a:txBody>
                    <a:bodyPr/>
                    <a:lstStyle/>
                    <a:p>
                      <a:r>
                        <a:rPr lang="en-US" sz="1200" b="1">
                          <a:latin typeface="Times New Roman" panose="02020603050405020304" pitchFamily="18" charset="0"/>
                          <a:cs typeface="Times New Roman" panose="02020603050405020304" pitchFamily="18" charset="0"/>
                        </a:rPr>
                        <a:t>21201</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28/12/24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29/04/25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727372545"/>
                  </a:ext>
                </a:extLst>
              </a:tr>
              <a:tr h="164309">
                <a:tc>
                  <a:txBody>
                    <a:bodyPr/>
                    <a:lstStyle/>
                    <a:p>
                      <a:r>
                        <a:rPr lang="en-US" sz="1200" b="1">
                          <a:latin typeface="Times New Roman" panose="02020603050405020304" pitchFamily="18" charset="0"/>
                          <a:cs typeface="Times New Roman" panose="02020603050405020304" pitchFamily="18" charset="0"/>
                        </a:rPr>
                        <a:t>21584</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 – 1RF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23/01/25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23/05/25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02/06/25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29074625"/>
                  </a:ext>
                </a:extLst>
              </a:tr>
              <a:tr h="164309">
                <a:tc>
                  <a:txBody>
                    <a:bodyPr/>
                    <a:lstStyle/>
                    <a:p>
                      <a:r>
                        <a:rPr lang="en-US" sz="1200" b="1">
                          <a:latin typeface="Times New Roman" panose="02020603050405020304" pitchFamily="18" charset="0"/>
                          <a:cs typeface="Times New Roman" panose="02020603050405020304" pitchFamily="18" charset="0"/>
                        </a:rPr>
                        <a:t>21269</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 QT</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27/01/25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13/04/25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23/04/25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130508"/>
                  </a:ext>
                </a:extLst>
              </a:tr>
            </a:tbl>
          </a:graphicData>
        </a:graphic>
      </p:graphicFrame>
      <p:graphicFrame>
        <p:nvGraphicFramePr>
          <p:cNvPr id="6" name="Table 5">
            <a:extLst>
              <a:ext uri="{FF2B5EF4-FFF2-40B4-BE49-F238E27FC236}">
                <a16:creationId xmlns:a16="http://schemas.microsoft.com/office/drawing/2014/main" id="{7BFB9EC9-2DB3-4DC1-4221-D1E337486ABA}"/>
              </a:ext>
            </a:extLst>
          </p:cNvPr>
          <p:cNvGraphicFramePr>
            <a:graphicFrameLocks noGrp="1"/>
          </p:cNvGraphicFramePr>
          <p:nvPr/>
        </p:nvGraphicFramePr>
        <p:xfrm>
          <a:off x="78469" y="4267200"/>
          <a:ext cx="5867400" cy="2365501"/>
        </p:xfrm>
        <a:graphic>
          <a:graphicData uri="http://schemas.openxmlformats.org/drawingml/2006/table">
            <a:tbl>
              <a:tblPr firstRow="1" bandRow="1">
                <a:tableStyleId>{21E4AEA4-8DFA-4A89-87EB-49C32662AFE0}</a:tableStyleId>
              </a:tblPr>
              <a:tblGrid>
                <a:gridCol w="979469">
                  <a:extLst>
                    <a:ext uri="{9D8B030D-6E8A-4147-A177-3AD203B41FA5}">
                      <a16:colId xmlns:a16="http://schemas.microsoft.com/office/drawing/2014/main" val="1930757539"/>
                    </a:ext>
                  </a:extLst>
                </a:gridCol>
                <a:gridCol w="1042096">
                  <a:extLst>
                    <a:ext uri="{9D8B030D-6E8A-4147-A177-3AD203B41FA5}">
                      <a16:colId xmlns:a16="http://schemas.microsoft.com/office/drawing/2014/main" val="1674463010"/>
                    </a:ext>
                  </a:extLst>
                </a:gridCol>
                <a:gridCol w="1823000">
                  <a:extLst>
                    <a:ext uri="{9D8B030D-6E8A-4147-A177-3AD203B41FA5}">
                      <a16:colId xmlns:a16="http://schemas.microsoft.com/office/drawing/2014/main" val="1549944897"/>
                    </a:ext>
                  </a:extLst>
                </a:gridCol>
                <a:gridCol w="2022835">
                  <a:extLst>
                    <a:ext uri="{9D8B030D-6E8A-4147-A177-3AD203B41FA5}">
                      <a16:colId xmlns:a16="http://schemas.microsoft.com/office/drawing/2014/main" val="3366431274"/>
                    </a:ext>
                  </a:extLst>
                </a:gridCol>
              </a:tblGrid>
              <a:tr h="336157">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Remark</a:t>
                      </a:r>
                    </a:p>
                  </a:txBody>
                  <a:tcPr marL="121920" marR="121920" marT="60960" marB="60960" anchor="ctr"/>
                </a:tc>
                <a:extLst>
                  <a:ext uri="{0D108BD9-81ED-4DB2-BD59-A6C34878D82A}">
                    <a16:rowId xmlns:a16="http://schemas.microsoft.com/office/drawing/2014/main" val="1532058823"/>
                  </a:ext>
                </a:extLst>
              </a:tr>
              <a:tr h="336157">
                <a:tc>
                  <a:txBody>
                    <a:bodyPr/>
                    <a:lstStyle/>
                    <a:p>
                      <a:r>
                        <a:rPr lang="en-GB" sz="1200" b="1" dirty="0">
                          <a:latin typeface="Times New Roman" panose="02020603050405020304" pitchFamily="18" charset="0"/>
                          <a:cs typeface="Times New Roman" panose="02020603050405020304" pitchFamily="18" charset="0"/>
                        </a:rPr>
                        <a:t>21040</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Transport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T1/2025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indent="0">
                        <a:buFontTx/>
                        <a:buNone/>
                      </a:pPr>
                      <a:endParaRPr lang="en-US" sz="12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336157">
                <a:tc>
                  <a:txBody>
                    <a:bodyPr/>
                    <a:lstStyle/>
                    <a:p>
                      <a:r>
                        <a:rPr lang="en-GB" sz="1200" b="1" dirty="0">
                          <a:latin typeface="Times New Roman" panose="02020603050405020304" pitchFamily="18" charset="0"/>
                          <a:cs typeface="Times New Roman" panose="02020603050405020304" pitchFamily="18" charset="0"/>
                        </a:rPr>
                        <a:t>21035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A887</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82079846"/>
                  </a:ext>
                </a:extLst>
              </a:tr>
              <a:tr h="348559">
                <a:tc>
                  <a:txBody>
                    <a:bodyPr/>
                    <a:lstStyle/>
                    <a:p>
                      <a:r>
                        <a:rPr lang="en-GB" sz="1200" b="1" dirty="0">
                          <a:latin typeface="Times New Roman" panose="02020603050405020304" pitchFamily="18" charset="0"/>
                          <a:cs typeface="Times New Roman" panose="02020603050405020304" pitchFamily="18" charset="0"/>
                        </a:rPr>
                        <a:t>21268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A898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val="4177050543"/>
                  </a:ext>
                </a:extLst>
              </a:tr>
              <a:tr h="336157">
                <a:tc>
                  <a:txBody>
                    <a:bodyPr/>
                    <a:lstStyle/>
                    <a:p>
                      <a:r>
                        <a:rPr lang="en-GB" sz="1200" b="1" dirty="0">
                          <a:latin typeface="Times New Roman" panose="02020603050405020304" pitchFamily="18" charset="0"/>
                          <a:cs typeface="Times New Roman" panose="02020603050405020304" pitchFamily="18" charset="0"/>
                        </a:rPr>
                        <a:t>21136</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A898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val="4001673644"/>
                  </a:ext>
                </a:extLst>
              </a:tr>
              <a:tr h="336157">
                <a:tc>
                  <a:txBody>
                    <a:bodyPr/>
                    <a:lstStyle/>
                    <a:p>
                      <a:r>
                        <a:rPr lang="en-GB" sz="1200" b="1" dirty="0">
                          <a:latin typeface="Times New Roman" panose="02020603050405020304" pitchFamily="18" charset="0"/>
                          <a:cs typeface="Times New Roman" panose="02020603050405020304" pitchFamily="18" charset="0"/>
                        </a:rPr>
                        <a:t>21414</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Off-Wing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T2/2025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927641313"/>
                  </a:ext>
                </a:extLst>
              </a:tr>
              <a:tr h="336157">
                <a:tc>
                  <a:txBody>
                    <a:bodyPr/>
                    <a:lstStyle/>
                    <a:p>
                      <a:r>
                        <a:rPr lang="en-GB" sz="1200" b="1" dirty="0">
                          <a:latin typeface="Times New Roman" panose="02020603050405020304" pitchFamily="18" charset="0"/>
                          <a:cs typeface="Times New Roman" panose="02020603050405020304" pitchFamily="18" charset="0"/>
                        </a:rPr>
                        <a:t>21604</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A895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chemeClr val="tx1"/>
                          </a:solidFill>
                          <a:latin typeface="Times New Roman" panose="02020603050405020304" pitchFamily="18" charset="0"/>
                          <a:cs typeface="Times New Roman" panose="02020603050405020304" pitchFamily="18" charset="0"/>
                        </a:rPr>
                        <a:t>Tàu</a:t>
                      </a:r>
                      <a:r>
                        <a:rPr lang="en-US" sz="1200" b="0" dirty="0">
                          <a:solidFill>
                            <a:schemeClr val="tx1"/>
                          </a:solidFill>
                          <a:latin typeface="Times New Roman" panose="02020603050405020304" pitchFamily="18" charset="0"/>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val="863729012"/>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86043" y="380920"/>
            <a:ext cx="6705299" cy="420564"/>
          </a:xfrm>
          <a:prstGeom prst="rect">
            <a:avLst/>
          </a:prstGeom>
          <a:noFill/>
        </p:spPr>
        <p:txBody>
          <a:bodyPr wrap="square" rtlCol="0">
            <a:spAutoFit/>
          </a:bodyPr>
          <a:lstStyle/>
          <a:p>
            <a:pPr algn="ctr" defTabSz="1219170">
              <a:defRPr/>
            </a:pPr>
            <a:r>
              <a:rPr lang="en-GB" sz="2133" b="1" dirty="0" err="1">
                <a:solidFill>
                  <a:srgbClr val="002060"/>
                </a:solidFill>
                <a:latin typeface="Times New Roman" panose="02020603050405020304" pitchFamily="18" charset="0"/>
                <a:cs typeface="Times New Roman" panose="02020603050405020304" pitchFamily="18" charset="0"/>
              </a:rPr>
              <a:t>Các</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đang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trong</a:t>
            </a:r>
            <a:r>
              <a:rPr lang="en-GB" sz="2133" b="1" dirty="0">
                <a:solidFill>
                  <a:srgbClr val="002060"/>
                </a:solidFill>
                <a:latin typeface="Times New Roman" panose="02020603050405020304" pitchFamily="18" charset="0"/>
                <a:cs typeface="Times New Roman" panose="02020603050405020304" pitchFamily="18" charset="0"/>
              </a:rPr>
              <a:t> shop </a:t>
            </a:r>
            <a:r>
              <a:rPr lang="en-GB" sz="2133" b="1">
                <a:solidFill>
                  <a:srgbClr val="002060"/>
                </a:solidFill>
                <a:latin typeface="Times New Roman" panose="02020603050405020304" pitchFamily="18" charset="0"/>
                <a:cs typeface="Times New Roman" panose="02020603050405020304" pitchFamily="18" charset="0"/>
              </a:rPr>
              <a:t>(06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c</a:t>
            </a:r>
            <a:r>
              <a:rPr lang="en-US" sz="2133" b="1" dirty="0">
                <a:solidFill>
                  <a:srgbClr val="002060"/>
                </a:solidFill>
                <a:latin typeface="Times New Roman" panose="02020603050405020304" pitchFamily="18" charset="0"/>
                <a:cs typeface="Times New Roman" panose="02020603050405020304" pitchFamily="18" charset="0"/>
              </a:rPr>
              <a:t>ơ)</a:t>
            </a:r>
            <a:endParaRPr lang="en-GB" sz="2133" b="1" dirty="0">
              <a:solidFill>
                <a:srgbClr val="00206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9C2447A-358B-03A9-2203-B477C2215D4C}"/>
              </a:ext>
            </a:extLst>
          </p:cNvPr>
          <p:cNvSpPr txBox="1"/>
          <p:nvPr/>
        </p:nvSpPr>
        <p:spPr>
          <a:xfrm>
            <a:off x="414473" y="3909424"/>
            <a:ext cx="5195392" cy="420564"/>
          </a:xfrm>
          <a:prstGeom prst="rect">
            <a:avLst/>
          </a:prstGeom>
          <a:noFill/>
        </p:spPr>
        <p:txBody>
          <a:bodyPr wrap="square" rtlCol="0">
            <a:spAutoFit/>
          </a:bodyPr>
          <a:lstStyle/>
          <a:p>
            <a:pPr algn="ctr" defTabSz="1219170">
              <a:defRPr/>
            </a:pPr>
            <a:r>
              <a:rPr lang="en-GB" sz="2133" b="1" dirty="0" err="1">
                <a:solidFill>
                  <a:srgbClr val="002060"/>
                </a:solidFill>
                <a:latin typeface="Times New Roman" panose="02020603050405020304" pitchFamily="18" charset="0"/>
                <a:cs typeface="Times New Roman" panose="02020603050405020304" pitchFamily="18" charset="0"/>
              </a:rPr>
              <a:t>Các</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err="1">
                <a:solidFill>
                  <a:srgbClr val="002060"/>
                </a:solidFill>
                <a:latin typeface="Times New Roman" panose="02020603050405020304" pitchFamily="18" charset="0"/>
                <a:cs typeface="Times New Roman" panose="02020603050405020304" pitchFamily="18" charset="0"/>
              </a:rPr>
              <a:t>cơ</a:t>
            </a:r>
            <a:r>
              <a:rPr lang="en-GB" sz="2133" b="1">
                <a:solidFill>
                  <a:srgbClr val="002060"/>
                </a:solidFill>
                <a:latin typeface="Times New Roman" panose="02020603050405020304" pitchFamily="18" charset="0"/>
                <a:cs typeface="Times New Roman" panose="02020603050405020304" pitchFamily="18" charset="0"/>
              </a:rPr>
              <a:t> đến hạn tháo (06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E1A7F173-F863-E486-EAEF-8B51EDF0DABA}"/>
              </a:ext>
            </a:extLst>
          </p:cNvPr>
          <p:cNvSpPr txBox="1"/>
          <p:nvPr/>
        </p:nvSpPr>
        <p:spPr>
          <a:xfrm>
            <a:off x="6495328" y="2887077"/>
            <a:ext cx="5167083" cy="461665"/>
          </a:xfrm>
          <a:prstGeom prst="rect">
            <a:avLst/>
          </a:prstGeom>
          <a:noFill/>
        </p:spPr>
        <p:txBody>
          <a:bodyPr wrap="square" rtlCol="0">
            <a:spAutoFit/>
          </a:bodyPr>
          <a:lstStyle/>
          <a:p>
            <a:pPr algn="ctr" defTabSz="1219170">
              <a:defRPr/>
            </a:pPr>
            <a:r>
              <a:rPr lang="en-US" sz="2400" b="1">
                <a:solidFill>
                  <a:srgbClr val="002060"/>
                </a:solidFill>
                <a:latin typeface="Times New Roman" panose="02020603050405020304" pitchFamily="18" charset="0"/>
                <a:cs typeface="Times New Roman" panose="02020603050405020304" pitchFamily="18" charset="0"/>
              </a:rPr>
              <a:t>Số tàu AOG</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1" name="Chart 10">
            <a:extLst>
              <a:ext uri="{FF2B5EF4-FFF2-40B4-BE49-F238E27FC236}">
                <a16:creationId xmlns:a16="http://schemas.microsoft.com/office/drawing/2014/main" id="{39ED28EB-EF54-433B-60B3-87892499A24D}"/>
              </a:ext>
            </a:extLst>
          </p:cNvPr>
          <p:cNvGraphicFramePr/>
          <p:nvPr/>
        </p:nvGraphicFramePr>
        <p:xfrm>
          <a:off x="6219257" y="3419768"/>
          <a:ext cx="5808956" cy="332265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6229534" y="907137"/>
          <a:ext cx="5625452" cy="1832929"/>
        </p:xfrm>
        <a:graphic>
          <a:graphicData uri="http://schemas.openxmlformats.org/drawingml/2006/table">
            <a:tbl>
              <a:tblPr firstRow="1" bandRow="1">
                <a:tableStyleId>{93296810-A885-4BE3-A3E7-6D5BEEA58F35}</a:tableStyleId>
              </a:tblPr>
              <a:tblGrid>
                <a:gridCol w="1004609">
                  <a:extLst>
                    <a:ext uri="{9D8B030D-6E8A-4147-A177-3AD203B41FA5}">
                      <a16:colId xmlns:a16="http://schemas.microsoft.com/office/drawing/2014/main" val="1930757539"/>
                    </a:ext>
                  </a:extLst>
                </a:gridCol>
                <a:gridCol w="4620843">
                  <a:extLst>
                    <a:ext uri="{9D8B030D-6E8A-4147-A177-3AD203B41FA5}">
                      <a16:colId xmlns:a16="http://schemas.microsoft.com/office/drawing/2014/main" val="1674463010"/>
                    </a:ext>
                  </a:extLst>
                </a:gridCol>
              </a:tblGrid>
              <a:tr h="269280">
                <a:tc>
                  <a:txBody>
                    <a:bodyPr/>
                    <a:lstStyle/>
                    <a:p>
                      <a:r>
                        <a:rPr lang="en-US" sz="1200">
                          <a:latin typeface="Times New Roman" panose="02020603050405020304" pitchFamily="18" charset="0"/>
                          <a:cs typeface="Times New Roman" panose="02020603050405020304" pitchFamily="18" charset="0"/>
                        </a:rPr>
                        <a:t>Tàu</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Tình trạng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269280">
                <a:tc>
                  <a:txBody>
                    <a:bodyPr/>
                    <a:lstStyle/>
                    <a:p>
                      <a:r>
                        <a:rPr lang="en-US" sz="1200">
                          <a:latin typeface="Times New Roman" panose="02020603050405020304" pitchFamily="18" charset="0"/>
                          <a:cs typeface="Times New Roman" panose="02020603050405020304" pitchFamily="18" charset="0"/>
                        </a:rPr>
                        <a:t>A886</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430849">
                <a:tc>
                  <a:txBody>
                    <a:bodyPr/>
                    <a:lstStyle/>
                    <a:p>
                      <a:r>
                        <a:rPr lang="en-US" sz="1200">
                          <a:latin typeface="Times New Roman" panose="02020603050405020304" pitchFamily="18" charset="0"/>
                          <a:cs typeface="Times New Roman" panose="02020603050405020304" pitchFamily="18" charset="0"/>
                        </a:rPr>
                        <a:t>A887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1 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430849">
                <a:tc>
                  <a:txBody>
                    <a:bodyPr/>
                    <a:lstStyle/>
                    <a:p>
                      <a:r>
                        <a:rPr lang="en-US" sz="1200">
                          <a:latin typeface="Times New Roman" panose="02020603050405020304" pitchFamily="18" charset="0"/>
                          <a:cs typeface="Times New Roman" panose="02020603050405020304" pitchFamily="18" charset="0"/>
                        </a:rPr>
                        <a:t>A895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r h="269280">
                <a:tc>
                  <a:txBody>
                    <a:bodyPr/>
                    <a:lstStyle/>
                    <a:p>
                      <a:r>
                        <a:rPr lang="en-US" sz="1200">
                          <a:latin typeface="Times New Roman" panose="02020603050405020304" pitchFamily="18" charset="0"/>
                          <a:cs typeface="Times New Roman" panose="02020603050405020304" pitchFamily="18" charset="0"/>
                        </a:rPr>
                        <a:t>A898</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2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p>
                  </a:txBody>
                  <a:tcPr marL="121920" marR="121920" marT="60960" marB="60960" anchor="ctr"/>
                </a:tc>
                <a:extLst>
                  <a:ext uri="{0D108BD9-81ED-4DB2-BD59-A6C34878D82A}">
                    <a16:rowId xmlns:a16="http://schemas.microsoft.com/office/drawing/2014/main" val="173355373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6014053" y="423991"/>
            <a:ext cx="6705299" cy="420564"/>
          </a:xfrm>
          <a:prstGeom prst="rect">
            <a:avLst/>
          </a:prstGeom>
          <a:noFill/>
        </p:spPr>
        <p:txBody>
          <a:bodyPr wrap="square" rtlCol="0">
            <a:spAutoFit/>
          </a:bodyPr>
          <a:lstStyle/>
          <a:p>
            <a:pPr algn="ctr" defTabSz="1219170">
              <a:defRPr/>
            </a:pPr>
            <a:r>
              <a:rPr lang="en-US" sz="2133" b="1">
                <a:solidFill>
                  <a:srgbClr val="002060"/>
                </a:solidFill>
                <a:latin typeface="Times New Roman" panose="02020603050405020304" pitchFamily="18" charset="0"/>
                <a:cs typeface="Times New Roman" panose="02020603050405020304" pitchFamily="18" charset="0"/>
              </a:rPr>
              <a:t>Các tàu đang AOG</a:t>
            </a:r>
            <a:endParaRPr lang="en-GB" sz="2133" b="1" dirty="0">
              <a:solidFill>
                <a:srgbClr val="002060"/>
              </a:solidFill>
              <a:latin typeface="Times New Roman" panose="02020603050405020304" pitchFamily="18" charset="0"/>
              <a:cs typeface="Times New Roman" panose="02020603050405020304" pitchFamily="18" charset="0"/>
            </a:endParaRPr>
          </a:p>
        </p:txBody>
      </p:sp>
      <p:sp>
        <p:nvSpPr>
          <p:cNvPr id="9" name="Speech Bubble: Rectangle with Corners Rounded 8">
            <a:extLst>
              <a:ext uri="{FF2B5EF4-FFF2-40B4-BE49-F238E27FC236}">
                <a16:creationId xmlns:a16="http://schemas.microsoft.com/office/drawing/2014/main" id="{07B625F8-0854-49CC-0CB0-AF842EA02598}"/>
              </a:ext>
            </a:extLst>
          </p:cNvPr>
          <p:cNvSpPr/>
          <p:nvPr/>
        </p:nvSpPr>
        <p:spPr>
          <a:xfrm>
            <a:off x="9026165" y="5130661"/>
            <a:ext cx="2701964" cy="768671"/>
          </a:xfrm>
          <a:prstGeom prst="wedgeRoundRectCallout">
            <a:avLst>
              <a:gd name="adj1" fmla="val -49805"/>
              <a:gd name="adj2" fmla="val -134198"/>
              <a:gd name="adj3" fmla="val 16667"/>
            </a:avLst>
          </a:prstGeom>
          <a:solidFill>
            <a:srgbClr val="FFFF0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1219170">
              <a:defRPr/>
            </a:pPr>
            <a:r>
              <a:rPr lang="en-US" sz="1067">
                <a:solidFill>
                  <a:srgbClr val="FF0000"/>
                </a:solidFill>
                <a:latin typeface="Times New Roman" panose="02020603050405020304" pitchFamily="18" charset="0"/>
                <a:cs typeface="Times New Roman" panose="02020603050405020304" pitchFamily="18" charset="0"/>
              </a:rPr>
              <a:t>Cao điểm Tết: động c</a:t>
            </a:r>
            <a:r>
              <a:rPr lang="vi-VN" sz="1067">
                <a:solidFill>
                  <a:srgbClr val="FF0000"/>
                </a:solidFill>
                <a:latin typeface="Times New Roman" panose="02020603050405020304" pitchFamily="18" charset="0"/>
                <a:cs typeface="Times New Roman" panose="02020603050405020304" pitchFamily="18" charset="0"/>
              </a:rPr>
              <a:t>ơ</a:t>
            </a:r>
            <a:r>
              <a:rPr lang="en-US" sz="1067">
                <a:solidFill>
                  <a:srgbClr val="FF0000"/>
                </a:solidFill>
                <a:latin typeface="Times New Roman" panose="02020603050405020304" pitchFamily="18" charset="0"/>
                <a:cs typeface="Times New Roman" panose="02020603050405020304" pitchFamily="18" charset="0"/>
              </a:rPr>
              <a:t> A893 và A899 thay bằng động c</a:t>
            </a:r>
            <a:r>
              <a:rPr lang="vi-VN" sz="1067">
                <a:solidFill>
                  <a:srgbClr val="FF0000"/>
                </a:solidFill>
                <a:latin typeface="Times New Roman" panose="02020603050405020304" pitchFamily="18" charset="0"/>
                <a:cs typeface="Times New Roman" panose="02020603050405020304" pitchFamily="18" charset="0"/>
              </a:rPr>
              <a:t>ơ</a:t>
            </a:r>
            <a:r>
              <a:rPr lang="en-US" sz="1067">
                <a:solidFill>
                  <a:srgbClr val="FF0000"/>
                </a:solidFill>
                <a:latin typeface="Times New Roman" panose="02020603050405020304" pitchFamily="18" charset="0"/>
                <a:cs typeface="Times New Roman" panose="02020603050405020304" pitchFamily="18" charset="0"/>
              </a:rPr>
              <a:t> thuê RRFP thứ 4 và động c</a:t>
            </a:r>
            <a:r>
              <a:rPr lang="vi-VN" sz="1067">
                <a:solidFill>
                  <a:srgbClr val="FF0000"/>
                </a:solidFill>
                <a:latin typeface="Times New Roman" panose="02020603050405020304" pitchFamily="18" charset="0"/>
                <a:cs typeface="Times New Roman" panose="02020603050405020304" pitchFamily="18" charset="0"/>
              </a:rPr>
              <a:t>ơ</a:t>
            </a:r>
            <a:r>
              <a:rPr lang="en-US" sz="1067">
                <a:solidFill>
                  <a:srgbClr val="FF0000"/>
                </a:solidFill>
                <a:latin typeface="Times New Roman" panose="02020603050405020304" pitchFamily="18" charset="0"/>
                <a:cs typeface="Times New Roman" panose="02020603050405020304" pitchFamily="18" charset="0"/>
              </a:rPr>
              <a:t> 21316 đi QT về đầu T2. </a:t>
            </a:r>
            <a:endParaRPr lang="en-US" sz="1067"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69543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832D6-D376-2B3E-80E4-2BB00133B7A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7AB7BD-6FB2-6DEE-1597-88CCC23AA773}"/>
              </a:ext>
            </a:extLst>
          </p:cNvPr>
          <p:cNvSpPr>
            <a:spLocks noGrp="1"/>
          </p:cNvSpPr>
          <p:nvPr>
            <p:ph type="sldNum" idx="12"/>
          </p:nvPr>
        </p:nvSpPr>
        <p:spPr/>
        <p:txBody>
          <a:bodyPr/>
          <a:lstStyle/>
          <a:p>
            <a:fld id="{00000000-1234-1234-1234-123412341234}" type="slidenum">
              <a:rPr lang="vi" smtClean="0"/>
              <a:pPr/>
              <a:t>51</a:t>
            </a:fld>
            <a:endParaRPr lang="vi"/>
          </a:p>
        </p:txBody>
      </p:sp>
      <p:sp>
        <p:nvSpPr>
          <p:cNvPr id="3" name="Slide Number Placeholder 3">
            <a:extLst>
              <a:ext uri="{FF2B5EF4-FFF2-40B4-BE49-F238E27FC236}">
                <a16:creationId xmlns:a16="http://schemas.microsoft.com/office/drawing/2014/main" id="{872779D9-F954-864D-33DF-03C9AF45917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51</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1F90731F-79CC-9C0D-90F0-8892B720402F}"/>
              </a:ext>
            </a:extLst>
          </p:cNvPr>
          <p:cNvGraphicFramePr/>
          <p:nvPr/>
        </p:nvGraphicFramePr>
        <p:xfrm>
          <a:off x="186266" y="564481"/>
          <a:ext cx="11841945" cy="423286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Table 4">
            <a:extLst>
              <a:ext uri="{FF2B5EF4-FFF2-40B4-BE49-F238E27FC236}">
                <a16:creationId xmlns:a16="http://schemas.microsoft.com/office/drawing/2014/main" id="{59E8CB50-D75D-D69C-E552-996064D3C127}"/>
              </a:ext>
            </a:extLst>
          </p:cNvPr>
          <p:cNvGraphicFramePr>
            <a:graphicFrameLocks noGrp="1"/>
          </p:cNvGraphicFramePr>
          <p:nvPr/>
        </p:nvGraphicFramePr>
        <p:xfrm>
          <a:off x="93132" y="5436863"/>
          <a:ext cx="12028209" cy="1223394"/>
        </p:xfrm>
        <a:graphic>
          <a:graphicData uri="http://schemas.openxmlformats.org/drawingml/2006/table">
            <a:tbl>
              <a:tblPr firstRow="1" bandRow="1">
                <a:tableStyleId>{93296810-A885-4BE3-A3E7-6D5BEEA58F35}</a:tableStyleId>
              </a:tblPr>
              <a:tblGrid>
                <a:gridCol w="829765">
                  <a:extLst>
                    <a:ext uri="{9D8B030D-6E8A-4147-A177-3AD203B41FA5}">
                      <a16:colId xmlns:a16="http://schemas.microsoft.com/office/drawing/2014/main" val="4208667331"/>
                    </a:ext>
                  </a:extLst>
                </a:gridCol>
                <a:gridCol w="6156477">
                  <a:extLst>
                    <a:ext uri="{9D8B030D-6E8A-4147-A177-3AD203B41FA5}">
                      <a16:colId xmlns:a16="http://schemas.microsoft.com/office/drawing/2014/main" val="1351526185"/>
                    </a:ext>
                  </a:extLst>
                </a:gridCol>
                <a:gridCol w="5041967">
                  <a:extLst>
                    <a:ext uri="{9D8B030D-6E8A-4147-A177-3AD203B41FA5}">
                      <a16:colId xmlns:a16="http://schemas.microsoft.com/office/drawing/2014/main" val="1843655469"/>
                    </a:ext>
                  </a:extLst>
                </a:gridCol>
              </a:tblGrid>
              <a:tr h="249088">
                <a:tc>
                  <a:txBody>
                    <a:bodyPr/>
                    <a:lstStyle/>
                    <a:p>
                      <a:pPr algn="ctr" fontAlgn="t"/>
                      <a:r>
                        <a:rPr lang="en-US" sz="1200" b="1" i="0" u="none" strike="noStrike" dirty="0" err="1">
                          <a:solidFill>
                            <a:schemeClr val="bg1"/>
                          </a:solidFill>
                          <a:effectLst/>
                          <a:latin typeface="Times New Roman" panose="02020603050405020304" pitchFamily="18" charset="0"/>
                        </a:rPr>
                        <a:t>Tàu</a:t>
                      </a:r>
                      <a:endParaRPr lang="en-US" sz="1200" b="1" i="0" u="none" strike="noStrike" dirty="0">
                        <a:solidFill>
                          <a:schemeClr val="bg1"/>
                        </a:solidFill>
                        <a:effectLst/>
                        <a:latin typeface="Times New Roman" panose="02020603050405020304" pitchFamily="18" charset="0"/>
                      </a:endParaRPr>
                    </a:p>
                  </a:txBody>
                  <a:tcPr marL="8467" marR="8467" marT="8467" marB="0" anchor="ctr"/>
                </a:tc>
                <a:tc>
                  <a:txBody>
                    <a:bodyPr/>
                    <a:lstStyle/>
                    <a:p>
                      <a:pPr algn="ctr" fontAlgn="t"/>
                      <a:r>
                        <a:rPr lang="en-US" sz="1200" b="1" i="0" u="none" strike="noStrike" dirty="0" err="1">
                          <a:solidFill>
                            <a:schemeClr val="bg1"/>
                          </a:solidFill>
                          <a:effectLst/>
                          <a:latin typeface="Times New Roman" panose="02020603050405020304" pitchFamily="18" charset="0"/>
                        </a:rPr>
                        <a:t>Phương</a:t>
                      </a:r>
                      <a:r>
                        <a:rPr lang="en-US" sz="1200" b="1" i="0" u="none" strike="noStrike" dirty="0">
                          <a:solidFill>
                            <a:schemeClr val="bg1"/>
                          </a:solidFill>
                          <a:effectLst/>
                          <a:latin typeface="Times New Roman" panose="02020603050405020304" pitchFamily="18" charset="0"/>
                        </a:rPr>
                        <a:t> </a:t>
                      </a:r>
                      <a:r>
                        <a:rPr lang="en-US" sz="1200" b="1" i="0" u="none" strike="noStrike" dirty="0" err="1">
                          <a:solidFill>
                            <a:schemeClr val="bg1"/>
                          </a:solidFill>
                          <a:effectLst/>
                          <a:latin typeface="Times New Roman" panose="02020603050405020304" pitchFamily="18" charset="0"/>
                        </a:rPr>
                        <a:t>án</a:t>
                      </a:r>
                      <a:endParaRPr lang="en-US" sz="1200" b="1" i="0" u="none" strike="noStrike" dirty="0">
                        <a:solidFill>
                          <a:schemeClr val="bg1"/>
                        </a:solidFill>
                        <a:effectLst/>
                        <a:latin typeface="Times New Roman" panose="02020603050405020304" pitchFamily="18" charset="0"/>
                      </a:endParaRPr>
                    </a:p>
                  </a:txBody>
                  <a:tcPr marL="8467" marR="8467" marT="8467" marB="0" anchor="ctr"/>
                </a:tc>
                <a:tc>
                  <a:txBody>
                    <a:bodyPr/>
                    <a:lstStyle/>
                    <a:p>
                      <a:pPr algn="ctr" fontAlgn="t"/>
                      <a:r>
                        <a:rPr lang="en-US" sz="1200" b="1" i="0" u="none" strike="noStrike" dirty="0" err="1">
                          <a:solidFill>
                            <a:schemeClr val="bg1"/>
                          </a:solidFill>
                          <a:effectLst/>
                          <a:latin typeface="Times New Roman" panose="02020603050405020304" pitchFamily="18" charset="0"/>
                        </a:rPr>
                        <a:t>Kế</a:t>
                      </a:r>
                      <a:r>
                        <a:rPr lang="en-US" sz="1200" b="1" i="0" u="none" strike="noStrike" dirty="0">
                          <a:solidFill>
                            <a:schemeClr val="bg1"/>
                          </a:solidFill>
                          <a:effectLst/>
                          <a:latin typeface="Times New Roman" panose="02020603050405020304" pitchFamily="18" charset="0"/>
                        </a:rPr>
                        <a:t> </a:t>
                      </a:r>
                      <a:r>
                        <a:rPr lang="en-US" sz="1200" b="1" i="0" u="none" strike="noStrike" dirty="0" err="1">
                          <a:solidFill>
                            <a:schemeClr val="bg1"/>
                          </a:solidFill>
                          <a:effectLst/>
                          <a:latin typeface="Times New Roman" panose="02020603050405020304" pitchFamily="18" charset="0"/>
                        </a:rPr>
                        <a:t>hoạch</a:t>
                      </a:r>
                      <a:r>
                        <a:rPr lang="en-US" sz="1200" b="1" i="0" u="none" strike="noStrike" dirty="0">
                          <a:solidFill>
                            <a:schemeClr val="bg1"/>
                          </a:solidFill>
                          <a:effectLst/>
                          <a:latin typeface="Times New Roman" panose="02020603050405020304" pitchFamily="18" charset="0"/>
                        </a:rPr>
                        <a:t> </a:t>
                      </a:r>
                      <a:r>
                        <a:rPr lang="en-US" sz="1200" b="1" i="0" u="none" strike="noStrike" dirty="0" err="1">
                          <a:solidFill>
                            <a:schemeClr val="bg1"/>
                          </a:solidFill>
                          <a:effectLst/>
                          <a:latin typeface="Times New Roman" panose="02020603050405020304" pitchFamily="18" charset="0"/>
                        </a:rPr>
                        <a:t>thay</a:t>
                      </a:r>
                      <a:endParaRPr lang="en-US" sz="1200" b="1" i="0" u="none" strike="noStrike" dirty="0">
                        <a:solidFill>
                          <a:schemeClr val="bg1"/>
                        </a:solidFill>
                        <a:effectLst/>
                        <a:latin typeface="Times New Roman" panose="02020603050405020304" pitchFamily="18" charset="0"/>
                      </a:endParaRPr>
                    </a:p>
                  </a:txBody>
                  <a:tcPr marL="8467" marR="8467" marT="8467" marB="0" anchor="ctr"/>
                </a:tc>
                <a:extLst>
                  <a:ext uri="{0D108BD9-81ED-4DB2-BD59-A6C34878D82A}">
                    <a16:rowId xmlns:a16="http://schemas.microsoft.com/office/drawing/2014/main" val="1286781906"/>
                  </a:ext>
                </a:extLst>
              </a:tr>
              <a:tr h="487153">
                <a:tc>
                  <a:txBody>
                    <a:bodyPr/>
                    <a:lstStyle/>
                    <a:p>
                      <a:pPr algn="ctr" fontAlgn="ctr"/>
                      <a:r>
                        <a:rPr lang="en-US" sz="1200" b="0" i="0" u="none" strike="noStrike">
                          <a:solidFill>
                            <a:schemeClr val="tx1"/>
                          </a:solidFill>
                          <a:effectLst/>
                          <a:latin typeface="Times New Roman" panose="02020603050405020304" pitchFamily="18" charset="0"/>
                        </a:rPr>
                        <a:t>A893</a:t>
                      </a:r>
                      <a:endParaRPr lang="en-US" sz="1200" b="0" i="0" u="none" strike="noStrike" dirty="0">
                        <a:solidFill>
                          <a:schemeClr val="tx1"/>
                        </a:solidFill>
                        <a:effectLst/>
                        <a:latin typeface="Times New Roman" panose="02020603050405020304" pitchFamily="18" charset="0"/>
                      </a:endParaRPr>
                    </a:p>
                  </a:txBody>
                  <a:tcPr marL="8467" marR="8467" marT="8467"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Times New Roman" panose="02020603050405020304" pitchFamily="18" charset="0"/>
                          <a:cs typeface="Times New Roman" panose="02020603050405020304" pitchFamily="18" charset="0"/>
                        </a:rPr>
                        <a:t>Do vấn đề High Oil Consumption 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số 2 mà tàu phải khai thác chặng ngắn dẫn đến tăng utilization, không bay đ</a:t>
                      </a:r>
                      <a:r>
                        <a:rPr lang="vi-VN" sz="1200">
                          <a:solidFill>
                            <a:schemeClr val="tx1"/>
                          </a:solidFill>
                          <a:latin typeface="Times New Roman" panose="02020603050405020304" pitchFamily="18" charset="0"/>
                          <a:cs typeface="Times New Roman" panose="02020603050405020304" pitchFamily="18" charset="0"/>
                        </a:rPr>
                        <a:t>ư</a:t>
                      </a:r>
                      <a:r>
                        <a:rPr lang="en-US" sz="1200">
                          <a:solidFill>
                            <a:schemeClr val="tx1"/>
                          </a:solidFill>
                          <a:latin typeface="Times New Roman" panose="02020603050405020304" pitchFamily="18" charset="0"/>
                          <a:cs typeface="Times New Roman" panose="02020603050405020304" pitchFamily="18" charset="0"/>
                        </a:rPr>
                        <a:t>ợc qua Tết. Dự kiến hết hạn vào cuối tháng 1. </a:t>
                      </a:r>
                      <a:endParaRPr lang="en-US" sz="1200" dirty="0">
                        <a:solidFill>
                          <a:schemeClr val="tx1"/>
                        </a:solidFill>
                        <a:latin typeface="Times New Roman" panose="02020603050405020304" pitchFamily="18" charset="0"/>
                        <a:cs typeface="Times New Roman" panose="02020603050405020304" pitchFamily="18" charset="0"/>
                      </a:endParaRPr>
                    </a:p>
                  </a:txBody>
                  <a:tcPr marL="8467" marR="8467" marT="8467"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Times New Roman" panose="02020603050405020304" pitchFamily="18" charset="0"/>
                          <a:cs typeface="Times New Roman" panose="02020603050405020304" pitchFamily="18" charset="0"/>
                        </a:rPr>
                        <a:t>Đã hoàn thành</a:t>
                      </a:r>
                      <a:endParaRPr lang="en-US" sz="1200" dirty="0">
                        <a:solidFill>
                          <a:schemeClr val="tx1"/>
                        </a:solidFill>
                        <a:latin typeface="Times New Roman" panose="02020603050405020304" pitchFamily="18" charset="0"/>
                        <a:cs typeface="Times New Roman" panose="02020603050405020304" pitchFamily="18" charset="0"/>
                      </a:endParaRPr>
                    </a:p>
                  </a:txBody>
                  <a:tcPr marL="8467" marR="8467" marT="8467" marB="0" anchor="ctr"/>
                </a:tc>
                <a:extLst>
                  <a:ext uri="{0D108BD9-81ED-4DB2-BD59-A6C34878D82A}">
                    <a16:rowId xmlns:a16="http://schemas.microsoft.com/office/drawing/2014/main" val="2913290803"/>
                  </a:ext>
                </a:extLst>
              </a:tr>
              <a:tr h="487153">
                <a:tc>
                  <a:txBody>
                    <a:bodyPr/>
                    <a:lstStyle/>
                    <a:p>
                      <a:pPr algn="ctr" fontAlgn="ctr"/>
                      <a:r>
                        <a:rPr lang="en-US" sz="1200" b="0" i="0" u="none" strike="noStrike">
                          <a:solidFill>
                            <a:schemeClr val="tx1"/>
                          </a:solidFill>
                          <a:effectLst/>
                          <a:latin typeface="Times New Roman" panose="02020603050405020304" pitchFamily="18" charset="0"/>
                        </a:rPr>
                        <a:t>A899</a:t>
                      </a:r>
                      <a:endParaRPr lang="en-US" sz="1200" b="0" i="0" u="none" strike="noStrike" dirty="0">
                        <a:solidFill>
                          <a:schemeClr val="tx1"/>
                        </a:solidFill>
                        <a:effectLst/>
                        <a:latin typeface="Times New Roman" panose="02020603050405020304" pitchFamily="18" charset="0"/>
                      </a:endParaRPr>
                    </a:p>
                  </a:txBody>
                  <a:tcPr marL="8467" marR="8467" marT="8467"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Times New Roman" panose="02020603050405020304" pitchFamily="18" charset="0"/>
                          <a:cs typeface="Times New Roman" panose="02020603050405020304" pitchFamily="18" charset="0"/>
                        </a:rPr>
                        <a:t>Do </a:t>
                      </a:r>
                      <a:r>
                        <a:rPr lang="en-US" sz="1200" dirty="0" err="1">
                          <a:solidFill>
                            <a:schemeClr val="tx1"/>
                          </a:solidFill>
                          <a:latin typeface="Times New Roman" panose="02020603050405020304" pitchFamily="18" charset="0"/>
                          <a:cs typeface="Times New Roman" panose="02020603050405020304" pitchFamily="18" charset="0"/>
                        </a:rPr>
                        <a:t>tàu</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phải</a:t>
                      </a:r>
                      <a:r>
                        <a:rPr lang="en-US" sz="1200" dirty="0">
                          <a:solidFill>
                            <a:schemeClr val="tx1"/>
                          </a:solidFill>
                          <a:latin typeface="Times New Roman" panose="02020603050405020304" pitchFamily="18" charset="0"/>
                          <a:cs typeface="Times New Roman" panose="02020603050405020304" pitchFamily="18" charset="0"/>
                        </a:rPr>
                        <a:t> bay </a:t>
                      </a:r>
                      <a:r>
                        <a:rPr lang="en-US" sz="1200" dirty="0" err="1">
                          <a:solidFill>
                            <a:schemeClr val="tx1"/>
                          </a:solidFill>
                          <a:latin typeface="Times New Roman" panose="02020603050405020304" pitchFamily="18" charset="0"/>
                          <a:cs typeface="Times New Roman" panose="02020603050405020304" pitchFamily="18" charset="0"/>
                        </a:rPr>
                        <a:t>bù</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các</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tàu</a:t>
                      </a:r>
                      <a:r>
                        <a:rPr lang="en-US" sz="1200" dirty="0">
                          <a:solidFill>
                            <a:schemeClr val="tx1"/>
                          </a:solidFill>
                          <a:latin typeface="Times New Roman" panose="02020603050405020304" pitchFamily="18" charset="0"/>
                          <a:cs typeface="Times New Roman" panose="02020603050405020304" pitchFamily="18" charset="0"/>
                        </a:rPr>
                        <a:t> VIP </a:t>
                      </a:r>
                      <a:r>
                        <a:rPr lang="en-US" sz="1200" dirty="0" err="1">
                          <a:solidFill>
                            <a:schemeClr val="tx1"/>
                          </a:solidFill>
                          <a:latin typeface="Times New Roman" panose="02020603050405020304" pitchFamily="18" charset="0"/>
                          <a:cs typeface="Times New Roman" panose="02020603050405020304" pitchFamily="18" charset="0"/>
                        </a:rPr>
                        <a:t>tháng</a:t>
                      </a:r>
                      <a:r>
                        <a:rPr lang="en-US" sz="1200" dirty="0">
                          <a:solidFill>
                            <a:schemeClr val="tx1"/>
                          </a:solidFill>
                          <a:latin typeface="Times New Roman" panose="02020603050405020304" pitchFamily="18" charset="0"/>
                          <a:cs typeface="Times New Roman" panose="02020603050405020304" pitchFamily="18" charset="0"/>
                        </a:rPr>
                        <a:t> 1 </a:t>
                      </a:r>
                      <a:r>
                        <a:rPr lang="en-US" sz="1200" dirty="0" err="1">
                          <a:solidFill>
                            <a:schemeClr val="tx1"/>
                          </a:solidFill>
                          <a:latin typeface="Times New Roman" panose="02020603050405020304" pitchFamily="18" charset="0"/>
                          <a:cs typeface="Times New Roman" panose="02020603050405020304" pitchFamily="18" charset="0"/>
                        </a:rPr>
                        <a:t>nên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tăng</a:t>
                      </a:r>
                      <a:r>
                        <a:rPr lang="en-US" sz="1200" dirty="0">
                          <a:solidFill>
                            <a:schemeClr val="tx1"/>
                          </a:solidFill>
                          <a:latin typeface="Times New Roman" panose="02020603050405020304" pitchFamily="18" charset="0"/>
                          <a:cs typeface="Times New Roman" panose="02020603050405020304" pitchFamily="18" charset="0"/>
                        </a:rPr>
                        <a:t> utilization, </a:t>
                      </a:r>
                      <a:r>
                        <a:rPr lang="en-US" sz="1200" dirty="0" err="1">
                          <a:solidFill>
                            <a:schemeClr val="tx1"/>
                          </a:solidFill>
                          <a:latin typeface="Times New Roman" panose="02020603050405020304" pitchFamily="18" charset="0"/>
                          <a:cs typeface="Times New Roman" panose="02020603050405020304" pitchFamily="18" charset="0"/>
                        </a:rPr>
                        <a:t>không</a:t>
                      </a:r>
                      <a:r>
                        <a:rPr lang="en-US" sz="1200" dirty="0">
                          <a:solidFill>
                            <a:schemeClr val="tx1"/>
                          </a:solidFill>
                          <a:latin typeface="Times New Roman" panose="02020603050405020304" pitchFamily="18" charset="0"/>
                          <a:cs typeface="Times New Roman" panose="02020603050405020304" pitchFamily="18" charset="0"/>
                        </a:rPr>
                        <a:t> bay đ</a:t>
                      </a:r>
                      <a:r>
                        <a:rPr lang="vi-VN" sz="1200" dirty="0">
                          <a:solidFill>
                            <a:schemeClr val="tx1"/>
                          </a:solidFill>
                          <a:latin typeface="Times New Roman" panose="02020603050405020304" pitchFamily="18" charset="0"/>
                          <a:cs typeface="Times New Roman" panose="02020603050405020304" pitchFamily="18" charset="0"/>
                        </a:rPr>
                        <a:t>ư</a:t>
                      </a:r>
                      <a:r>
                        <a:rPr lang="en-US" sz="1200" dirty="0" err="1">
                          <a:solidFill>
                            <a:schemeClr val="tx1"/>
                          </a:solidFill>
                          <a:latin typeface="Times New Roman" panose="02020603050405020304" pitchFamily="18" charset="0"/>
                          <a:cs typeface="Times New Roman" panose="02020603050405020304" pitchFamily="18" charset="0"/>
                        </a:rPr>
                        <a:t>ợc</a:t>
                      </a:r>
                      <a:r>
                        <a:rPr lang="en-US" sz="1200" dirty="0">
                          <a:solidFill>
                            <a:schemeClr val="tx1"/>
                          </a:solidFill>
                          <a:latin typeface="Times New Roman" panose="02020603050405020304" pitchFamily="18" charset="0"/>
                          <a:cs typeface="Times New Roman" panose="02020603050405020304" pitchFamily="18" charset="0"/>
                        </a:rPr>
                        <a:t> qua </a:t>
                      </a:r>
                      <a:r>
                        <a:rPr lang="en-US" sz="1200" dirty="0" err="1">
                          <a:solidFill>
                            <a:schemeClr val="tx1"/>
                          </a:solidFill>
                          <a:latin typeface="Times New Roman" panose="02020603050405020304" pitchFamily="18" charset="0"/>
                          <a:cs typeface="Times New Roman" panose="02020603050405020304" pitchFamily="18" charset="0"/>
                        </a:rPr>
                        <a:t>Tết</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cần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phải</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hạn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chế</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chờ</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cơ</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Quickturn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đi</a:t>
                      </a:r>
                      <a:r>
                        <a:rPr lang="en-US" sz="1200" dirty="0">
                          <a:solidFill>
                            <a:schemeClr val="tx1"/>
                          </a:solidFill>
                          <a:latin typeface="Times New Roman" panose="02020603050405020304" pitchFamily="18" charset="0"/>
                          <a:cs typeface="Times New Roman" panose="02020603050405020304" pitchFamily="18" charset="0"/>
                        </a:rPr>
                        <a:t> shop </a:t>
                      </a:r>
                      <a:r>
                        <a:rPr lang="en-US" sz="1200" dirty="0" err="1">
                          <a:solidFill>
                            <a:schemeClr val="tx1"/>
                          </a:solidFill>
                          <a:latin typeface="Times New Roman" panose="02020603050405020304" pitchFamily="18" charset="0"/>
                          <a:cs typeface="Times New Roman" panose="02020603050405020304" pitchFamily="18" charset="0"/>
                        </a:rPr>
                        <a:t>về</a:t>
                      </a:r>
                      <a:r>
                        <a:rPr lang="en-US" sz="1200" dirty="0">
                          <a:solidFill>
                            <a:schemeClr val="tx1"/>
                          </a:solidFill>
                          <a:latin typeface="Times New Roman" panose="02020603050405020304" pitchFamily="18" charset="0"/>
                          <a:cs typeface="Times New Roman" panose="02020603050405020304" pitchFamily="18" charset="0"/>
                        </a:rPr>
                        <a:t>. </a:t>
                      </a:r>
                    </a:p>
                  </a:txBody>
                  <a:tcPr marL="8467" marR="8467" marT="8467"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Times New Roman" panose="02020603050405020304" pitchFamily="18" charset="0"/>
                          <a:cs typeface="Times New Roman" panose="02020603050405020304" pitchFamily="18" charset="0"/>
                        </a:rPr>
                        <a:t>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21316 sửa xong cuối T1, dự kiến sẽ về đầu T2. </a:t>
                      </a:r>
                      <a:endParaRPr lang="en-US" sz="1200" dirty="0">
                        <a:solidFill>
                          <a:schemeClr val="tx1"/>
                        </a:solidFill>
                        <a:latin typeface="Times New Roman" panose="02020603050405020304" pitchFamily="18" charset="0"/>
                        <a:cs typeface="Times New Roman" panose="02020603050405020304" pitchFamily="18" charset="0"/>
                      </a:endParaRPr>
                    </a:p>
                  </a:txBody>
                  <a:tcPr marL="8467" marR="8467" marT="8467" marB="0" anchor="ctr"/>
                </a:tc>
                <a:extLst>
                  <a:ext uri="{0D108BD9-81ED-4DB2-BD59-A6C34878D82A}">
                    <a16:rowId xmlns:a16="http://schemas.microsoft.com/office/drawing/2014/main" val="3138330128"/>
                  </a:ext>
                </a:extLst>
              </a:tr>
            </a:tbl>
          </a:graphicData>
        </a:graphic>
      </p:graphicFrame>
      <p:sp>
        <p:nvSpPr>
          <p:cNvPr id="6" name="TextBox 5">
            <a:extLst>
              <a:ext uri="{FF2B5EF4-FFF2-40B4-BE49-F238E27FC236}">
                <a16:creationId xmlns:a16="http://schemas.microsoft.com/office/drawing/2014/main" id="{42078504-4E4E-DE69-F896-C7268F910BB0}"/>
              </a:ext>
            </a:extLst>
          </p:cNvPr>
          <p:cNvSpPr txBox="1"/>
          <p:nvPr/>
        </p:nvSpPr>
        <p:spPr>
          <a:xfrm>
            <a:off x="1397713" y="4768821"/>
            <a:ext cx="9419049" cy="666786"/>
          </a:xfrm>
          <a:prstGeom prst="rect">
            <a:avLst/>
          </a:prstGeom>
          <a:noFill/>
        </p:spPr>
        <p:txBody>
          <a:bodyPr wrap="square" rtlCol="0">
            <a:spAutoFit/>
          </a:bodyPr>
          <a:lstStyle/>
          <a:p>
            <a:pPr algn="ctr" defTabSz="1219170">
              <a:defRPr/>
            </a:pPr>
            <a:r>
              <a:rPr lang="en-US" sz="2133" b="1" dirty="0" err="1">
                <a:solidFill>
                  <a:srgbClr val="002060"/>
                </a:solidFill>
                <a:latin typeface="Times New Roman" panose="02020603050405020304" pitchFamily="18" charset="0"/>
                <a:cs typeface="Times New Roman" panose="02020603050405020304" pitchFamily="18" charset="0"/>
              </a:rPr>
              <a:t>Kế</a:t>
            </a:r>
            <a:r>
              <a:rPr lang="en-US" sz="2133" b="1" dirty="0">
                <a:solidFill>
                  <a:srgbClr val="002060"/>
                </a:solidFill>
                <a:latin typeface="Times New Roman" panose="02020603050405020304" pitchFamily="18" charset="0"/>
                <a:cs typeface="Times New Roman" panose="02020603050405020304" pitchFamily="18" charset="0"/>
              </a:rPr>
              <a:t> </a:t>
            </a:r>
            <a:r>
              <a:rPr lang="en-US" sz="2133" b="1" dirty="0" err="1">
                <a:solidFill>
                  <a:srgbClr val="002060"/>
                </a:solidFill>
                <a:latin typeface="Times New Roman" panose="02020603050405020304" pitchFamily="18" charset="0"/>
                <a:cs typeface="Times New Roman" panose="02020603050405020304" pitchFamily="18" charset="0"/>
              </a:rPr>
              <a:t>hoạch</a:t>
            </a:r>
            <a:r>
              <a:rPr lang="en-US" sz="2133" b="1" dirty="0">
                <a:solidFill>
                  <a:srgbClr val="002060"/>
                </a:solidFill>
                <a:latin typeface="Times New Roman" panose="02020603050405020304" pitchFamily="18" charset="0"/>
                <a:cs typeface="Times New Roman" panose="02020603050405020304" pitchFamily="18" charset="0"/>
              </a:rPr>
              <a:t> </a:t>
            </a:r>
            <a:r>
              <a:rPr lang="en-US" sz="2133" b="1" dirty="0" err="1">
                <a:solidFill>
                  <a:srgbClr val="002060"/>
                </a:solidFill>
                <a:latin typeface="Times New Roman" panose="02020603050405020304" pitchFamily="18" charset="0"/>
                <a:cs typeface="Times New Roman" panose="02020603050405020304" pitchFamily="18" charset="0"/>
              </a:rPr>
              <a:t>thay</a:t>
            </a:r>
            <a:r>
              <a:rPr lang="en-US" sz="2133" b="1" dirty="0">
                <a:solidFill>
                  <a:srgbClr val="002060"/>
                </a:solidFill>
                <a:latin typeface="Times New Roman" panose="02020603050405020304" pitchFamily="18" charset="0"/>
                <a:cs typeface="Times New Roman" panose="02020603050405020304" pitchFamily="18" charset="0"/>
              </a:rPr>
              <a:t> </a:t>
            </a:r>
            <a:r>
              <a:rPr lang="en-US" sz="2133" b="1" dirty="0" err="1">
                <a:solidFill>
                  <a:srgbClr val="002060"/>
                </a:solidFill>
                <a:latin typeface="Times New Roman" panose="02020603050405020304" pitchFamily="18" charset="0"/>
                <a:cs typeface="Times New Roman" panose="02020603050405020304" pitchFamily="18" charset="0"/>
              </a:rPr>
              <a:t>động</a:t>
            </a:r>
            <a:r>
              <a:rPr lang="en-US" sz="2133" b="1" dirty="0">
                <a:solidFill>
                  <a:srgbClr val="002060"/>
                </a:solidFill>
                <a:latin typeface="Times New Roman" panose="02020603050405020304" pitchFamily="18" charset="0"/>
                <a:cs typeface="Times New Roman" panose="02020603050405020304" pitchFamily="18" charset="0"/>
              </a:rPr>
              <a:t> c</a:t>
            </a:r>
            <a:r>
              <a:rPr lang="vi-VN" sz="2133" b="1" dirty="0">
                <a:solidFill>
                  <a:srgbClr val="002060"/>
                </a:solidFill>
                <a:latin typeface="Times New Roman" panose="02020603050405020304" pitchFamily="18" charset="0"/>
                <a:cs typeface="Times New Roman" panose="02020603050405020304" pitchFamily="18" charset="0"/>
              </a:rPr>
              <a:t>ơ</a:t>
            </a:r>
            <a:r>
              <a:rPr lang="en-US" sz="2133" b="1" dirty="0">
                <a:solidFill>
                  <a:srgbClr val="002060"/>
                </a:solidFill>
                <a:latin typeface="Times New Roman" panose="02020603050405020304" pitchFamily="18" charset="0"/>
                <a:cs typeface="Times New Roman" panose="02020603050405020304" pitchFamily="18" charset="0"/>
              </a:rPr>
              <a:t> A350 </a:t>
            </a:r>
          </a:p>
          <a:p>
            <a:pPr algn="ctr" defTabSz="1219170">
              <a:defRPr/>
            </a:pPr>
            <a:r>
              <a:rPr lang="en-US" sz="1600" b="1" i="1" dirty="0">
                <a:solidFill>
                  <a:srgbClr val="002060"/>
                </a:solidFill>
                <a:latin typeface="Times New Roman" panose="02020603050405020304" pitchFamily="18" charset="0"/>
                <a:cs typeface="Times New Roman" panose="02020603050405020304" pitchFamily="18" charset="0"/>
              </a:rPr>
              <a:t>(</a:t>
            </a:r>
            <a:r>
              <a:rPr lang="en-US" sz="1600" b="1" i="1" dirty="0" err="1">
                <a:solidFill>
                  <a:srgbClr val="002060"/>
                </a:solidFill>
                <a:latin typeface="Times New Roman" panose="02020603050405020304" pitchFamily="18" charset="0"/>
                <a:cs typeface="Times New Roman" panose="02020603050405020304" pitchFamily="18" charset="0"/>
              </a:rPr>
              <a:t>các</a:t>
            </a:r>
            <a:r>
              <a:rPr lang="en-US" sz="1600" b="1" i="1" dirty="0">
                <a:solidFill>
                  <a:srgbClr val="002060"/>
                </a:solidFill>
                <a:latin typeface="Times New Roman" panose="02020603050405020304" pitchFamily="18" charset="0"/>
                <a:cs typeface="Times New Roman" panose="02020603050405020304" pitchFamily="18" charset="0"/>
              </a:rPr>
              <a:t> </a:t>
            </a:r>
            <a:r>
              <a:rPr lang="en-US" sz="1600" b="1" i="1" dirty="0" err="1">
                <a:solidFill>
                  <a:srgbClr val="002060"/>
                </a:solidFill>
                <a:latin typeface="Times New Roman" panose="02020603050405020304" pitchFamily="18" charset="0"/>
                <a:cs typeface="Times New Roman" panose="02020603050405020304" pitchFamily="18" charset="0"/>
              </a:rPr>
              <a:t>tàu</a:t>
            </a:r>
            <a:r>
              <a:rPr lang="en-US" sz="1600" b="1" i="1" dirty="0">
                <a:solidFill>
                  <a:srgbClr val="002060"/>
                </a:solidFill>
                <a:latin typeface="Times New Roman" panose="02020603050405020304" pitchFamily="18" charset="0"/>
                <a:cs typeface="Times New Roman" panose="02020603050405020304" pitchFamily="18" charset="0"/>
              </a:rPr>
              <a:t> </a:t>
            </a:r>
            <a:r>
              <a:rPr lang="en-US" sz="1600" b="1" i="1" dirty="0" err="1">
                <a:solidFill>
                  <a:srgbClr val="002060"/>
                </a:solidFill>
                <a:latin typeface="Times New Roman" panose="02020603050405020304" pitchFamily="18" charset="0"/>
                <a:cs typeface="Times New Roman" panose="02020603050405020304" pitchFamily="18" charset="0"/>
              </a:rPr>
              <a:t>ảnh</a:t>
            </a:r>
            <a:r>
              <a:rPr lang="en-US" sz="1600" b="1" i="1" dirty="0">
                <a:solidFill>
                  <a:srgbClr val="002060"/>
                </a:solidFill>
                <a:latin typeface="Times New Roman" panose="02020603050405020304" pitchFamily="18" charset="0"/>
                <a:cs typeface="Times New Roman" panose="02020603050405020304" pitchFamily="18" charset="0"/>
              </a:rPr>
              <a:t> h</a:t>
            </a:r>
            <a:r>
              <a:rPr lang="vi-VN" sz="1600" b="1" i="1" dirty="0">
                <a:solidFill>
                  <a:srgbClr val="002060"/>
                </a:solidFill>
                <a:latin typeface="Times New Roman" panose="02020603050405020304" pitchFamily="18" charset="0"/>
                <a:cs typeface="Times New Roman" panose="02020603050405020304" pitchFamily="18" charset="0"/>
              </a:rPr>
              <a:t>ư</a:t>
            </a:r>
            <a:r>
              <a:rPr lang="en-US" sz="1600" b="1" i="1" dirty="0" err="1">
                <a:solidFill>
                  <a:srgbClr val="002060"/>
                </a:solidFill>
                <a:latin typeface="Times New Roman" panose="02020603050405020304" pitchFamily="18" charset="0"/>
                <a:cs typeface="Times New Roman" panose="02020603050405020304" pitchFamily="18" charset="0"/>
              </a:rPr>
              <a:t>ởng</a:t>
            </a:r>
            <a:r>
              <a:rPr lang="en-US" sz="1600" b="1" i="1" dirty="0">
                <a:solidFill>
                  <a:srgbClr val="002060"/>
                </a:solidFill>
                <a:latin typeface="Times New Roman" panose="02020603050405020304" pitchFamily="18" charset="0"/>
                <a:cs typeface="Times New Roman" panose="02020603050405020304" pitchFamily="18" charset="0"/>
              </a:rPr>
              <a:t> </a:t>
            </a:r>
            <a:r>
              <a:rPr lang="en-US" sz="1600" b="1" i="1" dirty="0" err="1">
                <a:solidFill>
                  <a:srgbClr val="002060"/>
                </a:solidFill>
                <a:latin typeface="Times New Roman" panose="02020603050405020304" pitchFamily="18" charset="0"/>
                <a:cs typeface="Times New Roman" panose="02020603050405020304" pitchFamily="18" charset="0"/>
              </a:rPr>
              <a:t>nguồn</a:t>
            </a:r>
            <a:r>
              <a:rPr lang="en-US" sz="1600" b="1" i="1" dirty="0">
                <a:solidFill>
                  <a:srgbClr val="002060"/>
                </a:solidFill>
                <a:latin typeface="Times New Roman" panose="02020603050405020304" pitchFamily="18" charset="0"/>
                <a:cs typeface="Times New Roman" panose="02020603050405020304" pitchFamily="18" charset="0"/>
              </a:rPr>
              <a:t> </a:t>
            </a:r>
            <a:r>
              <a:rPr lang="en-US" sz="1600" b="1" i="1" dirty="0" err="1">
                <a:solidFill>
                  <a:srgbClr val="002060"/>
                </a:solidFill>
                <a:latin typeface="Times New Roman" panose="02020603050405020304" pitchFamily="18" charset="0"/>
                <a:cs typeface="Times New Roman" panose="02020603050405020304" pitchFamily="18" charset="0"/>
              </a:rPr>
              <a:t>lực</a:t>
            </a:r>
            <a:r>
              <a:rPr lang="en-US" sz="1600" b="1" i="1" dirty="0">
                <a:solidFill>
                  <a:srgbClr val="002060"/>
                </a:solidFill>
                <a:latin typeface="Times New Roman" panose="02020603050405020304" pitchFamily="18" charset="0"/>
                <a:cs typeface="Times New Roman" panose="02020603050405020304" pitchFamily="18" charset="0"/>
              </a:rPr>
              <a:t>)</a:t>
            </a:r>
            <a:endParaRPr lang="en-GB" sz="2400" b="1" i="1" dirty="0">
              <a:solidFill>
                <a:srgbClr val="00206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91619BD-7E24-FDB8-BC7A-A4CB0B20AAAA}"/>
              </a:ext>
            </a:extLst>
          </p:cNvPr>
          <p:cNvSpPr txBox="1"/>
          <p:nvPr/>
        </p:nvSpPr>
        <p:spPr>
          <a:xfrm>
            <a:off x="1" y="31001"/>
            <a:ext cx="11480800"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A350 T10 – T2/2025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34364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6EF2E-39D3-88C6-5607-59E0B3AACB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A0A6B4-0D57-91D1-E90B-8552E0AD5555}"/>
              </a:ext>
            </a:extLst>
          </p:cNvPr>
          <p:cNvSpPr>
            <a:spLocks noGrp="1"/>
          </p:cNvSpPr>
          <p:nvPr>
            <p:ph type="sldNum" idx="12"/>
          </p:nvPr>
        </p:nvSpPr>
        <p:spPr/>
        <p:txBody>
          <a:bodyPr/>
          <a:lstStyle/>
          <a:p>
            <a:fld id="{00000000-1234-1234-1234-123412341234}" type="slidenum">
              <a:rPr lang="vi" smtClean="0"/>
              <a:pPr/>
              <a:t>52</a:t>
            </a:fld>
            <a:endParaRPr lang="vi"/>
          </a:p>
        </p:txBody>
      </p:sp>
      <p:sp>
        <p:nvSpPr>
          <p:cNvPr id="8" name="Slide Number Placeholder 3">
            <a:extLst>
              <a:ext uri="{FF2B5EF4-FFF2-40B4-BE49-F238E27FC236}">
                <a16:creationId xmlns:a16="http://schemas.microsoft.com/office/drawing/2014/main" id="{A871A205-15F4-FDCC-D904-DBF790C9581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52</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9" name="TextBox 8">
            <a:extLst>
              <a:ext uri="{FF2B5EF4-FFF2-40B4-BE49-F238E27FC236}">
                <a16:creationId xmlns:a16="http://schemas.microsoft.com/office/drawing/2014/main" id="{45661717-286B-9E25-9E8B-05A140AC533E}"/>
              </a:ext>
            </a:extLst>
          </p:cNvPr>
          <p:cNvSpPr txBox="1"/>
          <p:nvPr/>
        </p:nvSpPr>
        <p:spPr>
          <a:xfrm>
            <a:off x="317020" y="5056389"/>
            <a:ext cx="11557960" cy="37125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Từ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11/2024,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với</a:t>
            </a:r>
            <a:r>
              <a:rPr lang="en-US" sz="1600" dirty="0">
                <a:solidFill>
                  <a:schemeClr val="tx1"/>
                </a:solidFill>
                <a:latin typeface="Times New Roman" panose="02020603050405020304" pitchFamily="18" charset="0"/>
                <a:cs typeface="Times New Roman" panose="02020603050405020304" pitchFamily="18" charset="0"/>
              </a:rPr>
              <a:t> 05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do </a:t>
            </a:r>
            <a:r>
              <a:rPr lang="en-US" sz="1600" dirty="0" err="1">
                <a:solidFill>
                  <a:schemeClr val="tx1"/>
                </a:solidFill>
                <a:latin typeface="Times New Roman" panose="02020603050405020304" pitchFamily="18" charset="0"/>
                <a:cs typeface="Times New Roman" panose="02020603050405020304" pitchFamily="18" charset="0"/>
              </a:rPr>
              <a:t>đã</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cho</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thuê</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khô</a:t>
            </a:r>
            <a:r>
              <a:rPr lang="en-US" sz="1600" dirty="0">
                <a:solidFill>
                  <a:schemeClr val="tx1"/>
                </a:solidFill>
                <a:latin typeface="Times New Roman" panose="02020603050405020304" pitchFamily="18" charset="0"/>
                <a:cs typeface="Times New Roman" panose="02020603050405020304" pitchFamily="18" charset="0"/>
              </a:rPr>
              <a:t> B220.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7/2025 </a:t>
            </a:r>
            <a:r>
              <a:rPr lang="en-US" sz="1600" dirty="0" err="1">
                <a:solidFill>
                  <a:schemeClr val="tx1"/>
                </a:solidFill>
                <a:latin typeface="Times New Roman" panose="02020603050405020304" pitchFamily="18" charset="0"/>
                <a:cs typeface="Times New Roman" panose="02020603050405020304" pitchFamily="18" charset="0"/>
              </a:rPr>
              <a:t>sẽ</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trở</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lại</a:t>
            </a:r>
            <a:r>
              <a:rPr lang="en-US" sz="1600" dirty="0">
                <a:solidFill>
                  <a:schemeClr val="tx1"/>
                </a:solidFill>
                <a:latin typeface="Times New Roman" panose="02020603050405020304" pitchFamily="18" charset="0"/>
                <a:cs typeface="Times New Roman" panose="02020603050405020304" pitchFamily="18" charset="0"/>
              </a:rPr>
              <a:t> 06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sau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khi</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trả</a:t>
            </a:r>
            <a:r>
              <a:rPr lang="en-US" sz="1600" dirty="0">
                <a:solidFill>
                  <a:schemeClr val="tx1"/>
                </a:solidFill>
                <a:latin typeface="Times New Roman" panose="02020603050405020304" pitchFamily="18" charset="0"/>
                <a:cs typeface="Times New Roman" panose="02020603050405020304" pitchFamily="18" charset="0"/>
              </a:rPr>
              <a:t> B220.</a:t>
            </a:r>
          </a:p>
        </p:txBody>
      </p:sp>
      <p:graphicFrame>
        <p:nvGraphicFramePr>
          <p:cNvPr id="10" name="Chart 9">
            <a:extLst>
              <a:ext uri="{FF2B5EF4-FFF2-40B4-BE49-F238E27FC236}">
                <a16:creationId xmlns:a16="http://schemas.microsoft.com/office/drawing/2014/main" id="{76DFC592-D88A-43FC-09E5-06AD8D727013}"/>
              </a:ext>
            </a:extLst>
          </p:cNvPr>
          <p:cNvGraphicFramePr/>
          <p:nvPr/>
        </p:nvGraphicFramePr>
        <p:xfrm>
          <a:off x="295373" y="770468"/>
          <a:ext cx="11557960" cy="42164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0AA8E0DF-2FF0-D5DB-6896-3F1AD07908A4}"/>
              </a:ext>
            </a:extLst>
          </p:cNvPr>
          <p:cNvSpPr txBox="1"/>
          <p:nvPr/>
        </p:nvSpPr>
        <p:spPr>
          <a:xfrm>
            <a:off x="0" y="88859"/>
            <a:ext cx="11142133"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ATR72</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9192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0E34002-24DE-E466-318F-A982D9E240D3}"/>
              </a:ext>
            </a:extLst>
          </p:cNvPr>
          <p:cNvSpPr txBox="1"/>
          <p:nvPr/>
        </p:nvSpPr>
        <p:spPr>
          <a:xfrm>
            <a:off x="0" y="475864"/>
            <a:ext cx="41656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4" name="Table 2">
            <a:extLst>
              <a:ext uri="{FF2B5EF4-FFF2-40B4-BE49-F238E27FC236}">
                <a16:creationId xmlns:a16="http://schemas.microsoft.com/office/drawing/2014/main" id="{C9E599B2-7A6B-AE61-6B47-ABFA60F331B8}"/>
              </a:ext>
            </a:extLst>
          </p:cNvPr>
          <p:cNvGraphicFramePr>
            <a:graphicFrameLocks noGrp="1"/>
          </p:cNvGraphicFramePr>
          <p:nvPr/>
        </p:nvGraphicFramePr>
        <p:xfrm>
          <a:off x="291533" y="1134199"/>
          <a:ext cx="11460202" cy="1863582"/>
        </p:xfrm>
        <a:graphic>
          <a:graphicData uri="http://schemas.openxmlformats.org/drawingml/2006/table">
            <a:tbl>
              <a:tblPr firstRow="1" bandRow="1">
                <a:tableStyleId>{5C22544A-7EE6-4342-B048-85BDC9FD1C3A}</a:tableStyleId>
              </a:tblPr>
              <a:tblGrid>
                <a:gridCol w="533157">
                  <a:extLst>
                    <a:ext uri="{9D8B030D-6E8A-4147-A177-3AD203B41FA5}">
                      <a16:colId xmlns:a16="http://schemas.microsoft.com/office/drawing/2014/main" val="1598605427"/>
                    </a:ext>
                  </a:extLst>
                </a:gridCol>
                <a:gridCol w="1147672">
                  <a:extLst>
                    <a:ext uri="{9D8B030D-6E8A-4147-A177-3AD203B41FA5}">
                      <a16:colId xmlns:a16="http://schemas.microsoft.com/office/drawing/2014/main" val="3845954792"/>
                    </a:ext>
                  </a:extLst>
                </a:gridCol>
                <a:gridCol w="1298823">
                  <a:extLst>
                    <a:ext uri="{9D8B030D-6E8A-4147-A177-3AD203B41FA5}">
                      <a16:colId xmlns:a16="http://schemas.microsoft.com/office/drawing/2014/main" val="2148822928"/>
                    </a:ext>
                  </a:extLst>
                </a:gridCol>
                <a:gridCol w="2062836">
                  <a:extLst>
                    <a:ext uri="{9D8B030D-6E8A-4147-A177-3AD203B41FA5}">
                      <a16:colId xmlns:a16="http://schemas.microsoft.com/office/drawing/2014/main" val="2136763095"/>
                    </a:ext>
                  </a:extLst>
                </a:gridCol>
                <a:gridCol w="2139239">
                  <a:extLst>
                    <a:ext uri="{9D8B030D-6E8A-4147-A177-3AD203B41FA5}">
                      <a16:colId xmlns:a16="http://schemas.microsoft.com/office/drawing/2014/main" val="1185879436"/>
                    </a:ext>
                  </a:extLst>
                </a:gridCol>
                <a:gridCol w="1986435">
                  <a:extLst>
                    <a:ext uri="{9D8B030D-6E8A-4147-A177-3AD203B41FA5}">
                      <a16:colId xmlns:a16="http://schemas.microsoft.com/office/drawing/2014/main" val="3807119371"/>
                    </a:ext>
                  </a:extLst>
                </a:gridCol>
                <a:gridCol w="2292040">
                  <a:extLst>
                    <a:ext uri="{9D8B030D-6E8A-4147-A177-3AD203B41FA5}">
                      <a16:colId xmlns:a16="http://schemas.microsoft.com/office/drawing/2014/main" val="3735753066"/>
                    </a:ext>
                  </a:extLst>
                </a:gridCol>
              </a:tblGrid>
              <a:tr h="709240">
                <a:tc>
                  <a:txBody>
                    <a:bodyPr/>
                    <a:lstStyle/>
                    <a:p>
                      <a:pPr algn="ctr"/>
                      <a:r>
                        <a:rPr lang="en-GB" sz="1500">
                          <a:latin typeface="Times New Roman" panose="02020603050405020304" pitchFamily="18" charset="0"/>
                          <a:cs typeface="Times New Roman" panose="02020603050405020304" pitchFamily="18" charset="0"/>
                        </a:rPr>
                        <a:t>No.</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ESN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Status</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Induction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err="1">
                          <a:latin typeface="Times New Roman" panose="02020603050405020304" pitchFamily="18" charset="0"/>
                          <a:cs typeface="Times New Roman" panose="02020603050405020304" pitchFamily="18" charset="0"/>
                        </a:rPr>
                        <a:t>Dự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kiến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KH Sử dụng</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Remark</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77171">
                <a:tc>
                  <a:txBody>
                    <a:bodyPr/>
                    <a:lstStyle/>
                    <a:p>
                      <a:pPr algn="ctr"/>
                      <a:r>
                        <a:rPr lang="vi-VN" sz="1500">
                          <a:latin typeface="Times New Roman" panose="02020603050405020304" pitchFamily="18" charset="0"/>
                          <a:cs typeface="Times New Roman" panose="02020603050405020304" pitchFamily="18" charset="0"/>
                        </a:rPr>
                        <a:t>1</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16/10/2024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15/04/2025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227979002"/>
                  </a:ext>
                </a:extLst>
              </a:tr>
              <a:tr h="577171">
                <a:tc>
                  <a:txBody>
                    <a:bodyPr/>
                    <a:lstStyle/>
                    <a:p>
                      <a:pPr algn="ctr"/>
                      <a:r>
                        <a:rPr lang="vi-VN" sz="1500">
                          <a:latin typeface="Times New Roman" panose="02020603050405020304" pitchFamily="18" charset="0"/>
                          <a:cs typeface="Times New Roman" panose="02020603050405020304" pitchFamily="18" charset="0"/>
                        </a:rPr>
                        <a:t>2</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ED238</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24/01/2025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7893171"/>
                  </a:ext>
                </a:extLst>
              </a:tr>
            </a:tbl>
          </a:graphicData>
        </a:graphic>
      </p:graphicFrame>
      <p:sp>
        <p:nvSpPr>
          <p:cNvPr id="15" name="TextBox 14">
            <a:extLst>
              <a:ext uri="{FF2B5EF4-FFF2-40B4-BE49-F238E27FC236}">
                <a16:creationId xmlns:a16="http://schemas.microsoft.com/office/drawing/2014/main" id="{A3B0CE8D-D087-9B22-2C61-0CD1AD45567F}"/>
              </a:ext>
            </a:extLst>
          </p:cNvPr>
          <p:cNvSpPr txBox="1"/>
          <p:nvPr/>
        </p:nvSpPr>
        <p:spPr>
          <a:xfrm>
            <a:off x="1" y="805"/>
            <a:ext cx="11418041"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ATR</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6965A40-485F-F6CF-1E94-FB69A37B616A}"/>
              </a:ext>
            </a:extLst>
          </p:cNvPr>
          <p:cNvSpPr txBox="1"/>
          <p:nvPr/>
        </p:nvSpPr>
        <p:spPr>
          <a:xfrm>
            <a:off x="0" y="3198167"/>
            <a:ext cx="7239699"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động</a:t>
            </a:r>
            <a:r>
              <a:rPr lang="en-US" sz="2400" b="1" dirty="0">
                <a:solidFill>
                  <a:srgbClr val="002060"/>
                </a:solidFill>
                <a:latin typeface="Times New Roman" panose="02020603050405020304" pitchFamily="18" charset="0"/>
                <a:cs typeface="Times New Roman" panose="02020603050405020304" pitchFamily="18" charset="0"/>
              </a:rPr>
              <a:t> cơ </a:t>
            </a:r>
            <a:r>
              <a:rPr lang="en-US" sz="2400" b="1" dirty="0" err="1">
                <a:solidFill>
                  <a:srgbClr val="002060"/>
                </a:solidFill>
                <a:latin typeface="Times New Roman" panose="02020603050405020304" pitchFamily="18" charset="0"/>
                <a:cs typeface="Times New Roman" panose="02020603050405020304" pitchFamily="18" charset="0"/>
              </a:rPr>
              <a:t>cơ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đội</a:t>
            </a:r>
            <a:r>
              <a:rPr lang="en-US" sz="2400" b="1" dirty="0">
                <a:solidFill>
                  <a:srgbClr val="002060"/>
                </a:solidFill>
                <a:latin typeface="Times New Roman" panose="02020603050405020304" pitchFamily="18" charset="0"/>
                <a:cs typeface="Times New Roman" panose="02020603050405020304" pitchFamily="18" charset="0"/>
              </a:rPr>
              <a:t> bay</a:t>
            </a:r>
            <a:endParaRPr lang="en-GB" sz="2400" b="1" dirty="0">
              <a:solidFill>
                <a:srgbClr val="00206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E8A28E79-E20A-AF25-AF54-BB552A4A1E80}"/>
              </a:ext>
            </a:extLst>
          </p:cNvPr>
          <p:cNvSpPr txBox="1"/>
          <p:nvPr/>
        </p:nvSpPr>
        <p:spPr>
          <a:xfrm>
            <a:off x="76200" y="3733800"/>
            <a:ext cx="11460201" cy="1692771"/>
          </a:xfrm>
          <a:prstGeom prst="rect">
            <a:avLst/>
          </a:prstGeom>
          <a:noFill/>
        </p:spPr>
        <p:txBody>
          <a:bodyPr wrap="square" rtlCol="0">
            <a:spAutoFit/>
          </a:bodyPr>
          <a:lstStyle/>
          <a:p>
            <a:pPr marL="380990" indent="-380990">
              <a:spcBef>
                <a:spcPts val="800"/>
              </a:spcBef>
              <a:spcAft>
                <a:spcPts val="800"/>
              </a:spcAft>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ED0217 (</a:t>
            </a:r>
            <a:r>
              <a:rPr lang="en-US" sz="1600" dirty="0" err="1">
                <a:latin typeface="Times New Roman" panose="02020603050405020304" pitchFamily="18" charset="0"/>
                <a:cs typeface="Times New Roman" panose="02020603050405020304" pitchFamily="18" charset="0"/>
              </a:rPr>
              <a:t>hỏng</a:t>
            </a:r>
            <a:r>
              <a:rPr lang="en-US" sz="1600" dirty="0">
                <a:latin typeface="Times New Roman" panose="02020603050405020304" pitchFamily="18" charset="0"/>
                <a:cs typeface="Times New Roman" panose="02020603050405020304" pitchFamily="18" charset="0"/>
              </a:rPr>
              <a:t> HPT Vane </a:t>
            </a:r>
            <a:r>
              <a:rPr lang="en-US" sz="1600" dirty="0" err="1">
                <a:latin typeface="Times New Roman" panose="02020603050405020304" pitchFamily="18" charset="0"/>
                <a:cs typeface="Times New Roman" panose="02020603050405020304" pitchFamily="18" charset="0"/>
              </a:rPr>
              <a:t>còn</a:t>
            </a:r>
            <a:r>
              <a:rPr lang="en-US" sz="1600" dirty="0">
                <a:latin typeface="Times New Roman" panose="02020603050405020304" pitchFamily="18" charset="0"/>
                <a:cs typeface="Times New Roman" panose="02020603050405020304" pitchFamily="18" charset="0"/>
              </a:rPr>
              <a:t> 38 FH), ED0233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LLP, </a:t>
            </a:r>
            <a:r>
              <a:rPr lang="en-US" sz="1600" dirty="0" err="1">
                <a:latin typeface="Times New Roman" panose="02020603050405020304" pitchFamily="18" charset="0"/>
                <a:cs typeface="Times New Roman" panose="02020603050405020304" pitchFamily="18" charset="0"/>
              </a:rPr>
              <a:t>còn</a:t>
            </a:r>
            <a:r>
              <a:rPr lang="en-US" sz="1600" dirty="0">
                <a:latin typeface="Times New Roman" panose="02020603050405020304" pitchFamily="18" charset="0"/>
                <a:cs typeface="Times New Roman" panose="02020603050405020304" pitchFamily="18" charset="0"/>
              </a:rPr>
              <a:t> 78 FC), ED0214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LLP, </a:t>
            </a:r>
            <a:r>
              <a:rPr lang="en-US" sz="1600" err="1">
                <a:latin typeface="Times New Roman" panose="02020603050405020304" pitchFamily="18" charset="0"/>
                <a:cs typeface="Times New Roman" panose="02020603050405020304" pitchFamily="18" charset="0"/>
              </a:rPr>
              <a:t>còn</a:t>
            </a:r>
            <a:r>
              <a:rPr lang="en-US" sz="1600">
                <a:latin typeface="Times New Roman" panose="02020603050405020304" pitchFamily="18" charset="0"/>
                <a:cs typeface="Times New Roman" panose="02020603050405020304" pitchFamily="18" charset="0"/>
              </a:rPr>
              <a:t> 39 FC)</a:t>
            </a:r>
          </a:p>
          <a:p>
            <a:pPr marL="380990" indent="-380990">
              <a:spcBef>
                <a:spcPts val="800"/>
              </a:spcBef>
              <a:spcAft>
                <a:spcPts val="800"/>
              </a:spcAft>
              <a:buFont typeface="Arial" panose="020B0604020202020204" pitchFamily="34" charset="0"/>
              <a:buChar char="•"/>
            </a:pPr>
            <a:r>
              <a:rPr lang="en-US" sz="1600">
                <a:latin typeface="Times New Roman" panose="02020603050405020304" pitchFamily="18" charset="0"/>
                <a:cs typeface="Times New Roman" panose="02020603050405020304" pitchFamily="18" charset="0"/>
              </a:rPr>
              <a:t>Động cơ dự phòng: ED0192. KH Stagger khi hết cao điểm tết.</a:t>
            </a:r>
          </a:p>
          <a:p>
            <a:pPr marL="380990" indent="-380990">
              <a:spcBef>
                <a:spcPts val="800"/>
              </a:spcBef>
              <a:spcAft>
                <a:spcPts val="800"/>
              </a:spcAft>
              <a:buFont typeface="Arial" panose="020B0604020202020204" pitchFamily="34" charset="0"/>
              <a:buChar char="•"/>
            </a:pPr>
            <a:r>
              <a:rPr lang="it-IT" sz="1600">
                <a:latin typeface="Times New Roman" panose="02020603050405020304" pitchFamily="18" charset="0"/>
                <a:cs typeface="Times New Roman" panose="02020603050405020304" pitchFamily="18" charset="0"/>
              </a:rPr>
              <a:t>Động </a:t>
            </a:r>
            <a:r>
              <a:rPr lang="it-IT" sz="1600" dirty="0">
                <a:latin typeface="Times New Roman" panose="02020603050405020304" pitchFamily="18" charset="0"/>
                <a:cs typeface="Times New Roman" panose="02020603050405020304" pitchFamily="18" charset="0"/>
              </a:rPr>
              <a:t>cơ thuê: ED0321, ED0036 và ED0715</a:t>
            </a:r>
          </a:p>
          <a:p>
            <a:pPr marL="380990" indent="-380990">
              <a:spcBef>
                <a:spcPts val="800"/>
              </a:spcBef>
              <a:spcAft>
                <a:spcPts val="800"/>
              </a:spcAft>
              <a:buFont typeface="Arial" panose="020B0604020202020204" pitchFamily="34" charset="0"/>
              <a:buChar char="•"/>
            </a:pPr>
            <a:r>
              <a:rPr lang="it-IT" sz="1600" dirty="0">
                <a:latin typeface="Times New Roman" panose="02020603050405020304" pitchFamily="18" charset="0"/>
                <a:cs typeface="Times New Roman" panose="02020603050405020304" pitchFamily="18" charset="0"/>
              </a:rPr>
              <a:t>Động cơ cao giờ: NIL</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68094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defTabSz="1219170">
              <a:defRPr/>
            </a:pPr>
            <a:r>
              <a:rPr lang="en-US" sz="1600" dirty="0">
                <a:solidFill>
                  <a:srgbClr val="D2A43B"/>
                </a:solidFill>
                <a:latin typeface="Montserrat" pitchFamily="2" charset="77"/>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565752"/>
            <a:ext cx="12054615" cy="1077218"/>
          </a:xfrm>
          <a:prstGeom prst="rect">
            <a:avLst/>
          </a:prstGeom>
          <a:noFill/>
          <a:ln>
            <a:solidFill>
              <a:schemeClr val="tx1"/>
            </a:solidFill>
          </a:ln>
        </p:spPr>
        <p:txBody>
          <a:bodyPr wrap="square" rtlCol="0">
            <a:spAutoFit/>
          </a:bodyPr>
          <a:lstStyle/>
          <a:p>
            <a:pPr defTabSz="1219170">
              <a:defRPr/>
            </a:pP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20/01/2025 – 02/02/2025:</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A605, A614, A621, A873, A893.</a:t>
            </a:r>
          </a:p>
          <a:p>
            <a:pPr marL="380990" indent="-38099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A899-A889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Exciter), A877-A865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ASG), A608, A356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Sensor), A397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Oil Cooler).</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05 APU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A873, A893, A605, A614, A621.</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nvGraphicFramePr>
        <p:xfrm>
          <a:off x="61186" y="1787549"/>
          <a:ext cx="12054615" cy="4918050"/>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26429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930751">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A873</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28/01.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Cần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theo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khuyến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của</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NSX.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thế</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15/02.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kế</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hoạch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swap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04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tại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A893.</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tab pos="388620" algn="l"/>
                        </a:tabLst>
                        <a:defRPr/>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A873.</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Triển khai </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TI-2023-1002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khi T/S APU bad smell.</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Tổ bay chưa tuân thủ điền và gửi report SIC khi có event, đã nêu trong cuộc họp KT-Khai thác, để nghị nghiêm túc thực hiện.</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FON22/061 R03.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930751">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A893</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31/01. KH T/S SGN 02/02.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85791511"/>
                  </a:ext>
                </a:extLst>
              </a:tr>
              <a:tr h="930751">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A605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28/01. KH T/S HAN 03/02.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tc>
                <a:extLst>
                  <a:ext uri="{0D108BD9-81ED-4DB2-BD59-A6C34878D82A}">
                    <a16:rowId xmlns:a16="http://schemas.microsoft.com/office/drawing/2014/main" val="3144562193"/>
                  </a:ext>
                </a:extLst>
              </a:tr>
              <a:tr h="930751">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A614</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31/01. KH T/S SGN 03/02.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tc>
                <a:extLst>
                  <a:ext uri="{0D108BD9-81ED-4DB2-BD59-A6C34878D82A}">
                    <a16:rowId xmlns:a16="http://schemas.microsoft.com/office/drawing/2014/main" val="1073163020"/>
                  </a:ext>
                </a:extLst>
              </a:tr>
              <a:tr h="930751">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A621</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30/01. KH T/S HAN 02/02.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6160297"/>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4175"/>
            <a:ext cx="10155179"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HỎNG HÓC APU TRONG TUẦN</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15277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nvGraphicFramePr>
        <p:xfrm>
          <a:off x="548320" y="609601"/>
          <a:ext cx="11169547" cy="4599134"/>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439904">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EPCOR</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22-May-24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05-Mar-24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P-8524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07-Nov-24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10-Feb-25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A329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287019261"/>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A617</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P-5535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19-Aug-24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07-Feb-24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27734706"/>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P-4708</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AMECO</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17-Dec-24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17-Feb-25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A614</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873862"/>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P-5222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AMECO</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17-Dec-24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17-Feb-25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HSC-</a:t>
                      </a: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E1525371PL</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03-Dec-24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15-Feb-25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A873</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1251250973"/>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PWC-Z925500</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22-Dec-24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05-Mar-25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A871</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3190860515"/>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P-00124</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02-Oct-24</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15-Feb-25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A893</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064948272"/>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P-00255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10-Oct-24</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20-Mar-25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A886</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148885825"/>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08019" y="5151765"/>
            <a:ext cx="11169547" cy="1241622"/>
          </a:xfrm>
          <a:prstGeom prst="rect">
            <a:avLst/>
          </a:prstGeom>
          <a:noFill/>
        </p:spPr>
        <p:txBody>
          <a:bodyPr wrap="square" rtlCol="0">
            <a:spAutoFit/>
          </a:bodyPr>
          <a:lstStyle/>
          <a:p>
            <a:pPr defTabSz="1219170">
              <a:defRPr/>
            </a:pPr>
            <a:r>
              <a:rPr lang="en-US" sz="1867" b="1" dirty="0" err="1">
                <a:solidFill>
                  <a:prstClr val="black"/>
                </a:solidFill>
                <a:latin typeface="Times New Roman" panose="02020603050405020304" pitchFamily="18" charset="0"/>
                <a:cs typeface="Times New Roman" panose="02020603050405020304" pitchFamily="18" charset="0"/>
              </a:rPr>
              <a:t>Đánh</a:t>
            </a:r>
            <a:r>
              <a:rPr lang="en-US" sz="1867" b="1" dirty="0">
                <a:solidFill>
                  <a:prstClr val="black"/>
                </a:solidFill>
                <a:latin typeface="Times New Roman" panose="02020603050405020304" pitchFamily="18" charset="0"/>
                <a:cs typeface="Times New Roman" panose="02020603050405020304" pitchFamily="18" charset="0"/>
              </a:rPr>
              <a:t> </a:t>
            </a:r>
            <a:r>
              <a:rPr lang="en-US" sz="1867" b="1" dirty="0" err="1">
                <a:solidFill>
                  <a:prstClr val="black"/>
                </a:solidFill>
                <a:latin typeface="Times New Roman" panose="02020603050405020304" pitchFamily="18" charset="0"/>
                <a:cs typeface="Times New Roman" panose="02020603050405020304" pitchFamily="18" charset="0"/>
              </a:rPr>
              <a:t>giá</a:t>
            </a:r>
            <a:r>
              <a:rPr lang="en-US" sz="1867" b="1" dirty="0">
                <a:solidFill>
                  <a:prstClr val="black"/>
                </a:solidFill>
                <a:latin typeface="Times New Roman" panose="02020603050405020304" pitchFamily="18" charset="0"/>
                <a:cs typeface="Times New Roman" panose="02020603050405020304" pitchFamily="18" charset="0"/>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rPr>
              <a:t>Đội</a:t>
            </a:r>
            <a:r>
              <a:rPr lang="en-US" sz="1867" dirty="0">
                <a:solidFill>
                  <a:prstClr val="black"/>
                </a:solidFill>
                <a:latin typeface="Times New Roman" panose="02020603050405020304" pitchFamily="18" charset="0"/>
                <a:cs typeface="Times New Roman" panose="02020603050405020304" pitchFamily="18" charset="0"/>
              </a:rPr>
              <a:t> bay A321: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A350: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B787: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SỬA CHỮA APU TẠI SHOP</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12682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56</a:t>
            </a:fld>
            <a:endParaRPr dirty="0"/>
          </a:p>
        </p:txBody>
      </p:sp>
      <p:sp>
        <p:nvSpPr>
          <p:cNvPr id="76" name="Google Shape;76;p2"/>
          <p:cNvSpPr txBox="1">
            <a:spLocks noGrp="1"/>
          </p:cNvSpPr>
          <p:nvPr>
            <p:ph type="title"/>
          </p:nvPr>
        </p:nvSpPr>
        <p:spPr>
          <a:xfrm>
            <a:off x="838200" y="499056"/>
            <a:ext cx="10287000"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b="1" dirty="0">
                <a:solidFill>
                  <a:srgbClr val="FFC000"/>
                </a:solidFill>
                <a:latin typeface="Times New Roman" panose="02020603050405020304" pitchFamily="18" charset="0"/>
                <a:cs typeface="Times New Roman" panose="02020603050405020304" pitchFamily="18" charset="0"/>
              </a:rPr>
              <a:t>CÁC TÀU BQDB VÀ ĐANG TRONG BẢO DƯỠNG </a:t>
            </a:r>
            <a:r>
              <a:rPr lang="en-US" b="1">
                <a:solidFill>
                  <a:srgbClr val="FFC000"/>
                </a:solidFill>
                <a:latin typeface="Times New Roman" panose="02020603050405020304" pitchFamily="18" charset="0"/>
                <a:cs typeface="Times New Roman" panose="02020603050405020304" pitchFamily="18" charset="0"/>
              </a:rPr>
              <a:t>ĐỊNH KỲ</a:t>
            </a:r>
            <a:endParaRPr b="0" dirty="0">
              <a:solidFill>
                <a:srgbClr val="FFC000"/>
              </a:solidFill>
              <a:latin typeface="Times New Roman" panose="02020603050405020304" pitchFamily="18" charset="0"/>
              <a:cs typeface="Times New Roman" panose="02020603050405020304" pitchFamily="18" charset="0"/>
            </a:endParaRPr>
          </a:p>
        </p:txBody>
      </p:sp>
      <p:sp>
        <p:nvSpPr>
          <p:cNvPr id="2" name="Google Shape;75;p2">
            <a:extLst>
              <a:ext uri="{FF2B5EF4-FFF2-40B4-BE49-F238E27FC236}">
                <a16:creationId xmlns:a16="http://schemas.microsoft.com/office/drawing/2014/main" id="{0DF58EE6-4E3F-AD4F-B490-92D47A32E347}"/>
              </a:ext>
            </a:extLst>
          </p:cNvPr>
          <p:cNvSpPr txBox="1">
            <a:spLocks/>
          </p:cNvSpPr>
          <p:nvPr/>
        </p:nvSpPr>
        <p:spPr>
          <a:xfrm>
            <a:off x="685800" y="990600"/>
            <a:ext cx="10820399" cy="586740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a:t>I</a:t>
            </a:r>
            <a:r>
              <a:rPr lang="en-US" sz="2000" smtClean="0"/>
              <a:t>.  CHECK</a:t>
            </a:r>
            <a:r>
              <a:rPr lang="en-US" sz="2000"/>
              <a:t>: NIL</a:t>
            </a:r>
          </a:p>
          <a:p>
            <a:pPr marL="0" indent="0">
              <a:buNone/>
            </a:pPr>
            <a:r>
              <a:rPr lang="en-US" sz="2000" smtClean="0"/>
              <a:t>II.  A/C </a:t>
            </a:r>
            <a:r>
              <a:rPr lang="en-US" sz="2000"/>
              <a:t>STB CĐT:</a:t>
            </a:r>
          </a:p>
          <a:p>
            <a:r>
              <a:rPr lang="en-US" sz="2000"/>
              <a:t>1. A509/HAN: DP-CĐT 6FC</a:t>
            </a:r>
          </a:p>
          <a:p>
            <a:r>
              <a:rPr lang="en-US" sz="2000"/>
              <a:t>2. A625/HAN: DP-CĐT 18FC</a:t>
            </a:r>
          </a:p>
          <a:p>
            <a:r>
              <a:rPr lang="en-US" sz="2000"/>
              <a:t>3. A508/HAN: DP-CĐT 10 </a:t>
            </a:r>
            <a:r>
              <a:rPr lang="en-US" sz="2000" smtClean="0"/>
              <a:t>FC</a:t>
            </a:r>
            <a:r>
              <a:rPr lang="en-US" sz="2000"/>
              <a:t> </a:t>
            </a:r>
            <a:endParaRPr lang="en-US" sz="2000" smtClean="0"/>
          </a:p>
          <a:p>
            <a:pPr marL="0" indent="0">
              <a:buNone/>
            </a:pPr>
            <a:endParaRPr lang="en-US" sz="2000"/>
          </a:p>
          <a:p>
            <a:pPr marL="0" indent="0">
              <a:buNone/>
            </a:pPr>
            <a:r>
              <a:rPr lang="en-US" sz="2000" smtClean="0"/>
              <a:t>III.  TÀU BQDB:</a:t>
            </a:r>
            <a:r>
              <a:rPr lang="en-US" sz="2000"/>
              <a:t> </a:t>
            </a:r>
          </a:p>
          <a:p>
            <a:r>
              <a:rPr lang="en-US" sz="2000"/>
              <a:t>HAN: A501, A503, A505, A510, A511, A622, A623, A624, A886, A887, A898, A895.</a:t>
            </a:r>
          </a:p>
          <a:p>
            <a:r>
              <a:rPr lang="en-US" sz="2000"/>
              <a:t>1. A510: EA08-20, Y01, RTS (06/01-02/02)</a:t>
            </a:r>
          </a:p>
          <a:p>
            <a:r>
              <a:rPr lang="en-US" sz="2000"/>
              <a:t>2. A624: ENG1CHG+ENG2CHG+MO18+C01+C03+Y01+Y06+EA18-EA24+RTS (14/12-10/02)</a:t>
            </a:r>
          </a:p>
          <a:p>
            <a:r>
              <a:rPr lang="en-US" sz="2000"/>
              <a:t>3. A501: EC06+EC01+C03+Y06+EA04-EA10 (27/11-10/02</a:t>
            </a:r>
            <a:r>
              <a:rPr lang="en-US" sz="2000" smtClean="0"/>
              <a:t>)</a:t>
            </a:r>
            <a:r>
              <a:rPr lang="en-US"/>
              <a:t> </a:t>
            </a:r>
          </a:p>
        </p:txBody>
      </p:sp>
    </p:spTree>
    <p:extLst>
      <p:ext uri="{BB962C8B-B14F-4D97-AF65-F5344CB8AC3E}">
        <p14:creationId xmlns:p14="http://schemas.microsoft.com/office/powerpoint/2010/main" val="30957355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6162545"/>
            <a:ext cx="2743200" cy="365125"/>
          </a:xfrm>
        </p:spPr>
        <p:txBody>
          <a:bodyPr>
            <a:normAutofit/>
          </a:bodyPr>
          <a:lstStyle/>
          <a:p>
            <a:fld id="{6C6B6B8D-D74E-47CD-B5EE-156060B7CD17}" type="slidenum">
              <a:rPr lang="en-US" sz="1100" smtClean="0"/>
              <a:pPr/>
              <a:t>57</a:t>
            </a:fld>
            <a:endParaRPr lang="en-US" sz="1100" dirty="0"/>
          </a:p>
        </p:txBody>
      </p:sp>
      <p:sp>
        <p:nvSpPr>
          <p:cNvPr id="21" name="TextBox 20"/>
          <p:cNvSpPr txBox="1"/>
          <p:nvPr/>
        </p:nvSpPr>
        <p:spPr>
          <a:xfrm>
            <a:off x="348662" y="93262"/>
            <a:ext cx="10894786" cy="40011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000" dirty="0"/>
              <a:t>HỎNG HÓC CABIN ẢNH HƯỞNG KHAI THÁC VÀ PTVT – TUẦN 4&amp;5/2025</a:t>
            </a:r>
            <a:endParaRPr lang="vi-VN" sz="2000" dirty="0"/>
          </a:p>
        </p:txBody>
      </p:sp>
      <p:sp>
        <p:nvSpPr>
          <p:cNvPr id="24" name="TextBox 23"/>
          <p:cNvSpPr txBox="1"/>
          <p:nvPr/>
        </p:nvSpPr>
        <p:spPr>
          <a:xfrm>
            <a:off x="348662" y="4148913"/>
            <a:ext cx="10876298" cy="2512996"/>
          </a:xfrm>
          <a:prstGeom prst="rect">
            <a:avLst/>
          </a:prstGeom>
          <a:noFill/>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30000"/>
              </a:lnSpc>
            </a:pPr>
            <a:r>
              <a:rPr lang="en-US" sz="1100" b="1" dirty="0" err="1">
                <a:latin typeface="Times New Roman" panose="02020603050405020304" pitchFamily="18" charset="0"/>
                <a:cs typeface="Times New Roman" panose="02020603050405020304" pitchFamily="18" charset="0"/>
              </a:rPr>
              <a:t>Nội</a:t>
            </a:r>
            <a:r>
              <a:rPr lang="en-US" sz="1100" b="1" dirty="0">
                <a:latin typeface="Times New Roman" panose="02020603050405020304" pitchFamily="18" charset="0"/>
                <a:cs typeface="Times New Roman" panose="02020603050405020304" pitchFamily="18" charset="0"/>
              </a:rPr>
              <a:t> dung </a:t>
            </a:r>
            <a:r>
              <a:rPr lang="en-US" sz="1100" b="1" dirty="0" err="1">
                <a:latin typeface="Times New Roman" panose="02020603050405020304" pitchFamily="18" charset="0"/>
                <a:cs typeface="Times New Roman" panose="02020603050405020304" pitchFamily="18" charset="0"/>
              </a:rPr>
              <a:t>khác</a:t>
            </a:r>
            <a:r>
              <a:rPr lang="en-US" sz="1100" b="1" dirty="0">
                <a:latin typeface="Times New Roman" panose="02020603050405020304" pitchFamily="18" charset="0"/>
                <a:cs typeface="Times New Roman" panose="02020603050405020304" pitchFamily="18" charset="0"/>
              </a:rPr>
              <a:t>:</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Tháo PCU 787: </a:t>
            </a:r>
            <a:r>
              <a:rPr lang="en-US" sz="1100" dirty="0">
                <a:solidFill>
                  <a:schemeClr val="tx1"/>
                </a:solidFill>
                <a:latin typeface="Times New Roman" panose="02020603050405020304" pitchFamily="18" charset="0"/>
                <a:cs typeface="Times New Roman" panose="02020603050405020304" pitchFamily="18" charset="0"/>
              </a:rPr>
              <a:t>Đã thực hiện 07 tàu A861, A862 ,A863, A865, A866, A867, A868 (trong tuần thực hiện 01 tàu ) =&gt; tiếp tục thực hiện 04 tàu còn lại sau </a:t>
            </a:r>
            <a:r>
              <a:rPr lang="en-US" sz="1100" dirty="0" err="1">
                <a:solidFill>
                  <a:schemeClr val="tx1"/>
                </a:solidFill>
                <a:latin typeface="Times New Roman" panose="02020603050405020304" pitchFamily="18" charset="0"/>
                <a:cs typeface="Times New Roman" panose="02020603050405020304" pitchFamily="18" charset="0"/>
              </a:rPr>
              <a:t>cao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điểm</a:t>
            </a:r>
            <a:endParaRPr lang="en-US" sz="1100" dirty="0">
              <a:solidFill>
                <a:schemeClr val="tx1"/>
              </a:solidFill>
              <a:latin typeface="Times New Roman" panose="02020603050405020304" pitchFamily="18" charset="0"/>
              <a:cs typeface="Times New Roman" panose="02020603050405020304" pitchFamily="18" charset="0"/>
            </a:endParaRP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IFC 10 tàu A350: </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phát PO mua vật tư dự phòng, PO mua tài liệu TSM. Vật tư dự phòng </a:t>
            </a:r>
            <a:r>
              <a:rPr lang="en-US" sz="1100" dirty="0" err="1">
                <a:solidFill>
                  <a:schemeClr val="tx1"/>
                </a:solidFill>
                <a:latin typeface="Times New Roman" panose="02020603050405020304" pitchFamily="18" charset="0"/>
                <a:cs typeface="Times New Roman" panose="02020603050405020304" pitchFamily="18" charset="0"/>
              </a:rPr>
              <a:t>bắt</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đầu</a:t>
            </a:r>
            <a:r>
              <a:rPr lang="en-US" sz="1100" dirty="0">
                <a:solidFill>
                  <a:schemeClr val="tx1"/>
                </a:solidFill>
                <a:latin typeface="Times New Roman" panose="02020603050405020304" pitchFamily="18" charset="0"/>
                <a:cs typeface="Times New Roman" panose="02020603050405020304" pitchFamily="18" charset="0"/>
              </a:rPr>
              <a:t> giao 2/2025, MPS và FSAT ban giao 3/2025.</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gửi 02 shipset tàu bảo quản đi nâng cấp firmwarre, TAT 60-70 ngày =&gt; tiếp tục giục Thales &amp; Honeywell, </a:t>
            </a:r>
            <a:r>
              <a:rPr lang="en-US" sz="1100" dirty="0" err="1">
                <a:solidFill>
                  <a:schemeClr val="tx1"/>
                </a:solidFill>
                <a:latin typeface="Times New Roman" panose="02020603050405020304" pitchFamily="18" charset="0"/>
                <a:cs typeface="Times New Roman" panose="02020603050405020304" pitchFamily="18" charset="0"/>
              </a:rPr>
              <a:t>vật</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tư</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đến</a:t>
            </a:r>
            <a:r>
              <a:rPr lang="en-US" sz="1100" dirty="0">
                <a:solidFill>
                  <a:schemeClr val="tx1"/>
                </a:solidFill>
                <a:latin typeface="Times New Roman" panose="02020603050405020304" pitchFamily="18" charset="0"/>
                <a:cs typeface="Times New Roman" panose="02020603050405020304" pitchFamily="18" charset="0"/>
              </a:rPr>
              <a:t> shop</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02 antena gửi sửa chữa shop dự kiến về đầu </a:t>
            </a:r>
            <a:r>
              <a:rPr lang="en-US" sz="1100" dirty="0" err="1">
                <a:solidFill>
                  <a:schemeClr val="tx1"/>
                </a:solidFill>
                <a:latin typeface="Times New Roman" panose="02020603050405020304" pitchFamily="18" charset="0"/>
                <a:cs typeface="Times New Roman" panose="02020603050405020304" pitchFamily="18" charset="0"/>
              </a:rPr>
              <a:t>tháng</a:t>
            </a:r>
            <a:r>
              <a:rPr lang="en-US" sz="1100" dirty="0">
                <a:solidFill>
                  <a:schemeClr val="tx1"/>
                </a:solidFill>
                <a:latin typeface="Times New Roman" panose="02020603050405020304" pitchFamily="18" charset="0"/>
                <a:cs typeface="Times New Roman" panose="02020603050405020304" pitchFamily="18" charset="0"/>
              </a:rPr>
              <a:t> 3/2025 (01 </a:t>
            </a:r>
            <a:r>
              <a:rPr lang="en-US" sz="1100" dirty="0" err="1">
                <a:solidFill>
                  <a:schemeClr val="tx1"/>
                </a:solidFill>
                <a:latin typeface="Times New Roman" panose="02020603050405020304" pitchFamily="18" charset="0"/>
                <a:cs typeface="Times New Roman" panose="02020603050405020304" pitchFamily="18" charset="0"/>
              </a:rPr>
              <a:t>khối</a:t>
            </a:r>
            <a:r>
              <a:rPr lang="en-US" sz="1100" dirty="0">
                <a:solidFill>
                  <a:schemeClr val="tx1"/>
                </a:solidFill>
                <a:latin typeface="Times New Roman" panose="02020603050405020304" pitchFamily="18" charset="0"/>
                <a:cs typeface="Times New Roman" panose="02020603050405020304" pitchFamily="18" charset="0"/>
              </a:rPr>
              <a:t> exchange </a:t>
            </a:r>
            <a:r>
              <a:rPr lang="en-US" sz="1100" dirty="0" err="1">
                <a:solidFill>
                  <a:schemeClr val="tx1"/>
                </a:solidFill>
                <a:latin typeface="Times New Roman" panose="02020603050405020304" pitchFamily="18" charset="0"/>
                <a:cs typeface="Times New Roman" panose="02020603050405020304" pitchFamily="18" charset="0"/>
              </a:rPr>
              <a:t>về</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đầu</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tháng</a:t>
            </a:r>
            <a:r>
              <a:rPr lang="en-US" sz="1100" dirty="0">
                <a:solidFill>
                  <a:schemeClr val="tx1"/>
                </a:solidFill>
                <a:latin typeface="Times New Roman" panose="02020603050405020304" pitchFamily="18" charset="0"/>
                <a:cs typeface="Times New Roman" panose="02020603050405020304" pitchFamily="18" charset="0"/>
              </a:rPr>
              <a:t> 2/2025)</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Đào tạo IFC VAECO dự kiến </a:t>
            </a:r>
            <a:r>
              <a:rPr lang="en-US" sz="1100" dirty="0" err="1">
                <a:solidFill>
                  <a:schemeClr val="tx1"/>
                </a:solidFill>
                <a:latin typeface="Times New Roman" panose="02020603050405020304" pitchFamily="18" charset="0"/>
                <a:cs typeface="Times New Roman" panose="02020603050405020304" pitchFamily="18" charset="0"/>
              </a:rPr>
              <a:t>tháng</a:t>
            </a:r>
            <a:r>
              <a:rPr lang="en-US" sz="1100" dirty="0">
                <a:solidFill>
                  <a:schemeClr val="tx1"/>
                </a:solidFill>
                <a:latin typeface="Times New Roman" panose="02020603050405020304" pitchFamily="18" charset="0"/>
                <a:cs typeface="Times New Roman" panose="02020603050405020304" pitchFamily="18" charset="0"/>
              </a:rPr>
              <a:t> 19-20/2/2025</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CĐCH ghế 23 tàu A321CEO:</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phát HSYC lần 1, </a:t>
            </a:r>
            <a:r>
              <a:rPr lang="en-US" sz="1100" dirty="0" err="1">
                <a:solidFill>
                  <a:schemeClr val="tx1"/>
                </a:solidFill>
                <a:latin typeface="Times New Roman" panose="02020603050405020304" pitchFamily="18" charset="0"/>
                <a:cs typeface="Times New Roman" panose="02020603050405020304" pitchFamily="18" charset="0"/>
              </a:rPr>
              <a:t>tổ</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làm rõ bản chào lần 1 của đối tác. Trong các đối tác tham gia chào giá, AIB: </a:t>
            </a:r>
            <a:r>
              <a:rPr lang="en-US" sz="1100" dirty="0" err="1">
                <a:solidFill>
                  <a:schemeClr val="tx1"/>
                </a:solidFill>
                <a:latin typeface="Times New Roman" panose="02020603050405020304" pitchFamily="18" charset="0"/>
                <a:cs typeface="Times New Roman" panose="02020603050405020304" pitchFamily="18" charset="0"/>
              </a:rPr>
              <a:t>mới</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chào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giá</a:t>
            </a:r>
            <a:r>
              <a:rPr lang="en-US" sz="1100" dirty="0">
                <a:solidFill>
                  <a:schemeClr val="tx1"/>
                </a:solidFill>
                <a:latin typeface="Times New Roman" panose="02020603050405020304" pitchFamily="18" charset="0"/>
                <a:cs typeface="Times New Roman" panose="02020603050405020304" pitchFamily="18" charset="0"/>
              </a:rPr>
              <a:t> ROM.</a:t>
            </a:r>
          </a:p>
          <a:p>
            <a:pPr marL="742950" lvl="1" indent="-285750">
              <a:lnSpc>
                <a:spcPct val="130000"/>
              </a:lnSpc>
              <a:buFontTx/>
              <a:buChar char="-"/>
            </a:pPr>
            <a:r>
              <a:rPr lang="en-US" sz="1100" dirty="0" err="1">
                <a:solidFill>
                  <a:schemeClr val="tx1"/>
                </a:solidFill>
                <a:latin typeface="Times New Roman" panose="02020603050405020304" pitchFamily="18" charset="0"/>
                <a:cs typeface="Times New Roman" panose="02020603050405020304" pitchFamily="18" charset="0"/>
              </a:rPr>
              <a:t>Tổ</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trình</a:t>
            </a:r>
            <a:r>
              <a:rPr lang="en-US" sz="1100" dirty="0">
                <a:solidFill>
                  <a:schemeClr val="tx1"/>
                </a:solidFill>
                <a:latin typeface="Times New Roman" panose="02020603050405020304" pitchFamily="18" charset="0"/>
                <a:cs typeface="Times New Roman" panose="02020603050405020304" pitchFamily="18" charset="0"/>
              </a:rPr>
              <a:t> HSYC </a:t>
            </a:r>
            <a:r>
              <a:rPr lang="en-US" sz="1100" dirty="0" err="1">
                <a:solidFill>
                  <a:schemeClr val="tx1"/>
                </a:solidFill>
                <a:latin typeface="Times New Roman" panose="02020603050405020304" pitchFamily="18" charset="0"/>
                <a:cs typeface="Times New Roman" panose="02020603050405020304" pitchFamily="18" charset="0"/>
              </a:rPr>
              <a:t>lần</a:t>
            </a:r>
            <a:r>
              <a:rPr lang="en-US" sz="1100" dirty="0">
                <a:solidFill>
                  <a:schemeClr val="tx1"/>
                </a:solidFill>
                <a:latin typeface="Times New Roman" panose="02020603050405020304" pitchFamily="18" charset="0"/>
                <a:cs typeface="Times New Roman" panose="02020603050405020304" pitchFamily="18" charset="0"/>
              </a:rPr>
              <a:t> 2, </a:t>
            </a:r>
            <a:r>
              <a:rPr lang="en-US" sz="1100" dirty="0" err="1">
                <a:solidFill>
                  <a:schemeClr val="tx1"/>
                </a:solidFill>
                <a:latin typeface="Times New Roman" panose="02020603050405020304" pitchFamily="18" charset="0"/>
                <a:cs typeface="Times New Roman" panose="02020603050405020304" pitchFamily="18" charset="0"/>
              </a:rPr>
              <a:t>chờ</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phê</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duyệt</a:t>
            </a:r>
            <a:endParaRPr lang="en-US" sz="1100" dirty="0">
              <a:solidFill>
                <a:schemeClr val="tx1"/>
              </a:solidFill>
              <a:latin typeface="Times New Roman" panose="02020603050405020304" pitchFamily="18" charset="0"/>
              <a:cs typeface="Times New Roman" panose="02020603050405020304" pitchFamily="18" charset="0"/>
            </a:endParaRP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Tổ dự kiến gửi bản chào lần 2 trong </a:t>
            </a:r>
            <a:r>
              <a:rPr lang="en-US" sz="1100" dirty="0" err="1">
                <a:solidFill>
                  <a:schemeClr val="tx1"/>
                </a:solidFill>
                <a:latin typeface="Times New Roman" panose="02020603050405020304" pitchFamily="18" charset="0"/>
                <a:cs typeface="Times New Roman" panose="02020603050405020304" pitchFamily="18" charset="0"/>
              </a:rPr>
              <a:t>tuần</a:t>
            </a:r>
            <a:r>
              <a:rPr lang="en-US" sz="1100">
                <a:solidFill>
                  <a:schemeClr val="tx1"/>
                </a:solidFill>
                <a:latin typeface="Times New Roman" panose="02020603050405020304" pitchFamily="18" charset="0"/>
                <a:cs typeface="Times New Roman" panose="02020603050405020304" pitchFamily="18" charset="0"/>
              </a:rPr>
              <a:t> 06/2025</a:t>
            </a:r>
            <a:endParaRPr lang="en-US" sz="1100" dirty="0">
              <a:solidFill>
                <a:schemeClr val="tx1"/>
              </a:solidFill>
              <a:latin typeface="Times New Roman" panose="02020603050405020304" pitchFamily="18" charset="0"/>
              <a:cs typeface="Times New Roman" panose="02020603050405020304" pitchFamily="18" charset="0"/>
            </a:endParaRPr>
          </a:p>
        </p:txBody>
      </p:sp>
      <p:sp>
        <p:nvSpPr>
          <p:cNvPr id="22" name="TextBox 21"/>
          <p:cNvSpPr txBox="1"/>
          <p:nvPr/>
        </p:nvSpPr>
        <p:spPr>
          <a:xfrm>
            <a:off x="366570" y="3141696"/>
            <a:ext cx="10862852" cy="93871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Galley:</a:t>
            </a:r>
          </a:p>
          <a:p>
            <a:pPr marL="285750" indent="-285750">
              <a:buFontTx/>
              <a:buChar char="-"/>
            </a:pPr>
            <a:r>
              <a:rPr lang="en-US" sz="1100" b="1" dirty="0">
                <a:latin typeface="Times New Roman" panose="02020603050405020304" pitchFamily="18" charset="0"/>
                <a:cs typeface="Times New Roman" panose="02020603050405020304" pitchFamily="18" charset="0"/>
              </a:rPr>
              <a:t>Hỏng hóc wine chiller</a:t>
            </a:r>
            <a:r>
              <a:rPr lang="en-US" sz="1100" dirty="0">
                <a:latin typeface="Times New Roman" panose="02020603050405020304" pitchFamily="18" charset="0"/>
                <a:cs typeface="Times New Roman" panose="02020603050405020304" pitchFamily="18" charset="0"/>
              </a:rPr>
              <a:t>: </a:t>
            </a:r>
            <a:r>
              <a:rPr lang="en-US" sz="1100" dirty="0">
                <a:solidFill>
                  <a:srgbClr val="FF0000"/>
                </a:solidFill>
                <a:latin typeface="Times New Roman" panose="02020603050405020304" pitchFamily="18" charset="0"/>
                <a:cs typeface="Times New Roman" panose="02020603050405020304" pitchFamily="18" charset="0"/>
              </a:rPr>
              <a:t>còn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11 ea.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Tiến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độ</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sửa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chữa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tại</a:t>
            </a:r>
            <a:r>
              <a:rPr lang="en-US" sz="1100" dirty="0">
                <a:solidFill>
                  <a:schemeClr val="tx1"/>
                </a:solidFill>
                <a:latin typeface="Times New Roman" panose="02020603050405020304" pitchFamily="18" charset="0"/>
                <a:cs typeface="Times New Roman" panose="02020603050405020304" pitchFamily="18" charset="0"/>
              </a:rPr>
              <a:t> shop</a:t>
            </a: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B787: </a:t>
            </a:r>
            <a:r>
              <a:rPr lang="en-US" sz="1100" dirty="0">
                <a:latin typeface="Times New Roman" panose="02020603050405020304" pitchFamily="18" charset="0"/>
                <a:cs typeface="Times New Roman" panose="02020603050405020304" pitchFamily="18" charset="0"/>
              </a:rPr>
              <a:t>05</a:t>
            </a:r>
            <a:r>
              <a:rPr lang="vi-VN" sz="1100" dirty="0">
                <a:latin typeface="Times New Roman" panose="02020603050405020304" pitchFamily="18" charset="0"/>
                <a:cs typeface="Times New Roman" panose="02020603050405020304" pitchFamily="18" charset="0"/>
              </a:rPr>
              <a:t> ADD; </a:t>
            </a:r>
            <a:r>
              <a:rPr lang="en-US" sz="1100" dirty="0">
                <a:latin typeface="Times New Roman"/>
                <a:ea typeface="Times New Roman"/>
                <a:cs typeface="Times New Roman"/>
                <a:sym typeface="Times New Roman"/>
              </a:rPr>
              <a:t>04RO </a:t>
            </a:r>
            <a:r>
              <a:rPr lang="vi-VN" sz="1100" dirty="0">
                <a:latin typeface="Times New Roman" panose="02020603050405020304" pitchFamily="18" charset="0"/>
                <a:cs typeface="Times New Roman" panose="02020603050405020304" pitchFamily="18" charset="0"/>
              </a:rPr>
              <a:t>chưa có EDD</a:t>
            </a:r>
            <a:r>
              <a:rPr lang="en-US" sz="1100" dirty="0">
                <a:latin typeface="Times New Roman" panose="02020603050405020304" pitchFamily="18" charset="0"/>
                <a:cs typeface="Times New Roman" panose="02020603050405020304" pitchFamily="18" charset="0"/>
              </a:rPr>
              <a:t>, 01RO </a:t>
            </a:r>
            <a:r>
              <a:rPr lang="en-US" sz="1100" dirty="0" err="1">
                <a:latin typeface="Times New Roman" panose="02020603050405020304" pitchFamily="18" charset="0"/>
                <a:cs typeface="Times New Roman" panose="02020603050405020304" pitchFamily="18" charset="0"/>
              </a:rPr>
              <a:t>có</a:t>
            </a:r>
            <a:r>
              <a:rPr lang="en-US" sz="1100" dirty="0">
                <a:latin typeface="Times New Roman" panose="02020603050405020304" pitchFamily="18" charset="0"/>
                <a:cs typeface="Times New Roman" panose="02020603050405020304" pitchFamily="18" charset="0"/>
              </a:rPr>
              <a:t> EDD 15/2</a:t>
            </a:r>
            <a:endParaRPr lang="en-US" sz="1100" dirty="0">
              <a:solidFill>
                <a:schemeClr val="tx1"/>
              </a:solidFill>
              <a:latin typeface="Times New Roman" panose="02020603050405020304" pitchFamily="18" charset="0"/>
              <a:cs typeface="Times New Roman" panose="02020603050405020304" pitchFamily="18" charset="0"/>
            </a:endParaRP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A350: </a:t>
            </a:r>
            <a:r>
              <a:rPr lang="en-US" sz="1100" dirty="0">
                <a:latin typeface="Times New Roman" panose="02020603050405020304" pitchFamily="18" charset="0"/>
                <a:cs typeface="Times New Roman" panose="02020603050405020304" pitchFamily="18" charset="0"/>
              </a:rPr>
              <a:t>06  ADD; </a:t>
            </a:r>
            <a:r>
              <a:rPr lang="en-US" sz="1100" dirty="0">
                <a:latin typeface="Times New Roman"/>
                <a:cs typeface="Times New Roman"/>
                <a:sym typeface="Times New Roman"/>
              </a:rPr>
              <a:t>05</a:t>
            </a:r>
            <a:r>
              <a:rPr lang="en-US" sz="1100" dirty="0">
                <a:latin typeface="Times New Roman"/>
                <a:ea typeface="Times New Roman"/>
                <a:cs typeface="Times New Roman"/>
                <a:sym typeface="Times New Roman"/>
              </a:rPr>
              <a:t> RO, </a:t>
            </a:r>
            <a:r>
              <a:rPr lang="vi-VN" sz="1100" dirty="0">
                <a:latin typeface="Times New Roman" panose="02020603050405020304" pitchFamily="18" charset="0"/>
                <a:cs typeface="Times New Roman" panose="02020603050405020304" pitchFamily="18" charset="0"/>
              </a:rPr>
              <a:t>chưa có EDD</a:t>
            </a:r>
            <a:endParaRPr lang="en-US" sz="1100" dirty="0">
              <a:latin typeface="Times New Roman"/>
              <a:cs typeface="Times New Roman"/>
              <a:sym typeface="Times New Roman"/>
            </a:endParaRPr>
          </a:p>
          <a:p>
            <a:pPr marL="285750" indent="-285750">
              <a:buClr>
                <a:srgbClr val="000000"/>
              </a:buClr>
              <a:buSzPts val="1300"/>
              <a:buFont typeface="Times New Roman" panose="02020603050405020304" pitchFamily="18" charset="0"/>
              <a:buChar char="⁃"/>
            </a:pPr>
            <a:r>
              <a:rPr lang="en-US" sz="1100" dirty="0" err="1">
                <a:latin typeface="Times New Roman" panose="02020603050405020304" pitchFamily="18" charset="0"/>
                <a:cs typeface="Times New Roman" panose="02020603050405020304" pitchFamily="18" charset="0"/>
              </a:rPr>
              <a:t>Hỏng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hóc</a:t>
            </a:r>
            <a:r>
              <a:rPr lang="en-US" sz="1100" dirty="0">
                <a:latin typeface="Times New Roman" panose="02020603050405020304" pitchFamily="18" charset="0"/>
                <a:cs typeface="Times New Roman" panose="02020603050405020304" pitchFamily="18" charset="0"/>
              </a:rPr>
              <a:t> oven: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hóc</a:t>
            </a:r>
            <a:r>
              <a:rPr lang="en-US" sz="1100" dirty="0">
                <a:solidFill>
                  <a:srgbClr val="FF0000"/>
                </a:solidFill>
                <a:latin typeface="Times New Roman" panose="02020603050405020304" pitchFamily="18" charset="0"/>
                <a:cs typeface="Times New Roman" panose="02020603050405020304" pitchFamily="18" charset="0"/>
              </a:rPr>
              <a:t> 11ea, </a:t>
            </a:r>
            <a:r>
              <a:rPr lang="en-US" sz="1100" dirty="0" err="1">
                <a:solidFill>
                  <a:srgbClr val="FF0000"/>
                </a:solidFill>
                <a:latin typeface="Times New Roman" panose="02020603050405020304" pitchFamily="18" charset="0"/>
                <a:cs typeface="Times New Roman" panose="02020603050405020304" pitchFamily="18" charset="0"/>
              </a:rPr>
              <a:t>khắc</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08ea,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03ea</a:t>
            </a:r>
          </a:p>
        </p:txBody>
      </p:sp>
      <p:sp>
        <p:nvSpPr>
          <p:cNvPr id="23" name="TextBox 22"/>
          <p:cNvSpPr txBox="1"/>
          <p:nvPr/>
        </p:nvSpPr>
        <p:spPr>
          <a:xfrm>
            <a:off x="366570" y="1860589"/>
            <a:ext cx="10867915" cy="61555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IFE: Thales SVDU (A350/B787): </a:t>
            </a:r>
            <a:r>
              <a:rPr lang="en-US" sz="1100" dirty="0">
                <a:latin typeface="Times New Roman" panose="02020603050405020304" pitchFamily="18" charset="0"/>
                <a:cs typeface="Times New Roman" panose="02020603050405020304" pitchFamily="18" charset="0"/>
              </a:rPr>
              <a:t>replaced </a:t>
            </a:r>
            <a:r>
              <a:rPr lang="en-GB" sz="1100" b="1" dirty="0">
                <a:solidFill>
                  <a:schemeClr val="tx1"/>
                </a:solidFill>
                <a:latin typeface="Times New Roman" panose="02020603050405020304" pitchFamily="18" charset="0"/>
                <a:cs typeface="Times New Roman" panose="02020603050405020304" pitchFamily="18" charset="0"/>
              </a:rPr>
              <a:t>2</a:t>
            </a:r>
            <a:r>
              <a:rPr lang="en-US" sz="1100" b="1" dirty="0">
                <a:solidFill>
                  <a:schemeClr val="tx1"/>
                </a:solidFill>
                <a:latin typeface="Times New Roman" panose="02020603050405020304" pitchFamily="18" charset="0"/>
                <a:cs typeface="Times New Roman" panose="02020603050405020304" pitchFamily="18" charset="0"/>
              </a:rPr>
              <a:t>682</a:t>
            </a:r>
            <a:r>
              <a:rPr lang="en-GB" sz="1100" b="1" dirty="0">
                <a:solidFill>
                  <a:schemeClr val="tx1"/>
                </a:solidFill>
                <a:latin typeface="Times New Roman" panose="02020603050405020304" pitchFamily="18" charset="0"/>
                <a:cs typeface="Times New Roman" panose="02020603050405020304" pitchFamily="18" charset="0"/>
              </a:rPr>
              <a:t>/3</a:t>
            </a:r>
            <a:r>
              <a:rPr lang="en-US" sz="1100" b="1" dirty="0">
                <a:solidFill>
                  <a:schemeClr val="tx1"/>
                </a:solidFill>
                <a:latin typeface="Times New Roman" panose="02020603050405020304" pitchFamily="18" charset="0"/>
                <a:cs typeface="Times New Roman" panose="02020603050405020304" pitchFamily="18" charset="0"/>
              </a:rPr>
              <a:t>080 </a:t>
            </a:r>
            <a:r>
              <a:rPr lang="en-US" sz="1100" b="1" dirty="0">
                <a:latin typeface="Times New Roman" panose="02020603050405020304" pitchFamily="18" charset="0"/>
                <a:cs typeface="Times New Roman" panose="02020603050405020304" pitchFamily="18" charset="0"/>
              </a:rPr>
              <a:t>SVDU (</a:t>
            </a:r>
            <a:r>
              <a:rPr lang="en-US" sz="1100" b="1" dirty="0" err="1">
                <a:latin typeface="Times New Roman" panose="02020603050405020304" pitchFamily="18" charset="0"/>
                <a:cs typeface="Times New Roman" panose="02020603050405020304" pitchFamily="18" charset="0"/>
              </a:rPr>
              <a:t>còn</a:t>
            </a:r>
            <a:r>
              <a:rPr lang="en-US" sz="1100" b="1" dirty="0">
                <a:latin typeface="Times New Roman" panose="02020603050405020304" pitchFamily="18" charset="0"/>
                <a:cs typeface="Times New Roman" panose="02020603050405020304" pitchFamily="18" charset="0"/>
              </a:rPr>
              <a:t> 398 INOP SVDU). </a:t>
            </a:r>
            <a:r>
              <a:rPr lang="en-US" sz="1100" dirty="0">
                <a:solidFill>
                  <a:srgbClr val="FF0000"/>
                </a:solidFill>
                <a:latin typeface="Times New Roman" panose="02020603050405020304" pitchFamily="18" charset="0"/>
                <a:cs typeface="Times New Roman" panose="02020603050405020304" pitchFamily="18" charset="0"/>
              </a:rPr>
              <a:t>Trong </a:t>
            </a:r>
            <a:r>
              <a:rPr lang="en-US" sz="1100" dirty="0" err="1">
                <a:solidFill>
                  <a:srgbClr val="FF0000"/>
                </a:solidFill>
                <a:latin typeface="Times New Roman" panose="02020603050405020304" pitchFamily="18" charset="0"/>
                <a:cs typeface="Times New Roman" panose="02020603050405020304" pitchFamily="18" charset="0"/>
              </a:rPr>
              <a:t>tuần</a:t>
            </a:r>
            <a:r>
              <a:rPr lang="en-US" sz="1100" dirty="0">
                <a:solidFill>
                  <a:srgbClr val="FF0000"/>
                </a:solidFill>
                <a:latin typeface="Times New Roman" panose="02020603050405020304" pitchFamily="18" charset="0"/>
                <a:cs typeface="Times New Roman" panose="02020603050405020304" pitchFamily="18" charset="0"/>
              </a:rPr>
              <a:t> 4&amp;5:  hỏng </a:t>
            </a:r>
            <a:r>
              <a:rPr lang="en-US" sz="1100" dirty="0" err="1">
                <a:solidFill>
                  <a:srgbClr val="FF0000"/>
                </a:solidFill>
                <a:latin typeface="Times New Roman" panose="02020603050405020304" pitchFamily="18" charset="0"/>
                <a:cs typeface="Times New Roman" panose="02020603050405020304" pitchFamily="18" charset="0"/>
              </a:rPr>
              <a:t>mới</a:t>
            </a:r>
            <a:r>
              <a:rPr lang="en-US" sz="1100" dirty="0">
                <a:solidFill>
                  <a:srgbClr val="FF0000"/>
                </a:solidFill>
                <a:latin typeface="Times New Roman" panose="02020603050405020304" pitchFamily="18" charset="0"/>
                <a:cs typeface="Times New Roman" panose="02020603050405020304" pitchFamily="18" charset="0"/>
              </a:rPr>
              <a:t> 15 </a:t>
            </a:r>
            <a:r>
              <a:rPr lang="en-US" sz="1100" dirty="0" err="1">
                <a:solidFill>
                  <a:srgbClr val="FF0000"/>
                </a:solidFill>
                <a:latin typeface="Times New Roman" panose="02020603050405020304" pitchFamily="18" charset="0"/>
                <a:cs typeface="Times New Roman" panose="02020603050405020304" pitchFamily="18" charset="0"/>
              </a:rPr>
              <a:t>ea</a:t>
            </a:r>
            <a:r>
              <a:rPr lang="en-US" sz="1100" dirty="0">
                <a:solidFill>
                  <a:srgbClr val="FF0000"/>
                </a:solidFill>
                <a:latin typeface="Times New Roman" panose="02020603050405020304" pitchFamily="18" charset="0"/>
                <a:cs typeface="Times New Roman" panose="02020603050405020304" pitchFamily="18" charset="0"/>
              </a:rPr>
              <a:t>,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45ea</a:t>
            </a:r>
            <a:r>
              <a:rPr lang="en-US" sz="1100" dirty="0">
                <a:solidFill>
                  <a:schemeClr val="tx1"/>
                </a:solidFill>
                <a:latin typeface="Times New Roman" panose="02020603050405020304" pitchFamily="18" charset="0"/>
                <a:cs typeface="Times New Roman" panose="02020603050405020304" pitchFamily="18" charset="0"/>
              </a:rPr>
              <a:t>. </a:t>
            </a:r>
            <a:endParaRPr lang="en-GB" sz="1100" dirty="0">
              <a:solidFill>
                <a:schemeClr val="tx1"/>
              </a:solidFill>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 -       Hỏng hóc đội bay A350: đã được khắc phục và kiểm soát</a:t>
            </a:r>
          </a:p>
          <a:p>
            <a:r>
              <a:rPr lang="en-US" sz="1100" dirty="0">
                <a:solidFill>
                  <a:schemeClr val="tx1"/>
                </a:solidFill>
                <a:latin typeface="Times New Roman" panose="02020603050405020304" pitchFamily="18" charset="0"/>
                <a:cs typeface="Times New Roman" panose="02020603050405020304" pitchFamily="18" charset="0"/>
              </a:rPr>
              <a:t>-        Hỏng hóc tồn đọng: tập trung đội bay B787, số lượng quay vòng ít (50ea).</a:t>
            </a:r>
          </a:p>
        </p:txBody>
      </p:sp>
      <p:sp>
        <p:nvSpPr>
          <p:cNvPr id="25" name="TextBox 24"/>
          <p:cNvSpPr txBox="1"/>
          <p:nvPr/>
        </p:nvSpPr>
        <p:spPr>
          <a:xfrm>
            <a:off x="366570" y="2519413"/>
            <a:ext cx="10860609"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LAV:</a:t>
            </a:r>
          </a:p>
          <a:p>
            <a:pPr marL="285750" indent="-285750">
              <a:buFontTx/>
              <a:buChar char="-"/>
            </a:pPr>
            <a:r>
              <a:rPr lang="en-US" sz="1100" b="1" dirty="0">
                <a:latin typeface="Times New Roman" panose="02020603050405020304" pitchFamily="18" charset="0"/>
                <a:cs typeface="Times New Roman" panose="02020603050405020304" pitchFamily="18" charset="0"/>
              </a:rPr>
              <a:t>Toilet Assy</a:t>
            </a:r>
            <a:r>
              <a:rPr lang="en-US" sz="1100" b="1"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07 ea,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04ea,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03ea</a:t>
            </a:r>
            <a:endParaRPr lang="en-US" sz="1100" dirty="0">
              <a:solidFill>
                <a:schemeClr val="tx1"/>
              </a:solidFill>
              <a:latin typeface="Times New Roman" panose="02020603050405020304" pitchFamily="18" charset="0"/>
              <a:cs typeface="Times New Roman" panose="02020603050405020304" pitchFamily="18" charset="0"/>
            </a:endParaRPr>
          </a:p>
          <a:p>
            <a:pPr marL="285750" indent="-285750">
              <a:buFontTx/>
              <a:buChar char="-"/>
            </a:pPr>
            <a:r>
              <a:rPr lang="en-US" sz="1100" b="1" dirty="0">
                <a:latin typeface="Times New Roman" panose="02020603050405020304" pitchFamily="18" charset="0"/>
                <a:cs typeface="Times New Roman" panose="02020603050405020304" pitchFamily="18" charset="0"/>
              </a:rPr>
              <a:t>Faucet Assy: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05ea,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4ea,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01ea</a:t>
            </a:r>
          </a:p>
        </p:txBody>
      </p:sp>
      <p:sp>
        <p:nvSpPr>
          <p:cNvPr id="26" name="TextBox 25"/>
          <p:cNvSpPr txBox="1"/>
          <p:nvPr/>
        </p:nvSpPr>
        <p:spPr>
          <a:xfrm>
            <a:off x="364349" y="762000"/>
            <a:ext cx="10879099" cy="43088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ADD ảnh hưởng dịch vụ </a:t>
            </a:r>
            <a:r>
              <a:rPr lang="en-US" sz="1100" b="1" dirty="0" err="1">
                <a:latin typeface="Times New Roman" panose="02020603050405020304" pitchFamily="18" charset="0"/>
                <a:cs typeface="Times New Roman" panose="02020603050405020304" pitchFamily="18" charset="0"/>
              </a:rPr>
              <a:t>tuần</a:t>
            </a:r>
            <a:r>
              <a:rPr lang="en-US" sz="1100" b="1" dirty="0">
                <a:latin typeface="Times New Roman" panose="02020603050405020304" pitchFamily="18" charset="0"/>
                <a:cs typeface="Times New Roman" panose="02020603050405020304" pitchFamily="18" charset="0"/>
              </a:rPr>
              <a:t> 05: </a:t>
            </a:r>
            <a:r>
              <a:rPr lang="en-US" sz="1100" dirty="0" err="1">
                <a:latin typeface="Times New Roman" panose="02020603050405020304" pitchFamily="18" charset="0"/>
                <a:cs typeface="Times New Roman" panose="02020603050405020304" pitchFamily="18" charset="0"/>
              </a:rPr>
              <a:t>Tổng</a:t>
            </a:r>
            <a:r>
              <a:rPr lang="en-US" sz="1100" dirty="0">
                <a:latin typeface="Times New Roman" panose="02020603050405020304" pitchFamily="18" charset="0"/>
                <a:cs typeface="Times New Roman" panose="02020603050405020304" pitchFamily="18" charset="0"/>
              </a:rPr>
              <a:t> 233 (</a:t>
            </a:r>
            <a:r>
              <a:rPr lang="en-US" sz="1100" dirty="0" err="1">
                <a:latin typeface="Times New Roman" panose="02020603050405020304" pitchFamily="18" charset="0"/>
                <a:cs typeface="Times New Roman" panose="02020603050405020304" pitchFamily="18" charset="0"/>
              </a:rPr>
              <a:t>giảm</a:t>
            </a:r>
            <a:r>
              <a:rPr lang="en-US" sz="1100" dirty="0">
                <a:latin typeface="Times New Roman" panose="02020603050405020304" pitchFamily="18" charset="0"/>
                <a:cs typeface="Times New Roman" panose="02020603050405020304" pitchFamily="18" charset="0"/>
              </a:rPr>
              <a:t> 3% </a:t>
            </a:r>
            <a:r>
              <a:rPr lang="en-US" sz="1100" dirty="0" err="1">
                <a:latin typeface="Times New Roman" panose="02020603050405020304" pitchFamily="18" charset="0"/>
                <a:cs typeface="Times New Roman" panose="02020603050405020304" pitchFamily="18" charset="0"/>
              </a:rPr>
              <a:t>tuần</a:t>
            </a:r>
            <a:r>
              <a:rPr lang="en-US" sz="1100" dirty="0">
                <a:latin typeface="Times New Roman" panose="02020603050405020304" pitchFamily="18" charset="0"/>
                <a:cs typeface="Times New Roman" panose="02020603050405020304" pitchFamily="18" charset="0"/>
              </a:rPr>
              <a:t> 04), khắc </a:t>
            </a:r>
            <a:r>
              <a:rPr lang="en-US" sz="1100" dirty="0" err="1">
                <a:latin typeface="Times New Roman" panose="02020603050405020304" pitchFamily="18" charset="0"/>
                <a:cs typeface="Times New Roman" panose="02020603050405020304" pitchFamily="18" charset="0"/>
              </a:rPr>
              <a:t>phục</a:t>
            </a:r>
            <a:r>
              <a:rPr lang="en-US" sz="1100" dirty="0">
                <a:latin typeface="Times New Roman" panose="02020603050405020304" pitchFamily="18" charset="0"/>
                <a:cs typeface="Times New Roman" panose="02020603050405020304" pitchFamily="18" charset="0"/>
              </a:rPr>
              <a:t> 80ADD =&gt; tồn </a:t>
            </a:r>
            <a:r>
              <a:rPr lang="en-US" sz="1100" dirty="0" err="1">
                <a:latin typeface="Times New Roman" panose="02020603050405020304" pitchFamily="18" charset="0"/>
                <a:cs typeface="Times New Roman" panose="02020603050405020304" pitchFamily="18" charset="0"/>
              </a:rPr>
              <a:t>đọng</a:t>
            </a:r>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153ADD</a:t>
            </a:r>
            <a:r>
              <a:rPr lang="en-US" sz="1100" dirty="0">
                <a:latin typeface="Times New Roman" panose="02020603050405020304" pitchFamily="18" charset="0"/>
                <a:cs typeface="Times New Roman" panose="02020603050405020304" pitchFamily="18" charset="0"/>
              </a:rPr>
              <a:t> </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100" dirty="0" err="1">
                <a:solidFill>
                  <a:schemeClr val="tx1">
                    <a:lumMod val="65000"/>
                    <a:lumOff val="35000"/>
                  </a:schemeClr>
                </a:solidFill>
                <a:latin typeface="Times New Roman" panose="02020603050405020304" pitchFamily="18" charset="0"/>
                <a:cs typeface="Times New Roman" panose="02020603050405020304" pitchFamily="18" charset="0"/>
              </a:rPr>
              <a:t>giảm</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 2% so với </a:t>
            </a:r>
            <a:r>
              <a:rPr lang="en-US" sz="11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 4/2025).</a:t>
            </a:r>
          </a:p>
          <a:p>
            <a:r>
              <a:rPr lang="en-US" sz="1100" dirty="0">
                <a:solidFill>
                  <a:schemeClr val="tx1"/>
                </a:solidFill>
                <a:latin typeface="Times New Roman" panose="02020603050405020304" pitchFamily="18" charset="0"/>
                <a:cs typeface="Times New Roman" panose="02020603050405020304" pitchFamily="18" charset="0"/>
              </a:rPr>
              <a:t>=&gt; </a:t>
            </a:r>
            <a:r>
              <a:rPr lang="en-US" sz="1100" dirty="0" err="1">
                <a:solidFill>
                  <a:schemeClr val="tx1"/>
                </a:solidFill>
                <a:latin typeface="Times New Roman" panose="02020603050405020304" pitchFamily="18" charset="0"/>
                <a:cs typeface="Times New Roman" panose="02020603050405020304" pitchFamily="18" charset="0"/>
              </a:rPr>
              <a:t>Tuy</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số</a:t>
            </a:r>
            <a:r>
              <a:rPr lang="en-US" sz="1100" dirty="0">
                <a:solidFill>
                  <a:schemeClr val="tx1"/>
                </a:solidFill>
                <a:latin typeface="Times New Roman" panose="02020603050405020304" pitchFamily="18" charset="0"/>
                <a:cs typeface="Times New Roman" panose="02020603050405020304" pitchFamily="18" charset="0"/>
              </a:rPr>
              <a:t> CB </a:t>
            </a:r>
            <a:r>
              <a:rPr lang="en-US" sz="1100" dirty="0" err="1">
                <a:solidFill>
                  <a:schemeClr val="tx1"/>
                </a:solidFill>
                <a:latin typeface="Times New Roman" panose="02020603050405020304" pitchFamily="18" charset="0"/>
                <a:cs typeface="Times New Roman" panose="02020603050405020304" pitchFamily="18" charset="0"/>
              </a:rPr>
              <a:t>tăng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trong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cao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điểm</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tết</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tuần</a:t>
            </a:r>
            <a:r>
              <a:rPr lang="en-US" sz="1100" dirty="0">
                <a:solidFill>
                  <a:schemeClr val="tx1"/>
                </a:solidFill>
                <a:latin typeface="Times New Roman" panose="02020603050405020304" pitchFamily="18" charset="0"/>
                <a:cs typeface="Times New Roman" panose="02020603050405020304" pitchFamily="18" charset="0"/>
              </a:rPr>
              <a:t> 04&amp;05, </a:t>
            </a:r>
            <a:r>
              <a:rPr lang="en-US" sz="1100" dirty="0" err="1">
                <a:solidFill>
                  <a:schemeClr val="tx1"/>
                </a:solidFill>
                <a:latin typeface="Times New Roman" panose="02020603050405020304" pitchFamily="18" charset="0"/>
                <a:cs typeface="Times New Roman" panose="02020603050405020304" pitchFamily="18" charset="0"/>
              </a:rPr>
              <a:t>nhưng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số</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hóc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được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kiểm</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soát</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xu</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hướng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đi</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ngang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giảm</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nhẹ</a:t>
            </a:r>
            <a:r>
              <a:rPr lang="en-US" sz="1100" dirty="0">
                <a:solidFill>
                  <a:schemeClr val="tx1"/>
                </a:solidFill>
                <a:latin typeface="Times New Roman" panose="02020603050405020304" pitchFamily="18" charset="0"/>
                <a:cs typeface="Times New Roman" panose="02020603050405020304" pitchFamily="18" charset="0"/>
              </a:rPr>
              <a:t> </a:t>
            </a:r>
          </a:p>
        </p:txBody>
      </p:sp>
      <p:sp>
        <p:nvSpPr>
          <p:cNvPr id="27" name="TextBox 26"/>
          <p:cNvSpPr txBox="1"/>
          <p:nvPr/>
        </p:nvSpPr>
        <p:spPr>
          <a:xfrm>
            <a:off x="375533" y="1233251"/>
            <a:ext cx="10867915"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Hỏng hóc Ghế thuộc diện cắt khách </a:t>
            </a:r>
            <a:r>
              <a:rPr lang="en-US" sz="1100" b="1" dirty="0" err="1">
                <a:latin typeface="Times New Roman" panose="02020603050405020304" pitchFamily="18" charset="0"/>
                <a:cs typeface="Times New Roman" panose="02020603050405020304" pitchFamily="18" charset="0"/>
              </a:rPr>
              <a:t>tuần</a:t>
            </a:r>
            <a:r>
              <a:rPr lang="en-US" sz="1100" b="1" dirty="0">
                <a:latin typeface="Times New Roman" panose="02020603050405020304" pitchFamily="18" charset="0"/>
                <a:cs typeface="Times New Roman" panose="02020603050405020304" pitchFamily="18" charset="0"/>
              </a:rPr>
              <a:t> 04&amp;5</a:t>
            </a:r>
          </a:p>
          <a:p>
            <a:pPr marL="285750" indent="-285750">
              <a:buFontTx/>
              <a:buChar char="-"/>
            </a:pPr>
            <a:r>
              <a:rPr lang="en-US" sz="1100" b="1" dirty="0">
                <a:latin typeface="Times New Roman" panose="02020603050405020304" pitchFamily="18" charset="0"/>
                <a:cs typeface="Times New Roman" panose="02020603050405020304" pitchFamily="18" charset="0"/>
              </a:rPr>
              <a:t>Ghế C</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02, đã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02,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00.</a:t>
            </a:r>
          </a:p>
          <a:p>
            <a:pPr marL="285750" indent="-285750">
              <a:buFontTx/>
              <a:buChar char="-"/>
            </a:pPr>
            <a:r>
              <a:rPr lang="en-US" sz="1100" b="1" dirty="0">
                <a:latin typeface="Times New Roman" panose="02020603050405020304" pitchFamily="18" charset="0"/>
                <a:cs typeface="Times New Roman" panose="02020603050405020304" pitchFamily="18" charset="0"/>
              </a:rPr>
              <a:t>Ghế Y</a:t>
            </a:r>
            <a:r>
              <a:rPr lang="en-US" sz="1100" b="1"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13, đã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11,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02</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7701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2" name="Table 1"/>
          <p:cNvGraphicFramePr>
            <a:graphicFrameLocks noGrp="1"/>
          </p:cNvGraphicFramePr>
          <p:nvPr>
            <p:extLst/>
          </p:nvPr>
        </p:nvGraphicFramePr>
        <p:xfrm>
          <a:off x="304798" y="1066800"/>
          <a:ext cx="11506204" cy="5334001"/>
        </p:xfrm>
        <a:graphic>
          <a:graphicData uri="http://schemas.openxmlformats.org/drawingml/2006/table">
            <a:tbl>
              <a:tblPr/>
              <a:tblGrid>
                <a:gridCol w="334483">
                  <a:extLst>
                    <a:ext uri="{9D8B030D-6E8A-4147-A177-3AD203B41FA5}">
                      <a16:colId xmlns:a16="http://schemas.microsoft.com/office/drawing/2014/main" val="895238949"/>
                    </a:ext>
                  </a:extLst>
                </a:gridCol>
                <a:gridCol w="2354757">
                  <a:extLst>
                    <a:ext uri="{9D8B030D-6E8A-4147-A177-3AD203B41FA5}">
                      <a16:colId xmlns:a16="http://schemas.microsoft.com/office/drawing/2014/main" val="107210452"/>
                    </a:ext>
                  </a:extLst>
                </a:gridCol>
                <a:gridCol w="481655">
                  <a:extLst>
                    <a:ext uri="{9D8B030D-6E8A-4147-A177-3AD203B41FA5}">
                      <a16:colId xmlns:a16="http://schemas.microsoft.com/office/drawing/2014/main" val="2664292215"/>
                    </a:ext>
                  </a:extLst>
                </a:gridCol>
                <a:gridCol w="495034">
                  <a:extLst>
                    <a:ext uri="{9D8B030D-6E8A-4147-A177-3AD203B41FA5}">
                      <a16:colId xmlns:a16="http://schemas.microsoft.com/office/drawing/2014/main" val="3984037877"/>
                    </a:ext>
                  </a:extLst>
                </a:gridCol>
                <a:gridCol w="495034">
                  <a:extLst>
                    <a:ext uri="{9D8B030D-6E8A-4147-A177-3AD203B41FA5}">
                      <a16:colId xmlns:a16="http://schemas.microsoft.com/office/drawing/2014/main" val="1726830800"/>
                    </a:ext>
                  </a:extLst>
                </a:gridCol>
                <a:gridCol w="508414">
                  <a:extLst>
                    <a:ext uri="{9D8B030D-6E8A-4147-A177-3AD203B41FA5}">
                      <a16:colId xmlns:a16="http://schemas.microsoft.com/office/drawing/2014/main" val="2880879593"/>
                    </a:ext>
                  </a:extLst>
                </a:gridCol>
                <a:gridCol w="508414">
                  <a:extLst>
                    <a:ext uri="{9D8B030D-6E8A-4147-A177-3AD203B41FA5}">
                      <a16:colId xmlns:a16="http://schemas.microsoft.com/office/drawing/2014/main" val="1801174694"/>
                    </a:ext>
                  </a:extLst>
                </a:gridCol>
                <a:gridCol w="508414">
                  <a:extLst>
                    <a:ext uri="{9D8B030D-6E8A-4147-A177-3AD203B41FA5}">
                      <a16:colId xmlns:a16="http://schemas.microsoft.com/office/drawing/2014/main" val="1434886073"/>
                    </a:ext>
                  </a:extLst>
                </a:gridCol>
                <a:gridCol w="508414">
                  <a:extLst>
                    <a:ext uri="{9D8B030D-6E8A-4147-A177-3AD203B41FA5}">
                      <a16:colId xmlns:a16="http://schemas.microsoft.com/office/drawing/2014/main" val="2220154482"/>
                    </a:ext>
                  </a:extLst>
                </a:gridCol>
                <a:gridCol w="508414">
                  <a:extLst>
                    <a:ext uri="{9D8B030D-6E8A-4147-A177-3AD203B41FA5}">
                      <a16:colId xmlns:a16="http://schemas.microsoft.com/office/drawing/2014/main" val="2738921391"/>
                    </a:ext>
                  </a:extLst>
                </a:gridCol>
                <a:gridCol w="508414">
                  <a:extLst>
                    <a:ext uri="{9D8B030D-6E8A-4147-A177-3AD203B41FA5}">
                      <a16:colId xmlns:a16="http://schemas.microsoft.com/office/drawing/2014/main" val="3076182844"/>
                    </a:ext>
                  </a:extLst>
                </a:gridCol>
                <a:gridCol w="508414">
                  <a:extLst>
                    <a:ext uri="{9D8B030D-6E8A-4147-A177-3AD203B41FA5}">
                      <a16:colId xmlns:a16="http://schemas.microsoft.com/office/drawing/2014/main" val="744924042"/>
                    </a:ext>
                  </a:extLst>
                </a:gridCol>
                <a:gridCol w="508414">
                  <a:extLst>
                    <a:ext uri="{9D8B030D-6E8A-4147-A177-3AD203B41FA5}">
                      <a16:colId xmlns:a16="http://schemas.microsoft.com/office/drawing/2014/main" val="3053662662"/>
                    </a:ext>
                  </a:extLst>
                </a:gridCol>
                <a:gridCol w="508414">
                  <a:extLst>
                    <a:ext uri="{9D8B030D-6E8A-4147-A177-3AD203B41FA5}">
                      <a16:colId xmlns:a16="http://schemas.microsoft.com/office/drawing/2014/main" val="3005564659"/>
                    </a:ext>
                  </a:extLst>
                </a:gridCol>
                <a:gridCol w="2769515">
                  <a:extLst>
                    <a:ext uri="{9D8B030D-6E8A-4147-A177-3AD203B41FA5}">
                      <a16:colId xmlns:a16="http://schemas.microsoft.com/office/drawing/2014/main" val="1451295329"/>
                    </a:ext>
                  </a:extLst>
                </a:gridCol>
              </a:tblGrid>
              <a:tr h="475992">
                <a:tc gridSpan="15">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NGUỒN LỰC KỸ THUÂT FLEET A321 </a:t>
                      </a:r>
                      <a:r>
                        <a:rPr lang="en-US" sz="1200" b="1" i="0" u="none" strike="noStrike" dirty="0" smtClean="0">
                          <a:solidFill>
                            <a:srgbClr val="000000"/>
                          </a:solidFill>
                          <a:effectLst/>
                          <a:latin typeface="Times New Roman" panose="02020603050405020304" pitchFamily="18" charset="0"/>
                          <a:cs typeface="Times New Roman" panose="02020603050405020304" pitchFamily="18" charset="0"/>
                        </a:rPr>
                        <a:t>(CẬP</a:t>
                      </a:r>
                      <a:r>
                        <a:rPr lang="en-US" sz="1200" b="1" i="0" u="none" strike="noStrike" baseline="0" dirty="0" smtClean="0">
                          <a:solidFill>
                            <a:srgbClr val="000000"/>
                          </a:solidFill>
                          <a:effectLst/>
                          <a:latin typeface="Times New Roman" panose="02020603050405020304" pitchFamily="18" charset="0"/>
                          <a:cs typeface="Times New Roman" panose="02020603050405020304" pitchFamily="18" charset="0"/>
                        </a:rPr>
                        <a:t> NHẬT </a:t>
                      </a:r>
                      <a:r>
                        <a:rPr lang="en-US" sz="1200" b="1" i="0" u="none" strike="noStrike" dirty="0" smtClean="0">
                          <a:solidFill>
                            <a:srgbClr val="000000"/>
                          </a:solidFill>
                          <a:effectLst/>
                          <a:latin typeface="Times New Roman" panose="02020603050405020304" pitchFamily="18" charset="0"/>
                          <a:cs typeface="Times New Roman" panose="02020603050405020304" pitchFamily="18" charset="0"/>
                        </a:rPr>
                        <a:t>02/02)</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33264817"/>
                  </a:ext>
                </a:extLst>
              </a:tr>
              <a:tr h="576960">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Jan-25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Feb-25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16904581"/>
                  </a:ext>
                </a:extLst>
              </a:tr>
              <a:tr h="888519">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dirty="0">
                          <a:solidFill>
                            <a:srgbClr val="000000"/>
                          </a:solidFill>
                          <a:effectLst/>
                          <a:latin typeface="Times New Roman" panose="02020603050405020304" pitchFamily="18" charset="0"/>
                          <a:cs typeface="Times New Roman" panose="02020603050405020304" pitchFamily="18" charset="0"/>
                        </a:rPr>
                        <a:t>A321 NEO AOG</a:t>
                      </a:r>
                      <a:br>
                        <a:rPr lang="pt-BR" sz="1200" b="1" i="0" u="none" strike="noStrike" dirty="0">
                          <a:solidFill>
                            <a:srgbClr val="000000"/>
                          </a:solidFill>
                          <a:effectLst/>
                          <a:latin typeface="Times New Roman" panose="02020603050405020304" pitchFamily="18" charset="0"/>
                          <a:cs typeface="Times New Roman" panose="02020603050405020304" pitchFamily="18" charset="0"/>
                        </a:rPr>
                      </a:br>
                      <a:r>
                        <a:rPr lang="pt-BR" sz="1200" b="1" i="0" u="none" strike="noStrike" dirty="0">
                          <a:solidFill>
                            <a:srgbClr val="000000"/>
                          </a:solidFill>
                          <a:effectLst/>
                          <a:latin typeface="Times New Roman" panose="02020603050405020304" pitchFamily="18" charset="0"/>
                          <a:cs typeface="Times New Roman" panose="02020603050405020304" pitchFamily="18" charset="0"/>
                        </a:rPr>
                        <a:t>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02/2025: thêm 01 tàu dừng do ENG về muộn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4361035"/>
                  </a:ext>
                </a:extLst>
              </a:tr>
              <a:tr h="807746">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cs typeface="Times New Roman" panose="02020603050405020304" pitchFamily="18" charset="0"/>
                        </a:rPr>
                        <a:t>A321 CEO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048821190"/>
                  </a:ext>
                </a:extLst>
              </a:tr>
              <a:tr h="1061608">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A321 dừng thực hiện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17.00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03/2025:</a:t>
                      </a:r>
                      <a:r>
                        <a:rPr lang="en-US" sz="1200" b="0" i="0" u="none" strike="noStrike" baseline="0" dirty="0" smtClean="0">
                          <a:solidFill>
                            <a:srgbClr val="000000"/>
                          </a:solidFill>
                          <a:effectLst/>
                          <a:latin typeface="Times New Roman" panose="02020603050405020304" pitchFamily="18" charset="0"/>
                          <a:cs typeface="Times New Roman" panose="02020603050405020304" pitchFamily="18" charset="0"/>
                        </a:rPr>
                        <a:t> </a:t>
                      </a:r>
                      <a:r>
                        <a:rPr lang="vi-VN" sz="1200" b="0" i="0" u="none" strike="noStrike" dirty="0" smtClean="0">
                          <a:solidFill>
                            <a:srgbClr val="000000"/>
                          </a:solidFill>
                          <a:effectLst/>
                          <a:latin typeface="Times New Roman" panose="02020603050405020304" pitchFamily="18" charset="0"/>
                          <a:cs typeface="Times New Roman" panose="02020603050405020304" pitchFamily="18" charset="0"/>
                        </a:rPr>
                        <a:t>Giảm </a:t>
                      </a:r>
                      <a:r>
                        <a:rPr lang="vi-VN" sz="1200" b="0" i="0" u="none" strike="noStrike" dirty="0">
                          <a:solidFill>
                            <a:srgbClr val="000000"/>
                          </a:solidFill>
                          <a:effectLst/>
                          <a:latin typeface="Times New Roman" panose="02020603050405020304" pitchFamily="18" charset="0"/>
                          <a:cs typeface="Times New Roman" panose="02020603050405020304" pitchFamily="18" charset="0"/>
                        </a:rPr>
                        <a:t>0.3 tàu dừng BD từ 18-27/03 để bay bù A870 sơn cánh.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2471416"/>
                  </a:ext>
                </a:extLst>
              </a:tr>
              <a:tr h="761588">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(Do thiếu ENG + BD)</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(4) = (1) + (2)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768191437"/>
                  </a:ext>
                </a:extLst>
              </a:tr>
              <a:tr h="761588">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Tổng số tàu A321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dirty="0">
                          <a:solidFill>
                            <a:srgbClr val="FF0000"/>
                          </a:solidFill>
                          <a:effectLst/>
                          <a:latin typeface="Times New Roman" panose="02020603050405020304" pitchFamily="18" charset="0"/>
                          <a:cs typeface="Times New Roman" panose="02020603050405020304" pitchFamily="18" charset="0"/>
                        </a:rPr>
                        <a:t>Chưa bao gồm các tàu thuê ướt khai thác cao điểm têt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5236036"/>
                  </a:ext>
                </a:extLst>
              </a:tr>
            </a:tbl>
          </a:graphicData>
        </a:graphic>
      </p:graphicFrame>
    </p:spTree>
    <p:extLst>
      <p:ext uri="{BB962C8B-B14F-4D97-AF65-F5344CB8AC3E}">
        <p14:creationId xmlns:p14="http://schemas.microsoft.com/office/powerpoint/2010/main" val="10635626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457200" y="152400"/>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2" name="Table 1"/>
          <p:cNvGraphicFramePr>
            <a:graphicFrameLocks noGrp="1"/>
          </p:cNvGraphicFramePr>
          <p:nvPr>
            <p:extLst/>
          </p:nvPr>
        </p:nvGraphicFramePr>
        <p:xfrm>
          <a:off x="228600" y="914400"/>
          <a:ext cx="11745719" cy="5741278"/>
        </p:xfrm>
        <a:graphic>
          <a:graphicData uri="http://schemas.openxmlformats.org/drawingml/2006/table">
            <a:tbl>
              <a:tblPr/>
              <a:tblGrid>
                <a:gridCol w="375579">
                  <a:extLst>
                    <a:ext uri="{9D8B030D-6E8A-4147-A177-3AD203B41FA5}">
                      <a16:colId xmlns:a16="http://schemas.microsoft.com/office/drawing/2014/main" val="817375"/>
                    </a:ext>
                  </a:extLst>
                </a:gridCol>
                <a:gridCol w="2568483">
                  <a:extLst>
                    <a:ext uri="{9D8B030D-6E8A-4147-A177-3AD203B41FA5}">
                      <a16:colId xmlns:a16="http://schemas.microsoft.com/office/drawing/2014/main" val="1529949278"/>
                    </a:ext>
                  </a:extLst>
                </a:gridCol>
                <a:gridCol w="484619">
                  <a:extLst>
                    <a:ext uri="{9D8B030D-6E8A-4147-A177-3AD203B41FA5}">
                      <a16:colId xmlns:a16="http://schemas.microsoft.com/office/drawing/2014/main" val="4149010681"/>
                    </a:ext>
                  </a:extLst>
                </a:gridCol>
                <a:gridCol w="487363">
                  <a:extLst>
                    <a:ext uri="{9D8B030D-6E8A-4147-A177-3AD203B41FA5}">
                      <a16:colId xmlns:a16="http://schemas.microsoft.com/office/drawing/2014/main" val="2252686956"/>
                    </a:ext>
                  </a:extLst>
                </a:gridCol>
                <a:gridCol w="524573">
                  <a:extLst>
                    <a:ext uri="{9D8B030D-6E8A-4147-A177-3AD203B41FA5}">
                      <a16:colId xmlns:a16="http://schemas.microsoft.com/office/drawing/2014/main" val="4140546131"/>
                    </a:ext>
                  </a:extLst>
                </a:gridCol>
                <a:gridCol w="460388">
                  <a:extLst>
                    <a:ext uri="{9D8B030D-6E8A-4147-A177-3AD203B41FA5}">
                      <a16:colId xmlns:a16="http://schemas.microsoft.com/office/drawing/2014/main" val="1448379832"/>
                    </a:ext>
                  </a:extLst>
                </a:gridCol>
                <a:gridCol w="538163">
                  <a:extLst>
                    <a:ext uri="{9D8B030D-6E8A-4147-A177-3AD203B41FA5}">
                      <a16:colId xmlns:a16="http://schemas.microsoft.com/office/drawing/2014/main" val="405589188"/>
                    </a:ext>
                  </a:extLst>
                </a:gridCol>
                <a:gridCol w="460388">
                  <a:extLst>
                    <a:ext uri="{9D8B030D-6E8A-4147-A177-3AD203B41FA5}">
                      <a16:colId xmlns:a16="http://schemas.microsoft.com/office/drawing/2014/main" val="1909601477"/>
                    </a:ext>
                  </a:extLst>
                </a:gridCol>
                <a:gridCol w="460388">
                  <a:extLst>
                    <a:ext uri="{9D8B030D-6E8A-4147-A177-3AD203B41FA5}">
                      <a16:colId xmlns:a16="http://schemas.microsoft.com/office/drawing/2014/main" val="2845246498"/>
                    </a:ext>
                  </a:extLst>
                </a:gridCol>
                <a:gridCol w="484619">
                  <a:extLst>
                    <a:ext uri="{9D8B030D-6E8A-4147-A177-3AD203B41FA5}">
                      <a16:colId xmlns:a16="http://schemas.microsoft.com/office/drawing/2014/main" val="3919526665"/>
                    </a:ext>
                  </a:extLst>
                </a:gridCol>
                <a:gridCol w="484619">
                  <a:extLst>
                    <a:ext uri="{9D8B030D-6E8A-4147-A177-3AD203B41FA5}">
                      <a16:colId xmlns:a16="http://schemas.microsoft.com/office/drawing/2014/main" val="1767973540"/>
                    </a:ext>
                  </a:extLst>
                </a:gridCol>
                <a:gridCol w="460388">
                  <a:extLst>
                    <a:ext uri="{9D8B030D-6E8A-4147-A177-3AD203B41FA5}">
                      <a16:colId xmlns:a16="http://schemas.microsoft.com/office/drawing/2014/main" val="1087598064"/>
                    </a:ext>
                  </a:extLst>
                </a:gridCol>
                <a:gridCol w="503237">
                  <a:extLst>
                    <a:ext uri="{9D8B030D-6E8A-4147-A177-3AD203B41FA5}">
                      <a16:colId xmlns:a16="http://schemas.microsoft.com/office/drawing/2014/main" val="501344570"/>
                    </a:ext>
                  </a:extLst>
                </a:gridCol>
                <a:gridCol w="484619">
                  <a:extLst>
                    <a:ext uri="{9D8B030D-6E8A-4147-A177-3AD203B41FA5}">
                      <a16:colId xmlns:a16="http://schemas.microsoft.com/office/drawing/2014/main" val="3595488883"/>
                    </a:ext>
                  </a:extLst>
                </a:gridCol>
                <a:gridCol w="2968293">
                  <a:extLst>
                    <a:ext uri="{9D8B030D-6E8A-4147-A177-3AD203B41FA5}">
                      <a16:colId xmlns:a16="http://schemas.microsoft.com/office/drawing/2014/main" val="2246397765"/>
                    </a:ext>
                  </a:extLst>
                </a:gridCol>
              </a:tblGrid>
              <a:tr h="378175">
                <a:tc gridSpan="15">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NGUỒN LỰC KỸ THUÂT A350/B787 </a:t>
                      </a:r>
                      <a:r>
                        <a:rPr lang="en-US" sz="1200" b="1" i="0" u="none" strike="noStrike" dirty="0" smtClean="0">
                          <a:solidFill>
                            <a:srgbClr val="000000"/>
                          </a:solidFill>
                          <a:effectLst/>
                          <a:latin typeface="Times New Roman" panose="02020603050405020304" pitchFamily="18" charset="0"/>
                          <a:cs typeface="Times New Roman" panose="02020603050405020304" pitchFamily="18" charset="0"/>
                        </a:rPr>
                        <a:t>(CẬP</a:t>
                      </a:r>
                      <a:r>
                        <a:rPr lang="en-US" sz="1200" b="1" i="0" u="none" strike="noStrike" baseline="0" dirty="0" smtClean="0">
                          <a:solidFill>
                            <a:srgbClr val="000000"/>
                          </a:solidFill>
                          <a:effectLst/>
                          <a:latin typeface="Times New Roman" panose="02020603050405020304" pitchFamily="18" charset="0"/>
                          <a:cs typeface="Times New Roman" panose="02020603050405020304" pitchFamily="18" charset="0"/>
                        </a:rPr>
                        <a:t> NHẬT </a:t>
                      </a:r>
                      <a:r>
                        <a:rPr lang="en-US" sz="1200" b="1" i="0" u="none" strike="noStrike" dirty="0" smtClean="0">
                          <a:solidFill>
                            <a:srgbClr val="000000"/>
                          </a:solidFill>
                          <a:effectLst/>
                          <a:latin typeface="Times New Roman" panose="02020603050405020304" pitchFamily="18" charset="0"/>
                          <a:cs typeface="Times New Roman" panose="02020603050405020304" pitchFamily="18" charset="0"/>
                        </a:rPr>
                        <a:t>02/02)</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87534103"/>
                  </a:ext>
                </a:extLst>
              </a:tr>
              <a:tr h="536225">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Jan-25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Feb-25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730821952"/>
                  </a:ext>
                </a:extLst>
              </a:tr>
              <a:tr h="495064">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cs typeface="Times New Roman" panose="02020603050405020304" pitchFamily="18" charset="0"/>
                        </a:rPr>
                        <a:t>A350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7925164"/>
                  </a:ext>
                </a:extLst>
              </a:tr>
              <a:tr h="458393">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780480580"/>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(3) = (1) +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5747064"/>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(4) = 14 -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406399928"/>
                  </a:ext>
                </a:extLst>
              </a:tr>
              <a:tr h="664670">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cs typeface="Times New Roman" panose="02020603050405020304" pitchFamily="18" charset="0"/>
                        </a:rPr>
                        <a:t>B787 rủi ro AOG do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6564457"/>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B787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dirty="0">
                          <a:solidFill>
                            <a:schemeClr val="tx1"/>
                          </a:solidFill>
                          <a:effectLst/>
                          <a:latin typeface="Times New Roman" panose="02020603050405020304" pitchFamily="18" charset="0"/>
                          <a:cs typeface="Times New Roman" panose="02020603050405020304" pitchFamily="18" charset="0"/>
                        </a:rPr>
                        <a:t>03/2025: tăng 0.3 tàu dừng do bổ sung sơn cánh A870 từ 18-27/03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407918521"/>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nb-NO" sz="1200" b="1" i="0" u="none" strike="noStrike">
                          <a:solidFill>
                            <a:srgbClr val="000000"/>
                          </a:solidFill>
                          <a:effectLst/>
                          <a:latin typeface="Times New Roman" panose="02020603050405020304" pitchFamily="18" charset="0"/>
                          <a:cs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cs typeface="Times New Roman" panose="02020603050405020304" pitchFamily="18" charset="0"/>
                        </a:rPr>
                      </a:br>
                      <a:r>
                        <a:rPr lang="nb-NO" sz="1200" b="1" i="0" u="none" strike="noStrike">
                          <a:solidFill>
                            <a:srgbClr val="000000"/>
                          </a:solidFill>
                          <a:effectLst/>
                          <a:latin typeface="Times New Roman" panose="02020603050405020304" pitchFamily="18" charset="0"/>
                          <a:cs typeface="Times New Roman" panose="02020603050405020304" pitchFamily="18" charset="0"/>
                        </a:rPr>
                        <a:t>(7) = (5) + (6)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4114399"/>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B787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472917714"/>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(9) = (3) + (7)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13649207"/>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A350/B787 thực tế có thể khai thác</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(10) = (8) +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86130565"/>
                  </a:ext>
                </a:extLst>
              </a:tr>
            </a:tbl>
          </a:graphicData>
        </a:graphic>
      </p:graphicFrame>
    </p:spTree>
    <p:extLst>
      <p:ext uri="{BB962C8B-B14F-4D97-AF65-F5344CB8AC3E}">
        <p14:creationId xmlns:p14="http://schemas.microsoft.com/office/powerpoint/2010/main" val="14727165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6"/>
          <p:cNvSpPr txBox="1"/>
          <p:nvPr/>
        </p:nvSpPr>
        <p:spPr>
          <a:xfrm>
            <a:off x="761998" y="527600"/>
            <a:ext cx="10820401" cy="543635"/>
          </a:xfrm>
          <a:prstGeom prst="rect">
            <a:avLst/>
          </a:prstGeom>
          <a:noFill/>
          <a:ln>
            <a:noFill/>
          </a:ln>
        </p:spPr>
        <p:txBody>
          <a:bodyPr spcFirstLastPara="1" wrap="square" lIns="91433" tIns="45700" rIns="91433" bIns="45700" anchor="t" anchorCtr="0">
            <a:spAutoFit/>
          </a:bodyPr>
          <a:lstStyle/>
          <a:p>
            <a:pPr lvl="0"/>
            <a:r>
              <a:rPr lang="en-US" sz="2800" b="1" dirty="0">
                <a:ln w="0"/>
                <a:solidFill>
                  <a:srgbClr val="FBAC00"/>
                </a:solidFill>
                <a:latin typeface="Times New Roman" panose="02020603050405020304" pitchFamily="18" charset="0"/>
                <a:cs typeface="Times New Roman" panose="02020603050405020304" pitchFamily="18" charset="0"/>
              </a:rPr>
              <a:t>CÔNG TÁC BÁN TRẢ/TIẾP NHẬN/BÀN GIAO TÀU BAY</a:t>
            </a:r>
            <a:endParaRPr sz="2800" dirty="0"/>
          </a:p>
        </p:txBody>
      </p:sp>
      <p:sp>
        <p:nvSpPr>
          <p:cNvPr id="66" name="Google Shape;66;p6"/>
          <p:cNvSpPr txBox="1"/>
          <p:nvPr/>
        </p:nvSpPr>
        <p:spPr>
          <a:xfrm>
            <a:off x="761999" y="1317577"/>
            <a:ext cx="10820401" cy="4893607"/>
          </a:xfrm>
          <a:prstGeom prst="rect">
            <a:avLst/>
          </a:prstGeom>
          <a:noFill/>
          <a:ln>
            <a:noFill/>
          </a:ln>
        </p:spPr>
        <p:txBody>
          <a:bodyPr spcFirstLastPara="1" wrap="square" lIns="91433" tIns="45700" rIns="91433" bIns="45700" anchor="t" anchorCtr="0">
            <a:spAutoFit/>
          </a:bodyPr>
          <a:lstStyle/>
          <a:p>
            <a:pPr algn="just"/>
            <a:r>
              <a:rPr lang="en-US" sz="1600" b="1" dirty="0">
                <a:latin typeface="Times New Roman" panose="02020603050405020304" pitchFamily="18" charset="0"/>
                <a:cs typeface="Times New Roman" panose="02020603050405020304" pitchFamily="18" charset="0"/>
              </a:rPr>
              <a:t>1</a:t>
            </a:r>
            <a:r>
              <a:rPr lang="en-US" sz="1600" b="1">
                <a:latin typeface="Times New Roman" panose="02020603050405020304" pitchFamily="18" charset="0"/>
                <a:cs typeface="Times New Roman" panose="02020603050405020304" pitchFamily="18" charset="0"/>
              </a:rPr>
              <a:t>. </a:t>
            </a:r>
            <a:r>
              <a:rPr lang="en-US" sz="1600" b="1" smtClean="0">
                <a:latin typeface="Times New Roman" panose="02020603050405020304" pitchFamily="18" charset="0"/>
                <a:cs typeface="Times New Roman" panose="02020603050405020304" pitchFamily="18" charset="0"/>
              </a:rPr>
              <a:t> TÀU </a:t>
            </a:r>
            <a:r>
              <a:rPr lang="en-US" sz="1600" b="1" dirty="0">
                <a:latin typeface="Times New Roman" panose="02020603050405020304" pitchFamily="18" charset="0"/>
                <a:cs typeface="Times New Roman" panose="02020603050405020304" pitchFamily="18" charset="0"/>
              </a:rPr>
              <a:t>BAY THUÊ ƯỚT </a:t>
            </a:r>
          </a:p>
          <a:p>
            <a:pPr lvl="1" algn="just"/>
            <a:r>
              <a:rPr lang="en-US" sz="160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VNA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03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A320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ướt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của</a:t>
            </a:r>
            <a:r>
              <a:rPr lang="en-US" sz="1600" dirty="0">
                <a:latin typeface="Times New Roman" panose="02020603050405020304" pitchFamily="18" charset="0"/>
                <a:cs typeface="Times New Roman" panose="02020603050405020304" pitchFamily="18" charset="0"/>
              </a:rPr>
              <a:t> Avion </a:t>
            </a:r>
            <a:r>
              <a:rPr lang="en-US" sz="1600" dirty="0" err="1">
                <a:latin typeface="Times New Roman" panose="02020603050405020304" pitchFamily="18" charset="0"/>
                <a:cs typeface="Times New Roman" panose="02020603050405020304" pitchFamily="18" charset="0"/>
              </a:rPr>
              <a:t>để</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tăng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cường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cao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điểm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Tết</a:t>
            </a:r>
            <a:r>
              <a:rPr lang="en-US" sz="1600" dirty="0">
                <a:latin typeface="Times New Roman" panose="02020603050405020304" pitchFamily="18" charset="0"/>
                <a:cs typeface="Times New Roman" panose="02020603050405020304" pitchFamily="18" charset="0"/>
              </a:rPr>
              <a:t>: 03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số</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đăng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ký</a:t>
            </a:r>
            <a:r>
              <a:rPr lang="en-US" sz="1600" dirty="0">
                <a:latin typeface="Times New Roman" panose="02020603050405020304" pitchFamily="18" charset="0"/>
                <a:cs typeface="Times New Roman" panose="02020603050405020304" pitchFamily="18" charset="0"/>
              </a:rPr>
              <a:t> 9H-MLE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9H-MLO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9H-MLY. Ba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ướt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cho</a:t>
            </a:r>
            <a:r>
              <a:rPr lang="en-US" sz="1600" dirty="0">
                <a:latin typeface="Times New Roman" panose="02020603050405020304" pitchFamily="18" charset="0"/>
                <a:cs typeface="Times New Roman" panose="02020603050405020304" pitchFamily="18" charset="0"/>
              </a:rPr>
              <a:t> VNA, </a:t>
            </a:r>
            <a:r>
              <a:rPr lang="en-US" sz="1600" dirty="0" err="1">
                <a:latin typeface="Times New Roman" panose="02020603050405020304" pitchFamily="18" charset="0"/>
                <a:cs typeface="Times New Roman" panose="02020603050405020304" pitchFamily="18" charset="0"/>
              </a:rPr>
              <a:t>dự</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kiến</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cao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điểm</a:t>
            </a:r>
            <a:r>
              <a:rPr lang="en-US" sz="1600" dirty="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Tết</a:t>
            </a:r>
            <a:r>
              <a:rPr lang="en-US" sz="1600" smtClean="0">
                <a:latin typeface="Times New Roman" panose="02020603050405020304" pitchFamily="18" charset="0"/>
                <a:cs typeface="Times New Roman" panose="02020603050405020304" pitchFamily="18" charset="0"/>
              </a:rPr>
              <a:t>.</a:t>
            </a:r>
          </a:p>
          <a:p>
            <a:pPr lvl="2" algn="just"/>
            <a:endParaRPr lang="en-US" sz="1600" b="1">
              <a:latin typeface="Times New Roman" panose="02020603050405020304" pitchFamily="18" charset="0"/>
              <a:cs typeface="Times New Roman" panose="02020603050405020304" pitchFamily="18" charset="0"/>
            </a:endParaRPr>
          </a:p>
          <a:p>
            <a:pPr lvl="0" algn="just"/>
            <a:r>
              <a:rPr lang="en-US" sz="1600" b="1">
                <a:latin typeface="Times New Roman" panose="02020603050405020304" pitchFamily="18" charset="0"/>
                <a:cs typeface="Times New Roman" panose="02020603050405020304" pitchFamily="18" charset="0"/>
              </a:rPr>
              <a:t>2. </a:t>
            </a:r>
            <a:r>
              <a:rPr lang="en-US" sz="1600" b="1" smtClean="0">
                <a:latin typeface="Times New Roman" panose="02020603050405020304" pitchFamily="18" charset="0"/>
                <a:cs typeface="Times New Roman" panose="02020603050405020304" pitchFamily="18" charset="0"/>
              </a:rPr>
              <a:t> GIA </a:t>
            </a:r>
            <a:r>
              <a:rPr lang="en-US" sz="1600" b="1">
                <a:latin typeface="Times New Roman" panose="02020603050405020304" pitchFamily="18" charset="0"/>
                <a:cs typeface="Times New Roman" panose="02020603050405020304" pitchFamily="18" charset="0"/>
              </a:rPr>
              <a:t>HẠN THUÊ 10 TÀU VALC </a:t>
            </a:r>
          </a:p>
          <a:p>
            <a:pPr algn="just"/>
            <a:r>
              <a:rPr lang="en-US" sz="1600">
                <a:latin typeface="Times New Roman" panose="02020603050405020304" pitchFamily="18" charset="0"/>
                <a:cs typeface="Times New Roman" panose="02020603050405020304" pitchFamily="18" charset="0"/>
              </a:rPr>
              <a:t>VNA và VALC đã đồng ý gia hạn tạm thời 10 tàu thuê đến hết 31/03/2025. Hiện có 02 đối tác quan tâm tới mua và cho thuê lại tàu bay là Arena và FTAI</a:t>
            </a:r>
          </a:p>
          <a:p>
            <a:pPr lvl="0" algn="just"/>
            <a:r>
              <a:rPr lang="en-US" sz="1600">
                <a:latin typeface="Times New Roman" panose="02020603050405020304" pitchFamily="18" charset="0"/>
                <a:cs typeface="Times New Roman" panose="02020603050405020304" pitchFamily="18" charset="0"/>
              </a:rPr>
              <a:t>2.1 </a:t>
            </a:r>
            <a:r>
              <a:rPr lang="en-US" sz="1600" smtClean="0">
                <a:latin typeface="Times New Roman" panose="02020603050405020304" pitchFamily="18" charset="0"/>
                <a:cs typeface="Times New Roman" panose="02020603050405020304" pitchFamily="18" charset="0"/>
              </a:rPr>
              <a:t> Arena</a:t>
            </a:r>
            <a:r>
              <a:rPr lang="en-US" sz="1600">
                <a:latin typeface="Times New Roman" panose="02020603050405020304" pitchFamily="18" charset="0"/>
                <a:cs typeface="Times New Roman" panose="02020603050405020304" pitchFamily="18" charset="0"/>
              </a:rPr>
              <a:t>: Bản chào gia hạn thuê 10 tàu A321 với thời gian trung bình 5 năm, hiện đang trong quá trình đàm phán gia hạn. Cơ bản đã đàm phán thống nhất các nội dung liên quan tới KT</a:t>
            </a:r>
          </a:p>
          <a:p>
            <a:pPr lvl="0" algn="just"/>
            <a:r>
              <a:rPr lang="en-US" sz="1600">
                <a:latin typeface="Times New Roman" panose="02020603050405020304" pitchFamily="18" charset="0"/>
                <a:cs typeface="Times New Roman" panose="02020603050405020304" pitchFamily="18" charset="0"/>
              </a:rPr>
              <a:t>Các vấn đề lớn / cơ bản Arena đang đề xuất:</a:t>
            </a:r>
          </a:p>
          <a:p>
            <a:pPr lvl="1" algn="just">
              <a:spcBef>
                <a:spcPts val="600"/>
              </a:spcBef>
              <a:spcAft>
                <a:spcPts val="600"/>
              </a:spcAft>
            </a:pPr>
            <a:r>
              <a:rPr lang="en-US" sz="1600">
                <a:latin typeface="Times New Roman" panose="02020603050405020304" pitchFamily="18" charset="0"/>
                <a:cs typeface="Times New Roman" panose="02020603050405020304" pitchFamily="18" charset="0"/>
              </a:rPr>
              <a:t>a. </a:t>
            </a:r>
            <a:r>
              <a:rPr lang="en-US" sz="1600" smtClean="0">
                <a:latin typeface="Times New Roman" panose="02020603050405020304" pitchFamily="18" charset="0"/>
                <a:cs typeface="Times New Roman" panose="02020603050405020304" pitchFamily="18" charset="0"/>
              </a:rPr>
              <a:t> </a:t>
            </a:r>
            <a:r>
              <a:rPr lang="vi-VN" sz="1600" smtClean="0">
                <a:latin typeface="Times New Roman" panose="02020603050405020304" pitchFamily="18" charset="0"/>
                <a:cs typeface="Times New Roman" panose="02020603050405020304" pitchFamily="18" charset="0"/>
              </a:rPr>
              <a:t>10 </a:t>
            </a:r>
            <a:r>
              <a:rPr lang="vi-VN" sz="1600">
                <a:latin typeface="Times New Roman" panose="02020603050405020304" pitchFamily="18" charset="0"/>
                <a:cs typeface="Times New Roman" panose="02020603050405020304" pitchFamily="18" charset="0"/>
              </a:rPr>
              <a:t>tàu bay cần được duy trì khả năng khai thác sau khi hết hợp đồng gia hạn với Arena.</a:t>
            </a:r>
          </a:p>
          <a:p>
            <a:pPr lvl="1" algn="just">
              <a:spcBef>
                <a:spcPts val="600"/>
              </a:spcBef>
              <a:spcAft>
                <a:spcPts val="600"/>
              </a:spcAft>
            </a:pPr>
            <a:r>
              <a:rPr lang="en-US" sz="1600">
                <a:latin typeface="Times New Roman" panose="02020603050405020304" pitchFamily="18" charset="0"/>
                <a:cs typeface="Times New Roman" panose="02020603050405020304" pitchFamily="18" charset="0"/>
              </a:rPr>
              <a:t>b</a:t>
            </a:r>
            <a:r>
              <a:rPr lang="en-US" sz="1600" smtClean="0">
                <a:latin typeface="Times New Roman" panose="02020603050405020304" pitchFamily="18" charset="0"/>
                <a:cs typeface="Times New Roman" panose="02020603050405020304" pitchFamily="18" charset="0"/>
              </a:rPr>
              <a:t>.  </a:t>
            </a:r>
            <a:r>
              <a:rPr lang="vi-VN" sz="1600" smtClean="0">
                <a:latin typeface="Times New Roman" panose="02020603050405020304" pitchFamily="18" charset="0"/>
                <a:cs typeface="Times New Roman" panose="02020603050405020304" pitchFamily="18" charset="0"/>
              </a:rPr>
              <a:t>Thực </a:t>
            </a:r>
            <a:r>
              <a:rPr lang="vi-VN" sz="1600">
                <a:latin typeface="Times New Roman" panose="02020603050405020304" pitchFamily="18" charset="0"/>
                <a:cs typeface="Times New Roman" panose="02020603050405020304" pitchFamily="18" charset="0"/>
              </a:rPr>
              <a:t>hiện balancing quỹ bảo dưỡng sau khi kết thúc gia hạn thuê.</a:t>
            </a:r>
          </a:p>
          <a:p>
            <a:pPr lvl="1" algn="just">
              <a:spcBef>
                <a:spcPts val="600"/>
              </a:spcBef>
              <a:spcAft>
                <a:spcPts val="600"/>
              </a:spcAft>
            </a:pPr>
            <a:r>
              <a:rPr lang="en-US" sz="1600">
                <a:latin typeface="Times New Roman" panose="02020603050405020304" pitchFamily="18" charset="0"/>
                <a:cs typeface="Times New Roman" panose="02020603050405020304" pitchFamily="18" charset="0"/>
              </a:rPr>
              <a:t>c</a:t>
            </a:r>
            <a:r>
              <a:rPr lang="en-US" sz="1600" smtClean="0">
                <a:latin typeface="Times New Roman" panose="02020603050405020304" pitchFamily="18" charset="0"/>
                <a:cs typeface="Times New Roman" panose="02020603050405020304" pitchFamily="18" charset="0"/>
              </a:rPr>
              <a:t>.  </a:t>
            </a:r>
            <a:r>
              <a:rPr lang="vi-VN" sz="1600" smtClean="0">
                <a:latin typeface="Times New Roman" panose="02020603050405020304" pitchFamily="18" charset="0"/>
                <a:cs typeface="Times New Roman" panose="02020603050405020304" pitchFamily="18" charset="0"/>
              </a:rPr>
              <a:t>Đồng </a:t>
            </a:r>
            <a:r>
              <a:rPr lang="vi-VN" sz="1600">
                <a:latin typeface="Times New Roman" panose="02020603050405020304" pitchFamily="18" charset="0"/>
                <a:cs typeface="Times New Roman" panose="02020603050405020304" pitchFamily="18" charset="0"/>
              </a:rPr>
              <a:t>ý giảm MR và đề xuất phương án buy-out</a:t>
            </a:r>
            <a:r>
              <a:rPr lang="en-US" sz="1600">
                <a:latin typeface="Times New Roman" panose="02020603050405020304" pitchFamily="18" charset="0"/>
                <a:cs typeface="Times New Roman" panose="02020603050405020304" pitchFamily="18" charset="0"/>
              </a:rPr>
              <a:t> </a:t>
            </a:r>
            <a:r>
              <a:rPr lang="vi-VN" sz="1600">
                <a:latin typeface="Times New Roman" panose="02020603050405020304" pitchFamily="18" charset="0"/>
                <a:cs typeface="Times New Roman" panose="02020603050405020304" pitchFamily="18" charset="0"/>
              </a:rPr>
              <a:t>cho </a:t>
            </a:r>
            <a:r>
              <a:rPr lang="en-US" sz="1600">
                <a:latin typeface="Times New Roman" panose="02020603050405020304" pitchFamily="18" charset="0"/>
                <a:cs typeface="Times New Roman" panose="02020603050405020304" pitchFamily="18" charset="0"/>
              </a:rPr>
              <a:t>một số </a:t>
            </a:r>
            <a:r>
              <a:rPr lang="vi-VN" sz="1600">
                <a:latin typeface="Times New Roman" panose="02020603050405020304" pitchFamily="18" charset="0"/>
                <a:cs typeface="Times New Roman" panose="02020603050405020304" pitchFamily="18" charset="0"/>
              </a:rPr>
              <a:t>điều kiện trả</a:t>
            </a:r>
            <a:r>
              <a:rPr lang="en-US" sz="1600" smtClean="0">
                <a:latin typeface="Times New Roman" panose="02020603050405020304" pitchFamily="18" charset="0"/>
                <a:cs typeface="Times New Roman" panose="02020603050405020304" pitchFamily="18" charset="0"/>
              </a:rPr>
              <a:t>.</a:t>
            </a:r>
          </a:p>
          <a:p>
            <a:pPr algn="just">
              <a:spcBef>
                <a:spcPts val="600"/>
              </a:spcBef>
              <a:spcAft>
                <a:spcPts val="600"/>
              </a:spcAft>
            </a:pPr>
            <a:r>
              <a:rPr lang="en-US" sz="1600" smtClean="0">
                <a:latin typeface="Times New Roman" panose="02020603050405020304" pitchFamily="18" charset="0"/>
                <a:cs typeface="Times New Roman" panose="02020603050405020304" pitchFamily="18" charset="0"/>
              </a:rPr>
              <a:t>2.2  FTAI</a:t>
            </a:r>
            <a:r>
              <a:rPr lang="en-US" sz="1600">
                <a:latin typeface="Times New Roman" panose="02020603050405020304" pitchFamily="18" charset="0"/>
                <a:cs typeface="Times New Roman" panose="02020603050405020304" pitchFamily="18" charset="0"/>
              </a:rPr>
              <a:t>: Bản chào thuê 10 tàu A321 với điều kiện trả là As-is, có đảm bảo hỗ trợ động cơ khai thác đến hết run-out. Không phải thực hiện đóng quỹ ngoại trừ động cơ. Bàn chào có nhiều thuận lợi cho VNA trong quá trình khai thác và trả tàu bay. </a:t>
            </a:r>
          </a:p>
          <a:p>
            <a:pPr lvl="2"/>
            <a:endParaRPr lang="en-US" sz="1600" b="1" smtClean="0">
              <a:solidFill>
                <a:srgbClr val="006880"/>
              </a:solidFill>
              <a:latin typeface="Times New Roman" panose="02020603050405020304" pitchFamily="18" charset="0"/>
              <a:cs typeface="Times New Roman" panose="02020603050405020304" pitchFamily="18" charset="0"/>
            </a:endParaRPr>
          </a:p>
          <a:p>
            <a:endParaRPr sz="1600" b="1" dirty="0">
              <a:solidFill>
                <a:srgbClr val="006880"/>
              </a:solidFill>
              <a:latin typeface="Times New Roman" panose="02020603050405020304" pitchFamily="18" charset="0"/>
              <a:cs typeface="Times New Roman" panose="02020603050405020304" pitchFamily="18" charset="0"/>
            </a:endParaRPr>
          </a:p>
        </p:txBody>
      </p:sp>
      <p:sp>
        <p:nvSpPr>
          <p:cNvPr id="76" name="Google Shape;76;p6"/>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60</a:t>
            </a:fld>
            <a:endParaRPr/>
          </a:p>
        </p:txBody>
      </p:sp>
    </p:spTree>
    <p:extLst>
      <p:ext uri="{BB962C8B-B14F-4D97-AF65-F5344CB8AC3E}">
        <p14:creationId xmlns:p14="http://schemas.microsoft.com/office/powerpoint/2010/main" val="33482613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61</a:t>
            </a:fld>
            <a:endParaRPr lang="en-US"/>
          </a:p>
        </p:txBody>
      </p:sp>
      <p:sp>
        <p:nvSpPr>
          <p:cNvPr id="5" name="Title 4"/>
          <p:cNvSpPr>
            <a:spLocks noGrp="1"/>
          </p:cNvSpPr>
          <p:nvPr>
            <p:ph type="title"/>
          </p:nvPr>
        </p:nvSpPr>
        <p:spPr>
          <a:xfrm>
            <a:off x="228600" y="460710"/>
            <a:ext cx="5663033" cy="482045"/>
          </a:xfrm>
        </p:spPr>
        <p:txBody>
          <a:bodyPr>
            <a:noAutofit/>
          </a:bodyPr>
          <a:lstStyle/>
          <a:p>
            <a:r>
              <a:rPr lang="en-US" sz="2400">
                <a:ln w="0"/>
                <a:solidFill>
                  <a:srgbClr val="FFC000"/>
                </a:solidFill>
                <a:latin typeface="Times New Roman" panose="02020603050405020304" pitchFamily="18" charset="0"/>
                <a:ea typeface="+mn-ea"/>
                <a:cs typeface="Times New Roman" panose="02020603050405020304" pitchFamily="18" charset="0"/>
              </a:rPr>
              <a:t>NHÂN NHƯỢNG TRONG TUẦN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3" name="Table 2">
            <a:extLst>
              <a:ext uri="{FF2B5EF4-FFF2-40B4-BE49-F238E27FC236}">
                <a16:creationId xmlns:a16="http://schemas.microsoft.com/office/drawing/2014/main" id="{9939BBC6-8FED-8821-C375-FF087921F7A3}"/>
              </a:ext>
            </a:extLst>
          </p:cNvPr>
          <p:cNvGraphicFramePr>
            <a:graphicFrameLocks noGrp="1"/>
          </p:cNvGraphicFramePr>
          <p:nvPr>
            <p:extLst/>
          </p:nvPr>
        </p:nvGraphicFramePr>
        <p:xfrm>
          <a:off x="346709" y="3655614"/>
          <a:ext cx="11315702" cy="2442370"/>
        </p:xfrm>
        <a:graphic>
          <a:graphicData uri="http://schemas.openxmlformats.org/drawingml/2006/table">
            <a:tbl>
              <a:tblPr/>
              <a:tblGrid>
                <a:gridCol w="339091">
                  <a:extLst>
                    <a:ext uri="{9D8B030D-6E8A-4147-A177-3AD203B41FA5}">
                      <a16:colId xmlns:a16="http://schemas.microsoft.com/office/drawing/2014/main" val="1118715933"/>
                    </a:ext>
                  </a:extLst>
                </a:gridCol>
                <a:gridCol w="1580026">
                  <a:extLst>
                    <a:ext uri="{9D8B030D-6E8A-4147-A177-3AD203B41FA5}">
                      <a16:colId xmlns:a16="http://schemas.microsoft.com/office/drawing/2014/main" val="4010757683"/>
                    </a:ext>
                  </a:extLst>
                </a:gridCol>
                <a:gridCol w="395396">
                  <a:extLst>
                    <a:ext uri="{9D8B030D-6E8A-4147-A177-3AD203B41FA5}">
                      <a16:colId xmlns:a16="http://schemas.microsoft.com/office/drawing/2014/main" val="4055916400"/>
                    </a:ext>
                  </a:extLst>
                </a:gridCol>
                <a:gridCol w="483264">
                  <a:extLst>
                    <a:ext uri="{9D8B030D-6E8A-4147-A177-3AD203B41FA5}">
                      <a16:colId xmlns:a16="http://schemas.microsoft.com/office/drawing/2014/main" val="2027651970"/>
                    </a:ext>
                  </a:extLst>
                </a:gridCol>
                <a:gridCol w="4780314">
                  <a:extLst>
                    <a:ext uri="{9D8B030D-6E8A-4147-A177-3AD203B41FA5}">
                      <a16:colId xmlns:a16="http://schemas.microsoft.com/office/drawing/2014/main" val="2605435772"/>
                    </a:ext>
                  </a:extLst>
                </a:gridCol>
                <a:gridCol w="838200">
                  <a:extLst>
                    <a:ext uri="{9D8B030D-6E8A-4147-A177-3AD203B41FA5}">
                      <a16:colId xmlns:a16="http://schemas.microsoft.com/office/drawing/2014/main" val="1949965428"/>
                    </a:ext>
                  </a:extLst>
                </a:gridCol>
                <a:gridCol w="914400">
                  <a:extLst>
                    <a:ext uri="{9D8B030D-6E8A-4147-A177-3AD203B41FA5}">
                      <a16:colId xmlns:a16="http://schemas.microsoft.com/office/drawing/2014/main" val="1358526501"/>
                    </a:ext>
                  </a:extLst>
                </a:gridCol>
                <a:gridCol w="1512896">
                  <a:extLst>
                    <a:ext uri="{9D8B030D-6E8A-4147-A177-3AD203B41FA5}">
                      <a16:colId xmlns:a16="http://schemas.microsoft.com/office/drawing/2014/main" val="2944090261"/>
                    </a:ext>
                  </a:extLst>
                </a:gridCol>
                <a:gridCol w="472115">
                  <a:extLst>
                    <a:ext uri="{9D8B030D-6E8A-4147-A177-3AD203B41FA5}">
                      <a16:colId xmlns:a16="http://schemas.microsoft.com/office/drawing/2014/main" val="2725800542"/>
                    </a:ext>
                  </a:extLst>
                </a:gridCol>
              </a:tblGrid>
              <a:tr h="382986">
                <a:tc gridSpan="9">
                  <a:txBody>
                    <a:bodyPr/>
                    <a:lstStyle/>
                    <a:p>
                      <a:pPr algn="ctr" fontAlgn="ctr"/>
                      <a:r>
                        <a:rPr lang="vi-VN" sz="1200" b="1" i="0" u="none" strike="noStrike">
                          <a:solidFill>
                            <a:srgbClr val="000000"/>
                          </a:solidFill>
                          <a:effectLst/>
                          <a:latin typeface="Times New Roman" panose="02020603050405020304" pitchFamily="18" charset="0"/>
                        </a:rPr>
                        <a:t>BẢNG TỔNG HỢP VÀ THEO DÕI NHÂN NHƯỢNG - VIETNAM AIRLINES</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62891923"/>
                  </a:ext>
                </a:extLst>
              </a:tr>
              <a:tr h="398032">
                <a:tc>
                  <a:txBody>
                    <a:bodyPr/>
                    <a:lstStyle/>
                    <a:p>
                      <a:pPr algn="ctr" fontAlgn="ctr"/>
                      <a:r>
                        <a:rPr lang="en-US" sz="1200" b="1" i="0" u="none" strike="noStrike">
                          <a:solidFill>
                            <a:srgbClr val="000000"/>
                          </a:solidFill>
                          <a:effectLst/>
                          <a:latin typeface="Times New Roman" panose="02020603050405020304" pitchFamily="18" charset="0"/>
                        </a:rPr>
                        <a:t>No</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Concession No.</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Type</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Reg</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Description</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Issued By</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Issued Date</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ADD/CHK/Task No</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Status</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05700646"/>
                  </a:ext>
                </a:extLst>
              </a:tr>
              <a:tr h="729923">
                <a:tc>
                  <a:txBody>
                    <a:bodyPr/>
                    <a:lstStyle/>
                    <a:p>
                      <a:pPr algn="ctr" fontAlgn="ctr"/>
                      <a:r>
                        <a:rPr lang="en-US" sz="1200" b="0" i="0" u="none" strike="noStrike">
                          <a:solidFill>
                            <a:srgbClr val="000000"/>
                          </a:solidFill>
                          <a:effectLst/>
                          <a:latin typeface="Times New Roman" panose="02020603050405020304" pitchFamily="18" charset="0"/>
                        </a:rPr>
                        <a:t>1</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606-03/25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Task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A606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DUE TO LACK OF RESOURCE, SCHEDULE OF CMP TASKS 72-ECO-00 CLEAN THE ENGINE GAS </a:t>
                      </a:r>
                      <a:r>
                        <a:rPr lang="en-US" sz="1100" b="0" i="0" u="none" strike="noStrike" smtClean="0">
                          <a:solidFill>
                            <a:srgbClr val="000000"/>
                          </a:solidFill>
                          <a:effectLst/>
                          <a:latin typeface="Times New Roman" panose="02020603050405020304" pitchFamily="18" charset="0"/>
                        </a:rPr>
                        <a:t>PATH </a:t>
                      </a:r>
                      <a:r>
                        <a:rPr lang="en-US" sz="1100" b="0" i="0" u="none" strike="noStrike">
                          <a:solidFill>
                            <a:srgbClr val="000000"/>
                          </a:solidFill>
                          <a:effectLst/>
                          <a:latin typeface="Times New Roman" panose="02020603050405020304" pitchFamily="18" charset="0"/>
                        </a:rPr>
                        <a:t>FOR PERFORMANCE IMPROVEMENT (WATER ONLY) NEEDS TO BE EXTENDED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28-Jan-2025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CMP TASKS 72-ECO-00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200" b="0" i="0" u="none" strike="noStrike">
                        <a:solidFill>
                          <a:srgbClr val="000000"/>
                        </a:solidFill>
                        <a:effectLst/>
                        <a:latin typeface="Times New Roman" panose="02020603050405020304" pitchFamily="18" charset="0"/>
                      </a:endParaRPr>
                    </a:p>
                  </a:txBody>
                  <a:tcPr marL="5095" marR="5095" marT="50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1165993"/>
                  </a:ext>
                </a:extLst>
              </a:tr>
              <a:tr h="549998">
                <a:tc>
                  <a:txBody>
                    <a:bodyPr/>
                    <a:lstStyle/>
                    <a:p>
                      <a:pPr algn="ctr" fontAlgn="ctr"/>
                      <a:r>
                        <a:rPr lang="en-US" sz="1200" b="0" i="0" u="none" strike="noStrike">
                          <a:solidFill>
                            <a:srgbClr val="000000"/>
                          </a:solidFill>
                          <a:effectLst/>
                          <a:latin typeface="Times New Roman" panose="02020603050405020304" pitchFamily="18" charset="0"/>
                        </a:rPr>
                        <a:t>2</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618-02/25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A618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EXTEND THE MPL LIMIT OF ADD B648 IS RAISE PLACARD STACTIC PORTS STBY AT L/H VS R/H FUSELAGE BAD CONDITION I.A.W MPL (REV 01 ) MPL-321-125 CAT FOR 30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28-Jan-2025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 B648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Times New Roman" panose="02020603050405020304" pitchFamily="18" charset="0"/>
                      </a:endParaRP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78834007"/>
                  </a:ext>
                </a:extLst>
              </a:tr>
              <a:tr h="381431">
                <a:tc>
                  <a:txBody>
                    <a:bodyPr/>
                    <a:lstStyle/>
                    <a:p>
                      <a:pPr algn="ctr" fontAlgn="ctr"/>
                      <a:r>
                        <a:rPr lang="en-US" sz="1200" b="0" i="0" u="none" strike="noStrike">
                          <a:solidFill>
                            <a:srgbClr val="000000"/>
                          </a:solidFill>
                          <a:effectLst/>
                          <a:latin typeface="Times New Roman" panose="02020603050405020304" pitchFamily="18" charset="0"/>
                        </a:rPr>
                        <a:t>3</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873-01/25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EXTEND THE MPL LIMIT OF ADD B495 STS MSG ANTISKID 2 RAISED IAW MEL 32-42-02 REV09 CAT C FOR 05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30-Jan-2025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 B495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Times New Roman" panose="02020603050405020304" pitchFamily="18" charset="0"/>
                      </a:endParaRP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8629887"/>
                  </a:ext>
                </a:extLst>
              </a:tr>
            </a:tbl>
          </a:graphicData>
        </a:graphic>
      </p:graphicFrame>
      <p:graphicFrame>
        <p:nvGraphicFramePr>
          <p:cNvPr id="6" name="Chart 5">
            <a:extLst>
              <a:ext uri="{FF2B5EF4-FFF2-40B4-BE49-F238E27FC236}">
                <a16:creationId xmlns:a16="http://schemas.microsoft.com/office/drawing/2014/main" id="{00000000-0008-0000-0900-000007000000}"/>
              </a:ext>
            </a:extLst>
          </p:cNvPr>
          <p:cNvGraphicFramePr>
            <a:graphicFrameLocks/>
          </p:cNvGraphicFramePr>
          <p:nvPr>
            <p:extLst/>
          </p:nvPr>
        </p:nvGraphicFramePr>
        <p:xfrm>
          <a:off x="2819400" y="1109021"/>
          <a:ext cx="6172200" cy="238032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779567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059507" y="520783"/>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238:50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141.99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655:10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187:15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877:30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846:00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287:25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522:50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292:15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extLst/>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279:45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156.88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2046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644:00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228:05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958:50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899:00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328:10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556:40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288:05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1" name="Chart 10"/>
          <p:cNvGraphicFramePr>
            <a:graphicFrameLocks/>
          </p:cNvGraphicFramePr>
          <p:nvPr>
            <p:extLst/>
          </p:nvPr>
        </p:nvGraphicFramePr>
        <p:xfrm>
          <a:off x="1059507" y="1219199"/>
          <a:ext cx="10370491" cy="243840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601269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val="4007203340"/>
                    </a:ext>
                  </a:extLst>
                </a:gridCol>
                <a:gridCol w="664419">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01-Feb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02-Feb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03-Feb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04-Feb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05-Feb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06-Feb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07-Feb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08-Feb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09-Feb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9.33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9.33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7.95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9" name="Chart 8"/>
          <p:cNvGraphicFramePr>
            <a:graphicFrameLocks/>
          </p:cNvGraphicFramePr>
          <p:nvPr>
            <p:extLst/>
          </p:nvPr>
        </p:nvGraphicFramePr>
        <p:xfrm>
          <a:off x="925418" y="1111326"/>
          <a:ext cx="10521106" cy="216527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370396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6" name="Chart 5"/>
          <p:cNvGraphicFramePr>
            <a:graphicFrameLocks/>
          </p:cNvGraphicFramePr>
          <p:nvPr>
            <p:extLst/>
          </p:nvPr>
        </p:nvGraphicFramePr>
        <p:xfrm>
          <a:off x="685799" y="1219200"/>
          <a:ext cx="11049001" cy="51816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680404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838200" y="259806"/>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65</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158" name="Google Shape;158;g31ccdae391d_0_248"/>
          <p:cNvSpPr/>
          <p:nvPr/>
        </p:nvSpPr>
        <p:spPr>
          <a:xfrm>
            <a:off x="762000" y="1105830"/>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vật tư cho hỏng hóc trên đội bay</a:t>
            </a:r>
            <a:endParaRPr kumimoji="0"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Tàu AOG: NIL</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Tình hình tàu check: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NIL.</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Hỏng hóc ảnh hưởng khai thác: NIL</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Hỏng hóc B defect hết hạn trong 10 ngày:</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91440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990600" y="2514600"/>
            <a:ext cx="9677400" cy="2314575"/>
          </a:xfrm>
          <a:prstGeom prst="rect">
            <a:avLst/>
          </a:prstGeom>
          <a:noFill/>
          <a:ln>
            <a:noFill/>
          </a:ln>
        </p:spPr>
      </p:pic>
    </p:spTree>
    <p:extLst>
      <p:ext uri="{BB962C8B-B14F-4D97-AF65-F5344CB8AC3E}">
        <p14:creationId xmlns:p14="http://schemas.microsoft.com/office/powerpoint/2010/main" val="54784385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2b7222f7b3_0_1"/>
          <p:cNvSpPr txBox="1">
            <a:spLocks noGrp="1"/>
          </p:cNvSpPr>
          <p:nvPr>
            <p:ph type="title"/>
          </p:nvPr>
        </p:nvSpPr>
        <p:spPr>
          <a:xfrm>
            <a:off x="699382" y="24506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2b7222f7b3_0_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66</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167" name="Google Shape;167;g32b7222f7b3_0_1"/>
          <p:cNvSpPr/>
          <p:nvPr/>
        </p:nvSpPr>
        <p:spPr>
          <a:xfrm>
            <a:off x="664279" y="968802"/>
            <a:ext cx="11164800" cy="852359"/>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vật tư cho hỏng hóc trên đội bay</a:t>
            </a:r>
            <a:endParaRPr kumimoji="0"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Hỏng hóc B defect hết hạn trong 10 ngày:</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91440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168" name="Google Shape;168;g32b7222f7b3_0_1"/>
          <p:cNvPicPr preferRelativeResize="0"/>
          <p:nvPr/>
        </p:nvPicPr>
        <p:blipFill>
          <a:blip r:embed="rId3">
            <a:alphaModFix/>
          </a:blip>
          <a:stretch>
            <a:fillRect/>
          </a:stretch>
        </p:blipFill>
        <p:spPr>
          <a:xfrm>
            <a:off x="699382" y="1828800"/>
            <a:ext cx="10880397" cy="4752600"/>
          </a:xfrm>
          <a:prstGeom prst="rect">
            <a:avLst/>
          </a:prstGeom>
          <a:noFill/>
          <a:ln>
            <a:noFill/>
          </a:ln>
        </p:spPr>
      </p:pic>
    </p:spTree>
    <p:extLst>
      <p:ext uri="{BB962C8B-B14F-4D97-AF65-F5344CB8AC3E}">
        <p14:creationId xmlns:p14="http://schemas.microsoft.com/office/powerpoint/2010/main" val="244054722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31ccdae391d_0_271"/>
          <p:cNvSpPr txBox="1">
            <a:spLocks noGrp="1"/>
          </p:cNvSpPr>
          <p:nvPr>
            <p:ph type="title"/>
          </p:nvPr>
        </p:nvSpPr>
        <p:spPr>
          <a:xfrm>
            <a:off x="724801" y="19830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75" name="Google Shape;175;g31ccdae391d_0_27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67</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76" name="Google Shape;176;g31ccdae391d_0_271"/>
          <p:cNvGraphicFramePr/>
          <p:nvPr>
            <p:extLst/>
          </p:nvPr>
        </p:nvGraphicFramePr>
        <p:xfrm>
          <a:off x="762001" y="914400"/>
          <a:ext cx="10591800" cy="4625848"/>
        </p:xfrm>
        <a:graphic>
          <a:graphicData uri="http://schemas.openxmlformats.org/drawingml/2006/table">
            <a:tbl>
              <a:tblPr>
                <a:noFill/>
              </a:tblPr>
              <a:tblGrid>
                <a:gridCol w="678563">
                  <a:extLst>
                    <a:ext uri="{9D8B030D-6E8A-4147-A177-3AD203B41FA5}">
                      <a16:colId xmlns:a16="http://schemas.microsoft.com/office/drawing/2014/main" val="20000"/>
                    </a:ext>
                  </a:extLst>
                </a:gridCol>
                <a:gridCol w="1781484">
                  <a:extLst>
                    <a:ext uri="{9D8B030D-6E8A-4147-A177-3AD203B41FA5}">
                      <a16:colId xmlns:a16="http://schemas.microsoft.com/office/drawing/2014/main" val="20001"/>
                    </a:ext>
                  </a:extLst>
                </a:gridCol>
                <a:gridCol w="1176793">
                  <a:extLst>
                    <a:ext uri="{9D8B030D-6E8A-4147-A177-3AD203B41FA5}">
                      <a16:colId xmlns:a16="http://schemas.microsoft.com/office/drawing/2014/main" val="20002"/>
                    </a:ext>
                  </a:extLst>
                </a:gridCol>
                <a:gridCol w="4737128">
                  <a:extLst>
                    <a:ext uri="{9D8B030D-6E8A-4147-A177-3AD203B41FA5}">
                      <a16:colId xmlns:a16="http://schemas.microsoft.com/office/drawing/2014/main" val="20003"/>
                    </a:ext>
                  </a:extLst>
                </a:gridCol>
                <a:gridCol w="2217832">
                  <a:extLst>
                    <a:ext uri="{9D8B030D-6E8A-4147-A177-3AD203B41FA5}">
                      <a16:colId xmlns:a16="http://schemas.microsoft.com/office/drawing/2014/main" val="20004"/>
                    </a:ext>
                  </a:extLst>
                </a:gridCol>
              </a:tblGrid>
              <a:tr h="53340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2000" b="1" u="none" strike="noStrike" cap="none">
                          <a:solidFill>
                            <a:srgbClr val="FF0000"/>
                          </a:solidFill>
                          <a:latin typeface="Times New Roman"/>
                          <a:ea typeface="Times New Roman"/>
                          <a:cs typeface="Times New Roman"/>
                          <a:sym typeface="Times New Roman"/>
                        </a:rPr>
                        <a:t>DANH MỤC VẬT TƯ CRITICAL</a:t>
                      </a:r>
                      <a:endParaRPr sz="20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94586">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STT</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Tên thiết bị</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P/N</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Tình trạng vật tư</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Note</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64727">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FDRV</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17300G11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alt PN </a:t>
                      </a:r>
                      <a:r>
                        <a:rPr lang="en-US" sz="1600" u="none" strike="noStrike" cap="none">
                          <a:solidFill>
                            <a:schemeClr val="dk1"/>
                          </a:solidFill>
                          <a:latin typeface="Times New Roman"/>
                          <a:ea typeface="Times New Roman"/>
                          <a:cs typeface="Times New Roman"/>
                          <a:sym typeface="Times New Roman"/>
                        </a:rPr>
                        <a:t>17300G12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6446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SSTU</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321000M03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NIL, mới gửi đi sửa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30306">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CNA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745-1101-507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37708">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LH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85323">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5</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RH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NIL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5976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AIR INLET COWL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745-3400-507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595813">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IPCV NEO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5325192 (1020925-3)</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5976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8</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EIU NEO</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777461-1-1</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a:latin typeface="Times New Roman"/>
                          <a:ea typeface="Times New Roman"/>
                          <a:cs typeface="Times New Roman"/>
                          <a:sym typeface="Times New Roman"/>
                        </a:rPr>
                        <a:t>stock 4ea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50186355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83" name="Google Shape;183;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68</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84" name="Google Shape;184;g31ccdae391d_0_278"/>
          <p:cNvGraphicFramePr/>
          <p:nvPr>
            <p:extLst/>
          </p:nvPr>
        </p:nvGraphicFramePr>
        <p:xfrm>
          <a:off x="762000" y="733807"/>
          <a:ext cx="10845550" cy="6130632"/>
        </p:xfrm>
        <a:graphic>
          <a:graphicData uri="http://schemas.openxmlformats.org/drawingml/2006/table">
            <a:tbl>
              <a:tblPr>
                <a:noFill/>
              </a:tblPr>
              <a:tblGrid>
                <a:gridCol w="403637">
                  <a:extLst>
                    <a:ext uri="{9D8B030D-6E8A-4147-A177-3AD203B41FA5}">
                      <a16:colId xmlns:a16="http://schemas.microsoft.com/office/drawing/2014/main" val="20000"/>
                    </a:ext>
                  </a:extLst>
                </a:gridCol>
                <a:gridCol w="2246601">
                  <a:extLst>
                    <a:ext uri="{9D8B030D-6E8A-4147-A177-3AD203B41FA5}">
                      <a16:colId xmlns:a16="http://schemas.microsoft.com/office/drawing/2014/main" val="20001"/>
                    </a:ext>
                  </a:extLst>
                </a:gridCol>
                <a:gridCol w="2512099">
                  <a:extLst>
                    <a:ext uri="{9D8B030D-6E8A-4147-A177-3AD203B41FA5}">
                      <a16:colId xmlns:a16="http://schemas.microsoft.com/office/drawing/2014/main" val="20002"/>
                    </a:ext>
                  </a:extLst>
                </a:gridCol>
                <a:gridCol w="1108936">
                  <a:extLst>
                    <a:ext uri="{9D8B030D-6E8A-4147-A177-3AD203B41FA5}">
                      <a16:colId xmlns:a16="http://schemas.microsoft.com/office/drawing/2014/main" val="20003"/>
                    </a:ext>
                  </a:extLst>
                </a:gridCol>
                <a:gridCol w="4574277">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r>
                        <a:rPr lang="en-US" sz="1300">
                          <a:solidFill>
                            <a:schemeClr val="dk1"/>
                          </a:solidFill>
                          <a:latin typeface="Times New Roman"/>
                          <a:ea typeface="Times New Roman"/>
                          <a:cs typeface="Times New Roman"/>
                          <a:sym typeface="Times New Roman"/>
                        </a:rPr>
                        <a:t> đang đặt mua nhưng Airbuskhông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 </a:t>
                      </a:r>
                      <a:r>
                        <a:rPr lang="en-US" sz="1300">
                          <a:solidFill>
                            <a:schemeClr val="dk1"/>
                          </a:solidFill>
                          <a:latin typeface="Times New Roman"/>
                          <a:ea typeface="Times New Roman"/>
                          <a:cs typeface="Times New Roman"/>
                          <a:sym typeface="Times New Roman"/>
                        </a:rPr>
                        <a:t> 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1RO có TAT tại Honeywell dài</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a:t>
                      </a:r>
                      <a:r>
                        <a:rPr lang="en-US" sz="1300">
                          <a:solidFill>
                            <a:schemeClr val="dk1"/>
                          </a:solidFill>
                          <a:latin typeface="Times New Roman"/>
                          <a:ea typeface="Times New Roman"/>
                          <a:cs typeface="Times New Roman"/>
                          <a:sym typeface="Times New Roman"/>
                        </a:rPr>
                        <a:t>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44131542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31ccdae391d_0_285"/>
          <p:cNvSpPr txBox="1">
            <a:spLocks noGrp="1"/>
          </p:cNvSpPr>
          <p:nvPr>
            <p:ph type="title"/>
          </p:nvPr>
        </p:nvSpPr>
        <p:spPr>
          <a:xfrm>
            <a:off x="489113" y="38100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191" name="Google Shape;191;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69</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92" name="Google Shape;192;g31ccdae391d_0_285"/>
          <p:cNvGraphicFramePr/>
          <p:nvPr>
            <p:extLst/>
          </p:nvPr>
        </p:nvGraphicFramePr>
        <p:xfrm>
          <a:off x="489113" y="1295712"/>
          <a:ext cx="11118437" cy="4955073"/>
        </p:xfrm>
        <a:graphic>
          <a:graphicData uri="http://schemas.openxmlformats.org/drawingml/2006/table">
            <a:tbl>
              <a:tblPr>
                <a:noFill/>
              </a:tblPr>
              <a:tblGrid>
                <a:gridCol w="712302">
                  <a:extLst>
                    <a:ext uri="{9D8B030D-6E8A-4147-A177-3AD203B41FA5}">
                      <a16:colId xmlns:a16="http://schemas.microsoft.com/office/drawing/2014/main" val="20000"/>
                    </a:ext>
                  </a:extLst>
                </a:gridCol>
                <a:gridCol w="1386384">
                  <a:extLst>
                    <a:ext uri="{9D8B030D-6E8A-4147-A177-3AD203B41FA5}">
                      <a16:colId xmlns:a16="http://schemas.microsoft.com/office/drawing/2014/main" val="20001"/>
                    </a:ext>
                  </a:extLst>
                </a:gridCol>
                <a:gridCol w="1214237">
                  <a:extLst>
                    <a:ext uri="{9D8B030D-6E8A-4147-A177-3AD203B41FA5}">
                      <a16:colId xmlns:a16="http://schemas.microsoft.com/office/drawing/2014/main" val="20002"/>
                    </a:ext>
                  </a:extLst>
                </a:gridCol>
                <a:gridCol w="3902757">
                  <a:extLst>
                    <a:ext uri="{9D8B030D-6E8A-4147-A177-3AD203B41FA5}">
                      <a16:colId xmlns:a16="http://schemas.microsoft.com/office/drawing/2014/main" val="20003"/>
                    </a:ext>
                  </a:extLst>
                </a:gridCol>
                <a:gridCol w="3902757">
                  <a:extLst>
                    <a:ext uri="{9D8B030D-6E8A-4147-A177-3AD203B41FA5}">
                      <a16:colId xmlns:a16="http://schemas.microsoft.com/office/drawing/2014/main" val="20004"/>
                    </a:ext>
                  </a:extLst>
                </a:gridCol>
              </a:tblGrid>
              <a:tr h="456888">
                <a:tc>
                  <a:txBody>
                    <a:bodyPr/>
                    <a:lstStyle/>
                    <a:p>
                      <a:pPr marL="0" marR="0" lvl="0" indent="0" algn="ctr" rtl="0">
                        <a:lnSpc>
                          <a:spcPct val="100000"/>
                        </a:lnSpc>
                        <a:spcBef>
                          <a:spcPts val="0"/>
                        </a:spcBef>
                        <a:spcAft>
                          <a:spcPts val="0"/>
                        </a:spcAft>
                        <a:buClr>
                          <a:srgbClr val="000000"/>
                        </a:buClr>
                        <a:buSzPts val="115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p>
                  </a:txBody>
                  <a:tcPr marL="5875" marR="5875" marT="587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20850">
                <a:tc>
                  <a:txBody>
                    <a:bodyPr/>
                    <a:lstStyle/>
                    <a:p>
                      <a:pPr marL="0" marR="0" lvl="0" indent="0" algn="ctr" rtl="0">
                        <a:lnSpc>
                          <a:spcPct val="100000"/>
                        </a:lnSpc>
                        <a:spcBef>
                          <a:spcPts val="0"/>
                        </a:spcBef>
                        <a:spcAft>
                          <a:spcPts val="0"/>
                        </a:spcAft>
                        <a:buClr>
                          <a:srgbClr val="000000"/>
                        </a:buClr>
                        <a:buSzPts val="1150"/>
                        <a:buFont typeface="Arial"/>
                        <a:buNone/>
                      </a:pPr>
                      <a:r>
                        <a:rPr lang="en-US" sz="1400" b="0" i="0" u="none" strike="noStrike" cap="none">
                          <a:solidFill>
                            <a:srgbClr val="000000"/>
                          </a:solidFill>
                          <a:latin typeface="Times New Roman"/>
                          <a:ea typeface="Times New Roman"/>
                          <a:cs typeface="Times New Roman"/>
                          <a:sym typeface="Times New Roman"/>
                        </a:rPr>
                        <a:t>1</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Rotating mech MLG</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4133801011</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Hỏng hóc nhiều tuy nhiên ST cấp hàng chậm với lý do các thiết bị gửi đi sửa chữa có TAT dài, PO mua mới tới OEM Safran có leadtime dài. Hiện đã phải dừng chương trình kiểm tra theo khuyến cáo của OEM để có đủ vật tư cho các tàu tháo bảo quản. </a:t>
                      </a:r>
                      <a:endParaRPr sz="140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400" u="none" strike="noStrike" cap="none">
                          <a:latin typeface="Times New Roman"/>
                          <a:ea typeface="Times New Roman"/>
                          <a:cs typeface="Times New Roman"/>
                          <a:sym typeface="Times New Roman"/>
                        </a:rPr>
                        <a:t>Stock </a:t>
                      </a:r>
                      <a:r>
                        <a:rPr lang="en-US" sz="1400">
                          <a:latin typeface="Times New Roman"/>
                          <a:ea typeface="Times New Roman"/>
                          <a:cs typeface="Times New Roman"/>
                          <a:sym typeface="Times New Roman"/>
                        </a:rPr>
                        <a:t>1ea</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400">
                          <a:latin typeface="Times New Roman"/>
                          <a:ea typeface="Times New Roman"/>
                          <a:cs typeface="Times New Roman"/>
                          <a:sym typeface="Times New Roman"/>
                        </a:rPr>
                        <a:t>Hiện mua 6ea nhưng Safran không có stock, đang giục đối tác cấp hàng</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400" b="0" i="0" u="none" strike="noStrike" cap="none">
                          <a:solidFill>
                            <a:srgbClr val="000000"/>
                          </a:solidFill>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Các thiết bị IFE của Panasonic:</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LCD</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VSEB</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RD-AV9844-01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RD-KA3303-05</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Hỏng hóc phát sinh nhiều trong khai thác trong khi Panasonic sửa chữa có TAT dài, chủ yếu với lý do thiếu PTVT sửa chữa, thay thế. Các PTVT này hiện đều là đời cũ, VSEB đã dừng sản xuất. </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 Phối hợp với Panasonic để đổi PTVT, rút ngắn TAT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 Đề nghị Ban KT xem xét phương án tìm PN thay thế</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80575">
                <a:tc>
                  <a:txBody>
                    <a:bodyPr/>
                    <a:lstStyle/>
                    <a:p>
                      <a:pPr marL="0" marR="0" lvl="0" indent="0" algn="ctr"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Jetpipe</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745-1107-503</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40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400" u="none" strike="noStrike" cap="none">
                          <a:latin typeface="Times New Roman"/>
                          <a:ea typeface="Times New Roman"/>
                          <a:cs typeface="Times New Roman"/>
                          <a:sym typeface="Times New Roman"/>
                        </a:rPr>
                        <a:t>Disbond: TAT nhanh (&lt;30 ngày), chi phí sửa thấp (8k - 10k USD)</a:t>
                      </a:r>
                      <a:endParaRPr sz="140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400" u="none" strike="noStrike" cap="none">
                          <a:latin typeface="Times New Roman"/>
                          <a:ea typeface="Times New Roman"/>
                          <a:cs typeface="Times New Roman"/>
                          <a:sym typeface="Times New Roman"/>
                        </a:rPr>
                        <a:t>Crack 1 vị trí: TAT khoảng 40-50 ngày, chi phí sửa khoảng 20k USD</a:t>
                      </a:r>
                      <a:endParaRPr sz="140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400" u="none" strike="noStrike" cap="none">
                          <a:latin typeface="Times New Roman"/>
                          <a:ea typeface="Times New Roman"/>
                          <a:cs typeface="Times New Roman"/>
                          <a:sym typeface="Times New Roman"/>
                        </a:rPr>
                        <a:t>Crack 2 vị trí trở lên: TAT dài 60-80 ngày, chi phí sửa &gt;40kUSD </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400" u="none" strike="noStrike" cap="none">
                          <a:latin typeface="Times New Roman"/>
                          <a:ea typeface="Times New Roman"/>
                          <a:cs typeface="Times New Roman"/>
                          <a:sym typeface="Times New Roman"/>
                        </a:rPr>
                        <a:t>Tình trạng kho: stock </a:t>
                      </a:r>
                      <a:r>
                        <a:rPr lang="en-US" sz="1400">
                          <a:latin typeface="Times New Roman"/>
                          <a:ea typeface="Times New Roman"/>
                          <a:cs typeface="Times New Roman"/>
                          <a:sym typeface="Times New Roman"/>
                        </a:rPr>
                        <a:t>1ea</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Đề nghị VAECO có đánh giá hỏng hóc (SDR) sớm và gửi Ban QLVT để hỏi repair cap và chọn cơ sở sửa chữa phù hợp.</a:t>
                      </a:r>
                      <a:endParaRPr sz="1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 </a:t>
                      </a:r>
                      <a:r>
                        <a:rPr lang="en-US" sz="1400" b="0" i="0" u="none" strike="noStrike" cap="none">
                          <a:solidFill>
                            <a:srgbClr val="000000"/>
                          </a:solidFill>
                          <a:latin typeface="Times New Roman"/>
                          <a:ea typeface="Times New Roman"/>
                          <a:cs typeface="Times New Roman"/>
                          <a:sym typeface="Times New Roman"/>
                        </a:rPr>
                        <a:t>Ban QLVT tiếp tục làm việc với</a:t>
                      </a:r>
                      <a:r>
                        <a:rPr lang="en-US" sz="1400" u="none" strike="noStrike" cap="none">
                          <a:latin typeface="Times New Roman"/>
                          <a:ea typeface="Times New Roman"/>
                          <a:cs typeface="Times New Roman"/>
                          <a:sym typeface="Times New Roman"/>
                        </a:rPr>
                        <a:t> cơ sở sửa chữa để rút ngắn TAT</a:t>
                      </a:r>
                      <a:r>
                        <a:rPr lang="en-US" sz="1400" b="0" i="0" u="none" strike="noStrike" cap="none">
                          <a:solidFill>
                            <a:srgbClr val="000000"/>
                          </a:solidFill>
                          <a:latin typeface="Times New Roman"/>
                          <a:ea typeface="Times New Roman"/>
                          <a:cs typeface="Times New Roman"/>
                          <a:sym typeface="Times New Roman"/>
                        </a:rPr>
                        <a:t/>
                      </a:r>
                      <a:br>
                        <a:rPr lang="en-US" sz="1400" b="0" i="0" u="none" strike="noStrike" cap="none">
                          <a:solidFill>
                            <a:srgbClr val="000000"/>
                          </a:solidFill>
                          <a:latin typeface="Times New Roman"/>
                          <a:ea typeface="Times New Roman"/>
                          <a:cs typeface="Times New Roman"/>
                          <a:sym typeface="Times New Roman"/>
                        </a:rPr>
                      </a:br>
                      <a:r>
                        <a:rPr lang="en-US" sz="1400" b="0" i="0" u="none" strike="noStrike" cap="none">
                          <a:solidFill>
                            <a:srgbClr val="000000"/>
                          </a:solidFill>
                          <a:latin typeface="Times New Roman"/>
                          <a:ea typeface="Times New Roman"/>
                          <a:cs typeface="Times New Roman"/>
                          <a:sym typeface="Times New Roman"/>
                        </a:rPr>
                        <a:t>- Đề nghị Ban KT/Vaeco có giải pháp hạn chế hỏng hóc</a:t>
                      </a:r>
                      <a:r>
                        <a:rPr lang="en-US" sz="1400" u="none" strike="noStrike" cap="none">
                          <a:latin typeface="Times New Roman"/>
                          <a:ea typeface="Times New Roman"/>
                          <a:cs typeface="Times New Roman"/>
                          <a:sym typeface="Times New Roman"/>
                        </a:rPr>
                        <a:t> bằng các phương án kiểm tra chủ động, thay thế khi bị disbond sẽ tiết kiệm chi phí sửa và TAT ngắn.</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 Với các hỏng hóc phát sinh, đề nghị xem xét phương án mở defect để Ban QLVT chủ động phương án cung ứng</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816537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31ccdae391d_0_292"/>
          <p:cNvSpPr txBox="1">
            <a:spLocks noGrp="1"/>
          </p:cNvSpPr>
          <p:nvPr>
            <p:ph type="title"/>
          </p:nvPr>
        </p:nvSpPr>
        <p:spPr>
          <a:xfrm>
            <a:off x="681507" y="60960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VƯỚNG MẮC VẬT TƯ VAECO</a:t>
            </a:r>
            <a:endParaRPr sz="2800">
              <a:solidFill>
                <a:srgbClr val="FFC000"/>
              </a:solidFill>
              <a:latin typeface="Times New Roman"/>
              <a:ea typeface="Times New Roman"/>
              <a:cs typeface="Times New Roman"/>
              <a:sym typeface="Times New Roman"/>
            </a:endParaRPr>
          </a:p>
        </p:txBody>
      </p:sp>
      <p:sp>
        <p:nvSpPr>
          <p:cNvPr id="199" name="Google Shape;199;g31ccdae391d_0_29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70</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00" name="Google Shape;200;g31ccdae391d_0_292"/>
          <p:cNvGraphicFramePr/>
          <p:nvPr>
            <p:extLst/>
          </p:nvPr>
        </p:nvGraphicFramePr>
        <p:xfrm>
          <a:off x="685800" y="1604714"/>
          <a:ext cx="10921750" cy="2746284"/>
        </p:xfrm>
        <a:graphic>
          <a:graphicData uri="http://schemas.openxmlformats.org/drawingml/2006/table">
            <a:tbl>
              <a:tblPr>
                <a:noFill/>
              </a:tblPr>
              <a:tblGrid>
                <a:gridCol w="699701">
                  <a:extLst>
                    <a:ext uri="{9D8B030D-6E8A-4147-A177-3AD203B41FA5}">
                      <a16:colId xmlns:a16="http://schemas.microsoft.com/office/drawing/2014/main" val="20000"/>
                    </a:ext>
                  </a:extLst>
                </a:gridCol>
                <a:gridCol w="1129099">
                  <a:extLst>
                    <a:ext uri="{9D8B030D-6E8A-4147-A177-3AD203B41FA5}">
                      <a16:colId xmlns:a16="http://schemas.microsoft.com/office/drawing/2014/main" val="20001"/>
                    </a:ext>
                  </a:extLst>
                </a:gridCol>
                <a:gridCol w="1418933">
                  <a:extLst>
                    <a:ext uri="{9D8B030D-6E8A-4147-A177-3AD203B41FA5}">
                      <a16:colId xmlns:a16="http://schemas.microsoft.com/office/drawing/2014/main" val="20002"/>
                    </a:ext>
                  </a:extLst>
                </a:gridCol>
                <a:gridCol w="3840301">
                  <a:extLst>
                    <a:ext uri="{9D8B030D-6E8A-4147-A177-3AD203B41FA5}">
                      <a16:colId xmlns:a16="http://schemas.microsoft.com/office/drawing/2014/main" val="20003"/>
                    </a:ext>
                  </a:extLst>
                </a:gridCol>
                <a:gridCol w="3833716">
                  <a:extLst>
                    <a:ext uri="{9D8B030D-6E8A-4147-A177-3AD203B41FA5}">
                      <a16:colId xmlns:a16="http://schemas.microsoft.com/office/drawing/2014/main" val="20004"/>
                    </a:ext>
                  </a:extLst>
                </a:gridCol>
              </a:tblGrid>
              <a:tr h="342344">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1600" b="1" u="none" strike="noStrike" cap="none">
                          <a:solidFill>
                            <a:srgbClr val="002060"/>
                          </a:solidFill>
                          <a:latin typeface="Times New Roman"/>
                          <a:ea typeface="Times New Roman"/>
                          <a:cs typeface="Times New Roman"/>
                          <a:sym typeface="Times New Roman"/>
                        </a:rPr>
                        <a:t>A321 – VAECO</a:t>
                      </a:r>
                      <a:endParaRPr sz="1600" u="none" strike="noStrike" cap="none">
                        <a:solidFill>
                          <a:srgbClr val="002060"/>
                        </a:solidFill>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64465">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400" b="1" u="none" strike="noStrike" cap="none">
                          <a:solidFill>
                            <a:schemeClr val="dk1"/>
                          </a:solidFill>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055677">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1</a:t>
                      </a:r>
                      <a:endParaRPr sz="1150"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400" u="none" strike="noStrike" cap="none">
                          <a:solidFill>
                            <a:schemeClr val="dk1"/>
                          </a:solidFill>
                          <a:highlight>
                            <a:srgbClr val="FFFFFF"/>
                          </a:highlight>
                          <a:latin typeface="Times New Roman"/>
                          <a:ea typeface="Times New Roman"/>
                          <a:cs typeface="Times New Roman"/>
                          <a:sym typeface="Times New Roman"/>
                        </a:rPr>
                        <a:t>BELOW</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400" u="none" strike="noStrike" cap="none">
                          <a:solidFill>
                            <a:schemeClr val="dk1"/>
                          </a:solidFill>
                          <a:highlight>
                            <a:srgbClr val="FFFFFF"/>
                          </a:highlight>
                          <a:latin typeface="Times New Roman"/>
                          <a:ea typeface="Times New Roman"/>
                          <a:cs typeface="Times New Roman"/>
                          <a:sym typeface="Times New Roman"/>
                        </a:rPr>
                        <a:t>D2157160120000</a:t>
                      </a:r>
                      <a:endParaRPr sz="1400" u="none" strike="noStrike" cap="none">
                        <a:solidFill>
                          <a:schemeClr val="dk1"/>
                        </a:solidFill>
                        <a:highlight>
                          <a:srgbClr val="FFFFFF"/>
                        </a:highlight>
                        <a:latin typeface="Times New Roman"/>
                        <a:ea typeface="Times New Roman"/>
                        <a:cs typeface="Times New Roman"/>
                        <a:sym typeface="Times New Roman"/>
                      </a:endParaRPr>
                    </a:p>
                    <a:p>
                      <a:pPr marL="0" marR="0" lvl="0" indent="0" algn="l" rtl="0">
                        <a:spcBef>
                          <a:spcPts val="0"/>
                        </a:spcBef>
                        <a:spcAft>
                          <a:spcPts val="0"/>
                        </a:spcAft>
                        <a:buClr>
                          <a:schemeClr val="dk1"/>
                        </a:buClr>
                        <a:buSzPts val="1150"/>
                        <a:buFont typeface="Arial"/>
                        <a:buNone/>
                      </a:pPr>
                      <a:r>
                        <a:rPr lang="en-US" sz="1400" u="none" strike="noStrike" cap="none">
                          <a:solidFill>
                            <a:schemeClr val="dk1"/>
                          </a:solidFill>
                          <a:highlight>
                            <a:schemeClr val="lt1"/>
                          </a:highlight>
                          <a:latin typeface="Times New Roman"/>
                          <a:ea typeface="Times New Roman"/>
                          <a:cs typeface="Times New Roman"/>
                          <a:sym typeface="Times New Roman"/>
                        </a:rPr>
                        <a:t>D2157160000000</a:t>
                      </a:r>
                      <a:endParaRPr sz="1400" u="none" strike="noStrike" cap="none">
                        <a:solidFill>
                          <a:schemeClr val="dk1"/>
                        </a:solidFill>
                        <a:highlight>
                          <a:srgbClr val="FFFFFF"/>
                        </a:highlight>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Hỏng hóc gây A359 AOG hỏng Bellow của hệ thống Pack. Các tàu trong check có task kiểm tra hệ thống Pack đều phát hiện ra hỏng Bellow. Ngoài ra, Ban KT triển khai việc kiểm tra chủ động nhưng Airbus không cấp được hàng.</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VAECO vẫn mua dự phòng nhưng gần đây Airbus cấp hàng chậm.</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400" u="none" strike="noStrike" cap="none">
                          <a:latin typeface="Times New Roman"/>
                          <a:ea typeface="Times New Roman"/>
                          <a:cs typeface="Times New Roman"/>
                          <a:sym typeface="Times New Roman"/>
                        </a:rPr>
                        <a:t>Tình trạng:</a:t>
                      </a:r>
                      <a:endParaRPr sz="140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400" u="none" strike="noStrike" cap="none">
                          <a:latin typeface="Times New Roman"/>
                          <a:ea typeface="Times New Roman"/>
                          <a:cs typeface="Times New Roman"/>
                          <a:sym typeface="Times New Roman"/>
                        </a:rPr>
                        <a:t>PN D2157160120000 stock 5ea</a:t>
                      </a:r>
                      <a:endParaRPr sz="140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400" u="none" strike="noStrike" cap="none">
                          <a:latin typeface="Times New Roman"/>
                          <a:ea typeface="Times New Roman"/>
                          <a:cs typeface="Times New Roman"/>
                          <a:sym typeface="Times New Roman"/>
                        </a:rPr>
                        <a:t>PN D2157160000000 stock 3EA</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Arial"/>
                        <a:buChar char="-"/>
                      </a:pPr>
                      <a:r>
                        <a:rPr lang="en-US" sz="1400" u="none" strike="noStrike" cap="none">
                          <a:solidFill>
                            <a:schemeClr val="dk1"/>
                          </a:solidFill>
                          <a:latin typeface="Times New Roman"/>
                          <a:ea typeface="Times New Roman"/>
                          <a:cs typeface="Times New Roman"/>
                          <a:sym typeface="Times New Roman"/>
                        </a:rPr>
                        <a:t>Ban QLVT đã hỗ trợ claim Airbus đồng thời tìm kiếm nguồn cung ứng giúp VAECO tuy nhiên việc cung ứng vẫn rất khó khăn do thiếu raw materials, Airbus chỉ cấp hàng AOG và chưa đồng ý cấp cho chương trình đánh chặn. Hiện Airbus chưa có dự kiến ngày ship</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72353642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7" name="Google Shape;207;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71</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08" name="Google Shape;208;g31ccdae391d_0_299"/>
          <p:cNvSpPr/>
          <p:nvPr/>
        </p:nvSpPr>
        <p:spPr>
          <a:xfrm>
            <a:off x="913579" y="742682"/>
            <a:ext cx="10784628" cy="908718"/>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đơn hàng Pooling: 27 đơn hàng quá hạn trong tổng số 47 đơn hàng đang open</a:t>
            </a:r>
            <a:endParaRPr kumimoji="0" sz="2000" b="1" i="0" u="none" strike="noStrike" kern="0" cap="none" spc="0" normalizeH="0" baseline="0" noProof="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lấp đầy kho MBK: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overdue 19 LO / total  26 LO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khác (Defect, Hardtime):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overdue 08 EO / total 21 EO </a:t>
            </a:r>
            <a:endParaRPr kumimoji="0" sz="1500" b="0" i="0" u="none" strike="noStrike" kern="0" cap="none" spc="0" normalizeH="0" baseline="0" noProof="0">
              <a:ln>
                <a:noFill/>
              </a:ln>
              <a:solidFill>
                <a:srgbClr val="1F497D"/>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09" name="Google Shape;209;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10" name="Google Shape;210;g31ccdae391d_0_299"/>
          <p:cNvPicPr preferRelativeResize="0"/>
          <p:nvPr/>
        </p:nvPicPr>
        <p:blipFill>
          <a:blip r:embed="rId3">
            <a:alphaModFix/>
          </a:blip>
          <a:stretch>
            <a:fillRect/>
          </a:stretch>
        </p:blipFill>
        <p:spPr>
          <a:xfrm>
            <a:off x="1066800" y="1685744"/>
            <a:ext cx="9829800" cy="4900625"/>
          </a:xfrm>
          <a:prstGeom prst="rect">
            <a:avLst/>
          </a:prstGeom>
          <a:noFill/>
          <a:ln>
            <a:noFill/>
          </a:ln>
        </p:spPr>
      </p:pic>
    </p:spTree>
    <p:extLst>
      <p:ext uri="{BB962C8B-B14F-4D97-AF65-F5344CB8AC3E}">
        <p14:creationId xmlns:p14="http://schemas.microsoft.com/office/powerpoint/2010/main" val="381365764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7" name="Google Shape;217;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72</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18" name="Google Shape;218;g31ccdae391d_0_308"/>
          <p:cNvGraphicFramePr/>
          <p:nvPr>
            <p:extLst/>
          </p:nvPr>
        </p:nvGraphicFramePr>
        <p:xfrm>
          <a:off x="861038" y="990600"/>
          <a:ext cx="10746512" cy="4841013"/>
        </p:xfrm>
        <a:graphic>
          <a:graphicData uri="http://schemas.openxmlformats.org/drawingml/2006/table">
            <a:tbl>
              <a:tblPr>
                <a:noFill/>
              </a:tblPr>
              <a:tblGrid>
                <a:gridCol w="723976">
                  <a:extLst>
                    <a:ext uri="{9D8B030D-6E8A-4147-A177-3AD203B41FA5}">
                      <a16:colId xmlns:a16="http://schemas.microsoft.com/office/drawing/2014/main" val="20000"/>
                    </a:ext>
                  </a:extLst>
                </a:gridCol>
                <a:gridCol w="1466186">
                  <a:extLst>
                    <a:ext uri="{9D8B030D-6E8A-4147-A177-3AD203B41FA5}">
                      <a16:colId xmlns:a16="http://schemas.microsoft.com/office/drawing/2014/main" val="20001"/>
                    </a:ext>
                  </a:extLst>
                </a:gridCol>
                <a:gridCol w="1678574">
                  <a:extLst>
                    <a:ext uri="{9D8B030D-6E8A-4147-A177-3AD203B41FA5}">
                      <a16:colId xmlns:a16="http://schemas.microsoft.com/office/drawing/2014/main" val="20002"/>
                    </a:ext>
                  </a:extLst>
                </a:gridCol>
                <a:gridCol w="3438888">
                  <a:extLst>
                    <a:ext uri="{9D8B030D-6E8A-4147-A177-3AD203B41FA5}">
                      <a16:colId xmlns:a16="http://schemas.microsoft.com/office/drawing/2014/main" val="20003"/>
                    </a:ext>
                  </a:extLst>
                </a:gridCol>
                <a:gridCol w="3438888">
                  <a:extLst>
                    <a:ext uri="{9D8B030D-6E8A-4147-A177-3AD203B41FA5}">
                      <a16:colId xmlns:a16="http://schemas.microsoft.com/office/drawing/2014/main" val="20004"/>
                    </a:ext>
                  </a:extLst>
                </a:gridCol>
              </a:tblGrid>
              <a:tr h="457200">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48297">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02ea in stock.</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281246">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4</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giao HAN 03/02.</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EDD 07Mar.</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+ 03ea chưa có EDD.</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76324">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Arial"/>
                        <a:buNone/>
                      </a:pPr>
                      <a:r>
                        <a:rPr lang="en-US" sz="1200">
                          <a:solidFill>
                            <a:schemeClr val="dk1"/>
                          </a:solidFill>
                          <a:latin typeface="Times New Roman"/>
                          <a:ea typeface="Times New Roman"/>
                          <a:cs typeface="Times New Roman"/>
                          <a:sym typeface="Times New Roman"/>
                        </a:rPr>
                        <a:t>- 01ea in stock.</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377946">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Hiện không có hỏng hóc.</a:t>
                      </a:r>
                      <a:endParaRPr sz="1300">
                        <a:latin typeface="Times New Roman"/>
                        <a:ea typeface="Times New Roman"/>
                        <a:cs typeface="Times New Roman"/>
                        <a:sym typeface="Times New Roman"/>
                      </a:endParaRPr>
                    </a:p>
                    <a:p>
                      <a:pPr marL="0" marR="0" lvl="0" indent="0" algn="l" rtl="0">
                        <a:spcBef>
                          <a:spcPts val="0"/>
                        </a:spcBef>
                        <a:spcAft>
                          <a:spcPts val="0"/>
                        </a:spcAft>
                        <a:buNone/>
                      </a:pPr>
                      <a:r>
                        <a:rPr lang="en-US" sz="1300">
                          <a:latin typeface="Times New Roman"/>
                          <a:ea typeface="Times New Roman"/>
                          <a:cs typeface="Times New Roman"/>
                          <a:sym typeface="Times New Roman"/>
                        </a:rPr>
                        <a:t>-Card led: </a:t>
                      </a:r>
                      <a:endParaRPr sz="1300" u="none" strike="noStrike" cap="none">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01ea in stock.</a:t>
                      </a:r>
                      <a:endParaRPr sz="13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+ 02ea PO  EDD 10/2025.</a:t>
                      </a:r>
                      <a:endParaRPr sz="130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5886784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31ccdae391d_0_315"/>
          <p:cNvSpPr txBox="1">
            <a:spLocks noGrp="1"/>
          </p:cNvSpPr>
          <p:nvPr>
            <p:ph type="title"/>
          </p:nvPr>
        </p:nvSpPr>
        <p:spPr>
          <a:xfrm>
            <a:off x="877199" y="211507"/>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25" name="Google Shape;225;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73</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26" name="Google Shape;226;g31ccdae391d_0_315"/>
          <p:cNvSpPr/>
          <p:nvPr/>
        </p:nvSpPr>
        <p:spPr>
          <a:xfrm>
            <a:off x="838200" y="569557"/>
            <a:ext cx="10515600" cy="2783243"/>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Một số PTVT cần lưu ý</a:t>
            </a: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00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PTVT thay nhiều: VFSG, GPM, NSG, CAC, Pump Pack, FMU, GWIV, Tailcone light (hỏng hóc rất nhiều sub card led). </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Hỏng hóc ảnh hưởng cần lưu ý:</a:t>
            </a: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A867 - AFT CARGO HANDLING SYS INOP: waiting update from KLM.</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A873 - ANTISKID 2: yều RDC, EST SGN 05Feb.</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A873, A879 - CARGO HANDLING SYS INOP: đặt hàng CARGO MAINTENANCE DISPLAY, 01ea dự kiến release trong tuần 07.</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A873 - APU INOP: APU EST SGN 15Feb.</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p:txBody>
      </p:sp>
      <p:pic>
        <p:nvPicPr>
          <p:cNvPr id="227" name="Google Shape;227;g31ccdae391d_0_315"/>
          <p:cNvPicPr preferRelativeResize="0"/>
          <p:nvPr/>
        </p:nvPicPr>
        <p:blipFill>
          <a:blip r:embed="rId3">
            <a:alphaModFix/>
          </a:blip>
          <a:stretch>
            <a:fillRect/>
          </a:stretch>
        </p:blipFill>
        <p:spPr>
          <a:xfrm>
            <a:off x="1066800" y="3500438"/>
            <a:ext cx="10286999" cy="2905125"/>
          </a:xfrm>
          <a:prstGeom prst="rect">
            <a:avLst/>
          </a:prstGeom>
          <a:noFill/>
          <a:ln>
            <a:noFill/>
          </a:ln>
        </p:spPr>
      </p:pic>
    </p:spTree>
    <p:extLst>
      <p:ext uri="{BB962C8B-B14F-4D97-AF65-F5344CB8AC3E}">
        <p14:creationId xmlns:p14="http://schemas.microsoft.com/office/powerpoint/2010/main" val="42926620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g31ccdae391d_0_323"/>
          <p:cNvSpPr txBox="1">
            <a:spLocks noGrp="1"/>
          </p:cNvSpPr>
          <p:nvPr>
            <p:ph type="title"/>
          </p:nvPr>
        </p:nvSpPr>
        <p:spPr>
          <a:xfrm>
            <a:off x="773927" y="97566"/>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4" name="Google Shape;234;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74</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35" name="Google Shape;235;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đơn hàng Pooling: 35 đơn hàng quá hạn trong tổng số 44 đơn hàng đang open</a:t>
            </a:r>
            <a:endParaRPr kumimoji="0" sz="2000" b="1" i="0" u="none" strike="noStrike" kern="0" cap="none" spc="0" normalizeH="0" baseline="0" noProof="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lấp đầy kho OSS: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09 overdue LO / total 13 LO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khác (Defect, Hardtime):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26 overdue EO / total  31 EO </a:t>
            </a:r>
            <a:endParaRPr kumimoji="0" sz="1500" b="0" i="0" u="none" strike="noStrike" kern="0" cap="none" spc="0" normalizeH="0" baseline="0" noProof="0">
              <a:ln>
                <a:noFill/>
              </a:ln>
              <a:solidFill>
                <a:srgbClr val="1F497D"/>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Tình trạng đơn hàng pool trong 4 tuần gần nhất:</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36" name="Google Shape;236;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37" name="Google Shape;237;g31ccdae391d_0_323"/>
          <p:cNvPicPr preferRelativeResize="0"/>
          <p:nvPr/>
        </p:nvPicPr>
        <p:blipFill>
          <a:blip r:embed="rId3">
            <a:alphaModFix/>
          </a:blip>
          <a:stretch>
            <a:fillRect/>
          </a:stretch>
        </p:blipFill>
        <p:spPr>
          <a:xfrm>
            <a:off x="2652725" y="2070500"/>
            <a:ext cx="6540299" cy="4482700"/>
          </a:xfrm>
          <a:prstGeom prst="rect">
            <a:avLst/>
          </a:prstGeom>
          <a:noFill/>
          <a:ln>
            <a:noFill/>
          </a:ln>
        </p:spPr>
      </p:pic>
    </p:spTree>
    <p:extLst>
      <p:ext uri="{BB962C8B-B14F-4D97-AF65-F5344CB8AC3E}">
        <p14:creationId xmlns:p14="http://schemas.microsoft.com/office/powerpoint/2010/main" val="284780078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g31ccdae391d_0_332"/>
          <p:cNvSpPr txBox="1">
            <a:spLocks noGrp="1"/>
          </p:cNvSpPr>
          <p:nvPr>
            <p:ph type="title"/>
          </p:nvPr>
        </p:nvSpPr>
        <p:spPr>
          <a:xfrm>
            <a:off x="635516" y="30480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4" name="Google Shape;244;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75</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45" name="Google Shape;245;g31ccdae391d_0_332"/>
          <p:cNvGraphicFramePr/>
          <p:nvPr>
            <p:extLst/>
          </p:nvPr>
        </p:nvGraphicFramePr>
        <p:xfrm>
          <a:off x="635516" y="1169313"/>
          <a:ext cx="10972033" cy="5065750"/>
        </p:xfrm>
        <a:graphic>
          <a:graphicData uri="http://schemas.openxmlformats.org/drawingml/2006/table">
            <a:tbl>
              <a:tblPr>
                <a:noFill/>
              </a:tblPr>
              <a:tblGrid>
                <a:gridCol w="739165">
                  <a:extLst>
                    <a:ext uri="{9D8B030D-6E8A-4147-A177-3AD203B41FA5}">
                      <a16:colId xmlns:a16="http://schemas.microsoft.com/office/drawing/2014/main" val="20000"/>
                    </a:ext>
                  </a:extLst>
                </a:gridCol>
                <a:gridCol w="1692540">
                  <a:extLst>
                    <a:ext uri="{9D8B030D-6E8A-4147-A177-3AD203B41FA5}">
                      <a16:colId xmlns:a16="http://schemas.microsoft.com/office/drawing/2014/main" val="20001"/>
                    </a:ext>
                  </a:extLst>
                </a:gridCol>
                <a:gridCol w="1518212">
                  <a:extLst>
                    <a:ext uri="{9D8B030D-6E8A-4147-A177-3AD203B41FA5}">
                      <a16:colId xmlns:a16="http://schemas.microsoft.com/office/drawing/2014/main" val="20002"/>
                    </a:ext>
                  </a:extLst>
                </a:gridCol>
                <a:gridCol w="3511058">
                  <a:extLst>
                    <a:ext uri="{9D8B030D-6E8A-4147-A177-3AD203B41FA5}">
                      <a16:colId xmlns:a16="http://schemas.microsoft.com/office/drawing/2014/main" val="20003"/>
                    </a:ext>
                  </a:extLst>
                </a:gridCol>
                <a:gridCol w="3511058">
                  <a:extLst>
                    <a:ext uri="{9D8B030D-6E8A-4147-A177-3AD203B41FA5}">
                      <a16:colId xmlns:a16="http://schemas.microsoft.com/office/drawing/2014/main" val="20004"/>
                    </a:ext>
                  </a:extLst>
                </a:gridCol>
              </a:tblGrid>
              <a:tr h="3383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1385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 Spoiler Servo:</a:t>
                      </a:r>
                      <a:r>
                        <a:rPr lang="en-US" sz="1300" dirty="0">
                          <a:latin typeface="Times New Roman"/>
                          <a:ea typeface="Times New Roman"/>
                          <a:cs typeface="Times New Roman"/>
                          <a:sym typeface="Times New Roman"/>
                        </a:rPr>
                        <a:t> 01ea in  stock</a:t>
                      </a:r>
                      <a:r>
                        <a:rPr lang="en-US" sz="1300" dirty="0" smtClean="0">
                          <a:latin typeface="Times New Roman"/>
                          <a:ea typeface="Times New Roman"/>
                          <a:cs typeface="Times New Roman"/>
                          <a:sym typeface="Times New Roman"/>
                        </a:rPr>
                        <a:t>.</a:t>
                      </a:r>
                      <a:r>
                        <a:rPr lang="en-US" sz="1300" u="none" strike="noStrike" cap="none" dirty="0" smtClean="0">
                          <a:latin typeface="Times New Roman"/>
                          <a:ea typeface="Times New Roman"/>
                          <a:cs typeface="Times New Roman"/>
                          <a:sym typeface="Times New Roman"/>
                        </a:rPr>
                        <a:t> </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 FCRM: </a:t>
                      </a:r>
                      <a:r>
                        <a:rPr lang="en-US" sz="1300" u="none" strike="noStrike" cap="none" dirty="0">
                          <a:solidFill>
                            <a:schemeClr val="dk1"/>
                          </a:solidFill>
                          <a:latin typeface="Times New Roman"/>
                          <a:ea typeface="Times New Roman"/>
                          <a:cs typeface="Times New Roman"/>
                          <a:sym typeface="Times New Roman"/>
                        </a:rPr>
                        <a:t>0</a:t>
                      </a:r>
                      <a:r>
                        <a:rPr lang="en-US" sz="1300" dirty="0">
                          <a:solidFill>
                            <a:schemeClr val="dk1"/>
                          </a:solidFill>
                          <a:latin typeface="Times New Roman"/>
                          <a:ea typeface="Times New Roman"/>
                          <a:cs typeface="Times New Roman"/>
                          <a:sym typeface="Times New Roman"/>
                        </a:rPr>
                        <a:t>2</a:t>
                      </a:r>
                      <a:r>
                        <a:rPr lang="en-US" sz="1300" u="none" strike="noStrike" cap="none" dirty="0">
                          <a:solidFill>
                            <a:schemeClr val="dk1"/>
                          </a:solidFill>
                          <a:latin typeface="Times New Roman"/>
                          <a:ea typeface="Times New Roman"/>
                          <a:cs typeface="Times New Roman"/>
                          <a:sym typeface="Times New Roman"/>
                        </a:rPr>
                        <a:t>a in stock</a:t>
                      </a:r>
                      <a:r>
                        <a:rPr lang="en-US" sz="1300" dirty="0">
                          <a:solidFill>
                            <a:schemeClr val="dk1"/>
                          </a:solidFill>
                          <a:latin typeface="Times New Roman"/>
                          <a:ea typeface="Times New Roman"/>
                          <a:cs typeface="Times New Roman"/>
                          <a:sym typeface="Times New Roman"/>
                        </a:rPr>
                        <a:t>.</a:t>
                      </a:r>
                      <a:r>
                        <a:rPr lang="en-US" sz="1300" dirty="0">
                          <a:latin typeface="Times New Roman"/>
                          <a:ea typeface="Times New Roman"/>
                          <a:cs typeface="Times New Roman"/>
                          <a:sym typeface="Times New Roman"/>
                        </a:rPr>
                        <a:t> </a:t>
                      </a:r>
                      <a:endParaRPr sz="1300" u="none" strike="noStrike" cap="none" dirty="0">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3118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6</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08</a:t>
                      </a:r>
                      <a:r>
                        <a:rPr lang="en-US" sz="1300" u="none" strike="noStrike" cap="none">
                          <a:latin typeface="Times New Roman"/>
                          <a:ea typeface="Times New Roman"/>
                          <a:cs typeface="Times New Roman"/>
                          <a:sym typeface="Times New Roman"/>
                        </a:rPr>
                        <a:t> hỏng hóc + 08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- 01ea in stock</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a:t>
                      </a:r>
                      <a:r>
                        <a:rPr lang="en-US" sz="1300" u="none" strike="noStrike" cap="none">
                          <a:solidFill>
                            <a:schemeClr val="dk1"/>
                          </a:solidFill>
                          <a:latin typeface="Times New Roman"/>
                          <a:ea typeface="Times New Roman"/>
                          <a:cs typeface="Times New Roman"/>
                          <a:sym typeface="Times New Roman"/>
                        </a:rPr>
                        <a:t>1</a:t>
                      </a:r>
                      <a:r>
                        <a:rPr lang="en-US" sz="1300">
                          <a:solidFill>
                            <a:schemeClr val="dk1"/>
                          </a:solidFill>
                          <a:latin typeface="Times New Roman"/>
                          <a:ea typeface="Times New Roman"/>
                          <a:cs typeface="Times New Roman"/>
                          <a:sym typeface="Times New Roman"/>
                        </a:rPr>
                        <a:t>4</a:t>
                      </a:r>
                      <a:r>
                        <a:rPr lang="en-US" sz="1300" u="none" strike="noStrike" cap="none">
                          <a:solidFill>
                            <a:schemeClr val="dk1"/>
                          </a:solidFill>
                          <a:latin typeface="Times New Roman"/>
                          <a:ea typeface="Times New Roman"/>
                          <a:cs typeface="Times New Roman"/>
                          <a:sym typeface="Times New Roman"/>
                        </a:rPr>
                        <a:t>RO, trong đó: </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02ea EDD 10/02.</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+ 12ea EDD 15/03.</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phát sinh sẽ phải cắt tải, tiềm ẩn AOG.</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Vẫn hỏng hóc nhiều trên fleet A350.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+ 0</a:t>
                      </a:r>
                      <a:r>
                        <a:rPr lang="en-US" sz="1300">
                          <a:solidFill>
                            <a:schemeClr val="dk1"/>
                          </a:solidFill>
                          <a:latin typeface="Times New Roman"/>
                          <a:ea typeface="Times New Roman"/>
                          <a:cs typeface="Times New Roman"/>
                          <a:sym typeface="Times New Roman"/>
                        </a:rPr>
                        <a:t>6</a:t>
                      </a:r>
                      <a:r>
                        <a:rPr lang="en-US" sz="1300" u="none" strike="noStrike" cap="none">
                          <a:solidFill>
                            <a:schemeClr val="dk1"/>
                          </a:solidFill>
                          <a:latin typeface="Times New Roman"/>
                          <a:ea typeface="Times New Roman"/>
                          <a:cs typeface="Times New Roman"/>
                          <a:sym typeface="Times New Roman"/>
                        </a:rPr>
                        <a:t>ea in stock (của tàu BQ)</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+ 0</a:t>
                      </a:r>
                      <a:r>
                        <a:rPr lang="en-US" sz="1300">
                          <a:solidFill>
                            <a:schemeClr val="dk1"/>
                          </a:solidFill>
                          <a:latin typeface="Times New Roman"/>
                          <a:ea typeface="Times New Roman"/>
                          <a:cs typeface="Times New Roman"/>
                          <a:sym typeface="Times New Roman"/>
                        </a:rPr>
                        <a:t>1</a:t>
                      </a:r>
                      <a:r>
                        <a:rPr lang="en-US" sz="1300" u="none" strike="noStrike" cap="none">
                          <a:solidFill>
                            <a:schemeClr val="dk1"/>
                          </a:solidFill>
                          <a:latin typeface="Times New Roman"/>
                          <a:ea typeface="Times New Roman"/>
                          <a:cs typeface="Times New Roman"/>
                          <a:sym typeface="Times New Roman"/>
                        </a:rPr>
                        <a:t>ea l</a:t>
                      </a:r>
                      <a:r>
                        <a:rPr lang="en-US" sz="1300">
                          <a:solidFill>
                            <a:schemeClr val="dk1"/>
                          </a:solidFill>
                          <a:latin typeface="Times New Roman"/>
                          <a:ea typeface="Times New Roman"/>
                          <a:cs typeface="Times New Roman"/>
                          <a:sym typeface="Times New Roman"/>
                        </a:rPr>
                        <a:t>ấp đầy</a:t>
                      </a: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giao HAN 03/02.</a:t>
                      </a:r>
                      <a:r>
                        <a:rPr lang="en-US" sz="1300" u="none" strike="noStrike" cap="none">
                          <a:solidFill>
                            <a:schemeClr val="dk1"/>
                          </a:solidFill>
                          <a:latin typeface="Times New Roman"/>
                          <a:ea typeface="Times New Roman"/>
                          <a:cs typeface="Times New Roman"/>
                          <a:sym typeface="Times New Roman"/>
                        </a:rPr>
                        <a:t>.</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err="1">
                          <a:solidFill>
                            <a:schemeClr val="dk1"/>
                          </a:solidFill>
                          <a:latin typeface="Times New Roman"/>
                          <a:ea typeface="Times New Roman"/>
                          <a:cs typeface="Times New Roman"/>
                          <a:sym typeface="Times New Roman"/>
                        </a:rPr>
                        <a:t>Hiện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chưa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lịch</a:t>
                      </a:r>
                      <a:r>
                        <a:rPr lang="en-US" sz="1300" dirty="0">
                          <a:solidFill>
                            <a:schemeClr val="dk1"/>
                          </a:solidFill>
                          <a:latin typeface="Times New Roman"/>
                          <a:ea typeface="Times New Roman"/>
                          <a:cs typeface="Times New Roman"/>
                          <a:sym typeface="Times New Roman"/>
                        </a:rPr>
                        <a:t> ship </a:t>
                      </a:r>
                      <a:r>
                        <a:rPr lang="en-US" sz="1300" dirty="0" err="1">
                          <a:solidFill>
                            <a:schemeClr val="dk1"/>
                          </a:solidFill>
                          <a:latin typeface="Times New Roman"/>
                          <a:ea typeface="Times New Roman"/>
                          <a:cs typeface="Times New Roman"/>
                          <a:sym typeface="Times New Roman"/>
                        </a:rPr>
                        <a:t>từ</a:t>
                      </a:r>
                      <a:r>
                        <a:rPr lang="en-US" sz="1300" dirty="0">
                          <a:solidFill>
                            <a:schemeClr val="dk1"/>
                          </a:solidFill>
                          <a:latin typeface="Times New Roman"/>
                          <a:ea typeface="Times New Roman"/>
                          <a:cs typeface="Times New Roman"/>
                          <a:sym typeface="Times New Roman"/>
                        </a:rPr>
                        <a:t> FHS.</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8185168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31ccdae391d_0_339"/>
          <p:cNvSpPr txBox="1">
            <a:spLocks noGrp="1"/>
          </p:cNvSpPr>
          <p:nvPr>
            <p:ph type="title"/>
          </p:nvPr>
        </p:nvSpPr>
        <p:spPr>
          <a:xfrm>
            <a:off x="1066800" y="429367"/>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52" name="Google Shape;252;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76</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53" name="Google Shape;253;g31ccdae391d_0_339"/>
          <p:cNvSpPr/>
          <p:nvPr/>
        </p:nvSpPr>
        <p:spPr>
          <a:xfrm>
            <a:off x="685800" y="1219200"/>
            <a:ext cx="10519492" cy="2209800"/>
          </a:xfrm>
          <a:prstGeom prst="rect">
            <a:avLst/>
          </a:prstGeom>
          <a:noFill/>
          <a:ln>
            <a:noFill/>
          </a:ln>
        </p:spPr>
        <p:txBody>
          <a:bodyPr spcFirstLastPara="1" wrap="square" lIns="91425" tIns="45700" rIns="91425" bIns="45700" anchor="t" anchorCtr="0">
            <a:noAutofit/>
          </a:bodyPr>
          <a:lstStyle/>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Một số PTVT cần lưu ý:</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    Một số thiết bị pooling của OEM Honeywell liên quan hệ thống Chiller (VCRU, Motor Controler) TAT vẫn rất dài.</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914400" marR="0" lvl="0" indent="-330200" algn="just" defTabSz="914400" rtl="0" eaLnBrk="1" fontAlgn="auto" latinLnBrk="0" hangingPunct="1">
              <a:lnSpc>
                <a:spcPct val="100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EDP vẫn hỏng hóc nhiều.</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Hỏng hóc ảnh hưởng cần lưu ý:</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A896- UPPER LATCH ASSY OF COCKPIT DOOR BOLTING SYSTEM IS NOT FULLY LOCKED: Vaeco đang đặt hàng Latch (EST 03/2025).</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A899 - F/CTL L SPLR 4 DEACTIVE WITH COLLAR: chờ T/S. </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2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254" name="Google Shape;254;g31ccdae391d_0_339"/>
          <p:cNvPicPr preferRelativeResize="0"/>
          <p:nvPr/>
        </p:nvPicPr>
        <p:blipFill>
          <a:blip r:embed="rId3">
            <a:alphaModFix/>
          </a:blip>
          <a:stretch>
            <a:fillRect/>
          </a:stretch>
        </p:blipFill>
        <p:spPr>
          <a:xfrm>
            <a:off x="689020" y="3657600"/>
            <a:ext cx="10436180" cy="1516850"/>
          </a:xfrm>
          <a:prstGeom prst="rect">
            <a:avLst/>
          </a:prstGeom>
          <a:noFill/>
          <a:ln>
            <a:noFill/>
          </a:ln>
        </p:spPr>
      </p:pic>
    </p:spTree>
    <p:extLst>
      <p:ext uri="{BB962C8B-B14F-4D97-AF65-F5344CB8AC3E}">
        <p14:creationId xmlns:p14="http://schemas.microsoft.com/office/powerpoint/2010/main" val="235271267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31ccdae391d_0_347"/>
          <p:cNvSpPr txBox="1">
            <a:spLocks noGrp="1"/>
          </p:cNvSpPr>
          <p:nvPr>
            <p:ph type="title"/>
          </p:nvPr>
        </p:nvSpPr>
        <p:spPr>
          <a:xfrm>
            <a:off x="381000" y="19830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61" name="Google Shape;261;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77</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62" name="Google Shape;262;g31ccdae391d_0_347"/>
          <p:cNvGraphicFramePr/>
          <p:nvPr>
            <p:extLst/>
          </p:nvPr>
        </p:nvGraphicFramePr>
        <p:xfrm>
          <a:off x="533400" y="914400"/>
          <a:ext cx="11142786" cy="5697243"/>
        </p:xfrm>
        <a:graphic>
          <a:graphicData uri="http://schemas.openxmlformats.org/drawingml/2006/table">
            <a:tbl>
              <a:tblPr>
                <a:noFill/>
              </a:tblPr>
              <a:tblGrid>
                <a:gridCol w="526535">
                  <a:extLst>
                    <a:ext uri="{9D8B030D-6E8A-4147-A177-3AD203B41FA5}">
                      <a16:colId xmlns:a16="http://schemas.microsoft.com/office/drawing/2014/main" val="20000"/>
                    </a:ext>
                  </a:extLst>
                </a:gridCol>
                <a:gridCol w="1703279">
                  <a:extLst>
                    <a:ext uri="{9D8B030D-6E8A-4147-A177-3AD203B41FA5}">
                      <a16:colId xmlns:a16="http://schemas.microsoft.com/office/drawing/2014/main" val="20001"/>
                    </a:ext>
                  </a:extLst>
                </a:gridCol>
                <a:gridCol w="1488366">
                  <a:extLst>
                    <a:ext uri="{9D8B030D-6E8A-4147-A177-3AD203B41FA5}">
                      <a16:colId xmlns:a16="http://schemas.microsoft.com/office/drawing/2014/main" val="20002"/>
                    </a:ext>
                  </a:extLst>
                </a:gridCol>
                <a:gridCol w="2400464">
                  <a:extLst>
                    <a:ext uri="{9D8B030D-6E8A-4147-A177-3AD203B41FA5}">
                      <a16:colId xmlns:a16="http://schemas.microsoft.com/office/drawing/2014/main" val="20003"/>
                    </a:ext>
                  </a:extLst>
                </a:gridCol>
                <a:gridCol w="5024142">
                  <a:extLst>
                    <a:ext uri="{9D8B030D-6E8A-4147-A177-3AD203B41FA5}">
                      <a16:colId xmlns:a16="http://schemas.microsoft.com/office/drawing/2014/main" val="20004"/>
                    </a:ext>
                  </a:extLst>
                </a:gridCol>
              </a:tblGrid>
              <a:tr h="473318">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05</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endParaRPr sz="14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0</a:t>
                      </a:r>
                      <a:r>
                        <a:rPr lang="en-US">
                          <a:latin typeface="Times New Roman"/>
                          <a:ea typeface="Times New Roman"/>
                          <a:cs typeface="Times New Roman"/>
                          <a:sym typeface="Times New Roman"/>
                        </a:rPr>
                        <a:t>1</a:t>
                      </a:r>
                      <a:r>
                        <a:rPr lang="en-US" sz="1400" u="none" strike="noStrike" cap="none">
                          <a:latin typeface="Times New Roman"/>
                          <a:ea typeface="Times New Roman"/>
                          <a:cs typeface="Times New Roman"/>
                          <a:sym typeface="Times New Roman"/>
                        </a:rPr>
                        <a:t>EA</a:t>
                      </a:r>
                      <a:r>
                        <a:rPr lang="en-US">
                          <a:latin typeface="Times New Roman"/>
                          <a:ea typeface="Times New Roman"/>
                          <a:cs typeface="Times New Roman"/>
                          <a:sym typeface="Times New Roman"/>
                        </a:rPr>
                        <a:t> PO: est 05/02</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r>
                        <a:rPr lang="en-US" sz="1400" u="none" strike="noStrike" cap="none">
                          <a:latin typeface="Times New Roman"/>
                          <a:ea typeface="Times New Roman"/>
                          <a:cs typeface="Times New Roman"/>
                          <a:sym typeface="Times New Roman"/>
                        </a:rPr>
                        <a:t>01</a:t>
                      </a:r>
                      <a:r>
                        <a:rPr lang="en-US">
                          <a:latin typeface="Times New Roman"/>
                          <a:ea typeface="Times New Roman"/>
                          <a:cs typeface="Times New Roman"/>
                          <a:sym typeface="Times New Roman"/>
                        </a:rPr>
                        <a:t>EA YO: est 05/02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775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6096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01EA: STK SGN P/N S5741212100810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9144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 CODE: 81. SGL CHANEL FAULT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01EA: STK SGN </a:t>
                      </a:r>
                      <a:endParaRPr>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01RO: ở shop từ 11/2023. </a:t>
                      </a:r>
                      <a:r>
                        <a:rPr lang="en-US">
                          <a:latin typeface="Times New Roman"/>
                          <a:ea typeface="Times New Roman"/>
                          <a:cs typeface="Times New Roman"/>
                          <a:sym typeface="Times New Roman"/>
                        </a:rPr>
                        <a:t>EST JUN2025</a:t>
                      </a:r>
                      <a:r>
                        <a:rPr lang="en-US" sz="1400" u="none" strike="noStrike" cap="none">
                          <a:latin typeface="Times New Roman"/>
                          <a:ea typeface="Times New Roman"/>
                          <a:cs typeface="Times New Roman"/>
                          <a:sym typeface="Times New Roman"/>
                        </a:rPr>
                        <a:t> do thiếu PTVT thay thế</a:t>
                      </a:r>
                      <a:br>
                        <a:rPr lang="en-US" sz="1400" u="none" strike="noStrike" cap="none">
                          <a:latin typeface="Times New Roman"/>
                          <a:ea typeface="Times New Roman"/>
                          <a:cs typeface="Times New Roman"/>
                          <a:sym typeface="Times New Roman"/>
                        </a:rPr>
                      </a:b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STK = 0</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NO ORDER OUTSIDE</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02RO issued 06/01 and 08/01</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89384494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69" name="Google Shape;269;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78</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70" name="Google Shape;270;g31ccdae391d_0_354"/>
          <p:cNvGraphicFramePr/>
          <p:nvPr>
            <p:extLst/>
          </p:nvPr>
        </p:nvGraphicFramePr>
        <p:xfrm>
          <a:off x="392715" y="718223"/>
          <a:ext cx="11265886" cy="5525902"/>
        </p:xfrm>
        <a:graphic>
          <a:graphicData uri="http://schemas.openxmlformats.org/drawingml/2006/table">
            <a:tbl>
              <a:tblPr>
                <a:noFill/>
              </a:tblPr>
              <a:tblGrid>
                <a:gridCol w="721749">
                  <a:extLst>
                    <a:ext uri="{9D8B030D-6E8A-4147-A177-3AD203B41FA5}">
                      <a16:colId xmlns:a16="http://schemas.microsoft.com/office/drawing/2014/main" val="20000"/>
                    </a:ext>
                  </a:extLst>
                </a:gridCol>
                <a:gridCol w="1202906">
                  <a:extLst>
                    <a:ext uri="{9D8B030D-6E8A-4147-A177-3AD203B41FA5}">
                      <a16:colId xmlns:a16="http://schemas.microsoft.com/office/drawing/2014/main" val="20001"/>
                    </a:ext>
                  </a:extLst>
                </a:gridCol>
                <a:gridCol w="1432203">
                  <a:extLst>
                    <a:ext uri="{9D8B030D-6E8A-4147-A177-3AD203B41FA5}">
                      <a16:colId xmlns:a16="http://schemas.microsoft.com/office/drawing/2014/main" val="20002"/>
                    </a:ext>
                  </a:extLst>
                </a:gridCol>
                <a:gridCol w="3954514">
                  <a:extLst>
                    <a:ext uri="{9D8B030D-6E8A-4147-A177-3AD203B41FA5}">
                      <a16:colId xmlns:a16="http://schemas.microsoft.com/office/drawing/2014/main" val="20003"/>
                    </a:ext>
                  </a:extLst>
                </a:gridCol>
                <a:gridCol w="3954514">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34142">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 cho khai thác cao </a:t>
                      </a:r>
                      <a:r>
                        <a:rPr lang="en-US">
                          <a:latin typeface="Times New Roman"/>
                          <a:ea typeface="Times New Roman"/>
                          <a:cs typeface="Times New Roman"/>
                          <a:sym typeface="Times New Roman"/>
                        </a:rPr>
                        <a:t>điểm tết.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dirty="0">
                          <a:latin typeface="Times New Roman"/>
                          <a:ea typeface="Times New Roman"/>
                          <a:cs typeface="Times New Roman"/>
                          <a:sym typeface="Times New Roman"/>
                        </a:rPr>
                        <a:t>-Ban QLVT </a:t>
                      </a:r>
                      <a:r>
                        <a:rPr lang="en-US" dirty="0" err="1">
                          <a:latin typeface="Times New Roman"/>
                          <a:ea typeface="Times New Roman"/>
                          <a:cs typeface="Times New Roman"/>
                          <a:sym typeface="Times New Roman"/>
                        </a:rPr>
                        <a:t>tiếp</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tục</a:t>
                      </a:r>
                      <a:r>
                        <a:rPr lang="en-US"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thúc</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đẩy</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lốp</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về</a:t>
                      </a:r>
                      <a:r>
                        <a:rPr lang="en-US" sz="1400" u="none" strike="noStrike" cap="none"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dự</a:t>
                      </a:r>
                      <a:r>
                        <a:rPr lang="en-US" dirty="0">
                          <a:latin typeface="Times New Roman"/>
                          <a:ea typeface="Times New Roman"/>
                          <a:cs typeface="Times New Roman"/>
                          <a:sym typeface="Times New Roman"/>
                        </a:rPr>
                        <a:t> </a:t>
                      </a:r>
                      <a:r>
                        <a:rPr lang="en-US" dirty="0" err="1" smtClean="0">
                          <a:latin typeface="Times New Roman"/>
                          <a:ea typeface="Times New Roman"/>
                          <a:cs typeface="Times New Roman"/>
                          <a:sym typeface="Times New Roman"/>
                        </a:rPr>
                        <a:t>phòng</a:t>
                      </a:r>
                      <a:r>
                        <a:rPr lang="en-US" sz="1400" u="none" strike="noStrike" cap="none" dirty="0" smtClean="0">
                          <a:latin typeface="Times New Roman"/>
                          <a:ea typeface="Times New Roman"/>
                          <a:cs typeface="Times New Roman"/>
                          <a:sym typeface="Times New Roman"/>
                        </a:rPr>
                        <a:t> </a:t>
                      </a:r>
                      <a:endParaRPr sz="1400" b="0" i="0" u="none" strike="noStrike" cap="none" dirty="0">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Kho có </a:t>
                      </a:r>
                      <a:r>
                        <a:rPr lang="en-US">
                          <a:latin typeface="Times New Roman"/>
                          <a:ea typeface="Times New Roman"/>
                          <a:cs typeface="Times New Roman"/>
                          <a:sym typeface="Times New Roman"/>
                        </a:rPr>
                        <a:t>01e</a:t>
                      </a:r>
                      <a:r>
                        <a:rPr lang="en-US" sz="1400" u="none" strike="noStrike" cap="none">
                          <a:latin typeface="Times New Roman"/>
                          <a:ea typeface="Times New Roman"/>
                          <a:cs typeface="Times New Roman"/>
                          <a:sym typeface="Times New Roman"/>
                        </a:rPr>
                        <a:t>a dự phòng + 0</a:t>
                      </a:r>
                      <a:r>
                        <a:rPr lang="en-US">
                          <a:latin typeface="Times New Roman"/>
                          <a:ea typeface="Times New Roman"/>
                          <a:cs typeface="Times New Roman"/>
                          <a:sym typeface="Times New Roman"/>
                        </a:rPr>
                        <a:t>2ea về trong tuần 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Kho có 04 ea dự phòng.</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Kho có </a:t>
                      </a:r>
                      <a:r>
                        <a:rPr lang="en-US">
                          <a:latin typeface="Times New Roman"/>
                          <a:ea typeface="Times New Roman"/>
                          <a:cs typeface="Times New Roman"/>
                          <a:sym typeface="Times New Roman"/>
                        </a:rPr>
                        <a:t>02 </a:t>
                      </a:r>
                      <a:r>
                        <a:rPr lang="en-US" sz="1400" u="none" strike="noStrike" cap="none">
                          <a:latin typeface="Times New Roman"/>
                          <a:ea typeface="Times New Roman"/>
                          <a:cs typeface="Times New Roman"/>
                          <a:sym typeface="Times New Roman"/>
                        </a:rPr>
                        <a:t>ea</a:t>
                      </a:r>
                      <a:r>
                        <a:rPr lang="en-US" sz="1400" u="none" strike="noStrike" cap="none">
                          <a:solidFill>
                            <a:schemeClr val="dk1"/>
                          </a:solidFill>
                          <a:latin typeface="Times New Roman"/>
                          <a:ea typeface="Times New Roman"/>
                          <a:cs typeface="Times New Roman"/>
                          <a:sym typeface="Times New Roman"/>
                        </a:rPr>
                        <a:t> dự phòng</a:t>
                      </a:r>
                      <a:r>
                        <a:rPr lang="en-US">
                          <a:solidFill>
                            <a:schemeClr val="dk1"/>
                          </a:solidFill>
                          <a:latin typeface="Times New Roman"/>
                          <a:ea typeface="Times New Roman"/>
                          <a:cs typeface="Times New Roman"/>
                          <a:sym typeface="Times New Roman"/>
                        </a:rPr>
                        <a:t>, dự kiến 10ea ra shop trong tuần 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403713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7" name="Google Shape;277;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79</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78" name="Google Shape;278;g31ccdae391d_0_361"/>
          <p:cNvSpPr/>
          <p:nvPr/>
        </p:nvSpPr>
        <p:spPr>
          <a:xfrm>
            <a:off x="913579" y="801438"/>
            <a:ext cx="10440222" cy="4532562"/>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rPr>
              <a:t>Đội bay A350:</a:t>
            </a:r>
            <a:endParaRPr kumimoji="0"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03ea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&amp; 03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ngắn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new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giao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HAN 22/01).</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shop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06ea (03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21047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21043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21317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21422 &amp; 21316 &amp; 21201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HAESL). </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Tháng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kiến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thêm</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induction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HAESL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SEASL).</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xếp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chuyển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core engine stand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từ</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về</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để</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swap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tiếp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gửi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shop.</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rPr>
              <a:t>- Đội bay B787:</a:t>
            </a:r>
            <a:endParaRPr kumimoji="0"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07ea (2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sở</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hữu</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ngắn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ký</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thêm</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với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smtClean="0">
                <a:ln>
                  <a:noFill/>
                </a:ln>
                <a:solidFill>
                  <a:srgbClr val="000000"/>
                </a:solidFill>
                <a:effectLst/>
                <a:highlight>
                  <a:srgbClr val="FFFFFF"/>
                </a:highlight>
                <a:uLnTx/>
                <a:uFillTx/>
                <a:latin typeface="Times New Roman"/>
                <a:ea typeface="Times New Roman"/>
                <a:cs typeface="Times New Roman"/>
                <a:sym typeface="Times New Roman"/>
              </a:rPr>
              <a:t>Aercap</a:t>
            </a:r>
            <a:r>
              <a:rPr kumimoji="0" lang="en-US" sz="1500" b="0" i="0" u="none" strike="noStrike" kern="0" cap="none" spc="0" normalizeH="0" baseline="0" noProof="0" dirty="0" smtClean="0">
                <a:ln>
                  <a:noFill/>
                </a:ln>
                <a:solidFill>
                  <a:srgbClr val="000000"/>
                </a:solidFill>
                <a:effectLst/>
                <a:highlight>
                  <a:srgbClr val="FFFFFF"/>
                </a:highligh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NIL</a:t>
            </a:r>
            <a:endParaRPr kumimoji="0" sz="1500" b="1"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shop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+05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ở KLM shop : 956556, 956569, 956533, 956599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956947.</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+02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ở GE shop :958398 (delay in GEEVES), 958537. </a:t>
            </a:r>
            <a:endParaRPr kumimoji="0" sz="1500" b="0" i="0" u="none" strike="noStrike" kern="0" cap="none" spc="0" normalizeH="0" baseline="0" noProof="0" dirty="0">
              <a:ln>
                <a:noFill/>
              </a:ln>
              <a:solidFill>
                <a:srgbClr val="000000"/>
              </a:solidFill>
              <a:effectLst/>
              <a:highlight>
                <a:srgbClr val="FFFF00"/>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đáp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ứng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KH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2024-2025: B787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04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05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của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Aercap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(956933; 958266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958934 958966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956626)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kiến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cần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nữa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Q1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năm</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2025.  </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35840006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g31ccdae391d_0_368"/>
          <p:cNvSpPr txBox="1">
            <a:spLocks noGrp="1"/>
          </p:cNvSpPr>
          <p:nvPr>
            <p:ph type="title"/>
          </p:nvPr>
        </p:nvSpPr>
        <p:spPr>
          <a:xfrm>
            <a:off x="762000" y="30480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85" name="Google Shape;285;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80</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86" name="Google Shape;286;g31ccdae391d_0_368"/>
          <p:cNvSpPr/>
          <p:nvPr/>
        </p:nvSpPr>
        <p:spPr>
          <a:xfrm>
            <a:off x="728730" y="762000"/>
            <a:ext cx="10972200" cy="4151548"/>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 Đội bay A321 Ceo:</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dự phòng: 13 (3 sở hữu, 10 thuê ngắn hạn)</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trong kho: 01ea V17951</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US chờ chuyển đi: 04ea gồm V15858, V16517, V17403, V16694 -  HAN</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động cơ đang sửa tại shop: 08ea</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Động cơ thuê đang hoàn tất thủ tục hoàn trả đối tác: V12175 (WILLIS) - đã giao WILLIS 18/11/2024, V18951- đã giao WILLIS 6/1/2025, đang hoàn thiện thủ tục</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a:t>
            </a: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Vướng mắc:</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Danh mục missing part list của động cơ sửa chữa về</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a:t>
            </a: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Giải pháp:</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Thúc đẩy việc sửa chữa động cơ tại shop</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Làm việc với Ban KT về KH động cơ về, tháo trả</a:t>
            </a:r>
            <a:r>
              <a:rPr kumimoji="0" lang="en-US" sz="16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54826827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31ccdae391d_0_375"/>
          <p:cNvSpPr txBox="1">
            <a:spLocks noGrp="1"/>
          </p:cNvSpPr>
          <p:nvPr>
            <p:ph type="title"/>
          </p:nvPr>
        </p:nvSpPr>
        <p:spPr>
          <a:xfrm>
            <a:off x="401313" y="182479"/>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93" name="Google Shape;293;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81</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94" name="Google Shape;294;g31ccdae391d_0_375"/>
          <p:cNvSpPr/>
          <p:nvPr/>
        </p:nvSpPr>
        <p:spPr>
          <a:xfrm>
            <a:off x="381600" y="744549"/>
            <a:ext cx="10972200" cy="646348"/>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 Tình trạng trả động cơ thuê 2024</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295" name="Google Shape;295;g31ccdae391d_0_375"/>
          <p:cNvPicPr preferRelativeResize="0"/>
          <p:nvPr/>
        </p:nvPicPr>
        <p:blipFill>
          <a:blip r:embed="rId3">
            <a:alphaModFix/>
          </a:blip>
          <a:stretch>
            <a:fillRect/>
          </a:stretch>
        </p:blipFill>
        <p:spPr>
          <a:xfrm>
            <a:off x="401313" y="1612675"/>
            <a:ext cx="11389376" cy="3788700"/>
          </a:xfrm>
          <a:prstGeom prst="rect">
            <a:avLst/>
          </a:prstGeom>
          <a:noFill/>
          <a:ln>
            <a:noFill/>
          </a:ln>
        </p:spPr>
      </p:pic>
    </p:spTree>
    <p:extLst>
      <p:ext uri="{BB962C8B-B14F-4D97-AF65-F5344CB8AC3E}">
        <p14:creationId xmlns:p14="http://schemas.microsoft.com/office/powerpoint/2010/main" val="99888067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82</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02" name="Google Shape;302;g31ccdae391d_0_383"/>
          <p:cNvSpPr/>
          <p:nvPr/>
        </p:nvSpPr>
        <p:spPr>
          <a:xfrm>
            <a:off x="762000" y="381000"/>
            <a:ext cx="10744200" cy="6059400"/>
          </a:xfrm>
          <a:prstGeom prst="rect">
            <a:avLst/>
          </a:prstGeom>
          <a:noFill/>
          <a:ln>
            <a:noFill/>
          </a:ln>
        </p:spPr>
        <p:txBody>
          <a:bodyPr spcFirstLastPara="1" wrap="square" lIns="91425" tIns="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 Đội bay A321 Neo:</a:t>
            </a:r>
            <a:endParaRPr kumimoji="0"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dự phòng: 05ea (2 sở hữu (đang SLB), 2 dài hạn và 01 thuê ngắn hạn thuê của PW).</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trong kho: NIL.</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động cơ sửa chữa: có 8 động cơ đang sửa (07 tại ESA và 02 tại IHI)</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Trong đó: </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P771373:  Giao tới JALEC tháo QEC 28/1. Dự kiến Induct tại IHI 11/2/2025.</a:t>
            </a:r>
            <a:b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b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P771414: Shop báo lại đang Post test, chưa chốt được ngày ready release là 3/2/2025 như đã báo.</a:t>
            </a:r>
            <a:b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b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Vướng mắc:</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TAT tại shop kéo dài, hiện do shop quá tải các động cơ tháo cung phải đợi slot lên đến 200 ngày.</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Các động cơ A321 NEO tháo đi sửa trước đây không có đc lắp lên, khi tháo trả đc thuê thiếu nhiều LRUs đang đi cùng đc sửa.</a:t>
            </a:r>
            <a:b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b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Khoảng thời gian cao điểm nghỉ lễ, thiếu hụt phụ tùng vật liệu, sự gia tăng các lỗi Rejection trong kiểm tra sau thử nghiệm.</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Giải pháp:</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Thúc đẩy động cơ sửa chữa tại shop.</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Tổ chức họp và tìm giải pháp với Ban KT, VAECO với danh mục MPL đc tháo khi gửi đi sửa.</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10733227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83</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09" name="Google Shape;309;g31ccdae391d_0_389"/>
          <p:cNvSpPr/>
          <p:nvPr/>
        </p:nvSpPr>
        <p:spPr>
          <a:xfrm>
            <a:off x="652475" y="533400"/>
            <a:ext cx="11051100" cy="19812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smtClean="0">
                <a:ln>
                  <a:noFill/>
                </a:ln>
                <a:solidFill>
                  <a:srgbClr val="FF0000"/>
                </a:solidFill>
                <a:effectLst/>
                <a:uLnTx/>
                <a:uFillTx/>
                <a:latin typeface="Times New Roman"/>
                <a:ea typeface="Times New Roman"/>
                <a:cs typeface="Times New Roman"/>
                <a:sym typeface="Times New Roman"/>
              </a:rPr>
              <a:t>-</a:t>
            </a:r>
            <a:r>
              <a:rPr kumimoji="0" lang="en-US" sz="15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Đội bay ATR:</a:t>
            </a:r>
            <a:endParaRPr kumimoji="0"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06:  03 ENG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sở</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hữu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03 ENG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ngắn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(ED0321) (ED0036) (ED0715). </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ED0238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 PWC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SING.</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ED0239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SA.</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ED0192</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SGN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27/01/2025.</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Giải</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pháp</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Tiếp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tục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theo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sát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PWC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err="1">
                <a:ln>
                  <a:noFill/>
                </a:ln>
                <a:solidFill>
                  <a:srgbClr val="000000"/>
                </a:solidFill>
                <a:effectLst/>
                <a:uLnTx/>
                <a:uFillTx/>
                <a:latin typeface="Times New Roman"/>
                <a:ea typeface="Times New Roman"/>
                <a:cs typeface="Times New Roman"/>
                <a:sym typeface="Times New Roman"/>
              </a:rPr>
              <a:t>StandardAero</a:t>
            </a:r>
            <a:r>
              <a:rPr kumimoji="0" lang="en-US" sz="15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a:t>
            </a:r>
            <a:endParaRPr kumimoji="0" sz="1500" b="1" i="0" u="sng"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pic>
        <p:nvPicPr>
          <p:cNvPr id="310" name="Google Shape;310;g31ccdae391d_0_389"/>
          <p:cNvPicPr preferRelativeResize="0"/>
          <p:nvPr/>
        </p:nvPicPr>
        <p:blipFill>
          <a:blip r:embed="rId3">
            <a:alphaModFix/>
          </a:blip>
          <a:stretch>
            <a:fillRect/>
          </a:stretch>
        </p:blipFill>
        <p:spPr>
          <a:xfrm>
            <a:off x="0" y="2668317"/>
            <a:ext cx="12192001" cy="2880066"/>
          </a:xfrm>
          <a:prstGeom prst="rect">
            <a:avLst/>
          </a:prstGeom>
          <a:noFill/>
          <a:ln>
            <a:noFill/>
          </a:ln>
        </p:spPr>
      </p:pic>
    </p:spTree>
    <p:extLst>
      <p:ext uri="{BB962C8B-B14F-4D97-AF65-F5344CB8AC3E}">
        <p14:creationId xmlns:p14="http://schemas.microsoft.com/office/powerpoint/2010/main" val="49810522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g31ccdae391d_0_396"/>
          <p:cNvSpPr txBox="1">
            <a:spLocks noGrp="1"/>
          </p:cNvSpPr>
          <p:nvPr>
            <p:ph type="title"/>
          </p:nvPr>
        </p:nvSpPr>
        <p:spPr>
          <a:xfrm>
            <a:off x="1066800" y="45720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17" name="Google Shape;317;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84</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18" name="Google Shape;318;g31ccdae391d_0_396"/>
          <p:cNvSpPr/>
          <p:nvPr/>
        </p:nvSpPr>
        <p:spPr>
          <a:xfrm>
            <a:off x="914400" y="1191506"/>
            <a:ext cx="10673713" cy="4684962"/>
          </a:xfrm>
          <a:prstGeom prst="rect">
            <a:avLst/>
          </a:prstGeom>
          <a:noFill/>
          <a:ln>
            <a:noFill/>
          </a:ln>
        </p:spPr>
        <p:txBody>
          <a:bodyPr spcFirstLastPara="1" wrap="square" lIns="91425" tIns="45700" rIns="91425" bIns="45700" anchor="t" anchorCtr="0">
            <a:noAutofit/>
          </a:bodyPr>
          <a:lstStyle/>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A350</a:t>
            </a: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NIL stock.</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B787:</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in stock (958541).</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956537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GE_CAL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xong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16/02</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956556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KLM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xong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cuối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3/2025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A321 CEO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 V15851 (10/02/2025</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a:t>
            </a: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l"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A321 </a:t>
            </a: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NEO</a:t>
            </a:r>
            <a:r>
              <a:rPr kumimoji="0" lang="en-US" sz="16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a:t>
            </a:r>
            <a:r>
              <a:rPr kumimoji="0" lang="en-US" sz="15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
            </a:r>
            <a:br>
              <a:rPr kumimoji="0" lang="en-US" sz="15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br>
            <a:r>
              <a:rPr kumimoji="0" lang="en-US" sz="15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P771414: Shop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post test.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chưa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chốt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ready.</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ATR:</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01 stock (ED0192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SGN </a:t>
            </a:r>
            <a:r>
              <a:rPr kumimoji="0" lang="en-US" sz="16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27/01)</a:t>
            </a:r>
            <a:r>
              <a:rPr kumimoji="0" lang="en-US" sz="15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a:t>
            </a: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064872851"/>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g31ccdae391d_0_403"/>
          <p:cNvSpPr txBox="1">
            <a:spLocks noGrp="1"/>
          </p:cNvSpPr>
          <p:nvPr>
            <p:ph type="title"/>
          </p:nvPr>
        </p:nvSpPr>
        <p:spPr>
          <a:xfrm>
            <a:off x="533400" y="38100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25" name="Google Shape;325;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85</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26" name="Google Shape;326;g31ccdae391d_0_403"/>
          <p:cNvSpPr txBox="1"/>
          <p:nvPr/>
        </p:nvSpPr>
        <p:spPr>
          <a:xfrm>
            <a:off x="7578050" y="1065311"/>
            <a:ext cx="3596075" cy="4485044"/>
          </a:xfrm>
          <a:prstGeom prst="rect">
            <a:avLst/>
          </a:prstGeom>
          <a:noFill/>
          <a:ln>
            <a:noFill/>
          </a:ln>
        </p:spPr>
        <p:txBody>
          <a:bodyPr spcFirstLastPara="1" wrap="square" lIns="91425" tIns="91425" rIns="91425" bIns="91425" anchor="t" anchorCtr="0">
            <a:spAutoFit/>
          </a:bodyPr>
          <a:lstStyle/>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APU A321 </a:t>
            </a:r>
            <a:endParaRPr kumimoji="0"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700"/>
              <a:buFont typeface="Arial"/>
              <a:buNone/>
              <a:tabLst/>
              <a:defRPr/>
            </a:pP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STK:  02 APU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HAN. </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+ 01ea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HAN trong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tuần</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06.</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APU A350</a:t>
            </a: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STK: NIL.</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+ 02 APU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tai shop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Lufth</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+LUTH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gặp</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tình</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trạng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khó</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khăn</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chuỗi</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ứng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nên</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chưa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confirm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được</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của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 APU.</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1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1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APU B787 </a:t>
            </a: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STK: 0 APU</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+ 02 APU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 PW Poland, trong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đó</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01ea </a:t>
            </a: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(HSC-E1525371PL) </a:t>
            </a:r>
            <a:r>
              <a:rPr kumimoji="0" lang="en-US" sz="14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dự</a:t>
            </a: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kiến</a:t>
            </a: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SGN 15/02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dùng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thay</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cho</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A873</a:t>
            </a: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pic>
        <p:nvPicPr>
          <p:cNvPr id="327" name="Google Shape;327;g31ccdae391d_0_403"/>
          <p:cNvPicPr preferRelativeResize="0"/>
          <p:nvPr/>
        </p:nvPicPr>
        <p:blipFill>
          <a:blip r:embed="rId3">
            <a:alphaModFix/>
          </a:blip>
          <a:stretch>
            <a:fillRect/>
          </a:stretch>
        </p:blipFill>
        <p:spPr>
          <a:xfrm>
            <a:off x="533400" y="1065311"/>
            <a:ext cx="6749376" cy="5095262"/>
          </a:xfrm>
          <a:prstGeom prst="rect">
            <a:avLst/>
          </a:prstGeom>
          <a:noFill/>
          <a:ln>
            <a:noFill/>
          </a:ln>
        </p:spPr>
      </p:pic>
    </p:spTree>
    <p:extLst>
      <p:ext uri="{BB962C8B-B14F-4D97-AF65-F5344CB8AC3E}">
        <p14:creationId xmlns:p14="http://schemas.microsoft.com/office/powerpoint/2010/main" val="26145751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2800726"/>
          </a:xfrm>
          <a:prstGeom prst="rect">
            <a:avLst/>
          </a:prstGeom>
          <a:noFill/>
          <a:ln>
            <a:noFill/>
          </a:ln>
        </p:spPr>
        <p:txBody>
          <a:bodyPr spcFirstLastPara="1" wrap="square" lIns="91433" tIns="45700" rIns="91433" bIns="45700" anchor="t" anchorCtr="0">
            <a:spAutoFit/>
          </a:bodyPr>
          <a:lstStyle/>
          <a:p>
            <a:r>
              <a:rPr lang="vi" sz="8800" b="1" i="1">
                <a:solidFill>
                  <a:schemeClr val="lt1"/>
                </a:solidFill>
                <a:latin typeface="Montserrat SemiBold"/>
                <a:ea typeface="Montserrat SemiBold"/>
                <a:cs typeface="Montserrat SemiBold"/>
                <a:sym typeface="Montserrat SemiBold"/>
              </a:rPr>
              <a:t>THANK YOU</a:t>
            </a:r>
            <a:endParaRPr sz="8800" b="1" i="1">
              <a:solidFill>
                <a:schemeClr val="lt1"/>
              </a:solidFill>
              <a:latin typeface="Montserrat SemiBold"/>
              <a:ea typeface="Montserrat SemiBold"/>
              <a:cs typeface="Montserrat SemiBold"/>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86</a:t>
            </a:fld>
            <a:endParaRPr/>
          </a:p>
        </p:txBody>
      </p:sp>
    </p:spTree>
    <p:extLst>
      <p:ext uri="{BB962C8B-B14F-4D97-AF65-F5344CB8AC3E}">
        <p14:creationId xmlns:p14="http://schemas.microsoft.com/office/powerpoint/2010/main" val="29060384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911D9C-B9DB-42A8-B756-3CC928D5245C}">
  <ds:schemaRefs>
    <ds:schemaRef ds:uri="http://schemas.microsoft.com/sharepoint/v3/contenttype/forms"/>
  </ds:schemaRefs>
</ds:datastoreItem>
</file>

<file path=customXml/itemProps2.xml><?xml version="1.0" encoding="utf-8"?>
<ds:datastoreItem xmlns:ds="http://schemas.openxmlformats.org/officeDocument/2006/customXml" ds:itemID="{7CE18D4A-261A-4850-B6EF-E8D1177C057C}">
  <ds:schemaRefs>
    <ds:schemaRef ds:uri="http://www.w3.org/XML/1998/namespace"/>
    <ds:schemaRef ds:uri="http://schemas.microsoft.com/office/2006/documentManagement/types"/>
    <ds:schemaRef ds:uri="http://purl.org/dc/terms/"/>
    <ds:schemaRef ds:uri="e189f61e-1295-4779-a752-040c7fad5177"/>
    <ds:schemaRef ds:uri="http://schemas.openxmlformats.org/package/2006/metadata/core-properties"/>
    <ds:schemaRef ds:uri="http://schemas.microsoft.com/office/2006/metadata/properties"/>
    <ds:schemaRef ds:uri="http://schemas.microsoft.com/office/infopath/2007/PartnerControls"/>
    <ds:schemaRef ds:uri="http://purl.org/dc/elements/1.1/"/>
    <ds:schemaRef ds:uri="b6015720-aa74-4be3-ba0d-eab08776cb9b"/>
    <ds:schemaRef ds:uri="http://purl.org/dc/dcmitype/"/>
  </ds:schemaRefs>
</ds:datastoreItem>
</file>

<file path=customXml/itemProps3.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72444</TotalTime>
  <Words>17772</Words>
  <Application>Microsoft Office PowerPoint</Application>
  <PresentationFormat>Widescreen</PresentationFormat>
  <Paragraphs>3406</Paragraphs>
  <Slides>87</Slides>
  <Notes>76</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87</vt:i4>
      </vt:variant>
    </vt:vector>
  </HeadingPairs>
  <TitlesOfParts>
    <vt:vector size="102" baseType="lpstr">
      <vt:lpstr>MS PGothic</vt:lpstr>
      <vt:lpstr>Arial</vt:lpstr>
      <vt:lpstr>Arial Narrow</vt:lpstr>
      <vt:lpstr>Calibri</vt:lpstr>
      <vt:lpstr>Calibri Light</vt:lpstr>
      <vt:lpstr>Cambria</vt:lpstr>
      <vt:lpstr>Exo</vt:lpstr>
      <vt:lpstr>Franklin Gothic Medium Cond</vt:lpstr>
      <vt:lpstr>Montserrat</vt:lpstr>
      <vt:lpstr>Montserrat SemiBold</vt:lpstr>
      <vt:lpstr>Symbol</vt:lpstr>
      <vt:lpstr>Tahoma</vt:lpstr>
      <vt:lpstr>Times New Roman</vt:lpstr>
      <vt:lpstr>Wingdings</vt:lpstr>
      <vt:lpstr>16-9 MASTER TEMPLATE</vt:lpstr>
      <vt:lpstr>BÁO CÁO KỸ THUẬT (Tuần 04+05: 20/01/2025 – 02/02/2025)</vt:lpstr>
      <vt:lpstr>TỔNG HỢP AOG, DELAY VÀ GTB/ATB/DIV</vt:lpstr>
      <vt:lpstr>ATB/GTB COMPARISON</vt:lpstr>
      <vt:lpstr>CÁC SỰ KIỆN ATB/GTB/DIV</vt:lpstr>
      <vt:lpstr>CÁC SỰ KIỆN ATB/GTB/DIV</vt:lpstr>
      <vt:lpstr>CÁC SỰ KIỆN ATB/GTB/DIV</vt:lpstr>
      <vt:lpstr>CÁC SỰ KIỆN ATB/GTB/DIV</vt:lpstr>
      <vt:lpstr>CÁC SỰ KIỆN MOR</vt:lpstr>
      <vt:lpstr>PowerPoint Presentation</vt:lpstr>
      <vt:lpstr>PowerPoint Presentation</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A320/A321</vt:lpstr>
      <vt:lpstr>PowerPoint Presentation</vt:lpstr>
      <vt:lpstr>PowerPoint Presentation</vt:lpstr>
      <vt:lpstr>PowerPoint Presentation</vt:lpstr>
      <vt:lpstr>PowerPoint Presentation</vt:lpstr>
      <vt:lpstr>TÌNH TRẠNG KỸ THUẬT ĐỘI BAY A320/ A321 </vt:lpstr>
      <vt:lpstr>TÌNH TRẠNG KỸ THUẬT ĐỘI BAY – A350</vt:lpstr>
      <vt:lpstr>TÌNH TRẠNG KỸ THUẬT ĐỘI BAY – A350</vt:lpstr>
      <vt:lpstr>TÌNH TRẠNG KỸ THUẬT ĐỘI BAY – A350</vt:lpstr>
      <vt:lpstr>TÌNH TRẠNG KỸ THUẬT ĐỘI BAY – A350</vt:lpstr>
      <vt:lpstr>TÌNH TRẠNG KỸ THUẬT ĐỘI BAY – A350</vt:lpstr>
      <vt:lpstr>PowerPoint Presentation</vt:lpstr>
      <vt:lpstr>PowerPoint Presentation</vt:lpstr>
      <vt:lpstr>PowerPoint Presentation</vt:lpstr>
      <vt:lpstr>PowerPoint Presentation</vt:lpstr>
      <vt:lpstr>PowerPoint Presentation</vt:lpstr>
      <vt:lpstr>PowerPoint Presentation</vt:lpstr>
      <vt:lpstr>TÌNH TRẠNG KỸ THUẬT ĐỘI BAY – B787</vt:lpstr>
      <vt:lpstr>TÌNH TRẠNG KỸ THUẬT ĐỘI BAY – B787</vt:lpstr>
      <vt:lpstr>PowerPoint Presentation</vt:lpstr>
      <vt:lpstr>PowerPoint Presentation</vt:lpstr>
      <vt:lpstr>PowerPoint Presentation</vt:lpstr>
      <vt:lpstr>PowerPoint Presentation</vt:lpstr>
      <vt:lpstr>TÌNH TRẠNG KỸ THUẬT ĐỘI BAY – ATR72</vt:lpstr>
      <vt:lpstr>TÌNH TRẠNG KỸ THUẬT ĐỘI BAY ATR72 </vt:lpstr>
      <vt:lpstr>Dispatch Reliability W04&amp;05 (20/01/2025-02/02/2025)</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ĐỊNH KỲ</vt:lpstr>
      <vt:lpstr>PowerPoint Presentation</vt:lpstr>
      <vt:lpstr>PowerPoint Presentation</vt:lpstr>
      <vt:lpstr>PowerPoint Presentation</vt:lpstr>
      <vt:lpstr>PowerPoint Presentation</vt:lpstr>
      <vt:lpstr>NHÂN NHƯỢNG TRONG TUẦN</vt:lpstr>
      <vt:lpstr>Giờ bay trung bình trong tuần các đội tàu</vt:lpstr>
      <vt:lpstr>Số chuyến bay theo ngày trong tuần các đội tàu</vt:lpstr>
      <vt:lpstr>Số chuyến bay khai thác theo ngày</vt:lpstr>
      <vt:lpstr>A321</vt:lpstr>
      <vt:lpstr>A321</vt:lpstr>
      <vt:lpstr>A321</vt:lpstr>
      <vt:lpstr>TÌNH TRẠNG APU LRU A321 </vt:lpstr>
      <vt:lpstr>A321 CÁC VẬT TƯ VƯỚNG MẮC KHÁC</vt:lpstr>
      <vt:lpstr>A321 VƯỚNG MẮC VẬT TƯ VAECO</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Tran Khac Long-Tech</cp:lastModifiedBy>
  <cp:revision>11498</cp:revision>
  <cp:lastPrinted>2019-03-27T09:25:07Z</cp:lastPrinted>
  <dcterms:created xsi:type="dcterms:W3CDTF">2018-12-27T04:50:36Z</dcterms:created>
  <dcterms:modified xsi:type="dcterms:W3CDTF">2025-02-02T14:09:38Z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