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theme/themeOverride1.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xml" ContentType="application/vnd.openxmlformats-officedocument.presentationml.tags+xml"/>
  <Override PartName="/ppt/notesSlides/notesSlide17.xml" ContentType="application/vnd.openxmlformats-officedocument.presentationml.notesSlide+xml"/>
  <Override PartName="/ppt/tags/tag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7.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6.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7.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8.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15.xml" ContentType="application/vnd.openxmlformats-officedocument.drawingml.chart+xml"/>
  <Override PartName="/ppt/notesSlides/notesSlide46.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2.xml" ContentType="application/vnd.openxmlformats-officedocument.themeOverride+xml"/>
  <Override PartName="/ppt/notesSlides/notesSlide47.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3.xml" ContentType="application/vnd.openxmlformats-officedocument.themeOverride+xml"/>
  <Override PartName="/ppt/notesSlides/notesSlide48.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4.xml" ContentType="application/vnd.openxmlformats-officedocument.themeOverr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83"/>
  </p:notesMasterIdLst>
  <p:sldIdLst>
    <p:sldId id="11486" r:id="rId5"/>
    <p:sldId id="11487" r:id="rId6"/>
    <p:sldId id="11488" r:id="rId7"/>
    <p:sldId id="11743" r:id="rId8"/>
    <p:sldId id="11744" r:id="rId9"/>
    <p:sldId id="11745" r:id="rId10"/>
    <p:sldId id="11492" r:id="rId11"/>
    <p:sldId id="11493" r:id="rId12"/>
    <p:sldId id="11767" r:id="rId13"/>
    <p:sldId id="11768" r:id="rId14"/>
    <p:sldId id="11769" r:id="rId15"/>
    <p:sldId id="11748" r:id="rId16"/>
    <p:sldId id="11749" r:id="rId17"/>
    <p:sldId id="11750" r:id="rId18"/>
    <p:sldId id="11751" r:id="rId19"/>
    <p:sldId id="11752" r:id="rId20"/>
    <p:sldId id="11753" r:id="rId21"/>
    <p:sldId id="11754" r:id="rId22"/>
    <p:sldId id="11755" r:id="rId23"/>
    <p:sldId id="11505" r:id="rId24"/>
    <p:sldId id="11757" r:id="rId25"/>
    <p:sldId id="11758" r:id="rId26"/>
    <p:sldId id="11759" r:id="rId27"/>
    <p:sldId id="11760" r:id="rId28"/>
    <p:sldId id="11761" r:id="rId29"/>
    <p:sldId id="11762" r:id="rId30"/>
    <p:sldId id="11763" r:id="rId31"/>
    <p:sldId id="11764" r:id="rId32"/>
    <p:sldId id="11765" r:id="rId33"/>
    <p:sldId id="11766" r:id="rId34"/>
    <p:sldId id="11695" r:id="rId35"/>
    <p:sldId id="11736" r:id="rId36"/>
    <p:sldId id="11737" r:id="rId37"/>
    <p:sldId id="11722" r:id="rId38"/>
    <p:sldId id="11723" r:id="rId39"/>
    <p:sldId id="11724" r:id="rId40"/>
    <p:sldId id="11725" r:id="rId41"/>
    <p:sldId id="11726" r:id="rId42"/>
    <p:sldId id="11727" r:id="rId43"/>
    <p:sldId id="11728" r:id="rId44"/>
    <p:sldId id="11729" r:id="rId45"/>
    <p:sldId id="11730" r:id="rId46"/>
    <p:sldId id="11731" r:id="rId47"/>
    <p:sldId id="11732" r:id="rId48"/>
    <p:sldId id="11733" r:id="rId49"/>
    <p:sldId id="11734" r:id="rId50"/>
    <p:sldId id="11735" r:id="rId51"/>
    <p:sldId id="11663" r:id="rId52"/>
    <p:sldId id="11664" r:id="rId53"/>
    <p:sldId id="11665" r:id="rId54"/>
    <p:sldId id="11719" r:id="rId55"/>
    <p:sldId id="11720" r:id="rId56"/>
    <p:sldId id="11721" r:id="rId57"/>
    <p:sldId id="11655" r:id="rId58"/>
    <p:sldId id="11545" r:id="rId59"/>
    <p:sldId id="11716" r:id="rId60"/>
    <p:sldId id="11717" r:id="rId61"/>
    <p:sldId id="11718" r:id="rId62"/>
    <p:sldId id="11696" r:id="rId63"/>
    <p:sldId id="11697" r:id="rId64"/>
    <p:sldId id="11698" r:id="rId65"/>
    <p:sldId id="11699" r:id="rId66"/>
    <p:sldId id="11700" r:id="rId67"/>
    <p:sldId id="11701" r:id="rId68"/>
    <p:sldId id="11702" r:id="rId69"/>
    <p:sldId id="11703" r:id="rId70"/>
    <p:sldId id="11704" r:id="rId71"/>
    <p:sldId id="11705" r:id="rId72"/>
    <p:sldId id="11706" r:id="rId73"/>
    <p:sldId id="11707" r:id="rId74"/>
    <p:sldId id="11708" r:id="rId75"/>
    <p:sldId id="11709" r:id="rId76"/>
    <p:sldId id="11710" r:id="rId77"/>
    <p:sldId id="11711" r:id="rId78"/>
    <p:sldId id="11712" r:id="rId79"/>
    <p:sldId id="11713" r:id="rId80"/>
    <p:sldId id="11714" r:id="rId81"/>
    <p:sldId id="11715" r:id="rId8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499" autoAdjust="0"/>
    <p:restoredTop sz="95337" autoAdjust="0"/>
  </p:normalViewPr>
  <p:slideViewPr>
    <p:cSldViewPr>
      <p:cViewPr varScale="1">
        <p:scale>
          <a:sx n="73" d="100"/>
          <a:sy n="73" d="100"/>
        </p:scale>
        <p:origin x="78" y="156"/>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oangdg\Desktop\W07\W08\W08%20(17.02.2025-23.02.2025)%20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hoangdg\Desktop\W07\W08\W08%20(17.02.2025-23.02.2025)%20Final.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C:\Users\hoangdg\Desktop\W07\W08\W08%20(17.02.2025-23.02.2025)%20Final.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2" Type="http://schemas.openxmlformats.org/officeDocument/2006/relationships/oleObject" Target="file:///C:\Users\hoangdg\Desktop\W07\W08\W08%20(17.02.2025-23.02.2025)%20Final.xlsx" TargetMode="External"/><Relationship Id="rId1" Type="http://schemas.openxmlformats.org/officeDocument/2006/relationships/themeOverride" Target="../theme/themeOverride1.xml"/></Relationships>
</file>

<file path=ppt/charts/_rels/chart5.xml.rels><?xml version="1.0" encoding="UTF-8" standalone="yes"?>
<Relationships xmlns="http://schemas.openxmlformats.org/package/2006/relationships"><Relationship Id="rId1" Type="http://schemas.openxmlformats.org/officeDocument/2006/relationships/oleObject" Target="file:///C:\Users\hoangdg\Desktop\W07\W08\W08%20(17.02.2025-23.02.2025)%20Final.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C:\Users\hoangdg\Desktop\W07\W08\W08%20(17.02.2025-23.02.2025)%20Final.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08\DR\DR-W08.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oleObject" Target="file:///E:\My%20Drive\1.%20GTF\Removal%20Plan%20Sy%20update.xlsx" TargetMode="External"/><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Ora\AppData\Local\Microsoft\Windows\INetCache\Content.Outlook\8UZL1J7F\Ngu&#7891;n%20l&#7921;c%20&#273;&#7897;ng%20c&#417;%20A350%20-%2013-02-25.xlsx" TargetMode="External"/><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1" Type="http://schemas.openxmlformats.org/officeDocument/2006/relationships/oleObject" Target="file:///C:\Users\hoangdg\Desktop\W07\W08\W08%20(17.02.2025-23.02.2025)%20Final.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 (2)'!$C$2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 (2)'!$B$3:$B$8</c:f>
              <c:strCache>
                <c:ptCount val="6"/>
                <c:pt idx="0">
                  <c:v>A320</c:v>
                </c:pt>
                <c:pt idx="1">
                  <c:v>A321</c:v>
                </c:pt>
                <c:pt idx="2">
                  <c:v>A350</c:v>
                </c:pt>
                <c:pt idx="3">
                  <c:v>B787</c:v>
                </c:pt>
                <c:pt idx="4">
                  <c:v>ATR72</c:v>
                </c:pt>
                <c:pt idx="5">
                  <c:v>Tất cả</c:v>
                </c:pt>
              </c:strCache>
            </c:strRef>
          </c:cat>
          <c:val>
            <c:numRef>
              <c:f>'Data Chart (2)'!$C$3:$C$8</c:f>
              <c:numCache>
                <c:formatCode>General</c:formatCode>
                <c:ptCount val="6"/>
                <c:pt idx="0">
                  <c:v>0</c:v>
                </c:pt>
                <c:pt idx="1">
                  <c:v>1</c:v>
                </c:pt>
                <c:pt idx="2">
                  <c:v>0</c:v>
                </c:pt>
                <c:pt idx="3">
                  <c:v>0</c:v>
                </c:pt>
                <c:pt idx="4">
                  <c:v>1</c:v>
                </c:pt>
                <c:pt idx="5">
                  <c:v>2</c:v>
                </c:pt>
              </c:numCache>
            </c:numRef>
          </c:val>
          <c:extLst xmlns:c15="http://schemas.microsoft.com/office/drawing/2012/chart">
            <c:ext xmlns:c16="http://schemas.microsoft.com/office/drawing/2014/chart" uri="{C3380CC4-5D6E-409C-BE32-E72D297353CC}">
              <c16:uniqueId val="{00000000-5994-4D9D-98F8-8A0A7F1892EA}"/>
            </c:ext>
          </c:extLst>
        </c:ser>
        <c:ser>
          <c:idx val="1"/>
          <c:order val="1"/>
          <c:tx>
            <c:strRef>
              <c:f>'Data Chart (2)'!$D$2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 (2)'!$B$3:$B$8</c:f>
              <c:strCache>
                <c:ptCount val="6"/>
                <c:pt idx="0">
                  <c:v>A320</c:v>
                </c:pt>
                <c:pt idx="1">
                  <c:v>A321</c:v>
                </c:pt>
                <c:pt idx="2">
                  <c:v>A350</c:v>
                </c:pt>
                <c:pt idx="3">
                  <c:v>B787</c:v>
                </c:pt>
                <c:pt idx="4">
                  <c:v>ATR72</c:v>
                </c:pt>
                <c:pt idx="5">
                  <c:v>Tất cả</c:v>
                </c:pt>
              </c:strCache>
            </c:strRef>
          </c:cat>
          <c:val>
            <c:numRef>
              <c:f>'Data Chart (2)'!$D$3:$D$8</c:f>
              <c:numCache>
                <c:formatCode>General</c:formatCode>
                <c:ptCount val="6"/>
                <c:pt idx="0">
                  <c:v>0</c:v>
                </c:pt>
                <c:pt idx="1">
                  <c:v>3</c:v>
                </c:pt>
                <c:pt idx="2">
                  <c:v>0</c:v>
                </c:pt>
                <c:pt idx="3">
                  <c:v>0</c:v>
                </c:pt>
                <c:pt idx="4">
                  <c:v>0</c:v>
                </c:pt>
                <c:pt idx="5">
                  <c:v>3</c:v>
                </c:pt>
              </c:numCache>
            </c:numRef>
          </c:val>
          <c:extLst>
            <c:ext xmlns:c16="http://schemas.microsoft.com/office/drawing/2014/chart" uri="{C3380CC4-5D6E-409C-BE32-E72D297353CC}">
              <c16:uniqueId val="{00000001-5994-4D9D-98F8-8A0A7F1892EA}"/>
            </c:ext>
          </c:extLst>
        </c:ser>
        <c:dLbls>
          <c:dLblPos val="outEnd"/>
          <c:showLegendKey val="0"/>
          <c:showVal val="1"/>
          <c:showCatName val="0"/>
          <c:showSerName val="0"/>
          <c:showPercent val="0"/>
          <c:showBubbleSize val="0"/>
        </c:dLbls>
        <c:gapWidth val="219"/>
        <c:overlap val="-27"/>
        <c:axId val="318908544"/>
        <c:axId val="318912072"/>
        <c:extLst/>
      </c:barChart>
      <c:catAx>
        <c:axId val="318908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2072"/>
        <c:crosses val="autoZero"/>
        <c:auto val="1"/>
        <c:lblAlgn val="ctr"/>
        <c:lblOffset val="100"/>
        <c:noMultiLvlLbl val="0"/>
      </c:catAx>
      <c:valAx>
        <c:axId val="318912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08544"/>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 (2)'!$C$20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 (2)'!$B$21:$B$26</c:f>
              <c:strCache>
                <c:ptCount val="6"/>
                <c:pt idx="0">
                  <c:v>A320</c:v>
                </c:pt>
                <c:pt idx="1">
                  <c:v>A321</c:v>
                </c:pt>
                <c:pt idx="2">
                  <c:v>A350</c:v>
                </c:pt>
                <c:pt idx="3">
                  <c:v>B787</c:v>
                </c:pt>
                <c:pt idx="4">
                  <c:v>ATR72</c:v>
                </c:pt>
                <c:pt idx="5">
                  <c:v>Tất cả</c:v>
                </c:pt>
              </c:strCache>
            </c:strRef>
          </c:cat>
          <c:val>
            <c:numRef>
              <c:f>'Data Chart (2)'!$C$21:$C$26</c:f>
              <c:numCache>
                <c:formatCode>General</c:formatCode>
                <c:ptCount val="6"/>
                <c:pt idx="0">
                  <c:v>0</c:v>
                </c:pt>
                <c:pt idx="1">
                  <c:v>1</c:v>
                </c:pt>
                <c:pt idx="2">
                  <c:v>0</c:v>
                </c:pt>
                <c:pt idx="3">
                  <c:v>0</c:v>
                </c:pt>
                <c:pt idx="4">
                  <c:v>2</c:v>
                </c:pt>
                <c:pt idx="5">
                  <c:v>3</c:v>
                </c:pt>
              </c:numCache>
            </c:numRef>
          </c:val>
          <c:extLst xmlns:c15="http://schemas.microsoft.com/office/drawing/2012/chart">
            <c:ext xmlns:c16="http://schemas.microsoft.com/office/drawing/2014/chart" uri="{C3380CC4-5D6E-409C-BE32-E72D297353CC}">
              <c16:uniqueId val="{00000000-FBBB-4F46-A461-0E5FDCE5B26A}"/>
            </c:ext>
          </c:extLst>
        </c:ser>
        <c:ser>
          <c:idx val="1"/>
          <c:order val="1"/>
          <c:tx>
            <c:strRef>
              <c:f>'Data Chart (2)'!$D$20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 (2)'!$B$21:$B$26</c:f>
              <c:strCache>
                <c:ptCount val="6"/>
                <c:pt idx="0">
                  <c:v>A320</c:v>
                </c:pt>
                <c:pt idx="1">
                  <c:v>A321</c:v>
                </c:pt>
                <c:pt idx="2">
                  <c:v>A350</c:v>
                </c:pt>
                <c:pt idx="3">
                  <c:v>B787</c:v>
                </c:pt>
                <c:pt idx="4">
                  <c:v>ATR72</c:v>
                </c:pt>
                <c:pt idx="5">
                  <c:v>Tất cả</c:v>
                </c:pt>
              </c:strCache>
            </c:strRef>
          </c:cat>
          <c:val>
            <c:numRef>
              <c:f>'Data Chart (2)'!$D$21:$D$26</c:f>
              <c:numCache>
                <c:formatCode>General</c:formatCode>
                <c:ptCount val="6"/>
                <c:pt idx="0">
                  <c:v>0</c:v>
                </c:pt>
                <c:pt idx="1">
                  <c:v>2</c:v>
                </c:pt>
                <c:pt idx="2">
                  <c:v>0</c:v>
                </c:pt>
                <c:pt idx="3">
                  <c:v>1</c:v>
                </c:pt>
                <c:pt idx="4">
                  <c:v>0</c:v>
                </c:pt>
                <c:pt idx="5">
                  <c:v>3</c:v>
                </c:pt>
              </c:numCache>
            </c:numRef>
          </c:val>
          <c:extLst>
            <c:ext xmlns:c16="http://schemas.microsoft.com/office/drawing/2014/chart" uri="{C3380CC4-5D6E-409C-BE32-E72D297353CC}">
              <c16:uniqueId val="{00000001-FBBB-4F46-A461-0E5FDCE5B26A}"/>
            </c:ext>
          </c:extLst>
        </c:ser>
        <c:dLbls>
          <c:showLegendKey val="0"/>
          <c:showVal val="0"/>
          <c:showCatName val="0"/>
          <c:showSerName val="0"/>
          <c:showPercent val="0"/>
          <c:showBubbleSize val="0"/>
        </c:dLbls>
        <c:gapWidth val="219"/>
        <c:overlap val="-27"/>
        <c:axId val="318757048"/>
        <c:axId val="318756656"/>
        <c:extLst/>
      </c:barChart>
      <c:catAx>
        <c:axId val="318757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756656"/>
        <c:crosses val="autoZero"/>
        <c:auto val="1"/>
        <c:lblAlgn val="ctr"/>
        <c:lblOffset val="100"/>
        <c:noMultiLvlLbl val="0"/>
      </c:catAx>
      <c:valAx>
        <c:axId val="318756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757048"/>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 (2)'!$C$27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 (2)'!$B$28:$B$33</c:f>
              <c:strCache>
                <c:ptCount val="6"/>
                <c:pt idx="0">
                  <c:v>A320</c:v>
                </c:pt>
                <c:pt idx="1">
                  <c:v>A321</c:v>
                </c:pt>
                <c:pt idx="2">
                  <c:v>A350</c:v>
                </c:pt>
                <c:pt idx="3">
                  <c:v>B787</c:v>
                </c:pt>
                <c:pt idx="4">
                  <c:v>ATR72</c:v>
                </c:pt>
                <c:pt idx="5">
                  <c:v>Tất cả</c:v>
                </c:pt>
              </c:strCache>
            </c:strRef>
          </c:cat>
          <c:val>
            <c:numRef>
              <c:f>'Data Chart (2)'!$C$28:$C$33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FA44-4F85-A222-B910756CE1FD}"/>
            </c:ext>
          </c:extLst>
        </c:ser>
        <c:ser>
          <c:idx val="1"/>
          <c:order val="1"/>
          <c:tx>
            <c:strRef>
              <c:f>'Data Chart (2)'!$D$27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 (2)'!$B$28:$B$33</c:f>
              <c:strCache>
                <c:ptCount val="6"/>
                <c:pt idx="0">
                  <c:v>A320</c:v>
                </c:pt>
                <c:pt idx="1">
                  <c:v>A321</c:v>
                </c:pt>
                <c:pt idx="2">
                  <c:v>A350</c:v>
                </c:pt>
                <c:pt idx="3">
                  <c:v>B787</c:v>
                </c:pt>
                <c:pt idx="4">
                  <c:v>ATR72</c:v>
                </c:pt>
                <c:pt idx="5">
                  <c:v>Tất cả</c:v>
                </c:pt>
              </c:strCache>
            </c:strRef>
          </c:cat>
          <c:val>
            <c:numRef>
              <c:f>'Data Chart (2)'!$D$28:$D$33</c:f>
              <c:numCache>
                <c:formatCode>General</c:formatCode>
                <c:ptCount val="6"/>
                <c:pt idx="0">
                  <c:v>0</c:v>
                </c:pt>
                <c:pt idx="1">
                  <c:v>0</c:v>
                </c:pt>
                <c:pt idx="2">
                  <c:v>1</c:v>
                </c:pt>
                <c:pt idx="3">
                  <c:v>0</c:v>
                </c:pt>
                <c:pt idx="4">
                  <c:v>0</c:v>
                </c:pt>
                <c:pt idx="5">
                  <c:v>1</c:v>
                </c:pt>
              </c:numCache>
            </c:numRef>
          </c:val>
          <c:extLst>
            <c:ext xmlns:c16="http://schemas.microsoft.com/office/drawing/2014/chart" uri="{C3380CC4-5D6E-409C-BE32-E72D297353CC}">
              <c16:uniqueId val="{00000001-FA44-4F85-A222-B910756CE1FD}"/>
            </c:ext>
          </c:extLst>
        </c:ser>
        <c:dLbls>
          <c:showLegendKey val="0"/>
          <c:showVal val="0"/>
          <c:showCatName val="0"/>
          <c:showSerName val="0"/>
          <c:showPercent val="0"/>
          <c:showBubbleSize val="0"/>
        </c:dLbls>
        <c:gapWidth val="219"/>
        <c:overlap val="-27"/>
        <c:axId val="318911680"/>
        <c:axId val="318910504"/>
        <c:extLst/>
      </c:barChart>
      <c:catAx>
        <c:axId val="318911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0504"/>
        <c:crosses val="autoZero"/>
        <c:auto val="1"/>
        <c:lblAlgn val="ctr"/>
        <c:lblOffset val="100"/>
        <c:noMultiLvlLbl val="0"/>
      </c:catAx>
      <c:valAx>
        <c:axId val="318910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1680"/>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 (2)'!$C$10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 (2)'!$B$11:$B$16</c:f>
              <c:strCache>
                <c:ptCount val="6"/>
                <c:pt idx="0">
                  <c:v>A320</c:v>
                </c:pt>
                <c:pt idx="1">
                  <c:v>A321</c:v>
                </c:pt>
                <c:pt idx="2">
                  <c:v>A350</c:v>
                </c:pt>
                <c:pt idx="3">
                  <c:v>B787</c:v>
                </c:pt>
                <c:pt idx="4">
                  <c:v>ATR72</c:v>
                </c:pt>
                <c:pt idx="5">
                  <c:v>Tất cả</c:v>
                </c:pt>
              </c:strCache>
            </c:strRef>
          </c:cat>
          <c:val>
            <c:numRef>
              <c:f>'Data Chart (2)'!$C$11:$C$16</c:f>
              <c:numCache>
                <c:formatCode>General</c:formatCode>
                <c:ptCount val="6"/>
                <c:pt idx="0">
                  <c:v>0</c:v>
                </c:pt>
                <c:pt idx="1">
                  <c:v>2</c:v>
                </c:pt>
                <c:pt idx="2">
                  <c:v>0</c:v>
                </c:pt>
                <c:pt idx="3">
                  <c:v>1</c:v>
                </c:pt>
                <c:pt idx="4">
                  <c:v>2</c:v>
                </c:pt>
                <c:pt idx="5">
                  <c:v>5</c:v>
                </c:pt>
              </c:numCache>
            </c:numRef>
          </c:val>
          <c:extLst xmlns:c15="http://schemas.microsoft.com/office/drawing/2012/chart">
            <c:ext xmlns:c16="http://schemas.microsoft.com/office/drawing/2014/chart" uri="{C3380CC4-5D6E-409C-BE32-E72D297353CC}">
              <c16:uniqueId val="{00000000-E9E4-42A6-9486-9EBA567594E6}"/>
            </c:ext>
          </c:extLst>
        </c:ser>
        <c:ser>
          <c:idx val="1"/>
          <c:order val="1"/>
          <c:tx>
            <c:strRef>
              <c:f>'Data Chart (2)'!$D$10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 (2)'!$B$11:$B$16</c:f>
              <c:strCache>
                <c:ptCount val="6"/>
                <c:pt idx="0">
                  <c:v>A320</c:v>
                </c:pt>
                <c:pt idx="1">
                  <c:v>A321</c:v>
                </c:pt>
                <c:pt idx="2">
                  <c:v>A350</c:v>
                </c:pt>
                <c:pt idx="3">
                  <c:v>B787</c:v>
                </c:pt>
                <c:pt idx="4">
                  <c:v>ATR72</c:v>
                </c:pt>
                <c:pt idx="5">
                  <c:v>Tất cả</c:v>
                </c:pt>
              </c:strCache>
            </c:strRef>
          </c:cat>
          <c:val>
            <c:numRef>
              <c:f>'Data Chart (2)'!$D$11:$D$16</c:f>
              <c:numCache>
                <c:formatCode>General</c:formatCode>
                <c:ptCount val="6"/>
                <c:pt idx="0">
                  <c:v>0</c:v>
                </c:pt>
                <c:pt idx="1">
                  <c:v>6</c:v>
                </c:pt>
                <c:pt idx="2">
                  <c:v>1</c:v>
                </c:pt>
                <c:pt idx="3">
                  <c:v>3</c:v>
                </c:pt>
                <c:pt idx="4">
                  <c:v>0</c:v>
                </c:pt>
                <c:pt idx="5">
                  <c:v>10</c:v>
                </c:pt>
              </c:numCache>
            </c:numRef>
          </c:val>
          <c:extLst>
            <c:ext xmlns:c16="http://schemas.microsoft.com/office/drawing/2014/chart" uri="{C3380CC4-5D6E-409C-BE32-E72D297353CC}">
              <c16:uniqueId val="{00000001-E9E4-42A6-9486-9EBA567594E6}"/>
            </c:ext>
          </c:extLst>
        </c:ser>
        <c:dLbls>
          <c:dLblPos val="outEnd"/>
          <c:showLegendKey val="0"/>
          <c:showVal val="1"/>
          <c:showCatName val="0"/>
          <c:showSerName val="0"/>
          <c:showPercent val="0"/>
          <c:showBubbleSize val="0"/>
        </c:dLbls>
        <c:gapWidth val="219"/>
        <c:overlap val="-27"/>
        <c:axId val="318750776"/>
        <c:axId val="318757832"/>
        <c:extLst/>
      </c:barChart>
      <c:catAx>
        <c:axId val="318750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8757832"/>
        <c:crosses val="autoZero"/>
        <c:auto val="1"/>
        <c:lblAlgn val="ctr"/>
        <c:lblOffset val="100"/>
        <c:noMultiLvlLbl val="0"/>
      </c:catAx>
      <c:valAx>
        <c:axId val="318757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8750776"/>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FA06-4578-9772-9036EF501709}"/>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1</c:v>
                </c:pt>
              </c:numCache>
            </c:numRef>
          </c:val>
          <c:smooth val="0"/>
          <c:extLst>
            <c:ext xmlns:c16="http://schemas.microsoft.com/office/drawing/2014/chart" uri="{C3380CC4-5D6E-409C-BE32-E72D297353CC}">
              <c16:uniqueId val="{00000001-FA06-4578-9772-9036EF501709}"/>
            </c:ext>
          </c:extLst>
        </c:ser>
        <c:dLbls>
          <c:showLegendKey val="0"/>
          <c:showVal val="0"/>
          <c:showCatName val="0"/>
          <c:showSerName val="0"/>
          <c:showPercent val="0"/>
          <c:showBubbleSize val="0"/>
        </c:dLbls>
        <c:marker val="1"/>
        <c:smooth val="0"/>
        <c:axId val="265590648"/>
        <c:axId val="266798184"/>
      </c:lineChart>
      <c:catAx>
        <c:axId val="2655906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dirty="0">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6798184"/>
        <c:crosses val="autoZero"/>
        <c:auto val="1"/>
        <c:lblAlgn val="ctr"/>
        <c:lblOffset val="100"/>
        <c:noMultiLvlLbl val="0"/>
      </c:catAx>
      <c:valAx>
        <c:axId val="2667981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5590648"/>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94D6-442F-AD09-52760B7F732C}"/>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3</c:v>
                </c:pt>
              </c:numCache>
            </c:numRef>
          </c:val>
          <c:smooth val="0"/>
          <c:extLst>
            <c:ext xmlns:c16="http://schemas.microsoft.com/office/drawing/2014/chart" uri="{C3380CC4-5D6E-409C-BE32-E72D297353CC}">
              <c16:uniqueId val="{00000001-94D6-442F-AD09-52760B7F732C}"/>
            </c:ext>
          </c:extLst>
        </c:ser>
        <c:dLbls>
          <c:showLegendKey val="0"/>
          <c:showVal val="0"/>
          <c:showCatName val="0"/>
          <c:showSerName val="0"/>
          <c:showPercent val="0"/>
          <c:showBubbleSize val="0"/>
        </c:dLbls>
        <c:marker val="1"/>
        <c:smooth val="0"/>
        <c:axId val="317742616"/>
        <c:axId val="317745056"/>
      </c:lineChart>
      <c:catAx>
        <c:axId val="31774261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dirty="0">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7745056"/>
        <c:crosses val="autoZero"/>
        <c:auto val="1"/>
        <c:lblAlgn val="ctr"/>
        <c:lblOffset val="100"/>
        <c:noMultiLvlLbl val="0"/>
      </c:catAx>
      <c:valAx>
        <c:axId val="31774505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77426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W07</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B7FF-4550-906B-4DB0AD1629CF}"/>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99.860074626865668</c:v>
                </c:pt>
                <c:pt idx="1">
                  <c:v>100</c:v>
                </c:pt>
                <c:pt idx="2">
                  <c:v>99.728997289972895</c:v>
                </c:pt>
                <c:pt idx="3">
                  <c:v>99.285714285714292</c:v>
                </c:pt>
              </c:numCache>
            </c:numRef>
          </c:val>
          <c:extLst>
            <c:ext xmlns:c16="http://schemas.microsoft.com/office/drawing/2014/chart" uri="{C3380CC4-5D6E-409C-BE32-E72D297353CC}">
              <c16:uniqueId val="{00000001-B7FF-4550-906B-4DB0AD1629CF}"/>
            </c:ext>
          </c:extLst>
        </c:ser>
        <c:ser>
          <c:idx val="1"/>
          <c:order val="1"/>
          <c:tx>
            <c:strRef>
              <c:f>DR!$D$3</c:f>
              <c:strCache>
                <c:ptCount val="1"/>
                <c:pt idx="0">
                  <c:v>W08</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99.695276790248855</c:v>
                </c:pt>
                <c:pt idx="1">
                  <c:v>99.397590361445779</c:v>
                </c:pt>
                <c:pt idx="2">
                  <c:v>99.168975069252085</c:v>
                </c:pt>
                <c:pt idx="3">
                  <c:v>100</c:v>
                </c:pt>
              </c:numCache>
            </c:numRef>
          </c:val>
          <c:extLst>
            <c:ext xmlns:c16="http://schemas.microsoft.com/office/drawing/2014/chart" uri="{C3380CC4-5D6E-409C-BE32-E72D297353CC}">
              <c16:uniqueId val="{00000002-B7FF-4550-906B-4DB0AD1629CF}"/>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7FF-4550-906B-4DB0AD1629CF}"/>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B7FF-4550-906B-4DB0AD1629CF}"/>
            </c:ext>
          </c:extLst>
        </c:ser>
        <c:dLbls>
          <c:showLegendKey val="0"/>
          <c:showVal val="0"/>
          <c:showCatName val="0"/>
          <c:showSerName val="0"/>
          <c:showPercent val="0"/>
          <c:showBubbleSize val="0"/>
        </c:dLbls>
        <c:gapWidth val="219"/>
        <c:overlap val="-27"/>
        <c:axId val="-95521472"/>
        <c:axId val="-95499712"/>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B7FF-4550-906B-4DB0AD1629CF}"/>
                  </c:ext>
                </c:extLst>
              </c15:ser>
            </c15:filteredBarSeries>
          </c:ext>
        </c:extLst>
      </c:barChart>
      <c:catAx>
        <c:axId val="-95521472"/>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95499712"/>
        <c:crosses val="autoZero"/>
        <c:auto val="1"/>
        <c:lblAlgn val="ctr"/>
        <c:lblOffset val="100"/>
        <c:noMultiLvlLbl val="0"/>
      </c:catAx>
      <c:valAx>
        <c:axId val="-95499712"/>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95521472"/>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4</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29.25</c:v>
                </c:pt>
                <c:pt idx="3">
                  <c:v>27.5</c:v>
                </c:pt>
                <c:pt idx="4">
                  <c:v>25.25</c:v>
                </c:pt>
                <c:pt idx="5">
                  <c:v>22</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Sheet1!$D$8:$AM$8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Sheet1!$D$9:$AM$9</c:f>
              <c:numCache>
                <c:formatCode>General</c:formatCode>
                <c:ptCount val="12"/>
                <c:pt idx="0">
                  <c:v>26</c:v>
                </c:pt>
                <c:pt idx="1">
                  <c:v>26</c:v>
                </c:pt>
                <c:pt idx="2">
                  <c:v>30</c:v>
                </c:pt>
                <c:pt idx="3">
                  <c:v>29</c:v>
                </c:pt>
                <c:pt idx="4">
                  <c:v>30</c:v>
                </c:pt>
                <c:pt idx="5">
                  <c:v>29</c:v>
                </c:pt>
                <c:pt idx="6">
                  <c:v>29</c:v>
                </c:pt>
                <c:pt idx="7">
                  <c:v>29</c:v>
                </c:pt>
                <c:pt idx="8">
                  <c:v>29</c:v>
                </c:pt>
                <c:pt idx="9">
                  <c:v>28</c:v>
                </c:pt>
                <c:pt idx="10">
                  <c:v>27</c:v>
                </c:pt>
                <c:pt idx="11">
                  <c:v>26</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Sheet1!$D$10:$AM$10</c:f>
              <c:numCache>
                <c:formatCode>General</c:formatCode>
                <c:ptCount val="12"/>
                <c:pt idx="0">
                  <c:v>8</c:v>
                </c:pt>
                <c:pt idx="1">
                  <c:v>8</c:v>
                </c:pt>
                <c:pt idx="2">
                  <c:v>9</c:v>
                </c:pt>
                <c:pt idx="3">
                  <c:v>8</c:v>
                </c:pt>
                <c:pt idx="4">
                  <c:v>8</c:v>
                </c:pt>
                <c:pt idx="5">
                  <c:v>8</c:v>
                </c:pt>
                <c:pt idx="6">
                  <c:v>8</c:v>
                </c:pt>
                <c:pt idx="7">
                  <c:v>7</c:v>
                </c:pt>
                <c:pt idx="8">
                  <c:v>8</c:v>
                </c:pt>
                <c:pt idx="9">
                  <c:v>8</c:v>
                </c:pt>
                <c:pt idx="10">
                  <c:v>7</c:v>
                </c:pt>
                <c:pt idx="11">
                  <c:v>7</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Sheet1!$D$11:$AM$11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Sheet1!$D$12:$AM$12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'Nguồn lực'!$B$3</c:f>
              <c:strCache>
                <c:ptCount val="1"/>
                <c:pt idx="0">
                  <c:v>KB Cũ</c:v>
                </c:pt>
              </c:strCache>
            </c:strRef>
          </c:tx>
          <c:spPr>
            <a:solidFill>
              <a:schemeClr val="bg1">
                <a:lumMod val="85000"/>
                <a:alpha val="50000"/>
              </a:schemeClr>
            </a:solidFill>
            <a:ln>
              <a:noFill/>
            </a:ln>
            <a:effectLst/>
          </c:spPr>
          <c:val>
            <c:numRef>
              <c:f>'Nguồn lực'!$C$3:$AD$3</c:f>
              <c:numCache>
                <c:formatCode>[=0]\ 0;0.##</c:formatCode>
                <c:ptCount val="12"/>
                <c:pt idx="0">
                  <c:v>13</c:v>
                </c:pt>
                <c:pt idx="1">
                  <c:v>12.5</c:v>
                </c:pt>
                <c:pt idx="2">
                  <c:v>14</c:v>
                </c:pt>
                <c:pt idx="3">
                  <c:v>13</c:v>
                </c:pt>
                <c:pt idx="4">
                  <c:v>13</c:v>
                </c:pt>
                <c:pt idx="5">
                  <c:v>12</c:v>
                </c:pt>
                <c:pt idx="6">
                  <c:v>12</c:v>
                </c:pt>
                <c:pt idx="7">
                  <c:v>11</c:v>
                </c:pt>
                <c:pt idx="8">
                  <c:v>11</c:v>
                </c:pt>
                <c:pt idx="9">
                  <c:v>11</c:v>
                </c:pt>
                <c:pt idx="10">
                  <c:v>10</c:v>
                </c:pt>
                <c:pt idx="11">
                  <c:v>10</c:v>
                </c:pt>
              </c:numCache>
            </c:numRef>
          </c:val>
          <c:extLst>
            <c:ext xmlns:c16="http://schemas.microsoft.com/office/drawing/2014/chart" uri="{C3380CC4-5D6E-409C-BE32-E72D297353CC}">
              <c16:uniqueId val="{00000000-D18E-4DB3-A24E-EDC97E9B4FBA}"/>
            </c:ext>
          </c:extLst>
        </c:ser>
        <c:dLbls>
          <c:showLegendKey val="0"/>
          <c:showVal val="0"/>
          <c:showCatName val="0"/>
          <c:showSerName val="0"/>
          <c:showPercent val="0"/>
          <c:showBubbleSize val="0"/>
        </c:dLbls>
        <c:axId val="750948664"/>
        <c:axId val="750956584"/>
      </c:areaChart>
      <c:lineChart>
        <c:grouping val="standard"/>
        <c:varyColors val="0"/>
        <c:ser>
          <c:idx val="1"/>
          <c:order val="1"/>
          <c:tx>
            <c:strRef>
              <c:f>'Nguồn lực'!$B$4</c:f>
              <c:strCache>
                <c:ptCount val="1"/>
                <c:pt idx="0">
                  <c:v>KB tốt</c:v>
                </c:pt>
              </c:strCache>
            </c:strRef>
          </c:tx>
          <c:spPr>
            <a:ln w="28575" cap="rnd">
              <a:solidFill>
                <a:srgbClr val="00B0F0"/>
              </a:solidFill>
              <a:round/>
            </a:ln>
            <a:effectLst/>
          </c:spPr>
          <c:marker>
            <c:symbol val="circle"/>
            <c:size val="5"/>
            <c:spPr>
              <a:solidFill>
                <a:srgbClr val="00B0F0"/>
              </a:solidFill>
              <a:ln w="9525">
                <a:solidFill>
                  <a:srgbClr val="00B0F0"/>
                </a:solidFill>
              </a:ln>
              <a:effectLst/>
            </c:spPr>
          </c:marker>
          <c:val>
            <c:numRef>
              <c:f>'Nguồn lực'!$C$4:$AD$4</c:f>
              <c:numCache>
                <c:formatCode>[=0]\ 0;0.##</c:formatCode>
                <c:ptCount val="12"/>
                <c:pt idx="0">
                  <c:v>14.25</c:v>
                </c:pt>
                <c:pt idx="1">
                  <c:v>13.75</c:v>
                </c:pt>
                <c:pt idx="2">
                  <c:v>15.25</c:v>
                </c:pt>
                <c:pt idx="3">
                  <c:v>13.75</c:v>
                </c:pt>
                <c:pt idx="4">
                  <c:v>13</c:v>
                </c:pt>
                <c:pt idx="5">
                  <c:v>12</c:v>
                </c:pt>
                <c:pt idx="6">
                  <c:v>11.5</c:v>
                </c:pt>
                <c:pt idx="7">
                  <c:v>12</c:v>
                </c:pt>
                <c:pt idx="8">
                  <c:v>12</c:v>
                </c:pt>
                <c:pt idx="9">
                  <c:v>12</c:v>
                </c:pt>
                <c:pt idx="10">
                  <c:v>12</c:v>
                </c:pt>
                <c:pt idx="11">
                  <c:v>11</c:v>
                </c:pt>
              </c:numCache>
            </c:numRef>
          </c:val>
          <c:smooth val="0"/>
          <c:extLst>
            <c:ext xmlns:c16="http://schemas.microsoft.com/office/drawing/2014/chart" uri="{C3380CC4-5D6E-409C-BE32-E72D297353CC}">
              <c16:uniqueId val="{00000001-D18E-4DB3-A24E-EDC97E9B4FBA}"/>
            </c:ext>
          </c:extLst>
        </c:ser>
        <c:ser>
          <c:idx val="2"/>
          <c:order val="2"/>
          <c:tx>
            <c:strRef>
              <c:f>'Nguồn lực'!$B$5</c:f>
              <c:strCache>
                <c:ptCount val="1"/>
                <c:pt idx="0">
                  <c:v>KB tốt + giữ giờ</c:v>
                </c:pt>
              </c:strCache>
            </c:strRef>
          </c:tx>
          <c:spPr>
            <a:ln w="28575" cap="rnd">
              <a:solidFill>
                <a:srgbClr val="00B050"/>
              </a:solidFill>
              <a:prstDash val="sysDash"/>
              <a:round/>
            </a:ln>
            <a:effectLst/>
          </c:spPr>
          <c:marker>
            <c:symbol val="circle"/>
            <c:size val="5"/>
            <c:spPr>
              <a:solidFill>
                <a:srgbClr val="00B050"/>
              </a:solidFill>
              <a:ln w="9525">
                <a:solidFill>
                  <a:srgbClr val="00B050"/>
                </a:solidFill>
              </a:ln>
              <a:effectLst/>
            </c:spPr>
          </c:marker>
          <c:val>
            <c:numRef>
              <c:f>'Nguồn lực'!$C$5:$AD$5</c:f>
              <c:numCache>
                <c:formatCode>[=0]\ 0;0.##</c:formatCode>
                <c:ptCount val="12"/>
                <c:pt idx="0">
                  <c:v>14.25</c:v>
                </c:pt>
                <c:pt idx="1">
                  <c:v>13.75</c:v>
                </c:pt>
                <c:pt idx="2">
                  <c:v>15.25</c:v>
                </c:pt>
                <c:pt idx="3">
                  <c:v>14.25</c:v>
                </c:pt>
                <c:pt idx="4">
                  <c:v>14</c:v>
                </c:pt>
                <c:pt idx="5">
                  <c:v>12</c:v>
                </c:pt>
                <c:pt idx="6">
                  <c:v>11</c:v>
                </c:pt>
                <c:pt idx="7">
                  <c:v>11.5</c:v>
                </c:pt>
                <c:pt idx="8">
                  <c:v>12</c:v>
                </c:pt>
                <c:pt idx="9">
                  <c:v>12</c:v>
                </c:pt>
                <c:pt idx="10">
                  <c:v>12</c:v>
                </c:pt>
                <c:pt idx="11">
                  <c:v>11</c:v>
                </c:pt>
              </c:numCache>
            </c:numRef>
          </c:val>
          <c:smooth val="0"/>
          <c:extLst>
            <c:ext xmlns:c16="http://schemas.microsoft.com/office/drawing/2014/chart" uri="{C3380CC4-5D6E-409C-BE32-E72D297353CC}">
              <c16:uniqueId val="{00000002-D18E-4DB3-A24E-EDC97E9B4FBA}"/>
            </c:ext>
          </c:extLst>
        </c:ser>
        <c:ser>
          <c:idx val="3"/>
          <c:order val="3"/>
          <c:tx>
            <c:strRef>
              <c:f>'Nguồn lực'!$B$6</c:f>
              <c:strCache>
                <c:ptCount val="1"/>
                <c:pt idx="0">
                  <c:v>KB xấu</c:v>
                </c:pt>
              </c:strCache>
            </c:strRef>
          </c:tx>
          <c:spPr>
            <a:ln w="28575" cap="rnd">
              <a:solidFill>
                <a:srgbClr val="FF0000"/>
              </a:solidFill>
              <a:round/>
            </a:ln>
            <a:effectLst/>
          </c:spPr>
          <c:marker>
            <c:symbol val="circle"/>
            <c:size val="5"/>
            <c:spPr>
              <a:solidFill>
                <a:srgbClr val="FF0000"/>
              </a:solidFill>
              <a:ln w="9525">
                <a:solidFill>
                  <a:srgbClr val="FF0000"/>
                </a:solidFill>
              </a:ln>
              <a:effectLst/>
            </c:spPr>
          </c:marker>
          <c:val>
            <c:numRef>
              <c:f>'Nguồn lực'!$C$6:$AD$6</c:f>
              <c:numCache>
                <c:formatCode>[=0]\ 0;0.##</c:formatCode>
                <c:ptCount val="12"/>
                <c:pt idx="0">
                  <c:v>14.25</c:v>
                </c:pt>
                <c:pt idx="1">
                  <c:v>13.75</c:v>
                </c:pt>
                <c:pt idx="2">
                  <c:v>16.25</c:v>
                </c:pt>
                <c:pt idx="3">
                  <c:v>14.75</c:v>
                </c:pt>
                <c:pt idx="4">
                  <c:v>13.5</c:v>
                </c:pt>
                <c:pt idx="5">
                  <c:v>12.5</c:v>
                </c:pt>
                <c:pt idx="6">
                  <c:v>12</c:v>
                </c:pt>
                <c:pt idx="7">
                  <c:v>12</c:v>
                </c:pt>
                <c:pt idx="8">
                  <c:v>13</c:v>
                </c:pt>
                <c:pt idx="9">
                  <c:v>12</c:v>
                </c:pt>
                <c:pt idx="10">
                  <c:v>13</c:v>
                </c:pt>
                <c:pt idx="11">
                  <c:v>12</c:v>
                </c:pt>
              </c:numCache>
            </c:numRef>
          </c:val>
          <c:smooth val="0"/>
          <c:extLst>
            <c:ext xmlns:c16="http://schemas.microsoft.com/office/drawing/2014/chart" uri="{C3380CC4-5D6E-409C-BE32-E72D297353CC}">
              <c16:uniqueId val="{00000003-D18E-4DB3-A24E-EDC97E9B4FBA}"/>
            </c:ext>
          </c:extLst>
        </c:ser>
        <c:ser>
          <c:idx val="4"/>
          <c:order val="4"/>
          <c:tx>
            <c:strRef>
              <c:f>'Nguồn lực'!$B$7</c:f>
              <c:strCache>
                <c:ptCount val="1"/>
                <c:pt idx="0">
                  <c:v>KB Xấu + giữ giờ</c:v>
                </c:pt>
              </c:strCache>
            </c:strRef>
          </c:tx>
          <c:spPr>
            <a:ln w="28575" cap="rnd">
              <a:solidFill>
                <a:srgbClr val="FFC000"/>
              </a:solidFill>
              <a:prstDash val="sysDash"/>
              <a:round/>
            </a:ln>
            <a:effectLst/>
          </c:spPr>
          <c:marker>
            <c:symbol val="circle"/>
            <c:size val="5"/>
            <c:spPr>
              <a:solidFill>
                <a:srgbClr val="FFC000"/>
              </a:solidFill>
              <a:ln w="9525">
                <a:solidFill>
                  <a:srgbClr val="FFC000"/>
                </a:solidFill>
              </a:ln>
              <a:effectLst/>
            </c:spPr>
          </c:marker>
          <c:val>
            <c:numRef>
              <c:f>'Nguồn lực'!$C$7:$AD$7</c:f>
              <c:numCache>
                <c:formatCode>[=0]\ 0;0.##</c:formatCode>
                <c:ptCount val="12"/>
                <c:pt idx="0">
                  <c:v>14.25</c:v>
                </c:pt>
                <c:pt idx="1">
                  <c:v>13.75</c:v>
                </c:pt>
                <c:pt idx="2">
                  <c:v>16.25</c:v>
                </c:pt>
                <c:pt idx="3">
                  <c:v>15.25</c:v>
                </c:pt>
                <c:pt idx="4">
                  <c:v>14.5</c:v>
                </c:pt>
                <c:pt idx="5">
                  <c:v>12.5</c:v>
                </c:pt>
                <c:pt idx="6">
                  <c:v>11.5</c:v>
                </c:pt>
                <c:pt idx="7">
                  <c:v>11.5</c:v>
                </c:pt>
                <c:pt idx="8">
                  <c:v>13</c:v>
                </c:pt>
                <c:pt idx="9">
                  <c:v>12</c:v>
                </c:pt>
                <c:pt idx="10">
                  <c:v>13</c:v>
                </c:pt>
                <c:pt idx="11">
                  <c:v>12</c:v>
                </c:pt>
              </c:numCache>
            </c:numRef>
          </c:val>
          <c:smooth val="0"/>
          <c:extLst>
            <c:ext xmlns:c16="http://schemas.microsoft.com/office/drawing/2014/chart" uri="{C3380CC4-5D6E-409C-BE32-E72D297353CC}">
              <c16:uniqueId val="{00000004-D18E-4DB3-A24E-EDC97E9B4FBA}"/>
            </c:ext>
          </c:extLst>
        </c:ser>
        <c:dLbls>
          <c:showLegendKey val="0"/>
          <c:showVal val="0"/>
          <c:showCatName val="0"/>
          <c:showSerName val="0"/>
          <c:showPercent val="0"/>
          <c:showBubbleSize val="0"/>
        </c:dLbls>
        <c:marker val="1"/>
        <c:smooth val="0"/>
        <c:axId val="751032904"/>
        <c:axId val="751033624"/>
      </c:lineChart>
      <c:catAx>
        <c:axId val="75103290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751033624"/>
        <c:crosses val="autoZero"/>
        <c:auto val="1"/>
        <c:lblAlgn val="ctr"/>
        <c:lblOffset val="100"/>
        <c:noMultiLvlLbl val="0"/>
      </c:catAx>
      <c:valAx>
        <c:axId val="751033624"/>
        <c:scaling>
          <c:orientation val="minMax"/>
          <c:min val="8"/>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751032904"/>
        <c:crosses val="autoZero"/>
        <c:crossBetween val="between"/>
      </c:valAx>
      <c:valAx>
        <c:axId val="750956584"/>
        <c:scaling>
          <c:orientation val="minMax"/>
          <c:max val="16"/>
          <c:min val="8"/>
        </c:scaling>
        <c:delete val="0"/>
        <c:axPos val="r"/>
        <c:numFmt formatCode="[=0]\ 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0948664"/>
        <c:crosses val="max"/>
        <c:crossBetween val="between"/>
      </c:valAx>
      <c:catAx>
        <c:axId val="750948664"/>
        <c:scaling>
          <c:orientation val="minMax"/>
        </c:scaling>
        <c:delete val="1"/>
        <c:axPos val="b"/>
        <c:majorTickMark val="out"/>
        <c:minorTickMark val="none"/>
        <c:tickLblPos val="nextTo"/>
        <c:crossAx val="750956584"/>
        <c:crosses val="autoZero"/>
        <c:auto val="1"/>
        <c:lblAlgn val="ctr"/>
        <c:lblOffset val="100"/>
        <c:noMultiLvlLbl val="0"/>
      </c:cat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Sheet1!$A$104:$A$115</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Sheet1!$G$104:$G$115</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Sheet1!$A$9:$A$28</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Sheet1!$B$9:$B$28</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Sheet1!$A$9:$A$28</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Sheet1!$C$9:$C$28</c:f>
              <c:numCache>
                <c:formatCode>General</c:formatCode>
                <c:ptCount val="12"/>
                <c:pt idx="0">
                  <c:v>4</c:v>
                </c:pt>
                <c:pt idx="1">
                  <c:v>4</c:v>
                </c:pt>
                <c:pt idx="2">
                  <c:v>4</c:v>
                </c:pt>
                <c:pt idx="3">
                  <c:v>4</c:v>
                </c:pt>
                <c:pt idx="4">
                  <c:v>4</c:v>
                </c:pt>
                <c:pt idx="5">
                  <c:v>4</c:v>
                </c:pt>
                <c:pt idx="6">
                  <c:v>4</c:v>
                </c:pt>
                <c:pt idx="7">
                  <c:v>4</c:v>
                </c:pt>
                <c:pt idx="8">
                  <c:v>4</c:v>
                </c:pt>
                <c:pt idx="9">
                  <c:v>4</c:v>
                </c:pt>
                <c:pt idx="10">
                  <c:v>3</c:v>
                </c:pt>
                <c:pt idx="11">
                  <c:v>3</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1"/>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'Nguồn lực'!$B$3</c:f>
              <c:strCache>
                <c:ptCount val="1"/>
                <c:pt idx="0">
                  <c:v>KB Cũ</c:v>
                </c:pt>
              </c:strCache>
            </c:strRef>
          </c:tx>
          <c:spPr>
            <a:solidFill>
              <a:schemeClr val="bg1">
                <a:lumMod val="85000"/>
                <a:alpha val="50000"/>
              </a:schemeClr>
            </a:solidFill>
            <a:ln>
              <a:noFill/>
            </a:ln>
            <a:effectLst/>
          </c:spPr>
          <c:dLbls>
            <c:delete val="1"/>
          </c:dLbls>
          <c:val>
            <c:numRef>
              <c:f>'Nguồn lực'!$C$3:$AD$3</c:f>
              <c:numCache>
                <c:formatCode>[=0]\ 0;0.##</c:formatCode>
                <c:ptCount val="12"/>
                <c:pt idx="0">
                  <c:v>4</c:v>
                </c:pt>
                <c:pt idx="1">
                  <c:v>4.5</c:v>
                </c:pt>
                <c:pt idx="2">
                  <c:v>4.5</c:v>
                </c:pt>
                <c:pt idx="3">
                  <c:v>4</c:v>
                </c:pt>
                <c:pt idx="4">
                  <c:v>3.5</c:v>
                </c:pt>
                <c:pt idx="5">
                  <c:v>0.5</c:v>
                </c:pt>
                <c:pt idx="6">
                  <c:v>0.5</c:v>
                </c:pt>
                <c:pt idx="7">
                  <c:v>1</c:v>
                </c:pt>
                <c:pt idx="8">
                  <c:v>2</c:v>
                </c:pt>
                <c:pt idx="9">
                  <c:v>2</c:v>
                </c:pt>
                <c:pt idx="10">
                  <c:v>2</c:v>
                </c:pt>
                <c:pt idx="11">
                  <c:v>1</c:v>
                </c:pt>
              </c:numCache>
            </c:numRef>
          </c:val>
          <c:extLst>
            <c:ext xmlns:c16="http://schemas.microsoft.com/office/drawing/2014/chart" uri="{C3380CC4-5D6E-409C-BE32-E72D297353CC}">
              <c16:uniqueId val="{00000000-4D65-4133-A13A-D06D51E9FDF7}"/>
            </c:ext>
          </c:extLst>
        </c:ser>
        <c:dLbls>
          <c:showLegendKey val="0"/>
          <c:showVal val="1"/>
          <c:showCatName val="0"/>
          <c:showSerName val="0"/>
          <c:showPercent val="0"/>
          <c:showBubbleSize val="0"/>
        </c:dLbls>
        <c:axId val="750948664"/>
        <c:axId val="750956584"/>
      </c:areaChart>
      <c:lineChart>
        <c:grouping val="standard"/>
        <c:varyColors val="0"/>
        <c:ser>
          <c:idx val="1"/>
          <c:order val="1"/>
          <c:tx>
            <c:strRef>
              <c:f>'Nguồn lực'!$B$4</c:f>
              <c:strCache>
                <c:ptCount val="1"/>
                <c:pt idx="0">
                  <c:v>KB tốt</c:v>
                </c:pt>
              </c:strCache>
            </c:strRef>
          </c:tx>
          <c:spPr>
            <a:ln w="38100" cap="rnd">
              <a:solidFill>
                <a:srgbClr val="00B0F0"/>
              </a:solidFill>
              <a:round/>
            </a:ln>
            <a:effectLst/>
          </c:spPr>
          <c:marker>
            <c:symbol val="circle"/>
            <c:size val="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lực'!$C$4:$AD$4</c:f>
              <c:numCache>
                <c:formatCode>[=0]\ 0;0.##</c:formatCode>
                <c:ptCount val="12"/>
                <c:pt idx="0">
                  <c:v>4</c:v>
                </c:pt>
                <c:pt idx="1">
                  <c:v>4.25</c:v>
                </c:pt>
                <c:pt idx="2">
                  <c:v>4</c:v>
                </c:pt>
                <c:pt idx="3">
                  <c:v>3.5</c:v>
                </c:pt>
                <c:pt idx="4">
                  <c:v>3</c:v>
                </c:pt>
                <c:pt idx="5">
                  <c:v>2</c:v>
                </c:pt>
                <c:pt idx="6">
                  <c:v>1.25</c:v>
                </c:pt>
                <c:pt idx="7">
                  <c:v>1</c:v>
                </c:pt>
                <c:pt idx="8">
                  <c:v>2</c:v>
                </c:pt>
                <c:pt idx="9">
                  <c:v>1.5</c:v>
                </c:pt>
                <c:pt idx="10">
                  <c:v>1.5</c:v>
                </c:pt>
                <c:pt idx="11">
                  <c:v>2</c:v>
                </c:pt>
              </c:numCache>
            </c:numRef>
          </c:val>
          <c:smooth val="0"/>
          <c:extLst>
            <c:ext xmlns:c16="http://schemas.microsoft.com/office/drawing/2014/chart" uri="{C3380CC4-5D6E-409C-BE32-E72D297353CC}">
              <c16:uniqueId val="{00000001-4D65-4133-A13A-D06D51E9FDF7}"/>
            </c:ext>
          </c:extLst>
        </c:ser>
        <c:ser>
          <c:idx val="2"/>
          <c:order val="2"/>
          <c:tx>
            <c:strRef>
              <c:f>'Nguồn lực'!$B$5</c:f>
              <c:strCache>
                <c:ptCount val="1"/>
                <c:pt idx="0">
                  <c:v>KB tốt + giữ giờ</c:v>
                </c:pt>
              </c:strCache>
            </c:strRef>
          </c:tx>
          <c:spPr>
            <a:ln w="19050" cap="rnd">
              <a:solidFill>
                <a:srgbClr val="00B050"/>
              </a:solidFill>
              <a:prstDash val="sysDot"/>
              <a:round/>
            </a:ln>
            <a:effectLst/>
          </c:spPr>
          <c:marker>
            <c:symbol val="circle"/>
            <c:size val="5"/>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lực'!$C$5:$AD$5</c:f>
              <c:numCache>
                <c:formatCode>[=0]\ 0;0.##</c:formatCode>
                <c:ptCount val="12"/>
                <c:pt idx="0">
                  <c:v>4</c:v>
                </c:pt>
                <c:pt idx="1">
                  <c:v>4.25</c:v>
                </c:pt>
                <c:pt idx="2">
                  <c:v>4</c:v>
                </c:pt>
                <c:pt idx="3">
                  <c:v>4</c:v>
                </c:pt>
                <c:pt idx="4">
                  <c:v>4</c:v>
                </c:pt>
                <c:pt idx="5">
                  <c:v>1.5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2-4D65-4133-A13A-D06D51E9FDF7}"/>
            </c:ext>
          </c:extLst>
        </c:ser>
        <c:ser>
          <c:idx val="3"/>
          <c:order val="3"/>
          <c:tx>
            <c:strRef>
              <c:f>'Nguồn lực'!$B$6</c:f>
              <c:strCache>
                <c:ptCount val="1"/>
                <c:pt idx="0">
                  <c:v>KB xấu</c:v>
                </c:pt>
              </c:strCache>
            </c:strRef>
          </c:tx>
          <c:spPr>
            <a:ln w="38100" cap="rnd">
              <a:solidFill>
                <a:srgbClr val="FF0000"/>
              </a:solidFill>
              <a:round/>
            </a:ln>
            <a:effectLst/>
          </c:spPr>
          <c:marker>
            <c:symbol val="circle"/>
            <c:size val="5"/>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lực'!$C$6:$AD$6</c:f>
              <c:numCache>
                <c:formatCode>[=0]\ 0;0.##</c:formatCode>
                <c:ptCount val="12"/>
                <c:pt idx="0">
                  <c:v>4</c:v>
                </c:pt>
                <c:pt idx="1">
                  <c:v>4.25</c:v>
                </c:pt>
                <c:pt idx="2">
                  <c:v>4</c:v>
                </c:pt>
                <c:pt idx="3">
                  <c:v>4</c:v>
                </c:pt>
                <c:pt idx="4">
                  <c:v>3.5</c:v>
                </c:pt>
                <c:pt idx="5">
                  <c:v>3</c:v>
                </c:pt>
                <c:pt idx="6">
                  <c:v>2.5</c:v>
                </c:pt>
                <c:pt idx="7">
                  <c:v>2</c:v>
                </c:pt>
                <c:pt idx="8">
                  <c:v>2</c:v>
                </c:pt>
                <c:pt idx="9">
                  <c:v>2.75</c:v>
                </c:pt>
                <c:pt idx="10">
                  <c:v>2</c:v>
                </c:pt>
                <c:pt idx="11">
                  <c:v>2</c:v>
                </c:pt>
              </c:numCache>
            </c:numRef>
          </c:val>
          <c:smooth val="0"/>
          <c:extLst>
            <c:ext xmlns:c16="http://schemas.microsoft.com/office/drawing/2014/chart" uri="{C3380CC4-5D6E-409C-BE32-E72D297353CC}">
              <c16:uniqueId val="{00000003-4D65-4133-A13A-D06D51E9FDF7}"/>
            </c:ext>
          </c:extLst>
        </c:ser>
        <c:ser>
          <c:idx val="4"/>
          <c:order val="4"/>
          <c:tx>
            <c:strRef>
              <c:f>'Nguồn lực'!$B$7</c:f>
              <c:strCache>
                <c:ptCount val="1"/>
                <c:pt idx="0">
                  <c:v>KB Xấu + giữ giờ</c:v>
                </c:pt>
              </c:strCache>
            </c:strRef>
          </c:tx>
          <c:spPr>
            <a:ln w="19050" cap="rnd">
              <a:solidFill>
                <a:srgbClr val="FFC000"/>
              </a:solidFill>
              <a:prstDash val="sysDot"/>
              <a:round/>
            </a:ln>
            <a:effectLst/>
          </c:spPr>
          <c:marker>
            <c:symbol val="circle"/>
            <c:size val="5"/>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lực'!$C$7:$AD$7</c:f>
              <c:numCache>
                <c:formatCode>[=0]\ 0;0.##</c:formatCode>
                <c:ptCount val="12"/>
                <c:pt idx="0">
                  <c:v>4</c:v>
                </c:pt>
                <c:pt idx="1">
                  <c:v>4.25</c:v>
                </c:pt>
                <c:pt idx="2">
                  <c:v>4</c:v>
                </c:pt>
                <c:pt idx="3">
                  <c:v>4.5</c:v>
                </c:pt>
                <c:pt idx="4">
                  <c:v>4.5</c:v>
                </c:pt>
                <c:pt idx="5">
                  <c:v>3</c:v>
                </c:pt>
                <c:pt idx="6">
                  <c:v>1.5</c:v>
                </c:pt>
                <c:pt idx="7">
                  <c:v>1.5</c:v>
                </c:pt>
                <c:pt idx="8">
                  <c:v>2</c:v>
                </c:pt>
                <c:pt idx="9">
                  <c:v>2.75</c:v>
                </c:pt>
                <c:pt idx="10">
                  <c:v>2</c:v>
                </c:pt>
                <c:pt idx="11">
                  <c:v>2</c:v>
                </c:pt>
              </c:numCache>
            </c:numRef>
          </c:val>
          <c:smooth val="0"/>
          <c:extLst>
            <c:ext xmlns:c16="http://schemas.microsoft.com/office/drawing/2014/chart" uri="{C3380CC4-5D6E-409C-BE32-E72D297353CC}">
              <c16:uniqueId val="{00000004-4D65-4133-A13A-D06D51E9FDF7}"/>
            </c:ext>
          </c:extLst>
        </c:ser>
        <c:dLbls>
          <c:showLegendKey val="0"/>
          <c:showVal val="1"/>
          <c:showCatName val="0"/>
          <c:showSerName val="0"/>
          <c:showPercent val="0"/>
          <c:showBubbleSize val="0"/>
        </c:dLbls>
        <c:marker val="1"/>
        <c:smooth val="0"/>
        <c:axId val="751032904"/>
        <c:axId val="751033624"/>
      </c:lineChart>
      <c:catAx>
        <c:axId val="75103290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3624"/>
        <c:crosses val="autoZero"/>
        <c:auto val="1"/>
        <c:lblAlgn val="ctr"/>
        <c:lblOffset val="100"/>
        <c:noMultiLvlLbl val="0"/>
      </c:catAx>
      <c:valAx>
        <c:axId val="751033624"/>
        <c:scaling>
          <c:orientation val="minMax"/>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2904"/>
        <c:crosses val="autoZero"/>
        <c:crossBetween val="between"/>
        <c:majorUnit val="1"/>
      </c:valAx>
      <c:valAx>
        <c:axId val="750956584"/>
        <c:scaling>
          <c:orientation val="minMax"/>
          <c:max val="5"/>
        </c:scaling>
        <c:delete val="0"/>
        <c:axPos val="r"/>
        <c:numFmt formatCode="[=0]\ 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0948664"/>
        <c:crosses val="max"/>
        <c:crossBetween val="between"/>
      </c:valAx>
      <c:catAx>
        <c:axId val="750948664"/>
        <c:scaling>
          <c:orientation val="minMax"/>
        </c:scaling>
        <c:delete val="1"/>
        <c:axPos val="b"/>
        <c:majorTickMark val="out"/>
        <c:minorTickMark val="none"/>
        <c:tickLblPos val="nextTo"/>
        <c:crossAx val="750956584"/>
        <c:crosses val="autoZero"/>
        <c:auto val="1"/>
        <c:lblAlgn val="ctr"/>
        <c:lblOffset val="100"/>
        <c:noMultiLvlLbl val="0"/>
      </c:cat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manualLayout>
          <c:xMode val="edge"/>
          <c:yMode val="edge"/>
          <c:x val="0.19677780965872982"/>
          <c:y val="2.134160558612325E-2"/>
        </c:manualLayout>
      </c:layout>
      <c:overlay val="0"/>
    </c:title>
    <c:autoTitleDeleted val="0"/>
    <c:plotArea>
      <c:layout/>
      <c:barChart>
        <c:barDir val="col"/>
        <c:grouping val="clustered"/>
        <c:varyColors val="0"/>
        <c:ser>
          <c:idx val="0"/>
          <c:order val="0"/>
          <c:tx>
            <c:strRef>
              <c:f>'Data Chart (2)'!$C$35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 (2)'!$A$36:$B$41</c:f>
              <c:strCache>
                <c:ptCount val="6"/>
                <c:pt idx="0">
                  <c:v>A320</c:v>
                </c:pt>
                <c:pt idx="1">
                  <c:v>A321</c:v>
                </c:pt>
                <c:pt idx="2">
                  <c:v>A350</c:v>
                </c:pt>
                <c:pt idx="3">
                  <c:v>B787</c:v>
                </c:pt>
                <c:pt idx="4">
                  <c:v>ATR72</c:v>
                </c:pt>
                <c:pt idx="5">
                  <c:v>Tất cả</c:v>
                </c:pt>
              </c:strCache>
            </c:strRef>
          </c:cat>
          <c:val>
            <c:numRef>
              <c:f>'Data Chart (2)'!$C$36:$C$41</c:f>
              <c:numCache>
                <c:formatCode>General</c:formatCode>
                <c:ptCount val="6"/>
                <c:pt idx="0">
                  <c:v>0</c:v>
                </c:pt>
                <c:pt idx="1">
                  <c:v>1</c:v>
                </c:pt>
                <c:pt idx="2">
                  <c:v>0</c:v>
                </c:pt>
                <c:pt idx="3">
                  <c:v>2</c:v>
                </c:pt>
                <c:pt idx="4">
                  <c:v>0</c:v>
                </c:pt>
                <c:pt idx="5" formatCode="0">
                  <c:v>3</c:v>
                </c:pt>
              </c:numCache>
            </c:numRef>
          </c:val>
          <c:extLst>
            <c:ext xmlns:c16="http://schemas.microsoft.com/office/drawing/2014/chart" uri="{C3380CC4-5D6E-409C-BE32-E72D297353CC}">
              <c16:uniqueId val="{00000000-90AE-4759-B307-94957CCEDAB4}"/>
            </c:ext>
          </c:extLst>
        </c:ser>
        <c:ser>
          <c:idx val="1"/>
          <c:order val="1"/>
          <c:tx>
            <c:strRef>
              <c:f>'Data Chart (2)'!$D$35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 (2)'!$A$36:$B$41</c:f>
              <c:strCache>
                <c:ptCount val="6"/>
                <c:pt idx="0">
                  <c:v>A320</c:v>
                </c:pt>
                <c:pt idx="1">
                  <c:v>A321</c:v>
                </c:pt>
                <c:pt idx="2">
                  <c:v>A350</c:v>
                </c:pt>
                <c:pt idx="3">
                  <c:v>B787</c:v>
                </c:pt>
                <c:pt idx="4">
                  <c:v>ATR72</c:v>
                </c:pt>
                <c:pt idx="5">
                  <c:v>Tất cả</c:v>
                </c:pt>
              </c:strCache>
            </c:strRef>
          </c:cat>
          <c:val>
            <c:numRef>
              <c:f>'Data Chart (2)'!$D$36:$D$41</c:f>
              <c:numCache>
                <c:formatCode>General</c:formatCode>
                <c:ptCount val="6"/>
                <c:pt idx="0">
                  <c:v>0</c:v>
                </c:pt>
                <c:pt idx="1">
                  <c:v>3</c:v>
                </c:pt>
                <c:pt idx="2">
                  <c:v>0</c:v>
                </c:pt>
                <c:pt idx="3">
                  <c:v>1</c:v>
                </c:pt>
                <c:pt idx="4">
                  <c:v>0</c:v>
                </c:pt>
                <c:pt idx="5" formatCode="0">
                  <c:v>4</c:v>
                </c:pt>
              </c:numCache>
            </c:numRef>
          </c:val>
          <c:extLst>
            <c:ext xmlns:c16="http://schemas.microsoft.com/office/drawing/2014/chart" uri="{C3380CC4-5D6E-409C-BE32-E72D297353CC}">
              <c16:uniqueId val="{00000001-90AE-4759-B307-94957CCEDAB4}"/>
            </c:ext>
          </c:extLst>
        </c:ser>
        <c:dLbls>
          <c:showLegendKey val="0"/>
          <c:showVal val="0"/>
          <c:showCatName val="0"/>
          <c:showSerName val="0"/>
          <c:showPercent val="0"/>
          <c:showBubbleSize val="0"/>
        </c:dLbls>
        <c:gapWidth val="150"/>
        <c:axId val="318754304"/>
        <c:axId val="318751168"/>
      </c:barChart>
      <c:catAx>
        <c:axId val="31875430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8751168"/>
        <c:crosses val="autoZero"/>
        <c:auto val="1"/>
        <c:lblAlgn val="ctr"/>
        <c:lblOffset val="100"/>
        <c:noMultiLvlLbl val="0"/>
      </c:catAx>
      <c:valAx>
        <c:axId val="318751168"/>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875430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6.7239456609894582E-2</c:v>
                </c:pt>
                <c:pt idx="1">
                  <c:v>7.9395241242564543E-2</c:v>
                </c:pt>
                <c:pt idx="2">
                  <c:v>9.7071256038647399E-2</c:v>
                </c:pt>
                <c:pt idx="3">
                  <c:v>0.17391304347826086</c:v>
                </c:pt>
                <c:pt idx="4">
                  <c:v>0.28585069444444466</c:v>
                </c:pt>
                <c:pt idx="5">
                  <c:v>0.24613927738927757</c:v>
                </c:pt>
                <c:pt idx="6">
                  <c:v>0.14467592592592593</c:v>
                </c:pt>
                <c:pt idx="7">
                  <c:v>0.15200077700077716</c:v>
                </c:pt>
                <c:pt idx="8">
                  <c:v>4.3241279069767498E-2</c:v>
                </c:pt>
              </c:numCache>
            </c:numRef>
          </c:val>
          <c:extLst>
            <c:ext xmlns:c16="http://schemas.microsoft.com/office/drawing/2014/chart" uri="{C3380CC4-5D6E-409C-BE32-E72D297353CC}">
              <c16:uniqueId val="{00000000-C9AA-45BC-B7B1-F0A0FA7103EB}"/>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6.4667225950782989E-2</c:v>
                </c:pt>
                <c:pt idx="1">
                  <c:v>7.9764784946236664E-2</c:v>
                </c:pt>
                <c:pt idx="2">
                  <c:v>8.9714105339105371E-2</c:v>
                </c:pt>
                <c:pt idx="3">
                  <c:v>0.19998346560846561</c:v>
                </c:pt>
                <c:pt idx="4">
                  <c:v>0.28538773148148167</c:v>
                </c:pt>
                <c:pt idx="5">
                  <c:v>0.27735507246376834</c:v>
                </c:pt>
                <c:pt idx="6">
                  <c:v>0.15638354700854701</c:v>
                </c:pt>
                <c:pt idx="7">
                  <c:v>0.14298862115127195</c:v>
                </c:pt>
                <c:pt idx="8">
                  <c:v>4.346755804311779E-2</c:v>
                </c:pt>
              </c:numCache>
            </c:numRef>
          </c:val>
          <c:extLst>
            <c:ext xmlns:c16="http://schemas.microsoft.com/office/drawing/2014/chart" uri="{C3380CC4-5D6E-409C-BE32-E72D297353CC}">
              <c16:uniqueId val="{00000001-C9AA-45BC-B7B1-F0A0FA7103EB}"/>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6.5238095238095237</c:v>
                </c:pt>
                <c:pt idx="1">
                  <c:v>5.5421245421245411</c:v>
                </c:pt>
                <c:pt idx="2">
                  <c:v>4.6000000000000005</c:v>
                </c:pt>
                <c:pt idx="3">
                  <c:v>2.3714285714285714</c:v>
                </c:pt>
                <c:pt idx="4">
                  <c:v>3.0084033613445378</c:v>
                </c:pt>
                <c:pt idx="5">
                  <c:v>7.3714285714285719</c:v>
                </c:pt>
              </c:numCache>
            </c:numRef>
          </c:val>
          <c:extLst>
            <c:ext xmlns:c16="http://schemas.microsoft.com/office/drawing/2014/chart" uri="{C3380CC4-5D6E-409C-BE32-E72D297353CC}">
              <c16:uniqueId val="{00000000-A896-4BCC-AF12-62C150703905}"/>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7.0952380952380949</c:v>
                </c:pt>
                <c:pt idx="1">
                  <c:v>5.8270676691729326</c:v>
                </c:pt>
                <c:pt idx="2">
                  <c:v>4.3999999999999995</c:v>
                </c:pt>
                <c:pt idx="3">
                  <c:v>2.3142857142857141</c:v>
                </c:pt>
                <c:pt idx="4">
                  <c:v>3.0168067226890756</c:v>
                </c:pt>
                <c:pt idx="5">
                  <c:v>7.6571428571428575</c:v>
                </c:pt>
              </c:numCache>
            </c:numRef>
          </c:val>
          <c:extLst>
            <c:ext xmlns:c16="http://schemas.microsoft.com/office/drawing/2014/chart" uri="{C3380CC4-5D6E-409C-BE32-E72D297353CC}">
              <c16:uniqueId val="{00000001-A896-4BCC-AF12-62C150703905}"/>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C781-458D-9D1E-710FF1C8EB9D}"/>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C781-458D-9D1E-710FF1C8EB9D}"/>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C781-458D-9D1E-710FF1C8EB9D}"/>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C781-458D-9D1E-710FF1C8EB9D}"/>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C781-458D-9D1E-710FF1C8EB9D}"/>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C781-458D-9D1E-710FF1C8EB9D}"/>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C781-458D-9D1E-710FF1C8EB9D}"/>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C781-458D-9D1E-710FF1C8EB9D}"/>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45705</c:v>
                </c:pt>
                <c:pt idx="1">
                  <c:v>45706</c:v>
                </c:pt>
                <c:pt idx="2">
                  <c:v>45707</c:v>
                </c:pt>
                <c:pt idx="3">
                  <c:v>45708</c:v>
                </c:pt>
                <c:pt idx="4">
                  <c:v>45709</c:v>
                </c:pt>
                <c:pt idx="5">
                  <c:v>45710</c:v>
                </c:pt>
                <c:pt idx="6">
                  <c:v>45711</c:v>
                </c:pt>
                <c:pt idx="7">
                  <c:v>45712</c:v>
                </c:pt>
                <c:pt idx="8">
                  <c:v>45713</c:v>
                </c:pt>
                <c:pt idx="9">
                  <c:v>45714</c:v>
                </c:pt>
                <c:pt idx="10">
                  <c:v>45715</c:v>
                </c:pt>
                <c:pt idx="11">
                  <c:v>45716</c:v>
                </c:pt>
                <c:pt idx="12">
                  <c:v>45717</c:v>
                </c:pt>
                <c:pt idx="13">
                  <c:v>45718</c:v>
                </c:pt>
                <c:pt idx="14">
                  <c:v>45719</c:v>
                </c:pt>
                <c:pt idx="15">
                  <c:v>45720</c:v>
                </c:pt>
                <c:pt idx="16">
                  <c:v>45721</c:v>
                </c:pt>
                <c:pt idx="17">
                  <c:v>45722</c:v>
                </c:pt>
                <c:pt idx="18">
                  <c:v>45723</c:v>
                </c:pt>
                <c:pt idx="19">
                  <c:v>45724</c:v>
                </c:pt>
                <c:pt idx="20">
                  <c:v>45725</c:v>
                </c:pt>
                <c:pt idx="21">
                  <c:v>45726</c:v>
                </c:pt>
                <c:pt idx="22">
                  <c:v>45727</c:v>
                </c:pt>
                <c:pt idx="23">
                  <c:v>45728</c:v>
                </c:pt>
                <c:pt idx="24">
                  <c:v>45729</c:v>
                </c:pt>
                <c:pt idx="25">
                  <c:v>45730</c:v>
                </c:pt>
                <c:pt idx="26">
                  <c:v>45731</c:v>
                </c:pt>
                <c:pt idx="27">
                  <c:v>45732</c:v>
                </c:pt>
                <c:pt idx="28">
                  <c:v>45733</c:v>
                </c:pt>
                <c:pt idx="29">
                  <c:v>45734</c:v>
                </c:pt>
                <c:pt idx="30">
                  <c:v>45735</c:v>
                </c:pt>
                <c:pt idx="31">
                  <c:v>45736</c:v>
                </c:pt>
                <c:pt idx="32">
                  <c:v>45737</c:v>
                </c:pt>
                <c:pt idx="33">
                  <c:v>45738</c:v>
                </c:pt>
                <c:pt idx="34">
                  <c:v>45739</c:v>
                </c:pt>
                <c:pt idx="35">
                  <c:v>45740</c:v>
                </c:pt>
                <c:pt idx="36">
                  <c:v>45741</c:v>
                </c:pt>
                <c:pt idx="37">
                  <c:v>45742</c:v>
                </c:pt>
                <c:pt idx="38">
                  <c:v>45743</c:v>
                </c:pt>
                <c:pt idx="39">
                  <c:v>45744</c:v>
                </c:pt>
                <c:pt idx="40">
                  <c:v>45745</c:v>
                </c:pt>
                <c:pt idx="41">
                  <c:v>45746</c:v>
                </c:pt>
                <c:pt idx="42">
                  <c:v>45747</c:v>
                </c:pt>
              </c:numCache>
            </c:numRef>
          </c:cat>
          <c:val>
            <c:numRef>
              <c:f>Week!$B$36:$BQ$36</c:f>
              <c:numCache>
                <c:formatCode>General</c:formatCode>
                <c:ptCount val="68"/>
                <c:pt idx="0">
                  <c:v>397</c:v>
                </c:pt>
                <c:pt idx="1">
                  <c:v>381</c:v>
                </c:pt>
                <c:pt idx="2">
                  <c:v>391</c:v>
                </c:pt>
                <c:pt idx="3">
                  <c:v>375</c:v>
                </c:pt>
                <c:pt idx="4">
                  <c:v>404</c:v>
                </c:pt>
                <c:pt idx="5">
                  <c:v>397</c:v>
                </c:pt>
                <c:pt idx="6">
                  <c:v>409</c:v>
                </c:pt>
                <c:pt idx="7">
                  <c:v>383</c:v>
                </c:pt>
                <c:pt idx="8">
                  <c:v>394</c:v>
                </c:pt>
                <c:pt idx="9">
                  <c:v>399</c:v>
                </c:pt>
                <c:pt idx="10">
                  <c:v>396</c:v>
                </c:pt>
                <c:pt idx="11">
                  <c:v>407</c:v>
                </c:pt>
                <c:pt idx="12">
                  <c:v>411</c:v>
                </c:pt>
                <c:pt idx="13">
                  <c:v>411</c:v>
                </c:pt>
                <c:pt idx="14">
                  <c:v>401</c:v>
                </c:pt>
                <c:pt idx="15">
                  <c:v>396</c:v>
                </c:pt>
                <c:pt idx="16">
                  <c:v>403</c:v>
                </c:pt>
                <c:pt idx="17">
                  <c:v>399</c:v>
                </c:pt>
                <c:pt idx="18">
                  <c:v>417</c:v>
                </c:pt>
                <c:pt idx="19">
                  <c:v>411</c:v>
                </c:pt>
                <c:pt idx="20">
                  <c:v>419</c:v>
                </c:pt>
                <c:pt idx="21">
                  <c:v>415</c:v>
                </c:pt>
                <c:pt idx="22">
                  <c:v>393</c:v>
                </c:pt>
                <c:pt idx="23">
                  <c:v>405</c:v>
                </c:pt>
                <c:pt idx="24">
                  <c:v>411</c:v>
                </c:pt>
                <c:pt idx="25">
                  <c:v>421</c:v>
                </c:pt>
                <c:pt idx="26">
                  <c:v>424</c:v>
                </c:pt>
                <c:pt idx="27">
                  <c:v>428</c:v>
                </c:pt>
                <c:pt idx="28">
                  <c:v>412</c:v>
                </c:pt>
                <c:pt idx="29">
                  <c:v>408</c:v>
                </c:pt>
                <c:pt idx="30">
                  <c:v>412</c:v>
                </c:pt>
                <c:pt idx="31">
                  <c:v>416</c:v>
                </c:pt>
                <c:pt idx="32">
                  <c:v>427</c:v>
                </c:pt>
                <c:pt idx="33">
                  <c:v>415</c:v>
                </c:pt>
                <c:pt idx="34">
                  <c:v>414</c:v>
                </c:pt>
                <c:pt idx="35">
                  <c:v>412</c:v>
                </c:pt>
                <c:pt idx="36">
                  <c:v>406</c:v>
                </c:pt>
                <c:pt idx="37">
                  <c:v>418</c:v>
                </c:pt>
                <c:pt idx="38">
                  <c:v>408</c:v>
                </c:pt>
                <c:pt idx="39">
                  <c:v>419</c:v>
                </c:pt>
                <c:pt idx="40">
                  <c:v>420</c:v>
                </c:pt>
                <c:pt idx="41">
                  <c:v>423</c:v>
                </c:pt>
                <c:pt idx="42">
                  <c:v>426</c:v>
                </c:pt>
              </c:numCache>
            </c:numRef>
          </c:val>
          <c:extLst>
            <c:ext xmlns:c16="http://schemas.microsoft.com/office/drawing/2014/chart" uri="{C3380CC4-5D6E-409C-BE32-E72D297353CC}">
              <c16:uniqueId val="{00000010-C781-458D-9D1E-710FF1C8EB9D}"/>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450"/>
          <c:min val="30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24-Feb-25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662362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1634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969651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217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7</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8</a:t>
            </a:fld>
            <a:endParaRPr/>
          </a:p>
        </p:txBody>
      </p:sp>
    </p:spTree>
    <p:extLst>
      <p:ext uri="{BB962C8B-B14F-4D97-AF65-F5344CB8AC3E}">
        <p14:creationId xmlns:p14="http://schemas.microsoft.com/office/powerpoint/2010/main" val="960671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9</a:t>
            </a:fld>
            <a:endParaRPr/>
          </a:p>
        </p:txBody>
      </p:sp>
    </p:spTree>
    <p:extLst>
      <p:ext uri="{BB962C8B-B14F-4D97-AF65-F5344CB8AC3E}">
        <p14:creationId xmlns:p14="http://schemas.microsoft.com/office/powerpoint/2010/main" val="1152213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10</a:t>
            </a:fld>
            <a:endParaRPr/>
          </a:p>
        </p:txBody>
      </p:sp>
    </p:spTree>
    <p:extLst>
      <p:ext uri="{BB962C8B-B14F-4D97-AF65-F5344CB8AC3E}">
        <p14:creationId xmlns:p14="http://schemas.microsoft.com/office/powerpoint/2010/main" val="162046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4424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9117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77211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3248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541886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sz="1200" dirty="0"/>
          </a:p>
        </p:txBody>
      </p:sp>
      <p:sp>
        <p:nvSpPr>
          <p:cNvPr id="4" name="Slide Number Placeholder 3"/>
          <p:cNvSpPr>
            <a:spLocks noGrp="1"/>
          </p:cNvSpPr>
          <p:nvPr>
            <p:ph type="sldNum" sz="quarter" idx="10"/>
          </p:nvPr>
        </p:nvSpPr>
        <p:spPr/>
        <p:txBody>
          <a:bodyPr/>
          <a:lstStyle/>
          <a:p>
            <a:fld id="{19A373DA-F9AA-A644-86AE-7CBAAC246365}" type="slidenum">
              <a:rPr lang="en-US" smtClean="0"/>
              <a:t>16</a:t>
            </a:fld>
            <a:endParaRPr lang="en-US"/>
          </a:p>
        </p:txBody>
      </p:sp>
    </p:spTree>
    <p:extLst>
      <p:ext uri="{BB962C8B-B14F-4D97-AF65-F5344CB8AC3E}">
        <p14:creationId xmlns:p14="http://schemas.microsoft.com/office/powerpoint/2010/main" val="29673512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US" sz="120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590239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FAC9D-6C4D-45A1-835A-6091318B370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950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19</a:t>
            </a:fld>
            <a:endParaRPr lang="en-US" altLang="en-US">
              <a:solidFill>
                <a:srgbClr val="000000"/>
              </a:solidFill>
            </a:endParaRPr>
          </a:p>
        </p:txBody>
      </p:sp>
    </p:spTree>
    <p:extLst>
      <p:ext uri="{BB962C8B-B14F-4D97-AF65-F5344CB8AC3E}">
        <p14:creationId xmlns:p14="http://schemas.microsoft.com/office/powerpoint/2010/main" val="41359332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13373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FAC9D-6C4D-45A1-835A-6091318B370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16897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FAC9D-6C4D-45A1-835A-6091318B370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542039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17904848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923431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D6698A7-A523-FA8F-1560-38B78DE6C5C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D2FE96-8DD4-7F86-2AD5-717EFC1A57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893F7A7-EB19-4D7A-3CFF-F28D2ED9E1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163EDE2-855A-FFA1-3437-7A3D1A0D74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34910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16939508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3277530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38043039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F9B03CD1-C0E6-1C7C-34ED-254B01290D9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DBBAABCF-6E17-65AB-19CF-B8E318AFA7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D557719-C459-58BF-9F1E-C946E9A38F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EE1A640-ADF2-5D4E-64B5-18E39B9B4A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13193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30</a:t>
            </a:fld>
            <a:endParaRPr lang="en-US" altLang="en-US">
              <a:solidFill>
                <a:srgbClr val="000000"/>
              </a:solidFill>
            </a:endParaRPr>
          </a:p>
        </p:txBody>
      </p:sp>
    </p:spTree>
    <p:extLst>
      <p:ext uri="{BB962C8B-B14F-4D97-AF65-F5344CB8AC3E}">
        <p14:creationId xmlns:p14="http://schemas.microsoft.com/office/powerpoint/2010/main" val="17595380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362218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07857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688508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521218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411137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58927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8959545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47</a:t>
            </a:fld>
            <a:endParaRPr/>
          </a:p>
        </p:txBody>
      </p:sp>
    </p:spTree>
    <p:extLst>
      <p:ext uri="{BB962C8B-B14F-4D97-AF65-F5344CB8AC3E}">
        <p14:creationId xmlns:p14="http://schemas.microsoft.com/office/powerpoint/2010/main" val="28088708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48</a:t>
            </a:fld>
            <a:endParaRPr/>
          </a:p>
        </p:txBody>
      </p:sp>
    </p:spTree>
    <p:extLst>
      <p:ext uri="{BB962C8B-B14F-4D97-AF65-F5344CB8AC3E}">
        <p14:creationId xmlns:p14="http://schemas.microsoft.com/office/powerpoint/2010/main" val="38676341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49</a:t>
            </a:fld>
            <a:endParaRPr/>
          </a:p>
        </p:txBody>
      </p:sp>
    </p:spTree>
    <p:extLst>
      <p:ext uri="{BB962C8B-B14F-4D97-AF65-F5344CB8AC3E}">
        <p14:creationId xmlns:p14="http://schemas.microsoft.com/office/powerpoint/2010/main" val="39246483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50</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685283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51</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5994611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45166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54</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97853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09680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942354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58</a:t>
            </a:fld>
            <a:endParaRPr/>
          </a:p>
        </p:txBody>
      </p:sp>
    </p:spTree>
    <p:extLst>
      <p:ext uri="{BB962C8B-B14F-4D97-AF65-F5344CB8AC3E}">
        <p14:creationId xmlns:p14="http://schemas.microsoft.com/office/powerpoint/2010/main" val="13615048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705214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637399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5404510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ccdae391d_0_29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1ccdae391d_0_29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1ccdae391d_0_29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62</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1310401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63</a:t>
            </a:fld>
            <a:endParaRPr/>
          </a:p>
        </p:txBody>
      </p:sp>
    </p:spTree>
    <p:extLst>
      <p:ext uri="{BB962C8B-B14F-4D97-AF65-F5344CB8AC3E}">
        <p14:creationId xmlns:p14="http://schemas.microsoft.com/office/powerpoint/2010/main" val="18382647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64</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0300260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65</a:t>
            </a:fld>
            <a:endParaRPr/>
          </a:p>
        </p:txBody>
      </p:sp>
    </p:spTree>
    <p:extLst>
      <p:ext uri="{BB962C8B-B14F-4D97-AF65-F5344CB8AC3E}">
        <p14:creationId xmlns:p14="http://schemas.microsoft.com/office/powerpoint/2010/main" val="1247417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66</a:t>
            </a:fld>
            <a:endParaRPr/>
          </a:p>
        </p:txBody>
      </p:sp>
    </p:spTree>
    <p:extLst>
      <p:ext uri="{BB962C8B-B14F-4D97-AF65-F5344CB8AC3E}">
        <p14:creationId xmlns:p14="http://schemas.microsoft.com/office/powerpoint/2010/main" val="41711447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8252663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68</a:t>
            </a:fld>
            <a:endParaRPr/>
          </a:p>
        </p:txBody>
      </p:sp>
    </p:spTree>
    <p:extLst>
      <p:ext uri="{BB962C8B-B14F-4D97-AF65-F5344CB8AC3E}">
        <p14:creationId xmlns:p14="http://schemas.microsoft.com/office/powerpoint/2010/main" val="7675807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1968817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5492451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71</a:t>
            </a:fld>
            <a:endParaRPr sz="1200">
              <a:latin typeface="Calibri"/>
              <a:ea typeface="Calibri"/>
              <a:cs typeface="Calibri"/>
              <a:sym typeface="Calibri"/>
            </a:endParaRPr>
          </a:p>
        </p:txBody>
      </p:sp>
    </p:spTree>
    <p:extLst>
      <p:ext uri="{BB962C8B-B14F-4D97-AF65-F5344CB8AC3E}">
        <p14:creationId xmlns:p14="http://schemas.microsoft.com/office/powerpoint/2010/main" val="8833461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72</a:t>
            </a:fld>
            <a:endParaRPr sz="1200">
              <a:latin typeface="Calibri"/>
              <a:ea typeface="Calibri"/>
              <a:cs typeface="Calibri"/>
              <a:sym typeface="Calibri"/>
            </a:endParaRPr>
          </a:p>
        </p:txBody>
      </p:sp>
    </p:spTree>
    <p:extLst>
      <p:ext uri="{BB962C8B-B14F-4D97-AF65-F5344CB8AC3E}">
        <p14:creationId xmlns:p14="http://schemas.microsoft.com/office/powerpoint/2010/main" val="37445887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73</a:t>
            </a:fld>
            <a:endParaRPr sz="1200">
              <a:latin typeface="Calibri"/>
              <a:ea typeface="Calibri"/>
              <a:cs typeface="Calibri"/>
              <a:sym typeface="Calibri"/>
            </a:endParaRPr>
          </a:p>
        </p:txBody>
      </p:sp>
    </p:spTree>
    <p:extLst>
      <p:ext uri="{BB962C8B-B14F-4D97-AF65-F5344CB8AC3E}">
        <p14:creationId xmlns:p14="http://schemas.microsoft.com/office/powerpoint/2010/main" val="29143710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74</a:t>
            </a:fld>
            <a:endParaRPr sz="1200">
              <a:latin typeface="Calibri"/>
              <a:ea typeface="Calibri"/>
              <a:cs typeface="Calibri"/>
              <a:sym typeface="Calibri"/>
            </a:endParaRPr>
          </a:p>
        </p:txBody>
      </p:sp>
    </p:spTree>
    <p:extLst>
      <p:ext uri="{BB962C8B-B14F-4D97-AF65-F5344CB8AC3E}">
        <p14:creationId xmlns:p14="http://schemas.microsoft.com/office/powerpoint/2010/main" val="166667937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75</a:t>
            </a:fld>
            <a:endParaRPr sz="1200">
              <a:latin typeface="Calibri"/>
              <a:ea typeface="Calibri"/>
              <a:cs typeface="Calibri"/>
              <a:sym typeface="Calibri"/>
            </a:endParaRPr>
          </a:p>
        </p:txBody>
      </p:sp>
    </p:spTree>
    <p:extLst>
      <p:ext uri="{BB962C8B-B14F-4D97-AF65-F5344CB8AC3E}">
        <p14:creationId xmlns:p14="http://schemas.microsoft.com/office/powerpoint/2010/main" val="355035788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76</a:t>
            </a:fld>
            <a:endParaRPr sz="1200">
              <a:latin typeface="Calibri"/>
              <a:ea typeface="Calibri"/>
              <a:cs typeface="Calibri"/>
              <a:sym typeface="Calibri"/>
            </a:endParaRPr>
          </a:p>
        </p:txBody>
      </p:sp>
    </p:spTree>
    <p:extLst>
      <p:ext uri="{BB962C8B-B14F-4D97-AF65-F5344CB8AC3E}">
        <p14:creationId xmlns:p14="http://schemas.microsoft.com/office/powerpoint/2010/main" val="23005556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981727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x-none"/>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x-none" sz="1200" smtClean="0">
                <a:solidFill>
                  <a:schemeClr val="bg1"/>
                </a:solidFill>
                <a:latin typeface="Exo"/>
              </a:rPr>
              <a:t>‹#›</a:t>
            </a:fld>
            <a:endParaRPr lang="x-none" sz="1200" dirty="0">
              <a:solidFill>
                <a:schemeClr val="bg1"/>
              </a:solidFill>
              <a:latin typeface="Exo"/>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3300822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2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307503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A3A1DAE-E79D-4DA5-B482-81DDF4B01157}" type="slidenum">
              <a:rPr kumimoji="0" lang="en-VN" sz="1200" b="0" i="0" u="none" strike="noStrike" kern="1200" cap="none" spc="0" normalizeH="0" baseline="0" noProof="0" smtClean="0">
                <a:ln>
                  <a:noFill/>
                </a:ln>
                <a:solidFill>
                  <a:prstClr val="white"/>
                </a:solidFill>
                <a:effectLst/>
                <a:uLnTx/>
                <a:uFillTx/>
                <a:latin typeface="Ex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VN" sz="1200" b="0" i="0" u="none" strike="noStrike" kern="1200" cap="none" spc="0" normalizeH="0" baseline="0" noProof="0" dirty="0">
              <a:ln>
                <a:noFill/>
              </a:ln>
              <a:solidFill>
                <a:prstClr val="white"/>
              </a:solidFill>
              <a:effectLst/>
              <a:uLnTx/>
              <a:uFillTx/>
              <a:latin typeface="Exo"/>
              <a:ea typeface="+mn-ea"/>
              <a:cs typeface="+mn-cs"/>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528697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A3A1DAE-E79D-4DA5-B482-81DDF4B01157}" type="slidenum">
              <a:rPr kumimoji="0" lang="en-VN" sz="1200" b="0" i="0" u="none" strike="noStrike" kern="1200" cap="none" spc="0" normalizeH="0" baseline="0" noProof="0" smtClean="0">
                <a:ln>
                  <a:noFill/>
                </a:ln>
                <a:solidFill>
                  <a:prstClr val="white"/>
                </a:solidFill>
                <a:effectLst/>
                <a:uLnTx/>
                <a:uFillTx/>
                <a:latin typeface="Ex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VN" sz="1200" b="0" i="0" u="none" strike="noStrike" kern="1200" cap="none" spc="0" normalizeH="0" baseline="0" noProof="0" dirty="0">
              <a:ln>
                <a:noFill/>
              </a:ln>
              <a:solidFill>
                <a:prstClr val="white"/>
              </a:solidFill>
              <a:effectLst/>
              <a:uLnTx/>
              <a:uFillTx/>
              <a:latin typeface="Exo"/>
              <a:ea typeface="+mn-ea"/>
              <a:cs typeface="+mn-cs"/>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3959516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24-Feb-25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15" r:id="rId11"/>
    <p:sldLayoutId id="2147483716" r:id="rId12"/>
    <p:sldLayoutId id="2147483717" r:id="rId13"/>
    <p:sldLayoutId id="2147483718"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0.png"/><Relationship Id="rId2" Type="http://schemas.openxmlformats.org/officeDocument/2006/relationships/slideLayout" Target="../slideLayouts/slideLayout10.xml"/><Relationship Id="rId1" Type="http://schemas.openxmlformats.org/officeDocument/2006/relationships/tags" Target="../tags/tag4.xml"/><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18.xml"/><Relationship Id="rId7" Type="http://schemas.openxmlformats.org/officeDocument/2006/relationships/image" Target="../media/image5.png"/><Relationship Id="rId2" Type="http://schemas.openxmlformats.org/officeDocument/2006/relationships/slideLayout" Target="../slideLayouts/slideLayout10.xml"/><Relationship Id="rId1" Type="http://schemas.openxmlformats.org/officeDocument/2006/relationships/tags" Target="../tags/tag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17.png"/><Relationship Id="rId5" Type="http://schemas.openxmlformats.org/officeDocument/2006/relationships/image" Target="../media/image14.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08</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17/02/2025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 </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23</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02</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1895387534"/>
              </p:ext>
            </p:extLst>
          </p:nvPr>
        </p:nvGraphicFramePr>
        <p:xfrm>
          <a:off x="1772842" y="806302"/>
          <a:ext cx="4010025" cy="23988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706195648"/>
              </p:ext>
            </p:extLst>
          </p:nvPr>
        </p:nvGraphicFramePr>
        <p:xfrm>
          <a:off x="1782366" y="3591247"/>
          <a:ext cx="3990975" cy="23988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2089219875"/>
              </p:ext>
            </p:extLst>
          </p:nvPr>
        </p:nvGraphicFramePr>
        <p:xfrm>
          <a:off x="6311959" y="3591247"/>
          <a:ext cx="4054080" cy="23988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1973224361"/>
              </p:ext>
            </p:extLst>
          </p:nvPr>
        </p:nvGraphicFramePr>
        <p:xfrm>
          <a:off x="6311959" y="806302"/>
          <a:ext cx="4054080" cy="239886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3651807861"/>
              </p:ext>
            </p:extLst>
          </p:nvPr>
        </p:nvGraphicFramePr>
        <p:xfrm>
          <a:off x="1402786" y="842625"/>
          <a:ext cx="9374717" cy="2857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2174691101"/>
              </p:ext>
            </p:extLst>
          </p:nvPr>
        </p:nvGraphicFramePr>
        <p:xfrm>
          <a:off x="1413091" y="3770560"/>
          <a:ext cx="9364412" cy="284987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03		    DIV: 01</a:t>
            </a:r>
          </a:p>
        </p:txBody>
      </p:sp>
      <p:graphicFrame>
        <p:nvGraphicFramePr>
          <p:cNvPr id="3" name="Table 2"/>
          <p:cNvGraphicFramePr>
            <a:graphicFrameLocks noGrp="1"/>
          </p:cNvGraphicFramePr>
          <p:nvPr/>
        </p:nvGraphicFramePr>
        <p:xfrm>
          <a:off x="228602" y="1089938"/>
          <a:ext cx="11553282" cy="5045553"/>
        </p:xfrm>
        <a:graphic>
          <a:graphicData uri="http://schemas.openxmlformats.org/drawingml/2006/table">
            <a:tbl>
              <a:tblPr/>
              <a:tblGrid>
                <a:gridCol w="304798">
                  <a:extLst>
                    <a:ext uri="{9D8B030D-6E8A-4147-A177-3AD203B41FA5}">
                      <a16:colId xmlns:a16="http://schemas.microsoft.com/office/drawing/2014/main" val="2069637928"/>
                    </a:ext>
                  </a:extLst>
                </a:gridCol>
                <a:gridCol w="533400">
                  <a:extLst>
                    <a:ext uri="{9D8B030D-6E8A-4147-A177-3AD203B41FA5}">
                      <a16:colId xmlns:a16="http://schemas.microsoft.com/office/drawing/2014/main" val="464945370"/>
                    </a:ext>
                  </a:extLst>
                </a:gridCol>
                <a:gridCol w="381000">
                  <a:extLst>
                    <a:ext uri="{9D8B030D-6E8A-4147-A177-3AD203B41FA5}">
                      <a16:colId xmlns:a16="http://schemas.microsoft.com/office/drawing/2014/main" val="983633470"/>
                    </a:ext>
                  </a:extLst>
                </a:gridCol>
                <a:gridCol w="457200">
                  <a:extLst>
                    <a:ext uri="{9D8B030D-6E8A-4147-A177-3AD203B41FA5}">
                      <a16:colId xmlns:a16="http://schemas.microsoft.com/office/drawing/2014/main" val="3546262789"/>
                    </a:ext>
                  </a:extLst>
                </a:gridCol>
                <a:gridCol w="533400">
                  <a:extLst>
                    <a:ext uri="{9D8B030D-6E8A-4147-A177-3AD203B41FA5}">
                      <a16:colId xmlns:a16="http://schemas.microsoft.com/office/drawing/2014/main" val="1884039996"/>
                    </a:ext>
                  </a:extLst>
                </a:gridCol>
                <a:gridCol w="533400">
                  <a:extLst>
                    <a:ext uri="{9D8B030D-6E8A-4147-A177-3AD203B41FA5}">
                      <a16:colId xmlns:a16="http://schemas.microsoft.com/office/drawing/2014/main" val="3708349863"/>
                    </a:ext>
                  </a:extLst>
                </a:gridCol>
                <a:gridCol w="685800">
                  <a:extLst>
                    <a:ext uri="{9D8B030D-6E8A-4147-A177-3AD203B41FA5}">
                      <a16:colId xmlns:a16="http://schemas.microsoft.com/office/drawing/2014/main" val="2348454438"/>
                    </a:ext>
                  </a:extLst>
                </a:gridCol>
                <a:gridCol w="533400">
                  <a:extLst>
                    <a:ext uri="{9D8B030D-6E8A-4147-A177-3AD203B41FA5}">
                      <a16:colId xmlns:a16="http://schemas.microsoft.com/office/drawing/2014/main" val="546762004"/>
                    </a:ext>
                  </a:extLst>
                </a:gridCol>
                <a:gridCol w="1600200">
                  <a:extLst>
                    <a:ext uri="{9D8B030D-6E8A-4147-A177-3AD203B41FA5}">
                      <a16:colId xmlns:a16="http://schemas.microsoft.com/office/drawing/2014/main" val="995365909"/>
                    </a:ext>
                  </a:extLst>
                </a:gridCol>
                <a:gridCol w="2362200">
                  <a:extLst>
                    <a:ext uri="{9D8B030D-6E8A-4147-A177-3AD203B41FA5}">
                      <a16:colId xmlns:a16="http://schemas.microsoft.com/office/drawing/2014/main" val="2373089142"/>
                    </a:ext>
                  </a:extLst>
                </a:gridCol>
                <a:gridCol w="457200">
                  <a:extLst>
                    <a:ext uri="{9D8B030D-6E8A-4147-A177-3AD203B41FA5}">
                      <a16:colId xmlns:a16="http://schemas.microsoft.com/office/drawing/2014/main" val="403226314"/>
                    </a:ext>
                  </a:extLst>
                </a:gridCol>
                <a:gridCol w="3171284">
                  <a:extLst>
                    <a:ext uri="{9D8B030D-6E8A-4147-A177-3AD203B41FA5}">
                      <a16:colId xmlns:a16="http://schemas.microsoft.com/office/drawing/2014/main" val="1024986741"/>
                    </a:ext>
                  </a:extLst>
                </a:gridCol>
              </a:tblGrid>
              <a:tr h="1638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60306995"/>
                  </a:ext>
                </a:extLst>
              </a:tr>
              <a:tr h="1311036">
                <a:tc>
                  <a:txBody>
                    <a:bodyPr/>
                    <a:lstStyle/>
                    <a:p>
                      <a:pPr algn="ctr" fontAlgn="b"/>
                      <a:r>
                        <a:rPr lang="en-US" sz="1100" b="0" i="0" u="none" strike="noStrike" dirty="0">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A332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HPH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VN7173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HPH-SGN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09:30 22/02/2025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A332 [GTB] DUE TO LUE PUMP INOP Sau </a:t>
                      </a:r>
                      <a:r>
                        <a:rPr lang="en-US" sz="1100" b="0" i="0" u="none" strike="noStrike" dirty="0" err="1">
                          <a:solidFill>
                            <a:srgbClr val="000000"/>
                          </a:solidFill>
                          <a:effectLst/>
                          <a:latin typeface="Calibri" panose="020F0502020204030204" pitchFamily="34" charset="0"/>
                        </a:rPr>
                        <a:t>khi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đẩy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nổ</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máy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MSG BLUE PUMP LOW PRESS</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T/S found BLUE PUMP INOP</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TSM 29-12-00-810-804A, LOSS OF PRESSURE OF BLUE ELECTRIC PUMP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 REPLACE NEW PUMP </a:t>
                      </a:r>
                      <a:r>
                        <a:rPr lang="en-US" sz="1100" b="0" i="0" u="none" strike="noStrike" dirty="0" err="1">
                          <a:solidFill>
                            <a:srgbClr val="000000"/>
                          </a:solidFill>
                          <a:effectLst/>
                          <a:latin typeface="Calibri" panose="020F0502020204030204" pitchFamily="34" charset="0"/>
                        </a:rPr>
                        <a:t>i.a.w</a:t>
                      </a:r>
                      <a:r>
                        <a:rPr lang="en-US" sz="1100" b="0" i="0" u="none" strike="noStrike" dirty="0">
                          <a:solidFill>
                            <a:srgbClr val="000000"/>
                          </a:solidFill>
                          <a:effectLst/>
                          <a:latin typeface="Calibri" panose="020F0502020204030204" pitchFamily="34" charset="0"/>
                        </a:rPr>
                        <a:t> AMM 29-12-51-000-001A/ 400-001A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 REPLACE NEW FILTER ELEMENT </a:t>
                      </a:r>
                      <a:r>
                        <a:rPr lang="en-US" sz="1100" b="0" i="0" u="none" strike="noStrike" dirty="0" err="1">
                          <a:solidFill>
                            <a:srgbClr val="000000"/>
                          </a:solidFill>
                          <a:effectLst/>
                          <a:latin typeface="Calibri" panose="020F0502020204030204" pitchFamily="34" charset="0"/>
                        </a:rPr>
                        <a:t>i.a.w</a:t>
                      </a:r>
                      <a:r>
                        <a:rPr lang="en-US" sz="1100" b="0" i="0" u="none" strike="noStrike" dirty="0">
                          <a:solidFill>
                            <a:srgbClr val="000000"/>
                          </a:solidFill>
                          <a:effectLst/>
                          <a:latin typeface="Calibri" panose="020F0502020204030204" pitchFamily="34" charset="0"/>
                        </a:rPr>
                        <a:t> AMM 29-12-43-610-001</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ENGINE RUN UP;CHECK SATIS A332 [GTB] DUE TO LUE PUMP INOP EVENT CLOSED &lt;/p&gt; 08:40 </a:t>
                      </a:r>
                      <a:r>
                        <a:rPr lang="en-US" sz="1100" b="0" i="0" u="none" strike="noStrike" dirty="0" err="1">
                          <a:solidFill>
                            <a:srgbClr val="000000"/>
                          </a:solidFill>
                          <a:effectLst/>
                          <a:latin typeface="Calibri" panose="020F0502020204030204" pitchFamily="34" charset="0"/>
                        </a:rPr>
                        <a:t>đóng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cửa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đúng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giờ</a:t>
                      </a:r>
                      <a:r>
                        <a:rPr lang="en-US" sz="1100" b="0" i="0" u="none" strike="noStrike" dirty="0">
                          <a:solidFill>
                            <a:srgbClr val="000000"/>
                          </a:solidFill>
                          <a:effectLst/>
                          <a:latin typeface="Calibri" panose="020F0502020204030204" pitchFamily="34" charset="0"/>
                        </a:rPr>
                        <a: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08:42 </a:t>
                      </a:r>
                      <a:r>
                        <a:rPr lang="en-US" sz="1100" b="0" i="0" u="none" strike="noStrike" dirty="0" err="1">
                          <a:solidFill>
                            <a:srgbClr val="000000"/>
                          </a:solidFill>
                          <a:effectLst/>
                          <a:latin typeface="Calibri" panose="020F0502020204030204" pitchFamily="34" charset="0"/>
                        </a:rPr>
                        <a:t>đẩy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08:45 </a:t>
                      </a:r>
                      <a:r>
                        <a:rPr lang="en-US" sz="1100" b="0" i="0" u="none" strike="noStrike" dirty="0" err="1">
                          <a:solidFill>
                            <a:srgbClr val="000000"/>
                          </a:solidFill>
                          <a:effectLst/>
                          <a:latin typeface="Calibri" panose="020F0502020204030204" pitchFamily="34" charset="0"/>
                        </a:rPr>
                        <a:t>sau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nổ</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máy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xuất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MSG BLUE PUMP LOW PRESS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08:55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quay </a:t>
                      </a:r>
                      <a:r>
                        <a:rPr lang="en-US" sz="1100" b="0" i="0" u="none" strike="noStrike" dirty="0" err="1">
                          <a:solidFill>
                            <a:srgbClr val="000000"/>
                          </a:solidFill>
                          <a:effectLst/>
                          <a:latin typeface="Calibri" panose="020F0502020204030204" pitchFamily="34" charset="0"/>
                        </a:rPr>
                        <a:t>lại</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10:15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AOG</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11:00 </a:t>
                      </a:r>
                      <a:r>
                        <a:rPr lang="en-US" sz="1100" b="0" i="0" u="none" strike="noStrike" dirty="0" err="1">
                          <a:solidFill>
                            <a:srgbClr val="000000"/>
                          </a:solidFill>
                          <a:effectLst/>
                          <a:latin typeface="Calibri" panose="020F0502020204030204" pitchFamily="34" charset="0"/>
                        </a:rPr>
                        <a:t>xe</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chở</a:t>
                      </a:r>
                      <a:r>
                        <a:rPr lang="en-US" sz="1100" b="0" i="0" u="none" strike="noStrike" dirty="0">
                          <a:solidFill>
                            <a:srgbClr val="000000"/>
                          </a:solidFill>
                          <a:effectLst/>
                          <a:latin typeface="Calibri" panose="020F0502020204030204" pitchFamily="34" charset="0"/>
                        </a:rPr>
                        <a:t> PTVT &amp;amp; tool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NVKT </a:t>
                      </a:r>
                      <a:r>
                        <a:rPr lang="en-US" sz="1100" b="0" i="0" u="none" strike="noStrike" dirty="0" err="1">
                          <a:solidFill>
                            <a:srgbClr val="000000"/>
                          </a:solidFill>
                          <a:effectLst/>
                          <a:latin typeface="Calibri" panose="020F0502020204030204" pitchFamily="34" charset="0"/>
                        </a:rPr>
                        <a:t>đi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cứu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xuất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phát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12:30 CRS </a:t>
                      </a:r>
                      <a:r>
                        <a:rPr lang="en-US" sz="1100" b="0" i="0" u="none" strike="noStrike" dirty="0" err="1">
                          <a:solidFill>
                            <a:srgbClr val="000000"/>
                          </a:solidFill>
                          <a:effectLst/>
                          <a:latin typeface="Calibri" panose="020F0502020204030204" pitchFamily="34" charset="0"/>
                        </a:rPr>
                        <a:t>tại</a:t>
                      </a:r>
                      <a:r>
                        <a:rPr lang="en-US" sz="1100" b="0" i="0" u="none" strike="noStrike" dirty="0">
                          <a:solidFill>
                            <a:srgbClr val="000000"/>
                          </a:solidFill>
                          <a:effectLst/>
                          <a:latin typeface="Calibri" panose="020F0502020204030204" pitchFamily="34" charset="0"/>
                        </a:rPr>
                        <a:t> HPH </a:t>
                      </a:r>
                      <a:r>
                        <a:rPr lang="en-US" sz="1100" b="0" i="0" u="none" strike="noStrike" dirty="0" err="1">
                          <a:solidFill>
                            <a:srgbClr val="000000"/>
                          </a:solidFill>
                          <a:effectLst/>
                          <a:latin typeface="Calibri" panose="020F0502020204030204" pitchFamily="34" charset="0"/>
                        </a:rPr>
                        <a:t>tháo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xong</a:t>
                      </a:r>
                      <a:r>
                        <a:rPr lang="en-US" sz="1100" b="0" i="0" u="none" strike="noStrike" dirty="0">
                          <a:solidFill>
                            <a:srgbClr val="000000"/>
                          </a:solidFill>
                          <a:effectLst/>
                          <a:latin typeface="Calibri" panose="020F0502020204030204" pitchFamily="34" charset="0"/>
                        </a:rPr>
                        <a:t> Blue pump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13:35 NVKT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PTVT&amp;#43;tool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mặt</a:t>
                      </a:r>
                      <a:r>
                        <a:rPr lang="en-US" sz="1100" b="0" i="0" u="none" strike="noStrike" dirty="0">
                          <a:solidFill>
                            <a:srgbClr val="000000"/>
                          </a:solidFill>
                          <a:effectLst/>
                          <a:latin typeface="Calibri" panose="020F0502020204030204" pitchFamily="34" charset="0"/>
                        </a:rPr>
                        <a:t> ở </a:t>
                      </a:r>
                      <a:r>
                        <a:rPr lang="en-US" sz="1100" b="0" i="0" u="none" strike="noStrike" dirty="0" err="1">
                          <a:solidFill>
                            <a:srgbClr val="000000"/>
                          </a:solidFill>
                          <a:effectLst/>
                          <a:latin typeface="Calibri" panose="020F0502020204030204" pitchFamily="34" charset="0"/>
                        </a:rPr>
                        <a:t>tàu</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15:30 </a:t>
                      </a:r>
                      <a:r>
                        <a:rPr lang="en-US" sz="1100" b="0" i="0" u="none" strike="noStrike" dirty="0" err="1">
                          <a:solidFill>
                            <a:srgbClr val="000000"/>
                          </a:solidFill>
                          <a:effectLst/>
                          <a:latin typeface="Calibri" panose="020F0502020204030204" pitchFamily="34" charset="0"/>
                        </a:rPr>
                        <a:t>lắp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xong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Pump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hoàn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thiện</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15:37 </a:t>
                      </a:r>
                      <a:r>
                        <a:rPr lang="en-US" sz="1100" b="0" i="0" u="none" strike="noStrike" dirty="0" err="1">
                          <a:solidFill>
                            <a:srgbClr val="000000"/>
                          </a:solidFill>
                          <a:effectLst/>
                          <a:latin typeface="Calibri" panose="020F0502020204030204" pitchFamily="34" charset="0"/>
                        </a:rPr>
                        <a:t>Nổ</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máy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kiểm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tốt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Boarding</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16:24 </a:t>
                      </a:r>
                      <a:r>
                        <a:rPr lang="en-US" sz="1100" b="0" i="0" u="none" strike="noStrike" dirty="0" err="1">
                          <a:solidFill>
                            <a:srgbClr val="000000"/>
                          </a:solidFill>
                          <a:effectLst/>
                          <a:latin typeface="Calibri" panose="020F0502020204030204" pitchFamily="34" charset="0"/>
                        </a:rPr>
                        <a:t>đóng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cửa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16:27 Taxi</a:t>
                      </a:r>
                      <a:br>
                        <a:rPr lang="en-US" sz="1100" b="0" i="0" u="none" strike="noStrike" dirty="0">
                          <a:solidFill>
                            <a:srgbClr val="000000"/>
                          </a:solidFill>
                          <a:effectLst/>
                          <a:latin typeface="Calibri" panose="020F0502020204030204" pitchFamily="34" charset="0"/>
                        </a:rPr>
                      </a:br>
                      <a:r>
                        <a:rPr lang="en-US" sz="1100" b="0" i="0" u="none" strike="noStrike" dirty="0" err="1">
                          <a:solidFill>
                            <a:srgbClr val="000000"/>
                          </a:solidFill>
                          <a:effectLst/>
                          <a:latin typeface="Calibri" panose="020F0502020204030204" pitchFamily="34" charset="0"/>
                        </a:rPr>
                        <a:t>Thời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gian</a:t>
                      </a:r>
                      <a:r>
                        <a:rPr lang="en-US" sz="1100" b="0" i="0" u="none" strike="noStrike" dirty="0">
                          <a:solidFill>
                            <a:srgbClr val="000000"/>
                          </a:solidFill>
                          <a:effectLst/>
                          <a:latin typeface="Calibri" panose="020F0502020204030204" pitchFamily="34" charset="0"/>
                        </a:rPr>
                        <a:t> AOG 122 </a:t>
                      </a:r>
                      <a:r>
                        <a:rPr lang="en-US" sz="1100" b="0" i="0" u="none" strike="noStrike" dirty="0" err="1">
                          <a:solidFill>
                            <a:srgbClr val="000000"/>
                          </a:solidFill>
                          <a:effectLst/>
                          <a:latin typeface="Calibri" panose="020F0502020204030204" pitchFamily="34" charset="0"/>
                        </a:rPr>
                        <a:t>phút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Total delay 464 </a:t>
                      </a:r>
                      <a:r>
                        <a:rPr lang="en-US" sz="1100" b="0" i="0" u="none" strike="noStrike" dirty="0" err="1">
                          <a:solidFill>
                            <a:srgbClr val="000000"/>
                          </a:solidFill>
                          <a:effectLst/>
                          <a:latin typeface="Calibri" panose="020F0502020204030204" pitchFamily="34" charset="0"/>
                        </a:rPr>
                        <a:t>phút</a:t>
                      </a:r>
                      <a:r>
                        <a:rPr lang="en-US" sz="1100" b="0" i="0" u="none" strike="noStrike" dirty="0">
                          <a:solidFill>
                            <a:srgbClr val="000000"/>
                          </a:solidFill>
                          <a:effectLst/>
                          <a:latin typeface="Calibri" panose="020F0502020204030204" pitchFamily="34" charset="0"/>
                        </a:rPr>
                        <a:t>, Tech delay 122 </a:t>
                      </a:r>
                      <a:r>
                        <a:rPr lang="en-US" sz="1100" b="0" i="0" u="none" strike="noStrike" dirty="0" err="1">
                          <a:solidFill>
                            <a:srgbClr val="000000"/>
                          </a:solidFill>
                          <a:effectLst/>
                          <a:latin typeface="Calibri" panose="020F0502020204030204" pitchFamily="34" charset="0"/>
                        </a:rPr>
                        <a:t>phút</a:t>
                      </a:r>
                      <a:r>
                        <a:rPr lang="en-US" sz="1100" b="0" i="0" u="none" strike="noStrike" dirty="0">
                          <a:solidFill>
                            <a:srgbClr val="000000"/>
                          </a:solidFill>
                          <a:effectLst/>
                          <a:latin typeface="Calibri" panose="020F0502020204030204" pitchFamily="34" charset="0"/>
                        </a:rPr>
                        <a:t>. RTG DUE TO BLUE PUMP LOW PRESS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29-12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Bơm EMP trên tàu A332 là bơm của Eaton. Kể từ khi chuyển đổi sang bơm Eaton trên các tàu từ A357, từ năm 2020 đến nay có 04 trường hợp tháo ngoài KH. Hiện không có issue nào liên quan đến ĐTC của khối này. Tiếp tục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0185624"/>
                  </a:ext>
                </a:extLst>
              </a:tr>
            </a:tbl>
          </a:graphicData>
        </a:graphic>
      </p:graphicFrame>
    </p:spTree>
    <p:custDataLst>
      <p:tags r:id="rId1"/>
    </p:custDataLst>
    <p:extLst>
      <p:ext uri="{BB962C8B-B14F-4D97-AF65-F5344CB8AC3E}">
        <p14:creationId xmlns:p14="http://schemas.microsoft.com/office/powerpoint/2010/main" val="3014443633"/>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03		    DIV: 01</a:t>
            </a:r>
          </a:p>
        </p:txBody>
      </p:sp>
      <p:graphicFrame>
        <p:nvGraphicFramePr>
          <p:cNvPr id="3" name="Table 2"/>
          <p:cNvGraphicFramePr>
            <a:graphicFrameLocks noGrp="1"/>
          </p:cNvGraphicFramePr>
          <p:nvPr/>
        </p:nvGraphicFramePr>
        <p:xfrm>
          <a:off x="228602" y="1089938"/>
          <a:ext cx="11553282" cy="5222718"/>
        </p:xfrm>
        <a:graphic>
          <a:graphicData uri="http://schemas.openxmlformats.org/drawingml/2006/table">
            <a:tbl>
              <a:tblPr/>
              <a:tblGrid>
                <a:gridCol w="408113">
                  <a:extLst>
                    <a:ext uri="{9D8B030D-6E8A-4147-A177-3AD203B41FA5}">
                      <a16:colId xmlns:a16="http://schemas.microsoft.com/office/drawing/2014/main" val="2069637928"/>
                    </a:ext>
                  </a:extLst>
                </a:gridCol>
                <a:gridCol w="506285">
                  <a:extLst>
                    <a:ext uri="{9D8B030D-6E8A-4147-A177-3AD203B41FA5}">
                      <a16:colId xmlns:a16="http://schemas.microsoft.com/office/drawing/2014/main" val="464945370"/>
                    </a:ext>
                  </a:extLst>
                </a:gridCol>
                <a:gridCol w="381000">
                  <a:extLst>
                    <a:ext uri="{9D8B030D-6E8A-4147-A177-3AD203B41FA5}">
                      <a16:colId xmlns:a16="http://schemas.microsoft.com/office/drawing/2014/main" val="983633470"/>
                    </a:ext>
                  </a:extLst>
                </a:gridCol>
                <a:gridCol w="381000">
                  <a:extLst>
                    <a:ext uri="{9D8B030D-6E8A-4147-A177-3AD203B41FA5}">
                      <a16:colId xmlns:a16="http://schemas.microsoft.com/office/drawing/2014/main" val="3546262789"/>
                    </a:ext>
                  </a:extLst>
                </a:gridCol>
                <a:gridCol w="533400">
                  <a:extLst>
                    <a:ext uri="{9D8B030D-6E8A-4147-A177-3AD203B41FA5}">
                      <a16:colId xmlns:a16="http://schemas.microsoft.com/office/drawing/2014/main" val="1884039996"/>
                    </a:ext>
                  </a:extLst>
                </a:gridCol>
                <a:gridCol w="533400">
                  <a:extLst>
                    <a:ext uri="{9D8B030D-6E8A-4147-A177-3AD203B41FA5}">
                      <a16:colId xmlns:a16="http://schemas.microsoft.com/office/drawing/2014/main" val="3708349863"/>
                    </a:ext>
                  </a:extLst>
                </a:gridCol>
                <a:gridCol w="609600">
                  <a:extLst>
                    <a:ext uri="{9D8B030D-6E8A-4147-A177-3AD203B41FA5}">
                      <a16:colId xmlns:a16="http://schemas.microsoft.com/office/drawing/2014/main" val="2348454438"/>
                    </a:ext>
                  </a:extLst>
                </a:gridCol>
                <a:gridCol w="533400">
                  <a:extLst>
                    <a:ext uri="{9D8B030D-6E8A-4147-A177-3AD203B41FA5}">
                      <a16:colId xmlns:a16="http://schemas.microsoft.com/office/drawing/2014/main" val="546762004"/>
                    </a:ext>
                  </a:extLst>
                </a:gridCol>
                <a:gridCol w="1676400">
                  <a:extLst>
                    <a:ext uri="{9D8B030D-6E8A-4147-A177-3AD203B41FA5}">
                      <a16:colId xmlns:a16="http://schemas.microsoft.com/office/drawing/2014/main" val="995365909"/>
                    </a:ext>
                  </a:extLst>
                </a:gridCol>
                <a:gridCol w="2362200">
                  <a:extLst>
                    <a:ext uri="{9D8B030D-6E8A-4147-A177-3AD203B41FA5}">
                      <a16:colId xmlns:a16="http://schemas.microsoft.com/office/drawing/2014/main" val="2373089142"/>
                    </a:ext>
                  </a:extLst>
                </a:gridCol>
                <a:gridCol w="457200">
                  <a:extLst>
                    <a:ext uri="{9D8B030D-6E8A-4147-A177-3AD203B41FA5}">
                      <a16:colId xmlns:a16="http://schemas.microsoft.com/office/drawing/2014/main" val="403226314"/>
                    </a:ext>
                  </a:extLst>
                </a:gridCol>
                <a:gridCol w="3171284">
                  <a:extLst>
                    <a:ext uri="{9D8B030D-6E8A-4147-A177-3AD203B41FA5}">
                      <a16:colId xmlns:a16="http://schemas.microsoft.com/office/drawing/2014/main" val="1024986741"/>
                    </a:ext>
                  </a:extLst>
                </a:gridCol>
              </a:tblGrid>
              <a:tr h="1638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60306995"/>
                  </a:ext>
                </a:extLst>
              </a:tr>
              <a:tr h="1311036">
                <a:tc>
                  <a:txBody>
                    <a:bodyPr/>
                    <a:lstStyle/>
                    <a:p>
                      <a:pPr algn="ctr" fontAlgn="b"/>
                      <a:r>
                        <a:rPr lang="en-US" sz="1100" b="0" i="0" u="none" strike="noStrike">
                          <a:solidFill>
                            <a:srgbClr val="000000"/>
                          </a:solidFill>
                          <a:effectLst/>
                          <a:latin typeface="Calibri" panose="020F0502020204030204" pitchFamily="34" charset="0"/>
                        </a:rPr>
                        <a:t>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B787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A865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VN310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HAN-NRT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01:16 21/02/2025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A865 [GTB] DUE TO  MSG “ANTISKID” AND MSG “AUTO BRAKE” A865 VN310 HAN-NRT GTB DUE TO CAPT REPORT APPEAR MSG “ANTISKID” AND MSG “AUTO BRAKE”.&lt;/p&gt;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EVENT CLOSED ACTION: C/O INSPECTION AXEL RDC 4 AND HARNESS FOUND HARNESS CHAFFING. C/O DEACTIVATE BRAKE 4 AND GROUND TEST R OUTBOARD BRAKE CONTROL SYSTEM -&gt; SATIS, MSG “ANTISKID” CLEARED. A/C SERVICEABLE.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VN310 TOTAL DELAY 85 MINS; TECH DELAY 20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32 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Kiểm tra phát hiện harness PN 668Z701158-17 (W701158) bị trà sát gây ra lỗi FDE Antiskid 4.</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Lịch sử khai thác chưa từng xuất hiện hỏng hóc dạng này. Số lượng tháo lắp Harness loại này là 3 lần đều liên quan đến BRAKE TEMP SYS, trong đó có 2 lần tháo lắp trên A872 (một lần tháo và keepstore để theo dõi).</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Hoạt động bảo dưỡng: tàu vừa thay main wheel cùng vị trí (#4) thì chuyến bay đầu tiên bị FDE Antiskid 4 phải GTB.</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Boe không có issue nào liên quan đến hỏng hóc dạng này. BCS cho rằng, hoạt động bảo dưỡng hoặc FOD cũng có thê là nguyên nhân của chafing, tuy nhiên BOE không xác định được chính xác nguyên nhân nên không thể đề xuất các giải pháp ngăn ngừa liên quan. Tiếp tục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0185624"/>
                  </a:ext>
                </a:extLst>
              </a:tr>
              <a:tr h="1311036">
                <a:tc>
                  <a:txBody>
                    <a:bodyPr/>
                    <a:lstStyle/>
                    <a:p>
                      <a:pPr algn="ctr" fontAlgn="b"/>
                      <a:r>
                        <a:rPr lang="en-US" sz="1100" b="0" i="0" u="none" strike="noStrike" dirty="0">
                          <a:solidFill>
                            <a:srgbClr val="000000"/>
                          </a:solidFill>
                          <a:effectLst/>
                          <a:latin typeface="Calibri" panose="020F0502020204030204" pitchFamily="34" charset="0"/>
                        </a:rPr>
                        <a:t>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A606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BOM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VN978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BOM-SGN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23:00 17/02/2025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STBY PITOT HEATER - DURING T/X FOUND ECAM WARNING &amp;#34;STBY PITOT HEATER&amp;#34;, LOCAL TECH C/O RESET, MSG DISSAPEAR</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AFTER PUSHBACK, MSG APPEAR AGAIN. A/C CAN DISPATCH WITH MEL 30-21-02C WITH OPS LIMIT A/C NOT OPS IN VISIBLE MOITURE OR FORECAST ICING CONDITIONS. CAPT DICIDE GROUND TURN BACK.&lt;/p&gt;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EVENT CLOSED C/O SWAP STBY PITOT PROBE WITH F/O PITOT BROBE AND RAISED ADD FOR F/O PITOT BROBE(WITH LITTLE OPS LIMIT THAN)</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ECAM WARNING &amp;#34;STBY PITOT HEATER</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STBY PITOT HEATER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30-31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Hỏng hóc liên quan đến Pitot probe PN 0851MC. Hỏng hóc được khắc phục sau khi thay part.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Part được sử dụng từ t5/2019, có TSN/CSN: 13606/7404.</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Part 0851MC là part mới nhất, được cải thiện khả năng chống đóng băng và đã có ĐTC cao hơn part cũ (0851HL). Hiện tại, Thales đang nguyên cứu một phiên bản pitot probe mới (PN C47009BB), dự kiến sẽ được công bố vào năm 2026, giúp cải thiện hơn nữa khả năng chống đóng băng và tăng độ tin cậy.</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08878503"/>
                  </a:ext>
                </a:extLst>
              </a:tr>
            </a:tbl>
          </a:graphicData>
        </a:graphic>
      </p:graphicFrame>
    </p:spTree>
    <p:custDataLst>
      <p:tags r:id="rId1"/>
    </p:custDataLst>
    <p:extLst>
      <p:ext uri="{BB962C8B-B14F-4D97-AF65-F5344CB8AC3E}">
        <p14:creationId xmlns:p14="http://schemas.microsoft.com/office/powerpoint/2010/main" val="937034094"/>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03		    DIV: 01</a:t>
            </a:r>
          </a:p>
        </p:txBody>
      </p:sp>
      <p:graphicFrame>
        <p:nvGraphicFramePr>
          <p:cNvPr id="3" name="Table 2"/>
          <p:cNvGraphicFramePr>
            <a:graphicFrameLocks noGrp="1"/>
          </p:cNvGraphicFramePr>
          <p:nvPr/>
        </p:nvGraphicFramePr>
        <p:xfrm>
          <a:off x="228602" y="1089938"/>
          <a:ext cx="11396950" cy="5045553"/>
        </p:xfrm>
        <a:graphic>
          <a:graphicData uri="http://schemas.openxmlformats.org/drawingml/2006/table">
            <a:tbl>
              <a:tblPr/>
              <a:tblGrid>
                <a:gridCol w="251781">
                  <a:extLst>
                    <a:ext uri="{9D8B030D-6E8A-4147-A177-3AD203B41FA5}">
                      <a16:colId xmlns:a16="http://schemas.microsoft.com/office/drawing/2014/main" val="2069637928"/>
                    </a:ext>
                  </a:extLst>
                </a:gridCol>
                <a:gridCol w="510217">
                  <a:extLst>
                    <a:ext uri="{9D8B030D-6E8A-4147-A177-3AD203B41FA5}">
                      <a16:colId xmlns:a16="http://schemas.microsoft.com/office/drawing/2014/main" val="464945370"/>
                    </a:ext>
                  </a:extLst>
                </a:gridCol>
                <a:gridCol w="381000">
                  <a:extLst>
                    <a:ext uri="{9D8B030D-6E8A-4147-A177-3AD203B41FA5}">
                      <a16:colId xmlns:a16="http://schemas.microsoft.com/office/drawing/2014/main" val="983633470"/>
                    </a:ext>
                  </a:extLst>
                </a:gridCol>
                <a:gridCol w="377068">
                  <a:extLst>
                    <a:ext uri="{9D8B030D-6E8A-4147-A177-3AD203B41FA5}">
                      <a16:colId xmlns:a16="http://schemas.microsoft.com/office/drawing/2014/main" val="3546262789"/>
                    </a:ext>
                  </a:extLst>
                </a:gridCol>
                <a:gridCol w="533400">
                  <a:extLst>
                    <a:ext uri="{9D8B030D-6E8A-4147-A177-3AD203B41FA5}">
                      <a16:colId xmlns:a16="http://schemas.microsoft.com/office/drawing/2014/main" val="1884039996"/>
                    </a:ext>
                  </a:extLst>
                </a:gridCol>
                <a:gridCol w="533400">
                  <a:extLst>
                    <a:ext uri="{9D8B030D-6E8A-4147-A177-3AD203B41FA5}">
                      <a16:colId xmlns:a16="http://schemas.microsoft.com/office/drawing/2014/main" val="3708349863"/>
                    </a:ext>
                  </a:extLst>
                </a:gridCol>
                <a:gridCol w="685800">
                  <a:extLst>
                    <a:ext uri="{9D8B030D-6E8A-4147-A177-3AD203B41FA5}">
                      <a16:colId xmlns:a16="http://schemas.microsoft.com/office/drawing/2014/main" val="2348454438"/>
                    </a:ext>
                  </a:extLst>
                </a:gridCol>
                <a:gridCol w="533400">
                  <a:extLst>
                    <a:ext uri="{9D8B030D-6E8A-4147-A177-3AD203B41FA5}">
                      <a16:colId xmlns:a16="http://schemas.microsoft.com/office/drawing/2014/main" val="546762004"/>
                    </a:ext>
                  </a:extLst>
                </a:gridCol>
                <a:gridCol w="1600200">
                  <a:extLst>
                    <a:ext uri="{9D8B030D-6E8A-4147-A177-3AD203B41FA5}">
                      <a16:colId xmlns:a16="http://schemas.microsoft.com/office/drawing/2014/main" val="995365909"/>
                    </a:ext>
                  </a:extLst>
                </a:gridCol>
                <a:gridCol w="2362200">
                  <a:extLst>
                    <a:ext uri="{9D8B030D-6E8A-4147-A177-3AD203B41FA5}">
                      <a16:colId xmlns:a16="http://schemas.microsoft.com/office/drawing/2014/main" val="2373089142"/>
                    </a:ext>
                  </a:extLst>
                </a:gridCol>
                <a:gridCol w="457200">
                  <a:extLst>
                    <a:ext uri="{9D8B030D-6E8A-4147-A177-3AD203B41FA5}">
                      <a16:colId xmlns:a16="http://schemas.microsoft.com/office/drawing/2014/main" val="403226314"/>
                    </a:ext>
                  </a:extLst>
                </a:gridCol>
                <a:gridCol w="3171284">
                  <a:extLst>
                    <a:ext uri="{9D8B030D-6E8A-4147-A177-3AD203B41FA5}">
                      <a16:colId xmlns:a16="http://schemas.microsoft.com/office/drawing/2014/main" val="1024986741"/>
                    </a:ext>
                  </a:extLst>
                </a:gridCol>
              </a:tblGrid>
              <a:tr h="163879">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60306995"/>
                  </a:ext>
                </a:extLst>
              </a:tr>
              <a:tr h="1311036">
                <a:tc>
                  <a:txBody>
                    <a:bodyPr/>
                    <a:lstStyle/>
                    <a:p>
                      <a:pPr algn="ctr" fontAlgn="b"/>
                      <a:r>
                        <a:rPr lang="en-US" sz="1100" b="0" i="0" u="none" strike="noStrike" dirty="0">
                          <a:solidFill>
                            <a:srgbClr val="000000"/>
                          </a:solidFill>
                          <a:effectLst/>
                          <a:latin typeface="Calibri" panose="020F0502020204030204" pitchFamily="34" charset="0"/>
                        </a:rPr>
                        <a:t>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A350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A891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KIX</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VN98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KIX-SFO</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02:00 23/02/2025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DIV</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DURING FLIGHT, MESG “SATCOM FAULT” A891 DIV 22FEB25</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DURING FLIGHT, MESG “SATCOM FAULT”. CAPT DECIDED TO DIV AT KIX</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C/O RAISED MEL 23-28-01B FOR SATCOM INOP, ACTION: EVENT CLOSED C/O RAISED MEL 23-28-01B FOR SATCOM INOP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DURING FLIGHT, MESG “SATCOM FAULT”. CAPT DECIDED TO DIV AT KIX&lt;/p&gt;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VN98 SGN-SFO DIV KIX DUE TO SATCOM FAULT VN98 SGN-SFO DIV KIX DUE TO SATCOM FAULT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23-28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Hỏng hóc này có thể raise MEL tuy nhiên sẽ có hạn chế với những chuyến bay Mỹ, các hỏng hóc SDU có nguyên nhân:</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Hỏng hóc SATCOM call issue dù không có msg liên quan, phải reset C/B on ground =&gt; đã khắc phục bằng cách nâng cấp SW theo SB A350-23-P027, hoàn thành trên đội bay vào T8/2023</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Mất tín hiệu SATCOM tại sân bay SGN, đặc biệt là ở bãi số 16=&gt; đã đề nghị hạn chế không sếp các tàu bay đi Mỹ ở bãi số 16</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Hỏng hóc thiết bị liên quan đến hệ thống SATCOM</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SDU PN 822-2909-050, từ lúc khai thác 16 lần thay thế, tập trung chủ yếu giai đoạn 2019-2022 (2023 không thay, 2024 01 lần) MTBUR 2015-nay 21402 FH, cao hơn GMTBUR 19000 FH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HPA PN 822-2909-050, từ lúc khai thác 12 lần thay thế, tập trung chủ yếu năm 2023 (08 lần) MTBUR 2015-nay 13085 FH, thấp hơn GMTBUR 19000 FH,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HGA PN 822-2923-050, từ lúc khai thác 04 lần thay thế (03 2022, 01 2023) MTBUR 2015-nay 46700 FH, thấp hơn GMTBUR 105000 FH. Theo Collins, hỏng hóc là do: Linh kiện lỗi thời và không đáng tin cậy, lỗi hàn trên PCB, kết nối hàn không đủ bền (lỗi này đã được cải thiện với các thiết bị mới nhà xử lý nhiệt khi hàn), hiện Collins đang nghiên cứu giải pháp.</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=&gt; Ban KT sẽ tiếp tục làm việc với Airbus, AFHS và Collins để tìm nguyên nhân, có giải pháp nâng cao độ tin cậy hệ thống SATCOM trên A350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0185624"/>
                  </a:ext>
                </a:extLst>
              </a:tr>
            </a:tbl>
          </a:graphicData>
        </a:graphic>
      </p:graphicFrame>
    </p:spTree>
    <p:custDataLst>
      <p:tags r:id="rId1"/>
    </p:custDataLst>
    <p:extLst>
      <p:ext uri="{BB962C8B-B14F-4D97-AF65-F5344CB8AC3E}">
        <p14:creationId xmlns:p14="http://schemas.microsoft.com/office/powerpoint/2010/main" val="1867293853"/>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t>6</a:t>
            </a:fld>
            <a:endParaRPr kumimoji="0" lang="en-US" sz="1200" b="0" i="0" u="none" strike="noStrike" kern="1200" cap="none" spc="0" normalizeH="0" baseline="0" noProof="0">
              <a:ln>
                <a:noFill/>
              </a:ln>
              <a:solidFill>
                <a:srgbClr val="D2A43B"/>
              </a:solidFill>
              <a:effectLst/>
              <a:uLnTx/>
              <a:uFillTx/>
              <a:latin typeface="Montserrat" pitchFamily="2" charset="77"/>
              <a:ea typeface="+mn-ea"/>
              <a:cs typeface="+mn-cs"/>
            </a:endParaRPr>
          </a:p>
        </p:txBody>
      </p:sp>
      <p:sp>
        <p:nvSpPr>
          <p:cNvPr id="1048595" name="Title 4"/>
          <p:cNvSpPr>
            <a:spLocks noGrp="1"/>
          </p:cNvSpPr>
          <p:nvPr>
            <p:ph type="title"/>
          </p:nvPr>
        </p:nvSpPr>
        <p:spPr>
          <a:xfrm>
            <a:off x="381000" y="290517"/>
            <a:ext cx="11277597" cy="428634"/>
          </a:xfrm>
        </p:spPr>
        <p:txBody>
          <a:bodyPr>
            <a:normAutofit fontScale="90000"/>
          </a:bodyPr>
          <a:lstStyle/>
          <a:p>
            <a:pPr algn="ctr"/>
            <a:r>
              <a:rPr kumimoji="0" lang="en-US" sz="2800" b="1" i="0" u="none" strike="noStrike" kern="1200" cap="none" spc="0" normalizeH="0" baseline="0" noProof="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CÁC SỰ KIỆN </a:t>
            </a:r>
            <a:r>
              <a:rPr 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MOR</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642799513"/>
              </p:ext>
            </p:extLst>
          </p:nvPr>
        </p:nvGraphicFramePr>
        <p:xfrm>
          <a:off x="533400" y="990600"/>
          <a:ext cx="10515602" cy="2434154"/>
        </p:xfrm>
        <a:graphic>
          <a:graphicData uri="http://schemas.openxmlformats.org/drawingml/2006/table">
            <a:tbl>
              <a:tblPr/>
              <a:tblGrid>
                <a:gridCol w="544850">
                  <a:extLst>
                    <a:ext uri="{9D8B030D-6E8A-4147-A177-3AD203B41FA5}">
                      <a16:colId xmlns:a16="http://schemas.microsoft.com/office/drawing/2014/main" val="20000"/>
                    </a:ext>
                  </a:extLst>
                </a:gridCol>
                <a:gridCol w="446777">
                  <a:extLst>
                    <a:ext uri="{9D8B030D-6E8A-4147-A177-3AD203B41FA5}">
                      <a16:colId xmlns:a16="http://schemas.microsoft.com/office/drawing/2014/main" val="20001"/>
                    </a:ext>
                  </a:extLst>
                </a:gridCol>
                <a:gridCol w="501262">
                  <a:extLst>
                    <a:ext uri="{9D8B030D-6E8A-4147-A177-3AD203B41FA5}">
                      <a16:colId xmlns:a16="http://schemas.microsoft.com/office/drawing/2014/main" val="20002"/>
                    </a:ext>
                  </a:extLst>
                </a:gridCol>
                <a:gridCol w="512159">
                  <a:extLst>
                    <a:ext uri="{9D8B030D-6E8A-4147-A177-3AD203B41FA5}">
                      <a16:colId xmlns:a16="http://schemas.microsoft.com/office/drawing/2014/main" val="20003"/>
                    </a:ext>
                  </a:extLst>
                </a:gridCol>
                <a:gridCol w="468571">
                  <a:extLst>
                    <a:ext uri="{9D8B030D-6E8A-4147-A177-3AD203B41FA5}">
                      <a16:colId xmlns:a16="http://schemas.microsoft.com/office/drawing/2014/main" val="20004"/>
                    </a:ext>
                  </a:extLst>
                </a:gridCol>
                <a:gridCol w="403189">
                  <a:extLst>
                    <a:ext uri="{9D8B030D-6E8A-4147-A177-3AD203B41FA5}">
                      <a16:colId xmlns:a16="http://schemas.microsoft.com/office/drawing/2014/main" val="20005"/>
                    </a:ext>
                  </a:extLst>
                </a:gridCol>
                <a:gridCol w="544850">
                  <a:extLst>
                    <a:ext uri="{9D8B030D-6E8A-4147-A177-3AD203B41FA5}">
                      <a16:colId xmlns:a16="http://schemas.microsoft.com/office/drawing/2014/main" val="20006"/>
                    </a:ext>
                  </a:extLst>
                </a:gridCol>
                <a:gridCol w="642923">
                  <a:extLst>
                    <a:ext uri="{9D8B030D-6E8A-4147-A177-3AD203B41FA5}">
                      <a16:colId xmlns:a16="http://schemas.microsoft.com/office/drawing/2014/main" val="20007"/>
                    </a:ext>
                  </a:extLst>
                </a:gridCol>
                <a:gridCol w="2571691">
                  <a:extLst>
                    <a:ext uri="{9D8B030D-6E8A-4147-A177-3AD203B41FA5}">
                      <a16:colId xmlns:a16="http://schemas.microsoft.com/office/drawing/2014/main" val="20008"/>
                    </a:ext>
                  </a:extLst>
                </a:gridCol>
                <a:gridCol w="3279995">
                  <a:extLst>
                    <a:ext uri="{9D8B030D-6E8A-4147-A177-3AD203B41FA5}">
                      <a16:colId xmlns:a16="http://schemas.microsoft.com/office/drawing/2014/main" val="20009"/>
                    </a:ext>
                  </a:extLst>
                </a:gridCol>
                <a:gridCol w="599335">
                  <a:extLst>
                    <a:ext uri="{9D8B030D-6E8A-4147-A177-3AD203B41FA5}">
                      <a16:colId xmlns:a16="http://schemas.microsoft.com/office/drawing/2014/main" val="20010"/>
                    </a:ext>
                  </a:extLst>
                </a:gridCol>
              </a:tblGrid>
              <a:tr h="156917">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REG.</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YEAR</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MONTH</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DEP-ARV</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DEFECT</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CORRECTIVE ACTION</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538" marR="6538" marT="653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412251">
                <a:tc>
                  <a:txBody>
                    <a:bodyPr/>
                    <a:lstStyle/>
                    <a:p>
                      <a:pPr algn="l" fontAlgn="b"/>
                      <a:r>
                        <a:rPr lang="en-US" sz="1100" b="0" i="0" u="none" strike="noStrike" dirty="0">
                          <a:solidFill>
                            <a:srgbClr val="000000"/>
                          </a:solidFill>
                          <a:effectLst/>
                          <a:latin typeface="Calibri" panose="020F0502020204030204" pitchFamily="34" charset="0"/>
                        </a:rPr>
                        <a:t>A865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B787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VN310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HAN-NRT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A865 [GTB] DUE TO  MSG “ANTISKID” AND MSG “AUTO BRAKE” A865 VN310 HAN-NRT GTB DUE TO CAPT REPORT APPEAR MSG “ANTISKID” AND MSG “AUTO BRAKE”.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EVENT CLOSED ACTION: C/O INSPECTION AXEL RDC 4 AND HARNESS FOUND HARNESS CHAFFING. C/O DEACTIVATE BRAKE 4 AND GROUND TEST R OUTBOARD BRAKE CONTROL SYSTEM -&gt; SATIS, MSG “ANTISKID” CLEARED. A/C SERVICEABLE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VN310 TOTAL DELAY 85 MINS; TECH DELAY 20 MINS.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3833">
                <a:tc>
                  <a:txBody>
                    <a:bodyPr/>
                    <a:lstStyle/>
                    <a:p>
                      <a:pPr algn="l" fontAlgn="b"/>
                      <a:r>
                        <a:rPr lang="en-US" sz="1100" b="0" i="0" u="none" strike="noStrike">
                          <a:solidFill>
                            <a:srgbClr val="000000"/>
                          </a:solidFill>
                          <a:effectLst/>
                          <a:latin typeface="Calibri" panose="020F0502020204030204" pitchFamily="34" charset="0"/>
                        </a:rPr>
                        <a:t>A399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CXR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VN1552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CXR-HAN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AFTER VN1553 FOUND DRESSING COVER DAMAGED AFTER VN1553 FOUND DRESSING COVER OF TPIS HARNESS AT FWD NLG DAMAGED (PDA CAT II 20 CM X 10 CM)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ACT: RAISE ADD C624 AND ACV AT CXR CHK NIL FINDING EVENT CLOSED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6713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7</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1053717"/>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3428253697"/>
              </p:ext>
            </p:extLst>
          </p:nvPr>
        </p:nvGraphicFramePr>
        <p:xfrm>
          <a:off x="301591" y="1389962"/>
          <a:ext cx="11463226" cy="868299"/>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8</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7" name="TextBox 6">
            <a:extLst>
              <a:ext uri="{FF2B5EF4-FFF2-40B4-BE49-F238E27FC236}">
                <a16:creationId xmlns:a16="http://schemas.microsoft.com/office/drawing/2014/main" id="{380D0EF5-CAED-4228-924A-DD9228564476}"/>
              </a:ext>
            </a:extLst>
          </p:cNvPr>
          <p:cNvSpPr txBox="1"/>
          <p:nvPr/>
        </p:nvSpPr>
        <p:spPr>
          <a:xfrm>
            <a:off x="400672" y="801676"/>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10" name="Table 9"/>
          <p:cNvGraphicFramePr>
            <a:graphicFrameLocks noGrp="1"/>
          </p:cNvGraphicFramePr>
          <p:nvPr>
            <p:extLst>
              <p:ext uri="{D42A27DB-BD31-4B8C-83A1-F6EECF244321}">
                <p14:modId xmlns:p14="http://schemas.microsoft.com/office/powerpoint/2010/main" val="3605681697"/>
              </p:ext>
            </p:extLst>
          </p:nvPr>
        </p:nvGraphicFramePr>
        <p:xfrm>
          <a:off x="207979" y="1375497"/>
          <a:ext cx="11463226" cy="4714464"/>
        </p:xfrm>
        <a:graphic>
          <a:graphicData uri="http://schemas.openxmlformats.org/drawingml/2006/table">
            <a:tbl>
              <a:tblPr/>
              <a:tblGrid>
                <a:gridCol w="427560">
                  <a:extLst>
                    <a:ext uri="{9D8B030D-6E8A-4147-A177-3AD203B41FA5}">
                      <a16:colId xmlns:a16="http://schemas.microsoft.com/office/drawing/2014/main" val="3715336986"/>
                    </a:ext>
                  </a:extLst>
                </a:gridCol>
                <a:gridCol w="531561">
                  <a:extLst>
                    <a:ext uri="{9D8B030D-6E8A-4147-A177-3AD203B41FA5}">
                      <a16:colId xmlns:a16="http://schemas.microsoft.com/office/drawing/2014/main" val="2161959454"/>
                    </a:ext>
                  </a:extLst>
                </a:gridCol>
                <a:gridCol w="381337">
                  <a:extLst>
                    <a:ext uri="{9D8B030D-6E8A-4147-A177-3AD203B41FA5}">
                      <a16:colId xmlns:a16="http://schemas.microsoft.com/office/drawing/2014/main" val="4083316418"/>
                    </a:ext>
                  </a:extLst>
                </a:gridCol>
                <a:gridCol w="1155567">
                  <a:extLst>
                    <a:ext uri="{9D8B030D-6E8A-4147-A177-3AD203B41FA5}">
                      <a16:colId xmlns:a16="http://schemas.microsoft.com/office/drawing/2014/main" val="694477860"/>
                    </a:ext>
                  </a:extLst>
                </a:gridCol>
                <a:gridCol w="392893">
                  <a:extLst>
                    <a:ext uri="{9D8B030D-6E8A-4147-A177-3AD203B41FA5}">
                      <a16:colId xmlns:a16="http://schemas.microsoft.com/office/drawing/2014/main" val="679509453"/>
                    </a:ext>
                  </a:extLst>
                </a:gridCol>
                <a:gridCol w="751118">
                  <a:extLst>
                    <a:ext uri="{9D8B030D-6E8A-4147-A177-3AD203B41FA5}">
                      <a16:colId xmlns:a16="http://schemas.microsoft.com/office/drawing/2014/main" val="1049420449"/>
                    </a:ext>
                  </a:extLst>
                </a:gridCol>
                <a:gridCol w="658673">
                  <a:extLst>
                    <a:ext uri="{9D8B030D-6E8A-4147-A177-3AD203B41FA5}">
                      <a16:colId xmlns:a16="http://schemas.microsoft.com/office/drawing/2014/main" val="834054094"/>
                    </a:ext>
                  </a:extLst>
                </a:gridCol>
                <a:gridCol w="774230">
                  <a:extLst>
                    <a:ext uri="{9D8B030D-6E8A-4147-A177-3AD203B41FA5}">
                      <a16:colId xmlns:a16="http://schemas.microsoft.com/office/drawing/2014/main" val="2373178601"/>
                    </a:ext>
                  </a:extLst>
                </a:gridCol>
                <a:gridCol w="2403580">
                  <a:extLst>
                    <a:ext uri="{9D8B030D-6E8A-4147-A177-3AD203B41FA5}">
                      <a16:colId xmlns:a16="http://schemas.microsoft.com/office/drawing/2014/main" val="1278874380"/>
                    </a:ext>
                  </a:extLst>
                </a:gridCol>
                <a:gridCol w="3986707">
                  <a:extLst>
                    <a:ext uri="{9D8B030D-6E8A-4147-A177-3AD203B41FA5}">
                      <a16:colId xmlns:a16="http://schemas.microsoft.com/office/drawing/2014/main" val="1486722383"/>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42257296"/>
                  </a:ext>
                </a:extLst>
              </a:tr>
              <a:tr h="635214">
                <a:tc>
                  <a:txBody>
                    <a:bodyPr/>
                    <a:lstStyle/>
                    <a:p>
                      <a:pPr algn="ctr" fontAlgn="b"/>
                      <a:r>
                        <a:rPr lang="en-US" sz="1100" b="0" i="0" u="none" strike="noStrike" dirty="0">
                          <a:solidFill>
                            <a:srgbClr val="000000"/>
                          </a:solidFill>
                          <a:effectLst/>
                          <a:latin typeface="Calibri" panose="020F0502020204030204" pitchFamily="34" charset="0"/>
                        </a:rPr>
                        <a:t>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B787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A873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17:30 17/02/2025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VN256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SGN-HAN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MW#8 CUT BY FOD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C/O RPLD MW#8 SATIS , A/C SERVICEABLE AFTER TOWING FOUND MW #8  CUT BY FOD OUT OF LIMIT EVENT CLOSED  TOTAL DELAY: 5 MINS, TECH DELAY: 0 MIN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013820"/>
                  </a:ext>
                </a:extLst>
              </a:tr>
              <a:tr h="635214">
                <a:tc>
                  <a:txBody>
                    <a:bodyPr/>
                    <a:lstStyle/>
                    <a:p>
                      <a:pPr algn="ctr" fontAlgn="b"/>
                      <a:r>
                        <a:rPr lang="en-US" sz="1100" b="0" i="0" u="none" strike="noStrike">
                          <a:solidFill>
                            <a:srgbClr val="000000"/>
                          </a:solidFill>
                          <a:effectLst/>
                          <a:latin typeface="Calibri" panose="020F0502020204030204" pitchFamily="34" charset="0"/>
                        </a:rPr>
                        <a:t>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15:10 19/02/2025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VN136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SGN-DAD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T/X CHK FOUND MW#3 SHOULDER &amp; TREAD WORN TO LIMIT TRANSIT CHECK FOUND MW #3 SHOULDER WORN TO LIMIT (ABNORMAL) ; TREAD WORN TO LIMIT</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TOTAL DELAY: 6 MINS, TECH: 0 MIN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15:08 TÀU VÔ BÃI</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15:10 BÁO THAY LỐP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15:15 BẮT ĐẦU KÍCH THAY LỐP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15:35 HẠ KÍCH</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16:21 TÀU ĐÓNG CỬA ACTION: C/O RPLD MW#3 SATIS , A/C SERVICEABLE EVENT CLOSED ACTION: C/O RPLD MW#3 SATIS , A/C SERVICEABLE TOTAL DELAY: 6 MINS, TECH: 0 MIN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8164280"/>
                  </a:ext>
                </a:extLst>
              </a:tr>
              <a:tr h="635214">
                <a:tc>
                  <a:txBody>
                    <a:bodyPr/>
                    <a:lstStyle/>
                    <a:p>
                      <a:pPr algn="ctr" fontAlgn="b"/>
                      <a:r>
                        <a:rPr lang="en-US" sz="1100" b="0" i="0" u="none" strike="noStrike">
                          <a:solidFill>
                            <a:srgbClr val="000000"/>
                          </a:solidFill>
                          <a:effectLst/>
                          <a:latin typeface="Calibri" panose="020F0502020204030204" pitchFamily="34"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A605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19:37 19/02/2025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VN1268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SGN-VII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TRANSIT CHECK FOUND MW #4 SHOULDER WORN TO LIMIT (ABNORMAL)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18:00 TÀU VÀO BÃI (TÀU ĐÁP TRỄ 16 MINS). TÀU ĐỔI GIỜ BAY MỚI NEW ETD: 18:36</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18:07 CRS BÁO THAY LỐP</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18:20 XE LỐP TỚI NƠI (TRAFFIC JAM)</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18:50 HẠ KÍCH , BÁO BOARDING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19:22 TÀU ĐÓNG CỬA</a:t>
                      </a:r>
                      <a:br>
                        <a:rPr lang="vi-VN" sz="1100" b="0" i="0" u="none" strike="noStrike" dirty="0">
                          <a:solidFill>
                            <a:srgbClr val="000000"/>
                          </a:solidFill>
                          <a:effectLst/>
                          <a:latin typeface="Calibri" panose="020F0502020204030204" pitchFamily="34" charset="0"/>
                        </a:rPr>
                      </a:b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ACTION: C/O RPLD MW#4 SATIS , A/C SERVICEABLE TRANSIT CHECK FOUND MW #4 SHOULDER WORN TO LIMIT (ABNORMAL) EVENT CLOSED  TRANSIT CHECK FOUND MW #4 SHOULDER WORN TO LIMIT (ABNORMAL)</a:t>
                      </a:r>
                      <a:br>
                        <a:rPr lang="vi-VN" sz="1100" b="0" i="0" u="none" strike="noStrike" dirty="0">
                          <a:solidFill>
                            <a:srgbClr val="000000"/>
                          </a:solidFill>
                          <a:effectLst/>
                          <a:latin typeface="Calibri" panose="020F0502020204030204" pitchFamily="34" charset="0"/>
                        </a:rPr>
                      </a:b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TOTAL DELAY 46 MINS , TECH 0 MINS, A/C ARRIVE LATE 16MINS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3381286"/>
                  </a:ext>
                </a:extLst>
              </a:tr>
            </a:tbl>
          </a:graphicData>
        </a:graphic>
      </p:graphicFrame>
    </p:spTree>
    <p:extLst>
      <p:ext uri="{BB962C8B-B14F-4D97-AF65-F5344CB8AC3E}">
        <p14:creationId xmlns:p14="http://schemas.microsoft.com/office/powerpoint/2010/main" val="2064747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9</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7" name="TextBox 6">
            <a:extLst>
              <a:ext uri="{FF2B5EF4-FFF2-40B4-BE49-F238E27FC236}">
                <a16:creationId xmlns:a16="http://schemas.microsoft.com/office/drawing/2014/main" id="{380D0EF5-CAED-4228-924A-DD9228564476}"/>
              </a:ext>
            </a:extLst>
          </p:cNvPr>
          <p:cNvSpPr txBox="1"/>
          <p:nvPr/>
        </p:nvSpPr>
        <p:spPr>
          <a:xfrm>
            <a:off x="400672" y="801676"/>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10" name="Table 9"/>
          <p:cNvGraphicFramePr>
            <a:graphicFrameLocks noGrp="1"/>
          </p:cNvGraphicFramePr>
          <p:nvPr>
            <p:extLst>
              <p:ext uri="{D42A27DB-BD31-4B8C-83A1-F6EECF244321}">
                <p14:modId xmlns:p14="http://schemas.microsoft.com/office/powerpoint/2010/main" val="859556330"/>
              </p:ext>
            </p:extLst>
          </p:nvPr>
        </p:nvGraphicFramePr>
        <p:xfrm>
          <a:off x="0" y="1371600"/>
          <a:ext cx="11556840" cy="4749810"/>
        </p:xfrm>
        <a:graphic>
          <a:graphicData uri="http://schemas.openxmlformats.org/drawingml/2006/table">
            <a:tbl>
              <a:tblPr/>
              <a:tblGrid>
                <a:gridCol w="431051">
                  <a:extLst>
                    <a:ext uri="{9D8B030D-6E8A-4147-A177-3AD203B41FA5}">
                      <a16:colId xmlns:a16="http://schemas.microsoft.com/office/drawing/2014/main" val="3715336986"/>
                    </a:ext>
                  </a:extLst>
                </a:gridCol>
                <a:gridCol w="535902">
                  <a:extLst>
                    <a:ext uri="{9D8B030D-6E8A-4147-A177-3AD203B41FA5}">
                      <a16:colId xmlns:a16="http://schemas.microsoft.com/office/drawing/2014/main" val="2161959454"/>
                    </a:ext>
                  </a:extLst>
                </a:gridCol>
                <a:gridCol w="384451">
                  <a:extLst>
                    <a:ext uri="{9D8B030D-6E8A-4147-A177-3AD203B41FA5}">
                      <a16:colId xmlns:a16="http://schemas.microsoft.com/office/drawing/2014/main" val="4083316418"/>
                    </a:ext>
                  </a:extLst>
                </a:gridCol>
                <a:gridCol w="1165004">
                  <a:extLst>
                    <a:ext uri="{9D8B030D-6E8A-4147-A177-3AD203B41FA5}">
                      <a16:colId xmlns:a16="http://schemas.microsoft.com/office/drawing/2014/main" val="694477860"/>
                    </a:ext>
                  </a:extLst>
                </a:gridCol>
                <a:gridCol w="396102">
                  <a:extLst>
                    <a:ext uri="{9D8B030D-6E8A-4147-A177-3AD203B41FA5}">
                      <a16:colId xmlns:a16="http://schemas.microsoft.com/office/drawing/2014/main" val="679509453"/>
                    </a:ext>
                  </a:extLst>
                </a:gridCol>
                <a:gridCol w="757252">
                  <a:extLst>
                    <a:ext uri="{9D8B030D-6E8A-4147-A177-3AD203B41FA5}">
                      <a16:colId xmlns:a16="http://schemas.microsoft.com/office/drawing/2014/main" val="1049420449"/>
                    </a:ext>
                  </a:extLst>
                </a:gridCol>
                <a:gridCol w="664052">
                  <a:extLst>
                    <a:ext uri="{9D8B030D-6E8A-4147-A177-3AD203B41FA5}">
                      <a16:colId xmlns:a16="http://schemas.microsoft.com/office/drawing/2014/main" val="834054094"/>
                    </a:ext>
                  </a:extLst>
                </a:gridCol>
                <a:gridCol w="780553">
                  <a:extLst>
                    <a:ext uri="{9D8B030D-6E8A-4147-A177-3AD203B41FA5}">
                      <a16:colId xmlns:a16="http://schemas.microsoft.com/office/drawing/2014/main" val="2373178601"/>
                    </a:ext>
                  </a:extLst>
                </a:gridCol>
                <a:gridCol w="2423209">
                  <a:extLst>
                    <a:ext uri="{9D8B030D-6E8A-4147-A177-3AD203B41FA5}">
                      <a16:colId xmlns:a16="http://schemas.microsoft.com/office/drawing/2014/main" val="1278874380"/>
                    </a:ext>
                  </a:extLst>
                </a:gridCol>
                <a:gridCol w="4019264">
                  <a:extLst>
                    <a:ext uri="{9D8B030D-6E8A-4147-A177-3AD203B41FA5}">
                      <a16:colId xmlns:a16="http://schemas.microsoft.com/office/drawing/2014/main" val="1486722383"/>
                    </a:ext>
                  </a:extLst>
                </a:gridCol>
              </a:tblGrid>
              <a:tr h="31191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42257296"/>
                  </a:ext>
                </a:extLst>
              </a:tr>
              <a:tr h="1553654">
                <a:tc>
                  <a:txBody>
                    <a:bodyPr/>
                    <a:lstStyle/>
                    <a:p>
                      <a:pPr algn="ctr" fontAlgn="b"/>
                      <a:r>
                        <a:rPr lang="en-US" sz="1100" b="0" i="0" u="none" strike="noStrike" dirty="0">
                          <a:solidFill>
                            <a:srgbClr val="000000"/>
                          </a:solidFill>
                          <a:effectLst/>
                          <a:latin typeface="Calibri" panose="020F0502020204030204" pitchFamily="34"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22:48 19/02/2025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VN7080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SGN-HUI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TRANSIT CHECK FOUND MW #3 SHOULDER WORN TO LIMIT (ABNORMAL)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ACTION: C/O RPLD MW#3 SATIS , A/C SERVICEABLE</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-21:09 TÀU VÀO BÃI (TÀU ĐÁP TRỂ 19 MINS)</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-21:17 CRS BÁO THAY LỐP</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-21:30 XE LỐP TỚI NƠI</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-22:00 HẠ KÍCH , BÁO BOARDING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-22:29 TÀU ĐÓNG CỬA TRANSIT CHECK FOUND MW #3 SHOULDER WORN TO LIMIT (ABNORMAL) EVENT CLOSED  TRANSIT CHECK FOUND MW #3 SHOULDER WORN TO LIMIT (ABNORMAL)</a:t>
                      </a:r>
                      <a:br>
                        <a:rPr lang="vi-VN" sz="1100" b="0" i="0" u="none" strike="noStrike" dirty="0">
                          <a:solidFill>
                            <a:srgbClr val="000000"/>
                          </a:solidFill>
                          <a:effectLst/>
                          <a:latin typeface="Calibri" panose="020F0502020204030204" pitchFamily="34" charset="0"/>
                        </a:rPr>
                      </a:b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TOTAL DELAY 44 MINS , TECH DELAY 0 MINS, A/C ARRIVE LATE 19MINS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5282296"/>
                  </a:ext>
                </a:extLst>
              </a:tr>
              <a:tr h="2115716">
                <a:tc>
                  <a:txBody>
                    <a:bodyPr/>
                    <a:lstStyle/>
                    <a:p>
                      <a:pPr algn="ctr" fontAlgn="b"/>
                      <a:r>
                        <a:rPr lang="en-US" sz="1100" b="0" i="0" u="none" strike="noStrike">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09:30 19/02/2025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VN631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SGN-CGK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TRANSIT CHECK FOUND MW #3 SHOULDER WORN TO LIMIT (ABNORMAL) TRANSIT CHECK FOUND MW #3 SHOULDER WORN TO LIMIT (ABNORMAL)</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TOTAL DELAY: 21 MINS, TECH: 0 MIN</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endParaRPr lang="en-US" sz="11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- 9:25 TÀU VÀO BÃI</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- 9:30 BÁO THAY LỐP CHỜ XE KÉO, CHỜ LOAD HÀNG NẠP DẦU.</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- 9:50 XE LỐP TỚI TIẾN HÀNH THAY LỐP.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- 10:10 BÁO HẠ KÍCH</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- 11:01 TÀU ĐÓNG CỬA</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ACTION: C/O RPLD MW#3 SATIS , A/C SERVICEABLE ACTION: C/O RPLD MW#3 SATIS , A/C SERVICEABLE EVENT CLOSED C/O RPLD MW#3 SATIS , A/C SERVICEABLE ACTION: C/O RPLD MW#3 SATIS</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TOTAL DELAY: 21 MINS, TECH: 0 MIN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9004975"/>
                  </a:ext>
                </a:extLst>
              </a:tr>
            </a:tbl>
          </a:graphicData>
        </a:graphic>
      </p:graphicFrame>
    </p:spTree>
    <p:extLst>
      <p:ext uri="{BB962C8B-B14F-4D97-AF65-F5344CB8AC3E}">
        <p14:creationId xmlns:p14="http://schemas.microsoft.com/office/powerpoint/2010/main" val="2272418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10</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7" name="TextBox 6">
            <a:extLst>
              <a:ext uri="{FF2B5EF4-FFF2-40B4-BE49-F238E27FC236}">
                <a16:creationId xmlns:a16="http://schemas.microsoft.com/office/drawing/2014/main" id="{380D0EF5-CAED-4228-924A-DD9228564476}"/>
              </a:ext>
            </a:extLst>
          </p:cNvPr>
          <p:cNvSpPr txBox="1"/>
          <p:nvPr/>
        </p:nvSpPr>
        <p:spPr>
          <a:xfrm>
            <a:off x="400672" y="801676"/>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10" name="Table 9"/>
          <p:cNvGraphicFramePr>
            <a:graphicFrameLocks noGrp="1"/>
          </p:cNvGraphicFramePr>
          <p:nvPr>
            <p:extLst>
              <p:ext uri="{D42A27DB-BD31-4B8C-83A1-F6EECF244321}">
                <p14:modId xmlns:p14="http://schemas.microsoft.com/office/powerpoint/2010/main" val="1203946176"/>
              </p:ext>
            </p:extLst>
          </p:nvPr>
        </p:nvGraphicFramePr>
        <p:xfrm>
          <a:off x="207979" y="1375497"/>
          <a:ext cx="11556840" cy="1890405"/>
        </p:xfrm>
        <a:graphic>
          <a:graphicData uri="http://schemas.openxmlformats.org/drawingml/2006/table">
            <a:tbl>
              <a:tblPr/>
              <a:tblGrid>
                <a:gridCol w="431051">
                  <a:extLst>
                    <a:ext uri="{9D8B030D-6E8A-4147-A177-3AD203B41FA5}">
                      <a16:colId xmlns:a16="http://schemas.microsoft.com/office/drawing/2014/main" val="3715336986"/>
                    </a:ext>
                  </a:extLst>
                </a:gridCol>
                <a:gridCol w="535902">
                  <a:extLst>
                    <a:ext uri="{9D8B030D-6E8A-4147-A177-3AD203B41FA5}">
                      <a16:colId xmlns:a16="http://schemas.microsoft.com/office/drawing/2014/main" val="2161959454"/>
                    </a:ext>
                  </a:extLst>
                </a:gridCol>
                <a:gridCol w="384451">
                  <a:extLst>
                    <a:ext uri="{9D8B030D-6E8A-4147-A177-3AD203B41FA5}">
                      <a16:colId xmlns:a16="http://schemas.microsoft.com/office/drawing/2014/main" val="4083316418"/>
                    </a:ext>
                  </a:extLst>
                </a:gridCol>
                <a:gridCol w="1165004">
                  <a:extLst>
                    <a:ext uri="{9D8B030D-6E8A-4147-A177-3AD203B41FA5}">
                      <a16:colId xmlns:a16="http://schemas.microsoft.com/office/drawing/2014/main" val="694477860"/>
                    </a:ext>
                  </a:extLst>
                </a:gridCol>
                <a:gridCol w="396102">
                  <a:extLst>
                    <a:ext uri="{9D8B030D-6E8A-4147-A177-3AD203B41FA5}">
                      <a16:colId xmlns:a16="http://schemas.microsoft.com/office/drawing/2014/main" val="679509453"/>
                    </a:ext>
                  </a:extLst>
                </a:gridCol>
                <a:gridCol w="757252">
                  <a:extLst>
                    <a:ext uri="{9D8B030D-6E8A-4147-A177-3AD203B41FA5}">
                      <a16:colId xmlns:a16="http://schemas.microsoft.com/office/drawing/2014/main" val="1049420449"/>
                    </a:ext>
                  </a:extLst>
                </a:gridCol>
                <a:gridCol w="664052">
                  <a:extLst>
                    <a:ext uri="{9D8B030D-6E8A-4147-A177-3AD203B41FA5}">
                      <a16:colId xmlns:a16="http://schemas.microsoft.com/office/drawing/2014/main" val="834054094"/>
                    </a:ext>
                  </a:extLst>
                </a:gridCol>
                <a:gridCol w="780553">
                  <a:extLst>
                    <a:ext uri="{9D8B030D-6E8A-4147-A177-3AD203B41FA5}">
                      <a16:colId xmlns:a16="http://schemas.microsoft.com/office/drawing/2014/main" val="2373178601"/>
                    </a:ext>
                  </a:extLst>
                </a:gridCol>
                <a:gridCol w="2423209">
                  <a:extLst>
                    <a:ext uri="{9D8B030D-6E8A-4147-A177-3AD203B41FA5}">
                      <a16:colId xmlns:a16="http://schemas.microsoft.com/office/drawing/2014/main" val="1278874380"/>
                    </a:ext>
                  </a:extLst>
                </a:gridCol>
                <a:gridCol w="4019264">
                  <a:extLst>
                    <a:ext uri="{9D8B030D-6E8A-4147-A177-3AD203B41FA5}">
                      <a16:colId xmlns:a16="http://schemas.microsoft.com/office/drawing/2014/main" val="1486722383"/>
                    </a:ext>
                  </a:extLst>
                </a:gridCol>
              </a:tblGrid>
              <a:tr h="31191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42257296"/>
                  </a:ext>
                </a:extLst>
              </a:tr>
              <a:tr h="1272623">
                <a:tc>
                  <a:txBody>
                    <a:bodyPr/>
                    <a:lstStyle/>
                    <a:p>
                      <a:pPr algn="ctr" fontAlgn="b"/>
                      <a:r>
                        <a:rPr lang="en-US" sz="1100" b="0" i="0" u="none" strike="noStrike" dirty="0">
                          <a:solidFill>
                            <a:srgbClr val="000000"/>
                          </a:solidFill>
                          <a:effectLst/>
                          <a:latin typeface="Calibri" panose="020F0502020204030204" pitchFamily="34" charset="0"/>
                        </a:rPr>
                        <a:t>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ATR72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B225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08:00 23/02/2025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VN1893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SGN-VCS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TX CHK  FOUND MW #2 SHOULDER WORN TO LIMIT (ABNORMAL)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ACTION: C/O RPLD MW#2 SATIS , A/C SERVICEABLE</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07:42 TÀU VÀO BÃI XE LỐP CHỜ SẴN</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07:50 KHÁCH XUỐNG HẾT BẮT ĐẦU THAY</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08:05 HẠ KÍCH , BOARDING</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08:25 TÀU ĐÓNG CỬA TRANSIT CHECK FOUND MW #2 SHOULDER WORN TO LIMIT (ABNORMAL) EVENT CLOSED  TRANSIT CHECK FOUND MW #2 SHOULDER WORN TO LIMIT (ABNORMAL)</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TOTAL DELAY 21MINS, TECH DELAY 0 MIN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4933658"/>
                  </a:ext>
                </a:extLst>
              </a:tr>
            </a:tbl>
          </a:graphicData>
        </a:graphic>
      </p:graphicFrame>
    </p:spTree>
    <p:extLst>
      <p:ext uri="{BB962C8B-B14F-4D97-AF65-F5344CB8AC3E}">
        <p14:creationId xmlns:p14="http://schemas.microsoft.com/office/powerpoint/2010/main" val="1049294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03</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06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8AA4BD9-FDEC-2CC2-1A85-C72F397A4621}"/>
              </a:ext>
            </a:extLst>
          </p:cNvPr>
          <p:cNvGraphicFramePr>
            <a:graphicFrameLocks noGrp="1"/>
          </p:cNvGraphicFramePr>
          <p:nvPr/>
        </p:nvGraphicFramePr>
        <p:xfrm>
          <a:off x="170509" y="1553215"/>
          <a:ext cx="11670606" cy="4540261"/>
        </p:xfrm>
        <a:graphic>
          <a:graphicData uri="http://schemas.openxmlformats.org/drawingml/2006/table">
            <a:tbl>
              <a:tblPr/>
              <a:tblGrid>
                <a:gridCol w="364108">
                  <a:extLst>
                    <a:ext uri="{9D8B030D-6E8A-4147-A177-3AD203B41FA5}">
                      <a16:colId xmlns:a16="http://schemas.microsoft.com/office/drawing/2014/main" val="1705838175"/>
                    </a:ext>
                  </a:extLst>
                </a:gridCol>
                <a:gridCol w="364108">
                  <a:extLst>
                    <a:ext uri="{9D8B030D-6E8A-4147-A177-3AD203B41FA5}">
                      <a16:colId xmlns:a16="http://schemas.microsoft.com/office/drawing/2014/main" val="435942644"/>
                    </a:ext>
                  </a:extLst>
                </a:gridCol>
                <a:gridCol w="873334">
                  <a:extLst>
                    <a:ext uri="{9D8B030D-6E8A-4147-A177-3AD203B41FA5}">
                      <a16:colId xmlns:a16="http://schemas.microsoft.com/office/drawing/2014/main" val="276862112"/>
                    </a:ext>
                  </a:extLst>
                </a:gridCol>
                <a:gridCol w="812049">
                  <a:extLst>
                    <a:ext uri="{9D8B030D-6E8A-4147-A177-3AD203B41FA5}">
                      <a16:colId xmlns:a16="http://schemas.microsoft.com/office/drawing/2014/main" val="2191467762"/>
                    </a:ext>
                  </a:extLst>
                </a:gridCol>
                <a:gridCol w="442936">
                  <a:extLst>
                    <a:ext uri="{9D8B030D-6E8A-4147-A177-3AD203B41FA5}">
                      <a16:colId xmlns:a16="http://schemas.microsoft.com/office/drawing/2014/main" val="2342651692"/>
                    </a:ext>
                  </a:extLst>
                </a:gridCol>
                <a:gridCol w="2140857">
                  <a:extLst>
                    <a:ext uri="{9D8B030D-6E8A-4147-A177-3AD203B41FA5}">
                      <a16:colId xmlns:a16="http://schemas.microsoft.com/office/drawing/2014/main" val="3654957790"/>
                    </a:ext>
                  </a:extLst>
                </a:gridCol>
                <a:gridCol w="2680699">
                  <a:extLst>
                    <a:ext uri="{9D8B030D-6E8A-4147-A177-3AD203B41FA5}">
                      <a16:colId xmlns:a16="http://schemas.microsoft.com/office/drawing/2014/main" val="3278939196"/>
                    </a:ext>
                  </a:extLst>
                </a:gridCol>
                <a:gridCol w="381000">
                  <a:extLst>
                    <a:ext uri="{9D8B030D-6E8A-4147-A177-3AD203B41FA5}">
                      <a16:colId xmlns:a16="http://schemas.microsoft.com/office/drawing/2014/main" val="3446310582"/>
                    </a:ext>
                  </a:extLst>
                </a:gridCol>
                <a:gridCol w="3611515">
                  <a:extLst>
                    <a:ext uri="{9D8B030D-6E8A-4147-A177-3AD203B41FA5}">
                      <a16:colId xmlns:a16="http://schemas.microsoft.com/office/drawing/2014/main" val="1400684824"/>
                    </a:ext>
                  </a:extLst>
                </a:gridCol>
              </a:tblGrid>
              <a:tr h="129110">
                <a:tc>
                  <a:txBody>
                    <a:bodyPr/>
                    <a:lstStyle/>
                    <a:p>
                      <a:pPr algn="ctr" fontAlgn="ctr"/>
                      <a:r>
                        <a:rPr lang="en-US" sz="1100" b="0" i="0" u="none" strike="noStrike" dirty="0">
                          <a:solidFill>
                            <a:srgbClr val="000000"/>
                          </a:solidFill>
                          <a:effectLst/>
                          <a:latin typeface="Times New Roman" panose="02020603050405020304" pitchFamily="18" charset="0"/>
                        </a:rPr>
                        <a:t>NO</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2643584">
                <a:tc>
                  <a:txBody>
                    <a:bodyPr/>
                    <a:lstStyle/>
                    <a:p>
                      <a:pPr algn="ctr" fontAlgn="b"/>
                      <a:r>
                        <a:rPr lang="en-US" sz="1100" b="0" i="0" u="none" strike="noStrike" dirty="0">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A332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09:30 22/02/2025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15:37 22/02/2025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HPH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A332 [GTB] DUE TO LUE PUMP INOP Sau khi tàu đẩy ra và nổ máy báo MSG BLUE PUMP LOW PRESS</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T/S found BLUE PUMP INOP</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TSM 29-12-00-810-804A, LOSS OF PRESSURE OF BLUE ELECTRIC PUMP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 REPLACE NEW PUMP </a:t>
                      </a:r>
                      <a:r>
                        <a:rPr lang="en-US" sz="1100" b="0" i="0" u="none" strike="noStrike" dirty="0" err="1">
                          <a:solidFill>
                            <a:srgbClr val="000000"/>
                          </a:solidFill>
                          <a:effectLst/>
                          <a:latin typeface="Calibri" panose="020F0502020204030204" pitchFamily="34" charset="0"/>
                        </a:rPr>
                        <a:t>i.a.w</a:t>
                      </a:r>
                      <a:r>
                        <a:rPr lang="en-US" sz="1100" b="0" i="0" u="none" strike="noStrike" dirty="0">
                          <a:solidFill>
                            <a:srgbClr val="000000"/>
                          </a:solidFill>
                          <a:effectLst/>
                          <a:latin typeface="Calibri" panose="020F0502020204030204" pitchFamily="34" charset="0"/>
                        </a:rPr>
                        <a:t> AMM 29-12-51-000-001A/ 400-001A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 REPLACE NEW FILTER ELEMENT </a:t>
                      </a:r>
                      <a:r>
                        <a:rPr lang="en-US" sz="1100" b="0" i="0" u="none" strike="noStrike" dirty="0" err="1">
                          <a:solidFill>
                            <a:srgbClr val="000000"/>
                          </a:solidFill>
                          <a:effectLst/>
                          <a:latin typeface="Calibri" panose="020F0502020204030204" pitchFamily="34" charset="0"/>
                        </a:rPr>
                        <a:t>i.a.w</a:t>
                      </a:r>
                      <a:r>
                        <a:rPr lang="en-US" sz="1100" b="0" i="0" u="none" strike="noStrike" dirty="0">
                          <a:solidFill>
                            <a:srgbClr val="000000"/>
                          </a:solidFill>
                          <a:effectLst/>
                          <a:latin typeface="Calibri" panose="020F0502020204030204" pitchFamily="34" charset="0"/>
                        </a:rPr>
                        <a:t> AMM 29-12-43-610-001</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ENGINE RUN UP;CHECK SATIS A332 [GTB] DUE TO LUE PUMP INOP EVENT CLOSED  08:40 </a:t>
                      </a:r>
                      <a:r>
                        <a:rPr lang="en-US" sz="1100" b="0" i="0" u="none" strike="noStrike" dirty="0" err="1">
                          <a:solidFill>
                            <a:srgbClr val="000000"/>
                          </a:solidFill>
                          <a:effectLst/>
                          <a:latin typeface="Calibri" panose="020F0502020204030204" pitchFamily="34" charset="0"/>
                        </a:rPr>
                        <a:t>đóng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cửa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đúng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giờ</a:t>
                      </a:r>
                      <a:r>
                        <a:rPr lang="en-US" sz="1100" b="0" i="0" u="none" strike="noStrike" dirty="0">
                          <a:solidFill>
                            <a:srgbClr val="000000"/>
                          </a:solidFill>
                          <a:effectLst/>
                          <a:latin typeface="Calibri" panose="020F0502020204030204" pitchFamily="34" charset="0"/>
                        </a:rPr>
                        <a: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08:42 </a:t>
                      </a:r>
                      <a:r>
                        <a:rPr lang="en-US" sz="1100" b="0" i="0" u="none" strike="noStrike" dirty="0" err="1">
                          <a:solidFill>
                            <a:srgbClr val="000000"/>
                          </a:solidFill>
                          <a:effectLst/>
                          <a:latin typeface="Calibri" panose="020F0502020204030204" pitchFamily="34" charset="0"/>
                        </a:rPr>
                        <a:t>đẩy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08:45 </a:t>
                      </a:r>
                      <a:r>
                        <a:rPr lang="en-US" sz="1100" b="0" i="0" u="none" strike="noStrike" dirty="0" err="1">
                          <a:solidFill>
                            <a:srgbClr val="000000"/>
                          </a:solidFill>
                          <a:effectLst/>
                          <a:latin typeface="Calibri" panose="020F0502020204030204" pitchFamily="34" charset="0"/>
                        </a:rPr>
                        <a:t>sau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nổ</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máy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xuất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MSG BLUE PUMP LOW PRESS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08:55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quay </a:t>
                      </a:r>
                      <a:r>
                        <a:rPr lang="en-US" sz="1100" b="0" i="0" u="none" strike="noStrike" dirty="0" err="1">
                          <a:solidFill>
                            <a:srgbClr val="000000"/>
                          </a:solidFill>
                          <a:effectLst/>
                          <a:latin typeface="Calibri" panose="020F0502020204030204" pitchFamily="34" charset="0"/>
                        </a:rPr>
                        <a:t>lại</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10:15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AOG</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11:00 </a:t>
                      </a:r>
                      <a:r>
                        <a:rPr lang="en-US" sz="1100" b="0" i="0" u="none" strike="noStrike" dirty="0" err="1">
                          <a:solidFill>
                            <a:srgbClr val="000000"/>
                          </a:solidFill>
                          <a:effectLst/>
                          <a:latin typeface="Calibri" panose="020F0502020204030204" pitchFamily="34" charset="0"/>
                        </a:rPr>
                        <a:t>xe</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chở</a:t>
                      </a:r>
                      <a:r>
                        <a:rPr lang="en-US" sz="1100" b="0" i="0" u="none" strike="noStrike" dirty="0">
                          <a:solidFill>
                            <a:srgbClr val="000000"/>
                          </a:solidFill>
                          <a:effectLst/>
                          <a:latin typeface="Calibri" panose="020F0502020204030204" pitchFamily="34" charset="0"/>
                        </a:rPr>
                        <a:t> PTVT &amp;amp; tool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NVKT </a:t>
                      </a:r>
                      <a:r>
                        <a:rPr lang="en-US" sz="1100" b="0" i="0" u="none" strike="noStrike" dirty="0" err="1">
                          <a:solidFill>
                            <a:srgbClr val="000000"/>
                          </a:solidFill>
                          <a:effectLst/>
                          <a:latin typeface="Calibri" panose="020F0502020204030204" pitchFamily="34" charset="0"/>
                        </a:rPr>
                        <a:t>đi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cứu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xuất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phát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12:30 CRS </a:t>
                      </a:r>
                      <a:r>
                        <a:rPr lang="en-US" sz="1100" b="0" i="0" u="none" strike="noStrike" dirty="0" err="1">
                          <a:solidFill>
                            <a:srgbClr val="000000"/>
                          </a:solidFill>
                          <a:effectLst/>
                          <a:latin typeface="Calibri" panose="020F0502020204030204" pitchFamily="34" charset="0"/>
                        </a:rPr>
                        <a:t>tại</a:t>
                      </a:r>
                      <a:r>
                        <a:rPr lang="en-US" sz="1100" b="0" i="0" u="none" strike="noStrike" dirty="0">
                          <a:solidFill>
                            <a:srgbClr val="000000"/>
                          </a:solidFill>
                          <a:effectLst/>
                          <a:latin typeface="Calibri" panose="020F0502020204030204" pitchFamily="34" charset="0"/>
                        </a:rPr>
                        <a:t> HPH </a:t>
                      </a:r>
                      <a:r>
                        <a:rPr lang="en-US" sz="1100" b="0" i="0" u="none" strike="noStrike" dirty="0" err="1">
                          <a:solidFill>
                            <a:srgbClr val="000000"/>
                          </a:solidFill>
                          <a:effectLst/>
                          <a:latin typeface="Calibri" panose="020F0502020204030204" pitchFamily="34" charset="0"/>
                        </a:rPr>
                        <a:t>tháo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xong</a:t>
                      </a:r>
                      <a:r>
                        <a:rPr lang="en-US" sz="1100" b="0" i="0" u="none" strike="noStrike" dirty="0">
                          <a:solidFill>
                            <a:srgbClr val="000000"/>
                          </a:solidFill>
                          <a:effectLst/>
                          <a:latin typeface="Calibri" panose="020F0502020204030204" pitchFamily="34" charset="0"/>
                        </a:rPr>
                        <a:t> Blue pump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13:35 NVKT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PTVT&amp;#43;tool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mặt</a:t>
                      </a:r>
                      <a:r>
                        <a:rPr lang="en-US" sz="1100" b="0" i="0" u="none" strike="noStrike" dirty="0">
                          <a:solidFill>
                            <a:srgbClr val="000000"/>
                          </a:solidFill>
                          <a:effectLst/>
                          <a:latin typeface="Calibri" panose="020F0502020204030204" pitchFamily="34" charset="0"/>
                        </a:rPr>
                        <a:t> ở </a:t>
                      </a:r>
                      <a:r>
                        <a:rPr lang="en-US" sz="1100" b="0" i="0" u="none" strike="noStrike" dirty="0" err="1">
                          <a:solidFill>
                            <a:srgbClr val="000000"/>
                          </a:solidFill>
                          <a:effectLst/>
                          <a:latin typeface="Calibri" panose="020F0502020204030204" pitchFamily="34" charset="0"/>
                        </a:rPr>
                        <a:t>tàu</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15:30 </a:t>
                      </a:r>
                      <a:r>
                        <a:rPr lang="en-US" sz="1100" b="0" i="0" u="none" strike="noStrike" dirty="0" err="1">
                          <a:solidFill>
                            <a:srgbClr val="000000"/>
                          </a:solidFill>
                          <a:effectLst/>
                          <a:latin typeface="Calibri" panose="020F0502020204030204" pitchFamily="34" charset="0"/>
                        </a:rPr>
                        <a:t>lắp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xong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Pump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hoàn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thiện</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15:37 </a:t>
                      </a:r>
                      <a:r>
                        <a:rPr lang="en-US" sz="1100" b="0" i="0" u="none" strike="noStrike" dirty="0" err="1">
                          <a:solidFill>
                            <a:srgbClr val="000000"/>
                          </a:solidFill>
                          <a:effectLst/>
                          <a:latin typeface="Calibri" panose="020F0502020204030204" pitchFamily="34" charset="0"/>
                        </a:rPr>
                        <a:t>Nổ</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máy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kiểm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tốt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Boarding</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16:24 </a:t>
                      </a:r>
                      <a:r>
                        <a:rPr lang="en-US" sz="1100" b="0" i="0" u="none" strike="noStrike" dirty="0" err="1">
                          <a:solidFill>
                            <a:srgbClr val="000000"/>
                          </a:solidFill>
                          <a:effectLst/>
                          <a:latin typeface="Calibri" panose="020F0502020204030204" pitchFamily="34" charset="0"/>
                        </a:rPr>
                        <a:t>đóng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cửa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16:27 Taxi</a:t>
                      </a:r>
                      <a:br>
                        <a:rPr lang="en-US" sz="1100" b="0" i="0" u="none" strike="noStrike" dirty="0">
                          <a:solidFill>
                            <a:srgbClr val="000000"/>
                          </a:solidFill>
                          <a:effectLst/>
                          <a:latin typeface="Calibri" panose="020F0502020204030204" pitchFamily="34" charset="0"/>
                        </a:rPr>
                      </a:br>
                      <a:r>
                        <a:rPr lang="en-US" sz="1100" b="0" i="0" u="none" strike="noStrike" dirty="0" err="1">
                          <a:solidFill>
                            <a:srgbClr val="000000"/>
                          </a:solidFill>
                          <a:effectLst/>
                          <a:latin typeface="Calibri" panose="020F0502020204030204" pitchFamily="34" charset="0"/>
                        </a:rPr>
                        <a:t>Thời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gian</a:t>
                      </a:r>
                      <a:r>
                        <a:rPr lang="en-US" sz="1100" b="0" i="0" u="none" strike="noStrike" dirty="0">
                          <a:solidFill>
                            <a:srgbClr val="000000"/>
                          </a:solidFill>
                          <a:effectLst/>
                          <a:latin typeface="Calibri" panose="020F0502020204030204" pitchFamily="34" charset="0"/>
                        </a:rPr>
                        <a:t> AOG 122 </a:t>
                      </a:r>
                      <a:r>
                        <a:rPr lang="en-US" sz="1100" b="0" i="0" u="none" strike="noStrike" dirty="0" err="1">
                          <a:solidFill>
                            <a:srgbClr val="000000"/>
                          </a:solidFill>
                          <a:effectLst/>
                          <a:latin typeface="Calibri" panose="020F0502020204030204" pitchFamily="34" charset="0"/>
                        </a:rPr>
                        <a:t>phút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Total delay 464 </a:t>
                      </a:r>
                      <a:r>
                        <a:rPr lang="en-US" sz="1100" b="0" i="0" u="none" strike="noStrike" dirty="0" err="1">
                          <a:solidFill>
                            <a:srgbClr val="000000"/>
                          </a:solidFill>
                          <a:effectLst/>
                          <a:latin typeface="Calibri" panose="020F0502020204030204" pitchFamily="34" charset="0"/>
                        </a:rPr>
                        <a:t>phút</a:t>
                      </a:r>
                      <a:r>
                        <a:rPr lang="en-US" sz="1100" b="0" i="0" u="none" strike="noStrike" dirty="0">
                          <a:solidFill>
                            <a:srgbClr val="000000"/>
                          </a:solidFill>
                          <a:effectLst/>
                          <a:latin typeface="Calibri" panose="020F0502020204030204" pitchFamily="34" charset="0"/>
                        </a:rPr>
                        <a:t>, Tech delay 122 </a:t>
                      </a:r>
                      <a:r>
                        <a:rPr lang="en-US" sz="1100" b="0" i="0" u="none" strike="noStrike" dirty="0" err="1">
                          <a:solidFill>
                            <a:srgbClr val="000000"/>
                          </a:solidFill>
                          <a:effectLst/>
                          <a:latin typeface="Calibri" panose="020F0502020204030204" pitchFamily="34" charset="0"/>
                        </a:rPr>
                        <a:t>phút</a:t>
                      </a:r>
                      <a:r>
                        <a:rPr lang="en-US" sz="1100" b="0" i="0" u="none" strike="noStrike" dirty="0">
                          <a:solidFill>
                            <a:srgbClr val="000000"/>
                          </a:solidFill>
                          <a:effectLst/>
                          <a:latin typeface="Calibri" panose="020F0502020204030204" pitchFamily="34" charset="0"/>
                        </a:rPr>
                        <a:t> RTG DUE TO BLUE PUMP LOW PRESS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29-12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Calibri" panose="020F0502020204030204" pitchFamily="34" charset="0"/>
                        </a:rPr>
                        <a:t>Bơm EMP trên tàu A332 là bơm của Eaton. Kể từ khi chuyển đổi sang bơm Eaton trên các tàu từ A357, từ năm 2020 đến nay có 04 trường hợp tháo ngoài KH. Hiện không có issue nào liên quan đến ĐTC của khối này. Tiếp tục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bl>
          </a:graphicData>
        </a:graphic>
      </p:graphicFrame>
    </p:spTree>
    <p:extLst>
      <p:ext uri="{BB962C8B-B14F-4D97-AF65-F5344CB8AC3E}">
        <p14:creationId xmlns:p14="http://schemas.microsoft.com/office/powerpoint/2010/main" val="1557563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03</a:t>
            </a:r>
          </a:p>
        </p:txBody>
      </p:sp>
      <p:sp>
        <p:nvSpPr>
          <p:cNvPr id="9" name="TextBox 8">
            <a:extLst>
              <a:ext uri="{FF2B5EF4-FFF2-40B4-BE49-F238E27FC236}">
                <a16:creationId xmlns:a16="http://schemas.microsoft.com/office/drawing/2014/main" id="{5FE3B712-9690-42A3-A50E-24E99475755A}"/>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06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8AA4BD9-FDEC-2CC2-1A85-C72F397A4621}"/>
              </a:ext>
            </a:extLst>
          </p:cNvPr>
          <p:cNvGraphicFramePr>
            <a:graphicFrameLocks noGrp="1"/>
          </p:cNvGraphicFramePr>
          <p:nvPr>
            <p:extLst>
              <p:ext uri="{D42A27DB-BD31-4B8C-83A1-F6EECF244321}">
                <p14:modId xmlns:p14="http://schemas.microsoft.com/office/powerpoint/2010/main" val="3238729257"/>
              </p:ext>
            </p:extLst>
          </p:nvPr>
        </p:nvGraphicFramePr>
        <p:xfrm>
          <a:off x="161259" y="1409441"/>
          <a:ext cx="11688715" cy="4989508"/>
        </p:xfrm>
        <a:graphic>
          <a:graphicData uri="http://schemas.openxmlformats.org/drawingml/2006/table">
            <a:tbl>
              <a:tblPr/>
              <a:tblGrid>
                <a:gridCol w="364673">
                  <a:extLst>
                    <a:ext uri="{9D8B030D-6E8A-4147-A177-3AD203B41FA5}">
                      <a16:colId xmlns:a16="http://schemas.microsoft.com/office/drawing/2014/main" val="1705838175"/>
                    </a:ext>
                  </a:extLst>
                </a:gridCol>
                <a:gridCol w="364673">
                  <a:extLst>
                    <a:ext uri="{9D8B030D-6E8A-4147-A177-3AD203B41FA5}">
                      <a16:colId xmlns:a16="http://schemas.microsoft.com/office/drawing/2014/main" val="435942644"/>
                    </a:ext>
                  </a:extLst>
                </a:gridCol>
                <a:gridCol w="874689">
                  <a:extLst>
                    <a:ext uri="{9D8B030D-6E8A-4147-A177-3AD203B41FA5}">
                      <a16:colId xmlns:a16="http://schemas.microsoft.com/office/drawing/2014/main" val="276862112"/>
                    </a:ext>
                  </a:extLst>
                </a:gridCol>
                <a:gridCol w="813309">
                  <a:extLst>
                    <a:ext uri="{9D8B030D-6E8A-4147-A177-3AD203B41FA5}">
                      <a16:colId xmlns:a16="http://schemas.microsoft.com/office/drawing/2014/main" val="2191467762"/>
                    </a:ext>
                  </a:extLst>
                </a:gridCol>
                <a:gridCol w="443623">
                  <a:extLst>
                    <a:ext uri="{9D8B030D-6E8A-4147-A177-3AD203B41FA5}">
                      <a16:colId xmlns:a16="http://schemas.microsoft.com/office/drawing/2014/main" val="2342651692"/>
                    </a:ext>
                  </a:extLst>
                </a:gridCol>
                <a:gridCol w="2144179">
                  <a:extLst>
                    <a:ext uri="{9D8B030D-6E8A-4147-A177-3AD203B41FA5}">
                      <a16:colId xmlns:a16="http://schemas.microsoft.com/office/drawing/2014/main" val="3654957790"/>
                    </a:ext>
                  </a:extLst>
                </a:gridCol>
                <a:gridCol w="2684859">
                  <a:extLst>
                    <a:ext uri="{9D8B030D-6E8A-4147-A177-3AD203B41FA5}">
                      <a16:colId xmlns:a16="http://schemas.microsoft.com/office/drawing/2014/main" val="3278939196"/>
                    </a:ext>
                  </a:extLst>
                </a:gridCol>
                <a:gridCol w="381591">
                  <a:extLst>
                    <a:ext uri="{9D8B030D-6E8A-4147-A177-3AD203B41FA5}">
                      <a16:colId xmlns:a16="http://schemas.microsoft.com/office/drawing/2014/main" val="3446310582"/>
                    </a:ext>
                  </a:extLst>
                </a:gridCol>
                <a:gridCol w="3617119">
                  <a:extLst>
                    <a:ext uri="{9D8B030D-6E8A-4147-A177-3AD203B41FA5}">
                      <a16:colId xmlns:a16="http://schemas.microsoft.com/office/drawing/2014/main" val="1400684824"/>
                    </a:ext>
                  </a:extLst>
                </a:gridCol>
              </a:tblGrid>
              <a:tr h="289242">
                <a:tc>
                  <a:txBody>
                    <a:bodyPr/>
                    <a:lstStyle/>
                    <a:p>
                      <a:pPr algn="ctr" fontAlgn="ctr"/>
                      <a:r>
                        <a:rPr lang="en-US" sz="1100" b="0" i="0" u="none" strike="noStrike" dirty="0">
                          <a:solidFill>
                            <a:srgbClr val="000000"/>
                          </a:solidFill>
                          <a:effectLst/>
                          <a:latin typeface="Times New Roman" panose="02020603050405020304" pitchFamily="18" charset="0"/>
                        </a:rPr>
                        <a:t>NO</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3136249">
                <a:tc>
                  <a:txBody>
                    <a:bodyPr/>
                    <a:lstStyle/>
                    <a:p>
                      <a:pPr algn="ctr" fontAlgn="b"/>
                      <a:r>
                        <a:rPr lang="en-US" sz="1100" b="0" i="0" u="none" strike="noStrike" dirty="0">
                          <a:solidFill>
                            <a:srgbClr val="000000"/>
                          </a:solidFill>
                          <a:effectLst/>
                          <a:latin typeface="Calibri" panose="020F0502020204030204" pitchFamily="34" charset="0"/>
                        </a:rPr>
                        <a:t>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A625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07:40 22/02/2025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09:30 22/02/2025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BRAKES PARK BRK LO PR . ECAM WARNING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kéo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từ</a:t>
                      </a:r>
                      <a:r>
                        <a:rPr lang="en-US" sz="1100" b="0" i="0" u="none" strike="noStrike" dirty="0">
                          <a:solidFill>
                            <a:srgbClr val="000000"/>
                          </a:solidFill>
                          <a:effectLst/>
                          <a:latin typeface="Calibri" panose="020F0502020204030204" pitchFamily="34" charset="0"/>
                        </a:rPr>
                        <a:t> 75 </a:t>
                      </a:r>
                      <a:r>
                        <a:rPr lang="en-US" sz="1100" b="0" i="0" u="none" strike="noStrike" dirty="0" err="1">
                          <a:solidFill>
                            <a:srgbClr val="000000"/>
                          </a:solidFill>
                          <a:effectLst/>
                          <a:latin typeface="Calibri" panose="020F0502020204030204" pitchFamily="34" charset="0"/>
                        </a:rPr>
                        <a: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cầu</a:t>
                      </a:r>
                      <a:r>
                        <a:rPr lang="en-US" sz="1100" b="0" i="0" u="none" strike="noStrike" dirty="0">
                          <a:solidFill>
                            <a:srgbClr val="000000"/>
                          </a:solidFill>
                          <a:effectLst/>
                          <a:latin typeface="Calibri" panose="020F0502020204030204" pitchFamily="34" charset="0"/>
                        </a:rPr>
                        <a:t> 47 </a:t>
                      </a:r>
                      <a:r>
                        <a:rPr lang="en-US" sz="1100" b="0" i="0" u="none" strike="noStrike" dirty="0" err="1">
                          <a:solidFill>
                            <a:srgbClr val="000000"/>
                          </a:solidFill>
                          <a:effectLst/>
                          <a:latin typeface="Calibri" panose="020F0502020204030204" pitchFamily="34" charset="0"/>
                        </a:rPr>
                        <a:t>để</a:t>
                      </a:r>
                      <a:r>
                        <a:rPr lang="en-US" sz="1100" b="0" i="0" u="none" strike="noStrike" dirty="0">
                          <a:solidFill>
                            <a:srgbClr val="000000"/>
                          </a:solidFill>
                          <a:effectLst/>
                          <a:latin typeface="Calibri" panose="020F0502020204030204" pitchFamily="34" charset="0"/>
                        </a:rPr>
                        <a:t> bay </a:t>
                      </a:r>
                      <a:r>
                        <a:rPr lang="en-US" sz="1100" b="0" i="0" u="none" strike="noStrike" dirty="0" err="1">
                          <a:solidFill>
                            <a:srgbClr val="000000"/>
                          </a:solidFill>
                          <a:effectLst/>
                          <a:latin typeface="Calibri" panose="020F0502020204030204" pitchFamily="34" charset="0"/>
                        </a:rPr>
                        <a:t>thì</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xuất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MSG BRAKES PARK BRK LO PR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REF TSM:32-45-00-810-801-A REV FEB 25 . RPL BRK ACCU IAW AMM:32-44-11-000/400-001 REV FEB25. TEST SATIS</a:t>
                      </a:r>
                      <a:br>
                        <a:rPr lang="vi-VN" sz="1100" b="0" i="0" u="none" strike="noStrike" dirty="0">
                          <a:solidFill>
                            <a:srgbClr val="000000"/>
                          </a:solidFill>
                          <a:effectLst/>
                          <a:latin typeface="Calibri" panose="020F0502020204030204" pitchFamily="34" charset="0"/>
                        </a:rPr>
                      </a:b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BRAKES PARK BRK LO PR . ECAM WARNING EVENT CLOSED</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07:10 kéo tàu từ 74-&gt; cầu 47</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07:40 tào đến cầu 47, cài phanh bãi đậu xuất hiện MSG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07:50 CRS B1 có mặt tại tàu và service Accum-&gt; Nil help</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08:10 báo thay Accum</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08:30 Bình Accum đưa ra đến tàu để thay</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09:30 thay xong Brake accum và báo boarding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10:00 tàu đóng cửa</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VN165 Total delay 50`</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Tech delay 30`</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Thời gain AOG 30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32-45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Calibri" panose="020F0502020204030204" pitchFamily="34" charset="0"/>
                        </a:rPr>
                        <a:t>Hỏng hóc liên quan đến bình accum, theo đánh giá của AIB thì có nhiều nguyên nhân như hỏng valve hoặc blade cọ vào thành bình dẫn tới leak khí, cần thêm SFR để đánh giá chính xác nguyên nhân hỏng bình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r h="1513523">
                <a:tc>
                  <a:txBody>
                    <a:bodyPr/>
                    <a:lstStyle/>
                    <a:p>
                      <a:pPr algn="ctr" fontAlgn="b"/>
                      <a:r>
                        <a:rPr lang="en-US" sz="1100" b="0" i="0" u="none" strike="noStrike" dirty="0">
                          <a:solidFill>
                            <a:srgbClr val="000000"/>
                          </a:solidFill>
                          <a:effectLst/>
                          <a:latin typeface="Calibri" panose="020F0502020204030204" pitchFamily="34" charset="0"/>
                        </a:rPr>
                        <a:t>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A356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dirty="0">
                          <a:latin typeface="+mj-lt"/>
                        </a:rPr>
                        <a:t>17:35 23/02/2025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endParaRPr lang="en-US" dirty="0"/>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dirty="0">
                          <a:latin typeface="+mj-lt"/>
                        </a:rPr>
                        <a:t>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r>
                        <a:rPr lang="en-US" sz="1100" dirty="0">
                          <a:latin typeface="+mj-lt"/>
                        </a:rPr>
                        <a:t>CAPT REPORT “BAD SMELL FROM PACK (ALL FLIGHT)” VN1650/VN197 TBB-HAN-DAD (TRANSIT): CAPT REPORT “BAD SMELL FROM PACK (ALL FLIGHT)”. A/C AOG FOR T/S.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Wait for troubleshooting</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endParaRPr lang="en-US" dirty="0"/>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endParaRPr lang="en-US" dirty="0"/>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3176921"/>
                  </a:ext>
                </a:extLst>
              </a:tr>
            </a:tbl>
          </a:graphicData>
        </a:graphic>
      </p:graphicFrame>
    </p:spTree>
    <p:extLst>
      <p:ext uri="{BB962C8B-B14F-4D97-AF65-F5344CB8AC3E}">
        <p14:creationId xmlns:p14="http://schemas.microsoft.com/office/powerpoint/2010/main" val="42742847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06</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nvGraphicFramePr>
        <p:xfrm>
          <a:off x="152399" y="1570679"/>
          <a:ext cx="11688717" cy="5041743"/>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2361428">
                  <a:extLst>
                    <a:ext uri="{9D8B030D-6E8A-4147-A177-3AD203B41FA5}">
                      <a16:colId xmlns:a16="http://schemas.microsoft.com/office/drawing/2014/main" val="3411328682"/>
                    </a:ext>
                  </a:extLst>
                </a:gridCol>
                <a:gridCol w="368973">
                  <a:extLst>
                    <a:ext uri="{9D8B030D-6E8A-4147-A177-3AD203B41FA5}">
                      <a16:colId xmlns:a16="http://schemas.microsoft.com/office/drawing/2014/main" val="3312070597"/>
                    </a:ext>
                  </a:extLst>
                </a:gridCol>
                <a:gridCol w="4014075">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en-US" sz="1100" b="0" i="0" u="none" strike="noStrike" dirty="0">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A332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09:30 22/02/2025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HPH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122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VN7173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HPH-SGN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A332 [GTB] DUE TO LUE PUMP INOP Sau </a:t>
                      </a:r>
                      <a:r>
                        <a:rPr lang="en-US" sz="1100" b="0" i="0" u="none" strike="noStrike" dirty="0" err="1">
                          <a:solidFill>
                            <a:srgbClr val="000000"/>
                          </a:solidFill>
                          <a:effectLst/>
                          <a:latin typeface="Calibri" panose="020F0502020204030204" pitchFamily="34" charset="0"/>
                        </a:rPr>
                        <a:t>khi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đẩy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nổ</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máy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MSG BLUE PUMP LOW PRESS</a:t>
                      </a:r>
                      <a:br>
                        <a:rPr lang="en-US" sz="1100" b="0" i="0" u="none" strike="noStrike" dirty="0">
                          <a:solidFill>
                            <a:srgbClr val="000000"/>
                          </a:solidFill>
                          <a:effectLst/>
                          <a:latin typeface="Calibri" panose="020F0502020204030204" pitchFamily="34" charset="0"/>
                        </a:rPr>
                      </a:b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T/S found BLUE PUMP INOP</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TSM 29-12-00-810-804A, LOSS OF PRESSURE OF BLUE ELECTRIC PUMP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 REPLACE NEW PUMP </a:t>
                      </a:r>
                      <a:r>
                        <a:rPr lang="en-US" sz="1100" b="0" i="0" u="none" strike="noStrike" dirty="0" err="1">
                          <a:solidFill>
                            <a:srgbClr val="000000"/>
                          </a:solidFill>
                          <a:effectLst/>
                          <a:latin typeface="Calibri" panose="020F0502020204030204" pitchFamily="34" charset="0"/>
                        </a:rPr>
                        <a:t>i.a.w</a:t>
                      </a:r>
                      <a:r>
                        <a:rPr lang="en-US" sz="1100" b="0" i="0" u="none" strike="noStrike" dirty="0">
                          <a:solidFill>
                            <a:srgbClr val="000000"/>
                          </a:solidFill>
                          <a:effectLst/>
                          <a:latin typeface="Calibri" panose="020F0502020204030204" pitchFamily="34" charset="0"/>
                        </a:rPr>
                        <a:t> AMM 29-12-51-000-001A/ 400-001A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 REPLACE NEW FILTER ELEMENT </a:t>
                      </a:r>
                      <a:r>
                        <a:rPr lang="en-US" sz="1100" b="0" i="0" u="none" strike="noStrike" dirty="0" err="1">
                          <a:solidFill>
                            <a:srgbClr val="000000"/>
                          </a:solidFill>
                          <a:effectLst/>
                          <a:latin typeface="Calibri" panose="020F0502020204030204" pitchFamily="34" charset="0"/>
                        </a:rPr>
                        <a:t>i.a.w</a:t>
                      </a:r>
                      <a:r>
                        <a:rPr lang="en-US" sz="1100" b="0" i="0" u="none" strike="noStrike" dirty="0">
                          <a:solidFill>
                            <a:srgbClr val="000000"/>
                          </a:solidFill>
                          <a:effectLst/>
                          <a:latin typeface="Calibri" panose="020F0502020204030204" pitchFamily="34" charset="0"/>
                        </a:rPr>
                        <a:t> AMM 29-12-43-610-001</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ENGINE RUN UP-&amp;</a:t>
                      </a:r>
                      <a:r>
                        <a:rPr lang="en-US" sz="1100" b="0" i="0" u="none" strike="noStrike" dirty="0" err="1">
                          <a:solidFill>
                            <a:srgbClr val="000000"/>
                          </a:solidFill>
                          <a:effectLst/>
                          <a:latin typeface="Calibri" panose="020F0502020204030204" pitchFamily="34" charset="0"/>
                        </a:rPr>
                        <a:t>gt;CHECK</a:t>
                      </a:r>
                      <a:r>
                        <a:rPr lang="en-US" sz="1100" b="0" i="0" u="none" strike="noStrike" dirty="0">
                          <a:solidFill>
                            <a:srgbClr val="000000"/>
                          </a:solidFill>
                          <a:effectLst/>
                          <a:latin typeface="Calibri" panose="020F0502020204030204" pitchFamily="34" charset="0"/>
                        </a:rPr>
                        <a:t> SATIS A332 [GTB] DUE TO LUE PUMP INOP EVENT CLOSED  08:40 </a:t>
                      </a:r>
                      <a:r>
                        <a:rPr lang="en-US" sz="1100" b="0" i="0" u="none" strike="noStrike" dirty="0" err="1">
                          <a:solidFill>
                            <a:srgbClr val="000000"/>
                          </a:solidFill>
                          <a:effectLst/>
                          <a:latin typeface="Calibri" panose="020F0502020204030204" pitchFamily="34" charset="0"/>
                        </a:rPr>
                        <a:t>đóng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cửa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đúng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giờ</a:t>
                      </a:r>
                      <a:r>
                        <a:rPr lang="en-US" sz="1100" b="0" i="0" u="none" strike="noStrike" dirty="0">
                          <a:solidFill>
                            <a:srgbClr val="000000"/>
                          </a:solidFill>
                          <a:effectLst/>
                          <a:latin typeface="Calibri" panose="020F0502020204030204" pitchFamily="34" charset="0"/>
                        </a:rPr>
                        <a: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08:42 </a:t>
                      </a:r>
                      <a:r>
                        <a:rPr lang="en-US" sz="1100" b="0" i="0" u="none" strike="noStrike" dirty="0" err="1">
                          <a:solidFill>
                            <a:srgbClr val="000000"/>
                          </a:solidFill>
                          <a:effectLst/>
                          <a:latin typeface="Calibri" panose="020F0502020204030204" pitchFamily="34" charset="0"/>
                        </a:rPr>
                        <a:t>đẩy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08:45 </a:t>
                      </a:r>
                      <a:r>
                        <a:rPr lang="en-US" sz="1100" b="0" i="0" u="none" strike="noStrike" dirty="0" err="1">
                          <a:solidFill>
                            <a:srgbClr val="000000"/>
                          </a:solidFill>
                          <a:effectLst/>
                          <a:latin typeface="Calibri" panose="020F0502020204030204" pitchFamily="34" charset="0"/>
                        </a:rPr>
                        <a:t>sau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nổ</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máy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xuất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MSG BLUE PUMP LOW PRESS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08:55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quay </a:t>
                      </a:r>
                      <a:r>
                        <a:rPr lang="en-US" sz="1100" b="0" i="0" u="none" strike="noStrike" dirty="0" err="1">
                          <a:solidFill>
                            <a:srgbClr val="000000"/>
                          </a:solidFill>
                          <a:effectLst/>
                          <a:latin typeface="Calibri" panose="020F0502020204030204" pitchFamily="34" charset="0"/>
                        </a:rPr>
                        <a:t>lại</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10:15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AOG</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11:00 </a:t>
                      </a:r>
                      <a:r>
                        <a:rPr lang="en-US" sz="1100" b="0" i="0" u="none" strike="noStrike" dirty="0" err="1">
                          <a:solidFill>
                            <a:srgbClr val="000000"/>
                          </a:solidFill>
                          <a:effectLst/>
                          <a:latin typeface="Calibri" panose="020F0502020204030204" pitchFamily="34" charset="0"/>
                        </a:rPr>
                        <a:t>xe</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chở</a:t>
                      </a:r>
                      <a:r>
                        <a:rPr lang="en-US" sz="1100" b="0" i="0" u="none" strike="noStrike" dirty="0">
                          <a:solidFill>
                            <a:srgbClr val="000000"/>
                          </a:solidFill>
                          <a:effectLst/>
                          <a:latin typeface="Calibri" panose="020F0502020204030204" pitchFamily="34" charset="0"/>
                        </a:rPr>
                        <a:t> PTVT &amp;amp; tool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NVKT </a:t>
                      </a:r>
                      <a:r>
                        <a:rPr lang="en-US" sz="1100" b="0" i="0" u="none" strike="noStrike" dirty="0" err="1">
                          <a:solidFill>
                            <a:srgbClr val="000000"/>
                          </a:solidFill>
                          <a:effectLst/>
                          <a:latin typeface="Calibri" panose="020F0502020204030204" pitchFamily="34" charset="0"/>
                        </a:rPr>
                        <a:t>đi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cứu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xuất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phát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12:30 CRS </a:t>
                      </a:r>
                      <a:r>
                        <a:rPr lang="en-US" sz="1100" b="0" i="0" u="none" strike="noStrike" dirty="0" err="1">
                          <a:solidFill>
                            <a:srgbClr val="000000"/>
                          </a:solidFill>
                          <a:effectLst/>
                          <a:latin typeface="Calibri" panose="020F0502020204030204" pitchFamily="34" charset="0"/>
                        </a:rPr>
                        <a:t>tại</a:t>
                      </a:r>
                      <a:r>
                        <a:rPr lang="en-US" sz="1100" b="0" i="0" u="none" strike="noStrike" dirty="0">
                          <a:solidFill>
                            <a:srgbClr val="000000"/>
                          </a:solidFill>
                          <a:effectLst/>
                          <a:latin typeface="Calibri" panose="020F0502020204030204" pitchFamily="34" charset="0"/>
                        </a:rPr>
                        <a:t> HPH </a:t>
                      </a:r>
                      <a:r>
                        <a:rPr lang="en-US" sz="1100" b="0" i="0" u="none" strike="noStrike" dirty="0" err="1">
                          <a:solidFill>
                            <a:srgbClr val="000000"/>
                          </a:solidFill>
                          <a:effectLst/>
                          <a:latin typeface="Calibri" panose="020F0502020204030204" pitchFamily="34" charset="0"/>
                        </a:rPr>
                        <a:t>tháo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xong</a:t>
                      </a:r>
                      <a:r>
                        <a:rPr lang="en-US" sz="1100" b="0" i="0" u="none" strike="noStrike" dirty="0">
                          <a:solidFill>
                            <a:srgbClr val="000000"/>
                          </a:solidFill>
                          <a:effectLst/>
                          <a:latin typeface="Calibri" panose="020F0502020204030204" pitchFamily="34" charset="0"/>
                        </a:rPr>
                        <a:t> Blue pump</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13:35 NVKT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PTVT&amp;#43;tool </a:t>
                      </a:r>
                      <a:r>
                        <a:rPr lang="en-US" sz="1100" b="0" i="0" u="none" strike="noStrike" dirty="0" err="1">
                          <a:solidFill>
                            <a:srgbClr val="000000"/>
                          </a:solidFill>
                          <a:effectLst/>
                          <a:latin typeface="Calibri" panose="020F0502020204030204" pitchFamily="34" charset="0"/>
                        </a:rPr>
                        <a:t>có</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mặt</a:t>
                      </a:r>
                      <a:r>
                        <a:rPr lang="en-US" sz="1100" b="0" i="0" u="none" strike="noStrike" dirty="0">
                          <a:solidFill>
                            <a:srgbClr val="000000"/>
                          </a:solidFill>
                          <a:effectLst/>
                          <a:latin typeface="Calibri" panose="020F0502020204030204" pitchFamily="34" charset="0"/>
                        </a:rPr>
                        <a:t> ở </a:t>
                      </a:r>
                      <a:r>
                        <a:rPr lang="en-US" sz="1100" b="0" i="0" u="none" strike="noStrike" dirty="0" err="1">
                          <a:solidFill>
                            <a:srgbClr val="000000"/>
                          </a:solidFill>
                          <a:effectLst/>
                          <a:latin typeface="Calibri" panose="020F0502020204030204" pitchFamily="34" charset="0"/>
                        </a:rPr>
                        <a:t>tàu</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15:30 </a:t>
                      </a:r>
                      <a:r>
                        <a:rPr lang="en-US" sz="1100" b="0" i="0" u="none" strike="noStrike" dirty="0" err="1">
                          <a:solidFill>
                            <a:srgbClr val="000000"/>
                          </a:solidFill>
                          <a:effectLst/>
                          <a:latin typeface="Calibri" panose="020F0502020204030204" pitchFamily="34" charset="0"/>
                        </a:rPr>
                        <a:t>lắp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xong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Pump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hoàn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thiện</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15:37 </a:t>
                      </a:r>
                      <a:r>
                        <a:rPr lang="en-US" sz="1100" b="0" i="0" u="none" strike="noStrike" dirty="0" err="1">
                          <a:solidFill>
                            <a:srgbClr val="000000"/>
                          </a:solidFill>
                          <a:effectLst/>
                          <a:latin typeface="Calibri" panose="020F0502020204030204" pitchFamily="34" charset="0"/>
                        </a:rPr>
                        <a:t>Nổ</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máy</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kiểm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tốt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Boarding</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16:24 </a:t>
                      </a:r>
                      <a:r>
                        <a:rPr lang="en-US" sz="1100" b="0" i="0" u="none" strike="noStrike" dirty="0" err="1">
                          <a:solidFill>
                            <a:srgbClr val="000000"/>
                          </a:solidFill>
                          <a:effectLst/>
                          <a:latin typeface="Calibri" panose="020F0502020204030204" pitchFamily="34" charset="0"/>
                        </a:rPr>
                        <a:t>đóng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cửa</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16:27 Taxi</a:t>
                      </a:r>
                      <a:br>
                        <a:rPr lang="en-US" sz="1100" b="0" i="0" u="none" strike="noStrike" dirty="0">
                          <a:solidFill>
                            <a:srgbClr val="000000"/>
                          </a:solidFill>
                          <a:effectLst/>
                          <a:latin typeface="Calibri" panose="020F0502020204030204" pitchFamily="34" charset="0"/>
                        </a:rPr>
                      </a:br>
                      <a:r>
                        <a:rPr lang="en-US" sz="1100" b="0" i="0" u="none" strike="noStrike" dirty="0" err="1">
                          <a:solidFill>
                            <a:srgbClr val="000000"/>
                          </a:solidFill>
                          <a:effectLst/>
                          <a:latin typeface="Calibri" panose="020F0502020204030204" pitchFamily="34" charset="0"/>
                        </a:rPr>
                        <a:t>Thời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gian</a:t>
                      </a:r>
                      <a:r>
                        <a:rPr lang="en-US" sz="1100" b="0" i="0" u="none" strike="noStrike" dirty="0">
                          <a:solidFill>
                            <a:srgbClr val="000000"/>
                          </a:solidFill>
                          <a:effectLst/>
                          <a:latin typeface="Calibri" panose="020F0502020204030204" pitchFamily="34" charset="0"/>
                        </a:rPr>
                        <a:t> AOG 122 </a:t>
                      </a:r>
                      <a:r>
                        <a:rPr lang="en-US" sz="1100" b="0" i="0" u="none" strike="noStrike" dirty="0" err="1">
                          <a:solidFill>
                            <a:srgbClr val="000000"/>
                          </a:solidFill>
                          <a:effectLst/>
                          <a:latin typeface="Calibri" panose="020F0502020204030204" pitchFamily="34" charset="0"/>
                        </a:rPr>
                        <a:t>phút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Total delay 464 </a:t>
                      </a:r>
                      <a:r>
                        <a:rPr lang="en-US" sz="1100" b="0" i="0" u="none" strike="noStrike" dirty="0" err="1">
                          <a:solidFill>
                            <a:srgbClr val="000000"/>
                          </a:solidFill>
                          <a:effectLst/>
                          <a:latin typeface="Calibri" panose="020F0502020204030204" pitchFamily="34" charset="0"/>
                        </a:rPr>
                        <a:t>phút</a:t>
                      </a:r>
                      <a:r>
                        <a:rPr lang="en-US" sz="1100" b="0" i="0" u="none" strike="noStrike" dirty="0">
                          <a:solidFill>
                            <a:srgbClr val="000000"/>
                          </a:solidFill>
                          <a:effectLst/>
                          <a:latin typeface="Calibri" panose="020F0502020204030204" pitchFamily="34" charset="0"/>
                        </a:rPr>
                        <a:t>, Tech delay 122 </a:t>
                      </a:r>
                      <a:r>
                        <a:rPr lang="en-US" sz="1100" b="0" i="0" u="none" strike="noStrike" dirty="0" err="1">
                          <a:solidFill>
                            <a:srgbClr val="000000"/>
                          </a:solidFill>
                          <a:effectLst/>
                          <a:latin typeface="Calibri" panose="020F0502020204030204" pitchFamily="34" charset="0"/>
                        </a:rPr>
                        <a:t>phútRTG</a:t>
                      </a:r>
                      <a:r>
                        <a:rPr lang="en-US" sz="1100" b="0" i="0" u="none" strike="noStrike" dirty="0">
                          <a:solidFill>
                            <a:srgbClr val="000000"/>
                          </a:solidFill>
                          <a:effectLst/>
                          <a:latin typeface="Calibri" panose="020F0502020204030204" pitchFamily="34" charset="0"/>
                        </a:rPr>
                        <a:t> DUE TO BLUE PUMP LOW PRESS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29-12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Calibri" panose="020F0502020204030204" pitchFamily="34" charset="0"/>
                        </a:rPr>
                        <a:t>Bơm EMP trên tàu A332 là bơm của Eaton. Kể từ khi chuyển đổi sang bơm Eaton trên các tàu từ A357, từ năm 2020 đến nay có 04 trường hợp tháo ngoài KH. Hiện không có issue nào liên quan đến ĐTC của khối này. Tiếp tục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bl>
          </a:graphicData>
        </a:graphic>
      </p:graphicFrame>
    </p:spTree>
    <p:extLst>
      <p:ext uri="{BB962C8B-B14F-4D97-AF65-F5344CB8AC3E}">
        <p14:creationId xmlns:p14="http://schemas.microsoft.com/office/powerpoint/2010/main" val="584049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06</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2</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nvGraphicFramePr>
        <p:xfrm>
          <a:off x="152399" y="1570679"/>
          <a:ext cx="11688717" cy="4969727"/>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85800">
                  <a:extLst>
                    <a:ext uri="{9D8B030D-6E8A-4147-A177-3AD203B41FA5}">
                      <a16:colId xmlns:a16="http://schemas.microsoft.com/office/drawing/2014/main" val="905265164"/>
                    </a:ext>
                  </a:extLst>
                </a:gridCol>
                <a:gridCol w="1439040">
                  <a:extLst>
                    <a:ext uri="{9D8B030D-6E8A-4147-A177-3AD203B41FA5}">
                      <a16:colId xmlns:a16="http://schemas.microsoft.com/office/drawing/2014/main" val="1766184023"/>
                    </a:ext>
                  </a:extLst>
                </a:gridCol>
                <a:gridCol w="2361428">
                  <a:extLst>
                    <a:ext uri="{9D8B030D-6E8A-4147-A177-3AD203B41FA5}">
                      <a16:colId xmlns:a16="http://schemas.microsoft.com/office/drawing/2014/main" val="3411328682"/>
                    </a:ext>
                  </a:extLst>
                </a:gridCol>
                <a:gridCol w="368973">
                  <a:extLst>
                    <a:ext uri="{9D8B030D-6E8A-4147-A177-3AD203B41FA5}">
                      <a16:colId xmlns:a16="http://schemas.microsoft.com/office/drawing/2014/main" val="3312070597"/>
                    </a:ext>
                  </a:extLst>
                </a:gridCol>
                <a:gridCol w="4014075">
                  <a:extLst>
                    <a:ext uri="{9D8B030D-6E8A-4147-A177-3AD203B41FA5}">
                      <a16:colId xmlns:a16="http://schemas.microsoft.com/office/drawing/2014/main" val="1807191619"/>
                    </a:ext>
                  </a:extLst>
                </a:gridCol>
              </a:tblGrid>
              <a:tr h="410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3333583">
                <a:tc>
                  <a:txBody>
                    <a:bodyPr/>
                    <a:lstStyle/>
                    <a:p>
                      <a:pPr algn="ctr" fontAlgn="t"/>
                      <a:r>
                        <a:rPr lang="en-US" sz="1100" b="0" i="0" u="none" strike="noStrike" dirty="0">
                          <a:solidFill>
                            <a:srgbClr val="000000"/>
                          </a:solidFill>
                          <a:effectLst/>
                          <a:latin typeface="Calibri" panose="020F0502020204030204" pitchFamily="34" charset="0"/>
                        </a:rPr>
                        <a:t>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A625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07:40 22/02/2025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50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VN165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HAN-DAD</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BRAKES PARK BRK LO PR . ECAM WARNING Tàu kéo từ 75 ra cầu 47 để bay thì xuất hiện MSG BRAKES PARK BRK LO PR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Calibri" panose="020F0502020204030204" pitchFamily="34" charset="0"/>
                        </a:rPr>
                        <a:t>REF TSM:32-45-00-810-801-A REV FEB 25 . RPL BRK ACCU IAW AMM:32-44-11-000/400-001 REV FEB25. TEST SATIS</a:t>
                      </a:r>
                      <a:br>
                        <a:rPr lang="vi-VN" sz="1100" b="0" i="0" u="none" strike="noStrike" dirty="0">
                          <a:solidFill>
                            <a:srgbClr val="000000"/>
                          </a:solidFill>
                          <a:effectLst/>
                          <a:latin typeface="Calibri" panose="020F0502020204030204" pitchFamily="34" charset="0"/>
                        </a:rPr>
                      </a:br>
                      <a:endParaRPr lang="en-US" sz="1100" b="0" i="0" u="none" strike="noStrike" dirty="0">
                        <a:solidFill>
                          <a:srgbClr val="000000"/>
                        </a:solidFill>
                        <a:effectLst/>
                        <a:latin typeface="Calibri" panose="020F0502020204030204" pitchFamily="34" charset="0"/>
                      </a:endParaRPr>
                    </a:p>
                    <a:p>
                      <a:pPr algn="l" fontAlgn="t"/>
                      <a:r>
                        <a:rPr lang="vi-VN" sz="1100" b="0" i="0" u="none" strike="noStrike" dirty="0">
                          <a:solidFill>
                            <a:srgbClr val="000000"/>
                          </a:solidFill>
                          <a:effectLst/>
                          <a:latin typeface="Calibri" panose="020F0502020204030204" pitchFamily="34" charset="0"/>
                        </a:rPr>
                        <a:t>BRAKES PARK BRK LO PR . ECAM WARNING EVENT CLOSED  07:10 kéo tàu từ 74-&amp;gt; cầu 47</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07:40 tào đến cầu 47, cài phanh bãi đậu xuất hiện MSG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07:50 CRS B1 có mặt tại tàu và service Accum-&amp;gt; Nil help</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08:10 báo thay Accum</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08:30 Bình Accum đưa ra đến tàu để thay</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09:30 thay xong Brake accum và báo boarding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10:00 tàu đóng cửa</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VN165 Total delay 50;</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Tech delay 30;</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Thời gain AOG 30;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32-45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Calibri" panose="020F0502020204030204" pitchFamily="34" charset="0"/>
                        </a:rPr>
                        <a:t>Hỏng hóc liên quan đến bình accum, theo đánh giá của AIB thì có nhiều nguyên nhân như hỏng valve hoặc blade cọ vào thành bình dẫn tới leak khí, cần thêm SFR để đánh giá chính xác nguyên nhân hỏng bình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r h="1196881">
                <a:tc>
                  <a:txBody>
                    <a:bodyPr/>
                    <a:lstStyle/>
                    <a:p>
                      <a:pPr algn="ctr" fontAlgn="t"/>
                      <a:r>
                        <a:rPr lang="en-US" sz="1100" b="0" i="0" u="none" strike="noStrike" dirty="0">
                          <a:solidFill>
                            <a:srgbClr val="000000"/>
                          </a:solidFill>
                          <a:effectLst/>
                          <a:latin typeface="Calibri" panose="020F0502020204030204" pitchFamily="34" charset="0"/>
                        </a:rPr>
                        <a:t>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A605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11:00 22/02/2025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BKK</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40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VN600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BKK-SGN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01 SCREW FALL OUT AT FRONT CARGO COMPARTMENT T/X CHK FOUND 01 SCREW FALL OUT AT FRONT CARGO COMPARTMENT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 EVENT CLOSED TVJ Team C/O RE-TIGHTEN SCREW, CHK SATIS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25-54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Calibri" panose="020F0502020204030204" pitchFamily="34" charset="0"/>
                        </a:rPr>
                        <a:t>Hỏng hóc đơn lẻ, hiện tượng lỏng đinh rất hiếm gặp ở khu vực Cargo. Hiện sẽ tiếp nhận thông tin và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5640721"/>
                  </a:ext>
                </a:extLst>
              </a:tr>
            </a:tbl>
          </a:graphicData>
        </a:graphic>
      </p:graphicFrame>
    </p:spTree>
    <p:extLst>
      <p:ext uri="{BB962C8B-B14F-4D97-AF65-F5344CB8AC3E}">
        <p14:creationId xmlns:p14="http://schemas.microsoft.com/office/powerpoint/2010/main" val="738587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06</a:t>
            </a: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3</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06</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extLst>
              <p:ext uri="{D42A27DB-BD31-4B8C-83A1-F6EECF244321}">
                <p14:modId xmlns:p14="http://schemas.microsoft.com/office/powerpoint/2010/main" val="2483073454"/>
              </p:ext>
            </p:extLst>
          </p:nvPr>
        </p:nvGraphicFramePr>
        <p:xfrm>
          <a:off x="152399" y="1570679"/>
          <a:ext cx="11688717" cy="5232115"/>
        </p:xfrm>
        <a:graphic>
          <a:graphicData uri="http://schemas.openxmlformats.org/drawingml/2006/table">
            <a:tbl>
              <a:tblPr/>
              <a:tblGrid>
                <a:gridCol w="304801">
                  <a:extLst>
                    <a:ext uri="{9D8B030D-6E8A-4147-A177-3AD203B41FA5}">
                      <a16:colId xmlns:a16="http://schemas.microsoft.com/office/drawing/2014/main" val="3497691420"/>
                    </a:ext>
                  </a:extLst>
                </a:gridCol>
                <a:gridCol w="381000">
                  <a:extLst>
                    <a:ext uri="{9D8B030D-6E8A-4147-A177-3AD203B41FA5}">
                      <a16:colId xmlns:a16="http://schemas.microsoft.com/office/drawing/2014/main" val="3316182388"/>
                    </a:ext>
                  </a:extLst>
                </a:gridCol>
                <a:gridCol w="716299">
                  <a:extLst>
                    <a:ext uri="{9D8B030D-6E8A-4147-A177-3AD203B41FA5}">
                      <a16:colId xmlns:a16="http://schemas.microsoft.com/office/drawing/2014/main" val="4104333813"/>
                    </a:ext>
                  </a:extLst>
                </a:gridCol>
                <a:gridCol w="350501">
                  <a:extLst>
                    <a:ext uri="{9D8B030D-6E8A-4147-A177-3AD203B41FA5}">
                      <a16:colId xmlns:a16="http://schemas.microsoft.com/office/drawing/2014/main" val="2544045720"/>
                    </a:ext>
                  </a:extLst>
                </a:gridCol>
                <a:gridCol w="609600">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85800">
                  <a:extLst>
                    <a:ext uri="{9D8B030D-6E8A-4147-A177-3AD203B41FA5}">
                      <a16:colId xmlns:a16="http://schemas.microsoft.com/office/drawing/2014/main" val="905265164"/>
                    </a:ext>
                  </a:extLst>
                </a:gridCol>
                <a:gridCol w="1828800">
                  <a:extLst>
                    <a:ext uri="{9D8B030D-6E8A-4147-A177-3AD203B41FA5}">
                      <a16:colId xmlns:a16="http://schemas.microsoft.com/office/drawing/2014/main" val="1766184023"/>
                    </a:ext>
                  </a:extLst>
                </a:gridCol>
                <a:gridCol w="2133600">
                  <a:extLst>
                    <a:ext uri="{9D8B030D-6E8A-4147-A177-3AD203B41FA5}">
                      <a16:colId xmlns:a16="http://schemas.microsoft.com/office/drawing/2014/main" val="3411328682"/>
                    </a:ext>
                  </a:extLst>
                </a:gridCol>
                <a:gridCol w="381000">
                  <a:extLst>
                    <a:ext uri="{9D8B030D-6E8A-4147-A177-3AD203B41FA5}">
                      <a16:colId xmlns:a16="http://schemas.microsoft.com/office/drawing/2014/main" val="3312070597"/>
                    </a:ext>
                  </a:extLst>
                </a:gridCol>
                <a:gridCol w="3840116">
                  <a:extLst>
                    <a:ext uri="{9D8B030D-6E8A-4147-A177-3AD203B41FA5}">
                      <a16:colId xmlns:a16="http://schemas.microsoft.com/office/drawing/2014/main" val="1807191619"/>
                    </a:ext>
                  </a:extLst>
                </a:gridCol>
              </a:tblGrid>
              <a:tr h="453490">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1060368">
                <a:tc>
                  <a:txBody>
                    <a:bodyPr/>
                    <a:lstStyle/>
                    <a:p>
                      <a:pPr algn="ctr" fontAlgn="t"/>
                      <a:r>
                        <a:rPr lang="en-US" sz="1100" b="0" i="0" u="none" strike="noStrike" dirty="0">
                          <a:solidFill>
                            <a:srgbClr val="000000"/>
                          </a:solidFill>
                          <a:effectLst/>
                          <a:latin typeface="Calibri" panose="020F0502020204030204" pitchFamily="34" charset="0"/>
                        </a:rPr>
                        <a:t>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A356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00:05 22/02/2025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DAD</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35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VN430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a:solidFill>
                            <a:srgbClr val="000000"/>
                          </a:solidFill>
                          <a:effectLst/>
                          <a:latin typeface="Calibri" panose="020F0502020204030204" pitchFamily="34" charset="0"/>
                        </a:rPr>
                        <a:t>GPS 1+ 2 FAULT Tàu ở bến 24 ban đầu mất tín hiệu GPS 1. Thực hiện mở ADD cho GPS 1 INOP. nhưng sau đó mất thêm tín hiệu GPS 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a:solidFill>
                            <a:srgbClr val="000000"/>
                          </a:solidFill>
                          <a:effectLst/>
                          <a:latin typeface="Calibri" panose="020F0502020204030204" pitchFamily="34" charset="0"/>
                        </a:rPr>
                        <a:t>Kéo tàu chuyển bãi sang bến 30. Thực hiện lại reset thì tín hiệu hoạt động lại bình thường. Và giữ ADD “ GPS 1 INOP” để theo dõi RESET AND OPS TEST OK. MSG GONE EVENT CLOSED  VN430 DAD-ICN TOTAL DELAY 58 MINS ( TD: 35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34-50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a:solidFill>
                            <a:srgbClr val="000000"/>
                          </a:solidFill>
                          <a:effectLst/>
                          <a:latin typeface="Calibri" panose="020F0502020204030204" pitchFamily="34" charset="0"/>
                        </a:rPr>
                        <a:t>Hỏng hóc được khắc phục sau khi reset. Lỗi có thể xảy ra ở khu vực bị gián đoạn tín hiệu của GPS. Tàu không sử dụng các part có ISI, TFU liên quan đến hiện tượng này.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r h="1961937">
                <a:tc>
                  <a:txBody>
                    <a:bodyPr/>
                    <a:lstStyle/>
                    <a:p>
                      <a:pPr algn="l" fontAlgn="b"/>
                      <a:r>
                        <a:rPr lang="en-US" sz="1100" b="0" i="0" u="none" strike="noStrike" dirty="0">
                          <a:solidFill>
                            <a:srgbClr val="000000"/>
                          </a:solidFill>
                          <a:effectLst/>
                          <a:latin typeface="Calibri" panose="020F0502020204030204" pitchFamily="34" charset="0"/>
                        </a:rPr>
                        <a:t>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A606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23:00 17/02/2025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BOM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VN978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BOM-SGN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STBY PITOT HEATER - DURING T/X FOUND ECAM WARNING ;STBY PITOT HEATER;, LOCAL TECH C/O RESET, MSG DISSAPEAR</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AFTER PUSHBACK, MSG APPEAR AGAIN. A/C CAN DISPATCH WITH MEL 30-21-02C WITH OPS LIMIT A/C NOT OPS IN VISIBLE MOITURE OR FORECAST ICING CONDITIONS. CAPT DICIDE GROUND TURN BACK.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EVENT CLOSED C/O SWAP STBY PITOT PROBE WITH F/O PITOT BROBE AND RAISED ADD FOR F/O PITOT BROBE(WITH LITTLE OPS LIMIT THAN)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ECAM WARNING ;STBY PITOT HEATER;,</a:t>
                      </a: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STBY PITOT HEATER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30-31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Calibri" panose="020F0502020204030204" pitchFamily="34" charset="0"/>
                        </a:rPr>
                        <a:t>Hỏng hóc liên quan đến Pitot probe PN 0851MC. Hỏng hóc được khắc phục sau khi thay part. </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Part được sử dụng từ t5/2019, có TSN/CSN: 13606/7404.</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Part 0851MC là part mới nhất, được cải thiện khả năng chống đóng băng và đã có ĐTC cao hơn part cũ (0851HL). Hiện tại, Thales đang nguyên cứu một phiên bản pitot probe mới (PN C47009BB), dự kiến sẽ được công bố vào năm 2026, giúp cải thiện hơn nữa khả năng chống đóng băng và tăng độ tin cậy.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8893836"/>
                  </a:ext>
                </a:extLst>
              </a:tr>
              <a:tr h="1354327">
                <a:tc>
                  <a:txBody>
                    <a:bodyPr/>
                    <a:lstStyle/>
                    <a:p>
                      <a:pPr algn="l" fontAlgn="t"/>
                      <a:r>
                        <a:rPr lang="en-US" sz="1100" b="0" i="0" u="none" strike="noStrike" dirty="0">
                          <a:solidFill>
                            <a:srgbClr val="000000"/>
                          </a:solidFill>
                          <a:effectLst/>
                          <a:latin typeface="Calibri" panose="020F0502020204030204" pitchFamily="34" charset="0"/>
                        </a:rPr>
                        <a:t>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A336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23-02-25 7:20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PNH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39</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VN922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PNH-HAN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CAPT REPORT LGCIU#1 FAULT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  CONNECTORS CLEANED, CRS OF K6 C/O TSM BITE TEST OF LGCIU1, SATIS.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32-00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6376860"/>
                  </a:ext>
                </a:extLst>
              </a:tr>
            </a:tbl>
          </a:graphicData>
        </a:graphic>
      </p:graphicFrame>
    </p:spTree>
    <p:extLst>
      <p:ext uri="{BB962C8B-B14F-4D97-AF65-F5344CB8AC3E}">
        <p14:creationId xmlns:p14="http://schemas.microsoft.com/office/powerpoint/2010/main" val="1916725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a:fillRect/>
          </a:stretch>
        </p:blipFill>
        <p:spPr>
          <a:xfrm>
            <a:off x="2291812" y="4163511"/>
            <a:ext cx="7658115" cy="2642621"/>
          </a:xfrm>
          <a:prstGeom prst="rect">
            <a:avLst/>
          </a:prstGeom>
        </p:spPr>
      </p:pic>
      <p:sp>
        <p:nvSpPr>
          <p:cNvPr id="38"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9" name="Rectangle 4"/>
          <p:cNvSpPr>
            <a:spLocks noChangeArrowheads="1"/>
          </p:cNvSpPr>
          <p:nvPr/>
        </p:nvSpPr>
        <p:spPr bwMode="auto">
          <a:xfrm>
            <a:off x="0"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5"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6"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47" name="Picture 46">
            <a:extLst>
              <a:ext uri="{FF2B5EF4-FFF2-40B4-BE49-F238E27FC236}">
                <a16:creationId xmlns:a16="http://schemas.microsoft.com/office/drawing/2014/main" id="{9AC171E4-B7C3-487F-9250-B7099A792C3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0522" y="134657"/>
            <a:ext cx="537821" cy="505652"/>
          </a:xfrm>
          <a:prstGeom prst="rect">
            <a:avLst/>
          </a:prstGeom>
        </p:spPr>
      </p:pic>
      <p:sp>
        <p:nvSpPr>
          <p:cNvPr id="48" name="AutoShape 2" descr="https://w3.airbus.com/1H43/MEFO_AW/ISI/MDAuMDAuMDA0Mzc=/html/bpHEScontentext/Aspose.Words.d1192d83-b481-4a56-93e5-9ad2352fe3cd.0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9" name="AutoShape 2" descr="https://w3.airbus.com/1H43/MEFO_AW/ISI/MDAuMDAuMDA0Mzc=/html/bpHEScontentext/Aspose.Words.d1192d83-b481-4a56-93e5-9ad2352fe3cd.00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0" name="AutoShape 2" descr="https://w3.airbus.com/1H43/MEFO_AW/ISI/MDAuMDAuMDA0Mzc=/html/bpHEScontentext/Aspose.Words.d1192d83-b481-4a56-93e5-9ad2352fe3cd.004.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1" name="AutoShape 4" descr="https://w3.airbus.com/1H43/MEFO_AW/ISI/MDAuMDAuMDA0Mzc=/html/bpHEScontentext/Aspose.Words.d1192d83-b481-4a56-93e5-9ad2352fe3cd.004.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2" name="AutoShape 2" descr="https://w3.airbus.com/1H43/MEFO_AW/ISI/MDAuMDAuMDA0Mzc=/html/bpHEScontentext/Aspose.Words.d1192d83-b481-4a56-93e5-9ad2352fe3cd.031.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3" name="AutoShape 4" descr="https://w3.airbus.com/1H43/MEFO_AW/ISI/MDAuMDAuMDA0Mzc=/html/bpHEScontentext/Aspose.Words.d1192d83-b481-4a56-93e5-9ad2352fe3cd.028.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4" name="Title 1">
            <a:extLst>
              <a:ext uri="{FF2B5EF4-FFF2-40B4-BE49-F238E27FC236}">
                <a16:creationId xmlns:a16="http://schemas.microsoft.com/office/drawing/2014/main" id="{88D62ACE-92F7-43A9-A921-E66AF898547E}"/>
              </a:ext>
            </a:extLst>
          </p:cNvPr>
          <p:cNvSpPr txBox="1">
            <a:spLocks/>
          </p:cNvSpPr>
          <p:nvPr/>
        </p:nvSpPr>
        <p:spPr>
          <a:xfrm>
            <a:off x="871239" y="203760"/>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lvl="0">
              <a:defRPr/>
            </a:pPr>
            <a:r>
              <a:rPr lang="en-US" sz="2800" b="1" dirty="0">
                <a:solidFill>
                  <a:srgbClr val="D2A43B"/>
                </a:solidFill>
                <a:ea typeface="Tahoma" pitchFamily="34" charset="0"/>
                <a:cs typeface="Times New Roman" panose="02020603050405020304" pitchFamily="18" charset="0"/>
              </a:rPr>
              <a:t>A321</a:t>
            </a: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 ATA </a:t>
            </a:r>
            <a:r>
              <a:rPr lang="en-US" sz="2800" b="1" dirty="0">
                <a:solidFill>
                  <a:srgbClr val="D2A43B"/>
                </a:solidFill>
                <a:ea typeface="Tahoma" pitchFamily="34" charset="0"/>
                <a:cs typeface="Times New Roman" panose="02020603050405020304" pitchFamily="18" charset="0"/>
              </a:rPr>
              <a:t>34</a:t>
            </a: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a:t>
            </a:r>
            <a:r>
              <a:rPr kumimoji="0" lang="en-US" sz="2800" b="1" i="0" u="none" strike="noStrike" kern="1200" cap="none" spc="0" normalizeH="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a:t>
            </a:r>
            <a:r>
              <a:rPr lang="en-US" sz="2800" b="1" noProof="0" dirty="0">
                <a:solidFill>
                  <a:srgbClr val="D2A43B"/>
                </a:solidFill>
                <a:ea typeface="Tahoma" pitchFamily="34" charset="0"/>
                <a:cs typeface="Times New Roman" panose="02020603050405020304" pitchFamily="18" charset="0"/>
              </a:rPr>
              <a:t>GPS Fault</a:t>
            </a:r>
            <a:endPar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cxnSp>
        <p:nvCxnSpPr>
          <p:cNvPr id="55" name="Straight Connector 54">
            <a:extLst>
              <a:ext uri="{FF2B5EF4-FFF2-40B4-BE49-F238E27FC236}">
                <a16:creationId xmlns:a16="http://schemas.microsoft.com/office/drawing/2014/main" id="{DD7E6793-5C7D-44CB-AC75-538AC111FB74}"/>
              </a:ext>
            </a:extLst>
          </p:cNvPr>
          <p:cNvCxnSpPr>
            <a:cxnSpLocks/>
          </p:cNvCxnSpPr>
          <p:nvPr/>
        </p:nvCxnSpPr>
        <p:spPr>
          <a:xfrm>
            <a:off x="12102616" y="12322565"/>
            <a:ext cx="4930821"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Slide Number Placeholder 3"/>
          <p:cNvSpPr>
            <a:spLocks noGrp="1"/>
          </p:cNvSpPr>
          <p:nvPr>
            <p:ph type="sldNum" sz="quarter" idx="12"/>
          </p:nvPr>
        </p:nvSpPr>
        <p:spPr>
          <a:xfrm>
            <a:off x="8610600" y="6356350"/>
            <a:ext cx="2743200" cy="365125"/>
          </a:xfrm>
        </p:spPr>
        <p:txBody>
          <a:bodyPr>
            <a:normAutofit lnSpcReduction="10000"/>
          </a:bodyPr>
          <a:lstStyle/>
          <a:p>
            <a:fld id="{6C6B6B8D-D74E-47CD-B5EE-156060B7CD17}" type="slidenum">
              <a:rPr lang="en-US" smtClean="0"/>
              <a:pPr/>
              <a:t>16</a:t>
            </a:fld>
            <a:endParaRPr lang="en-US" dirty="0"/>
          </a:p>
        </p:txBody>
      </p:sp>
      <p:sp>
        <p:nvSpPr>
          <p:cNvPr id="57" name="Rectangle: Diagonal Corners Snipped 12">
            <a:extLst>
              <a:ext uri="{FF2B5EF4-FFF2-40B4-BE49-F238E27FC236}">
                <a16:creationId xmlns:a16="http://schemas.microsoft.com/office/drawing/2014/main" id="{AE39938C-8CA8-45E0-B1F4-2D7B4C72726F}"/>
              </a:ext>
            </a:extLst>
          </p:cNvPr>
          <p:cNvSpPr/>
          <p:nvPr/>
        </p:nvSpPr>
        <p:spPr>
          <a:xfrm>
            <a:off x="367054" y="805238"/>
            <a:ext cx="11735561" cy="1488424"/>
          </a:xfrm>
          <a:prstGeom prst="snip2DiagRect">
            <a:avLst/>
          </a:prstGeom>
          <a:pattFill prst="dotGrid">
            <a:fgClr>
              <a:schemeClr val="accent1">
                <a:lumMod val="60000"/>
                <a:lumOff val="4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a:extLst>
              <a:ext uri="{FF2B5EF4-FFF2-40B4-BE49-F238E27FC236}">
                <a16:creationId xmlns:a16="http://schemas.microsoft.com/office/drawing/2014/main" id="{18B4160E-E370-43BB-8E28-DA1FCC7D1689}"/>
              </a:ext>
            </a:extLst>
          </p:cNvPr>
          <p:cNvCxnSpPr>
            <a:cxnSpLocks/>
          </p:cNvCxnSpPr>
          <p:nvPr/>
        </p:nvCxnSpPr>
        <p:spPr>
          <a:xfrm>
            <a:off x="451463" y="1272804"/>
            <a:ext cx="7468650" cy="3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638A8625-0E68-40A5-B22C-92D95D0810CD}"/>
              </a:ext>
            </a:extLst>
          </p:cNvPr>
          <p:cNvSpPr/>
          <p:nvPr/>
        </p:nvSpPr>
        <p:spPr>
          <a:xfrm>
            <a:off x="498357" y="1380637"/>
            <a:ext cx="11445113" cy="738664"/>
          </a:xfrm>
          <a:prstGeom prst="rect">
            <a:avLst/>
          </a:prstGeom>
        </p:spPr>
        <p:txBody>
          <a:bodyPr wrap="square">
            <a:spAutoFit/>
          </a:bodyPr>
          <a:lstStyle/>
          <a:p>
            <a:pPr marL="285750" indent="-285750">
              <a:spcBef>
                <a:spcPts val="1200"/>
              </a:spcBef>
              <a:buFont typeface="Arial" panose="020B0604020202020204" pitchFamily="34" charset="0"/>
              <a:buChar char="•"/>
              <a:defRPr/>
            </a:pP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Lỗi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trên</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ít</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xảy</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ra</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trên</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đội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bay A321,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năm</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2024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1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trường</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hợp</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gây</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Delay.</a:t>
            </a:r>
          </a:p>
          <a:p>
            <a:pPr marL="285750" indent="-285750">
              <a:spcBef>
                <a:spcPts val="1200"/>
              </a:spcBef>
              <a:buFont typeface="Arial" panose="020B0604020202020204" pitchFamily="34" charset="0"/>
              <a:buChar char="•"/>
              <a:defRPr/>
            </a:pP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Đối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với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2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trường</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hợp</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OI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của</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A335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tại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SGN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và</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A356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tại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DAD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msg</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được</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clear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sau</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khi</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thực</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hiện</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reset </a:t>
            </a:r>
            <a:r>
              <a:rPr lang="en-US" sz="16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và</a:t>
            </a:r>
            <a:r>
              <a:rPr lang="en-US" sz="16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test.</a:t>
            </a:r>
          </a:p>
        </p:txBody>
      </p:sp>
      <p:grpSp>
        <p:nvGrpSpPr>
          <p:cNvPr id="3" name="Group 2"/>
          <p:cNvGrpSpPr/>
          <p:nvPr/>
        </p:nvGrpSpPr>
        <p:grpSpPr>
          <a:xfrm>
            <a:off x="367054" y="2523543"/>
            <a:ext cx="6146288" cy="1639968"/>
            <a:chOff x="376946" y="3173895"/>
            <a:chExt cx="7931473" cy="1639968"/>
          </a:xfrm>
        </p:grpSpPr>
        <p:sp>
          <p:nvSpPr>
            <p:cNvPr id="61" name="TextBox 60">
              <a:extLst>
                <a:ext uri="{FF2B5EF4-FFF2-40B4-BE49-F238E27FC236}">
                  <a16:creationId xmlns:a16="http://schemas.microsoft.com/office/drawing/2014/main" id="{6D01396D-6405-4000-8BC6-896E4B26445F}"/>
                </a:ext>
              </a:extLst>
            </p:cNvPr>
            <p:cNvSpPr txBox="1"/>
            <p:nvPr/>
          </p:nvSpPr>
          <p:spPr>
            <a:xfrm>
              <a:off x="820467" y="3182647"/>
              <a:ext cx="7487952" cy="1631216"/>
            </a:xfrm>
            <a:prstGeom prst="rect">
              <a:avLst/>
            </a:prstGeom>
            <a:noFill/>
          </p:spPr>
          <p:txBody>
            <a:bodyPr wrap="square" rtlCol="0">
              <a:spAutoFit/>
            </a:bodyPr>
            <a:lstStyle/>
            <a:p>
              <a:pPr lvl="0" algn="just">
                <a:defRPr/>
              </a:pPr>
              <a:r>
                <a:rPr lang="en-US" sz="1600" b="1" dirty="0">
                  <a:solidFill>
                    <a:schemeClr val="dk1"/>
                  </a:solidFill>
                  <a:latin typeface="Times New Roman" panose="02020603050405020304" pitchFamily="18" charset="0"/>
                  <a:cs typeface="Times New Roman" panose="02020603050405020304" pitchFamily="18" charset="0"/>
                </a:rPr>
                <a:t>Root Cause / Investigation</a:t>
              </a:r>
            </a:p>
            <a:p>
              <a:pPr marL="285750" indent="-285750" algn="just">
                <a:lnSpc>
                  <a:spcPct val="150000"/>
                </a:lnSpc>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Theo ISI 34.52.00035, lỗi này thường xảy ra ở khu vực bị gián đoạn tín hiệu của GPS</a:t>
              </a:r>
              <a:endParaRPr lang="en-US" sz="14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400" dirty="0" err="1">
                  <a:latin typeface="Times New Roman" panose="02020603050405020304" pitchFamily="18" charset="0"/>
                  <a:cs typeface="Times New Roman" panose="02020603050405020304" pitchFamily="18" charset="0"/>
                </a:rPr>
                <a:t>Lỗi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trên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đã</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được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nhận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xảy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trên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các</a:t>
              </a:r>
              <a:r>
                <a:rPr lang="en-US" sz="1400" dirty="0">
                  <a:latin typeface="Times New Roman" panose="02020603050405020304" pitchFamily="18" charset="0"/>
                  <a:cs typeface="Times New Roman" panose="02020603050405020304" pitchFamily="18" charset="0"/>
                </a:rPr>
                <a:t> PN </a:t>
              </a:r>
              <a:r>
                <a:rPr lang="en-US" sz="1400" dirty="0" err="1">
                  <a:latin typeface="Times New Roman" panose="02020603050405020304" pitchFamily="18" charset="0"/>
                  <a:cs typeface="Times New Roman" panose="02020603050405020304" pitchFamily="18" charset="0"/>
                </a:rPr>
                <a:t>sau</a:t>
              </a:r>
              <a:r>
                <a:rPr lang="en-US" sz="1400" dirty="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ATC PN 822-1338-225</a:t>
              </a:r>
            </a:p>
            <a:p>
              <a:pPr marL="742950" lvl="1" indent="-285750" algn="just">
                <a:lnSpc>
                  <a:spcPct val="150000"/>
                </a:lnSpc>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MMR GLU-925 PN: 822-1821-430)</a:t>
              </a:r>
            </a:p>
          </p:txBody>
        </p:sp>
        <p:pic>
          <p:nvPicPr>
            <p:cNvPr id="62" name="Picture 61">
              <a:extLst>
                <a:ext uri="{FF2B5EF4-FFF2-40B4-BE49-F238E27FC236}">
                  <a16:creationId xmlns:a16="http://schemas.microsoft.com/office/drawing/2014/main" id="{EE564E13-DE76-45C6-8DE0-D1D20842414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6946" y="3173895"/>
              <a:ext cx="417389" cy="410119"/>
            </a:xfrm>
            <a:prstGeom prst="rect">
              <a:avLst/>
            </a:prstGeom>
          </p:spPr>
        </p:pic>
      </p:grpSp>
      <p:grpSp>
        <p:nvGrpSpPr>
          <p:cNvPr id="4" name="Group 3"/>
          <p:cNvGrpSpPr/>
          <p:nvPr/>
        </p:nvGrpSpPr>
        <p:grpSpPr>
          <a:xfrm>
            <a:off x="6639951" y="2523543"/>
            <a:ext cx="5462664" cy="2063606"/>
            <a:chOff x="183799" y="4544898"/>
            <a:chExt cx="8124620" cy="2063606"/>
          </a:xfrm>
        </p:grpSpPr>
        <p:sp>
          <p:nvSpPr>
            <p:cNvPr id="63" name="TextBox 62">
              <a:extLst>
                <a:ext uri="{FF2B5EF4-FFF2-40B4-BE49-F238E27FC236}">
                  <a16:creationId xmlns:a16="http://schemas.microsoft.com/office/drawing/2014/main" id="{C3159A99-367E-43CC-ACC8-0515258318B1}"/>
                </a:ext>
              </a:extLst>
            </p:cNvPr>
            <p:cNvSpPr txBox="1"/>
            <p:nvPr/>
          </p:nvSpPr>
          <p:spPr>
            <a:xfrm>
              <a:off x="915801" y="4654123"/>
              <a:ext cx="7392618" cy="1954381"/>
            </a:xfrm>
            <a:prstGeom prst="rect">
              <a:avLst/>
            </a:prstGeom>
            <a:noFill/>
          </p:spPr>
          <p:txBody>
            <a:bodyPr wrap="square" rtlCol="0">
              <a:spAutoFit/>
            </a:bodyPr>
            <a:lstStyle/>
            <a:p>
              <a:pPr lvl="0" algn="just">
                <a:defRPr/>
              </a:pPr>
              <a:r>
                <a:rPr lang="en-US" sz="1600" b="1" dirty="0">
                  <a:solidFill>
                    <a:schemeClr val="dk1"/>
                  </a:solidFill>
                  <a:latin typeface="Times New Roman" panose="02020603050405020304" pitchFamily="18" charset="0"/>
                  <a:cs typeface="Times New Roman" panose="02020603050405020304" pitchFamily="18" charset="0"/>
                </a:rPr>
                <a:t>Mitigation / Interim Action</a:t>
              </a:r>
            </a:p>
            <a:p>
              <a:pPr marL="285750" indent="-285750" algn="just">
                <a:lnSpc>
                  <a:spcPct val="150000"/>
                </a:lnSpc>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Hiện tại, </a:t>
              </a:r>
              <a:r>
                <a:rPr lang="en-US" sz="1400" dirty="0">
                  <a:latin typeface="Times New Roman" panose="02020603050405020304" pitchFamily="18" charset="0"/>
                  <a:cs typeface="Times New Roman" panose="02020603050405020304" pitchFamily="18" charset="0"/>
                </a:rPr>
                <a:t>Airbus </a:t>
              </a:r>
              <a:r>
                <a:rPr lang="en-US" sz="1400" dirty="0" err="1">
                  <a:latin typeface="Times New Roman" panose="02020603050405020304" pitchFamily="18" charset="0"/>
                  <a:cs typeface="Times New Roman" panose="02020603050405020304" pitchFamily="18" charset="0"/>
                </a:rPr>
                <a:t>chưa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có</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biện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pháp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khắc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triệt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để</a:t>
              </a:r>
              <a:r>
                <a:rPr lang="en-US" sz="14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sz="1400" dirty="0" err="1">
                  <a:latin typeface="Times New Roman" panose="02020603050405020304" pitchFamily="18" charset="0"/>
                  <a:cs typeface="Times New Roman" panose="02020603050405020304" pitchFamily="18" charset="0"/>
                  <a:sym typeface="Wingdings" panose="05000000000000000000" pitchFamily="2" charset="2"/>
                </a:rPr>
                <a:t>Biện</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pháp</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tạm</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thời</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lỗi</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có</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thể</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khắc</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phục</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bằng</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cách</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thay</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đổi</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vị</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trí</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đỗ</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tàu</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và</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thực</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hiện</a:t>
              </a:r>
              <a:r>
                <a:rPr lang="en-US" sz="1400" dirty="0">
                  <a:latin typeface="Times New Roman" panose="02020603050405020304" pitchFamily="18" charset="0"/>
                  <a:cs typeface="Times New Roman" panose="02020603050405020304" pitchFamily="18" charset="0"/>
                  <a:sym typeface="Wingdings" panose="05000000000000000000" pitchFamily="2" charset="2"/>
                </a:rPr>
                <a:t> reset/test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hệ</a:t>
              </a:r>
              <a:r>
                <a:rPr lang="en-US" sz="1400" dirty="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a:latin typeface="Times New Roman" panose="02020603050405020304" pitchFamily="18" charset="0"/>
                  <a:cs typeface="Times New Roman" panose="02020603050405020304" pitchFamily="18" charset="0"/>
                  <a:sym typeface="Wingdings" panose="05000000000000000000" pitchFamily="2" charset="2"/>
                </a:rPr>
                <a:t>thống</a:t>
              </a:r>
              <a:r>
                <a:rPr lang="en-US" sz="1400" dirty="0">
                  <a:latin typeface="Times New Roman" panose="02020603050405020304" pitchFamily="18" charset="0"/>
                  <a:cs typeface="Times New Roman" panose="02020603050405020304" pitchFamily="18" charset="0"/>
                  <a:sym typeface="Wingdings" panose="05000000000000000000" pitchFamily="2" charset="2"/>
                </a:rPr>
                <a:t>.</a:t>
              </a:r>
              <a:endParaRPr lang="en-US" sz="14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pic>
          <p:nvPicPr>
            <p:cNvPr id="64" name="Picture 63">
              <a:extLst>
                <a:ext uri="{FF2B5EF4-FFF2-40B4-BE49-F238E27FC236}">
                  <a16:creationId xmlns:a16="http://schemas.microsoft.com/office/drawing/2014/main" id="{9C3359CF-075F-4254-AB09-C9C5CBB7744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3799" y="4544898"/>
              <a:ext cx="767972" cy="502241"/>
            </a:xfrm>
            <a:prstGeom prst="rect">
              <a:avLst/>
            </a:prstGeom>
          </p:spPr>
        </p:pic>
      </p:grpSp>
      <p:sp>
        <p:nvSpPr>
          <p:cNvPr id="30" name="Rectangle 29">
            <a:extLst>
              <a:ext uri="{FF2B5EF4-FFF2-40B4-BE49-F238E27FC236}">
                <a16:creationId xmlns:a16="http://schemas.microsoft.com/office/drawing/2014/main" id="{B0959498-11B2-4444-99B1-B42D92E2B619}"/>
              </a:ext>
            </a:extLst>
          </p:cNvPr>
          <p:cNvSpPr/>
          <p:nvPr/>
        </p:nvSpPr>
        <p:spPr>
          <a:xfrm>
            <a:off x="367055" y="845369"/>
            <a:ext cx="6743213" cy="400110"/>
          </a:xfrm>
          <a:prstGeom prst="rect">
            <a:avLst/>
          </a:prstGeom>
        </p:spPr>
        <p:txBody>
          <a:bodyPr wrap="square">
            <a:spAutoFit/>
          </a:bodyPr>
          <a:lstStyle/>
          <a:p>
            <a:pPr lvl="0" indent="114300">
              <a:defRPr/>
            </a:pPr>
            <a:r>
              <a:rPr kumimoji="0" lang="en-US" sz="20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A356</a:t>
            </a:r>
            <a:r>
              <a:rPr kumimoji="0" lang="en-US" sz="2000" b="1" i="0" u="none" strike="noStrike" kern="1200" cap="none" spc="0" normalizeH="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 DELAY  </a:t>
            </a:r>
            <a:r>
              <a:rPr kumimoji="0" lang="en-US" sz="20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22/02/2025</a:t>
            </a:r>
            <a:r>
              <a:rPr kumimoji="0" lang="en-US" sz="2000" b="1" i="0" u="none" strike="noStrike" kern="1200" cap="none" spc="0" normalizeH="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 due to GPS</a:t>
            </a:r>
            <a:endParaRPr kumimoji="0" lang="en-US" sz="20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94137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8392827" y="814634"/>
            <a:ext cx="3578781" cy="4483448"/>
            <a:chOff x="7925234" y="1679868"/>
            <a:chExt cx="3695266" cy="4742033"/>
          </a:xfrm>
        </p:grpSpPr>
        <p:pic>
          <p:nvPicPr>
            <p:cNvPr id="33" name="Picture 32"/>
            <p:cNvPicPr>
              <a:picLocks noChangeAspect="1"/>
            </p:cNvPicPr>
            <p:nvPr/>
          </p:nvPicPr>
          <p:blipFill>
            <a:blip r:embed="rId4"/>
            <a:stretch>
              <a:fillRect/>
            </a:stretch>
          </p:blipFill>
          <p:spPr>
            <a:xfrm>
              <a:off x="7937934" y="1705268"/>
              <a:ext cx="1790313" cy="1379463"/>
            </a:xfrm>
            <a:prstGeom prst="rect">
              <a:avLst/>
            </a:prstGeom>
          </p:spPr>
        </p:pic>
        <p:pic>
          <p:nvPicPr>
            <p:cNvPr id="34" name="Picture 33"/>
            <p:cNvPicPr>
              <a:picLocks noChangeAspect="1"/>
            </p:cNvPicPr>
            <p:nvPr/>
          </p:nvPicPr>
          <p:blipFill>
            <a:blip r:embed="rId5"/>
            <a:stretch>
              <a:fillRect/>
            </a:stretch>
          </p:blipFill>
          <p:spPr>
            <a:xfrm>
              <a:off x="9569419" y="1679868"/>
              <a:ext cx="2051081" cy="1452418"/>
            </a:xfrm>
            <a:prstGeom prst="rect">
              <a:avLst/>
            </a:prstGeom>
          </p:spPr>
        </p:pic>
        <p:pic>
          <p:nvPicPr>
            <p:cNvPr id="35" name="Picture 34"/>
            <p:cNvPicPr>
              <a:picLocks noChangeAspect="1"/>
            </p:cNvPicPr>
            <p:nvPr/>
          </p:nvPicPr>
          <p:blipFill>
            <a:blip r:embed="rId6"/>
            <a:stretch>
              <a:fillRect/>
            </a:stretch>
          </p:blipFill>
          <p:spPr>
            <a:xfrm>
              <a:off x="7925234" y="3178745"/>
              <a:ext cx="3563908" cy="3243156"/>
            </a:xfrm>
            <a:prstGeom prst="rect">
              <a:avLst/>
            </a:prstGeom>
          </p:spPr>
        </p:pic>
      </p:grpSp>
      <p:sp>
        <p:nvSpPr>
          <p:cNvPr id="38"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9" name="Rectangle 4"/>
          <p:cNvSpPr>
            <a:spLocks noChangeArrowheads="1"/>
          </p:cNvSpPr>
          <p:nvPr/>
        </p:nvSpPr>
        <p:spPr bwMode="auto">
          <a:xfrm>
            <a:off x="0"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5"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6"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47" name="Picture 46">
            <a:extLst>
              <a:ext uri="{FF2B5EF4-FFF2-40B4-BE49-F238E27FC236}">
                <a16:creationId xmlns:a16="http://schemas.microsoft.com/office/drawing/2014/main" id="{9AC171E4-B7C3-487F-9250-B7099A792C3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0522" y="134657"/>
            <a:ext cx="537821" cy="505652"/>
          </a:xfrm>
          <a:prstGeom prst="rect">
            <a:avLst/>
          </a:prstGeom>
        </p:spPr>
      </p:pic>
      <p:sp>
        <p:nvSpPr>
          <p:cNvPr id="48" name="AutoShape 2" descr="https://w3.airbus.com/1H43/MEFO_AW/ISI/MDAuMDAuMDA0Mzc=/html/bpHEScontentext/Aspose.Words.d1192d83-b481-4a56-93e5-9ad2352fe3cd.0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9" name="AutoShape 2" descr="https://w3.airbus.com/1H43/MEFO_AW/ISI/MDAuMDAuMDA0Mzc=/html/bpHEScontentext/Aspose.Words.d1192d83-b481-4a56-93e5-9ad2352fe3cd.00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0" name="AutoShape 2" descr="https://w3.airbus.com/1H43/MEFO_AW/ISI/MDAuMDAuMDA0Mzc=/html/bpHEScontentext/Aspose.Words.d1192d83-b481-4a56-93e5-9ad2352fe3cd.004.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1" name="AutoShape 4" descr="https://w3.airbus.com/1H43/MEFO_AW/ISI/MDAuMDAuMDA0Mzc=/html/bpHEScontentext/Aspose.Words.d1192d83-b481-4a56-93e5-9ad2352fe3cd.004.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2" name="AutoShape 2" descr="https://w3.airbus.com/1H43/MEFO_AW/ISI/MDAuMDAuMDA0Mzc=/html/bpHEScontentext/Aspose.Words.d1192d83-b481-4a56-93e5-9ad2352fe3cd.031.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3" name="AutoShape 4" descr="https://w3.airbus.com/1H43/MEFO_AW/ISI/MDAuMDAuMDA0Mzc=/html/bpHEScontentext/Aspose.Words.d1192d83-b481-4a56-93e5-9ad2352fe3cd.028.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4" name="Title 1">
            <a:extLst>
              <a:ext uri="{FF2B5EF4-FFF2-40B4-BE49-F238E27FC236}">
                <a16:creationId xmlns:a16="http://schemas.microsoft.com/office/drawing/2014/main" id="{88D62ACE-92F7-43A9-A921-E66AF898547E}"/>
              </a:ext>
            </a:extLst>
          </p:cNvPr>
          <p:cNvSpPr txBox="1">
            <a:spLocks/>
          </p:cNvSpPr>
          <p:nvPr/>
        </p:nvSpPr>
        <p:spPr>
          <a:xfrm>
            <a:off x="871239" y="203760"/>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A321 – ATA 34 – Pitot probe PN 0851MC</a:t>
            </a:r>
          </a:p>
        </p:txBody>
      </p:sp>
      <p:cxnSp>
        <p:nvCxnSpPr>
          <p:cNvPr id="55" name="Straight Connector 54">
            <a:extLst>
              <a:ext uri="{FF2B5EF4-FFF2-40B4-BE49-F238E27FC236}">
                <a16:creationId xmlns:a16="http://schemas.microsoft.com/office/drawing/2014/main" id="{DD7E6793-5C7D-44CB-AC75-538AC111FB74}"/>
              </a:ext>
            </a:extLst>
          </p:cNvPr>
          <p:cNvCxnSpPr>
            <a:cxnSpLocks/>
          </p:cNvCxnSpPr>
          <p:nvPr/>
        </p:nvCxnSpPr>
        <p:spPr>
          <a:xfrm>
            <a:off x="12102616" y="12322565"/>
            <a:ext cx="4930821"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Slide Number Placeholder 3"/>
          <p:cNvSpPr>
            <a:spLocks noGrp="1"/>
          </p:cNvSpPr>
          <p:nvPr>
            <p:ph type="sldNum" sz="quarter" idx="12"/>
          </p:nvPr>
        </p:nvSpPr>
        <p:spPr>
          <a:xfrm>
            <a:off x="8610600" y="6356350"/>
            <a:ext cx="2743200" cy="365125"/>
          </a:xfrm>
        </p:spPr>
        <p:txBody>
          <a:bodyPr>
            <a:normAutofit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7" name="Rectangle: Diagonal Corners Snipped 12">
            <a:extLst>
              <a:ext uri="{FF2B5EF4-FFF2-40B4-BE49-F238E27FC236}">
                <a16:creationId xmlns:a16="http://schemas.microsoft.com/office/drawing/2014/main" id="{AE39938C-8CA8-45E0-B1F4-2D7B4C72726F}"/>
              </a:ext>
            </a:extLst>
          </p:cNvPr>
          <p:cNvSpPr/>
          <p:nvPr/>
        </p:nvSpPr>
        <p:spPr>
          <a:xfrm>
            <a:off x="367055" y="805238"/>
            <a:ext cx="7941364" cy="1855130"/>
          </a:xfrm>
          <a:prstGeom prst="snip2DiagRect">
            <a:avLst/>
          </a:prstGeom>
          <a:pattFill prst="dotGrid">
            <a:fgClr>
              <a:schemeClr val="accent1">
                <a:lumMod val="60000"/>
                <a:lumOff val="4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58" name="Straight Connector 57">
            <a:extLst>
              <a:ext uri="{FF2B5EF4-FFF2-40B4-BE49-F238E27FC236}">
                <a16:creationId xmlns:a16="http://schemas.microsoft.com/office/drawing/2014/main" id="{18B4160E-E370-43BB-8E28-DA1FCC7D1689}"/>
              </a:ext>
            </a:extLst>
          </p:cNvPr>
          <p:cNvCxnSpPr>
            <a:cxnSpLocks/>
          </p:cNvCxnSpPr>
          <p:nvPr/>
        </p:nvCxnSpPr>
        <p:spPr>
          <a:xfrm>
            <a:off x="451463" y="1272804"/>
            <a:ext cx="7468650" cy="3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F7A9BB2C-899C-461E-A6A4-7B08F51A7606}"/>
              </a:ext>
            </a:extLst>
          </p:cNvPr>
          <p:cNvSpPr/>
          <p:nvPr/>
        </p:nvSpPr>
        <p:spPr>
          <a:xfrm>
            <a:off x="367055" y="814634"/>
            <a:ext cx="8081068"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Cambria Math" panose="02040503050406030204" pitchFamily="18" charset="0"/>
                <a:cs typeface="Times New Roman" panose="02020603050405020304" pitchFamily="18" charset="0"/>
              </a:rPr>
              <a:t>A606 GTB BOM (18/02/2025)</a:t>
            </a:r>
          </a:p>
        </p:txBody>
      </p:sp>
      <p:sp>
        <p:nvSpPr>
          <p:cNvPr id="60" name="Rectangle 59">
            <a:extLst>
              <a:ext uri="{FF2B5EF4-FFF2-40B4-BE49-F238E27FC236}">
                <a16:creationId xmlns:a16="http://schemas.microsoft.com/office/drawing/2014/main" id="{638A8625-0E68-40A5-B22C-92D95D0810CD}"/>
              </a:ext>
            </a:extLst>
          </p:cNvPr>
          <p:cNvSpPr/>
          <p:nvPr/>
        </p:nvSpPr>
        <p:spPr>
          <a:xfrm>
            <a:off x="498358" y="1380637"/>
            <a:ext cx="7574488" cy="1138773"/>
          </a:xfrm>
          <a:prstGeom prst="rect">
            <a:avLst/>
          </a:prstGeom>
        </p:spPr>
        <p:txBody>
          <a:bodyPr wrap="square">
            <a:spAutoFit/>
          </a:bodyPr>
          <a:lstStyle/>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Năm</a:t>
            </a:r>
            <a:r>
              <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2024  </a:t>
            </a:r>
            <a:r>
              <a:rPr kumimoji="0" lang="en-US" sz="16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3 </a:t>
            </a:r>
            <a:r>
              <a:rPr kumimoji="0" lang="en-US" sz="16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trường</a:t>
            </a:r>
            <a:r>
              <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6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hợp</a:t>
            </a:r>
            <a:r>
              <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6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gây</a:t>
            </a:r>
            <a:r>
              <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Delay</a:t>
            </a:r>
            <a:endParaRPr kumimoji="0" lang="vi-VN"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vi-VN"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Part được lắp lên tàu từ </a:t>
            </a:r>
            <a:r>
              <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t5/2019, </a:t>
            </a:r>
            <a:r>
              <a:rPr kumimoji="0" lang="en-US" sz="16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TSN/CSN: 13606/7404.</a:t>
            </a:r>
          </a:p>
          <a:p>
            <a:pPr marL="285750" marR="0" lvl="0"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Part </a:t>
            </a:r>
            <a:r>
              <a:rPr kumimoji="0" lang="en-US" sz="16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6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MTBUR/GMTBUR: 17,196/20000</a:t>
            </a:r>
          </a:p>
        </p:txBody>
      </p:sp>
      <p:grpSp>
        <p:nvGrpSpPr>
          <p:cNvPr id="2" name="Group 1"/>
          <p:cNvGrpSpPr/>
          <p:nvPr/>
        </p:nvGrpSpPr>
        <p:grpSpPr>
          <a:xfrm>
            <a:off x="367055" y="2944232"/>
            <a:ext cx="7931473" cy="1316802"/>
            <a:chOff x="376946" y="3173895"/>
            <a:chExt cx="7931473" cy="1316802"/>
          </a:xfrm>
        </p:grpSpPr>
        <p:sp>
          <p:nvSpPr>
            <p:cNvPr id="61" name="TextBox 60">
              <a:extLst>
                <a:ext uri="{FF2B5EF4-FFF2-40B4-BE49-F238E27FC236}">
                  <a16:creationId xmlns:a16="http://schemas.microsoft.com/office/drawing/2014/main" id="{6D01396D-6405-4000-8BC6-896E4B26445F}"/>
                </a:ext>
              </a:extLst>
            </p:cNvPr>
            <p:cNvSpPr txBox="1"/>
            <p:nvPr/>
          </p:nvSpPr>
          <p:spPr>
            <a:xfrm>
              <a:off x="820467" y="3182647"/>
              <a:ext cx="7487952" cy="130805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Root Cause / Investigation</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hủ yếu do lỗi mạch mạch sưởi chống đóng băng của Pitot Probe (bị ngắn hoặc hở mạch).</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Pitot probe PN 0851MC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part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nhất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ĐTC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tốt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hơn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part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cũ</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0851HL (MTBUR: 17,196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9,250)</a:t>
              </a:r>
            </a:p>
          </p:txBody>
        </p:sp>
        <p:pic>
          <p:nvPicPr>
            <p:cNvPr id="62" name="Picture 61">
              <a:extLst>
                <a:ext uri="{FF2B5EF4-FFF2-40B4-BE49-F238E27FC236}">
                  <a16:creationId xmlns:a16="http://schemas.microsoft.com/office/drawing/2014/main" id="{EE564E13-DE76-45C6-8DE0-D1D20842414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6946" y="3173895"/>
              <a:ext cx="417389" cy="410119"/>
            </a:xfrm>
            <a:prstGeom prst="rect">
              <a:avLst/>
            </a:prstGeom>
          </p:spPr>
        </p:pic>
      </p:grpSp>
      <p:grpSp>
        <p:nvGrpSpPr>
          <p:cNvPr id="3" name="Group 2"/>
          <p:cNvGrpSpPr/>
          <p:nvPr/>
        </p:nvGrpSpPr>
        <p:grpSpPr>
          <a:xfrm>
            <a:off x="367055" y="4261034"/>
            <a:ext cx="7894469" cy="2386772"/>
            <a:chOff x="413950" y="4544898"/>
            <a:chExt cx="7894469" cy="2386772"/>
          </a:xfrm>
        </p:grpSpPr>
        <p:sp>
          <p:nvSpPr>
            <p:cNvPr id="63" name="TextBox 62">
              <a:extLst>
                <a:ext uri="{FF2B5EF4-FFF2-40B4-BE49-F238E27FC236}">
                  <a16:creationId xmlns:a16="http://schemas.microsoft.com/office/drawing/2014/main" id="{C3159A99-367E-43CC-ACC8-0515258318B1}"/>
                </a:ext>
              </a:extLst>
            </p:cNvPr>
            <p:cNvSpPr txBox="1"/>
            <p:nvPr/>
          </p:nvSpPr>
          <p:spPr>
            <a:xfrm>
              <a:off x="915801" y="4654123"/>
              <a:ext cx="7392618" cy="227754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Mitigation / Interim Action</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Hiện tại, Thales đang nguyên cứu một phiên bản pitot probe mới (PN C47009BB), dự kiến sẽ được công bố vào năm 2026, giúp cải thiện hơn nữa khả năng chống đóng băng và tăng độ tin cậy</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Ban KT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xem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xét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chương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pro-active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part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định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tăng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suất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kiểm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khuyến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nghị</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nhiên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pitot probe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thuộc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hợp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đồng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pooling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nên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Ban KT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thêm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Ban QLVT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vấn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đề</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này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pic>
          <p:nvPicPr>
            <p:cNvPr id="64" name="Picture 63">
              <a:extLst>
                <a:ext uri="{FF2B5EF4-FFF2-40B4-BE49-F238E27FC236}">
                  <a16:creationId xmlns:a16="http://schemas.microsoft.com/office/drawing/2014/main" id="{9C3359CF-075F-4254-AB09-C9C5CBB7744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13950" y="4544898"/>
              <a:ext cx="537821" cy="502241"/>
            </a:xfrm>
            <a:prstGeom prst="rect">
              <a:avLst/>
            </a:prstGeom>
          </p:spPr>
        </p:pic>
      </p:grpSp>
    </p:spTree>
    <p:custDataLst>
      <p:tags r:id="rId1"/>
    </p:custDataLst>
    <p:extLst>
      <p:ext uri="{BB962C8B-B14F-4D97-AF65-F5344CB8AC3E}">
        <p14:creationId xmlns:p14="http://schemas.microsoft.com/office/powerpoint/2010/main" val="3701773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31A5E89-8330-4CC5-8E86-DC6C55D3DE22}"/>
              </a:ext>
            </a:extLst>
          </p:cNvPr>
          <p:cNvSpPr txBox="1"/>
          <p:nvPr/>
        </p:nvSpPr>
        <p:spPr>
          <a:xfrm>
            <a:off x="737417" y="168860"/>
            <a:ext cx="10293572"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DEA610"/>
                </a:solidFill>
                <a:effectLst/>
                <a:uLnTx/>
                <a:uFillTx/>
                <a:latin typeface="Times New Roman" panose="02020603050405020304" pitchFamily="18" charset="0"/>
                <a:ea typeface="+mn-ea"/>
                <a:cs typeface="Times New Roman" panose="02020603050405020304" pitchFamily="18" charset="0"/>
              </a:rPr>
              <a:t>A321 – ATA 29 – BLUE PUMP LOW PRESS</a:t>
            </a:r>
          </a:p>
        </p:txBody>
      </p:sp>
      <p:sp>
        <p:nvSpPr>
          <p:cNvPr id="25" name="Rectangle: Single Corner Rounded 24">
            <a:extLst>
              <a:ext uri="{FF2B5EF4-FFF2-40B4-BE49-F238E27FC236}">
                <a16:creationId xmlns:a16="http://schemas.microsoft.com/office/drawing/2014/main" id="{D5DADBD9-6852-441A-BF72-7DAFAE15B1FD}"/>
              </a:ext>
            </a:extLst>
          </p:cNvPr>
          <p:cNvSpPr/>
          <p:nvPr/>
        </p:nvSpPr>
        <p:spPr>
          <a:xfrm flipH="1" flipV="1">
            <a:off x="302018" y="790661"/>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B07695F-044B-46D6-B43C-B700EFBA7248}"/>
              </a:ext>
            </a:extLst>
          </p:cNvPr>
          <p:cNvSpPr/>
          <p:nvPr/>
        </p:nvSpPr>
        <p:spPr>
          <a:xfrm>
            <a:off x="782968" y="785145"/>
            <a:ext cx="10069062"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A332 GTB due to Blue pump low press</a:t>
            </a:r>
          </a:p>
        </p:txBody>
      </p:sp>
      <p:sp>
        <p:nvSpPr>
          <p:cNvPr id="27" name="Rectangle 26">
            <a:extLst>
              <a:ext uri="{FF2B5EF4-FFF2-40B4-BE49-F238E27FC236}">
                <a16:creationId xmlns:a16="http://schemas.microsoft.com/office/drawing/2014/main" id="{367F70C2-5165-479E-AFB9-34EDD474B128}"/>
              </a:ext>
            </a:extLst>
          </p:cNvPr>
          <p:cNvSpPr/>
          <p:nvPr/>
        </p:nvSpPr>
        <p:spPr>
          <a:xfrm>
            <a:off x="737417" y="1210054"/>
            <a:ext cx="10882536" cy="600164"/>
          </a:xfrm>
          <a:prstGeom prst="rect">
            <a:avLst/>
          </a:prstGeom>
        </p:spPr>
        <p:txBody>
          <a:bodyPr wrap="square">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A339/GTB/VN7173/HPH GTB DUE TO ECAM </a:t>
            </a:r>
            <a:r>
              <a:rPr kumimoji="0" lang="en-US" sz="1400" b="0" i="0" u="none" strike="noStrike" kern="1200" cap="none" spc="0" normalizeH="0" baseline="0" noProof="0" dirty="0" err="1">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MSG:Blue</a:t>
            </a:r>
            <a:r>
              <a:rPr kumimoji="0" lang="en-US" sz="1400" b="0" i="0" u="none" strike="noStrike" kern="1200" cap="none" spc="0" normalizeH="0" baseline="0" noProof="0" dirty="0">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 pump low press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Sau </a:t>
            </a:r>
            <a:r>
              <a:rPr kumimoji="0" lang="en-US" sz="1400" b="0" i="0" u="none" strike="noStrike" kern="1200" cap="none" spc="0" normalizeH="0" baseline="0" noProof="0" dirty="0" err="1">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khi</a:t>
            </a:r>
            <a:r>
              <a:rPr kumimoji="0" lang="en-US" sz="1400" b="0" i="0" u="none" strike="noStrike" kern="1200" cap="none" spc="0" normalizeH="0" baseline="0" noProof="0" dirty="0">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thay</a:t>
            </a:r>
            <a:r>
              <a:rPr kumimoji="0" lang="en-US" sz="1400" b="0" i="0" u="none" strike="noStrike" kern="1200" cap="none" spc="0" normalizeH="0" baseline="0" noProof="0" dirty="0">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 EMP </a:t>
            </a:r>
            <a:r>
              <a:rPr kumimoji="0" lang="en-US" sz="1400" b="0" i="0" u="none" strike="noStrike" kern="1200" cap="none" spc="0" normalizeH="0" baseline="0" noProof="0" dirty="0" err="1">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tàu</a:t>
            </a:r>
            <a:r>
              <a:rPr kumimoji="0" lang="en-US" sz="1400" b="0" i="0" u="none" strike="noStrike" kern="1200" cap="none" spc="0" normalizeH="0" baseline="0" noProof="0" dirty="0">
                <a:ln w="0"/>
                <a:solidFill>
                  <a:srgbClr val="203864"/>
                </a:solidFill>
                <a:effectLst/>
                <a:uLnTx/>
                <a:uFillTx/>
                <a:latin typeface="Cambria" panose="02040503050406030204" pitchFamily="18" charset="0"/>
                <a:ea typeface="Cambria" panose="02040503050406030204" pitchFamily="18" charset="0"/>
                <a:cs typeface="Times New Roman" panose="02020603050405020304" pitchFamily="18" charset="0"/>
              </a:rPr>
              <a:t> serviceable</a:t>
            </a:r>
            <a:endPar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endParaRPr>
          </a:p>
        </p:txBody>
      </p:sp>
      <p:sp>
        <p:nvSpPr>
          <p:cNvPr id="39" name="TextBox 38">
            <a:extLst>
              <a:ext uri="{FF2B5EF4-FFF2-40B4-BE49-F238E27FC236}">
                <a16:creationId xmlns:a16="http://schemas.microsoft.com/office/drawing/2014/main" id="{4210CCF0-33AF-4035-BD27-3303A8633E6C}"/>
              </a:ext>
            </a:extLst>
          </p:cNvPr>
          <p:cNvSpPr txBox="1"/>
          <p:nvPr/>
        </p:nvSpPr>
        <p:spPr>
          <a:xfrm>
            <a:off x="795408" y="2477974"/>
            <a:ext cx="2662062"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US" sz="1800" b="1" i="0" u="none" strike="noStrike" kern="1200" cap="none" spc="0" normalizeH="0" baseline="0" noProof="0" dirty="0" err="1">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Phân</a:t>
            </a:r>
            <a:r>
              <a:rPr kumimoji="0" lang="en-US" sz="1800" b="1" i="0" u="none" strike="noStrike" kern="1200" cap="none" spc="0" normalizeH="0" baseline="0" noProof="0" dirty="0">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800" b="1" i="0" u="none" strike="noStrike" kern="1200" cap="none" spc="0" normalizeH="0" baseline="0" noProof="0" dirty="0" err="1">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tích</a:t>
            </a:r>
            <a:r>
              <a:rPr kumimoji="0" lang="en-US" sz="1800" b="1" i="0" u="none" strike="noStrike" kern="1200" cap="none" spc="0" normalizeH="0" baseline="0" noProof="0" dirty="0">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a:t>
            </a:r>
            <a:r>
              <a:rPr kumimoji="0" lang="en-US" sz="1800" b="1" i="0" u="none" strike="noStrike" kern="1200" cap="none" spc="0" normalizeH="0" baseline="0" noProof="0" dirty="0" err="1">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Đánh</a:t>
            </a:r>
            <a:r>
              <a:rPr kumimoji="0" lang="en-US" sz="1800" b="1" i="0" u="none" strike="noStrike" kern="1200" cap="none" spc="0" normalizeH="0" baseline="0" noProof="0" dirty="0">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800" b="1" i="0" u="none" strike="noStrike" kern="1200" cap="none" spc="0" normalizeH="0" baseline="0" noProof="0" dirty="0" err="1">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giá</a:t>
            </a:r>
            <a:endParaRPr kumimoji="0" lang="en-US" sz="1800" b="1" i="0" u="none" strike="noStrike" kern="1200" cap="none" spc="0" normalizeH="0" baseline="0" noProof="0" dirty="0">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E05FED27-E33B-4C7E-85F6-BC470EC52ECB}"/>
              </a:ext>
            </a:extLst>
          </p:cNvPr>
          <p:cNvSpPr txBox="1"/>
          <p:nvPr/>
        </p:nvSpPr>
        <p:spPr>
          <a:xfrm>
            <a:off x="795407" y="2990319"/>
            <a:ext cx="5759951" cy="1846659"/>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A332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EMP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Eaton</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Tất</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các</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từ</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A357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chuyển</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sang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lắp</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bơm</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Eaton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hệ</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thống</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B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Y</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Từ</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năm</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2020,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sau</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khi</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chuyển</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đổi</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bơm</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04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lần</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tháo</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ngoài</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KH</a:t>
            </a:r>
          </a:p>
          <a:p>
            <a:pPr marL="285750" lvl="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B</a:t>
            </a:r>
            <a:r>
              <a:rPr lang="vi-VN" sz="1400" dirty="0">
                <a:solidFill>
                  <a:srgbClr val="203864"/>
                </a:solidFill>
                <a:latin typeface="Times New Roman" panose="02020603050405020304" pitchFamily="18" charset="0"/>
                <a:cs typeface="Times New Roman" panose="02020603050405020304" pitchFamily="18" charset="0"/>
              </a:rPr>
              <a:t>an đầu khi lắp bơm Eaton do bỏ khối giảm chấn dẫn đến 02 trường hợp hỏng sớm, sau khi phát hiện ra vấn đề AIB đã cho lắp lại bộ giảm chấn và từ lúc làm mod đến nay chỉ hỏng bơm thêm 02 lần.</a:t>
            </a:r>
            <a:endPar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endParaRPr>
          </a:p>
        </p:txBody>
      </p:sp>
      <p:pic>
        <p:nvPicPr>
          <p:cNvPr id="105" name="Picture 104">
            <a:extLst>
              <a:ext uri="{FF2B5EF4-FFF2-40B4-BE49-F238E27FC236}">
                <a16:creationId xmlns:a16="http://schemas.microsoft.com/office/drawing/2014/main" id="{6C0963AF-2C0C-426C-8070-5E29C3C95D73}"/>
              </a:ext>
            </a:extLst>
          </p:cNvPr>
          <p:cNvPicPr>
            <a:picLocks noChangeAspect="1"/>
          </p:cNvPicPr>
          <p:nvPr/>
        </p:nvPicPr>
        <p:blipFill>
          <a:blip r:embed="rId3"/>
          <a:stretch>
            <a:fillRect/>
          </a:stretch>
        </p:blipFill>
        <p:spPr>
          <a:xfrm>
            <a:off x="365624" y="2419483"/>
            <a:ext cx="510877" cy="512345"/>
          </a:xfrm>
          <a:prstGeom prst="rect">
            <a:avLst/>
          </a:prstGeom>
        </p:spPr>
      </p:pic>
      <p:grpSp>
        <p:nvGrpSpPr>
          <p:cNvPr id="43" name="Group 42">
            <a:extLst>
              <a:ext uri="{FF2B5EF4-FFF2-40B4-BE49-F238E27FC236}">
                <a16:creationId xmlns:a16="http://schemas.microsoft.com/office/drawing/2014/main" id="{96848787-7A9F-4F52-ABC0-1107EA34F5F0}"/>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id="{EF38EC88-2153-4950-B37C-5AA23CFFE443}"/>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E261425C-3820-49B8-A55E-025BA5C93B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 name="Rectangle 2">
            <a:extLst>
              <a:ext uri="{FF2B5EF4-FFF2-40B4-BE49-F238E27FC236}">
                <a16:creationId xmlns:a16="http://schemas.microsoft.com/office/drawing/2014/main" id="{44661636-EB8A-415F-84D1-76873A64495B}"/>
              </a:ext>
            </a:extLst>
          </p:cNvPr>
          <p:cNvSpPr/>
          <p:nvPr/>
        </p:nvSpPr>
        <p:spPr>
          <a:xfrm>
            <a:off x="347568" y="753635"/>
            <a:ext cx="389850"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sym typeface="Wingdings" panose="05000000000000000000" pitchFamily="2" charset="2"/>
              </a:rPr>
              <a:t></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B299EA22-CE66-4152-AA3B-0EE67E068BED}"/>
              </a:ext>
            </a:extLst>
          </p:cNvPr>
          <p:cNvSpPr txBox="1"/>
          <p:nvPr/>
        </p:nvSpPr>
        <p:spPr>
          <a:xfrm>
            <a:off x="926453" y="4847011"/>
            <a:ext cx="1969253"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US" sz="1800" b="1" i="0" u="none" strike="noStrike" kern="1200" cap="none" spc="0" normalizeH="0" baseline="0" noProof="0" dirty="0" err="1">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Giải</a:t>
            </a:r>
            <a:r>
              <a:rPr kumimoji="0" lang="en-US" sz="1800" b="1" i="0" u="none" strike="noStrike" kern="1200" cap="none" spc="0" normalizeH="0" baseline="0" noProof="0" dirty="0">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800" b="1" i="0" u="none" strike="noStrike" kern="1200" cap="none" spc="0" normalizeH="0" baseline="0" noProof="0" dirty="0" err="1">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rPr>
              <a:t>pháp</a:t>
            </a:r>
            <a:endParaRPr kumimoji="0" lang="en-US" sz="1800" b="1" i="0" u="none" strike="noStrike" kern="1200" cap="none" spc="0" normalizeH="0" baseline="0" noProof="0" dirty="0">
              <a:ln>
                <a:noFill/>
              </a:ln>
              <a:solidFill>
                <a:srgbClr val="006885"/>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4EBB0B7-3B29-442D-AB18-AC8C4C118B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5563" y="4752869"/>
            <a:ext cx="550890" cy="464480"/>
          </a:xfrm>
          <a:prstGeom prst="rect">
            <a:avLst/>
          </a:prstGeom>
        </p:spPr>
      </p:pic>
      <p:sp>
        <p:nvSpPr>
          <p:cNvPr id="6" name="Rectangle 5">
            <a:extLst>
              <a:ext uri="{FF2B5EF4-FFF2-40B4-BE49-F238E27FC236}">
                <a16:creationId xmlns:a16="http://schemas.microsoft.com/office/drawing/2014/main" id="{8577CEAE-802D-4767-9717-645CEE87B488}"/>
              </a:ext>
            </a:extLst>
          </p:cNvPr>
          <p:cNvSpPr/>
          <p:nvPr/>
        </p:nvSpPr>
        <p:spPr>
          <a:xfrm>
            <a:off x="853310" y="5310485"/>
            <a:ext cx="5759950" cy="1046440"/>
          </a:xfrm>
          <a:prstGeom prst="rect">
            <a:avLst/>
          </a:prstGeom>
        </p:spPr>
        <p:txBody>
          <a:bodyPr wrap="square">
            <a:spAutoFit/>
          </a:bodyPr>
          <a:lstStyle/>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Hiện</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issue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nào</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liên</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quan</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đến</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ĐTC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bơm</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này</a:t>
            </a:r>
            <a:endPar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Kiểm</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tra</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SFR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của</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khối</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gần</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đây</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gửi</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đi</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shop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thì</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NFF</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Tiếp</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tục</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theo</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dõi</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làm</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việc</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thêm</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OEM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trong</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thời</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gian</a:t>
            </a:r>
            <a:r>
              <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203864"/>
                </a:solidFill>
                <a:effectLst/>
                <a:uLnTx/>
                <a:uFillTx/>
                <a:latin typeface="Times New Roman" panose="02020603050405020304" pitchFamily="18" charset="0"/>
                <a:ea typeface="+mn-ea"/>
                <a:cs typeface="Times New Roman" panose="02020603050405020304" pitchFamily="18" charset="0"/>
              </a:rPr>
              <a:t>tới</a:t>
            </a:r>
            <a:endParaRPr kumimoji="0" lang="en-US" sz="1400" b="0" i="0" u="none" strike="noStrike" kern="1200" cap="none" spc="0" normalizeH="0" baseline="0" noProof="0" dirty="0">
              <a:ln>
                <a:noFill/>
              </a:ln>
              <a:solidFill>
                <a:srgbClr val="203864"/>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a:extLst>
              <a:ext uri="{FF2B5EF4-FFF2-40B4-BE49-F238E27FC236}">
                <a16:creationId xmlns:a16="http://schemas.microsoft.com/office/drawing/2014/main" id="{7664D108-2728-596A-97FB-813D711C8EF6}"/>
              </a:ext>
            </a:extLst>
          </p:cNvPr>
          <p:cNvPicPr>
            <a:picLocks noChangeAspect="1"/>
          </p:cNvPicPr>
          <p:nvPr/>
        </p:nvPicPr>
        <p:blipFill>
          <a:blip r:embed="rId6"/>
          <a:stretch>
            <a:fillRect/>
          </a:stretch>
        </p:blipFill>
        <p:spPr>
          <a:xfrm>
            <a:off x="6636451" y="2651867"/>
            <a:ext cx="5091837" cy="1447728"/>
          </a:xfrm>
          <a:prstGeom prst="rect">
            <a:avLst/>
          </a:prstGeom>
        </p:spPr>
      </p:pic>
      <p:pic>
        <p:nvPicPr>
          <p:cNvPr id="8" name="Picture 7">
            <a:extLst>
              <a:ext uri="{FF2B5EF4-FFF2-40B4-BE49-F238E27FC236}">
                <a16:creationId xmlns:a16="http://schemas.microsoft.com/office/drawing/2014/main" id="{D6399B9B-25F0-F402-9FAA-0C8DA311A7E3}"/>
              </a:ext>
            </a:extLst>
          </p:cNvPr>
          <p:cNvPicPr>
            <a:picLocks noChangeAspect="1"/>
          </p:cNvPicPr>
          <p:nvPr/>
        </p:nvPicPr>
        <p:blipFill>
          <a:blip r:embed="rId7"/>
          <a:stretch>
            <a:fillRect/>
          </a:stretch>
        </p:blipFill>
        <p:spPr>
          <a:xfrm>
            <a:off x="6636452" y="4438047"/>
            <a:ext cx="5076056" cy="1405338"/>
          </a:xfrm>
          <a:prstGeom prst="rect">
            <a:avLst/>
          </a:prstGeom>
        </p:spPr>
      </p:pic>
    </p:spTree>
    <p:extLst>
      <p:ext uri="{BB962C8B-B14F-4D97-AF65-F5344CB8AC3E}">
        <p14:creationId xmlns:p14="http://schemas.microsoft.com/office/powerpoint/2010/main" val="506270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19</a:t>
            </a:fld>
            <a:endParaRPr lang="en-US" altLang="en-US" sz="1200">
              <a:solidFill>
                <a:srgbClr val="D2A43B"/>
              </a:solidFill>
              <a:latin typeface="Montserrat"/>
            </a:endParaRPr>
          </a:p>
        </p:txBody>
      </p:sp>
      <p:sp>
        <p:nvSpPr>
          <p:cNvPr id="1048638" name="Title 4"/>
          <p:cNvSpPr>
            <a:spLocks noGrp="1"/>
          </p:cNvSpPr>
          <p:nvPr>
            <p:ph type="title"/>
          </p:nvPr>
        </p:nvSpPr>
        <p:spPr>
          <a:xfrm>
            <a:off x="1047482" y="228600"/>
            <a:ext cx="8686799" cy="609600"/>
          </a:xfrm>
        </p:spPr>
        <p:txBody>
          <a:bodyPr rtlCol="0">
            <a:normAutofit/>
          </a:bodyPr>
          <a:lstStyle/>
          <a:p>
            <a:pPr eaLnBrk="1" fontAlgn="auto" hangingPunct="1">
              <a:spcAft>
                <a:spcPts val="0"/>
              </a:spcAft>
              <a:defRPr/>
            </a:pPr>
            <a:r>
              <a:rPr lang="en-US" sz="24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4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1066800" y="838200"/>
            <a:ext cx="10229811" cy="3323987"/>
          </a:xfrm>
          <a:prstGeom prst="rect">
            <a:avLst/>
          </a:prstGeom>
          <a:noFill/>
        </p:spPr>
        <p:txBody>
          <a:bodyPr wrap="square">
            <a:spAutoFit/>
          </a:bodyPr>
          <a:lstStyle/>
          <a:p>
            <a:pPr lvl="0" algn="just">
              <a:defRPr/>
            </a:pPr>
            <a:r>
              <a:rPr lang="en-US" sz="1500" b="1" dirty="0" err="1">
                <a:latin typeface="Times New Roman" panose="02020603050405020304" pitchFamily="18" charset="0"/>
                <a:cs typeface="Times New Roman" panose="02020603050405020304" pitchFamily="18" charset="0"/>
              </a:rPr>
              <a:t>Nhận</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xét</a:t>
            </a:r>
            <a:r>
              <a:rPr lang="en-US" sz="1500" b="1" dirty="0">
                <a:latin typeface="Times New Roman" panose="02020603050405020304" pitchFamily="18" charset="0"/>
                <a:cs typeface="Times New Roman" panose="02020603050405020304" pitchFamily="18" charset="0"/>
              </a:rPr>
              <a:t>: </a:t>
            </a:r>
          </a:p>
          <a:p>
            <a:pPr lvl="0" algn="just">
              <a:defRPr/>
            </a:pPr>
            <a:r>
              <a:rPr lang="en-US" sz="1500" dirty="0">
                <a:latin typeface="Times New Roman" panose="02020603050405020304" pitchFamily="18" charset="0"/>
                <a:cs typeface="Times New Roman" panose="02020603050405020304" pitchFamily="18" charset="0"/>
              </a:rPr>
              <a:t>Trong </a:t>
            </a:r>
            <a:r>
              <a:rPr lang="en-US" sz="1500" dirty="0" err="1">
                <a:latin typeface="Times New Roman" panose="02020603050405020304" pitchFamily="18" charset="0"/>
                <a:cs typeface="Times New Roman" panose="02020603050405020304" pitchFamily="18" charset="0"/>
              </a:rPr>
              <a:t>tuần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phát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sinh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một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số</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trường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hợp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hỏng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hóc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sau</a:t>
            </a:r>
            <a:r>
              <a:rPr lang="en-US" sz="1500" dirty="0">
                <a:latin typeface="Times New Roman" panose="02020603050405020304" pitchFamily="18" charset="0"/>
                <a:cs typeface="Times New Roman" panose="02020603050405020304" pitchFamily="18" charset="0"/>
              </a:rPr>
              <a:t>:</a:t>
            </a:r>
          </a:p>
          <a:p>
            <a:r>
              <a:rPr lang="en-US" sz="1500" dirty="0">
                <a:latin typeface="Times New Roman" panose="02020603050405020304" pitchFamily="18" charset="0"/>
                <a:cs typeface="Times New Roman" panose="02020603050405020304" pitchFamily="18" charset="0"/>
              </a:rPr>
              <a:t>1. A606 GTB </a:t>
            </a:r>
            <a:r>
              <a:rPr lang="en-US" sz="1500" dirty="0" err="1">
                <a:latin typeface="Times New Roman" panose="02020603050405020304" pitchFamily="18" charset="0"/>
                <a:cs typeface="Times New Roman" panose="02020603050405020304" pitchFamily="18" charset="0"/>
              </a:rPr>
              <a:t>tại</a:t>
            </a:r>
            <a:r>
              <a:rPr lang="en-US" sz="1500" dirty="0">
                <a:latin typeface="Times New Roman" panose="02020603050405020304" pitchFamily="18" charset="0"/>
                <a:cs typeface="Times New Roman" panose="02020603050405020304" pitchFamily="18" charset="0"/>
              </a:rPr>
              <a:t> BOM ECAM WARNING "STBY PITOT HEATER do </a:t>
            </a:r>
            <a:r>
              <a:rPr lang="en-US" sz="1500" dirty="0" err="1">
                <a:latin typeface="Times New Roman" panose="02020603050405020304" pitchFamily="18" charset="0"/>
                <a:cs typeface="Times New Roman" panose="02020603050405020304" pitchFamily="18" charset="0"/>
              </a:rPr>
              <a:t>nếu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mở</a:t>
            </a:r>
            <a:r>
              <a:rPr lang="en-US" sz="1500" dirty="0">
                <a:latin typeface="Times New Roman" panose="02020603050405020304" pitchFamily="18" charset="0"/>
                <a:cs typeface="Times New Roman" panose="02020603050405020304" pitchFamily="18" charset="0"/>
              </a:rPr>
              <a:t> MEL 30-31-02C </a:t>
            </a:r>
            <a:r>
              <a:rPr lang="en-US" sz="1500" dirty="0" err="1">
                <a:latin typeface="Times New Roman" panose="02020603050405020304" pitchFamily="18" charset="0"/>
                <a:cs typeface="Times New Roman" panose="02020603050405020304" pitchFamily="18" charset="0"/>
              </a:rPr>
              <a:t>sẽ</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có</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chế</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khai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thác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tậm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nhìn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cũng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như</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điều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kiện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đoán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điều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có</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đóng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băng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nên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đã</a:t>
            </a:r>
            <a:r>
              <a:rPr lang="en-US" sz="1500" dirty="0">
                <a:latin typeface="Times New Roman" panose="02020603050405020304" pitchFamily="18" charset="0"/>
                <a:cs typeface="Times New Roman" panose="02020603050405020304" pitchFamily="18" charset="0"/>
              </a:rPr>
              <a:t> quay </a:t>
            </a:r>
            <a:r>
              <a:rPr lang="en-US" sz="1500" dirty="0" err="1">
                <a:latin typeface="Times New Roman" panose="02020603050405020304" pitchFamily="18" charset="0"/>
                <a:cs typeface="Times New Roman" panose="02020603050405020304" pitchFamily="18" charset="0"/>
              </a:rPr>
              <a:t>lại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để</a:t>
            </a:r>
            <a:r>
              <a:rPr lang="en-US" sz="1500" dirty="0">
                <a:latin typeface="Times New Roman" panose="02020603050405020304" pitchFamily="18" charset="0"/>
                <a:cs typeface="Times New Roman" panose="02020603050405020304" pitchFamily="18" charset="0"/>
              </a:rPr>
              <a:t> swap STBY PITOT PROBE </a:t>
            </a:r>
            <a:r>
              <a:rPr lang="en-US" sz="1500" dirty="0" err="1">
                <a:latin typeface="Times New Roman" panose="02020603050405020304" pitchFamily="18" charset="0"/>
                <a:cs typeface="Times New Roman" panose="02020603050405020304" pitchFamily="18" charset="0"/>
              </a:rPr>
              <a:t>với</a:t>
            </a:r>
            <a:r>
              <a:rPr lang="en-US" sz="1500" dirty="0">
                <a:latin typeface="Times New Roman" panose="02020603050405020304" pitchFamily="18" charset="0"/>
                <a:cs typeface="Times New Roman" panose="02020603050405020304" pitchFamily="18" charset="0"/>
              </a:rPr>
              <a:t> F/O PITOT PROBE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RAISED ADD. </a:t>
            </a:r>
            <a:r>
              <a:rPr lang="en-US" sz="1500" dirty="0" err="1">
                <a:latin typeface="Times New Roman" panose="02020603050405020304" pitchFamily="18" charset="0"/>
                <a:cs typeface="Times New Roman" panose="02020603050405020304" pitchFamily="18" charset="0"/>
              </a:rPr>
              <a:t>Tàu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sau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đã</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thay</a:t>
            </a:r>
            <a:r>
              <a:rPr lang="en-US" sz="1500" dirty="0">
                <a:latin typeface="Times New Roman" panose="02020603050405020304" pitchFamily="18" charset="0"/>
                <a:cs typeface="Times New Roman" panose="02020603050405020304" pitchFamily="18" charset="0"/>
              </a:rPr>
              <a:t> F/O PITOT PROBE (Part </a:t>
            </a:r>
            <a:r>
              <a:rPr lang="en-US" sz="1500" dirty="0" err="1">
                <a:latin typeface="Times New Roman" panose="02020603050405020304" pitchFamily="18" charset="0"/>
                <a:cs typeface="Times New Roman" panose="02020603050405020304" pitchFamily="18" charset="0"/>
              </a:rPr>
              <a:t>được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sử</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dụng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từ</a:t>
            </a:r>
            <a:r>
              <a:rPr lang="en-US" sz="1500" dirty="0">
                <a:latin typeface="Times New Roman" panose="02020603050405020304" pitchFamily="18" charset="0"/>
                <a:cs typeface="Times New Roman" panose="02020603050405020304" pitchFamily="18" charset="0"/>
              </a:rPr>
              <a:t> t5/2019, </a:t>
            </a:r>
            <a:r>
              <a:rPr lang="en-US" sz="1500" dirty="0" err="1">
                <a:latin typeface="Times New Roman" panose="02020603050405020304" pitchFamily="18" charset="0"/>
                <a:cs typeface="Times New Roman" panose="02020603050405020304" pitchFamily="18" charset="0"/>
              </a:rPr>
              <a:t>có</a:t>
            </a:r>
            <a:r>
              <a:rPr lang="en-US" sz="1500" dirty="0">
                <a:latin typeface="Times New Roman" panose="02020603050405020304" pitchFamily="18" charset="0"/>
                <a:cs typeface="Times New Roman" panose="02020603050405020304" pitchFamily="18" charset="0"/>
              </a:rPr>
              <a:t> TSN/CSN: 13606/7404)</a:t>
            </a:r>
          </a:p>
          <a:p>
            <a:r>
              <a:rPr lang="en-US" sz="1500" dirty="0">
                <a:latin typeface="Times New Roman" panose="02020603050405020304" pitchFamily="18" charset="0"/>
                <a:cs typeface="Times New Roman" panose="02020603050405020304" pitchFamily="18" charset="0"/>
              </a:rPr>
              <a:t>2. A332 GTB </a:t>
            </a:r>
            <a:r>
              <a:rPr lang="en-US" sz="1500" dirty="0" err="1">
                <a:latin typeface="Times New Roman" panose="02020603050405020304" pitchFamily="18" charset="0"/>
                <a:cs typeface="Times New Roman" panose="02020603050405020304" pitchFamily="18" charset="0"/>
              </a:rPr>
              <a:t>tại</a:t>
            </a:r>
            <a:r>
              <a:rPr lang="en-US" sz="1500" dirty="0">
                <a:latin typeface="Times New Roman" panose="02020603050405020304" pitchFamily="18" charset="0"/>
                <a:cs typeface="Times New Roman" panose="02020603050405020304" pitchFamily="18" charset="0"/>
              </a:rPr>
              <a:t> HPH </a:t>
            </a:r>
            <a:r>
              <a:rPr lang="en-US" sz="1500" dirty="0" err="1">
                <a:latin typeface="Times New Roman" panose="02020603050405020304" pitchFamily="18" charset="0"/>
                <a:cs typeface="Times New Roman" panose="02020603050405020304" pitchFamily="18" charset="0"/>
              </a:rPr>
              <a:t>Sau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tàu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đẩy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ra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nổ</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máy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báo</a:t>
            </a:r>
            <a:r>
              <a:rPr lang="en-US" sz="1500" dirty="0">
                <a:latin typeface="Times New Roman" panose="02020603050405020304" pitchFamily="18" charset="0"/>
                <a:cs typeface="Times New Roman" panose="02020603050405020304" pitchFamily="18" charset="0"/>
              </a:rPr>
              <a:t> MSG BLUE PUMP LOW PRESS, </a:t>
            </a:r>
            <a:r>
              <a:rPr lang="en-US" sz="1500" dirty="0" err="1">
                <a:latin typeface="Times New Roman" panose="02020603050405020304" pitchFamily="18" charset="0"/>
                <a:cs typeface="Times New Roman" panose="02020603050405020304" pitchFamily="18" charset="0"/>
              </a:rPr>
              <a:t>tàu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phải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thực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hiện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thay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bơm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Bơm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lắp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trên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tàu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là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Bơm</a:t>
            </a:r>
            <a:r>
              <a:rPr lang="en-US" sz="1500" dirty="0">
                <a:latin typeface="Times New Roman" panose="02020603050405020304" pitchFamily="18" charset="0"/>
                <a:cs typeface="Times New Roman" panose="02020603050405020304" pitchFamily="18" charset="0"/>
              </a:rPr>
              <a:t> Eaton)</a:t>
            </a:r>
          </a:p>
          <a:p>
            <a:r>
              <a:rPr lang="en-US" sz="1500" dirty="0">
                <a:latin typeface="Times New Roman" panose="02020603050405020304" pitchFamily="18" charset="0"/>
                <a:cs typeface="Times New Roman" panose="02020603050405020304" pitchFamily="18" charset="0"/>
              </a:rPr>
              <a:t>A625 </a:t>
            </a:r>
            <a:r>
              <a:rPr lang="en-US" sz="1500" dirty="0" err="1">
                <a:latin typeface="Times New Roman" panose="02020603050405020304" pitchFamily="18" charset="0"/>
                <a:cs typeface="Times New Roman" panose="02020603050405020304" pitchFamily="18" charset="0"/>
              </a:rPr>
              <a:t>phát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sinh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hỏng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hóc</a:t>
            </a:r>
            <a:r>
              <a:rPr lang="en-US" sz="1500" dirty="0">
                <a:latin typeface="Times New Roman" panose="02020603050405020304" pitchFamily="18" charset="0"/>
                <a:cs typeface="Times New Roman" panose="02020603050405020304" pitchFamily="18" charset="0"/>
              </a:rPr>
              <a:t> BRAKES PARK BRK LO PR </a:t>
            </a:r>
            <a:r>
              <a:rPr lang="en-US" sz="1500" dirty="0" err="1">
                <a:latin typeface="Times New Roman" panose="02020603050405020304" pitchFamily="18" charset="0"/>
                <a:cs typeface="Times New Roman" panose="02020603050405020304" pitchFamily="18" charset="0"/>
              </a:rPr>
              <a:t>Tàu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kéo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từ</a:t>
            </a:r>
            <a:r>
              <a:rPr lang="en-US" sz="1500" dirty="0">
                <a:latin typeface="Times New Roman" panose="02020603050405020304" pitchFamily="18" charset="0"/>
                <a:cs typeface="Times New Roman" panose="02020603050405020304" pitchFamily="18" charset="0"/>
              </a:rPr>
              <a:t> 75 </a:t>
            </a:r>
            <a:r>
              <a:rPr lang="en-US" sz="1500" dirty="0" err="1">
                <a:latin typeface="Times New Roman" panose="02020603050405020304" pitchFamily="18" charset="0"/>
                <a:cs typeface="Times New Roman" panose="02020603050405020304" pitchFamily="18" charset="0"/>
              </a:rPr>
              <a:t>ra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cầu</a:t>
            </a:r>
            <a:r>
              <a:rPr lang="en-US" sz="1500" dirty="0">
                <a:latin typeface="Times New Roman" panose="02020603050405020304" pitchFamily="18" charset="0"/>
                <a:cs typeface="Times New Roman" panose="02020603050405020304" pitchFamily="18" charset="0"/>
              </a:rPr>
              <a:t> 47 </a:t>
            </a:r>
            <a:r>
              <a:rPr lang="en-US" sz="1500" dirty="0" err="1">
                <a:latin typeface="Times New Roman" panose="02020603050405020304" pitchFamily="18" charset="0"/>
                <a:cs typeface="Times New Roman" panose="02020603050405020304" pitchFamily="18" charset="0"/>
              </a:rPr>
              <a:t>để</a:t>
            </a:r>
            <a:r>
              <a:rPr lang="en-US" sz="1500" dirty="0">
                <a:latin typeface="Times New Roman" panose="02020603050405020304" pitchFamily="18" charset="0"/>
                <a:cs typeface="Times New Roman" panose="02020603050405020304" pitchFamily="18" charset="0"/>
              </a:rPr>
              <a:t> bay </a:t>
            </a:r>
            <a:r>
              <a:rPr lang="en-US" sz="1500" dirty="0" err="1">
                <a:latin typeface="Times New Roman" panose="02020603050405020304" pitchFamily="18" charset="0"/>
                <a:cs typeface="Times New Roman" panose="02020603050405020304" pitchFamily="18" charset="0"/>
              </a:rPr>
              <a:t>thì</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xuất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hiện</a:t>
            </a:r>
            <a:r>
              <a:rPr lang="en-US" sz="1500" dirty="0">
                <a:latin typeface="Times New Roman" panose="02020603050405020304" pitchFamily="18" charset="0"/>
                <a:cs typeface="Times New Roman" panose="02020603050405020304" pitchFamily="18" charset="0"/>
              </a:rPr>
              <a:t> MSG BRAKES PARK BRK LO PR </a:t>
            </a:r>
            <a:r>
              <a:rPr lang="en-US" sz="1500" dirty="0" err="1">
                <a:latin typeface="Times New Roman" panose="02020603050405020304" pitchFamily="18" charset="0"/>
                <a:cs typeface="Times New Roman" panose="02020603050405020304" pitchFamily="18" charset="0"/>
              </a:rPr>
              <a:t>phải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thay</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bình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accum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để</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khắc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phục</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3. A356 </a:t>
            </a:r>
            <a:r>
              <a:rPr lang="en-US" sz="1500" dirty="0" err="1">
                <a:latin typeface="Times New Roman" panose="02020603050405020304" pitchFamily="18" charset="0"/>
                <a:cs typeface="Times New Roman" panose="02020603050405020304" pitchFamily="18" charset="0"/>
              </a:rPr>
              <a:t>phát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sinh</a:t>
            </a:r>
            <a:r>
              <a:rPr lang="en-US" sz="1500" dirty="0">
                <a:latin typeface="Times New Roman" panose="02020603050405020304" pitchFamily="18" charset="0"/>
                <a:cs typeface="Times New Roman" panose="02020603050405020304" pitchFamily="18" charset="0"/>
              </a:rPr>
              <a:t> BAD SMELL FROM PACK (ALL FLIGHT) </a:t>
            </a:r>
            <a:r>
              <a:rPr lang="en-US" sz="1500" dirty="0" err="1">
                <a:latin typeface="Times New Roman" panose="02020603050405020304" pitchFamily="18" charset="0"/>
                <a:cs typeface="Times New Roman" panose="02020603050405020304" pitchFamily="18" charset="0"/>
              </a:rPr>
              <a:t>sau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chuyến</a:t>
            </a:r>
            <a:r>
              <a:rPr lang="en-US" sz="1500" dirty="0">
                <a:latin typeface="Times New Roman" panose="02020603050405020304" pitchFamily="18" charset="0"/>
                <a:cs typeface="Times New Roman" panose="02020603050405020304" pitchFamily="18" charset="0"/>
              </a:rPr>
              <a:t> VN1650, </a:t>
            </a:r>
            <a:r>
              <a:rPr lang="en-US" sz="1500" dirty="0" err="1">
                <a:latin typeface="Times New Roman" panose="02020603050405020304" pitchFamily="18" charset="0"/>
                <a:cs typeface="Times New Roman" panose="02020603050405020304" pitchFamily="18" charset="0"/>
              </a:rPr>
              <a:t>hiện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đang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khắc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phục</a:t>
            </a:r>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4. </a:t>
            </a:r>
            <a:r>
              <a:rPr lang="en-US" sz="1500" dirty="0" err="1">
                <a:latin typeface="Times New Roman" panose="02020603050405020304" pitchFamily="18" charset="0"/>
                <a:cs typeface="Times New Roman" panose="02020603050405020304" pitchFamily="18" charset="0"/>
              </a:rPr>
              <a:t>Ngoài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ra</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trong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tuần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phát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sinh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trường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hợp</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tàu</a:t>
            </a:r>
            <a:r>
              <a:rPr lang="en-US" sz="1500" dirty="0">
                <a:latin typeface="Times New Roman" panose="02020603050405020304" pitchFamily="18" charset="0"/>
                <a:cs typeface="Times New Roman" panose="02020603050405020304" pitchFamily="18" charset="0"/>
              </a:rPr>
              <a:t> A507 </a:t>
            </a:r>
            <a:r>
              <a:rPr lang="en-US" sz="1500" dirty="0" err="1">
                <a:latin typeface="Times New Roman" panose="02020603050405020304" pitchFamily="18" charset="0"/>
                <a:cs typeface="Times New Roman" panose="02020603050405020304" pitchFamily="18" charset="0"/>
              </a:rPr>
              <a:t>bị</a:t>
            </a:r>
            <a:r>
              <a:rPr lang="en-US" sz="1500" dirty="0">
                <a:latin typeface="Times New Roman" panose="02020603050405020304" pitchFamily="18" charset="0"/>
                <a:cs typeface="Times New Roman" panose="02020603050405020304" pitchFamily="18" charset="0"/>
              </a:rPr>
              <a:t> rung rudder, </a:t>
            </a:r>
            <a:r>
              <a:rPr lang="en-US" sz="1500" dirty="0" err="1">
                <a:latin typeface="Times New Roman" panose="02020603050405020304" pitchFamily="18" charset="0"/>
                <a:cs typeface="Times New Roman" panose="02020603050405020304" pitchFamily="18" charset="0"/>
              </a:rPr>
              <a:t>tàu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sau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đó</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đã</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triển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khai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chương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trình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chống</a:t>
            </a:r>
            <a:r>
              <a:rPr lang="en-US" sz="1500" dirty="0">
                <a:latin typeface="Times New Roman" panose="02020603050405020304" pitchFamily="18" charset="0"/>
                <a:cs typeface="Times New Roman" panose="02020603050405020304" pitchFamily="18" charset="0"/>
              </a:rPr>
              <a:t> rung </a:t>
            </a:r>
            <a:r>
              <a:rPr lang="en-US" sz="1500" dirty="0" err="1">
                <a:latin typeface="Times New Roman" panose="02020603050405020304" pitchFamily="18" charset="0"/>
                <a:cs typeface="Times New Roman" panose="02020603050405020304" pitchFamily="18" charset="0"/>
              </a:rPr>
              <a:t>để</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khắc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phục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tàu</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đã</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khai</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thác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được</a:t>
            </a:r>
            <a:r>
              <a:rPr lang="en-US" sz="1500" dirty="0">
                <a:latin typeface="Times New Roman" panose="02020603050405020304" pitchFamily="18" charset="0"/>
                <a:cs typeface="Times New Roman" panose="02020603050405020304" pitchFamily="18" charset="0"/>
              </a:rPr>
              <a:t> 5 </a:t>
            </a:r>
            <a:r>
              <a:rPr lang="en-US" sz="1500" dirty="0" err="1">
                <a:latin typeface="Times New Roman" panose="02020603050405020304" pitchFamily="18" charset="0"/>
                <a:cs typeface="Times New Roman" panose="02020603050405020304" pitchFamily="18" charset="0"/>
              </a:rPr>
              <a:t>năm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và</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có</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lịch</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sử</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báo</a:t>
            </a:r>
            <a:r>
              <a:rPr lang="en-US" sz="1500" dirty="0">
                <a:latin typeface="Times New Roman" panose="02020603050405020304" pitchFamily="18" charset="0"/>
                <a:cs typeface="Times New Roman" panose="02020603050405020304" pitchFamily="18" charset="0"/>
              </a:rPr>
              <a:t> rung </a:t>
            </a:r>
            <a:r>
              <a:rPr lang="en-US" sz="1500" dirty="0" err="1">
                <a:latin typeface="Times New Roman" panose="02020603050405020304" pitchFamily="18" charset="0"/>
                <a:cs typeface="Times New Roman" panose="02020603050405020304" pitchFamily="18" charset="0"/>
              </a:rPr>
              <a:t>trong</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đợt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trước</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cao</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điểm</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Tết</a:t>
            </a:r>
            <a:r>
              <a:rPr lang="en-US" sz="1500" dirty="0">
                <a:latin typeface="Times New Roman" panose="02020603050405020304" pitchFamily="18" charset="0"/>
                <a:cs typeface="Times New Roman" panose="02020603050405020304" pitchFamily="18" charset="0"/>
              </a:rPr>
              <a:t>)</a:t>
            </a:r>
          </a:p>
          <a:p>
            <a:r>
              <a:rPr lang="en-US" sz="1500" dirty="0">
                <a:latin typeface="Times New Roman" panose="02020603050405020304" pitchFamily="18" charset="0"/>
                <a:cs typeface="Times New Roman" panose="02020603050405020304" pitchFamily="18" charset="0"/>
              </a:rPr>
              <a:t>5. A336 </a:t>
            </a:r>
            <a:r>
              <a:rPr lang="en-US" sz="1500" dirty="0" err="1">
                <a:latin typeface="Times New Roman" panose="02020603050405020304" pitchFamily="18" charset="0"/>
                <a:cs typeface="Times New Roman" panose="02020603050405020304" pitchFamily="18" charset="0"/>
              </a:rPr>
              <a:t>phát</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sinh</a:t>
            </a:r>
            <a:r>
              <a:rPr lang="en-US" sz="1500" dirty="0">
                <a:latin typeface="Times New Roman" panose="02020603050405020304" pitchFamily="18" charset="0"/>
                <a:cs typeface="Times New Roman" panose="02020603050405020304" pitchFamily="18" charset="0"/>
              </a:rPr>
              <a:t> LGCIU#1 FAULT. CRS K6 </a:t>
            </a:r>
            <a:r>
              <a:rPr lang="en-US" sz="1500" dirty="0" err="1">
                <a:latin typeface="Times New Roman" panose="02020603050405020304" pitchFamily="18" charset="0"/>
                <a:cs typeface="Times New Roman" panose="02020603050405020304" pitchFamily="18" charset="0"/>
              </a:rPr>
              <a:t>tiến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hành</a:t>
            </a:r>
            <a:r>
              <a:rPr lang="en-US" sz="1500" dirty="0">
                <a:latin typeface="Times New Roman" panose="02020603050405020304" pitchFamily="18" charset="0"/>
                <a:cs typeface="Times New Roman" panose="02020603050405020304" pitchFamily="18" charset="0"/>
              </a:rPr>
              <a:t> clean Connectors, </a:t>
            </a:r>
            <a:r>
              <a:rPr lang="en-US" sz="1450" dirty="0">
                <a:solidFill>
                  <a:srgbClr val="000000"/>
                </a:solidFill>
                <a:latin typeface="Times" panose="02020603050405020304" pitchFamily="18" charset="0"/>
              </a:rPr>
              <a:t>BITE TEST OF LGCIU1, SATIS.</a:t>
            </a:r>
          </a:p>
          <a:p>
            <a:endParaRPr lang="en-US"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0225025"/>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01</a:t>
            </a: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01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nvGraphicFramePr>
        <p:xfrm>
          <a:off x="152399" y="1570679"/>
          <a:ext cx="11563904" cy="4203543"/>
        </p:xfrm>
        <a:graphic>
          <a:graphicData uri="http://schemas.openxmlformats.org/drawingml/2006/table">
            <a:tbl>
              <a:tblPr/>
              <a:tblGrid>
                <a:gridCol w="244161">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85800">
                  <a:extLst>
                    <a:ext uri="{9D8B030D-6E8A-4147-A177-3AD203B41FA5}">
                      <a16:colId xmlns:a16="http://schemas.microsoft.com/office/drawing/2014/main" val="905265164"/>
                    </a:ext>
                  </a:extLst>
                </a:gridCol>
                <a:gridCol w="1439040">
                  <a:extLst>
                    <a:ext uri="{9D8B030D-6E8A-4147-A177-3AD203B41FA5}">
                      <a16:colId xmlns:a16="http://schemas.microsoft.com/office/drawing/2014/main" val="1766184023"/>
                    </a:ext>
                  </a:extLst>
                </a:gridCol>
                <a:gridCol w="2361428">
                  <a:extLst>
                    <a:ext uri="{9D8B030D-6E8A-4147-A177-3AD203B41FA5}">
                      <a16:colId xmlns:a16="http://schemas.microsoft.com/office/drawing/2014/main" val="3411328682"/>
                    </a:ext>
                  </a:extLst>
                </a:gridCol>
                <a:gridCol w="368973">
                  <a:extLst>
                    <a:ext uri="{9D8B030D-6E8A-4147-A177-3AD203B41FA5}">
                      <a16:colId xmlns:a16="http://schemas.microsoft.com/office/drawing/2014/main" val="3312070597"/>
                    </a:ext>
                  </a:extLst>
                </a:gridCol>
                <a:gridCol w="4014075">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en-US" sz="1100" b="0" i="0" u="none" strike="noStrike" dirty="0">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A891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02:00 23/02/2025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KIX</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VN98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KIX-SFO</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DURING FLIGHT, MESG “SATCOM FAULT”. CAPT DECIDED TO DIV AT KIX</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C/O RAISED MEL 23-28-01B FOR SATCOM INOP ACTION: EVENT CLOSED C/O RAISED MEL 23-28-01B FOR SATCOM INOP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DURING FLIGHT, MESG “SATCOM FAULT”. CAPT DECIDED TO DIV AT KIX</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VN98 SGN-SFO DIV KIX DUE TO SATCOM FAULTVN98 SGN-SFO DIV KIX DUE TO SATCOM FAULT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23-28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Calibri" panose="020F0502020204030204" pitchFamily="34" charset="0"/>
                        </a:rPr>
                        <a:t>Hỏng hóc này có thể raise MEL tuy nhiên sẽ có hạn chế với những chuyến bay Mỹ, các hỏng hóc SDU có nguyên nhân:</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Hỏng hóc SATCOM call issue dù không có msg liên quan, phải reset C/B on ground =&gt; đã khắc phục bằng cách nâng cấp SW theo SB A350-23-P027, hoàn thành trên đội bay vào T8/2023</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Mất tín hiệu SATCOM tại sân bay SGN, đặc biệt là ở bãi số 16=&gt; đã đề nghị hạn chế không sếp các tàu bay đi Mỹ ở bãi số 16</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Hỏng hóc thiết bị liên quan đến hệ thống SATCOM</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SDU PN 822-2909-050, từ lúc khai thác 16 lần thay thế, tập trung chủ yếu giai đoạn 2019-2022 (2023 không thay, 2024 01 lần) MTBUR 2015-nay 21402 FH, cao hơn GMTBUR 19000 FH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HPA PN 822-2909-050, từ lúc khai thác 12 lần thay thế, tập trung chủ yếu năm 2023 (08 lần) MTBUR 2015-nay 13085 FH, thấp hơn GMTBUR 19000 FH,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HGA PN 822-2923-050, từ lúc khai thác 04 lần thay thế (03 2022, 01 2023) MTBUR 2015-nay 46700 FH, thấp hơn GMTBUR 105000 FH. Theo Collins, hỏng hóc là do: Linh kiện lỗi thời và không đáng tin cậy, lỗi hàn trên PCB, kết nối hàn không đủ bền (lỗi này đã được cải thiện với các thiết bị mới nhà xử lý nhiệt khi hàn), hiện Collins đang nghiên cứu giải pháp.</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=&gt; Ban KT sẽ tiếp tục làm việc với Airbus, AFHS và Collins để tìm nguyên nhân, có giải pháp nâng cao độ tin cậy hệ thống SATCOM trên A350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bl>
          </a:graphicData>
        </a:graphic>
      </p:graphicFrame>
    </p:spTree>
    <p:extLst>
      <p:ext uri="{BB962C8B-B14F-4D97-AF65-F5344CB8AC3E}">
        <p14:creationId xmlns:p14="http://schemas.microsoft.com/office/powerpoint/2010/main" val="2882156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31A5E89-8330-4CC5-8E86-DC6C55D3DE22}"/>
              </a:ext>
            </a:extLst>
          </p:cNvPr>
          <p:cNvSpPr txBox="1"/>
          <p:nvPr/>
        </p:nvSpPr>
        <p:spPr>
          <a:xfrm>
            <a:off x="762001" y="168860"/>
            <a:ext cx="8142717"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DEA610"/>
                </a:solidFill>
                <a:effectLst/>
                <a:uLnTx/>
                <a:uFillTx/>
                <a:latin typeface="Montserrat SemiBold" pitchFamily="2" charset="77"/>
                <a:ea typeface="+mn-ea"/>
                <a:cs typeface="+mn-cs"/>
              </a:rPr>
              <a:t>A350 – ATA 23 – SATCOM FAULT</a:t>
            </a:r>
          </a:p>
        </p:txBody>
      </p:sp>
      <p:grpSp>
        <p:nvGrpSpPr>
          <p:cNvPr id="5" name="Group 4">
            <a:extLst>
              <a:ext uri="{FF2B5EF4-FFF2-40B4-BE49-F238E27FC236}">
                <a16:creationId xmlns:a16="http://schemas.microsoft.com/office/drawing/2014/main" id="{31CFA35B-D41B-4739-B276-3E12557F67C8}"/>
              </a:ext>
            </a:extLst>
          </p:cNvPr>
          <p:cNvGrpSpPr/>
          <p:nvPr/>
        </p:nvGrpSpPr>
        <p:grpSpPr>
          <a:xfrm>
            <a:off x="395080" y="763173"/>
            <a:ext cx="11598000" cy="5008813"/>
            <a:chOff x="709281" y="757061"/>
            <a:chExt cx="11134842" cy="4096157"/>
          </a:xfrm>
        </p:grpSpPr>
        <p:sp>
          <p:nvSpPr>
            <p:cNvPr id="25" name="Rectangle: Single Corner Rounded 24">
              <a:extLst>
                <a:ext uri="{FF2B5EF4-FFF2-40B4-BE49-F238E27FC236}">
                  <a16:creationId xmlns:a16="http://schemas.microsoft.com/office/drawing/2014/main" id="{D5DADBD9-6852-441A-BF72-7DAFAE15B1FD}"/>
                </a:ext>
              </a:extLst>
            </p:cNvPr>
            <p:cNvSpPr/>
            <p:nvPr/>
          </p:nvSpPr>
          <p:spPr>
            <a:xfrm flipH="1" flipV="1">
              <a:off x="709281" y="790587"/>
              <a:ext cx="11134842" cy="377543"/>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B07695F-044B-46D6-B43C-B700EFBA7248}"/>
                </a:ext>
              </a:extLst>
            </p:cNvPr>
            <p:cNvSpPr/>
            <p:nvPr/>
          </p:nvSpPr>
          <p:spPr>
            <a:xfrm>
              <a:off x="802466" y="757061"/>
              <a:ext cx="10445094" cy="377545"/>
            </a:xfrm>
            <a:prstGeom prst="rect">
              <a:avLst/>
            </a:prstGeom>
          </p:spPr>
          <p:txBody>
            <a:bodyPr wrap="square">
              <a:spAutoFit/>
            </a:bodyPr>
            <a:lstStyle/>
            <a:p>
              <a:pPr marL="0" marR="0" lvl="0" indent="230188"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A891, VN98 SGN-SFO, DIV at KIX 23/02/2025</a:t>
              </a:r>
            </a:p>
          </p:txBody>
        </p:sp>
        <p:sp>
          <p:nvSpPr>
            <p:cNvPr id="27" name="Rectangle 26">
              <a:extLst>
                <a:ext uri="{FF2B5EF4-FFF2-40B4-BE49-F238E27FC236}">
                  <a16:creationId xmlns:a16="http://schemas.microsoft.com/office/drawing/2014/main" id="{367F70C2-5165-479E-AFB9-34EDD474B128}"/>
                </a:ext>
              </a:extLst>
            </p:cNvPr>
            <p:cNvSpPr/>
            <p:nvPr/>
          </p:nvSpPr>
          <p:spPr>
            <a:xfrm>
              <a:off x="802468" y="1707011"/>
              <a:ext cx="5946536" cy="3146207"/>
            </a:xfrm>
            <a:prstGeom prst="rect">
              <a:avLst/>
            </a:prstGeom>
          </p:spPr>
          <p:txBody>
            <a:bodyPr wrap="square">
              <a:spAutoFit/>
            </a:bodyP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1"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Mô</a:t>
              </a:r>
              <a:r>
                <a:rPr kumimoji="0" lang="en-US" sz="1400" b="1"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1"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tả</a:t>
              </a:r>
              <a:r>
                <a:rPr kumimoji="0" lang="en-US" sz="1400" b="1"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p>
            <a:p>
              <a:pPr marL="285750" marR="0" lvl="0" indent="-285750" algn="l" defTabSz="914400" rtl="0" eaLnBrk="1" fontAlgn="auto" latinLnBrk="0" hangingPunct="1">
                <a:lnSpc>
                  <a:spcPct val="100000"/>
                </a:lnSpc>
                <a:spcBef>
                  <a:spcPts val="600"/>
                </a:spcBef>
                <a:spcAft>
                  <a:spcPts val="0"/>
                </a:spcAft>
                <a:buClrTx/>
                <a:buSzTx/>
                <a:buFontTx/>
                <a:buChar char="-"/>
                <a:tabLst/>
                <a:defRPr/>
              </a:pP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Phi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công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báo</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hỏng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hóc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SATCOM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intermitten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chuyến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bay VN98 SGN-SFO, 23/02/2023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tàu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DIV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tại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KIX</a:t>
              </a:r>
            </a:p>
            <a:p>
              <a:pPr marL="285750" marR="0" lvl="0" indent="-285750" algn="l" defTabSz="914400" rtl="0" eaLnBrk="1" fontAlgn="auto" latinLnBrk="0" hangingPunct="1">
                <a:lnSpc>
                  <a:spcPct val="100000"/>
                </a:lnSpc>
                <a:spcBef>
                  <a:spcPts val="600"/>
                </a:spcBef>
                <a:spcAft>
                  <a:spcPts val="0"/>
                </a:spcAft>
                <a:buClrTx/>
                <a:buSzTx/>
                <a:buFontTx/>
                <a:buChar char="-"/>
                <a:tabLst/>
                <a:defRPr/>
              </a:pP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Tầu A891 về SGN sau chuyến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ư</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ớc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đó</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VN253 HAN-SGN không có DM msg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liên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quan</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Trước chặng bay SGN-SFO ko có thông báo lỗi kết nối SATCOM </a:t>
              </a:r>
            </a:p>
            <a:p>
              <a:pPr marL="285750" marR="0" lvl="0" indent="-285750" algn="l" defTabSz="914400" rtl="0" eaLnBrk="1" fontAlgn="auto" latinLnBrk="0" hangingPunct="1">
                <a:lnSpc>
                  <a:spcPct val="100000"/>
                </a:lnSpc>
                <a:spcBef>
                  <a:spcPts val="600"/>
                </a:spcBef>
                <a:spcAft>
                  <a:spcPts val="0"/>
                </a:spcAft>
                <a:buClrTx/>
                <a:buSzTx/>
                <a:buFontTx/>
                <a:buChar char="-"/>
                <a:tabLst/>
                <a:defRPr/>
              </a:pP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Hạ cánh sân bay KIX, thợ máy kiểm tra tầu bay A891 có msg về SATCOM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Skywise không có msg) TSV MCC advise kĩ thuật tại KIX thực hiện các bước kiểm tra hệ thống Satcom. Kết quả sau khi thực hiện bite test system thì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msg về SCM-SATCOM. Tuy nhiên ref tài liệu ISI 23.28.00086 lỗi này được đánh giá là spurious message</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Tàu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vẫn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raise MEL SATCOM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inop</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(do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hỏng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hóc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intermitten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dự</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kiến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cần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SDU PN 822-2909-050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và</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HGA PN 822-2923-050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tàu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về</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mainbase</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a:t>
              </a:r>
            </a:p>
            <a:p>
              <a:pPr marL="285750" marR="0" lvl="0" indent="-285750" algn="l" defTabSz="914400" rtl="0" eaLnBrk="1" fontAlgn="auto" latinLnBrk="0" hangingPunct="1">
                <a:lnSpc>
                  <a:spcPct val="100000"/>
                </a:lnSpc>
                <a:spcBef>
                  <a:spcPts val="600"/>
                </a:spcBef>
                <a:spcAft>
                  <a:spcPts val="0"/>
                </a:spcAft>
                <a:buClrTx/>
                <a:buSzTx/>
                <a:buFontTx/>
                <a:buChar char="-"/>
                <a:tabLst/>
                <a:defRPr/>
              </a:pP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Gần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đây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tàu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A891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xuất</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hiện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msg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liên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quan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đến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SATCOM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skywise</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nh</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ư</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ng ở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dạng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not active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không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ECAM,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không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Dispatch Message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và</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on ground), VAECO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đã</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yêu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cầu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đặt</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hàng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SDU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và</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HGA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để</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thế</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phòng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ngừa</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tuy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nhiên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HGA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mới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về</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hôm</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19/2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và</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ch</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ư</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a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bố</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trí</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đ</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ư</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ợc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slot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thế</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a:t>
              </a:r>
            </a:p>
          </p:txBody>
        </p:sp>
      </p:grpSp>
      <p:sp>
        <p:nvSpPr>
          <p:cNvPr id="39" name="TextBox 38">
            <a:extLst>
              <a:ext uri="{FF2B5EF4-FFF2-40B4-BE49-F238E27FC236}">
                <a16:creationId xmlns:a16="http://schemas.microsoft.com/office/drawing/2014/main" id="{4210CCF0-33AF-4035-BD27-3303A8633E6C}"/>
              </a:ext>
            </a:extLst>
          </p:cNvPr>
          <p:cNvSpPr txBox="1"/>
          <p:nvPr/>
        </p:nvSpPr>
        <p:spPr>
          <a:xfrm>
            <a:off x="919883" y="1412434"/>
            <a:ext cx="2662062"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US" sz="1800" b="1" i="0" u="none" strike="noStrike" kern="1200" cap="none" spc="0" normalizeH="0" baseline="0" noProof="0" dirty="0" err="1">
                <a:ln>
                  <a:noFill/>
                </a:ln>
                <a:solidFill>
                  <a:srgbClr val="006885"/>
                </a:solidFill>
                <a:effectLst/>
                <a:uLnTx/>
                <a:uFillTx/>
                <a:latin typeface="Montserrat SemiBold"/>
                <a:ea typeface="Cambria" panose="02040503050406030204" pitchFamily="18" charset="0"/>
                <a:cs typeface="Times New Roman" panose="02020603050405020304" pitchFamily="18" charset="0"/>
              </a:rPr>
              <a:t>Phân</a:t>
            </a:r>
            <a:r>
              <a:rPr kumimoji="0" lang="en-US" sz="1800" b="1" i="0" u="none" strike="noStrike" kern="1200" cap="none" spc="0" normalizeH="0" baseline="0" noProof="0" dirty="0">
                <a:ln>
                  <a:noFill/>
                </a:ln>
                <a:solidFill>
                  <a:srgbClr val="006885"/>
                </a:solidFill>
                <a:effectLst/>
                <a:uLnTx/>
                <a:uFillTx/>
                <a:latin typeface="Montserrat SemiBold"/>
                <a:ea typeface="Cambria" panose="02040503050406030204" pitchFamily="18" charset="0"/>
                <a:cs typeface="Times New Roman" panose="02020603050405020304" pitchFamily="18" charset="0"/>
              </a:rPr>
              <a:t> </a:t>
            </a:r>
            <a:r>
              <a:rPr kumimoji="0" lang="en-US" sz="1800" b="1" i="0" u="none" strike="noStrike" kern="1200" cap="none" spc="0" normalizeH="0" baseline="0" noProof="0" dirty="0" err="1">
                <a:ln>
                  <a:noFill/>
                </a:ln>
                <a:solidFill>
                  <a:srgbClr val="006885"/>
                </a:solidFill>
                <a:effectLst/>
                <a:uLnTx/>
                <a:uFillTx/>
                <a:latin typeface="Montserrat SemiBold"/>
                <a:ea typeface="Cambria" panose="02040503050406030204" pitchFamily="18" charset="0"/>
                <a:cs typeface="Times New Roman" panose="02020603050405020304" pitchFamily="18" charset="0"/>
              </a:rPr>
              <a:t>tích</a:t>
            </a:r>
            <a:r>
              <a:rPr kumimoji="0" lang="en-US" sz="1800" b="1" i="0" u="none" strike="noStrike" kern="1200" cap="none" spc="0" normalizeH="0" baseline="0" noProof="0" dirty="0">
                <a:ln>
                  <a:noFill/>
                </a:ln>
                <a:solidFill>
                  <a:srgbClr val="006885"/>
                </a:solidFill>
                <a:effectLst/>
                <a:uLnTx/>
                <a:uFillTx/>
                <a:latin typeface="Montserrat SemiBold"/>
                <a:ea typeface="Cambria" panose="02040503050406030204" pitchFamily="18" charset="0"/>
                <a:cs typeface="Times New Roman" panose="02020603050405020304" pitchFamily="18" charset="0"/>
              </a:rPr>
              <a:t>/</a:t>
            </a:r>
            <a:r>
              <a:rPr kumimoji="0" lang="en-US" sz="1800" b="1" i="0" u="none" strike="noStrike" kern="1200" cap="none" spc="0" normalizeH="0" baseline="0" noProof="0" dirty="0" err="1">
                <a:ln>
                  <a:noFill/>
                </a:ln>
                <a:solidFill>
                  <a:srgbClr val="006885"/>
                </a:solidFill>
                <a:effectLst/>
                <a:uLnTx/>
                <a:uFillTx/>
                <a:latin typeface="Montserrat SemiBold"/>
                <a:ea typeface="Cambria" panose="02040503050406030204" pitchFamily="18" charset="0"/>
                <a:cs typeface="Times New Roman" panose="02020603050405020304" pitchFamily="18" charset="0"/>
              </a:rPr>
              <a:t>Đánh</a:t>
            </a:r>
            <a:r>
              <a:rPr kumimoji="0" lang="en-US" sz="1800" b="1" i="0" u="none" strike="noStrike" kern="1200" cap="none" spc="0" normalizeH="0" baseline="0" noProof="0" dirty="0">
                <a:ln>
                  <a:noFill/>
                </a:ln>
                <a:solidFill>
                  <a:srgbClr val="006885"/>
                </a:solidFill>
                <a:effectLst/>
                <a:uLnTx/>
                <a:uFillTx/>
                <a:latin typeface="Montserrat SemiBold"/>
                <a:ea typeface="Cambria" panose="02040503050406030204" pitchFamily="18" charset="0"/>
                <a:cs typeface="Times New Roman" panose="02020603050405020304" pitchFamily="18" charset="0"/>
              </a:rPr>
              <a:t> </a:t>
            </a:r>
            <a:r>
              <a:rPr kumimoji="0" lang="en-US" sz="1800" b="1" i="0" u="none" strike="noStrike" kern="1200" cap="none" spc="0" normalizeH="0" baseline="0" noProof="0" dirty="0" err="1">
                <a:ln>
                  <a:noFill/>
                </a:ln>
                <a:solidFill>
                  <a:srgbClr val="006885"/>
                </a:solidFill>
                <a:effectLst/>
                <a:uLnTx/>
                <a:uFillTx/>
                <a:latin typeface="Montserrat SemiBold"/>
                <a:ea typeface="Cambria" panose="02040503050406030204" pitchFamily="18" charset="0"/>
                <a:cs typeface="Times New Roman" panose="02020603050405020304" pitchFamily="18" charset="0"/>
              </a:rPr>
              <a:t>giá</a:t>
            </a:r>
            <a:endParaRPr kumimoji="0" lang="en-US" sz="1800" b="1" i="0" u="none" strike="noStrike" kern="1200" cap="none" spc="0" normalizeH="0" baseline="0" noProof="0" dirty="0">
              <a:ln>
                <a:noFill/>
              </a:ln>
              <a:solidFill>
                <a:srgbClr val="006885"/>
              </a:solidFill>
              <a:effectLst/>
              <a:uLnTx/>
              <a:uFillTx/>
              <a:latin typeface="Montserrat SemiBold"/>
              <a:ea typeface="Cambria" panose="020405030504060302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id="{6C0963AF-2C0C-426C-8070-5E29C3C95D73}"/>
              </a:ext>
            </a:extLst>
          </p:cNvPr>
          <p:cNvPicPr>
            <a:picLocks noChangeAspect="1"/>
          </p:cNvPicPr>
          <p:nvPr/>
        </p:nvPicPr>
        <p:blipFill>
          <a:blip r:embed="rId3"/>
          <a:stretch>
            <a:fillRect/>
          </a:stretch>
        </p:blipFill>
        <p:spPr>
          <a:xfrm>
            <a:off x="492141" y="1405987"/>
            <a:ext cx="510877" cy="512345"/>
          </a:xfrm>
          <a:prstGeom prst="rect">
            <a:avLst/>
          </a:prstGeom>
        </p:spPr>
      </p:pic>
      <p:grpSp>
        <p:nvGrpSpPr>
          <p:cNvPr id="43" name="Group 42">
            <a:extLst>
              <a:ext uri="{FF2B5EF4-FFF2-40B4-BE49-F238E27FC236}">
                <a16:creationId xmlns:a16="http://schemas.microsoft.com/office/drawing/2014/main" id="{A8154242-FDDD-4D8E-A79C-6854A056CF08}"/>
              </a:ext>
            </a:extLst>
          </p:cNvPr>
          <p:cNvGrpSpPr/>
          <p:nvPr/>
        </p:nvGrpSpPr>
        <p:grpSpPr>
          <a:xfrm>
            <a:off x="795408" y="288234"/>
            <a:ext cx="11197675" cy="678753"/>
            <a:chOff x="976560" y="323070"/>
            <a:chExt cx="10755065" cy="678753"/>
          </a:xfrm>
        </p:grpSpPr>
        <p:cxnSp>
          <p:nvCxnSpPr>
            <p:cNvPr id="44" name="Straight Connector 43">
              <a:extLst>
                <a:ext uri="{FF2B5EF4-FFF2-40B4-BE49-F238E27FC236}">
                  <a16:creationId xmlns:a16="http://schemas.microsoft.com/office/drawing/2014/main" id="{5B26A273-2C1B-4A95-9610-BA78822ABAD5}"/>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87BF5C6C-A4D8-4EC9-8FA1-2D78BAD3BA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pic>
        <p:nvPicPr>
          <p:cNvPr id="2" name="Picture 1">
            <a:extLst>
              <a:ext uri="{FF2B5EF4-FFF2-40B4-BE49-F238E27FC236}">
                <a16:creationId xmlns:a16="http://schemas.microsoft.com/office/drawing/2014/main" id="{E908B53F-F9DF-4FAF-A68D-7F0A0A8CB64F}"/>
              </a:ext>
            </a:extLst>
          </p:cNvPr>
          <p:cNvPicPr>
            <a:picLocks noChangeAspect="1"/>
          </p:cNvPicPr>
          <p:nvPr/>
        </p:nvPicPr>
        <p:blipFill>
          <a:blip r:embed="rId5"/>
          <a:stretch>
            <a:fillRect/>
          </a:stretch>
        </p:blipFill>
        <p:spPr>
          <a:xfrm>
            <a:off x="6686027" y="2029636"/>
            <a:ext cx="5001500" cy="3238649"/>
          </a:xfrm>
          <a:prstGeom prst="rect">
            <a:avLst/>
          </a:prstGeom>
        </p:spPr>
      </p:pic>
    </p:spTree>
    <p:extLst>
      <p:ext uri="{BB962C8B-B14F-4D97-AF65-F5344CB8AC3E}">
        <p14:creationId xmlns:p14="http://schemas.microsoft.com/office/powerpoint/2010/main" val="3328903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31A5E89-8330-4CC5-8E86-DC6C55D3DE22}"/>
              </a:ext>
            </a:extLst>
          </p:cNvPr>
          <p:cNvSpPr txBox="1"/>
          <p:nvPr/>
        </p:nvSpPr>
        <p:spPr>
          <a:xfrm>
            <a:off x="762001" y="168860"/>
            <a:ext cx="8142717"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DEA610"/>
                </a:solidFill>
                <a:effectLst/>
                <a:uLnTx/>
                <a:uFillTx/>
                <a:latin typeface="Montserrat SemiBold" pitchFamily="2" charset="77"/>
                <a:ea typeface="+mn-ea"/>
                <a:cs typeface="+mn-cs"/>
              </a:rPr>
              <a:t>A350 – ATA 23 – SATCOM FAULT</a:t>
            </a:r>
          </a:p>
        </p:txBody>
      </p:sp>
      <p:grpSp>
        <p:nvGrpSpPr>
          <p:cNvPr id="5" name="Group 4">
            <a:extLst>
              <a:ext uri="{FF2B5EF4-FFF2-40B4-BE49-F238E27FC236}">
                <a16:creationId xmlns:a16="http://schemas.microsoft.com/office/drawing/2014/main" id="{31CFA35B-D41B-4739-B276-3E12557F67C8}"/>
              </a:ext>
            </a:extLst>
          </p:cNvPr>
          <p:cNvGrpSpPr/>
          <p:nvPr/>
        </p:nvGrpSpPr>
        <p:grpSpPr>
          <a:xfrm>
            <a:off x="395080" y="763173"/>
            <a:ext cx="11598000" cy="6132856"/>
            <a:chOff x="709281" y="757061"/>
            <a:chExt cx="11134842" cy="5015388"/>
          </a:xfrm>
        </p:grpSpPr>
        <p:sp>
          <p:nvSpPr>
            <p:cNvPr id="25" name="Rectangle: Single Corner Rounded 24">
              <a:extLst>
                <a:ext uri="{FF2B5EF4-FFF2-40B4-BE49-F238E27FC236}">
                  <a16:creationId xmlns:a16="http://schemas.microsoft.com/office/drawing/2014/main" id="{D5DADBD9-6852-441A-BF72-7DAFAE15B1FD}"/>
                </a:ext>
              </a:extLst>
            </p:cNvPr>
            <p:cNvSpPr/>
            <p:nvPr/>
          </p:nvSpPr>
          <p:spPr>
            <a:xfrm flipH="1" flipV="1">
              <a:off x="709281" y="790587"/>
              <a:ext cx="11134842" cy="377543"/>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B07695F-044B-46D6-B43C-B700EFBA7248}"/>
                </a:ext>
              </a:extLst>
            </p:cNvPr>
            <p:cNvSpPr/>
            <p:nvPr/>
          </p:nvSpPr>
          <p:spPr>
            <a:xfrm>
              <a:off x="802466" y="757061"/>
              <a:ext cx="10445094" cy="377545"/>
            </a:xfrm>
            <a:prstGeom prst="rect">
              <a:avLst/>
            </a:prstGeom>
          </p:spPr>
          <p:txBody>
            <a:bodyPr wrap="square">
              <a:spAutoFit/>
            </a:bodyPr>
            <a:lstStyle/>
            <a:p>
              <a:pPr marL="0" marR="0" lvl="0" indent="230188"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A891, VN98 SGN-SFO, DIV at KIX 23/02/2025</a:t>
              </a:r>
            </a:p>
          </p:txBody>
        </p:sp>
        <p:sp>
          <p:nvSpPr>
            <p:cNvPr id="27" name="Rectangle 26">
              <a:extLst>
                <a:ext uri="{FF2B5EF4-FFF2-40B4-BE49-F238E27FC236}">
                  <a16:creationId xmlns:a16="http://schemas.microsoft.com/office/drawing/2014/main" id="{367F70C2-5165-479E-AFB9-34EDD474B128}"/>
                </a:ext>
              </a:extLst>
            </p:cNvPr>
            <p:cNvSpPr/>
            <p:nvPr/>
          </p:nvSpPr>
          <p:spPr>
            <a:xfrm>
              <a:off x="802466" y="1556532"/>
              <a:ext cx="7485126" cy="4215917"/>
            </a:xfrm>
            <a:prstGeom prst="rect">
              <a:avLst/>
            </a:prstGeom>
          </p:spPr>
          <p:txBody>
            <a:bodyPr wrap="square">
              <a:spAutoFit/>
            </a:bodyPr>
            <a:lstStyle/>
            <a:p>
              <a:pPr marL="285750" marR="0" lvl="0" indent="-285750" algn="l"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400" b="1"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Hỏng</a:t>
              </a:r>
              <a:r>
                <a:rPr kumimoji="0" lang="en-US" sz="1400" b="1"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1"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hóc</a:t>
              </a:r>
              <a:r>
                <a:rPr kumimoji="0" lang="en-US" sz="1400" b="1"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SATCOM </a:t>
              </a:r>
              <a:r>
                <a:rPr kumimoji="0" lang="en-US" sz="1400" b="1"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trên</a:t>
              </a:r>
              <a:r>
                <a:rPr kumimoji="0" lang="en-US" sz="1400" b="1"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1"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đội</a:t>
              </a:r>
              <a:r>
                <a:rPr kumimoji="0" lang="en-US" sz="1400" b="1"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A350:</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Hỏng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hóc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này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thể</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raise MEL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tuy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nhiên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sẽ</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hạn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chế</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với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những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chuyến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bay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Mỹ</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các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hỏng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hóc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SDU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nguyên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nhân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a:t>
              </a:r>
            </a:p>
            <a:p>
              <a:pPr marL="342900" marR="0" lvl="0" indent="-342900" algn="l" defTabSz="914400" rtl="0" eaLnBrk="1" fontAlgn="auto" latinLnBrk="0" hangingPunct="1">
                <a:lnSpc>
                  <a:spcPct val="100000"/>
                </a:lnSpc>
                <a:spcBef>
                  <a:spcPts val="600"/>
                </a:spcBef>
                <a:spcAft>
                  <a:spcPts val="0"/>
                </a:spcAft>
                <a:buClrTx/>
                <a:buSzTx/>
                <a:buFontTx/>
                <a:buAutoNum type="arabicPeriod"/>
                <a:tabLst/>
                <a:defRPr/>
              </a:pP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Hỏng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hóc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SATCOM call issue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dù</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không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msg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liên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quan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phải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reset C/B on ground =&gt;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đã</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khắc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phục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bằng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cách</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nâng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cấp</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SW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theo</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SB A350-23-P027,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hoàn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thành</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đội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bay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vào</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T8/2023</a:t>
              </a:r>
            </a:p>
            <a:p>
              <a:pPr marL="342900" lvl="0" indent="-342900">
                <a:spcBef>
                  <a:spcPts val="600"/>
                </a:spcBef>
                <a:buFontTx/>
                <a:buAutoNum type="arabicPeriod"/>
                <a:defRPr/>
              </a:pP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Mất</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tín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hiệu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SATCOM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tại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sân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bay SGN,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đặc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biệt</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là</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ở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bãi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số</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16=&gt;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đã</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đề</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nghị</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hạn</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chế</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không</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xếp</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các</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tàu</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bay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đi</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Mỹ</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ở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bãi</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số</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16.</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Gần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đây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tại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sân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SGN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hiện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t</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ư</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ợng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một</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số</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bãi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mất</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thêm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tín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hiệu</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GPS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cả</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A350, B787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một</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số</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hãng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khác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cũng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bị</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nh</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ư</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EVA),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nguyên nhân có thể do nhà ga T3 đang trong quá trình xây dựng, ảnh hưởng đến tín hiệu GPS.</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Đã đề nghị ASOC kiến nghị ban điều hành sân bay SGN không xếp các tàu bay xa vào các bãi đỗ hay mất tín hiệu GPS</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bãi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số</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9 &amp; 29), Ban KT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sẽ</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làm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việc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với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VAECO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và</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NSX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máy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bay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để</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xem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xét</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thực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kiểm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tra</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thêm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hệ</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thống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GPS</a:t>
              </a:r>
              <a:endPar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endParaRPr>
            </a:p>
            <a:p>
              <a:pPr marL="285750" marR="0" lvl="0" indent="-285750" algn="l" defTabSz="914400" rtl="0" eaLnBrk="1" fontAlgn="auto" latinLnBrk="0" hangingPunct="1">
                <a:lnSpc>
                  <a:spcPct val="100000"/>
                </a:lnSpc>
                <a:spcBef>
                  <a:spcPts val="600"/>
                </a:spcBef>
                <a:spcAft>
                  <a:spcPts val="0"/>
                </a:spcAft>
                <a:buClrTx/>
                <a:buSzTx/>
                <a:buFontTx/>
                <a:buChar char="-"/>
                <a:tabLst/>
                <a:defRPr/>
              </a:pP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SDU PN 822-2909-050,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từ</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lúc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khai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thác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16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lần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thế</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tập</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trung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chủ</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yếu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giai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đoạn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2019-2022 (2023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không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2024 01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lần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MTBUR 2015-nay 21402 FH,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cao</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h</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ơ</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 GMTBUR 19000 FH  </a:t>
              </a:r>
            </a:p>
            <a:p>
              <a:pPr marL="285750" marR="0" lvl="0" indent="-285750" algn="l" defTabSz="914400" rtl="0" eaLnBrk="1" fontAlgn="auto" latinLnBrk="0" hangingPunct="1">
                <a:lnSpc>
                  <a:spcPct val="100000"/>
                </a:lnSpc>
                <a:spcBef>
                  <a:spcPts val="600"/>
                </a:spcBef>
                <a:spcAft>
                  <a:spcPts val="0"/>
                </a:spcAft>
                <a:buClrTx/>
                <a:buSzTx/>
                <a:buFontTx/>
                <a:buChar char="-"/>
                <a:tabLst/>
                <a:defRPr/>
              </a:pP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HPA PN 822-2909-050,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từ</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lúc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khai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thác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12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lần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thế</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tập</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trung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chủ</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yếu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năm</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2023 (08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lần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MTBUR 2015-nay 13085 FH,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thấp</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h</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ơ</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 GMTBUR 19000 FH, </a:t>
              </a:r>
            </a:p>
            <a:p>
              <a:pPr marL="285750" marR="0" lvl="0" indent="-285750" algn="l" defTabSz="914400" rtl="0" eaLnBrk="1" fontAlgn="auto" latinLnBrk="0" hangingPunct="1">
                <a:lnSpc>
                  <a:spcPct val="100000"/>
                </a:lnSpc>
                <a:spcBef>
                  <a:spcPts val="600"/>
                </a:spcBef>
                <a:spcAft>
                  <a:spcPts val="0"/>
                </a:spcAft>
                <a:buClrTx/>
                <a:buSzTx/>
                <a:buFontTx/>
                <a:buChar char="-"/>
                <a:tabLst/>
                <a:defRPr/>
              </a:pP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HGA PN 822-2923-050,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từ</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lúc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khai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thác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04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lần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thế</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(03 2022, 01 2023) MTBUR 2015-nay 46700 FH,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thấp</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h</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ơ</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 GMTBUR 105000 FH. Theo Collins,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hỏng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hóc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là</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do: Linh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kiện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lỗi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thời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và</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không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đáng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tin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cậy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lỗi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hàn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trên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PCB,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kết</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nối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hàn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không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đủ</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bền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lỗi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này</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đã</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đ</a:t>
              </a:r>
              <a:r>
                <a:rPr kumimoji="0" lang="vi-VN"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ư</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ợc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cải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thiện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với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các</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thiết</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bị</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mới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bằng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cách</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xử</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lý</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nhiệt</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khi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hàn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hiện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Collins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đang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nghiên</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cứu</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giải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pháp</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=&gt; Ban KT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sẽ</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tiếp</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tục</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làm</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việc</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với</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Airbus, AFHS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và</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Collins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để</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tìm</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nguyên</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nhân</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giải</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pháp</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nâng</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cao</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độ</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tin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cậy</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hệ</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thống</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SATCOM </a:t>
              </a:r>
              <a:r>
                <a:rPr kumimoji="0" lang="en-US" sz="1400" b="0" i="0" u="none" strike="noStrike" kern="1200" cap="none" spc="0" normalizeH="0" baseline="0" noProof="0" dirty="0" err="1">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trên</a:t>
              </a:r>
              <a:r>
                <a:rPr kumimoji="0" lang="en-US" sz="1400" b="0" i="0" u="none" strike="noStrike" kern="120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Times New Roman" panose="02020603050405020304" pitchFamily="18" charset="0"/>
                </a:rPr>
                <a:t> A350</a:t>
              </a:r>
            </a:p>
          </p:txBody>
        </p:sp>
      </p:grpSp>
      <p:sp>
        <p:nvSpPr>
          <p:cNvPr id="39" name="TextBox 38">
            <a:extLst>
              <a:ext uri="{FF2B5EF4-FFF2-40B4-BE49-F238E27FC236}">
                <a16:creationId xmlns:a16="http://schemas.microsoft.com/office/drawing/2014/main" id="{4210CCF0-33AF-4035-BD27-3303A8633E6C}"/>
              </a:ext>
            </a:extLst>
          </p:cNvPr>
          <p:cNvSpPr txBox="1"/>
          <p:nvPr/>
        </p:nvSpPr>
        <p:spPr>
          <a:xfrm>
            <a:off x="919883" y="1412434"/>
            <a:ext cx="2662062"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600"/>
              </a:spcBef>
              <a:spcAft>
                <a:spcPts val="0"/>
              </a:spcAft>
              <a:buClrTx/>
              <a:buSzTx/>
              <a:buFontTx/>
              <a:buNone/>
              <a:tabLst/>
              <a:defRPr/>
            </a:pPr>
            <a:r>
              <a:rPr kumimoji="0" lang="en-US" sz="1800" b="1" i="0" u="none" strike="noStrike" kern="1200" cap="none" spc="0" normalizeH="0" baseline="0" noProof="0" dirty="0" err="1">
                <a:ln>
                  <a:noFill/>
                </a:ln>
                <a:solidFill>
                  <a:srgbClr val="006885"/>
                </a:solidFill>
                <a:effectLst/>
                <a:uLnTx/>
                <a:uFillTx/>
                <a:latin typeface="Montserrat SemiBold"/>
                <a:ea typeface="Cambria" panose="02040503050406030204" pitchFamily="18" charset="0"/>
                <a:cs typeface="Times New Roman" panose="02020603050405020304" pitchFamily="18" charset="0"/>
              </a:rPr>
              <a:t>Phân</a:t>
            </a:r>
            <a:r>
              <a:rPr kumimoji="0" lang="en-US" sz="1800" b="1" i="0" u="none" strike="noStrike" kern="1200" cap="none" spc="0" normalizeH="0" baseline="0" noProof="0" dirty="0">
                <a:ln>
                  <a:noFill/>
                </a:ln>
                <a:solidFill>
                  <a:srgbClr val="006885"/>
                </a:solidFill>
                <a:effectLst/>
                <a:uLnTx/>
                <a:uFillTx/>
                <a:latin typeface="Montserrat SemiBold"/>
                <a:ea typeface="Cambria" panose="02040503050406030204" pitchFamily="18" charset="0"/>
                <a:cs typeface="Times New Roman" panose="02020603050405020304" pitchFamily="18" charset="0"/>
              </a:rPr>
              <a:t> </a:t>
            </a:r>
            <a:r>
              <a:rPr kumimoji="0" lang="en-US" sz="1800" b="1" i="0" u="none" strike="noStrike" kern="1200" cap="none" spc="0" normalizeH="0" baseline="0" noProof="0" dirty="0" err="1">
                <a:ln>
                  <a:noFill/>
                </a:ln>
                <a:solidFill>
                  <a:srgbClr val="006885"/>
                </a:solidFill>
                <a:effectLst/>
                <a:uLnTx/>
                <a:uFillTx/>
                <a:latin typeface="Montserrat SemiBold"/>
                <a:ea typeface="Cambria" panose="02040503050406030204" pitchFamily="18" charset="0"/>
                <a:cs typeface="Times New Roman" panose="02020603050405020304" pitchFamily="18" charset="0"/>
              </a:rPr>
              <a:t>tích</a:t>
            </a:r>
            <a:r>
              <a:rPr kumimoji="0" lang="en-US" sz="1800" b="1" i="0" u="none" strike="noStrike" kern="1200" cap="none" spc="0" normalizeH="0" baseline="0" noProof="0" dirty="0">
                <a:ln>
                  <a:noFill/>
                </a:ln>
                <a:solidFill>
                  <a:srgbClr val="006885"/>
                </a:solidFill>
                <a:effectLst/>
                <a:uLnTx/>
                <a:uFillTx/>
                <a:latin typeface="Montserrat SemiBold"/>
                <a:ea typeface="Cambria" panose="02040503050406030204" pitchFamily="18" charset="0"/>
                <a:cs typeface="Times New Roman" panose="02020603050405020304" pitchFamily="18" charset="0"/>
              </a:rPr>
              <a:t>/</a:t>
            </a:r>
            <a:r>
              <a:rPr kumimoji="0" lang="en-US" sz="1800" b="1" i="0" u="none" strike="noStrike" kern="1200" cap="none" spc="0" normalizeH="0" baseline="0" noProof="0" dirty="0" err="1">
                <a:ln>
                  <a:noFill/>
                </a:ln>
                <a:solidFill>
                  <a:srgbClr val="006885"/>
                </a:solidFill>
                <a:effectLst/>
                <a:uLnTx/>
                <a:uFillTx/>
                <a:latin typeface="Montserrat SemiBold"/>
                <a:ea typeface="Cambria" panose="02040503050406030204" pitchFamily="18" charset="0"/>
                <a:cs typeface="Times New Roman" panose="02020603050405020304" pitchFamily="18" charset="0"/>
              </a:rPr>
              <a:t>Đánh</a:t>
            </a:r>
            <a:r>
              <a:rPr kumimoji="0" lang="en-US" sz="1800" b="1" i="0" u="none" strike="noStrike" kern="1200" cap="none" spc="0" normalizeH="0" baseline="0" noProof="0" dirty="0">
                <a:ln>
                  <a:noFill/>
                </a:ln>
                <a:solidFill>
                  <a:srgbClr val="006885"/>
                </a:solidFill>
                <a:effectLst/>
                <a:uLnTx/>
                <a:uFillTx/>
                <a:latin typeface="Montserrat SemiBold"/>
                <a:ea typeface="Cambria" panose="02040503050406030204" pitchFamily="18" charset="0"/>
                <a:cs typeface="Times New Roman" panose="02020603050405020304" pitchFamily="18" charset="0"/>
              </a:rPr>
              <a:t> </a:t>
            </a:r>
            <a:r>
              <a:rPr kumimoji="0" lang="en-US" sz="1800" b="1" i="0" u="none" strike="noStrike" kern="1200" cap="none" spc="0" normalizeH="0" baseline="0" noProof="0" dirty="0" err="1">
                <a:ln>
                  <a:noFill/>
                </a:ln>
                <a:solidFill>
                  <a:srgbClr val="006885"/>
                </a:solidFill>
                <a:effectLst/>
                <a:uLnTx/>
                <a:uFillTx/>
                <a:latin typeface="Montserrat SemiBold"/>
                <a:ea typeface="Cambria" panose="02040503050406030204" pitchFamily="18" charset="0"/>
                <a:cs typeface="Times New Roman" panose="02020603050405020304" pitchFamily="18" charset="0"/>
              </a:rPr>
              <a:t>giá</a:t>
            </a:r>
            <a:endParaRPr kumimoji="0" lang="en-US" sz="1800" b="1" i="0" u="none" strike="noStrike" kern="1200" cap="none" spc="0" normalizeH="0" baseline="0" noProof="0" dirty="0">
              <a:ln>
                <a:noFill/>
              </a:ln>
              <a:solidFill>
                <a:srgbClr val="006885"/>
              </a:solidFill>
              <a:effectLst/>
              <a:uLnTx/>
              <a:uFillTx/>
              <a:latin typeface="Montserrat SemiBold"/>
              <a:ea typeface="Cambria" panose="020405030504060302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id="{6C0963AF-2C0C-426C-8070-5E29C3C95D73}"/>
              </a:ext>
            </a:extLst>
          </p:cNvPr>
          <p:cNvPicPr>
            <a:picLocks noChangeAspect="1"/>
          </p:cNvPicPr>
          <p:nvPr/>
        </p:nvPicPr>
        <p:blipFill>
          <a:blip r:embed="rId3"/>
          <a:stretch>
            <a:fillRect/>
          </a:stretch>
        </p:blipFill>
        <p:spPr>
          <a:xfrm>
            <a:off x="492141" y="1405987"/>
            <a:ext cx="510877" cy="512345"/>
          </a:xfrm>
          <a:prstGeom prst="rect">
            <a:avLst/>
          </a:prstGeom>
        </p:spPr>
      </p:pic>
      <p:grpSp>
        <p:nvGrpSpPr>
          <p:cNvPr id="43" name="Group 42">
            <a:extLst>
              <a:ext uri="{FF2B5EF4-FFF2-40B4-BE49-F238E27FC236}">
                <a16:creationId xmlns:a16="http://schemas.microsoft.com/office/drawing/2014/main" id="{A8154242-FDDD-4D8E-A79C-6854A056CF08}"/>
              </a:ext>
            </a:extLst>
          </p:cNvPr>
          <p:cNvGrpSpPr/>
          <p:nvPr/>
        </p:nvGrpSpPr>
        <p:grpSpPr>
          <a:xfrm>
            <a:off x="795408" y="288234"/>
            <a:ext cx="11197675" cy="678753"/>
            <a:chOff x="976560" y="323070"/>
            <a:chExt cx="10755065" cy="678753"/>
          </a:xfrm>
        </p:grpSpPr>
        <p:cxnSp>
          <p:nvCxnSpPr>
            <p:cNvPr id="44" name="Straight Connector 43">
              <a:extLst>
                <a:ext uri="{FF2B5EF4-FFF2-40B4-BE49-F238E27FC236}">
                  <a16:creationId xmlns:a16="http://schemas.microsoft.com/office/drawing/2014/main" id="{5B26A273-2C1B-4A95-9610-BA78822ABAD5}"/>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87BF5C6C-A4D8-4EC9-8FA1-2D78BAD3BA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pic>
        <p:nvPicPr>
          <p:cNvPr id="3" name="Picture 2">
            <a:extLst>
              <a:ext uri="{FF2B5EF4-FFF2-40B4-BE49-F238E27FC236}">
                <a16:creationId xmlns:a16="http://schemas.microsoft.com/office/drawing/2014/main" id="{5CCD4A81-7E9C-4EF4-A68B-B00A14131179}"/>
              </a:ext>
            </a:extLst>
          </p:cNvPr>
          <p:cNvPicPr>
            <a:picLocks noChangeAspect="1"/>
          </p:cNvPicPr>
          <p:nvPr/>
        </p:nvPicPr>
        <p:blipFill>
          <a:blip r:embed="rId5"/>
          <a:stretch>
            <a:fillRect/>
          </a:stretch>
        </p:blipFill>
        <p:spPr>
          <a:xfrm>
            <a:off x="8288614" y="1401396"/>
            <a:ext cx="3827185" cy="4313604"/>
          </a:xfrm>
          <a:prstGeom prst="rect">
            <a:avLst/>
          </a:prstGeom>
        </p:spPr>
      </p:pic>
    </p:spTree>
    <p:extLst>
      <p:ext uri="{BB962C8B-B14F-4D97-AF65-F5344CB8AC3E}">
        <p14:creationId xmlns:p14="http://schemas.microsoft.com/office/powerpoint/2010/main" val="3437707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5E36317E-E837-4B45-A18D-46DF39C57C1A}"/>
              </a:ext>
            </a:extLst>
          </p:cNvPr>
          <p:cNvGraphicFramePr>
            <a:graphicFrameLocks noGrp="1"/>
          </p:cNvGraphicFramePr>
          <p:nvPr/>
        </p:nvGraphicFramePr>
        <p:xfrm>
          <a:off x="257575" y="565153"/>
          <a:ext cx="11676851" cy="6291458"/>
        </p:xfrm>
        <a:graphic>
          <a:graphicData uri="http://schemas.openxmlformats.org/drawingml/2006/table">
            <a:tbl>
              <a:tblPr/>
              <a:tblGrid>
                <a:gridCol w="307420">
                  <a:extLst>
                    <a:ext uri="{9D8B030D-6E8A-4147-A177-3AD203B41FA5}">
                      <a16:colId xmlns:a16="http://schemas.microsoft.com/office/drawing/2014/main" val="962488620"/>
                    </a:ext>
                  </a:extLst>
                </a:gridCol>
                <a:gridCol w="515435">
                  <a:extLst>
                    <a:ext uri="{9D8B030D-6E8A-4147-A177-3AD203B41FA5}">
                      <a16:colId xmlns:a16="http://schemas.microsoft.com/office/drawing/2014/main" val="1403682130"/>
                    </a:ext>
                  </a:extLst>
                </a:gridCol>
                <a:gridCol w="525347">
                  <a:extLst>
                    <a:ext uri="{9D8B030D-6E8A-4147-A177-3AD203B41FA5}">
                      <a16:colId xmlns:a16="http://schemas.microsoft.com/office/drawing/2014/main" val="3410516771"/>
                    </a:ext>
                  </a:extLst>
                </a:gridCol>
                <a:gridCol w="1268760">
                  <a:extLst>
                    <a:ext uri="{9D8B030D-6E8A-4147-A177-3AD203B41FA5}">
                      <a16:colId xmlns:a16="http://schemas.microsoft.com/office/drawing/2014/main" val="4117379687"/>
                    </a:ext>
                  </a:extLst>
                </a:gridCol>
                <a:gridCol w="971396">
                  <a:extLst>
                    <a:ext uri="{9D8B030D-6E8A-4147-A177-3AD203B41FA5}">
                      <a16:colId xmlns:a16="http://schemas.microsoft.com/office/drawing/2014/main" val="1643022492"/>
                    </a:ext>
                  </a:extLst>
                </a:gridCol>
                <a:gridCol w="1486829">
                  <a:extLst>
                    <a:ext uri="{9D8B030D-6E8A-4147-A177-3AD203B41FA5}">
                      <a16:colId xmlns:a16="http://schemas.microsoft.com/office/drawing/2014/main" val="866666511"/>
                    </a:ext>
                  </a:extLst>
                </a:gridCol>
                <a:gridCol w="6601664">
                  <a:extLst>
                    <a:ext uri="{9D8B030D-6E8A-4147-A177-3AD203B41FA5}">
                      <a16:colId xmlns:a16="http://schemas.microsoft.com/office/drawing/2014/main" val="1066553989"/>
                    </a:ext>
                  </a:extLst>
                </a:gridCol>
              </a:tblGrid>
              <a:tr h="185617">
                <a:tc>
                  <a:txBody>
                    <a:bodyPr/>
                    <a:lstStyle/>
                    <a:p>
                      <a:pPr algn="ctr" fontAlgn="ctr"/>
                      <a:r>
                        <a:rPr lang="en-US" sz="1200" b="0" i="0" u="none" strike="noStrike">
                          <a:solidFill>
                            <a:srgbClr val="000000"/>
                          </a:solidFill>
                          <a:effectLst/>
                          <a:latin typeface="Calibri" panose="020F0502020204030204" pitchFamily="34" charset="0"/>
                        </a:rPr>
                        <a:t>No</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Fleet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tàu bay</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KT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Calibri" panose="020F0502020204030204" pitchFamily="34" charset="0"/>
                        </a:rPr>
                        <a:t>Điều kiện chuyên cơ</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Ghi chú</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5031388"/>
                  </a:ext>
                </a:extLst>
              </a:tr>
              <a:tr h="551377">
                <a:tc>
                  <a:txBody>
                    <a:bodyPr/>
                    <a:lstStyle/>
                    <a:p>
                      <a:pPr algn="ctr" fontAlgn="ctr"/>
                      <a:r>
                        <a:rPr lang="en-US" sz="1200" b="0" i="0" u="none" strike="noStrike">
                          <a:solidFill>
                            <a:srgbClr val="000000"/>
                          </a:solidFill>
                          <a:effectLst/>
                          <a:latin typeface="Calibri" panose="020F0502020204030204" pitchFamily="34" charset="0"/>
                        </a:rPr>
                        <a:t>1</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A886</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B1372 RAISED DM AIR REDUNDANCY LOSS ON FUEL INERTING</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B1379 RAISED PACK 1 REGULATION REDUNDANCY</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B1381 RAISED F/CTL R OUT R AILERON G ACTUATOR</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6091535"/>
                  </a:ext>
                </a:extLst>
              </a:tr>
              <a:tr h="185617">
                <a:tc>
                  <a:txBody>
                    <a:bodyPr/>
                    <a:lstStyle/>
                    <a:p>
                      <a:pPr algn="ctr" fontAlgn="ctr"/>
                      <a:r>
                        <a:rPr lang="en-US" sz="1200" b="0" i="0" u="none" strike="noStrike">
                          <a:solidFill>
                            <a:srgbClr val="000000"/>
                          </a:solidFill>
                          <a:effectLst/>
                          <a:latin typeface="Calibri" panose="020F0502020204030204" pitchFamily="34" charset="0"/>
                        </a:rPr>
                        <a:t>2</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A887</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B1246 RAISED AIR PACK 2 REGUL REDUNDANCY</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6499786"/>
                  </a:ext>
                </a:extLst>
              </a:tr>
              <a:tr h="185617">
                <a:tc>
                  <a:txBody>
                    <a:bodyPr/>
                    <a:lstStyle/>
                    <a:p>
                      <a:pPr algn="ctr" fontAlgn="ctr"/>
                      <a:r>
                        <a:rPr lang="en-US" sz="1200" b="0" i="0" u="none" strike="noStrike">
                          <a:solidFill>
                            <a:srgbClr val="000000"/>
                          </a:solidFill>
                          <a:effectLst/>
                          <a:latin typeface="Calibri" panose="020F0502020204030204" pitchFamily="34" charset="0"/>
                        </a:rPr>
                        <a:t>3</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A888</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B1364 “CAPT EFB DOCKING STATION”</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3443930"/>
                  </a:ext>
                </a:extLst>
              </a:tr>
              <a:tr h="185617">
                <a:tc>
                  <a:txBody>
                    <a:bodyPr/>
                    <a:lstStyle/>
                    <a:p>
                      <a:pPr algn="ctr" fontAlgn="ctr"/>
                      <a:r>
                        <a:rPr lang="en-US" sz="1200" b="0" i="0" u="none" strike="noStrike">
                          <a:solidFill>
                            <a:srgbClr val="000000"/>
                          </a:solidFill>
                          <a:effectLst/>
                          <a:latin typeface="Calibri" panose="020F0502020204030204" pitchFamily="34" charset="0"/>
                        </a:rPr>
                        <a:t>4</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A889</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21088 giảm tần suất soi HPT blade 1200FH/150FC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1275141"/>
                  </a:ext>
                </a:extLst>
              </a:tr>
              <a:tr h="218100">
                <a:tc>
                  <a:txBody>
                    <a:bodyPr/>
                    <a:lstStyle/>
                    <a:p>
                      <a:pPr algn="ctr" fontAlgn="ctr"/>
                      <a:r>
                        <a:rPr lang="en-US" sz="1200" b="0" i="0" u="none" strike="noStrike">
                          <a:solidFill>
                            <a:srgbClr val="000000"/>
                          </a:solidFill>
                          <a:effectLst/>
                          <a:latin typeface="Calibri" panose="020F0502020204030204" pitchFamily="34" charset="0"/>
                        </a:rPr>
                        <a:t>5</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TR 81489576: PREVENTIVE RECOMMENDATION PACK 2 INTERNAL LEAKAGE</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7162736"/>
                  </a:ext>
                </a:extLst>
              </a:tr>
              <a:tr h="185617">
                <a:tc>
                  <a:txBody>
                    <a:bodyPr/>
                    <a:lstStyle/>
                    <a:p>
                      <a:pPr algn="ctr" fontAlgn="ctr"/>
                      <a:r>
                        <a:rPr lang="en-US" sz="1200" b="0" i="0" u="none" strike="noStrike">
                          <a:solidFill>
                            <a:srgbClr val="000000"/>
                          </a:solidFill>
                          <a:effectLst/>
                          <a:latin typeface="Calibri" panose="020F0502020204030204" pitchFamily="34" charset="0"/>
                        </a:rPr>
                        <a:t>6</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A891</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8984114"/>
                  </a:ext>
                </a:extLst>
              </a:tr>
              <a:tr h="368497">
                <a:tc>
                  <a:txBody>
                    <a:bodyPr/>
                    <a:lstStyle/>
                    <a:p>
                      <a:pPr algn="ctr" fontAlgn="ctr"/>
                      <a:r>
                        <a:rPr lang="en-US" sz="1200" b="0" i="0" u="none" strike="noStrike">
                          <a:solidFill>
                            <a:srgbClr val="000000"/>
                          </a:solidFill>
                          <a:effectLst/>
                          <a:latin typeface="Calibri" panose="020F0502020204030204" pitchFamily="34" charset="0"/>
                        </a:rPr>
                        <a:t>7</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A892</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B1455 RAISED THE DROOP-NOSE END-FILLING PANEL AT R/H MISSING</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ADD B1506 RAISED DM SMOKE FWD AND AFT CARGO BTCS REDUNDANCY</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6048764"/>
                  </a:ext>
                </a:extLst>
              </a:tr>
              <a:tr h="734257">
                <a:tc>
                  <a:txBody>
                    <a:bodyPr/>
                    <a:lstStyle/>
                    <a:p>
                      <a:pPr algn="ctr" fontAlgn="ctr"/>
                      <a:r>
                        <a:rPr lang="en-US" sz="1200" b="0" i="0" u="none" strike="noStrike">
                          <a:solidFill>
                            <a:srgbClr val="000000"/>
                          </a:solidFill>
                          <a:effectLst/>
                          <a:latin typeface="Calibri" panose="020F0502020204030204" pitchFamily="34" charset="0"/>
                        </a:rPr>
                        <a:t>8</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A893</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1. Không chọn chuyên cơ do động cơ số 2 S/N 21369 tiêu hao dầu nhờn cao, Rolls-Royce chưa đưa ra được giải pháp khắc phục.</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2. ADD B1309 RAISED APU INOP</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3. ADD B1328 RAISED REVERSER ENG#2 DEACTIVATED</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1136351"/>
                  </a:ext>
                </a:extLst>
              </a:tr>
              <a:tr h="185617">
                <a:tc>
                  <a:txBody>
                    <a:bodyPr/>
                    <a:lstStyle/>
                    <a:p>
                      <a:pPr algn="ctr" fontAlgn="ctr"/>
                      <a:r>
                        <a:rPr lang="en-US" sz="1200" b="0" i="0" u="none" strike="noStrike">
                          <a:solidFill>
                            <a:srgbClr val="000000"/>
                          </a:solidFill>
                          <a:effectLst/>
                          <a:latin typeface="Calibri" panose="020F0502020204030204" pitchFamily="34" charset="0"/>
                        </a:rPr>
                        <a:t>9</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A894</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21425 giảm tần suất soi HPT blade 800FH/100FC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1311741"/>
                  </a:ext>
                </a:extLst>
              </a:tr>
              <a:tr h="368497">
                <a:tc>
                  <a:txBody>
                    <a:bodyPr/>
                    <a:lstStyle/>
                    <a:p>
                      <a:pPr algn="ctr" fontAlgn="ctr"/>
                      <a:r>
                        <a:rPr lang="en-US" sz="1200" b="0" i="0" u="none" strike="noStrike">
                          <a:solidFill>
                            <a:srgbClr val="000000"/>
                          </a:solidFill>
                          <a:effectLst/>
                          <a:latin typeface="Calibri" panose="020F0502020204030204" pitchFamily="34" charset="0"/>
                        </a:rPr>
                        <a:t>10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A895</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B995 RAISED ENGINE #1 SN 21604 HAVE LOW LIFE TIME </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ADD B996 RAISED ENGINE #2 SN 21414 HAVE LOW LIFE TIME</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8403432"/>
                  </a:ext>
                </a:extLst>
              </a:tr>
              <a:tr h="734257">
                <a:tc>
                  <a:txBody>
                    <a:bodyPr/>
                    <a:lstStyle/>
                    <a:p>
                      <a:pPr algn="ctr" fontAlgn="ctr"/>
                      <a:r>
                        <a:rPr lang="en-US" sz="1200" b="0" i="0" u="none" strike="noStrike">
                          <a:solidFill>
                            <a:srgbClr val="000000"/>
                          </a:solidFill>
                          <a:effectLst/>
                          <a:latin typeface="Calibri" panose="020F0502020204030204" pitchFamily="34" charset="0"/>
                        </a:rPr>
                        <a:t>11</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A896</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B954 RAISED UPPER LATCH ASSY OF COCKPIT DOOR BOLTING SYSTEM IS NOT FULLY LOCKED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TR 81416394: PREVENTIVE RECOMMENDATION PACK 1 INTERNAL LEAKAGE</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TR 81524640/007: PACK 1 EXTERNAL LEAKAGE -&gt; đã ktra tốt, đang chờ AIB theo dõi trả lời -&gt; 21/02 đã cung cấp SAR0008 cho AIB phân tích thêm</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6169945"/>
                  </a:ext>
                </a:extLst>
              </a:tr>
              <a:tr h="551377">
                <a:tc>
                  <a:txBody>
                    <a:bodyPr/>
                    <a:lstStyle/>
                    <a:p>
                      <a:pPr algn="ctr" fontAlgn="ctr"/>
                      <a:r>
                        <a:rPr lang="en-US" sz="1200" b="0" i="0" u="none" strike="noStrike">
                          <a:solidFill>
                            <a:srgbClr val="000000"/>
                          </a:solidFill>
                          <a:effectLst/>
                          <a:latin typeface="Calibri" panose="020F0502020204030204" pitchFamily="34" charset="0"/>
                        </a:rPr>
                        <a:t>12</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A897</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Định kỳ</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21214 giảm tần suất soi heatshield 2400FH/400FC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A897 có logo Skyteam</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FM: PROBE 3-N1 TURBINE SPEED,ENG2(4088KS32)</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6979218"/>
                  </a:ext>
                </a:extLst>
              </a:tr>
              <a:tr h="1282897">
                <a:tc>
                  <a:txBody>
                    <a:bodyPr/>
                    <a:lstStyle/>
                    <a:p>
                      <a:pPr algn="ctr" fontAlgn="ctr"/>
                      <a:r>
                        <a:rPr lang="en-US" sz="1200" b="0" i="0" u="none" strike="noStrike">
                          <a:solidFill>
                            <a:srgbClr val="000000"/>
                          </a:solidFill>
                          <a:effectLst/>
                          <a:latin typeface="Calibri" panose="020F0502020204030204" pitchFamily="34" charset="0"/>
                        </a:rPr>
                        <a:t>13</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A898</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CABIN tồn đọng hỏng hóc MID SCS CHILLER, cân nhắc chọn tầu VIP chỉ bay nội địa</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B1134 RAISED FOR REPAIR OF DENT L/H DROOP NOSE WITHIN 350FC OR 150 DAYS WHICHEVER COME FIRST</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ADD B1137 RAISED BRAKE FAN #8 INOP</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5. CAPT OXYGEN CYLINDER (11HT1) PRESSURE IS LOW NEAR LIMIT (&lt;1200 PSI)</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0354024"/>
                  </a:ext>
                </a:extLst>
              </a:tr>
              <a:tr h="368497">
                <a:tc>
                  <a:txBody>
                    <a:bodyPr/>
                    <a:lstStyle/>
                    <a:p>
                      <a:pPr algn="ctr" fontAlgn="ctr"/>
                      <a:r>
                        <a:rPr lang="en-US" sz="1200" b="0" i="0" u="none" strike="noStrike">
                          <a:solidFill>
                            <a:srgbClr val="000000"/>
                          </a:solidFill>
                          <a:effectLst/>
                          <a:latin typeface="Calibri" panose="020F0502020204030204" pitchFamily="34" charset="0"/>
                        </a:rPr>
                        <a:t>14</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A899</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21048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B1002 RAISED FOR AIR PACK#1 REGUL DEGRADED</a:t>
                      </a:r>
                    </a:p>
                  </a:txBody>
                  <a:tcPr marL="2737" marR="2737" marT="273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037399"/>
                  </a:ext>
                </a:extLst>
              </a:tr>
            </a:tbl>
          </a:graphicData>
        </a:graphic>
      </p:graphicFrame>
    </p:spTree>
    <p:extLst>
      <p:ext uri="{BB962C8B-B14F-4D97-AF65-F5344CB8AC3E}">
        <p14:creationId xmlns:p14="http://schemas.microsoft.com/office/powerpoint/2010/main" val="3086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5509200"/>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08 chưa tốt với 01 TH DIV của A891 ngày 22/02 do hỏng hóc SATCOM.</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latin typeface="Times New Roman" panose="02020603050405020304" pitchFamily="18" charset="0"/>
                <a:cs typeface="Times New Roman" panose="02020603050405020304" pitchFamily="18" charset="0"/>
              </a:rPr>
              <a:t>+ A891 DIV KIX VN98 SGN-SFO ngày 22/02 do phát sinh MESG “SATCOM FAULT” -&gt; C/O RAISED MEL 23-28-01B FOR SATCOM INOP.</a:t>
            </a: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này có thể raise MEL tuy nhiên sẽ có hạn chế với những chuyến bay Mỹ, các hỏng hóc SDU có nguyên nhân:</a:t>
            </a:r>
          </a:p>
          <a:p>
            <a:pPr marL="609585" lvl="1" algn="just"/>
            <a:r>
              <a:rPr lang="en-US" sz="1600">
                <a:solidFill>
                  <a:srgbClr val="FF0000"/>
                </a:solidFill>
                <a:latin typeface="Times New Roman" panose="02020603050405020304" pitchFamily="18" charset="0"/>
                <a:cs typeface="Times New Roman" panose="02020603050405020304" pitchFamily="18" charset="0"/>
              </a:rPr>
              <a:t>- </a:t>
            </a:r>
            <a:r>
              <a:rPr lang="vi-VN" sz="1600">
                <a:solidFill>
                  <a:srgbClr val="FF0000"/>
                </a:solidFill>
                <a:latin typeface="Times New Roman" panose="02020603050405020304" pitchFamily="18" charset="0"/>
                <a:cs typeface="Times New Roman" panose="02020603050405020304" pitchFamily="18" charset="0"/>
              </a:rPr>
              <a:t>Hỏng hóc SATCOM call issue dù không có msg liên quan, phải reset C/B on ground =&gt; đã khắc phục bằng cách nâng cấp SW theo SB A350-23-P027, hoàn thành trên đội bay vào T8/2023</a:t>
            </a:r>
          </a:p>
          <a:p>
            <a:pPr marL="609585" lvl="1" algn="just"/>
            <a:r>
              <a:rPr lang="en-US" sz="1600">
                <a:solidFill>
                  <a:srgbClr val="FF0000"/>
                </a:solidFill>
                <a:latin typeface="Times New Roman" panose="02020603050405020304" pitchFamily="18" charset="0"/>
                <a:cs typeface="Times New Roman" panose="02020603050405020304" pitchFamily="18" charset="0"/>
              </a:rPr>
              <a:t>- </a:t>
            </a:r>
            <a:r>
              <a:rPr lang="vi-VN" sz="1600">
                <a:solidFill>
                  <a:srgbClr val="FF0000"/>
                </a:solidFill>
                <a:latin typeface="Times New Roman" panose="02020603050405020304" pitchFamily="18" charset="0"/>
                <a:cs typeface="Times New Roman" panose="02020603050405020304" pitchFamily="18" charset="0"/>
              </a:rPr>
              <a:t>Mất tín hiệu SATCOM tại sân bay SGN, đặc biệt là ở bãi số 16=&gt; đã đề nghị hạn chế không sếp các tàu bay đi Mỹ ở bãi số 16</a:t>
            </a:r>
          </a:p>
          <a:p>
            <a:pPr marL="609585" lvl="1" algn="just"/>
            <a:endParaRPr lang="en-US" sz="1600">
              <a:solidFill>
                <a:srgbClr val="FF0000"/>
              </a:solidFill>
              <a:latin typeface="Times New Roman" panose="02020603050405020304" pitchFamily="18" charset="0"/>
              <a:cs typeface="Times New Roman" panose="02020603050405020304" pitchFamily="18" charset="0"/>
            </a:endParaRP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thiết bị liên quan đến hệ thống SATCOM</a:t>
            </a:r>
          </a:p>
          <a:p>
            <a:pPr marL="609585" lvl="1" algn="just"/>
            <a:r>
              <a:rPr lang="en-US" sz="1600">
                <a:solidFill>
                  <a:srgbClr val="FF0000"/>
                </a:solidFill>
                <a:latin typeface="Times New Roman" panose="02020603050405020304" pitchFamily="18" charset="0"/>
                <a:cs typeface="Times New Roman" panose="02020603050405020304" pitchFamily="18" charset="0"/>
              </a:rPr>
              <a:t>- </a:t>
            </a:r>
            <a:r>
              <a:rPr lang="vi-VN" sz="1600">
                <a:solidFill>
                  <a:srgbClr val="FF0000"/>
                </a:solidFill>
                <a:latin typeface="Times New Roman" panose="02020603050405020304" pitchFamily="18" charset="0"/>
                <a:cs typeface="Times New Roman" panose="02020603050405020304" pitchFamily="18" charset="0"/>
              </a:rPr>
              <a:t>SDU PN 822-2909-050, từ lúc khai thác 16 lần thay thế, tập trung chủ yếu giai đoạn 2019-2022 (2023 không thay, 2024 01 lần) MTBUR 2015-nay 21402 FH, cao hơn GMTBUR 19000 FH  </a:t>
            </a:r>
          </a:p>
          <a:p>
            <a:pPr marL="609585" lvl="1" algn="just"/>
            <a:r>
              <a:rPr lang="en-US" sz="1600">
                <a:solidFill>
                  <a:srgbClr val="FF0000"/>
                </a:solidFill>
                <a:latin typeface="Times New Roman" panose="02020603050405020304" pitchFamily="18" charset="0"/>
                <a:cs typeface="Times New Roman" panose="02020603050405020304" pitchFamily="18" charset="0"/>
              </a:rPr>
              <a:t>- </a:t>
            </a:r>
            <a:r>
              <a:rPr lang="vi-VN" sz="1600">
                <a:solidFill>
                  <a:srgbClr val="FF0000"/>
                </a:solidFill>
                <a:latin typeface="Times New Roman" panose="02020603050405020304" pitchFamily="18" charset="0"/>
                <a:cs typeface="Times New Roman" panose="02020603050405020304" pitchFamily="18" charset="0"/>
              </a:rPr>
              <a:t>HPA PN 822-29</a:t>
            </a:r>
            <a:r>
              <a:rPr lang="en-US" sz="1600">
                <a:solidFill>
                  <a:srgbClr val="FF0000"/>
                </a:solidFill>
                <a:latin typeface="Times New Roman" panose="02020603050405020304" pitchFamily="18" charset="0"/>
                <a:cs typeface="Times New Roman" panose="02020603050405020304" pitchFamily="18" charset="0"/>
              </a:rPr>
              <a:t>10</a:t>
            </a:r>
            <a:r>
              <a:rPr lang="vi-VN" sz="1600">
                <a:solidFill>
                  <a:srgbClr val="FF0000"/>
                </a:solidFill>
                <a:latin typeface="Times New Roman" panose="02020603050405020304" pitchFamily="18" charset="0"/>
                <a:cs typeface="Times New Roman" panose="02020603050405020304" pitchFamily="18" charset="0"/>
              </a:rPr>
              <a:t>-050, từ lúc khai thác 12 lần thay thế, tập trung chủ yếu năm 2023 (08 lần) MTBUR 2015-nay 13085 FH, thấp hơn GMTBUR 19000 FH, </a:t>
            </a:r>
          </a:p>
          <a:p>
            <a:pPr marL="609585" lvl="1" algn="just"/>
            <a:r>
              <a:rPr lang="en-US" sz="1600">
                <a:solidFill>
                  <a:srgbClr val="FF0000"/>
                </a:solidFill>
                <a:latin typeface="Times New Roman" panose="02020603050405020304" pitchFamily="18" charset="0"/>
                <a:cs typeface="Times New Roman" panose="02020603050405020304" pitchFamily="18" charset="0"/>
              </a:rPr>
              <a:t>- </a:t>
            </a:r>
            <a:r>
              <a:rPr lang="vi-VN" sz="1600">
                <a:solidFill>
                  <a:srgbClr val="FF0000"/>
                </a:solidFill>
                <a:latin typeface="Times New Roman" panose="02020603050405020304" pitchFamily="18" charset="0"/>
                <a:cs typeface="Times New Roman" panose="02020603050405020304" pitchFamily="18" charset="0"/>
              </a:rPr>
              <a:t>HGA PN 822-2923-050, từ lúc khai thác 04 lần thay thế (03 2022, 01 2023) MTBUR 2015-nay 46700 FH, thấp hơn GMTBUR 105000 FH. Theo Collins, hỏng hóc là do: Linh kiện lỗi thời và không đáng tin cậy, lỗi hàn trên PCB, kết nối hàn không đủ bền (lỗi này đã được cải thiện với các thiết bị mới nhà xử lý nhiệt khi hàn), hiện Collins đang nghiên cứu giải pháp.</a:t>
            </a:r>
          </a:p>
          <a:p>
            <a:pPr marL="609585" lvl="1" algn="just"/>
            <a:r>
              <a:rPr lang="vi-VN" sz="1600">
                <a:solidFill>
                  <a:srgbClr val="FF0000"/>
                </a:solidFill>
                <a:latin typeface="Times New Roman" panose="02020603050405020304" pitchFamily="18" charset="0"/>
                <a:cs typeface="Times New Roman" panose="02020603050405020304" pitchFamily="18" charset="0"/>
              </a:rPr>
              <a:t>=&gt; Ban KT sẽ tiếp tục làm việc với Airbus, AFHS và Collins để tìm nguyên nhân, có giải pháp nâng cao độ tin cậy hệ thống SATCOM trên A350</a:t>
            </a:r>
            <a:endParaRPr lang="en-US" sz="1600">
              <a:solidFill>
                <a:srgbClr val="FF0000"/>
              </a:solidFill>
              <a:latin typeface="Times New Roman" panose="02020603050405020304" pitchFamily="18" charset="0"/>
              <a:cs typeface="Times New Roman" panose="02020603050405020304" pitchFamily="18" charset="0"/>
            </a:endParaRPr>
          </a:p>
          <a:p>
            <a:pPr marL="609585" lvl="1" algn="just"/>
            <a:endParaRPr lang="en-US" sz="1600">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A893 có ADD APU INOP tuy nhiên không có APU, KH rob từ A887 (BQDB) và khắc phục ngày 23/02.</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9562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2D70F59A-F75E-2F2B-E505-E3D07F7E24A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EA3FCE7-A57A-5EAD-1892-C0E7A4FE0C3C}"/>
              </a:ext>
            </a:extLst>
          </p:cNvPr>
          <p:cNvSpPr txBox="1">
            <a:spLocks noGrp="1"/>
          </p:cNvSpPr>
          <p:nvPr>
            <p:ph type="sldNum" idx="12"/>
          </p:nvPr>
        </p:nvSpPr>
        <p:spPr>
          <a:xfrm>
            <a:off x="11484784" y="6310756"/>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34276AA2-D940-E01C-D7BC-0F3A4DE83381}"/>
              </a:ext>
            </a:extLst>
          </p:cNvPr>
          <p:cNvSpPr>
            <a:spLocks noGrp="1"/>
          </p:cNvSpPr>
          <p:nvPr>
            <p:ph type="title"/>
          </p:nvPr>
        </p:nvSpPr>
        <p:spPr>
          <a:xfrm>
            <a:off x="228600" y="93133"/>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B787</a:t>
            </a:r>
          </a:p>
        </p:txBody>
      </p:sp>
      <p:sp>
        <p:nvSpPr>
          <p:cNvPr id="8" name="TextBox 7">
            <a:extLst>
              <a:ext uri="{FF2B5EF4-FFF2-40B4-BE49-F238E27FC236}">
                <a16:creationId xmlns:a16="http://schemas.microsoft.com/office/drawing/2014/main" id="{707FA246-4B8B-393F-FE30-333DDD45FBD4}"/>
              </a:ext>
            </a:extLst>
          </p:cNvPr>
          <p:cNvSpPr txBox="1"/>
          <p:nvPr/>
        </p:nvSpPr>
        <p:spPr>
          <a:xfrm>
            <a:off x="152397"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Delay: 03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D81119D0-6F80-6B55-5FD9-8175EDB24096}"/>
              </a:ext>
            </a:extLst>
          </p:cNvPr>
          <p:cNvSpPr txBox="1"/>
          <p:nvPr/>
        </p:nvSpPr>
        <p:spPr>
          <a:xfrm>
            <a:off x="152397" y="1236922"/>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03</a:t>
            </a:r>
          </a:p>
        </p:txBody>
      </p:sp>
      <p:graphicFrame>
        <p:nvGraphicFramePr>
          <p:cNvPr id="4" name="Table 3">
            <a:extLst>
              <a:ext uri="{FF2B5EF4-FFF2-40B4-BE49-F238E27FC236}">
                <a16:creationId xmlns:a16="http://schemas.microsoft.com/office/drawing/2014/main" id="{36D228A3-2957-9776-AA00-6ED0500D28D6}"/>
              </a:ext>
            </a:extLst>
          </p:cNvPr>
          <p:cNvGraphicFramePr>
            <a:graphicFrameLocks noGrp="1"/>
          </p:cNvGraphicFramePr>
          <p:nvPr/>
        </p:nvGraphicFramePr>
        <p:xfrm>
          <a:off x="152397" y="1774593"/>
          <a:ext cx="11688715" cy="4950057"/>
        </p:xfrm>
        <a:graphic>
          <a:graphicData uri="http://schemas.openxmlformats.org/drawingml/2006/table">
            <a:tbl>
              <a:tblPr/>
              <a:tblGrid>
                <a:gridCol w="406068">
                  <a:extLst>
                    <a:ext uri="{9D8B030D-6E8A-4147-A177-3AD203B41FA5}">
                      <a16:colId xmlns:a16="http://schemas.microsoft.com/office/drawing/2014/main" val="2005463133"/>
                    </a:ext>
                  </a:extLst>
                </a:gridCol>
                <a:gridCol w="406068">
                  <a:extLst>
                    <a:ext uri="{9D8B030D-6E8A-4147-A177-3AD203B41FA5}">
                      <a16:colId xmlns:a16="http://schemas.microsoft.com/office/drawing/2014/main" val="3532412126"/>
                    </a:ext>
                  </a:extLst>
                </a:gridCol>
                <a:gridCol w="702127">
                  <a:extLst>
                    <a:ext uri="{9D8B030D-6E8A-4147-A177-3AD203B41FA5}">
                      <a16:colId xmlns:a16="http://schemas.microsoft.com/office/drawing/2014/main" val="2246453922"/>
                    </a:ext>
                  </a:extLst>
                </a:gridCol>
                <a:gridCol w="362863">
                  <a:extLst>
                    <a:ext uri="{9D8B030D-6E8A-4147-A177-3AD203B41FA5}">
                      <a16:colId xmlns:a16="http://schemas.microsoft.com/office/drawing/2014/main" val="3831941748"/>
                    </a:ext>
                  </a:extLst>
                </a:gridCol>
                <a:gridCol w="661975">
                  <a:extLst>
                    <a:ext uri="{9D8B030D-6E8A-4147-A177-3AD203B41FA5}">
                      <a16:colId xmlns:a16="http://schemas.microsoft.com/office/drawing/2014/main" val="961761706"/>
                    </a:ext>
                  </a:extLst>
                </a:gridCol>
                <a:gridCol w="441317">
                  <a:extLst>
                    <a:ext uri="{9D8B030D-6E8A-4147-A177-3AD203B41FA5}">
                      <a16:colId xmlns:a16="http://schemas.microsoft.com/office/drawing/2014/main" val="1638648152"/>
                    </a:ext>
                  </a:extLst>
                </a:gridCol>
                <a:gridCol w="600985">
                  <a:extLst>
                    <a:ext uri="{9D8B030D-6E8A-4147-A177-3AD203B41FA5}">
                      <a16:colId xmlns:a16="http://schemas.microsoft.com/office/drawing/2014/main" val="1768356610"/>
                    </a:ext>
                  </a:extLst>
                </a:gridCol>
                <a:gridCol w="1295400">
                  <a:extLst>
                    <a:ext uri="{9D8B030D-6E8A-4147-A177-3AD203B41FA5}">
                      <a16:colId xmlns:a16="http://schemas.microsoft.com/office/drawing/2014/main" val="3401757400"/>
                    </a:ext>
                  </a:extLst>
                </a:gridCol>
                <a:gridCol w="1752600">
                  <a:extLst>
                    <a:ext uri="{9D8B030D-6E8A-4147-A177-3AD203B41FA5}">
                      <a16:colId xmlns:a16="http://schemas.microsoft.com/office/drawing/2014/main" val="3320069203"/>
                    </a:ext>
                  </a:extLst>
                </a:gridCol>
                <a:gridCol w="457200">
                  <a:extLst>
                    <a:ext uri="{9D8B030D-6E8A-4147-A177-3AD203B41FA5}">
                      <a16:colId xmlns:a16="http://schemas.microsoft.com/office/drawing/2014/main" val="4279825923"/>
                    </a:ext>
                  </a:extLst>
                </a:gridCol>
                <a:gridCol w="4602112">
                  <a:extLst>
                    <a:ext uri="{9D8B030D-6E8A-4147-A177-3AD203B41FA5}">
                      <a16:colId xmlns:a16="http://schemas.microsoft.com/office/drawing/2014/main" val="1988727542"/>
                    </a:ext>
                  </a:extLst>
                </a:gridCol>
              </a:tblGrid>
              <a:tr h="87529">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627700936"/>
                  </a:ext>
                </a:extLst>
              </a:tr>
              <a:tr h="401709">
                <a:tc>
                  <a:txBody>
                    <a:bodyPr/>
                    <a:lstStyle/>
                    <a:p>
                      <a:pPr algn="ctr" fontAlgn="t"/>
                      <a:r>
                        <a:rPr lang="en-US" sz="1100" b="0" i="0" u="none" strike="noStrike" dirty="0">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A874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00:52 23/02/2025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38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VN416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HAN-ICN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WATER SYS FAULT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 RESET &amp; TEST WATER SYS SATIS EVENT CLOSED  </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a:solidFill>
                            <a:srgbClr val="000000"/>
                          </a:solidFill>
                          <a:effectLst/>
                          <a:latin typeface="Calibri" panose="020F0502020204030204" pitchFamily="34" charset="0"/>
                        </a:rPr>
                        <a:t>38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a:solidFill>
                            <a:srgbClr val="000000"/>
                          </a:solidFill>
                          <a:effectLst/>
                          <a:latin typeface="Calibri" panose="020F0502020204030204" pitchFamily="34" charset="0"/>
                        </a:rPr>
                        <a:t>Reset hệ thống hoạt động bình thường, sẽ theo dõi để đánh giá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760425"/>
                  </a:ext>
                </a:extLst>
              </a:tr>
              <a:tr h="1331349">
                <a:tc>
                  <a:txBody>
                    <a:bodyPr/>
                    <a:lstStyle/>
                    <a:p>
                      <a:pPr algn="ctr" fontAlgn="t"/>
                      <a:r>
                        <a:rPr lang="en-US" sz="1100" b="0" i="0" u="none" strike="noStrike" dirty="0">
                          <a:solidFill>
                            <a:srgbClr val="000000"/>
                          </a:solidFill>
                          <a:effectLst/>
                          <a:latin typeface="Calibri" panose="020F0502020204030204" pitchFamily="34" charset="0"/>
                        </a:rPr>
                        <a:t>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A865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01:16 21/02/2025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HAN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20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VN310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HAN-NRT</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a:solidFill>
                            <a:srgbClr val="000000"/>
                          </a:solidFill>
                          <a:effectLst/>
                          <a:latin typeface="Calibri" panose="020F0502020204030204" pitchFamily="34" charset="0"/>
                        </a:rPr>
                        <a:t>A865 [GTB] DUE TO  MSG “ANTISKID” AND MSG “AUTO BRAKE” A865 VN310 HAN-NRT GTB DUE TO CAPT REPORT APPEAR MSG “ANTISKID” AND MSG “AUTO BRAKE”.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 EVENT CLOSED ACTION: C/O INSPECTION AXEL RDC 4 AND HARNESS FOUND HARNESS CHAFFING. C/O DEACTIVATE BRAKE 4 AND GROUND TEST R OUTBOARD BRAKE CONTROL SYSTEM -&gt; SATIS, MSG “ANTISKID” CLEARED. A/C SERVICEABLE;PFR A865.</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VN310 TOTAL DELAY 85 MINS; TECH DELAY 20 MINS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dirty="0">
                          <a:solidFill>
                            <a:srgbClr val="000000"/>
                          </a:solidFill>
                          <a:effectLst/>
                          <a:latin typeface="Calibri" panose="020F0502020204030204" pitchFamily="34" charset="0"/>
                        </a:rPr>
                        <a:t>32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Calibri" panose="020F0502020204030204" pitchFamily="34" charset="0"/>
                        </a:rPr>
                        <a:t>Kiểm tra phát hiện harness PN 668Z701158-17 (W701158) bị trà sát gây ra lỗi FDE Antiskid 4.</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Lịch sử khai thác chưa từng xuất hiện hỏng hóc dạng này. Số lượng tháo lắp Harness loại này là 3 lần đều liên quan đến BRAKE TEMP SYS, trong đó có 2 lần tháo lắp trên A872 (một lần tháo và keepstore để theo dõi).</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Hoạt động bảo dưỡng: tàu vừa thay main wheel cùng vị trí (#4) thì chuyến bay đầu tiên bị FDE Antiskid 4 phải GTB.</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Boe không có issue nào liên quan đến hỏng hóc dạng này. BCS cho rằng, hoạt động bảo dưỡng hoặc FOD cũng có thê là nguyên nhân của chafing, tuy nhiên BOE không xác định được chính xác nguyên nhân nên không thể đề xuất các giải pháp ngăn ngừa liên quan. Tiếp tục theo dõi thêm.</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37170645"/>
                  </a:ext>
                </a:extLst>
              </a:tr>
              <a:tr h="1331349">
                <a:tc>
                  <a:txBody>
                    <a:bodyPr/>
                    <a:lstStyle/>
                    <a:p>
                      <a:pPr algn="ctr" fontAlgn="t"/>
                      <a:r>
                        <a:rPr lang="en-US" sz="1100" b="0" i="0" u="none" strike="noStrike" dirty="0">
                          <a:solidFill>
                            <a:srgbClr val="000000"/>
                          </a:solidFill>
                          <a:effectLst/>
                          <a:latin typeface="Calibri" panose="020F0502020204030204" pitchFamily="34" charset="0"/>
                        </a:rPr>
                        <a:t>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A863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8:25</a:t>
                      </a:r>
                    </a:p>
                    <a:p>
                      <a:pPr algn="l" fontAlgn="t"/>
                      <a:r>
                        <a:rPr lang="en-US" sz="1100" b="0" i="0" u="none" strike="noStrike" dirty="0">
                          <a:solidFill>
                            <a:srgbClr val="000000"/>
                          </a:solidFill>
                          <a:effectLst/>
                          <a:latin typeface="Calibri" panose="020F0502020204030204" pitchFamily="34" charset="0"/>
                        </a:rPr>
                        <a:t>23/2/2025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KIX</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70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endParaRPr lang="en-US" sz="1100" b="0" i="0" u="none" strike="noStrike">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en-US" sz="1100" b="0" i="0" u="none" strike="noStrike" dirty="0">
                          <a:solidFill>
                            <a:srgbClr val="000000"/>
                          </a:solidFill>
                          <a:effectLst/>
                          <a:latin typeface="Calibri" panose="020F0502020204030204" pitchFamily="34" charset="0"/>
                        </a:rPr>
                        <a:t>KIX-SGN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A863/KIX/08:00 23/02: T/X CHK FOR VN327 KIX-SGN:  STS MGS: DEFUEL ISOL VALVE L APPEARED</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DEFUEL ISOL VALVE L DE-ACTIVATED =&gt; ADD RAISED UNDER MEL 28-26-01 =&gt; VN327 KIX-SGN delay 1hr10mins.</a:t>
                      </a:r>
                    </a:p>
                    <a:p>
                      <a:pPr algn="l" fontAlgn="t"/>
                      <a:endParaRPr lang="en-US"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100" b="0" i="0" u="none" strike="noStrike" dirty="0">
                          <a:solidFill>
                            <a:srgbClr val="000000"/>
                          </a:solidFill>
                          <a:effectLst/>
                          <a:latin typeface="Calibri" panose="020F0502020204030204" pitchFamily="34" charset="0"/>
                        </a:rPr>
                        <a:t>28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r>
                        <a:rPr lang="vi-VN" sz="1100" b="0" i="0" u="none" strike="noStrike" dirty="0">
                          <a:solidFill>
                            <a:srgbClr val="000000"/>
                          </a:solidFill>
                          <a:effectLst/>
                          <a:latin typeface="Calibri" panose="020F0502020204030204" pitchFamily="34" charset="0"/>
                        </a:rPr>
                        <a:t>Cần thực hiện FIM task để xác định lỗi cụ thể. Dự kiên thay Vlv PN 12M0075 hoặc Vlv Actuator PN 53-0045 để khắc phục. Sẽ đánh giá thêm khi có kết quả thay thế.</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ĐTC: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PN 12M0075 chưa thay khối nào.</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PN 53-0049 đã từng thay 14 khối (QPA = 21;  MTBUR 500k lớn hơn RSPL 144k);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Vlv Actuator đã có đợt nâng cấp từ PN 53-0037 thành 53-0049 (787-FTD-28-13002 năm 2014 trong production - Changes were made to the actuator micro-switch circuit).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OEM EATON đã có thêm nâng cấp O ring và Sealant (liên kết giữa Actuator body và Motor body) tại Shop và production line từ SN 3119xxxx (tuần 31 năm 2019). Các tàu nhận trước 2019 chưa làm nâng cấp này. Tuy nhiên, nâng cấp này không ảnh hưởng đến độ tin cậy của actuator mà chỉ là một cải tiến để tăng độ bền khi lắp trên máy bay, do đó OEM không có SB để triển khai</a:t>
                      </a:r>
                      <a:r>
                        <a:rPr lang="en-US" sz="1100" b="0" i="0" u="none" strike="noStrike" dirty="0">
                          <a:solidFill>
                            <a:srgbClr val="000000"/>
                          </a:solidFill>
                          <a:effectLst/>
                          <a:latin typeface="Calibri" panose="020F0502020204030204" pitchFamily="34" charset="0"/>
                        </a:rPr>
                        <a:t>.</a:t>
                      </a:r>
                      <a:endParaRPr lang="vi-VN" sz="1100" b="0" i="0" u="none" strike="noStrike" dirty="0">
                        <a:solidFill>
                          <a:srgbClr val="000000"/>
                        </a:solidFill>
                        <a:effectLst/>
                        <a:latin typeface="Calibri" panose="020F0502020204030204" pitchFamily="34" charset="0"/>
                      </a:endParaRP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9498807"/>
                  </a:ext>
                </a:extLst>
              </a:tr>
            </a:tbl>
          </a:graphicData>
        </a:graphic>
      </p:graphicFrame>
    </p:spTree>
    <p:extLst>
      <p:ext uri="{BB962C8B-B14F-4D97-AF65-F5344CB8AC3E}">
        <p14:creationId xmlns:p14="http://schemas.microsoft.com/office/powerpoint/2010/main" val="39723554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BD7D73FF-8A5E-CE03-1F39-A24FB11660C0}"/>
              </a:ext>
            </a:extLst>
          </p:cNvPr>
          <p:cNvGraphicFramePr>
            <a:graphicFrameLocks noGrp="1"/>
          </p:cNvGraphicFramePr>
          <p:nvPr/>
        </p:nvGraphicFramePr>
        <p:xfrm>
          <a:off x="101829" y="501464"/>
          <a:ext cx="11914484" cy="6348437"/>
        </p:xfrm>
        <a:graphic>
          <a:graphicData uri="http://schemas.openxmlformats.org/drawingml/2006/table">
            <a:tbl>
              <a:tblPr/>
              <a:tblGrid>
                <a:gridCol w="433431">
                  <a:extLst>
                    <a:ext uri="{9D8B030D-6E8A-4147-A177-3AD203B41FA5}">
                      <a16:colId xmlns:a16="http://schemas.microsoft.com/office/drawing/2014/main" val="2755031578"/>
                    </a:ext>
                  </a:extLst>
                </a:gridCol>
                <a:gridCol w="614556">
                  <a:extLst>
                    <a:ext uri="{9D8B030D-6E8A-4147-A177-3AD203B41FA5}">
                      <a16:colId xmlns:a16="http://schemas.microsoft.com/office/drawing/2014/main" val="2028464897"/>
                    </a:ext>
                  </a:extLst>
                </a:gridCol>
                <a:gridCol w="693853">
                  <a:extLst>
                    <a:ext uri="{9D8B030D-6E8A-4147-A177-3AD203B41FA5}">
                      <a16:colId xmlns:a16="http://schemas.microsoft.com/office/drawing/2014/main" val="1343986179"/>
                    </a:ext>
                  </a:extLst>
                </a:gridCol>
                <a:gridCol w="1387708">
                  <a:extLst>
                    <a:ext uri="{9D8B030D-6E8A-4147-A177-3AD203B41FA5}">
                      <a16:colId xmlns:a16="http://schemas.microsoft.com/office/drawing/2014/main" val="4150800226"/>
                    </a:ext>
                  </a:extLst>
                </a:gridCol>
                <a:gridCol w="1328233">
                  <a:extLst>
                    <a:ext uri="{9D8B030D-6E8A-4147-A177-3AD203B41FA5}">
                      <a16:colId xmlns:a16="http://schemas.microsoft.com/office/drawing/2014/main" val="3038274781"/>
                    </a:ext>
                  </a:extLst>
                </a:gridCol>
                <a:gridCol w="1516567">
                  <a:extLst>
                    <a:ext uri="{9D8B030D-6E8A-4147-A177-3AD203B41FA5}">
                      <a16:colId xmlns:a16="http://schemas.microsoft.com/office/drawing/2014/main" val="820258595"/>
                    </a:ext>
                  </a:extLst>
                </a:gridCol>
                <a:gridCol w="5940136">
                  <a:extLst>
                    <a:ext uri="{9D8B030D-6E8A-4147-A177-3AD203B41FA5}">
                      <a16:colId xmlns:a16="http://schemas.microsoft.com/office/drawing/2014/main" val="745724026"/>
                    </a:ext>
                  </a:extLst>
                </a:gridCol>
              </a:tblGrid>
              <a:tr h="241684">
                <a:tc>
                  <a:txBody>
                    <a:bodyPr/>
                    <a:lstStyle/>
                    <a:p>
                      <a:pPr algn="ctr" fontAlgn="ctr"/>
                      <a:r>
                        <a:rPr lang="en-US" sz="1300" b="0" i="0" u="none" strike="noStrike">
                          <a:solidFill>
                            <a:srgbClr val="000000"/>
                          </a:solidFill>
                          <a:effectLst/>
                          <a:latin typeface="Calibri" panose="020F0502020204030204" pitchFamily="34" charset="0"/>
                        </a:rPr>
                        <a:t>No</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31310787"/>
                  </a:ext>
                </a:extLst>
              </a:tr>
              <a:tr h="207807">
                <a:tc>
                  <a:txBody>
                    <a:bodyPr/>
                    <a:lstStyle/>
                    <a:p>
                      <a:pPr algn="ctr" fontAlgn="ctr"/>
                      <a:r>
                        <a:rPr lang="en-US" sz="1300" b="0" i="0" u="none" strike="noStrike">
                          <a:solidFill>
                            <a:srgbClr val="000000"/>
                          </a:solidFill>
                          <a:effectLst/>
                          <a:latin typeface="Calibri" panose="020F0502020204030204" pitchFamily="34" charset="0"/>
                        </a:rPr>
                        <a:t>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403310"/>
                  </a:ext>
                </a:extLst>
              </a:tr>
              <a:tr h="207807">
                <a:tc>
                  <a:txBody>
                    <a:bodyPr/>
                    <a:lstStyle/>
                    <a:p>
                      <a:pPr algn="ctr" fontAlgn="ctr"/>
                      <a:r>
                        <a:rPr lang="en-US" sz="1300" b="0" i="0" u="none" strike="noStrike">
                          <a:solidFill>
                            <a:srgbClr val="000000"/>
                          </a:solidFill>
                          <a:effectLst/>
                          <a:latin typeface="Calibri" panose="020F0502020204030204" pitchFamily="34" charset="0"/>
                        </a:rPr>
                        <a:t>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2273538"/>
                  </a:ext>
                </a:extLst>
              </a:tr>
              <a:tr h="411007">
                <a:tc>
                  <a:txBody>
                    <a:bodyPr/>
                    <a:lstStyle/>
                    <a:p>
                      <a:pPr algn="ctr" fontAlgn="ctr"/>
                      <a:r>
                        <a:rPr lang="en-US" sz="1300" b="0" i="0" u="none" strike="noStrike">
                          <a:solidFill>
                            <a:srgbClr val="000000"/>
                          </a:solidFill>
                          <a:effectLst/>
                          <a:latin typeface="Calibri" panose="020F0502020204030204" pitchFamily="34" charset="0"/>
                        </a:rPr>
                        <a:t>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B1601 STS TAIL AIRFLOW SYS</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6251810"/>
                  </a:ext>
                </a:extLst>
              </a:tr>
              <a:tr h="241684">
                <a:tc>
                  <a:txBody>
                    <a:bodyPr/>
                    <a:lstStyle/>
                    <a:p>
                      <a:pPr algn="ctr" fontAlgn="ctr"/>
                      <a:r>
                        <a:rPr lang="en-US" sz="1300" b="0" i="0" u="none" strike="noStrike">
                          <a:solidFill>
                            <a:srgbClr val="000000"/>
                          </a:solidFill>
                          <a:effectLst/>
                          <a:latin typeface="Calibri" panose="020F0502020204030204" pitchFamily="34" charset="0"/>
                        </a:rPr>
                        <a:t>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2 (956577) HPT 1B có hỏng hóc (giảm tần suất 50FC)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03854113"/>
                  </a:ext>
                </a:extLst>
              </a:tr>
              <a:tr h="207807">
                <a:tc>
                  <a:txBody>
                    <a:bodyPr/>
                    <a:lstStyle/>
                    <a:p>
                      <a:pPr algn="ctr" fontAlgn="ctr"/>
                      <a:r>
                        <a:rPr lang="en-US" sz="1300" b="0" i="0" u="none" strike="noStrike">
                          <a:solidFill>
                            <a:srgbClr val="000000"/>
                          </a:solidFill>
                          <a:effectLst/>
                          <a:latin typeface="Calibri" panose="020F0502020204030204" pitchFamily="34" charset="0"/>
                        </a:rPr>
                        <a:t>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B1260 CARGO REFRIG COMPRESSOR</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0820950"/>
                  </a:ext>
                </a:extLst>
              </a:tr>
              <a:tr h="411007">
                <a:tc>
                  <a:txBody>
                    <a:bodyPr/>
                    <a:lstStyle/>
                    <a:p>
                      <a:pPr algn="ctr" fontAlgn="ctr"/>
                      <a:r>
                        <a:rPr lang="en-US" sz="1300" b="0" i="0" u="none" strike="noStrike">
                          <a:solidFill>
                            <a:srgbClr val="000000"/>
                          </a:solidFill>
                          <a:effectLst/>
                          <a:latin typeface="Calibri" panose="020F0502020204030204" pitchFamily="34" charset="0"/>
                        </a:rPr>
                        <a:t>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673940"/>
                  </a:ext>
                </a:extLst>
              </a:tr>
              <a:tr h="817407">
                <a:tc>
                  <a:txBody>
                    <a:bodyPr/>
                    <a:lstStyle/>
                    <a:p>
                      <a:pPr algn="ctr" fontAlgn="ctr"/>
                      <a:r>
                        <a:rPr lang="en-US" sz="1300" b="0" i="0" u="none" strike="noStrike">
                          <a:solidFill>
                            <a:srgbClr val="000000"/>
                          </a:solidFill>
                          <a:effectLst/>
                          <a:latin typeface="Calibri" panose="020F0502020204030204" pitchFamily="34" charset="0"/>
                        </a:rPr>
                        <a:t>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B1528 AFT CARGO HANDLING SYS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B1539 VIDEO SURVEILLANCE SYSTEM INOP; LEAK OXY TỔ BAY</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0321831"/>
                  </a:ext>
                </a:extLst>
              </a:tr>
              <a:tr h="411007">
                <a:tc>
                  <a:txBody>
                    <a:bodyPr/>
                    <a:lstStyle/>
                    <a:p>
                      <a:pPr algn="ctr" fontAlgn="ctr"/>
                      <a:r>
                        <a:rPr lang="en-US" sz="1300" b="0" i="0" u="none" strike="noStrike">
                          <a:solidFill>
                            <a:srgbClr val="000000"/>
                          </a:solidFill>
                          <a:effectLst/>
                          <a:latin typeface="Calibri" panose="020F0502020204030204" pitchFamily="34" charset="0"/>
                        </a:rPr>
                        <a:t>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B1061 RAISED: ENG#1 REPLACE OR RE-INSPECT NOT TO EXCEED 50 CYCLES, REF DR#02104796, EXP: 6074 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0909353"/>
                  </a:ext>
                </a:extLst>
              </a:tr>
              <a:tr h="411007">
                <a:tc>
                  <a:txBody>
                    <a:bodyPr/>
                    <a:lstStyle/>
                    <a:p>
                      <a:pPr algn="ctr" fontAlgn="ctr"/>
                      <a:r>
                        <a:rPr lang="en-US" sz="1300" b="0" i="0" u="none" strike="noStrike">
                          <a:solidFill>
                            <a:srgbClr val="000000"/>
                          </a:solidFill>
                          <a:effectLst/>
                          <a:latin typeface="Calibri" panose="020F0502020204030204" pitchFamily="34" charset="0"/>
                        </a:rPr>
                        <a:t>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Định kỳ</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4845684"/>
                  </a:ext>
                </a:extLst>
              </a:tr>
              <a:tr h="207807">
                <a:tc>
                  <a:txBody>
                    <a:bodyPr/>
                    <a:lstStyle/>
                    <a:p>
                      <a:pPr algn="ctr" fontAlgn="ctr"/>
                      <a:r>
                        <a:rPr lang="en-US" sz="1300" b="0" i="0" u="none" strike="noStrike">
                          <a:solidFill>
                            <a:srgbClr val="000000"/>
                          </a:solidFill>
                          <a:effectLst/>
                          <a:latin typeface="Calibri" panose="020F0502020204030204" pitchFamily="34" charset="0"/>
                        </a:rPr>
                        <a:t>10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B1374 TAIL AIRFLOW SYS</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6692702"/>
                  </a:ext>
                </a:extLst>
              </a:tr>
              <a:tr h="241684">
                <a:tc>
                  <a:txBody>
                    <a:bodyPr/>
                    <a:lstStyle/>
                    <a:p>
                      <a:pPr algn="ctr" fontAlgn="ctr"/>
                      <a:r>
                        <a:rPr lang="en-US" sz="1300" b="0" i="0" u="none" strike="noStrike">
                          <a:solidFill>
                            <a:srgbClr val="000000"/>
                          </a:solidFill>
                          <a:effectLst/>
                          <a:latin typeface="Calibri" panose="020F0502020204030204" pitchFamily="34" charset="0"/>
                        </a:rPr>
                        <a:t>11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(giảm tần suất 50FC)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4685946"/>
                  </a:ext>
                </a:extLst>
              </a:tr>
              <a:tr h="207807">
                <a:tc>
                  <a:txBody>
                    <a:bodyPr/>
                    <a:lstStyle/>
                    <a:p>
                      <a:pPr algn="ctr" fontAlgn="ctr"/>
                      <a:r>
                        <a:rPr lang="en-US" sz="1300" b="0" i="0" u="none" strike="noStrike">
                          <a:solidFill>
                            <a:srgbClr val="000000"/>
                          </a:solidFill>
                          <a:effectLst/>
                          <a:latin typeface="Calibri" panose="020F0502020204030204" pitchFamily="34" charset="0"/>
                        </a:rPr>
                        <a:t>12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4402433"/>
                  </a:ext>
                </a:extLst>
              </a:tr>
              <a:tr h="817407">
                <a:tc>
                  <a:txBody>
                    <a:bodyPr/>
                    <a:lstStyle/>
                    <a:p>
                      <a:pPr algn="ctr" fontAlgn="ctr"/>
                      <a:r>
                        <a:rPr lang="en-US" sz="1300" b="0" i="0" u="none" strike="noStrike">
                          <a:solidFill>
                            <a:srgbClr val="000000"/>
                          </a:solidFill>
                          <a:effectLst/>
                          <a:latin typeface="Calibri" panose="020F0502020204030204" pitchFamily="34" charset="0"/>
                        </a:rPr>
                        <a:t>13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B489 AFT CARGO HANDLING SYS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B489 AFT CARGO HANDLING SYS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Right Air Conditioning Pack is degraded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6771809"/>
                  </a:ext>
                </a:extLst>
              </a:tr>
              <a:tr h="411007">
                <a:tc>
                  <a:txBody>
                    <a:bodyPr/>
                    <a:lstStyle/>
                    <a:p>
                      <a:pPr algn="ctr" fontAlgn="ctr"/>
                      <a:r>
                        <a:rPr lang="en-US" sz="1300" b="0" i="0" u="none" strike="noStrike">
                          <a:solidFill>
                            <a:srgbClr val="000000"/>
                          </a:solidFill>
                          <a:effectLst/>
                          <a:latin typeface="Calibri" panose="020F0502020204030204" pitchFamily="34" charset="0"/>
                        </a:rPr>
                        <a:t>14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Right Air Conditioning Pack is degraded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9029344"/>
                  </a:ext>
                </a:extLst>
              </a:tr>
              <a:tr h="207807">
                <a:tc>
                  <a:txBody>
                    <a:bodyPr/>
                    <a:lstStyle/>
                    <a:p>
                      <a:pPr algn="ctr" fontAlgn="ctr"/>
                      <a:r>
                        <a:rPr lang="en-US" sz="1300" b="0" i="0" u="none" strike="noStrike">
                          <a:solidFill>
                            <a:srgbClr val="000000"/>
                          </a:solidFill>
                          <a:effectLst/>
                          <a:latin typeface="Calibri" panose="020F0502020204030204" pitchFamily="34" charset="0"/>
                        </a:rPr>
                        <a:t>15</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0861473"/>
                  </a:ext>
                </a:extLst>
              </a:tr>
              <a:tr h="207807">
                <a:tc>
                  <a:txBody>
                    <a:bodyPr/>
                    <a:lstStyle/>
                    <a:p>
                      <a:pPr algn="ctr" fontAlgn="ctr"/>
                      <a:r>
                        <a:rPr lang="en-US" sz="1300" b="0" i="0" u="none" strike="noStrike">
                          <a:solidFill>
                            <a:srgbClr val="000000"/>
                          </a:solidFill>
                          <a:effectLst/>
                          <a:latin typeface="Calibri" panose="020F0502020204030204" pitchFamily="34" charset="0"/>
                        </a:rPr>
                        <a:t>16</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1564276"/>
                  </a:ext>
                </a:extLst>
              </a:tr>
              <a:tr h="478887">
                <a:tc>
                  <a:txBody>
                    <a:bodyPr/>
                    <a:lstStyle/>
                    <a:p>
                      <a:pPr algn="ctr" fontAlgn="ctr"/>
                      <a:r>
                        <a:rPr lang="en-US" sz="1300" b="0" i="0" u="none" strike="noStrike">
                          <a:solidFill>
                            <a:srgbClr val="000000"/>
                          </a:solidFill>
                          <a:effectLst/>
                          <a:latin typeface="Calibri" panose="020F0502020204030204" pitchFamily="34" charset="0"/>
                        </a:rPr>
                        <a:t>17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4607" marR="4607" marT="46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8722141"/>
                  </a:ext>
                </a:extLst>
              </a:tr>
            </a:tbl>
          </a:graphicData>
        </a:graphic>
      </p:graphicFrame>
    </p:spTree>
    <p:extLst>
      <p:ext uri="{BB962C8B-B14F-4D97-AF65-F5344CB8AC3E}">
        <p14:creationId xmlns:p14="http://schemas.microsoft.com/office/powerpoint/2010/main" val="1613526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27</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50" y="594263"/>
            <a:ext cx="11690701" cy="3046988"/>
          </a:xfrm>
          <a:prstGeom prst="rect">
            <a:avLst/>
          </a:prstGeom>
        </p:spPr>
        <p:txBody>
          <a:bodyPr wrap="square">
            <a:spAutoFit/>
          </a:bodyPr>
          <a:lstStyle/>
          <a:p>
            <a:pPr algn="just">
              <a:buClrTx/>
              <a:buFontTx/>
              <a:buNone/>
            </a:pPr>
            <a:r>
              <a:rPr lang="en-US" sz="1600" b="1" dirty="0" err="1">
                <a:solidFill>
                  <a:prstClr val="black"/>
                </a:solidFill>
                <a:latin typeface="Times New Roman" panose="02020603050405020304" pitchFamily="18" charset="0"/>
                <a:cs typeface="Times New Roman" panose="02020603050405020304" pitchFamily="18" charset="0"/>
              </a:rPr>
              <a:t>Nhận</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xét</a:t>
            </a:r>
            <a:r>
              <a:rPr lang="en-US" sz="1600" b="1"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dirty="0">
                <a:solidFill>
                  <a:prstClr val="black"/>
                </a:solidFill>
                <a:latin typeface="Times New Roman" panose="02020603050405020304" pitchFamily="18" charset="0"/>
                <a:cs typeface="Times New Roman" panose="02020603050405020304" pitchFamily="18" charset="0"/>
              </a:rPr>
              <a:t>Tình hình kỹ thuật đội bay </a:t>
            </a:r>
            <a:r>
              <a:rPr lang="en-US" sz="1600" dirty="0">
                <a:solidFill>
                  <a:prstClr val="black"/>
                </a:solidFill>
                <a:latin typeface="Times New Roman" panose="02020603050405020304" pitchFamily="18" charset="0"/>
                <a:cs typeface="Times New Roman" panose="02020603050405020304" pitchFamily="18" charset="0"/>
              </a:rPr>
              <a:t>B787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08 </a:t>
            </a:r>
            <a:r>
              <a:rPr lang="en-US" sz="1600" dirty="0" err="1">
                <a:solidFill>
                  <a:prstClr val="black"/>
                </a:solidFill>
                <a:latin typeface="Times New Roman" panose="02020603050405020304" pitchFamily="18" charset="0"/>
                <a:cs typeface="Times New Roman" panose="02020603050405020304" pitchFamily="18" charset="0"/>
              </a:rPr>
              <a:t>chưa</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tốt</a:t>
            </a:r>
            <a:r>
              <a:rPr lang="en-US" sz="1600" dirty="0">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en-US" sz="1600" dirty="0" err="1">
                <a:solidFill>
                  <a:prstClr val="black"/>
                </a:solidFill>
                <a:latin typeface="Times New Roman" panose="02020603050405020304" pitchFamily="18" charset="0"/>
                <a:cs typeface="Times New Roman" panose="02020603050405020304" pitchFamily="18" charset="0"/>
              </a:rPr>
              <a:t>Hỏng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hóc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nổi</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cộm</a:t>
            </a:r>
            <a:r>
              <a:rPr lang="en-US" sz="1600" dirty="0">
                <a:solidFill>
                  <a:prstClr val="black"/>
                </a:solidFill>
                <a:latin typeface="Times New Roman" panose="02020603050405020304" pitchFamily="18" charset="0"/>
                <a:cs typeface="Times New Roman" panose="02020603050405020304" pitchFamily="18" charset="0"/>
              </a:rPr>
              <a:t>: </a:t>
            </a:r>
          </a:p>
          <a:p>
            <a:pPr marL="609585" lvl="1" algn="just"/>
            <a:r>
              <a:rPr lang="en-SG" sz="1600" dirty="0">
                <a:solidFill>
                  <a:prstClr val="black"/>
                </a:solidFill>
                <a:latin typeface="Times New Roman" panose="02020603050405020304" pitchFamily="18" charset="0"/>
                <a:cs typeface="Times New Roman" panose="02020603050405020304" pitchFamily="18" charset="0"/>
              </a:rPr>
              <a:t>+ A865 GTB VN310 HAN-NRT </a:t>
            </a:r>
            <a:r>
              <a:rPr lang="en-SG" sz="1600" dirty="0" err="1">
                <a:solidFill>
                  <a:prstClr val="black"/>
                </a:solidFill>
                <a:latin typeface="Times New Roman" panose="02020603050405020304" pitchFamily="18" charset="0"/>
                <a:cs typeface="Times New Roman" panose="02020603050405020304" pitchFamily="18" charset="0"/>
              </a:rPr>
              <a:t>ngày</a:t>
            </a:r>
            <a:r>
              <a:rPr lang="en-SG" sz="1600" dirty="0">
                <a:solidFill>
                  <a:prstClr val="black"/>
                </a:solidFill>
                <a:latin typeface="Times New Roman" panose="02020603050405020304" pitchFamily="18" charset="0"/>
                <a:cs typeface="Times New Roman" panose="02020603050405020304" pitchFamily="18" charset="0"/>
              </a:rPr>
              <a:t> 21/02 do </a:t>
            </a:r>
            <a:r>
              <a:rPr lang="en-SG" sz="1600" dirty="0" err="1">
                <a:solidFill>
                  <a:prstClr val="black"/>
                </a:solidFill>
                <a:latin typeface="Times New Roman" panose="02020603050405020304" pitchFamily="18" charset="0"/>
                <a:cs typeface="Times New Roman" panose="02020603050405020304" pitchFamily="18" charset="0"/>
              </a:rPr>
              <a:t>phát</a:t>
            </a:r>
            <a:r>
              <a:rPr lang="en-SG" sz="1600" dirty="0">
                <a:solidFill>
                  <a:prstClr val="black"/>
                </a:solidFill>
                <a:latin typeface="Times New Roman" panose="02020603050405020304" pitchFamily="18" charset="0"/>
                <a:cs typeface="Times New Roman" panose="02020603050405020304" pitchFamily="18" charset="0"/>
              </a:rPr>
              <a:t> </a:t>
            </a:r>
            <a:r>
              <a:rPr lang="en-SG" sz="1600" dirty="0" err="1">
                <a:solidFill>
                  <a:prstClr val="black"/>
                </a:solidFill>
                <a:latin typeface="Times New Roman" panose="02020603050405020304" pitchFamily="18" charset="0"/>
                <a:cs typeface="Times New Roman" panose="02020603050405020304" pitchFamily="18" charset="0"/>
              </a:rPr>
              <a:t>sinh</a:t>
            </a:r>
            <a:r>
              <a:rPr lang="en-SG" sz="1600" dirty="0">
                <a:solidFill>
                  <a:prstClr val="black"/>
                </a:solidFill>
                <a:latin typeface="Times New Roman" panose="02020603050405020304" pitchFamily="18" charset="0"/>
                <a:cs typeface="Times New Roman" panose="02020603050405020304" pitchFamily="18" charset="0"/>
              </a:rPr>
              <a:t> MSG “ANTISKID” AND MSG “AUTO BRAKE” -&gt; C/O INSPECTION AXEL RDC 4 AND HARNESS FOUND HARNESS CHAFFING. C/O DEACTIVATE BRAKE 4 AND GROUND TEST R OUTBOARD BRAKE CONTROL SYSTEM -&gt; SATIS, MSG “ANTISKID” CLEARED.</a:t>
            </a:r>
          </a:p>
          <a:p>
            <a:pPr marL="609585" lvl="1" algn="just"/>
            <a:r>
              <a:rPr lang="vi-VN" sz="1600" dirty="0">
                <a:solidFill>
                  <a:srgbClr val="FF0000"/>
                </a:solidFill>
                <a:latin typeface="Times New Roman" panose="02020603050405020304" pitchFamily="18" charset="0"/>
                <a:cs typeface="Times New Roman" panose="02020603050405020304" pitchFamily="18" charset="0"/>
              </a:rPr>
              <a:t>Kiểm tra phát hiện harness PN 668Z701158-17 (W701158) bị trà sát gây ra lỗi FDE Antiskid 4. Lịch sử khai thác chưa từng xuất hiện hỏng hóc dạng này. Số lượng tháo lắp Harness loại này là 3 lần đều liên quan đến BRAKE TEMP SYS, trong đó có 2 lần tháo lắp trên A872 (một lần tháo và keepstore để theo dõi). Hoạt động bảo dưỡng: tàu vừa thay main wheel cùng vị trí (#4) thì chuyến bay đầu tiên bị FDE Antiskid 4 phải GTB. Boe không có issue nào liên quan đến hỏng hóc dạng này. BCS cho rằng, hoạt động bảo dưỡng hoặc FOD cũng có thê là nguyên nhân của chafing, tuy nhiên BOE không xác định được chính xác nguyên nhân nên không thể đề xuất các giải pháp ngăn ngừa liên quan. Tiếp tục theo dõi thêm.</a:t>
            </a:r>
            <a:endParaRPr lang="en-SG" sz="16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34519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28</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10763157" cy="498494"/>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defRPr/>
            </a:pPr>
            <a:r>
              <a:rPr lang="vi-VN" sz="2933" b="1">
                <a:ln w="0"/>
                <a:solidFill>
                  <a:schemeClr val="accent4"/>
                </a:solidFill>
                <a:latin typeface="Times New Roman" panose="02020603050405020304" pitchFamily="18" charset="0"/>
                <a:cs typeface="Times New Roman" panose="02020603050405020304" pitchFamily="18" charset="0"/>
                <a:sym typeface="Montserrat SemiBold"/>
              </a:rPr>
              <a:t>CÁC HỎNG HÓC NỔI CỘM, ẢNH HƯỞNG ĐẾN KHAI THÁC</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83655" y="799698"/>
            <a:ext cx="11171451" cy="3539430"/>
          </a:xfrm>
          <a:prstGeom prst="rect">
            <a:avLst/>
          </a:prstGeom>
          <a:noFill/>
        </p:spPr>
        <p:txBody>
          <a:bodyPr wrap="square">
            <a:spAutoFit/>
          </a:bodyPr>
          <a:lstStyle/>
          <a:p>
            <a:pPr algn="just">
              <a:buClrTx/>
              <a:buFontTx/>
              <a:buNone/>
              <a:defRPr/>
            </a:pPr>
            <a:r>
              <a:rPr lang="en-US" sz="1600" b="1">
                <a:solidFill>
                  <a:prstClr val="black"/>
                </a:solidFill>
                <a:latin typeface="Times New Roman" panose="02020603050405020304" pitchFamily="18" charset="0"/>
                <a:cs typeface="Times New Roman" panose="02020603050405020304" pitchFamily="18" charset="0"/>
              </a:rPr>
              <a:t>Đội bay </a:t>
            </a:r>
            <a:r>
              <a:rPr lang="en-US" sz="1600" b="1" dirty="0">
                <a:solidFill>
                  <a:prstClr val="black"/>
                </a:solidFill>
                <a:latin typeface="Times New Roman" panose="02020603050405020304" pitchFamily="18" charset="0"/>
                <a:cs typeface="Times New Roman" panose="02020603050405020304" pitchFamily="18" charset="0"/>
              </a:rPr>
              <a:t>A350:</a:t>
            </a: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Tình hình kỹ thuật đội A350 trong tuần chưa tốt với 01 TH DIV KIX của A891 VN98 SGN-SFO ngày 22/02 do hỏng hóc SATCOM, mở MEL và lập lại đường bay phù hợp để tiếp tục khai thác, tàu sẽ khắc phục triệt để sau khi SFO về SGN ngày 24/02 bằng thay HGA và SDU</a:t>
            </a:r>
            <a:r>
              <a:rPr lang="en-SG" sz="1600">
                <a:solidFill>
                  <a:prstClr val="black"/>
                </a:solidFill>
                <a:latin typeface="Times New Roman" panose="02020603050405020304" pitchFamily="18" charset="0"/>
                <a:cs typeface="Times New Roman" panose="02020603050405020304" pitchFamily="18" charset="0"/>
              </a:rPr>
              <a:t>. Hỏng hóc này liên quan đến độ tin cậy của HGA được NSX đang nghiên cứu giải pháp, Ban KT sẽ tiếp tục làm việc với Airbus và Collins để tìm hiểu nguyên nhân và giải pháp.</a:t>
            </a: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Tàu hạn chế khai thác: A893 ENG2 có hiện tượng HIGH OIL CONSUMPTION (từ giữa tháng 07/2024) tiếp tục khai thác hạn chế với chặng bay dưới 9 tiếng. Tàu cũng có APU INOP, kế hoạch thay ngày 23/02 (rob từ A887 BQDB).</a:t>
            </a:r>
          </a:p>
          <a:p>
            <a:pPr algn="just">
              <a:buClrTx/>
              <a:buFontTx/>
              <a:buNone/>
              <a:defRPr/>
            </a:pPr>
            <a:r>
              <a:rPr lang="en-US" sz="1600" b="1">
                <a:solidFill>
                  <a:prstClr val="black"/>
                </a:solidFill>
                <a:latin typeface="Times New Roman" panose="02020603050405020304" pitchFamily="18" charset="0"/>
                <a:cs typeface="Times New Roman" panose="02020603050405020304" pitchFamily="18" charset="0"/>
              </a:rPr>
              <a:t>Đội bay </a:t>
            </a:r>
            <a:r>
              <a:rPr lang="en-US" sz="1600" b="1" dirty="0">
                <a:solidFill>
                  <a:prstClr val="black"/>
                </a:solidFill>
                <a:latin typeface="Times New Roman" panose="02020603050405020304" pitchFamily="18" charset="0"/>
                <a:cs typeface="Times New Roman" panose="02020603050405020304" pitchFamily="18" charset="0"/>
              </a:rPr>
              <a:t>B787:</a:t>
            </a:r>
          </a:p>
          <a:p>
            <a:pPr marL="457189" indent="-457189" algn="just">
              <a:buFontTx/>
              <a:buAutoNum type="arabicPeriod"/>
              <a:defRPr/>
            </a:pPr>
            <a:r>
              <a:rPr lang="en-US" sz="1600">
                <a:solidFill>
                  <a:prstClr val="black"/>
                </a:solidFill>
                <a:latin typeface="Times New Roman" panose="02020603050405020304" pitchFamily="18" charset="0"/>
                <a:cs typeface="Times New Roman" panose="02020603050405020304" pitchFamily="18" charset="0"/>
              </a:rPr>
              <a:t>Tình hình kỹ thuật đội B787 trong tuần chưa tốt với 01 TH GTB của A865 do </a:t>
            </a:r>
            <a:r>
              <a:rPr lang="en-SG" sz="1600">
                <a:solidFill>
                  <a:prstClr val="black"/>
                </a:solidFill>
                <a:latin typeface="Times New Roman" panose="02020603050405020304" pitchFamily="18" charset="0"/>
                <a:cs typeface="Times New Roman" panose="02020603050405020304" pitchFamily="18" charset="0"/>
              </a:rPr>
              <a:t>MSG “ANTISKID” AND MSG “AUTO BRAKE”, đã mở MEL BRAKE#4 để tiếp tục khai thác. Hỏng hóc phát hiện do </a:t>
            </a:r>
            <a:r>
              <a:rPr lang="pl-PL" sz="1600">
                <a:solidFill>
                  <a:prstClr val="black"/>
                </a:solidFill>
                <a:latin typeface="Times New Roman" panose="02020603050405020304" pitchFamily="18" charset="0"/>
                <a:cs typeface="Times New Roman" panose="02020603050405020304" pitchFamily="18" charset="0"/>
              </a:rPr>
              <a:t>harness PN 668Z701158-17 (W701158) bị </a:t>
            </a:r>
            <a:r>
              <a:rPr lang="en-US" sz="1600">
                <a:solidFill>
                  <a:prstClr val="black"/>
                </a:solidFill>
                <a:latin typeface="Times New Roman" panose="02020603050405020304" pitchFamily="18" charset="0"/>
                <a:cs typeface="Times New Roman" panose="02020603050405020304" pitchFamily="18" charset="0"/>
              </a:rPr>
              <a:t>chaffing, sau đó đã thay thế Harness và RDC để khắc phục; hỏng hóc phát sinh ngay chuyến bay đầu tiên sau thay MW#4 (bị mòn lốp), hiện BOE không có issue liên quan, Ban KT sẽ tiếp tục theo dõi thêm.</a:t>
            </a:r>
            <a:endParaRPr lang="en-SG" sz="1600">
              <a:solidFill>
                <a:prstClr val="black"/>
              </a:solidFill>
              <a:latin typeface="Times New Roman" panose="02020603050405020304" pitchFamily="18" charset="0"/>
              <a:cs typeface="Times New Roman" panose="02020603050405020304" pitchFamily="18" charset="0"/>
            </a:endParaRPr>
          </a:p>
          <a:p>
            <a:pPr marL="457189" indent="-457189" algn="just">
              <a:buFontTx/>
              <a:buAutoNum type="arabicPeriod"/>
              <a:defRPr/>
            </a:pPr>
            <a:r>
              <a:rPr lang="en-SG" sz="1600">
                <a:solidFill>
                  <a:prstClr val="black"/>
                </a:solidFill>
                <a:latin typeface="Times New Roman" panose="02020603050405020304" pitchFamily="18" charset="0"/>
                <a:cs typeface="Times New Roman" panose="02020603050405020304" pitchFamily="18" charset="0"/>
              </a:rPr>
              <a:t>A870 có động cơ số 2 phát sinh phải tháo trong 25FC (sau khi soi ngày HPT ngày 15/02), tàu sẽ phải hạn chế khai thác chờ thay động cơ, KH từ 27/02-10/03 (kết hợp sơn cánh).</a:t>
            </a:r>
            <a:endParaRPr lang="en-US" sz="160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561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A476C5B5-892D-948C-6A62-5F0A81B70EE9}"/>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1270B0ED-F204-41B3-2E66-DD5670BD262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A890C71-1523-DF69-F2F4-F1A43D90FFFF}"/>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DA2E25CF-F09B-0F7D-8BE1-4832D15B9FCD}"/>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Tuần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từ</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17/02/2025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23/02/2025, Fleet ATR72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tình</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trạng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tốt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không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vụ</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OI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nào</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liên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quan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861D9ECE-5420-4C7C-5994-BC6CB7BCF3FC}"/>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00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922772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30</a:t>
            </a:fld>
            <a:endParaRPr lang="en-US" altLang="en-US" sz="1200">
              <a:solidFill>
                <a:srgbClr val="D2A43B"/>
              </a:solidFill>
              <a:latin typeface="Montserrat"/>
            </a:endParaRPr>
          </a:p>
        </p:txBody>
      </p:sp>
      <p:sp>
        <p:nvSpPr>
          <p:cNvPr id="1048638" name="Title 4"/>
          <p:cNvSpPr>
            <a:spLocks noGrp="1"/>
          </p:cNvSpPr>
          <p:nvPr>
            <p:ph type="title"/>
          </p:nvPr>
        </p:nvSpPr>
        <p:spPr>
          <a:xfrm>
            <a:off x="152400" y="76200"/>
            <a:ext cx="8686799"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BAY ATR72 </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52C54B9-AD3B-54B9-0F8F-0728352A297E}"/>
              </a:ext>
            </a:extLst>
          </p:cNvPr>
          <p:cNvSpPr txBox="1"/>
          <p:nvPr/>
        </p:nvSpPr>
        <p:spPr>
          <a:xfrm>
            <a:off x="380999" y="762000"/>
            <a:ext cx="10915611" cy="338554"/>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thuật</a:t>
            </a:r>
            <a:r>
              <a:rPr lang="en-US" sz="1600" dirty="0">
                <a:latin typeface="Times New Roman" panose="02020603050405020304" pitchFamily="18" charset="0"/>
                <a:cs typeface="Times New Roman" panose="02020603050405020304" pitchFamily="18" charset="0"/>
              </a:rPr>
              <a:t> ATR72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tuần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tốt</a:t>
            </a:r>
            <a:r>
              <a:rPr lang="en-US" sz="1600" dirty="0">
                <a:latin typeface="Times New Roman" panose="02020603050405020304" pitchFamily="18" charset="0"/>
                <a:cs typeface="Times New Roman" panose="02020603050405020304" pitchFamily="18" charset="0"/>
              </a:rPr>
              <a:t>. </a:t>
            </a: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421295"/>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W08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17/02/2025-23/02/20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73084" cy="16927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tuần 08/2025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chỉ số độ tin cậy cất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cánh đội A321, ATR72  đạt mục tiêu, đội A350, B787 thấp hơn mục tiêu: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a:t>
            </a:r>
            <a:r>
              <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21</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99,70% cao hơn 0,07%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a:t>
            </a:r>
            <a:endParaRPr kumimoji="0" lang="vi-VN"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99,40% thấp  hơn 0,04%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 do có 01 sự kiện liên quan tới tàu A891 có cảnh báo SATCOM.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B787: 99,17% thấp hơn 0,19 so với mục tiêu do có 03 sự kiện delay liên quan tới các hỏng hóc: WATER SYS FAULT (A874), ANTI SKID (A865), DEFUEL ISOL VALVE(A863)</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ATR72: 100% cao hơn 0,35%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so với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mục tiêu.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1969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11" name="Chart 10"/>
          <p:cNvGraphicFramePr>
            <a:graphicFrameLocks/>
          </p:cNvGraphicFramePr>
          <p:nvPr/>
        </p:nvGraphicFramePr>
        <p:xfrm>
          <a:off x="392969" y="785603"/>
          <a:ext cx="11155680" cy="3219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74966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508000"/>
          <a:ext cx="11878434" cy="624684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4215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76231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06/04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11k$/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75tr,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kèm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một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điều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10/2, Senior Customer Support Director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 </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87019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Leadership</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84695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11/02,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RRPF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đánh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thuê</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2066472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27932681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marL="0" marR="0" lvl="0" indent="0" algn="l" defTabSz="914377"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NHU CẦU ĐỘNG CƠ DỰ </a:t>
            </a:r>
            <a:r>
              <a:rPr kumimoji="0" lang="en-US" sz="2800" b="1" i="0" u="none" strike="noStrike" kern="1200" cap="none" spc="0" normalizeH="0" baseline="0" noProof="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PHÒNG Q1-Q2/2025</a:t>
            </a:r>
            <a:endParaRPr kumimoji="0" lang="vi-VN"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*A321CEO: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*A321NEO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Rủi ro động cơ đi shop về muộn (thực tế đã bị shop delay nhiều lần) và rủi ro tháo động cơ ngoài KH do Vibration, Oil Leak…08 động cơ đang sửa chữa bị delay nhiều lần từ đầu tháng 12, với tổng ~ 366 days, tương ứng ~ 183 AOG days.</a:t>
            </a:r>
            <a:endParaRPr kumimoji="0" lang="en-US" sz="1333" b="0" i="0" u="none" strike="noStrike" kern="1200" cap="none" spc="0" normalizeH="0" baseline="0" noProof="0" dirty="0">
              <a:ln>
                <a:noFill/>
              </a:ln>
              <a:solidFill>
                <a:prstClr val="black"/>
              </a:solidFill>
              <a:effectLst/>
              <a:highlight>
                <a:srgbClr val="FFFF00"/>
              </a:highlight>
              <a:uLnTx/>
              <a:uFillTx/>
              <a:latin typeface="Times New Roman" panose="02020603050405020304" pitchFamily="18" charset="0"/>
              <a:ea typeface="+mn-ea"/>
              <a:cs typeface="Times New Roman" panose="02020603050405020304" pitchFamily="18" charset="0"/>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*B787: </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Nhu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hoạch</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T9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T11.</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*ATR: </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Nhu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này</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tính</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nguồn</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lực</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05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gồm</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B225 RTS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T1/2025).</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33"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333"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High oil consumption, HPT Blade</a:t>
            </a:r>
          </a:p>
        </p:txBody>
      </p:sp>
    </p:spTree>
    <p:extLst>
      <p:ext uri="{BB962C8B-B14F-4D97-AF65-F5344CB8AC3E}">
        <p14:creationId xmlns:p14="http://schemas.microsoft.com/office/powerpoint/2010/main" val="28244350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Arial"/>
              <a:sym typeface="Arial"/>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NHU CẦU ĐỘNG CƠ DỰ PHÒNG CÁC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FLEET T2-T4/2025</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Action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ngắn</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hạn</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&amp;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diện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A321CEO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phòng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A321NEO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muộn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bị</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delay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nhiều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Vibration, Oil Leak, HPT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Balde</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08 động cơ đang sửa chữa bị delay nhiều lần từ đầu tháng 12, với tổng ~ 366 days, tương ứng ~ 183 AOG days</a:t>
            </a:r>
            <a:r>
              <a:rPr kumimoji="0" lang="vi-VN" sz="12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a:r>
            <a:endParaRPr kumimoji="0" lang="en-US" sz="1200" b="0" i="0" u="none" strike="noStrike" kern="1200" cap="none" spc="0" normalizeH="0" baseline="0" noProof="0" dirty="0">
              <a:ln>
                <a:noFill/>
              </a:ln>
              <a:solidFill>
                <a:prstClr val="black"/>
              </a:solidFill>
              <a:effectLst/>
              <a:highlight>
                <a:srgbClr val="FFFF00"/>
              </a:highlight>
              <a:uLnTx/>
              <a:uFillTx/>
              <a:latin typeface="Times New Roman" panose="02020603050405020304" pitchFamily="18" charset="0"/>
              <a:ea typeface="+mn-ea"/>
              <a:cs typeface="Times New Roman" panose="02020603050405020304" pitchFamily="18" charset="0"/>
            </a:endParaRP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B787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Nhu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cập</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nhật</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hoạch</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nhận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thêm</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T9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T12/2024.</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 </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ngoài</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KH do High oil consumption, HPT Blade</a:t>
            </a:r>
          </a:p>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*ATR72: </a:t>
            </a:r>
            <a:r>
              <a:rPr kumimoji="0" lang="vi-VN"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B225</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dùng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ED0214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151 FC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ED0241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giữa</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1/25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sẽ</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lấy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ED0181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ED0214.</a:t>
            </a:r>
          </a:p>
        </p:txBody>
      </p:sp>
    </p:spTree>
    <p:extLst>
      <p:ext uri="{BB962C8B-B14F-4D97-AF65-F5344CB8AC3E}">
        <p14:creationId xmlns:p14="http://schemas.microsoft.com/office/powerpoint/2010/main" val="4151759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DỰ BÁO AOG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A321NEO 2025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DO HPT HUB</a:t>
            </a:r>
          </a:p>
        </p:txBody>
      </p:sp>
      <p:sp>
        <p:nvSpPr>
          <p:cNvPr id="6" name="Rectangle 5">
            <a:extLst>
              <a:ext uri="{FF2B5EF4-FFF2-40B4-BE49-F238E27FC236}">
                <a16:creationId xmlns:a16="http://schemas.microsoft.com/office/drawing/2014/main" id="{F732C424-6503-4AF0-A801-38325F00ECC8}"/>
              </a:ext>
            </a:extLst>
          </p:cNvPr>
          <p:cNvSpPr/>
          <p:nvPr/>
        </p:nvSpPr>
        <p:spPr>
          <a:xfrm>
            <a:off x="228600" y="6077034"/>
            <a:ext cx="9982200" cy="738664"/>
          </a:xfrm>
          <a:prstGeom prst="rect">
            <a:avLst/>
          </a:prstGeom>
          <a:solidFill>
            <a:srgbClr val="FFFF00"/>
          </a:solidFill>
          <a:ln>
            <a:solidFill>
              <a:schemeClr val="accent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mbria"/>
                <a:ea typeface="+mn-ea"/>
                <a:cs typeface="+mn-cs"/>
              </a:rPr>
              <a:t>PH</a:t>
            </a:r>
            <a:r>
              <a:rPr kumimoji="0" lang="vi-VN" sz="1400" b="1"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Ư</a:t>
            </a:r>
            <a:r>
              <a:rPr kumimoji="0" lang="en-US" sz="1400" b="1" i="0" u="none" strike="noStrike" kern="1200" cap="none" spc="0" normalizeH="0" baseline="0" noProof="0">
                <a:ln>
                  <a:noFill/>
                </a:ln>
                <a:solidFill>
                  <a:prstClr val="black"/>
                </a:solidFill>
                <a:effectLst/>
                <a:uLnTx/>
                <a:uFillTx/>
                <a:latin typeface="Cambria"/>
                <a:ea typeface="+mn-ea"/>
                <a:cs typeface="+mn-cs"/>
              </a:rPr>
              <a:t>ƠNG ÁN GIỮ GIỜ</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Cambria"/>
                <a:ea typeface="+mn-ea"/>
                <a:cs typeface="+mn-cs"/>
              </a:rPr>
              <a:t>-</a:t>
            </a:r>
            <a:r>
              <a:rPr kumimoji="0" lang="vi-VN"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Giữ giờ động cơ P771710</a:t>
            </a:r>
            <a:r>
              <a:rPr kumimoji="0" lang="en-US" sz="1400" b="0" i="0" u="none" strike="noStrike" kern="1200" cap="none" spc="0" normalizeH="0" baseline="0" noProof="0">
                <a:ln>
                  <a:noFill/>
                </a:ln>
                <a:solidFill>
                  <a:prstClr val="black"/>
                </a:solidFill>
                <a:effectLst/>
                <a:uLnTx/>
                <a:uFillTx/>
                <a:latin typeface="Cambria"/>
                <a:ea typeface="+mn-ea"/>
                <a:cs typeface="+mn-cs"/>
              </a:rPr>
              <a:t> trên A621</a:t>
            </a:r>
            <a:r>
              <a:rPr kumimoji="0" lang="vi-VN"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 (hết hạn 05/07) và P772905 </a:t>
            </a:r>
            <a:r>
              <a:rPr kumimoji="0" lang="en-US" sz="1400" b="0" i="0" u="none" strike="noStrike" kern="1200" cap="none" spc="0" normalizeH="0" baseline="0" noProof="0">
                <a:ln>
                  <a:noFill/>
                </a:ln>
                <a:solidFill>
                  <a:prstClr val="black"/>
                </a:solidFill>
                <a:effectLst/>
                <a:uLnTx/>
                <a:uFillTx/>
                <a:latin typeface="Cambria"/>
                <a:ea typeface="+mn-ea"/>
                <a:cs typeface="+mn-cs"/>
              </a:rPr>
              <a:t>trên A 19</a:t>
            </a:r>
            <a:r>
              <a:rPr kumimoji="0" lang="vi-VN"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a:t>
            </a:r>
            <a:r>
              <a:rPr kumimoji="0" lang="en-US" sz="1400" b="0" i="0" u="none" strike="noStrike" kern="1200" cap="none" spc="0" normalizeH="0" baseline="0" noProof="0">
                <a:ln>
                  <a:noFill/>
                </a:ln>
                <a:solidFill>
                  <a:prstClr val="black"/>
                </a:solidFill>
                <a:effectLst/>
                <a:uLnTx/>
                <a:uFillTx/>
                <a:latin typeface="Cambria"/>
                <a:ea typeface="+mn-ea"/>
                <a:cs typeface="+mn-cs"/>
              </a:rPr>
              <a:t>hết hạn </a:t>
            </a:r>
            <a:r>
              <a:rPr kumimoji="0" lang="vi-VN"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19/07) sang sau cao điểm hè (15/8) để có thêm 1 tàu từ giữa T7.</a:t>
            </a:r>
            <a:endParaRPr kumimoji="0" lang="en-US" sz="1400" b="0" i="0" u="none" strike="noStrike" kern="1200" cap="none" spc="0" normalizeH="0" baseline="0" noProof="0">
              <a:ln>
                <a:noFill/>
              </a:ln>
              <a:solidFill>
                <a:prstClr val="black"/>
              </a:solidFill>
              <a:effectLst/>
              <a:uLnTx/>
              <a:uFillTx/>
              <a:latin typeface="Cambria"/>
              <a:ea typeface="+mn-ea"/>
              <a:cs typeface="+mn-cs"/>
            </a:endParaRPr>
          </a:p>
        </p:txBody>
      </p:sp>
      <p:graphicFrame>
        <p:nvGraphicFramePr>
          <p:cNvPr id="7" name="Chart 6">
            <a:extLst>
              <a:ext uri="{FF2B5EF4-FFF2-40B4-BE49-F238E27FC236}">
                <a16:creationId xmlns:a16="http://schemas.microsoft.com/office/drawing/2014/main" id="{8B5E7455-4DEA-41D4-AF34-1859C57C068A}"/>
              </a:ext>
            </a:extLst>
          </p:cNvPr>
          <p:cNvGraphicFramePr>
            <a:graphicFrameLocks/>
          </p:cNvGraphicFramePr>
          <p:nvPr/>
        </p:nvGraphicFramePr>
        <p:xfrm>
          <a:off x="381000" y="685800"/>
          <a:ext cx="11430000" cy="5181600"/>
        </p:xfrm>
        <a:graphic>
          <a:graphicData uri="http://schemas.openxmlformats.org/drawingml/2006/chart">
            <c:chart xmlns:c="http://schemas.openxmlformats.org/drawingml/2006/chart" xmlns:r="http://schemas.openxmlformats.org/officeDocument/2006/relationships" r:id="rId3"/>
          </a:graphicData>
        </a:graphic>
      </p:graphicFrame>
      <p:sp>
        <p:nvSpPr>
          <p:cNvPr id="3" name="Speech Bubble: Rectangle 2">
            <a:extLst>
              <a:ext uri="{FF2B5EF4-FFF2-40B4-BE49-F238E27FC236}">
                <a16:creationId xmlns:a16="http://schemas.microsoft.com/office/drawing/2014/main" id="{845B4FC4-309A-484B-8992-1CED344EF4D4}"/>
              </a:ext>
            </a:extLst>
          </p:cNvPr>
          <p:cNvSpPr/>
          <p:nvPr/>
        </p:nvSpPr>
        <p:spPr>
          <a:xfrm>
            <a:off x="2286000" y="3048000"/>
            <a:ext cx="1676400" cy="838200"/>
          </a:xfrm>
          <a:prstGeom prst="wedgeRectCallout">
            <a:avLst>
              <a:gd name="adj1" fmla="val 20994"/>
              <a:gd name="adj2" fmla="val -151050"/>
            </a:avLst>
          </a:prstGeom>
        </p:spPr>
        <p:style>
          <a:lnRef idx="3">
            <a:schemeClr val="lt1"/>
          </a:lnRef>
          <a:fillRef idx="1">
            <a:schemeClr val="accent1"/>
          </a:fillRef>
          <a:effectRef idx="1">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Cambria"/>
                <a:ea typeface="+mn-ea"/>
                <a:cs typeface="+mn-cs"/>
              </a:rPr>
              <a:t>Động c</a:t>
            </a:r>
            <a:r>
              <a:rPr kumimoji="0" lang="vi-VN" sz="1000" b="0" i="0" u="none" strike="noStrike" kern="1200" cap="none" spc="0" normalizeH="0" baseline="0" noProof="0">
                <a:ln>
                  <a:noFill/>
                </a:ln>
                <a:solidFill>
                  <a:prstClr val="white"/>
                </a:solidFill>
                <a:effectLst/>
                <a:uLnTx/>
                <a:uFillTx/>
                <a:latin typeface="Times New Roman" panose="02020603050405020304" pitchFamily="18" charset="0"/>
                <a:ea typeface="+mn-ea"/>
                <a:cs typeface="+mn-cs"/>
              </a:rPr>
              <a:t>ơ</a:t>
            </a:r>
            <a:r>
              <a:rPr kumimoji="0" lang="en-US" sz="1000" b="0" i="0" u="none" strike="noStrike" kern="1200" cap="none" spc="0" normalizeH="0" baseline="0" noProof="0">
                <a:ln>
                  <a:noFill/>
                </a:ln>
                <a:solidFill>
                  <a:prstClr val="white"/>
                </a:solidFill>
                <a:effectLst/>
                <a:uLnTx/>
                <a:uFillTx/>
                <a:latin typeface="Cambria"/>
                <a:ea typeface="+mn-ea"/>
                <a:cs typeface="+mn-cs"/>
              </a:rPr>
              <a:t> P770927 delay 27 ngày làm tăng 0.75AOG vào T3 và 0.25AOG vào T4 so viws KH tuần tr</a:t>
            </a:r>
            <a:r>
              <a:rPr kumimoji="0" lang="vi-VN" sz="1000" b="0" i="0" u="none" strike="noStrike" kern="1200" cap="none" spc="0" normalizeH="0" baseline="0" noProof="0">
                <a:ln>
                  <a:noFill/>
                </a:ln>
                <a:solidFill>
                  <a:prstClr val="white"/>
                </a:solidFill>
                <a:effectLst/>
                <a:uLnTx/>
                <a:uFillTx/>
                <a:latin typeface="Times New Roman" panose="02020603050405020304" pitchFamily="18" charset="0"/>
                <a:ea typeface="+mn-ea"/>
                <a:cs typeface="+mn-cs"/>
              </a:rPr>
              <a:t>ư</a:t>
            </a:r>
            <a:r>
              <a:rPr kumimoji="0" lang="en-US" sz="1000" b="0" i="0" u="none" strike="noStrike" kern="1200" cap="none" spc="0" normalizeH="0" baseline="0" noProof="0">
                <a:ln>
                  <a:noFill/>
                </a:ln>
                <a:solidFill>
                  <a:prstClr val="white"/>
                </a:solidFill>
                <a:effectLst/>
                <a:uLnTx/>
                <a:uFillTx/>
                <a:latin typeface="Cambria"/>
                <a:ea typeface="+mn-ea"/>
                <a:cs typeface="+mn-cs"/>
              </a:rPr>
              <a:t>ớc</a:t>
            </a:r>
          </a:p>
        </p:txBody>
      </p:sp>
    </p:spTree>
    <p:extLst>
      <p:ext uri="{BB962C8B-B14F-4D97-AF65-F5344CB8AC3E}">
        <p14:creationId xmlns:p14="http://schemas.microsoft.com/office/powerpoint/2010/main" val="42472342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7"/>
          <a:ext cx="11867079" cy="5352146"/>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70252">
                  <a:extLst>
                    <a:ext uri="{9D8B030D-6E8A-4147-A177-3AD203B41FA5}">
                      <a16:colId xmlns:a16="http://schemas.microsoft.com/office/drawing/2014/main" val="3845954792"/>
                    </a:ext>
                  </a:extLst>
                </a:gridCol>
                <a:gridCol w="1186707">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26/04/2025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A625</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A621#2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669721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P771414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09/08/2024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13/02/2025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A507#2 ENG CHANGE</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13/04/2025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A616</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A508</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465008"/>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107349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A321NEO T2-T3/25</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A321NEO</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89" y="1032931"/>
          <a:ext cx="11864421" cy="5709490"/>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49639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20993">
                <a:tc>
                  <a:txBody>
                    <a:bodyPr/>
                    <a:lstStyle/>
                    <a:p>
                      <a:pPr algn="ctr"/>
                      <a:r>
                        <a:rPr lang="en-US" sz="1200" b="0" i="0" u="none" strike="noStrike" kern="1200">
                          <a:solidFill>
                            <a:schemeClr val="tx1"/>
                          </a:solidFill>
                          <a:effectLst/>
                          <a:latin typeface="Calibri" panose="020F0502020204030204" pitchFamily="34" charset="0"/>
                          <a:ea typeface="+mn-ea"/>
                          <a:cs typeface="+mn-cs"/>
                        </a:rPr>
                        <a:t>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Swap engine with A619, A620 dừng làm check</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3596114"/>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2</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15-Feb-25</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Swap engine with A620, A619 tiếp tục khai thác</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9894405"/>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3</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a:t>
                      </a:r>
                      <a:r>
                        <a:rPr lang="vi-VN" sz="1200" b="0" i="0" u="none" strike="noStrike">
                          <a:solidFill>
                            <a:schemeClr val="tx1"/>
                          </a:solidFill>
                          <a:effectLst/>
                          <a:latin typeface="Calibri" panose="020F0502020204030204" pitchFamily="34" charset="0"/>
                        </a:rPr>
                        <a:t>414</a:t>
                      </a:r>
                      <a:endParaRPr lang="en-US" sz="1200" b="0" i="0" u="none" strike="noStrike">
                        <a:solidFill>
                          <a:schemeClr val="tx1"/>
                        </a:solidFill>
                        <a:effectLst/>
                        <a:latin typeface="Calibri" panose="020F0502020204030204" pitchFamily="34" charset="0"/>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4</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5</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 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501390">
                <a:tc>
                  <a:txBody>
                    <a:bodyPr/>
                    <a:lstStyle/>
                    <a:p>
                      <a:pPr algn="ctr"/>
                      <a:r>
                        <a:rPr lang="en-GB" sz="1200" b="0" i="0" u="none" strike="noStrike" kern="1200">
                          <a:solidFill>
                            <a:schemeClr val="tx1"/>
                          </a:solidFill>
                          <a:effectLst/>
                          <a:latin typeface="Calibri" panose="020F0502020204030204" pitchFamily="34" charset="0"/>
                          <a:ea typeface="+mn-ea"/>
                          <a:cs typeface="+mn-cs"/>
                        </a:rPr>
                        <a:t>6</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endPar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Rob for A506#2 for 7 day engine run-up interval</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7</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cap="none">
                          <a:solidFill>
                            <a:schemeClr val="tx1"/>
                          </a:solidFill>
                          <a:effectLst/>
                          <a:latin typeface="Calibri" panose="020F0502020204030204" pitchFamily="34" charset="0"/>
                          <a:ea typeface="+mn-ea"/>
                          <a:cs typeface="+mn-cs"/>
                          <a:sym typeface="Arial"/>
                        </a:rPr>
                        <a:t>P771090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Calibri" panose="020F0502020204030204" pitchFamily="34" charset="0"/>
                          <a:ea typeface="+mn-ea"/>
                          <a:cs typeface="+mn-cs"/>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8</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P771710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cap="none">
                          <a:solidFill>
                            <a:schemeClr val="tx1"/>
                          </a:solidFill>
                          <a:effectLst/>
                          <a:latin typeface="Calibri" panose="020F0502020204030204" pitchFamily="34" charset="0"/>
                          <a:ea typeface="+mn-ea"/>
                          <a:cs typeface="+mn-cs"/>
                          <a:sym typeface="Arial"/>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Giữ giờ P771710 để bay CĐ hè</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429071">
                <a:tc>
                  <a:txBody>
                    <a:bodyPr/>
                    <a:lstStyle/>
                    <a:p>
                      <a:pPr algn="ctr"/>
                      <a:r>
                        <a:rPr lang="vi-VN" sz="1200" b="0" i="0" u="none" strike="noStrike" kern="1200">
                          <a:solidFill>
                            <a:schemeClr val="tx1"/>
                          </a:solidFill>
                          <a:effectLst/>
                          <a:latin typeface="Calibri" panose="020F0502020204030204" pitchFamily="34" charset="0"/>
                          <a:ea typeface="+mn-ea"/>
                          <a:cs typeface="+mn-cs"/>
                        </a:rPr>
                        <a:t>9</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P770904</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25-Mar-25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7-Apr-25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10</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a:t>
                      </a:r>
                      <a:r>
                        <a:rPr lang="en-US" sz="1200" b="0" i="0" u="none" strike="noStrike" cap="none">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13-Apr-25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11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27-Mar-25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29-Mar-25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12</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a:solidFill>
                            <a:srgbClr val="000000"/>
                          </a:solidFill>
                          <a:effectLst/>
                          <a:latin typeface="Calibri" panose="020F0502020204030204" pitchFamily="34" charset="0"/>
                        </a:rPr>
                        <a:t>A623#2</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bl>
          </a:graphicData>
        </a:graphic>
      </p:graphicFrame>
    </p:spTree>
    <p:extLst>
      <p:ext uri="{BB962C8B-B14F-4D97-AF65-F5344CB8AC3E}">
        <p14:creationId xmlns:p14="http://schemas.microsoft.com/office/powerpoint/2010/main" val="7002227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rPr>
              <a:t>ĐỘI BAY A321CEO</a:t>
            </a:r>
            <a:endParaRPr kumimoji="0" lang="en-GB" sz="2400" b="1" i="0" u="none" strike="noStrike" kern="1200" cap="none" spc="0" normalizeH="0" baseline="0" noProof="0" dirty="0">
              <a:ln>
                <a:noFill/>
              </a:ln>
              <a:solidFill>
                <a:srgbClr val="DAA6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3</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23/02/2025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04/03/2025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22/03)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05/04/2025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12/04/2025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22/04)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19/03/2025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19/03/2025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26/06/2025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10/07/2025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14/06)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24/02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28/02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A321CEO Q1-Q2/2025</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Các</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động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đã</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tháo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sửa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chữa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2955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14-16/03/2025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96005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11-13/04/2025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83875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V11694</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A359#1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26-28/04/2025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Sửa HSR, lắp V16338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22610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25-27/05/2025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23618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18-20/06/2025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V16558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2002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607678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447396"/>
            <a:ext cx="258275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thuê</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836082"/>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T11/2025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20957496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6" y="445510"/>
          <a:ext cx="5236309" cy="3418841"/>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2" y="3867910"/>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cơ</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dự</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phòng</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958537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về</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SGN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ngày</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28/02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phục</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vụ</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ENG CHANG A870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thay</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qua A863); 958395 – 25 cycle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làm</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ĐCDP </a:t>
            </a:r>
            <a:r>
              <a:rPr kumimoji="0" lang="en-US" sz="1467" b="0" i="0" u="none" strike="noStrike" kern="1200" cap="none" spc="0" normalizeH="0" baseline="0" noProof="0" dirty="0" err="1">
                <a:ln>
                  <a:noFill/>
                </a:ln>
                <a:solidFill>
                  <a:srgbClr val="ED0000"/>
                </a:solidFill>
                <a:effectLst/>
                <a:uLnTx/>
                <a:uFillTx/>
                <a:latin typeface="Times New Roman" panose="02020603050405020304" pitchFamily="18" charset="0"/>
                <a:ea typeface="+mn-ea"/>
                <a:cs typeface="Times New Roman" panose="02020603050405020304" pitchFamily="18" charset="0"/>
              </a:rPr>
              <a:t>nếu</a:t>
            </a:r>
            <a:r>
              <a:rPr kumimoji="0" lang="en-US" sz="1467" b="0" i="0" u="none" strike="noStrike" kern="1200" cap="none" spc="0" normalizeH="0" baseline="0" noProof="0" dirty="0">
                <a:ln>
                  <a:noFill/>
                </a:ln>
                <a:solidFill>
                  <a:srgbClr val="ED0000"/>
                </a:solidFill>
                <a:effectLst/>
                <a:uLnTx/>
                <a:uFillTx/>
                <a:latin typeface="Times New Roman" panose="02020603050405020304" pitchFamily="18" charset="0"/>
                <a:ea typeface="+mn-ea"/>
                <a:cs typeface="Times New Roman" panose="02020603050405020304" pitchFamily="18" charset="0"/>
              </a:rPr>
              <a:t> urgent.</a:t>
            </a:r>
            <a:endParaRPr kumimoji="0" lang="en-US"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cơ</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on-watch:</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67"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956638 (A870) – Remove in 25 cyc và không được GE cấp DR (tần suất trước đó 100 cyc); Thực hiện thay động cơ cuối T2 khi ĐCDP sửa chữa về. </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Remove in 50 cyc or reinspect</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956913 (A871)</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958170 (A863)</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956769 (A868) </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956577 (A864) – Repetitive 50 cyc;</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100 cycle – 01 ĐC;  150 cycle – 01 ĐC; 250 cycle – 02 ĐC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380990" marR="0" lvl="0" indent="-380990" algn="l" defTabSz="1219170" rtl="0" eaLnBrk="1" fontAlgn="auto" latinLnBrk="0" hangingPunct="1">
              <a:lnSpc>
                <a:spcPct val="100000"/>
              </a:lnSpc>
              <a:spcBef>
                <a:spcPts val="0"/>
              </a:spcBef>
              <a:spcAft>
                <a:spcPts val="0"/>
              </a:spcAft>
              <a:buClrTx/>
              <a:buSzTx/>
              <a:buFontTx/>
              <a:buChar char="-"/>
              <a:tabLst/>
              <a:defRPr/>
            </a:pP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Công</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tác</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kế</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hoạch</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trọng</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điểm</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A870/</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956638</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AOG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hoàn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thiện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hình</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Nga - </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10/03/2025</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(A870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sơn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cánh</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ENG CHG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27/02 – 10/03; ENG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gốc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A870 - 956818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lấy</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A863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A863 ENG CHANGE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 05/03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dụng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ĐCDP 958537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chữa</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xong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GE CAL). A870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sẵn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01 ENG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thỏa</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mãn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Nga.</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Dồn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50cyc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cặp</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A863/A871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lên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A863 – </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Trong T3 </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(A863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sơn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cánh</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ENG SWAP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16/03 – 01/04, A871 ENG SWAP 18 – 21/03)</a:t>
            </a:r>
            <a:endPar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Hoàn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thiện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hình</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Nga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A867 – </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29/04/2025</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lần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ENG SWAP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A861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A864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T4/2025).</a:t>
            </a:r>
          </a:p>
          <a:p>
            <a:pPr marL="548640" marR="0" lvl="0" indent="-18288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A868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ENG CHANGE do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hình</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chuyên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thông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thường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ENG CHG + NEW DECAL </a:t>
            </a:r>
            <a:r>
              <a:rPr kumimoji="0" lang="en-US" sz="14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4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18 – 22/04.</a:t>
            </a: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2" y="445511"/>
          <a:ext cx="6778543" cy="3418840"/>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849128">
                  <a:extLst>
                    <a:ext uri="{9D8B030D-6E8A-4147-A177-3AD203B41FA5}">
                      <a16:colId xmlns:a16="http://schemas.microsoft.com/office/drawing/2014/main" val="3803391337"/>
                    </a:ext>
                  </a:extLst>
                </a:gridCol>
                <a:gridCol w="1797456">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374524">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374524">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u="none" strike="noStrike" dirty="0">
                          <a:solidFill>
                            <a:schemeClr val="tx1"/>
                          </a:solidFill>
                          <a:effectLst/>
                          <a:latin typeface="+mn-lt"/>
                        </a:rPr>
                        <a:t>End of Mar/2025</a:t>
                      </a:r>
                    </a:p>
                    <a:p>
                      <a:pPr algn="ctr" fontAlgn="ctr"/>
                      <a:r>
                        <a:rPr lang="en-US" sz="1200" u="none" strike="noStrike" dirty="0">
                          <a:solidFill>
                            <a:schemeClr val="tx1"/>
                          </a:solidFill>
                          <a:effectLst/>
                          <a:latin typeface="+mn-lt"/>
                        </a:rPr>
                        <a:t>Induct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374524">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05/10/2024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374524">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0" i="0" u="none" strike="noStrike" dirty="0">
                          <a:solidFill>
                            <a:schemeClr val="tx1"/>
                          </a:solidFill>
                          <a:effectLst/>
                          <a:latin typeface="+mn-lt"/>
                          <a:cs typeface="Times New Roman" panose="02020603050405020304" pitchFamily="18" charset="0"/>
                        </a:rPr>
                        <a:t>TBD</a:t>
                      </a:r>
                      <a:endParaRPr lang="en-US" sz="1200" b="1" i="0" u="none" strike="noStrike" kern="1200" dirty="0">
                        <a:solidFill>
                          <a:srgbClr val="0070C0"/>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374524">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17/07/2024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endParaRPr lang="en-US" sz="1200" b="1" i="0" u="none" strike="noStrike" dirty="0">
                        <a:solidFill>
                          <a:srgbClr val="0070C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374524">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TBD</a:t>
                      </a:r>
                    </a:p>
                    <a:p>
                      <a:pPr algn="ctr" fontAlgn="ctr"/>
                      <a:r>
                        <a:rPr lang="en-US" sz="1200" b="0" u="none" strike="noStrike" dirty="0">
                          <a:solidFill>
                            <a:schemeClr val="tx1"/>
                          </a:solidFill>
                          <a:effectLst/>
                          <a:latin typeface="+mn-lt"/>
                          <a:cs typeface="Times New Roman" panose="02020603050405020304" pitchFamily="18" charset="0"/>
                        </a:rPr>
                        <a:t>Induct 26/11/2024</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374524">
                <a:tc>
                  <a:txBody>
                    <a:bodyPr/>
                    <a:lstStyle/>
                    <a:p>
                      <a:pPr algn="ctr" fontAlgn="ctr"/>
                      <a:r>
                        <a:rPr lang="en-US" sz="1200" b="0" i="0" u="none" strike="noStrike" dirty="0">
                          <a:solidFill>
                            <a:schemeClr val="tx1"/>
                          </a:solidFill>
                          <a:effectLst/>
                          <a:latin typeface="+mn-lt"/>
                          <a:cs typeface="Times New Roman" panose="02020603050405020304" pitchFamily="18" charset="0"/>
                        </a:rPr>
                        <a:t>958537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17/09/2024</a:t>
                      </a:r>
                    </a:p>
                  </a:txBody>
                  <a:tcPr marL="12700" marR="12700" marT="12700" marB="0" anchor="ctr"/>
                </a:tc>
                <a:tc>
                  <a:txBody>
                    <a:bodyPr/>
                    <a:lstStyle/>
                    <a:p>
                      <a:pPr algn="ctr" fontAlgn="ctr"/>
                      <a:r>
                        <a:rPr lang="en-US" sz="1200" b="0" u="none" strike="noStrike" kern="1200" dirty="0">
                          <a:solidFill>
                            <a:srgbClr val="FF0000"/>
                          </a:solidFill>
                          <a:effectLst/>
                          <a:latin typeface="+mn-lt"/>
                          <a:ea typeface="+mn-ea"/>
                          <a:cs typeface="Times New Roman" panose="02020603050405020304" pitchFamily="18" charset="0"/>
                        </a:rPr>
                        <a:t>21/Feb/2025</a:t>
                      </a:r>
                    </a:p>
                    <a:p>
                      <a:pPr algn="ctr" fontAlgn="ctr"/>
                      <a:r>
                        <a:rPr lang="en-US" sz="1200" b="0" u="none" strike="noStrike" kern="1200" dirty="0">
                          <a:solidFill>
                            <a:srgbClr val="FF0000"/>
                          </a:solidFill>
                          <a:effectLst/>
                          <a:latin typeface="+mn-lt"/>
                          <a:ea typeface="+mn-ea"/>
                          <a:cs typeface="Times New Roman" panose="02020603050405020304" pitchFamily="18" charset="0"/>
                        </a:rPr>
                        <a:t>Induct 04/11</a:t>
                      </a:r>
                    </a:p>
                  </a:txBody>
                  <a:tcPr marL="12700" marR="12700" marT="12700" marB="0" anchor="ctr"/>
                </a:tc>
                <a:tc>
                  <a:txBody>
                    <a:bodyPr/>
                    <a:lstStyle/>
                    <a:p>
                      <a:pPr algn="ctr" fontAlgn="ctr"/>
                      <a:r>
                        <a:rPr lang="en-US" sz="1200" b="0" u="none" strike="noStrike" kern="1200" dirty="0">
                          <a:solidFill>
                            <a:srgbClr val="FF0000"/>
                          </a:solidFill>
                          <a:effectLst/>
                          <a:latin typeface="+mn-lt"/>
                          <a:ea typeface="+mn-ea"/>
                          <a:cs typeface="Times New Roman" panose="02020603050405020304" pitchFamily="18" charset="0"/>
                        </a:rPr>
                        <a:t>28/Feb/25</a:t>
                      </a:r>
                    </a:p>
                  </a:txBody>
                  <a:tcPr marL="12700" marR="12700" marT="12700" marB="0" anchor="ctr"/>
                </a:tc>
                <a:tc>
                  <a:txBody>
                    <a:bodyPr/>
                    <a:lstStyle/>
                    <a:p>
                      <a:pPr algn="ctr" fontAlgn="ctr"/>
                      <a:endParaRPr lang="en-US" sz="1200" b="0" i="0" u="none" strike="noStrike" dirty="0">
                        <a:solidFill>
                          <a:srgbClr val="008ECC"/>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rgbClr val="008ECC"/>
                          </a:solidFill>
                          <a:effectLst/>
                          <a:latin typeface="+mn-lt"/>
                          <a:cs typeface="Times New Roman" panose="02020603050405020304" pitchFamily="18" charset="0"/>
                        </a:rPr>
                        <a:t>02/03 (A863 to A870)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37452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 04/03/2025        </a:t>
                      </a:r>
                    </a:p>
                    <a:p>
                      <a:pPr algn="ctr" fontAlgn="ctr"/>
                      <a:r>
                        <a:rPr lang="en-US" sz="1200" b="0" u="none" strike="noStrike" dirty="0">
                          <a:solidFill>
                            <a:srgbClr val="FF0000"/>
                          </a:solidFill>
                          <a:effectLst/>
                          <a:latin typeface="+mn-lt"/>
                          <a:cs typeface="Times New Roman" panose="02020603050405020304" pitchFamily="18" charset="0"/>
                        </a:rPr>
                        <a:t>(KH </a:t>
                      </a:r>
                      <a:r>
                        <a:rPr lang="en-US" sz="1200" b="0" u="none" strike="noStrike" dirty="0" err="1">
                          <a:solidFill>
                            <a:srgbClr val="FF0000"/>
                          </a:solidFill>
                          <a:effectLst/>
                          <a:latin typeface="+mn-lt"/>
                          <a:cs typeface="Times New Roman" panose="02020603050405020304" pitchFamily="18" charset="0"/>
                        </a:rPr>
                        <a:t>cũ</a:t>
                      </a:r>
                      <a:r>
                        <a:rPr lang="en-US" sz="1200" b="0" u="none" strike="noStrike" dirty="0">
                          <a:solidFill>
                            <a:srgbClr val="FF0000"/>
                          </a:solidFill>
                          <a:effectLst/>
                          <a:latin typeface="+mn-lt"/>
                          <a:cs typeface="Times New Roman" panose="02020603050405020304" pitchFamily="18" charset="0"/>
                        </a:rPr>
                        <a:t> 16/12)</a:t>
                      </a:r>
                    </a:p>
                  </a:txBody>
                  <a:tcPr marL="12700" marR="12700" marT="12700" marB="0" anchor="ct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193546">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Induction T4/2025</a:t>
                      </a:r>
                    </a:p>
                  </a:txBody>
                  <a:tcPr marL="12700" marR="12700" marT="12700" marB="0" anchor="ct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193546">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Induction T5/2025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80108" y="-47303"/>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B787</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934340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A350</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6"/>
          <a:ext cx="5905159" cy="32308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val="1930757539"/>
                    </a:ext>
                  </a:extLst>
                </a:gridCol>
                <a:gridCol w="1565065">
                  <a:extLst>
                    <a:ext uri="{9D8B030D-6E8A-4147-A177-3AD203B41FA5}">
                      <a16:colId xmlns:a16="http://schemas.microsoft.com/office/drawing/2014/main" val="1674463010"/>
                    </a:ext>
                  </a:extLst>
                </a:gridCol>
                <a:gridCol w="1334759">
                  <a:extLst>
                    <a:ext uri="{9D8B030D-6E8A-4147-A177-3AD203B41FA5}">
                      <a16:colId xmlns:a16="http://schemas.microsoft.com/office/drawing/2014/main" val="1549944897"/>
                    </a:ext>
                  </a:extLst>
                </a:gridCol>
                <a:gridCol w="942235">
                  <a:extLst>
                    <a:ext uri="{9D8B030D-6E8A-4147-A177-3AD203B41FA5}">
                      <a16:colId xmlns:a16="http://schemas.microsoft.com/office/drawing/2014/main" val="3687717734"/>
                    </a:ext>
                  </a:extLst>
                </a:gridCol>
                <a:gridCol w="1020755">
                  <a:extLst>
                    <a:ext uri="{9D8B030D-6E8A-4147-A177-3AD203B41FA5}">
                      <a16:colId xmlns:a16="http://schemas.microsoft.com/office/drawing/2014/main" val="4100307886"/>
                    </a:ext>
                  </a:extLst>
                </a:gridCol>
              </a:tblGrid>
              <a:tr h="164309">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 </a:t>
                      </a:r>
                      <a:r>
                        <a:rPr lang="en-GB" sz="1200" dirty="0">
                          <a:latin typeface="Times New Roman" panose="02020603050405020304" pitchFamily="18" charset="0"/>
                          <a:cs typeface="Times New Roman" panose="02020603050405020304" pitchFamily="18" charset="0"/>
                        </a:rPr>
                        <a:t>–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0">
                <a:tc>
                  <a:txBody>
                    <a:bodyPr/>
                    <a:lstStyle/>
                    <a:p>
                      <a:r>
                        <a:rPr lang="en-US" sz="1200" b="1">
                          <a:latin typeface="Times New Roman" panose="02020603050405020304" pitchFamily="18" charset="0"/>
                          <a:cs typeface="Times New Roman" panose="02020603050405020304" pitchFamily="18" charset="0"/>
                        </a:rPr>
                        <a:t>21043</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a:t>
                      </a:r>
                      <a:r>
                        <a:rPr lang="en-US" sz="1200" dirty="0">
                          <a:latin typeface="Times New Roman" panose="02020603050405020304" pitchFamily="18" charset="0"/>
                          <a:cs typeface="Times New Roman" panose="02020603050405020304" pitchFamily="18" charset="0"/>
                        </a:rPr>
                        <a:t>–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extLst>
                  <a:ext uri="{0D108BD9-81ED-4DB2-BD59-A6C34878D82A}">
                    <a16:rowId xmlns:a16="http://schemas.microsoft.com/office/drawing/2014/main" val="83465224"/>
                  </a:ext>
                </a:extLst>
              </a:tr>
              <a:tr h="164309">
                <a:tc>
                  <a:txBody>
                    <a:bodyPr/>
                    <a:lstStyle/>
                    <a:p>
                      <a:r>
                        <a:rPr lang="en-US" sz="1200" b="1" dirty="0">
                          <a:latin typeface="Times New Roman" panose="02020603050405020304" pitchFamily="18" charset="0"/>
                          <a:cs typeface="Times New Roman" panose="02020603050405020304" pitchFamily="18" charset="0"/>
                        </a:rPr>
                        <a:t>21316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a:t>
                      </a:r>
                      <a:r>
                        <a:rPr lang="en-US" sz="1200" dirty="0">
                          <a:latin typeface="Times New Roman" panose="02020603050405020304" pitchFamily="18" charset="0"/>
                          <a:cs typeface="Times New Roman" panose="02020603050405020304" pitchFamily="18" charset="0"/>
                        </a:rPr>
                        <a:t>– QT</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20/11/24</a:t>
                      </a: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17/02/25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1">
                          <a:solidFill>
                            <a:srgbClr val="FF0000"/>
                          </a:solidFill>
                          <a:latin typeface="Times New Roman" panose="02020603050405020304" pitchFamily="18" charset="0"/>
                          <a:cs typeface="Times New Roman" panose="02020603050405020304" pitchFamily="18" charset="0"/>
                        </a:rPr>
                        <a:t>23/02/25</a:t>
                      </a:r>
                      <a:endParaRPr lang="en-US" sz="1200" b="1" dirty="0">
                        <a:solidFill>
                          <a:srgbClr val="FF0000"/>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0">
                <a:tc>
                  <a:txBody>
                    <a:bodyPr/>
                    <a:lstStyle/>
                    <a:p>
                      <a:r>
                        <a:rPr lang="en-US" sz="1200" b="1">
                          <a:latin typeface="Times New Roman" panose="02020603050405020304" pitchFamily="18" charset="0"/>
                          <a:cs typeface="Times New Roman" panose="02020603050405020304" pitchFamily="18" charset="0"/>
                        </a:rPr>
                        <a:t>21137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164309">
                <a:tc>
                  <a:txBody>
                    <a:bodyPr/>
                    <a:lstStyle/>
                    <a:p>
                      <a:r>
                        <a:rPr lang="en-US" sz="1200" b="1">
                          <a:latin typeface="Times New Roman" panose="02020603050405020304" pitchFamily="18" charset="0"/>
                          <a:cs typeface="Times New Roman" panose="02020603050405020304" pitchFamily="18" charset="0"/>
                        </a:rPr>
                        <a:t>21422</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30/03/25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10/04/25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875011403"/>
                  </a:ext>
                </a:extLst>
              </a:tr>
              <a:tr h="164309">
                <a:tc>
                  <a:txBody>
                    <a:bodyPr/>
                    <a:lstStyle/>
                    <a:p>
                      <a:r>
                        <a:rPr lang="en-US" sz="1200" b="1">
                          <a:latin typeface="Times New Roman" panose="02020603050405020304" pitchFamily="18" charset="0"/>
                          <a:cs typeface="Times New Roman" panose="02020603050405020304" pitchFamily="18" charset="0"/>
                        </a:rPr>
                        <a:t>21201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164309">
                <a:tc>
                  <a:txBody>
                    <a:bodyPr/>
                    <a:lstStyle/>
                    <a:p>
                      <a:r>
                        <a:rPr lang="en-US" sz="1200" b="1">
                          <a:latin typeface="Times New Roman" panose="02020603050405020304" pitchFamily="18" charset="0"/>
                          <a:cs typeface="Times New Roman" panose="02020603050405020304" pitchFamily="18" charset="0"/>
                        </a:rPr>
                        <a:t>21584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 – 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02/06/25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29074625"/>
                  </a:ext>
                </a:extLst>
              </a:tr>
              <a:tr h="164309">
                <a:tc>
                  <a:txBody>
                    <a:bodyPr/>
                    <a:lstStyle/>
                    <a:p>
                      <a:r>
                        <a:rPr lang="en-US" sz="1200" b="1">
                          <a:latin typeface="Times New Roman" panose="02020603050405020304" pitchFamily="18" charset="0"/>
                          <a:cs typeface="Times New Roman" panose="02020603050405020304" pitchFamily="18" charset="0"/>
                        </a:rPr>
                        <a:t>21269</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QT</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27/01/25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130508"/>
                  </a:ext>
                </a:extLst>
              </a:tr>
              <a:tr h="164309">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86463" y="4685550"/>
          <a:ext cx="5867400" cy="2133600"/>
        </p:xfrm>
        <a:graphic>
          <a:graphicData uri="http://schemas.openxmlformats.org/drawingml/2006/table">
            <a:tbl>
              <a:tblPr firstRow="1" bandRow="1">
                <a:tableStyleId>{21E4AEA4-8DFA-4A89-87EB-49C32662AFE0}</a:tableStyleId>
              </a:tblPr>
              <a:tblGrid>
                <a:gridCol w="979469">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238699">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238699">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247506">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238699">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001673644"/>
                  </a:ext>
                </a:extLst>
              </a:tr>
              <a:tr h="238699">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Transporting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927641313"/>
                  </a:ext>
                </a:extLst>
              </a:tr>
              <a:tr h="238699">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Transporting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63729012"/>
                  </a:ext>
                </a:extLst>
              </a:tr>
              <a:tr h="238699">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958768938"/>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đang trong shop (09 động c</a:t>
            </a:r>
            <a:r>
              <a:rPr kumimoji="0" lang="en-US"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endPar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422467" y="4180188"/>
            <a:ext cx="5195392"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đến hạn tháo (06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2133"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727634"/>
            <a:ext cx="5167083" cy="461665"/>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Số tàu AOG (kb tốt)</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74810" y="3133124"/>
          <a:ext cx="5808956" cy="209027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17068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Các tàu đang AOG (04 tàu)</a:t>
            </a:r>
            <a:endParaRPr kumimoji="0" lang="en-GB" sz="2133"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13">
            <a:extLst>
              <a:ext uri="{FF2B5EF4-FFF2-40B4-BE49-F238E27FC236}">
                <a16:creationId xmlns:a16="http://schemas.microsoft.com/office/drawing/2014/main" id="{D9F410EA-3499-42B9-9D33-D1C7A580DB12}"/>
              </a:ext>
            </a:extLst>
          </p:cNvPr>
          <p:cNvGraphicFramePr>
            <a:graphicFrameLocks noGrp="1"/>
          </p:cNvGraphicFramePr>
          <p:nvPr/>
        </p:nvGraphicFramePr>
        <p:xfrm>
          <a:off x="6238135" y="5982604"/>
          <a:ext cx="5867401" cy="736241"/>
        </p:xfrm>
        <a:graphic>
          <a:graphicData uri="http://schemas.openxmlformats.org/drawingml/2006/table">
            <a:tbl>
              <a:tblPr firstRow="1" bandRow="1">
                <a:tableStyleId>{93296810-A885-4BE3-A3E7-6D5BEEA58F35}</a:tableStyleId>
              </a:tblPr>
              <a:tblGrid>
                <a:gridCol w="696879">
                  <a:extLst>
                    <a:ext uri="{9D8B030D-6E8A-4147-A177-3AD203B41FA5}">
                      <a16:colId xmlns:a16="http://schemas.microsoft.com/office/drawing/2014/main" val="4208667331"/>
                    </a:ext>
                  </a:extLst>
                </a:gridCol>
                <a:gridCol w="5170522">
                  <a:extLst>
                    <a:ext uri="{9D8B030D-6E8A-4147-A177-3AD203B41FA5}">
                      <a16:colId xmlns:a16="http://schemas.microsoft.com/office/drawing/2014/main" val="1351526185"/>
                    </a:ext>
                  </a:extLst>
                </a:gridCol>
              </a:tblGrid>
              <a:tr h="249088">
                <a:tc>
                  <a:txBody>
                    <a:bodyPr/>
                    <a:lstStyle/>
                    <a:p>
                      <a:pPr algn="ctr" fontAlgn="t"/>
                      <a:r>
                        <a:rPr lang="en-US" sz="1200" b="1" i="0" u="none" strike="noStrike" dirty="0" err="1">
                          <a:solidFill>
                            <a:schemeClr val="bg1"/>
                          </a:solidFill>
                          <a:effectLst/>
                          <a:latin typeface="Times New Roman" panose="02020603050405020304" pitchFamily="18" charset="0"/>
                        </a:rPr>
                        <a:t>Tàu</a:t>
                      </a:r>
                      <a:endParaRPr lang="en-US" sz="1200" b="1" i="0" u="none" strike="noStrike" dirty="0">
                        <a:solidFill>
                          <a:schemeClr val="bg1"/>
                        </a:solidFill>
                        <a:effectLst/>
                        <a:latin typeface="Times New Roman" panose="02020603050405020304" pitchFamily="18" charset="0"/>
                      </a:endParaRPr>
                    </a:p>
                  </a:txBody>
                  <a:tcPr marL="8467" marR="8467" marT="8467" marB="0" anchor="ctr"/>
                </a:tc>
                <a:tc>
                  <a:txBody>
                    <a:bodyPr/>
                    <a:lstStyle/>
                    <a:p>
                      <a:pPr algn="ctr" fontAlgn="t"/>
                      <a:r>
                        <a:rPr lang="en-US" sz="1200" b="1" i="0" u="none" strike="noStrike" dirty="0" err="1">
                          <a:solidFill>
                            <a:schemeClr val="bg1"/>
                          </a:solidFill>
                          <a:effectLst/>
                          <a:latin typeface="Times New Roman" panose="02020603050405020304" pitchFamily="18" charset="0"/>
                        </a:rPr>
                        <a:t>Phương</a:t>
                      </a:r>
                      <a:r>
                        <a:rPr lang="en-US" sz="1200" b="1" i="0" u="none" strike="noStrike" dirty="0">
                          <a:solidFill>
                            <a:schemeClr val="bg1"/>
                          </a:solidFill>
                          <a:effectLst/>
                          <a:latin typeface="Times New Roman" panose="02020603050405020304" pitchFamily="18" charset="0"/>
                        </a:rPr>
                        <a:t> </a:t>
                      </a:r>
                      <a:r>
                        <a:rPr lang="en-US" sz="1200" b="1" i="0" u="none" strike="noStrike" dirty="0" err="1">
                          <a:solidFill>
                            <a:schemeClr val="bg1"/>
                          </a:solidFill>
                          <a:effectLst/>
                          <a:latin typeface="Times New Roman" panose="02020603050405020304" pitchFamily="18" charset="0"/>
                        </a:rPr>
                        <a:t>án</a:t>
                      </a:r>
                      <a:endParaRPr lang="en-US" sz="1200" b="1" i="0" u="none" strike="noStrike" dirty="0">
                        <a:solidFill>
                          <a:schemeClr val="bg1"/>
                        </a:solidFill>
                        <a:effectLst/>
                        <a:latin typeface="Times New Roman" panose="02020603050405020304" pitchFamily="18" charset="0"/>
                      </a:endParaRPr>
                    </a:p>
                  </a:txBody>
                  <a:tcPr marL="8467" marR="8467" marT="8467" marB="0" anchor="ctr"/>
                </a:tc>
                <a:extLst>
                  <a:ext uri="{0D108BD9-81ED-4DB2-BD59-A6C34878D82A}">
                    <a16:rowId xmlns:a16="http://schemas.microsoft.com/office/drawing/2014/main" val="1286781906"/>
                  </a:ext>
                </a:extLst>
              </a:tr>
              <a:tr h="487153">
                <a:tc>
                  <a:txBody>
                    <a:bodyPr/>
                    <a:lstStyle/>
                    <a:p>
                      <a:pPr algn="ctr" fontAlgn="ctr"/>
                      <a:r>
                        <a:rPr lang="en-US" sz="1200" b="0" i="0" u="none" strike="noStrike">
                          <a:solidFill>
                            <a:schemeClr val="tx1"/>
                          </a:solidFill>
                          <a:effectLst/>
                          <a:latin typeface="Times New Roman" panose="02020603050405020304" pitchFamily="18" charset="0"/>
                        </a:rPr>
                        <a:t>A899</a:t>
                      </a:r>
                      <a:endParaRPr lang="en-US" sz="1200" b="0" i="0" u="none" strike="noStrike" dirty="0">
                        <a:solidFill>
                          <a:schemeClr val="tx1"/>
                        </a:solidFill>
                        <a:effectLst/>
                        <a:latin typeface="Times New Roman" panose="02020603050405020304" pitchFamily="18" charset="0"/>
                      </a:endParaRPr>
                    </a:p>
                  </a:txBody>
                  <a:tcPr marL="8467" marR="8467" marT="8467"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Times New Roman" panose="02020603050405020304" pitchFamily="18" charset="0"/>
                          <a:cs typeface="Times New Roman" panose="02020603050405020304" pitchFamily="18" charset="0"/>
                        </a:rPr>
                        <a:t>Thay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21048 do hết LLP. Ngày 23/2 có động c</a:t>
                      </a:r>
                      <a:r>
                        <a:rPr lang="vi-VN" sz="1200">
                          <a:solidFill>
                            <a:schemeClr val="tx1"/>
                          </a:solidFill>
                          <a:latin typeface="Times New Roman" panose="02020603050405020304" pitchFamily="18" charset="0"/>
                          <a:cs typeface="Times New Roman" panose="02020603050405020304" pitchFamily="18" charset="0"/>
                        </a:rPr>
                        <a:t>ơ</a:t>
                      </a:r>
                      <a:r>
                        <a:rPr lang="en-US" sz="1200">
                          <a:solidFill>
                            <a:schemeClr val="tx1"/>
                          </a:solidFill>
                          <a:latin typeface="Times New Roman" panose="02020603050405020304" pitchFamily="18" charset="0"/>
                          <a:cs typeface="Times New Roman" panose="02020603050405020304" pitchFamily="18" charset="0"/>
                        </a:rPr>
                        <a:t> đi shop về để thay thế từ 25/02</a:t>
                      </a:r>
                      <a:endParaRPr lang="en-US" sz="1200" dirty="0">
                        <a:solidFill>
                          <a:schemeClr val="tx1"/>
                        </a:solidFill>
                        <a:latin typeface="Times New Roman" panose="02020603050405020304" pitchFamily="18" charset="0"/>
                        <a:cs typeface="Times New Roman" panose="02020603050405020304" pitchFamily="18" charset="0"/>
                      </a:endParaRPr>
                    </a:p>
                  </a:txBody>
                  <a:tcPr marL="8467" marR="8467" marT="8467" marB="0" anchor="ctr"/>
                </a:tc>
                <a:extLst>
                  <a:ext uri="{0D108BD9-81ED-4DB2-BD59-A6C34878D82A}">
                    <a16:rowId xmlns:a16="http://schemas.microsoft.com/office/drawing/2014/main" val="3138330128"/>
                  </a:ext>
                </a:extLst>
              </a:tr>
            </a:tbl>
          </a:graphicData>
        </a:graphic>
      </p:graphicFrame>
      <p:sp>
        <p:nvSpPr>
          <p:cNvPr id="15" name="TextBox 14">
            <a:extLst>
              <a:ext uri="{FF2B5EF4-FFF2-40B4-BE49-F238E27FC236}">
                <a16:creationId xmlns:a16="http://schemas.microsoft.com/office/drawing/2014/main" id="{70D2EB9E-D0C2-460A-95BF-57FFF64A893D}"/>
              </a:ext>
            </a:extLst>
          </p:cNvPr>
          <p:cNvSpPr txBox="1"/>
          <p:nvPr/>
        </p:nvSpPr>
        <p:spPr>
          <a:xfrm>
            <a:off x="6274810" y="5284077"/>
            <a:ext cx="5808956" cy="615553"/>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thay</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0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a:t>
            </a:r>
            <a:r>
              <a:rPr kumimoji="0" lang="vi-VN"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20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A350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các</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ảnh</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h</a:t>
            </a:r>
            <a:r>
              <a:rPr kumimoji="0" lang="vi-VN"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ư</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ởng</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nguồn</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400" b="1" i="1"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lực</a:t>
            </a:r>
            <a:r>
              <a:rPr kumimoji="0" lang="en-US" sz="14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a:t>
            </a:r>
            <a:endParaRPr kumimoji="0" lang="en-GB" sz="2000" b="1"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0735712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DỰ BÁO </a:t>
            </a:r>
            <a:r>
              <a:rPr kumimoji="0" lang="en-US"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AOG A350 2025 DO THIẾU ĐỘNG C</a:t>
            </a:r>
            <a:r>
              <a:rPr kumimoji="0" lang="vi-VN" sz="2667" b="1" i="0" u="none" strike="noStrike" kern="1200" cap="none" spc="0" normalizeH="0" baseline="0" noProof="0">
                <a:ln w="0"/>
                <a:solidFill>
                  <a:srgbClr val="FBAC00"/>
                </a:solidFill>
                <a:effectLst/>
                <a:uLnTx/>
                <a:uFillTx/>
                <a:latin typeface="Times New Roman" panose="02020603050405020304" pitchFamily="18" charset="0"/>
                <a:ea typeface="+mn-ea"/>
                <a:cs typeface="Times New Roman" panose="02020603050405020304" pitchFamily="18" charset="0"/>
              </a:rPr>
              <a:t>Ơ</a:t>
            </a:r>
            <a:endPar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6" name="Chart 15">
            <a:extLst>
              <a:ext uri="{FF2B5EF4-FFF2-40B4-BE49-F238E27FC236}">
                <a16:creationId xmlns:a16="http://schemas.microsoft.com/office/drawing/2014/main" id="{A3E8964E-6605-453B-87FD-34C390A534B1}"/>
              </a:ext>
            </a:extLst>
          </p:cNvPr>
          <p:cNvGraphicFramePr>
            <a:graphicFrameLocks/>
          </p:cNvGraphicFramePr>
          <p:nvPr/>
        </p:nvGraphicFramePr>
        <p:xfrm>
          <a:off x="304800" y="533400"/>
          <a:ext cx="11430000" cy="55626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E9C07DA6-E964-4FA0-BC5D-1A4F09D3658F}"/>
              </a:ext>
            </a:extLst>
          </p:cNvPr>
          <p:cNvSpPr/>
          <p:nvPr/>
        </p:nvSpPr>
        <p:spPr>
          <a:xfrm>
            <a:off x="228600" y="6111240"/>
            <a:ext cx="12039600" cy="630942"/>
          </a:xfrm>
          <a:prstGeom prst="rect">
            <a:avLst/>
          </a:prstGeom>
          <a:solidFill>
            <a:srgbClr val="FFFF00"/>
          </a:solidFill>
          <a:ln>
            <a:solidFill>
              <a:schemeClr val="accent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Cambria"/>
                <a:ea typeface="+mn-ea"/>
                <a:cs typeface="+mn-cs"/>
              </a:rPr>
              <a:t>PH</a:t>
            </a:r>
            <a:r>
              <a:rPr kumimoji="0" lang="vi-VN" sz="1400" b="1"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Ư</a:t>
            </a:r>
            <a:r>
              <a:rPr kumimoji="0" lang="en-US" sz="1400" b="1" i="0" u="none" strike="noStrike" kern="1200" cap="none" spc="0" normalizeH="0" baseline="0" noProof="0">
                <a:ln>
                  <a:noFill/>
                </a:ln>
                <a:solidFill>
                  <a:prstClr val="black"/>
                </a:solidFill>
                <a:effectLst/>
                <a:uLnTx/>
                <a:uFillTx/>
                <a:latin typeface="Cambria"/>
                <a:ea typeface="+mn-ea"/>
                <a:cs typeface="+mn-cs"/>
              </a:rPr>
              <a:t>ƠNG ÁN GIỮ GIỜ</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mbria"/>
                <a:ea typeface="+mn-ea"/>
                <a:cs typeface="+mn-cs"/>
              </a:rPr>
              <a:t>- </a:t>
            </a:r>
            <a:r>
              <a:rPr kumimoji="0" lang="en-GB" sz="1050" b="0" i="0" u="none" strike="noStrike" kern="1200" cap="none" spc="0" normalizeH="0" baseline="0" noProof="0">
                <a:ln>
                  <a:noFill/>
                </a:ln>
                <a:solidFill>
                  <a:prstClr val="black"/>
                </a:solidFill>
                <a:effectLst/>
                <a:uLnTx/>
                <a:uFillTx/>
                <a:latin typeface="Cambria"/>
                <a:ea typeface="+mn-ea"/>
                <a:cs typeface="+mn-cs"/>
              </a:rPr>
              <a:t>Với 21346 (hết hạn 14/06): chờ động cơ 21047 đi shop về ngày 17/03 sẽ tháo động cơ này xuống giữ giờ từ 20/03 đến 10/5 lắp lại A899 (tàu đang dừng làm 6Y</a:t>
            </a:r>
            <a:r>
              <a:rPr kumimoji="0" lang="en-US" sz="1050" b="0" i="0" u="none" strike="noStrike" kern="1200" cap="none" spc="0" normalizeH="0" baseline="0" noProof="0">
                <a:ln>
                  <a:noFill/>
                </a:ln>
                <a:solidFill>
                  <a:prstClr val="black"/>
                </a:solidFill>
                <a:effectLst/>
                <a:uLnTx/>
                <a:uFillTx/>
                <a:latin typeface="Cambria"/>
                <a:ea typeface="+mn-ea"/>
                <a:cs typeface="+mn-cs"/>
              </a:rPr>
              <a:t>), sau đó lắp A899 giữ thêm 15 ngày. </a:t>
            </a:r>
            <a:endParaRPr kumimoji="0" lang="en-US" sz="1000" b="0" i="0" u="none" strike="noStrike" kern="1200" cap="none" spc="0" normalizeH="0" baseline="0" noProof="0">
              <a:ln>
                <a:noFill/>
              </a:ln>
              <a:solidFill>
                <a:prstClr val="black"/>
              </a:solidFill>
              <a:effectLst/>
              <a:uLnTx/>
              <a:uFillTx/>
              <a:latin typeface="Cambr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prstClr val="black"/>
                </a:solidFill>
                <a:effectLst/>
                <a:uLnTx/>
                <a:uFillTx/>
                <a:latin typeface="Cambria"/>
                <a:ea typeface="+mn-ea"/>
                <a:cs typeface="+mn-cs"/>
              </a:rPr>
              <a:t>- Với 21418 (hết hạn 07/07): Lắp trên tàu A891 làm check từ 10/3 – 19/3; từ 16/04 – 10/05: lắp sang tàu A899 (làm 6Y) giữ thêm được 25 ngày, sau đó A899 chủ động d</a:t>
            </a:r>
            <a:r>
              <a:rPr kumimoji="0" lang="en-US" sz="1050" b="0" i="0" u="none" strike="noStrike" kern="1200" cap="none" spc="0" normalizeH="0" baseline="0" noProof="0">
                <a:ln>
                  <a:noFill/>
                </a:ln>
                <a:solidFill>
                  <a:prstClr val="black"/>
                </a:solidFill>
                <a:effectLst/>
                <a:uLnTx/>
                <a:uFillTx/>
                <a:latin typeface="Cambria"/>
                <a:ea typeface="+mn-ea"/>
                <a:cs typeface="+mn-cs"/>
              </a:rPr>
              <a:t>ừng thêm 15 ngày. </a:t>
            </a:r>
            <a:endParaRPr kumimoji="0" lang="en-US" sz="1000" b="0" i="0" u="none" strike="noStrike" kern="1200" cap="none" spc="0" normalizeH="0" baseline="0" noProof="0">
              <a:ln>
                <a:noFill/>
              </a:ln>
              <a:solidFill>
                <a:prstClr val="black"/>
              </a:solidFill>
              <a:effectLst/>
              <a:uLnTx/>
              <a:uFillTx/>
              <a:latin typeface="Cambria"/>
              <a:ea typeface="+mn-ea"/>
              <a:cs typeface="+mn-cs"/>
            </a:endParaRPr>
          </a:p>
        </p:txBody>
      </p:sp>
    </p:spTree>
    <p:extLst>
      <p:ext uri="{BB962C8B-B14F-4D97-AF65-F5344CB8AC3E}">
        <p14:creationId xmlns:p14="http://schemas.microsoft.com/office/powerpoint/2010/main" val="4227854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marR="0" lvl="0" indent="-380990" algn="l" defTabSz="1219170" rtl="0" eaLnBrk="1" fontAlgn="auto" latinLnBrk="0" hangingPunct="1">
              <a:lnSpc>
                <a:spcPct val="125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Từ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11/2024,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thuê</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B220.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7/2025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sẽ</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trở</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lại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K6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KHẢ NĂNG CUNG ỨNG ĐỘNG CƠ </a:t>
            </a: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ĐỘI BAY ATR72</a:t>
            </a:r>
            <a:endParaRPr kumimoji="0" lang="vi-VN"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8112139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sửa</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1863582"/>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93171"/>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ĐỘI BAY ATR</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0" y="3198167"/>
            <a:ext cx="7239699" cy="461665"/>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Tình</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trạng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cơ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24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đội</a:t>
            </a:r>
            <a:r>
              <a:rPr kumimoji="0" lang="en-US"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bay</a:t>
            </a:r>
            <a:endParaRPr kumimoji="0" lang="en-GB" sz="24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76200" y="3733800"/>
            <a:ext cx="11460201" cy="1692771"/>
          </a:xfrm>
          <a:prstGeom prst="rect">
            <a:avLst/>
          </a:prstGeom>
          <a:noFill/>
        </p:spPr>
        <p:txBody>
          <a:bodyPr wrap="square" rtlCol="0">
            <a:spAutoFit/>
          </a:bodyPr>
          <a:lstStyle/>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không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ED0217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Vane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38 FH), ED0233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hết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LLP,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78 FC), ED0214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hết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LLP, </a:t>
            </a:r>
            <a:r>
              <a:rPr kumimoji="0" lang="en-US" sz="1600"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39 FC)</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ED0192. KH Stagger sau cao điểm tết.</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a:t>
            </a: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cơ thuê: ED0321, ED0036 và ED0715</a:t>
            </a:r>
          </a:p>
          <a:p>
            <a:pPr marL="380990" marR="0" lvl="0" indent="-380990" algn="l" defTabSz="914400" rtl="0" eaLnBrk="1" fontAlgn="auto" latinLnBrk="0" hangingPunct="1">
              <a:lnSpc>
                <a:spcPct val="100000"/>
              </a:lnSpc>
              <a:spcBef>
                <a:spcPts val="800"/>
              </a:spcBef>
              <a:spcAft>
                <a:spcPts val="800"/>
              </a:spcAft>
              <a:buClrTx/>
              <a:buSzTx/>
              <a:buFont typeface="Arial" panose="020B0604020202020204" pitchFamily="34" charset="0"/>
              <a:buChar char="•"/>
              <a:tabLst/>
              <a:defRPr/>
            </a:pPr>
            <a:r>
              <a:rPr kumimoji="0" lang="it-IT"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cao giờ: NIL</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2603746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D2A43B"/>
                </a:solidFill>
                <a:effectLst/>
                <a:uLnTx/>
                <a:uFillTx/>
                <a:latin typeface="Montserrat" pitchFamily="2" charset="77"/>
                <a:ea typeface="+mn-ea"/>
                <a:cs typeface="+mn-cs"/>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17/02/2025 – 23/02/2025:</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Phát</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sinh</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A606.</a:t>
            </a:r>
          </a:p>
          <a:p>
            <a:pPr marL="380990" marR="0" lvl="0" indent="-380990" algn="l" defTabSz="91440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A873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APU), A889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APU), A357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IGV actuator), A619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thay</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sensor), .</a:t>
            </a:r>
          </a:p>
          <a:p>
            <a:pPr marL="380990" marR="0" lvl="0" indent="-380990" algn="l" defTabSz="1219170" rtl="0" eaLnBrk="1" fontAlgn="auto" latinLnBrk="0" hangingPunct="1">
              <a:lnSpc>
                <a:spcPct val="100000"/>
              </a:lnSpc>
              <a:spcBef>
                <a:spcPts val="0"/>
              </a:spcBef>
              <a:spcAft>
                <a:spcPts val="0"/>
              </a:spcAft>
              <a:buClrTx/>
              <a:buSzTx/>
              <a:buFont typeface="Times New Roman" panose="02020603050405020304" pitchFamily="18" charset="0"/>
              <a:buChar char="⁃"/>
              <a:tabLst/>
              <a:defRPr/>
            </a:pP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 APU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chờ</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6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A606, A893.</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BAD SMELL</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20/01. KH T/S 24/02.</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kế</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hoạch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tại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U/S,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A893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31/01.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Cần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Power Section.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định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23/02 (rob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A887).</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HỎNG HÓC APU TRONG TUẦN</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311162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4419601"/>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516073">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48794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05-Mar-24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48794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P-8524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07-Nov-24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A614</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287019261"/>
                  </a:ext>
                </a:extLst>
              </a:tr>
              <a:tr h="48794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48794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P-4708</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28-Feb-25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48794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P-5222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A359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48794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15-Mar-25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48794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48794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20-Mar-25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A887</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8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67"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867"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990575" marR="0" lvl="1"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A321: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990575" marR="0" lvl="1" indent="-38099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A350: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990575" marR="0" lvl="1" indent="-38099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Đội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bay B787: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Không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có</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rủi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ro</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ảnh</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hưởng</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8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thác</a:t>
            </a:r>
            <a:r>
              <a:rPr kumimoji="0" lang="en-US" sz="18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SỬA CHỮA APU TẠI SHOP</a:t>
            </a:r>
            <a:endPar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1163885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47</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52400" y="717498"/>
            <a:ext cx="10820399" cy="6750102"/>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(A503/05/06/08/10/11/16, A620/22/23/24, A886/887/895/898) /</a:t>
            </a:r>
            <a:r>
              <a:rPr lang="pt-BR" sz="1600" b="1" dirty="0">
                <a:solidFill>
                  <a:schemeClr val="accent1">
                    <a:lumMod val="75000"/>
                  </a:schemeClr>
                </a:solidFill>
                <a:cs typeface="Times New Roman" panose="02020603050405020304" pitchFamily="18" charset="0"/>
              </a:rPr>
              <a:t> SGN (A617, A509).</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A358, A397, A501, A507;</a:t>
            </a: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 A893;</a:t>
            </a: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A869;</a:t>
            </a:r>
          </a:p>
          <a:p>
            <a:pPr marL="12700" indent="0" algn="just">
              <a:buClr>
                <a:schemeClr val="dk1"/>
              </a:buClr>
              <a:buSzPts val="1100"/>
              <a:buNone/>
            </a:pPr>
            <a:r>
              <a:rPr lang="en-US" sz="1600" b="1" dirty="0">
                <a:cs typeface="Times New Roman" panose="02020603050405020304" pitchFamily="18" charset="0"/>
              </a:rPr>
              <a:t>I. A321: </a:t>
            </a: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1</a:t>
            </a:r>
            <a:r>
              <a:rPr lang="es-ES" sz="1600" dirty="0">
                <a:cs typeface="Times New Roman" panose="02020603050405020304" pitchFamily="18" charset="0"/>
                <a:sym typeface="Wingdings" panose="05000000000000000000" pitchFamily="2" charset="2"/>
              </a:rPr>
              <a:t>. </a:t>
            </a:r>
            <a:r>
              <a:rPr lang="es-ES" sz="1600" b="1" dirty="0">
                <a:solidFill>
                  <a:srgbClr val="FF0000"/>
                </a:solidFill>
                <a:cs typeface="Times New Roman" panose="02020603050405020304" pitchFamily="18" charset="0"/>
                <a:sym typeface="Wingdings" panose="05000000000000000000" pitchFamily="2" charset="2"/>
              </a:rPr>
              <a:t>A358: Y01, EA09 (16-22/02/2025): Ext 1 </a:t>
            </a:r>
            <a:r>
              <a:rPr lang="es-ES" sz="1600" b="1" dirty="0" err="1">
                <a:solidFill>
                  <a:srgbClr val="FF0000"/>
                </a:solidFill>
                <a:cs typeface="Times New Roman" panose="02020603050405020304" pitchFamily="18" charset="0"/>
                <a:sym typeface="Wingdings" panose="05000000000000000000" pitchFamily="2" charset="2"/>
              </a:rPr>
              <a:t>day</a:t>
            </a:r>
            <a:r>
              <a:rPr lang="es-ES" sz="1600" b="1" dirty="0">
                <a:solidFill>
                  <a:srgbClr val="FF0000"/>
                </a:solidFill>
                <a:cs typeface="Times New Roman" panose="02020603050405020304" pitchFamily="18" charset="0"/>
                <a:sym typeface="Wingdings" panose="05000000000000000000" pitchFamily="2" charset="2"/>
              </a:rPr>
              <a:t>.</a:t>
            </a: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   </a:t>
            </a:r>
            <a:r>
              <a:rPr lang="es-ES" sz="1600" dirty="0">
                <a:cs typeface="Times New Roman" panose="02020603050405020304" pitchFamily="18" charset="0"/>
                <a:sym typeface="Wingdings" panose="05000000000000000000" pitchFamily="2" charset="2"/>
              </a:rPr>
              <a:t>- 17/2: </a:t>
            </a:r>
            <a:r>
              <a:rPr lang="en-US" sz="1600" dirty="0">
                <a:cs typeface="Times New Roman" panose="02020603050405020304" pitchFamily="18" charset="0"/>
                <a:sym typeface="Wingdings" panose="05000000000000000000" pitchFamily="2" charset="2"/>
              </a:rPr>
              <a:t>Aft Fix Fairing on LH Pylon Cracked, </a:t>
            </a:r>
            <a:r>
              <a:rPr lang="en-US" sz="1600" dirty="0" err="1">
                <a:cs typeface="Times New Roman" panose="02020603050405020304" pitchFamily="18" charset="0"/>
                <a:sym typeface="Wingdings" panose="05000000000000000000" pitchFamily="2" charset="2"/>
              </a:rPr>
              <a:t>Cần</a:t>
            </a:r>
            <a:r>
              <a:rPr lang="en-US" sz="1600" dirty="0">
                <a:cs typeface="Times New Roman" panose="02020603050405020304" pitchFamily="18" charset="0"/>
                <a:sym typeface="Wingdings" panose="05000000000000000000" pitchFamily="2" charset="2"/>
              </a:rPr>
              <a:t>: PANEL P/N: D5451868720500 &amp; SPAR, P/N:D5451865020000</a:t>
            </a:r>
            <a:endParaRPr lang="es-E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r>
              <a:rPr lang="en-US" sz="1600" dirty="0">
                <a:cs typeface="Times New Roman" panose="02020603050405020304" pitchFamily="18" charset="0"/>
                <a:sym typeface="Wingdings" panose="05000000000000000000" pitchFamily="2" charset="2"/>
              </a:rPr>
              <a:t>    = &gt; A397 </a:t>
            </a:r>
            <a:r>
              <a:rPr lang="en-US" sz="1600" dirty="0" err="1">
                <a:cs typeface="Times New Roman" panose="02020603050405020304" pitchFamily="18" charset="0"/>
                <a:sym typeface="Wingdings" panose="05000000000000000000" pitchFamily="2" charset="2"/>
              </a:rPr>
              <a:t>vào</a:t>
            </a:r>
            <a:r>
              <a:rPr lang="en-US" sz="1600" dirty="0">
                <a:cs typeface="Times New Roman" panose="02020603050405020304" pitchFamily="18" charset="0"/>
                <a:sym typeface="Wingdings" panose="05000000000000000000" pitchFamily="2" charset="2"/>
              </a:rPr>
              <a:t> Check </a:t>
            </a:r>
            <a:r>
              <a:rPr lang="en-US" sz="1600" dirty="0" err="1">
                <a:cs typeface="Times New Roman" panose="02020603050405020304" pitchFamily="18" charset="0"/>
                <a:sym typeface="Wingdings" panose="05000000000000000000" pitchFamily="2" charset="2"/>
              </a:rPr>
              <a:t>sớm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sáng</a:t>
            </a:r>
            <a:r>
              <a:rPr lang="en-US" sz="1600" dirty="0">
                <a:cs typeface="Times New Roman" panose="02020603050405020304" pitchFamily="18" charset="0"/>
                <a:sym typeface="Wingdings" panose="05000000000000000000" pitchFamily="2" charset="2"/>
              </a:rPr>
              <a:t> 22/02 </a:t>
            </a:r>
            <a:r>
              <a:rPr lang="en-US" sz="1600" dirty="0" err="1">
                <a:cs typeface="Times New Roman" panose="02020603050405020304" pitchFamily="18" charset="0"/>
                <a:sym typeface="Wingdings" panose="05000000000000000000" pitchFamily="2" charset="2"/>
              </a:rPr>
              <a:t>tại</a:t>
            </a:r>
            <a:r>
              <a:rPr lang="en-US" sz="1600" dirty="0">
                <a:cs typeface="Times New Roman" panose="02020603050405020304" pitchFamily="18" charset="0"/>
                <a:sym typeface="Wingdings" panose="05000000000000000000" pitchFamily="2" charset="2"/>
              </a:rPr>
              <a:t> SGN </a:t>
            </a:r>
            <a:r>
              <a:rPr lang="en-US" sz="1600" dirty="0" err="1">
                <a:cs typeface="Times New Roman" panose="02020603050405020304" pitchFamily="18" charset="0"/>
                <a:sym typeface="Wingdings" panose="05000000000000000000" pitchFamily="2" charset="2"/>
              </a:rPr>
              <a:t>đê</a:t>
            </a:r>
            <a:r>
              <a:rPr lang="en-US" sz="1600" dirty="0">
                <a:cs typeface="Times New Roman" panose="02020603050405020304" pitchFamily="18" charset="0"/>
                <a:sym typeface="Wingdings" panose="05000000000000000000" pitchFamily="2" charset="2"/>
              </a:rPr>
              <a:t>̉ Rob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Aft Fix Fairing </a:t>
            </a:r>
            <a:r>
              <a:rPr lang="en-US" sz="1600" dirty="0" err="1">
                <a:cs typeface="Times New Roman" panose="02020603050405020304" pitchFamily="18" charset="0"/>
                <a:sym typeface="Wingdings" panose="05000000000000000000" pitchFamily="2" charset="2"/>
              </a:rPr>
              <a:t>cho</a:t>
            </a:r>
            <a:r>
              <a:rPr lang="en-US" sz="1600" dirty="0">
                <a:cs typeface="Times New Roman" panose="02020603050405020304" pitchFamily="18" charset="0"/>
                <a:sym typeface="Wingdings" panose="05000000000000000000" pitchFamily="2" charset="2"/>
              </a:rPr>
              <a:t> A358</a:t>
            </a:r>
          </a:p>
          <a:p>
            <a:pPr marL="12700" indent="0" algn="just">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sửa</a:t>
            </a:r>
            <a:r>
              <a:rPr lang="en-US" sz="1600" dirty="0">
                <a:cs typeface="Times New Roman" panose="02020603050405020304" pitchFamily="18" charset="0"/>
                <a:sym typeface="Wingdings" panose="05000000000000000000" pitchFamily="2" charset="2"/>
              </a:rPr>
              <a:t> Aft Fix Fairing hạ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A358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Avail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24/02 = &gt; Fairing </a:t>
            </a:r>
            <a:r>
              <a:rPr lang="en-US" sz="1600" dirty="0" err="1">
                <a:cs typeface="Times New Roman" panose="02020603050405020304" pitchFamily="18" charset="0"/>
                <a:sym typeface="Wingdings" panose="05000000000000000000" pitchFamily="2" charset="2"/>
              </a:rPr>
              <a:t>này</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sẽ </a:t>
            </a:r>
            <a:r>
              <a:rPr lang="en-US" sz="1600" dirty="0" err="1">
                <a:cs typeface="Times New Roman" panose="02020603050405020304" pitchFamily="18" charset="0"/>
                <a:sym typeface="Wingdings" panose="05000000000000000000" pitchFamily="2" charset="2"/>
              </a:rPr>
              <a:t>lắp</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lên</a:t>
            </a:r>
            <a:r>
              <a:rPr lang="en-US" sz="1600" dirty="0">
                <a:cs typeface="Times New Roman" panose="02020603050405020304" pitchFamily="18" charset="0"/>
                <a:sym typeface="Wingdings" panose="05000000000000000000" pitchFamily="2" charset="2"/>
              </a:rPr>
              <a:t> A397. </a:t>
            </a:r>
          </a:p>
          <a:p>
            <a:pPr marL="12700" indent="0" algn="just">
              <a:buSzPts val="1100"/>
              <a:buNone/>
            </a:pPr>
            <a:r>
              <a:rPr lang="en-US" sz="1600" dirty="0">
                <a:cs typeface="Times New Roman" panose="02020603050405020304" pitchFamily="18" charset="0"/>
                <a:sym typeface="Wingdings" panose="05000000000000000000" pitchFamily="2" charset="2"/>
              </a:rPr>
              <a:t>  - 23/2: </a:t>
            </a:r>
            <a:r>
              <a:rPr lang="en-US" sz="1600" dirty="0" err="1">
                <a:cs typeface="Times New Roman" panose="02020603050405020304" pitchFamily="18" charset="0"/>
                <a:sym typeface="Wingdings" panose="05000000000000000000" pitchFamily="2" charset="2"/>
              </a:rPr>
              <a:t>Phát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sinh</a:t>
            </a:r>
            <a:r>
              <a:rPr lang="en-US" sz="1600" dirty="0">
                <a:cs typeface="Times New Roman" panose="02020603050405020304" pitchFamily="18" charset="0"/>
                <a:sym typeface="Wingdings" panose="05000000000000000000" pitchFamily="2" charset="2"/>
              </a:rPr>
              <a:t> ENG 1 BLEED ABNORMAL PRESS, Sensor P/N: 341F010000 </a:t>
            </a:r>
            <a:r>
              <a:rPr lang="en-US" sz="1600" dirty="0" err="1">
                <a:cs typeface="Times New Roman" panose="02020603050405020304" pitchFamily="18" charset="0"/>
                <a:sym typeface="Wingdings" panose="05000000000000000000" pitchFamily="2" charset="2"/>
              </a:rPr>
              <a:t>từ</a:t>
            </a:r>
            <a:r>
              <a:rPr lang="en-US" sz="1600" dirty="0">
                <a:cs typeface="Times New Roman" panose="02020603050405020304" pitchFamily="18" charset="0"/>
                <a:sym typeface="Wingdings" panose="05000000000000000000" pitchFamily="2" charset="2"/>
              </a:rPr>
              <a:t> DAD </a:t>
            </a:r>
            <a:r>
              <a:rPr lang="en-US" sz="1600" dirty="0" err="1">
                <a:cs typeface="Times New Roman" panose="02020603050405020304" pitchFamily="18" charset="0"/>
                <a:sym typeface="Wingdings" panose="05000000000000000000" pitchFamily="2" charset="2"/>
              </a:rPr>
              <a:t>ra</a:t>
            </a:r>
            <a:r>
              <a:rPr lang="en-US" sz="1600" dirty="0">
                <a:cs typeface="Times New Roman" panose="02020603050405020304" pitchFamily="18" charset="0"/>
                <a:sym typeface="Wingdings" panose="05000000000000000000" pitchFamily="2" charset="2"/>
              </a:rPr>
              <a:t> HAN,  A358 CRS 20h, 23/2.</a:t>
            </a: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2</a:t>
            </a:r>
            <a:r>
              <a:rPr lang="es-ES" sz="1600" dirty="0">
                <a:cs typeface="Times New Roman" panose="02020603050405020304" pitchFamily="18" charset="0"/>
                <a:sym typeface="Wingdings" panose="05000000000000000000" pitchFamily="2" charset="2"/>
              </a:rPr>
              <a:t>. </a:t>
            </a:r>
            <a:r>
              <a:rPr lang="en-US" sz="1600" b="1" dirty="0">
                <a:solidFill>
                  <a:srgbClr val="FF0000"/>
                </a:solidFill>
                <a:cs typeface="Times New Roman" panose="02020603050405020304" pitchFamily="18" charset="0"/>
                <a:sym typeface="Wingdings" panose="05000000000000000000" pitchFamily="2" charset="2"/>
              </a:rPr>
              <a:t>A507_HAN_REMAIN Y01, ENGCHG, CHỐNG RUNG: 20-27/02/25: On sked</a:t>
            </a:r>
            <a:r>
              <a:rPr lang="es-ES" sz="1600" b="1" dirty="0">
                <a:solidFill>
                  <a:srgbClr val="FF0000"/>
                </a:solidFill>
                <a:cs typeface="Times New Roman" panose="02020603050405020304" pitchFamily="18" charset="0"/>
                <a:sym typeface="Wingdings" panose="05000000000000000000" pitchFamily="2" charset="2"/>
              </a:rPr>
              <a:t>.</a:t>
            </a: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3. A501: EC06+EC01+C03+Y06+EA04-EA10 (27/11-28/02, EXT 15/03):</a:t>
            </a: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Tàu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chơ</a:t>
            </a:r>
            <a:r>
              <a:rPr lang="en-US" sz="1600" dirty="0">
                <a:cs typeface="Times New Roman" panose="02020603050405020304" pitchFamily="18" charset="0"/>
                <a:sym typeface="Wingdings" panose="05000000000000000000" pitchFamily="2" charset="2"/>
              </a:rPr>
              <a:t>̀ 2 ENG </a:t>
            </a:r>
            <a:r>
              <a:rPr lang="en-US" sz="1600" dirty="0" err="1">
                <a:cs typeface="Times New Roman" panose="02020603050405020304" pitchFamily="18" charset="0"/>
                <a:sym typeface="Wingdings" panose="05000000000000000000" pitchFamily="2" charset="2"/>
              </a:rPr>
              <a:t>vê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thay</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theo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hoạch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02 ENG </a:t>
            </a:r>
            <a:r>
              <a:rPr lang="en-US" sz="1600" dirty="0" err="1">
                <a:cs typeface="Times New Roman" panose="02020603050405020304" pitchFamily="18" charset="0"/>
                <a:sym typeface="Wingdings" panose="05000000000000000000" pitchFamily="2" charset="2"/>
              </a:rPr>
              <a:t>vê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trước</a:t>
            </a:r>
            <a:r>
              <a:rPr lang="en-US" sz="1600" dirty="0">
                <a:cs typeface="Times New Roman" panose="02020603050405020304" pitchFamily="18" charset="0"/>
                <a:sym typeface="Wingdings" panose="05000000000000000000" pitchFamily="2" charset="2"/>
              </a:rPr>
              <a:t> 12/3)</a:t>
            </a:r>
          </a:p>
          <a:p>
            <a:pPr marL="12700" indent="0" algn="just">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Cần</a:t>
            </a:r>
            <a:r>
              <a:rPr lang="en-US" sz="1600" dirty="0">
                <a:cs typeface="Times New Roman" panose="02020603050405020304" pitchFamily="18" charset="0"/>
                <a:sym typeface="Wingdings" panose="05000000000000000000" pitchFamily="2" charset="2"/>
              </a:rPr>
              <a:t> flight Test </a:t>
            </a:r>
            <a:r>
              <a:rPr lang="en-US" sz="1600" dirty="0" err="1">
                <a:cs typeface="Times New Roman" panose="02020603050405020304" pitchFamily="18" charset="0"/>
                <a:sym typeface="Wingdings" panose="05000000000000000000" pitchFamily="2" charset="2"/>
              </a:rPr>
              <a:t>sau</a:t>
            </a:r>
            <a:r>
              <a:rPr lang="en-US" sz="1600" dirty="0">
                <a:cs typeface="Times New Roman" panose="02020603050405020304" pitchFamily="18" charset="0"/>
                <a:sym typeface="Wingdings" panose="05000000000000000000" pitchFamily="2" charset="2"/>
              </a:rPr>
              <a:t> Check</a:t>
            </a: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3. A397: EC01+ EC02+ EA20 (22/02-09/03): On sked</a:t>
            </a:r>
          </a:p>
          <a:p>
            <a:pPr marL="12700" indent="0" algn="just">
              <a:buSzPts val="1100"/>
              <a:buNone/>
            </a:pPr>
            <a:r>
              <a:rPr lang="en-US" sz="1600" b="1" dirty="0">
                <a:solidFill>
                  <a:srgbClr val="FF0000"/>
                </a:solidFill>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Tàu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vào</a:t>
            </a:r>
            <a:r>
              <a:rPr lang="en-US" sz="1600" dirty="0">
                <a:cs typeface="Times New Roman" panose="02020603050405020304" pitchFamily="18" charset="0"/>
                <a:sym typeface="Wingdings" panose="05000000000000000000" pitchFamily="2" charset="2"/>
              </a:rPr>
              <a:t> Check </a:t>
            </a:r>
            <a:r>
              <a:rPr lang="en-US" sz="1600" dirty="0" err="1">
                <a:cs typeface="Times New Roman" panose="02020603050405020304" pitchFamily="18" charset="0"/>
                <a:sym typeface="Wingdings" panose="05000000000000000000" pitchFamily="2" charset="2"/>
              </a:rPr>
              <a:t>sớm</a:t>
            </a:r>
            <a:r>
              <a:rPr lang="en-US" sz="1600" dirty="0">
                <a:cs typeface="Times New Roman" panose="02020603050405020304" pitchFamily="18" charset="0"/>
                <a:sym typeface="Wingdings" panose="05000000000000000000" pitchFamily="2" charset="2"/>
              </a:rPr>
              <a:t> Rob Aft Fix Fairing </a:t>
            </a:r>
            <a:r>
              <a:rPr lang="en-US" sz="1600" dirty="0" err="1">
                <a:cs typeface="Times New Roman" panose="02020603050405020304" pitchFamily="18" charset="0"/>
                <a:sym typeface="Wingdings" panose="05000000000000000000" pitchFamily="2" charset="2"/>
              </a:rPr>
              <a:t>cho</a:t>
            </a:r>
            <a:r>
              <a:rPr lang="en-US" sz="1600" dirty="0">
                <a:cs typeface="Times New Roman" panose="02020603050405020304" pitchFamily="18" charset="0"/>
                <a:sym typeface="Wingdings" panose="05000000000000000000" pitchFamily="2" charset="2"/>
              </a:rPr>
              <a:t> A358 = &gt; Đ/n CƯVT </a:t>
            </a:r>
            <a:r>
              <a:rPr lang="en-US" sz="1600" dirty="0" err="1">
                <a:cs typeface="Times New Roman" panose="02020603050405020304" pitchFamily="18" charset="0"/>
                <a:sym typeface="Wingdings" panose="05000000000000000000" pitchFamily="2" charset="2"/>
              </a:rPr>
              <a:t>cung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ứng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sửa</a:t>
            </a:r>
            <a:r>
              <a:rPr lang="en-US" sz="1600" dirty="0">
                <a:cs typeface="Times New Roman" panose="02020603050405020304" pitchFamily="18" charset="0"/>
                <a:sym typeface="Wingdings" panose="05000000000000000000" pitchFamily="2" charset="2"/>
              </a:rPr>
              <a:t> Aft fix fairing </a:t>
            </a:r>
            <a:r>
              <a:rPr lang="en-US" sz="1600" dirty="0" err="1">
                <a:cs typeface="Times New Roman" panose="02020603050405020304" pitchFamily="18" charset="0"/>
                <a:sym typeface="Wingdings" panose="05000000000000000000" pitchFamily="2" charset="2"/>
              </a:rPr>
              <a:t>sớm</a:t>
            </a:r>
            <a:r>
              <a:rPr lang="en-US" sz="1600" dirty="0">
                <a:cs typeface="Times New Roman" panose="02020603050405020304" pitchFamily="18" charset="0"/>
                <a:sym typeface="Wingdings" panose="05000000000000000000" pitchFamily="2" charset="2"/>
              </a:rPr>
              <a:t> Cho A397 </a:t>
            </a:r>
            <a:r>
              <a:rPr lang="en-US" sz="1600" dirty="0" err="1">
                <a:cs typeface="Times New Roman" panose="02020603050405020304" pitchFamily="18" charset="0"/>
                <a:sym typeface="Wingdings" panose="05000000000000000000" pitchFamily="2" charset="2"/>
              </a:rPr>
              <a:t>ra</a:t>
            </a:r>
            <a:r>
              <a:rPr lang="en-US" sz="1600" dirty="0">
                <a:cs typeface="Times New Roman" panose="02020603050405020304" pitchFamily="18" charset="0"/>
                <a:sym typeface="Wingdings" panose="05000000000000000000" pitchFamily="2" charset="2"/>
              </a:rPr>
              <a:t> Check </a:t>
            </a:r>
            <a:r>
              <a:rPr lang="en-US" sz="1600" dirty="0" err="1">
                <a:cs typeface="Times New Roman" panose="02020603050405020304" pitchFamily="18" charset="0"/>
                <a:sym typeface="Wingdings" panose="05000000000000000000" pitchFamily="2" charset="2"/>
              </a:rPr>
              <a:t>theo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hoạch</a:t>
            </a:r>
            <a:r>
              <a:rPr lang="en-US" sz="1600" dirty="0">
                <a:cs typeface="Times New Roman" panose="02020603050405020304" pitchFamily="18" charset="0"/>
                <a:sym typeface="Wingdings" panose="05000000000000000000" pitchFamily="2" charset="2"/>
              </a:rPr>
              <a:t>.</a:t>
            </a: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684113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48</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57912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nSpc>
                <a:spcPct val="120000"/>
              </a:lnSpc>
              <a:buSzPts val="1100"/>
              <a:buFont typeface="Arial" panose="020B0604020202020204" pitchFamily="34" charset="0"/>
              <a:buNone/>
            </a:pPr>
            <a:r>
              <a:rPr lang="en-US" sz="1600" b="1" dirty="0">
                <a:cs typeface="Times New Roman" panose="02020603050405020304" pitchFamily="18" charset="0"/>
              </a:rPr>
              <a:t>II. A350:</a:t>
            </a:r>
            <a:r>
              <a:rPr lang="es-ES" sz="1600" i="1" dirty="0">
                <a:cs typeface="Times New Roman" panose="02020603050405020304" pitchFamily="18" charset="0"/>
                <a:sym typeface="Wingdings" panose="05000000000000000000" pitchFamily="2" charset="2"/>
              </a:rPr>
              <a:t> </a:t>
            </a:r>
          </a:p>
          <a:p>
            <a:pPr marL="12700" indent="0" algn="just">
              <a:buSzPts val="1100"/>
              <a:buNone/>
            </a:pPr>
            <a:r>
              <a:rPr lang="es-ES" sz="1600" b="1" dirty="0">
                <a:solidFill>
                  <a:srgbClr val="FF0000"/>
                </a:solidFill>
                <a:cs typeface="Times New Roman" panose="02020603050405020304" pitchFamily="18" charset="0"/>
                <a:sym typeface="Wingdings" panose="05000000000000000000" pitchFamily="2" charset="2"/>
              </a:rPr>
              <a:t>1</a:t>
            </a:r>
            <a:r>
              <a:rPr lang="es-ES" sz="1600" dirty="0">
                <a:cs typeface="Times New Roman" panose="02020603050405020304" pitchFamily="18" charset="0"/>
                <a:sym typeface="Wingdings" panose="05000000000000000000" pitchFamily="2" charset="2"/>
              </a:rPr>
              <a:t>. </a:t>
            </a:r>
            <a:r>
              <a:rPr lang="en-US" sz="1600" b="1" dirty="0">
                <a:solidFill>
                  <a:srgbClr val="FF0000"/>
                </a:solidFill>
                <a:cs typeface="Times New Roman" panose="02020603050405020304" pitchFamily="18" charset="0"/>
                <a:sym typeface="Wingdings" panose="05000000000000000000" pitchFamily="2" charset="2"/>
              </a:rPr>
              <a:t>A893_HAN_A07 (23-25/02): On sked.</a:t>
            </a:r>
          </a:p>
          <a:p>
            <a:pPr marL="12700" indent="0" algn="just">
              <a:buSzPts val="1100"/>
              <a:buNone/>
            </a:pPr>
            <a:endParaRPr lang="es-ES" sz="1600"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Font typeface="Arial" panose="020B0604020202020204" pitchFamily="34" charset="0"/>
              <a:buNone/>
            </a:pPr>
            <a:r>
              <a:rPr lang="en-US" sz="1600" b="1" dirty="0">
                <a:cs typeface="Times New Roman" panose="02020603050405020304" pitchFamily="18" charset="0"/>
              </a:rPr>
              <a:t>III. B787: </a:t>
            </a:r>
          </a:p>
          <a:p>
            <a:pPr marL="12700" indent="0">
              <a:lnSpc>
                <a:spcPct val="120000"/>
              </a:lnSpc>
              <a:spcBef>
                <a:spcPts val="600"/>
              </a:spcBef>
              <a:buSzPts val="1100"/>
              <a:buNone/>
            </a:pPr>
            <a:r>
              <a:rPr lang="es-ES" sz="1600" b="1" dirty="0">
                <a:solidFill>
                  <a:srgbClr val="FF0000"/>
                </a:solidFill>
                <a:cs typeface="Times New Roman" panose="02020603050405020304" pitchFamily="18" charset="0"/>
                <a:sym typeface="Wingdings" panose="05000000000000000000" pitchFamily="2" charset="2"/>
              </a:rPr>
              <a:t>1. A869: A05 (22/02-24/02): On </a:t>
            </a:r>
            <a:r>
              <a:rPr lang="es-ES" sz="1600" b="1" dirty="0" err="1">
                <a:solidFill>
                  <a:srgbClr val="FF0000"/>
                </a:solidFill>
                <a:cs typeface="Times New Roman" panose="02020603050405020304" pitchFamily="18" charset="0"/>
                <a:sym typeface="Wingdings" panose="05000000000000000000" pitchFamily="2" charset="2"/>
              </a:rPr>
              <a:t>sked</a:t>
            </a:r>
            <a:r>
              <a:rPr lang="es-ES" sz="1600" b="1" dirty="0">
                <a:solidFill>
                  <a:srgbClr val="FF0000"/>
                </a:solidFill>
                <a:cs typeface="Times New Roman" panose="02020603050405020304" pitchFamily="18" charset="0"/>
                <a:sym typeface="Wingdings" panose="05000000000000000000" pitchFamily="2" charset="2"/>
              </a:rPr>
              <a:t>.</a:t>
            </a:r>
            <a:endParaRPr lang="es-ES" sz="1600" b="1" dirty="0">
              <a:cs typeface="Times New Roman" panose="02020603050405020304" pitchFamily="18" charset="0"/>
              <a:sym typeface="Wingdings" panose="05000000000000000000" pitchFamily="2" charset="2"/>
            </a:endParaRPr>
          </a:p>
          <a:p>
            <a:pPr marL="12700" indent="0">
              <a:lnSpc>
                <a:spcPct val="120000"/>
              </a:lnSpc>
              <a:spcBef>
                <a:spcPts val="600"/>
              </a:spcBef>
              <a:buSzPts val="1100"/>
              <a:buNone/>
            </a:pPr>
            <a:endParaRPr lang="es-ES" sz="1600" b="1" dirty="0">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a:cs typeface="Times New Roman" panose="02020603050405020304" pitchFamily="18" charset="0"/>
                <a:sym typeface="Wingdings" panose="05000000000000000000" pitchFamily="2" charset="2"/>
              </a:rPr>
              <a:t>IV. ATR72</a:t>
            </a:r>
          </a:p>
          <a:p>
            <a:pPr marL="12700" indent="0" algn="just">
              <a:buSzPts val="1100"/>
              <a:buFont typeface="Arial" panose="020B0604020202020204" pitchFamily="34" charset="0"/>
              <a:buNone/>
            </a:pPr>
            <a:r>
              <a:rPr lang="es-ES" sz="1600" b="1" dirty="0">
                <a:solidFill>
                  <a:srgbClr val="FF0000"/>
                </a:solidFill>
                <a:cs typeface="Times New Roman" panose="02020603050405020304" pitchFamily="18" charset="0"/>
                <a:sym typeface="Wingdings" panose="05000000000000000000" pitchFamily="2" charset="2"/>
              </a:rPr>
              <a:t>Nil</a:t>
            </a:r>
          </a:p>
          <a:p>
            <a:pPr marL="12700" indent="0" algn="just">
              <a:buSzPts val="1100"/>
              <a:buNone/>
            </a:pPr>
            <a:endParaRPr lang="es-ES" sz="1400" dirty="0">
              <a:cs typeface="Times New Roman" panose="02020603050405020304" pitchFamily="18" charset="0"/>
              <a:sym typeface="Wingdings" panose="05000000000000000000" pitchFamily="2" charset="2"/>
            </a:endParaRPr>
          </a:p>
          <a:p>
            <a:pPr marL="12700" indent="0" algn="just">
              <a:buSzPts val="1100"/>
              <a:buNone/>
            </a:pPr>
            <a:endParaRPr lang="es-ES" sz="14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endParaRPr lang="en-US" sz="1400" dirty="0">
              <a:cs typeface="Times New Roman" panose="02020603050405020304" pitchFamily="18" charset="0"/>
              <a:sym typeface="Wingdings" panose="05000000000000000000" pitchFamily="2" charset="2"/>
            </a:endParaRPr>
          </a:p>
          <a:p>
            <a:pPr marL="12700" indent="0">
              <a:buSzPts val="1100"/>
              <a:buFont typeface="Arial" panose="020B0604020202020204" pitchFamily="34" charset="0"/>
              <a:buNone/>
            </a:pPr>
            <a:endParaRPr lang="es-ES" sz="2100" b="1" dirty="0">
              <a:solidFill>
                <a:srgbClr val="FF0000"/>
              </a:solidFill>
              <a:cs typeface="Times New Roman" panose="02020603050405020304" pitchFamily="18" charset="0"/>
              <a:sym typeface="Wingdings" panose="05000000000000000000" pitchFamily="2" charset="2"/>
            </a:endParaRP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42735402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49</a:t>
            </a:fld>
            <a:endParaRPr dirty="0"/>
          </a:p>
        </p:txBody>
      </p:sp>
      <p:sp>
        <p:nvSpPr>
          <p:cNvPr id="76" name="Google Shape;76;p2"/>
          <p:cNvSpPr txBox="1">
            <a:spLocks noGrp="1"/>
          </p:cNvSpPr>
          <p:nvPr>
            <p:ph type="title"/>
          </p:nvPr>
        </p:nvSpPr>
        <p:spPr>
          <a:xfrm>
            <a:off x="918210" y="40462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B9199712-3F74-CE43-A89F-22D9CF338BBE}"/>
              </a:ext>
            </a:extLst>
          </p:cNvPr>
          <p:cNvSpPr txBox="1">
            <a:spLocks/>
          </p:cNvSpPr>
          <p:nvPr/>
        </p:nvSpPr>
        <p:spPr>
          <a:xfrm>
            <a:off x="918210" y="990600"/>
            <a:ext cx="10744201" cy="5623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endParaRPr lang="es-E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Font typeface="Arial" panose="020B0604020202020204" pitchFamily="34" charset="0"/>
              <a:buNone/>
            </a:pPr>
            <a:r>
              <a:rPr lang="es-ES" sz="1600" b="1" dirty="0">
                <a:cs typeface="Times New Roman" panose="02020603050405020304" pitchFamily="18" charset="0"/>
                <a:sym typeface="Wingdings" panose="05000000000000000000" pitchFamily="2" charset="2"/>
              </a:rPr>
              <a:t>V. BQDB:</a:t>
            </a:r>
          </a:p>
          <a:p>
            <a:pPr marL="355600" indent="-342900" algn="just">
              <a:buSzPts val="1100"/>
              <a:buFont typeface="Arial" panose="020B0604020202020204" pitchFamily="34" charset="0"/>
              <a:buAutoNum type="arabicPeriod"/>
            </a:pPr>
            <a:r>
              <a:rPr lang="es-ES" sz="1600" b="1" dirty="0" err="1">
                <a:cs typeface="Times New Roman" panose="02020603050405020304" pitchFamily="18" charset="0"/>
                <a:sym typeface="Wingdings" panose="05000000000000000000" pitchFamily="2" charset="2"/>
              </a:rPr>
              <a:t>Tăng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cường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ra</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soát</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cập</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nhật</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công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tác</a:t>
            </a:r>
            <a:r>
              <a:rPr lang="es-ES" sz="1600" b="1" dirty="0">
                <a:cs typeface="Times New Roman" panose="02020603050405020304" pitchFamily="18" charset="0"/>
                <a:sym typeface="Wingdings" panose="05000000000000000000" pitchFamily="2" charset="2"/>
              </a:rPr>
              <a:t> BQDB: </a:t>
            </a:r>
          </a:p>
          <a:p>
            <a:pPr marL="12700" indent="0" algn="just">
              <a:buSzPts val="1100"/>
              <a:buNone/>
            </a:pP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miền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Bắc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đang</a:t>
            </a:r>
            <a:r>
              <a:rPr lang="es-ES" sz="1600" dirty="0">
                <a:cs typeface="Times New Roman" panose="02020603050405020304" pitchFamily="18" charset="0"/>
                <a:sym typeface="Wingdings" panose="05000000000000000000" pitchFamily="2" charset="2"/>
              </a:rPr>
              <a:t> ở </a:t>
            </a:r>
            <a:r>
              <a:rPr lang="es-ES" sz="1600" dirty="0" err="1">
                <a:cs typeface="Times New Roman" panose="02020603050405020304" pitchFamily="18" charset="0"/>
                <a:sym typeface="Wingdings" panose="05000000000000000000" pitchFamily="2" charset="2"/>
              </a:rPr>
              <a:t>giai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đoạn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nồm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ẩm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mạnh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ảnh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hưởng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tới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thiết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cấu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trúc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bay</a:t>
            </a:r>
            <a:r>
              <a:rPr lang="es-ES" sz="1600" dirty="0">
                <a:cs typeface="Times New Roman" panose="02020603050405020304" pitchFamily="18" charset="0"/>
                <a:sym typeface="Wingdings" panose="05000000000000000000" pitchFamily="2" charset="2"/>
              </a:rPr>
              <a:t> = &gt; Đ/n VAECO: </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Thường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xuyên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soát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kiểm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tình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BQDB, </a:t>
            </a:r>
            <a:r>
              <a:rPr lang="es-ES" sz="1600" dirty="0" err="1">
                <a:cs typeface="Times New Roman" panose="02020603050405020304" pitchFamily="18" charset="0"/>
                <a:sym typeface="Wingdings" panose="05000000000000000000" pitchFamily="2" charset="2"/>
              </a:rPr>
              <a:t>hạn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nước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bụi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bẩn</a:t>
            </a:r>
            <a:r>
              <a:rPr lang="es-ES" sz="1600" dirty="0">
                <a:cs typeface="Times New Roman" panose="02020603050405020304" pitchFamily="18" charset="0"/>
                <a:sym typeface="Wingdings" panose="05000000000000000000" pitchFamily="2" charset="2"/>
              </a:rPr>
              <a:t> ở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gây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ăn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mòn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hóc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thiết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bi</a:t>
            </a:r>
            <a:r>
              <a:rPr lang="es-ES" sz="1600" dirty="0">
                <a:cs typeface="Times New Roman" panose="02020603050405020304" pitchFamily="18" charset="0"/>
                <a:sym typeface="Wingdings" panose="05000000000000000000" pitchFamily="2" charset="2"/>
              </a:rPr>
              <a:t>̣,</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Xem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xét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giải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pháp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đặt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hút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ầm</a:t>
            </a:r>
            <a:r>
              <a:rPr lang="es-ES" sz="1600" dirty="0">
                <a:cs typeface="Times New Roman" panose="02020603050405020304" pitchFamily="18" charset="0"/>
                <a:sym typeface="Wingdings" panose="05000000000000000000" pitchFamily="2" charset="2"/>
              </a:rPr>
              <a:t> ở </a:t>
            </a:r>
            <a:r>
              <a:rPr lang="es-ES" sz="1600" dirty="0" err="1">
                <a:cs typeface="Times New Roman" panose="02020603050405020304" pitchFamily="18" charset="0"/>
                <a:sym typeface="Wingdings" panose="05000000000000000000" pitchFamily="2" charset="2"/>
              </a:rPr>
              <a:t>khu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buồng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của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BQDB </a:t>
            </a:r>
            <a:r>
              <a:rPr lang="es-ES" sz="1600" dirty="0" err="1">
                <a:cs typeface="Times New Roman" panose="02020603050405020304" pitchFamily="18" charset="0"/>
                <a:sym typeface="Wingdings" panose="05000000000000000000" pitchFamily="2" charset="2"/>
              </a:rPr>
              <a:t>dài</a:t>
            </a:r>
            <a:r>
              <a:rPr lang="es-ES" sz="1600" dirty="0">
                <a:cs typeface="Times New Roman" panose="02020603050405020304" pitchFamily="18" charset="0"/>
                <a:sym typeface="Wingdings" panose="05000000000000000000" pitchFamily="2" charset="2"/>
              </a:rPr>
              <a:t>.</a:t>
            </a:r>
          </a:p>
          <a:p>
            <a:pPr marL="50800" indent="0">
              <a:buFont typeface="Arial" panose="020B0604020202020204" pitchFamily="34" charset="0"/>
              <a:buNone/>
            </a:pPr>
            <a:endParaRPr lang="x-none" dirty="0"/>
          </a:p>
        </p:txBody>
      </p:sp>
    </p:spTree>
    <p:extLst>
      <p:ext uri="{BB962C8B-B14F-4D97-AF65-F5344CB8AC3E}">
        <p14:creationId xmlns:p14="http://schemas.microsoft.com/office/powerpoint/2010/main" val="16621965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3" name="Table 2"/>
          <p:cNvGraphicFramePr>
            <a:graphicFrameLocks noGrp="1"/>
          </p:cNvGraphicFramePr>
          <p:nvPr/>
        </p:nvGraphicFramePr>
        <p:xfrm>
          <a:off x="304798" y="1066800"/>
          <a:ext cx="11506198" cy="5409454"/>
        </p:xfrm>
        <a:graphic>
          <a:graphicData uri="http://schemas.openxmlformats.org/drawingml/2006/table">
            <a:tbl>
              <a:tblPr/>
              <a:tblGrid>
                <a:gridCol w="347457">
                  <a:extLst>
                    <a:ext uri="{9D8B030D-6E8A-4147-A177-3AD203B41FA5}">
                      <a16:colId xmlns:a16="http://schemas.microsoft.com/office/drawing/2014/main" val="3878773624"/>
                    </a:ext>
                  </a:extLst>
                </a:gridCol>
                <a:gridCol w="2352022">
                  <a:extLst>
                    <a:ext uri="{9D8B030D-6E8A-4147-A177-3AD203B41FA5}">
                      <a16:colId xmlns:a16="http://schemas.microsoft.com/office/drawing/2014/main" val="2456889613"/>
                    </a:ext>
                  </a:extLst>
                </a:gridCol>
                <a:gridCol w="534551">
                  <a:extLst>
                    <a:ext uri="{9D8B030D-6E8A-4147-A177-3AD203B41FA5}">
                      <a16:colId xmlns:a16="http://schemas.microsoft.com/office/drawing/2014/main" val="2411750360"/>
                    </a:ext>
                  </a:extLst>
                </a:gridCol>
                <a:gridCol w="574641">
                  <a:extLst>
                    <a:ext uri="{9D8B030D-6E8A-4147-A177-3AD203B41FA5}">
                      <a16:colId xmlns:a16="http://schemas.microsoft.com/office/drawing/2014/main" val="4090740622"/>
                    </a:ext>
                  </a:extLst>
                </a:gridCol>
                <a:gridCol w="547914">
                  <a:extLst>
                    <a:ext uri="{9D8B030D-6E8A-4147-A177-3AD203B41FA5}">
                      <a16:colId xmlns:a16="http://schemas.microsoft.com/office/drawing/2014/main" val="311582560"/>
                    </a:ext>
                  </a:extLst>
                </a:gridCol>
                <a:gridCol w="588006">
                  <a:extLst>
                    <a:ext uri="{9D8B030D-6E8A-4147-A177-3AD203B41FA5}">
                      <a16:colId xmlns:a16="http://schemas.microsoft.com/office/drawing/2014/main" val="1228858818"/>
                    </a:ext>
                  </a:extLst>
                </a:gridCol>
                <a:gridCol w="534551">
                  <a:extLst>
                    <a:ext uri="{9D8B030D-6E8A-4147-A177-3AD203B41FA5}">
                      <a16:colId xmlns:a16="http://schemas.microsoft.com/office/drawing/2014/main" val="3509750634"/>
                    </a:ext>
                  </a:extLst>
                </a:gridCol>
                <a:gridCol w="507822">
                  <a:extLst>
                    <a:ext uri="{9D8B030D-6E8A-4147-A177-3AD203B41FA5}">
                      <a16:colId xmlns:a16="http://schemas.microsoft.com/office/drawing/2014/main" val="589597239"/>
                    </a:ext>
                  </a:extLst>
                </a:gridCol>
                <a:gridCol w="561278">
                  <a:extLst>
                    <a:ext uri="{9D8B030D-6E8A-4147-A177-3AD203B41FA5}">
                      <a16:colId xmlns:a16="http://schemas.microsoft.com/office/drawing/2014/main" val="665601880"/>
                    </a:ext>
                  </a:extLst>
                </a:gridCol>
                <a:gridCol w="534551">
                  <a:extLst>
                    <a:ext uri="{9D8B030D-6E8A-4147-A177-3AD203B41FA5}">
                      <a16:colId xmlns:a16="http://schemas.microsoft.com/office/drawing/2014/main" val="37521736"/>
                    </a:ext>
                  </a:extLst>
                </a:gridCol>
                <a:gridCol w="547914">
                  <a:extLst>
                    <a:ext uri="{9D8B030D-6E8A-4147-A177-3AD203B41FA5}">
                      <a16:colId xmlns:a16="http://schemas.microsoft.com/office/drawing/2014/main" val="2064365856"/>
                    </a:ext>
                  </a:extLst>
                </a:gridCol>
                <a:gridCol w="561278">
                  <a:extLst>
                    <a:ext uri="{9D8B030D-6E8A-4147-A177-3AD203B41FA5}">
                      <a16:colId xmlns:a16="http://schemas.microsoft.com/office/drawing/2014/main" val="1481044988"/>
                    </a:ext>
                  </a:extLst>
                </a:gridCol>
                <a:gridCol w="547914">
                  <a:extLst>
                    <a:ext uri="{9D8B030D-6E8A-4147-A177-3AD203B41FA5}">
                      <a16:colId xmlns:a16="http://schemas.microsoft.com/office/drawing/2014/main" val="357991349"/>
                    </a:ext>
                  </a:extLst>
                </a:gridCol>
                <a:gridCol w="2766299">
                  <a:extLst>
                    <a:ext uri="{9D8B030D-6E8A-4147-A177-3AD203B41FA5}">
                      <a16:colId xmlns:a16="http://schemas.microsoft.com/office/drawing/2014/main" val="468115929"/>
                    </a:ext>
                  </a:extLst>
                </a:gridCol>
              </a:tblGrid>
              <a:tr h="458964">
                <a:tc gridSpan="14">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23/02)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60005458"/>
                  </a:ext>
                </a:extLst>
              </a:tr>
              <a:tr h="556319">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393159515"/>
                  </a:ext>
                </a:extLst>
              </a:tr>
              <a:tr h="856731">
                <a:tc>
                  <a:txBody>
                    <a:bodyPr/>
                    <a:lstStyle/>
                    <a:p>
                      <a:pPr algn="ctr" fontAlgn="ctr"/>
                      <a:r>
                        <a:rPr lang="en-US" sz="1200" b="1"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14.50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13.00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FF0000"/>
                          </a:solidFill>
                          <a:effectLst/>
                          <a:latin typeface="Times New Roman" panose="02020603050405020304" pitchFamily="18" charset="0"/>
                        </a:rPr>
                        <a:t>- 04/2025: </a:t>
                      </a:r>
                      <a:r>
                        <a:rPr lang="en-US" sz="1200" b="0" i="0" u="none" strike="noStrike" dirty="0" err="1">
                          <a:solidFill>
                            <a:srgbClr val="FF0000"/>
                          </a:solidFill>
                          <a:effectLst/>
                          <a:latin typeface="Times New Roman" panose="02020603050405020304" pitchFamily="18" charset="0"/>
                        </a:rPr>
                        <a:t>thêm</a:t>
                      </a:r>
                      <a:r>
                        <a:rPr lang="en-US" sz="1200" b="0" i="0" u="none" strike="noStrike" baseline="0" dirty="0">
                          <a:solidFill>
                            <a:srgbClr val="FF0000"/>
                          </a:solidFill>
                          <a:effectLst/>
                          <a:latin typeface="Times New Roman" panose="02020603050405020304" pitchFamily="18" charset="0"/>
                        </a:rPr>
                        <a:t> 0.5 </a:t>
                      </a:r>
                      <a:r>
                        <a:rPr lang="en-US" sz="1200" b="0" i="0" u="none" strike="noStrike" baseline="0" dirty="0" err="1">
                          <a:solidFill>
                            <a:srgbClr val="FF0000"/>
                          </a:solidFill>
                          <a:effectLst/>
                          <a:latin typeface="Times New Roman" panose="02020603050405020304" pitchFamily="18" charset="0"/>
                        </a:rPr>
                        <a:t>tàu</a:t>
                      </a:r>
                      <a:r>
                        <a:rPr lang="en-US" sz="1200" b="0" i="0" u="none" strike="noStrike" baseline="0" dirty="0">
                          <a:solidFill>
                            <a:srgbClr val="FF0000"/>
                          </a:solidFill>
                          <a:effectLst/>
                          <a:latin typeface="Times New Roman" panose="02020603050405020304" pitchFamily="18" charset="0"/>
                        </a:rPr>
                        <a:t> do ENG </a:t>
                      </a:r>
                      <a:r>
                        <a:rPr lang="en-US" sz="1200" b="0" i="0" u="none" strike="noStrike" baseline="0" dirty="0" err="1">
                          <a:solidFill>
                            <a:srgbClr val="FF0000"/>
                          </a:solidFill>
                          <a:effectLst/>
                          <a:latin typeface="Times New Roman" panose="02020603050405020304" pitchFamily="18" charset="0"/>
                        </a:rPr>
                        <a:t>về</a:t>
                      </a:r>
                      <a:r>
                        <a:rPr lang="en-US" sz="1200" b="0" i="0" u="none" strike="noStrike" baseline="0" dirty="0">
                          <a:solidFill>
                            <a:srgbClr val="FF0000"/>
                          </a:solidFill>
                          <a:effectLst/>
                          <a:latin typeface="Times New Roman" panose="02020603050405020304" pitchFamily="18" charset="0"/>
                        </a:rPr>
                        <a:t> </a:t>
                      </a:r>
                      <a:r>
                        <a:rPr lang="en-US" sz="1200" b="0" i="0" u="none" strike="noStrike" baseline="0" dirty="0" err="1">
                          <a:solidFill>
                            <a:srgbClr val="FF0000"/>
                          </a:solidFill>
                          <a:effectLst/>
                          <a:latin typeface="Times New Roman" panose="02020603050405020304" pitchFamily="18" charset="0"/>
                        </a:rPr>
                        <a:t>muộn</a:t>
                      </a:r>
                      <a:endParaRPr lang="en-US" sz="1200" b="0" i="0" u="none" strike="noStrike" dirty="0">
                        <a:solidFill>
                          <a:srgbClr val="FF0000"/>
                        </a:solidFill>
                        <a:effectLst/>
                        <a:latin typeface="Times New Roman" panose="02020603050405020304" pitchFamily="18" charset="0"/>
                      </a:endParaRPr>
                    </a:p>
                    <a:p>
                      <a:pPr algn="l" fontAlgn="ctr"/>
                      <a:r>
                        <a:rPr lang="en-US" sz="1200" b="0" i="0" u="none" strike="noStrike" dirty="0">
                          <a:solidFill>
                            <a:srgbClr val="FF0000"/>
                          </a:solidFill>
                          <a:effectLst/>
                          <a:latin typeface="Times New Roman" panose="02020603050405020304" pitchFamily="18" charset="0"/>
                        </a:rPr>
                        <a:t>- 03/2025: </a:t>
                      </a:r>
                      <a:r>
                        <a:rPr lang="en-US" sz="1200" b="0" i="0" u="none" strike="noStrike" dirty="0" err="1">
                          <a:solidFill>
                            <a:srgbClr val="FF0000"/>
                          </a:solidFill>
                          <a:effectLst/>
                          <a:latin typeface="Times New Roman" panose="02020603050405020304" pitchFamily="18" charset="0"/>
                        </a:rPr>
                        <a:t>thêm</a:t>
                      </a:r>
                      <a:r>
                        <a:rPr lang="en-US" sz="1200" b="0" i="0" u="none" strike="noStrike" baseline="0" dirty="0">
                          <a:solidFill>
                            <a:srgbClr val="FF0000"/>
                          </a:solidFill>
                          <a:effectLst/>
                          <a:latin typeface="Times New Roman" panose="02020603050405020304" pitchFamily="18" charset="0"/>
                        </a:rPr>
                        <a:t> 0.5 </a:t>
                      </a:r>
                      <a:r>
                        <a:rPr lang="en-US" sz="1200" b="0" i="0" u="none" strike="noStrike" baseline="0" dirty="0" err="1">
                          <a:solidFill>
                            <a:srgbClr val="FF0000"/>
                          </a:solidFill>
                          <a:effectLst/>
                          <a:latin typeface="Times New Roman" panose="02020603050405020304" pitchFamily="18" charset="0"/>
                        </a:rPr>
                        <a:t>tàu</a:t>
                      </a:r>
                      <a:r>
                        <a:rPr lang="en-US" sz="1200" b="0" i="0" u="none" strike="noStrike" baseline="0" dirty="0">
                          <a:solidFill>
                            <a:srgbClr val="FF0000"/>
                          </a:solidFill>
                          <a:effectLst/>
                          <a:latin typeface="Times New Roman" panose="02020603050405020304" pitchFamily="18" charset="0"/>
                        </a:rPr>
                        <a:t> do ENG </a:t>
                      </a:r>
                      <a:r>
                        <a:rPr lang="en-US" sz="1200" b="0" i="0" u="none" strike="noStrike" baseline="0" dirty="0" err="1">
                          <a:solidFill>
                            <a:srgbClr val="FF0000"/>
                          </a:solidFill>
                          <a:effectLst/>
                          <a:latin typeface="Times New Roman" panose="02020603050405020304" pitchFamily="18" charset="0"/>
                        </a:rPr>
                        <a:t>về</a:t>
                      </a:r>
                      <a:r>
                        <a:rPr lang="en-US" sz="1200" b="0" i="0" u="none" strike="noStrike" baseline="0" dirty="0">
                          <a:solidFill>
                            <a:srgbClr val="FF0000"/>
                          </a:solidFill>
                          <a:effectLst/>
                          <a:latin typeface="Times New Roman" panose="02020603050405020304" pitchFamily="18" charset="0"/>
                        </a:rPr>
                        <a:t> </a:t>
                      </a:r>
                      <a:r>
                        <a:rPr lang="en-US" sz="1200" b="0" i="0" u="none" strike="noStrike" baseline="0" dirty="0" err="1">
                          <a:solidFill>
                            <a:srgbClr val="FF0000"/>
                          </a:solidFill>
                          <a:effectLst/>
                          <a:latin typeface="Times New Roman" panose="02020603050405020304" pitchFamily="18" charset="0"/>
                        </a:rPr>
                        <a:t>muộn</a:t>
                      </a:r>
                      <a:endParaRPr lang="en-US" sz="1200" b="0" i="0" u="none" strike="noStrike" dirty="0">
                        <a:solidFill>
                          <a:srgbClr val="FF000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7549124"/>
                  </a:ext>
                </a:extLst>
              </a:tr>
              <a:tr h="871186">
                <a:tc>
                  <a:txBody>
                    <a:bodyPr/>
                    <a:lstStyle/>
                    <a:p>
                      <a:pPr algn="ctr" fontAlgn="ctr"/>
                      <a:r>
                        <a:rPr lang="en-US" sz="1200" b="1" i="0" u="none" strike="noStrike">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94206783"/>
                  </a:ext>
                </a:extLst>
              </a:tr>
              <a:tr h="930540">
                <a:tc>
                  <a:txBody>
                    <a:bodyPr/>
                    <a:lstStyle/>
                    <a:p>
                      <a:pPr algn="ctr" fontAlgn="ctr"/>
                      <a:r>
                        <a:rPr lang="en-US" sz="1200" b="1"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2.30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2.40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vi-VN" sz="1200" b="0" i="0" u="none" strike="noStrike" dirty="0">
                        <a:solidFill>
                          <a:srgbClr val="000000"/>
                        </a:solidFill>
                        <a:effectLst/>
                        <a:latin typeface="Times New Roman" panose="02020603050405020304" pitchFamily="18"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6328242"/>
                  </a:ext>
                </a:extLst>
              </a:tr>
              <a:tr h="867857">
                <a:tc>
                  <a:txBody>
                    <a:bodyPr/>
                    <a:lstStyle/>
                    <a:p>
                      <a:pPr algn="ctr" fontAlgn="ctr"/>
                      <a:r>
                        <a:rPr lang="en-US" sz="1200" b="1"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 + (2)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14.80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793212050"/>
                  </a:ext>
                </a:extLst>
              </a:tr>
              <a:tr h="867857">
                <a:tc>
                  <a:txBody>
                    <a:bodyPr/>
                    <a:lstStyle/>
                    <a:p>
                      <a:pPr algn="ctr" fontAlgn="ctr"/>
                      <a:r>
                        <a:rPr lang="en-US" sz="1200" b="1"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dirty="0">
                          <a:solidFill>
                            <a:srgbClr val="000000"/>
                          </a:solidFill>
                          <a:effectLst/>
                          <a:latin typeface="Times New Roman" panose="02020603050405020304" pitchFamily="18" charset="0"/>
                        </a:rPr>
                        <a:t>Chưa bao gồm các tàu thuê ướt khai thác cao điểm têt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46407184"/>
                  </a:ext>
                </a:extLst>
              </a:tr>
            </a:tbl>
          </a:graphicData>
        </a:graphic>
      </p:graphicFrame>
    </p:spTree>
    <p:extLst>
      <p:ext uri="{BB962C8B-B14F-4D97-AF65-F5344CB8AC3E}">
        <p14:creationId xmlns:p14="http://schemas.microsoft.com/office/powerpoint/2010/main" val="14101875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2" name="Table 1"/>
          <p:cNvGraphicFramePr>
            <a:graphicFrameLocks noGrp="1"/>
          </p:cNvGraphicFramePr>
          <p:nvPr/>
        </p:nvGraphicFramePr>
        <p:xfrm>
          <a:off x="228601" y="611086"/>
          <a:ext cx="11658600" cy="5974305"/>
        </p:xfrm>
        <a:graphic>
          <a:graphicData uri="http://schemas.openxmlformats.org/drawingml/2006/table">
            <a:tbl>
              <a:tblPr/>
              <a:tblGrid>
                <a:gridCol w="373437">
                  <a:extLst>
                    <a:ext uri="{9D8B030D-6E8A-4147-A177-3AD203B41FA5}">
                      <a16:colId xmlns:a16="http://schemas.microsoft.com/office/drawing/2014/main" val="4137808728"/>
                    </a:ext>
                  </a:extLst>
                </a:gridCol>
                <a:gridCol w="2438875">
                  <a:extLst>
                    <a:ext uri="{9D8B030D-6E8A-4147-A177-3AD203B41FA5}">
                      <a16:colId xmlns:a16="http://schemas.microsoft.com/office/drawing/2014/main" val="1110857311"/>
                    </a:ext>
                  </a:extLst>
                </a:gridCol>
                <a:gridCol w="486137">
                  <a:extLst>
                    <a:ext uri="{9D8B030D-6E8A-4147-A177-3AD203B41FA5}">
                      <a16:colId xmlns:a16="http://schemas.microsoft.com/office/drawing/2014/main" val="1555531118"/>
                    </a:ext>
                  </a:extLst>
                </a:gridCol>
                <a:gridCol w="530039">
                  <a:extLst>
                    <a:ext uri="{9D8B030D-6E8A-4147-A177-3AD203B41FA5}">
                      <a16:colId xmlns:a16="http://schemas.microsoft.com/office/drawing/2014/main" val="414014997"/>
                    </a:ext>
                  </a:extLst>
                </a:gridCol>
                <a:gridCol w="505944">
                  <a:extLst>
                    <a:ext uri="{9D8B030D-6E8A-4147-A177-3AD203B41FA5}">
                      <a16:colId xmlns:a16="http://schemas.microsoft.com/office/drawing/2014/main" val="4155138406"/>
                    </a:ext>
                  </a:extLst>
                </a:gridCol>
                <a:gridCol w="542084">
                  <a:extLst>
                    <a:ext uri="{9D8B030D-6E8A-4147-A177-3AD203B41FA5}">
                      <a16:colId xmlns:a16="http://schemas.microsoft.com/office/drawing/2014/main" val="2250640554"/>
                    </a:ext>
                  </a:extLst>
                </a:gridCol>
                <a:gridCol w="493899">
                  <a:extLst>
                    <a:ext uri="{9D8B030D-6E8A-4147-A177-3AD203B41FA5}">
                      <a16:colId xmlns:a16="http://schemas.microsoft.com/office/drawing/2014/main" val="3822346935"/>
                    </a:ext>
                  </a:extLst>
                </a:gridCol>
                <a:gridCol w="457761">
                  <a:extLst>
                    <a:ext uri="{9D8B030D-6E8A-4147-A177-3AD203B41FA5}">
                      <a16:colId xmlns:a16="http://schemas.microsoft.com/office/drawing/2014/main" val="1925805459"/>
                    </a:ext>
                  </a:extLst>
                </a:gridCol>
                <a:gridCol w="517994">
                  <a:extLst>
                    <a:ext uri="{9D8B030D-6E8A-4147-A177-3AD203B41FA5}">
                      <a16:colId xmlns:a16="http://schemas.microsoft.com/office/drawing/2014/main" val="786817933"/>
                    </a:ext>
                  </a:extLst>
                </a:gridCol>
                <a:gridCol w="493899">
                  <a:extLst>
                    <a:ext uri="{9D8B030D-6E8A-4147-A177-3AD203B41FA5}">
                      <a16:colId xmlns:a16="http://schemas.microsoft.com/office/drawing/2014/main" val="3652620629"/>
                    </a:ext>
                  </a:extLst>
                </a:gridCol>
                <a:gridCol w="493899">
                  <a:extLst>
                    <a:ext uri="{9D8B030D-6E8A-4147-A177-3AD203B41FA5}">
                      <a16:colId xmlns:a16="http://schemas.microsoft.com/office/drawing/2014/main" val="3878110074"/>
                    </a:ext>
                  </a:extLst>
                </a:gridCol>
                <a:gridCol w="517994">
                  <a:extLst>
                    <a:ext uri="{9D8B030D-6E8A-4147-A177-3AD203B41FA5}">
                      <a16:colId xmlns:a16="http://schemas.microsoft.com/office/drawing/2014/main" val="4101710421"/>
                    </a:ext>
                  </a:extLst>
                </a:gridCol>
                <a:gridCol w="493899">
                  <a:extLst>
                    <a:ext uri="{9D8B030D-6E8A-4147-A177-3AD203B41FA5}">
                      <a16:colId xmlns:a16="http://schemas.microsoft.com/office/drawing/2014/main" val="3858660685"/>
                    </a:ext>
                  </a:extLst>
                </a:gridCol>
                <a:gridCol w="3312739">
                  <a:extLst>
                    <a:ext uri="{9D8B030D-6E8A-4147-A177-3AD203B41FA5}">
                      <a16:colId xmlns:a16="http://schemas.microsoft.com/office/drawing/2014/main" val="607969555"/>
                    </a:ext>
                  </a:extLst>
                </a:gridCol>
              </a:tblGrid>
              <a:tr h="320430">
                <a:tc gridSpan="14">
                  <a:txBody>
                    <a:bodyPr/>
                    <a:lstStyle/>
                    <a:p>
                      <a:pPr algn="ctr" fontAlgn="ctr"/>
                      <a:r>
                        <a:rPr lang="en-US" sz="1400" b="1" i="0" u="none" strike="noStrike" dirty="0">
                          <a:solidFill>
                            <a:srgbClr val="000000"/>
                          </a:solidFill>
                          <a:effectLst/>
                          <a:latin typeface="Times New Roman" panose="02020603050405020304" pitchFamily="18" charset="0"/>
                        </a:rPr>
                        <a:t>NGUỒN LỰC KỸ THUÂT A350/B787 (CẬP NHẬT 23/02)</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013091"/>
                  </a:ext>
                </a:extLst>
              </a:tr>
              <a:tr h="302952">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Feb-25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dirty="0">
                          <a:solidFill>
                            <a:srgbClr val="000000"/>
                          </a:solidFill>
                          <a:effectLst/>
                          <a:latin typeface="Times New Roman" panose="02020603050405020304" pitchFamily="18" charset="0"/>
                        </a:rPr>
                        <a:t>Mar-25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802222826"/>
                  </a:ext>
                </a:extLst>
              </a:tr>
              <a:tr h="1280132">
                <a:tc>
                  <a:txBody>
                    <a:bodyPr/>
                    <a:lstStyle/>
                    <a:p>
                      <a:pPr algn="ctr" fontAlgn="ctr"/>
                      <a:r>
                        <a:rPr lang="en-US" sz="1200" b="0" i="0" u="none" strike="noStrike">
                          <a:solidFill>
                            <a:srgbClr val="000000"/>
                          </a:solidFill>
                          <a:effectLst/>
                          <a:latin typeface="Times New Roman" panose="02020603050405020304"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kern="1200">
                          <a:solidFill>
                            <a:srgbClr val="FF0000"/>
                          </a:solidFill>
                          <a:effectLst/>
                          <a:latin typeface="Times New Roman" panose="02020603050405020304" pitchFamily="18" charset="0"/>
                          <a:ea typeface="+mn-ea"/>
                          <a:cs typeface="+mn-cs"/>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kern="1200" dirty="0">
                          <a:solidFill>
                            <a:srgbClr val="FF0000"/>
                          </a:solidFill>
                          <a:effectLst/>
                          <a:latin typeface="Times New Roman" panose="02020603050405020304" pitchFamily="18" charset="0"/>
                          <a:ea typeface="+mn-ea"/>
                          <a:cs typeface="+mn-cs"/>
                        </a:rPr>
                        <a:t>KB tốt giữ giờ 03 động cơ tháo trong cao điểm hè</a:t>
                      </a:r>
                      <a:r>
                        <a:rPr lang="en-US" sz="1200" b="0" i="0" u="none" strike="noStrike" kern="1200" dirty="0">
                          <a:solidFill>
                            <a:srgbClr val="FF0000"/>
                          </a:solidFill>
                          <a:effectLst/>
                          <a:latin typeface="Times New Roman" panose="02020603050405020304" pitchFamily="18" charset="0"/>
                          <a:ea typeface="+mn-ea"/>
                          <a:cs typeface="+mn-cs"/>
                        </a:rPr>
                        <a:t>:</a:t>
                      </a:r>
                      <a:r>
                        <a:rPr lang="vi-VN" sz="1200" b="0" i="0" u="none" strike="noStrike" kern="1200" dirty="0">
                          <a:solidFill>
                            <a:srgbClr val="FF0000"/>
                          </a:solidFill>
                          <a:effectLst/>
                          <a:latin typeface="Times New Roman" panose="02020603050405020304" pitchFamily="18" charset="0"/>
                          <a:ea typeface="+mn-ea"/>
                          <a:cs typeface="+mn-cs"/>
                        </a:rPr>
                        <a:t> </a:t>
                      </a:r>
                      <a:br>
                        <a:rPr lang="vi-VN" sz="1200" b="0" i="0" u="none" strike="noStrike" kern="1200" dirty="0">
                          <a:solidFill>
                            <a:srgbClr val="FF0000"/>
                          </a:solidFill>
                          <a:effectLst/>
                          <a:latin typeface="Times New Roman" panose="02020603050405020304" pitchFamily="18" charset="0"/>
                          <a:ea typeface="+mn-ea"/>
                          <a:cs typeface="+mn-cs"/>
                        </a:rPr>
                      </a:br>
                      <a:r>
                        <a:rPr lang="vi-VN" sz="1200" b="0" i="0" u="none" strike="noStrike" kern="1200" dirty="0">
                          <a:solidFill>
                            <a:srgbClr val="FF0000"/>
                          </a:solidFill>
                          <a:effectLst/>
                          <a:latin typeface="Times New Roman" panose="02020603050405020304" pitchFamily="18" charset="0"/>
                          <a:ea typeface="+mn-ea"/>
                          <a:cs typeface="+mn-cs"/>
                        </a:rPr>
                        <a:t>- </a:t>
                      </a:r>
                      <a:r>
                        <a:rPr lang="en-GB" sz="1200" b="0" i="0" u="none" strike="noStrike" kern="1200" dirty="0">
                          <a:solidFill>
                            <a:srgbClr val="FF0000"/>
                          </a:solidFill>
                          <a:effectLst/>
                          <a:latin typeface="Times New Roman" panose="02020603050405020304" pitchFamily="18" charset="0"/>
                          <a:ea typeface="+mn-ea"/>
                          <a:cs typeface="+mn-cs"/>
                        </a:rPr>
                        <a:t>21346 (A891): </a:t>
                      </a:r>
                      <a:r>
                        <a:rPr lang="en-GB" sz="1200" b="0" i="0" u="none" strike="noStrike" kern="1200" dirty="0" err="1">
                          <a:solidFill>
                            <a:srgbClr val="FF0000"/>
                          </a:solidFill>
                          <a:effectLst/>
                          <a:latin typeface="Times New Roman" panose="02020603050405020304" pitchFamily="18" charset="0"/>
                          <a:ea typeface="+mn-ea"/>
                          <a:cs typeface="+mn-cs"/>
                        </a:rPr>
                        <a:t>Cần</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g</a:t>
                      </a:r>
                      <a:r>
                        <a:rPr lang="en-GB" sz="1200" b="0" i="0" u="none" strike="noStrike" kern="1200" dirty="0" err="1">
                          <a:solidFill>
                            <a:srgbClr val="FF0000"/>
                          </a:solidFill>
                          <a:effectLst/>
                          <a:latin typeface="Times New Roman" panose="02020603050405020304" pitchFamily="18" charset="0"/>
                          <a:ea typeface="+mn-ea"/>
                          <a:cs typeface="+mn-cs"/>
                        </a:rPr>
                        <a:t>iữ</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giờ</a:t>
                      </a:r>
                      <a:r>
                        <a:rPr lang="en-GB" sz="1200" b="0" i="0" u="none" strike="noStrike" kern="1200" baseline="0" dirty="0">
                          <a:solidFill>
                            <a:srgbClr val="FF0000"/>
                          </a:solidFill>
                          <a:effectLst/>
                          <a:latin typeface="Times New Roman" panose="02020603050405020304" pitchFamily="18" charset="0"/>
                          <a:ea typeface="+mn-ea"/>
                          <a:cs typeface="+mn-cs"/>
                        </a:rPr>
                        <a:t> 63 </a:t>
                      </a:r>
                      <a:r>
                        <a:rPr lang="en-GB" sz="1200" b="0" i="0" u="none" strike="noStrike" kern="1200" baseline="0" dirty="0" err="1">
                          <a:solidFill>
                            <a:srgbClr val="FF0000"/>
                          </a:solidFill>
                          <a:effectLst/>
                          <a:latin typeface="Times New Roman" panose="02020603050405020304" pitchFamily="18" charset="0"/>
                          <a:ea typeface="+mn-ea"/>
                          <a:cs typeface="+mn-cs"/>
                        </a:rPr>
                        <a:t>ngày</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đã</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lên</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phương</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án</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giữ</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giờ</a:t>
                      </a:r>
                      <a:r>
                        <a:rPr lang="en-GB" sz="1200" b="0" i="0" u="none" strike="noStrike" kern="1200" baseline="0" dirty="0">
                          <a:solidFill>
                            <a:srgbClr val="FF0000"/>
                          </a:solidFill>
                          <a:effectLst/>
                          <a:latin typeface="Times New Roman" panose="02020603050405020304" pitchFamily="18" charset="0"/>
                          <a:ea typeface="+mn-ea"/>
                          <a:cs typeface="+mn-cs"/>
                        </a:rPr>
                        <a:t> 50 </a:t>
                      </a:r>
                      <a:r>
                        <a:rPr lang="en-GB" sz="1200" b="0" i="0" u="none" strike="noStrike" kern="1200" baseline="0" dirty="0" err="1">
                          <a:solidFill>
                            <a:srgbClr val="FF0000"/>
                          </a:solidFill>
                          <a:effectLst/>
                          <a:latin typeface="Times New Roman" panose="02020603050405020304" pitchFamily="18" charset="0"/>
                          <a:ea typeface="+mn-ea"/>
                          <a:cs typeface="+mn-cs"/>
                        </a:rPr>
                        <a:t>ngày</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bao</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gồm</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offwing</a:t>
                      </a:r>
                      <a:r>
                        <a:rPr lang="en-GB" sz="1200" b="0" i="0" u="none" strike="noStrike" kern="1200" baseline="0" dirty="0">
                          <a:solidFill>
                            <a:srgbClr val="FF0000"/>
                          </a:solidFill>
                          <a:effectLst/>
                          <a:latin typeface="Times New Roman" panose="02020603050405020304" pitchFamily="18" charset="0"/>
                          <a:ea typeface="+mn-ea"/>
                          <a:cs typeface="+mn-cs"/>
                        </a:rPr>
                        <a:t> 23 </a:t>
                      </a:r>
                      <a:r>
                        <a:rPr lang="en-GB" sz="1200" b="0" i="0" u="none" strike="noStrike" kern="1200" baseline="0" dirty="0" err="1">
                          <a:solidFill>
                            <a:srgbClr val="FF0000"/>
                          </a:solidFill>
                          <a:effectLst/>
                          <a:latin typeface="Times New Roman" panose="02020603050405020304" pitchFamily="18" charset="0"/>
                          <a:ea typeface="+mn-ea"/>
                          <a:cs typeface="+mn-cs"/>
                        </a:rPr>
                        <a:t>ngày</a:t>
                      </a:r>
                      <a:r>
                        <a:rPr lang="en-GB" sz="1200" b="0" i="0" u="none" strike="noStrike" kern="1200" baseline="0" dirty="0">
                          <a:solidFill>
                            <a:srgbClr val="FF0000"/>
                          </a:solidFill>
                          <a:effectLst/>
                          <a:latin typeface="Times New Roman" panose="02020603050405020304" pitchFamily="18" charset="0"/>
                          <a:ea typeface="+mn-ea"/>
                          <a:cs typeface="+mn-cs"/>
                        </a:rPr>
                        <a:t> </a:t>
                      </a:r>
                      <a:r>
                        <a:rPr lang="en-GB" sz="1200" b="0" i="0" u="none" strike="noStrike" kern="1200" baseline="0" dirty="0" err="1">
                          <a:solidFill>
                            <a:srgbClr val="FF0000"/>
                          </a:solidFill>
                          <a:effectLst/>
                          <a:latin typeface="Times New Roman" panose="02020603050405020304" pitchFamily="18" charset="0"/>
                          <a:ea typeface="+mn-ea"/>
                          <a:cs typeface="+mn-cs"/>
                        </a:rPr>
                        <a:t>và</a:t>
                      </a:r>
                      <a:r>
                        <a:rPr lang="en-GB" sz="1200" b="0" i="0" u="none" strike="noStrike" kern="1200" baseline="0" dirty="0">
                          <a:solidFill>
                            <a:srgbClr val="FF0000"/>
                          </a:solidFill>
                          <a:effectLst/>
                          <a:latin typeface="Times New Roman" panose="02020603050405020304" pitchFamily="18" charset="0"/>
                          <a:ea typeface="+mn-ea"/>
                          <a:cs typeface="+mn-cs"/>
                        </a:rPr>
                        <a:t> 27 </a:t>
                      </a:r>
                      <a:r>
                        <a:rPr lang="en-GB" sz="1200" b="0" i="0" u="none" strike="noStrike" kern="1200" baseline="0" dirty="0" err="1">
                          <a:solidFill>
                            <a:srgbClr val="FF0000"/>
                          </a:solidFill>
                          <a:effectLst/>
                          <a:latin typeface="Times New Roman" panose="02020603050405020304" pitchFamily="18" charset="0"/>
                          <a:ea typeface="+mn-ea"/>
                          <a:cs typeface="+mn-cs"/>
                        </a:rPr>
                        <a:t>ngày</a:t>
                      </a:r>
                      <a:r>
                        <a:rPr lang="en-GB" sz="1200" b="0" i="0" u="none" strike="noStrike" kern="1200" baseline="0" dirty="0">
                          <a:solidFill>
                            <a:srgbClr val="FF0000"/>
                          </a:solidFill>
                          <a:effectLst/>
                          <a:latin typeface="Times New Roman" panose="02020603050405020304" pitchFamily="18" charset="0"/>
                          <a:ea typeface="+mn-ea"/>
                          <a:cs typeface="+mn-cs"/>
                        </a:rPr>
                        <a:t> swap ENG </a:t>
                      </a:r>
                      <a:r>
                        <a:rPr lang="en-GB" sz="1200" b="0" i="0" u="none" strike="noStrike" kern="1200" baseline="0" dirty="0" err="1">
                          <a:solidFill>
                            <a:srgbClr val="FF0000"/>
                          </a:solidFill>
                          <a:effectLst/>
                          <a:latin typeface="Times New Roman" panose="02020603050405020304" pitchFamily="18" charset="0"/>
                          <a:ea typeface="+mn-ea"/>
                          <a:cs typeface="+mn-cs"/>
                        </a:rPr>
                        <a:t>với</a:t>
                      </a:r>
                      <a:r>
                        <a:rPr lang="en-GB" sz="1200" b="0" i="0" u="none" strike="noStrike" kern="1200" baseline="0" dirty="0">
                          <a:solidFill>
                            <a:srgbClr val="FF0000"/>
                          </a:solidFill>
                          <a:effectLst/>
                          <a:latin typeface="Times New Roman" panose="02020603050405020304" pitchFamily="18" charset="0"/>
                          <a:ea typeface="+mn-ea"/>
                          <a:cs typeface="+mn-cs"/>
                        </a:rPr>
                        <a:t> A899 Y6)</a:t>
                      </a:r>
                      <a:r>
                        <a:rPr lang="vi-VN" sz="1200" b="0" i="0" u="none" strike="noStrike" kern="1200" dirty="0">
                          <a:solidFill>
                            <a:srgbClr val="FF0000"/>
                          </a:solidFill>
                          <a:effectLst/>
                          <a:latin typeface="Times New Roman" panose="02020603050405020304" pitchFamily="18" charset="0"/>
                          <a:ea typeface="+mn-ea"/>
                          <a:cs typeface="+mn-cs"/>
                        </a:rPr>
                        <a:t>;</a:t>
                      </a:r>
                      <a:endParaRPr lang="en-US" sz="1200" b="0" i="0" u="none" strike="noStrike" kern="1200" dirty="0">
                        <a:solidFill>
                          <a:srgbClr val="FF0000"/>
                        </a:solidFill>
                        <a:effectLst/>
                        <a:latin typeface="Times New Roman" panose="02020603050405020304" pitchFamily="18" charset="0"/>
                        <a:ea typeface="+mn-ea"/>
                        <a:cs typeface="+mn-cs"/>
                      </a:endParaRPr>
                    </a:p>
                    <a:p>
                      <a:pPr marL="0" algn="l" defTabSz="914400" rtl="0" eaLnBrk="1" fontAlgn="ctr" latinLnBrk="0" hangingPunct="1"/>
                      <a:r>
                        <a:rPr lang="en-US" sz="1200" b="0" i="0" u="none" strike="noStrike" kern="1200" dirty="0">
                          <a:solidFill>
                            <a:srgbClr val="FF0000"/>
                          </a:solidFill>
                          <a:effectLst/>
                          <a:latin typeface="Times New Roman" panose="02020603050405020304" pitchFamily="18" charset="0"/>
                          <a:ea typeface="+mn-ea"/>
                          <a:cs typeface="+mn-cs"/>
                        </a:rPr>
                        <a:t>- 21418 (A890): </a:t>
                      </a:r>
                      <a:r>
                        <a:rPr lang="en-US" sz="1200" b="0" i="0" u="none" strike="noStrike" kern="1200" dirty="0" err="1">
                          <a:solidFill>
                            <a:srgbClr val="FF0000"/>
                          </a:solidFill>
                          <a:effectLst/>
                          <a:latin typeface="Times New Roman" panose="02020603050405020304" pitchFamily="18" charset="0"/>
                          <a:ea typeface="+mn-ea"/>
                          <a:cs typeface="+mn-cs"/>
                        </a:rPr>
                        <a:t>Cần</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g</a:t>
                      </a:r>
                      <a:r>
                        <a:rPr lang="en-US" sz="1200" b="0" i="0" u="none" strike="noStrike" kern="1200" dirty="0" err="1">
                          <a:solidFill>
                            <a:srgbClr val="FF0000"/>
                          </a:solidFill>
                          <a:effectLst/>
                          <a:latin typeface="Times New Roman" panose="02020603050405020304" pitchFamily="18" charset="0"/>
                          <a:ea typeface="+mn-ea"/>
                          <a:cs typeface="+mn-cs"/>
                        </a:rPr>
                        <a:t>iữ</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giờ</a:t>
                      </a:r>
                      <a:r>
                        <a:rPr lang="en-US" sz="1200" b="0" i="0" u="none" strike="noStrike" kern="1200" baseline="0" dirty="0">
                          <a:solidFill>
                            <a:srgbClr val="FF0000"/>
                          </a:solidFill>
                          <a:effectLst/>
                          <a:latin typeface="Times New Roman" panose="02020603050405020304" pitchFamily="18" charset="0"/>
                          <a:ea typeface="+mn-ea"/>
                          <a:cs typeface="+mn-cs"/>
                        </a:rPr>
                        <a:t> 38 </a:t>
                      </a:r>
                      <a:r>
                        <a:rPr lang="en-US" sz="1200" b="0" i="0" u="none" strike="noStrike" kern="1200" baseline="0" dirty="0" err="1">
                          <a:solidFill>
                            <a:srgbClr val="FF0000"/>
                          </a:solidFill>
                          <a:effectLst/>
                          <a:latin typeface="Times New Roman" panose="02020603050405020304" pitchFamily="18" charset="0"/>
                          <a:ea typeface="+mn-ea"/>
                          <a:cs typeface="+mn-cs"/>
                        </a:rPr>
                        <a:t>ngày</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đã</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lên</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phương</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án</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giữ</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giờ</a:t>
                      </a:r>
                      <a:r>
                        <a:rPr lang="en-US" sz="1200" b="0" i="0" u="none" strike="noStrike" kern="1200" baseline="0" dirty="0">
                          <a:solidFill>
                            <a:srgbClr val="FF0000"/>
                          </a:solidFill>
                          <a:effectLst/>
                          <a:latin typeface="Times New Roman" panose="02020603050405020304" pitchFamily="18" charset="0"/>
                          <a:ea typeface="+mn-ea"/>
                          <a:cs typeface="+mn-cs"/>
                        </a:rPr>
                        <a:t> 30 </a:t>
                      </a:r>
                      <a:r>
                        <a:rPr lang="en-US" sz="1200" b="0" i="0" u="none" strike="noStrike" kern="1200" baseline="0" dirty="0" err="1">
                          <a:solidFill>
                            <a:srgbClr val="FF0000"/>
                          </a:solidFill>
                          <a:effectLst/>
                          <a:latin typeface="Times New Roman" panose="02020603050405020304" pitchFamily="18" charset="0"/>
                          <a:ea typeface="+mn-ea"/>
                          <a:cs typeface="+mn-cs"/>
                        </a:rPr>
                        <a:t>ngày</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bao</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bồm</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dừng</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Đkỳ</a:t>
                      </a:r>
                      <a:r>
                        <a:rPr lang="en-US" sz="1200" b="0" i="0" u="none" strike="noStrike" kern="1200" baseline="0" dirty="0">
                          <a:solidFill>
                            <a:srgbClr val="FF0000"/>
                          </a:solidFill>
                          <a:effectLst/>
                          <a:latin typeface="Times New Roman" panose="02020603050405020304" pitchFamily="18" charset="0"/>
                          <a:ea typeface="+mn-ea"/>
                          <a:cs typeface="+mn-cs"/>
                        </a:rPr>
                        <a:t> 10 </a:t>
                      </a:r>
                      <a:r>
                        <a:rPr lang="en-US" sz="1200" b="0" i="0" u="none" strike="noStrike" kern="1200" baseline="0" dirty="0" err="1">
                          <a:solidFill>
                            <a:srgbClr val="FF0000"/>
                          </a:solidFill>
                          <a:effectLst/>
                          <a:latin typeface="Times New Roman" panose="02020603050405020304" pitchFamily="18" charset="0"/>
                          <a:ea typeface="+mn-ea"/>
                          <a:cs typeface="+mn-cs"/>
                        </a:rPr>
                        <a:t>ngày</a:t>
                      </a:r>
                      <a:r>
                        <a:rPr lang="en-US" sz="1200" b="0" i="0" u="none" strike="noStrike" kern="1200" baseline="0" dirty="0">
                          <a:solidFill>
                            <a:srgbClr val="FF0000"/>
                          </a:solidFill>
                          <a:effectLst/>
                          <a:latin typeface="Times New Roman" panose="02020603050405020304" pitchFamily="18" charset="0"/>
                          <a:ea typeface="+mn-ea"/>
                          <a:cs typeface="+mn-cs"/>
                        </a:rPr>
                        <a:t> và 20 </a:t>
                      </a:r>
                      <a:r>
                        <a:rPr lang="en-US" sz="1200" b="0" i="0" u="none" strike="noStrike" kern="1200" baseline="0" dirty="0" err="1">
                          <a:solidFill>
                            <a:srgbClr val="FF0000"/>
                          </a:solidFill>
                          <a:effectLst/>
                          <a:latin typeface="Times New Roman" panose="02020603050405020304" pitchFamily="18" charset="0"/>
                          <a:ea typeface="+mn-ea"/>
                          <a:cs typeface="+mn-cs"/>
                        </a:rPr>
                        <a:t>ngày</a:t>
                      </a:r>
                      <a:r>
                        <a:rPr lang="en-US" sz="1200" b="0" i="0" u="none" strike="noStrike" kern="1200" baseline="0" dirty="0">
                          <a:solidFill>
                            <a:srgbClr val="FF0000"/>
                          </a:solidFill>
                          <a:effectLst/>
                          <a:latin typeface="Times New Roman" panose="02020603050405020304" pitchFamily="18" charset="0"/>
                          <a:ea typeface="+mn-ea"/>
                          <a:cs typeface="+mn-cs"/>
                        </a:rPr>
                        <a:t> swap ENG </a:t>
                      </a:r>
                      <a:r>
                        <a:rPr lang="en-US" sz="1200" b="0" i="0" u="none" strike="noStrike" kern="1200" baseline="0" dirty="0" err="1">
                          <a:solidFill>
                            <a:srgbClr val="FF0000"/>
                          </a:solidFill>
                          <a:effectLst/>
                          <a:latin typeface="Times New Roman" panose="02020603050405020304" pitchFamily="18" charset="0"/>
                          <a:ea typeface="+mn-ea"/>
                          <a:cs typeface="+mn-cs"/>
                        </a:rPr>
                        <a:t>với</a:t>
                      </a:r>
                      <a:r>
                        <a:rPr lang="en-US" sz="1200" b="0" i="0" u="none" strike="noStrike" kern="1200" baseline="0" dirty="0">
                          <a:solidFill>
                            <a:srgbClr val="FF0000"/>
                          </a:solidFill>
                          <a:effectLst/>
                          <a:latin typeface="Times New Roman" panose="02020603050405020304" pitchFamily="18" charset="0"/>
                          <a:ea typeface="+mn-ea"/>
                          <a:cs typeface="+mn-cs"/>
                        </a:rPr>
                        <a:t> A899 Y6)</a:t>
                      </a:r>
                      <a:r>
                        <a:rPr lang="vi-VN" sz="1200" b="0" i="0" u="none" strike="noStrike" kern="1200" dirty="0">
                          <a:solidFill>
                            <a:srgbClr val="FF0000"/>
                          </a:solidFill>
                          <a:effectLst/>
                          <a:latin typeface="Times New Roman" panose="02020603050405020304" pitchFamily="18" charset="0"/>
                          <a:ea typeface="+mn-ea"/>
                          <a:cs typeface="+mn-cs"/>
                        </a:rPr>
                        <a:t> </a:t>
                      </a:r>
                      <a:endParaRPr lang="en-US" sz="1200" b="0" i="0" u="none" strike="noStrike" kern="1200" dirty="0">
                        <a:solidFill>
                          <a:srgbClr val="FF0000"/>
                        </a:solidFill>
                        <a:effectLst/>
                        <a:latin typeface="Times New Roman" panose="02020603050405020304" pitchFamily="18" charset="0"/>
                        <a:ea typeface="+mn-ea"/>
                        <a:cs typeface="+mn-cs"/>
                      </a:endParaRPr>
                    </a:p>
                    <a:p>
                      <a:pPr algn="l" fontAlgn="ctr"/>
                      <a:r>
                        <a:rPr lang="vi-VN" sz="1200" b="0" i="0" u="none" strike="noStrike" kern="1200" dirty="0">
                          <a:solidFill>
                            <a:srgbClr val="FF0000"/>
                          </a:solidFill>
                          <a:effectLst/>
                          <a:latin typeface="Times New Roman" panose="02020603050405020304" pitchFamily="18" charset="0"/>
                          <a:ea typeface="+mn-ea"/>
                          <a:cs typeface="+mn-cs"/>
                        </a:rPr>
                        <a:t>- 21317</a:t>
                      </a:r>
                      <a:r>
                        <a:rPr lang="en-US" sz="1200" b="0" i="0" u="none" strike="noStrike" kern="1200" dirty="0">
                          <a:solidFill>
                            <a:srgbClr val="FF0000"/>
                          </a:solidFill>
                          <a:effectLst/>
                          <a:latin typeface="Times New Roman" panose="02020603050405020304" pitchFamily="18" charset="0"/>
                          <a:ea typeface="+mn-ea"/>
                          <a:cs typeface="+mn-cs"/>
                        </a:rPr>
                        <a:t> (A897):</a:t>
                      </a:r>
                      <a:r>
                        <a:rPr lang="vi-VN" sz="1200" b="0" i="0" u="none" strike="noStrike" kern="1200" dirty="0">
                          <a:solidFill>
                            <a:srgbClr val="FF0000"/>
                          </a:solidFill>
                          <a:effectLst/>
                          <a:latin typeface="Times New Roman" panose="02020603050405020304" pitchFamily="18" charset="0"/>
                          <a:ea typeface="+mn-ea"/>
                          <a:cs typeface="+mn-cs"/>
                        </a:rPr>
                        <a:t> </a:t>
                      </a:r>
                      <a:r>
                        <a:rPr lang="en-US" sz="1200" b="0" i="0" u="none" strike="noStrike" kern="1200" dirty="0" err="1">
                          <a:solidFill>
                            <a:srgbClr val="FF0000"/>
                          </a:solidFill>
                          <a:effectLst/>
                          <a:latin typeface="Times New Roman" panose="02020603050405020304" pitchFamily="18" charset="0"/>
                          <a:ea typeface="+mn-ea"/>
                          <a:cs typeface="+mn-cs"/>
                        </a:rPr>
                        <a:t>Cần</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giữ</a:t>
                      </a:r>
                      <a:r>
                        <a:rPr lang="en-US" sz="1200" b="0" i="0" u="none" strike="noStrike" kern="1200" baseline="0" dirty="0">
                          <a:solidFill>
                            <a:srgbClr val="FF0000"/>
                          </a:solidFill>
                          <a:effectLst/>
                          <a:latin typeface="Times New Roman" panose="02020603050405020304" pitchFamily="18" charset="0"/>
                          <a:ea typeface="+mn-ea"/>
                          <a:cs typeface="+mn-cs"/>
                        </a:rPr>
                        <a:t> </a:t>
                      </a:r>
                      <a:r>
                        <a:rPr lang="en-US" sz="1200" b="0" i="0" u="none" strike="noStrike" kern="1200" baseline="0" dirty="0" err="1">
                          <a:solidFill>
                            <a:srgbClr val="FF0000"/>
                          </a:solidFill>
                          <a:effectLst/>
                          <a:latin typeface="Times New Roman" panose="02020603050405020304" pitchFamily="18" charset="0"/>
                          <a:ea typeface="+mn-ea"/>
                          <a:cs typeface="+mn-cs"/>
                        </a:rPr>
                        <a:t>giờ</a:t>
                      </a:r>
                      <a:r>
                        <a:rPr lang="en-US" sz="1200" b="0" i="0" u="none" strike="noStrike" kern="1200" baseline="0" dirty="0">
                          <a:solidFill>
                            <a:srgbClr val="FF0000"/>
                          </a:solidFill>
                          <a:effectLst/>
                          <a:latin typeface="Times New Roman" panose="02020603050405020304" pitchFamily="18" charset="0"/>
                          <a:ea typeface="+mn-ea"/>
                          <a:cs typeface="+mn-cs"/>
                        </a:rPr>
                        <a:t> 12 </a:t>
                      </a:r>
                      <a:r>
                        <a:rPr lang="en-US" sz="1200" b="0" i="0" u="none" strike="noStrike" kern="1200" baseline="0" dirty="0" err="1">
                          <a:solidFill>
                            <a:srgbClr val="FF0000"/>
                          </a:solidFill>
                          <a:effectLst/>
                          <a:latin typeface="Times New Roman" panose="02020603050405020304" pitchFamily="18" charset="0"/>
                          <a:ea typeface="+mn-ea"/>
                          <a:cs typeface="+mn-cs"/>
                        </a:rPr>
                        <a:t>ngày</a:t>
                      </a:r>
                      <a:r>
                        <a:rPr lang="vi-VN" sz="1200" b="0" i="0" u="none" strike="noStrike" kern="1200" dirty="0">
                          <a:solidFill>
                            <a:srgbClr val="FF0000"/>
                          </a:solidFill>
                          <a:effectLst/>
                          <a:latin typeface="Times New Roman" panose="02020603050405020304" pitchFamily="18" charset="0"/>
                          <a:ea typeface="+mn-ea"/>
                          <a:cs typeface="+mn-cs"/>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6683278"/>
                  </a:ext>
                </a:extLst>
              </a:tr>
              <a:tr h="388400">
                <a:tc>
                  <a:txBody>
                    <a:bodyPr/>
                    <a:lstStyle/>
                    <a:p>
                      <a:pPr algn="ctr" fontAlgn="ctr"/>
                      <a:r>
                        <a:rPr lang="en-US" sz="1200" b="0" i="0" u="none" strike="noStrike" dirty="0">
                          <a:solidFill>
                            <a:srgbClr val="000000"/>
                          </a:solidFill>
                          <a:effectLst/>
                          <a:latin typeface="Times New Roman" panose="02020603050405020304"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553635648"/>
                  </a:ext>
                </a:extLst>
              </a:tr>
              <a:tr h="388400">
                <a:tc>
                  <a:txBody>
                    <a:bodyPr/>
                    <a:lstStyle/>
                    <a:p>
                      <a:pPr algn="ctr" fontAlgn="ctr"/>
                      <a:r>
                        <a:rPr lang="en-US" sz="1200" b="0" i="0" u="none" strike="noStrike">
                          <a:solidFill>
                            <a:srgbClr val="000000"/>
                          </a:solidFill>
                          <a:effectLst/>
                          <a:latin typeface="Times New Roman" panose="02020603050405020304"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rgbClr val="000000"/>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2123678"/>
                  </a:ext>
                </a:extLst>
              </a:tr>
              <a:tr h="388400">
                <a:tc>
                  <a:txBody>
                    <a:bodyPr/>
                    <a:lstStyle/>
                    <a:p>
                      <a:pPr algn="ctr" fontAlgn="ctr"/>
                      <a:r>
                        <a:rPr lang="en-US" sz="1200" b="0" i="0" u="none" strike="noStrike">
                          <a:solidFill>
                            <a:srgbClr val="000000"/>
                          </a:solidFill>
                          <a:effectLst/>
                          <a:latin typeface="Times New Roman" panose="02020603050405020304" pitchFamily="18"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749701320"/>
                  </a:ext>
                </a:extLst>
              </a:tr>
              <a:tr h="563180">
                <a:tc>
                  <a:txBody>
                    <a:bodyPr/>
                    <a:lstStyle/>
                    <a:p>
                      <a:pPr algn="ctr" fontAlgn="ctr"/>
                      <a:r>
                        <a:rPr lang="en-US" sz="1200" b="0" i="0" u="none" strike="noStrike">
                          <a:solidFill>
                            <a:srgbClr val="000000"/>
                          </a:solidFill>
                          <a:effectLst/>
                          <a:latin typeface="Times New Roman" panose="02020603050405020304" pitchFamily="18"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7542536"/>
                  </a:ext>
                </a:extLst>
              </a:tr>
              <a:tr h="605903">
                <a:tc>
                  <a:txBody>
                    <a:bodyPr/>
                    <a:lstStyle/>
                    <a:p>
                      <a:pPr algn="ctr" fontAlgn="ctr"/>
                      <a:r>
                        <a:rPr lang="en-US" sz="1200" b="0" i="0" u="none" strike="noStrike">
                          <a:solidFill>
                            <a:srgbClr val="000000"/>
                          </a:solidFill>
                          <a:effectLst/>
                          <a:latin typeface="Times New Roman" panose="02020603050405020304" pitchFamily="18"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dirty="0">
                          <a:solidFill>
                            <a:srgbClr val="FF0000"/>
                          </a:solidFill>
                          <a:effectLst/>
                          <a:latin typeface="Times New Roman" panose="02020603050405020304" pitchFamily="18" charset="0"/>
                        </a:rPr>
                        <a:t>03/2025: tăng thêm 0.3 tàu dừng do bổ sung swap ENG A870 &amp; A863 để A870 bay nga (A870 tận dụng thời gian AOG do hỏng ENG</a:t>
                      </a:r>
                      <a:r>
                        <a:rPr lang="en-US" sz="1200" b="0" i="0" u="none" strike="noStrike" dirty="0">
                          <a:solidFill>
                            <a:srgbClr val="FF0000"/>
                          </a:solidFill>
                          <a:effectLst/>
                          <a:latin typeface="Times New Roman" panose="02020603050405020304" pitchFamily="18" charset="0"/>
                        </a:rPr>
                        <a:t> </a:t>
                      </a:r>
                      <a:r>
                        <a:rPr lang="en-US" sz="1200" b="0" i="0" u="none" strike="noStrike" dirty="0" err="1">
                          <a:solidFill>
                            <a:srgbClr val="FF0000"/>
                          </a:solidFill>
                          <a:effectLst/>
                          <a:latin typeface="Times New Roman" panose="02020603050405020304" pitchFamily="18" charset="0"/>
                        </a:rPr>
                        <a:t>để</a:t>
                      </a:r>
                      <a:r>
                        <a:rPr lang="en-US" sz="1200" b="0" i="0" u="none" strike="noStrike" baseline="0" dirty="0">
                          <a:solidFill>
                            <a:srgbClr val="FF0000"/>
                          </a:solidFill>
                          <a:effectLst/>
                          <a:latin typeface="Times New Roman" panose="02020603050405020304" pitchFamily="18" charset="0"/>
                        </a:rPr>
                        <a:t> </a:t>
                      </a:r>
                      <a:r>
                        <a:rPr lang="en-US" sz="1200" b="0" i="0" u="none" strike="noStrike" baseline="0" dirty="0" err="1">
                          <a:solidFill>
                            <a:srgbClr val="FF0000"/>
                          </a:solidFill>
                          <a:effectLst/>
                          <a:latin typeface="Times New Roman" panose="02020603050405020304" pitchFamily="18" charset="0"/>
                        </a:rPr>
                        <a:t>sơn</a:t>
                      </a:r>
                      <a:r>
                        <a:rPr lang="en-US" sz="1200" b="0" i="0" u="none" strike="noStrike" baseline="0" dirty="0">
                          <a:solidFill>
                            <a:srgbClr val="FF0000"/>
                          </a:solidFill>
                          <a:effectLst/>
                          <a:latin typeface="Times New Roman" panose="02020603050405020304" pitchFamily="18" charset="0"/>
                        </a:rPr>
                        <a:t> </a:t>
                      </a:r>
                      <a:r>
                        <a:rPr lang="en-US" sz="1200" b="0" i="0" u="none" strike="noStrike" baseline="0" dirty="0" err="1">
                          <a:solidFill>
                            <a:srgbClr val="FF0000"/>
                          </a:solidFill>
                          <a:effectLst/>
                          <a:latin typeface="Times New Roman" panose="02020603050405020304" pitchFamily="18" charset="0"/>
                        </a:rPr>
                        <a:t>cánh</a:t>
                      </a:r>
                      <a:r>
                        <a:rPr lang="vi-VN" sz="1200" b="0" i="0" u="none" strike="noStrike" dirty="0">
                          <a:solidFill>
                            <a:srgbClr val="FF0000"/>
                          </a:solidFill>
                          <a:effectLst/>
                          <a:latin typeface="Times New Roman" panose="02020603050405020304" pitchFamily="18"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996025094"/>
                  </a:ext>
                </a:extLst>
              </a:tr>
              <a:tr h="388400">
                <a:tc>
                  <a:txBody>
                    <a:bodyPr/>
                    <a:lstStyle/>
                    <a:p>
                      <a:pPr algn="ctr" fontAlgn="ctr"/>
                      <a:r>
                        <a:rPr lang="en-US" sz="1200" b="0" i="0" u="none" strike="noStrike">
                          <a:solidFill>
                            <a:srgbClr val="000000"/>
                          </a:solidFill>
                          <a:effectLst/>
                          <a:latin typeface="Times New Roman" panose="02020603050405020304" pitchFamily="18"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02019387"/>
                  </a:ext>
                </a:extLst>
              </a:tr>
              <a:tr h="388400">
                <a:tc>
                  <a:txBody>
                    <a:bodyPr/>
                    <a:lstStyle/>
                    <a:p>
                      <a:pPr algn="ctr" fontAlgn="ctr"/>
                      <a:r>
                        <a:rPr lang="en-US" sz="1200" b="0" i="0" u="none" strike="noStrike">
                          <a:solidFill>
                            <a:srgbClr val="000000"/>
                          </a:solidFill>
                          <a:effectLst/>
                          <a:latin typeface="Times New Roman" panose="02020603050405020304" pitchFamily="18"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16.0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51325835"/>
                  </a:ext>
                </a:extLst>
              </a:tr>
              <a:tr h="388400">
                <a:tc>
                  <a:txBody>
                    <a:bodyPr/>
                    <a:lstStyle/>
                    <a:p>
                      <a:pPr algn="ctr" fontAlgn="ctr"/>
                      <a:r>
                        <a:rPr lang="en-US" sz="1200" b="0" i="0" u="none" strike="noStrike">
                          <a:solidFill>
                            <a:srgbClr val="000000"/>
                          </a:solidFill>
                          <a:effectLst/>
                          <a:latin typeface="Times New Roman" panose="02020603050405020304" pitchFamily="18"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chemeClr val="tx1"/>
                          </a:solidFill>
                          <a:effectLst/>
                          <a:latin typeface="Times New Roman" panose="02020603050405020304" pitchFamily="18" charset="0"/>
                        </a:rPr>
                        <a:t>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2988716"/>
                  </a:ext>
                </a:extLst>
              </a:tr>
              <a:tr h="388400">
                <a:tc>
                  <a:txBody>
                    <a:bodyPr/>
                    <a:lstStyle/>
                    <a:p>
                      <a:pPr algn="ctr" fontAlgn="ctr"/>
                      <a:r>
                        <a:rPr lang="en-US" sz="1200" b="0" i="0" u="none" strike="noStrike">
                          <a:solidFill>
                            <a:srgbClr val="000000"/>
                          </a:solidFill>
                          <a:effectLst/>
                          <a:latin typeface="Times New Roman" panose="02020603050405020304" pitchFamily="18"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24.3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24.3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28.0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29.7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chemeClr val="tx1"/>
                          </a:solidFill>
                          <a:effectLst/>
                          <a:latin typeface="Times New Roman" panose="02020603050405020304" pitchFamily="18" charset="0"/>
                        </a:rPr>
                        <a:t>28.7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chemeClr val="tx1"/>
                          </a:solidFill>
                          <a:effectLst/>
                          <a:latin typeface="Times New Roman" panose="02020603050405020304" pitchFamily="18" charset="0"/>
                        </a:rPr>
                        <a:t>27.0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226324872"/>
                  </a:ext>
                </a:extLst>
              </a:tr>
            </a:tbl>
          </a:graphicData>
        </a:graphic>
      </p:graphicFrame>
    </p:spTree>
    <p:extLst>
      <p:ext uri="{BB962C8B-B14F-4D97-AF65-F5344CB8AC3E}">
        <p14:creationId xmlns:p14="http://schemas.microsoft.com/office/powerpoint/2010/main" val="26887527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857745"/>
            <a:ext cx="2743200" cy="365125"/>
          </a:xfrm>
        </p:spPr>
        <p:txBody>
          <a:bodyPr>
            <a:normAutofit/>
          </a:bodyPr>
          <a:lstStyle/>
          <a:p>
            <a:fld id="{6C6B6B8D-D74E-47CD-B5EE-156060B7CD17}" type="slidenum">
              <a:rPr lang="en-US" sz="1100" smtClean="0"/>
              <a:pPr/>
              <a:t>52</a:t>
            </a:fld>
            <a:endParaRPr lang="en-US" sz="1100" dirty="0"/>
          </a:p>
        </p:txBody>
      </p:sp>
      <p:sp>
        <p:nvSpPr>
          <p:cNvPr id="21" name="TextBox 20"/>
          <p:cNvSpPr txBox="1"/>
          <p:nvPr/>
        </p:nvSpPr>
        <p:spPr>
          <a:xfrm>
            <a:off x="7070" y="39402"/>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08</a:t>
            </a:r>
            <a:endParaRPr lang="vi-VN" sz="2700" dirty="0"/>
          </a:p>
        </p:txBody>
      </p:sp>
      <p:sp>
        <p:nvSpPr>
          <p:cNvPr id="24" name="TextBox 23"/>
          <p:cNvSpPr txBox="1"/>
          <p:nvPr/>
        </p:nvSpPr>
        <p:spPr>
          <a:xfrm>
            <a:off x="375533" y="3987297"/>
            <a:ext cx="10876298" cy="295311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r>
              <a:rPr lang="en-US" sz="1100" b="1" dirty="0" err="1">
                <a:latin typeface="Times New Roman" panose="02020603050405020304" pitchFamily="18" charset="0"/>
                <a:cs typeface="Times New Roman" panose="02020603050405020304" pitchFamily="18" charset="0"/>
              </a:rPr>
              <a:t>Nội</a:t>
            </a:r>
            <a:r>
              <a:rPr lang="en-US" sz="1100" b="1" dirty="0">
                <a:latin typeface="Times New Roman" panose="02020603050405020304" pitchFamily="18" charset="0"/>
                <a:cs typeface="Times New Roman" panose="02020603050405020304" pitchFamily="18" charset="0"/>
              </a:rPr>
              <a:t> dung </a:t>
            </a:r>
            <a:r>
              <a:rPr lang="en-US" sz="1100" b="1" dirty="0" err="1">
                <a:latin typeface="Times New Roman" panose="02020603050405020304" pitchFamily="18" charset="0"/>
                <a:cs typeface="Times New Roman" panose="02020603050405020304" pitchFamily="18" charset="0"/>
              </a:rPr>
              <a:t>khác</a:t>
            </a:r>
            <a:r>
              <a:rPr lang="en-US" sz="1100" b="1" dirty="0">
                <a:latin typeface="Times New Roman" panose="02020603050405020304" pitchFamily="18" charset="0"/>
                <a:cs typeface="Times New Roman" panose="02020603050405020304" pitchFamily="18" charset="0"/>
              </a:rPr>
              <a:t>:</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Tháo PCU 787: </a:t>
            </a:r>
            <a:r>
              <a:rPr lang="en-US" sz="1100" dirty="0">
                <a:solidFill>
                  <a:schemeClr val="tx1"/>
                </a:solidFill>
                <a:latin typeface="Times New Roman" panose="02020603050405020304" pitchFamily="18" charset="0"/>
                <a:cs typeface="Times New Roman" panose="02020603050405020304" pitchFamily="18" charset="0"/>
              </a:rPr>
              <a:t>Đã thực hiện 07 tàu A861, A862 ,A863, A865, A866, A867, A868 (trong tuần thực hiện 01 tàu ) =&gt; tiếp tục thực hiện 04 tàu còn </a:t>
            </a:r>
            <a:r>
              <a:rPr lang="en-US" sz="1100" dirty="0" err="1">
                <a:solidFill>
                  <a:schemeClr val="tx1"/>
                </a:solidFill>
                <a:latin typeface="Times New Roman" panose="02020603050405020304" pitchFamily="18" charset="0"/>
                <a:cs typeface="Times New Roman" panose="02020603050405020304" pitchFamily="18" charset="0"/>
              </a:rPr>
              <a:t>lại</a:t>
            </a:r>
            <a:r>
              <a:rPr lang="en-US" sz="1100" dirty="0">
                <a:solidFill>
                  <a:schemeClr val="tx1"/>
                </a:solidFill>
                <a:latin typeface="Times New Roman" panose="02020603050405020304" pitchFamily="18" charset="0"/>
                <a:cs typeface="Times New Roman" panose="02020603050405020304" pitchFamily="18" charset="0"/>
              </a:rPr>
              <a:t> </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IFC 10 tàu A350: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PO </a:t>
            </a:r>
            <a:r>
              <a:rPr lang="en-US" sz="1100" dirty="0" err="1">
                <a:solidFill>
                  <a:schemeClr val="tx1"/>
                </a:solidFill>
                <a:latin typeface="Times New Roman" panose="02020603050405020304" pitchFamily="18" charset="0"/>
                <a:cs typeface="Times New Roman" panose="02020603050405020304" pitchFamily="18" charset="0"/>
              </a:rPr>
              <a:t>mua</a:t>
            </a:r>
            <a:r>
              <a:rPr lang="en-US" sz="1100" dirty="0">
                <a:solidFill>
                  <a:schemeClr val="tx1"/>
                </a:solidFill>
                <a:latin typeface="Times New Roman" panose="02020603050405020304" pitchFamily="18" charset="0"/>
                <a:cs typeface="Times New Roman" panose="02020603050405020304" pitchFamily="18" charset="0"/>
              </a:rPr>
              <a:t> tài liệu TSM.: </a:t>
            </a:r>
            <a:r>
              <a:rPr lang="en-US" sz="1100" b="1" dirty="0">
                <a:solidFill>
                  <a:schemeClr val="tx1"/>
                </a:solidFill>
                <a:latin typeface="Times New Roman" panose="02020603050405020304" pitchFamily="18" charset="0"/>
                <a:cs typeface="Times New Roman" panose="02020603050405020304" pitchFamily="18" charset="0"/>
              </a:rPr>
              <a:t>giao cuối tháng 2/2025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Vật tư dự phòng bắt đầu giao 2/2025: KFRU 2ea đã giao, MODMAN 2ea, KANDU 2ea giao cuối tháng 2/2025, </a:t>
            </a:r>
            <a:r>
              <a:rPr lang="en-US" sz="1100" dirty="0">
                <a:solidFill>
                  <a:srgbClr val="FF0000"/>
                </a:solidFill>
                <a:latin typeface="Times New Roman" panose="02020603050405020304" pitchFamily="18" charset="0"/>
                <a:cs typeface="Times New Roman" panose="02020603050405020304" pitchFamily="18" charset="0"/>
              </a:rPr>
              <a:t>FMA 01ea giao tháng 7/2025 (tiếp tục giục Thales)</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 MPS và FSAT ban </a:t>
            </a:r>
            <a:r>
              <a:rPr lang="en-US" sz="1100" dirty="0" err="1">
                <a:solidFill>
                  <a:schemeClr val="tx1"/>
                </a:solidFill>
                <a:latin typeface="Times New Roman" panose="02020603050405020304" pitchFamily="18" charset="0"/>
                <a:cs typeface="Times New Roman" panose="02020603050405020304" pitchFamily="18" charset="0"/>
              </a:rPr>
              <a:t>giao</a:t>
            </a:r>
            <a:r>
              <a:rPr lang="en-US" sz="1100" dirty="0">
                <a:solidFill>
                  <a:schemeClr val="tx1"/>
                </a:solidFill>
                <a:latin typeface="Times New Roman" panose="02020603050405020304" pitchFamily="18" charset="0"/>
                <a:cs typeface="Times New Roman" panose="02020603050405020304" pitchFamily="18" charset="0"/>
              </a:rPr>
              <a:t> 3/2025</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sau</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đàm</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phán</a:t>
            </a:r>
            <a:r>
              <a:rPr lang="en-US" sz="1100" dirty="0">
                <a:solidFill>
                  <a:srgbClr val="FF0000"/>
                </a:solidFill>
                <a:latin typeface="Times New Roman" panose="02020603050405020304" pitchFamily="18" charset="0"/>
                <a:cs typeface="Times New Roman" panose="02020603050405020304" pitchFamily="18" charset="0"/>
              </a:rPr>
              <a:t>, Thales </a:t>
            </a:r>
            <a:r>
              <a:rPr lang="en-US" sz="1100" dirty="0" err="1">
                <a:solidFill>
                  <a:srgbClr val="FF0000"/>
                </a:solidFill>
                <a:latin typeface="Times New Roman" panose="02020603050405020304" pitchFamily="18" charset="0"/>
                <a:cs typeface="Times New Roman" panose="02020603050405020304" pitchFamily="18" charset="0"/>
              </a:rPr>
              <a:t>đống</a:t>
            </a:r>
            <a:r>
              <a:rPr lang="en-US" sz="1100" dirty="0">
                <a:solidFill>
                  <a:srgbClr val="FF0000"/>
                </a:solidFill>
                <a:latin typeface="Times New Roman" panose="02020603050405020304" pitchFamily="18" charset="0"/>
                <a:cs typeface="Times New Roman" panose="02020603050405020304" pitchFamily="18" charset="0"/>
              </a:rPr>
              <a:t> ý </a:t>
            </a:r>
            <a:r>
              <a:rPr lang="en-US" sz="1100" dirty="0" err="1">
                <a:solidFill>
                  <a:srgbClr val="FF0000"/>
                </a:solidFill>
                <a:latin typeface="Times New Roman" panose="02020603050405020304" pitchFamily="18" charset="0"/>
                <a:cs typeface="Times New Roman" panose="02020603050405020304" pitchFamily="18" charset="0"/>
              </a:rPr>
              <a:t>giữ</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lịch</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giao</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tháng</a:t>
            </a:r>
            <a:r>
              <a:rPr lang="en-US" sz="1100" dirty="0">
                <a:solidFill>
                  <a:srgbClr val="FF0000"/>
                </a:solidFill>
                <a:latin typeface="Times New Roman" panose="02020603050405020304" pitchFamily="18" charset="0"/>
                <a:cs typeface="Times New Roman" panose="02020603050405020304" pitchFamily="18" charset="0"/>
              </a:rPr>
              <a:t> 3/2025 </a:t>
            </a:r>
            <a:r>
              <a:rPr lang="en-US" sz="1100" dirty="0" err="1">
                <a:solidFill>
                  <a:srgbClr val="FF0000"/>
                </a:solidFill>
                <a:latin typeface="Times New Roman" panose="02020603050405020304" pitchFamily="18" charset="0"/>
                <a:cs typeface="Times New Roman" panose="02020603050405020304" pitchFamily="18" charset="0"/>
              </a:rPr>
              <a:t>cho</a:t>
            </a:r>
            <a:r>
              <a:rPr lang="en-US" sz="1100" dirty="0">
                <a:solidFill>
                  <a:srgbClr val="FF0000"/>
                </a:solidFill>
                <a:latin typeface="Times New Roman" panose="02020603050405020304" pitchFamily="18" charset="0"/>
                <a:cs typeface="Times New Roman" panose="02020603050405020304" pitchFamily="18" charset="0"/>
              </a:rPr>
              <a:t> MPS </a:t>
            </a:r>
            <a:r>
              <a:rPr lang="en-US" sz="1100" dirty="0" err="1">
                <a:solidFill>
                  <a:srgbClr val="FF0000"/>
                </a:solidFill>
                <a:latin typeface="Times New Roman" panose="02020603050405020304" pitchFamily="18" charset="0"/>
                <a:cs typeface="Times New Roman" panose="02020603050405020304" pitchFamily="18" charset="0"/>
              </a:rPr>
              <a:t>và</a:t>
            </a:r>
            <a:r>
              <a:rPr lang="en-US" sz="1100" dirty="0">
                <a:solidFill>
                  <a:srgbClr val="FF0000"/>
                </a:solidFill>
                <a:latin typeface="Times New Roman" panose="02020603050405020304" pitchFamily="18" charset="0"/>
                <a:cs typeface="Times New Roman" panose="02020603050405020304" pitchFamily="18" charset="0"/>
              </a:rPr>
              <a:t> mod kit</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gửi 02 shipset tàu bảo quản đi nâng cấp firmwarre, TAT 60-70 ngày </a:t>
            </a:r>
            <a:r>
              <a:rPr lang="en-US" sz="1100" dirty="0">
                <a:solidFill>
                  <a:srgbClr val="FF0000"/>
                </a:solidFill>
                <a:latin typeface="Times New Roman" panose="02020603050405020304" pitchFamily="18" charset="0"/>
                <a:cs typeface="Times New Roman" panose="02020603050405020304" pitchFamily="18" charset="0"/>
              </a:rPr>
              <a:t>=&gt; tiếp tục giục Thales &amp; Honeywell, </a:t>
            </a:r>
            <a:r>
              <a:rPr lang="en-US" sz="1100" dirty="0" err="1">
                <a:solidFill>
                  <a:srgbClr val="FF0000"/>
                </a:solidFill>
                <a:latin typeface="Times New Roman" panose="02020603050405020304" pitchFamily="18" charset="0"/>
                <a:cs typeface="Times New Roman" panose="02020603050405020304" pitchFamily="18" charset="0"/>
              </a:rPr>
              <a:t>vật</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tư</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đã</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đến</a:t>
            </a:r>
            <a:r>
              <a:rPr lang="en-US" sz="1100" dirty="0">
                <a:solidFill>
                  <a:srgbClr val="FF0000"/>
                </a:solidFill>
                <a:latin typeface="Times New Roman" panose="02020603050405020304" pitchFamily="18" charset="0"/>
                <a:cs typeface="Times New Roman" panose="02020603050405020304" pitchFamily="18" charset="0"/>
              </a:rPr>
              <a:t> shop</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02 antena gửi sửa chữa shop: </a:t>
            </a:r>
            <a:r>
              <a:rPr lang="en-US" sz="1100" b="1" dirty="0">
                <a:solidFill>
                  <a:schemeClr val="tx1"/>
                </a:solidFill>
                <a:latin typeface="Times New Roman" panose="02020603050405020304" pitchFamily="18" charset="0"/>
                <a:cs typeface="Times New Roman" panose="02020603050405020304" pitchFamily="18" charset="0"/>
              </a:rPr>
              <a:t>đã về 01 khối + 01 khối </a:t>
            </a:r>
            <a:r>
              <a:rPr lang="en-US" sz="1100" b="1" dirty="0" err="1">
                <a:solidFill>
                  <a:schemeClr val="tx1"/>
                </a:solidFill>
                <a:latin typeface="Times New Roman" panose="02020603050405020304" pitchFamily="18" charset="0"/>
                <a:cs typeface="Times New Roman" panose="02020603050405020304" pitchFamily="18" charset="0"/>
              </a:rPr>
              <a:t>về</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cuối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2/2025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Đào tạo IFC VAECO dự kiến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19-20/2/2025: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thực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hiện</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FSAT </a:t>
            </a:r>
            <a:r>
              <a:rPr lang="en-US" sz="1100" dirty="0" err="1">
                <a:solidFill>
                  <a:schemeClr val="tx1"/>
                </a:solidFill>
                <a:latin typeface="Times New Roman" panose="02020603050405020304" pitchFamily="18" charset="0"/>
                <a:cs typeface="Times New Roman" panose="02020603050405020304" pitchFamily="18" charset="0"/>
              </a:rPr>
              <a:t>từ</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ngày</a:t>
            </a:r>
            <a:r>
              <a:rPr lang="en-US" sz="1100">
                <a:solidFill>
                  <a:schemeClr val="tx1"/>
                </a:solidFill>
                <a:latin typeface="Times New Roman" panose="02020603050405020304" pitchFamily="18" charset="0"/>
                <a:cs typeface="Times New Roman" panose="02020603050405020304" pitchFamily="18" charset="0"/>
              </a:rPr>
              <a:t> 4-7/3/2025</a:t>
            </a:r>
            <a:endParaRPr lang="en-US" sz="1100" dirty="0">
              <a:solidFill>
                <a:schemeClr val="tx1"/>
              </a:solidFill>
              <a:latin typeface="Times New Roman" panose="02020603050405020304" pitchFamily="18" charset="0"/>
              <a:cs typeface="Times New Roman" panose="02020603050405020304" pitchFamily="18" charset="0"/>
            </a:endParaRP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CĐCH ghế 23 tàu A321CEO: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HSYC lần 1,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đang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yêu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cầu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đối</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đác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làm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rõ</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bản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=&gt; </a:t>
            </a:r>
            <a:r>
              <a:rPr lang="en-US" sz="1100" dirty="0" err="1">
                <a:solidFill>
                  <a:schemeClr val="tx1"/>
                </a:solidFill>
                <a:latin typeface="Times New Roman" panose="02020603050405020304" pitchFamily="18" charset="0"/>
                <a:cs typeface="Times New Roman" panose="02020603050405020304" pitchFamily="18" charset="0"/>
              </a:rPr>
              <a:t>đánh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giá</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họp</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trình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kết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quả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trong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tuần</a:t>
            </a:r>
            <a:r>
              <a:rPr lang="en-US" sz="1100" dirty="0">
                <a:solidFill>
                  <a:schemeClr val="tx1"/>
                </a:solidFill>
                <a:latin typeface="Times New Roman" panose="02020603050405020304" pitchFamily="18" charset="0"/>
                <a:cs typeface="Times New Roman" panose="02020603050405020304" pitchFamily="18" charset="0"/>
              </a:rPr>
              <a:t> 09</a:t>
            </a:r>
          </a:p>
        </p:txBody>
      </p:sp>
      <p:sp>
        <p:nvSpPr>
          <p:cNvPr id="22" name="TextBox 21"/>
          <p:cNvSpPr txBox="1"/>
          <p:nvPr/>
        </p:nvSpPr>
        <p:spPr>
          <a:xfrm>
            <a:off x="365448" y="3016316"/>
            <a:ext cx="10862852"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12ea,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03ea,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9 ea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a:latin typeface="Times New Roman" panose="02020603050405020304" pitchFamily="18" charset="0"/>
                <a:cs typeface="Times New Roman" panose="02020603050405020304" pitchFamily="18" charset="0"/>
              </a:rPr>
              <a:t>04</a:t>
            </a:r>
            <a:r>
              <a:rPr lang="vi-VN" sz="1100" dirty="0">
                <a:latin typeface="Times New Roman" panose="02020603050405020304" pitchFamily="18" charset="0"/>
                <a:cs typeface="Times New Roman" panose="02020603050405020304" pitchFamily="18" charset="0"/>
              </a:rPr>
              <a:t> ADD; </a:t>
            </a:r>
            <a:r>
              <a:rPr lang="en-US" sz="1100" dirty="0">
                <a:latin typeface="Times New Roman"/>
                <a:ea typeface="Times New Roman"/>
                <a:cs typeface="Times New Roman"/>
                <a:sym typeface="Times New Roman"/>
              </a:rPr>
              <a:t>04RO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05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dirty="0">
                <a:latin typeface="Times New Roman" panose="02020603050405020304" pitchFamily="18" charset="0"/>
                <a:cs typeface="Times New Roman" panose="02020603050405020304" pitchFamily="18" charset="0"/>
              </a:rPr>
              <a:t>Hỏng hóc oven: </a:t>
            </a:r>
            <a:r>
              <a:rPr lang="en-US" sz="1100" dirty="0">
                <a:solidFill>
                  <a:srgbClr val="FF0000"/>
                </a:solidFill>
                <a:latin typeface="Times New Roman" panose="02020603050405020304" pitchFamily="18" charset="0"/>
                <a:cs typeface="Times New Roman" panose="02020603050405020304" pitchFamily="18" charset="0"/>
              </a:rPr>
              <a:t>hỏng </a:t>
            </a:r>
            <a:r>
              <a:rPr lang="en-US" sz="1100" dirty="0" err="1">
                <a:solidFill>
                  <a:srgbClr val="FF0000"/>
                </a:solidFill>
                <a:latin typeface="Times New Roman" panose="02020603050405020304" pitchFamily="18" charset="0"/>
                <a:cs typeface="Times New Roman" panose="02020603050405020304" pitchFamily="18" charset="0"/>
              </a:rPr>
              <a:t>hóc</a:t>
            </a:r>
            <a:r>
              <a:rPr lang="en-US" sz="1100" dirty="0">
                <a:solidFill>
                  <a:srgbClr val="FF0000"/>
                </a:solidFill>
                <a:latin typeface="Times New Roman" panose="02020603050405020304" pitchFamily="18" charset="0"/>
                <a:cs typeface="Times New Roman" panose="02020603050405020304" pitchFamily="18" charset="0"/>
              </a:rPr>
              <a:t> 10ea,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06ea,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04ea</a:t>
            </a:r>
          </a:p>
        </p:txBody>
      </p:sp>
      <p:sp>
        <p:nvSpPr>
          <p:cNvPr id="23" name="TextBox 22"/>
          <p:cNvSpPr txBox="1"/>
          <p:nvPr/>
        </p:nvSpPr>
        <p:spPr>
          <a:xfrm>
            <a:off x="366570" y="1555789"/>
            <a:ext cx="10867915" cy="61555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GB" sz="1100" b="1" dirty="0">
                <a:solidFill>
                  <a:schemeClr val="tx1"/>
                </a:solidFill>
                <a:latin typeface="Times New Roman" panose="02020603050405020304" pitchFamily="18" charset="0"/>
                <a:cs typeface="Times New Roman" panose="02020603050405020304" pitchFamily="18" charset="0"/>
              </a:rPr>
              <a:t>2</a:t>
            </a:r>
            <a:r>
              <a:rPr lang="en-US" sz="1100" b="1" dirty="0">
                <a:solidFill>
                  <a:schemeClr val="tx1"/>
                </a:solidFill>
                <a:latin typeface="Times New Roman" panose="02020603050405020304" pitchFamily="18" charset="0"/>
                <a:cs typeface="Times New Roman" panose="02020603050405020304" pitchFamily="18" charset="0"/>
              </a:rPr>
              <a:t>682</a:t>
            </a:r>
            <a:r>
              <a:rPr lang="en-GB" sz="1100" b="1" dirty="0">
                <a:solidFill>
                  <a:schemeClr val="tx1"/>
                </a:solidFill>
                <a:latin typeface="Times New Roman" panose="02020603050405020304" pitchFamily="18" charset="0"/>
                <a:cs typeface="Times New Roman" panose="02020603050405020304" pitchFamily="18" charset="0"/>
              </a:rPr>
              <a:t>/3</a:t>
            </a:r>
            <a:r>
              <a:rPr lang="en-US" sz="1100" b="1" dirty="0">
                <a:solidFill>
                  <a:schemeClr val="tx1"/>
                </a:solidFill>
                <a:latin typeface="Times New Roman" panose="02020603050405020304" pitchFamily="18" charset="0"/>
                <a:cs typeface="Times New Roman" panose="02020603050405020304" pitchFamily="18" charset="0"/>
              </a:rPr>
              <a:t>090 </a:t>
            </a:r>
            <a:r>
              <a:rPr lang="en-US" sz="1100" b="1" dirty="0">
                <a:latin typeface="Times New Roman" panose="02020603050405020304" pitchFamily="18" charset="0"/>
                <a:cs typeface="Times New Roman" panose="02020603050405020304" pitchFamily="18" charset="0"/>
              </a:rPr>
              <a:t>SVDU (còn 378 INOP SVDU). </a:t>
            </a:r>
            <a:r>
              <a:rPr lang="en-US" sz="1100" dirty="0">
                <a:solidFill>
                  <a:srgbClr val="FF0000"/>
                </a:solidFill>
                <a:latin typeface="Times New Roman" panose="02020603050405020304" pitchFamily="18" charset="0"/>
                <a:cs typeface="Times New Roman" panose="02020603050405020304" pitchFamily="18" charset="0"/>
              </a:rPr>
              <a:t>Trong tuần 7:  hỏng mới 10 ea, khắc phục 30ea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dự kiến bổ sung 30 SVDU trong tháng 3/2025</a:t>
            </a:r>
          </a:p>
        </p:txBody>
      </p:sp>
      <p:sp>
        <p:nvSpPr>
          <p:cNvPr id="25" name="TextBox 24"/>
          <p:cNvSpPr txBox="1"/>
          <p:nvPr/>
        </p:nvSpPr>
        <p:spPr>
          <a:xfrm>
            <a:off x="366570" y="2214613"/>
            <a:ext cx="10860609" cy="76944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latin typeface="Times New Roman" panose="02020603050405020304" pitchFamily="18" charset="0"/>
                <a:cs typeface="Times New Roman" panose="02020603050405020304" pitchFamily="18" charset="0"/>
              </a:rPr>
              <a:t>Toilet Assy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01 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00ea,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01ea</a:t>
            </a:r>
            <a:endParaRPr lang="en-US" sz="1100" dirty="0">
              <a:solidFill>
                <a:schemeClr val="tx1"/>
              </a:solidFill>
              <a:latin typeface="Times New Roman" panose="02020603050405020304" pitchFamily="18" charset="0"/>
              <a:cs typeface="Times New Roman" panose="02020603050405020304" pitchFamily="18" charset="0"/>
            </a:endParaRPr>
          </a:p>
          <a:p>
            <a:pPr marL="285750" indent="-285750">
              <a:buFontTx/>
              <a:buChar char="-"/>
            </a:pPr>
            <a:r>
              <a:rPr lang="en-US" sz="1100" b="1" dirty="0">
                <a:latin typeface="Times New Roman" panose="02020603050405020304" pitchFamily="18" charset="0"/>
                <a:cs typeface="Times New Roman" panose="02020603050405020304" pitchFamily="18" charset="0"/>
              </a:rPr>
              <a:t>Faucet Assy: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03ea,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01ea,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02ea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Basin: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03ea,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02ea,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01ea</a:t>
            </a:r>
          </a:p>
        </p:txBody>
      </p:sp>
      <p:sp>
        <p:nvSpPr>
          <p:cNvPr id="26" name="TextBox 25"/>
          <p:cNvSpPr txBox="1"/>
          <p:nvPr/>
        </p:nvSpPr>
        <p:spPr>
          <a:xfrm>
            <a:off x="364349" y="457200"/>
            <a:ext cx="10844923" cy="43088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08: </a:t>
            </a:r>
            <a:r>
              <a:rPr lang="en-US" sz="1100" dirty="0" err="1">
                <a:latin typeface="Times New Roman" panose="02020603050405020304" pitchFamily="18" charset="0"/>
                <a:cs typeface="Times New Roman" panose="02020603050405020304" pitchFamily="18" charset="0"/>
              </a:rPr>
              <a:t>Tổng</a:t>
            </a:r>
            <a:r>
              <a:rPr lang="en-US" sz="1100" dirty="0">
                <a:latin typeface="Times New Roman" panose="02020603050405020304" pitchFamily="18" charset="0"/>
                <a:cs typeface="Times New Roman" panose="02020603050405020304" pitchFamily="18" charset="0"/>
              </a:rPr>
              <a:t> 211 (</a:t>
            </a:r>
            <a:r>
              <a:rPr lang="en-US" sz="1100" dirty="0" err="1">
                <a:latin typeface="Times New Roman" panose="02020603050405020304" pitchFamily="18" charset="0"/>
                <a:cs typeface="Times New Roman" panose="02020603050405020304" pitchFamily="18" charset="0"/>
              </a:rPr>
              <a:t>tương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đương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tuần</a:t>
            </a:r>
            <a:r>
              <a:rPr lang="en-US" sz="1100" dirty="0">
                <a:latin typeface="Times New Roman" panose="02020603050405020304" pitchFamily="18" charset="0"/>
                <a:cs typeface="Times New Roman" panose="02020603050405020304" pitchFamily="18" charset="0"/>
              </a:rPr>
              <a:t> 07), khắc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62ADD =&gt; tồn </a:t>
            </a:r>
            <a:r>
              <a:rPr lang="en-US" sz="1100" dirty="0" err="1">
                <a:latin typeface="Times New Roman" panose="02020603050405020304" pitchFamily="18" charset="0"/>
                <a:cs typeface="Times New Roman" panose="02020603050405020304" pitchFamily="18" charset="0"/>
              </a:rPr>
              <a:t>đọng</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149ADD</a:t>
            </a:r>
            <a:r>
              <a:rPr lang="en-US" sz="1100" dirty="0">
                <a:latin typeface="Times New Roman" panose="02020603050405020304" pitchFamily="18" charset="0"/>
                <a:cs typeface="Times New Roman" panose="02020603050405020304" pitchFamily="18" charset="0"/>
              </a:rPr>
              <a:t> </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tăng</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5% so với </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7).</a:t>
            </a:r>
          </a:p>
          <a:p>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75533" y="928451"/>
            <a:ext cx="10867915"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08</a:t>
            </a: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00.</a:t>
            </a:r>
          </a:p>
          <a:p>
            <a:pPr marL="285750" indent="-285750">
              <a:buFontTx/>
              <a:buChar char="-"/>
            </a:pPr>
            <a:r>
              <a:rPr lang="en-US" sz="1100" b="1" dirty="0" err="1">
                <a:latin typeface="Times New Roman" panose="02020603050405020304" pitchFamily="18" charset="0"/>
                <a:cs typeface="Times New Roman" panose="02020603050405020304" pitchFamily="18" charset="0"/>
              </a:rPr>
              <a:t>Ghế</a:t>
            </a:r>
            <a:r>
              <a:rPr lang="en-US" sz="1100" b="1" dirty="0">
                <a:latin typeface="Times New Roman" panose="02020603050405020304" pitchFamily="18" charset="0"/>
                <a:cs typeface="Times New Roman" panose="02020603050405020304" pitchFamily="18" charset="0"/>
              </a:rPr>
              <a:t>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a:solidFill>
                  <a:srgbClr val="FF0000"/>
                </a:solidFill>
                <a:latin typeface="Times New Roman" panose="02020603050405020304" pitchFamily="18" charset="0"/>
                <a:cs typeface="Times New Roman" panose="02020603050405020304" pitchFamily="18" charset="0"/>
              </a:rPr>
              <a:t>hỏng 6,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2,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03</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11124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527600"/>
            <a:ext cx="10820401" cy="543635"/>
          </a:xfrm>
          <a:prstGeom prst="rect">
            <a:avLst/>
          </a:prstGeom>
          <a:noFill/>
          <a:ln>
            <a:noFill/>
          </a:ln>
        </p:spPr>
        <p:txBody>
          <a:bodyPr spcFirstLastPara="1" wrap="square" lIns="91433" tIns="45700" rIns="91433" bIns="45700" anchor="t" anchorCtr="0">
            <a:spAutoFit/>
          </a:bodyPr>
          <a:lstStyle/>
          <a:p>
            <a:pPr lvl="0"/>
            <a:r>
              <a:rPr lang="en-US" sz="28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800" dirty="0"/>
          </a:p>
        </p:txBody>
      </p:sp>
      <p:sp>
        <p:nvSpPr>
          <p:cNvPr id="66" name="Google Shape;66;p6"/>
          <p:cNvSpPr txBox="1"/>
          <p:nvPr/>
        </p:nvSpPr>
        <p:spPr>
          <a:xfrm>
            <a:off x="761999" y="1317577"/>
            <a:ext cx="10820401" cy="4154943"/>
          </a:xfrm>
          <a:prstGeom prst="rect">
            <a:avLst/>
          </a:prstGeom>
          <a:noFill/>
          <a:ln>
            <a:noFill/>
          </a:ln>
        </p:spPr>
        <p:txBody>
          <a:bodyPr spcFirstLastPara="1" wrap="square" lIns="91433" tIns="45700" rIns="91433" bIns="45700" anchor="t" anchorCtr="0">
            <a:spAutoFit/>
          </a:bodyPr>
          <a:lstStyle/>
          <a:p>
            <a:pPr lvl="2" algn="just"/>
            <a:endParaRPr lang="en-US" sz="1600" b="1"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GIA HẠN THUÊ 10 TÀU VALC </a:t>
            </a:r>
          </a:p>
          <a:p>
            <a:pPr algn="just"/>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ý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31/03/2025.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02 </a:t>
            </a:r>
            <a:r>
              <a:rPr lang="en-US" sz="1600" dirty="0" err="1">
                <a:latin typeface="Times New Roman" panose="02020603050405020304" pitchFamily="18" charset="0"/>
                <a:cs typeface="Times New Roman" panose="02020603050405020304" pitchFamily="18" charset="0"/>
              </a:rPr>
              <a:t>đối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tâm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mua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FTAI. </a:t>
            </a:r>
            <a:r>
              <a:rPr lang="en-US" sz="1600" dirty="0" err="1">
                <a:latin typeface="Times New Roman" panose="02020603050405020304" pitchFamily="18" charset="0"/>
                <a:cs typeface="Times New Roman" panose="02020603050405020304" pitchFamily="18" charset="0"/>
              </a:rPr>
              <a:t>Thủ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chậm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tiếp</a:t>
            </a:r>
            <a:r>
              <a:rPr lang="en-US" sz="1600" dirty="0">
                <a:latin typeface="Times New Roman" panose="02020603050405020304" pitchFamily="18" charset="0"/>
                <a:cs typeface="Times New Roman" panose="02020603050405020304" pitchFamily="18" charset="0"/>
              </a:rPr>
              <a:t> 3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30/06/2025.</a:t>
            </a:r>
          </a:p>
          <a:p>
            <a:pPr lvl="0" algn="just"/>
            <a:r>
              <a:rPr lang="en-US" sz="1600" dirty="0">
                <a:latin typeface="Times New Roman" panose="02020603050405020304" pitchFamily="18" charset="0"/>
                <a:cs typeface="Times New Roman" panose="02020603050405020304" pitchFamily="18" charset="0"/>
              </a:rPr>
              <a:t>1,  Arena: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trung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bình</a:t>
            </a:r>
            <a:r>
              <a:rPr lang="en-US" sz="1600" dirty="0">
                <a:latin typeface="Times New Roman" panose="02020603050405020304" pitchFamily="18" charset="0"/>
                <a:cs typeface="Times New Roman" panose="02020603050405020304" pitchFamily="18" charset="0"/>
              </a:rPr>
              <a:t> 5 </a:t>
            </a:r>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nội</a:t>
            </a:r>
            <a:r>
              <a:rPr lang="en-US" sz="1600" dirty="0">
                <a:latin typeface="Times New Roman" panose="02020603050405020304" pitchFamily="18" charset="0"/>
                <a:cs typeface="Times New Roman" panose="02020603050405020304" pitchFamily="18" charset="0"/>
              </a:rPr>
              <a:t> dung </a:t>
            </a:r>
            <a:r>
              <a:rPr lang="en-US" sz="1600" dirty="0" err="1">
                <a:latin typeface="Times New Roman" panose="02020603050405020304" pitchFamily="18" charset="0"/>
                <a:cs typeface="Times New Roman" panose="02020603050405020304" pitchFamily="18" charset="0"/>
              </a:rPr>
              <a:t>liên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KT</a:t>
            </a:r>
          </a:p>
          <a:p>
            <a:pPr lvl="0" algn="just"/>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vấn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lớn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xuất</a:t>
            </a:r>
            <a:r>
              <a:rPr lang="en-US" sz="1600" dirty="0">
                <a:latin typeface="Times New Roman" panose="02020603050405020304" pitchFamily="18" charset="0"/>
                <a:cs typeface="Times New Roman" panose="02020603050405020304" pitchFamily="18" charset="0"/>
              </a:rPr>
              <a:t>:</a:t>
            </a:r>
          </a:p>
          <a:p>
            <a:pPr lvl="1" algn="just">
              <a:spcBef>
                <a:spcPts val="600"/>
              </a:spcBef>
              <a:spcAft>
                <a:spcPts val="600"/>
              </a:spcAft>
            </a:pPr>
            <a:r>
              <a:rPr lang="en-US" sz="1600" dirty="0">
                <a:latin typeface="Times New Roman" panose="02020603050405020304" pitchFamily="18" charset="0"/>
                <a:cs typeface="Times New Roman" panose="02020603050405020304" pitchFamily="18" charset="0"/>
              </a:rPr>
              <a:t>a.  </a:t>
            </a:r>
            <a:r>
              <a:rPr lang="vi-VN" sz="1600" dirty="0">
                <a:latin typeface="Times New Roman" panose="02020603050405020304" pitchFamily="18" charset="0"/>
                <a:cs typeface="Times New Roman" panose="02020603050405020304" pitchFamily="18" charset="0"/>
              </a:rPr>
              <a:t>10 tàu bay cần được duy trì khả năng khai thác sau khi hết hợp đồng gia hạn với Arena.</a:t>
            </a:r>
          </a:p>
          <a:p>
            <a:pPr lvl="1" algn="just">
              <a:spcBef>
                <a:spcPts val="600"/>
              </a:spcBef>
              <a:spcAft>
                <a:spcPts val="600"/>
              </a:spcAft>
            </a:pPr>
            <a:r>
              <a:rPr lang="en-US" sz="1600" dirty="0">
                <a:latin typeface="Times New Roman" panose="02020603050405020304" pitchFamily="18" charset="0"/>
                <a:cs typeface="Times New Roman" panose="02020603050405020304" pitchFamily="18" charset="0"/>
              </a:rPr>
              <a:t>b.  </a:t>
            </a:r>
            <a:r>
              <a:rPr lang="vi-VN" sz="1600" dirty="0">
                <a:latin typeface="Times New Roman" panose="02020603050405020304" pitchFamily="18" charset="0"/>
                <a:cs typeface="Times New Roman" panose="02020603050405020304" pitchFamily="18" charset="0"/>
              </a:rPr>
              <a:t>Thực hiện balancing quỹ bảo dưỡng sau khi kết thúc gia hạn thuê.</a:t>
            </a:r>
          </a:p>
          <a:p>
            <a:pPr lvl="1" algn="just">
              <a:spcBef>
                <a:spcPts val="600"/>
              </a:spcBef>
              <a:spcAft>
                <a:spcPts val="600"/>
              </a:spcAft>
            </a:pPr>
            <a:r>
              <a:rPr lang="en-US" sz="1600" dirty="0">
                <a:latin typeface="Times New Roman" panose="02020603050405020304" pitchFamily="18" charset="0"/>
                <a:cs typeface="Times New Roman" panose="02020603050405020304" pitchFamily="18" charset="0"/>
              </a:rPr>
              <a:t>c.  </a:t>
            </a:r>
            <a:r>
              <a:rPr lang="vi-VN" sz="1600" dirty="0">
                <a:latin typeface="Times New Roman" panose="02020603050405020304" pitchFamily="18" charset="0"/>
                <a:cs typeface="Times New Roman" panose="02020603050405020304" pitchFamily="18" charset="0"/>
              </a:rPr>
              <a:t>Đồng ý giảm MR và đề xuất phương án buy-out</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cho </a:t>
            </a:r>
            <a:r>
              <a:rPr lang="en-US" sz="1600" dirty="0" err="1">
                <a:latin typeface="Times New Roman" panose="02020603050405020304" pitchFamily="18" charset="0"/>
                <a:cs typeface="Times New Roman" panose="02020603050405020304" pitchFamily="18" charset="0"/>
              </a:rPr>
              <a:t>một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điều kiện trả</a:t>
            </a:r>
            <a:r>
              <a:rPr lang="en-US" sz="1600" dirty="0">
                <a:latin typeface="Times New Roman" panose="02020603050405020304" pitchFamily="18" charset="0"/>
                <a:cs typeface="Times New Roman" panose="02020603050405020304" pitchFamily="18" charset="0"/>
              </a:rPr>
              <a:t>.</a:t>
            </a:r>
          </a:p>
          <a:p>
            <a:pPr algn="just">
              <a:spcBef>
                <a:spcPts val="600"/>
              </a:spcBef>
              <a:spcAft>
                <a:spcPts val="600"/>
              </a:spcAft>
            </a:pPr>
            <a:r>
              <a:rPr lang="en-US" sz="1600" dirty="0">
                <a:latin typeface="Times New Roman" panose="02020603050405020304" pitchFamily="18" charset="0"/>
                <a:cs typeface="Times New Roman" panose="02020603050405020304" pitchFamily="18" charset="0"/>
              </a:rPr>
              <a:t>2,  FTAI: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As-is,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đảm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hỗ</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run-out.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ngoại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VNA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p>
          <a:p>
            <a:pPr lvl="2"/>
            <a:endParaRPr lang="en-US" sz="1600" b="1" dirty="0">
              <a:solidFill>
                <a:srgbClr val="006880"/>
              </a:solidFill>
              <a:latin typeface="Times New Roman" panose="02020603050405020304" pitchFamily="18" charset="0"/>
              <a:cs typeface="Times New Roman" panose="02020603050405020304" pitchFamily="18" charset="0"/>
            </a:endParaRPr>
          </a:p>
          <a:p>
            <a:endParaRPr sz="1600" b="1" dirty="0">
              <a:solidFill>
                <a:srgbClr val="006880"/>
              </a:solidFill>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53</a:t>
            </a:fld>
            <a:endParaRPr/>
          </a:p>
        </p:txBody>
      </p:sp>
    </p:spTree>
    <p:extLst>
      <p:ext uri="{BB962C8B-B14F-4D97-AF65-F5344CB8AC3E}">
        <p14:creationId xmlns:p14="http://schemas.microsoft.com/office/powerpoint/2010/main" val="32957286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54</a:t>
            </a:fld>
            <a:endParaRPr lang="en-US"/>
          </a:p>
        </p:txBody>
      </p:sp>
      <p:sp>
        <p:nvSpPr>
          <p:cNvPr id="5" name="Title 4"/>
          <p:cNvSpPr>
            <a:spLocks noGrp="1"/>
          </p:cNvSpPr>
          <p:nvPr>
            <p:ph type="title"/>
          </p:nvPr>
        </p:nvSpPr>
        <p:spPr>
          <a:xfrm>
            <a:off x="228600" y="46071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4132644854"/>
              </p:ext>
            </p:extLst>
          </p:nvPr>
        </p:nvGraphicFramePr>
        <p:xfrm>
          <a:off x="633833" y="3429000"/>
          <a:ext cx="10515600" cy="2285665"/>
        </p:xfrm>
        <a:graphic>
          <a:graphicData uri="http://schemas.openxmlformats.org/drawingml/2006/table">
            <a:tbl>
              <a:tblPr/>
              <a:tblGrid>
                <a:gridCol w="204769">
                  <a:extLst>
                    <a:ext uri="{9D8B030D-6E8A-4147-A177-3AD203B41FA5}">
                      <a16:colId xmlns:a16="http://schemas.microsoft.com/office/drawing/2014/main" val="20000"/>
                    </a:ext>
                  </a:extLst>
                </a:gridCol>
                <a:gridCol w="1309279">
                  <a:extLst>
                    <a:ext uri="{9D8B030D-6E8A-4147-A177-3AD203B41FA5}">
                      <a16:colId xmlns:a16="http://schemas.microsoft.com/office/drawing/2014/main" val="20001"/>
                    </a:ext>
                  </a:extLst>
                </a:gridCol>
                <a:gridCol w="421948">
                  <a:extLst>
                    <a:ext uri="{9D8B030D-6E8A-4147-A177-3AD203B41FA5}">
                      <a16:colId xmlns:a16="http://schemas.microsoft.com/office/drawing/2014/main" val="20002"/>
                    </a:ext>
                  </a:extLst>
                </a:gridCol>
                <a:gridCol w="455042">
                  <a:extLst>
                    <a:ext uri="{9D8B030D-6E8A-4147-A177-3AD203B41FA5}">
                      <a16:colId xmlns:a16="http://schemas.microsoft.com/office/drawing/2014/main" val="20003"/>
                    </a:ext>
                  </a:extLst>
                </a:gridCol>
                <a:gridCol w="5274347">
                  <a:extLst>
                    <a:ext uri="{9D8B030D-6E8A-4147-A177-3AD203B41FA5}">
                      <a16:colId xmlns:a16="http://schemas.microsoft.com/office/drawing/2014/main" val="20004"/>
                    </a:ext>
                  </a:extLst>
                </a:gridCol>
                <a:gridCol w="508819">
                  <a:extLst>
                    <a:ext uri="{9D8B030D-6E8A-4147-A177-3AD203B41FA5}">
                      <a16:colId xmlns:a16="http://schemas.microsoft.com/office/drawing/2014/main" val="20005"/>
                    </a:ext>
                  </a:extLst>
                </a:gridCol>
                <a:gridCol w="793163">
                  <a:extLst>
                    <a:ext uri="{9D8B030D-6E8A-4147-A177-3AD203B41FA5}">
                      <a16:colId xmlns:a16="http://schemas.microsoft.com/office/drawing/2014/main" val="20006"/>
                    </a:ext>
                  </a:extLst>
                </a:gridCol>
                <a:gridCol w="1194542">
                  <a:extLst>
                    <a:ext uri="{9D8B030D-6E8A-4147-A177-3AD203B41FA5}">
                      <a16:colId xmlns:a16="http://schemas.microsoft.com/office/drawing/2014/main" val="20007"/>
                    </a:ext>
                  </a:extLst>
                </a:gridCol>
                <a:gridCol w="353691">
                  <a:extLst>
                    <a:ext uri="{9D8B030D-6E8A-4147-A177-3AD203B41FA5}">
                      <a16:colId xmlns:a16="http://schemas.microsoft.com/office/drawing/2014/main" val="20008"/>
                    </a:ext>
                  </a:extLst>
                </a:gridCol>
              </a:tblGrid>
              <a:tr h="226142">
                <a:tc gridSpan="9">
                  <a:txBody>
                    <a:bodyPr/>
                    <a:lstStyle/>
                    <a:p>
                      <a:pPr algn="ctr" fontAlgn="ctr"/>
                      <a:r>
                        <a:rPr lang="vi-VN" sz="1050" b="1" i="0" u="none" strike="noStrike">
                          <a:solidFill>
                            <a:srgbClr val="000000"/>
                          </a:solidFill>
                          <a:effectLst/>
                          <a:latin typeface="Times New Roman" panose="02020603050405020304" pitchFamily="18" charset="0"/>
                        </a:rPr>
                        <a:t>BẢNG TỔNG HỢP VÀ THEO DÕI NHÂN NHƯỢNG - VIETNAM AIRLINES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26142">
                <a:tc>
                  <a:txBody>
                    <a:bodyPr/>
                    <a:lstStyle/>
                    <a:p>
                      <a:pPr algn="ctr" fontAlgn="ctr"/>
                      <a:r>
                        <a:rPr lang="en-US" sz="1050" b="1" i="0" u="none" strike="noStrike">
                          <a:solidFill>
                            <a:srgbClr val="000000"/>
                          </a:solidFill>
                          <a:effectLst/>
                          <a:latin typeface="Times New Roman" panose="02020603050405020304" pitchFamily="18" charset="0"/>
                        </a:rPr>
                        <a:t>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Concession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Type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Reg</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Description</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Issued By</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Issued Date</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ADD/CHK/Task No</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1" i="0" u="none" strike="noStrike">
                          <a:solidFill>
                            <a:srgbClr val="000000"/>
                          </a:solidFill>
                          <a:effectLst/>
                          <a:latin typeface="Times New Roman" panose="02020603050405020304" pitchFamily="18" charset="0"/>
                        </a:rPr>
                        <a:t>Status</a:t>
                      </a: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33438">
                <a:tc>
                  <a:txBody>
                    <a:bodyPr/>
                    <a:lstStyle/>
                    <a:p>
                      <a:pPr algn="ctr" fontAlgn="ctr"/>
                      <a:r>
                        <a:rPr lang="en-US" sz="1100" b="0" i="0" u="none" strike="noStrike" dirty="0">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357-02/25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A357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ADD B2003" AIR ENG#1 HP VALVE FAULT" RAISED IAW MEL 36-11-07B CAT C DEADLINE: 19/02/2025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19-Feb-2025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050" b="0" i="0" u="none" strike="noStrike">
                        <a:solidFill>
                          <a:srgbClr val="000000"/>
                        </a:solidFill>
                        <a:effectLst/>
                        <a:latin typeface="Times New Roman" panose="02020603050405020304" pitchFamily="18" charset="0"/>
                      </a:endParaRP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33438">
                <a:tc>
                  <a:txBody>
                    <a:bodyPr/>
                    <a:lstStyle/>
                    <a:p>
                      <a:pPr algn="ctr" fontAlgn="ctr"/>
                      <a:r>
                        <a:rPr lang="en-US" sz="1100" b="0" i="0" u="none" strike="noStrike">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625-02/25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ADD B414, B415, B416, B417, B418, B419, B420, B421,B424, B425, B426: ADD về Placards.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20-Feb-2025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050" b="0" i="0" u="none" strike="noStrike">
                        <a:solidFill>
                          <a:srgbClr val="000000"/>
                        </a:solidFill>
                        <a:effectLst/>
                        <a:latin typeface="Times New Roman" panose="02020603050405020304" pitchFamily="18" charset="0"/>
                      </a:endParaRP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4157801"/>
                  </a:ext>
                </a:extLst>
              </a:tr>
              <a:tr h="433438">
                <a:tc>
                  <a:txBody>
                    <a:bodyPr/>
                    <a:lstStyle/>
                    <a:p>
                      <a:pPr algn="ctr" fontAlgn="ctr"/>
                      <a:r>
                        <a:rPr lang="en-US" sz="1100" b="0" i="0" u="none" strike="noStrike">
                          <a:solidFill>
                            <a:srgbClr val="00000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HVN/VN-A612/2025-02-23/01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ADD B1966 RAISED “RAIN REPELLENTSYSTEM INOP” REFER TO MEL 30-45-03A, CAT 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CAAV</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23-Feb-2025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050" b="0" i="0" u="none" strike="noStrike">
                        <a:solidFill>
                          <a:srgbClr val="000000"/>
                        </a:solidFill>
                        <a:effectLst/>
                        <a:latin typeface="Times New Roman" panose="02020603050405020304" pitchFamily="18" charset="0"/>
                      </a:endParaRP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438">
                <a:tc>
                  <a:txBody>
                    <a:bodyPr/>
                    <a:lstStyle/>
                    <a:p>
                      <a:pPr algn="ctr" fontAlgn="ctr"/>
                      <a:r>
                        <a:rPr lang="en-US" sz="1100" b="0" i="0" u="none" strike="noStrike">
                          <a:solidFill>
                            <a:srgbClr val="00000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864-01/25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Task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rPr>
                        <a:t>Due to LACK OF RESOURCES, schedule of AMP group tasks for check A04 for VN-A864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19-Feb-2025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panose="02020603050405020304" pitchFamily="18" charset="0"/>
                        </a:rPr>
                        <a:t>Group Task A04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050" b="0" i="0" u="none" strike="noStrike" dirty="0">
                        <a:solidFill>
                          <a:srgbClr val="000000"/>
                        </a:solidFill>
                        <a:effectLst/>
                        <a:latin typeface="Times New Roman" panose="02020603050405020304" pitchFamily="18" charset="0"/>
                      </a:endParaRPr>
                    </a:p>
                  </a:txBody>
                  <a:tcPr marL="5731" marR="5731" marT="57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7" name="Chart 6">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1778584538"/>
              </p:ext>
            </p:extLst>
          </p:nvPr>
        </p:nvGraphicFramePr>
        <p:xfrm>
          <a:off x="4495800" y="1030953"/>
          <a:ext cx="4004481" cy="232184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79567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This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375:05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Next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123.64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201:35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765:30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569:40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279:35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nvGraphicFramePr>
        <p:xfrm>
          <a:off x="1059507" y="967066"/>
          <a:ext cx="10370492"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269509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Số chuyến bay theo ngày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a:solidFill>
                            <a:srgbClr val="000000"/>
                          </a:solidFill>
                          <a:effectLst/>
                          <a:latin typeface="Times New Roman" panose="02020603050405020304" pitchFamily="18" charset="0"/>
                        </a:rPr>
                        <a:t>Next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01-Mar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02-Mar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nvGraphicFramePr>
        <p:xfrm>
          <a:off x="925418" y="1143000"/>
          <a:ext cx="10521106" cy="22767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810207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nvGraphicFramePr>
        <p:xfrm>
          <a:off x="609599" y="1219200"/>
          <a:ext cx="11217275" cy="52578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912439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r>
              <a:rPr lang="en-US" sz="1500">
                <a:solidFill>
                  <a:schemeClr val="dk1"/>
                </a:solidFill>
                <a:latin typeface="Times New Roman"/>
                <a:ea typeface="Times New Roman"/>
                <a:cs typeface="Times New Roman"/>
                <a:sym typeface="Times New Roman"/>
              </a:rPr>
              <a:t>NIL.</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Kh</a:t>
            </a:r>
            <a:r>
              <a:rPr lang="en-US" sz="1500" b="1">
                <a:solidFill>
                  <a:schemeClr val="dk1"/>
                </a:solidFill>
                <a:latin typeface="Times New Roman"/>
                <a:ea typeface="Times New Roman"/>
                <a:cs typeface="Times New Roman"/>
                <a:sym typeface="Times New Roman"/>
              </a:rPr>
              <a:t>ông có vướng mắc vật tư</a:t>
            </a:r>
            <a:endParaRPr sz="1500" b="1">
              <a:solidFill>
                <a:schemeClr val="dk1"/>
              </a:solidFill>
              <a:latin typeface="Times New Roman"/>
              <a:ea typeface="Times New Roman"/>
              <a:cs typeface="Times New Roman"/>
              <a:sym typeface="Times New Roman"/>
            </a:endParaRPr>
          </a:p>
          <a:p>
            <a:pPr marL="45720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cần giục vật tư (đã loại các defect có stock):</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185738" y="2288325"/>
            <a:ext cx="11820525" cy="3886200"/>
          </a:xfrm>
          <a:prstGeom prst="rect">
            <a:avLst/>
          </a:prstGeom>
          <a:noFill/>
          <a:ln>
            <a:noFill/>
          </a:ln>
        </p:spPr>
      </p:pic>
    </p:spTree>
    <p:extLst>
      <p:ext uri="{BB962C8B-B14F-4D97-AF65-F5344CB8AC3E}">
        <p14:creationId xmlns:p14="http://schemas.microsoft.com/office/powerpoint/2010/main" val="42484859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graphicFrame>
        <p:nvGraphicFramePr>
          <p:cNvPr id="167" name="Google Shape;167;g31ccdae391d_0_271"/>
          <p:cNvGraphicFramePr/>
          <p:nvPr/>
        </p:nvGraphicFramePr>
        <p:xfrm>
          <a:off x="489114" y="611396"/>
          <a:ext cx="11570675" cy="42032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 2 RO dự kiến 28/2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NIL, đang giục RO (gửi VAECO)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 đang giục RO (gửi VAECO)</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3ea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4ea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9591837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74" name="Google Shape;17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graphicFrame>
        <p:nvGraphicFramePr>
          <p:cNvPr id="175" name="Google Shape;175;g31ccdae391d_0_278"/>
          <p:cNvGraphicFramePr/>
          <p:nvPr/>
        </p:nvGraphicFramePr>
        <p:xfrm>
          <a:off x="558675" y="462325"/>
          <a:ext cx="10287000" cy="6299034"/>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 không có stock, leadtime 90 ngày</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 đang mua từ Honeywell, 25/2 nhập kho</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3RO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9287277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82" name="Google Shape;18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graphicFrame>
        <p:nvGraphicFramePr>
          <p:cNvPr id="183" name="Google Shape;18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mua 6ea nhưng Safran không có stock, đang giục đối tác cấp hàng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dirty="0">
                          <a:solidFill>
                            <a:srgbClr val="000000"/>
                          </a:solidFill>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Đề</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nghị</a:t>
                      </a:r>
                      <a:r>
                        <a:rPr lang="en-US" sz="1150" u="none" strike="noStrike" cap="none" dirty="0">
                          <a:latin typeface="Times New Roman"/>
                          <a:ea typeface="Times New Roman"/>
                          <a:cs typeface="Times New Roman"/>
                          <a:sym typeface="Times New Roman"/>
                        </a:rPr>
                        <a:t> VAECO </a:t>
                      </a:r>
                      <a:r>
                        <a:rPr lang="en-US" sz="1150" u="none" strike="noStrike" cap="none" dirty="0" err="1">
                          <a:latin typeface="Times New Roman"/>
                          <a:ea typeface="Times New Roman"/>
                          <a:cs typeface="Times New Roman"/>
                          <a:sym typeface="Times New Roman"/>
                        </a:rPr>
                        <a:t>có</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đánh</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giá</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hỏng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hóc</a:t>
                      </a:r>
                      <a:r>
                        <a:rPr lang="en-US" sz="1150" u="none" strike="noStrike" cap="none" dirty="0">
                          <a:latin typeface="Times New Roman"/>
                          <a:ea typeface="Times New Roman"/>
                          <a:cs typeface="Times New Roman"/>
                          <a:sym typeface="Times New Roman"/>
                        </a:rPr>
                        <a:t> (SDR) </a:t>
                      </a:r>
                      <a:r>
                        <a:rPr lang="en-US" sz="1150" u="none" strike="noStrike" cap="none" dirty="0" err="1">
                          <a:latin typeface="Times New Roman"/>
                          <a:ea typeface="Times New Roman"/>
                          <a:cs typeface="Times New Roman"/>
                          <a:sym typeface="Times New Roman"/>
                        </a:rPr>
                        <a:t>sớm</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và</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gửi</a:t>
                      </a:r>
                      <a:r>
                        <a:rPr lang="en-US" sz="1150" u="none" strike="noStrike" cap="none" dirty="0">
                          <a:latin typeface="Times New Roman"/>
                          <a:ea typeface="Times New Roman"/>
                          <a:cs typeface="Times New Roman"/>
                          <a:sym typeface="Times New Roman"/>
                        </a:rPr>
                        <a:t> Ban QLVT </a:t>
                      </a:r>
                      <a:r>
                        <a:rPr lang="en-US" sz="1150" u="none" strike="noStrike" cap="none" dirty="0" err="1">
                          <a:latin typeface="Times New Roman"/>
                          <a:ea typeface="Times New Roman"/>
                          <a:cs typeface="Times New Roman"/>
                          <a:sym typeface="Times New Roman"/>
                        </a:rPr>
                        <a:t>để</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hỏi</a:t>
                      </a:r>
                      <a:r>
                        <a:rPr lang="en-US" sz="1150" u="none" strike="noStrike" cap="none" dirty="0">
                          <a:latin typeface="Times New Roman"/>
                          <a:ea typeface="Times New Roman"/>
                          <a:cs typeface="Times New Roman"/>
                          <a:sym typeface="Times New Roman"/>
                        </a:rPr>
                        <a:t> repair cap </a:t>
                      </a:r>
                      <a:r>
                        <a:rPr lang="en-US" sz="1150" u="none" strike="noStrike" cap="none" dirty="0" err="1">
                          <a:latin typeface="Times New Roman"/>
                          <a:ea typeface="Times New Roman"/>
                          <a:cs typeface="Times New Roman"/>
                          <a:sym typeface="Times New Roman"/>
                        </a:rPr>
                        <a:t>và</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chọn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cơ</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sở</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sửa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chữa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phù</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hợp</a:t>
                      </a:r>
                      <a:r>
                        <a:rPr lang="en-US" sz="1150" u="none" strike="noStrike" cap="none" dirty="0">
                          <a:latin typeface="Times New Roman"/>
                          <a:ea typeface="Times New Roman"/>
                          <a:cs typeface="Times New Roman"/>
                          <a:sym typeface="Times New Roman"/>
                        </a:rPr>
                        <a:t>.</a:t>
                      </a:r>
                      <a:endParaRPr sz="115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a:latin typeface="Times New Roman"/>
                          <a:ea typeface="Times New Roman"/>
                          <a:cs typeface="Times New Roman"/>
                          <a:sym typeface="Times New Roman"/>
                        </a:rPr>
                        <a:t>- </a:t>
                      </a:r>
                      <a:r>
                        <a:rPr lang="en-US" sz="1150" b="0" i="0" u="none" strike="noStrike" cap="none" dirty="0">
                          <a:solidFill>
                            <a:srgbClr val="000000"/>
                          </a:solidFill>
                          <a:latin typeface="Times New Roman"/>
                          <a:ea typeface="Times New Roman"/>
                          <a:cs typeface="Times New Roman"/>
                          <a:sym typeface="Times New Roman"/>
                        </a:rPr>
                        <a:t>Ban QLVT </a:t>
                      </a:r>
                      <a:r>
                        <a:rPr lang="en-US" sz="1150" b="0" i="0" u="none" strike="noStrike" cap="none" dirty="0" err="1">
                          <a:solidFill>
                            <a:srgbClr val="000000"/>
                          </a:solidFill>
                          <a:latin typeface="Times New Roman"/>
                          <a:ea typeface="Times New Roman"/>
                          <a:cs typeface="Times New Roman"/>
                          <a:sym typeface="Times New Roman"/>
                        </a:rPr>
                        <a:t>tiếp</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tục</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làm</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việc</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với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cơ</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sở</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sửa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chữa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để</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rút</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ngắn</a:t>
                      </a:r>
                      <a:r>
                        <a:rPr lang="en-US" sz="1150" u="none" strike="noStrike" cap="none" dirty="0">
                          <a:latin typeface="Times New Roman"/>
                          <a:ea typeface="Times New Roman"/>
                          <a:cs typeface="Times New Roman"/>
                          <a:sym typeface="Times New Roman"/>
                        </a:rPr>
                        <a:t> TAT</a:t>
                      </a:r>
                      <a:br>
                        <a:rPr lang="en-US" sz="1150" b="0" i="0" u="none" strike="noStrike" cap="none" dirty="0">
                          <a:solidFill>
                            <a:srgbClr val="000000"/>
                          </a:solidFill>
                          <a:latin typeface="Times New Roman"/>
                          <a:ea typeface="Times New Roman"/>
                          <a:cs typeface="Times New Roman"/>
                          <a:sym typeface="Times New Roman"/>
                        </a:rPr>
                      </a:b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Đề</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nghị</a:t>
                      </a:r>
                      <a:r>
                        <a:rPr lang="en-US" sz="1150" b="0" i="0" u="none" strike="noStrike" cap="none" dirty="0">
                          <a:solidFill>
                            <a:srgbClr val="000000"/>
                          </a:solidFill>
                          <a:latin typeface="Times New Roman"/>
                          <a:ea typeface="Times New Roman"/>
                          <a:cs typeface="Times New Roman"/>
                          <a:sym typeface="Times New Roman"/>
                        </a:rPr>
                        <a:t> Ban KT/Vaeco </a:t>
                      </a:r>
                      <a:r>
                        <a:rPr lang="en-US" sz="1150" b="0" i="0" u="none" strike="noStrike" cap="none" dirty="0" err="1">
                          <a:solidFill>
                            <a:srgbClr val="000000"/>
                          </a:solidFill>
                          <a:latin typeface="Times New Roman"/>
                          <a:ea typeface="Times New Roman"/>
                          <a:cs typeface="Times New Roman"/>
                          <a:sym typeface="Times New Roman"/>
                        </a:rPr>
                        <a:t>có</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giải</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pháp</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hạn</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chế</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hỏng</a:t>
                      </a:r>
                      <a:r>
                        <a:rPr lang="en-US" sz="1150" b="0" i="0" u="none" strike="noStrike" cap="none" dirty="0">
                          <a:solidFill>
                            <a:srgbClr val="000000"/>
                          </a:solidFill>
                          <a:latin typeface="Times New Roman"/>
                          <a:ea typeface="Times New Roman"/>
                          <a:cs typeface="Times New Roman"/>
                          <a:sym typeface="Times New Roman"/>
                        </a:rPr>
                        <a:t> </a:t>
                      </a:r>
                      <a:r>
                        <a:rPr lang="en-US" sz="1150" b="0" i="0" u="none" strike="noStrike" cap="none" dirty="0" err="1">
                          <a:solidFill>
                            <a:srgbClr val="000000"/>
                          </a:solidFill>
                          <a:latin typeface="Times New Roman"/>
                          <a:ea typeface="Times New Roman"/>
                          <a:cs typeface="Times New Roman"/>
                          <a:sym typeface="Times New Roman"/>
                        </a:rPr>
                        <a:t>hóc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bằng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các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phương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án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kiểm</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tra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chủ</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động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thay</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thế</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khi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bị</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disbond</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sẽ</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tiết</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kiệm</a:t>
                      </a:r>
                      <a:r>
                        <a:rPr lang="en-US" sz="1150" u="none" strike="noStrike" cap="none" dirty="0">
                          <a:latin typeface="Times New Roman"/>
                          <a:ea typeface="Times New Roman"/>
                          <a:cs typeface="Times New Roman"/>
                          <a:sym typeface="Times New Roman"/>
                        </a:rPr>
                        <a:t> chi </a:t>
                      </a:r>
                      <a:r>
                        <a:rPr lang="en-US" sz="1150" u="none" strike="noStrike" cap="none" dirty="0" err="1">
                          <a:latin typeface="Times New Roman"/>
                          <a:ea typeface="Times New Roman"/>
                          <a:cs typeface="Times New Roman"/>
                          <a:sym typeface="Times New Roman"/>
                        </a:rPr>
                        <a:t>phí</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sửa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và</a:t>
                      </a:r>
                      <a:r>
                        <a:rPr lang="en-US" sz="1150" u="none" strike="noStrike" cap="none" dirty="0">
                          <a:latin typeface="Times New Roman"/>
                          <a:ea typeface="Times New Roman"/>
                          <a:cs typeface="Times New Roman"/>
                          <a:sym typeface="Times New Roman"/>
                        </a:rPr>
                        <a:t> TAT </a:t>
                      </a:r>
                      <a:r>
                        <a:rPr lang="en-US" sz="1150" u="none" strike="noStrike" cap="none" dirty="0" err="1">
                          <a:latin typeface="Times New Roman"/>
                          <a:ea typeface="Times New Roman"/>
                          <a:cs typeface="Times New Roman"/>
                          <a:sym typeface="Times New Roman"/>
                        </a:rPr>
                        <a:t>ngắn</a:t>
                      </a:r>
                      <a:r>
                        <a:rPr lang="en-US" sz="1150" u="none" strike="noStrike" cap="none" dirty="0">
                          <a:latin typeface="Times New Roman"/>
                          <a:ea typeface="Times New Roman"/>
                          <a:cs typeface="Times New Roman"/>
                          <a:sym typeface="Times New Roman"/>
                        </a:rPr>
                        <a:t>.</a:t>
                      </a:r>
                      <a:endParaRPr sz="115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Với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các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hỏng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hóc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phát</a:t>
                      </a:r>
                      <a:r>
                        <a:rPr lang="en-US" sz="1150" u="none" strike="noStrike" cap="none" dirty="0">
                          <a:latin typeface="Times New Roman"/>
                          <a:ea typeface="Times New Roman"/>
                          <a:cs typeface="Times New Roman"/>
                          <a:sym typeface="Times New Roman"/>
                        </a:rPr>
                        <a:t> sinh, </a:t>
                      </a:r>
                      <a:r>
                        <a:rPr lang="en-US" sz="1150" u="none" strike="noStrike" cap="none" dirty="0" err="1">
                          <a:latin typeface="Times New Roman"/>
                          <a:ea typeface="Times New Roman"/>
                          <a:cs typeface="Times New Roman"/>
                          <a:sym typeface="Times New Roman"/>
                        </a:rPr>
                        <a:t>đề</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nghị</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xem</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xét</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phương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án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mở</a:t>
                      </a:r>
                      <a:r>
                        <a:rPr lang="en-US" sz="1150" u="none" strike="noStrike" cap="none" dirty="0">
                          <a:latin typeface="Times New Roman"/>
                          <a:ea typeface="Times New Roman"/>
                          <a:cs typeface="Times New Roman"/>
                          <a:sym typeface="Times New Roman"/>
                        </a:rPr>
                        <a:t> defect </a:t>
                      </a:r>
                      <a:r>
                        <a:rPr lang="en-US" sz="1150" u="none" strike="noStrike" cap="none" dirty="0" err="1">
                          <a:latin typeface="Times New Roman"/>
                          <a:ea typeface="Times New Roman"/>
                          <a:cs typeface="Times New Roman"/>
                          <a:sym typeface="Times New Roman"/>
                        </a:rPr>
                        <a:t>để</a:t>
                      </a:r>
                      <a:r>
                        <a:rPr lang="en-US" sz="1150" u="none" strike="noStrike" cap="none" dirty="0">
                          <a:latin typeface="Times New Roman"/>
                          <a:ea typeface="Times New Roman"/>
                          <a:cs typeface="Times New Roman"/>
                          <a:sym typeface="Times New Roman"/>
                        </a:rPr>
                        <a:t> Ban QLVT </a:t>
                      </a:r>
                      <a:r>
                        <a:rPr lang="en-US" sz="1150" u="none" strike="noStrike" cap="none" dirty="0" err="1">
                          <a:latin typeface="Times New Roman"/>
                          <a:ea typeface="Times New Roman"/>
                          <a:cs typeface="Times New Roman"/>
                          <a:sym typeface="Times New Roman"/>
                        </a:rPr>
                        <a:t>chủ</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động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phương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án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cung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ứng</a:t>
                      </a:r>
                      <a:endParaRPr sz="1150" u="none" strike="noStrike" cap="none" dirty="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327737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1ccdae391d_0_292"/>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VƯỚNG MẮC VẬT TƯ VAECO</a:t>
            </a:r>
            <a:endParaRPr sz="2800">
              <a:solidFill>
                <a:srgbClr val="FFC000"/>
              </a:solidFill>
              <a:latin typeface="Times New Roman"/>
              <a:ea typeface="Times New Roman"/>
              <a:cs typeface="Times New Roman"/>
              <a:sym typeface="Times New Roman"/>
            </a:endParaRPr>
          </a:p>
        </p:txBody>
      </p:sp>
      <p:sp>
        <p:nvSpPr>
          <p:cNvPr id="190" name="Google Shape;190;g31ccdae391d_0_29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graphicFrame>
        <p:nvGraphicFramePr>
          <p:cNvPr id="191" name="Google Shape;191;g31ccdae391d_0_292"/>
          <p:cNvGraphicFramePr/>
          <p:nvPr/>
        </p:nvGraphicFramePr>
        <p:xfrm>
          <a:off x="414739" y="1604714"/>
          <a:ext cx="11570675" cy="182356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29625">
                  <a:extLst>
                    <a:ext uri="{9D8B030D-6E8A-4147-A177-3AD203B41FA5}">
                      <a16:colId xmlns:a16="http://schemas.microsoft.com/office/drawing/2014/main" val="20001"/>
                    </a:ext>
                  </a:extLst>
                </a:gridCol>
                <a:gridCol w="1269800">
                  <a:extLst>
                    <a:ext uri="{9D8B030D-6E8A-4147-A177-3AD203B41FA5}">
                      <a16:colId xmlns:a16="http://schemas.microsoft.com/office/drawing/2014/main" val="20002"/>
                    </a:ext>
                  </a:extLst>
                </a:gridCol>
                <a:gridCol w="4068475">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FF0000"/>
                          </a:solidFill>
                          <a:latin typeface="Times New Roman"/>
                          <a:ea typeface="Times New Roman"/>
                          <a:cs typeface="Times New Roman"/>
                          <a:sym typeface="Times New Roman"/>
                        </a:rPr>
                        <a:t>A321 – VAECO</a:t>
                      </a:r>
                      <a:endParaRPr sz="14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1</a:t>
                      </a:r>
                      <a:endParaRPr sz="1150"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BELOW</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D2157160120000</a:t>
                      </a:r>
                      <a:endParaRPr sz="1150" u="none" strike="noStrike" cap="none">
                        <a:solidFill>
                          <a:schemeClr val="dk1"/>
                        </a:solidFill>
                        <a:highlight>
                          <a:srgbClr val="FFFFFF"/>
                        </a:highlight>
                        <a:latin typeface="Times New Roman"/>
                        <a:ea typeface="Times New Roman"/>
                        <a:cs typeface="Times New Roman"/>
                        <a:sym typeface="Times New Roman"/>
                      </a:endParaRPr>
                    </a:p>
                    <a:p>
                      <a:pPr marL="0" marR="0" lvl="0" indent="0" algn="l" rtl="0">
                        <a:spcBef>
                          <a:spcPts val="0"/>
                        </a:spcBef>
                        <a:spcAft>
                          <a:spcPts val="0"/>
                        </a:spcAft>
                        <a:buClr>
                          <a:schemeClr val="dk1"/>
                        </a:buClr>
                        <a:buSzPts val="1150"/>
                        <a:buFont typeface="Arial"/>
                        <a:buNone/>
                      </a:pPr>
                      <a:r>
                        <a:rPr lang="en-US" sz="1150" u="none" strike="noStrike" cap="none">
                          <a:solidFill>
                            <a:schemeClr val="dk1"/>
                          </a:solidFill>
                          <a:highlight>
                            <a:schemeClr val="lt1"/>
                          </a:highlight>
                          <a:latin typeface="Times New Roman"/>
                          <a:ea typeface="Times New Roman"/>
                          <a:cs typeface="Times New Roman"/>
                          <a:sym typeface="Times New Roman"/>
                        </a:rPr>
                        <a:t>D2157160000000</a:t>
                      </a:r>
                      <a:endParaRPr sz="1150" u="none" strike="noStrike" cap="none">
                        <a:solidFill>
                          <a:schemeClr val="dk1"/>
                        </a:solidFill>
                        <a:highlight>
                          <a:srgbClr val="FFFFFF"/>
                        </a:highlight>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err="1">
                          <a:latin typeface="Times New Roman"/>
                          <a:ea typeface="Times New Roman"/>
                          <a:cs typeface="Times New Roman"/>
                          <a:sym typeface="Times New Roman"/>
                        </a:rPr>
                        <a:t>Hỏng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hóc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gây</a:t>
                      </a:r>
                      <a:r>
                        <a:rPr lang="en-US" sz="1150" u="none" strike="noStrike" cap="none" dirty="0">
                          <a:latin typeface="Times New Roman"/>
                          <a:ea typeface="Times New Roman"/>
                          <a:cs typeface="Times New Roman"/>
                          <a:sym typeface="Times New Roman"/>
                        </a:rPr>
                        <a:t> A359 AOG </a:t>
                      </a:r>
                      <a:r>
                        <a:rPr lang="en-US" sz="1150" u="none" strike="noStrike" cap="none" dirty="0" err="1">
                          <a:latin typeface="Times New Roman"/>
                          <a:ea typeface="Times New Roman"/>
                          <a:cs typeface="Times New Roman"/>
                          <a:sym typeface="Times New Roman"/>
                        </a:rPr>
                        <a:t>hỏng</a:t>
                      </a:r>
                      <a:r>
                        <a:rPr lang="en-US" sz="1150" u="none" strike="noStrike" cap="none" dirty="0">
                          <a:latin typeface="Times New Roman"/>
                          <a:ea typeface="Times New Roman"/>
                          <a:cs typeface="Times New Roman"/>
                          <a:sym typeface="Times New Roman"/>
                        </a:rPr>
                        <a:t> Bellow </a:t>
                      </a:r>
                      <a:r>
                        <a:rPr lang="en-US" sz="1150" u="none" strike="noStrike" cap="none" dirty="0" err="1">
                          <a:latin typeface="Times New Roman"/>
                          <a:ea typeface="Times New Roman"/>
                          <a:cs typeface="Times New Roman"/>
                          <a:sym typeface="Times New Roman"/>
                        </a:rPr>
                        <a:t>của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hệ</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thống</a:t>
                      </a:r>
                      <a:r>
                        <a:rPr lang="en-US" sz="1150" u="none" strike="noStrike" cap="none" dirty="0">
                          <a:latin typeface="Times New Roman"/>
                          <a:ea typeface="Times New Roman"/>
                          <a:cs typeface="Times New Roman"/>
                          <a:sym typeface="Times New Roman"/>
                        </a:rPr>
                        <a:t> Pack. </a:t>
                      </a:r>
                      <a:r>
                        <a:rPr lang="en-US" sz="1150" u="none" strike="noStrike" cap="none" dirty="0" err="1">
                          <a:latin typeface="Times New Roman"/>
                          <a:ea typeface="Times New Roman"/>
                          <a:cs typeface="Times New Roman"/>
                          <a:sym typeface="Times New Roman"/>
                        </a:rPr>
                        <a:t>Các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tàu</a:t>
                      </a:r>
                      <a:r>
                        <a:rPr lang="en-US" sz="1150" u="none" strike="noStrike" cap="none" dirty="0">
                          <a:latin typeface="Times New Roman"/>
                          <a:ea typeface="Times New Roman"/>
                          <a:cs typeface="Times New Roman"/>
                          <a:sym typeface="Times New Roman"/>
                        </a:rPr>
                        <a:t> trong check </a:t>
                      </a:r>
                      <a:r>
                        <a:rPr lang="en-US" sz="1150" u="none" strike="noStrike" cap="none" dirty="0" err="1">
                          <a:latin typeface="Times New Roman"/>
                          <a:ea typeface="Times New Roman"/>
                          <a:cs typeface="Times New Roman"/>
                          <a:sym typeface="Times New Roman"/>
                        </a:rPr>
                        <a:t>có</a:t>
                      </a:r>
                      <a:r>
                        <a:rPr lang="en-US" sz="1150" u="none" strike="noStrike" cap="none" dirty="0">
                          <a:latin typeface="Times New Roman"/>
                          <a:ea typeface="Times New Roman"/>
                          <a:cs typeface="Times New Roman"/>
                          <a:sym typeface="Times New Roman"/>
                        </a:rPr>
                        <a:t> task </a:t>
                      </a:r>
                      <a:r>
                        <a:rPr lang="en-US" sz="1150" u="none" strike="noStrike" cap="none" dirty="0" err="1">
                          <a:latin typeface="Times New Roman"/>
                          <a:ea typeface="Times New Roman"/>
                          <a:cs typeface="Times New Roman"/>
                          <a:sym typeface="Times New Roman"/>
                        </a:rPr>
                        <a:t>kiểm</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tra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hệ</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thống</a:t>
                      </a:r>
                      <a:r>
                        <a:rPr lang="en-US" sz="1150" u="none" strike="noStrike" cap="none" dirty="0">
                          <a:latin typeface="Times New Roman"/>
                          <a:ea typeface="Times New Roman"/>
                          <a:cs typeface="Times New Roman"/>
                          <a:sym typeface="Times New Roman"/>
                        </a:rPr>
                        <a:t> Pack </a:t>
                      </a:r>
                      <a:r>
                        <a:rPr lang="en-US" sz="1150" u="none" strike="noStrike" cap="none" dirty="0" err="1">
                          <a:latin typeface="Times New Roman"/>
                          <a:ea typeface="Times New Roman"/>
                          <a:cs typeface="Times New Roman"/>
                          <a:sym typeface="Times New Roman"/>
                        </a:rPr>
                        <a:t>đều</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phát</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hiện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ra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hỏng</a:t>
                      </a:r>
                      <a:r>
                        <a:rPr lang="en-US" sz="1150" u="none" strike="noStrike" cap="none" dirty="0">
                          <a:latin typeface="Times New Roman"/>
                          <a:ea typeface="Times New Roman"/>
                          <a:cs typeface="Times New Roman"/>
                          <a:sym typeface="Times New Roman"/>
                        </a:rPr>
                        <a:t> Bellow. </a:t>
                      </a:r>
                      <a:r>
                        <a:rPr lang="en-US" sz="1150" u="none" strike="noStrike" cap="none" dirty="0" err="1">
                          <a:latin typeface="Times New Roman"/>
                          <a:ea typeface="Times New Roman"/>
                          <a:cs typeface="Times New Roman"/>
                          <a:sym typeface="Times New Roman"/>
                        </a:rPr>
                        <a:t>Ngoài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ra</a:t>
                      </a:r>
                      <a:r>
                        <a:rPr lang="en-US" sz="1150" u="none" strike="noStrike" cap="none" dirty="0">
                          <a:latin typeface="Times New Roman"/>
                          <a:ea typeface="Times New Roman"/>
                          <a:cs typeface="Times New Roman"/>
                          <a:sym typeface="Times New Roman"/>
                        </a:rPr>
                        <a:t>, Ban KT </a:t>
                      </a:r>
                      <a:r>
                        <a:rPr lang="en-US" sz="1150" u="none" strike="noStrike" cap="none" dirty="0" err="1">
                          <a:latin typeface="Times New Roman"/>
                          <a:ea typeface="Times New Roman"/>
                          <a:cs typeface="Times New Roman"/>
                          <a:sym typeface="Times New Roman"/>
                        </a:rPr>
                        <a:t>triển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khai</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việc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kiểm</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tra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chủ</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động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nhưng</a:t>
                      </a:r>
                      <a:r>
                        <a:rPr lang="en-US" sz="1150" u="none" strike="noStrike" cap="none" dirty="0">
                          <a:latin typeface="Times New Roman"/>
                          <a:ea typeface="Times New Roman"/>
                          <a:cs typeface="Times New Roman"/>
                          <a:sym typeface="Times New Roman"/>
                        </a:rPr>
                        <a:t> Airbus </a:t>
                      </a:r>
                      <a:r>
                        <a:rPr lang="en-US" sz="1150" u="none" strike="noStrike" cap="none" dirty="0" err="1">
                          <a:latin typeface="Times New Roman"/>
                          <a:ea typeface="Times New Roman"/>
                          <a:cs typeface="Times New Roman"/>
                          <a:sym typeface="Times New Roman"/>
                        </a:rPr>
                        <a:t>không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cấp</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được</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hàng</a:t>
                      </a:r>
                      <a:r>
                        <a:rPr lang="en-US" sz="1150" u="none" strike="noStrike" cap="none" dirty="0">
                          <a:latin typeface="Times New Roman"/>
                          <a:ea typeface="Times New Roman"/>
                          <a:cs typeface="Times New Roman"/>
                          <a:sym typeface="Times New Roman"/>
                        </a:rPr>
                        <a:t>.</a:t>
                      </a:r>
                      <a:endParaRPr sz="115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a:latin typeface="Times New Roman"/>
                          <a:ea typeface="Times New Roman"/>
                          <a:cs typeface="Times New Roman"/>
                          <a:sym typeface="Times New Roman"/>
                        </a:rPr>
                        <a:t>VAECO </a:t>
                      </a:r>
                      <a:r>
                        <a:rPr lang="en-US" sz="1150" u="none" strike="noStrike" cap="none" dirty="0" err="1">
                          <a:latin typeface="Times New Roman"/>
                          <a:ea typeface="Times New Roman"/>
                          <a:cs typeface="Times New Roman"/>
                          <a:sym typeface="Times New Roman"/>
                        </a:rPr>
                        <a:t>vẫn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mua</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dự</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phòng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nhưng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gần</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đây</a:t>
                      </a:r>
                      <a:r>
                        <a:rPr lang="en-US" sz="1150" u="none" strike="noStrike" cap="none" dirty="0">
                          <a:latin typeface="Times New Roman"/>
                          <a:ea typeface="Times New Roman"/>
                          <a:cs typeface="Times New Roman"/>
                          <a:sym typeface="Times New Roman"/>
                        </a:rPr>
                        <a:t> Airbus </a:t>
                      </a:r>
                      <a:r>
                        <a:rPr lang="en-US" sz="1150" u="none" strike="noStrike" cap="none" dirty="0" err="1">
                          <a:latin typeface="Times New Roman"/>
                          <a:ea typeface="Times New Roman"/>
                          <a:cs typeface="Times New Roman"/>
                          <a:sym typeface="Times New Roman"/>
                        </a:rPr>
                        <a:t>cấp</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hàng</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chậm</a:t>
                      </a:r>
                      <a:r>
                        <a:rPr lang="en-US" sz="1150" u="none" strike="noStrike" cap="none" dirty="0">
                          <a:latin typeface="Times New Roman"/>
                          <a:ea typeface="Times New Roman"/>
                          <a:cs typeface="Times New Roman"/>
                          <a:sym typeface="Times New Roman"/>
                        </a:rPr>
                        <a:t>.</a:t>
                      </a:r>
                      <a:endParaRPr sz="115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dirty="0" err="1">
                          <a:latin typeface="Times New Roman"/>
                          <a:ea typeface="Times New Roman"/>
                          <a:cs typeface="Times New Roman"/>
                          <a:sym typeface="Times New Roman"/>
                        </a:rPr>
                        <a:t>Tình</a:t>
                      </a:r>
                      <a:r>
                        <a:rPr lang="en-US" sz="1150" u="none" strike="noStrike" cap="none" dirty="0">
                          <a:latin typeface="Times New Roman"/>
                          <a:ea typeface="Times New Roman"/>
                          <a:cs typeface="Times New Roman"/>
                          <a:sym typeface="Times New Roman"/>
                        </a:rPr>
                        <a:t> </a:t>
                      </a:r>
                      <a:r>
                        <a:rPr lang="en-US" sz="1150" u="none" strike="noStrike" cap="none" dirty="0" err="1">
                          <a:latin typeface="Times New Roman"/>
                          <a:ea typeface="Times New Roman"/>
                          <a:cs typeface="Times New Roman"/>
                          <a:sym typeface="Times New Roman"/>
                        </a:rPr>
                        <a:t>trạng</a:t>
                      </a:r>
                      <a:r>
                        <a:rPr lang="en-US" sz="1150" u="none" strike="noStrike" cap="none" dirty="0">
                          <a:latin typeface="Times New Roman"/>
                          <a:ea typeface="Times New Roman"/>
                          <a:cs typeface="Times New Roman"/>
                          <a:sym typeface="Times New Roman"/>
                        </a:rPr>
                        <a:t>:</a:t>
                      </a:r>
                      <a:endParaRPr sz="1150" u="none" strike="noStrike" cap="none" dirty="0">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dirty="0">
                          <a:latin typeface="Times New Roman"/>
                          <a:ea typeface="Times New Roman"/>
                          <a:cs typeface="Times New Roman"/>
                          <a:sym typeface="Times New Roman"/>
                        </a:rPr>
                        <a:t>PN D2157160120000 stock 5ea</a:t>
                      </a:r>
                      <a:endParaRPr sz="1150" u="none" strike="noStrike" cap="none" dirty="0">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dirty="0">
                          <a:latin typeface="Times New Roman"/>
                          <a:ea typeface="Times New Roman"/>
                          <a:cs typeface="Times New Roman"/>
                          <a:sym typeface="Times New Roman"/>
                        </a:rPr>
                        <a:t>PN D2157160000000 stock 3EA</a:t>
                      </a:r>
                      <a:endParaRPr sz="1150" u="none" strike="noStrike" cap="none" dirty="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Arial"/>
                        <a:buChar char="-"/>
                      </a:pPr>
                      <a:r>
                        <a:rPr lang="en-US" sz="1150" u="none" strike="noStrike" cap="none">
                          <a:solidFill>
                            <a:schemeClr val="dk1"/>
                          </a:solidFill>
                          <a:latin typeface="Times New Roman"/>
                          <a:ea typeface="Times New Roman"/>
                          <a:cs typeface="Times New Roman"/>
                          <a:sym typeface="Times New Roman"/>
                        </a:rPr>
                        <a:t>Ban QLVT đã hỗ trợ claim Airbus đồng thời tìm kiếm nguồn cung ứng giúp VAECO tuy nhiên việc cung ứng vẫn rất khó khăn do thiếu raw materials, Airbus chỉ cấp hàng AOG và chưa đồng ý cấp cho chương trình đánh chặn. Hiện Airbus chưa có dự kiến ngày ship</a:t>
                      </a:r>
                      <a:endParaRPr sz="115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026230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8" name="Google Shape;198;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199" name="Google Shape;199;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25</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41</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1</a:t>
            </a:r>
            <a:r>
              <a:rPr lang="en-US" sz="1500">
                <a:solidFill>
                  <a:schemeClr val="dk1"/>
                </a:solidFill>
                <a:latin typeface="Times New Roman"/>
                <a:ea typeface="Times New Roman"/>
                <a:cs typeface="Times New Roman"/>
                <a:sym typeface="Times New Roman"/>
              </a:rPr>
              <a:t>7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18</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08</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23</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00" name="Google Shape;200;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1" name="Google Shape;201;g31ccdae391d_0_299"/>
          <p:cNvPicPr preferRelativeResize="0"/>
          <p:nvPr/>
        </p:nvPicPr>
        <p:blipFill>
          <a:blip r:embed="rId3">
            <a:alphaModFix/>
          </a:blip>
          <a:stretch>
            <a:fillRect/>
          </a:stretch>
        </p:blipFill>
        <p:spPr>
          <a:xfrm>
            <a:off x="2105025" y="1665275"/>
            <a:ext cx="7972425" cy="4845075"/>
          </a:xfrm>
          <a:prstGeom prst="rect">
            <a:avLst/>
          </a:prstGeom>
          <a:noFill/>
          <a:ln>
            <a:noFill/>
          </a:ln>
        </p:spPr>
      </p:pic>
    </p:spTree>
    <p:extLst>
      <p:ext uri="{BB962C8B-B14F-4D97-AF65-F5344CB8AC3E}">
        <p14:creationId xmlns:p14="http://schemas.microsoft.com/office/powerpoint/2010/main" val="4663939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8" name="Google Shape;208;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graphicFrame>
        <p:nvGraphicFramePr>
          <p:cNvPr id="209" name="Google Shape;209;g31ccdae391d_0_308"/>
          <p:cNvGraphicFramePr/>
          <p:nvPr/>
        </p:nvGraphicFramePr>
        <p:xfrm>
          <a:off x="607288" y="787650"/>
          <a:ext cx="11227800" cy="438002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NIL stock</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a:t>
                      </a:r>
                      <a:r>
                        <a:rPr lang="en-US" sz="1300" u="none" strike="noStrike" cap="none" dirty="0">
                          <a:latin typeface="Times New Roman"/>
                          <a:ea typeface="Times New Roman"/>
                          <a:cs typeface="Times New Roman"/>
                          <a:sym typeface="Times New Roman"/>
                        </a:rPr>
                        <a:t>0</a:t>
                      </a:r>
                      <a:r>
                        <a:rPr lang="en-US" sz="1300" dirty="0">
                          <a:latin typeface="Times New Roman"/>
                          <a:ea typeface="Times New Roman"/>
                          <a:cs typeface="Times New Roman"/>
                          <a:sym typeface="Times New Roman"/>
                        </a:rPr>
                        <a:t>4</a:t>
                      </a:r>
                      <a:r>
                        <a:rPr lang="en-US" sz="1300" u="none" strike="noStrike" cap="none" dirty="0">
                          <a:latin typeface="Times New Roman"/>
                          <a:ea typeface="Times New Roman"/>
                          <a:cs typeface="Times New Roman"/>
                          <a:sym typeface="Times New Roman"/>
                        </a:rPr>
                        <a:t>RO:</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+ 03ea EDD 25Feb.</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+ 01ea </a:t>
                      </a:r>
                      <a:r>
                        <a:rPr lang="en-US" sz="1300" dirty="0" err="1">
                          <a:latin typeface="Times New Roman"/>
                          <a:ea typeface="Times New Roman"/>
                          <a:cs typeface="Times New Roman"/>
                          <a:sym typeface="Times New Roman"/>
                        </a:rPr>
                        <a:t>chưa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EDD.</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dirty="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- 01ea dự phòng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PO  EDD 10/2025.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386194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6" name="Google Shape;216;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217" name="Google Shape;217;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dirty="0">
                <a:solidFill>
                  <a:schemeClr val="dk1"/>
                </a:solidFill>
                <a:latin typeface="Times New Roman"/>
                <a:ea typeface="Times New Roman"/>
                <a:cs typeface="Times New Roman"/>
                <a:sym typeface="Times New Roman"/>
              </a:rPr>
              <a:t>PTVT </a:t>
            </a:r>
            <a:r>
              <a:rPr lang="en-US" sz="1600" b="0" i="0" u="none" strike="noStrike" cap="none" dirty="0" err="1">
                <a:solidFill>
                  <a:schemeClr val="dk1"/>
                </a:solidFill>
                <a:latin typeface="Times New Roman"/>
                <a:ea typeface="Times New Roman"/>
                <a:cs typeface="Times New Roman"/>
                <a:sym typeface="Times New Roman"/>
              </a:rPr>
              <a:t>thay</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nhiều</a:t>
            </a:r>
            <a:r>
              <a:rPr lang="en-US" sz="1600" b="0" i="0" u="none" strike="noStrike" cap="none" dirty="0">
                <a:solidFill>
                  <a:schemeClr val="dk1"/>
                </a:solidFill>
                <a:latin typeface="Times New Roman"/>
                <a:ea typeface="Times New Roman"/>
                <a:cs typeface="Times New Roman"/>
                <a:sym typeface="Times New Roman"/>
              </a:rPr>
              <a:t>: VFSG, GPM, NSG, CAC, Pump Pack, FMU, GWIV, </a:t>
            </a:r>
            <a:r>
              <a:rPr lang="en-US" sz="1600" b="0" i="0" u="none" strike="noStrike" cap="none" dirty="0" err="1">
                <a:solidFill>
                  <a:schemeClr val="dk1"/>
                </a:solidFill>
                <a:latin typeface="Times New Roman"/>
                <a:ea typeface="Times New Roman"/>
                <a:cs typeface="Times New Roman"/>
                <a:sym typeface="Times New Roman"/>
              </a:rPr>
              <a:t>Tailcone</a:t>
            </a:r>
            <a:r>
              <a:rPr lang="en-US" sz="1600" b="0" i="0" u="none" strike="noStrike" cap="none" dirty="0">
                <a:solidFill>
                  <a:schemeClr val="dk1"/>
                </a:solidFill>
                <a:latin typeface="Times New Roman"/>
                <a:ea typeface="Times New Roman"/>
                <a:cs typeface="Times New Roman"/>
                <a:sym typeface="Times New Roman"/>
              </a:rPr>
              <a:t> light (</a:t>
            </a:r>
            <a:r>
              <a:rPr lang="en-US" sz="1600" b="0" i="0" u="none" strike="noStrike" cap="none" dirty="0" err="1">
                <a:solidFill>
                  <a:schemeClr val="dk1"/>
                </a:solidFill>
                <a:latin typeface="Times New Roman"/>
                <a:ea typeface="Times New Roman"/>
                <a:cs typeface="Times New Roman"/>
                <a:sym typeface="Times New Roman"/>
              </a:rPr>
              <a:t>hỏng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hóc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rất</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nhiều</a:t>
            </a:r>
            <a:r>
              <a:rPr lang="en-US" sz="1600" b="0" i="0" u="none" strike="noStrike" cap="none" dirty="0">
                <a:solidFill>
                  <a:schemeClr val="dk1"/>
                </a:solidFill>
                <a:latin typeface="Times New Roman"/>
                <a:ea typeface="Times New Roman"/>
                <a:cs typeface="Times New Roman"/>
                <a:sym typeface="Times New Roman"/>
              </a:rPr>
              <a:t> sub card led). </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r>
              <a:rPr lang="en-US" sz="1600" dirty="0">
                <a:solidFill>
                  <a:schemeClr val="dk1"/>
                </a:solidFill>
                <a:latin typeface="Times New Roman"/>
                <a:ea typeface="Times New Roman"/>
                <a:cs typeface="Times New Roman"/>
                <a:sym typeface="Times New Roman"/>
              </a:rPr>
              <a:t>• A865 - STS: CARGO REFRIG COMPRES-SOR: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controller,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SGN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22/02.</a:t>
            </a: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A869 - BRAKE 6 WORN TO LIMIT: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24/02 </a:t>
            </a:r>
            <a:r>
              <a:rPr lang="en-US" sz="1600" dirty="0" err="1">
                <a:solidFill>
                  <a:schemeClr val="dk1"/>
                </a:solidFill>
                <a:latin typeface="Times New Roman"/>
                <a:ea typeface="Times New Roman"/>
                <a:cs typeface="Times New Roman"/>
                <a:sym typeface="Times New Roman"/>
              </a:rPr>
              <a:t>sẽ</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phanh</a:t>
            </a:r>
            <a:r>
              <a:rPr lang="en-US" sz="1600" dirty="0">
                <a:solidFill>
                  <a:schemeClr val="dk1"/>
                </a:solidFill>
                <a:latin typeface="Times New Roman"/>
                <a:ea typeface="Times New Roman"/>
                <a:cs typeface="Times New Roman"/>
                <a:sym typeface="Times New Roman"/>
              </a:rPr>
              <a:t> ở HAN</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A871, A874 - WATER SERVICE PANEL INOP: 01ea Panel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26/02, 01ea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EDD..</a:t>
            </a:r>
            <a:endParaRPr sz="1600" dirty="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p:txBody>
      </p:sp>
      <p:pic>
        <p:nvPicPr>
          <p:cNvPr id="218" name="Google Shape;218;g31ccdae391d_0_315"/>
          <p:cNvPicPr preferRelativeResize="0"/>
          <p:nvPr/>
        </p:nvPicPr>
        <p:blipFill>
          <a:blip r:embed="rId3">
            <a:alphaModFix/>
          </a:blip>
          <a:stretch>
            <a:fillRect/>
          </a:stretch>
        </p:blipFill>
        <p:spPr>
          <a:xfrm>
            <a:off x="1218376" y="2962275"/>
            <a:ext cx="9740150" cy="2951561"/>
          </a:xfrm>
          <a:prstGeom prst="rect">
            <a:avLst/>
          </a:prstGeom>
          <a:noFill/>
          <a:ln>
            <a:noFill/>
          </a:ln>
        </p:spPr>
      </p:pic>
    </p:spTree>
    <p:extLst>
      <p:ext uri="{BB962C8B-B14F-4D97-AF65-F5344CB8AC3E}">
        <p14:creationId xmlns:p14="http://schemas.microsoft.com/office/powerpoint/2010/main" val="71253662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5" name="Google Shape;225;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226" name="Google Shape;226;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32</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39</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09</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11</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23</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28</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7" name="Google Shape;227;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28" name="Google Shape;228;g31ccdae391d_0_323"/>
          <p:cNvPicPr preferRelativeResize="0"/>
          <p:nvPr/>
        </p:nvPicPr>
        <p:blipFill>
          <a:blip r:embed="rId3">
            <a:alphaModFix/>
          </a:blip>
          <a:stretch>
            <a:fillRect/>
          </a:stretch>
        </p:blipFill>
        <p:spPr>
          <a:xfrm>
            <a:off x="2814648" y="2146573"/>
            <a:ext cx="6130526" cy="4201850"/>
          </a:xfrm>
          <a:prstGeom prst="rect">
            <a:avLst/>
          </a:prstGeom>
          <a:noFill/>
          <a:ln>
            <a:noFill/>
          </a:ln>
        </p:spPr>
      </p:pic>
    </p:spTree>
    <p:extLst>
      <p:ext uri="{BB962C8B-B14F-4D97-AF65-F5344CB8AC3E}">
        <p14:creationId xmlns:p14="http://schemas.microsoft.com/office/powerpoint/2010/main" val="1320850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5" name="Google Shape;235;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graphicFrame>
        <p:nvGraphicFramePr>
          <p:cNvPr id="236" name="Google Shape;236;g31ccdae391d_0_332"/>
          <p:cNvGraphicFramePr/>
          <p:nvPr/>
        </p:nvGraphicFramePr>
        <p:xfrm>
          <a:off x="474783" y="301869"/>
          <a:ext cx="11561850" cy="548861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NIL stock, 01 lấp đầy đặt hàng 20/02.</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5e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 cần 01ea cho A891</a:t>
                      </a:r>
                      <a:r>
                        <a:rPr lang="en-US" sz="1300">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09</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NIL</a:t>
                      </a:r>
                      <a:r>
                        <a:rPr lang="en-US" sz="1300" u="none" strike="noStrike" cap="none">
                          <a:solidFill>
                            <a:schemeClr val="dk1"/>
                          </a:solidFill>
                          <a:latin typeface="Times New Roman"/>
                          <a:ea typeface="Times New Roman"/>
                          <a:cs typeface="Times New Roman"/>
                          <a:sym typeface="Times New Roman"/>
                        </a:rPr>
                        <a:t> stock</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4</a:t>
                      </a:r>
                      <a:r>
                        <a:rPr lang="en-US" sz="1300" u="none" strike="noStrike" cap="none">
                          <a:solidFill>
                            <a:schemeClr val="dk1"/>
                          </a:solidFill>
                          <a:latin typeface="Times New Roman"/>
                          <a:ea typeface="Times New Roman"/>
                          <a:cs typeface="Times New Roman"/>
                          <a:sym typeface="Times New Roman"/>
                        </a:rPr>
                        <a:t>RO, trong đó: </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solidFill>
                            <a:schemeClr val="dk1"/>
                          </a:solidFill>
                          <a:latin typeface="Times New Roman"/>
                          <a:ea typeface="Times New Roman"/>
                          <a:cs typeface="Times New Roman"/>
                          <a:sym typeface="Times New Roman"/>
                        </a:rPr>
                        <a:t>+ 03ea v</a:t>
                      </a:r>
                      <a:r>
                        <a:rPr lang="en-US" sz="1300">
                          <a:solidFill>
                            <a:schemeClr val="dk1"/>
                          </a:solidFill>
                          <a:latin typeface="Times New Roman"/>
                          <a:ea typeface="Times New Roman"/>
                          <a:cs typeface="Times New Roman"/>
                          <a:sym typeface="Times New Roman"/>
                        </a:rPr>
                        <a:t>ề HAN trong tuần 09</a:t>
                      </a:r>
                      <a:endParaRPr sz="13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+ 07ea EDD 25/02.</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+ 01ea EDD 25/03.</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+ 03ea chưa có EDD.</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11</a:t>
                      </a:r>
                      <a:r>
                        <a:rPr lang="en-US" sz="1300" u="none" strike="noStrike" cap="none">
                          <a:solidFill>
                            <a:schemeClr val="dk1"/>
                          </a:solidFill>
                          <a:latin typeface="Times New Roman"/>
                          <a:ea typeface="Times New Roman"/>
                          <a:cs typeface="Times New Roman"/>
                          <a:sym typeface="Times New Roman"/>
                        </a:rPr>
                        <a:t>ea in stock (10ea của tàu BQ).</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01ea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HAN 22/02 </a:t>
                      </a:r>
                      <a:r>
                        <a:rPr lang="en-US" sz="1300" dirty="0" err="1">
                          <a:solidFill>
                            <a:schemeClr val="dk1"/>
                          </a:solidFill>
                          <a:latin typeface="Times New Roman"/>
                          <a:ea typeface="Times New Roman"/>
                          <a:cs typeface="Times New Roman"/>
                          <a:sym typeface="Times New Roman"/>
                        </a:rPr>
                        <a:t>dùng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A897</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787344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3" name="Google Shape;243;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
        <p:nvSpPr>
          <p:cNvPr id="244" name="Google Shape;244;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Times New Roman"/>
                <a:ea typeface="Times New Roman"/>
                <a:cs typeface="Times New Roman"/>
                <a:sym typeface="Times New Roman"/>
              </a:rPr>
              <a:t>  +    Một số thiết bị pooling của OEM Honeywell liên quan hệ thống Chiller (VCRU, Motor Controler) TAT vẫn rất dài.</a:t>
            </a:r>
            <a:endParaRPr sz="1600" b="0" i="0" u="none" strike="noStrike" cap="none">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a:solidFill>
                  <a:srgbClr val="000000"/>
                </a:solidFill>
                <a:latin typeface="Times New Roman"/>
                <a:ea typeface="Times New Roman"/>
                <a:cs typeface="Times New Roman"/>
                <a:sym typeface="Times New Roman"/>
              </a:rPr>
              <a:t>EDP vẫn hỏng hóc nhiều.</a:t>
            </a:r>
            <a:endParaRPr sz="16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A893 - APU INOP: Rob APU từ A887.</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A896 - UPPER LATCH ASSY OF COCKPIT DOOR BOLTING SYSTEM IS NOT FULLY LOCKED: đặt hàng Latch, EST 07/03.</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A897 - CHILLER SYSTEM INOP: đặt hàng VCRU, VCRU giao Vaeco HAN 22/02. </a:t>
            </a:r>
            <a:endParaRPr sz="160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20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245" name="Google Shape;245;g31ccdae391d_0_339"/>
          <p:cNvPicPr preferRelativeResize="0"/>
          <p:nvPr/>
        </p:nvPicPr>
        <p:blipFill>
          <a:blip r:embed="rId3">
            <a:alphaModFix/>
          </a:blip>
          <a:stretch>
            <a:fillRect/>
          </a:stretch>
        </p:blipFill>
        <p:spPr>
          <a:xfrm>
            <a:off x="843050" y="3705225"/>
            <a:ext cx="10415501" cy="1808550"/>
          </a:xfrm>
          <a:prstGeom prst="rect">
            <a:avLst/>
          </a:prstGeom>
          <a:noFill/>
          <a:ln>
            <a:noFill/>
          </a:ln>
        </p:spPr>
      </p:pic>
    </p:spTree>
    <p:extLst>
      <p:ext uri="{BB962C8B-B14F-4D97-AF65-F5344CB8AC3E}">
        <p14:creationId xmlns:p14="http://schemas.microsoft.com/office/powerpoint/2010/main" val="7554352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2" name="Google Shape;252;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69</a:t>
            </a:fld>
            <a:endParaRPr/>
          </a:p>
        </p:txBody>
      </p:sp>
      <p:graphicFrame>
        <p:nvGraphicFramePr>
          <p:cNvPr id="253" name="Google Shape;253;g31ccdae391d_0_347"/>
          <p:cNvGraphicFramePr/>
          <p:nvPr/>
        </p:nvGraphicFramePr>
        <p:xfrm>
          <a:off x="439614" y="221847"/>
          <a:ext cx="11611325" cy="639705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đang vận chuyển từ Pháp về (hàng đổi)</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713943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0" name="Google Shape;260;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70</a:t>
            </a:fld>
            <a:endParaRPr/>
          </a:p>
        </p:txBody>
      </p:sp>
      <p:graphicFrame>
        <p:nvGraphicFramePr>
          <p:cNvPr id="261" name="Google Shape;261;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dirty="0">
                          <a:latin typeface="Times New Roman"/>
                          <a:ea typeface="Times New Roman"/>
                          <a:cs typeface="Times New Roman"/>
                          <a:sym typeface="Times New Roman"/>
                        </a:rPr>
                        <a:t>NIL stock</a:t>
                      </a:r>
                      <a:r>
                        <a:rPr lang="en-US" sz="1400" u="none" strike="noStrike" cap="none" dirty="0">
                          <a:latin typeface="Times New Roman"/>
                          <a:ea typeface="Times New Roman"/>
                          <a:cs typeface="Times New Roman"/>
                          <a:sym typeface="Times New Roman"/>
                        </a:rPr>
                        <a:t>. </a:t>
                      </a:r>
                      <a:r>
                        <a:rPr lang="en-US" dirty="0">
                          <a:latin typeface="Times New Roman"/>
                          <a:ea typeface="Times New Roman"/>
                          <a:cs typeface="Times New Roman"/>
                          <a:sym typeface="Times New Roman"/>
                        </a:rPr>
                        <a:t>01ea </a:t>
                      </a:r>
                      <a:r>
                        <a:rPr lang="en-US" dirty="0" err="1">
                          <a:latin typeface="Times New Roman"/>
                          <a:ea typeface="Times New Roman"/>
                          <a:cs typeface="Times New Roman"/>
                          <a:sym typeface="Times New Roman"/>
                        </a:rPr>
                        <a:t>dự</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kiến</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giao</a:t>
                      </a:r>
                      <a:r>
                        <a:rPr lang="en-US" dirty="0">
                          <a:latin typeface="Times New Roman"/>
                          <a:ea typeface="Times New Roman"/>
                          <a:cs typeface="Times New Roman"/>
                          <a:sym typeface="Times New Roman"/>
                        </a:rPr>
                        <a:t> HAN 24/02 </a:t>
                      </a:r>
                      <a:r>
                        <a:rPr lang="en-US" dirty="0" err="1">
                          <a:latin typeface="Times New Roman"/>
                          <a:ea typeface="Times New Roman"/>
                          <a:cs typeface="Times New Roman"/>
                          <a:sym typeface="Times New Roman"/>
                        </a:rPr>
                        <a:t>và</a:t>
                      </a:r>
                      <a:r>
                        <a:rPr lang="en-US" dirty="0">
                          <a:latin typeface="Times New Roman"/>
                          <a:ea typeface="Times New Roman"/>
                          <a:cs typeface="Times New Roman"/>
                          <a:sym typeface="Times New Roman"/>
                        </a:rPr>
                        <a:t> 01ea </a:t>
                      </a:r>
                      <a:r>
                        <a:rPr lang="en-US" dirty="0" err="1">
                          <a:latin typeface="Times New Roman"/>
                          <a:ea typeface="Times New Roman"/>
                          <a:cs typeface="Times New Roman"/>
                          <a:sym typeface="Times New Roman"/>
                        </a:rPr>
                        <a:t>giao</a:t>
                      </a:r>
                      <a:r>
                        <a:rPr lang="en-US" dirty="0">
                          <a:latin typeface="Times New Roman"/>
                          <a:ea typeface="Times New Roman"/>
                          <a:cs typeface="Times New Roman"/>
                          <a:sym typeface="Times New Roman"/>
                        </a:rPr>
                        <a:t> SGN </a:t>
                      </a:r>
                      <a:r>
                        <a:rPr lang="en-US" dirty="0" err="1">
                          <a:latin typeface="Times New Roman"/>
                          <a:ea typeface="Times New Roman"/>
                          <a:cs typeface="Times New Roman"/>
                          <a:sym typeface="Times New Roman"/>
                        </a:rPr>
                        <a:t>ngày</a:t>
                      </a:r>
                      <a:r>
                        <a:rPr lang="en-US" dirty="0">
                          <a:latin typeface="Times New Roman"/>
                          <a:ea typeface="Times New Roman"/>
                          <a:cs typeface="Times New Roman"/>
                          <a:sym typeface="Times New Roman"/>
                        </a:rPr>
                        <a:t> 28/02 (</a:t>
                      </a:r>
                      <a:r>
                        <a:rPr lang="en-US" dirty="0" err="1">
                          <a:latin typeface="Times New Roman"/>
                          <a:ea typeface="Times New Roman"/>
                          <a:cs typeface="Times New Roman"/>
                          <a:sym typeface="Times New Roman"/>
                        </a:rPr>
                        <a:t>cần</a:t>
                      </a:r>
                      <a:r>
                        <a:rPr lang="en-US" dirty="0">
                          <a:latin typeface="Times New Roman"/>
                          <a:ea typeface="Times New Roman"/>
                          <a:cs typeface="Times New Roman"/>
                          <a:sym typeface="Times New Roman"/>
                        </a:rPr>
                        <a:t> 01ea </a:t>
                      </a:r>
                      <a:r>
                        <a:rPr lang="en-US" dirty="0" err="1">
                          <a:latin typeface="Times New Roman"/>
                          <a:ea typeface="Times New Roman"/>
                          <a:cs typeface="Times New Roman"/>
                          <a:sym typeface="Times New Roman"/>
                        </a:rPr>
                        <a:t>cho</a:t>
                      </a:r>
                      <a:r>
                        <a:rPr lang="en-US" dirty="0">
                          <a:latin typeface="Times New Roman"/>
                          <a:ea typeface="Times New Roman"/>
                          <a:cs typeface="Times New Roman"/>
                          <a:sym typeface="Times New Roman"/>
                        </a:rPr>
                        <a:t> A869).</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01ea in stock  stock, 03ea sẽ ra shop VSTEA trong tuần 09.</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06 </a:t>
                      </a:r>
                      <a:r>
                        <a:rPr lang="en-US" sz="1400" u="none" strike="noStrike" cap="none">
                          <a:latin typeface="Times New Roman"/>
                          <a:ea typeface="Times New Roman"/>
                          <a:cs typeface="Times New Roman"/>
                          <a:sym typeface="Times New Roman"/>
                        </a:rPr>
                        <a:t>ea</a:t>
                      </a:r>
                      <a:r>
                        <a:rPr lang="en-US" sz="1400" u="none" strike="noStrike" cap="none">
                          <a:solidFill>
                            <a:schemeClr val="dk1"/>
                          </a:solidFill>
                          <a:latin typeface="Times New Roman"/>
                          <a:ea typeface="Times New Roman"/>
                          <a:cs typeface="Times New Roman"/>
                          <a:sym typeface="Times New Roman"/>
                        </a:rPr>
                        <a:t> dự phòng</a:t>
                      </a:r>
                      <a:r>
                        <a:rPr lang="en-US">
                          <a:solidFill>
                            <a:schemeClr val="dk1"/>
                          </a:solidFill>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242532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dirty="0">
                <a:solidFill>
                  <a:srgbClr val="FFC000"/>
                </a:solidFill>
                <a:latin typeface="Times New Roman"/>
                <a:ea typeface="Times New Roman"/>
                <a:cs typeface="Times New Roman"/>
                <a:sym typeface="Times New Roman"/>
              </a:rPr>
              <a:t>Động </a:t>
            </a:r>
            <a:r>
              <a:rPr lang="en-US" sz="2800" dirty="0" err="1">
                <a:solidFill>
                  <a:srgbClr val="FFC000"/>
                </a:solidFill>
                <a:latin typeface="Times New Roman"/>
                <a:ea typeface="Times New Roman"/>
                <a:cs typeface="Times New Roman"/>
                <a:sym typeface="Times New Roman"/>
              </a:rPr>
              <a:t>cơ</a:t>
            </a:r>
            <a:endParaRPr sz="2800" dirty="0">
              <a:solidFill>
                <a:srgbClr val="FFC000"/>
              </a:solidFill>
              <a:latin typeface="Times New Roman"/>
              <a:ea typeface="Times New Roman"/>
              <a:cs typeface="Times New Roman"/>
              <a:sym typeface="Times New Roman"/>
            </a:endParaRPr>
          </a:p>
        </p:txBody>
      </p:sp>
      <p:sp>
        <p:nvSpPr>
          <p:cNvPr id="268" name="Google Shape;268;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71</a:t>
            </a:fld>
            <a:endParaRPr/>
          </a:p>
        </p:txBody>
      </p:sp>
      <p:sp>
        <p:nvSpPr>
          <p:cNvPr id="269" name="Google Shape;269;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new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22/01).</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6</a:t>
            </a:r>
            <a:r>
              <a:rPr lang="en-US" sz="1500" b="0" i="0" u="none" strike="noStrike" cap="none" dirty="0">
                <a:solidFill>
                  <a:schemeClr val="dk1"/>
                </a:solidFill>
                <a:highlight>
                  <a:schemeClr val="lt1"/>
                </a:highlight>
                <a:latin typeface="Times New Roman"/>
                <a:ea typeface="Times New Roman"/>
                <a:cs typeface="Times New Roman"/>
                <a:sym typeface="Times New Roman"/>
              </a:rPr>
              <a:t>ea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21317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a:t>
            </a:r>
            <a:r>
              <a:rPr lang="en-US" sz="1500" dirty="0">
                <a:solidFill>
                  <a:schemeClr val="dk1"/>
                </a:solidFill>
                <a:highlight>
                  <a:schemeClr val="lt1"/>
                </a:highlight>
                <a:latin typeface="Times New Roman"/>
                <a:ea typeface="Times New Roman"/>
                <a:cs typeface="Times New Roman"/>
                <a:sym typeface="Times New Roman"/>
              </a:rPr>
              <a:t>422</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21316 &amp; 21201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21316 </a:t>
            </a: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sửa</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xong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22/02.</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Tháng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02</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induction (0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SEASL).</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xếp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chuyển</a:t>
            </a:r>
            <a:r>
              <a:rPr lang="en-US" sz="1500" b="0" i="0" u="none" strike="noStrike" cap="none" dirty="0">
                <a:solidFill>
                  <a:schemeClr val="dk1"/>
                </a:solidFill>
                <a:highlight>
                  <a:schemeClr val="lt1"/>
                </a:highlight>
                <a:latin typeface="Times New Roman"/>
                <a:ea typeface="Times New Roman"/>
                <a:cs typeface="Times New Roman"/>
                <a:sym typeface="Times New Roman"/>
              </a:rPr>
              <a:t> 01 core engine stand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từ</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về</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để</a:t>
            </a:r>
            <a:r>
              <a:rPr lang="en-US" sz="1500" b="0" i="0" u="none" strike="noStrike" cap="none" dirty="0">
                <a:solidFill>
                  <a:schemeClr val="dk1"/>
                </a:solidFill>
                <a:highlight>
                  <a:schemeClr val="lt1"/>
                </a:highlight>
                <a:latin typeface="Times New Roman"/>
                <a:ea typeface="Times New Roman"/>
                <a:cs typeface="Times New Roman"/>
                <a:sym typeface="Times New Roman"/>
              </a:rPr>
              <a:t> swap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tháo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tiếp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gửi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9</a:t>
            </a:r>
            <a:r>
              <a:rPr lang="en-US" sz="1500" b="0" i="0" u="none" strike="noStrike" cap="none" dirty="0">
                <a:solidFill>
                  <a:schemeClr val="dk1"/>
                </a:solidFill>
                <a:highlight>
                  <a:schemeClr val="lt1"/>
                </a:highlight>
                <a:latin typeface="Times New Roman"/>
                <a:ea typeface="Times New Roman"/>
                <a:cs typeface="Times New Roman"/>
                <a:sym typeface="Times New Roman"/>
              </a:rPr>
              <a:t>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5</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NIL</a:t>
            </a:r>
            <a:endParaRPr sz="1500" b="1"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+05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 : 956556, 956569, 956533, 956599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956947.</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2</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GE shop :958398 (delay in GEEVES), 958537. </a:t>
            </a:r>
            <a:endParaRPr sz="1500" b="0" i="0" u="none" strike="noStrike" cap="none" dirty="0">
              <a:solidFill>
                <a:schemeClr val="dk1"/>
              </a:solidFill>
              <a:highlight>
                <a:srgbClr val="FFFF00"/>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05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kiến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cần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01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nữa</a:t>
            </a:r>
            <a:r>
              <a:rPr lang="en-US" sz="1500" b="0" i="0" u="none" strike="noStrike" cap="none" dirty="0">
                <a:solidFill>
                  <a:srgbClr val="000000"/>
                </a:solidFill>
                <a:highlight>
                  <a:schemeClr val="lt1"/>
                </a:highlight>
                <a:latin typeface="Times New Roman"/>
                <a:ea typeface="Times New Roman"/>
                <a:cs typeface="Times New Roman"/>
                <a:sym typeface="Times New Roman"/>
              </a:rPr>
              <a:t> Q1 trong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năm</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2025.  </a:t>
            </a:r>
            <a:endParaRPr sz="15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619799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dirty="0">
                <a:solidFill>
                  <a:srgbClr val="FFC000"/>
                </a:solidFill>
                <a:latin typeface="Times New Roman"/>
                <a:ea typeface="Times New Roman"/>
                <a:cs typeface="Times New Roman"/>
                <a:sym typeface="Times New Roman"/>
              </a:rPr>
              <a:t>Động </a:t>
            </a:r>
            <a:r>
              <a:rPr lang="en-US" sz="2800" dirty="0" err="1">
                <a:solidFill>
                  <a:srgbClr val="FFC000"/>
                </a:solidFill>
                <a:latin typeface="Times New Roman"/>
                <a:ea typeface="Times New Roman"/>
                <a:cs typeface="Times New Roman"/>
                <a:sym typeface="Times New Roman"/>
              </a:rPr>
              <a:t>cơ</a:t>
            </a:r>
            <a:endParaRPr sz="2800" dirty="0">
              <a:solidFill>
                <a:srgbClr val="FFC000"/>
              </a:solidFill>
              <a:latin typeface="Times New Roman"/>
              <a:ea typeface="Times New Roman"/>
              <a:cs typeface="Times New Roman"/>
              <a:sym typeface="Times New Roman"/>
            </a:endParaRPr>
          </a:p>
        </p:txBody>
      </p:sp>
      <p:sp>
        <p:nvSpPr>
          <p:cNvPr id="276" name="Google Shape;276;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72</a:t>
            </a:fld>
            <a:endParaRPr/>
          </a:p>
        </p:txBody>
      </p:sp>
      <p:sp>
        <p:nvSpPr>
          <p:cNvPr id="277" name="Google Shape;277;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dirty="0">
                <a:solidFill>
                  <a:srgbClr val="FF0000"/>
                </a:solidFill>
                <a:latin typeface="Times New Roman"/>
                <a:ea typeface="Times New Roman"/>
                <a:cs typeface="Times New Roman"/>
                <a:sym typeface="Times New Roman"/>
              </a:rPr>
              <a:t>- Đội bay A321 </a:t>
            </a:r>
            <a:r>
              <a:rPr lang="en-US" sz="1600" b="1" i="0" u="none" strike="noStrike" cap="none" dirty="0" err="1">
                <a:solidFill>
                  <a:srgbClr val="FF0000"/>
                </a:solidFill>
                <a:latin typeface="Times New Roman"/>
                <a:ea typeface="Times New Roman"/>
                <a:cs typeface="Times New Roman"/>
                <a:sym typeface="Times New Roman"/>
              </a:rPr>
              <a:t>Ceo</a:t>
            </a:r>
            <a:r>
              <a:rPr lang="en-US" sz="1600" b="1" i="0" u="none" strike="noStrike" cap="none" dirty="0">
                <a:solidFill>
                  <a:srgbClr val="FF0000"/>
                </a:solidFill>
                <a:latin typeface="Times New Roman"/>
                <a:ea typeface="Times New Roman"/>
                <a:cs typeface="Times New Roman"/>
                <a:sym typeface="Times New Roman"/>
              </a:rPr>
              <a:t>:</a:t>
            </a: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Số</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lượng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dự</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phòng</a:t>
            </a:r>
            <a:r>
              <a:rPr lang="en-US" sz="1600" b="0" i="0" u="none" strike="noStrike" cap="none" dirty="0">
                <a:solidFill>
                  <a:schemeClr val="dk1"/>
                </a:solidFill>
                <a:latin typeface="Times New Roman"/>
                <a:ea typeface="Times New Roman"/>
                <a:cs typeface="Times New Roman"/>
                <a:sym typeface="Times New Roman"/>
              </a:rPr>
              <a:t>: 1</a:t>
            </a:r>
            <a:r>
              <a:rPr lang="en-US" sz="1600" dirty="0">
                <a:solidFill>
                  <a:schemeClr val="dk1"/>
                </a:solidFill>
                <a:latin typeface="Times New Roman"/>
                <a:ea typeface="Times New Roman"/>
                <a:cs typeface="Times New Roman"/>
                <a:sym typeface="Times New Roman"/>
              </a:rPr>
              <a:t>3</a:t>
            </a:r>
            <a:r>
              <a:rPr lang="en-US" sz="1600" b="0" i="0" u="none" strike="noStrike" cap="none" dirty="0">
                <a:solidFill>
                  <a:schemeClr val="dk1"/>
                </a:solidFill>
                <a:latin typeface="Times New Roman"/>
                <a:ea typeface="Times New Roman"/>
                <a:cs typeface="Times New Roman"/>
                <a:sym typeface="Times New Roman"/>
              </a:rPr>
              <a:t> (3 </a:t>
            </a:r>
            <a:r>
              <a:rPr lang="en-US" sz="1600" b="0" i="0" u="none" strike="noStrike" cap="none" dirty="0" err="1">
                <a:solidFill>
                  <a:schemeClr val="dk1"/>
                </a:solidFill>
                <a:latin typeface="Times New Roman"/>
                <a:ea typeface="Times New Roman"/>
                <a:cs typeface="Times New Roman"/>
                <a:sym typeface="Times New Roman"/>
              </a:rPr>
              <a:t>sở</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hữu</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10</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thuê</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ngắn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hạn</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Số</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lượng</a:t>
            </a:r>
            <a:r>
              <a:rPr lang="en-US" sz="1600" b="0" i="0" u="none" strike="noStrike" cap="none" dirty="0">
                <a:solidFill>
                  <a:schemeClr val="dk1"/>
                </a:solidFill>
                <a:latin typeface="Times New Roman"/>
                <a:ea typeface="Times New Roman"/>
                <a:cs typeface="Times New Roman"/>
                <a:sym typeface="Times New Roman"/>
              </a:rPr>
              <a:t> trong </a:t>
            </a:r>
            <a:r>
              <a:rPr lang="en-US" sz="1600" b="0" i="0" u="none" strike="noStrike" cap="none" dirty="0" err="1">
                <a:solidFill>
                  <a:schemeClr val="dk1"/>
                </a:solidFill>
                <a:latin typeface="Times New Roman"/>
                <a:ea typeface="Times New Roman"/>
                <a:cs typeface="Times New Roman"/>
                <a:sym typeface="Times New Roman"/>
              </a:rPr>
              <a:t>kho</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02ea V17951, V15851</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Số</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lượng</a:t>
            </a:r>
            <a:r>
              <a:rPr lang="en-US" sz="1600" b="0" i="0" u="none" strike="noStrike" cap="none" dirty="0">
                <a:solidFill>
                  <a:schemeClr val="dk1"/>
                </a:solidFill>
                <a:latin typeface="Times New Roman"/>
                <a:ea typeface="Times New Roman"/>
                <a:cs typeface="Times New Roman"/>
                <a:sym typeface="Times New Roman"/>
              </a:rPr>
              <a:t> US </a:t>
            </a:r>
            <a:r>
              <a:rPr lang="en-US" sz="1600" b="0" i="0" u="none" strike="noStrike" cap="none" dirty="0" err="1">
                <a:solidFill>
                  <a:schemeClr val="dk1"/>
                </a:solidFill>
                <a:latin typeface="Times New Roman"/>
                <a:ea typeface="Times New Roman"/>
                <a:cs typeface="Times New Roman"/>
                <a:sym typeface="Times New Roman"/>
              </a:rPr>
              <a:t>chờ</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chuyển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đi</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NIL</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Số</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lượng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đang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sửa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tại</a:t>
            </a:r>
            <a:r>
              <a:rPr lang="en-US" sz="1600" b="0" i="0" u="none" strike="noStrike" cap="none" dirty="0">
                <a:solidFill>
                  <a:schemeClr val="dk1"/>
                </a:solidFill>
                <a:latin typeface="Times New Roman"/>
                <a:ea typeface="Times New Roman"/>
                <a:cs typeface="Times New Roman"/>
                <a:sym typeface="Times New Roman"/>
              </a:rPr>
              <a:t> shop: </a:t>
            </a:r>
            <a:r>
              <a:rPr lang="en-US" sz="1600" dirty="0">
                <a:solidFill>
                  <a:schemeClr val="dk1"/>
                </a:solidFill>
                <a:latin typeface="Times New Roman"/>
                <a:ea typeface="Times New Roman"/>
                <a:cs typeface="Times New Roman"/>
                <a:sym typeface="Times New Roman"/>
              </a:rPr>
              <a:t>11</a:t>
            </a:r>
            <a:r>
              <a:rPr lang="en-US" sz="1600" b="0" i="0" u="none" strike="noStrike" cap="none" dirty="0">
                <a:solidFill>
                  <a:schemeClr val="dk1"/>
                </a:solidFill>
                <a:latin typeface="Times New Roman"/>
                <a:ea typeface="Times New Roman"/>
                <a:cs typeface="Times New Roman"/>
                <a:sym typeface="Times New Roman"/>
              </a:rPr>
              <a:t>ea</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Động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thuê</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đang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hoàn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tất</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thủ</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tục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hoàn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trả</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đối</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tác</a:t>
            </a:r>
            <a:r>
              <a:rPr lang="en-US" sz="1600" b="0" i="0" u="none" strike="noStrike" cap="none" dirty="0">
                <a:solidFill>
                  <a:schemeClr val="dk1"/>
                </a:solidFill>
                <a:latin typeface="Times New Roman"/>
                <a:ea typeface="Times New Roman"/>
                <a:cs typeface="Times New Roman"/>
                <a:sym typeface="Times New Roman"/>
              </a:rPr>
              <a:t>: V12175 (WILLIS) - </a:t>
            </a:r>
            <a:r>
              <a:rPr lang="en-US" sz="1600" b="0" i="0" u="none" strike="noStrike" cap="none" dirty="0" err="1">
                <a:solidFill>
                  <a:schemeClr val="dk1"/>
                </a:solidFill>
                <a:latin typeface="Times New Roman"/>
                <a:ea typeface="Times New Roman"/>
                <a:cs typeface="Times New Roman"/>
                <a:sym typeface="Times New Roman"/>
              </a:rPr>
              <a:t>đã</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giao</a:t>
            </a:r>
            <a:r>
              <a:rPr lang="en-US" sz="1600" b="0" i="0" u="none" strike="noStrike" cap="none" dirty="0">
                <a:solidFill>
                  <a:schemeClr val="dk1"/>
                </a:solidFill>
                <a:latin typeface="Times New Roman"/>
                <a:ea typeface="Times New Roman"/>
                <a:cs typeface="Times New Roman"/>
                <a:sym typeface="Times New Roman"/>
              </a:rPr>
              <a:t> WILLIS 18/11/2024, </a:t>
            </a:r>
            <a:r>
              <a:rPr lang="en-US" sz="1600" dirty="0">
                <a:solidFill>
                  <a:schemeClr val="dk1"/>
                </a:solidFill>
                <a:latin typeface="Times New Roman"/>
                <a:ea typeface="Times New Roman"/>
                <a:cs typeface="Times New Roman"/>
                <a:sym typeface="Times New Roman"/>
              </a:rPr>
              <a:t>V18951-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WILLIS 6/1/2025, </a:t>
            </a:r>
            <a:r>
              <a:rPr lang="en-US" sz="1600" b="0" i="0" u="none" strike="noStrike" cap="none" dirty="0" err="1">
                <a:solidFill>
                  <a:schemeClr val="dk1"/>
                </a:solidFill>
                <a:latin typeface="Times New Roman"/>
                <a:ea typeface="Times New Roman"/>
                <a:cs typeface="Times New Roman"/>
                <a:sym typeface="Times New Roman"/>
              </a:rPr>
              <a:t>đang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hoàn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thiện</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thủ</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tục</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dirty="0">
                <a:solidFill>
                  <a:srgbClr val="FF0000"/>
                </a:solidFill>
                <a:latin typeface="Times New Roman"/>
                <a:ea typeface="Times New Roman"/>
                <a:cs typeface="Times New Roman"/>
                <a:sym typeface="Times New Roman"/>
              </a:rPr>
              <a:t>-</a:t>
            </a:r>
            <a:r>
              <a:rPr lang="en-US" sz="1600" b="1" i="0" u="none" strike="noStrike" cap="none" dirty="0">
                <a:solidFill>
                  <a:schemeClr val="dk1"/>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Vướng</a:t>
            </a: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mắc</a:t>
            </a:r>
            <a:r>
              <a:rPr lang="en-US" sz="1600" b="1" i="0" u="none" strike="noStrike" cap="none" dirty="0">
                <a:solidFill>
                  <a:srgbClr val="FF0000"/>
                </a:solidFill>
                <a:latin typeface="Times New Roman"/>
                <a:ea typeface="Times New Roman"/>
                <a:cs typeface="Times New Roman"/>
                <a:sym typeface="Times New Roman"/>
              </a:rPr>
              <a:t>:</a:t>
            </a: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Danh </a:t>
            </a:r>
            <a:r>
              <a:rPr lang="en-US" sz="1600" b="0" i="0" u="none" strike="noStrike" cap="none" dirty="0" err="1">
                <a:solidFill>
                  <a:schemeClr val="dk1"/>
                </a:solidFill>
                <a:latin typeface="Times New Roman"/>
                <a:ea typeface="Times New Roman"/>
                <a:cs typeface="Times New Roman"/>
                <a:sym typeface="Times New Roman"/>
              </a:rPr>
              <a:t>mục</a:t>
            </a:r>
            <a:r>
              <a:rPr lang="en-US" sz="1600" b="0" i="0" u="none" strike="noStrike" cap="none" dirty="0">
                <a:solidFill>
                  <a:schemeClr val="dk1"/>
                </a:solidFill>
                <a:latin typeface="Times New Roman"/>
                <a:ea typeface="Times New Roman"/>
                <a:cs typeface="Times New Roman"/>
                <a:sym typeface="Times New Roman"/>
              </a:rPr>
              <a:t> missing part list </a:t>
            </a:r>
            <a:r>
              <a:rPr lang="en-US" sz="1600" b="0" i="0" u="none" strike="noStrike" cap="none" dirty="0" err="1">
                <a:solidFill>
                  <a:schemeClr val="dk1"/>
                </a:solidFill>
                <a:latin typeface="Times New Roman"/>
                <a:ea typeface="Times New Roman"/>
                <a:cs typeface="Times New Roman"/>
                <a:sym typeface="Times New Roman"/>
              </a:rPr>
              <a:t>của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sửa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chữa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dirty="0">
                <a:solidFill>
                  <a:srgbClr val="FF0000"/>
                </a:solidFill>
                <a:latin typeface="Times New Roman"/>
                <a:ea typeface="Times New Roman"/>
                <a:cs typeface="Times New Roman"/>
                <a:sym typeface="Times New Roman"/>
              </a:rPr>
              <a:t>-</a:t>
            </a:r>
            <a:r>
              <a:rPr lang="en-US" sz="1600" b="1" i="0" u="none" strike="noStrike" cap="none" dirty="0">
                <a:solidFill>
                  <a:schemeClr val="dk1"/>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Giải</a:t>
            </a: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pháp</a:t>
            </a:r>
            <a:r>
              <a:rPr lang="en-US" sz="1600" b="1" i="0" u="none" strike="noStrike" cap="none" dirty="0">
                <a:solidFill>
                  <a:srgbClr val="FF0000"/>
                </a:solidFill>
                <a:latin typeface="Times New Roman"/>
                <a:ea typeface="Times New Roman"/>
                <a:cs typeface="Times New Roman"/>
                <a:sym typeface="Times New Roman"/>
              </a:rPr>
              <a:t>:</a:t>
            </a: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Thúc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đẩy</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việc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sửa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chữa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tại</a:t>
            </a:r>
            <a:r>
              <a:rPr lang="en-US" sz="1600" b="0" i="0" u="none" strike="noStrike" cap="none" dirty="0">
                <a:solidFill>
                  <a:schemeClr val="dk1"/>
                </a:solidFill>
                <a:latin typeface="Times New Roman"/>
                <a:ea typeface="Times New Roman"/>
                <a:cs typeface="Times New Roman"/>
                <a:sym typeface="Times New Roman"/>
              </a:rPr>
              <a:t> shop</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Làm</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việc</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với</a:t>
            </a:r>
            <a:r>
              <a:rPr lang="en-US" sz="1600" b="0" i="0" u="none" strike="noStrike" cap="none" dirty="0">
                <a:solidFill>
                  <a:schemeClr val="dk1"/>
                </a:solidFill>
                <a:latin typeface="Times New Roman"/>
                <a:ea typeface="Times New Roman"/>
                <a:cs typeface="Times New Roman"/>
                <a:sym typeface="Times New Roman"/>
              </a:rPr>
              <a:t> Ban KT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KH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tháo</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trả</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3574627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dirty="0">
                <a:solidFill>
                  <a:srgbClr val="FFC000"/>
                </a:solidFill>
                <a:latin typeface="Times New Roman"/>
                <a:ea typeface="Times New Roman"/>
                <a:cs typeface="Times New Roman"/>
                <a:sym typeface="Times New Roman"/>
              </a:rPr>
              <a:t>Động </a:t>
            </a:r>
            <a:r>
              <a:rPr lang="en-US" sz="2800" dirty="0" err="1">
                <a:solidFill>
                  <a:srgbClr val="FFC000"/>
                </a:solidFill>
                <a:latin typeface="Times New Roman"/>
                <a:ea typeface="Times New Roman"/>
                <a:cs typeface="Times New Roman"/>
                <a:sym typeface="Times New Roman"/>
              </a:rPr>
              <a:t>cơ</a:t>
            </a:r>
            <a:endParaRPr sz="2800" dirty="0">
              <a:solidFill>
                <a:srgbClr val="FFC000"/>
              </a:solidFill>
              <a:latin typeface="Times New Roman"/>
              <a:ea typeface="Times New Roman"/>
              <a:cs typeface="Times New Roman"/>
              <a:sym typeface="Times New Roman"/>
            </a:endParaRPr>
          </a:p>
        </p:txBody>
      </p:sp>
      <p:sp>
        <p:nvSpPr>
          <p:cNvPr id="284" name="Google Shape;284;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73</a:t>
            </a:fld>
            <a:endParaRPr/>
          </a:p>
        </p:txBody>
      </p:sp>
      <p:sp>
        <p:nvSpPr>
          <p:cNvPr id="285" name="Google Shape;285;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Tình</a:t>
            </a: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trạng</a:t>
            </a: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trả</a:t>
            </a: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động</a:t>
            </a: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cơ</a:t>
            </a:r>
            <a:r>
              <a:rPr lang="en-US" sz="1600" b="1" i="0" u="none" strike="noStrike" cap="none" dirty="0">
                <a:solidFill>
                  <a:srgbClr val="FF0000"/>
                </a:solidFill>
                <a:latin typeface="Times New Roman"/>
                <a:ea typeface="Times New Roman"/>
                <a:cs typeface="Times New Roman"/>
                <a:sym typeface="Times New Roman"/>
              </a:rPr>
              <a:t> </a:t>
            </a:r>
            <a:r>
              <a:rPr lang="en-US" sz="1600" b="1" i="0" u="none" strike="noStrike" cap="none" dirty="0" err="1">
                <a:solidFill>
                  <a:srgbClr val="FF0000"/>
                </a:solidFill>
                <a:latin typeface="Times New Roman"/>
                <a:ea typeface="Times New Roman"/>
                <a:cs typeface="Times New Roman"/>
                <a:sym typeface="Times New Roman"/>
              </a:rPr>
              <a:t>thuê</a:t>
            </a:r>
            <a:r>
              <a:rPr lang="en-US" sz="1600" b="1" i="0" u="none" strike="noStrike" cap="none" dirty="0">
                <a:solidFill>
                  <a:srgbClr val="FF0000"/>
                </a:solidFill>
                <a:latin typeface="Times New Roman"/>
                <a:ea typeface="Times New Roman"/>
                <a:cs typeface="Times New Roman"/>
                <a:sym typeface="Times New Roman"/>
              </a:rPr>
              <a:t> 2024</a:t>
            </a: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pic>
        <p:nvPicPr>
          <p:cNvPr id="286" name="Google Shape;286;g31ccdae391d_0_375"/>
          <p:cNvPicPr preferRelativeResize="0"/>
          <p:nvPr/>
        </p:nvPicPr>
        <p:blipFill>
          <a:blip r:embed="rId3">
            <a:alphaModFix/>
          </a:blip>
          <a:stretch>
            <a:fillRect/>
          </a:stretch>
        </p:blipFill>
        <p:spPr>
          <a:xfrm>
            <a:off x="657450" y="1476113"/>
            <a:ext cx="11178450" cy="3718536"/>
          </a:xfrm>
          <a:prstGeom prst="rect">
            <a:avLst/>
          </a:prstGeom>
          <a:noFill/>
          <a:ln>
            <a:noFill/>
          </a:ln>
        </p:spPr>
      </p:pic>
    </p:spTree>
    <p:extLst>
      <p:ext uri="{BB962C8B-B14F-4D97-AF65-F5344CB8AC3E}">
        <p14:creationId xmlns:p14="http://schemas.microsoft.com/office/powerpoint/2010/main" val="42509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74</a:t>
            </a:fld>
            <a:endParaRPr/>
          </a:p>
        </p:txBody>
      </p:sp>
      <p:sp>
        <p:nvSpPr>
          <p:cNvPr id="293" name="Google Shape;293;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dirty="0">
                <a:solidFill>
                  <a:srgbClr val="FF0000"/>
                </a:solidFill>
                <a:latin typeface="Times New Roman"/>
                <a:ea typeface="Times New Roman"/>
                <a:cs typeface="Times New Roman"/>
                <a:sym typeface="Times New Roman"/>
              </a:rPr>
              <a:t>- Đội bay A321 Neo:</a:t>
            </a: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phòng</a:t>
            </a:r>
            <a:r>
              <a:rPr lang="en-US" sz="1500" b="0" i="0" u="none" strike="noStrike" cap="none" dirty="0">
                <a:solidFill>
                  <a:schemeClr val="dk1"/>
                </a:solidFill>
                <a:latin typeface="Times New Roman"/>
                <a:ea typeface="Times New Roman"/>
                <a:cs typeface="Times New Roman"/>
                <a:sym typeface="Times New Roman"/>
              </a:rPr>
              <a:t>: 05ea (2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SLB), 2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01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của</a:t>
            </a:r>
            <a:r>
              <a:rPr lang="en-US" sz="1500" b="0" i="0" u="none" strike="noStrike" cap="none" dirty="0">
                <a:solidFill>
                  <a:schemeClr val="dk1"/>
                </a:solidFill>
                <a:latin typeface="Times New Roman"/>
                <a:ea typeface="Times New Roman"/>
                <a:cs typeface="Times New Roman"/>
                <a:sym typeface="Times New Roman"/>
              </a:rPr>
              <a:t> PW).</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trong </a:t>
            </a:r>
            <a:r>
              <a:rPr lang="en-US" sz="1500" b="0" i="0" u="none" strike="noStrike" cap="none" dirty="0" err="1">
                <a:solidFill>
                  <a:schemeClr val="dk1"/>
                </a:solidFill>
                <a:latin typeface="Times New Roman"/>
                <a:ea typeface="Times New Roman"/>
                <a:cs typeface="Times New Roman"/>
                <a:sym typeface="Times New Roman"/>
              </a:rPr>
              <a:t>kho</a:t>
            </a:r>
            <a:r>
              <a:rPr lang="en-US" sz="1500" b="0" i="0" u="none" strike="noStrike" cap="none" dirty="0">
                <a:solidFill>
                  <a:schemeClr val="dk1"/>
                </a:solidFill>
                <a:latin typeface="Times New Roman"/>
                <a:ea typeface="Times New Roman"/>
                <a:cs typeface="Times New Roman"/>
                <a:sym typeface="Times New Roman"/>
              </a:rPr>
              <a:t>: NIL.</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8</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6</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ESA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0</a:t>
            </a:r>
            <a:r>
              <a:rPr lang="en-US" sz="1500" dirty="0">
                <a:solidFill>
                  <a:schemeClr val="dk1"/>
                </a:solidFill>
                <a:latin typeface="Times New Roman"/>
                <a:ea typeface="Times New Roman"/>
                <a:cs typeface="Times New Roman"/>
                <a:sym typeface="Times New Roman"/>
              </a:rPr>
              <a:t>2</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IHI)</a:t>
            </a:r>
            <a:endParaRPr sz="1500" b="0" i="0" u="none" strike="noStrike" cap="none" dirty="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thuê</a:t>
            </a:r>
            <a:r>
              <a:rPr lang="en-US" sz="1500" dirty="0">
                <a:solidFill>
                  <a:schemeClr val="dk1"/>
                </a:solidFill>
                <a:latin typeface="Times New Roman"/>
                <a:ea typeface="Times New Roman"/>
                <a:cs typeface="Times New Roman"/>
                <a:sym typeface="Times New Roman"/>
              </a:rPr>
              <a:t> 2 Eng </a:t>
            </a:r>
            <a:r>
              <a:rPr lang="en-US" sz="1500" dirty="0" err="1">
                <a:solidFill>
                  <a:schemeClr val="dk1"/>
                </a:solidFill>
                <a:latin typeface="Times New Roman"/>
                <a:ea typeface="Times New Roman"/>
                <a:cs typeface="Times New Roman"/>
                <a:sym typeface="Times New Roman"/>
              </a:rPr>
              <a:t>mới</a:t>
            </a:r>
            <a:r>
              <a:rPr lang="en-US" sz="1500" dirty="0">
                <a:solidFill>
                  <a:schemeClr val="dk1"/>
                </a:solidFill>
                <a:latin typeface="Times New Roman"/>
                <a:ea typeface="Times New Roman"/>
                <a:cs typeface="Times New Roman"/>
                <a:sym typeface="Times New Roman"/>
              </a:rPr>
              <a:t> trong Q2/2025  (Willis </a:t>
            </a:r>
            <a:r>
              <a:rPr lang="en-US" sz="1500" dirty="0" err="1">
                <a:solidFill>
                  <a:schemeClr val="dk1"/>
                </a:solidFill>
                <a:latin typeface="Times New Roman"/>
                <a:ea typeface="Times New Roman"/>
                <a:cs typeface="Times New Roman"/>
                <a:sym typeface="Times New Roman"/>
              </a:rPr>
              <a:t>và</a:t>
            </a:r>
            <a:r>
              <a:rPr lang="en-US" sz="1500" dirty="0">
                <a:solidFill>
                  <a:schemeClr val="dk1"/>
                </a:solidFill>
                <a:latin typeface="Times New Roman"/>
                <a:ea typeface="Times New Roman"/>
                <a:cs typeface="Times New Roman"/>
                <a:sym typeface="Times New Roman"/>
              </a:rPr>
              <a:t> ELFC)</a:t>
            </a:r>
            <a:endParaRPr sz="1500"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b="0" i="0" u="none" strike="noStrike" cap="none" dirty="0">
                <a:solidFill>
                  <a:schemeClr val="dk1"/>
                </a:solidFill>
                <a:latin typeface="Times New Roman"/>
                <a:ea typeface="Times New Roman"/>
                <a:cs typeface="Times New Roman"/>
                <a:sym typeface="Times New Roman"/>
              </a:rPr>
              <a:t>Trong </a:t>
            </a:r>
            <a:r>
              <a:rPr lang="en-US" sz="1500" b="0" i="0" u="none" strike="noStrike" cap="none" dirty="0" err="1">
                <a:solidFill>
                  <a:schemeClr val="dk1"/>
                </a:solidFill>
                <a:latin typeface="Times New Roman"/>
                <a:ea typeface="Times New Roman"/>
                <a:cs typeface="Times New Roman"/>
                <a:sym typeface="Times New Roman"/>
              </a:rPr>
              <a:t>đó</a:t>
            </a:r>
            <a:r>
              <a:rPr lang="en-US" sz="1500" b="0" i="0" u="none" strike="noStrike" cap="none" dirty="0">
                <a:solidFill>
                  <a:schemeClr val="dk1"/>
                </a:solidFill>
                <a:latin typeface="Times New Roman"/>
                <a:ea typeface="Times New Roman"/>
                <a:cs typeface="Times New Roman"/>
                <a:sym typeface="Times New Roman"/>
              </a:rPr>
              <a:t>: </a:t>
            </a:r>
            <a:endParaRPr sz="1500"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dirty="0">
                <a:solidFill>
                  <a:schemeClr val="dk1"/>
                </a:solidFill>
                <a:latin typeface="Times New Roman"/>
                <a:ea typeface="Times New Roman"/>
                <a:cs typeface="Times New Roman"/>
                <a:sym typeface="Times New Roman"/>
              </a:rPr>
              <a:t>+ P771075: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release </a:t>
            </a:r>
            <a:r>
              <a:rPr lang="en-US" sz="1500" dirty="0">
                <a:solidFill>
                  <a:srgbClr val="FF0000"/>
                </a:solidFill>
                <a:latin typeface="Times New Roman"/>
                <a:ea typeface="Times New Roman"/>
                <a:cs typeface="Times New Roman"/>
                <a:sym typeface="Times New Roman"/>
              </a:rPr>
              <a:t>26/2</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ESA.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có</a:t>
            </a:r>
            <a:r>
              <a:rPr lang="en-US" sz="1500" dirty="0">
                <a:solidFill>
                  <a:schemeClr val="dk1"/>
                </a:solidFill>
                <a:latin typeface="Times New Roman"/>
                <a:ea typeface="Times New Roman"/>
                <a:cs typeface="Times New Roman"/>
                <a:sym typeface="Times New Roman"/>
              </a:rPr>
              <a:t> ở VAECO HAN 4/3</a:t>
            </a:r>
            <a:endParaRPr sz="1500"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dirty="0">
                <a:solidFill>
                  <a:schemeClr val="dk1"/>
                </a:solidFill>
                <a:latin typeface="Times New Roman"/>
                <a:ea typeface="Times New Roman"/>
                <a:cs typeface="Times New Roman"/>
                <a:sym typeface="Times New Roman"/>
              </a:rPr>
              <a:t>+ P771041: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vận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chuyển</a:t>
            </a:r>
            <a:r>
              <a:rPr lang="en-US" sz="1500" dirty="0">
                <a:solidFill>
                  <a:schemeClr val="dk1"/>
                </a:solidFill>
                <a:latin typeface="Times New Roman"/>
                <a:ea typeface="Times New Roman"/>
                <a:cs typeface="Times New Roman"/>
                <a:sym typeface="Times New Roman"/>
              </a:rPr>
              <a:t> </a:t>
            </a:r>
            <a:r>
              <a:rPr lang="en-US" sz="1500" dirty="0">
                <a:solidFill>
                  <a:srgbClr val="FF0000"/>
                </a:solidFill>
                <a:latin typeface="Times New Roman"/>
                <a:ea typeface="Times New Roman"/>
                <a:cs typeface="Times New Roman"/>
                <a:sym typeface="Times New Roman"/>
              </a:rPr>
              <a:t>27/2</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VAECO HAN. Induct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19/3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MTU.</a:t>
            </a:r>
            <a:br>
              <a:rPr lang="en-US" sz="1500" dirty="0">
                <a:solidFill>
                  <a:schemeClr val="dk1"/>
                </a:solidFill>
                <a:latin typeface="Times New Roman"/>
                <a:ea typeface="Times New Roman"/>
                <a:cs typeface="Times New Roman"/>
                <a:sym typeface="Times New Roman"/>
              </a:rPr>
            </a:br>
            <a:r>
              <a:rPr lang="en-US" sz="1500" dirty="0">
                <a:solidFill>
                  <a:schemeClr val="dk1"/>
                </a:solidFill>
                <a:latin typeface="Times New Roman"/>
                <a:ea typeface="Times New Roman"/>
                <a:cs typeface="Times New Roman"/>
                <a:sym typeface="Times New Roman"/>
              </a:rPr>
              <a:t>+ P770904: </a:t>
            </a:r>
            <a:r>
              <a:rPr lang="en-US" sz="1500" dirty="0" err="1">
                <a:solidFill>
                  <a:schemeClr val="dk1"/>
                </a:solidFill>
                <a:latin typeface="Times New Roman"/>
                <a:ea typeface="Times New Roman"/>
                <a:cs typeface="Times New Roman"/>
                <a:sym typeface="Times New Roman"/>
              </a:rPr>
              <a:t>Lịch</a:t>
            </a:r>
            <a:r>
              <a:rPr lang="en-US" sz="1500" dirty="0">
                <a:solidFill>
                  <a:schemeClr val="dk1"/>
                </a:solidFill>
                <a:latin typeface="Times New Roman"/>
                <a:ea typeface="Times New Roman"/>
                <a:cs typeface="Times New Roman"/>
                <a:sym typeface="Times New Roman"/>
              </a:rPr>
              <a:t> release delay 27 </a:t>
            </a:r>
            <a:r>
              <a:rPr lang="en-US" sz="1500" dirty="0" err="1">
                <a:solidFill>
                  <a:schemeClr val="dk1"/>
                </a:solidFill>
                <a:latin typeface="Times New Roman"/>
                <a:ea typeface="Times New Roman"/>
                <a:cs typeface="Times New Roman"/>
                <a:sym typeface="Times New Roman"/>
              </a:rPr>
              <a:t>ngày</a:t>
            </a:r>
            <a:r>
              <a:rPr lang="en-US" sz="1500" dirty="0">
                <a:solidFill>
                  <a:schemeClr val="dk1"/>
                </a:solidFill>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TAT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a:t>
            </a:r>
            <a:r>
              <a:rPr lang="en-US" sz="1500" b="0" i="0" u="none" strike="noStrike" cap="none" dirty="0" err="1">
                <a:solidFill>
                  <a:schemeClr val="dk1"/>
                </a:solidFill>
                <a:latin typeface="Times New Roman"/>
                <a:ea typeface="Times New Roman"/>
                <a:cs typeface="Times New Roman"/>
                <a:sym typeface="Times New Roman"/>
              </a:rPr>
              <a:t>kéo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dài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hiện</a:t>
            </a:r>
            <a:r>
              <a:rPr lang="en-US" sz="1500" b="0" i="0" u="none" strike="noStrike" cap="none" dirty="0">
                <a:solidFill>
                  <a:schemeClr val="dk1"/>
                </a:solidFill>
                <a:latin typeface="Times New Roman"/>
                <a:ea typeface="Times New Roman"/>
                <a:cs typeface="Times New Roman"/>
                <a:sym typeface="Times New Roman"/>
              </a:rPr>
              <a:t> do shop </a:t>
            </a:r>
            <a:r>
              <a:rPr lang="en-US" sz="1500" b="0" i="0" u="none" strike="noStrike" cap="none" dirty="0" err="1">
                <a:solidFill>
                  <a:schemeClr val="dk1"/>
                </a:solidFill>
                <a:latin typeface="Times New Roman"/>
                <a:ea typeface="Times New Roman"/>
                <a:cs typeface="Times New Roman"/>
                <a:sym typeface="Times New Roman"/>
              </a:rPr>
              <a:t>quá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cung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đợi</a:t>
            </a:r>
            <a:r>
              <a:rPr lang="en-US" sz="1500" b="0" i="0" u="none" strike="noStrike" cap="none" dirty="0">
                <a:solidFill>
                  <a:schemeClr val="dk1"/>
                </a:solidFill>
                <a:latin typeface="Times New Roman"/>
                <a:ea typeface="Times New Roman"/>
                <a:cs typeface="Times New Roman"/>
                <a:sym typeface="Times New Roman"/>
              </a:rPr>
              <a:t> slot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đến</a:t>
            </a:r>
            <a:r>
              <a:rPr lang="en-US" sz="1500" b="0" i="0" u="none" strike="noStrike" cap="none" dirty="0">
                <a:solidFill>
                  <a:schemeClr val="dk1"/>
                </a:solidFill>
                <a:latin typeface="Times New Roman"/>
                <a:ea typeface="Times New Roman"/>
                <a:cs typeface="Times New Roman"/>
                <a:sym typeface="Times New Roman"/>
              </a:rPr>
              <a:t> 200 </a:t>
            </a:r>
            <a:r>
              <a:rPr lang="en-US" sz="1500" b="0" i="0" u="none" strike="noStrike" cap="none" dirty="0" err="1">
                <a:solidFill>
                  <a:schemeClr val="dk1"/>
                </a:solidFill>
                <a:latin typeface="Times New Roman"/>
                <a:ea typeface="Times New Roman"/>
                <a:cs typeface="Times New Roman"/>
                <a:sym typeface="Times New Roman"/>
              </a:rPr>
              <a:t>ngày</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A321 NEO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trước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đây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không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có</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lắp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lên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trả</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nhiều</a:t>
            </a:r>
            <a:r>
              <a:rPr lang="en-US" sz="1500" b="0" i="0" u="none" strike="noStrike" cap="none" dirty="0">
                <a:solidFill>
                  <a:schemeClr val="dk1"/>
                </a:solidFill>
                <a:latin typeface="Times New Roman"/>
                <a:ea typeface="Times New Roman"/>
                <a:cs typeface="Times New Roman"/>
                <a:sym typeface="Times New Roman"/>
              </a:rPr>
              <a:t> LRUs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br>
              <a:rPr lang="en-US" sz="1500" b="0" i="0" u="none" strike="noStrike" cap="none" dirty="0">
                <a:solidFill>
                  <a:schemeClr val="dk1"/>
                </a:solidFill>
                <a:latin typeface="Times New Roman"/>
                <a:ea typeface="Times New Roman"/>
                <a:cs typeface="Times New Roman"/>
                <a:sym typeface="Times New Roman"/>
              </a:rPr>
            </a:b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Khoảng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thời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cao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nghỉ</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lễ</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thiếu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hụt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phụ</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tùng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vật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liệu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tăng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các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lỗi</a:t>
            </a:r>
            <a:r>
              <a:rPr lang="en-US" sz="1500" b="0" i="0" u="none" strike="noStrike" cap="none" dirty="0">
                <a:solidFill>
                  <a:schemeClr val="dk1"/>
                </a:solidFill>
                <a:latin typeface="Times New Roman"/>
                <a:ea typeface="Times New Roman"/>
                <a:cs typeface="Times New Roman"/>
                <a:sym typeface="Times New Roman"/>
              </a:rPr>
              <a:t> Rejection trong </a:t>
            </a:r>
            <a:r>
              <a:rPr lang="en-US" sz="1500" b="0" i="0" u="none" strike="noStrike" cap="none" dirty="0" err="1">
                <a:solidFill>
                  <a:schemeClr val="dk1"/>
                </a:solidFill>
                <a:latin typeface="Times New Roman"/>
                <a:ea typeface="Times New Roman"/>
                <a:cs typeface="Times New Roman"/>
                <a:sym typeface="Times New Roman"/>
              </a:rPr>
              <a:t>kiểm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tra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sau</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thử</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nghiệm</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Thúc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đẩy</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động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cơ</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chữa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Tổ</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chức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họp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và</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tìm</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giải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pháp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Ban KT, VAECO </a:t>
            </a:r>
            <a:r>
              <a:rPr lang="en-US" sz="1500" b="0" i="0" u="none" strike="noStrike" cap="none" dirty="0" err="1">
                <a:solidFill>
                  <a:schemeClr val="dk1"/>
                </a:solidFill>
                <a:latin typeface="Times New Roman"/>
                <a:ea typeface="Times New Roman"/>
                <a:cs typeface="Times New Roman"/>
                <a:sym typeface="Times New Roman"/>
              </a:rPr>
              <a:t>với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danh</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mục</a:t>
            </a:r>
            <a:r>
              <a:rPr lang="en-US" sz="1500" b="0" i="0" u="none" strike="noStrike" cap="none" dirty="0">
                <a:solidFill>
                  <a:schemeClr val="dk1"/>
                </a:solidFill>
                <a:latin typeface="Times New Roman"/>
                <a:ea typeface="Times New Roman"/>
                <a:cs typeface="Times New Roman"/>
                <a:sym typeface="Times New Roman"/>
              </a:rPr>
              <a:t> MPL </a:t>
            </a:r>
            <a:r>
              <a:rPr lang="en-US" sz="1500" b="0" i="0" u="none" strike="noStrike" cap="none" dirty="0" err="1">
                <a:solidFill>
                  <a:schemeClr val="dk1"/>
                </a:solidFill>
                <a:latin typeface="Times New Roman"/>
                <a:ea typeface="Times New Roman"/>
                <a:cs typeface="Times New Roman"/>
                <a:sym typeface="Times New Roman"/>
              </a:rPr>
              <a:t>đc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tháo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khi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gửi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đi</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885502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75</a:t>
            </a:fld>
            <a:endParaRPr/>
          </a:p>
        </p:txBody>
      </p:sp>
      <p:sp>
        <p:nvSpPr>
          <p:cNvPr id="300" name="Google Shape;300;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rgbClr val="FF0000"/>
                </a:solidFill>
                <a:latin typeface="Times New Roman"/>
                <a:ea typeface="Times New Roman"/>
                <a:cs typeface="Times New Roman"/>
                <a:sym typeface="Times New Roman"/>
              </a:rPr>
              <a: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a:solidFill>
                  <a:srgbClr val="FF0000"/>
                </a:solidFill>
                <a:latin typeface="Times New Roman"/>
                <a:ea typeface="Times New Roman"/>
                <a:cs typeface="Times New Roman"/>
                <a:sym typeface="Times New Roman"/>
              </a:rPr>
              <a:t>Đội bay ATR:</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phòng</a:t>
            </a:r>
            <a:r>
              <a:rPr lang="en-US" sz="1500" b="0" i="0" u="none" strike="noStrike" cap="none" dirty="0">
                <a:solidFill>
                  <a:schemeClr val="dk1"/>
                </a:solidFill>
                <a:latin typeface="Times New Roman"/>
                <a:ea typeface="Times New Roman"/>
                <a:cs typeface="Times New Roman"/>
                <a:sym typeface="Times New Roman"/>
              </a:rPr>
              <a:t>: 06:  03 ENG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03 ENG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(ED0321) (ED0036) (ED0715). </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ED0238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PWC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SING.</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ED0239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SA.</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Khó</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khăn</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Các</a:t>
            </a:r>
            <a:r>
              <a:rPr lang="en-US" sz="1500" dirty="0">
                <a:solidFill>
                  <a:schemeClr val="dk1"/>
                </a:solidFill>
                <a:latin typeface="Times New Roman"/>
                <a:ea typeface="Times New Roman"/>
                <a:cs typeface="Times New Roman"/>
                <a:sym typeface="Times New Roman"/>
              </a:rPr>
              <a:t> shop </a:t>
            </a:r>
            <a:r>
              <a:rPr lang="en-US" sz="1500" dirty="0" err="1">
                <a:solidFill>
                  <a:schemeClr val="dk1"/>
                </a:solidFill>
                <a:latin typeface="Times New Roman"/>
                <a:ea typeface="Times New Roman"/>
                <a:cs typeface="Times New Roman"/>
                <a:sym typeface="Times New Roman"/>
              </a:rPr>
              <a:t>vẫn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gặp</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trình</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trạng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thiếu</a:t>
            </a:r>
            <a:r>
              <a:rPr lang="en-US" sz="1500" dirty="0">
                <a:solidFill>
                  <a:schemeClr val="dk1"/>
                </a:solidFill>
                <a:latin typeface="Times New Roman"/>
                <a:ea typeface="Times New Roman"/>
                <a:cs typeface="Times New Roman"/>
                <a:sym typeface="Times New Roman"/>
              </a:rPr>
              <a:t> part, </a:t>
            </a:r>
            <a:r>
              <a:rPr lang="en-US" sz="1500" dirty="0" err="1">
                <a:solidFill>
                  <a:schemeClr val="dk1"/>
                </a:solidFill>
                <a:latin typeface="Times New Roman"/>
                <a:ea typeface="Times New Roman"/>
                <a:cs typeface="Times New Roman"/>
                <a:sym typeface="Times New Roman"/>
              </a:rPr>
              <a:t>dẫn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đến</a:t>
            </a:r>
            <a:r>
              <a:rPr lang="en-US" sz="1500" dirty="0">
                <a:solidFill>
                  <a:schemeClr val="dk1"/>
                </a:solidFill>
                <a:latin typeface="Times New Roman"/>
                <a:ea typeface="Times New Roman"/>
                <a:cs typeface="Times New Roman"/>
                <a:sym typeface="Times New Roman"/>
              </a:rPr>
              <a:t> TAT </a:t>
            </a:r>
            <a:r>
              <a:rPr lang="en-US" sz="1500" dirty="0" err="1">
                <a:solidFill>
                  <a:schemeClr val="dk1"/>
                </a:solidFill>
                <a:latin typeface="Times New Roman"/>
                <a:ea typeface="Times New Roman"/>
                <a:cs typeface="Times New Roman"/>
                <a:sym typeface="Times New Roman"/>
              </a:rPr>
              <a:t>bị</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kéo</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dài</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cả</a:t>
            </a:r>
            <a:r>
              <a:rPr lang="en-US" sz="1500" dirty="0">
                <a:solidFill>
                  <a:schemeClr val="dk1"/>
                </a:solidFill>
                <a:latin typeface="Times New Roman"/>
                <a:ea typeface="Times New Roman"/>
                <a:cs typeface="Times New Roman"/>
                <a:sym typeface="Times New Roman"/>
              </a:rPr>
              <a:t> 02 shop</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Tiếp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tục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theo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sát</a:t>
            </a:r>
            <a:r>
              <a:rPr lang="en-US" sz="1500" b="0" i="0" u="none" strike="noStrike" cap="none"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các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sửa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chữa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PWC </a:t>
            </a:r>
            <a:r>
              <a:rPr lang="en-US" sz="1500" dirty="0" err="1">
                <a:solidFill>
                  <a:schemeClr val="dk1"/>
                </a:solidFill>
                <a:latin typeface="Times New Roman"/>
                <a:ea typeface="Times New Roman"/>
                <a:cs typeface="Times New Roman"/>
                <a:sym typeface="Times New Roman"/>
              </a:rPr>
              <a:t>và</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StandardAero</a:t>
            </a:r>
            <a:r>
              <a:rPr lang="en-US" sz="1500" dirty="0">
                <a:solidFill>
                  <a:schemeClr val="dk1"/>
                </a:solidFill>
                <a:latin typeface="Times New Roman"/>
                <a:ea typeface="Times New Roman"/>
                <a:cs typeface="Times New Roman"/>
                <a:sym typeface="Times New Roman"/>
              </a:rPr>
              <a:t>.</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dirty="0">
              <a:solidFill>
                <a:srgbClr val="000000"/>
              </a:solidFill>
              <a:latin typeface="Times New Roman"/>
              <a:ea typeface="Times New Roman"/>
              <a:cs typeface="Times New Roman"/>
              <a:sym typeface="Times New Roman"/>
            </a:endParaRPr>
          </a:p>
        </p:txBody>
      </p:sp>
      <p:pic>
        <p:nvPicPr>
          <p:cNvPr id="301" name="Google Shape;301;g31ccdae391d_0_389"/>
          <p:cNvPicPr preferRelativeResize="0"/>
          <p:nvPr/>
        </p:nvPicPr>
        <p:blipFill>
          <a:blip r:embed="rId3">
            <a:alphaModFix/>
          </a:blip>
          <a:stretch>
            <a:fillRect/>
          </a:stretch>
        </p:blipFill>
        <p:spPr>
          <a:xfrm>
            <a:off x="148650" y="2486500"/>
            <a:ext cx="11205149" cy="2935700"/>
          </a:xfrm>
          <a:prstGeom prst="rect">
            <a:avLst/>
          </a:prstGeom>
          <a:noFill/>
          <a:ln>
            <a:noFill/>
          </a:ln>
        </p:spPr>
      </p:pic>
    </p:spTree>
    <p:extLst>
      <p:ext uri="{BB962C8B-B14F-4D97-AF65-F5344CB8AC3E}">
        <p14:creationId xmlns:p14="http://schemas.microsoft.com/office/powerpoint/2010/main" val="15158692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dirty="0" err="1">
                <a:solidFill>
                  <a:srgbClr val="FFC000"/>
                </a:solidFill>
                <a:latin typeface="Times New Roman"/>
                <a:ea typeface="Times New Roman"/>
                <a:cs typeface="Times New Roman"/>
                <a:sym typeface="Times New Roman"/>
              </a:rPr>
              <a:t>Kế</a:t>
            </a:r>
            <a:r>
              <a:rPr lang="en-US" sz="2800" dirty="0">
                <a:solidFill>
                  <a:srgbClr val="FFC000"/>
                </a:solidFill>
                <a:latin typeface="Times New Roman"/>
                <a:ea typeface="Times New Roman"/>
                <a:cs typeface="Times New Roman"/>
                <a:sym typeface="Times New Roman"/>
              </a:rPr>
              <a:t> </a:t>
            </a:r>
            <a:r>
              <a:rPr lang="en-US" sz="2800" dirty="0" err="1">
                <a:solidFill>
                  <a:srgbClr val="FFC000"/>
                </a:solidFill>
                <a:latin typeface="Times New Roman"/>
                <a:ea typeface="Times New Roman"/>
                <a:cs typeface="Times New Roman"/>
                <a:sym typeface="Times New Roman"/>
              </a:rPr>
              <a:t>hoạch</a:t>
            </a:r>
            <a:r>
              <a:rPr lang="en-US" sz="2800" dirty="0">
                <a:solidFill>
                  <a:srgbClr val="FFC000"/>
                </a:solidFill>
                <a:latin typeface="Times New Roman"/>
                <a:ea typeface="Times New Roman"/>
                <a:cs typeface="Times New Roman"/>
                <a:sym typeface="Times New Roman"/>
              </a:rPr>
              <a:t> </a:t>
            </a:r>
            <a:r>
              <a:rPr lang="en-US" sz="2800" dirty="0" err="1">
                <a:solidFill>
                  <a:srgbClr val="FFC000"/>
                </a:solidFill>
                <a:latin typeface="Times New Roman"/>
                <a:ea typeface="Times New Roman"/>
                <a:cs typeface="Times New Roman"/>
                <a:sym typeface="Times New Roman"/>
              </a:rPr>
              <a:t>động</a:t>
            </a:r>
            <a:r>
              <a:rPr lang="en-US" sz="2800" dirty="0">
                <a:solidFill>
                  <a:srgbClr val="FFC000"/>
                </a:solidFill>
                <a:latin typeface="Times New Roman"/>
                <a:ea typeface="Times New Roman"/>
                <a:cs typeface="Times New Roman"/>
                <a:sym typeface="Times New Roman"/>
              </a:rPr>
              <a:t> </a:t>
            </a:r>
            <a:r>
              <a:rPr lang="en-US" sz="2800" dirty="0" err="1">
                <a:solidFill>
                  <a:srgbClr val="FFC000"/>
                </a:solidFill>
                <a:latin typeface="Times New Roman"/>
                <a:ea typeface="Times New Roman"/>
                <a:cs typeface="Times New Roman"/>
                <a:sym typeface="Times New Roman"/>
              </a:rPr>
              <a:t>cơ</a:t>
            </a:r>
            <a:r>
              <a:rPr lang="en-US" sz="2800" dirty="0">
                <a:solidFill>
                  <a:srgbClr val="FFC000"/>
                </a:solidFill>
                <a:latin typeface="Times New Roman"/>
                <a:ea typeface="Times New Roman"/>
                <a:cs typeface="Times New Roman"/>
                <a:sym typeface="Times New Roman"/>
              </a:rPr>
              <a:t> </a:t>
            </a:r>
            <a:endParaRPr sz="2800" dirty="0">
              <a:solidFill>
                <a:srgbClr val="FFC000"/>
              </a:solidFill>
              <a:latin typeface="Times New Roman"/>
              <a:ea typeface="Times New Roman"/>
              <a:cs typeface="Times New Roman"/>
              <a:sym typeface="Times New Roman"/>
            </a:endParaRPr>
          </a:p>
        </p:txBody>
      </p:sp>
      <p:sp>
        <p:nvSpPr>
          <p:cNvPr id="308" name="Google Shape;308;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76</a:t>
            </a:fld>
            <a:endParaRPr/>
          </a:p>
        </p:txBody>
      </p:sp>
      <p:sp>
        <p:nvSpPr>
          <p:cNvPr id="309" name="Google Shape;309;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Động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21316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HAESL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HAN 22/02.</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NIL</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Động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958537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GE_CAL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SGN 28/02.</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Động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956556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KLM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xong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cuối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3/2025</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lvl="0" algn="just">
              <a:lnSpc>
                <a:spcPct val="115000"/>
              </a:lnSpc>
              <a:buSzPts val="1600"/>
            </a:pPr>
            <a:r>
              <a:rPr lang="en-US" sz="1600" b="0" i="0" u="none" strike="noStrike" cap="none" dirty="0">
                <a:solidFill>
                  <a:schemeClr val="dk1"/>
                </a:solidFill>
                <a:latin typeface="Times New Roman"/>
                <a:ea typeface="Times New Roman"/>
                <a:cs typeface="Times New Roman"/>
                <a:sym typeface="Times New Roman"/>
              </a:rPr>
              <a:t>+ </a:t>
            </a:r>
            <a:r>
              <a:rPr lang="vi-VN" sz="1600" dirty="0">
                <a:solidFill>
                  <a:schemeClr val="dk1"/>
                </a:solidFill>
                <a:latin typeface="Times New Roman"/>
                <a:ea typeface="Times New Roman"/>
                <a:cs typeface="Times New Roman"/>
                <a:sym typeface="Times New Roman"/>
              </a:rPr>
              <a:t>Động cơ dự kiến về trong tháng 3: V16037 (04/03), V12505 (19/03)</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r>
              <a:rPr lang="en-US" sz="1500" dirty="0">
                <a:solidFill>
                  <a:schemeClr val="dk1"/>
                </a:solidFill>
                <a:latin typeface="Times New Roman"/>
                <a:ea typeface="Times New Roman"/>
                <a:cs typeface="Times New Roman"/>
                <a:sym typeface="Times New Roman"/>
              </a:rPr>
              <a:t> + P771075: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04/03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HAN.</a:t>
            </a:r>
          </a:p>
          <a:p>
            <a:pPr marL="457200" lvl="0" indent="0" algn="l" rtl="0">
              <a:lnSpc>
                <a:spcPct val="115000"/>
              </a:lnSpc>
              <a:spcBef>
                <a:spcPts val="0"/>
              </a:spcBef>
              <a:spcAft>
                <a:spcPts val="0"/>
              </a:spcAft>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01 stock (ED0192).</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a:t>
            </a:r>
            <a:r>
              <a:rPr lang="en-US" sz="1600" dirty="0">
                <a:solidFill>
                  <a:schemeClr val="dk1"/>
                </a:solidFill>
                <a:latin typeface="Times New Roman"/>
                <a:ea typeface="Times New Roman"/>
                <a:cs typeface="Times New Roman"/>
                <a:sym typeface="Times New Roman"/>
              </a:rPr>
              <a:t>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release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09/04/2025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+ED0238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PWC: induct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24/01/2025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339857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6" name="Google Shape;316;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77</a:t>
            </a:fld>
            <a:endParaRPr/>
          </a:p>
        </p:txBody>
      </p:sp>
      <p:sp>
        <p:nvSpPr>
          <p:cNvPr id="317" name="Google Shape;317;g31ccdae391d_0_403"/>
          <p:cNvSpPr txBox="1"/>
          <p:nvPr/>
        </p:nvSpPr>
        <p:spPr>
          <a:xfrm>
            <a:off x="7059775" y="425750"/>
            <a:ext cx="4085700" cy="47016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chemeClr val="dk1"/>
                </a:solidFill>
                <a:latin typeface="Times New Roman"/>
                <a:ea typeface="Times New Roman"/>
                <a:cs typeface="Times New Roman"/>
                <a:sym typeface="Times New Roman"/>
              </a:rPr>
              <a:t>APU A321 </a:t>
            </a:r>
            <a:endParaRPr sz="1600" b="1"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r>
              <a:rPr lang="en-US" sz="1700" b="0" i="0" u="none" strike="noStrike" cap="none">
                <a:solidFill>
                  <a:schemeClr val="dk1"/>
                </a:solidFill>
                <a:latin typeface="Times New Roman"/>
                <a:ea typeface="Times New Roman"/>
                <a:cs typeface="Times New Roman"/>
                <a:sym typeface="Times New Roman"/>
              </a:rPr>
              <a:t>+ </a:t>
            </a:r>
            <a:r>
              <a:rPr lang="en-US" sz="1400" b="0" i="0" u="none" strike="noStrike" cap="none">
                <a:solidFill>
                  <a:schemeClr val="dk1"/>
                </a:solidFill>
                <a:latin typeface="Times New Roman"/>
                <a:ea typeface="Times New Roman"/>
                <a:cs typeface="Times New Roman"/>
                <a:sym typeface="Times New Roman"/>
              </a:rPr>
              <a:t>STK:  0</a:t>
            </a:r>
            <a:r>
              <a:rPr lang="en-US">
                <a:solidFill>
                  <a:schemeClr val="dk1"/>
                </a:solidFill>
                <a:latin typeface="Times New Roman"/>
                <a:ea typeface="Times New Roman"/>
                <a:cs typeface="Times New Roman"/>
                <a:sym typeface="Times New Roman"/>
              </a:rPr>
              <a:t>1</a:t>
            </a:r>
            <a:r>
              <a:rPr lang="en-US" sz="1400" b="0" i="0" u="none" strike="noStrike" cap="none">
                <a:solidFill>
                  <a:schemeClr val="dk1"/>
                </a:solidFill>
                <a:latin typeface="Times New Roman"/>
                <a:ea typeface="Times New Roman"/>
                <a:cs typeface="Times New Roman"/>
                <a:sym typeface="Times New Roman"/>
              </a:rPr>
              <a:t> APU tại HAN (SN: P-4922). </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 Th</a:t>
            </a:r>
            <a:r>
              <a:rPr lang="en-US">
                <a:solidFill>
                  <a:schemeClr val="dk1"/>
                </a:solidFill>
                <a:latin typeface="Times New Roman"/>
                <a:ea typeface="Times New Roman"/>
                <a:cs typeface="Times New Roman"/>
                <a:sym typeface="Times New Roman"/>
              </a:rPr>
              <a:t>áng 2: dk 01ea về HAN.</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A350</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 </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đang đợi tháo xuống để gửi đi shop bảo hành.</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+ 0</a:t>
            </a:r>
            <a:r>
              <a:rPr lang="en-US">
                <a:solidFill>
                  <a:schemeClr val="dk1"/>
                </a:solidFill>
                <a:latin typeface="Times New Roman"/>
                <a:ea typeface="Times New Roman"/>
                <a:cs typeface="Times New Roman"/>
                <a:sym typeface="Times New Roman"/>
              </a:rPr>
              <a:t>1</a:t>
            </a:r>
            <a:r>
              <a:rPr lang="en-US" sz="1400" b="0" i="0" u="none" strike="noStrike" cap="none">
                <a:solidFill>
                  <a:schemeClr val="dk1"/>
                </a:solidFill>
                <a:latin typeface="Times New Roman"/>
                <a:ea typeface="Times New Roman"/>
                <a:cs typeface="Times New Roman"/>
                <a:sym typeface="Times New Roman"/>
              </a:rPr>
              <a:t> APU (</a:t>
            </a:r>
            <a:r>
              <a:rPr lang="en-US">
                <a:solidFill>
                  <a:schemeClr val="dk1"/>
                </a:solidFill>
                <a:latin typeface="Times New Roman"/>
                <a:ea typeface="Times New Roman"/>
                <a:cs typeface="Times New Roman"/>
                <a:sym typeface="Times New Roman"/>
              </a:rPr>
              <a:t>P-00255) </a:t>
            </a:r>
            <a:r>
              <a:rPr lang="en-US" sz="1400" b="0" i="0" u="none" strike="noStrike" cap="none">
                <a:solidFill>
                  <a:schemeClr val="dk1"/>
                </a:solidFill>
                <a:latin typeface="Times New Roman"/>
                <a:ea typeface="Times New Roman"/>
                <a:cs typeface="Times New Roman"/>
                <a:sym typeface="Times New Roman"/>
              </a:rPr>
              <a:t>đang sửa chữa </a:t>
            </a:r>
            <a:r>
              <a:rPr lang="en-US">
                <a:solidFill>
                  <a:schemeClr val="dk1"/>
                </a:solidFill>
                <a:latin typeface="Times New Roman"/>
                <a:ea typeface="Times New Roman"/>
                <a:cs typeface="Times New Roman"/>
                <a:sym typeface="Times New Roman"/>
              </a:rPr>
              <a:t>tại</a:t>
            </a:r>
            <a:r>
              <a:rPr lang="en-US" sz="1400" b="0" i="0" u="none" strike="noStrike" cap="none">
                <a:solidFill>
                  <a:schemeClr val="dk1"/>
                </a:solidFill>
                <a:latin typeface="Times New Roman"/>
                <a:ea typeface="Times New Roman"/>
                <a:cs typeface="Times New Roman"/>
                <a:sym typeface="Times New Roman"/>
              </a:rPr>
              <a:t> shop Lufth</a:t>
            </a:r>
            <a:r>
              <a:rPr lang="en-US">
                <a:solidFill>
                  <a:schemeClr val="dk1"/>
                </a:solidFill>
                <a:latin typeface="Times New Roman"/>
                <a:ea typeface="Times New Roman"/>
                <a:cs typeface="Times New Roman"/>
                <a:sym typeface="Times New Roman"/>
              </a:rPr>
              <a:t>ansa, dự kiến release ngày 16/03/2025</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 </a:t>
            </a:r>
            <a:endParaRPr sz="11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B787 </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a:t>
            </a:r>
            <a:r>
              <a:rPr lang="en-US" sz="1400" b="0" i="0" u="none" strike="noStrike" cap="none">
                <a:solidFill>
                  <a:schemeClr val="dk1"/>
                </a:solidFill>
                <a:latin typeface="Times New Roman"/>
                <a:ea typeface="Times New Roman"/>
                <a:cs typeface="Times New Roman"/>
                <a:sym typeface="Times New Roman"/>
              </a:rPr>
              <a:t> APU</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(PWC-Z926122) đang gửi đi shop</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 PWC-Z925500) đang sửa tại shop PW Poland gặp tình trạng kho khăn trong chuỗi cung ứng nên chưa confirm được ngày dk về.</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p:txBody>
      </p:sp>
      <p:pic>
        <p:nvPicPr>
          <p:cNvPr id="318" name="Google Shape;318;g31ccdae391d_0_403"/>
          <p:cNvPicPr preferRelativeResize="0"/>
          <p:nvPr/>
        </p:nvPicPr>
        <p:blipFill>
          <a:blip r:embed="rId3">
            <a:alphaModFix/>
          </a:blip>
          <a:stretch>
            <a:fillRect/>
          </a:stretch>
        </p:blipFill>
        <p:spPr>
          <a:xfrm>
            <a:off x="519050" y="495300"/>
            <a:ext cx="6425250" cy="4892725"/>
          </a:xfrm>
          <a:prstGeom prst="rect">
            <a:avLst/>
          </a:prstGeom>
          <a:noFill/>
          <a:ln>
            <a:noFill/>
          </a:ln>
        </p:spPr>
      </p:pic>
    </p:spTree>
    <p:extLst>
      <p:ext uri="{BB962C8B-B14F-4D97-AF65-F5344CB8AC3E}">
        <p14:creationId xmlns:p14="http://schemas.microsoft.com/office/powerpoint/2010/main" val="27471417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3.xml><?xml version="1.0" encoding="utf-8"?>
<ds:datastoreItem xmlns:ds="http://schemas.openxmlformats.org/officeDocument/2006/customXml" ds:itemID="{7CE18D4A-261A-4850-B6EF-E8D1177C057C}">
  <ds:schemaRefs>
    <ds:schemaRef ds:uri="http://schemas.openxmlformats.org/package/2006/metadata/core-properties"/>
    <ds:schemaRef ds:uri="e189f61e-1295-4779-a752-040c7fad5177"/>
    <ds:schemaRef ds:uri="http://purl.org/dc/terms/"/>
    <ds:schemaRef ds:uri="b6015720-aa74-4be3-ba0d-eab08776cb9b"/>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72954</TotalTime>
  <Words>17013</Words>
  <Application>Microsoft Office PowerPoint</Application>
  <PresentationFormat>Widescreen</PresentationFormat>
  <Paragraphs>2767</Paragraphs>
  <Slides>78</Slides>
  <Notes>68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78</vt:i4>
      </vt:variant>
    </vt:vector>
  </HeadingPairs>
  <TitlesOfParts>
    <vt:vector size="91" baseType="lpstr">
      <vt:lpstr>Aptos</vt:lpstr>
      <vt:lpstr>Arial</vt:lpstr>
      <vt:lpstr>Calibri</vt:lpstr>
      <vt:lpstr>Cambria</vt:lpstr>
      <vt:lpstr>Exo</vt:lpstr>
      <vt:lpstr>Franklin Gothic Medium Cond</vt:lpstr>
      <vt:lpstr>Montserrat</vt:lpstr>
      <vt:lpstr>Montserrat SemiBold</vt:lpstr>
      <vt:lpstr>Tahoma</vt:lpstr>
      <vt:lpstr>Times</vt:lpstr>
      <vt:lpstr>Times New Roman</vt:lpstr>
      <vt:lpstr>Wingdings</vt:lpstr>
      <vt:lpstr>16-9 MASTER TEMPLATE</vt:lpstr>
      <vt:lpstr>BÁO CÁO KỸ THUẬT (Tuần 08: 17/02/2025 – 23/02/2025)</vt:lpstr>
      <vt:lpstr>TỔNG HỢP AOG, DELAY VÀ GTB/ATB/DIV</vt:lpstr>
      <vt:lpstr>ATB/GTB COMPARISON</vt:lpstr>
      <vt:lpstr>CÁC SỰ KIỆN ATB/GTB/DIV</vt:lpstr>
      <vt:lpstr>CÁC SỰ KIỆN ATB/GTB/DIV</vt:lpstr>
      <vt:lpstr>CÁC SỰ KIỆN ATB/GTB/DIV</vt:lpstr>
      <vt:lpstr>CÁC SỰ KIỆN MOR</vt:lpstr>
      <vt:lpstr>PowerPoint Presentation</vt:lpstr>
      <vt:lpstr>PowerPoint Presentation</vt:lpstr>
      <vt:lpstr>PowerPoint Presentation</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PowerPoint Presentation</vt:lpstr>
      <vt:lpstr>PowerPoint Presentation</vt:lpstr>
      <vt:lpstr>PowerPoint Presentation</vt:lpstr>
      <vt:lpstr>TÌNH TRẠNG KỸ THUẬT ĐỘI BAY A320/ A321 </vt:lpstr>
      <vt:lpstr>TÌNH TRẠNG KỸ THUẬT ĐỘI BAY – A350</vt:lpstr>
      <vt:lpstr>PowerPoint Presentation</vt:lpstr>
      <vt:lpstr>PowerPoint Presentation</vt:lpstr>
      <vt:lpstr>PowerPoint Presentation</vt:lpstr>
      <vt:lpstr>PowerPoint Presentation</vt:lpstr>
      <vt:lpstr>TÌNH TRẠNG KỸ THUẬT ĐỘI BAY – B787</vt:lpstr>
      <vt:lpstr>PowerPoint Presentation</vt:lpstr>
      <vt:lpstr>PowerPoint Presentation</vt:lpstr>
      <vt:lpstr>PowerPoint Presentation</vt:lpstr>
      <vt:lpstr>TÌNH TRẠNG KỸ THUẬT ĐỘI BAY – ATR72</vt:lpstr>
      <vt:lpstr>TÌNH TRẠNG KỸ THUẬT ĐỘI BAY ATR72 </vt:lpstr>
      <vt:lpstr>DISPATCH RELIABILITY W08 (17/02/2025-23/02/2025)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 (BDĐK)</vt:lpstr>
      <vt:lpstr>CÁC TÀU BQDB VÀ ĐANG TRONG BẢO DƯỠNG ĐỊNH KỲ (BDĐK)</vt:lpstr>
      <vt:lpstr>CÁC TÀU BQDB VÀ ĐANG TRONG BẢO DƯỠNG ĐỊNH KỲ (BDĐK)</vt:lpstr>
      <vt:lpstr>PowerPoint Presentation</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TÌNH TRẠNG APU LRU A321 </vt:lpstr>
      <vt:lpstr>A321 CÁC VẬT TƯ VƯỚNG MẮC KHÁC</vt:lpstr>
      <vt:lpstr>A321 VƯỚNG MẮC VẬT TƯ VAECO</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User</cp:lastModifiedBy>
  <cp:revision>11576</cp:revision>
  <cp:lastPrinted>2019-03-27T09:25:07Z</cp:lastPrinted>
  <dcterms:created xsi:type="dcterms:W3CDTF">2018-12-27T04:50:36Z</dcterms:created>
  <dcterms:modified xsi:type="dcterms:W3CDTF">2025-02-24T02:19:54Z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