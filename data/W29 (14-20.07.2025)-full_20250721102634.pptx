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3.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4.xml" ContentType="application/vnd.openxmlformats-officedocument.presentationml.tags+xml"/>
  <Override PartName="/ppt/notesSlides/notesSlide26.xml" ContentType="application/vnd.openxmlformats-officedocument.presentationml.notesSlide+xml"/>
  <Override PartName="/ppt/charts/chart9.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15.xml" ContentType="application/vnd.openxmlformats-officedocument.drawingml.chart+xml"/>
  <Override PartName="/ppt/theme/themeOverride7.xml" ContentType="application/vnd.openxmlformats-officedocument.themeOverride+xml"/>
  <Override PartName="/ppt/notesSlides/notesSlide40.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8.xml" ContentType="application/vnd.openxmlformats-officedocument.themeOverride+xml"/>
  <Override PartName="/ppt/notesSlides/notesSlide41.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9.xml" ContentType="application/vnd.openxmlformats-officedocument.themeOverride+xml"/>
  <Override PartName="/ppt/notesSlides/notesSlide42.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0.xml" ContentType="application/vnd.openxmlformats-officedocument.themeOverr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74"/>
  </p:notesMasterIdLst>
  <p:sldIdLst>
    <p:sldId id="11486" r:id="rId5"/>
    <p:sldId id="11487" r:id="rId6"/>
    <p:sldId id="11488" r:id="rId7"/>
    <p:sldId id="12839" r:id="rId8"/>
    <p:sldId id="12840" r:id="rId9"/>
    <p:sldId id="11493" r:id="rId10"/>
    <p:sldId id="12841" r:id="rId11"/>
    <p:sldId id="12842" r:id="rId12"/>
    <p:sldId id="12843" r:id="rId13"/>
    <p:sldId id="12859" r:id="rId14"/>
    <p:sldId id="12860" r:id="rId15"/>
    <p:sldId id="12573" r:id="rId16"/>
    <p:sldId id="12846" r:id="rId17"/>
    <p:sldId id="12847" r:id="rId18"/>
    <p:sldId id="12861" r:id="rId19"/>
    <p:sldId id="12854" r:id="rId20"/>
    <p:sldId id="12855" r:id="rId21"/>
    <p:sldId id="12856" r:id="rId22"/>
    <p:sldId id="12848" r:id="rId23"/>
    <p:sldId id="12849" r:id="rId24"/>
    <p:sldId id="12857" r:id="rId25"/>
    <p:sldId id="12858" r:id="rId26"/>
    <p:sldId id="12850" r:id="rId27"/>
    <p:sldId id="12093" r:id="rId28"/>
    <p:sldId id="12612" r:id="rId29"/>
    <p:sldId id="12851" r:id="rId30"/>
    <p:sldId id="12852" r:id="rId31"/>
    <p:sldId id="12538" r:id="rId32"/>
    <p:sldId id="12539" r:id="rId33"/>
    <p:sldId id="12816" r:id="rId34"/>
    <p:sldId id="12541" r:id="rId35"/>
    <p:sldId id="12585" r:id="rId36"/>
    <p:sldId id="12586" r:id="rId37"/>
    <p:sldId id="12618" r:id="rId38"/>
    <p:sldId id="12596" r:id="rId39"/>
    <p:sldId id="12589" r:id="rId40"/>
    <p:sldId id="12617" r:id="rId41"/>
    <p:sldId id="12591" r:id="rId42"/>
    <p:sldId id="12615" r:id="rId43"/>
    <p:sldId id="12616" r:id="rId44"/>
    <p:sldId id="12853" r:id="rId45"/>
    <p:sldId id="11403" r:id="rId46"/>
    <p:sldId id="11404" r:id="rId47"/>
    <p:sldId id="11902" r:id="rId48"/>
    <p:sldId id="11904" r:id="rId49"/>
    <p:sldId id="11545" r:id="rId50"/>
    <p:sldId id="12837" r:id="rId51"/>
    <p:sldId id="12838" r:id="rId52"/>
    <p:sldId id="11489" r:id="rId53"/>
    <p:sldId id="256" r:id="rId54"/>
    <p:sldId id="257" r:id="rId55"/>
    <p:sldId id="258" r:id="rId56"/>
    <p:sldId id="259" r:id="rId57"/>
    <p:sldId id="260" r:id="rId58"/>
    <p:sldId id="261" r:id="rId59"/>
    <p:sldId id="262" r:id="rId60"/>
    <p:sldId id="263" r:id="rId61"/>
    <p:sldId id="264" r:id="rId62"/>
    <p:sldId id="265" r:id="rId63"/>
    <p:sldId id="266" r:id="rId64"/>
    <p:sldId id="267" r:id="rId65"/>
    <p:sldId id="268" r:id="rId66"/>
    <p:sldId id="269" r:id="rId67"/>
    <p:sldId id="270" r:id="rId68"/>
    <p:sldId id="271" r:id="rId69"/>
    <p:sldId id="272" r:id="rId70"/>
    <p:sldId id="273" r:id="rId71"/>
    <p:sldId id="274" r:id="rId72"/>
    <p:sldId id="11888" r:id="rId7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5F6E"/>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374" autoAdjust="0"/>
  </p:normalViewPr>
  <p:slideViewPr>
    <p:cSldViewPr>
      <p:cViewPr varScale="1">
        <p:scale>
          <a:sx n="73" d="100"/>
          <a:sy n="73" d="100"/>
        </p:scale>
        <p:origin x="585" y="39"/>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rts/_rels/chart1.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9\W29%20(14-29.07.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9\W29%20(14-29.07.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thanh_ggdrive\work\B&#193;O%20C&#193;O\B&#225;o%20c&#225;o%20tu&#7847;n\2025\Week%2029\W29%20(14-29.07.2025).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thanh_ggdrive\work\B&#193;O%20C&#193;O\B&#225;o%20c&#225;o%20tu&#7847;n\2025\Week%2029\W29%20(14-29.07.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9\W29%20(14-29.07.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9\W29%20(14-29.07.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9.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29\DR-W29.xlsx" TargetMode="Externa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29\W29%20(14-29.07.2025).xlsx" TargetMode="External"/><Relationship Id="rId1" Type="http://schemas.openxmlformats.org/officeDocument/2006/relationships/themeOverride" Target="../theme/themeOverride7.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201.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201.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2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7</c:v>
                </c:pt>
                <c:pt idx="2">
                  <c:v>2</c:v>
                </c:pt>
                <c:pt idx="3">
                  <c:v>0</c:v>
                </c:pt>
                <c:pt idx="4">
                  <c:v>0</c:v>
                </c:pt>
                <c:pt idx="5">
                  <c:v>9</c:v>
                </c:pt>
              </c:numCache>
            </c:numRef>
          </c:val>
          <c:extLst xmlns:c15="http://schemas.microsoft.com/office/drawing/2012/chart">
            <c:ext xmlns:c16="http://schemas.microsoft.com/office/drawing/2014/chart" uri="{C3380CC4-5D6E-409C-BE32-E72D297353CC}">
              <c16:uniqueId val="{00000000-B611-4E08-BEEF-D3F256024595}"/>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6</c:v>
                </c:pt>
                <c:pt idx="2">
                  <c:v>1</c:v>
                </c:pt>
                <c:pt idx="3">
                  <c:v>2</c:v>
                </c:pt>
                <c:pt idx="4">
                  <c:v>2</c:v>
                </c:pt>
                <c:pt idx="5">
                  <c:v>11</c:v>
                </c:pt>
              </c:numCache>
            </c:numRef>
          </c:val>
          <c:extLst>
            <c:ext xmlns:c16="http://schemas.microsoft.com/office/drawing/2014/chart" uri="{C3380CC4-5D6E-409C-BE32-E72D297353CC}">
              <c16:uniqueId val="{00000001-B611-4E08-BEEF-D3F256024595}"/>
            </c:ext>
          </c:extLst>
        </c:ser>
        <c:dLbls>
          <c:dLblPos val="outEnd"/>
          <c:showLegendKey val="0"/>
          <c:showVal val="1"/>
          <c:showCatName val="0"/>
          <c:showSerName val="0"/>
          <c:showPercent val="0"/>
          <c:showBubbleSize val="0"/>
        </c:dLbls>
        <c:gapWidth val="219"/>
        <c:overlap val="-27"/>
        <c:axId val="390760432"/>
        <c:axId val="390762392"/>
        <c:extLst/>
      </c:barChart>
      <c:catAx>
        <c:axId val="39076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762392"/>
        <c:crosses val="autoZero"/>
        <c:auto val="1"/>
        <c:lblAlgn val="ctr"/>
        <c:lblOffset val="100"/>
        <c:noMultiLvlLbl val="0"/>
      </c:catAx>
      <c:valAx>
        <c:axId val="390762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9076043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1</c:v>
                </c:pt>
                <c:pt idx="3">
                  <c:v>0</c:v>
                </c:pt>
                <c:pt idx="4">
                  <c:v>0</c:v>
                </c:pt>
                <c:pt idx="5">
                  <c:v>1</c:v>
                </c:pt>
              </c:numCache>
            </c:numRef>
          </c:val>
          <c:extLst xmlns:c15="http://schemas.microsoft.com/office/drawing/2012/chart">
            <c:ext xmlns:c16="http://schemas.microsoft.com/office/drawing/2014/chart" uri="{C3380CC4-5D6E-409C-BE32-E72D297353CC}">
              <c16:uniqueId val="{00000000-5009-4C98-8306-C1C6A2EF7525}"/>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1</c:v>
                </c:pt>
                <c:pt idx="2">
                  <c:v>1</c:v>
                </c:pt>
                <c:pt idx="3">
                  <c:v>0</c:v>
                </c:pt>
                <c:pt idx="4">
                  <c:v>0</c:v>
                </c:pt>
                <c:pt idx="5">
                  <c:v>2</c:v>
                </c:pt>
              </c:numCache>
            </c:numRef>
          </c:val>
          <c:extLst>
            <c:ext xmlns:c16="http://schemas.microsoft.com/office/drawing/2014/chart" uri="{C3380CC4-5D6E-409C-BE32-E72D297353CC}">
              <c16:uniqueId val="{00000001-5009-4C98-8306-C1C6A2EF7525}"/>
            </c:ext>
          </c:extLst>
        </c:ser>
        <c:dLbls>
          <c:showLegendKey val="0"/>
          <c:showVal val="0"/>
          <c:showCatName val="0"/>
          <c:showSerName val="0"/>
          <c:showPercent val="0"/>
          <c:showBubbleSize val="0"/>
        </c:dLbls>
        <c:gapWidth val="219"/>
        <c:overlap val="-27"/>
        <c:axId val="313882640"/>
        <c:axId val="313886168"/>
        <c:extLst/>
      </c:barChart>
      <c:catAx>
        <c:axId val="313882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6168"/>
        <c:crosses val="autoZero"/>
        <c:auto val="1"/>
        <c:lblAlgn val="ctr"/>
        <c:lblOffset val="100"/>
        <c:noMultiLvlLbl val="0"/>
      </c:catAx>
      <c:valAx>
        <c:axId val="313886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2640"/>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2</c:v>
                </c:pt>
                <c:pt idx="2">
                  <c:v>0</c:v>
                </c:pt>
                <c:pt idx="3">
                  <c:v>2</c:v>
                </c:pt>
                <c:pt idx="4">
                  <c:v>1</c:v>
                </c:pt>
                <c:pt idx="5">
                  <c:v>5</c:v>
                </c:pt>
              </c:numCache>
            </c:numRef>
          </c:val>
          <c:extLst xmlns:c15="http://schemas.microsoft.com/office/drawing/2012/chart">
            <c:ext xmlns:c16="http://schemas.microsoft.com/office/drawing/2014/chart" uri="{C3380CC4-5D6E-409C-BE32-E72D297353CC}">
              <c16:uniqueId val="{00000000-85C3-4C03-8BCF-91FBB78A960B}"/>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2</c:v>
                </c:pt>
                <c:pt idx="2">
                  <c:v>2</c:v>
                </c:pt>
                <c:pt idx="3">
                  <c:v>0</c:v>
                </c:pt>
                <c:pt idx="4">
                  <c:v>0</c:v>
                </c:pt>
                <c:pt idx="5">
                  <c:v>4</c:v>
                </c:pt>
              </c:numCache>
            </c:numRef>
          </c:val>
          <c:extLst>
            <c:ext xmlns:c16="http://schemas.microsoft.com/office/drawing/2014/chart" uri="{C3380CC4-5D6E-409C-BE32-E72D297353CC}">
              <c16:uniqueId val="{00000001-85C3-4C03-8BCF-91FBB78A960B}"/>
            </c:ext>
          </c:extLst>
        </c:ser>
        <c:dLbls>
          <c:dLblPos val="outEnd"/>
          <c:showLegendKey val="0"/>
          <c:showVal val="1"/>
          <c:showCatName val="0"/>
          <c:showSerName val="0"/>
          <c:showPercent val="0"/>
          <c:showBubbleSize val="0"/>
        </c:dLbls>
        <c:gapWidth val="219"/>
        <c:overlap val="-27"/>
        <c:axId val="313881072"/>
        <c:axId val="379423472"/>
        <c:extLst/>
      </c:barChart>
      <c:catAx>
        <c:axId val="313881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3472"/>
        <c:crosses val="autoZero"/>
        <c:auto val="1"/>
        <c:lblAlgn val="ctr"/>
        <c:lblOffset val="100"/>
        <c:noMultiLvlLbl val="0"/>
      </c:catAx>
      <c:valAx>
        <c:axId val="3794234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3881072"/>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FB2F-49C2-87D8-E1793A9A3B08}"/>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1</c:v>
                </c:pt>
                <c:pt idx="5">
                  <c:v>1</c:v>
                </c:pt>
              </c:numCache>
            </c:numRef>
          </c:val>
          <c:extLst>
            <c:ext xmlns:c16="http://schemas.microsoft.com/office/drawing/2014/chart" uri="{C3380CC4-5D6E-409C-BE32-E72D297353CC}">
              <c16:uniqueId val="{00000001-FB2F-49C2-87D8-E1793A9A3B08}"/>
            </c:ext>
          </c:extLst>
        </c:ser>
        <c:dLbls>
          <c:showLegendKey val="0"/>
          <c:showVal val="0"/>
          <c:showCatName val="0"/>
          <c:showSerName val="0"/>
          <c:showPercent val="0"/>
          <c:showBubbleSize val="0"/>
        </c:dLbls>
        <c:gapWidth val="219"/>
        <c:overlap val="-27"/>
        <c:axId val="379421120"/>
        <c:axId val="379421512"/>
        <c:extLst/>
      </c:barChart>
      <c:catAx>
        <c:axId val="379421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1512"/>
        <c:crosses val="autoZero"/>
        <c:auto val="1"/>
        <c:lblAlgn val="ctr"/>
        <c:lblOffset val="100"/>
        <c:noMultiLvlLbl val="0"/>
      </c:catAx>
      <c:valAx>
        <c:axId val="3794215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7942112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44FC-41D3-A229-4F8BF1B5C763}"/>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pt idx="22">
                  <c:v>0</c:v>
                </c:pt>
                <c:pt idx="23">
                  <c:v>0</c:v>
                </c:pt>
                <c:pt idx="24">
                  <c:v>0</c:v>
                </c:pt>
                <c:pt idx="25">
                  <c:v>0</c:v>
                </c:pt>
                <c:pt idx="26">
                  <c:v>0</c:v>
                </c:pt>
                <c:pt idx="27">
                  <c:v>0</c:v>
                </c:pt>
                <c:pt idx="28">
                  <c:v>1</c:v>
                </c:pt>
              </c:numCache>
            </c:numRef>
          </c:val>
          <c:smooth val="0"/>
          <c:extLst>
            <c:ext xmlns:c16="http://schemas.microsoft.com/office/drawing/2014/chart" uri="{C3380CC4-5D6E-409C-BE32-E72D297353CC}">
              <c16:uniqueId val="{00000001-44FC-41D3-A229-4F8BF1B5C763}"/>
            </c:ext>
          </c:extLst>
        </c:ser>
        <c:dLbls>
          <c:showLegendKey val="0"/>
          <c:showVal val="0"/>
          <c:showCatName val="0"/>
          <c:showSerName val="0"/>
          <c:showPercent val="0"/>
          <c:showBubbleSize val="0"/>
        </c:dLbls>
        <c:marker val="1"/>
        <c:smooth val="0"/>
        <c:axId val="382763448"/>
        <c:axId val="382760312"/>
      </c:lineChart>
      <c:catAx>
        <c:axId val="3827634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60312"/>
        <c:crosses val="autoZero"/>
        <c:auto val="1"/>
        <c:lblAlgn val="ctr"/>
        <c:lblOffset val="100"/>
        <c:noMultiLvlLbl val="0"/>
      </c:catAx>
      <c:valAx>
        <c:axId val="38276031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63448"/>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87E1-46BE-8FD7-768FF0D37878}"/>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pt idx="22">
                  <c:v>3</c:v>
                </c:pt>
                <c:pt idx="23">
                  <c:v>5</c:v>
                </c:pt>
                <c:pt idx="24">
                  <c:v>2</c:v>
                </c:pt>
                <c:pt idx="25">
                  <c:v>1</c:v>
                </c:pt>
                <c:pt idx="26">
                  <c:v>1</c:v>
                </c:pt>
                <c:pt idx="27">
                  <c:v>1</c:v>
                </c:pt>
                <c:pt idx="28">
                  <c:v>2</c:v>
                </c:pt>
              </c:numCache>
            </c:numRef>
          </c:val>
          <c:smooth val="0"/>
          <c:extLst>
            <c:ext xmlns:c16="http://schemas.microsoft.com/office/drawing/2014/chart" uri="{C3380CC4-5D6E-409C-BE32-E72D297353CC}">
              <c16:uniqueId val="{00000001-87E1-46BE-8FD7-768FF0D37878}"/>
            </c:ext>
          </c:extLst>
        </c:ser>
        <c:dLbls>
          <c:showLegendKey val="0"/>
          <c:showVal val="0"/>
          <c:showCatName val="0"/>
          <c:showSerName val="0"/>
          <c:showPercent val="0"/>
          <c:showBubbleSize val="0"/>
        </c:dLbls>
        <c:marker val="1"/>
        <c:smooth val="0"/>
        <c:axId val="382756000"/>
        <c:axId val="382756784"/>
      </c:lineChart>
      <c:catAx>
        <c:axId val="382756000"/>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56784"/>
        <c:crosses val="autoZero"/>
        <c:auto val="1"/>
        <c:lblAlgn val="ctr"/>
        <c:lblOffset val="100"/>
        <c:noMultiLvlLbl val="0"/>
      </c:catAx>
      <c:valAx>
        <c:axId val="3827567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8275600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Số</a:t>
            </a:r>
            <a:r>
              <a:rPr lang="en-US" baseline="0"/>
              <a:t> tàu ảnh hưởng</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Pt>
            <c:idx val="1"/>
            <c:invertIfNegative val="0"/>
            <c:bubble3D val="0"/>
            <c:spPr>
              <a:solidFill>
                <a:srgbClr val="FFC000"/>
              </a:solidFill>
              <a:ln>
                <a:noFill/>
              </a:ln>
              <a:effectLst/>
            </c:spPr>
            <c:extLst>
              <c:ext xmlns:c16="http://schemas.microsoft.com/office/drawing/2014/chart" uri="{C3380CC4-5D6E-409C-BE32-E72D297353CC}">
                <c16:uniqueId val="{00000001-36E8-4348-9D35-A328480A5EF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Sheet1!$H$16:$H$18</c:f>
              <c:strCache>
                <c:ptCount val="3"/>
                <c:pt idx="0">
                  <c:v>A321CEO</c:v>
                </c:pt>
                <c:pt idx="1">
                  <c:v>A321NEO</c:v>
                </c:pt>
                <c:pt idx="2">
                  <c:v>A320NEO</c:v>
                </c:pt>
              </c:strCache>
            </c:strRef>
          </c:cat>
          <c:val>
            <c:numRef>
              <c:f>Sheet1!$I$16:$I$18</c:f>
              <c:numCache>
                <c:formatCode>General</c:formatCode>
                <c:ptCount val="3"/>
                <c:pt idx="0">
                  <c:v>41</c:v>
                </c:pt>
                <c:pt idx="1">
                  <c:v>20</c:v>
                </c:pt>
                <c:pt idx="2">
                  <c:v>0</c:v>
                </c:pt>
              </c:numCache>
            </c:numRef>
          </c:val>
          <c:extLst>
            <c:ext xmlns:c16="http://schemas.microsoft.com/office/drawing/2014/chart" uri="{C3380CC4-5D6E-409C-BE32-E72D297353CC}">
              <c16:uniqueId val="{00000002-36E8-4348-9D35-A328480A5EF9}"/>
            </c:ext>
          </c:extLst>
        </c:ser>
        <c:dLbls>
          <c:dLblPos val="ctr"/>
          <c:showLegendKey val="0"/>
          <c:showVal val="1"/>
          <c:showCatName val="0"/>
          <c:showSerName val="0"/>
          <c:showPercent val="0"/>
          <c:showBubbleSize val="0"/>
        </c:dLbls>
        <c:gapWidth val="219"/>
        <c:overlap val="-27"/>
        <c:axId val="572593520"/>
        <c:axId val="572594960"/>
      </c:barChart>
      <c:catAx>
        <c:axId val="5725935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2594960"/>
        <c:crosses val="autoZero"/>
        <c:auto val="1"/>
        <c:lblAlgn val="ctr"/>
        <c:lblOffset val="100"/>
        <c:noMultiLvlLbl val="0"/>
      </c:catAx>
      <c:valAx>
        <c:axId val="572594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25935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Số</a:t>
            </a:r>
            <a:r>
              <a:rPr lang="en-US" baseline="0"/>
              <a:t> tàu cần kiểm tra trong ngắn hạn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Sheet1!$H$24:$H$25</c:f>
              <c:strCache>
                <c:ptCount val="2"/>
                <c:pt idx="0">
                  <c:v>Kiểm tra trong vòng 60 ngày</c:v>
                </c:pt>
                <c:pt idx="1">
                  <c:v>Kiểm tra trong vòng 15 ngày</c:v>
                </c:pt>
              </c:strCache>
            </c:strRef>
          </c:cat>
          <c:val>
            <c:numRef>
              <c:f>Sheet1!$I$24:$I$25</c:f>
              <c:numCache>
                <c:formatCode>General</c:formatCode>
                <c:ptCount val="2"/>
                <c:pt idx="0">
                  <c:v>17</c:v>
                </c:pt>
                <c:pt idx="1">
                  <c:v>2</c:v>
                </c:pt>
              </c:numCache>
            </c:numRef>
          </c:val>
          <c:extLst>
            <c:ext xmlns:c16="http://schemas.microsoft.com/office/drawing/2014/chart" uri="{C3380CC4-5D6E-409C-BE32-E72D297353CC}">
              <c16:uniqueId val="{00000000-BDEB-46E3-8D95-181CF4FE1EDE}"/>
            </c:ext>
          </c:extLst>
        </c:ser>
        <c:dLbls>
          <c:dLblPos val="ctr"/>
          <c:showLegendKey val="0"/>
          <c:showVal val="1"/>
          <c:showCatName val="0"/>
          <c:showSerName val="0"/>
          <c:showPercent val="0"/>
          <c:showBubbleSize val="0"/>
        </c:dLbls>
        <c:gapWidth val="219"/>
        <c:overlap val="-27"/>
        <c:axId val="568765936"/>
        <c:axId val="568763416"/>
      </c:barChart>
      <c:catAx>
        <c:axId val="568765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8763416"/>
        <c:crosses val="autoZero"/>
        <c:auto val="1"/>
        <c:lblAlgn val="ctr"/>
        <c:lblOffset val="100"/>
        <c:noMultiLvlLbl val="0"/>
      </c:catAx>
      <c:valAx>
        <c:axId val="568763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87659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W28</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6CB9-418E-B122-EE75FC74BAD4}"/>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99.738610903659449</c:v>
                </c:pt>
                <c:pt idx="1">
                  <c:v>99.303135888501743</c:v>
                </c:pt>
                <c:pt idx="2">
                  <c:v>99.493670886075947</c:v>
                </c:pt>
                <c:pt idx="3">
                  <c:v>99.5</c:v>
                </c:pt>
              </c:numCache>
            </c:numRef>
          </c:val>
          <c:extLst>
            <c:ext xmlns:c16="http://schemas.microsoft.com/office/drawing/2014/chart" uri="{C3380CC4-5D6E-409C-BE32-E72D297353CC}">
              <c16:uniqueId val="{00000001-6CB9-418E-B122-EE75FC74BAD4}"/>
            </c:ext>
          </c:extLst>
        </c:ser>
        <c:ser>
          <c:idx val="1"/>
          <c:order val="1"/>
          <c:tx>
            <c:strRef>
              <c:f>DR!$D$3</c:f>
              <c:strCache>
                <c:ptCount val="1"/>
                <c:pt idx="0">
                  <c:v>W29</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99.779249448123622</c:v>
                </c:pt>
                <c:pt idx="1">
                  <c:v>99.616858237547888</c:v>
                </c:pt>
                <c:pt idx="2">
                  <c:v>99.753086419753089</c:v>
                </c:pt>
                <c:pt idx="3">
                  <c:v>98.98989898989899</c:v>
                </c:pt>
              </c:numCache>
            </c:numRef>
          </c:val>
          <c:extLst>
            <c:ext xmlns:c16="http://schemas.microsoft.com/office/drawing/2014/chart" uri="{C3380CC4-5D6E-409C-BE32-E72D297353CC}">
              <c16:uniqueId val="{00000002-6CB9-418E-B122-EE75FC74BAD4}"/>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CB9-418E-B122-EE75FC74BAD4}"/>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6CB9-418E-B122-EE75FC74BAD4}"/>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6CB9-418E-B122-EE75FC74BAD4}"/>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Sheet1!$D$8:$BG$8</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Sheet1!$D$9:$BG$9</c:f>
              <c:numCache>
                <c:formatCode>General</c:formatCode>
                <c:ptCount val="16"/>
                <c:pt idx="0">
                  <c:v>24</c:v>
                </c:pt>
                <c:pt idx="1">
                  <c:v>22</c:v>
                </c:pt>
                <c:pt idx="2">
                  <c:v>20</c:v>
                </c:pt>
                <c:pt idx="3">
                  <c:v>20</c:v>
                </c:pt>
                <c:pt idx="4">
                  <c:v>20</c:v>
                </c:pt>
                <c:pt idx="5">
                  <c:v>20</c:v>
                </c:pt>
                <c:pt idx="6">
                  <c:v>22</c:v>
                </c:pt>
                <c:pt idx="7">
                  <c:v>22</c:v>
                </c:pt>
                <c:pt idx="8">
                  <c:v>21</c:v>
                </c:pt>
                <c:pt idx="9">
                  <c:v>21</c:v>
                </c:pt>
                <c:pt idx="10">
                  <c:v>22</c:v>
                </c:pt>
                <c:pt idx="11">
                  <c:v>22</c:v>
                </c:pt>
                <c:pt idx="12">
                  <c:v>22</c:v>
                </c:pt>
                <c:pt idx="13">
                  <c:v>22</c:v>
                </c:pt>
                <c:pt idx="14">
                  <c:v>22</c:v>
                </c:pt>
                <c:pt idx="15">
                  <c:v>22</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Sheet1!$D$10:$BG$10</c:f>
              <c:numCache>
                <c:formatCode>General</c:formatCode>
                <c:ptCount val="16"/>
                <c:pt idx="0">
                  <c:v>2</c:v>
                </c:pt>
                <c:pt idx="1">
                  <c:v>2</c:v>
                </c:pt>
                <c:pt idx="2">
                  <c:v>2</c:v>
                </c:pt>
                <c:pt idx="3">
                  <c:v>2</c:v>
                </c:pt>
                <c:pt idx="4">
                  <c:v>3</c:v>
                </c:pt>
                <c:pt idx="5">
                  <c:v>3</c:v>
                </c:pt>
                <c:pt idx="6">
                  <c:v>3</c:v>
                </c:pt>
                <c:pt idx="7">
                  <c:v>3</c:v>
                </c:pt>
                <c:pt idx="8">
                  <c:v>2</c:v>
                </c:pt>
                <c:pt idx="9">
                  <c:v>2</c:v>
                </c:pt>
                <c:pt idx="10">
                  <c:v>3</c:v>
                </c:pt>
                <c:pt idx="11">
                  <c:v>4</c:v>
                </c:pt>
                <c:pt idx="12">
                  <c:v>4</c:v>
                </c:pt>
                <c:pt idx="13">
                  <c:v>4</c:v>
                </c:pt>
                <c:pt idx="14">
                  <c:v>4</c:v>
                </c:pt>
                <c:pt idx="15">
                  <c:v>4</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Sheet1!$D$11:$BG$11</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Sheet1!$D$7:$BG$7</c:f>
              <c:strCache>
                <c:ptCount val="16"/>
                <c:pt idx="0">
                  <c:v>July-W1</c:v>
                </c:pt>
                <c:pt idx="1">
                  <c:v>July-W2</c:v>
                </c:pt>
                <c:pt idx="2">
                  <c:v>July-W3</c:v>
                </c:pt>
                <c:pt idx="3">
                  <c:v>July-W4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strCache>
            </c:strRef>
          </c:cat>
          <c:val>
            <c:numRef>
              <c:f>Sheet1!$D$12:$BG$12</c:f>
              <c:numCache>
                <c:formatCode>General</c:formatCode>
                <c:ptCount val="16"/>
                <c:pt idx="0">
                  <c:v>0</c:v>
                </c:pt>
                <c:pt idx="1">
                  <c:v>1</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1940978800"/>
        <c:axId val="-1940985872"/>
      </c:lineChart>
      <c:catAx>
        <c:axId val="-19409788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85872"/>
        <c:crosses val="autoZero"/>
        <c:auto val="1"/>
        <c:lblAlgn val="ctr"/>
        <c:lblOffset val="100"/>
        <c:tickMarkSkip val="1"/>
        <c:noMultiLvlLbl val="0"/>
      </c:catAx>
      <c:valAx>
        <c:axId val="-194098587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1940978800"/>
        <c:crosses val="autoZero"/>
        <c:crossBetween val="between"/>
      </c:valAx>
      <c:spPr>
        <a:noFill/>
        <a:ln>
          <a:noFill/>
        </a:ln>
        <a:effectLst/>
      </c:spPr>
    </c:plotArea>
    <c:legend>
      <c:legendPos val="b"/>
      <c:layout>
        <c:manualLayout>
          <c:xMode val="edge"/>
          <c:yMode val="edge"/>
          <c:x val="0.64490601981203965"/>
          <c:y val="0.45304720402554688"/>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188228338235609E-2"/>
          <c:y val="7.642113830338218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General</c:formatCode>
                <c:ptCount val="12"/>
                <c:pt idx="0">
                  <c:v>14.25</c:v>
                </c:pt>
                <c:pt idx="1">
                  <c:v>13.75</c:v>
                </c:pt>
                <c:pt idx="2">
                  <c:v>15.25</c:v>
                </c:pt>
                <c:pt idx="3">
                  <c:v>15</c:v>
                </c:pt>
                <c:pt idx="4">
                  <c:v>14.5</c:v>
                </c:pt>
                <c:pt idx="5">
                  <c:v>12.25</c:v>
                </c:pt>
                <c:pt idx="6">
                  <c:v>10.75</c:v>
                </c:pt>
                <c:pt idx="7">
                  <c:v>10.5</c:v>
                </c:pt>
                <c:pt idx="8">
                  <c:v>11</c:v>
                </c:pt>
                <c:pt idx="9">
                  <c:v>11</c:v>
                </c:pt>
                <c:pt idx="10">
                  <c:v>11.75</c:v>
                </c:pt>
                <c:pt idx="11">
                  <c:v>11.75</c:v>
                </c:pt>
              </c:numCache>
            </c:numRef>
          </c:val>
          <c:smooth val="0"/>
          <c:extLst>
            <c:ext xmlns:c16="http://schemas.microsoft.com/office/drawing/2014/chart" uri="{C3380CC4-5D6E-409C-BE32-E72D297353CC}">
              <c16:uniqueId val="{00000001-6D6A-460E-8E11-3C956E9EF4D8}"/>
            </c:ext>
          </c:extLst>
        </c:ser>
        <c:ser>
          <c:idx val="0"/>
          <c:order val="1"/>
          <c:tx>
            <c:strRef>
              <c:f>Sheet1!#REF!</c:f>
              <c:strCache>
                <c:ptCount val="1"/>
                <c:pt idx="0">
                  <c:v>#REF!</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Pt>
            <c:idx val="5"/>
            <c:marker>
              <c:symbol val="circle"/>
              <c:size val="25"/>
              <c:spPr>
                <a:noFill/>
                <a:ln w="9525">
                  <a:noFill/>
                </a:ln>
                <a:effectLst/>
              </c:spPr>
            </c:marker>
            <c:bubble3D val="0"/>
            <c:spPr>
              <a:ln w="28575" cap="rnd">
                <a:noFill/>
                <a:round/>
              </a:ln>
              <a:effectLst/>
            </c:spPr>
            <c:extLst>
              <c:ext xmlns:c16="http://schemas.microsoft.com/office/drawing/2014/chart" uri="{C3380CC4-5D6E-409C-BE32-E72D297353CC}">
                <c16:uniqueId val="{00000002-BADC-4A39-B3FA-08B2A3E82B11}"/>
              </c:ext>
            </c:extLst>
          </c:dPt>
          <c:dLbls>
            <c:dLbl>
              <c:idx val="5"/>
              <c:delete val="1"/>
              <c:extLst>
                <c:ext xmlns:c15="http://schemas.microsoft.com/office/drawing/2012/chart" uri="{CE6537A1-D6FC-4f65-9D91-7224C49458BB}"/>
                <c:ext xmlns:c16="http://schemas.microsoft.com/office/drawing/2014/chart" uri="{C3380CC4-5D6E-409C-BE32-E72D297353CC}">
                  <c16:uniqueId val="{00000002-BADC-4A39-B3FA-08B2A3E82B1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Sheet1!#REF!</c:f>
              <c:numCache>
                <c:formatCode>General</c:formatCode>
                <c:ptCount val="1"/>
                <c:pt idx="0">
                  <c:v>1</c:v>
                </c:pt>
              </c:numCache>
            </c:numRef>
          </c:val>
          <c:smooth val="0"/>
          <c:extLst>
            <c:ext xmlns:c16="http://schemas.microsoft.com/office/drawing/2014/chart" uri="{C3380CC4-5D6E-409C-BE32-E72D297353CC}">
              <c16:uniqueId val="{00000001-BADC-4A39-B3FA-08B2A3E82B11}"/>
            </c:ext>
          </c:extLst>
        </c:ser>
        <c:dLbls>
          <c:dLblPos val="ctr"/>
          <c:showLegendKey val="0"/>
          <c:showVal val="1"/>
          <c:showCatName val="0"/>
          <c:showSerName val="0"/>
          <c:showPercent val="0"/>
          <c:showBubbleSize val="0"/>
        </c:dLbls>
        <c:marker val="1"/>
        <c:smooth val="0"/>
        <c:axId val="-1940979888"/>
        <c:axId val="-1940977712"/>
      </c:lineChart>
      <c:catAx>
        <c:axId val="-1940979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940977712"/>
        <c:crosses val="autoZero"/>
        <c:auto val="1"/>
        <c:lblAlgn val="ctr"/>
        <c:lblOffset val="100"/>
        <c:noMultiLvlLbl val="0"/>
      </c:catAx>
      <c:valAx>
        <c:axId val="-1940977712"/>
        <c:scaling>
          <c:orientation val="minMax"/>
          <c:max val="16"/>
          <c:min val="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940979888"/>
        <c:crosses val="autoZero"/>
        <c:crossBetween val="between"/>
        <c:majorUnit val="1"/>
      </c:valAx>
      <c:spPr>
        <a:noFill/>
        <a:ln>
          <a:noFill/>
        </a:ln>
        <a:effectLst/>
      </c:spPr>
    </c:plotArea>
    <c:legend>
      <c:legendPos val="r"/>
      <c:legendEntry>
        <c:idx val="1"/>
        <c:delete val="1"/>
      </c:legendEntry>
      <c:layout>
        <c:manualLayout>
          <c:xMode val="edge"/>
          <c:yMode val="edge"/>
          <c:x val="0.6014428597681637"/>
          <c:y val="0.17217252125015778"/>
          <c:w val="0.29325237236090818"/>
          <c:h val="0.137457945796320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Sheet1!$A$18:$A$37</c:f>
              <c:strCache>
                <c:ptCount val="20"/>
                <c:pt idx="0">
                  <c:v>Jul-W1</c:v>
                </c:pt>
                <c:pt idx="1">
                  <c:v>Jul-W2</c:v>
                </c:pt>
                <c:pt idx="2">
                  <c:v>Jul-W3</c:v>
                </c:pt>
                <c:pt idx="3">
                  <c:v>Jul-W4</c:v>
                </c:pt>
                <c:pt idx="4">
                  <c:v>Aug-W1</c:v>
                </c:pt>
                <c:pt idx="5">
                  <c:v>Aug-W2</c:v>
                </c:pt>
                <c:pt idx="6">
                  <c:v>Aug-W3</c:v>
                </c:pt>
                <c:pt idx="7">
                  <c:v>Aug-W4</c:v>
                </c:pt>
                <c:pt idx="8">
                  <c:v>Sep-W1</c:v>
                </c:pt>
                <c:pt idx="9">
                  <c:v>Sep-W2</c:v>
                </c:pt>
                <c:pt idx="10">
                  <c:v>Sep-W3</c:v>
                </c:pt>
                <c:pt idx="11">
                  <c:v>Sep-W4</c:v>
                </c:pt>
                <c:pt idx="12">
                  <c:v>Oct-W1</c:v>
                </c:pt>
                <c:pt idx="13">
                  <c:v>Oct-W2</c:v>
                </c:pt>
                <c:pt idx="14">
                  <c:v>Oct-W3</c:v>
                </c:pt>
                <c:pt idx="15">
                  <c:v>Oct-W4</c:v>
                </c:pt>
                <c:pt idx="16">
                  <c:v>Nov-W1</c:v>
                </c:pt>
                <c:pt idx="17">
                  <c:v>Nov-W2</c:v>
                </c:pt>
                <c:pt idx="18">
                  <c:v>Nov-W3</c:v>
                </c:pt>
                <c:pt idx="19">
                  <c:v>Novv-W4</c:v>
                </c:pt>
              </c:strCache>
            </c:strRef>
          </c:cat>
          <c:val>
            <c:numRef>
              <c:f>Sheet1!$B$18:$B$37</c:f>
              <c:numCache>
                <c:formatCode>General</c:formatCode>
                <c:ptCount val="20"/>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pt idx="16">
                  <c:v>17</c:v>
                </c:pt>
                <c:pt idx="17">
                  <c:v>17</c:v>
                </c:pt>
                <c:pt idx="18">
                  <c:v>17</c:v>
                </c:pt>
                <c:pt idx="19">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1940984240"/>
        <c:axId val="-1940982608"/>
      </c:lineChart>
      <c:catAx>
        <c:axId val="-1940984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1940982608"/>
        <c:crosses val="autoZero"/>
        <c:auto val="1"/>
        <c:lblAlgn val="ctr"/>
        <c:lblOffset val="100"/>
        <c:noMultiLvlLbl val="0"/>
      </c:catAx>
      <c:valAx>
        <c:axId val="-194098260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940984240"/>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chemeClr val="tx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1.25</c:v>
                </c:pt>
                <c:pt idx="7">
                  <c:v>2</c:v>
                </c:pt>
                <c:pt idx="8">
                  <c:v>1.5</c:v>
                </c:pt>
                <c:pt idx="9">
                  <c:v>2</c:v>
                </c:pt>
                <c:pt idx="10">
                  <c:v>2</c:v>
                </c:pt>
                <c:pt idx="11">
                  <c:v>1</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1832174480"/>
        <c:axId val="-1832163600"/>
      </c:lineChart>
      <c:catAx>
        <c:axId val="-1832174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832163600"/>
        <c:crosses val="autoZero"/>
        <c:auto val="1"/>
        <c:lblAlgn val="ctr"/>
        <c:lblOffset val="100"/>
        <c:noMultiLvlLbl val="0"/>
      </c:catAx>
      <c:valAx>
        <c:axId val="-1832163600"/>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832174480"/>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12700">
      <a:solidFill>
        <a:srgbClr val="00B050"/>
      </a:solid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1832167408"/>
        <c:axId val="-1832163056"/>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4</c:v>
                </c:pt>
                <c:pt idx="7">
                  <c:v>4</c:v>
                </c:pt>
                <c:pt idx="8">
                  <c:v>4</c:v>
                </c:pt>
                <c:pt idx="9">
                  <c:v>4</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1832167408"/>
        <c:axId val="-1832163056"/>
      </c:lineChart>
      <c:catAx>
        <c:axId val="-1832167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1832163056"/>
        <c:crosses val="autoZero"/>
        <c:auto val="1"/>
        <c:lblAlgn val="ctr"/>
        <c:lblOffset val="100"/>
        <c:noMultiLvlLbl val="0"/>
      </c:catAx>
      <c:valAx>
        <c:axId val="-1832163056"/>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1832167408"/>
        <c:crosses val="autoZero"/>
        <c:crossBetween val="between"/>
      </c:valAx>
      <c:spPr>
        <a:noFill/>
        <a:ln>
          <a:noFill/>
        </a:ln>
        <a:effectLst/>
      </c:spPr>
    </c:plotArea>
    <c:legend>
      <c:legendPos val="r"/>
      <c:legendEntry>
        <c:idx val="0"/>
        <c:delete val="1"/>
      </c:legendEntry>
      <c:layout>
        <c:manualLayout>
          <c:xMode val="edge"/>
          <c:yMode val="edge"/>
          <c:x val="0.63481189410812311"/>
          <c:y val="0.51480903090419827"/>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2</c:v>
                </c:pt>
                <c:pt idx="2">
                  <c:v>0</c:v>
                </c:pt>
                <c:pt idx="3">
                  <c:v>2</c:v>
                </c:pt>
                <c:pt idx="4">
                  <c:v>0</c:v>
                </c:pt>
                <c:pt idx="5" formatCode="0">
                  <c:v>4</c:v>
                </c:pt>
              </c:numCache>
            </c:numRef>
          </c:val>
          <c:extLst>
            <c:ext xmlns:c16="http://schemas.microsoft.com/office/drawing/2014/chart" uri="{C3380CC4-5D6E-409C-BE32-E72D297353CC}">
              <c16:uniqueId val="{00000000-E795-4A06-9392-0DDFA60EA043}"/>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2</c:v>
                </c:pt>
                <c:pt idx="2">
                  <c:v>1</c:v>
                </c:pt>
                <c:pt idx="3">
                  <c:v>2</c:v>
                </c:pt>
                <c:pt idx="4">
                  <c:v>0</c:v>
                </c:pt>
                <c:pt idx="5" formatCode="0">
                  <c:v>5</c:v>
                </c:pt>
              </c:numCache>
            </c:numRef>
          </c:val>
          <c:extLst>
            <c:ext xmlns:c16="http://schemas.microsoft.com/office/drawing/2014/chart" uri="{C3380CC4-5D6E-409C-BE32-E72D297353CC}">
              <c16:uniqueId val="{00000001-E795-4A06-9392-0DDFA60EA043}"/>
            </c:ext>
          </c:extLst>
        </c:ser>
        <c:dLbls>
          <c:showLegendKey val="0"/>
          <c:showVal val="0"/>
          <c:showCatName val="0"/>
          <c:showSerName val="0"/>
          <c:showPercent val="0"/>
          <c:showBubbleSize val="0"/>
        </c:dLbls>
        <c:gapWidth val="150"/>
        <c:axId val="313883032"/>
        <c:axId val="313886952"/>
      </c:barChart>
      <c:catAx>
        <c:axId val="313883032"/>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3886952"/>
        <c:crosses val="autoZero"/>
        <c:auto val="1"/>
        <c:lblAlgn val="ctr"/>
        <c:lblOffset val="100"/>
        <c:noMultiLvlLbl val="0"/>
      </c:catAx>
      <c:valAx>
        <c:axId val="313886952"/>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3883032"/>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6.3280274656679208E-2</c:v>
                </c:pt>
                <c:pt idx="1">
                  <c:v>7.6108194808982163E-2</c:v>
                </c:pt>
                <c:pt idx="2">
                  <c:v>8.7466596343178826E-2</c:v>
                </c:pt>
                <c:pt idx="3">
                  <c:v>0.1441271551724139</c:v>
                </c:pt>
                <c:pt idx="4">
                  <c:v>0.27423321759259295</c:v>
                </c:pt>
                <c:pt idx="5">
                  <c:v>0.26733288166215025</c:v>
                </c:pt>
                <c:pt idx="6">
                  <c:v>0.13591820987654313</c:v>
                </c:pt>
                <c:pt idx="7">
                  <c:v>0.12433510638297897</c:v>
                </c:pt>
                <c:pt idx="8">
                  <c:v>4.4472502805836193E-2</c:v>
                </c:pt>
              </c:numCache>
            </c:numRef>
          </c:val>
          <c:extLst>
            <c:ext xmlns:c16="http://schemas.microsoft.com/office/drawing/2014/chart" uri="{C3380CC4-5D6E-409C-BE32-E72D297353CC}">
              <c16:uniqueId val="{00000000-F10F-4E3F-A98F-50A3BF152C97}"/>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6.2433226495726503E-2</c:v>
                </c:pt>
                <c:pt idx="1">
                  <c:v>7.6735742118313827E-2</c:v>
                </c:pt>
                <c:pt idx="2">
                  <c:v>8.3158052884615488E-2</c:v>
                </c:pt>
                <c:pt idx="3">
                  <c:v>0.13897868773946367</c:v>
                </c:pt>
                <c:pt idx="4">
                  <c:v>0.27926275331935735</c:v>
                </c:pt>
                <c:pt idx="5">
                  <c:v>0.23241406874500431</c:v>
                </c:pt>
                <c:pt idx="6">
                  <c:v>0.1333258661887694</c:v>
                </c:pt>
                <c:pt idx="7">
                  <c:v>0.13557979120059677</c:v>
                </c:pt>
                <c:pt idx="8">
                  <c:v>4.3986742424242484E-2</c:v>
                </c:pt>
              </c:numCache>
            </c:numRef>
          </c:val>
          <c:extLst>
            <c:ext xmlns:c16="http://schemas.microsoft.com/office/drawing/2014/chart" uri="{C3380CC4-5D6E-409C-BE32-E72D297353CC}">
              <c16:uniqueId val="{00000001-F10F-4E3F-A98F-50A3BF152C97}"/>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8.4761904761904781</c:v>
                </c:pt>
                <c:pt idx="1">
                  <c:v>6.9780219780219781</c:v>
                </c:pt>
                <c:pt idx="2">
                  <c:v>6.2698412698412707</c:v>
                </c:pt>
                <c:pt idx="3">
                  <c:v>2.8571428571428572</c:v>
                </c:pt>
                <c:pt idx="4">
                  <c:v>3.5803571428571428</c:v>
                </c:pt>
                <c:pt idx="5">
                  <c:v>7.0714285714285712</c:v>
                </c:pt>
              </c:numCache>
            </c:numRef>
          </c:val>
          <c:extLst>
            <c:ext xmlns:c16="http://schemas.microsoft.com/office/drawing/2014/chart" uri="{C3380CC4-5D6E-409C-BE32-E72D297353CC}">
              <c16:uniqueId val="{00000000-B171-49E2-882E-68F59347E29B}"/>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7.4285714285714288</c:v>
                </c:pt>
                <c:pt idx="1">
                  <c:v>6.8937728937728924</c:v>
                </c:pt>
                <c:pt idx="2">
                  <c:v>5.9428571428571431</c:v>
                </c:pt>
                <c:pt idx="3">
                  <c:v>3.0219780219780219</c:v>
                </c:pt>
                <c:pt idx="4">
                  <c:v>3.4017857142857144</c:v>
                </c:pt>
                <c:pt idx="5">
                  <c:v>7.8571428571428568</c:v>
                </c:pt>
              </c:numCache>
            </c:numRef>
          </c:val>
          <c:extLst>
            <c:ext xmlns:c16="http://schemas.microsoft.com/office/drawing/2014/chart" uri="{C3380CC4-5D6E-409C-BE32-E72D297353CC}">
              <c16:uniqueId val="{00000001-B171-49E2-882E-68F59347E29B}"/>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612C-4F14-8DF9-59D3948233F8}"/>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612C-4F14-8DF9-59D3948233F8}"/>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612C-4F14-8DF9-59D3948233F8}"/>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612C-4F14-8DF9-59D3948233F8}"/>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612C-4F14-8DF9-59D3948233F8}"/>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612C-4F14-8DF9-59D3948233F8}"/>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612C-4F14-8DF9-59D3948233F8}"/>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612C-4F14-8DF9-59D3948233F8}"/>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Week!$B$35:$BL$35</c:f>
              <c:numCache>
                <c:formatCode>d\-mmm</c:formatCode>
                <c:ptCount val="63"/>
                <c:pt idx="0">
                  <c:v>45852</c:v>
                </c:pt>
                <c:pt idx="1">
                  <c:v>45853</c:v>
                </c:pt>
                <c:pt idx="2">
                  <c:v>45854</c:v>
                </c:pt>
                <c:pt idx="3">
                  <c:v>45855</c:v>
                </c:pt>
                <c:pt idx="4">
                  <c:v>45856</c:v>
                </c:pt>
                <c:pt idx="5">
                  <c:v>45857</c:v>
                </c:pt>
                <c:pt idx="6">
                  <c:v>45858</c:v>
                </c:pt>
                <c:pt idx="7">
                  <c:v>45859</c:v>
                </c:pt>
                <c:pt idx="8">
                  <c:v>45860</c:v>
                </c:pt>
                <c:pt idx="9">
                  <c:v>45861</c:v>
                </c:pt>
                <c:pt idx="10">
                  <c:v>45862</c:v>
                </c:pt>
                <c:pt idx="11">
                  <c:v>45863</c:v>
                </c:pt>
                <c:pt idx="12">
                  <c:v>45864</c:v>
                </c:pt>
                <c:pt idx="13">
                  <c:v>45865</c:v>
                </c:pt>
                <c:pt idx="14">
                  <c:v>45866</c:v>
                </c:pt>
                <c:pt idx="15">
                  <c:v>45867</c:v>
                </c:pt>
                <c:pt idx="16">
                  <c:v>45868</c:v>
                </c:pt>
                <c:pt idx="17">
                  <c:v>45869</c:v>
                </c:pt>
                <c:pt idx="18">
                  <c:v>45870</c:v>
                </c:pt>
                <c:pt idx="19">
                  <c:v>45871</c:v>
                </c:pt>
                <c:pt idx="20">
                  <c:v>45872</c:v>
                </c:pt>
                <c:pt idx="21">
                  <c:v>45873</c:v>
                </c:pt>
                <c:pt idx="22">
                  <c:v>45874</c:v>
                </c:pt>
                <c:pt idx="23">
                  <c:v>45875</c:v>
                </c:pt>
                <c:pt idx="24">
                  <c:v>45876</c:v>
                </c:pt>
                <c:pt idx="25">
                  <c:v>45877</c:v>
                </c:pt>
                <c:pt idx="26">
                  <c:v>45878</c:v>
                </c:pt>
                <c:pt idx="27">
                  <c:v>45879</c:v>
                </c:pt>
                <c:pt idx="28">
                  <c:v>45880</c:v>
                </c:pt>
                <c:pt idx="29">
                  <c:v>45881</c:v>
                </c:pt>
                <c:pt idx="30">
                  <c:v>45882</c:v>
                </c:pt>
                <c:pt idx="31">
                  <c:v>45883</c:v>
                </c:pt>
                <c:pt idx="32">
                  <c:v>45884</c:v>
                </c:pt>
                <c:pt idx="33">
                  <c:v>45885</c:v>
                </c:pt>
                <c:pt idx="34">
                  <c:v>45886</c:v>
                </c:pt>
                <c:pt idx="35">
                  <c:v>45887</c:v>
                </c:pt>
                <c:pt idx="36">
                  <c:v>45888</c:v>
                </c:pt>
                <c:pt idx="37">
                  <c:v>45889</c:v>
                </c:pt>
                <c:pt idx="38">
                  <c:v>45890</c:v>
                </c:pt>
                <c:pt idx="39">
                  <c:v>45891</c:v>
                </c:pt>
                <c:pt idx="40">
                  <c:v>45892</c:v>
                </c:pt>
                <c:pt idx="41">
                  <c:v>45893</c:v>
                </c:pt>
                <c:pt idx="42">
                  <c:v>45894</c:v>
                </c:pt>
                <c:pt idx="43">
                  <c:v>45895</c:v>
                </c:pt>
                <c:pt idx="44">
                  <c:v>45896</c:v>
                </c:pt>
                <c:pt idx="45">
                  <c:v>45897</c:v>
                </c:pt>
                <c:pt idx="46">
                  <c:v>45898</c:v>
                </c:pt>
                <c:pt idx="47">
                  <c:v>45899</c:v>
                </c:pt>
                <c:pt idx="48">
                  <c:v>45900</c:v>
                </c:pt>
              </c:numCache>
            </c:numRef>
          </c:cat>
          <c:val>
            <c:numRef>
              <c:f>Week!$B$36:$BL$36</c:f>
              <c:numCache>
                <c:formatCode>General</c:formatCode>
                <c:ptCount val="63"/>
                <c:pt idx="0">
                  <c:v>531</c:v>
                </c:pt>
                <c:pt idx="1">
                  <c:v>494</c:v>
                </c:pt>
                <c:pt idx="2">
                  <c:v>487</c:v>
                </c:pt>
                <c:pt idx="3">
                  <c:v>500</c:v>
                </c:pt>
                <c:pt idx="4">
                  <c:v>507</c:v>
                </c:pt>
                <c:pt idx="5">
                  <c:v>512</c:v>
                </c:pt>
                <c:pt idx="6">
                  <c:v>551</c:v>
                </c:pt>
                <c:pt idx="7">
                  <c:v>518</c:v>
                </c:pt>
                <c:pt idx="8">
                  <c:v>512</c:v>
                </c:pt>
                <c:pt idx="9">
                  <c:v>511</c:v>
                </c:pt>
                <c:pt idx="10">
                  <c:v>519</c:v>
                </c:pt>
                <c:pt idx="11">
                  <c:v>529</c:v>
                </c:pt>
                <c:pt idx="12">
                  <c:v>539</c:v>
                </c:pt>
                <c:pt idx="13">
                  <c:v>532</c:v>
                </c:pt>
                <c:pt idx="14">
                  <c:v>513</c:v>
                </c:pt>
                <c:pt idx="15">
                  <c:v>510</c:v>
                </c:pt>
                <c:pt idx="16">
                  <c:v>515</c:v>
                </c:pt>
                <c:pt idx="17">
                  <c:v>519</c:v>
                </c:pt>
                <c:pt idx="18">
                  <c:v>521</c:v>
                </c:pt>
                <c:pt idx="19">
                  <c:v>516</c:v>
                </c:pt>
                <c:pt idx="20">
                  <c:v>526</c:v>
                </c:pt>
                <c:pt idx="21">
                  <c:v>488</c:v>
                </c:pt>
                <c:pt idx="22">
                  <c:v>487</c:v>
                </c:pt>
                <c:pt idx="23">
                  <c:v>492</c:v>
                </c:pt>
                <c:pt idx="24">
                  <c:v>488</c:v>
                </c:pt>
                <c:pt idx="25">
                  <c:v>504</c:v>
                </c:pt>
                <c:pt idx="26">
                  <c:v>497</c:v>
                </c:pt>
                <c:pt idx="27">
                  <c:v>514</c:v>
                </c:pt>
                <c:pt idx="28">
                  <c:v>489</c:v>
                </c:pt>
                <c:pt idx="29">
                  <c:v>478</c:v>
                </c:pt>
                <c:pt idx="30">
                  <c:v>490</c:v>
                </c:pt>
                <c:pt idx="31">
                  <c:v>483</c:v>
                </c:pt>
                <c:pt idx="32">
                  <c:v>508</c:v>
                </c:pt>
                <c:pt idx="33">
                  <c:v>499</c:v>
                </c:pt>
                <c:pt idx="34">
                  <c:v>500</c:v>
                </c:pt>
                <c:pt idx="35">
                  <c:v>447</c:v>
                </c:pt>
                <c:pt idx="36">
                  <c:v>435</c:v>
                </c:pt>
                <c:pt idx="37">
                  <c:v>435</c:v>
                </c:pt>
                <c:pt idx="38">
                  <c:v>445</c:v>
                </c:pt>
                <c:pt idx="39">
                  <c:v>455</c:v>
                </c:pt>
                <c:pt idx="40">
                  <c:v>461</c:v>
                </c:pt>
                <c:pt idx="41">
                  <c:v>465</c:v>
                </c:pt>
                <c:pt idx="42">
                  <c:v>453</c:v>
                </c:pt>
                <c:pt idx="43">
                  <c:v>462</c:v>
                </c:pt>
                <c:pt idx="44">
                  <c:v>458</c:v>
                </c:pt>
                <c:pt idx="45">
                  <c:v>473</c:v>
                </c:pt>
                <c:pt idx="46">
                  <c:v>487</c:v>
                </c:pt>
                <c:pt idx="47">
                  <c:v>504</c:v>
                </c:pt>
                <c:pt idx="48">
                  <c:v>479</c:v>
                </c:pt>
              </c:numCache>
            </c:numRef>
          </c:val>
          <c:extLst>
            <c:ext xmlns:c16="http://schemas.microsoft.com/office/drawing/2014/chart" uri="{C3380CC4-5D6E-409C-BE32-E72D297353CC}">
              <c16:uniqueId val="{00000010-612C-4F14-8DF9-59D3948233F8}"/>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70"/>
          <c:min val="38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7/20/2025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203546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0709-23CF-2DAC-A4D5-375FA1B4F409}"/>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DECF7EC5-2ADA-FBF8-C418-B4292159696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FA903070-AA97-F3F3-69C9-F90C7EEAD41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E74D2CA0-7EDC-5807-703F-B0F8AE370D8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434279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16EF0736-B4D1-1209-1540-F93325373C2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1E17CC-6749-0EA1-8570-285F562FD1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E47C3A5-F3D5-80A2-DB30-507A7B3E36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F393642-B568-028A-2CA4-1DB2EE8361A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46405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1849B01-8F94-9D9B-D094-573F91E2217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37A8B88E-FE4A-6C0F-C3FC-DB630C060D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27430AA-9774-BCB3-30E8-456E33F77C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B9B58AD-6E35-1A34-06C9-7A923DC4DD9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07114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98F713AB-4B55-BA99-6E28-81B24617EFC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4560670-D5D8-54EC-143F-80BF1D170C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F20095-9361-AFD8-E85E-36667A86FD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A1663D0-F842-FC1B-136F-7CD79B52A89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7533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98F713AB-4B55-BA99-6E28-81B24617EFC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4560670-D5D8-54EC-143F-80BF1D170C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F20095-9361-AFD8-E85E-36667A86FD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A1663D0-F842-FC1B-136F-7CD79B52A89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7625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98F713AB-4B55-BA99-6E28-81B24617EFC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4560670-D5D8-54EC-143F-80BF1D170C1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F20095-9361-AFD8-E85E-36667A86FD3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A1663D0-F842-FC1B-136F-7CD79B52A89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796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4702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826A92F-1075-87AE-4441-4AF5F7433634}"/>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A6EB29F2-14A9-66EF-FED7-9B2B468DD9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282CB7D-8739-42F0-5B54-C67A495E6E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204584A-85CE-287F-E8A5-2CF1915DBE1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69415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DBB6745-44D5-651B-4F09-9B810353BD1D}"/>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FBD03FB4-278D-F304-CAA3-838D62F0D8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C24AD3D-85C8-3FE9-243F-967CF61BC5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119786A6-A3A6-9111-7489-A897AF2DE86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05981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01f5ae314a_0_5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g301f5ae314a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4176067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9771180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17</a:t>
            </a:fld>
            <a:endParaRPr/>
          </a:p>
        </p:txBody>
      </p:sp>
    </p:spTree>
    <p:extLst>
      <p:ext uri="{BB962C8B-B14F-4D97-AF65-F5344CB8AC3E}">
        <p14:creationId xmlns:p14="http://schemas.microsoft.com/office/powerpoint/2010/main" val="406514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16EF0736-B4D1-1209-1540-F93325373C2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1E17CC-6749-0EA1-8570-285F562FD1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E47C3A5-F3D5-80A2-DB30-507A7B3E36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F393642-B568-028A-2CA4-1DB2EE8361A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74121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3205820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1131255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07ED5419-F250-1981-ABC6-FEBBDBCC252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E901FB2-89E8-85B4-9EA0-987FC2D3F0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D2CF2BB-0C8E-A742-7160-91F58AEEEF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1D6DD79-FEB7-5633-D8D1-04D5FFEAF8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580135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68730-817D-9979-356D-9953777D8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9C3DF-4923-70C5-4491-6C495EA2ED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92BFA3-1E7B-6933-E20C-D849F8934D1B}"/>
              </a:ext>
            </a:extLst>
          </p:cNvPr>
          <p:cNvSpPr>
            <a:spLocks noGrp="1"/>
          </p:cNvSpPr>
          <p:nvPr>
            <p:ph type="body" idx="1"/>
          </p:nvPr>
        </p:nvSpPr>
        <p:spPr/>
        <p:txBody>
          <a:bodyPr/>
          <a:lstStyle/>
          <a:p>
            <a:endParaRPr lang="en-US" sz="1000" baseline="0" dirty="0">
              <a:solidFill>
                <a:srgbClr val="FF0000"/>
              </a:solidFill>
              <a:latin typeface="Aharoni" panose="02010803020104030203" pitchFamily="2" charset="-79"/>
              <a:cs typeface="Aharoni" panose="02010803020104030203" pitchFamily="2" charset="-79"/>
            </a:endParaRPr>
          </a:p>
        </p:txBody>
      </p:sp>
      <p:sp>
        <p:nvSpPr>
          <p:cNvPr id="4" name="Slide Number Placeholder 3">
            <a:extLst>
              <a:ext uri="{FF2B5EF4-FFF2-40B4-BE49-F238E27FC236}">
                <a16:creationId xmlns:a16="http://schemas.microsoft.com/office/drawing/2014/main" id="{38D7CCAC-CCCC-7312-28BC-CF55C37A8AF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4354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41825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480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5085080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41542205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37282656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3486563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03759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31</a:t>
            </a:fld>
            <a:endParaRPr/>
          </a:p>
        </p:txBody>
      </p:sp>
    </p:spTree>
    <p:extLst>
      <p:ext uri="{BB962C8B-B14F-4D97-AF65-F5344CB8AC3E}">
        <p14:creationId xmlns:p14="http://schemas.microsoft.com/office/powerpoint/2010/main" val="42390075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32</a:t>
            </a:fld>
            <a:endParaRPr/>
          </a:p>
        </p:txBody>
      </p:sp>
    </p:spTree>
    <p:extLst>
      <p:ext uri="{BB962C8B-B14F-4D97-AF65-F5344CB8AC3E}">
        <p14:creationId xmlns:p14="http://schemas.microsoft.com/office/powerpoint/2010/main" val="2403725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8098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40</a:t>
            </a:fld>
            <a:endParaRPr/>
          </a:p>
        </p:txBody>
      </p:sp>
    </p:spTree>
    <p:extLst>
      <p:ext uri="{BB962C8B-B14F-4D97-AF65-F5344CB8AC3E}">
        <p14:creationId xmlns:p14="http://schemas.microsoft.com/office/powerpoint/2010/main" val="42749909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41</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18808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42</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3123175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175160D-7988-E7D6-0165-192C7EA0F3BE}"/>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C0ECA4C-809B-2CE8-D284-A5701194A49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557677A8-229E-6FD3-837A-63F81B745B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B44FED7F-7E2E-1519-56A2-4DF09C718A1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44</a:t>
            </a:fld>
            <a:endParaRPr/>
          </a:p>
        </p:txBody>
      </p:sp>
    </p:spTree>
    <p:extLst>
      <p:ext uri="{BB962C8B-B14F-4D97-AF65-F5344CB8AC3E}">
        <p14:creationId xmlns:p14="http://schemas.microsoft.com/office/powerpoint/2010/main" val="21493242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45</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5193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05930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33899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extLst>
      <p:ext uri="{BB962C8B-B14F-4D97-AF65-F5344CB8AC3E}">
        <p14:creationId xmlns:p14="http://schemas.microsoft.com/office/powerpoint/2010/main" val="32929087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50</a:t>
            </a:fld>
            <a:endParaRPr/>
          </a:p>
        </p:txBody>
      </p:sp>
    </p:spTree>
    <p:extLst>
      <p:ext uri="{BB962C8B-B14F-4D97-AF65-F5344CB8AC3E}">
        <p14:creationId xmlns:p14="http://schemas.microsoft.com/office/powerpoint/2010/main" val="4403658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5649740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f1b08c610_0_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5f1b08c610_0_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5f1b08c610_0_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450355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692827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678263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61250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56</a:t>
            </a:fld>
            <a:endParaRPr/>
          </a:p>
        </p:txBody>
      </p:sp>
    </p:spTree>
    <p:extLst>
      <p:ext uri="{BB962C8B-B14F-4D97-AF65-F5344CB8AC3E}">
        <p14:creationId xmlns:p14="http://schemas.microsoft.com/office/powerpoint/2010/main" val="24150052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57</a:t>
            </a:fld>
            <a:endParaRPr/>
          </a:p>
        </p:txBody>
      </p:sp>
    </p:spTree>
    <p:extLst>
      <p:ext uri="{BB962C8B-B14F-4D97-AF65-F5344CB8AC3E}">
        <p14:creationId xmlns:p14="http://schemas.microsoft.com/office/powerpoint/2010/main" val="16600084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7682447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59</a:t>
            </a:fld>
            <a:endParaRPr/>
          </a:p>
        </p:txBody>
      </p:sp>
    </p:spTree>
    <p:extLst>
      <p:ext uri="{BB962C8B-B14F-4D97-AF65-F5344CB8AC3E}">
        <p14:creationId xmlns:p14="http://schemas.microsoft.com/office/powerpoint/2010/main" val="18328489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347238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310838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21004440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63</a:t>
            </a:fld>
            <a:endParaRPr sz="1200">
              <a:latin typeface="Calibri"/>
              <a:ea typeface="Calibri"/>
              <a:cs typeface="Calibri"/>
              <a:sym typeface="Calibri"/>
            </a:endParaRPr>
          </a:p>
        </p:txBody>
      </p:sp>
    </p:spTree>
    <p:extLst>
      <p:ext uri="{BB962C8B-B14F-4D97-AF65-F5344CB8AC3E}">
        <p14:creationId xmlns:p14="http://schemas.microsoft.com/office/powerpoint/2010/main" val="38662090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12981403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65</a:t>
            </a:fld>
            <a:endParaRPr sz="1200">
              <a:latin typeface="Calibri"/>
              <a:ea typeface="Calibri"/>
              <a:cs typeface="Calibri"/>
              <a:sym typeface="Calibri"/>
            </a:endParaRPr>
          </a:p>
        </p:txBody>
      </p:sp>
    </p:spTree>
    <p:extLst>
      <p:ext uri="{BB962C8B-B14F-4D97-AF65-F5344CB8AC3E}">
        <p14:creationId xmlns:p14="http://schemas.microsoft.com/office/powerpoint/2010/main" val="19009061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66</a:t>
            </a:fld>
            <a:endParaRPr sz="1200">
              <a:latin typeface="Calibri"/>
              <a:ea typeface="Calibri"/>
              <a:cs typeface="Calibri"/>
              <a:sym typeface="Calibri"/>
            </a:endParaRPr>
          </a:p>
        </p:txBody>
      </p:sp>
    </p:spTree>
    <p:extLst>
      <p:ext uri="{BB962C8B-B14F-4D97-AF65-F5344CB8AC3E}">
        <p14:creationId xmlns:p14="http://schemas.microsoft.com/office/powerpoint/2010/main" val="3766612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176273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49547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en-VN" sz="1200" smtClean="0">
                <a:solidFill>
                  <a:schemeClr val="bg1"/>
                </a:solidFill>
                <a:latin typeface="Exo"/>
              </a:rPr>
              <a:t>‹#›</a:t>
            </a:fld>
            <a:endParaRPr lang="en-VN"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2140620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7/20/2025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54" r:id="rId11"/>
    <p:sldLayoutId id="214748375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chart" Target="../charts/char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17.jpg"/><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chart" Target="../charts/char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29</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14/07/2025</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07</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4000000}"/>
              </a:ext>
            </a:extLst>
          </p:cNvPr>
          <p:cNvGraphicFramePr>
            <a:graphicFrameLocks/>
          </p:cNvGraphicFramePr>
          <p:nvPr/>
        </p:nvGraphicFramePr>
        <p:xfrm>
          <a:off x="6340994" y="963939"/>
          <a:ext cx="4176910" cy="22913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900-000005000000}"/>
              </a:ext>
            </a:extLst>
          </p:cNvPr>
          <p:cNvGraphicFramePr>
            <a:graphicFrameLocks/>
          </p:cNvGraphicFramePr>
          <p:nvPr/>
        </p:nvGraphicFramePr>
        <p:xfrm>
          <a:off x="1668110" y="3609756"/>
          <a:ext cx="4098452" cy="22913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00000000-0008-0000-0900-00000F000000}"/>
              </a:ext>
            </a:extLst>
          </p:cNvPr>
          <p:cNvGraphicFramePr>
            <a:graphicFrameLocks/>
          </p:cNvGraphicFramePr>
          <p:nvPr/>
        </p:nvGraphicFramePr>
        <p:xfrm>
          <a:off x="1700609" y="948130"/>
          <a:ext cx="4117501" cy="22913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8347F7AA-5E77-475C-B68E-49E6EF5DA0A7}"/>
              </a:ext>
            </a:extLst>
          </p:cNvPr>
          <p:cNvGraphicFramePr>
            <a:graphicFrameLocks/>
          </p:cNvGraphicFramePr>
          <p:nvPr/>
        </p:nvGraphicFramePr>
        <p:xfrm>
          <a:off x="6346980" y="3618485"/>
          <a:ext cx="4176910" cy="229138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1788897272"/>
              </p:ext>
            </p:extLst>
          </p:nvPr>
        </p:nvGraphicFramePr>
        <p:xfrm>
          <a:off x="1296111" y="914400"/>
          <a:ext cx="9599778" cy="26613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626138957"/>
              </p:ext>
            </p:extLst>
          </p:nvPr>
        </p:nvGraphicFramePr>
        <p:xfrm>
          <a:off x="1294351" y="3743609"/>
          <a:ext cx="9589473" cy="265994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0</a:t>
            </a:r>
            <a:r>
              <a:rPr lang="en-US" b="1">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3" name="Table 2">
            <a:extLst>
              <a:ext uri="{FF2B5EF4-FFF2-40B4-BE49-F238E27FC236}">
                <a16:creationId xmlns:a16="http://schemas.microsoft.com/office/drawing/2014/main" id="{EF045C3F-C571-552E-A142-F0F148F2AE40}"/>
              </a:ext>
            </a:extLst>
          </p:cNvPr>
          <p:cNvGraphicFramePr>
            <a:graphicFrameLocks noGrp="1"/>
          </p:cNvGraphicFramePr>
          <p:nvPr/>
        </p:nvGraphicFramePr>
        <p:xfrm>
          <a:off x="333918" y="1066800"/>
          <a:ext cx="11477081" cy="5469297"/>
        </p:xfrm>
        <a:graphic>
          <a:graphicData uri="http://schemas.openxmlformats.org/drawingml/2006/table">
            <a:tbl>
              <a:tblPr/>
              <a:tblGrid>
                <a:gridCol w="280469">
                  <a:extLst>
                    <a:ext uri="{9D8B030D-6E8A-4147-A177-3AD203B41FA5}">
                      <a16:colId xmlns:a16="http://schemas.microsoft.com/office/drawing/2014/main" val="2366791199"/>
                    </a:ext>
                  </a:extLst>
                </a:gridCol>
                <a:gridCol w="280469">
                  <a:extLst>
                    <a:ext uri="{9D8B030D-6E8A-4147-A177-3AD203B41FA5}">
                      <a16:colId xmlns:a16="http://schemas.microsoft.com/office/drawing/2014/main" val="380038728"/>
                    </a:ext>
                  </a:extLst>
                </a:gridCol>
                <a:gridCol w="568318">
                  <a:extLst>
                    <a:ext uri="{9D8B030D-6E8A-4147-A177-3AD203B41FA5}">
                      <a16:colId xmlns:a16="http://schemas.microsoft.com/office/drawing/2014/main" val="1816131003"/>
                    </a:ext>
                  </a:extLst>
                </a:gridCol>
                <a:gridCol w="376419">
                  <a:extLst>
                    <a:ext uri="{9D8B030D-6E8A-4147-A177-3AD203B41FA5}">
                      <a16:colId xmlns:a16="http://schemas.microsoft.com/office/drawing/2014/main" val="2452487512"/>
                    </a:ext>
                  </a:extLst>
                </a:gridCol>
                <a:gridCol w="811884">
                  <a:extLst>
                    <a:ext uri="{9D8B030D-6E8A-4147-A177-3AD203B41FA5}">
                      <a16:colId xmlns:a16="http://schemas.microsoft.com/office/drawing/2014/main" val="4125799252"/>
                    </a:ext>
                  </a:extLst>
                </a:gridCol>
                <a:gridCol w="376419">
                  <a:extLst>
                    <a:ext uri="{9D8B030D-6E8A-4147-A177-3AD203B41FA5}">
                      <a16:colId xmlns:a16="http://schemas.microsoft.com/office/drawing/2014/main" val="355767024"/>
                    </a:ext>
                  </a:extLst>
                </a:gridCol>
                <a:gridCol w="2834211">
                  <a:extLst>
                    <a:ext uri="{9D8B030D-6E8A-4147-A177-3AD203B41FA5}">
                      <a16:colId xmlns:a16="http://schemas.microsoft.com/office/drawing/2014/main" val="17026393"/>
                    </a:ext>
                  </a:extLst>
                </a:gridCol>
                <a:gridCol w="2088755">
                  <a:extLst>
                    <a:ext uri="{9D8B030D-6E8A-4147-A177-3AD203B41FA5}">
                      <a16:colId xmlns:a16="http://schemas.microsoft.com/office/drawing/2014/main" val="2734111180"/>
                    </a:ext>
                  </a:extLst>
                </a:gridCol>
                <a:gridCol w="280469">
                  <a:extLst>
                    <a:ext uri="{9D8B030D-6E8A-4147-A177-3AD203B41FA5}">
                      <a16:colId xmlns:a16="http://schemas.microsoft.com/office/drawing/2014/main" val="2067814126"/>
                    </a:ext>
                  </a:extLst>
                </a:gridCol>
                <a:gridCol w="3579668">
                  <a:extLst>
                    <a:ext uri="{9D8B030D-6E8A-4147-A177-3AD203B41FA5}">
                      <a16:colId xmlns:a16="http://schemas.microsoft.com/office/drawing/2014/main" val="3875828855"/>
                    </a:ext>
                  </a:extLst>
                </a:gridCol>
              </a:tblGrid>
              <a:tr h="98055">
                <a:tc>
                  <a:txBody>
                    <a:bodyPr/>
                    <a:lstStyle/>
                    <a:p>
                      <a:pPr algn="ctr" fontAlgn="t">
                        <a:buNone/>
                      </a:pPr>
                      <a:r>
                        <a:rPr lang="en-US" sz="600" b="0" i="0" u="none" strike="noStrike">
                          <a:solidFill>
                            <a:srgbClr val="000000"/>
                          </a:solidFill>
                          <a:effectLst/>
                          <a:latin typeface="Calibri" panose="020F0502020204030204" pitchFamily="34" charset="0"/>
                        </a:rPr>
                        <a:t>A/C</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STA</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FLIGHT NO</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ROUTE</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DATE</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EVENT</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REASON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ACTION TAKEN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ATA</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Engineering Assessment</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701666051"/>
                  </a:ext>
                </a:extLst>
              </a:tr>
              <a:tr h="1372776">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A604</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SGN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VN648</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SGNMNL</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23:50 17/07/2025</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OGTB</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[GTB] AFT CARGO HEAT FAULT, AFT CARGO ISO VALVE FAULT  AFTER PUSHBACK CAPT REPORT VIA VHF: AFT CARGO HEAT FAULT, AFT CARGO ISO VALVE FAULT.</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 TSV ADVICE RESET BUT NIL HELP. A/C CARRING LIVE ANIMALS. CAPT DECIDED GTB FOR RECTIFY.</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00:15 AFTER PUSHBACK CAPT REPORT VIA VHF: AFT CARGO HEAT FAULT, AFT CARGO ISO VALVE FAULT. TSV ADVICE RESET BUT NIL HELP. A/C CARRING LIVE ANIMALS. CAPT DECIDED GTB FOR RECTIFY</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00:30 RESET C/B SATIS. MSG GONE</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00:40 DUE TO A/C CARRING LIVE ANIMALS; DEFECT HAPPEN AGAIN, MCC ISSUED WO 7560879 ROB CONTROLLER HEAT FROM A509 TO SERVICE A604</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01:10 FINAL ACTION: RPLD CONTROLLER HEAT 10HC (ROBBED FROM A509 TO SERVICE A604). CHECK SATIS</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01:12 DOORS CLOSED TIMELINE (LCT) EVENT CLOSED ACTION: RPLD CONTROLLER HEAT 10HC (ROBBED FROM A509 TO SERVICE A604). CHECK SATIS. TOTAL DELAY 87 MINS, TECH DELAY 30 MINS (DELAY KT 00:40-01:10) </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 </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800" b="0" i="0" u="none" strike="noStrike" dirty="0">
                          <a:solidFill>
                            <a:srgbClr val="000000"/>
                          </a:solidFill>
                          <a:effectLst/>
                          <a:latin typeface="+mn-lt"/>
                          <a:cs typeface="Times New Roman" panose="02020603050405020304" pitchFamily="18" charset="0"/>
                        </a:rPr>
                        <a:t>Khối CHC trên A604 đã khai thác được hơn 27k FH và chưa hỏng lần nào. Theo thống kê hỏng hóc thì khối CHC 600611-00-601 trong 05 năm gần đây chỉ tháo năm 2023 (5 lần) và 2025 (2 lần). Hiện AIB không có topic nào liên quan đến ĐTC của khối này và không có chương trình nâng cấp. Ngoài ra do chuyến bay có chở động vật tươi sống nên tàu phải quay lại để khắc phục. Tiếp tục theo dõi thêm</a:t>
                      </a:r>
                    </a:p>
                    <a:p>
                      <a:pPr algn="l" fontAlgn="t">
                        <a:buNone/>
                      </a:pP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3399248"/>
                  </a:ext>
                </a:extLst>
              </a:tr>
              <a:tr h="1863053">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A890</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SGN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VN246</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 </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11:50 19/07/2025</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OGTB</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DURING PUSHBACK CANNOT START ENG 2 A/C WAS TOWED BACK TO BAY 34 BY TRACTOR</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CHECK ENG 2 FOUND STARTER DAMAGED, NIL SPARE AT SGN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DUE TO A890 AOG “ENG 2 CAN NOT START”</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OCC CHANGE A888 FLY VN246 INSTEAD OF A890.</a:t>
                      </a:r>
                      <a:br>
                        <a:rPr lang="en-US" sz="800" b="0" i="0" u="none" strike="noStrike">
                          <a:solidFill>
                            <a:srgbClr val="000000"/>
                          </a:solidFill>
                          <a:effectLst/>
                          <a:latin typeface="Times New Roman" panose="02020603050405020304" pitchFamily="18" charset="0"/>
                          <a:cs typeface="Times New Roman" panose="02020603050405020304" pitchFamily="18" charset="0"/>
                        </a:rPr>
                      </a:br>
                      <a:r>
                        <a:rPr lang="en-US" sz="800" b="0" i="0" u="none" strike="noStrike">
                          <a:solidFill>
                            <a:srgbClr val="000000"/>
                          </a:solidFill>
                          <a:effectLst/>
                          <a:latin typeface="Times New Roman" panose="02020603050405020304" pitchFamily="18" charset="0"/>
                          <a:cs typeface="Times New Roman" panose="02020603050405020304" pitchFamily="18" charset="0"/>
                        </a:rPr>
                        <a:t>A888 VN246 TOTAL DELAY: 163 MINS, DELAY KT: 37 MINS</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 </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800" b="0" i="0" u="none" strike="noStrike" dirty="0">
                          <a:solidFill>
                            <a:srgbClr val="000000"/>
                          </a:solidFill>
                          <a:effectLst/>
                          <a:latin typeface="Times New Roman" panose="02020603050405020304" pitchFamily="18" charset="0"/>
                          <a:cs typeface="Times New Roman" panose="02020603050405020304" pitchFamily="18" charset="0"/>
                        </a:rPr>
                        <a:t>A890#2 ESN 21136</a:t>
                      </a: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r>
                        <a:rPr lang="vi-VN" sz="800" b="0" i="0" u="none" strike="noStrike" dirty="0">
                          <a:solidFill>
                            <a:srgbClr val="000000"/>
                          </a:solidFill>
                          <a:effectLst/>
                          <a:latin typeface="Times New Roman" panose="02020603050405020304" pitchFamily="18" charset="0"/>
                          <a:cs typeface="Times New Roman" panose="02020603050405020304" pitchFamily="18" charset="0"/>
                        </a:rPr>
                        <a:t>Sau khi tàu bay quay lại bãi 34, VAECO đã T/S và xác định hỏng hóc Starter động cơ số 2. </a:t>
                      </a: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r>
                        <a:rPr lang="vi-VN" sz="800" b="0" i="0" u="none" strike="noStrike" dirty="0">
                          <a:solidFill>
                            <a:srgbClr val="000000"/>
                          </a:solidFill>
                          <a:effectLst/>
                          <a:latin typeface="Times New Roman" panose="02020603050405020304" pitchFamily="18" charset="0"/>
                          <a:cs typeface="Times New Roman" panose="02020603050405020304" pitchFamily="18" charset="0"/>
                        </a:rPr>
                        <a:t>Hỏng hóc Starter đã xảy ra nhiều lần trên đội bay VNA, xuất hiện từ khi mới nhận tàu, vẫn được NSX xác định nguyên nhân do lỗi Oil Servicing, thừa hoặc thiếu oil đều sẽ gây ra hỏng hóc. </a:t>
                      </a: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r>
                        <a:rPr lang="vi-VN" sz="800" b="0" i="0" u="none" strike="noStrike" dirty="0">
                          <a:solidFill>
                            <a:srgbClr val="000000"/>
                          </a:solidFill>
                          <a:effectLst/>
                          <a:latin typeface="Times New Roman" panose="02020603050405020304" pitchFamily="18" charset="0"/>
                          <a:cs typeface="Times New Roman" panose="02020603050405020304" pitchFamily="18" charset="0"/>
                        </a:rPr>
                        <a:t>Đối với Starter tàu A890: dù khối đã được sử dụng trong thời gian dài (TSO = 28284 FH), tuy nhiên trước khi thay động cơ và thực hiện Oil Servicing ngày 17/07 khối hoạt động bình thường, kiểm tra MCD tần suất không phát hiện hỏng hóc. Sau đó 02 ngày vào 19/07 trong event A890, kiểm tra MCD đã phát hiện nhiều mạt kim loại. Hiện tượng này giống với một số hỏng hóc Starter trước đây do lỗi Oil Servicing, do đó nghi ngờ hỏng hóc trên A890 có cùng nguyên nhân.</a:t>
                      </a: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r>
                        <a:rPr lang="vi-VN" sz="800" b="0" i="0" u="none" strike="noStrike" dirty="0">
                          <a:solidFill>
                            <a:srgbClr val="000000"/>
                          </a:solidFill>
                          <a:effectLst/>
                          <a:latin typeface="Times New Roman" panose="02020603050405020304" pitchFamily="18" charset="0"/>
                          <a:cs typeface="Times New Roman" panose="02020603050405020304" pitchFamily="18" charset="0"/>
                        </a:rPr>
                        <a:t>Hiện NSX đưa ra giải pháp phòng ngừa duy nhất là đảm bảo việc Service Oil được thực hiện chuẩn xác. Tất cả các khuyến cáo của NSX đều đã được VNA/VAECO tuân thủ. VNA đã phối hợp với VAECO ban hành TM yêu cầu thực hiện quy trình Servicing chặt hơn so với AMM. Mặc dù góp phần giảm được số sự vụ, tuy nhiên vẫn không phòng tránh được hoàn toàn vấn đề.   </a:t>
                      </a: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r>
                        <a:rPr lang="vi-VN" sz="800" b="0" i="0" u="none" strike="noStrike" dirty="0">
                          <a:solidFill>
                            <a:srgbClr val="000000"/>
                          </a:solidFill>
                          <a:effectLst/>
                          <a:latin typeface="Times New Roman" panose="02020603050405020304" pitchFamily="18" charset="0"/>
                          <a:cs typeface="Times New Roman" panose="02020603050405020304" pitchFamily="18" charset="0"/>
                        </a:rPr>
                        <a:t>Từ 09/12/24 VNA đã triển khai chương trình kiểm tra tăng cường Starter MCD với tần suất 375FH với mục tiêu phát hiện sớm rủi ro hỏng hóc để gửi Starter đi bảo dưỡng sớm và đã có hiệu quả: phát hiện sớm và chủ động thay thế 2 trường hợp Starter hỏng trên tàu A896 (T4/2025) và A891 (T5/2025); đồng thời từ tháng 12/2024 đến 07/2025 chỉ có trường hợp A890 gây OI. Tuy nhiên các khối Starter gửi đi sửa chữa vẫn phát hiện hỏng hóc nặng, do đó từ 17/07/25 VNA đã yêu cầu tăng tần suất kiểm tra chủ động MCD thành 250 FH</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6840484"/>
                  </a:ext>
                </a:extLst>
              </a:tr>
            </a:tbl>
          </a:graphicData>
        </a:graphic>
      </p:graphicFrame>
    </p:spTree>
    <p:custDataLst>
      <p:tags r:id="rId1"/>
    </p:custDataLst>
    <p:extLst>
      <p:ext uri="{BB962C8B-B14F-4D97-AF65-F5344CB8AC3E}">
        <p14:creationId xmlns:p14="http://schemas.microsoft.com/office/powerpoint/2010/main" val="254427446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82901-0AA7-7AB6-CE07-E348552465E7}"/>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57C049F-D1A1-230C-9914-97F90EB7817F}"/>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A06F38FD-B193-166C-D962-5AA3E116E2F6}"/>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137D9F98-9023-6AA6-702F-1AB4EFC8F4AB}"/>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0</a:t>
            </a:r>
            <a:r>
              <a:rPr lang="en-US" b="1">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2</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7410EAFF-338F-BB5A-71B5-AF8F5F615E0E}"/>
              </a:ext>
            </a:extLst>
          </p:cNvPr>
          <p:cNvGraphicFramePr>
            <a:graphicFrameLocks noGrp="1"/>
          </p:cNvGraphicFramePr>
          <p:nvPr>
            <p:extLst>
              <p:ext uri="{D42A27DB-BD31-4B8C-83A1-F6EECF244321}">
                <p14:modId xmlns:p14="http://schemas.microsoft.com/office/powerpoint/2010/main" val="3966468663"/>
              </p:ext>
            </p:extLst>
          </p:nvPr>
        </p:nvGraphicFramePr>
        <p:xfrm>
          <a:off x="304800" y="1477696"/>
          <a:ext cx="11491642" cy="3454236"/>
        </p:xfrm>
        <a:graphic>
          <a:graphicData uri="http://schemas.openxmlformats.org/drawingml/2006/table">
            <a:tbl>
              <a:tblPr/>
              <a:tblGrid>
                <a:gridCol w="369365">
                  <a:extLst>
                    <a:ext uri="{9D8B030D-6E8A-4147-A177-3AD203B41FA5}">
                      <a16:colId xmlns:a16="http://schemas.microsoft.com/office/drawing/2014/main" val="3167761603"/>
                    </a:ext>
                  </a:extLst>
                </a:gridCol>
                <a:gridCol w="278607">
                  <a:extLst>
                    <a:ext uri="{9D8B030D-6E8A-4147-A177-3AD203B41FA5}">
                      <a16:colId xmlns:a16="http://schemas.microsoft.com/office/drawing/2014/main" val="1256969255"/>
                    </a:ext>
                  </a:extLst>
                </a:gridCol>
                <a:gridCol w="564545">
                  <a:extLst>
                    <a:ext uri="{9D8B030D-6E8A-4147-A177-3AD203B41FA5}">
                      <a16:colId xmlns:a16="http://schemas.microsoft.com/office/drawing/2014/main" val="3344442444"/>
                    </a:ext>
                  </a:extLst>
                </a:gridCol>
                <a:gridCol w="373920">
                  <a:extLst>
                    <a:ext uri="{9D8B030D-6E8A-4147-A177-3AD203B41FA5}">
                      <a16:colId xmlns:a16="http://schemas.microsoft.com/office/drawing/2014/main" val="1558420115"/>
                    </a:ext>
                  </a:extLst>
                </a:gridCol>
                <a:gridCol w="806494">
                  <a:extLst>
                    <a:ext uri="{9D8B030D-6E8A-4147-A177-3AD203B41FA5}">
                      <a16:colId xmlns:a16="http://schemas.microsoft.com/office/drawing/2014/main" val="367431861"/>
                    </a:ext>
                  </a:extLst>
                </a:gridCol>
                <a:gridCol w="373920">
                  <a:extLst>
                    <a:ext uri="{9D8B030D-6E8A-4147-A177-3AD203B41FA5}">
                      <a16:colId xmlns:a16="http://schemas.microsoft.com/office/drawing/2014/main" val="2733811090"/>
                    </a:ext>
                  </a:extLst>
                </a:gridCol>
                <a:gridCol w="2815394">
                  <a:extLst>
                    <a:ext uri="{9D8B030D-6E8A-4147-A177-3AD203B41FA5}">
                      <a16:colId xmlns:a16="http://schemas.microsoft.com/office/drawing/2014/main" val="3789349471"/>
                    </a:ext>
                  </a:extLst>
                </a:gridCol>
                <a:gridCol w="2074888">
                  <a:extLst>
                    <a:ext uri="{9D8B030D-6E8A-4147-A177-3AD203B41FA5}">
                      <a16:colId xmlns:a16="http://schemas.microsoft.com/office/drawing/2014/main" val="776629124"/>
                    </a:ext>
                  </a:extLst>
                </a:gridCol>
                <a:gridCol w="278607">
                  <a:extLst>
                    <a:ext uri="{9D8B030D-6E8A-4147-A177-3AD203B41FA5}">
                      <a16:colId xmlns:a16="http://schemas.microsoft.com/office/drawing/2014/main" val="1897392830"/>
                    </a:ext>
                  </a:extLst>
                </a:gridCol>
                <a:gridCol w="3555902">
                  <a:extLst>
                    <a:ext uri="{9D8B030D-6E8A-4147-A177-3AD203B41FA5}">
                      <a16:colId xmlns:a16="http://schemas.microsoft.com/office/drawing/2014/main" val="136136987"/>
                    </a:ext>
                  </a:extLst>
                </a:gridCol>
              </a:tblGrid>
              <a:tr h="98055">
                <a:tc>
                  <a:txBody>
                    <a:bodyPr/>
                    <a:lstStyle/>
                    <a:p>
                      <a:pPr algn="ctr" fontAlgn="t">
                        <a:buNone/>
                      </a:pPr>
                      <a:r>
                        <a:rPr lang="en-US" sz="600" b="0" i="0" u="none" strike="noStrike">
                          <a:solidFill>
                            <a:srgbClr val="000000"/>
                          </a:solidFill>
                          <a:effectLst/>
                          <a:latin typeface="Calibri" panose="020F0502020204030204" pitchFamily="34" charset="0"/>
                        </a:rPr>
                        <a:t>A/C</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STA</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FLIGHT NO</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ROUTE</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DATE</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EVENT</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REASON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ACTION TAKEN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ATA</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600" b="0" i="0" u="none" strike="noStrike">
                          <a:solidFill>
                            <a:srgbClr val="000000"/>
                          </a:solidFill>
                          <a:effectLst/>
                          <a:latin typeface="Calibri" panose="020F0502020204030204" pitchFamily="34" charset="0"/>
                        </a:rPr>
                        <a:t>Engineering Assessment</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77688798"/>
                  </a:ext>
                </a:extLst>
              </a:tr>
              <a:tr h="1568887">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B221</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OV8057</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14:00 20/07/2025</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IFTB</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CAPT INFORM THE AFCS (AUTOMATIC FLIGHT CONTROL SYSTEM) IS CURRENTLY MALFUNCTIONING INTERMITTENTLY, DEFECT CAN BE RAISE MEL  AND WEATHER CONDITIONS AT VCS ARE DETERIORATING AND DO NOT MEET THE MINIMUM REQUIRED FOR A SAFE LANDING. CAPT DECIDED ATB TO SGN</a:t>
                      </a:r>
                      <a:br>
                        <a:rPr lang="en-US" sz="1000" b="0" i="0" u="none" strike="noStrike">
                          <a:solidFill>
                            <a:srgbClr val="000000"/>
                          </a:solidFill>
                          <a:effectLst/>
                          <a:latin typeface="Times New Roman" panose="02020603050405020304" pitchFamily="18" charset="0"/>
                          <a:cs typeface="Times New Roman" panose="02020603050405020304" pitchFamily="18" charset="0"/>
                        </a:rPr>
                      </a:b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A/C ATB</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CAPT REPORT:  AP DISCONNECT AND  DADC INVALID (DEFECT CAN BE APPLY MEL),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CAPT DECIDED ATB TO SGN  DUE TO BAD WEATHER AT VCS STATION, A/C CAN NOT LANDING , </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AFCS COMPUTER RPLD</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Times New Roman" panose="02020603050405020304" pitchFamily="18" charset="0"/>
                          <a:cs typeface="Times New Roman" panose="02020603050405020304" pitchFamily="18" charset="0"/>
                        </a:rPr>
                        <a:t>Nguyên nhân:</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Hỏng hóc AFCS có 2 nguyên nhân chính:</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Do máy tính AFCS cao tuổi, hỏng hóc do các linh kiện như tụ điện, điện trở… bị lão hoá, thông thường khối có TSN/CSN khoảng 20000FH/23000FC sẽ hỏng do lão hóa. B221 có TSN/CSN 21029FH/24812FC</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Hỏng hóc intermittent hoặc NFF:</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Khả năng hỏng hóc chập chờn do hỏng dây điện vị trí 5024VC &amp; 5045VC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Auto Pilot (AP) actuator connectors có thể bị heavily corroded</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Giải pháp:</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Với thiết bị cao tuổi, hiện không có giải pháp triệt để, khi hỏng có thể Raise MEL tiếp tục khai thác</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Với hỏng hóc intermitten hoặc NFF:</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Đã triển khai EOD-ATR-22-00-0001-R00 theo S0071824 để kiểm tra và sửa chữa vị trí 5024VC &amp; 5045VC nếu cần, đã thực hiện xong (tàu cuối – B221 23/6/25, không phát hiện bất thường)</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 Thực hiện MP ATR-A-22-16-XX-00ZZZ-281Z-A Scheduled inspection of the auto pilot (AP) actuators, connectors and cables theo AMP tần suất 01 năm (B221 thực hiện 5/1/25) =&gt; Với môi trường khai thác hiện tại của tàu ATR, Ban KT sẽ làm việc với VAECO để đánh giá giảm tần suất này xuống 06 tháng nếu cần</a:t>
                      </a:r>
                    </a:p>
                  </a:txBody>
                  <a:tcPr marL="3381" marR="3381" marT="338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21543928"/>
                  </a:ext>
                </a:extLst>
              </a:tr>
            </a:tbl>
          </a:graphicData>
        </a:graphic>
      </p:graphicFrame>
    </p:spTree>
    <p:custDataLst>
      <p:tags r:id="rId1"/>
    </p:custDataLst>
    <p:extLst>
      <p:ext uri="{BB962C8B-B14F-4D97-AF65-F5344CB8AC3E}">
        <p14:creationId xmlns:p14="http://schemas.microsoft.com/office/powerpoint/2010/main" val="370635751"/>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5" name="TextBox 4">
            <a:extLst>
              <a:ext uri="{FF2B5EF4-FFF2-40B4-BE49-F238E27FC236}">
                <a16:creationId xmlns:a16="http://schemas.microsoft.com/office/drawing/2014/main" id="{92DF34E4-5EAF-DD7F-DEE2-26E7FBD9CDA2}"/>
              </a:ext>
            </a:extLst>
          </p:cNvPr>
          <p:cNvSpPr txBox="1"/>
          <p:nvPr/>
        </p:nvSpPr>
        <p:spPr>
          <a:xfrm>
            <a:off x="380214" y="2016042"/>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10" name="Table 9"/>
          <p:cNvGraphicFramePr>
            <a:graphicFrameLocks noGrp="1"/>
          </p:cNvGraphicFramePr>
          <p:nvPr>
            <p:extLst>
              <p:ext uri="{D42A27DB-BD31-4B8C-83A1-F6EECF244321}">
                <p14:modId xmlns:p14="http://schemas.microsoft.com/office/powerpoint/2010/main" val="1438942326"/>
              </p:ext>
            </p:extLst>
          </p:nvPr>
        </p:nvGraphicFramePr>
        <p:xfrm>
          <a:off x="381000" y="1121945"/>
          <a:ext cx="11383818" cy="699904"/>
        </p:xfrm>
        <a:graphic>
          <a:graphicData uri="http://schemas.openxmlformats.org/drawingml/2006/table">
            <a:tbl>
              <a:tblPr/>
              <a:tblGrid>
                <a:gridCol w="417031">
                  <a:extLst>
                    <a:ext uri="{9D8B030D-6E8A-4147-A177-3AD203B41FA5}">
                      <a16:colId xmlns:a16="http://schemas.microsoft.com/office/drawing/2014/main" val="20000"/>
                    </a:ext>
                  </a:extLst>
                </a:gridCol>
                <a:gridCol w="518471">
                  <a:extLst>
                    <a:ext uri="{9D8B030D-6E8A-4147-A177-3AD203B41FA5}">
                      <a16:colId xmlns:a16="http://schemas.microsoft.com/office/drawing/2014/main" val="20001"/>
                    </a:ext>
                  </a:extLst>
                </a:gridCol>
                <a:gridCol w="371947">
                  <a:extLst>
                    <a:ext uri="{9D8B030D-6E8A-4147-A177-3AD203B41FA5}">
                      <a16:colId xmlns:a16="http://schemas.microsoft.com/office/drawing/2014/main" val="20002"/>
                    </a:ext>
                  </a:extLst>
                </a:gridCol>
                <a:gridCol w="1127111">
                  <a:extLst>
                    <a:ext uri="{9D8B030D-6E8A-4147-A177-3AD203B41FA5}">
                      <a16:colId xmlns:a16="http://schemas.microsoft.com/office/drawing/2014/main" val="20003"/>
                    </a:ext>
                  </a:extLst>
                </a:gridCol>
                <a:gridCol w="383217">
                  <a:extLst>
                    <a:ext uri="{9D8B030D-6E8A-4147-A177-3AD203B41FA5}">
                      <a16:colId xmlns:a16="http://schemas.microsoft.com/office/drawing/2014/main" val="20004"/>
                    </a:ext>
                  </a:extLst>
                </a:gridCol>
                <a:gridCol w="935502">
                  <a:extLst>
                    <a:ext uri="{9D8B030D-6E8A-4147-A177-3AD203B41FA5}">
                      <a16:colId xmlns:a16="http://schemas.microsoft.com/office/drawing/2014/main" val="20005"/>
                    </a:ext>
                  </a:extLst>
                </a:gridCol>
                <a:gridCol w="642453">
                  <a:extLst>
                    <a:ext uri="{9D8B030D-6E8A-4147-A177-3AD203B41FA5}">
                      <a16:colId xmlns:a16="http://schemas.microsoft.com/office/drawing/2014/main" val="20006"/>
                    </a:ext>
                  </a:extLst>
                </a:gridCol>
                <a:gridCol w="755164">
                  <a:extLst>
                    <a:ext uri="{9D8B030D-6E8A-4147-A177-3AD203B41FA5}">
                      <a16:colId xmlns:a16="http://schemas.microsoft.com/office/drawing/2014/main" val="20007"/>
                    </a:ext>
                  </a:extLst>
                </a:gridCol>
                <a:gridCol w="2344390">
                  <a:extLst>
                    <a:ext uri="{9D8B030D-6E8A-4147-A177-3AD203B41FA5}">
                      <a16:colId xmlns:a16="http://schemas.microsoft.com/office/drawing/2014/main" val="20008"/>
                    </a:ext>
                  </a:extLst>
                </a:gridCol>
                <a:gridCol w="3888532">
                  <a:extLst>
                    <a:ext uri="{9D8B030D-6E8A-4147-A177-3AD203B41FA5}">
                      <a16:colId xmlns:a16="http://schemas.microsoft.com/office/drawing/2014/main" val="20009"/>
                    </a:ext>
                  </a:extLst>
                </a:gridCol>
              </a:tblGrid>
              <a:tr h="228143">
                <a:tc>
                  <a:txBody>
                    <a:bodyPr/>
                    <a:lstStyle/>
                    <a:p>
                      <a:pPr algn="ctr" fontAlgn="ctr"/>
                      <a:r>
                        <a:rPr lang="en-US" sz="1000" b="1" i="0" u="none" strike="noStrike" dirty="0">
                          <a:solidFill>
                            <a:srgbClr val="000000"/>
                          </a:solidFill>
                          <a:effectLst/>
                          <a:latin typeface="Times New Roman" panose="02020603050405020304" pitchFamily="18" charset="0"/>
                        </a:rPr>
                        <a:t>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FLEET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A/C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DATE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STA</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MINUTES</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FLIGHT 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ROUTINE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DESC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dirty="0">
                          <a:solidFill>
                            <a:srgbClr val="000000"/>
                          </a:solidFill>
                          <a:effectLst/>
                          <a:latin typeface="Times New Roman" panose="02020603050405020304" pitchFamily="18" charset="0"/>
                        </a:rPr>
                        <a:t>DELAY ACTION</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88857">
                <a:tc>
                  <a:txBody>
                    <a:bodyPr/>
                    <a:lstStyle/>
                    <a:p>
                      <a:pPr algn="r" fontAlgn="ctr"/>
                      <a:r>
                        <a:rPr lang="en-US" sz="1200" b="0" i="0" u="none" strike="noStrike" dirty="0">
                          <a:solidFill>
                            <a:srgbClr val="000000"/>
                          </a:solidFill>
                          <a:effectLst/>
                          <a:latin typeface="Times New Roman" panose="02020603050405020304" pitchFamily="18" charset="0"/>
                        </a:rPr>
                        <a:t>Nil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200" b="0" i="0" u="none" strike="noStrike" dirty="0">
                        <a:solidFill>
                          <a:srgbClr val="000000"/>
                        </a:solidFill>
                        <a:effectLst/>
                        <a:latin typeface="Times New Roman" panose="02020603050405020304"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567243990"/>
              </p:ext>
            </p:extLst>
          </p:nvPr>
        </p:nvGraphicFramePr>
        <p:xfrm>
          <a:off x="404091" y="2354598"/>
          <a:ext cx="11383817" cy="4484184"/>
        </p:xfrm>
        <a:graphic>
          <a:graphicData uri="http://schemas.openxmlformats.org/drawingml/2006/table">
            <a:tbl>
              <a:tblPr/>
              <a:tblGrid>
                <a:gridCol w="249099">
                  <a:extLst>
                    <a:ext uri="{9D8B030D-6E8A-4147-A177-3AD203B41FA5}">
                      <a16:colId xmlns:a16="http://schemas.microsoft.com/office/drawing/2014/main" val="1307524450"/>
                    </a:ext>
                  </a:extLst>
                </a:gridCol>
                <a:gridCol w="473288">
                  <a:extLst>
                    <a:ext uri="{9D8B030D-6E8A-4147-A177-3AD203B41FA5}">
                      <a16:colId xmlns:a16="http://schemas.microsoft.com/office/drawing/2014/main" val="4088859418"/>
                    </a:ext>
                  </a:extLst>
                </a:gridCol>
                <a:gridCol w="448378">
                  <a:extLst>
                    <a:ext uri="{9D8B030D-6E8A-4147-A177-3AD203B41FA5}">
                      <a16:colId xmlns:a16="http://schemas.microsoft.com/office/drawing/2014/main" val="1749740493"/>
                    </a:ext>
                  </a:extLst>
                </a:gridCol>
                <a:gridCol w="1208129">
                  <a:extLst>
                    <a:ext uri="{9D8B030D-6E8A-4147-A177-3AD203B41FA5}">
                      <a16:colId xmlns:a16="http://schemas.microsoft.com/office/drawing/2014/main" val="1542231867"/>
                    </a:ext>
                  </a:extLst>
                </a:gridCol>
                <a:gridCol w="448378">
                  <a:extLst>
                    <a:ext uri="{9D8B030D-6E8A-4147-A177-3AD203B41FA5}">
                      <a16:colId xmlns:a16="http://schemas.microsoft.com/office/drawing/2014/main" val="2662129742"/>
                    </a:ext>
                  </a:extLst>
                </a:gridCol>
                <a:gridCol w="734842">
                  <a:extLst>
                    <a:ext uri="{9D8B030D-6E8A-4147-A177-3AD203B41FA5}">
                      <a16:colId xmlns:a16="http://schemas.microsoft.com/office/drawing/2014/main" val="2222610826"/>
                    </a:ext>
                  </a:extLst>
                </a:gridCol>
                <a:gridCol w="809571">
                  <a:extLst>
                    <a:ext uri="{9D8B030D-6E8A-4147-A177-3AD203B41FA5}">
                      <a16:colId xmlns:a16="http://schemas.microsoft.com/office/drawing/2014/main" val="3172529667"/>
                    </a:ext>
                  </a:extLst>
                </a:gridCol>
                <a:gridCol w="703235">
                  <a:extLst>
                    <a:ext uri="{9D8B030D-6E8A-4147-A177-3AD203B41FA5}">
                      <a16:colId xmlns:a16="http://schemas.microsoft.com/office/drawing/2014/main" val="1499666745"/>
                    </a:ext>
                  </a:extLst>
                </a:gridCol>
                <a:gridCol w="2819400">
                  <a:extLst>
                    <a:ext uri="{9D8B030D-6E8A-4147-A177-3AD203B41FA5}">
                      <a16:colId xmlns:a16="http://schemas.microsoft.com/office/drawing/2014/main" val="254540477"/>
                    </a:ext>
                  </a:extLst>
                </a:gridCol>
                <a:gridCol w="3489497">
                  <a:extLst>
                    <a:ext uri="{9D8B030D-6E8A-4147-A177-3AD203B41FA5}">
                      <a16:colId xmlns:a16="http://schemas.microsoft.com/office/drawing/2014/main" val="2271363113"/>
                    </a:ext>
                  </a:extLst>
                </a:gridCol>
              </a:tblGrid>
              <a:tr h="304726">
                <a:tc>
                  <a:txBody>
                    <a:bodyPr/>
                    <a:lstStyle/>
                    <a:p>
                      <a:pPr algn="l" fontAlgn="t"/>
                      <a:r>
                        <a:rPr lang="en-US" sz="1050" b="0" i="0" u="none" strike="noStrike" dirty="0">
                          <a:solidFill>
                            <a:srgbClr val="000000"/>
                          </a:solidFill>
                          <a:effectLst/>
                          <a:latin typeface="Cambria" panose="02040503050406030204" pitchFamily="18" charset="0"/>
                        </a:rPr>
                        <a:t>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FLEET</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A/C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DELAY DATE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STA</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dirty="0">
                          <a:solidFill>
                            <a:srgbClr val="000000"/>
                          </a:solidFill>
                          <a:effectLst/>
                          <a:latin typeface="Cambria" panose="02040503050406030204" pitchFamily="18" charset="0"/>
                        </a:rPr>
                        <a:t>DELAY MINUTES</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FLIGHT 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ROUTE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DELAY DESC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DELAY ACTION</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830022682"/>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A514</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15/07/2025 13:00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VN7266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SGN-THD</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TRANSIT CHECK FOUND MW #2 INNER SHOULDER CORD EXPOSED, REMAINING SHOULDER GROOVE DEPTH IS 1,2mm</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MW #2 REPLACED, CHECK SATIS</a:t>
                      </a:r>
                    </a:p>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TOTAL DELAY 42 MINS, TECH DELAY 0 MINS</a:t>
                      </a:r>
                      <a:br>
                        <a:rPr lang="en-SG" sz="1100" b="0" i="0" u="none" strike="noStrike">
                          <a:solidFill>
                            <a:srgbClr val="000000"/>
                          </a:solidFill>
                          <a:effectLst/>
                          <a:latin typeface="Times New Roman" panose="02020603050405020304" pitchFamily="18" charset="0"/>
                          <a:cs typeface="Times New Roman" panose="02020603050405020304" pitchFamily="18" charset="0"/>
                        </a:rPr>
                      </a:br>
                      <a:r>
                        <a:rPr lang="en-SG" sz="1100" b="0" i="0" u="none" strike="noStrike">
                          <a:solidFill>
                            <a:srgbClr val="000000"/>
                          </a:solidFill>
                          <a:effectLst/>
                          <a:latin typeface="Times New Roman" panose="02020603050405020304" pitchFamily="18" charset="0"/>
                          <a:cs typeface="Times New Roman" panose="02020603050405020304" pitchFamily="18" charset="0"/>
                        </a:rPr>
                        <a:t>A/C ARRIVAL LATE 14 MINS AND SHORT TRANSIT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282906"/>
                  </a:ext>
                </a:extLst>
              </a:tr>
              <a:tr h="421393">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15/07/2025 21:20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VN220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T/X CHECK FOUND MW #8 OUTER SHOULDER CORD EXPOSED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C/O REPLACED MW#8 SATIS. A/C SERVICEABLE&lt;/p&gt; DELAY: 26 MINS, TECH: 0 MINS</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819986"/>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A610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15/07/2025 23:40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9</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VN350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SGN-FUK</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T/X CHECK FOUND MW #4 OUTER SHOULDER CORD EXPOSED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ACTION: C/O REPLACED MW#4 SATIS. A/C SERVICEABLE&lt;/p&gt; MW #4 EVENT CLOSED </a:t>
                      </a:r>
                    </a:p>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TOTAL DELAY: 9 MINS, TECH: 0 MIN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7873544"/>
                  </a:ext>
                </a:extLst>
              </a:tr>
              <a:tr h="631354">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A332</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17/07/2025 17:10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VN580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SGN-KHH</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T/X FOUND RH NW WORN TO LIMIT CENTER GROOVE DEPTH REMAINING  LESS THAN 0 MM. SHORT T/X : FROM 17:10-17:40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FINAL ACTION: C/O RPLD RH NW SATIS. </a:t>
                      </a:r>
                      <a:br>
                        <a:rPr lang="en-US" sz="1100" b="0" i="0" u="none" strike="noStrike">
                          <a:solidFill>
                            <a:srgbClr val="000000"/>
                          </a:solidFill>
                          <a:effectLst/>
                          <a:latin typeface="Times New Roman" panose="02020603050405020304" pitchFamily="18" charset="0"/>
                          <a:cs typeface="Times New Roman" panose="02020603050405020304" pitchFamily="18" charset="0"/>
                        </a:rPr>
                      </a:br>
                      <a:r>
                        <a:rPr lang="en-US" sz="1100" b="0" i="0" u="none" strike="noStrike">
                          <a:solidFill>
                            <a:srgbClr val="000000"/>
                          </a:solidFill>
                          <a:effectLst/>
                          <a:latin typeface="Times New Roman" panose="02020603050405020304" pitchFamily="18" charset="0"/>
                          <a:cs typeface="Times New Roman" panose="02020603050405020304" pitchFamily="18" charset="0"/>
                        </a:rPr>
                        <a:t>TOTAL DELAY 20 MINS. TECH DELAY 0 MIN, A/C ARRIVAL LATE: 16 MINS</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135121"/>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18/07/2025 00:41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VN422</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SGN-PUS</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T/X FOUND MW #5 INNER SHOULDER CORD EXPOSED.REMAINING SHOULDER GROOVE DEPTH 0.8MM</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 ACTION: C/O RPLD MW#5 SATIS. A/C SERVICEABLE</a:t>
                      </a:r>
                      <a:br>
                        <a:rPr lang="en-SG" sz="1100" b="0" i="0" u="none" strike="noStrike">
                          <a:solidFill>
                            <a:srgbClr val="000000"/>
                          </a:solidFill>
                          <a:effectLst/>
                          <a:latin typeface="Times New Roman" panose="02020603050405020304" pitchFamily="18" charset="0"/>
                          <a:cs typeface="Times New Roman" panose="02020603050405020304" pitchFamily="18" charset="0"/>
                        </a:rPr>
                      </a:br>
                      <a:r>
                        <a:rPr lang="en-SG" sz="1100" b="0" i="0" u="none" strike="noStrike">
                          <a:solidFill>
                            <a:srgbClr val="000000"/>
                          </a:solidFill>
                          <a:effectLst/>
                          <a:latin typeface="Times New Roman" panose="02020603050405020304" pitchFamily="18" charset="0"/>
                          <a:cs typeface="Times New Roman" panose="02020603050405020304" pitchFamily="18" charset="0"/>
                        </a:rPr>
                        <a:t>TOTAL DELAY 7 MINS. TECH DELAY 0 MIN, A/C ARRIVAL LATE: 12 MINS</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309047"/>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A873</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18/07/2025 23:00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VN265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SGN-ICN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TRANSIT CHECK FOUND RH NW CENTER WORN TO 0 MM </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cs typeface="Times New Roman" panose="02020603050405020304" pitchFamily="18" charset="0"/>
                        </a:rPr>
                        <a:t> ACTION: NEW RH NW RPLD. CHKD SATIS.</a:t>
                      </a:r>
                      <a:br>
                        <a:rPr lang="en-SG" sz="1100" b="0" i="0" u="none" strike="noStrike">
                          <a:solidFill>
                            <a:srgbClr val="000000"/>
                          </a:solidFill>
                          <a:effectLst/>
                          <a:latin typeface="Times New Roman" panose="02020603050405020304" pitchFamily="18" charset="0"/>
                          <a:cs typeface="Times New Roman" panose="02020603050405020304" pitchFamily="18" charset="0"/>
                        </a:rPr>
                      </a:br>
                      <a:r>
                        <a:rPr lang="en-SG" sz="1100" b="0" i="0" u="none" strike="noStrike">
                          <a:solidFill>
                            <a:srgbClr val="000000"/>
                          </a:solidFill>
                          <a:effectLst/>
                          <a:latin typeface="Times New Roman" panose="02020603050405020304" pitchFamily="18" charset="0"/>
                          <a:cs typeface="Times New Roman" panose="02020603050405020304" pitchFamily="18" charset="0"/>
                        </a:rPr>
                        <a:t>TOTAL DELAY 70 MINS. TECH DELAY 0 MIN. A/C ARRIVAL LATE 20 MINS.</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8699998"/>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A889</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19/07/2025 13:40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VN7126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Times New Roman" panose="02020603050405020304" pitchFamily="18" charset="0"/>
                          <a:cs typeface="Times New Roman" panose="02020603050405020304" pitchFamily="18" charset="0"/>
                        </a:rPr>
                        <a:t>T/X FOUND MW #8 INNER SHOULDER CORD EXPOSED. REMAINING SHOULDER GROOVE DEPTH 0.6MM&lt;/p&gt;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Times New Roman" panose="02020603050405020304" pitchFamily="18" charset="0"/>
                          <a:cs typeface="Times New Roman" panose="02020603050405020304" pitchFamily="18" charset="0"/>
                        </a:rPr>
                        <a:t>FINAL ACTION: RPLD NEW MW#8 CHK SATIS</a:t>
                      </a:r>
                    </a:p>
                    <a:p>
                      <a:pPr algn="l" fontAlgn="b"/>
                      <a:r>
                        <a:rPr lang="en-SG" sz="1100" b="0" i="0" u="none" strike="noStrike">
                          <a:solidFill>
                            <a:srgbClr val="000000"/>
                          </a:solidFill>
                          <a:effectLst/>
                          <a:latin typeface="Times New Roman" panose="02020603050405020304" pitchFamily="18" charset="0"/>
                          <a:cs typeface="Times New Roman" panose="02020603050405020304" pitchFamily="18" charset="0"/>
                        </a:rPr>
                        <a:t>TOTAL DELAY 21 MINS. TECH DELAY 0 MIN. A/C ARRIVAL LATE 22 MINS.&lt;/p&gt;</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0846550"/>
                  </a:ext>
                </a:extLst>
              </a:tr>
              <a:tr h="475106">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8</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A619</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20/07/2025 16:00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VN1468</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SGN-VCL</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100" b="0" i="0" u="none" strike="noStrike">
                          <a:solidFill>
                            <a:srgbClr val="000000"/>
                          </a:solidFill>
                          <a:effectLst/>
                          <a:latin typeface="Times New Roman" panose="02020603050405020304" pitchFamily="18" charset="0"/>
                          <a:cs typeface="Times New Roman" panose="02020603050405020304" pitchFamily="18" charset="0"/>
                        </a:rPr>
                        <a:t>T/X FOUND MW #2 OUTTER SHOULDER CORD EXPOSED&amp;#160;REMAINING SHOULDER ~1.0MM</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EVENT CLOSED &lt;p&gt;&lt;/p&gt; &lt;p&gt;TOTAL DELAY : 25 MINS, TECH DEALY 0 MIN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5255281"/>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54881FF-3EEB-F233-5D9A-37C624EF10F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99184FA-839E-6DE6-7572-8A33CADA77D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6BC49F0-CAB5-A26A-3709-79D7029D71AE}"/>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A18E023-88CE-4DF7-92F4-761F22654A06}"/>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9419AB4C-20B1-4FD3-BA76-A4F91B874EE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07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8A7F181-B07A-7AE0-D0F9-8BF8C21366C1}"/>
              </a:ext>
            </a:extLst>
          </p:cNvPr>
          <p:cNvGraphicFramePr>
            <a:graphicFrameLocks noGrp="1"/>
          </p:cNvGraphicFramePr>
          <p:nvPr/>
        </p:nvGraphicFramePr>
        <p:xfrm>
          <a:off x="125976" y="1743452"/>
          <a:ext cx="11594406" cy="3139569"/>
        </p:xfrm>
        <a:graphic>
          <a:graphicData uri="http://schemas.openxmlformats.org/drawingml/2006/table">
            <a:tbl>
              <a:tblPr/>
              <a:tblGrid>
                <a:gridCol w="247521">
                  <a:extLst>
                    <a:ext uri="{9D8B030D-6E8A-4147-A177-3AD203B41FA5}">
                      <a16:colId xmlns:a16="http://schemas.microsoft.com/office/drawing/2014/main" val="2628310652"/>
                    </a:ext>
                  </a:extLst>
                </a:gridCol>
                <a:gridCol w="716508">
                  <a:extLst>
                    <a:ext uri="{9D8B030D-6E8A-4147-A177-3AD203B41FA5}">
                      <a16:colId xmlns:a16="http://schemas.microsoft.com/office/drawing/2014/main" val="1663536676"/>
                    </a:ext>
                  </a:extLst>
                </a:gridCol>
                <a:gridCol w="716508">
                  <a:extLst>
                    <a:ext uri="{9D8B030D-6E8A-4147-A177-3AD203B41FA5}">
                      <a16:colId xmlns:a16="http://schemas.microsoft.com/office/drawing/2014/main" val="477539615"/>
                    </a:ext>
                  </a:extLst>
                </a:gridCol>
                <a:gridCol w="247521">
                  <a:extLst>
                    <a:ext uri="{9D8B030D-6E8A-4147-A177-3AD203B41FA5}">
                      <a16:colId xmlns:a16="http://schemas.microsoft.com/office/drawing/2014/main" val="3783693289"/>
                    </a:ext>
                  </a:extLst>
                </a:gridCol>
                <a:gridCol w="2370991">
                  <a:extLst>
                    <a:ext uri="{9D8B030D-6E8A-4147-A177-3AD203B41FA5}">
                      <a16:colId xmlns:a16="http://schemas.microsoft.com/office/drawing/2014/main" val="1965273036"/>
                    </a:ext>
                  </a:extLst>
                </a:gridCol>
                <a:gridCol w="3699788">
                  <a:extLst>
                    <a:ext uri="{9D8B030D-6E8A-4147-A177-3AD203B41FA5}">
                      <a16:colId xmlns:a16="http://schemas.microsoft.com/office/drawing/2014/main" val="4163500816"/>
                    </a:ext>
                  </a:extLst>
                </a:gridCol>
                <a:gridCol w="696968">
                  <a:extLst>
                    <a:ext uri="{9D8B030D-6E8A-4147-A177-3AD203B41FA5}">
                      <a16:colId xmlns:a16="http://schemas.microsoft.com/office/drawing/2014/main" val="2026874131"/>
                    </a:ext>
                  </a:extLst>
                </a:gridCol>
                <a:gridCol w="2898601">
                  <a:extLst>
                    <a:ext uri="{9D8B030D-6E8A-4147-A177-3AD203B41FA5}">
                      <a16:colId xmlns:a16="http://schemas.microsoft.com/office/drawing/2014/main" val="2095900228"/>
                    </a:ext>
                  </a:extLst>
                </a:gridCol>
              </a:tblGrid>
              <a:tr h="85661">
                <a:tc>
                  <a:txBody>
                    <a:bodyPr/>
                    <a:lstStyle/>
                    <a:p>
                      <a:pPr algn="ctr" fontAlgn="t">
                        <a:buNone/>
                      </a:pPr>
                      <a:r>
                        <a:rPr lang="en-US" sz="500" b="0" i="0" u="none" strike="noStrike">
                          <a:solidFill>
                            <a:srgbClr val="000000"/>
                          </a:solidFill>
                          <a:effectLst/>
                          <a:latin typeface="Calibri" panose="020F0502020204030204" pitchFamily="34" charset="0"/>
                        </a:rPr>
                        <a:t>A/C</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OPEN DATE</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CLOSED DATE</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STA</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DEFECT</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ACTION</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ATA</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Engineering Assessment</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756399907"/>
                  </a:ext>
                </a:extLst>
              </a:tr>
              <a:tr h="428304">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A396</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08:19 18/07/2025</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12:00 18/07/2025</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DAD</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FOUND LEAK HYD AT L/H MLG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a:solidFill>
                            <a:srgbClr val="000000"/>
                          </a:solidFill>
                          <a:effectLst/>
                          <a:latin typeface="Times New Roman" panose="02020603050405020304" pitchFamily="18" charset="0"/>
                          <a:cs typeface="Times New Roman" panose="02020603050405020304" pitchFamily="18" charset="0"/>
                        </a:rPr>
                        <a:t>ACT: RPLD HOSE HYD. AC SERVICE AT 12H00.. Chuyến VN109 đổi tàu A612 delay 03H05MINS</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Thông tin:</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08h40: phát hiện Vỡ ống mềm thủy lực đường parking brake và báo AOG</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Khí tài gửi trên chuyến bay VN122 SGN-DAD đáp lúc 11h30 ACT: RPLD HOSE HYD P/N: 201042017 EVENT CLOSED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32-11</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a:solidFill>
                            <a:srgbClr val="000000"/>
                          </a:solidFill>
                          <a:effectLst/>
                          <a:latin typeface="Times New Roman" panose="02020603050405020304" pitchFamily="18" charset="0"/>
                          <a:cs typeface="Times New Roman" panose="02020603050405020304" pitchFamily="18" charset="0"/>
                        </a:rPr>
                        <a:t>Hỏng hóc liên quan đến ống thủy lực mềm 201042017. Theo đánh giá của AIB thì nguyên nhân có thể do sự tích tụ và ăn mòn lớp kim loại bên trong ống dẫn tới ống bị thủng và gây ra leak. Tuy nhiên do có rất ít sự vụ được báo cáo trong vài năm gần đây nên AIB mới chỉ đưa vào diện theo dõi và chưa có đánh giá chuyên sâu cũng như giải pháp phòng ngừa. Tiếp tục theo dõi thêm</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66222838"/>
                  </a:ext>
                </a:extLst>
              </a:tr>
              <a:tr h="513965">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A357</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10:30 16/07/2025</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BKK</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NLG TORQUE LINK APEX PIN MISSING NLG TORQUE LINK APEX PIN MISSING</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mn-lt"/>
                          <a:cs typeface="Times New Roman" panose="02020603050405020304" pitchFamily="18" charset="0"/>
                        </a:rPr>
                        <a:t>Nguyên nhân do ren của apex pin bị ăn mòn dẫn tới không giữ được nut và rơi ra ngoài trong quá trình taxi. Hiện đang có chương trình kiểm tra apex pin theo SB A320-32-1500/1501 tần suất 18MO và A357 đã thực hiện kiểm tra vào 03/2024; hạn T09/2025, pin trên A357 bị rỉ trước thời hạn kiểm tra. Ban KT đã phối hợp với Vaeco rà soát và lên KH thực hiện kiểm tra cho các tàu đã kiểm tra pin lần cuối trên 12 tháng cũng như các tàu đã thay dynamic seal sau thời điểm kiểm tra apex pin. Ngoài ra Ban KT cũng đã yêu cầu ban QLVT đặt mua apex pin loại mới để làm SB terminate việc kiểm tra theo tần suất</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5230699"/>
                  </a:ext>
                </a:extLst>
              </a:tr>
            </a:tbl>
          </a:graphicData>
        </a:graphic>
      </p:graphicFrame>
    </p:spTree>
    <p:extLst>
      <p:ext uri="{BB962C8B-B14F-4D97-AF65-F5344CB8AC3E}">
        <p14:creationId xmlns:p14="http://schemas.microsoft.com/office/powerpoint/2010/main" val="1178274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AD57216-81AD-066B-1D9E-E0596E6D349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5DE47B-E104-F047-DF06-09D7663C3F5C}"/>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9B2BE76-CD13-92E2-7476-83EAF3143B32}"/>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1C8A335D-94DE-936B-5240-000D28556205}"/>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6405E8BF-B88F-518A-E76C-815B80998D18}"/>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8C9B999-EB52-735A-8AAF-365F0E37AD43}"/>
              </a:ext>
            </a:extLst>
          </p:cNvPr>
          <p:cNvGraphicFramePr>
            <a:graphicFrameLocks noGrp="1"/>
          </p:cNvGraphicFramePr>
          <p:nvPr>
            <p:extLst>
              <p:ext uri="{D42A27DB-BD31-4B8C-83A1-F6EECF244321}">
                <p14:modId xmlns:p14="http://schemas.microsoft.com/office/powerpoint/2010/main" val="3451466494"/>
              </p:ext>
            </p:extLst>
          </p:nvPr>
        </p:nvGraphicFramePr>
        <p:xfrm>
          <a:off x="117663" y="1800138"/>
          <a:ext cx="11705341" cy="3820852"/>
        </p:xfrm>
        <a:graphic>
          <a:graphicData uri="http://schemas.openxmlformats.org/drawingml/2006/table">
            <a:tbl>
              <a:tblPr/>
              <a:tblGrid>
                <a:gridCol w="339537">
                  <a:extLst>
                    <a:ext uri="{9D8B030D-6E8A-4147-A177-3AD203B41FA5}">
                      <a16:colId xmlns:a16="http://schemas.microsoft.com/office/drawing/2014/main" val="2284300101"/>
                    </a:ext>
                  </a:extLst>
                </a:gridCol>
                <a:gridCol w="609600">
                  <a:extLst>
                    <a:ext uri="{9D8B030D-6E8A-4147-A177-3AD203B41FA5}">
                      <a16:colId xmlns:a16="http://schemas.microsoft.com/office/drawing/2014/main" val="3376405456"/>
                    </a:ext>
                  </a:extLst>
                </a:gridCol>
                <a:gridCol w="304800">
                  <a:extLst>
                    <a:ext uri="{9D8B030D-6E8A-4147-A177-3AD203B41FA5}">
                      <a16:colId xmlns:a16="http://schemas.microsoft.com/office/drawing/2014/main" val="2653704242"/>
                    </a:ext>
                  </a:extLst>
                </a:gridCol>
                <a:gridCol w="491597">
                  <a:extLst>
                    <a:ext uri="{9D8B030D-6E8A-4147-A177-3AD203B41FA5}">
                      <a16:colId xmlns:a16="http://schemas.microsoft.com/office/drawing/2014/main" val="3369821226"/>
                    </a:ext>
                  </a:extLst>
                </a:gridCol>
                <a:gridCol w="465072">
                  <a:extLst>
                    <a:ext uri="{9D8B030D-6E8A-4147-A177-3AD203B41FA5}">
                      <a16:colId xmlns:a16="http://schemas.microsoft.com/office/drawing/2014/main" val="775914175"/>
                    </a:ext>
                  </a:extLst>
                </a:gridCol>
                <a:gridCol w="380514">
                  <a:extLst>
                    <a:ext uri="{9D8B030D-6E8A-4147-A177-3AD203B41FA5}">
                      <a16:colId xmlns:a16="http://schemas.microsoft.com/office/drawing/2014/main" val="1357391052"/>
                    </a:ext>
                  </a:extLst>
                </a:gridCol>
                <a:gridCol w="2585081">
                  <a:extLst>
                    <a:ext uri="{9D8B030D-6E8A-4147-A177-3AD203B41FA5}">
                      <a16:colId xmlns:a16="http://schemas.microsoft.com/office/drawing/2014/main" val="1399571794"/>
                    </a:ext>
                  </a:extLst>
                </a:gridCol>
                <a:gridCol w="3158871">
                  <a:extLst>
                    <a:ext uri="{9D8B030D-6E8A-4147-A177-3AD203B41FA5}">
                      <a16:colId xmlns:a16="http://schemas.microsoft.com/office/drawing/2014/main" val="386609919"/>
                    </a:ext>
                  </a:extLst>
                </a:gridCol>
                <a:gridCol w="235556">
                  <a:extLst>
                    <a:ext uri="{9D8B030D-6E8A-4147-A177-3AD203B41FA5}">
                      <a16:colId xmlns:a16="http://schemas.microsoft.com/office/drawing/2014/main" val="1685409337"/>
                    </a:ext>
                  </a:extLst>
                </a:gridCol>
                <a:gridCol w="3134713">
                  <a:extLst>
                    <a:ext uri="{9D8B030D-6E8A-4147-A177-3AD203B41FA5}">
                      <a16:colId xmlns:a16="http://schemas.microsoft.com/office/drawing/2014/main" val="2020567769"/>
                    </a:ext>
                  </a:extLst>
                </a:gridCol>
              </a:tblGrid>
              <a:tr h="78677">
                <a:tc>
                  <a:txBody>
                    <a:bodyPr/>
                    <a:lstStyle/>
                    <a:p>
                      <a:pPr algn="ctr" fontAlgn="t">
                        <a:buNone/>
                      </a:pPr>
                      <a:r>
                        <a:rPr lang="en-US" sz="1000" b="0" i="0" u="none" strike="noStrike">
                          <a:solidFill>
                            <a:srgbClr val="000000"/>
                          </a:solidFill>
                          <a:effectLst/>
                          <a:latin typeface="Calibri" panose="020F0502020204030204" pitchFamily="34"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06886802"/>
                  </a:ext>
                </a:extLst>
              </a:tr>
              <a:tr h="157354">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A334</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22:30 18/07/2025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60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VN403</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T/X CHK FOUND TORQUE LINK CENTER HINGE PIN OF NLG LOOSEN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EVENT CLOSED ACTION: C/O REMOVED CHK AND INSTALLED PIN. CHKD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TOTAL DELAY 119 MINS. TECH DELAY 60 MINS. A/C ARRIVAL LATE 35 MINS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Times New Roman" panose="02020603050405020304" pitchFamily="18" charset="0"/>
                          <a:cs typeface="Times New Roman" panose="02020603050405020304" pitchFamily="18" charset="0"/>
                        </a:rPr>
                        <a:t>Theo yêu cầu của phi công, do phi công chưa nắm được khoảng hở cho phép theo AMM</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=&gt; non tech</a:t>
                      </a: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358119"/>
                  </a:ext>
                </a:extLst>
              </a:tr>
              <a:tr h="504076">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A325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16:14 18/07/2025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16</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VN619</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HAN-BKK</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MSG SMOKE FWD/AFT CRG DET FAULT &amp; BULK AVN DET FAULT During boarding appeared MSG Smoke FWD/AFT CRG DET fault &amp;amp; BULK AVN DET fault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REF TSM: 26-16-00-810-812A, reset and ground scan both CIDS-SDF found satis. Msg dissappeared. REF TSM: 26-16-00-810-812A, EVENT CLOSED</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26-16</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a:solidFill>
                            <a:srgbClr val="000000"/>
                          </a:solidFill>
                          <a:effectLst/>
                          <a:latin typeface="Times New Roman" panose="02020603050405020304" pitchFamily="18" charset="0"/>
                          <a:cs typeface="Times New Roman" panose="02020603050405020304" pitchFamily="18" charset="0"/>
                        </a:rPr>
                        <a:t>Hỏng hóc được xác định do lỗi của DEU B P/N Z043H000351A. Part DEU B này có vấn đề liên quan đến một số linh kiện ngừng sản xuất. Hiện AIB đã phát triển part mới DEU-B P/N Z043H0100110 thay thế part cũ. Part mới khắc phục được một số cảnh báo giả của part cũ (#SMOKE LAV DET FAULT# theo TFU 23.73.00.112) và nhiều cải tiến phần cứng. Part mới mix và fully interchange với part cũ (ref TR P/N Z043H0100110). Khuyến nghi QLVT triển khai sử dụng part mới để giảm thiểu các OI liên quan.</a:t>
                      </a:r>
                      <a:br>
                        <a:rPr lang="vi-VN" sz="1000" b="0" i="0" u="none" strike="noStrike">
                          <a:solidFill>
                            <a:srgbClr val="000000"/>
                          </a:solidFill>
                          <a:effectLst/>
                          <a:latin typeface="Times New Roman" panose="02020603050405020304" pitchFamily="18" charset="0"/>
                          <a:cs typeface="Times New Roman" panose="02020603050405020304" pitchFamily="18" charset="0"/>
                        </a:rPr>
                      </a:br>
                      <a:br>
                        <a:rPr lang="vi-VN" sz="1000" b="0" i="0" u="none" strike="noStrike">
                          <a:solidFill>
                            <a:srgbClr val="000000"/>
                          </a:solidFill>
                          <a:effectLst/>
                          <a:latin typeface="Times New Roman" panose="02020603050405020304" pitchFamily="18" charset="0"/>
                          <a:cs typeface="Times New Roman" panose="02020603050405020304" pitchFamily="18" charset="0"/>
                        </a:rPr>
                      </a:b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78289606"/>
                  </a:ext>
                </a:extLst>
              </a:tr>
              <a:tr h="314708">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A396</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08:19 18/07/2025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DAD</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185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VN109</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DAD-SGN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FOUND LEAK HYD AT L/H MLG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a:solidFill>
                            <a:srgbClr val="000000"/>
                          </a:solidFill>
                          <a:effectLst/>
                          <a:latin typeface="Times New Roman" panose="02020603050405020304" pitchFamily="18" charset="0"/>
                          <a:cs typeface="Times New Roman" panose="02020603050405020304" pitchFamily="18" charset="0"/>
                        </a:rPr>
                        <a:t>ACT: RPLD HOSE HYD. AC SERVICE AT 12H00.. Chuyến VN109 đổi tàu A612 delay 03H05MINS</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Thông tin:</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08h40: phát hiện Vỡ ống mềm thủy lực đường parking brake và báo AOG</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Khí tài gửi trên chuyến bay VN122 SGN-DAD đáp lúc 11h30 ACT: RPLD HOSE HYD P/N: 201042017 EVENT CLOSED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32-11</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ống thủy lực mềm 201042017. Theo đánh giá của AIB thì nguyên nhân có thể do sự tích tụ và ăn mòn lớp kim loại bên trong ống dẫn tới ống bị thủng và gây ra leak. Tuy nhiên do có rất ít sự vụ được báo cáo trong vài năm gần đây nên AIB mới chỉ đưa vào diện theo dõi và chưa có đánh giá chuyên sâu cũng như giải pháp phòng ngừa. Tiếp tục theo dõi thêm</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908810"/>
                  </a:ext>
                </a:extLst>
              </a:tr>
            </a:tbl>
          </a:graphicData>
        </a:graphic>
      </p:graphicFrame>
    </p:spTree>
    <p:extLst>
      <p:ext uri="{BB962C8B-B14F-4D97-AF65-F5344CB8AC3E}">
        <p14:creationId xmlns:p14="http://schemas.microsoft.com/office/powerpoint/2010/main" val="886601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902B4707-6DE0-602A-F981-0E362D7B324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5F2A7516-9598-8C2F-F169-9D891EBFCC6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49A5568-6DF0-BFED-5156-BDE6E775A846}"/>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295A4529-59D2-64D7-ABED-1363A08A262D}"/>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06</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D7C2B06E-F879-803B-02C2-BAD39139A195}"/>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06</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EF0CF81-CA55-2E83-9AEA-2752357AFCCE}"/>
              </a:ext>
            </a:extLst>
          </p:cNvPr>
          <p:cNvGraphicFramePr>
            <a:graphicFrameLocks noGrp="1"/>
          </p:cNvGraphicFramePr>
          <p:nvPr>
            <p:extLst>
              <p:ext uri="{D42A27DB-BD31-4B8C-83A1-F6EECF244321}">
                <p14:modId xmlns:p14="http://schemas.microsoft.com/office/powerpoint/2010/main" val="3626091501"/>
              </p:ext>
            </p:extLst>
          </p:nvPr>
        </p:nvGraphicFramePr>
        <p:xfrm>
          <a:off x="134290" y="1600200"/>
          <a:ext cx="11688715" cy="4278052"/>
        </p:xfrm>
        <a:graphic>
          <a:graphicData uri="http://schemas.openxmlformats.org/drawingml/2006/table">
            <a:tbl>
              <a:tblPr/>
              <a:tblGrid>
                <a:gridCol w="322910">
                  <a:extLst>
                    <a:ext uri="{9D8B030D-6E8A-4147-A177-3AD203B41FA5}">
                      <a16:colId xmlns:a16="http://schemas.microsoft.com/office/drawing/2014/main" val="571780504"/>
                    </a:ext>
                  </a:extLst>
                </a:gridCol>
                <a:gridCol w="609600">
                  <a:extLst>
                    <a:ext uri="{9D8B030D-6E8A-4147-A177-3AD203B41FA5}">
                      <a16:colId xmlns:a16="http://schemas.microsoft.com/office/drawing/2014/main" val="3471952380"/>
                    </a:ext>
                  </a:extLst>
                </a:gridCol>
                <a:gridCol w="304800">
                  <a:extLst>
                    <a:ext uri="{9D8B030D-6E8A-4147-A177-3AD203B41FA5}">
                      <a16:colId xmlns:a16="http://schemas.microsoft.com/office/drawing/2014/main" val="397948673"/>
                    </a:ext>
                  </a:extLst>
                </a:gridCol>
                <a:gridCol w="505744">
                  <a:extLst>
                    <a:ext uri="{9D8B030D-6E8A-4147-A177-3AD203B41FA5}">
                      <a16:colId xmlns:a16="http://schemas.microsoft.com/office/drawing/2014/main" val="753159382"/>
                    </a:ext>
                  </a:extLst>
                </a:gridCol>
                <a:gridCol w="464412">
                  <a:extLst>
                    <a:ext uri="{9D8B030D-6E8A-4147-A177-3AD203B41FA5}">
                      <a16:colId xmlns:a16="http://schemas.microsoft.com/office/drawing/2014/main" val="4043475201"/>
                    </a:ext>
                  </a:extLst>
                </a:gridCol>
                <a:gridCol w="379974">
                  <a:extLst>
                    <a:ext uri="{9D8B030D-6E8A-4147-A177-3AD203B41FA5}">
                      <a16:colId xmlns:a16="http://schemas.microsoft.com/office/drawing/2014/main" val="1218501951"/>
                    </a:ext>
                  </a:extLst>
                </a:gridCol>
                <a:gridCol w="2581409">
                  <a:extLst>
                    <a:ext uri="{9D8B030D-6E8A-4147-A177-3AD203B41FA5}">
                      <a16:colId xmlns:a16="http://schemas.microsoft.com/office/drawing/2014/main" val="924498055"/>
                    </a:ext>
                  </a:extLst>
                </a:gridCol>
                <a:gridCol w="3154385">
                  <a:extLst>
                    <a:ext uri="{9D8B030D-6E8A-4147-A177-3AD203B41FA5}">
                      <a16:colId xmlns:a16="http://schemas.microsoft.com/office/drawing/2014/main" val="859273052"/>
                    </a:ext>
                  </a:extLst>
                </a:gridCol>
                <a:gridCol w="235221">
                  <a:extLst>
                    <a:ext uri="{9D8B030D-6E8A-4147-A177-3AD203B41FA5}">
                      <a16:colId xmlns:a16="http://schemas.microsoft.com/office/drawing/2014/main" val="3883132677"/>
                    </a:ext>
                  </a:extLst>
                </a:gridCol>
                <a:gridCol w="3130260">
                  <a:extLst>
                    <a:ext uri="{9D8B030D-6E8A-4147-A177-3AD203B41FA5}">
                      <a16:colId xmlns:a16="http://schemas.microsoft.com/office/drawing/2014/main" val="2847631308"/>
                    </a:ext>
                  </a:extLst>
                </a:gridCol>
              </a:tblGrid>
              <a:tr h="78677">
                <a:tc>
                  <a:txBody>
                    <a:bodyPr/>
                    <a:lstStyle/>
                    <a:p>
                      <a:pPr algn="ctr" fontAlgn="t">
                        <a:buNone/>
                      </a:pPr>
                      <a:r>
                        <a:rPr lang="en-US" sz="1000" b="0" i="0" u="none" strike="noStrike">
                          <a:solidFill>
                            <a:srgbClr val="000000"/>
                          </a:solidFill>
                          <a:effectLst/>
                          <a:latin typeface="Calibri" panose="020F0502020204030204" pitchFamily="34"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60107747"/>
                  </a:ext>
                </a:extLst>
              </a:tr>
              <a:tr h="629417">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A604</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23:50 17/07/2025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30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VN648</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SGN-MNL</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[GTB] AFT CARGO HEAT FAULT, AFT CARGO ISO VALVE FAULT AFTER PUSHBACK CAPT REPORT VIA VHF: AFT CARGO HEAT FAULT, AFT CARGO ISO VALVE FAULT.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TSV ADVICE RESET BUT NIL HELP. A/C CARRING LIVE ANIMALS. CAPT DECIDED GTB FOR RECTIFY.</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00:15 AFTER PUSHBACK CAPT REPORT VIA VHF: AFT CARGO HEAT FAULT, AFT CARGO ISO VALVE FAULT. TSV ADVICE RESET BUT NIL HELP. A/C CARRING LIVE ANIMALS. CAPT DECIDED GTB FOR RECTIFY</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00:30 RESET C/B SATIS. MSG GONE</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00:40 DUE TO A/C CARRING LIVE ANIMALS &amp;amp; DEFECT HAPPEN AGAIN, MCC ISSUED WO 7560879 ROB CONTROLLER HEAT FROM A509 TO SERVICE A604</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01:10 FINAL ACTION: RPLD CONTROLLER HEAT 10HC (ROBBED FROM A509 TO SERVICE A604). CHECK SATIS</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01:12 DOORS CLOSED TIMELINE (LCT) EVENT CLOSED ACTION: RPLD CONTROLLER HEAT 10HC (ROBBED FROM A509 TO SERVICE A604). CHECK SATIS. TOTAL DELAY 87 MINS, TECH DELAY 30 MINS (DELAY KT 00:40-01:10)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Times New Roman" panose="02020603050405020304" pitchFamily="18" charset="0"/>
                          <a:cs typeface="Times New Roman" panose="02020603050405020304" pitchFamily="18" charset="0"/>
                        </a:rPr>
                        <a:t>Khối CHC trên A604 đã khai thác được hơn 27k FH và chưa hỏng lần nào. Theo thống kê hỏng hóc thì khối CHC 600611-00-601 trong 05 năm gần đây chỉ tháo năm 2023 (5 lần) và 2025 (2 lần). Hiện AIB không có topic nào liên quan đến ĐTC của khối này và không có chương trình nâng cấp. Tiếp tục theo dõi thêm</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35447329"/>
                  </a:ext>
                </a:extLst>
              </a:tr>
              <a:tr h="78677">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A335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23:25 17/07/2025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DAD</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40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VN146</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SGN-DAD</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FUEL DOES NOT FILL INTO ATC TANK FUEL DOES NOT FILL INTO ATC TANK</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EVENT CLOSED  C/O RESET FQIC AND MANUAL REFUEL INTO THE ATC TANK</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28-20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Hiện</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VAECO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vẫn</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đang</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tiếp</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tục</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TS. Theo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dõi</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thêm</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2242231"/>
                  </a:ext>
                </a:extLst>
              </a:tr>
              <a:tr h="221377">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A619</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14:00 17/07/2025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DAD</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VN431</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DAD-HAN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MSG CHK DOOR PRESS AND CHECK TORQUE LINK CENTER HINGE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 PERFORMED VISUAL CHECK AS REQ FOUND NORMAL.</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ADD B919 “ CHECK DOOR PRESSURE “ ON DOOR 2R IS RAISED . CHK DOOR 2R AND TORQUE LINK CENTER HINGE EVENT CLOSED  TOTAL DELAY : 25 MINS ( TD : 20 MINS, A/C LATE : 05 MINS)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52-00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Times New Roman" panose="02020603050405020304" pitchFamily="18" charset="0"/>
                          <a:cs typeface="Times New Roman" panose="02020603050405020304" pitchFamily="18" charset="0"/>
                        </a:rPr>
                        <a:t>Thực hiện theo yêu cầu kiểm tra toàn bộ apex pin để xem có bất thường trong ngày 17/07</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36612484"/>
                  </a:ext>
                </a:extLst>
              </a:tr>
            </a:tbl>
          </a:graphicData>
        </a:graphic>
      </p:graphicFrame>
    </p:spTree>
    <p:extLst>
      <p:ext uri="{BB962C8B-B14F-4D97-AF65-F5344CB8AC3E}">
        <p14:creationId xmlns:p14="http://schemas.microsoft.com/office/powerpoint/2010/main" val="941402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902B4707-6DE0-602A-F981-0E362D7B324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5F2A7516-9598-8C2F-F169-9D891EBFCC6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extBox 5">
            <a:extLst>
              <a:ext uri="{FF2B5EF4-FFF2-40B4-BE49-F238E27FC236}">
                <a16:creationId xmlns:a16="http://schemas.microsoft.com/office/drawing/2014/main" id="{9FFD6A5B-8EFD-649A-F160-852A65EEBFDE}"/>
              </a:ext>
            </a:extLst>
          </p:cNvPr>
          <p:cNvSpPr txBox="1"/>
          <p:nvPr/>
        </p:nvSpPr>
        <p:spPr>
          <a:xfrm>
            <a:off x="243840" y="168860"/>
            <a:ext cx="10787149"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32 – </a:t>
            </a:r>
            <a:r>
              <a:rPr lang="pt-BR" sz="2800" b="1" dirty="0">
                <a:solidFill>
                  <a:srgbClr val="DEA610"/>
                </a:solidFill>
                <a:latin typeface="Times New Roman" panose="02020603050405020304" pitchFamily="18" charset="0"/>
                <a:cs typeface="Times New Roman" panose="02020603050405020304" pitchFamily="18" charset="0"/>
              </a:rPr>
              <a:t>NLG TORQUE LINK APEX PIN CORROSION</a:t>
            </a:r>
            <a:endParaRPr lang="en-US" sz="2800" b="1" dirty="0">
              <a:solidFill>
                <a:srgbClr val="DEA610"/>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B2735019-34B6-D26C-3C6A-E4CEDCF83CBA}"/>
              </a:ext>
            </a:extLst>
          </p:cNvPr>
          <p:cNvSpPr/>
          <p:nvPr/>
        </p:nvSpPr>
        <p:spPr>
          <a:xfrm>
            <a:off x="243840" y="1178083"/>
            <a:ext cx="6026331" cy="2462213"/>
          </a:xfrm>
          <a:prstGeom prst="rect">
            <a:avLst/>
          </a:prstGeom>
          <a:solidFill>
            <a:schemeClr val="bg1"/>
          </a:solidFill>
          <a:ln>
            <a:solidFill>
              <a:schemeClr val="accent1">
                <a:lumMod val="50000"/>
              </a:schemeClr>
            </a:solidFill>
          </a:ln>
        </p:spPr>
        <p:txBody>
          <a:bodyPr wrap="square">
            <a:spAutoFit/>
          </a:bodyPr>
          <a:lstStyle/>
          <a:p>
            <a:pPr marL="342900" indent="-342900">
              <a:spcBef>
                <a:spcPts val="600"/>
              </a:spcBef>
              <a:buFont typeface="Wingdings" panose="05000000000000000000" pitchFamily="2" charset="2"/>
              <a:buChar char="v"/>
            </a:pPr>
            <a:r>
              <a:rPr lang="en-US" dirty="0">
                <a:solidFill>
                  <a:schemeClr val="accent4">
                    <a:lumMod val="75000"/>
                  </a:schemeClr>
                </a:solidFill>
                <a:latin typeface="Times New Roman" panose="02020603050405020304" pitchFamily="18" charset="0"/>
                <a:cs typeface="Times New Roman" panose="02020603050405020304" pitchFamily="18" charset="0"/>
              </a:rPr>
              <a:t>3 cases of NLG torque link disconnection due to center hinge nut detachment reported on post-MOD 153020/SB 32-1400 A/C, leading to the loss of nose-wheel steering</a:t>
            </a:r>
          </a:p>
          <a:p>
            <a:pPr marL="342900" indent="-342900">
              <a:spcBef>
                <a:spcPts val="600"/>
              </a:spcBef>
              <a:buFont typeface="Wingdings" panose="05000000000000000000" pitchFamily="2" charset="2"/>
              <a:buChar char="v"/>
            </a:pPr>
            <a:r>
              <a:rPr lang="en-US" dirty="0">
                <a:solidFill>
                  <a:schemeClr val="accent4">
                    <a:lumMod val="75000"/>
                  </a:schemeClr>
                </a:solidFill>
                <a:latin typeface="Times New Roman" panose="02020603050405020304" pitchFamily="18" charset="0"/>
                <a:cs typeface="Times New Roman" panose="02020603050405020304" pitchFamily="18" charset="0"/>
              </a:rPr>
              <a:t>Threads on pin PN D68797 and nut PN D68798 strongly damaged by corrosion</a:t>
            </a:r>
          </a:p>
          <a:p>
            <a:pPr marL="342900" indent="-342900">
              <a:spcBef>
                <a:spcPts val="600"/>
              </a:spcBef>
              <a:buFont typeface="Wingdings" panose="05000000000000000000" pitchFamily="2" charset="2"/>
              <a:buChar char="v"/>
            </a:pPr>
            <a:r>
              <a:rPr lang="en-US" dirty="0">
                <a:solidFill>
                  <a:schemeClr val="accent4">
                    <a:lumMod val="75000"/>
                  </a:schemeClr>
                </a:solidFill>
                <a:latin typeface="Times New Roman" panose="02020603050405020304" pitchFamily="18" charset="0"/>
                <a:cs typeface="Times New Roman" panose="02020603050405020304" pitchFamily="18" charset="0"/>
              </a:rPr>
              <a:t>Laboratory examination confirmed that corrosion was associated with damage to Cadmium protection on apex pin and nut threads</a:t>
            </a:r>
          </a:p>
        </p:txBody>
      </p:sp>
      <p:grpSp>
        <p:nvGrpSpPr>
          <p:cNvPr id="10" name="Group 9">
            <a:extLst>
              <a:ext uri="{FF2B5EF4-FFF2-40B4-BE49-F238E27FC236}">
                <a16:creationId xmlns:a16="http://schemas.microsoft.com/office/drawing/2014/main" id="{BCA4F89D-F9BF-006E-E380-3AD57F039C8E}"/>
              </a:ext>
            </a:extLst>
          </p:cNvPr>
          <p:cNvGrpSpPr/>
          <p:nvPr/>
        </p:nvGrpSpPr>
        <p:grpSpPr>
          <a:xfrm>
            <a:off x="795408" y="288234"/>
            <a:ext cx="11396592" cy="678753"/>
            <a:chOff x="976560" y="323070"/>
            <a:chExt cx="10755065" cy="678753"/>
          </a:xfrm>
        </p:grpSpPr>
        <p:cxnSp>
          <p:nvCxnSpPr>
            <p:cNvPr id="11" name="Straight Connector 10">
              <a:extLst>
                <a:ext uri="{FF2B5EF4-FFF2-40B4-BE49-F238E27FC236}">
                  <a16:creationId xmlns:a16="http://schemas.microsoft.com/office/drawing/2014/main" id="{398C5EBF-2261-C948-9669-99ECE95A128E}"/>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7DCCFB45-1750-4F3E-1FC8-C9D66F33C5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13" name="Picture 12">
            <a:extLst>
              <a:ext uri="{FF2B5EF4-FFF2-40B4-BE49-F238E27FC236}">
                <a16:creationId xmlns:a16="http://schemas.microsoft.com/office/drawing/2014/main" id="{7B98B2B2-9AA5-5AC9-FC0B-38E1C9D32DA7}"/>
              </a:ext>
            </a:extLst>
          </p:cNvPr>
          <p:cNvPicPr>
            <a:picLocks noChangeAspect="1"/>
          </p:cNvPicPr>
          <p:nvPr/>
        </p:nvPicPr>
        <p:blipFill>
          <a:blip r:embed="rId4"/>
          <a:stretch>
            <a:fillRect/>
          </a:stretch>
        </p:blipFill>
        <p:spPr>
          <a:xfrm>
            <a:off x="6586230" y="1178083"/>
            <a:ext cx="4923391" cy="2462213"/>
          </a:xfrm>
          <a:prstGeom prst="rect">
            <a:avLst/>
          </a:prstGeom>
          <a:ln>
            <a:solidFill>
              <a:schemeClr val="accent1">
                <a:lumMod val="50000"/>
              </a:schemeClr>
            </a:solidFill>
          </a:ln>
        </p:spPr>
      </p:pic>
      <p:pic>
        <p:nvPicPr>
          <p:cNvPr id="14" name="Picture 13">
            <a:extLst>
              <a:ext uri="{FF2B5EF4-FFF2-40B4-BE49-F238E27FC236}">
                <a16:creationId xmlns:a16="http://schemas.microsoft.com/office/drawing/2014/main" id="{E95C39E2-3720-3088-D2CF-5CE250697FFF}"/>
              </a:ext>
            </a:extLst>
          </p:cNvPr>
          <p:cNvPicPr>
            <a:picLocks noChangeAspect="1"/>
          </p:cNvPicPr>
          <p:nvPr/>
        </p:nvPicPr>
        <p:blipFill>
          <a:blip r:embed="rId5"/>
          <a:stretch>
            <a:fillRect/>
          </a:stretch>
        </p:blipFill>
        <p:spPr>
          <a:xfrm>
            <a:off x="9047925" y="4444389"/>
            <a:ext cx="2048782" cy="2031325"/>
          </a:xfrm>
          <a:prstGeom prst="rect">
            <a:avLst/>
          </a:prstGeom>
          <a:ln>
            <a:solidFill>
              <a:schemeClr val="accent1">
                <a:lumMod val="50000"/>
              </a:schemeClr>
            </a:solidFill>
          </a:ln>
        </p:spPr>
      </p:pic>
      <p:sp>
        <p:nvSpPr>
          <p:cNvPr id="15" name="TextBox 14">
            <a:extLst>
              <a:ext uri="{FF2B5EF4-FFF2-40B4-BE49-F238E27FC236}">
                <a16:creationId xmlns:a16="http://schemas.microsoft.com/office/drawing/2014/main" id="{E8650AAD-CCB0-E076-378B-443BD7CE3E82}"/>
              </a:ext>
            </a:extLst>
          </p:cNvPr>
          <p:cNvSpPr txBox="1"/>
          <p:nvPr/>
        </p:nvSpPr>
        <p:spPr>
          <a:xfrm>
            <a:off x="226539" y="4444392"/>
            <a:ext cx="6043631" cy="1477328"/>
          </a:xfrm>
          <a:prstGeom prst="rect">
            <a:avLst/>
          </a:prstGeom>
          <a:noFill/>
          <a:ln>
            <a:solidFill>
              <a:schemeClr val="accent1">
                <a:lumMod val="50000"/>
              </a:schemeClr>
            </a:solidFill>
          </a:ln>
        </p:spPr>
        <p:txBody>
          <a:bodyPr wrap="square" rtlCol="0">
            <a:spAutoFit/>
          </a:bodyPr>
          <a:lstStyle/>
          <a:p>
            <a:pPr marL="285750" indent="-285750">
              <a:buFont typeface="Wingdings" panose="05000000000000000000" pitchFamily="2" charset="2"/>
              <a:buChar char="v"/>
            </a:pPr>
            <a:r>
              <a:rPr lang="en-US" dirty="0">
                <a:solidFill>
                  <a:schemeClr val="accent4">
                    <a:lumMod val="75000"/>
                  </a:schemeClr>
                </a:solidFill>
                <a:latin typeface="Times New Roman" panose="02020603050405020304" pitchFamily="18" charset="0"/>
                <a:cs typeface="Times New Roman" panose="02020603050405020304" pitchFamily="18" charset="0"/>
              </a:rPr>
              <a:t>Hiện </a:t>
            </a:r>
            <a:r>
              <a:rPr lang="en-US" dirty="0" err="1">
                <a:solidFill>
                  <a:schemeClr val="accent4">
                    <a:lumMod val="75000"/>
                  </a:schemeClr>
                </a:solidFill>
                <a:latin typeface="Times New Roman" panose="02020603050405020304" pitchFamily="18" charset="0"/>
                <a:cs typeface="Times New Roman" panose="02020603050405020304" pitchFamily="18" charset="0"/>
              </a:rPr>
              <a:t>đang</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triển</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khai</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chương</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trình</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kiểm</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tra</a:t>
            </a:r>
            <a:r>
              <a:rPr lang="en-US" dirty="0">
                <a:solidFill>
                  <a:schemeClr val="accent4">
                    <a:lumMod val="75000"/>
                  </a:schemeClr>
                </a:solidFill>
                <a:latin typeface="Times New Roman" panose="02020603050405020304" pitchFamily="18" charset="0"/>
                <a:cs typeface="Times New Roman" panose="02020603050405020304" pitchFamily="18" charset="0"/>
              </a:rPr>
              <a:t> apex pin </a:t>
            </a:r>
            <a:r>
              <a:rPr lang="en-US" dirty="0" err="1">
                <a:solidFill>
                  <a:schemeClr val="accent4">
                    <a:lumMod val="75000"/>
                  </a:schemeClr>
                </a:solidFill>
                <a:latin typeface="Times New Roman" panose="02020603050405020304" pitchFamily="18" charset="0"/>
                <a:cs typeface="Times New Roman" panose="02020603050405020304" pitchFamily="18" charset="0"/>
              </a:rPr>
              <a:t>theo</a:t>
            </a:r>
            <a:r>
              <a:rPr lang="en-US" dirty="0">
                <a:solidFill>
                  <a:schemeClr val="accent4">
                    <a:lumMod val="75000"/>
                  </a:schemeClr>
                </a:solidFill>
                <a:latin typeface="Times New Roman" panose="02020603050405020304" pitchFamily="18" charset="0"/>
                <a:cs typeface="Times New Roman" panose="02020603050405020304" pitchFamily="18" charset="0"/>
              </a:rPr>
              <a:t> EO 2021-2047 (</a:t>
            </a:r>
            <a:r>
              <a:rPr lang="en-US" dirty="0" err="1">
                <a:solidFill>
                  <a:schemeClr val="accent4">
                    <a:lumMod val="75000"/>
                  </a:schemeClr>
                </a:solidFill>
                <a:latin typeface="Times New Roman" panose="02020603050405020304" pitchFamily="18" charset="0"/>
                <a:cs typeface="Times New Roman" panose="02020603050405020304" pitchFamily="18" charset="0"/>
              </a:rPr>
              <a:t>tần</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suất</a:t>
            </a:r>
            <a:r>
              <a:rPr lang="en-US" dirty="0">
                <a:solidFill>
                  <a:schemeClr val="accent4">
                    <a:lumMod val="75000"/>
                  </a:schemeClr>
                </a:solidFill>
                <a:latin typeface="Times New Roman" panose="02020603050405020304" pitchFamily="18" charset="0"/>
                <a:cs typeface="Times New Roman" panose="02020603050405020304" pitchFamily="18" charset="0"/>
              </a:rPr>
              <a:t> 5000FC or 540 days) =&gt; </a:t>
            </a:r>
            <a:r>
              <a:rPr lang="en-US" dirty="0" err="1">
                <a:solidFill>
                  <a:schemeClr val="accent4">
                    <a:lumMod val="75000"/>
                  </a:schemeClr>
                </a:solidFill>
                <a:latin typeface="Times New Roman" panose="02020603050405020304" pitchFamily="18" charset="0"/>
                <a:cs typeface="Times New Roman" panose="02020603050405020304" pitchFamily="18" charset="0"/>
              </a:rPr>
              <a:t>đã</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yêu</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cầu</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tăng</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tần</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suất</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lên</a:t>
            </a:r>
            <a:r>
              <a:rPr lang="en-US" dirty="0">
                <a:solidFill>
                  <a:schemeClr val="accent4">
                    <a:lumMod val="75000"/>
                  </a:schemeClr>
                </a:solidFill>
                <a:latin typeface="Times New Roman" panose="02020603050405020304" pitchFamily="18" charset="0"/>
                <a:cs typeface="Times New Roman" panose="02020603050405020304" pitchFamily="18" charset="0"/>
              </a:rPr>
              <a:t> 12MO </a:t>
            </a:r>
            <a:r>
              <a:rPr lang="en-US" dirty="0" err="1">
                <a:solidFill>
                  <a:schemeClr val="accent4">
                    <a:lumMod val="75000"/>
                  </a:schemeClr>
                </a:solidFill>
                <a:latin typeface="Times New Roman" panose="02020603050405020304" pitchFamily="18" charset="0"/>
                <a:cs typeface="Times New Roman" panose="02020603050405020304" pitchFamily="18" charset="0"/>
              </a:rPr>
              <a:t>theo</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yêu</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cầu</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của</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Cục</a:t>
            </a:r>
            <a:r>
              <a:rPr lang="en-US" dirty="0">
                <a:solidFill>
                  <a:schemeClr val="accent4">
                    <a:lumMod val="75000"/>
                  </a:schemeClr>
                </a:solidFill>
                <a:latin typeface="Times New Roman" panose="02020603050405020304" pitchFamily="18" charset="0"/>
                <a:cs typeface="Times New Roman" panose="02020603050405020304" pitchFamily="18" charset="0"/>
              </a:rPr>
              <a:t> HKVN</a:t>
            </a:r>
          </a:p>
          <a:p>
            <a:pPr marL="285750" indent="-285750">
              <a:buFont typeface="Wingdings" panose="05000000000000000000" pitchFamily="2" charset="2"/>
              <a:buChar char="v"/>
            </a:pPr>
            <a:r>
              <a:rPr lang="en-US" dirty="0" err="1">
                <a:solidFill>
                  <a:schemeClr val="accent4">
                    <a:lumMod val="75000"/>
                  </a:schemeClr>
                </a:solidFill>
                <a:latin typeface="Times New Roman" panose="02020603050405020304" pitchFamily="18" charset="0"/>
                <a:cs typeface="Times New Roman" panose="02020603050405020304" pitchFamily="18" charset="0"/>
              </a:rPr>
              <a:t>Thực</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hiện</a:t>
            </a:r>
            <a:r>
              <a:rPr lang="en-US" dirty="0">
                <a:solidFill>
                  <a:schemeClr val="accent4">
                    <a:lumMod val="75000"/>
                  </a:schemeClr>
                </a:solidFill>
                <a:latin typeface="Times New Roman" panose="02020603050405020304" pitchFamily="18" charset="0"/>
                <a:cs typeface="Times New Roman" panose="02020603050405020304" pitchFamily="18" charset="0"/>
              </a:rPr>
              <a:t> SB A320-32-1513/ -1514 (chi </a:t>
            </a:r>
            <a:r>
              <a:rPr lang="en-US" dirty="0" err="1">
                <a:solidFill>
                  <a:schemeClr val="accent4">
                    <a:lumMod val="75000"/>
                  </a:schemeClr>
                </a:solidFill>
                <a:latin typeface="Times New Roman" panose="02020603050405020304" pitchFamily="18" charset="0"/>
                <a:cs typeface="Times New Roman" panose="02020603050405020304" pitchFamily="18" charset="0"/>
              </a:rPr>
              <a:t>phí</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khoảng</a:t>
            </a:r>
            <a:r>
              <a:rPr lang="en-US" dirty="0">
                <a:solidFill>
                  <a:schemeClr val="accent4">
                    <a:lumMod val="75000"/>
                  </a:schemeClr>
                </a:solidFill>
                <a:latin typeface="Times New Roman" panose="02020603050405020304" pitchFamily="18" charset="0"/>
                <a:cs typeface="Times New Roman" panose="02020603050405020304" pitchFamily="18" charset="0"/>
              </a:rPr>
              <a:t> 7000 USD/ 1 </a:t>
            </a:r>
            <a:r>
              <a:rPr lang="en-US" dirty="0" err="1">
                <a:solidFill>
                  <a:schemeClr val="accent4">
                    <a:lumMod val="75000"/>
                  </a:schemeClr>
                </a:solidFill>
                <a:latin typeface="Times New Roman" panose="02020603050405020304" pitchFamily="18" charset="0"/>
                <a:cs typeface="Times New Roman" panose="02020603050405020304" pitchFamily="18" charset="0"/>
              </a:rPr>
              <a:t>tàu</a:t>
            </a:r>
            <a:r>
              <a:rPr lang="en-US" dirty="0">
                <a:solidFill>
                  <a:schemeClr val="accent4">
                    <a:lumMod val="75000"/>
                  </a:schemeClr>
                </a:solidFill>
                <a:latin typeface="Times New Roman" panose="02020603050405020304" pitchFamily="18" charset="0"/>
                <a:cs typeface="Times New Roman" panose="02020603050405020304" pitchFamily="18" charset="0"/>
              </a:rPr>
              <a:t>)=&gt; </a:t>
            </a:r>
            <a:r>
              <a:rPr lang="en-US" dirty="0" err="1">
                <a:solidFill>
                  <a:schemeClr val="accent4">
                    <a:lumMod val="75000"/>
                  </a:schemeClr>
                </a:solidFill>
                <a:latin typeface="Times New Roman" panose="02020603050405020304" pitchFamily="18" charset="0"/>
                <a:cs typeface="Times New Roman" panose="02020603050405020304" pitchFamily="18" charset="0"/>
              </a:rPr>
              <a:t>đang</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yêu</a:t>
            </a:r>
            <a:r>
              <a:rPr lang="en-US" dirty="0">
                <a:solidFill>
                  <a:schemeClr val="accent4">
                    <a:lumMod val="75000"/>
                  </a:schemeClr>
                </a:solidFill>
                <a:latin typeface="Times New Roman" panose="02020603050405020304" pitchFamily="18" charset="0"/>
                <a:cs typeface="Times New Roman" panose="02020603050405020304" pitchFamily="18" charset="0"/>
              </a:rPr>
              <a:t> </a:t>
            </a:r>
            <a:r>
              <a:rPr lang="en-US" dirty="0" err="1">
                <a:solidFill>
                  <a:schemeClr val="accent4">
                    <a:lumMod val="75000"/>
                  </a:schemeClr>
                </a:solidFill>
                <a:latin typeface="Times New Roman" panose="02020603050405020304" pitchFamily="18" charset="0"/>
                <a:cs typeface="Times New Roman" panose="02020603050405020304" pitchFamily="18" charset="0"/>
              </a:rPr>
              <a:t>cầu</a:t>
            </a:r>
            <a:r>
              <a:rPr lang="en-US" dirty="0">
                <a:solidFill>
                  <a:schemeClr val="accent4">
                    <a:lumMod val="75000"/>
                  </a:schemeClr>
                </a:solidFill>
                <a:latin typeface="Times New Roman" panose="02020603050405020304" pitchFamily="18" charset="0"/>
                <a:cs typeface="Times New Roman" panose="02020603050405020304" pitchFamily="18" charset="0"/>
              </a:rPr>
              <a:t> QLVT </a:t>
            </a:r>
            <a:r>
              <a:rPr lang="en-US" dirty="0" err="1">
                <a:solidFill>
                  <a:schemeClr val="accent4">
                    <a:lumMod val="75000"/>
                  </a:schemeClr>
                </a:solidFill>
                <a:latin typeface="Times New Roman" panose="02020603050405020304" pitchFamily="18" charset="0"/>
                <a:cs typeface="Times New Roman" panose="02020603050405020304" pitchFamily="18" charset="0"/>
              </a:rPr>
              <a:t>mua</a:t>
            </a:r>
            <a:r>
              <a:rPr lang="en-US" dirty="0">
                <a:solidFill>
                  <a:schemeClr val="accent4">
                    <a:lumMod val="75000"/>
                  </a:schemeClr>
                </a:solidFill>
                <a:latin typeface="Times New Roman" panose="02020603050405020304" pitchFamily="18" charset="0"/>
                <a:cs typeface="Times New Roman" panose="02020603050405020304" pitchFamily="18" charset="0"/>
              </a:rPr>
              <a:t> PTVT</a:t>
            </a:r>
            <a:endParaRPr lang="vi-VN"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0B0B15B2-A7C6-86E2-0E70-28830CF3DC6F}"/>
              </a:ext>
            </a:extLst>
          </p:cNvPr>
          <p:cNvSpPr txBox="1"/>
          <p:nvPr/>
        </p:nvSpPr>
        <p:spPr>
          <a:xfrm>
            <a:off x="737417" y="776651"/>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Phân</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tích</a:t>
            </a:r>
            <a:r>
              <a:rPr lang="en-US" b="1" dirty="0">
                <a:solidFill>
                  <a:srgbClr val="006885"/>
                </a:solidFill>
                <a:latin typeface="Montserrat SemiBold"/>
                <a:ea typeface="Cambria" panose="02040503050406030204" pitchFamily="18" charset="0"/>
                <a:cs typeface="Times New Roman" panose="02020603050405020304" pitchFamily="18" charset="0"/>
              </a:rPr>
              <a:t>/</a:t>
            </a:r>
            <a:r>
              <a:rPr lang="en-US" b="1" dirty="0" err="1">
                <a:solidFill>
                  <a:srgbClr val="006885"/>
                </a:solidFill>
                <a:latin typeface="Montserrat SemiBold"/>
                <a:ea typeface="Cambria" panose="02040503050406030204" pitchFamily="18" charset="0"/>
                <a:cs typeface="Times New Roman" panose="02020603050405020304" pitchFamily="18" charset="0"/>
              </a:rPr>
              <a:t>Đánh</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giá</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DDDD89BA-19E4-6F74-F671-7EF1F69738D4}"/>
              </a:ext>
            </a:extLst>
          </p:cNvPr>
          <p:cNvPicPr>
            <a:picLocks noChangeAspect="1"/>
          </p:cNvPicPr>
          <p:nvPr/>
        </p:nvPicPr>
        <p:blipFill>
          <a:blip r:embed="rId6"/>
          <a:stretch>
            <a:fillRect/>
          </a:stretch>
        </p:blipFill>
        <p:spPr>
          <a:xfrm>
            <a:off x="226540" y="744551"/>
            <a:ext cx="510877" cy="512345"/>
          </a:xfrm>
          <a:prstGeom prst="rect">
            <a:avLst/>
          </a:prstGeom>
        </p:spPr>
      </p:pic>
      <p:sp>
        <p:nvSpPr>
          <p:cNvPr id="18" name="TextBox 17">
            <a:extLst>
              <a:ext uri="{FF2B5EF4-FFF2-40B4-BE49-F238E27FC236}">
                <a16:creationId xmlns:a16="http://schemas.microsoft.com/office/drawing/2014/main" id="{41B7A729-C91B-440F-ADE3-8F3DD6605E82}"/>
              </a:ext>
            </a:extLst>
          </p:cNvPr>
          <p:cNvSpPr txBox="1"/>
          <p:nvPr/>
        </p:nvSpPr>
        <p:spPr>
          <a:xfrm>
            <a:off x="690936" y="3929463"/>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Giải</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pháp</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5B9248DF-6F75-F07B-2CB5-04E5047C5D4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6291" y="3783866"/>
            <a:ext cx="550890" cy="464480"/>
          </a:xfrm>
          <a:prstGeom prst="rect">
            <a:avLst/>
          </a:prstGeom>
        </p:spPr>
      </p:pic>
      <p:pic>
        <p:nvPicPr>
          <p:cNvPr id="20" name="Picture 19">
            <a:extLst>
              <a:ext uri="{FF2B5EF4-FFF2-40B4-BE49-F238E27FC236}">
                <a16:creationId xmlns:a16="http://schemas.microsoft.com/office/drawing/2014/main" id="{9F4C2F3D-9D86-602F-5AE8-54A726F1D508}"/>
              </a:ext>
            </a:extLst>
          </p:cNvPr>
          <p:cNvPicPr>
            <a:picLocks noChangeAspect="1"/>
          </p:cNvPicPr>
          <p:nvPr/>
        </p:nvPicPr>
        <p:blipFill>
          <a:blip r:embed="rId8"/>
          <a:stretch>
            <a:fillRect/>
          </a:stretch>
        </p:blipFill>
        <p:spPr>
          <a:xfrm>
            <a:off x="7165224" y="4441508"/>
            <a:ext cx="1711549" cy="2031326"/>
          </a:xfrm>
          <a:prstGeom prst="rect">
            <a:avLst/>
          </a:prstGeom>
        </p:spPr>
      </p:pic>
    </p:spTree>
    <p:extLst>
      <p:ext uri="{BB962C8B-B14F-4D97-AF65-F5344CB8AC3E}">
        <p14:creationId xmlns:p14="http://schemas.microsoft.com/office/powerpoint/2010/main" val="2264753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902B4707-6DE0-602A-F981-0E362D7B324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5F2A7516-9598-8C2F-F169-9D891EBFCC6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extBox 1">
            <a:extLst>
              <a:ext uri="{FF2B5EF4-FFF2-40B4-BE49-F238E27FC236}">
                <a16:creationId xmlns:a16="http://schemas.microsoft.com/office/drawing/2014/main" id="{FC8A2C38-40B6-B2D3-1C4E-CC0E7811BB8D}"/>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32 – </a:t>
            </a:r>
            <a:r>
              <a:rPr lang="pt-BR" sz="2800" b="1" dirty="0">
                <a:solidFill>
                  <a:srgbClr val="DEA610"/>
                </a:solidFill>
                <a:latin typeface="Times New Roman" panose="02020603050405020304" pitchFamily="18" charset="0"/>
                <a:cs typeface="Times New Roman" panose="02020603050405020304" pitchFamily="18" charset="0"/>
              </a:rPr>
              <a:t>NLG TORQUE LINK APEX PIN CORROSION</a:t>
            </a:r>
            <a:endParaRPr lang="en-US" sz="2800" b="1" dirty="0">
              <a:solidFill>
                <a:srgbClr val="DEA610"/>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85B29F4A-54E8-0125-92F9-AD6D2461033F}"/>
              </a:ext>
            </a:extLst>
          </p:cNvPr>
          <p:cNvGrpSpPr/>
          <p:nvPr/>
        </p:nvGrpSpPr>
        <p:grpSpPr>
          <a:xfrm>
            <a:off x="795408" y="288234"/>
            <a:ext cx="11396592" cy="678753"/>
            <a:chOff x="976560" y="323070"/>
            <a:chExt cx="10755065" cy="678753"/>
          </a:xfrm>
        </p:grpSpPr>
        <p:cxnSp>
          <p:nvCxnSpPr>
            <p:cNvPr id="4" name="Straight Connector 3">
              <a:extLst>
                <a:ext uri="{FF2B5EF4-FFF2-40B4-BE49-F238E27FC236}">
                  <a16:creationId xmlns:a16="http://schemas.microsoft.com/office/drawing/2014/main" id="{42557216-42CE-8409-9617-90A7BE3D610B}"/>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CEA0BFB-CF87-9850-2CD7-0D76C9782C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6" name="TextBox 5">
            <a:extLst>
              <a:ext uri="{FF2B5EF4-FFF2-40B4-BE49-F238E27FC236}">
                <a16:creationId xmlns:a16="http://schemas.microsoft.com/office/drawing/2014/main" id="{893B978D-0C15-A4E3-40A3-B7450A16F5FA}"/>
              </a:ext>
            </a:extLst>
          </p:cNvPr>
          <p:cNvSpPr txBox="1"/>
          <p:nvPr/>
        </p:nvSpPr>
        <p:spPr>
          <a:xfrm>
            <a:off x="737417" y="776651"/>
            <a:ext cx="2662062" cy="369332"/>
          </a:xfrm>
          <a:prstGeom prst="rect">
            <a:avLst/>
          </a:prstGeom>
          <a:noFill/>
        </p:spPr>
        <p:txBody>
          <a:bodyPr wrap="square" rtlCol="0">
            <a:spAutoFit/>
          </a:bodyPr>
          <a:lstStyle/>
          <a:p>
            <a:pPr lvl="0" algn="just">
              <a:spcBef>
                <a:spcPts val="600"/>
              </a:spcBef>
              <a:defRPr/>
            </a:pPr>
            <a:r>
              <a:rPr lang="en-US" b="1" dirty="0">
                <a:solidFill>
                  <a:srgbClr val="006885"/>
                </a:solidFill>
                <a:latin typeface="Montserrat SemiBold"/>
                <a:ea typeface="Cambria" panose="02040503050406030204" pitchFamily="18" charset="0"/>
                <a:cs typeface="Times New Roman" panose="02020603050405020304" pitchFamily="18" charset="0"/>
              </a:rPr>
              <a:t>AD </a:t>
            </a:r>
            <a:r>
              <a:rPr lang="en-US" b="1" dirty="0" err="1">
                <a:solidFill>
                  <a:srgbClr val="006885"/>
                </a:solidFill>
                <a:latin typeface="Montserrat SemiBold"/>
                <a:ea typeface="Cambria" panose="02040503050406030204" pitchFamily="18" charset="0"/>
                <a:cs typeface="Times New Roman" panose="02020603050405020304" pitchFamily="18" charset="0"/>
              </a:rPr>
              <a:t>của</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Cục</a:t>
            </a:r>
            <a:r>
              <a:rPr lang="en-US" b="1" dirty="0">
                <a:solidFill>
                  <a:srgbClr val="006885"/>
                </a:solidFill>
                <a:latin typeface="Montserrat SemiBold"/>
                <a:ea typeface="Cambria" panose="02040503050406030204" pitchFamily="18" charset="0"/>
                <a:cs typeface="Times New Roman" panose="02020603050405020304" pitchFamily="18" charset="0"/>
              </a:rPr>
              <a:t> HKVN</a:t>
            </a:r>
          </a:p>
        </p:txBody>
      </p:sp>
      <p:pic>
        <p:nvPicPr>
          <p:cNvPr id="7" name="Picture 6">
            <a:extLst>
              <a:ext uri="{FF2B5EF4-FFF2-40B4-BE49-F238E27FC236}">
                <a16:creationId xmlns:a16="http://schemas.microsoft.com/office/drawing/2014/main" id="{B3885B04-D7E4-0872-53FA-E9B390B03A30}"/>
              </a:ext>
            </a:extLst>
          </p:cNvPr>
          <p:cNvPicPr>
            <a:picLocks noChangeAspect="1"/>
          </p:cNvPicPr>
          <p:nvPr/>
        </p:nvPicPr>
        <p:blipFill>
          <a:blip r:embed="rId4"/>
          <a:stretch>
            <a:fillRect/>
          </a:stretch>
        </p:blipFill>
        <p:spPr>
          <a:xfrm>
            <a:off x="226540" y="744551"/>
            <a:ext cx="510877" cy="512345"/>
          </a:xfrm>
          <a:prstGeom prst="rect">
            <a:avLst/>
          </a:prstGeom>
        </p:spPr>
      </p:pic>
      <p:sp>
        <p:nvSpPr>
          <p:cNvPr id="8" name="TextBox 7">
            <a:extLst>
              <a:ext uri="{FF2B5EF4-FFF2-40B4-BE49-F238E27FC236}">
                <a16:creationId xmlns:a16="http://schemas.microsoft.com/office/drawing/2014/main" id="{5B333D78-87A9-2ED5-8CC5-E880762E6E05}"/>
              </a:ext>
            </a:extLst>
          </p:cNvPr>
          <p:cNvSpPr txBox="1"/>
          <p:nvPr/>
        </p:nvSpPr>
        <p:spPr>
          <a:xfrm>
            <a:off x="737417" y="3953383"/>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Montserrat SemiBold"/>
                <a:ea typeface="Cambria" panose="02040503050406030204" pitchFamily="18" charset="0"/>
                <a:cs typeface="Times New Roman" panose="02020603050405020304" pitchFamily="18" charset="0"/>
              </a:rPr>
              <a:t>Giải</a:t>
            </a:r>
            <a:r>
              <a:rPr lang="en-US" b="1" dirty="0">
                <a:solidFill>
                  <a:srgbClr val="006885"/>
                </a:solidFill>
                <a:latin typeface="Montserrat SemiBold"/>
                <a:ea typeface="Cambria" panose="02040503050406030204" pitchFamily="18" charset="0"/>
                <a:cs typeface="Times New Roman" panose="02020603050405020304" pitchFamily="18" charset="0"/>
              </a:rPr>
              <a:t> </a:t>
            </a:r>
            <a:r>
              <a:rPr lang="en-US" b="1" dirty="0" err="1">
                <a:solidFill>
                  <a:srgbClr val="006885"/>
                </a:solidFill>
                <a:latin typeface="Montserrat SemiBold"/>
                <a:ea typeface="Cambria" panose="02040503050406030204" pitchFamily="18" charset="0"/>
                <a:cs typeface="Times New Roman" panose="02020603050405020304" pitchFamily="18" charset="0"/>
              </a:rPr>
              <a:t>pháp</a:t>
            </a:r>
            <a:endParaRPr lang="en-US" b="1" dirty="0">
              <a:solidFill>
                <a:srgbClr val="006885"/>
              </a:solidFill>
              <a:latin typeface="Montserrat SemiBold"/>
              <a:ea typeface="Cambria" panose="020405030504060302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AA51987-91F4-ED35-F08F-476495868A4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291" y="3783866"/>
            <a:ext cx="550890" cy="464480"/>
          </a:xfrm>
          <a:prstGeom prst="rect">
            <a:avLst/>
          </a:prstGeom>
        </p:spPr>
      </p:pic>
      <p:graphicFrame>
        <p:nvGraphicFramePr>
          <p:cNvPr id="10" name="Chart 9">
            <a:extLst>
              <a:ext uri="{FF2B5EF4-FFF2-40B4-BE49-F238E27FC236}">
                <a16:creationId xmlns:a16="http://schemas.microsoft.com/office/drawing/2014/main" id="{98FBF7C9-D48F-F525-E422-4E8DFDE95849}"/>
              </a:ext>
            </a:extLst>
          </p:cNvPr>
          <p:cNvGraphicFramePr>
            <a:graphicFrameLocks/>
          </p:cNvGraphicFramePr>
          <p:nvPr/>
        </p:nvGraphicFramePr>
        <p:xfrm>
          <a:off x="857270" y="1178083"/>
          <a:ext cx="4572000" cy="27432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159FA5A5-13DA-F6F0-FD29-AAFD3687C19D}"/>
              </a:ext>
            </a:extLst>
          </p:cNvPr>
          <p:cNvGraphicFramePr>
            <a:graphicFrameLocks/>
          </p:cNvGraphicFramePr>
          <p:nvPr/>
        </p:nvGraphicFramePr>
        <p:xfrm>
          <a:off x="5884203" y="1178083"/>
          <a:ext cx="4572000" cy="2743200"/>
        </p:xfrm>
        <a:graphic>
          <a:graphicData uri="http://schemas.openxmlformats.org/drawingml/2006/chart">
            <c:chart xmlns:c="http://schemas.openxmlformats.org/drawingml/2006/chart" xmlns:r="http://schemas.openxmlformats.org/officeDocument/2006/relationships" r:id="rId7"/>
          </a:graphicData>
        </a:graphic>
      </p:graphicFrame>
      <p:sp>
        <p:nvSpPr>
          <p:cNvPr id="12" name="TextBox 11">
            <a:extLst>
              <a:ext uri="{FF2B5EF4-FFF2-40B4-BE49-F238E27FC236}">
                <a16:creationId xmlns:a16="http://schemas.microsoft.com/office/drawing/2014/main" id="{7335269D-8F96-0E58-1E4B-536797406808}"/>
              </a:ext>
            </a:extLst>
          </p:cNvPr>
          <p:cNvSpPr txBox="1"/>
          <p:nvPr/>
        </p:nvSpPr>
        <p:spPr>
          <a:xfrm>
            <a:off x="737417" y="4646815"/>
            <a:ext cx="9495550" cy="923330"/>
          </a:xfrm>
          <a:prstGeom prst="rect">
            <a:avLst/>
          </a:prstGeom>
          <a:noFill/>
        </p:spPr>
        <p:txBody>
          <a:bodyPr wrap="square" rtlCol="0">
            <a:spAutoFit/>
          </a:bodyPr>
          <a:lstStyle/>
          <a:p>
            <a:pPr marL="342900" indent="-342900">
              <a:buFont typeface="+mj-lt"/>
              <a:buAutoNum type="arabicPeriod"/>
            </a:pPr>
            <a:r>
              <a:rPr lang="en-US" dirty="0"/>
              <a:t>MOC </a:t>
            </a:r>
            <a:r>
              <a:rPr lang="en-US" dirty="0" err="1"/>
              <a:t>phối</a:t>
            </a:r>
            <a:r>
              <a:rPr lang="en-US" dirty="0"/>
              <a:t> </a:t>
            </a:r>
            <a:r>
              <a:rPr lang="en-US" dirty="0" err="1"/>
              <a:t>hợp</a:t>
            </a:r>
            <a:r>
              <a:rPr lang="en-US" dirty="0"/>
              <a:t> </a:t>
            </a:r>
            <a:r>
              <a:rPr lang="en-US" dirty="0" err="1"/>
              <a:t>với</a:t>
            </a:r>
            <a:r>
              <a:rPr lang="en-US" dirty="0"/>
              <a:t> MCC </a:t>
            </a:r>
            <a:r>
              <a:rPr lang="en-US" dirty="0" err="1"/>
              <a:t>xếp</a:t>
            </a:r>
            <a:r>
              <a:rPr lang="en-US" dirty="0"/>
              <a:t> </a:t>
            </a:r>
            <a:r>
              <a:rPr lang="en-US" dirty="0" err="1"/>
              <a:t>lịch</a:t>
            </a:r>
            <a:r>
              <a:rPr lang="en-US" dirty="0"/>
              <a:t> </a:t>
            </a:r>
            <a:r>
              <a:rPr lang="en-US" dirty="0" err="1"/>
              <a:t>dừng</a:t>
            </a:r>
            <a:r>
              <a:rPr lang="en-US" dirty="0"/>
              <a:t> </a:t>
            </a:r>
            <a:r>
              <a:rPr lang="en-US" dirty="0" err="1"/>
              <a:t>tàu</a:t>
            </a:r>
            <a:r>
              <a:rPr lang="en-US" dirty="0"/>
              <a:t> </a:t>
            </a:r>
            <a:r>
              <a:rPr lang="en-US" dirty="0" err="1"/>
              <a:t>kiểm</a:t>
            </a:r>
            <a:r>
              <a:rPr lang="en-US" dirty="0"/>
              <a:t> </a:t>
            </a:r>
            <a:r>
              <a:rPr lang="en-US" dirty="0" err="1"/>
              <a:t>tra</a:t>
            </a:r>
            <a:r>
              <a:rPr lang="en-US" dirty="0"/>
              <a:t> </a:t>
            </a:r>
            <a:r>
              <a:rPr lang="en-US" dirty="0" err="1"/>
              <a:t>cho</a:t>
            </a:r>
            <a:r>
              <a:rPr lang="en-US" dirty="0"/>
              <a:t> </a:t>
            </a:r>
            <a:r>
              <a:rPr lang="en-US" dirty="0" err="1"/>
              <a:t>các</a:t>
            </a:r>
            <a:r>
              <a:rPr lang="en-US" dirty="0"/>
              <a:t> </a:t>
            </a:r>
            <a:r>
              <a:rPr lang="en-US" dirty="0" err="1"/>
              <a:t>tàu</a:t>
            </a:r>
            <a:r>
              <a:rPr lang="en-US" dirty="0"/>
              <a:t> </a:t>
            </a:r>
            <a:r>
              <a:rPr lang="en-US" dirty="0" err="1"/>
              <a:t>thuộc</a:t>
            </a:r>
            <a:r>
              <a:rPr lang="en-US" dirty="0"/>
              <a:t> </a:t>
            </a:r>
            <a:r>
              <a:rPr lang="en-US" dirty="0" err="1"/>
              <a:t>nhóm</a:t>
            </a:r>
            <a:r>
              <a:rPr lang="en-US" dirty="0"/>
              <a:t> 15 </a:t>
            </a:r>
            <a:r>
              <a:rPr lang="en-US" dirty="0" err="1"/>
              <a:t>ngày</a:t>
            </a:r>
            <a:r>
              <a:rPr lang="en-US" dirty="0"/>
              <a:t> </a:t>
            </a:r>
            <a:r>
              <a:rPr lang="en-US" dirty="0" err="1"/>
              <a:t>và</a:t>
            </a:r>
            <a:r>
              <a:rPr lang="en-US" dirty="0"/>
              <a:t> 60 </a:t>
            </a:r>
            <a:r>
              <a:rPr lang="en-US" dirty="0" err="1"/>
              <a:t>ngày</a:t>
            </a:r>
            <a:r>
              <a:rPr lang="en-US" dirty="0"/>
              <a:t> </a:t>
            </a:r>
            <a:r>
              <a:rPr lang="en-US" dirty="0" err="1"/>
              <a:t>trước</a:t>
            </a:r>
            <a:endParaRPr lang="en-US" dirty="0"/>
          </a:p>
          <a:p>
            <a:pPr marL="342900" indent="-342900">
              <a:buFont typeface="+mj-lt"/>
              <a:buAutoNum type="arabicPeriod"/>
            </a:pPr>
            <a:r>
              <a:rPr lang="en-US" dirty="0"/>
              <a:t>QLVT </a:t>
            </a:r>
            <a:r>
              <a:rPr lang="en-US" dirty="0" err="1"/>
              <a:t>đàm</a:t>
            </a:r>
            <a:r>
              <a:rPr lang="en-US" dirty="0"/>
              <a:t> </a:t>
            </a:r>
            <a:r>
              <a:rPr lang="en-US" dirty="0" err="1"/>
              <a:t>phán</a:t>
            </a:r>
            <a:r>
              <a:rPr lang="en-US" dirty="0"/>
              <a:t> </a:t>
            </a:r>
            <a:r>
              <a:rPr lang="en-US" dirty="0" err="1"/>
              <a:t>mua</a:t>
            </a:r>
            <a:r>
              <a:rPr lang="en-US" dirty="0"/>
              <a:t> apex pin </a:t>
            </a:r>
            <a:r>
              <a:rPr lang="en-US" dirty="0" err="1"/>
              <a:t>loại</a:t>
            </a:r>
            <a:r>
              <a:rPr lang="en-US" dirty="0"/>
              <a:t> </a:t>
            </a:r>
            <a:r>
              <a:rPr lang="en-US" dirty="0" err="1"/>
              <a:t>mới</a:t>
            </a:r>
            <a:r>
              <a:rPr lang="en-US" dirty="0"/>
              <a:t> </a:t>
            </a:r>
            <a:r>
              <a:rPr lang="en-US" dirty="0" err="1"/>
              <a:t>để</a:t>
            </a:r>
            <a:r>
              <a:rPr lang="en-US" dirty="0"/>
              <a:t> terminate AD </a:t>
            </a:r>
            <a:r>
              <a:rPr lang="en-US" dirty="0" err="1"/>
              <a:t>của</a:t>
            </a:r>
            <a:r>
              <a:rPr lang="en-US" dirty="0"/>
              <a:t> </a:t>
            </a:r>
            <a:r>
              <a:rPr lang="en-US" dirty="0" err="1"/>
              <a:t>cục</a:t>
            </a:r>
            <a:r>
              <a:rPr lang="en-US" dirty="0"/>
              <a:t> HKVN</a:t>
            </a:r>
          </a:p>
        </p:txBody>
      </p:sp>
    </p:spTree>
    <p:extLst>
      <p:ext uri="{BB962C8B-B14F-4D97-AF65-F5344CB8AC3E}">
        <p14:creationId xmlns:p14="http://schemas.microsoft.com/office/powerpoint/2010/main" val="4233046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990600" y="152400"/>
            <a:ext cx="10481849"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pic>
        <p:nvPicPr>
          <p:cNvPr id="6" name="Picture 5">
            <a:extLst>
              <a:ext uri="{FF2B5EF4-FFF2-40B4-BE49-F238E27FC236}">
                <a16:creationId xmlns:a16="http://schemas.microsoft.com/office/drawing/2014/main" id="{080C0838-9051-64A0-0A76-F05871117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3561" y="1066800"/>
            <a:ext cx="4627692" cy="2971800"/>
          </a:xfrm>
          <a:prstGeom prst="rect">
            <a:avLst/>
          </a:prstGeom>
        </p:spPr>
      </p:pic>
      <p:sp>
        <p:nvSpPr>
          <p:cNvPr id="4" name="Rectangle 3">
            <a:extLst>
              <a:ext uri="{FF2B5EF4-FFF2-40B4-BE49-F238E27FC236}">
                <a16:creationId xmlns:a16="http://schemas.microsoft.com/office/drawing/2014/main" id="{F9BC0898-399F-EB51-D932-4907C5E9DAD2}"/>
              </a:ext>
            </a:extLst>
          </p:cNvPr>
          <p:cNvSpPr/>
          <p:nvPr/>
        </p:nvSpPr>
        <p:spPr>
          <a:xfrm>
            <a:off x="609600" y="984542"/>
            <a:ext cx="5867400" cy="3046988"/>
          </a:xfrm>
          <a:prstGeom prst="rect">
            <a:avLst/>
          </a:prstGeom>
        </p:spPr>
        <p:txBody>
          <a:bodyPr wrap="square">
            <a:spAutoFit/>
          </a:bodyPr>
          <a:lstStyle/>
          <a:p>
            <a:pPr algn="just">
              <a:buClrTx/>
              <a:buFontTx/>
              <a:buNone/>
            </a:pPr>
            <a:r>
              <a:rPr lang="en-US" sz="1600" b="1" dirty="0">
                <a:solidFill>
                  <a:prstClr val="black"/>
                </a:solidFill>
                <a:latin typeface="Times New Roman" panose="02020603050405020304" pitchFamily="18" charset="0"/>
                <a:cs typeface="Times New Roman" panose="02020603050405020304" pitchFamily="18" charset="0"/>
              </a:rPr>
              <a:t>A321: </a:t>
            </a:r>
          </a:p>
          <a:p>
            <a:r>
              <a:rPr lang="en-US" sz="1600" dirty="0" err="1">
                <a:latin typeface="Times New Roman" panose="02020603050405020304" pitchFamily="18" charset="0"/>
                <a:cs typeface="Times New Roman" panose="02020603050405020304" pitchFamily="18" charset="0"/>
              </a:rPr>
              <a:t>Tình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đội</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sinh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đặc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biệt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trường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A357, </a:t>
            </a:r>
            <a:r>
              <a:rPr lang="en-US" sz="1600" dirty="0" err="1">
                <a:latin typeface="Times New Roman" panose="02020603050405020304" pitchFamily="18" charset="0"/>
                <a:cs typeface="Times New Roman" panose="02020603050405020304" pitchFamily="18" charset="0"/>
              </a:rPr>
              <a:t>cụ</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thể</a:t>
            </a:r>
            <a:r>
              <a:rPr 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A357 AOG </a:t>
            </a:r>
            <a:r>
              <a:rPr lang="en-US" sz="1600" dirty="0" err="1">
                <a:latin typeface="Times New Roman" panose="02020603050405020304" pitchFamily="18" charset="0"/>
                <a:cs typeface="Times New Roman" panose="02020603050405020304" pitchFamily="18" charset="0"/>
              </a:rPr>
              <a:t>tại</a:t>
            </a:r>
            <a:r>
              <a:rPr lang="en-US" sz="1600" dirty="0">
                <a:latin typeface="Times New Roman" panose="02020603050405020304" pitchFamily="18" charset="0"/>
                <a:cs typeface="Times New Roman" panose="02020603050405020304" pitchFamily="18" charset="0"/>
              </a:rPr>
              <a:t> BKK do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chốt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xoay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càng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mũi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hóc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tính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phức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ngờ</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tuổi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thọ</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thiết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cuối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3/24). Ban KT </a:t>
            </a:r>
            <a:r>
              <a:rPr lang="en-US" sz="1600" dirty="0" err="1">
                <a:latin typeface="Times New Roman" panose="02020603050405020304" pitchFamily="18" charset="0"/>
                <a:cs typeface="Times New Roman" panose="02020603050405020304" pitchFamily="18" charset="0"/>
              </a:rPr>
              <a:t>sẽ</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MCC </a:t>
            </a:r>
            <a:r>
              <a:rPr lang="en-US" sz="1600" dirty="0" err="1">
                <a:latin typeface="Times New Roman" panose="02020603050405020304" pitchFamily="18" charset="0"/>
                <a:cs typeface="Times New Roman" panose="02020603050405020304" pitchFamily="18" charset="0"/>
              </a:rPr>
              <a:t>kiểm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ảnh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hưởng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đổi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suất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theo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khuyến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Cục</a:t>
            </a:r>
            <a:r>
              <a:rPr lang="en-US" sz="1600" dirty="0">
                <a:latin typeface="Times New Roman" panose="02020603050405020304" pitchFamily="18" charset="0"/>
                <a:cs typeface="Times New Roman" panose="02020603050405020304" pitchFamily="18" charset="0"/>
              </a:rPr>
              <a:t> HKVN.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A604 GTB do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sinh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hóc</a:t>
            </a:r>
            <a:r>
              <a:rPr lang="en-US" sz="1600" dirty="0">
                <a:latin typeface="Times New Roman" panose="02020603050405020304" pitchFamily="18" charset="0"/>
                <a:cs typeface="Times New Roman" panose="02020603050405020304" pitchFamily="18" charset="0"/>
              </a:rPr>
              <a:t> AFT CARGO HEAT FAULT (reset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quay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do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chờ</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vật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heat controller.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A396 leak </a:t>
            </a:r>
            <a:r>
              <a:rPr lang="en-US" sz="1600" dirty="0" err="1">
                <a:latin typeface="Times New Roman" panose="02020603050405020304" pitchFamily="18" charset="0"/>
                <a:cs typeface="Times New Roman" panose="02020603050405020304" pitchFamily="18" charset="0"/>
              </a:rPr>
              <a:t>thủy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càng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thay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thủy</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khắc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phục</a:t>
            </a: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3015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06A8E43-4731-4A28-3092-0442A47E4D57}"/>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3FC18FB-F7E5-144F-9743-B287FD2B2B0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A59D18BB-E0EB-AF3E-1406-425E898CAF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6EBB6930-35AC-0AA5-CF2A-C710B15D448B}"/>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6F12450-329F-4BA5-A092-F353A4C1DA22}"/>
              </a:ext>
            </a:extLst>
          </p:cNvPr>
          <p:cNvSpPr txBox="1"/>
          <p:nvPr/>
        </p:nvSpPr>
        <p:spPr>
          <a:xfrm>
            <a:off x="165098" y="730561"/>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3" name="Table 2">
            <a:extLst>
              <a:ext uri="{FF2B5EF4-FFF2-40B4-BE49-F238E27FC236}">
                <a16:creationId xmlns:a16="http://schemas.microsoft.com/office/drawing/2014/main" id="{EC19FD46-7102-7461-1833-8107250F3CF8}"/>
              </a:ext>
            </a:extLst>
          </p:cNvPr>
          <p:cNvGraphicFramePr>
            <a:graphicFrameLocks noGrp="1"/>
          </p:cNvGraphicFramePr>
          <p:nvPr>
            <p:extLst>
              <p:ext uri="{D42A27DB-BD31-4B8C-83A1-F6EECF244321}">
                <p14:modId xmlns:p14="http://schemas.microsoft.com/office/powerpoint/2010/main" val="3966781842"/>
              </p:ext>
            </p:extLst>
          </p:nvPr>
        </p:nvGraphicFramePr>
        <p:xfrm>
          <a:off x="134289" y="1484501"/>
          <a:ext cx="11719525" cy="5342862"/>
        </p:xfrm>
        <a:graphic>
          <a:graphicData uri="http://schemas.openxmlformats.org/drawingml/2006/table">
            <a:tbl>
              <a:tblPr/>
              <a:tblGrid>
                <a:gridCol w="399111">
                  <a:extLst>
                    <a:ext uri="{9D8B030D-6E8A-4147-A177-3AD203B41FA5}">
                      <a16:colId xmlns:a16="http://schemas.microsoft.com/office/drawing/2014/main" val="3996532200"/>
                    </a:ext>
                  </a:extLst>
                </a:gridCol>
                <a:gridCol w="685800">
                  <a:extLst>
                    <a:ext uri="{9D8B030D-6E8A-4147-A177-3AD203B41FA5}">
                      <a16:colId xmlns:a16="http://schemas.microsoft.com/office/drawing/2014/main" val="1093814024"/>
                    </a:ext>
                  </a:extLst>
                </a:gridCol>
                <a:gridCol w="613761">
                  <a:extLst>
                    <a:ext uri="{9D8B030D-6E8A-4147-A177-3AD203B41FA5}">
                      <a16:colId xmlns:a16="http://schemas.microsoft.com/office/drawing/2014/main" val="3580861019"/>
                    </a:ext>
                  </a:extLst>
                </a:gridCol>
                <a:gridCol w="250192">
                  <a:extLst>
                    <a:ext uri="{9D8B030D-6E8A-4147-A177-3AD203B41FA5}">
                      <a16:colId xmlns:a16="http://schemas.microsoft.com/office/drawing/2014/main" val="1910227785"/>
                    </a:ext>
                  </a:extLst>
                </a:gridCol>
                <a:gridCol w="1697259">
                  <a:extLst>
                    <a:ext uri="{9D8B030D-6E8A-4147-A177-3AD203B41FA5}">
                      <a16:colId xmlns:a16="http://schemas.microsoft.com/office/drawing/2014/main" val="138444625"/>
                    </a:ext>
                  </a:extLst>
                </a:gridCol>
                <a:gridCol w="2163188">
                  <a:extLst>
                    <a:ext uri="{9D8B030D-6E8A-4147-A177-3AD203B41FA5}">
                      <a16:colId xmlns:a16="http://schemas.microsoft.com/office/drawing/2014/main" val="1927248237"/>
                    </a:ext>
                  </a:extLst>
                </a:gridCol>
                <a:gridCol w="457200">
                  <a:extLst>
                    <a:ext uri="{9D8B030D-6E8A-4147-A177-3AD203B41FA5}">
                      <a16:colId xmlns:a16="http://schemas.microsoft.com/office/drawing/2014/main" val="1810702258"/>
                    </a:ext>
                  </a:extLst>
                </a:gridCol>
                <a:gridCol w="5453014">
                  <a:extLst>
                    <a:ext uri="{9D8B030D-6E8A-4147-A177-3AD203B41FA5}">
                      <a16:colId xmlns:a16="http://schemas.microsoft.com/office/drawing/2014/main" val="2357468729"/>
                    </a:ext>
                  </a:extLst>
                </a:gridCol>
              </a:tblGrid>
              <a:tr h="117402">
                <a:tc>
                  <a:txBody>
                    <a:bodyPr/>
                    <a:lstStyle/>
                    <a:p>
                      <a:pPr algn="ctr" fontAlgn="t">
                        <a:buNone/>
                      </a:pPr>
                      <a:r>
                        <a:rPr lang="en-US" sz="1000" b="0" i="0" u="none" strike="noStrike">
                          <a:solidFill>
                            <a:srgbClr val="000000"/>
                          </a:solidFill>
                          <a:effectLst/>
                          <a:latin typeface="Calibri" panose="020F0502020204030204" pitchFamily="34" charset="0"/>
                        </a:rPr>
                        <a:t>A/C</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OPEN DATE</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CLOSED DATE</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STA</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DEFECT</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ACTION</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ATA</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Engineering Assessment</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34526085"/>
                  </a:ext>
                </a:extLst>
              </a:tr>
              <a:tr h="2190455">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A890</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11:50 19/07/2025</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DURING PUSHBACK CANNOT START ENG 2 A/C WAS TOWED BACK TO BAY 34 BY TRACTOR</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CHECK ENG 2 FOUND STARTER DAMAGED, NIL SPARE AT SGN</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DUE TO A890 AOG “ENG 2 CAN NOT START”</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OCC CHANGE A888 FLY VN246 INSTEAD OF A890.</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a:solidFill>
                            <a:srgbClr val="000000"/>
                          </a:solidFill>
                          <a:effectLst/>
                          <a:latin typeface="Times New Roman" panose="02020603050405020304" pitchFamily="18" charset="0"/>
                          <a:cs typeface="Times New Roman" panose="02020603050405020304" pitchFamily="18" charset="0"/>
                        </a:rPr>
                        <a:t>A888 VN246 TOTAL DELAY: 163 MINS, DELAY KT: 37 MINS</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a:solidFill>
                            <a:srgbClr val="000000"/>
                          </a:solidFill>
                          <a:effectLst/>
                          <a:latin typeface="Times New Roman" panose="02020603050405020304" pitchFamily="18" charset="0"/>
                          <a:cs typeface="Times New Roman" panose="02020603050405020304" pitchFamily="18" charset="0"/>
                        </a:rPr>
                        <a:t>A890#2 ESN 21136</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Sau khi tàu bay quay lại bãi 34, VAECO đã T/S và xác định hỏng hóc Starter động cơ số 2.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Hỏng hóc Starter đã xảy ra nhiều lần trên đội bay VNA, xuất hiện từ khi mới nhận tàu, vẫn được NSX xác định nguyên nhân do lỗi Oil Servicing, thừa hoặc thiếu oil đều sẽ gây ra hỏng hóc.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Đối với Starter tàu A890: dù khối đã được sử dụng trong thời gian dài (TSO = 28284 FH), tuy nhiên trước khi thay động cơ và thực hiện Oil Servicing ngày 17/07 khối hoạt động bình thường, kiểm tra MCD tần suất không phát hiện hỏng hóc. Sau đó 02 ngày vào 19/07 trong event A890, kiểm tra MCD đã phát hiện nhiều mạt kim loại. Hiện tượng này giống với một số hỏng hóc Starter trước đây do lỗi Oil Servicing, do đó nghi ngờ hỏng hóc trên A890 có cùng nguyên nhân.</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Hiện NSX đưa ra giải pháp phòng ngừa duy nhất là đảm bảo việc Service Oil được thực hiện chuẩn xác. Tất cả các khuyến cáo của NSX đều đã được VNA/VAECO tuân thủ. VNA đã phối hợp với VAECO ban hành TM yêu cầu thực hiện quy trình Servicing chặt hơn so với AMM. Mặc dù góp phần giảm được số sự vụ, tuy nhiên vẫn không phòng tránh được hoàn toàn vấn đề.   </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Từ 09/12/24 VNA đã triển khai chương trình kiểm tra tăng cường Starter MCD với tần suất 375FH với mục tiêu phát hiện sớm rủi ro hỏng hóc để gửi Starter đi bảo dưỡng sớm và đã có hiệu quả: phát hiện sớm và chủ động thay thế 2 trường hợp Starter hỏng trên tàu A896 (T4/2025) và A891 (T5/2025); đồng thời từ tháng 12/2024 đến 07/2025 chỉ có trường hợp A890 gây OI. Tuy nhiên các khối Starter gửi đi sửa chữa vẫn phát hiện hỏng hóc nặng, do đó từ 17/07/25 VNA đã yêu cầu tăng tần suất kiểm tra chủ động MCD thành 250 FH</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7716074"/>
                  </a:ext>
                </a:extLst>
              </a:tr>
              <a:tr h="1960116">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A893</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15:40 18/07/2025</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21:00 18/07/2025</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APPEARED MSG F/CTL RUDDER ELEC ACTUATOR Appeared MSG F/CTL RUDDER ELEC ACTUATOR</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 EVENT CLOSED ACTION: C/O REPLACED THE RUDDER ELECTRO-HYDROSTATIC ACTUATOR (EHA) REF MP A350-A-27-24-55-00003-520A/720C-A -&gt; SATIS. A/C SERVICEABLE.  </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27-20</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Times New Roman" panose="02020603050405020304" pitchFamily="18" charset="0"/>
                          <a:cs typeface="Times New Roman" panose="02020603050405020304" pitchFamily="18" charset="0"/>
                        </a:rPr>
                        <a:t>Tàu bay A893, được bố trí dừng từ 0h-18h ngày 18/07/2025 để khắc phục ADD do hỏng hóc leak thủy lực ở Tee-fitting green system</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Để thực hiện công việc này cần phải depressure hệ thống thủy lực, và thay thế đường ống thủy lực.</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Sau khi hoàn thành công việc thay thế đường ống thủy lực, thực hiện tăng áp thủy lực để kiểm tra leak check thì xuất hiện cảnh báo NOGO F/CTL RUDDER ELEC ACTUATOR, với FC 2796F6Q7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FC 2796F6Q7 này chỉ xảy ra khi on-ground, tàu bay tự thực hiện Auto-filling cho bình thủy lực của Rudder EHA. Khi không thực hiện filling được thì cảnh báo xuất hiện.</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Trường hợp này, nghi ngờ là hệ quả khi Depressure hệ thống thủy lực, khiến bình tích áp của EHA cũng bị giảm thủy lực. Sau khi tăng áp lại thủy lực và không refill được thì cảnh báo xuất hiện. Đã thực hiện theo TSM để manual refill nhưng cũng không được, nên VAECO quyết định thực hiện thay EHA.</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Khối rudder EHA PN CA67008-026, SN 01300648 trên A893 là đời mới nhất, mới lắp lên A893 từ 23.Oct.2024 (CSI = 640, TSI = 3600). Tuy nhiên, lần đi shop gần nhất là do lỗi low level dectection. Cũng chính là lỗi hiện tại trên tàu A893 (cùng FC). Đang nghi ngờ có thể do chất lượng sửa chữa. Sẽ phải chờ SFR lần này để xác định. Đồng thời cũng đang làm việc với AiB để đánh giá thêm.</a:t>
                      </a:r>
                    </a:p>
                  </a:txBody>
                  <a:tcPr marL="2954" marR="2954" marT="2954"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1559780"/>
                  </a:ext>
                </a:extLst>
              </a:tr>
            </a:tbl>
          </a:graphicData>
        </a:graphic>
      </p:graphicFrame>
    </p:spTree>
    <p:extLst>
      <p:ext uri="{BB962C8B-B14F-4D97-AF65-F5344CB8AC3E}">
        <p14:creationId xmlns:p14="http://schemas.microsoft.com/office/powerpoint/2010/main" val="1029769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781B61D-6BE9-4DF7-A2B8-D1187903C81A}"/>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9A5F70F2-0599-4D29-0646-FC1134E217B0}"/>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873DC72-16F1-E226-9FA5-C0C970BA04A6}"/>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786AEEC8-8E48-B08A-E5ED-540FFDEE7644}"/>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sp>
        <p:nvSpPr>
          <p:cNvPr id="7" name="TextBox 6">
            <a:extLst>
              <a:ext uri="{FF2B5EF4-FFF2-40B4-BE49-F238E27FC236}">
                <a16:creationId xmlns:a16="http://schemas.microsoft.com/office/drawing/2014/main" id="{98F09E07-0161-2EFF-55BC-827D68473881}"/>
              </a:ext>
            </a:extLst>
          </p:cNvPr>
          <p:cNvSpPr txBox="1"/>
          <p:nvPr/>
        </p:nvSpPr>
        <p:spPr>
          <a:xfrm>
            <a:off x="165098" y="730561"/>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vi-VN"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5" name="Table 4">
            <a:extLst>
              <a:ext uri="{FF2B5EF4-FFF2-40B4-BE49-F238E27FC236}">
                <a16:creationId xmlns:a16="http://schemas.microsoft.com/office/drawing/2014/main" id="{763C26AC-F441-7537-19DA-CA12FC8EC7A9}"/>
              </a:ext>
            </a:extLst>
          </p:cNvPr>
          <p:cNvGraphicFramePr>
            <a:graphicFrameLocks noGrp="1"/>
          </p:cNvGraphicFramePr>
          <p:nvPr>
            <p:extLst>
              <p:ext uri="{D42A27DB-BD31-4B8C-83A1-F6EECF244321}">
                <p14:modId xmlns:p14="http://schemas.microsoft.com/office/powerpoint/2010/main" val="2601322760"/>
              </p:ext>
            </p:extLst>
          </p:nvPr>
        </p:nvGraphicFramePr>
        <p:xfrm>
          <a:off x="196849" y="1611738"/>
          <a:ext cx="11625213" cy="3815426"/>
        </p:xfrm>
        <a:graphic>
          <a:graphicData uri="http://schemas.openxmlformats.org/drawingml/2006/table">
            <a:tbl>
              <a:tblPr/>
              <a:tblGrid>
                <a:gridCol w="336551">
                  <a:extLst>
                    <a:ext uri="{9D8B030D-6E8A-4147-A177-3AD203B41FA5}">
                      <a16:colId xmlns:a16="http://schemas.microsoft.com/office/drawing/2014/main" val="2739692636"/>
                    </a:ext>
                  </a:extLst>
                </a:gridCol>
                <a:gridCol w="609600">
                  <a:extLst>
                    <a:ext uri="{9D8B030D-6E8A-4147-A177-3AD203B41FA5}">
                      <a16:colId xmlns:a16="http://schemas.microsoft.com/office/drawing/2014/main" val="3341851503"/>
                    </a:ext>
                  </a:extLst>
                </a:gridCol>
                <a:gridCol w="304800">
                  <a:extLst>
                    <a:ext uri="{9D8B030D-6E8A-4147-A177-3AD203B41FA5}">
                      <a16:colId xmlns:a16="http://schemas.microsoft.com/office/drawing/2014/main" val="1317429446"/>
                    </a:ext>
                  </a:extLst>
                </a:gridCol>
                <a:gridCol w="609600">
                  <a:extLst>
                    <a:ext uri="{9D8B030D-6E8A-4147-A177-3AD203B41FA5}">
                      <a16:colId xmlns:a16="http://schemas.microsoft.com/office/drawing/2014/main" val="3735092681"/>
                    </a:ext>
                  </a:extLst>
                </a:gridCol>
                <a:gridCol w="457200">
                  <a:extLst>
                    <a:ext uri="{9D8B030D-6E8A-4147-A177-3AD203B41FA5}">
                      <a16:colId xmlns:a16="http://schemas.microsoft.com/office/drawing/2014/main" val="58077959"/>
                    </a:ext>
                  </a:extLst>
                </a:gridCol>
                <a:gridCol w="457200">
                  <a:extLst>
                    <a:ext uri="{9D8B030D-6E8A-4147-A177-3AD203B41FA5}">
                      <a16:colId xmlns:a16="http://schemas.microsoft.com/office/drawing/2014/main" val="2308665628"/>
                    </a:ext>
                  </a:extLst>
                </a:gridCol>
                <a:gridCol w="1738960">
                  <a:extLst>
                    <a:ext uri="{9D8B030D-6E8A-4147-A177-3AD203B41FA5}">
                      <a16:colId xmlns:a16="http://schemas.microsoft.com/office/drawing/2014/main" val="3614108611"/>
                    </a:ext>
                  </a:extLst>
                </a:gridCol>
                <a:gridCol w="1905000">
                  <a:extLst>
                    <a:ext uri="{9D8B030D-6E8A-4147-A177-3AD203B41FA5}">
                      <a16:colId xmlns:a16="http://schemas.microsoft.com/office/drawing/2014/main" val="1197103076"/>
                    </a:ext>
                  </a:extLst>
                </a:gridCol>
                <a:gridCol w="381000">
                  <a:extLst>
                    <a:ext uri="{9D8B030D-6E8A-4147-A177-3AD203B41FA5}">
                      <a16:colId xmlns:a16="http://schemas.microsoft.com/office/drawing/2014/main" val="134315133"/>
                    </a:ext>
                  </a:extLst>
                </a:gridCol>
                <a:gridCol w="4825302">
                  <a:extLst>
                    <a:ext uri="{9D8B030D-6E8A-4147-A177-3AD203B41FA5}">
                      <a16:colId xmlns:a16="http://schemas.microsoft.com/office/drawing/2014/main" val="931530744"/>
                    </a:ext>
                  </a:extLst>
                </a:gridCol>
              </a:tblGrid>
              <a:tr h="78677">
                <a:tc>
                  <a:txBody>
                    <a:bodyPr/>
                    <a:lstStyle/>
                    <a:p>
                      <a:pPr algn="ctr" fontAlgn="t">
                        <a:buNone/>
                      </a:pPr>
                      <a:r>
                        <a:rPr lang="en-US" sz="1000" b="0" i="0" u="none" strike="noStrike">
                          <a:solidFill>
                            <a:srgbClr val="000000"/>
                          </a:solidFill>
                          <a:effectLst/>
                          <a:latin typeface="Calibri" panose="020F0502020204030204" pitchFamily="34"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24271864"/>
                  </a:ext>
                </a:extLst>
              </a:tr>
              <a:tr h="1363555">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A890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11:50 19/07/2025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37</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VN246</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SGN-HAN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DURING PUSHBACK CANNOT START ENG 2 A/C WAS TOWED BACK TO BAY 34 BY TRACTOR</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CHECK ENG 2 FOUND STARTER DAMAGED, NIL SPARE AT 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DUE TO A890 AOG “ENG 2 CAN NOT START”</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OCC CHANGE A888 FLY VN246 INSTEAD OF A890.</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A888 VN246 TOTAL DELAY: 163 MINS, DELAY KT: 37 MINS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dirty="0">
                          <a:solidFill>
                            <a:srgbClr val="000000"/>
                          </a:solidFill>
                          <a:effectLst/>
                          <a:latin typeface="Times New Roman" panose="02020603050405020304" pitchFamily="18" charset="0"/>
                          <a:cs typeface="Times New Roman" panose="02020603050405020304" pitchFamily="18" charset="0"/>
                        </a:rPr>
                        <a:t>A890#2 ESN 21136</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Sau khi tàu bay quay lại bãi 34, VAECO đã T/S và xác định hỏng hóc Starter động cơ số 2.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Hỏng hóc Starter đã xảy ra nhiều lần trên đội bay VNA, xuất hiện từ khi mới nhận tàu, vẫn được NSX xác định nguyên nhân do lỗi Oil Servicing, thừa hoặc thiếu oil đều sẽ gây ra hỏng hóc.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Đối với Starter tàu A890: dù khối đã được sử dụng trong thời gian dài (TSO = 28284 FH), tuy nhiên trước khi thay động cơ và thực hiện Oil Servicing ngày 17/07 khối hoạt động bình thường, kiểm tra MCD tần suất không phát hiện hỏng hóc. Sau đó 02 ngày vào 19/07 trong event A890, kiểm tra MCD đã phát hiện nhiều mạt kim loại. Hiện tượng này giống với một số hỏng hóc Starter trước đây do lỗi Oil Servicing, do đó nghi ngờ hỏng hóc trên A890 có cùng nguyên nhân.</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Hiện NSX đưa ra giải pháp phòng ngừa duy nhất là đảm bảo việc Service Oil được thực hiện chuẩn xác. Tất cả các khuyến cáo của NSX đều đã được VNA/VAECO tuân thủ. VNA đã phối hợp với VAECO ban hành TM yêu cầu thực hiện quy trình Servicing chặt hơn so với AMM. Mặc dù góp phần giảm được số sự vụ, tuy nhiên vẫn không phòng tránh được hoàn toàn vấn đề.   </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r>
                        <a:rPr lang="vi-VN" sz="1000" b="0" i="0" u="none" strike="noStrike" dirty="0">
                          <a:solidFill>
                            <a:srgbClr val="000000"/>
                          </a:solidFill>
                          <a:effectLst/>
                          <a:latin typeface="Times New Roman" panose="02020603050405020304" pitchFamily="18" charset="0"/>
                          <a:cs typeface="Times New Roman" panose="02020603050405020304" pitchFamily="18" charset="0"/>
                        </a:rPr>
                        <a:t>Từ 09/12/24 VNA đã triển khai chương trình kiểm tra tăng cường Starter MCD với tần suất 375FH với mục tiêu phát hiện sớm rủi ro hỏng hóc để gửi Starter đi bảo dưỡng sớm và đã có hiệu quả: phát hiện sớm và chủ động thay thế 2 trường hợp Starter hỏng trên tàu A896 (T4/2025) và A891 (T5/2025); đồng thời từ tháng 12/2024 đến 07/2025 chỉ có trường hợp A890 gây OI. Tuy nhiên các khối Starter gửi đi sửa chữa vẫn phát hiện hỏng hóc nặng, do đó từ 17/07/25 VNA đã yêu cầu tăng tần suất kiểm tra chủ động MCD thành 250 FH.</a:t>
                      </a:r>
                      <a:br>
                        <a:rPr lang="vi-VN" sz="10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2435144"/>
                  </a:ext>
                </a:extLst>
              </a:tr>
            </a:tbl>
          </a:graphicData>
        </a:graphic>
      </p:graphicFrame>
    </p:spTree>
    <p:extLst>
      <p:ext uri="{BB962C8B-B14F-4D97-AF65-F5344CB8AC3E}">
        <p14:creationId xmlns:p14="http://schemas.microsoft.com/office/powerpoint/2010/main" val="431689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2" name="Google Shape;82;p7"/>
          <p:cNvSpPr txBox="1"/>
          <p:nvPr/>
        </p:nvSpPr>
        <p:spPr>
          <a:xfrm>
            <a:off x="1" y="0"/>
            <a:ext cx="6951209" cy="523180"/>
          </a:xfrm>
          <a:prstGeom prst="rect">
            <a:avLst/>
          </a:prstGeom>
          <a:noFill/>
          <a:ln>
            <a:noFill/>
          </a:ln>
        </p:spPr>
        <p:txBody>
          <a:bodyPr spcFirstLastPara="1" wrap="square" lIns="91433" tIns="45700" rIns="91433" bIns="45700" anchor="t" anchorCtr="0">
            <a:spAutoFit/>
          </a:bodyPr>
          <a:lstStyle/>
          <a:p>
            <a:pPr lvl="0"/>
            <a:r>
              <a:rPr lang="en-US" sz="2800" b="1" dirty="0">
                <a:solidFill>
                  <a:srgbClr val="DEA610"/>
                </a:solidFill>
                <a:latin typeface="Montserrat SemiBold"/>
                <a:ea typeface="Montserrat SemiBold"/>
                <a:cs typeface="Montserrat SemiBold"/>
                <a:sym typeface="Montserrat SemiBold"/>
              </a:rPr>
              <a:t>A890 – ENGINE STARTER FAILURE</a:t>
            </a:r>
          </a:p>
        </p:txBody>
      </p:sp>
      <p:sp>
        <p:nvSpPr>
          <p:cNvPr id="101" name="Google Shape;101;p7"/>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29" name="TextBox 28">
            <a:extLst>
              <a:ext uri="{FF2B5EF4-FFF2-40B4-BE49-F238E27FC236}">
                <a16:creationId xmlns:a16="http://schemas.microsoft.com/office/drawing/2014/main" id="{E6C5A45C-4CC4-4CCC-B342-0C68B40ACA34}"/>
              </a:ext>
            </a:extLst>
          </p:cNvPr>
          <p:cNvSpPr txBox="1"/>
          <p:nvPr/>
        </p:nvSpPr>
        <p:spPr>
          <a:xfrm>
            <a:off x="163790" y="811188"/>
            <a:ext cx="8228601" cy="769634"/>
          </a:xfrm>
          <a:prstGeom prst="rect">
            <a:avLst/>
          </a:prstGeom>
          <a:solidFill>
            <a:srgbClr val="FFFFCC"/>
          </a:solidFill>
          <a:ln>
            <a:solidFill>
              <a:srgbClr val="5B9BD5"/>
            </a:solidFill>
          </a:ln>
        </p:spPr>
        <p:txBody>
          <a:bodyPr wrap="square" rtlCol="0">
            <a:spAutoFit/>
          </a:bodyPr>
          <a:lstStyle/>
          <a:p>
            <a:pPr defTabSz="1219170">
              <a:defRPr/>
            </a:pPr>
            <a:r>
              <a:rPr lang="en-US" sz="1467" b="1" dirty="0">
                <a:ln w="0"/>
                <a:solidFill>
                  <a:srgbClr val="0070C0"/>
                </a:solidFill>
                <a:latin typeface="Times New Roman" panose="02020603050405020304" pitchFamily="18" charset="0"/>
                <a:cs typeface="Times New Roman" panose="02020603050405020304" pitchFamily="18" charset="0"/>
              </a:rPr>
              <a:t>Event:</a:t>
            </a:r>
          </a:p>
          <a:p>
            <a:pPr marL="380990" indent="-380990">
              <a:buFontTx/>
              <a:buChar char="-"/>
            </a:pPr>
            <a:r>
              <a:rPr lang="en-US" sz="1467" dirty="0">
                <a:ln w="0"/>
                <a:solidFill>
                  <a:prstClr val="black"/>
                </a:solidFill>
                <a:latin typeface="Times New Roman" panose="02020603050405020304" pitchFamily="18" charset="0"/>
                <a:cs typeface="Times New Roman" panose="02020603050405020304" pitchFamily="18" charset="0"/>
              </a:rPr>
              <a:t>A890 19/07: (GTB/AOG) AFTER PUSHBACK, CAPT REPORTED: ENG#2 START FAILED.</a:t>
            </a:r>
          </a:p>
          <a:p>
            <a:pPr marL="380990" indent="-380990">
              <a:buFontTx/>
              <a:buChar char="-"/>
            </a:pPr>
            <a:r>
              <a:rPr lang="en-US" sz="1467" dirty="0">
                <a:ln w="0"/>
                <a:solidFill>
                  <a:prstClr val="black"/>
                </a:solidFill>
                <a:latin typeface="Times New Roman" panose="02020603050405020304" pitchFamily="18" charset="0"/>
                <a:cs typeface="Times New Roman" panose="02020603050405020304" pitchFamily="18" charset="0"/>
              </a:rPr>
              <a:t>Sau </a:t>
            </a:r>
            <a:r>
              <a:rPr lang="en-US" sz="1467" dirty="0" err="1">
                <a:ln w="0"/>
                <a:solidFill>
                  <a:prstClr val="black"/>
                </a:solidFill>
                <a:latin typeface="Times New Roman" panose="02020603050405020304" pitchFamily="18" charset="0"/>
                <a:cs typeface="Times New Roman" panose="02020603050405020304" pitchFamily="18" charset="0"/>
              </a:rPr>
              <a:t>khi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tàu</a:t>
            </a:r>
            <a:r>
              <a:rPr lang="en-US" sz="1467" dirty="0">
                <a:ln w="0"/>
                <a:solidFill>
                  <a:prstClr val="black"/>
                </a:solidFill>
                <a:latin typeface="Times New Roman" panose="02020603050405020304" pitchFamily="18" charset="0"/>
                <a:cs typeface="Times New Roman" panose="02020603050405020304" pitchFamily="18" charset="0"/>
              </a:rPr>
              <a:t> bay quay </a:t>
            </a:r>
            <a:r>
              <a:rPr lang="en-US" sz="1467" dirty="0" err="1">
                <a:ln w="0"/>
                <a:solidFill>
                  <a:prstClr val="black"/>
                </a:solidFill>
                <a:latin typeface="Times New Roman" panose="02020603050405020304" pitchFamily="18" charset="0"/>
                <a:cs typeface="Times New Roman" panose="02020603050405020304" pitchFamily="18" charset="0"/>
              </a:rPr>
              <a:t>lại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bãi</a:t>
            </a:r>
            <a:r>
              <a:rPr lang="en-US" sz="1467" dirty="0">
                <a:ln w="0"/>
                <a:solidFill>
                  <a:prstClr val="black"/>
                </a:solidFill>
                <a:latin typeface="Times New Roman" panose="02020603050405020304" pitchFamily="18" charset="0"/>
                <a:cs typeface="Times New Roman" panose="02020603050405020304" pitchFamily="18" charset="0"/>
              </a:rPr>
              <a:t> 34, VAECO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T/S </a:t>
            </a:r>
            <a:r>
              <a:rPr lang="en-US" sz="1467" dirty="0" err="1">
                <a:ln w="0"/>
                <a:solidFill>
                  <a:prstClr val="black"/>
                </a:solidFill>
                <a:latin typeface="Times New Roman" panose="02020603050405020304" pitchFamily="18" charset="0"/>
                <a:cs typeface="Times New Roman" panose="02020603050405020304" pitchFamily="18" charset="0"/>
              </a:rPr>
              <a:t>và</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xác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định</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Starter </a:t>
            </a:r>
            <a:r>
              <a:rPr lang="en-US" sz="1467" dirty="0" err="1">
                <a:ln w="0"/>
                <a:solidFill>
                  <a:prstClr val="black"/>
                </a:solidFill>
                <a:latin typeface="Times New Roman" panose="02020603050405020304" pitchFamily="18" charset="0"/>
                <a:cs typeface="Times New Roman" panose="02020603050405020304" pitchFamily="18" charset="0"/>
              </a:rPr>
              <a:t>động</a:t>
            </a:r>
            <a:r>
              <a:rPr lang="en-US" sz="1467" dirty="0">
                <a:ln w="0"/>
                <a:solidFill>
                  <a:prstClr val="black"/>
                </a:solidFill>
                <a:latin typeface="Times New Roman" panose="02020603050405020304" pitchFamily="18" charset="0"/>
                <a:cs typeface="Times New Roman" panose="02020603050405020304" pitchFamily="18" charset="0"/>
              </a:rPr>
              <a:t> c</a:t>
            </a:r>
            <a:r>
              <a:rPr lang="vi-VN" sz="1467" dirty="0">
                <a:ln w="0"/>
                <a:solidFill>
                  <a:prstClr val="black"/>
                </a:solidFill>
                <a:latin typeface="Times New Roman" panose="02020603050405020304" pitchFamily="18" charset="0"/>
                <a:cs typeface="Times New Roman" panose="02020603050405020304" pitchFamily="18" charset="0"/>
              </a:rPr>
              <a:t>ơ</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số</a:t>
            </a:r>
            <a:r>
              <a:rPr lang="en-US" sz="1467" dirty="0">
                <a:ln w="0"/>
                <a:solidFill>
                  <a:prstClr val="black"/>
                </a:solidFill>
                <a:latin typeface="Times New Roman" panose="02020603050405020304" pitchFamily="18" charset="0"/>
                <a:cs typeface="Times New Roman" panose="02020603050405020304" pitchFamily="18" charset="0"/>
              </a:rPr>
              <a:t> 2. </a:t>
            </a:r>
          </a:p>
        </p:txBody>
      </p:sp>
      <p:sp>
        <p:nvSpPr>
          <p:cNvPr id="30" name="TextBox 29">
            <a:extLst>
              <a:ext uri="{FF2B5EF4-FFF2-40B4-BE49-F238E27FC236}">
                <a16:creationId xmlns:a16="http://schemas.microsoft.com/office/drawing/2014/main" id="{86BFD5BE-BF49-49F3-BB21-892440DA5733}"/>
              </a:ext>
            </a:extLst>
          </p:cNvPr>
          <p:cNvSpPr txBox="1"/>
          <p:nvPr/>
        </p:nvSpPr>
        <p:spPr>
          <a:xfrm>
            <a:off x="151047" y="1799825"/>
            <a:ext cx="8241344" cy="1898468"/>
          </a:xfrm>
          <a:prstGeom prst="rect">
            <a:avLst/>
          </a:prstGeom>
          <a:solidFill>
            <a:srgbClr val="5B9BD5">
              <a:lumMod val="20000"/>
              <a:lumOff val="80000"/>
            </a:srgbClr>
          </a:solidFill>
          <a:ln>
            <a:solidFill>
              <a:srgbClr val="5B9BD5"/>
            </a:solidFill>
          </a:ln>
        </p:spPr>
        <p:txBody>
          <a:bodyPr wrap="square" rtlCol="0">
            <a:spAutoFit/>
          </a:bodyPr>
          <a:lstStyle/>
          <a:p>
            <a:pPr defTabSz="1219170">
              <a:defRPr/>
            </a:pPr>
            <a:r>
              <a:rPr lang="en-US" sz="1467" b="1" dirty="0" err="1">
                <a:ln w="0"/>
                <a:solidFill>
                  <a:srgbClr val="0070C0"/>
                </a:solidFill>
                <a:latin typeface="Times New Roman" panose="02020603050405020304" pitchFamily="18" charset="0"/>
                <a:cs typeface="Times New Roman" panose="02020603050405020304" pitchFamily="18" charset="0"/>
              </a:rPr>
              <a:t>Đánh</a:t>
            </a:r>
            <a:r>
              <a:rPr lang="en-US" sz="1467" b="1" dirty="0">
                <a:ln w="0"/>
                <a:solidFill>
                  <a:srgbClr val="0070C0"/>
                </a:solidFill>
                <a:latin typeface="Times New Roman" panose="02020603050405020304" pitchFamily="18" charset="0"/>
                <a:cs typeface="Times New Roman" panose="02020603050405020304" pitchFamily="18" charset="0"/>
              </a:rPr>
              <a:t> </a:t>
            </a:r>
            <a:r>
              <a:rPr lang="en-US" sz="1467" b="1" dirty="0" err="1">
                <a:ln w="0"/>
                <a:solidFill>
                  <a:srgbClr val="0070C0"/>
                </a:solidFill>
                <a:latin typeface="Times New Roman" panose="02020603050405020304" pitchFamily="18" charset="0"/>
                <a:cs typeface="Times New Roman" panose="02020603050405020304" pitchFamily="18" charset="0"/>
              </a:rPr>
              <a:t>giá</a:t>
            </a:r>
            <a:r>
              <a:rPr lang="en-US" sz="1467" b="1" dirty="0">
                <a:ln w="0"/>
                <a:solidFill>
                  <a:srgbClr val="0070C0"/>
                </a:solidFill>
                <a:latin typeface="Times New Roman" panose="02020603050405020304" pitchFamily="18" charset="0"/>
                <a:cs typeface="Times New Roman" panose="02020603050405020304" pitchFamily="18" charset="0"/>
              </a:rPr>
              <a:t>:</a:t>
            </a:r>
          </a:p>
          <a:p>
            <a:pPr marL="380990" indent="-380990" algn="just" defTabSz="1219170">
              <a:buFontTx/>
              <a:buChar char="-"/>
              <a:defRPr/>
            </a:pP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Starter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xảy</a:t>
            </a:r>
            <a:r>
              <a:rPr lang="en-US" sz="1467" dirty="0">
                <a:ln w="0"/>
                <a:solidFill>
                  <a:prstClr val="black"/>
                </a:solidFill>
                <a:latin typeface="Times New Roman" panose="02020603050405020304" pitchFamily="18" charset="0"/>
                <a:cs typeface="Times New Roman" panose="02020603050405020304" pitchFamily="18" charset="0"/>
              </a:rPr>
              <a:t> ra </a:t>
            </a:r>
            <a:r>
              <a:rPr lang="en-US" sz="1467" dirty="0" err="1">
                <a:ln w="0"/>
                <a:solidFill>
                  <a:prstClr val="black"/>
                </a:solidFill>
                <a:latin typeface="Times New Roman" panose="02020603050405020304" pitchFamily="18" charset="0"/>
                <a:cs typeface="Times New Roman" panose="02020603050405020304" pitchFamily="18" charset="0"/>
              </a:rPr>
              <a:t>nhiều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lần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trên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đội</a:t>
            </a:r>
            <a:r>
              <a:rPr lang="en-US" sz="1467" dirty="0">
                <a:ln w="0"/>
                <a:solidFill>
                  <a:prstClr val="black"/>
                </a:solidFill>
                <a:latin typeface="Times New Roman" panose="02020603050405020304" pitchFamily="18" charset="0"/>
                <a:cs typeface="Times New Roman" panose="02020603050405020304" pitchFamily="18" charset="0"/>
              </a:rPr>
              <a:t> bay VNA, </a:t>
            </a:r>
            <a:r>
              <a:rPr lang="en-US" sz="1467" dirty="0" err="1">
                <a:ln w="0"/>
                <a:solidFill>
                  <a:prstClr val="black"/>
                </a:solidFill>
                <a:latin typeface="Times New Roman" panose="02020603050405020304" pitchFamily="18" charset="0"/>
                <a:cs typeface="Times New Roman" panose="02020603050405020304" pitchFamily="18" charset="0"/>
              </a:rPr>
              <a:t>xuất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từ </a:t>
            </a:r>
            <a:r>
              <a:rPr lang="en-US" sz="1467" dirty="0" err="1">
                <a:ln w="0"/>
                <a:solidFill>
                  <a:prstClr val="black"/>
                </a:solidFill>
                <a:latin typeface="Times New Roman" panose="02020603050405020304" pitchFamily="18" charset="0"/>
                <a:cs typeface="Times New Roman" panose="02020603050405020304" pitchFamily="18" charset="0"/>
              </a:rPr>
              <a:t>khi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mới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nhận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tàu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vẫn</a:t>
            </a:r>
            <a:r>
              <a:rPr lang="en-US" sz="1467" dirty="0">
                <a:ln w="0"/>
                <a:solidFill>
                  <a:prstClr val="black"/>
                </a:solidFill>
                <a:latin typeface="Times New Roman" panose="02020603050405020304" pitchFamily="18" charset="0"/>
                <a:cs typeface="Times New Roman" panose="02020603050405020304" pitchFamily="18" charset="0"/>
              </a:rPr>
              <a:t> đ</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ợc</a:t>
            </a:r>
            <a:r>
              <a:rPr lang="en-US" sz="1467" dirty="0">
                <a:ln w="0"/>
                <a:solidFill>
                  <a:prstClr val="black"/>
                </a:solidFill>
                <a:latin typeface="Times New Roman" panose="02020603050405020304" pitchFamily="18" charset="0"/>
                <a:cs typeface="Times New Roman" panose="02020603050405020304" pitchFamily="18" charset="0"/>
              </a:rPr>
              <a:t> NSX </a:t>
            </a:r>
            <a:r>
              <a:rPr lang="en-US" sz="1467" dirty="0" err="1">
                <a:ln w="0"/>
                <a:solidFill>
                  <a:prstClr val="black"/>
                </a:solidFill>
                <a:latin typeface="Times New Roman" panose="02020603050405020304" pitchFamily="18" charset="0"/>
                <a:cs typeface="Times New Roman" panose="02020603050405020304" pitchFamily="18" charset="0"/>
              </a:rPr>
              <a:t>xác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định</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nguyên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nhân</a:t>
            </a:r>
            <a:r>
              <a:rPr lang="en-US" sz="1467" dirty="0">
                <a:ln w="0"/>
                <a:solidFill>
                  <a:prstClr val="black"/>
                </a:solidFill>
                <a:latin typeface="Times New Roman" panose="02020603050405020304" pitchFamily="18" charset="0"/>
                <a:cs typeface="Times New Roman" panose="02020603050405020304" pitchFamily="18" charset="0"/>
              </a:rPr>
              <a:t> do </a:t>
            </a:r>
            <a:r>
              <a:rPr lang="en-US" sz="1467" dirty="0" err="1">
                <a:ln w="0"/>
                <a:solidFill>
                  <a:prstClr val="black"/>
                </a:solidFill>
                <a:latin typeface="Times New Roman" panose="02020603050405020304" pitchFamily="18" charset="0"/>
                <a:cs typeface="Times New Roman" panose="02020603050405020304" pitchFamily="18" charset="0"/>
              </a:rPr>
              <a:t>lỗi</a:t>
            </a:r>
            <a:r>
              <a:rPr lang="en-US" sz="1467" dirty="0">
                <a:ln w="0"/>
                <a:solidFill>
                  <a:prstClr val="black"/>
                </a:solidFill>
                <a:latin typeface="Times New Roman" panose="02020603050405020304" pitchFamily="18" charset="0"/>
                <a:cs typeface="Times New Roman" panose="02020603050405020304" pitchFamily="18" charset="0"/>
              </a:rPr>
              <a:t> Oil Servicing, </a:t>
            </a:r>
            <a:r>
              <a:rPr lang="en-US" sz="1467" dirty="0" err="1">
                <a:ln w="0"/>
                <a:solidFill>
                  <a:prstClr val="black"/>
                </a:solidFill>
                <a:latin typeface="Times New Roman" panose="02020603050405020304" pitchFamily="18" charset="0"/>
                <a:cs typeface="Times New Roman" panose="02020603050405020304" pitchFamily="18" charset="0"/>
              </a:rPr>
              <a:t>thừa</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hoặc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thiếu</a:t>
            </a:r>
            <a:r>
              <a:rPr lang="en-US" sz="1467" dirty="0">
                <a:ln w="0"/>
                <a:solidFill>
                  <a:prstClr val="black"/>
                </a:solidFill>
                <a:latin typeface="Times New Roman" panose="02020603050405020304" pitchFamily="18" charset="0"/>
                <a:cs typeface="Times New Roman" panose="02020603050405020304" pitchFamily="18" charset="0"/>
              </a:rPr>
              <a:t> oil </a:t>
            </a:r>
            <a:r>
              <a:rPr lang="en-US" sz="1467" dirty="0" err="1">
                <a:ln w="0"/>
                <a:solidFill>
                  <a:prstClr val="black"/>
                </a:solidFill>
                <a:latin typeface="Times New Roman" panose="02020603050405020304" pitchFamily="18" charset="0"/>
                <a:cs typeface="Times New Roman" panose="02020603050405020304" pitchFamily="18" charset="0"/>
              </a:rPr>
              <a:t>đều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sẽ</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gây</a:t>
            </a:r>
            <a:r>
              <a:rPr lang="en-US" sz="1467" dirty="0">
                <a:ln w="0"/>
                <a:solidFill>
                  <a:prstClr val="black"/>
                </a:solidFill>
                <a:latin typeface="Times New Roman" panose="02020603050405020304" pitchFamily="18" charset="0"/>
                <a:cs typeface="Times New Roman" panose="02020603050405020304" pitchFamily="18" charset="0"/>
              </a:rPr>
              <a:t> ra </a:t>
            </a: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a:t>
            </a:r>
          </a:p>
          <a:p>
            <a:pPr marL="380990" indent="-380990" defTabSz="1219170">
              <a:buFontTx/>
              <a:buChar char="-"/>
              <a:defRPr/>
            </a:pPr>
            <a:r>
              <a:rPr lang="en-US" sz="1467" dirty="0" err="1">
                <a:ln w="0"/>
                <a:solidFill>
                  <a:prstClr val="black"/>
                </a:solidFill>
                <a:latin typeface="Times New Roman" panose="02020603050405020304" pitchFamily="18" charset="0"/>
                <a:cs typeface="Times New Roman" panose="02020603050405020304" pitchFamily="18" charset="0"/>
              </a:rPr>
              <a:t>Đối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với</a:t>
            </a:r>
            <a:r>
              <a:rPr lang="en-US" sz="1467" dirty="0">
                <a:ln w="0"/>
                <a:solidFill>
                  <a:prstClr val="black"/>
                </a:solidFill>
                <a:latin typeface="Times New Roman" panose="02020603050405020304" pitchFamily="18" charset="0"/>
                <a:cs typeface="Times New Roman" panose="02020603050405020304" pitchFamily="18" charset="0"/>
              </a:rPr>
              <a:t> Starter </a:t>
            </a:r>
            <a:r>
              <a:rPr lang="en-US" sz="1467" dirty="0" err="1">
                <a:ln w="0"/>
                <a:solidFill>
                  <a:prstClr val="black"/>
                </a:solidFill>
                <a:latin typeface="Times New Roman" panose="02020603050405020304" pitchFamily="18" charset="0"/>
                <a:cs typeface="Times New Roman" panose="02020603050405020304" pitchFamily="18" charset="0"/>
              </a:rPr>
              <a:t>tàu</a:t>
            </a:r>
            <a:r>
              <a:rPr lang="en-US" sz="1467" dirty="0">
                <a:ln w="0"/>
                <a:solidFill>
                  <a:prstClr val="black"/>
                </a:solidFill>
                <a:latin typeface="Times New Roman" panose="02020603050405020304" pitchFamily="18" charset="0"/>
                <a:cs typeface="Times New Roman" panose="02020603050405020304" pitchFamily="18" charset="0"/>
              </a:rPr>
              <a:t> A890: </a:t>
            </a:r>
            <a:r>
              <a:rPr lang="en-US" sz="1467" dirty="0" err="1">
                <a:ln w="0"/>
                <a:solidFill>
                  <a:prstClr val="black"/>
                </a:solidFill>
                <a:latin typeface="Times New Roman" panose="02020603050405020304" pitchFamily="18" charset="0"/>
                <a:cs typeface="Times New Roman" panose="02020603050405020304" pitchFamily="18" charset="0"/>
              </a:rPr>
              <a:t>dù</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khối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đ</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ợc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sử</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dụng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trong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thời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gian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dài</a:t>
            </a:r>
            <a:r>
              <a:rPr lang="en-US" sz="1467" dirty="0">
                <a:ln w="0"/>
                <a:solidFill>
                  <a:prstClr val="black"/>
                </a:solidFill>
                <a:latin typeface="Times New Roman" panose="02020603050405020304" pitchFamily="18" charset="0"/>
                <a:cs typeface="Times New Roman" panose="02020603050405020304" pitchFamily="18" charset="0"/>
              </a:rPr>
              <a:t> (TSO = 28284 FH), </a:t>
            </a:r>
            <a:r>
              <a:rPr lang="en-US" sz="1467" dirty="0" err="1">
                <a:ln w="0"/>
                <a:solidFill>
                  <a:prstClr val="black"/>
                </a:solidFill>
                <a:latin typeface="Times New Roman" panose="02020603050405020304" pitchFamily="18" charset="0"/>
                <a:cs typeface="Times New Roman" panose="02020603050405020304" pitchFamily="18" charset="0"/>
              </a:rPr>
              <a:t>tuy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nhiên</a:t>
            </a:r>
            <a:r>
              <a:rPr lang="en-US" sz="1467" dirty="0">
                <a:ln w="0"/>
                <a:solidFill>
                  <a:prstClr val="black"/>
                </a:solidFill>
                <a:latin typeface="Times New Roman" panose="02020603050405020304" pitchFamily="18" charset="0"/>
                <a:cs typeface="Times New Roman" panose="02020603050405020304" pitchFamily="18" charset="0"/>
              </a:rPr>
              <a:t> tr</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ớc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thay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động</a:t>
            </a:r>
            <a:r>
              <a:rPr lang="en-US" sz="1467" dirty="0">
                <a:ln w="0"/>
                <a:solidFill>
                  <a:prstClr val="black"/>
                </a:solidFill>
                <a:latin typeface="Times New Roman" panose="02020603050405020304" pitchFamily="18" charset="0"/>
                <a:cs typeface="Times New Roman" panose="02020603050405020304" pitchFamily="18" charset="0"/>
              </a:rPr>
              <a:t> c</a:t>
            </a:r>
            <a:r>
              <a:rPr lang="vi-VN" sz="1467" dirty="0">
                <a:ln w="0"/>
                <a:solidFill>
                  <a:prstClr val="black"/>
                </a:solidFill>
                <a:latin typeface="Times New Roman" panose="02020603050405020304" pitchFamily="18" charset="0"/>
                <a:cs typeface="Times New Roman" panose="02020603050405020304" pitchFamily="18" charset="0"/>
              </a:rPr>
              <a:t>ơ</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và</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thực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Oil Servicing </a:t>
            </a:r>
            <a:r>
              <a:rPr lang="en-US" sz="1467" dirty="0" err="1">
                <a:ln w="0"/>
                <a:solidFill>
                  <a:prstClr val="black"/>
                </a:solidFill>
                <a:latin typeface="Times New Roman" panose="02020603050405020304" pitchFamily="18" charset="0"/>
                <a:cs typeface="Times New Roman" panose="02020603050405020304" pitchFamily="18" charset="0"/>
              </a:rPr>
              <a:t>ngày</a:t>
            </a:r>
            <a:r>
              <a:rPr lang="en-US" sz="1467" dirty="0">
                <a:ln w="0"/>
                <a:solidFill>
                  <a:prstClr val="black"/>
                </a:solidFill>
                <a:latin typeface="Times New Roman" panose="02020603050405020304" pitchFamily="18" charset="0"/>
                <a:cs typeface="Times New Roman" panose="02020603050405020304" pitchFamily="18" charset="0"/>
              </a:rPr>
              <a:t> 17/07 </a:t>
            </a:r>
            <a:r>
              <a:rPr lang="en-US" sz="1467" dirty="0" err="1">
                <a:ln w="0"/>
                <a:solidFill>
                  <a:prstClr val="black"/>
                </a:solidFill>
                <a:latin typeface="Times New Roman" panose="02020603050405020304" pitchFamily="18" charset="0"/>
                <a:cs typeface="Times New Roman" panose="02020603050405020304" pitchFamily="18" charset="0"/>
              </a:rPr>
              <a:t>khối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hoạt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động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bình</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ờng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kiểm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tra</a:t>
            </a:r>
            <a:r>
              <a:rPr lang="en-US" sz="1467" dirty="0">
                <a:ln w="0"/>
                <a:solidFill>
                  <a:prstClr val="black"/>
                </a:solidFill>
                <a:latin typeface="Times New Roman" panose="02020603050405020304" pitchFamily="18" charset="0"/>
                <a:cs typeface="Times New Roman" panose="02020603050405020304" pitchFamily="18" charset="0"/>
              </a:rPr>
              <a:t> MCD </a:t>
            </a:r>
            <a:r>
              <a:rPr lang="en-US" sz="1467" dirty="0" err="1">
                <a:ln w="0"/>
                <a:solidFill>
                  <a:prstClr val="black"/>
                </a:solidFill>
                <a:latin typeface="Times New Roman" panose="02020603050405020304" pitchFamily="18" charset="0"/>
                <a:cs typeface="Times New Roman" panose="02020603050405020304" pitchFamily="18" charset="0"/>
              </a:rPr>
              <a:t>tần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suất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không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phát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Sau </a:t>
            </a:r>
            <a:r>
              <a:rPr lang="en-US" sz="1467" dirty="0" err="1">
                <a:ln w="0"/>
                <a:solidFill>
                  <a:prstClr val="black"/>
                </a:solidFill>
                <a:latin typeface="Times New Roman" panose="02020603050405020304" pitchFamily="18" charset="0"/>
                <a:cs typeface="Times New Roman" panose="02020603050405020304" pitchFamily="18" charset="0"/>
              </a:rPr>
              <a:t>đó</a:t>
            </a:r>
            <a:r>
              <a:rPr lang="en-US" sz="1467" dirty="0">
                <a:ln w="0"/>
                <a:solidFill>
                  <a:prstClr val="black"/>
                </a:solidFill>
                <a:latin typeface="Times New Roman" panose="02020603050405020304" pitchFamily="18" charset="0"/>
                <a:cs typeface="Times New Roman" panose="02020603050405020304" pitchFamily="18" charset="0"/>
              </a:rPr>
              <a:t> 02 </a:t>
            </a:r>
            <a:r>
              <a:rPr lang="en-US" sz="1467" dirty="0" err="1">
                <a:ln w="0"/>
                <a:solidFill>
                  <a:prstClr val="black"/>
                </a:solidFill>
                <a:latin typeface="Times New Roman" panose="02020603050405020304" pitchFamily="18" charset="0"/>
                <a:cs typeface="Times New Roman" panose="02020603050405020304" pitchFamily="18" charset="0"/>
              </a:rPr>
              <a:t>ngày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vào</a:t>
            </a:r>
            <a:r>
              <a:rPr lang="en-US" sz="1467" dirty="0">
                <a:ln w="0"/>
                <a:solidFill>
                  <a:prstClr val="black"/>
                </a:solidFill>
                <a:latin typeface="Times New Roman" panose="02020603050405020304" pitchFamily="18" charset="0"/>
                <a:cs typeface="Times New Roman" panose="02020603050405020304" pitchFamily="18" charset="0"/>
              </a:rPr>
              <a:t> 19/07 </a:t>
            </a:r>
            <a:r>
              <a:rPr lang="en-US" sz="1467" dirty="0" err="1">
                <a:ln w="0"/>
                <a:solidFill>
                  <a:prstClr val="black"/>
                </a:solidFill>
                <a:latin typeface="Times New Roman" panose="02020603050405020304" pitchFamily="18" charset="0"/>
                <a:cs typeface="Times New Roman" panose="02020603050405020304" pitchFamily="18" charset="0"/>
              </a:rPr>
              <a:t>trong</a:t>
            </a:r>
            <a:r>
              <a:rPr lang="en-US" sz="1467" dirty="0">
                <a:ln w="0"/>
                <a:solidFill>
                  <a:prstClr val="black"/>
                </a:solidFill>
                <a:latin typeface="Times New Roman" panose="02020603050405020304" pitchFamily="18" charset="0"/>
                <a:cs typeface="Times New Roman" panose="02020603050405020304" pitchFamily="18" charset="0"/>
              </a:rPr>
              <a:t> event A890, </a:t>
            </a:r>
            <a:r>
              <a:rPr lang="en-US" sz="1467" dirty="0" err="1">
                <a:ln w="0"/>
                <a:solidFill>
                  <a:prstClr val="black"/>
                </a:solidFill>
                <a:latin typeface="Times New Roman" panose="02020603050405020304" pitchFamily="18" charset="0"/>
                <a:cs typeface="Times New Roman" panose="02020603050405020304" pitchFamily="18" charset="0"/>
              </a:rPr>
              <a:t>kiểm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tra</a:t>
            </a:r>
            <a:r>
              <a:rPr lang="en-US" sz="1467" dirty="0">
                <a:ln w="0"/>
                <a:solidFill>
                  <a:prstClr val="black"/>
                </a:solidFill>
                <a:latin typeface="Times New Roman" panose="02020603050405020304" pitchFamily="18" charset="0"/>
                <a:cs typeface="Times New Roman" panose="02020603050405020304" pitchFamily="18" charset="0"/>
              </a:rPr>
              <a:t> MCD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phát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nhiều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mạt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kim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loại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t</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ợng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này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giống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với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một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số</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Starter tr</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ớc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đây</a:t>
            </a:r>
            <a:r>
              <a:rPr lang="en-US" sz="1467" dirty="0">
                <a:ln w="0"/>
                <a:solidFill>
                  <a:prstClr val="black"/>
                </a:solidFill>
                <a:latin typeface="Times New Roman" panose="02020603050405020304" pitchFamily="18" charset="0"/>
                <a:cs typeface="Times New Roman" panose="02020603050405020304" pitchFamily="18" charset="0"/>
              </a:rPr>
              <a:t> do </a:t>
            </a:r>
            <a:r>
              <a:rPr lang="en-US" sz="1467" dirty="0" err="1">
                <a:ln w="0"/>
                <a:solidFill>
                  <a:prstClr val="black"/>
                </a:solidFill>
                <a:latin typeface="Times New Roman" panose="02020603050405020304" pitchFamily="18" charset="0"/>
                <a:cs typeface="Times New Roman" panose="02020603050405020304" pitchFamily="18" charset="0"/>
              </a:rPr>
              <a:t>lỗi</a:t>
            </a:r>
            <a:r>
              <a:rPr lang="en-US" sz="1467" dirty="0">
                <a:ln w="0"/>
                <a:solidFill>
                  <a:prstClr val="black"/>
                </a:solidFill>
                <a:latin typeface="Times New Roman" panose="02020603050405020304" pitchFamily="18" charset="0"/>
                <a:cs typeface="Times New Roman" panose="02020603050405020304" pitchFamily="18" charset="0"/>
              </a:rPr>
              <a:t> Oil Servicing, do </a:t>
            </a:r>
            <a:r>
              <a:rPr lang="en-US" sz="1467" dirty="0" err="1">
                <a:ln w="0"/>
                <a:solidFill>
                  <a:prstClr val="black"/>
                </a:solidFill>
                <a:latin typeface="Times New Roman" panose="02020603050405020304" pitchFamily="18" charset="0"/>
                <a:cs typeface="Times New Roman" panose="02020603050405020304" pitchFamily="18" charset="0"/>
              </a:rPr>
              <a:t>đó</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nghi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ngờ</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trên</a:t>
            </a:r>
            <a:r>
              <a:rPr lang="en-US" sz="1467" dirty="0">
                <a:ln w="0"/>
                <a:solidFill>
                  <a:prstClr val="black"/>
                </a:solidFill>
                <a:latin typeface="Times New Roman" panose="02020603050405020304" pitchFamily="18" charset="0"/>
                <a:cs typeface="Times New Roman" panose="02020603050405020304" pitchFamily="18" charset="0"/>
              </a:rPr>
              <a:t> A890 </a:t>
            </a:r>
            <a:r>
              <a:rPr lang="en-US" sz="1467" dirty="0" err="1">
                <a:ln w="0"/>
                <a:solidFill>
                  <a:prstClr val="black"/>
                </a:solidFill>
                <a:latin typeface="Times New Roman" panose="02020603050405020304" pitchFamily="18" charset="0"/>
                <a:cs typeface="Times New Roman" panose="02020603050405020304" pitchFamily="18" charset="0"/>
              </a:rPr>
              <a:t>có</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cùng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nguyên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nhân</a:t>
            </a:r>
            <a:r>
              <a:rPr lang="en-US" sz="1467" dirty="0">
                <a:ln w="0"/>
                <a:solidFill>
                  <a:prstClr val="black"/>
                </a:solidFill>
                <a:latin typeface="Times New Roman" panose="02020603050405020304" pitchFamily="18" charset="0"/>
                <a:cs typeface="Times New Roman" panose="02020603050405020304" pitchFamily="18" charset="0"/>
              </a:rPr>
              <a:t>.</a:t>
            </a:r>
          </a:p>
        </p:txBody>
      </p:sp>
      <p:sp>
        <p:nvSpPr>
          <p:cNvPr id="31" name="TextBox 30">
            <a:extLst>
              <a:ext uri="{FF2B5EF4-FFF2-40B4-BE49-F238E27FC236}">
                <a16:creationId xmlns:a16="http://schemas.microsoft.com/office/drawing/2014/main" id="{30D39934-F2D9-44BB-9E24-A1989C8B15A8}"/>
              </a:ext>
            </a:extLst>
          </p:cNvPr>
          <p:cNvSpPr txBox="1"/>
          <p:nvPr/>
        </p:nvSpPr>
        <p:spPr>
          <a:xfrm>
            <a:off x="151047" y="3916980"/>
            <a:ext cx="8241344" cy="2575770"/>
          </a:xfrm>
          <a:prstGeom prst="rect">
            <a:avLst/>
          </a:prstGeom>
          <a:solidFill>
            <a:srgbClr val="ED7D31">
              <a:lumMod val="40000"/>
              <a:lumOff val="60000"/>
            </a:srgbClr>
          </a:solidFill>
          <a:ln>
            <a:solidFill>
              <a:srgbClr val="5B9BD5"/>
            </a:solidFill>
          </a:ln>
        </p:spPr>
        <p:txBody>
          <a:bodyPr wrap="square" rtlCol="0">
            <a:spAutoFit/>
          </a:bodyPr>
          <a:lstStyle/>
          <a:p>
            <a:pPr defTabSz="1219170">
              <a:defRPr/>
            </a:pPr>
            <a:r>
              <a:rPr lang="en-US" sz="1467" b="1" dirty="0" err="1">
                <a:ln w="0"/>
                <a:solidFill>
                  <a:srgbClr val="0070C0"/>
                </a:solidFill>
                <a:latin typeface="Times New Roman" panose="02020603050405020304" pitchFamily="18" charset="0"/>
                <a:cs typeface="Times New Roman" panose="02020603050405020304" pitchFamily="18" charset="0"/>
              </a:rPr>
              <a:t>Giải</a:t>
            </a:r>
            <a:r>
              <a:rPr lang="en-US" sz="1467" b="1" dirty="0">
                <a:ln w="0"/>
                <a:solidFill>
                  <a:srgbClr val="0070C0"/>
                </a:solidFill>
                <a:latin typeface="Times New Roman" panose="02020603050405020304" pitchFamily="18" charset="0"/>
                <a:cs typeface="Times New Roman" panose="02020603050405020304" pitchFamily="18" charset="0"/>
              </a:rPr>
              <a:t> </a:t>
            </a:r>
            <a:r>
              <a:rPr lang="en-US" sz="1467" b="1" dirty="0" err="1">
                <a:ln w="0"/>
                <a:solidFill>
                  <a:srgbClr val="0070C0"/>
                </a:solidFill>
                <a:latin typeface="Times New Roman" panose="02020603050405020304" pitchFamily="18" charset="0"/>
                <a:cs typeface="Times New Roman" panose="02020603050405020304" pitchFamily="18" charset="0"/>
              </a:rPr>
              <a:t>pháp</a:t>
            </a:r>
            <a:r>
              <a:rPr lang="en-US" sz="1467" b="1" dirty="0">
                <a:ln w="0"/>
                <a:solidFill>
                  <a:srgbClr val="0070C0"/>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NSX đ</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a:ln w="0"/>
                <a:solidFill>
                  <a:prstClr val="black"/>
                </a:solidFill>
                <a:latin typeface="Times New Roman" panose="02020603050405020304" pitchFamily="18" charset="0"/>
                <a:cs typeface="Times New Roman" panose="02020603050405020304" pitchFamily="18" charset="0"/>
              </a:rPr>
              <a:t>a ra </a:t>
            </a:r>
            <a:r>
              <a:rPr lang="en-US" sz="1467" dirty="0" err="1">
                <a:ln w="0"/>
                <a:solidFill>
                  <a:prstClr val="black"/>
                </a:solidFill>
                <a:latin typeface="Times New Roman" panose="02020603050405020304" pitchFamily="18" charset="0"/>
                <a:cs typeface="Times New Roman" panose="02020603050405020304" pitchFamily="18" charset="0"/>
              </a:rPr>
              <a:t>giải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pháp</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phòng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ngừa</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duy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nhất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là</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đảm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bảo</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việc</a:t>
            </a:r>
            <a:r>
              <a:rPr lang="en-US" sz="1467" dirty="0">
                <a:ln w="0"/>
                <a:solidFill>
                  <a:prstClr val="black"/>
                </a:solidFill>
                <a:latin typeface="Times New Roman" panose="02020603050405020304" pitchFamily="18" charset="0"/>
                <a:cs typeface="Times New Roman" panose="02020603050405020304" pitchFamily="18" charset="0"/>
              </a:rPr>
              <a:t> Service Oil đ</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ợc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thực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chuẩn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xác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Tất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các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khuyến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cáo</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của</a:t>
            </a:r>
            <a:r>
              <a:rPr lang="en-US" sz="1467" dirty="0">
                <a:ln w="0"/>
                <a:solidFill>
                  <a:prstClr val="black"/>
                </a:solidFill>
                <a:latin typeface="Times New Roman" panose="02020603050405020304" pitchFamily="18" charset="0"/>
                <a:cs typeface="Times New Roman" panose="02020603050405020304" pitchFamily="18" charset="0"/>
              </a:rPr>
              <a:t> NSX </a:t>
            </a:r>
            <a:r>
              <a:rPr lang="en-US" sz="1467" dirty="0" err="1">
                <a:ln w="0"/>
                <a:solidFill>
                  <a:prstClr val="black"/>
                </a:solidFill>
                <a:latin typeface="Times New Roman" panose="02020603050405020304" pitchFamily="18" charset="0"/>
                <a:cs typeface="Times New Roman" panose="02020603050405020304" pitchFamily="18" charset="0"/>
              </a:rPr>
              <a:t>đều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đ</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ợc</a:t>
            </a:r>
            <a:r>
              <a:rPr lang="en-US" sz="1467" dirty="0">
                <a:ln w="0"/>
                <a:solidFill>
                  <a:prstClr val="black"/>
                </a:solidFill>
                <a:latin typeface="Times New Roman" panose="02020603050405020304" pitchFamily="18" charset="0"/>
                <a:cs typeface="Times New Roman" panose="02020603050405020304" pitchFamily="18" charset="0"/>
              </a:rPr>
              <a:t> VNA/VAECO </a:t>
            </a:r>
            <a:r>
              <a:rPr lang="en-US" sz="1467" dirty="0" err="1">
                <a:ln w="0"/>
                <a:solidFill>
                  <a:prstClr val="black"/>
                </a:solidFill>
                <a:latin typeface="Times New Roman" panose="02020603050405020304" pitchFamily="18" charset="0"/>
                <a:cs typeface="Times New Roman" panose="02020603050405020304" pitchFamily="18" charset="0"/>
              </a:rPr>
              <a:t>tuân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thủ</a:t>
            </a:r>
            <a:r>
              <a:rPr lang="en-US" sz="1467" dirty="0">
                <a:ln w="0"/>
                <a:solidFill>
                  <a:prstClr val="black"/>
                </a:solidFill>
                <a:latin typeface="Times New Roman" panose="02020603050405020304" pitchFamily="18" charset="0"/>
                <a:cs typeface="Times New Roman" panose="02020603050405020304" pitchFamily="18" charset="0"/>
              </a:rPr>
              <a:t>. VNA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phối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hợp</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với</a:t>
            </a:r>
            <a:r>
              <a:rPr lang="en-US" sz="1467" dirty="0">
                <a:ln w="0"/>
                <a:solidFill>
                  <a:prstClr val="black"/>
                </a:solidFill>
                <a:latin typeface="Times New Roman" panose="02020603050405020304" pitchFamily="18" charset="0"/>
                <a:cs typeface="Times New Roman" panose="02020603050405020304" pitchFamily="18" charset="0"/>
              </a:rPr>
              <a:t> VAECO ban </a:t>
            </a:r>
            <a:r>
              <a:rPr lang="en-US" sz="1467" dirty="0" err="1">
                <a:ln w="0"/>
                <a:solidFill>
                  <a:prstClr val="black"/>
                </a:solidFill>
                <a:latin typeface="Times New Roman" panose="02020603050405020304" pitchFamily="18" charset="0"/>
                <a:cs typeface="Times New Roman" panose="02020603050405020304" pitchFamily="18" charset="0"/>
              </a:rPr>
              <a:t>hành</a:t>
            </a:r>
            <a:r>
              <a:rPr lang="en-US" sz="1467" dirty="0">
                <a:ln w="0"/>
                <a:solidFill>
                  <a:prstClr val="black"/>
                </a:solidFill>
                <a:latin typeface="Times New Roman" panose="02020603050405020304" pitchFamily="18" charset="0"/>
                <a:cs typeface="Times New Roman" panose="02020603050405020304" pitchFamily="18" charset="0"/>
              </a:rPr>
              <a:t> TM </a:t>
            </a:r>
            <a:r>
              <a:rPr lang="en-US" sz="1467" dirty="0" err="1">
                <a:ln w="0"/>
                <a:solidFill>
                  <a:prstClr val="black"/>
                </a:solidFill>
                <a:latin typeface="Times New Roman" panose="02020603050405020304" pitchFamily="18" charset="0"/>
                <a:cs typeface="Times New Roman" panose="02020603050405020304" pitchFamily="18" charset="0"/>
              </a:rPr>
              <a:t>yêu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cầu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thực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quy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trình</a:t>
            </a:r>
            <a:r>
              <a:rPr lang="en-US" sz="1467" dirty="0">
                <a:ln w="0"/>
                <a:solidFill>
                  <a:prstClr val="black"/>
                </a:solidFill>
                <a:latin typeface="Times New Roman" panose="02020603050405020304" pitchFamily="18" charset="0"/>
                <a:cs typeface="Times New Roman" panose="02020603050405020304" pitchFamily="18" charset="0"/>
              </a:rPr>
              <a:t> Servicing </a:t>
            </a:r>
            <a:r>
              <a:rPr lang="en-US" sz="1467" dirty="0" err="1">
                <a:ln w="0"/>
                <a:solidFill>
                  <a:prstClr val="black"/>
                </a:solidFill>
                <a:latin typeface="Times New Roman" panose="02020603050405020304" pitchFamily="18" charset="0"/>
                <a:cs typeface="Times New Roman" panose="02020603050405020304" pitchFamily="18" charset="0"/>
              </a:rPr>
              <a:t>chặt</a:t>
            </a:r>
            <a:r>
              <a:rPr lang="en-US" sz="1467" dirty="0">
                <a:ln w="0"/>
                <a:solidFill>
                  <a:prstClr val="black"/>
                </a:solidFill>
                <a:latin typeface="Times New Roman" panose="02020603050405020304" pitchFamily="18" charset="0"/>
                <a:cs typeface="Times New Roman" panose="02020603050405020304" pitchFamily="18" charset="0"/>
              </a:rPr>
              <a:t> h</a:t>
            </a:r>
            <a:r>
              <a:rPr lang="vi-VN" sz="1467" dirty="0">
                <a:ln w="0"/>
                <a:solidFill>
                  <a:prstClr val="black"/>
                </a:solidFill>
                <a:latin typeface="Times New Roman" panose="02020603050405020304" pitchFamily="18" charset="0"/>
                <a:cs typeface="Times New Roman" panose="02020603050405020304" pitchFamily="18" charset="0"/>
              </a:rPr>
              <a:t>ơ</a:t>
            </a:r>
            <a:r>
              <a:rPr lang="en-US" sz="1467" dirty="0">
                <a:ln w="0"/>
                <a:solidFill>
                  <a:prstClr val="black"/>
                </a:solidFill>
                <a:latin typeface="Times New Roman" panose="02020603050405020304" pitchFamily="18" charset="0"/>
                <a:cs typeface="Times New Roman" panose="02020603050405020304" pitchFamily="18" charset="0"/>
              </a:rPr>
              <a:t>n so </a:t>
            </a:r>
            <a:r>
              <a:rPr lang="en-US" sz="1467" dirty="0" err="1">
                <a:ln w="0"/>
                <a:solidFill>
                  <a:prstClr val="black"/>
                </a:solidFill>
                <a:latin typeface="Times New Roman" panose="02020603050405020304" pitchFamily="18" charset="0"/>
                <a:cs typeface="Times New Roman" panose="02020603050405020304" pitchFamily="18" charset="0"/>
              </a:rPr>
              <a:t>với</a:t>
            </a:r>
            <a:r>
              <a:rPr lang="en-US" sz="1467" dirty="0">
                <a:ln w="0"/>
                <a:solidFill>
                  <a:prstClr val="black"/>
                </a:solidFill>
                <a:latin typeface="Times New Roman" panose="02020603050405020304" pitchFamily="18" charset="0"/>
                <a:cs typeface="Times New Roman" panose="02020603050405020304" pitchFamily="18" charset="0"/>
              </a:rPr>
              <a:t> AMM. </a:t>
            </a:r>
            <a:r>
              <a:rPr lang="en-US" sz="1467" dirty="0" err="1">
                <a:ln w="0"/>
                <a:solidFill>
                  <a:prstClr val="black"/>
                </a:solidFill>
                <a:latin typeface="Times New Roman" panose="02020603050405020304" pitchFamily="18" charset="0"/>
                <a:cs typeface="Times New Roman" panose="02020603050405020304" pitchFamily="18" charset="0"/>
              </a:rPr>
              <a:t>Mặc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dù</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góp</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phần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giảm</a:t>
            </a:r>
            <a:r>
              <a:rPr lang="en-US" sz="1467" dirty="0">
                <a:ln w="0"/>
                <a:solidFill>
                  <a:prstClr val="black"/>
                </a:solidFill>
                <a:latin typeface="Times New Roman" panose="02020603050405020304" pitchFamily="18" charset="0"/>
                <a:cs typeface="Times New Roman" panose="02020603050405020304" pitchFamily="18" charset="0"/>
              </a:rPr>
              <a:t> đ</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ợc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số</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sự</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vụ</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tuy</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nhiên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vẫn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không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phòng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tránh</a:t>
            </a:r>
            <a:r>
              <a:rPr lang="en-US" sz="1467" dirty="0">
                <a:ln w="0"/>
                <a:solidFill>
                  <a:prstClr val="black"/>
                </a:solidFill>
                <a:latin typeface="Times New Roman" panose="02020603050405020304" pitchFamily="18" charset="0"/>
                <a:cs typeface="Times New Roman" panose="02020603050405020304" pitchFamily="18" charset="0"/>
              </a:rPr>
              <a:t> đ</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ợc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hoàn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toàn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vấn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đề</a:t>
            </a:r>
            <a:r>
              <a:rPr lang="en-US" sz="1467" dirty="0">
                <a:ln w="0"/>
                <a:solidFill>
                  <a:prstClr val="black"/>
                </a:solidFill>
                <a:latin typeface="Times New Roman" panose="02020603050405020304" pitchFamily="18" charset="0"/>
                <a:cs typeface="Times New Roman" panose="02020603050405020304" pitchFamily="18" charset="0"/>
              </a:rPr>
              <a:t>.   </a:t>
            </a:r>
          </a:p>
          <a:p>
            <a:pPr marL="380990" indent="-380990">
              <a:buFontTx/>
              <a:buChar char="-"/>
              <a:defRPr/>
            </a:pPr>
            <a:r>
              <a:rPr lang="en-US" sz="1467" dirty="0">
                <a:ln w="0"/>
                <a:solidFill>
                  <a:prstClr val="black"/>
                </a:solidFill>
                <a:latin typeface="Times New Roman" panose="02020603050405020304" pitchFamily="18" charset="0"/>
                <a:cs typeface="Times New Roman" panose="02020603050405020304" pitchFamily="18" charset="0"/>
              </a:rPr>
              <a:t>T</a:t>
            </a:r>
            <a:r>
              <a:rPr lang="en-AE" sz="1467" dirty="0">
                <a:ln w="0"/>
                <a:solidFill>
                  <a:prstClr val="black"/>
                </a:solidFill>
                <a:latin typeface="Times New Roman" panose="02020603050405020304" pitchFamily="18" charset="0"/>
                <a:cs typeface="Times New Roman" panose="02020603050405020304" pitchFamily="18" charset="0"/>
              </a:rPr>
              <a:t>ừ 09/12/24</a:t>
            </a:r>
            <a:r>
              <a:rPr lang="en-US" sz="1467" dirty="0">
                <a:ln w="0"/>
                <a:solidFill>
                  <a:prstClr val="black"/>
                </a:solidFill>
                <a:latin typeface="Times New Roman" panose="02020603050405020304" pitchFamily="18" charset="0"/>
                <a:cs typeface="Times New Roman" panose="02020603050405020304" pitchFamily="18" charset="0"/>
              </a:rPr>
              <a:t> VNA </a:t>
            </a:r>
            <a:r>
              <a:rPr lang="en-US" sz="1467" dirty="0" err="1">
                <a:ln w="0"/>
                <a:solidFill>
                  <a:prstClr val="black"/>
                </a:solidFill>
                <a:latin typeface="Times New Roman" panose="02020603050405020304" pitchFamily="18" charset="0"/>
                <a:cs typeface="Times New Roman" panose="02020603050405020304" pitchFamily="18" charset="0"/>
              </a:rPr>
              <a:t>đã</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triển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khai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ch</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ơng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trình</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kiểm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tra</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tăng</a:t>
            </a:r>
            <a:r>
              <a:rPr lang="en-US" sz="1467" dirty="0">
                <a:ln w="0"/>
                <a:solidFill>
                  <a:prstClr val="black"/>
                </a:solidFill>
                <a:latin typeface="Times New Roman" panose="02020603050405020304" pitchFamily="18" charset="0"/>
                <a:cs typeface="Times New Roman" panose="02020603050405020304" pitchFamily="18" charset="0"/>
              </a:rPr>
              <a:t> c</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ờng</a:t>
            </a:r>
            <a:r>
              <a:rPr lang="en-US" sz="1467" dirty="0">
                <a:ln w="0"/>
                <a:solidFill>
                  <a:prstClr val="black"/>
                </a:solidFill>
                <a:latin typeface="Times New Roman" panose="02020603050405020304" pitchFamily="18" charset="0"/>
                <a:cs typeface="Times New Roman" panose="02020603050405020304" pitchFamily="18" charset="0"/>
              </a:rPr>
              <a:t> Starter MCD </a:t>
            </a:r>
            <a:r>
              <a:rPr lang="en-US" sz="1467" dirty="0" err="1">
                <a:ln w="0"/>
                <a:solidFill>
                  <a:prstClr val="black"/>
                </a:solidFill>
                <a:latin typeface="Times New Roman" panose="02020603050405020304" pitchFamily="18" charset="0"/>
                <a:cs typeface="Times New Roman" panose="02020603050405020304" pitchFamily="18" charset="0"/>
              </a:rPr>
              <a:t>với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tần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suất</a:t>
            </a:r>
            <a:r>
              <a:rPr lang="en-US" sz="1467" dirty="0">
                <a:ln w="0"/>
                <a:solidFill>
                  <a:prstClr val="black"/>
                </a:solidFill>
                <a:latin typeface="Times New Roman" panose="02020603050405020304" pitchFamily="18" charset="0"/>
                <a:cs typeface="Times New Roman" panose="02020603050405020304" pitchFamily="18" charset="0"/>
              </a:rPr>
              <a:t> 375FH </a:t>
            </a:r>
            <a:r>
              <a:rPr lang="en-US" sz="1467" dirty="0" err="1">
                <a:ln w="0"/>
                <a:solidFill>
                  <a:prstClr val="black"/>
                </a:solidFill>
                <a:latin typeface="Times New Roman" panose="02020603050405020304" pitchFamily="18" charset="0"/>
                <a:cs typeface="Times New Roman" panose="02020603050405020304" pitchFamily="18" charset="0"/>
              </a:rPr>
              <a:t>với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mục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tiêu</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phát</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hiện</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sớm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rủi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ro</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hỏng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hóc</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để</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gửi</a:t>
            </a:r>
            <a:r>
              <a:rPr lang="en-US" sz="1467" dirty="0">
                <a:ln w="0"/>
                <a:solidFill>
                  <a:prstClr val="black"/>
                </a:solidFill>
                <a:latin typeface="Times New Roman" panose="02020603050405020304" pitchFamily="18" charset="0"/>
                <a:cs typeface="Times New Roman" panose="02020603050405020304" pitchFamily="18" charset="0"/>
              </a:rPr>
              <a:t> Starter </a:t>
            </a:r>
            <a:r>
              <a:rPr lang="en-US" sz="1467" dirty="0" err="1">
                <a:ln w="0"/>
                <a:solidFill>
                  <a:prstClr val="black"/>
                </a:solidFill>
                <a:latin typeface="Times New Roman" panose="02020603050405020304" pitchFamily="18" charset="0"/>
                <a:cs typeface="Times New Roman" panose="02020603050405020304" pitchFamily="18" charset="0"/>
              </a:rPr>
              <a:t>đi</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bảo</a:t>
            </a:r>
            <a:r>
              <a:rPr lang="en-US" sz="1467" dirty="0">
                <a:ln w="0"/>
                <a:solidFill>
                  <a:prstClr val="black"/>
                </a:solidFill>
                <a:latin typeface="Times New Roman" panose="02020603050405020304" pitchFamily="18" charset="0"/>
                <a:cs typeface="Times New Roman" panose="02020603050405020304" pitchFamily="18" charset="0"/>
              </a:rPr>
              <a:t> d</a:t>
            </a:r>
            <a:r>
              <a:rPr lang="vi-VN" sz="1467" dirty="0">
                <a:ln w="0"/>
                <a:solidFill>
                  <a:prstClr val="black"/>
                </a:solidFill>
                <a:latin typeface="Times New Roman" panose="02020603050405020304" pitchFamily="18" charset="0"/>
                <a:cs typeface="Times New Roman" panose="02020603050405020304" pitchFamily="18" charset="0"/>
              </a:rPr>
              <a:t>ư</a:t>
            </a:r>
            <a:r>
              <a:rPr lang="en-US" sz="1467" dirty="0" err="1">
                <a:ln w="0"/>
                <a:solidFill>
                  <a:prstClr val="black"/>
                </a:solidFill>
                <a:latin typeface="Times New Roman" panose="02020603050405020304" pitchFamily="18" charset="0"/>
                <a:cs typeface="Times New Roman" panose="02020603050405020304" pitchFamily="18" charset="0"/>
              </a:rPr>
              <a:t>ỡng</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err="1">
                <a:ln w="0"/>
                <a:solidFill>
                  <a:prstClr val="black"/>
                </a:solidFill>
                <a:latin typeface="Times New Roman" panose="02020603050405020304" pitchFamily="18" charset="0"/>
                <a:cs typeface="Times New Roman" panose="02020603050405020304" pitchFamily="18" charset="0"/>
              </a:rPr>
              <a:t>sớm</a:t>
            </a:r>
            <a:r>
              <a:rPr lang="en-US" sz="1467" dirty="0">
                <a:ln w="0"/>
                <a:solidFill>
                  <a:prstClr val="black"/>
                </a:solidFill>
                <a:latin typeface="Times New Roman" panose="02020603050405020304" pitchFamily="18" charset="0"/>
                <a:cs typeface="Times New Roman" panose="02020603050405020304" pitchFamily="18" charset="0"/>
              </a:rPr>
              <a:t>. </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hiệu</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quả</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r>
              <a:rPr lang="vi-VN"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Phát hiện sớm và chủ động thay thế 2 trường hợp Starter hỏng trên tàu A896 (T4/2025) và A891 (T5/2025)</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đồng</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thời</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từ</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tháng</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12/2024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đến</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07/2025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chỉ</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tr</a:t>
            </a:r>
            <a:r>
              <a:rPr lang="vi-VN"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ư</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ờng</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hợp</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A890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gây</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OI.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Tuy</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nhiên</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khối</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Starter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gửi</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đi</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sửa</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chữa</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vẫn</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phát</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hiện</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hóc</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nặng</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do </a:t>
            </a:r>
            <a:r>
              <a:rPr lang="en-US" sz="1467" dirty="0" err="1">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đó</a:t>
            </a:r>
            <a:r>
              <a:rPr lang="en-US" sz="1467" dirty="0">
                <a:ln w="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từ</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17/07/25 VNA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đã</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yêu</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cầu</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tăng</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tần</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suất</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kiểm</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tra</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chủ</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động</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MCD </a:t>
            </a:r>
            <a:r>
              <a:rPr lang="en-US" sz="1467" dirty="0" err="1">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thành</a:t>
            </a:r>
            <a:r>
              <a:rPr lang="en-US" sz="1467" dirty="0">
                <a:ln w="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250 FH</a:t>
            </a:r>
            <a:endParaRPr lang="en-US" sz="1467" dirty="0">
              <a:ln w="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EB3BB7E-E98A-4B20-BA27-D1B358381FF4}"/>
              </a:ext>
            </a:extLst>
          </p:cNvPr>
          <p:cNvSpPr txBox="1"/>
          <p:nvPr/>
        </p:nvSpPr>
        <p:spPr>
          <a:xfrm>
            <a:off x="8826763" y="811189"/>
            <a:ext cx="2720448" cy="276999"/>
          </a:xfrm>
          <a:prstGeom prst="rect">
            <a:avLst/>
          </a:prstGeom>
          <a:noFill/>
        </p:spPr>
        <p:txBody>
          <a:bodyPr wrap="square" rtlCol="0">
            <a:spAutoFit/>
          </a:bodyPr>
          <a:lstStyle/>
          <a:p>
            <a:pPr algn="ctr"/>
            <a:r>
              <a:rPr lang="en-US" sz="1200" i="1" dirty="0" err="1"/>
              <a:t>Hỏng</a:t>
            </a:r>
            <a:r>
              <a:rPr lang="en-US" sz="1200" i="1" dirty="0"/>
              <a:t> </a:t>
            </a:r>
            <a:r>
              <a:rPr lang="en-US" sz="1200" i="1" dirty="0" err="1"/>
              <a:t>hóc</a:t>
            </a:r>
            <a:r>
              <a:rPr lang="en-US" sz="1200" i="1" dirty="0"/>
              <a:t> Starter A890</a:t>
            </a:r>
          </a:p>
        </p:txBody>
      </p:sp>
      <p:pic>
        <p:nvPicPr>
          <p:cNvPr id="6" name="Picture 5" descr="A person holding a small metal object&#10;&#10;Description automatically generated">
            <a:extLst>
              <a:ext uri="{FF2B5EF4-FFF2-40B4-BE49-F238E27FC236}">
                <a16:creationId xmlns:a16="http://schemas.microsoft.com/office/drawing/2014/main" id="{5AF3AB1A-6C58-4E74-BE70-5ABD16CBA8DC}"/>
              </a:ext>
            </a:extLst>
          </p:cNvPr>
          <p:cNvPicPr>
            <a:picLocks noChangeAspect="1"/>
          </p:cNvPicPr>
          <p:nvPr/>
        </p:nvPicPr>
        <p:blipFill rotWithShape="1">
          <a:blip r:embed="rId3"/>
          <a:srcRect l="47982" t="31522" r="22902" b="33575"/>
          <a:stretch/>
        </p:blipFill>
        <p:spPr>
          <a:xfrm rot="5400000">
            <a:off x="10218147" y="4321621"/>
            <a:ext cx="1996804" cy="1795201"/>
          </a:xfrm>
          <a:prstGeom prst="rect">
            <a:avLst/>
          </a:prstGeom>
        </p:spPr>
      </p:pic>
      <p:sp>
        <p:nvSpPr>
          <p:cNvPr id="16" name="TextBox 15">
            <a:extLst>
              <a:ext uri="{FF2B5EF4-FFF2-40B4-BE49-F238E27FC236}">
                <a16:creationId xmlns:a16="http://schemas.microsoft.com/office/drawing/2014/main" id="{45C404B4-65BB-43EA-869E-6E6325F35035}"/>
              </a:ext>
            </a:extLst>
          </p:cNvPr>
          <p:cNvSpPr txBox="1"/>
          <p:nvPr/>
        </p:nvSpPr>
        <p:spPr>
          <a:xfrm>
            <a:off x="8370131" y="3913044"/>
            <a:ext cx="3897635" cy="276999"/>
          </a:xfrm>
          <a:prstGeom prst="rect">
            <a:avLst/>
          </a:prstGeom>
          <a:noFill/>
        </p:spPr>
        <p:txBody>
          <a:bodyPr wrap="square" rtlCol="0">
            <a:spAutoFit/>
          </a:bodyPr>
          <a:lstStyle/>
          <a:p>
            <a:pPr algn="ctr"/>
            <a:r>
              <a:rPr lang="en-US" sz="1200" i="1" dirty="0"/>
              <a:t>Chip Detector A890 </a:t>
            </a:r>
            <a:r>
              <a:rPr lang="en-US" sz="1200" i="1" dirty="0" err="1"/>
              <a:t>ngày</a:t>
            </a:r>
            <a:r>
              <a:rPr lang="en-US" sz="1200" i="1" dirty="0"/>
              <a:t> 17/07 (</a:t>
            </a:r>
            <a:r>
              <a:rPr lang="en-US" sz="1200" i="1" dirty="0" err="1"/>
              <a:t>trái</a:t>
            </a:r>
            <a:r>
              <a:rPr lang="en-US" sz="1200" i="1" dirty="0"/>
              <a:t>) </a:t>
            </a:r>
            <a:r>
              <a:rPr lang="en-US" sz="1200" i="1" dirty="0" err="1"/>
              <a:t>và</a:t>
            </a:r>
            <a:r>
              <a:rPr lang="en-US" sz="1200" i="1" dirty="0"/>
              <a:t> 19/07 (</a:t>
            </a:r>
            <a:r>
              <a:rPr lang="en-US" sz="1200" i="1" dirty="0" err="1"/>
              <a:t>phải</a:t>
            </a:r>
            <a:r>
              <a:rPr lang="en-US" sz="1200" i="1" dirty="0"/>
              <a:t>)</a:t>
            </a:r>
          </a:p>
        </p:txBody>
      </p:sp>
      <p:pic>
        <p:nvPicPr>
          <p:cNvPr id="8" name="Picture 7" descr="A hand holding a small metal object&#10;&#10;Description automatically generated">
            <a:extLst>
              <a:ext uri="{FF2B5EF4-FFF2-40B4-BE49-F238E27FC236}">
                <a16:creationId xmlns:a16="http://schemas.microsoft.com/office/drawing/2014/main" id="{169005FD-1D23-4AA4-B9BF-3ADD8059AF10}"/>
              </a:ext>
            </a:extLst>
          </p:cNvPr>
          <p:cNvPicPr>
            <a:picLocks noChangeAspect="1"/>
          </p:cNvPicPr>
          <p:nvPr/>
        </p:nvPicPr>
        <p:blipFill rotWithShape="1">
          <a:blip r:embed="rId4"/>
          <a:srcRect l="32642" t="45214" r="33762" b="26662"/>
          <a:stretch/>
        </p:blipFill>
        <p:spPr>
          <a:xfrm>
            <a:off x="8535958" y="4227511"/>
            <a:ext cx="1782991" cy="1990112"/>
          </a:xfrm>
          <a:prstGeom prst="rect">
            <a:avLst/>
          </a:prstGeom>
        </p:spPr>
      </p:pic>
      <p:pic>
        <p:nvPicPr>
          <p:cNvPr id="10" name="Picture 9" descr="Close-up of a metal vent&#10;&#10;Description automatically generated">
            <a:extLst>
              <a:ext uri="{FF2B5EF4-FFF2-40B4-BE49-F238E27FC236}">
                <a16:creationId xmlns:a16="http://schemas.microsoft.com/office/drawing/2014/main" id="{6B539656-38D6-4083-9845-913C5C4BE5E4}"/>
              </a:ext>
            </a:extLst>
          </p:cNvPr>
          <p:cNvPicPr>
            <a:picLocks noChangeAspect="1"/>
          </p:cNvPicPr>
          <p:nvPr/>
        </p:nvPicPr>
        <p:blipFill rotWithShape="1">
          <a:blip r:embed="rId5"/>
          <a:srcRect r="32516"/>
          <a:stretch/>
        </p:blipFill>
        <p:spPr>
          <a:xfrm rot="5400000">
            <a:off x="9021403" y="985729"/>
            <a:ext cx="2392572" cy="26590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2B718747-1295-E404-E4F8-C11E97C98329}"/>
              </a:ext>
            </a:extLst>
          </p:cNvPr>
          <p:cNvGraphicFramePr>
            <a:graphicFrameLocks noGrp="1"/>
          </p:cNvGraphicFramePr>
          <p:nvPr/>
        </p:nvGraphicFramePr>
        <p:xfrm>
          <a:off x="183510" y="565154"/>
          <a:ext cx="11844701" cy="6229006"/>
        </p:xfrm>
        <a:graphic>
          <a:graphicData uri="http://schemas.openxmlformats.org/drawingml/2006/table">
            <a:tbl>
              <a:tblPr/>
              <a:tblGrid>
                <a:gridCol w="589641">
                  <a:extLst>
                    <a:ext uri="{9D8B030D-6E8A-4147-A177-3AD203B41FA5}">
                      <a16:colId xmlns:a16="http://schemas.microsoft.com/office/drawing/2014/main" val="536790174"/>
                    </a:ext>
                  </a:extLst>
                </a:gridCol>
                <a:gridCol w="604644">
                  <a:extLst>
                    <a:ext uri="{9D8B030D-6E8A-4147-A177-3AD203B41FA5}">
                      <a16:colId xmlns:a16="http://schemas.microsoft.com/office/drawing/2014/main" val="2002142181"/>
                    </a:ext>
                  </a:extLst>
                </a:gridCol>
                <a:gridCol w="1348059">
                  <a:extLst>
                    <a:ext uri="{9D8B030D-6E8A-4147-A177-3AD203B41FA5}">
                      <a16:colId xmlns:a16="http://schemas.microsoft.com/office/drawing/2014/main" val="898038110"/>
                    </a:ext>
                  </a:extLst>
                </a:gridCol>
                <a:gridCol w="1248937">
                  <a:extLst>
                    <a:ext uri="{9D8B030D-6E8A-4147-A177-3AD203B41FA5}">
                      <a16:colId xmlns:a16="http://schemas.microsoft.com/office/drawing/2014/main" val="980018375"/>
                    </a:ext>
                  </a:extLst>
                </a:gridCol>
                <a:gridCol w="1576039">
                  <a:extLst>
                    <a:ext uri="{9D8B030D-6E8A-4147-A177-3AD203B41FA5}">
                      <a16:colId xmlns:a16="http://schemas.microsoft.com/office/drawing/2014/main" val="267504214"/>
                    </a:ext>
                  </a:extLst>
                </a:gridCol>
                <a:gridCol w="6477381">
                  <a:extLst>
                    <a:ext uri="{9D8B030D-6E8A-4147-A177-3AD203B41FA5}">
                      <a16:colId xmlns:a16="http://schemas.microsoft.com/office/drawing/2014/main" val="308336479"/>
                    </a:ext>
                  </a:extLst>
                </a:gridCol>
              </a:tblGrid>
              <a:tr h="205336">
                <a:tc>
                  <a:txBody>
                    <a:bodyPr/>
                    <a:lstStyle/>
                    <a:p>
                      <a:pPr algn="ctr" fontAlgn="ctr"/>
                      <a:r>
                        <a:rPr lang="en-US" sz="1300" b="0" i="0" u="none" strike="noStrike">
                          <a:solidFill>
                            <a:srgbClr val="000000"/>
                          </a:solidFill>
                          <a:effectLst/>
                          <a:latin typeface="Calibri" panose="020F0502020204030204" pitchFamily="34" charset="0"/>
                        </a:rPr>
                        <a:t>Fleet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6387528"/>
                  </a:ext>
                </a:extLst>
              </a:tr>
              <a:tr h="8149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B1396 RAISED F/CTL STABILIZER E1 ACTUATOR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C1456 RAISED SUPPLEMENTAL COOLING SYSTEM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B1405 RAISED SATCOM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5. B1406 RAISED : PACK 1 TEMPERATURE MONITORING ON THE BLEED SD PAGE INOP</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3438657"/>
                  </a:ext>
                </a:extLst>
              </a:tr>
              <a:tr h="6117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2. C1270 RAISED CHILLER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4. B1300: F/CTL LOWER AILERON G ACTUATOR</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4531608"/>
                  </a:ext>
                </a:extLst>
              </a:tr>
              <a:tr h="6117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soi heatshield 2400FH/400FC,  soi HPT blade 2000FH/250FC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C1236 RAISED CHILLER SYS INOP</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9357779"/>
                  </a:ext>
                </a:extLst>
              </a:tr>
              <a:tr h="4085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 </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3403620"/>
                  </a:ext>
                </a:extLst>
              </a:tr>
              <a:tr h="2053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B1558 RAISED ICE INDICATION LGT ON BOTH SIDE INOP</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0723867"/>
                  </a:ext>
                </a:extLst>
              </a:tr>
              <a:tr h="2053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B1462 RAISED EXT LT STROBE LT INOP</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4158396"/>
                  </a:ext>
                </a:extLst>
              </a:tr>
              <a:tr h="6117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C1203 RAISED CHILLER SYS INOP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B1609 RAISED DM F/CTL FLAP PCU 2</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B1611 RAISED DM F/CTL R OUTR AILERON Y ACTUATOR</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8590996"/>
                  </a:ext>
                </a:extLst>
              </a:tr>
              <a:tr h="4085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C1191 RAISED CHILLER AT AFT CREWREST INOP</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B1457 "DM: COND BULK CARGO HEATER"</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9715387"/>
                  </a:ext>
                </a:extLst>
              </a:tr>
              <a:tr h="4085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21317  giảm tần suất soi IPC blade root 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B1078 RAISED DM F/CTL R OUTR AILERON G ACTUATOR</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60919"/>
                  </a:ext>
                </a:extLst>
              </a:tr>
              <a:tr h="2053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8339028"/>
                  </a:ext>
                </a:extLst>
              </a:tr>
              <a:tr h="4085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C855 RAISED CHILLER SYSTEM INOP</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B1086 IS RAISED: ENG 2 SINGLE IGN</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557796"/>
                  </a:ext>
                </a:extLst>
              </a:tr>
              <a:tr h="408536">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1886104"/>
                  </a:ext>
                </a:extLst>
              </a:tr>
              <a:tr h="464689">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soi HPT blade 800FH/100FC, soi IPC blade root 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B1208 RAISED AFT GALLEY HEATER FAULT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645016"/>
                  </a:ext>
                </a:extLst>
              </a:tr>
              <a:tr h="250149">
                <a:tc>
                  <a:txBody>
                    <a:bodyPr/>
                    <a:lstStyle/>
                    <a:p>
                      <a:pPr algn="ctr" fontAlgn="ctr"/>
                      <a:r>
                        <a:rPr lang="en-US" sz="1300" b="0" i="0" u="none" strike="noStrike">
                          <a:solidFill>
                            <a:srgbClr val="000000"/>
                          </a:solidFill>
                          <a:effectLst/>
                          <a:latin typeface="Calibri" panose="020F0502020204030204" pitchFamily="34" charset="0"/>
                        </a:rPr>
                        <a:t>A350</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B1059 RAISED F/CTL RUDDER YELLOW ACTUATOR SECURED</a:t>
                      </a:r>
                    </a:p>
                  </a:txBody>
                  <a:tcPr marL="2136" marR="2136" marT="21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036186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69386" y="476426"/>
            <a:ext cx="11910532" cy="4278094"/>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không tốt với 02 TH AOG và 01 GTB.</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A893 AOG tại HAN ngày 18/07 do phát sinh MSG F/CTL RUDDER ELEC ACTUATOR -&gt; C/O REPLACED THE RUDDER ELECTRO-HYDROSTATIC ACTUATOR (EHA)</a:t>
            </a:r>
          </a:p>
          <a:p>
            <a:pPr marL="609585" lvl="1" algn="just"/>
            <a:r>
              <a:rPr lang="vi-VN" sz="1600">
                <a:solidFill>
                  <a:srgbClr val="FF0000"/>
                </a:solidFill>
                <a:latin typeface="Times New Roman" panose="02020603050405020304" pitchFamily="18" charset="0"/>
                <a:cs typeface="Times New Roman" panose="02020603050405020304" pitchFamily="18" charset="0"/>
              </a:rPr>
              <a:t>Tàu bay A893, được bố trí dừng từ 0h-18h ngày 18/07/2025 để khắc phục ADD do hỏng hóc leak thủy lực ở Tee-fitting green system</a:t>
            </a:r>
            <a:r>
              <a:rPr lang="en-US" sz="1600">
                <a:solidFill>
                  <a:srgbClr val="FF0000"/>
                </a:solidFill>
                <a:latin typeface="Times New Roman" panose="02020603050405020304" pitchFamily="18" charset="0"/>
                <a:cs typeface="Times New Roman" panose="02020603050405020304" pitchFamily="18" charset="0"/>
              </a:rPr>
              <a:t>. </a:t>
            </a:r>
            <a:r>
              <a:rPr lang="vi-VN" sz="1600">
                <a:solidFill>
                  <a:srgbClr val="FF0000"/>
                </a:solidFill>
                <a:latin typeface="Times New Roman" panose="02020603050405020304" pitchFamily="18" charset="0"/>
                <a:cs typeface="Times New Roman" panose="02020603050405020304" pitchFamily="18" charset="0"/>
              </a:rPr>
              <a:t>Để thực hiện công việc này cần phải depressure hệ thống thủy lực, và thay thế đường ống thủy lực.</a:t>
            </a:r>
          </a:p>
          <a:p>
            <a:pPr marL="609585" lvl="1" algn="just"/>
            <a:r>
              <a:rPr lang="vi-VN" sz="1600">
                <a:solidFill>
                  <a:srgbClr val="FF0000"/>
                </a:solidFill>
                <a:latin typeface="Times New Roman" panose="02020603050405020304" pitchFamily="18" charset="0"/>
                <a:cs typeface="Times New Roman" panose="02020603050405020304" pitchFamily="18" charset="0"/>
              </a:rPr>
              <a:t>Sau khi hoàn thành công việc thay thế đường ống thủy lực, thực hiện tăng áp thủy lực để kiểm tra leak check thì xuất hiện cảnh báo NOGO F/CTL RUDDER ELEC ACTUATOR, với FC 2796F6Q7 </a:t>
            </a:r>
          </a:p>
          <a:p>
            <a:pPr marL="609585" lvl="1" algn="just"/>
            <a:r>
              <a:rPr lang="vi-VN" sz="1600">
                <a:solidFill>
                  <a:srgbClr val="FF0000"/>
                </a:solidFill>
                <a:latin typeface="Times New Roman" panose="02020603050405020304" pitchFamily="18" charset="0"/>
                <a:cs typeface="Times New Roman" panose="02020603050405020304" pitchFamily="18" charset="0"/>
              </a:rPr>
              <a:t>FC 2796F6Q7 này chỉ xảy ra khi on-ground, tàu bay tự thực hiện Auto-filling cho bình thủy lực của Rudder EHA. Khi không thực hiện filling được thì cảnh báo xuất hiện.</a:t>
            </a:r>
          </a:p>
          <a:p>
            <a:pPr marL="609585" lvl="1" algn="just"/>
            <a:r>
              <a:rPr lang="vi-VN" sz="1600">
                <a:solidFill>
                  <a:srgbClr val="FF0000"/>
                </a:solidFill>
                <a:latin typeface="Times New Roman" panose="02020603050405020304" pitchFamily="18" charset="0"/>
                <a:cs typeface="Times New Roman" panose="02020603050405020304" pitchFamily="18" charset="0"/>
              </a:rPr>
              <a:t>Trường hợp này, nghi ngờ là hệ quả khi Depressure hệ thống thủy lực, khiến bình tích áp của EHA cũng bị giảm thủy lực. Sau khi tăng áp lại thủy lực và không refill được thì cảnh báo xuất hiện. Đã thực hiện theo TSM để manual refill nhưng cũng không được, nên VAECO quyết định thực hiện thay EHA.</a:t>
            </a:r>
          </a:p>
          <a:p>
            <a:pPr marL="609585" lvl="1" algn="just"/>
            <a:r>
              <a:rPr lang="vi-VN" sz="1600">
                <a:solidFill>
                  <a:srgbClr val="FF0000"/>
                </a:solidFill>
                <a:latin typeface="Times New Roman" panose="02020603050405020304" pitchFamily="18" charset="0"/>
                <a:cs typeface="Times New Roman" panose="02020603050405020304" pitchFamily="18" charset="0"/>
              </a:rPr>
              <a:t>Khối rudder EHA PN CA67008-026, SN 01300648 trên A893 là đời mới nhất, mới lắp lên A893 từ 23.Oct.2024 (CSI = 640, TSI = 3600). Tuy nhiên, lần đi shop gần nhất là do lỗi low level dectection. Cũng chính là lỗi hiện tại trên tàu A893 (cùng FC). Đang nghi ngờ có thể do chất lượng sửa chữa. Sẽ phải chờ SFR lần này để xác định. Đồng thời cũng đang làm việc với AiB để đánh giá thêm.</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50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140734" y="605700"/>
            <a:ext cx="11910532" cy="4278094"/>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en-US" sz="1600">
                <a:solidFill>
                  <a:prstClr val="black"/>
                </a:solidFill>
                <a:latin typeface="Times New Roman" panose="02020603050405020304" pitchFamily="18" charset="0"/>
                <a:cs typeface="Times New Roman" panose="02020603050405020304" pitchFamily="18" charset="0"/>
              </a:rPr>
              <a:t>Hỏng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A890 GTB/AOG tại SGN từ 19/07 do phát sinh CANNOT START ENG 2, FOUND STARTER DAMAGED -&gt; Chờ cung ứng Starter để thay thế, đã triển khai A898 vào check A03 từ 21-23/07 để rob Starter cho A890</a:t>
            </a:r>
            <a:r>
              <a:rPr lang="en-SG" sz="1600">
                <a:latin typeface="Times New Roman" panose="02020603050405020304" pitchFamily="18" charset="0"/>
                <a:cs typeface="Times New Roman" panose="02020603050405020304" pitchFamily="18" charset="0"/>
              </a:rPr>
              <a:t>.</a:t>
            </a:r>
          </a:p>
          <a:p>
            <a:pPr marL="609585" lvl="1" algn="just"/>
            <a:r>
              <a:rPr lang="vi-VN" sz="1600">
                <a:solidFill>
                  <a:srgbClr val="FF0000"/>
                </a:solidFill>
                <a:latin typeface="Times New Roman" panose="02020603050405020304" pitchFamily="18" charset="0"/>
                <a:cs typeface="Times New Roman" panose="02020603050405020304" pitchFamily="18" charset="0"/>
              </a:rPr>
              <a:t>@A890#2 ESN 21136 Sau khi tàu bay quay lại bãi 34, VAECO đã T/S và xác định hỏng hóc Starter động cơ số 2. Hỏng hóc Starter đã xảy ra nhiều lần trên đội bay VNA, xuất hiện từ khi mới nhận tàu, vẫn được NSX xác định nguyên nhân do lỗi Oil Servicing, thừa hoặc thiếu oil đều sẽ gây ra hỏng hóc. Đối với Starter tàu A890: dù khối đã được sử dụng trong thời gian dài (TSO = 28284 FH), tuy nhiên trước khi thay động cơ và thực hiện Oil Servicing ngày 17/07 khối hoạt động bình thường, kiểm tra MCD tần suất không phát hiện hỏng hóc. Sau đó 02 ngày vào 19/07 trong event A890, kiểm tra MCD đã phát hiện nhiều mạt kim loại. Hiện tượng này giống với một số hỏng hóc Starter trước đây do lỗi Oil Servicing, do đó nghi ngờ hỏng hóc trên A890 có cùng nguyên nhân. Hiện NSX đưa ra giải pháp phòng ngừa duy nhất là đảm bảo việc Service Oil được thực hiện chuẩn xác. Tất cả các khuyến cáo của NSX đều đã được VNA/VAECO tuân thủ. VNA đã phối hợp với VAECO ban hành TM yêu cầu thực hiện quy trình Servicing chặt hơn so với AMM. Mặc dù góp phần giảm được số sự vụ, tuy nhiên vẫn không phòng tránh được hoàn toàn vấn đề. Từ 09/12/24 VNA đã triển khai chương trình kiểm tra tăng cường Starter MCD với tần suất 375FH với mục tiêu phát hiện sớm rủi ro hỏng hóc để gửi Starter đi bảo dưỡng sớm và đã có hiệu quả: phát hiện sớm và chủ động thay thế 2 trường hợp Starter hỏng trên tàu A896 (T4/2025) và A891 (T5/2025); đồng thời từ tháng 12/2024 đến 07/2025 chỉ có trường hợp A890 gây OI. Tuy nhiên các khối Starter gửi đi sửa chữa vẫn phát hiện hỏng hóc nặng, do đó từ 17/07/25 VNA đã yêu cầu tăng tần suất kiểm tra chủ động MCD thành 250 FH.</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9550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54881FF-3EEB-F233-5D9A-37C624EF10F3}"/>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99184FA-839E-6DE6-7572-8A33CADA77D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56BC49F0-CAB5-A26A-3709-79D7029D71AE}"/>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9A18E023-88CE-4DF7-92F4-761F22654A06}"/>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04</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9419AB4C-20B1-4FD3-BA76-A4F91B874EE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04 (02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non 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0</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9DB065F-E5F4-431E-1FF0-C1833E4D32FF}"/>
              </a:ext>
            </a:extLst>
          </p:cNvPr>
          <p:cNvGraphicFramePr>
            <a:graphicFrameLocks noGrp="1"/>
          </p:cNvGraphicFramePr>
          <p:nvPr>
            <p:extLst>
              <p:ext uri="{D42A27DB-BD31-4B8C-83A1-F6EECF244321}">
                <p14:modId xmlns:p14="http://schemas.microsoft.com/office/powerpoint/2010/main" val="1683888018"/>
              </p:ext>
            </p:extLst>
          </p:nvPr>
        </p:nvGraphicFramePr>
        <p:xfrm>
          <a:off x="228601" y="1859574"/>
          <a:ext cx="11594404" cy="3831787"/>
        </p:xfrm>
        <a:graphic>
          <a:graphicData uri="http://schemas.openxmlformats.org/drawingml/2006/table">
            <a:tbl>
              <a:tblPr/>
              <a:tblGrid>
                <a:gridCol w="399111">
                  <a:extLst>
                    <a:ext uri="{9D8B030D-6E8A-4147-A177-3AD203B41FA5}">
                      <a16:colId xmlns:a16="http://schemas.microsoft.com/office/drawing/2014/main" val="3631826415"/>
                    </a:ext>
                  </a:extLst>
                </a:gridCol>
                <a:gridCol w="609600">
                  <a:extLst>
                    <a:ext uri="{9D8B030D-6E8A-4147-A177-3AD203B41FA5}">
                      <a16:colId xmlns:a16="http://schemas.microsoft.com/office/drawing/2014/main" val="2985415475"/>
                    </a:ext>
                  </a:extLst>
                </a:gridCol>
                <a:gridCol w="381000">
                  <a:extLst>
                    <a:ext uri="{9D8B030D-6E8A-4147-A177-3AD203B41FA5}">
                      <a16:colId xmlns:a16="http://schemas.microsoft.com/office/drawing/2014/main" val="3429498714"/>
                    </a:ext>
                  </a:extLst>
                </a:gridCol>
                <a:gridCol w="533400">
                  <a:extLst>
                    <a:ext uri="{9D8B030D-6E8A-4147-A177-3AD203B41FA5}">
                      <a16:colId xmlns:a16="http://schemas.microsoft.com/office/drawing/2014/main" val="1120058905"/>
                    </a:ext>
                  </a:extLst>
                </a:gridCol>
                <a:gridCol w="457200">
                  <a:extLst>
                    <a:ext uri="{9D8B030D-6E8A-4147-A177-3AD203B41FA5}">
                      <a16:colId xmlns:a16="http://schemas.microsoft.com/office/drawing/2014/main" val="144532814"/>
                    </a:ext>
                  </a:extLst>
                </a:gridCol>
                <a:gridCol w="381000">
                  <a:extLst>
                    <a:ext uri="{9D8B030D-6E8A-4147-A177-3AD203B41FA5}">
                      <a16:colId xmlns:a16="http://schemas.microsoft.com/office/drawing/2014/main" val="3010832180"/>
                    </a:ext>
                  </a:extLst>
                </a:gridCol>
                <a:gridCol w="2365833">
                  <a:extLst>
                    <a:ext uri="{9D8B030D-6E8A-4147-A177-3AD203B41FA5}">
                      <a16:colId xmlns:a16="http://schemas.microsoft.com/office/drawing/2014/main" val="4147137956"/>
                    </a:ext>
                  </a:extLst>
                </a:gridCol>
                <a:gridCol w="3128934">
                  <a:extLst>
                    <a:ext uri="{9D8B030D-6E8A-4147-A177-3AD203B41FA5}">
                      <a16:colId xmlns:a16="http://schemas.microsoft.com/office/drawing/2014/main" val="2286568677"/>
                    </a:ext>
                  </a:extLst>
                </a:gridCol>
                <a:gridCol w="233323">
                  <a:extLst>
                    <a:ext uri="{9D8B030D-6E8A-4147-A177-3AD203B41FA5}">
                      <a16:colId xmlns:a16="http://schemas.microsoft.com/office/drawing/2014/main" val="1193621248"/>
                    </a:ext>
                  </a:extLst>
                </a:gridCol>
                <a:gridCol w="3105003">
                  <a:extLst>
                    <a:ext uri="{9D8B030D-6E8A-4147-A177-3AD203B41FA5}">
                      <a16:colId xmlns:a16="http://schemas.microsoft.com/office/drawing/2014/main" val="512002783"/>
                    </a:ext>
                  </a:extLst>
                </a:gridCol>
              </a:tblGrid>
              <a:tr h="78677">
                <a:tc>
                  <a:txBody>
                    <a:bodyPr/>
                    <a:lstStyle/>
                    <a:p>
                      <a:pPr algn="ctr" fontAlgn="t">
                        <a:buNone/>
                      </a:pPr>
                      <a:r>
                        <a:rPr lang="en-US" sz="1000" b="0" i="0" u="none" strike="noStrike">
                          <a:solidFill>
                            <a:srgbClr val="000000"/>
                          </a:solidFill>
                          <a:effectLst/>
                          <a:latin typeface="Calibri" panose="020F0502020204030204" pitchFamily="34"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1000" b="0" i="0" u="none" strike="noStrike">
                          <a:solidFill>
                            <a:srgbClr val="000000"/>
                          </a:solidFill>
                          <a:effectLst/>
                          <a:latin typeface="Calibri" panose="020F0502020204030204" pitchFamily="34"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107899618"/>
                  </a:ext>
                </a:extLst>
              </a:tr>
              <a:tr h="393385">
                <a:tc>
                  <a:txBody>
                    <a:bodyPr/>
                    <a:lstStyle/>
                    <a:p>
                      <a:pPr algn="l" fontAlgn="ctr"/>
                      <a:r>
                        <a:rPr lang="en-US" sz="1000" b="0" i="0" u="none" strike="noStrike">
                          <a:solidFill>
                            <a:srgbClr val="000000"/>
                          </a:solidFill>
                          <a:effectLst/>
                          <a:latin typeface="Times New Roman" panose="02020603050405020304" pitchFamily="18" charset="0"/>
                        </a:rPr>
                        <a:t>A878</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16:00 20/07/2025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30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VN7252</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SGN-HAN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SG" sz="1000" b="0" i="0" u="none" strike="noStrike">
                          <a:solidFill>
                            <a:srgbClr val="000000"/>
                          </a:solidFill>
                          <a:effectLst/>
                          <a:latin typeface="Times New Roman" panose="02020603050405020304" pitchFamily="18" charset="0"/>
                        </a:rPr>
                        <a:t>CPRSR DEFLECTOR DOOR R</a:t>
                      </a:r>
                      <a:br>
                        <a:rPr lang="en-SG" sz="1000" b="0" i="0" u="none" strike="noStrike">
                          <a:solidFill>
                            <a:srgbClr val="000000"/>
                          </a:solidFill>
                          <a:effectLst/>
                          <a:latin typeface="Times New Roman" panose="02020603050405020304" pitchFamily="18" charset="0"/>
                        </a:rPr>
                      </a:br>
                      <a:r>
                        <a:rPr lang="en-SG" sz="1000" b="0" i="0" u="none" strike="noStrike">
                          <a:solidFill>
                            <a:srgbClr val="000000"/>
                          </a:solidFill>
                          <a:effectLst/>
                          <a:latin typeface="Times New Roman" panose="02020603050405020304" pitchFamily="18" charset="0"/>
                        </a:rPr>
                        <a:t>DURING TRANSIT CHECK AND BOARDING .A/C HAS  MSG: CPRSR DEFLECTOR DOOR R</a:t>
                      </a:r>
                      <a:br>
                        <a:rPr lang="en-SG" sz="1000" b="0" i="0" u="none" strike="noStrike">
                          <a:solidFill>
                            <a:srgbClr val="000000"/>
                          </a:solidFill>
                          <a:effectLst/>
                          <a:latin typeface="Times New Roman" panose="02020603050405020304" pitchFamily="18" charset="0"/>
                        </a:rPr>
                      </a:br>
                      <a:endParaRPr lang="en-SG" sz="1000" b="0" i="0" u="none" strike="noStrike">
                        <a:solidFill>
                          <a:srgbClr val="000000"/>
                        </a:solidFill>
                        <a:effectLst/>
                        <a:latin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SG" sz="1000" b="0" i="0" u="none" strike="noStrike">
                          <a:solidFill>
                            <a:srgbClr val="000000"/>
                          </a:solidFill>
                          <a:effectLst/>
                          <a:latin typeface="Times New Roman" panose="02020603050405020304" pitchFamily="18" charset="0"/>
                        </a:rPr>
                        <a:t>FINAL ACTION: C/O DEACTIVED AND RAISED ADD B117 FOR STS CPRSR DEFLECTOR DOOR R INOP , A/C SERVICEABLE</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21-51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2312448"/>
                  </a:ext>
                </a:extLst>
              </a:tr>
              <a:tr h="393385">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A879</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16:54 19/07/2025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HAN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60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VN217</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HAN-SGN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WHEEL 3 WAS DEFLATED During a thunderstorm, the aircraft displayed a ;Tire Press MW03; message indicating 0 PSI. Inspected found wheel 3 was deflated.</a:t>
                      </a:r>
                      <a:br>
                        <a:rPr lang="en-US" sz="1000" b="0" i="0" u="none" strike="noStrike">
                          <a:solidFill>
                            <a:srgbClr val="000000"/>
                          </a:solidFill>
                          <a:effectLst/>
                          <a:latin typeface="Times New Roman" panose="02020603050405020304" pitchFamily="18" charset="0"/>
                          <a:cs typeface="Times New Roman" panose="02020603050405020304" pitchFamily="18" charset="0"/>
                        </a:rPr>
                      </a:b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T/S IAW FIM 32-40-F0-46A-421A</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STEP 1.A.1 EICAS ADVISORY MAG ;BRAKE TEMP;</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STEP 1.B.1 PERFORMED INSP HIGH-ENERGY STOP AND HEAT DAMAGE CONDITION IAW AMM 05-51-14-01A-280A FOUND WHEEL TIRE #3 DEFLAED. REPLACED WHEEL ASSY#3&amp;amp;4. CHECK SATIS. REPLACED WHEEL ASSY#3&amp;4 EVENT CLOSED  TOTAL DELAY 60MIN, TECH 40MIN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32</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1000" b="0" i="0" u="none" strike="noStrike">
                          <a:solidFill>
                            <a:srgbClr val="000000"/>
                          </a:solidFill>
                          <a:effectLst/>
                          <a:latin typeface="Times New Roman" panose="02020603050405020304" pitchFamily="18" charset="0"/>
                          <a:cs typeface="Times New Roman" panose="02020603050405020304" pitchFamily="18" charset="0"/>
                        </a:rPr>
                        <a:t>Nontech Có thể do điều kiện mưa bão, hệ thống đã apply phanh nhiều hơn bình thường (High-Energy Stop), dẫn đến quá nhiệt và chảy fuse plug của lốp. Đã kiểm tra hệ thống phanh, không phát hiện bất thường.</a:t>
                      </a:r>
                      <a:br>
                        <a:rPr lang="vi-VN" sz="1000" b="0" i="0" u="none" strike="noStrike">
                          <a:solidFill>
                            <a:srgbClr val="000000"/>
                          </a:solidFill>
                          <a:effectLst/>
                          <a:latin typeface="Times New Roman" panose="02020603050405020304" pitchFamily="18" charset="0"/>
                          <a:cs typeface="Times New Roman" panose="02020603050405020304" pitchFamily="18" charset="0"/>
                        </a:rPr>
                      </a:br>
                      <a:endParaRPr lang="vi-VN"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44132"/>
                  </a:ext>
                </a:extLst>
              </a:tr>
              <a:tr h="314708">
                <a:tc>
                  <a:txBody>
                    <a:bodyPr/>
                    <a:lstStyle/>
                    <a:p>
                      <a:pPr algn="l" fontAlgn="ctr"/>
                      <a:r>
                        <a:rPr lang="en-US" sz="1000" b="0" i="0" u="none" strike="noStrike">
                          <a:solidFill>
                            <a:srgbClr val="000000"/>
                          </a:solidFill>
                          <a:effectLst/>
                          <a:latin typeface="Times New Roman" panose="02020603050405020304" pitchFamily="18" charset="0"/>
                        </a:rPr>
                        <a:t>A866</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16:33 19/07/2025</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HAN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90</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VN273</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000" b="0" i="0" u="none" strike="noStrike">
                          <a:solidFill>
                            <a:srgbClr val="000000"/>
                          </a:solidFill>
                          <a:effectLst/>
                          <a:latin typeface="Times New Roman" panose="02020603050405020304" pitchFamily="18" charset="0"/>
                        </a:rPr>
                        <a:t>HAN-SGN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SG" sz="1000" b="0" i="0" u="none" strike="noStrike">
                          <a:solidFill>
                            <a:srgbClr val="000000"/>
                          </a:solidFill>
                          <a:effectLst/>
                          <a:latin typeface="Times New Roman" panose="02020603050405020304" pitchFamily="18" charset="0"/>
                        </a:rPr>
                        <a:t>ANTENNA VHF R DAMAGED The R VHF antenna was deformed due to being struck by a ladder blown by the wind.</a:t>
                      </a:r>
                      <a:br>
                        <a:rPr lang="en-SG" sz="1000" b="0" i="0" u="none" strike="noStrike">
                          <a:solidFill>
                            <a:srgbClr val="000000"/>
                          </a:solidFill>
                          <a:effectLst/>
                          <a:latin typeface="Times New Roman" panose="02020603050405020304" pitchFamily="18" charset="0"/>
                        </a:rPr>
                      </a:br>
                      <a:endParaRPr lang="en-SG" sz="1000" b="0" i="0" u="none" strike="noStrike">
                        <a:solidFill>
                          <a:srgbClr val="000000"/>
                        </a:solidFill>
                        <a:effectLst/>
                        <a:latin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SG" sz="1000" b="0" i="0" u="none" strike="noStrike">
                          <a:solidFill>
                            <a:srgbClr val="000000"/>
                          </a:solidFill>
                          <a:effectLst/>
                          <a:latin typeface="Times New Roman" panose="02020603050405020304" pitchFamily="18" charset="0"/>
                        </a:rPr>
                        <a:t> REPLACED VHF R ANTENNA. EVENT CLOSED  TOTAL DELAY 90MIN, TECH 15MIN.</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NON TECH</a:t>
                      </a:r>
                      <a:endParaRPr lang="en-US" sz="1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13" marR="2713" marT="27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7329384"/>
                  </a:ext>
                </a:extLst>
              </a:tr>
              <a:tr h="314708">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A871</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14:30 16/07/2025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PVG</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29</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VN533</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PVG-HAN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APU AUTO SHUTDOWN APU AUTO SHUTDOWN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ADD RAISED FOR APU STARTER R INOP ACTION EVENT CLOSED  APU AUTO SHUTDOWN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1000" b="0" i="0" u="none" strike="noStrike" dirty="0">
                          <a:solidFill>
                            <a:srgbClr val="000000"/>
                          </a:solidFill>
                          <a:effectLst/>
                          <a:latin typeface="Times New Roman" panose="02020603050405020304" pitchFamily="18" charset="0"/>
                          <a:cs typeface="Times New Roman" panose="02020603050405020304" pitchFamily="18" charset="0"/>
                        </a:rPr>
                        <a:t>ADD B2338 "ELEC APU STARTER R INOP" GND CHECK NO STS MSG.NO EXISTING FAULTS. FIM TASK 24-20-F1-91A-421A REV134 APPLIED. C/O GND TEST FOR R2 EMP CMSC AND R2 CAC CMSC SHOW PASSED.STS DOES NOT SHOW.SATIS.</a:t>
                      </a:r>
                      <a:br>
                        <a:rPr lang="en-US" sz="1000" b="0" i="0" u="none" strike="noStrike" dirty="0">
                          <a:solidFill>
                            <a:srgbClr val="000000"/>
                          </a:solidFill>
                          <a:effectLst/>
                          <a:latin typeface="Times New Roman" panose="02020603050405020304" pitchFamily="18" charset="0"/>
                          <a:cs typeface="Times New Roman" panose="02020603050405020304" pitchFamily="18" charset="0"/>
                        </a:rPr>
                      </a:b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Đánh</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giá</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cảnh</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báo</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giả</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Tiếp</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cs typeface="Times New Roman" panose="02020603050405020304" pitchFamily="18" charset="0"/>
                        </a:rPr>
                        <a:t>tục</a:t>
                      </a:r>
                      <a:r>
                        <a:rPr lang="en-US" sz="1000" b="0" i="0" u="none" strike="noStrike" dirty="0">
                          <a:solidFill>
                            <a:srgbClr val="000000"/>
                          </a:solidFill>
                          <a:effectLst/>
                          <a:latin typeface="Times New Roman" panose="02020603050405020304" pitchFamily="18" charset="0"/>
                          <a:cs typeface="Times New Roman" panose="02020603050405020304" pitchFamily="18" charset="0"/>
                        </a:rPr>
                        <a:t> monitor.</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38927097"/>
                  </a:ext>
                </a:extLst>
              </a:tr>
            </a:tbl>
          </a:graphicData>
        </a:graphic>
      </p:graphicFrame>
    </p:spTree>
    <p:extLst>
      <p:ext uri="{BB962C8B-B14F-4D97-AF65-F5344CB8AC3E}">
        <p14:creationId xmlns:p14="http://schemas.microsoft.com/office/powerpoint/2010/main" val="1750268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19</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TIẾN ĐỘ SỬA CHỮA VN-A863</a:t>
            </a:r>
          </a:p>
        </p:txBody>
      </p:sp>
      <p:sp>
        <p:nvSpPr>
          <p:cNvPr id="2" name="Rectangle 1"/>
          <p:cNvSpPr/>
          <p:nvPr/>
        </p:nvSpPr>
        <p:spPr>
          <a:xfrm>
            <a:off x="4000370" y="741754"/>
            <a:ext cx="7548279" cy="5224507"/>
          </a:xfrm>
          <a:prstGeom prst="rect">
            <a:avLst/>
          </a:prstGeom>
        </p:spPr>
        <p:txBody>
          <a:bodyPr wrap="square">
            <a:spAutoFit/>
          </a:bodyPr>
          <a:lstStyle/>
          <a:p>
            <a:pPr marL="228600" indent="-228600" algn="just">
              <a:spcBef>
                <a:spcPts val="300"/>
              </a:spcBef>
              <a:spcAft>
                <a:spcPts val="300"/>
              </a:spcAft>
              <a:buFont typeface="+mj-lt"/>
              <a:buAutoNum type="arabicPeriod"/>
            </a:pPr>
            <a:r>
              <a:rPr lang="en-US" sz="1200" b="1">
                <a:effectLst/>
                <a:highlight>
                  <a:srgbClr val="FFFF00"/>
                </a:highlight>
                <a:latin typeface="Cambria" panose="02040503050406030204" pitchFamily="18" charset="0"/>
                <a:ea typeface="Cambria" panose="02040503050406030204" pitchFamily="18" charset="0"/>
              </a:rPr>
              <a:t>Vật tư (Boeing)</a:t>
            </a:r>
            <a:endParaRPr lang="en-US" sz="1200" dirty="0">
              <a:effectLst/>
              <a:highlight>
                <a:srgbClr val="FFFF00"/>
              </a:highlight>
              <a:latin typeface="Cambria" panose="02040503050406030204" pitchFamily="18" charset="0"/>
              <a:ea typeface="Cambria" panose="02040503050406030204" pitchFamily="18" charset="0"/>
            </a:endParaRPr>
          </a:p>
          <a:p>
            <a:pPr marL="457200" lvl="0" indent="-223838" algn="just">
              <a:spcBef>
                <a:spcPts val="300"/>
              </a:spcBef>
              <a:spcAft>
                <a:spcPts val="300"/>
              </a:spcAft>
              <a:buFont typeface="Arial" panose="020B0604020202020204" pitchFamily="34" charset="0"/>
              <a:buChar char="•"/>
            </a:pPr>
            <a:r>
              <a:rPr lang="en-US" sz="1200">
                <a:effectLst/>
                <a:latin typeface="Cambria" panose="02040503050406030204" pitchFamily="18" charset="0"/>
                <a:ea typeface="Cambria" panose="02040503050406030204" pitchFamily="18" charset="0"/>
              </a:rPr>
              <a:t>Wingtip : chuyển ngày 20/7</a:t>
            </a:r>
          </a:p>
          <a:p>
            <a:pPr marL="457200" lvl="0" indent="-223838" algn="just">
              <a:spcBef>
                <a:spcPts val="300"/>
              </a:spcBef>
              <a:spcAft>
                <a:spcPts val="300"/>
              </a:spcAft>
              <a:buFont typeface="Arial" panose="020B0604020202020204" pitchFamily="34" charset="0"/>
              <a:buChar char="•"/>
            </a:pPr>
            <a:r>
              <a:rPr lang="en-US" sz="1200">
                <a:effectLst/>
                <a:highlight>
                  <a:srgbClr val="FFFF00"/>
                </a:highlight>
                <a:latin typeface="Cambria" panose="02040503050406030204" pitchFamily="18" charset="0"/>
                <a:ea typeface="Cambria" panose="02040503050406030204" pitchFamily="18" charset="0"/>
              </a:rPr>
              <a:t>Slat </a:t>
            </a:r>
            <a:r>
              <a:rPr lang="en-US" sz="1200" dirty="0">
                <a:effectLst/>
                <a:highlight>
                  <a:srgbClr val="FFFF00"/>
                </a:highlight>
                <a:latin typeface="Cambria" panose="02040503050406030204" pitchFamily="18" charset="0"/>
                <a:ea typeface="Cambria" panose="02040503050406030204" pitchFamily="18" charset="0"/>
              </a:rPr>
              <a:t>12 </a:t>
            </a:r>
            <a:r>
              <a:rPr lang="en-US" sz="1200" dirty="0" err="1">
                <a:effectLst/>
                <a:highlight>
                  <a:srgbClr val="FFFF00"/>
                </a:highlight>
                <a:latin typeface="Cambria" panose="02040503050406030204" pitchFamily="18" charset="0"/>
                <a:ea typeface="Cambria" panose="02040503050406030204" pitchFamily="18" charset="0"/>
              </a:rPr>
              <a:t>đến</a:t>
            </a:r>
            <a:r>
              <a:rPr lang="en-US" sz="1200" dirty="0">
                <a:effectLst/>
                <a:highlight>
                  <a:srgbClr val="FFFF00"/>
                </a:highlight>
                <a:latin typeface="Cambria" panose="02040503050406030204" pitchFamily="18" charset="0"/>
                <a:ea typeface="Cambria" panose="02040503050406030204" pitchFamily="18" charset="0"/>
              </a:rPr>
              <a:t> Seattle </a:t>
            </a:r>
            <a:r>
              <a:rPr lang="en-US" sz="1200" dirty="0" err="1">
                <a:effectLst/>
                <a:highlight>
                  <a:srgbClr val="FFFF00"/>
                </a:highlight>
                <a:latin typeface="Cambria" panose="02040503050406030204" pitchFamily="18" charset="0"/>
                <a:ea typeface="Cambria" panose="02040503050406030204" pitchFamily="18" charset="0"/>
              </a:rPr>
              <a:t>ngày</a:t>
            </a:r>
            <a:r>
              <a:rPr lang="en-US" sz="1200" dirty="0">
                <a:effectLst/>
                <a:highlight>
                  <a:srgbClr val="FFFF00"/>
                </a:highlight>
                <a:latin typeface="Cambria" panose="02040503050406030204" pitchFamily="18" charset="0"/>
                <a:ea typeface="Cambria" panose="02040503050406030204" pitchFamily="18" charset="0"/>
              </a:rPr>
              <a:t> 21/7, </a:t>
            </a:r>
            <a:r>
              <a:rPr lang="en-US" sz="1200" dirty="0" err="1">
                <a:effectLst/>
                <a:highlight>
                  <a:srgbClr val="FFFF00"/>
                </a:highlight>
                <a:latin typeface="Cambria" panose="02040503050406030204" pitchFamily="18" charset="0"/>
                <a:ea typeface="Cambria" panose="02040503050406030204" pitchFamily="18" charset="0"/>
              </a:rPr>
              <a:t>chưa</a:t>
            </a:r>
            <a:r>
              <a:rPr lang="en-US" sz="1200" dirty="0">
                <a:effectLst/>
                <a:highlight>
                  <a:srgbClr val="FFFF00"/>
                </a:highlight>
                <a:latin typeface="Cambria" panose="02040503050406030204" pitchFamily="18" charset="0"/>
                <a:ea typeface="Cambria" panose="02040503050406030204" pitchFamily="18" charset="0"/>
              </a:rPr>
              <a:t> </a:t>
            </a:r>
            <a:r>
              <a:rPr lang="en-US" sz="1200" dirty="0" err="1">
                <a:effectLst/>
                <a:highlight>
                  <a:srgbClr val="FFFF00"/>
                </a:highlight>
                <a:latin typeface="Cambria" panose="02040503050406030204" pitchFamily="18" charset="0"/>
                <a:ea typeface="Cambria" panose="02040503050406030204" pitchFamily="18" charset="0"/>
              </a:rPr>
              <a:t>có</a:t>
            </a:r>
            <a:r>
              <a:rPr lang="en-US" sz="1200" dirty="0">
                <a:effectLst/>
                <a:highlight>
                  <a:srgbClr val="FFFF00"/>
                </a:highlight>
                <a:latin typeface="Cambria" panose="02040503050406030204" pitchFamily="18" charset="0"/>
                <a:ea typeface="Cambria" panose="02040503050406030204" pitchFamily="18" charset="0"/>
              </a:rPr>
              <a:t> </a:t>
            </a:r>
            <a:r>
              <a:rPr lang="en-US" sz="1200" dirty="0" err="1">
                <a:effectLst/>
                <a:highlight>
                  <a:srgbClr val="FFFF00"/>
                </a:highlight>
                <a:latin typeface="Cambria" panose="02040503050406030204" pitchFamily="18" charset="0"/>
                <a:ea typeface="Cambria" panose="02040503050406030204" pitchFamily="18" charset="0"/>
              </a:rPr>
              <a:t>thông</a:t>
            </a:r>
            <a:r>
              <a:rPr lang="en-US" sz="1200" dirty="0">
                <a:effectLst/>
                <a:highlight>
                  <a:srgbClr val="FFFF00"/>
                </a:highlight>
                <a:latin typeface="Cambria" panose="02040503050406030204" pitchFamily="18" charset="0"/>
                <a:ea typeface="Cambria" panose="02040503050406030204" pitchFamily="18" charset="0"/>
              </a:rPr>
              <a:t> tin </a:t>
            </a:r>
            <a:r>
              <a:rPr lang="en-US" sz="1200" dirty="0" err="1">
                <a:effectLst/>
                <a:highlight>
                  <a:srgbClr val="FFFF00"/>
                </a:highlight>
                <a:latin typeface="Cambria" panose="02040503050406030204" pitchFamily="18" charset="0"/>
                <a:ea typeface="Cambria" panose="02040503050406030204" pitchFamily="18" charset="0"/>
              </a:rPr>
              <a:t>vận</a:t>
            </a:r>
            <a:r>
              <a:rPr lang="en-US" sz="1200" dirty="0">
                <a:effectLst/>
                <a:highlight>
                  <a:srgbClr val="FFFF00"/>
                </a:highlight>
                <a:latin typeface="Cambria" panose="02040503050406030204" pitchFamily="18" charset="0"/>
                <a:ea typeface="Cambria" panose="02040503050406030204" pitchFamily="18" charset="0"/>
              </a:rPr>
              <a:t> </a:t>
            </a:r>
            <a:r>
              <a:rPr lang="en-US" sz="1200" dirty="0" err="1">
                <a:effectLst/>
                <a:highlight>
                  <a:srgbClr val="FFFF00"/>
                </a:highlight>
                <a:latin typeface="Cambria" panose="02040503050406030204" pitchFamily="18" charset="0"/>
                <a:ea typeface="Cambria" panose="02040503050406030204" pitchFamily="18" charset="0"/>
              </a:rPr>
              <a:t>chuyển</a:t>
            </a:r>
            <a:r>
              <a:rPr lang="en-US" sz="1200" dirty="0">
                <a:effectLst/>
                <a:highlight>
                  <a:srgbClr val="FFFF00"/>
                </a:highlight>
                <a:latin typeface="Cambria" panose="02040503050406030204" pitchFamily="18" charset="0"/>
                <a:ea typeface="Cambria" panose="02040503050406030204" pitchFamily="18" charset="0"/>
              </a:rPr>
              <a:t> </a:t>
            </a:r>
            <a:r>
              <a:rPr lang="en-US" sz="1200" err="1">
                <a:effectLst/>
                <a:highlight>
                  <a:srgbClr val="FFFF00"/>
                </a:highlight>
                <a:latin typeface="Cambria" panose="02040503050406030204" pitchFamily="18" charset="0"/>
                <a:ea typeface="Cambria" panose="02040503050406030204" pitchFamily="18" charset="0"/>
              </a:rPr>
              <a:t>đến</a:t>
            </a:r>
            <a:r>
              <a:rPr lang="en-US" sz="1200">
                <a:effectLst/>
                <a:highlight>
                  <a:srgbClr val="FFFF00"/>
                </a:highlight>
                <a:latin typeface="Cambria" panose="02040503050406030204" pitchFamily="18" charset="0"/>
                <a:ea typeface="Cambria" panose="02040503050406030204" pitchFamily="18" charset="0"/>
              </a:rPr>
              <a:t> VN</a:t>
            </a:r>
            <a:endParaRPr lang="en-US" sz="1200" dirty="0">
              <a:highlight>
                <a:srgbClr val="FFFF00"/>
              </a:highlight>
              <a:latin typeface="Cambria" panose="02040503050406030204" pitchFamily="18" charset="0"/>
              <a:ea typeface="Cambria" panose="02040503050406030204" pitchFamily="18" charset="0"/>
            </a:endParaRPr>
          </a:p>
          <a:p>
            <a:pPr marL="457200" lvl="0" indent="-223838" algn="just">
              <a:spcBef>
                <a:spcPts val="300"/>
              </a:spcBef>
              <a:spcAft>
                <a:spcPts val="300"/>
              </a:spcAft>
              <a:buFont typeface="Arial" panose="020B0604020202020204" pitchFamily="34" charset="0"/>
              <a:buChar char="•"/>
            </a:pPr>
            <a:r>
              <a:rPr lang="en-US" sz="1200">
                <a:effectLst/>
                <a:latin typeface="Cambria" panose="02040503050406030204" pitchFamily="18" charset="0"/>
                <a:ea typeface="Cambria" panose="02040503050406030204" pitchFamily="18" charset="0"/>
              </a:rPr>
              <a:t>Tooling </a:t>
            </a:r>
            <a:r>
              <a:rPr lang="en-US" sz="1200" dirty="0" err="1">
                <a:effectLst/>
                <a:latin typeface="Cambria" panose="02040503050406030204" pitchFamily="18" charset="0"/>
                <a:ea typeface="Cambria" panose="02040503050406030204" pitchFamily="18" charset="0"/>
              </a:rPr>
              <a:t>và</a:t>
            </a:r>
            <a:r>
              <a:rPr lang="en-US" sz="1200" dirty="0">
                <a:effectLst/>
                <a:latin typeface="Cambria" panose="02040503050406030204" pitchFamily="18" charset="0"/>
                <a:ea typeface="Cambria" panose="02040503050406030204" pitchFamily="18" charset="0"/>
              </a:rPr>
              <a:t> </a:t>
            </a:r>
            <a:r>
              <a:rPr lang="en-US" sz="1200" err="1">
                <a:effectLst/>
                <a:latin typeface="Cambria" panose="02040503050406030204" pitchFamily="18" charset="0"/>
                <a:ea typeface="Cambria" panose="02040503050406030204" pitchFamily="18" charset="0"/>
              </a:rPr>
              <a:t>comsumable</a:t>
            </a:r>
            <a:r>
              <a:rPr lang="en-US" sz="1200">
                <a:effectLst/>
                <a:latin typeface="Cambria" panose="02040503050406030204" pitchFamily="18" charset="0"/>
                <a:ea typeface="Cambria" panose="02040503050406030204" pitchFamily="18" charset="0"/>
              </a:rPr>
              <a:t> </a:t>
            </a:r>
            <a:r>
              <a:rPr lang="en-US" sz="1200">
                <a:latin typeface="Cambria" panose="02040503050406030204" pitchFamily="18" charset="0"/>
                <a:ea typeface="Cambria" panose="02040503050406030204" pitchFamily="18" charset="0"/>
              </a:rPr>
              <a:t>material: chuyển ngày </a:t>
            </a:r>
            <a:r>
              <a:rPr lang="en-US" sz="1200">
                <a:effectLst/>
                <a:latin typeface="Cambria" panose="02040503050406030204" pitchFamily="18" charset="0"/>
                <a:ea typeface="Cambria" panose="02040503050406030204" pitchFamily="18" charset="0"/>
              </a:rPr>
              <a:t>19/7.</a:t>
            </a:r>
            <a:endParaRPr lang="en-US" sz="1200" dirty="0">
              <a:latin typeface="Cambria" panose="02040503050406030204" pitchFamily="18" charset="0"/>
              <a:ea typeface="Cambria" panose="02040503050406030204" pitchFamily="18" charset="0"/>
            </a:endParaRPr>
          </a:p>
          <a:p>
            <a:pPr marL="228600" indent="-228600" algn="just">
              <a:spcBef>
                <a:spcPts val="1200"/>
              </a:spcBef>
              <a:spcAft>
                <a:spcPts val="300"/>
              </a:spcAft>
              <a:buFont typeface="+mj-lt"/>
              <a:buAutoNum type="arabicPeriod" startAt="2"/>
            </a:pPr>
            <a:r>
              <a:rPr lang="en-US" sz="1200" b="1">
                <a:highlight>
                  <a:srgbClr val="00FF00"/>
                </a:highlight>
                <a:latin typeface="Cambria" panose="02040503050406030204" pitchFamily="18" charset="0"/>
                <a:ea typeface="Cambria" panose="02040503050406030204" pitchFamily="18" charset="0"/>
              </a:rPr>
              <a:t>Vận chuyển</a:t>
            </a:r>
          </a:p>
          <a:p>
            <a:pPr marL="457200" indent="-223838" algn="just">
              <a:spcBef>
                <a:spcPts val="300"/>
              </a:spcBef>
              <a:spcAft>
                <a:spcPts val="300"/>
              </a:spcAft>
              <a:buFont typeface="Arial" panose="020B0604020202020204" pitchFamily="34" charset="0"/>
              <a:buChar char="•"/>
            </a:pPr>
            <a:r>
              <a:rPr lang="en-US" sz="1200">
                <a:latin typeface="Cambria" panose="02040503050406030204" pitchFamily="18" charset="0"/>
                <a:ea typeface="Cambria" panose="02040503050406030204" pitchFamily="18" charset="0"/>
              </a:rPr>
              <a:t>QLVT báo 8 kiện hàng đã tới NB. Dự kiến 21/7 sẽ thực hiện thông quan.</a:t>
            </a:r>
          </a:p>
          <a:p>
            <a:pPr marL="457200" indent="-223838" algn="just">
              <a:spcBef>
                <a:spcPts val="300"/>
              </a:spcBef>
              <a:spcAft>
                <a:spcPts val="300"/>
              </a:spcAft>
              <a:buFont typeface="Arial" panose="020B0604020202020204" pitchFamily="34" charset="0"/>
              <a:buChar char="•"/>
            </a:pPr>
            <a:r>
              <a:rPr lang="en-US" sz="1200">
                <a:latin typeface="Cambria" panose="02040503050406030204" pitchFamily="18" charset="0"/>
                <a:ea typeface="Cambria" panose="02040503050406030204" pitchFamily="18" charset="0"/>
              </a:rPr>
              <a:t>Boe báo còn khoảng 2 đến 3 kiện được gửi sau, dự kiến 23/7 tới HN.</a:t>
            </a:r>
          </a:p>
          <a:p>
            <a:pPr marL="228600" lvl="0" indent="-228600" algn="just">
              <a:spcBef>
                <a:spcPts val="1200"/>
              </a:spcBef>
              <a:spcAft>
                <a:spcPts val="300"/>
              </a:spcAft>
              <a:buFont typeface="+mj-lt"/>
              <a:buAutoNum type="arabicPeriod" startAt="3"/>
            </a:pPr>
            <a:r>
              <a:rPr lang="en-US" sz="1200" b="1">
                <a:highlight>
                  <a:srgbClr val="00FF00"/>
                </a:highlight>
                <a:latin typeface="Cambria" panose="02040503050406030204" pitchFamily="18" charset="0"/>
                <a:ea typeface="Cambria" panose="02040503050406030204" pitchFamily="18" charset="0"/>
              </a:rPr>
              <a:t>VISA</a:t>
            </a:r>
          </a:p>
          <a:p>
            <a:pPr marL="342900" lvl="0" indent="-342900" algn="just">
              <a:spcBef>
                <a:spcPts val="300"/>
              </a:spcBef>
              <a:spcAft>
                <a:spcPts val="300"/>
              </a:spcAft>
              <a:buFont typeface="Times New Roman" panose="02020603050405020304" pitchFamily="18" charset="0"/>
              <a:buChar char="-"/>
            </a:pPr>
            <a:r>
              <a:rPr lang="en-US" sz="1200">
                <a:latin typeface="Cambria" panose="02040503050406030204" pitchFamily="18" charset="0"/>
                <a:ea typeface="Cambria" panose="02040503050406030204" pitchFamily="18" charset="0"/>
              </a:rPr>
              <a:t>18/7: BOE team đã nhận được Visa.</a:t>
            </a:r>
          </a:p>
          <a:p>
            <a:pPr marL="228600" indent="-228600" algn="just">
              <a:spcBef>
                <a:spcPts val="1200"/>
              </a:spcBef>
              <a:spcAft>
                <a:spcPts val="300"/>
              </a:spcAft>
              <a:buFont typeface="+mj-lt"/>
              <a:buAutoNum type="arabicPeriod" startAt="4"/>
            </a:pPr>
            <a:r>
              <a:rPr lang="en-US" sz="1200" b="1">
                <a:highlight>
                  <a:srgbClr val="00FF00"/>
                </a:highlight>
                <a:latin typeface="Cambria" panose="02040503050406030204" pitchFamily="18" charset="0"/>
                <a:ea typeface="Cambria" panose="02040503050406030204" pitchFamily="18" charset="0"/>
              </a:rPr>
              <a:t>One-off Repair</a:t>
            </a:r>
          </a:p>
          <a:p>
            <a:pPr marL="342900" lvl="0" indent="-342900" algn="just">
              <a:spcBef>
                <a:spcPts val="300"/>
              </a:spcBef>
              <a:spcAft>
                <a:spcPts val="300"/>
              </a:spcAft>
              <a:buFont typeface="Times New Roman" panose="02020603050405020304" pitchFamily="18" charset="0"/>
              <a:buChar char="-"/>
            </a:pPr>
            <a:r>
              <a:rPr lang="en-US" sz="1200">
                <a:latin typeface="Cambria" panose="02040503050406030204" pitchFamily="18" charset="0"/>
                <a:ea typeface="Cambria" panose="02040503050406030204" pitchFamily="18" charset="0"/>
              </a:rPr>
              <a:t>18/7: CAAV đã phê chuẩn One off repair</a:t>
            </a:r>
          </a:p>
          <a:p>
            <a:pPr marL="228600" indent="-228600" algn="just">
              <a:spcBef>
                <a:spcPts val="1200"/>
              </a:spcBef>
              <a:spcAft>
                <a:spcPts val="300"/>
              </a:spcAft>
              <a:buFont typeface="+mj-lt"/>
              <a:buAutoNum type="arabicPeriod" startAt="5"/>
            </a:pPr>
            <a:r>
              <a:rPr lang="en-US" sz="1200" b="1">
                <a:highlight>
                  <a:srgbClr val="00FF00"/>
                </a:highlight>
                <a:latin typeface="Cambria" panose="02040503050406030204" pitchFamily="18" charset="0"/>
                <a:ea typeface="Cambria" panose="02040503050406030204" pitchFamily="18" charset="0"/>
              </a:rPr>
              <a:t>Đạo tạo RII theo chính sách của VNA;</a:t>
            </a:r>
          </a:p>
          <a:p>
            <a:pPr marL="342900" lvl="0" indent="-342900" algn="just">
              <a:spcBef>
                <a:spcPts val="300"/>
              </a:spcBef>
              <a:spcAft>
                <a:spcPts val="300"/>
              </a:spcAft>
              <a:buFont typeface="Times New Roman" panose="02020603050405020304" pitchFamily="18" charset="0"/>
              <a:buChar char="-"/>
            </a:pPr>
            <a:r>
              <a:rPr lang="en-US" sz="1200">
                <a:solidFill>
                  <a:prstClr val="black"/>
                </a:solidFill>
                <a:latin typeface="Cambria" panose="02040503050406030204" pitchFamily="18" charset="0"/>
                <a:ea typeface="Cambria" panose="02040503050406030204" pitchFamily="18" charset="0"/>
              </a:rPr>
              <a:t>Ban KT đã gửi CV cho VAECO (TTĐT) để tổ chức đào tạo. Dự kiến thực hiện trong buổi sáng ngày 24/7</a:t>
            </a:r>
          </a:p>
          <a:p>
            <a:pPr marL="228600" lvl="0" indent="-228600" algn="just">
              <a:spcBef>
                <a:spcPts val="1200"/>
              </a:spcBef>
              <a:spcAft>
                <a:spcPts val="300"/>
              </a:spcAft>
              <a:buFont typeface="+mj-lt"/>
              <a:buAutoNum type="arabicPeriod" startAt="6"/>
            </a:pPr>
            <a:r>
              <a:rPr lang="en-US" sz="1200" b="1">
                <a:highlight>
                  <a:srgbClr val="FFFF00"/>
                </a:highlight>
                <a:latin typeface="Cambria" panose="02040503050406030204" pitchFamily="18" charset="0"/>
                <a:ea typeface="Cambria" panose="02040503050406030204" pitchFamily="18" charset="0"/>
              </a:rPr>
              <a:t>Khác </a:t>
            </a:r>
          </a:p>
          <a:p>
            <a:pPr marL="342900" lvl="0" indent="-342900" algn="just">
              <a:spcBef>
                <a:spcPts val="300"/>
              </a:spcBef>
              <a:spcAft>
                <a:spcPts val="300"/>
              </a:spcAft>
              <a:buFont typeface="Times New Roman" panose="02020603050405020304" pitchFamily="18" charset="0"/>
              <a:buChar char="-"/>
            </a:pPr>
            <a:r>
              <a:rPr lang="en-US" sz="1200">
                <a:solidFill>
                  <a:prstClr val="black"/>
                </a:solidFill>
                <a:latin typeface="Cambria" panose="02040503050406030204" pitchFamily="18" charset="0"/>
                <a:ea typeface="Cambria" panose="02040503050406030204" pitchFamily="18" charset="0"/>
              </a:rPr>
              <a:t>VAE đã họp nội bộ ngày 15/7 để rà soát các nội dung: Tool, GSE, material, thang, dock, văn phòng… và đã thông báo hiện trạng cho BOE. Hiện không có phát sinh.</a:t>
            </a:r>
          </a:p>
          <a:p>
            <a:pPr marL="342900" lvl="0" indent="-342900" algn="just">
              <a:spcBef>
                <a:spcPts val="300"/>
              </a:spcBef>
              <a:spcAft>
                <a:spcPts val="300"/>
              </a:spcAft>
              <a:buFont typeface="Times New Roman" panose="02020603050405020304" pitchFamily="18" charset="0"/>
              <a:buChar char="-"/>
            </a:pPr>
            <a:r>
              <a:rPr lang="en-US" sz="1200">
                <a:solidFill>
                  <a:prstClr val="black"/>
                </a:solidFill>
                <a:highlight>
                  <a:srgbClr val="FFFF00"/>
                </a:highlight>
                <a:latin typeface="Cambria" panose="02040503050406030204" pitchFamily="18" charset="0"/>
                <a:ea typeface="Cambria" panose="02040503050406030204" pitchFamily="18" charset="0"/>
              </a:rPr>
              <a:t>Các thiết bị đã tháo liên quan đến Flight controll cần được lắp lại để thực hiện test (HSTA).</a:t>
            </a:r>
          </a:p>
          <a:p>
            <a:pPr marL="342900" lvl="0" indent="-342900" algn="just">
              <a:spcBef>
                <a:spcPts val="300"/>
              </a:spcBef>
              <a:spcAft>
                <a:spcPts val="300"/>
              </a:spcAft>
              <a:buFont typeface="Times New Roman" panose="02020603050405020304" pitchFamily="18" charset="0"/>
              <a:buChar char="-"/>
            </a:pPr>
            <a:endParaRPr lang="en-US" sz="1200">
              <a:solidFill>
                <a:prstClr val="black"/>
              </a:solidFill>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3"/>
          <a:stretch>
            <a:fillRect/>
          </a:stretch>
        </p:blipFill>
        <p:spPr>
          <a:xfrm>
            <a:off x="455303" y="3466307"/>
            <a:ext cx="3036497" cy="1524604"/>
          </a:xfrm>
          <a:prstGeom prst="rect">
            <a:avLst/>
          </a:prstGeom>
        </p:spPr>
      </p:pic>
      <p:pic>
        <p:nvPicPr>
          <p:cNvPr id="10" name="Picture 9"/>
          <p:cNvPicPr/>
          <p:nvPr/>
        </p:nvPicPr>
        <p:blipFill>
          <a:blip r:embed="rId4"/>
          <a:stretch>
            <a:fillRect/>
          </a:stretch>
        </p:blipFill>
        <p:spPr>
          <a:xfrm>
            <a:off x="517586" y="5100563"/>
            <a:ext cx="2974214" cy="1618476"/>
          </a:xfrm>
          <a:prstGeom prst="rect">
            <a:avLst/>
          </a:prstGeom>
        </p:spPr>
      </p:pic>
      <p:grpSp>
        <p:nvGrpSpPr>
          <p:cNvPr id="25" name="Group 24">
            <a:extLst>
              <a:ext uri="{FF2B5EF4-FFF2-40B4-BE49-F238E27FC236}">
                <a16:creationId xmlns:a16="http://schemas.microsoft.com/office/drawing/2014/main" id="{070485B8-5835-4790-81D8-229C2566BFD4}"/>
              </a:ext>
            </a:extLst>
          </p:cNvPr>
          <p:cNvGrpSpPr/>
          <p:nvPr/>
        </p:nvGrpSpPr>
        <p:grpSpPr>
          <a:xfrm>
            <a:off x="455304" y="793163"/>
            <a:ext cx="3036498" cy="2450719"/>
            <a:chOff x="534838" y="558321"/>
            <a:chExt cx="3036498" cy="2450719"/>
          </a:xfrm>
        </p:grpSpPr>
        <p:sp>
          <p:nvSpPr>
            <p:cNvPr id="6" name="TextBox 5">
              <a:extLst>
                <a:ext uri="{FF2B5EF4-FFF2-40B4-BE49-F238E27FC236}">
                  <a16:creationId xmlns:a16="http://schemas.microsoft.com/office/drawing/2014/main" id="{9733E712-A4E8-4AF7-B0ED-4642E08B36D1}"/>
                </a:ext>
              </a:extLst>
            </p:cNvPr>
            <p:cNvSpPr txBox="1"/>
            <p:nvPr/>
          </p:nvSpPr>
          <p:spPr>
            <a:xfrm>
              <a:off x="534838" y="558321"/>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27/6: A863 va chạm A338</a:t>
              </a:r>
            </a:p>
          </p:txBody>
        </p:sp>
        <p:sp>
          <p:nvSpPr>
            <p:cNvPr id="11" name="TextBox 10">
              <a:extLst>
                <a:ext uri="{FF2B5EF4-FFF2-40B4-BE49-F238E27FC236}">
                  <a16:creationId xmlns:a16="http://schemas.microsoft.com/office/drawing/2014/main" id="{081EF948-A8F7-4D2E-BDBF-FB5309FB5858}"/>
                </a:ext>
              </a:extLst>
            </p:cNvPr>
            <p:cNvSpPr txBox="1"/>
            <p:nvPr/>
          </p:nvSpPr>
          <p:spPr>
            <a:xfrm>
              <a:off x="534838" y="1047890"/>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15/7: phê duyệt Repair Offer</a:t>
              </a:r>
            </a:p>
          </p:txBody>
        </p:sp>
        <p:sp>
          <p:nvSpPr>
            <p:cNvPr id="12" name="TextBox 11">
              <a:extLst>
                <a:ext uri="{FF2B5EF4-FFF2-40B4-BE49-F238E27FC236}">
                  <a16:creationId xmlns:a16="http://schemas.microsoft.com/office/drawing/2014/main" id="{71DD48DA-765B-4BE3-8A7F-32EA307A9F4E}"/>
                </a:ext>
              </a:extLst>
            </p:cNvPr>
            <p:cNvSpPr txBox="1"/>
            <p:nvPr/>
          </p:nvSpPr>
          <p:spPr>
            <a:xfrm>
              <a:off x="534838" y="1537459"/>
              <a:ext cx="3036498" cy="492443"/>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18/7: KT gửi hồ s</a:t>
              </a:r>
              <a:r>
                <a:rPr lang="vi-VN" sz="1300">
                  <a:latin typeface="Cambria" panose="02040503050406030204" pitchFamily="18" charset="0"/>
                  <a:ea typeface="Cambria" panose="02040503050406030204" pitchFamily="18" charset="0"/>
                </a:rPr>
                <a:t>ơ</a:t>
              </a:r>
              <a:r>
                <a:rPr lang="en-US" sz="1300">
                  <a:latin typeface="Cambria" panose="02040503050406030204" pitchFamily="18" charset="0"/>
                  <a:ea typeface="Cambria" panose="02040503050406030204" pitchFamily="18" charset="0"/>
                </a:rPr>
                <a:t> thanh toán 879,600$ trả tr</a:t>
              </a:r>
              <a:r>
                <a:rPr lang="vi-VN" sz="1300">
                  <a:latin typeface="Cambria" panose="02040503050406030204" pitchFamily="18" charset="0"/>
                  <a:ea typeface="Cambria" panose="02040503050406030204" pitchFamily="18" charset="0"/>
                </a:rPr>
                <a:t>ư</a:t>
              </a:r>
              <a:r>
                <a:rPr lang="en-US" sz="1300">
                  <a:latin typeface="Cambria" panose="02040503050406030204" pitchFamily="18" charset="0"/>
                  <a:ea typeface="Cambria" panose="02040503050406030204" pitchFamily="18" charset="0"/>
                </a:rPr>
                <a:t>ớc tới Ban TCKT</a:t>
              </a:r>
            </a:p>
          </p:txBody>
        </p:sp>
        <p:sp>
          <p:nvSpPr>
            <p:cNvPr id="13" name="TextBox 12">
              <a:extLst>
                <a:ext uri="{FF2B5EF4-FFF2-40B4-BE49-F238E27FC236}">
                  <a16:creationId xmlns:a16="http://schemas.microsoft.com/office/drawing/2014/main" id="{436A2DCB-C7A1-4BF2-9D7A-199DCFDFA51B}"/>
                </a:ext>
              </a:extLst>
            </p:cNvPr>
            <p:cNvSpPr txBox="1"/>
            <p:nvPr/>
          </p:nvSpPr>
          <p:spPr>
            <a:xfrm>
              <a:off x="534838" y="2227083"/>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24/7: Bắt đầu sửa chữa</a:t>
              </a:r>
            </a:p>
          </p:txBody>
        </p:sp>
        <p:sp>
          <p:nvSpPr>
            <p:cNvPr id="14" name="TextBox 13">
              <a:extLst>
                <a:ext uri="{FF2B5EF4-FFF2-40B4-BE49-F238E27FC236}">
                  <a16:creationId xmlns:a16="http://schemas.microsoft.com/office/drawing/2014/main" id="{24D2027F-0890-4B1C-BE89-F0424C56675A}"/>
                </a:ext>
              </a:extLst>
            </p:cNvPr>
            <p:cNvSpPr txBox="1"/>
            <p:nvPr/>
          </p:nvSpPr>
          <p:spPr>
            <a:xfrm>
              <a:off x="534838" y="2716652"/>
              <a:ext cx="3036498" cy="292388"/>
            </a:xfrm>
            <a:prstGeom prst="rect">
              <a:avLst/>
            </a:prstGeom>
            <a:solidFill>
              <a:schemeClr val="accent5">
                <a:lumMod val="20000"/>
                <a:lumOff val="80000"/>
              </a:schemeClr>
            </a:solidFill>
            <a:ln>
              <a:solidFill>
                <a:schemeClr val="bg1">
                  <a:lumMod val="50000"/>
                </a:schemeClr>
              </a:solidFill>
            </a:ln>
          </p:spPr>
          <p:txBody>
            <a:bodyPr wrap="square" rtlCol="0">
              <a:spAutoFit/>
            </a:bodyPr>
            <a:lstStyle/>
            <a:p>
              <a:pPr marL="457200" indent="-457200" algn="just">
                <a:tabLst>
                  <a:tab pos="457200" algn="l"/>
                </a:tabLst>
              </a:pPr>
              <a:r>
                <a:rPr lang="en-US" sz="1300">
                  <a:latin typeface="Cambria" panose="02040503050406030204" pitchFamily="18" charset="0"/>
                  <a:ea typeface="Cambria" panose="02040503050406030204" pitchFamily="18" charset="0"/>
                </a:rPr>
                <a:t>31/7: Sửa xong, tàu released</a:t>
              </a:r>
            </a:p>
          </p:txBody>
        </p:sp>
        <p:cxnSp>
          <p:nvCxnSpPr>
            <p:cNvPr id="9" name="Straight Arrow Connector 8">
              <a:extLst>
                <a:ext uri="{FF2B5EF4-FFF2-40B4-BE49-F238E27FC236}">
                  <a16:creationId xmlns:a16="http://schemas.microsoft.com/office/drawing/2014/main" id="{2B2C5473-C0C1-4160-B7EB-D2AC322F1892}"/>
                </a:ext>
              </a:extLst>
            </p:cNvPr>
            <p:cNvCxnSpPr>
              <a:stCxn id="6" idx="2"/>
              <a:endCxn id="11" idx="0"/>
            </p:cNvCxnSpPr>
            <p:nvPr/>
          </p:nvCxnSpPr>
          <p:spPr>
            <a:xfrm>
              <a:off x="2053087" y="850709"/>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8760C95-B443-45BA-B4E5-AB707FBB2234}"/>
                </a:ext>
              </a:extLst>
            </p:cNvPr>
            <p:cNvCxnSpPr>
              <a:cxnSpLocks/>
              <a:stCxn id="11" idx="2"/>
              <a:endCxn id="12" idx="0"/>
            </p:cNvCxnSpPr>
            <p:nvPr/>
          </p:nvCxnSpPr>
          <p:spPr>
            <a:xfrm>
              <a:off x="2053087" y="1340278"/>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CFD303D-45E9-44DF-98E9-51FAF4127C58}"/>
                </a:ext>
              </a:extLst>
            </p:cNvPr>
            <p:cNvCxnSpPr>
              <a:cxnSpLocks/>
              <a:stCxn id="12" idx="2"/>
              <a:endCxn id="13" idx="0"/>
            </p:cNvCxnSpPr>
            <p:nvPr/>
          </p:nvCxnSpPr>
          <p:spPr>
            <a:xfrm>
              <a:off x="2053087" y="2029902"/>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11613D5-3580-47BF-8D95-5E9A8CDD19BE}"/>
                </a:ext>
              </a:extLst>
            </p:cNvPr>
            <p:cNvCxnSpPr>
              <a:cxnSpLocks/>
              <a:stCxn id="13" idx="2"/>
              <a:endCxn id="14" idx="0"/>
            </p:cNvCxnSpPr>
            <p:nvPr/>
          </p:nvCxnSpPr>
          <p:spPr>
            <a:xfrm>
              <a:off x="2053087" y="2519471"/>
              <a:ext cx="0" cy="19718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24950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377E3249-26D0-9C9F-90D3-DFCBC76FB233}"/>
              </a:ext>
            </a:extLst>
          </p:cNvPr>
          <p:cNvGraphicFramePr>
            <a:graphicFrameLocks noGrp="1"/>
          </p:cNvGraphicFramePr>
          <p:nvPr/>
        </p:nvGraphicFramePr>
        <p:xfrm>
          <a:off x="175690" y="501463"/>
          <a:ext cx="11840623" cy="6218788"/>
        </p:xfrm>
        <a:graphic>
          <a:graphicData uri="http://schemas.openxmlformats.org/drawingml/2006/table">
            <a:tbl>
              <a:tblPr/>
              <a:tblGrid>
                <a:gridCol w="438867">
                  <a:extLst>
                    <a:ext uri="{9D8B030D-6E8A-4147-A177-3AD203B41FA5}">
                      <a16:colId xmlns:a16="http://schemas.microsoft.com/office/drawing/2014/main" val="3505113120"/>
                    </a:ext>
                  </a:extLst>
                </a:gridCol>
                <a:gridCol w="733503">
                  <a:extLst>
                    <a:ext uri="{9D8B030D-6E8A-4147-A177-3AD203B41FA5}">
                      <a16:colId xmlns:a16="http://schemas.microsoft.com/office/drawing/2014/main" val="1540571764"/>
                    </a:ext>
                  </a:extLst>
                </a:gridCol>
                <a:gridCol w="624468">
                  <a:extLst>
                    <a:ext uri="{9D8B030D-6E8A-4147-A177-3AD203B41FA5}">
                      <a16:colId xmlns:a16="http://schemas.microsoft.com/office/drawing/2014/main" val="3843938244"/>
                    </a:ext>
                  </a:extLst>
                </a:gridCol>
                <a:gridCol w="1536391">
                  <a:extLst>
                    <a:ext uri="{9D8B030D-6E8A-4147-A177-3AD203B41FA5}">
                      <a16:colId xmlns:a16="http://schemas.microsoft.com/office/drawing/2014/main" val="2873160916"/>
                    </a:ext>
                  </a:extLst>
                </a:gridCol>
                <a:gridCol w="1189463">
                  <a:extLst>
                    <a:ext uri="{9D8B030D-6E8A-4147-A177-3AD203B41FA5}">
                      <a16:colId xmlns:a16="http://schemas.microsoft.com/office/drawing/2014/main" val="4185670003"/>
                    </a:ext>
                  </a:extLst>
                </a:gridCol>
                <a:gridCol w="1605776">
                  <a:extLst>
                    <a:ext uri="{9D8B030D-6E8A-4147-A177-3AD203B41FA5}">
                      <a16:colId xmlns:a16="http://schemas.microsoft.com/office/drawing/2014/main" val="3223157076"/>
                    </a:ext>
                  </a:extLst>
                </a:gridCol>
                <a:gridCol w="5712155">
                  <a:extLst>
                    <a:ext uri="{9D8B030D-6E8A-4147-A177-3AD203B41FA5}">
                      <a16:colId xmlns:a16="http://schemas.microsoft.com/office/drawing/2014/main" val="330376294"/>
                    </a:ext>
                  </a:extLst>
                </a:gridCol>
              </a:tblGrid>
              <a:tr h="208669">
                <a:tc>
                  <a:txBody>
                    <a:bodyPr/>
                    <a:lstStyle/>
                    <a:p>
                      <a:pPr algn="ctr" fontAlgn="ctr"/>
                      <a:r>
                        <a:rPr lang="en-US" sz="1300" b="0" i="0" u="none" strike="noStrike">
                          <a:solidFill>
                            <a:srgbClr val="000000"/>
                          </a:solidFill>
                          <a:effectLst/>
                          <a:latin typeface="Calibri" panose="020F0502020204030204" pitchFamily="34" charset="0"/>
                        </a:rPr>
                        <a:t>No</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1326735"/>
                  </a:ext>
                </a:extLst>
              </a:tr>
              <a:tr h="411869">
                <a:tc>
                  <a:txBody>
                    <a:bodyPr/>
                    <a:lstStyle/>
                    <a:p>
                      <a:pPr algn="ctr" fontAlgn="ctr"/>
                      <a:r>
                        <a:rPr lang="en-US" sz="1300" b="0" i="0" u="none" strike="noStrike">
                          <a:solidFill>
                            <a:srgbClr val="000000"/>
                          </a:solidFill>
                          <a:effectLst/>
                          <a:latin typeface="Calibri" panose="020F0502020204030204" pitchFamily="34" charset="0"/>
                        </a:rPr>
                        <a:t>1</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B1603 TAIL AIRFLOW SYS; ADD B1634</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STS MSG NITROGEN GENERATION SYS</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8108115"/>
                  </a:ext>
                </a:extLst>
              </a:tr>
              <a:tr h="208669">
                <a:tc>
                  <a:txBody>
                    <a:bodyPr/>
                    <a:lstStyle/>
                    <a:p>
                      <a:pPr algn="ctr" fontAlgn="ctr"/>
                      <a:r>
                        <a:rPr lang="en-US" sz="1300" b="0" i="0" u="none" strike="noStrike">
                          <a:solidFill>
                            <a:srgbClr val="000000"/>
                          </a:solidFill>
                          <a:effectLst/>
                          <a:latin typeface="Calibri" panose="020F0502020204030204" pitchFamily="34" charset="0"/>
                        </a:rPr>
                        <a:t>2</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5625260"/>
                  </a:ext>
                </a:extLst>
              </a:tr>
              <a:tr h="343616">
                <a:tc>
                  <a:txBody>
                    <a:bodyPr/>
                    <a:lstStyle/>
                    <a:p>
                      <a:pPr algn="ctr" fontAlgn="ctr"/>
                      <a:r>
                        <a:rPr lang="en-US" sz="1300" b="0" i="0" u="none" strike="noStrike">
                          <a:solidFill>
                            <a:srgbClr val="000000"/>
                          </a:solidFill>
                          <a:effectLst/>
                          <a:latin typeface="Calibri" panose="020F0502020204030204" pitchFamily="34" charset="0"/>
                        </a:rPr>
                        <a:t>3</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AOG</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618572"/>
                  </a:ext>
                </a:extLst>
              </a:tr>
              <a:tr h="208669">
                <a:tc>
                  <a:txBody>
                    <a:bodyPr/>
                    <a:lstStyle/>
                    <a:p>
                      <a:pPr algn="ctr" fontAlgn="ctr"/>
                      <a:r>
                        <a:rPr lang="en-US" sz="1300" b="0" i="0" u="none" strike="noStrike">
                          <a:solidFill>
                            <a:srgbClr val="000000"/>
                          </a:solidFill>
                          <a:effectLst/>
                          <a:latin typeface="Calibri" panose="020F0502020204030204" pitchFamily="34" charset="0"/>
                        </a:rPr>
                        <a:t>4</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0602962"/>
                  </a:ext>
                </a:extLst>
              </a:tr>
              <a:tr h="208669">
                <a:tc>
                  <a:txBody>
                    <a:bodyPr/>
                    <a:lstStyle/>
                    <a:p>
                      <a:pPr algn="ctr" fontAlgn="ctr"/>
                      <a:r>
                        <a:rPr lang="en-US" sz="1300" b="0" i="0" u="none" strike="noStrike">
                          <a:solidFill>
                            <a:srgbClr val="000000"/>
                          </a:solidFill>
                          <a:effectLst/>
                          <a:latin typeface="Calibri" panose="020F0502020204030204" pitchFamily="34" charset="0"/>
                        </a:rPr>
                        <a:t>5</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651677"/>
                  </a:ext>
                </a:extLst>
              </a:tr>
              <a:tr h="680751">
                <a:tc>
                  <a:txBody>
                    <a:bodyPr/>
                    <a:lstStyle/>
                    <a:p>
                      <a:pPr algn="ctr" fontAlgn="ctr"/>
                      <a:r>
                        <a:rPr lang="en-US" sz="1300" b="0" i="0" u="none" strike="noStrike">
                          <a:solidFill>
                            <a:srgbClr val="000000"/>
                          </a:solidFill>
                          <a:effectLst/>
                          <a:latin typeface="Calibri" panose="020F0502020204030204" pitchFamily="34" charset="0"/>
                        </a:rPr>
                        <a:t>6</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B1359 WEATHER RADAR SYS 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B1375 EMPENNAGE DOOR ACTUATION INOP</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7241719"/>
                  </a:ext>
                </a:extLst>
              </a:tr>
              <a:tr h="343616">
                <a:tc>
                  <a:txBody>
                    <a:bodyPr/>
                    <a:lstStyle/>
                    <a:p>
                      <a:pPr algn="ctr" fontAlgn="ctr"/>
                      <a:r>
                        <a:rPr lang="en-US" sz="1300" b="0" i="0" u="none" strike="noStrike">
                          <a:solidFill>
                            <a:srgbClr val="000000"/>
                          </a:solidFill>
                          <a:effectLst/>
                          <a:latin typeface="Calibri" panose="020F0502020204030204" pitchFamily="34" charset="0"/>
                        </a:rPr>
                        <a:t>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58570372"/>
                  </a:ext>
                </a:extLst>
              </a:tr>
              <a:tr h="512183">
                <a:tc>
                  <a:txBody>
                    <a:bodyPr/>
                    <a:lstStyle/>
                    <a:p>
                      <a:pPr algn="ctr" fontAlgn="ctr"/>
                      <a:r>
                        <a:rPr lang="en-US" sz="1300" b="0" i="0" u="none" strike="noStrike">
                          <a:solidFill>
                            <a:srgbClr val="000000"/>
                          </a:solidFill>
                          <a:effectLst/>
                          <a:latin typeface="Calibri" panose="020F0502020204030204" pitchFamily="34" charset="0"/>
                        </a:rPr>
                        <a:t>8</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B1178 WEATHER RADAR SYS 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B1182 CABIN ATTENDANT HANDSET AT DOOR 2L INOP</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79744556"/>
                  </a:ext>
                </a:extLst>
              </a:tr>
              <a:tr h="512183">
                <a:tc>
                  <a:txBody>
                    <a:bodyPr/>
                    <a:lstStyle/>
                    <a:p>
                      <a:pPr algn="ctr" fontAlgn="ctr"/>
                      <a:r>
                        <a:rPr lang="en-US" sz="1300" b="0" i="0" u="none" strike="noStrike">
                          <a:solidFill>
                            <a:srgbClr val="000000"/>
                          </a:solidFill>
                          <a:effectLst/>
                          <a:latin typeface="Calibri" panose="020F0502020204030204" pitchFamily="34" charset="0"/>
                        </a:rPr>
                        <a:t>9</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4645383"/>
                  </a:ext>
                </a:extLst>
              </a:tr>
              <a:tr h="208669">
                <a:tc>
                  <a:txBody>
                    <a:bodyPr/>
                    <a:lstStyle/>
                    <a:p>
                      <a:pPr algn="ctr" fontAlgn="ctr"/>
                      <a:r>
                        <a:rPr lang="en-US" sz="1300" b="0" i="0" u="none" strike="noStrike">
                          <a:solidFill>
                            <a:srgbClr val="000000"/>
                          </a:solidFill>
                          <a:effectLst/>
                          <a:latin typeface="Calibri" panose="020F0502020204030204" pitchFamily="34" charset="0"/>
                        </a:rPr>
                        <a:t>10</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6411682"/>
                  </a:ext>
                </a:extLst>
              </a:tr>
              <a:tr h="208669">
                <a:tc>
                  <a:txBody>
                    <a:bodyPr/>
                    <a:lstStyle/>
                    <a:p>
                      <a:pPr algn="ctr" fontAlgn="ctr"/>
                      <a:r>
                        <a:rPr lang="en-US" sz="1300" b="0" i="0" u="none" strike="noStrike">
                          <a:solidFill>
                            <a:srgbClr val="000000"/>
                          </a:solidFill>
                          <a:effectLst/>
                          <a:latin typeface="Calibri" panose="020F0502020204030204" pitchFamily="34" charset="0"/>
                        </a:rPr>
                        <a:t>11</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843587"/>
                  </a:ext>
                </a:extLst>
              </a:tr>
              <a:tr h="208669">
                <a:tc>
                  <a:txBody>
                    <a:bodyPr/>
                    <a:lstStyle/>
                    <a:p>
                      <a:pPr algn="ctr" fontAlgn="ctr"/>
                      <a:r>
                        <a:rPr lang="en-US" sz="1300" b="0" i="0" u="none" strike="noStrike">
                          <a:solidFill>
                            <a:srgbClr val="000000"/>
                          </a:solidFill>
                          <a:effectLst/>
                          <a:latin typeface="Calibri" panose="020F0502020204030204" pitchFamily="34" charset="0"/>
                        </a:rPr>
                        <a:t>12</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6286896"/>
                  </a:ext>
                </a:extLst>
              </a:tr>
              <a:tr h="512183">
                <a:tc>
                  <a:txBody>
                    <a:bodyPr/>
                    <a:lstStyle/>
                    <a:p>
                      <a:pPr algn="ctr" fontAlgn="ctr"/>
                      <a:r>
                        <a:rPr lang="en-US" sz="1300" b="0" i="0" u="none" strike="noStrike">
                          <a:solidFill>
                            <a:srgbClr val="000000"/>
                          </a:solidFill>
                          <a:effectLst/>
                          <a:latin typeface="Calibri" panose="020F0502020204030204" pitchFamily="34" charset="0"/>
                        </a:rPr>
                        <a:t>13</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B568 TAILCONE POSITION LIGHT - RIGHT HAND - NOT ILLUMINATING OPENED</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B570 WEATHER RADAR SYS R</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9735469"/>
                  </a:ext>
                </a:extLst>
              </a:tr>
              <a:tr h="512183">
                <a:tc>
                  <a:txBody>
                    <a:bodyPr/>
                    <a:lstStyle/>
                    <a:p>
                      <a:pPr algn="ctr" fontAlgn="ctr"/>
                      <a:r>
                        <a:rPr lang="en-US" sz="1300" b="0" i="0" u="none" strike="noStrike">
                          <a:solidFill>
                            <a:srgbClr val="000000"/>
                          </a:solidFill>
                          <a:effectLst/>
                          <a:latin typeface="Calibri" panose="020F0502020204030204" pitchFamily="34" charset="0"/>
                        </a:rPr>
                        <a:t>14</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B437 NITROGEN GENERATION SYS</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876423"/>
                  </a:ext>
                </a:extLst>
              </a:tr>
              <a:tr h="208669">
                <a:tc>
                  <a:txBody>
                    <a:bodyPr/>
                    <a:lstStyle/>
                    <a:p>
                      <a:pPr algn="ctr" fontAlgn="ctr"/>
                      <a:r>
                        <a:rPr lang="en-US" sz="1300" b="0" i="0" u="none" strike="noStrike">
                          <a:solidFill>
                            <a:srgbClr val="000000"/>
                          </a:solidFill>
                          <a:effectLst/>
                          <a:latin typeface="Calibri" panose="020F0502020204030204" pitchFamily="34" charset="0"/>
                        </a:rPr>
                        <a:t>15</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3912673"/>
                  </a:ext>
                </a:extLst>
              </a:tr>
              <a:tr h="208669">
                <a:tc>
                  <a:txBody>
                    <a:bodyPr/>
                    <a:lstStyle/>
                    <a:p>
                      <a:pPr algn="ctr" fontAlgn="ctr"/>
                      <a:r>
                        <a:rPr lang="en-US" sz="1300" b="0" i="0" u="none" strike="noStrike">
                          <a:solidFill>
                            <a:srgbClr val="000000"/>
                          </a:solidFill>
                          <a:effectLst/>
                          <a:latin typeface="Calibri" panose="020F0502020204030204" pitchFamily="34" charset="0"/>
                        </a:rPr>
                        <a:t>16</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2737381"/>
                  </a:ext>
                </a:extLst>
              </a:tr>
              <a:tr h="512183">
                <a:tc>
                  <a:txBody>
                    <a:bodyPr/>
                    <a:lstStyle/>
                    <a:p>
                      <a:pPr algn="ctr" fontAlgn="ctr"/>
                      <a:r>
                        <a:rPr lang="en-US" sz="1300" b="0" i="0" u="none" strike="noStrike">
                          <a:solidFill>
                            <a:srgbClr val="000000"/>
                          </a:solidFill>
                          <a:effectLst/>
                          <a:latin typeface="Calibri" panose="020F0502020204030204" pitchFamily="34" charset="0"/>
                        </a:rPr>
                        <a:t>17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5469" marR="5469" marT="546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3225731"/>
                  </a:ext>
                </a:extLst>
              </a:tr>
            </a:tbl>
          </a:graphicData>
        </a:graphic>
      </p:graphicFrame>
    </p:spTree>
    <p:extLst>
      <p:ext uri="{BB962C8B-B14F-4D97-AF65-F5344CB8AC3E}">
        <p14:creationId xmlns:p14="http://schemas.microsoft.com/office/powerpoint/2010/main" val="4139385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21</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4"/>
            <a:ext cx="11941351" cy="1323439"/>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en-US" sz="1600">
                <a:solidFill>
                  <a:prstClr val="black"/>
                </a:solidFill>
                <a:latin typeface="Times New Roman" panose="02020603050405020304" pitchFamily="18" charset="0"/>
                <a:cs typeface="Times New Roman" panose="02020603050405020304" pitchFamily="18" charset="0"/>
              </a:rPr>
              <a:t>A863 va chạm với A338 tại HAN ngày 27/06 phát sinh </a:t>
            </a:r>
            <a:r>
              <a:rPr lang="en-SG" sz="1600">
                <a:solidFill>
                  <a:prstClr val="black"/>
                </a:solidFill>
                <a:latin typeface="Times New Roman" panose="02020603050405020304" pitchFamily="18" charset="0"/>
                <a:cs typeface="Times New Roman" panose="02020603050405020304" pitchFamily="18" charset="0"/>
              </a:rPr>
              <a:t>RH WING TIP AND SLAT 12 DAMAGE OUT OF LIMIT -&gt; Tạm AOG hết 01/08 chờ team AOG Boeing khắc phục.</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66A1A4DA-5404-8AE3-9CA5-ED8F18DD50B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49CA139-88A6-36AB-3BCF-1F78FCF4547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5C3D4B4-4E3F-272B-9817-3B5A741685A8}"/>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p>
        </p:txBody>
      </p:sp>
      <p:sp>
        <p:nvSpPr>
          <p:cNvPr id="7" name="TextBox 6">
            <a:extLst>
              <a:ext uri="{FF2B5EF4-FFF2-40B4-BE49-F238E27FC236}">
                <a16:creationId xmlns:a16="http://schemas.microsoft.com/office/drawing/2014/main" id="{9FD4AB25-2D78-D08F-17FA-70DA4FE8281D}"/>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vi-VN"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46F5AF14-6DC1-4B99-9C41-54045E5B90D5}"/>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8771409-ED46-9B66-54E3-F9ED9BC74357}"/>
              </a:ext>
            </a:extLst>
          </p:cNvPr>
          <p:cNvGraphicFramePr>
            <a:graphicFrameLocks noGrp="1"/>
          </p:cNvGraphicFramePr>
          <p:nvPr/>
        </p:nvGraphicFramePr>
        <p:xfrm>
          <a:off x="98267" y="1521020"/>
          <a:ext cx="11600510" cy="4717299"/>
        </p:xfrm>
        <a:graphic>
          <a:graphicData uri="http://schemas.openxmlformats.org/drawingml/2006/table">
            <a:tbl>
              <a:tblPr/>
              <a:tblGrid>
                <a:gridCol w="227461">
                  <a:extLst>
                    <a:ext uri="{9D8B030D-6E8A-4147-A177-3AD203B41FA5}">
                      <a16:colId xmlns:a16="http://schemas.microsoft.com/office/drawing/2014/main" val="6733488"/>
                    </a:ext>
                  </a:extLst>
                </a:gridCol>
                <a:gridCol w="658440">
                  <a:extLst>
                    <a:ext uri="{9D8B030D-6E8A-4147-A177-3AD203B41FA5}">
                      <a16:colId xmlns:a16="http://schemas.microsoft.com/office/drawing/2014/main" val="768527218"/>
                    </a:ext>
                  </a:extLst>
                </a:gridCol>
                <a:gridCol w="227461">
                  <a:extLst>
                    <a:ext uri="{9D8B030D-6E8A-4147-A177-3AD203B41FA5}">
                      <a16:colId xmlns:a16="http://schemas.microsoft.com/office/drawing/2014/main" val="169025016"/>
                    </a:ext>
                  </a:extLst>
                </a:gridCol>
                <a:gridCol w="616539">
                  <a:extLst>
                    <a:ext uri="{9D8B030D-6E8A-4147-A177-3AD203B41FA5}">
                      <a16:colId xmlns:a16="http://schemas.microsoft.com/office/drawing/2014/main" val="2430523871"/>
                    </a:ext>
                  </a:extLst>
                </a:gridCol>
                <a:gridCol w="460908">
                  <a:extLst>
                    <a:ext uri="{9D8B030D-6E8A-4147-A177-3AD203B41FA5}">
                      <a16:colId xmlns:a16="http://schemas.microsoft.com/office/drawing/2014/main" val="2172827592"/>
                    </a:ext>
                  </a:extLst>
                </a:gridCol>
                <a:gridCol w="377106">
                  <a:extLst>
                    <a:ext uri="{9D8B030D-6E8A-4147-A177-3AD203B41FA5}">
                      <a16:colId xmlns:a16="http://schemas.microsoft.com/office/drawing/2014/main" val="3562059947"/>
                    </a:ext>
                  </a:extLst>
                </a:gridCol>
                <a:gridCol w="2561929">
                  <a:extLst>
                    <a:ext uri="{9D8B030D-6E8A-4147-A177-3AD203B41FA5}">
                      <a16:colId xmlns:a16="http://schemas.microsoft.com/office/drawing/2014/main" val="481947927"/>
                    </a:ext>
                  </a:extLst>
                </a:gridCol>
                <a:gridCol w="3130582">
                  <a:extLst>
                    <a:ext uri="{9D8B030D-6E8A-4147-A177-3AD203B41FA5}">
                      <a16:colId xmlns:a16="http://schemas.microsoft.com/office/drawing/2014/main" val="543448152"/>
                    </a:ext>
                  </a:extLst>
                </a:gridCol>
                <a:gridCol w="233446">
                  <a:extLst>
                    <a:ext uri="{9D8B030D-6E8A-4147-A177-3AD203B41FA5}">
                      <a16:colId xmlns:a16="http://schemas.microsoft.com/office/drawing/2014/main" val="277636186"/>
                    </a:ext>
                  </a:extLst>
                </a:gridCol>
                <a:gridCol w="3106638">
                  <a:extLst>
                    <a:ext uri="{9D8B030D-6E8A-4147-A177-3AD203B41FA5}">
                      <a16:colId xmlns:a16="http://schemas.microsoft.com/office/drawing/2014/main" val="2802689705"/>
                    </a:ext>
                  </a:extLst>
                </a:gridCol>
              </a:tblGrid>
              <a:tr h="78677">
                <a:tc>
                  <a:txBody>
                    <a:bodyPr/>
                    <a:lstStyle/>
                    <a:p>
                      <a:pPr algn="ctr" fontAlgn="t">
                        <a:buNone/>
                      </a:pPr>
                      <a:r>
                        <a:rPr lang="en-US" sz="500" b="0" i="0" u="none" strike="noStrike">
                          <a:solidFill>
                            <a:srgbClr val="000000"/>
                          </a:solidFill>
                          <a:effectLst/>
                          <a:latin typeface="Calibri" panose="020F0502020204030204" pitchFamily="34" charset="0"/>
                        </a:rPr>
                        <a:t>A/C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DELAY DATE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STA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DELAY MINUTES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FLIGHT NO</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ROUTINE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DELAY DESC</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DELAY ACTION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ATA</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buNone/>
                      </a:pPr>
                      <a:r>
                        <a:rPr lang="en-US" sz="500" b="0" i="0" u="none" strike="noStrike">
                          <a:solidFill>
                            <a:srgbClr val="000000"/>
                          </a:solidFill>
                          <a:effectLst/>
                          <a:latin typeface="Calibri" panose="020F0502020204030204" pitchFamily="34" charset="0"/>
                        </a:rPr>
                        <a:t>Engineering Assessment</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54572137"/>
                  </a:ext>
                </a:extLst>
              </a:tr>
              <a:tr h="927847">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B218</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10:20 17/07/2025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35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0V8067</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SGN-VCS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START FAULT ON ENGINE 1 DURING TRANSIT CHECK THE CAPTAIN REPORTED ON TECHLOG: ;START FAULT ON ENGINE</a:t>
                      </a:r>
                      <a:br>
                        <a:rPr lang="en-US" sz="800" b="0" i="0" u="none" strike="noStrike">
                          <a:solidFill>
                            <a:srgbClr val="000000"/>
                          </a:solidFill>
                          <a:effectLst/>
                          <a:latin typeface="Times New Roman" panose="02020603050405020304" pitchFamily="18" charset="0"/>
                          <a:cs typeface="Times New Roman" panose="02020603050405020304" pitchFamily="18" charset="0"/>
                        </a:rPr>
                      </a:br>
                      <a:endParaRPr lang="en-US" sz="8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800" b="0" i="0" u="none" strike="noStrike">
                          <a:solidFill>
                            <a:srgbClr val="000000"/>
                          </a:solidFill>
                          <a:effectLst/>
                          <a:latin typeface="Times New Roman" panose="02020603050405020304" pitchFamily="18" charset="0"/>
                          <a:cs typeface="Times New Roman" panose="02020603050405020304" pitchFamily="18" charset="0"/>
                        </a:rPr>
                        <a:t>;09:30: TÀU ĐÃ BỊ LỖI ;START FAULT ON ENGINE , MCC RA WO THAY GCU ĐỂ ĐÁNH CHẶN HỎNG HÓC</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10:06: TÀU ĐÁP VÀO BÃI , CAPTAIN REPORTED ON TECHLOG: ;START FAULT ON ENGINE ;TÀU CÓ KH BAY SGN-VCS/0V8067/STD:10:25</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10:15: KHÁCH XUỐNG HẾT VÀ BẮT ĐẦU THAY GCU</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10: 30: THAY XONG GCU VÀ TEST, NHƯNG NH CHỈ LÊN ĐƯỢC 10%, CHƯA KHẮC PHỤC ĐƯỢC HỎNG HÓC ;START FAULT ON ENGINENGHI HỎNG MÁY PHÁT ,BÁO DỰ KIẾN SẼ TIẾP TỤC THAY MÁY PHÁT</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11:10: BÁO TÀU THAY XONG MÁY PHÁT, TÀU SERVICE VÀ BÁO TRIỂN KHAI BOARDING</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11:30: TÀU ĐÓNG CỬA VÀ ĐẨY</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FINAL ACTION: ACTION: C/O RPLD GENERATORSTARTER DC AND OPS TEST. SATIS. A/C SERVICEABLE START FAULT ON ENGINE 1" EVENT CLOSED FINAL ACTION: ACTION: C/O RPLD  GENERATORSTARTER DC  AND OPS TEST.  SATIS. A/C SERVICEABLE DURING TRANSIT CHECK THE CAPTAIN REPORTED ON TECHLOG: ;START FAULT ON ENGINE</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A/C TOTAL DELAY: 65mins, TECH: 35mins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24-00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800" b="0" i="0" u="none" strike="noStrike">
                          <a:solidFill>
                            <a:srgbClr val="000000"/>
                          </a:solidFill>
                          <a:effectLst/>
                          <a:latin typeface="Times New Roman" panose="02020603050405020304" pitchFamily="18" charset="0"/>
                          <a:cs typeface="Times New Roman" panose="02020603050405020304" pitchFamily="18" charset="0"/>
                        </a:rPr>
                        <a:t>Hỏng hóc liên quan đến Starter Generator, PN 8260-123, khối DC Gen SN 720 vừa đi sửa chữa ở shop Ametek về và lắp lên hôm 22/6/25 đã hỏng. Trước đó khối này tháo xuống hôm 2/3/25 để VSTEA thay brush nhưng khi kiểm tra có lỗi Inslulation Fault nên đã chuyển đi shop Ametek để sửa chữa, Ametek sau khi clean, đo lại thì Insultation đạt, chỉ thay bearing và brush.</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=&gt; Nghi ngờ khối có lỗi Insulation Intermitten, và shop Ametek khắc phục chưa triệt để, kiến nghị QLVT làm việc lại với shop về bảo hành và chất lượng sửa chữa.</a:t>
                      </a:r>
                      <a:br>
                        <a:rPr lang="vi-VN" sz="800" b="0" i="0" u="none" strike="noStrike">
                          <a:solidFill>
                            <a:srgbClr val="000000"/>
                          </a:solidFill>
                          <a:effectLst/>
                          <a:latin typeface="Times New Roman" panose="02020603050405020304" pitchFamily="18" charset="0"/>
                          <a:cs typeface="Times New Roman" panose="02020603050405020304" pitchFamily="18" charset="0"/>
                        </a:rPr>
                      </a:br>
                      <a:endParaRPr lang="vi-VN" sz="800" b="0" i="0" u="none" strike="noStrike">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47379592"/>
                  </a:ext>
                </a:extLst>
              </a:tr>
              <a:tr h="1101479">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B218</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08:00 17/07/2025</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VCS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30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0V8058</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VCS-SGN</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START FAULT ON ENGINE 1 DURING TRANSIT CHECK AND ENGINE STARTS, THE CAPTAIN REPORTED: ;START FAULT ON ENGINE</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800" b="0" i="0" u="none" strike="noStrike">
                          <a:solidFill>
                            <a:srgbClr val="000000"/>
                          </a:solidFill>
                          <a:effectLst/>
                          <a:latin typeface="Times New Roman" panose="02020603050405020304" pitchFamily="18" charset="0"/>
                          <a:cs typeface="Times New Roman" panose="02020603050405020304" pitchFamily="18" charset="0"/>
                        </a:rPr>
                        <a:t>08:10: SAU KHI TỔ BAY NỔ ĐỘNG CƠ SỐ 2 XONG VÀ NỔ ĐỘNG CƠ SỐ 1 THÌ KHÔNG NỔ ĐƯỢC TỔ BAY QUAY NGUỘI RỒI NỔ LẠI VÀ BÁO CRS TÀU CÓ START FAULT ENG#1. CRS BÁO VỀ MAINTROL TÀU B218 CAPT BÁO : START FAULT ON ENGINE ĐANG LÊN TÀU KIỂM TRA</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08:15: CRS LÊN TÀU KIỂM TRA THÌ GCU1 LỖI . THỰC HIỆN RESET VÀ TEST SAU ĐÓ XUỐNG NỔ LẠI NHƯNG VẪN KHÔNG ĐƯỢC.</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08:15: MOC BÁO CHO KHÁCH XUỐNG VÀO LẠI NHÀ GA</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08:45: THỰC HIÊNJ SWAP 2 GCU XONG SAU ĐÓ NỔ MÁY LẠI KIỂM TRA TÀU TỐT VÀ BÁO CHO KHÁCH BOARDING LẠI.</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09:02: TÀU ĐÓNG CỬA VÀ ĐẨY</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FINAL ACTION: C/O SWAP GCU AND PERFORMED ENGINE RESTART – SUCCESSFUL. A/C SERVICEABLE START FAULT ON ENGINE 1 EVENT CLOSED FINAL ACTION: C/O SWAP GCU AND PERFORMED ENGINE RESTART – SUCCESSFUL. A/C SERVICEABLE DURING TRANSIT CHECK AND ENGINE STARTS, THE CAPTAIN REPORTED: ;START FAULT ON ENGINE</a:t>
                      </a:r>
                      <a:br>
                        <a:rPr lang="vi-VN" sz="800" b="0" i="0" u="none" strike="noStrike">
                          <a:solidFill>
                            <a:srgbClr val="000000"/>
                          </a:solidFill>
                          <a:effectLst/>
                          <a:latin typeface="Times New Roman" panose="02020603050405020304" pitchFamily="18" charset="0"/>
                          <a:cs typeface="Times New Roman" panose="02020603050405020304" pitchFamily="18" charset="0"/>
                        </a:rPr>
                      </a:br>
                      <a:r>
                        <a:rPr lang="vi-VN" sz="800" b="0" i="0" u="none" strike="noStrike">
                          <a:solidFill>
                            <a:srgbClr val="000000"/>
                          </a:solidFill>
                          <a:effectLst/>
                          <a:latin typeface="Times New Roman" panose="02020603050405020304" pitchFamily="18" charset="0"/>
                          <a:cs typeface="Times New Roman" panose="02020603050405020304" pitchFamily="18" charset="0"/>
                        </a:rPr>
                        <a:t>A/C TOTAL DELAY: 76mins, TECH: 30mins</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n-US" sz="800" b="0" i="0" u="none" strike="noStrike">
                          <a:solidFill>
                            <a:srgbClr val="000000"/>
                          </a:solidFill>
                          <a:effectLst/>
                          <a:latin typeface="Times New Roman" panose="02020603050405020304" pitchFamily="18" charset="0"/>
                          <a:cs typeface="Times New Roman" panose="02020603050405020304" pitchFamily="18" charset="0"/>
                        </a:rPr>
                        <a:t>24-00</a:t>
                      </a: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vi-VN" sz="800" b="0" i="0" u="none" strike="noStrike" dirty="0">
                          <a:solidFill>
                            <a:srgbClr val="000000"/>
                          </a:solidFill>
                          <a:effectLst/>
                          <a:latin typeface="Times New Roman" panose="02020603050405020304" pitchFamily="18" charset="0"/>
                          <a:cs typeface="Times New Roman" panose="02020603050405020304" pitchFamily="18" charset="0"/>
                        </a:rPr>
                        <a:t>Hỏng hóc liên quan đến Starter Generator, PN 8260-123, khối DC Gen SN 720 vừa đi sửa chữa ở shop Ametek về và lắp lên hôm 22/6/25 đã hỏng. Trước đó khối này tháo xuống hôm 2/3/25 để VSTEA thay brush nhưng khi kiểm tra có lỗi Inslulation Fault nên đã chuyển đi shop Ametek để sửa chữa, Ametek sau khi clean, đo lại thì Insultation đạt, chỉ thay bearing và brush.</a:t>
                      </a: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r>
                        <a:rPr lang="vi-VN" sz="800" b="0" i="0" u="none" strike="noStrike" dirty="0">
                          <a:solidFill>
                            <a:srgbClr val="000000"/>
                          </a:solidFill>
                          <a:effectLst/>
                          <a:latin typeface="Times New Roman" panose="02020603050405020304" pitchFamily="18" charset="0"/>
                          <a:cs typeface="Times New Roman" panose="02020603050405020304" pitchFamily="18" charset="0"/>
                        </a:rPr>
                        <a:t>=&gt; Nghi ngờ khối có lỗi Insulation Intermitten, và shop Ametek khắc phục chưa triệt để, kiến nghị QLVT làm việc lại với shop về bảo hành và chất lượng sửa chữa.</a:t>
                      </a:r>
                      <a:br>
                        <a:rPr lang="vi-VN" sz="800" b="0" i="0" u="none" strike="noStrike" dirty="0">
                          <a:solidFill>
                            <a:srgbClr val="000000"/>
                          </a:solidFill>
                          <a:effectLst/>
                          <a:latin typeface="Times New Roman" panose="02020603050405020304" pitchFamily="18" charset="0"/>
                          <a:cs typeface="Times New Roman" panose="02020603050405020304" pitchFamily="18" charset="0"/>
                        </a:rPr>
                      </a:br>
                      <a:endParaRPr lang="vi-VN" sz="8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713" marR="2713" marT="27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6544771"/>
                  </a:ext>
                </a:extLst>
              </a:tr>
            </a:tbl>
          </a:graphicData>
        </a:graphic>
      </p:graphicFrame>
    </p:spTree>
    <p:extLst>
      <p:ext uri="{BB962C8B-B14F-4D97-AF65-F5344CB8AC3E}">
        <p14:creationId xmlns:p14="http://schemas.microsoft.com/office/powerpoint/2010/main" val="1664817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409D4-1B89-3F09-D5C2-3C6B432DB7B4}"/>
            </a:ext>
          </a:extLst>
        </p:cNvPr>
        <p:cNvGrpSpPr/>
        <p:nvPr/>
      </p:nvGrpSpPr>
      <p:grpSpPr>
        <a:xfrm>
          <a:off x="0" y="0"/>
          <a:ext cx="0" cy="0"/>
          <a:chOff x="0" y="0"/>
          <a:chExt cx="0" cy="0"/>
        </a:xfrm>
      </p:grpSpPr>
      <p:sp>
        <p:nvSpPr>
          <p:cNvPr id="4" name="Footer Placeholder 2">
            <a:extLst>
              <a:ext uri="{FF2B5EF4-FFF2-40B4-BE49-F238E27FC236}">
                <a16:creationId xmlns:a16="http://schemas.microsoft.com/office/drawing/2014/main" id="{DAEF5DFE-CD95-4212-A4D1-48CD855E364B}"/>
              </a:ext>
            </a:extLst>
          </p:cNvPr>
          <p:cNvSpPr txBox="1">
            <a:spLocks/>
          </p:cNvSpPr>
          <p:nvPr/>
        </p:nvSpPr>
        <p:spPr>
          <a:xfrm>
            <a:off x="3922074" y="6334601"/>
            <a:ext cx="3860800" cy="365125"/>
          </a:xfrm>
        </p:spPr>
        <p:txBody>
          <a:bodyPr/>
          <a:ls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D1930F"/>
                </a:solidFill>
                <a:effectLst/>
                <a:uLnTx/>
                <a:uFillTx/>
                <a:latin typeface="Arial" charset="0"/>
                <a:ea typeface="MS PGothic" pitchFamily="34" charset="-128"/>
                <a:cs typeface="Arial" charset="0"/>
              </a:rPr>
              <a:t>Technical Department</a:t>
            </a:r>
            <a:endParaRPr kumimoji="0" lang="en-GB" sz="1200" b="0" i="0" u="none" strike="noStrike" kern="1200" cap="none" spc="0" normalizeH="0" baseline="0" noProof="0">
              <a:ln>
                <a:noFill/>
              </a:ln>
              <a:solidFill>
                <a:srgbClr val="D1930F"/>
              </a:solidFill>
              <a:effectLst/>
              <a:uLnTx/>
              <a:uFillTx/>
              <a:latin typeface="Arial" charset="0"/>
              <a:ea typeface="MS PGothic" pitchFamily="34" charset="-128"/>
              <a:cs typeface="Arial" charset="0"/>
            </a:endParaRPr>
          </a:p>
        </p:txBody>
      </p:sp>
      <p:sp>
        <p:nvSpPr>
          <p:cNvPr id="5" name="Slide Number Placeholder 5">
            <a:extLst>
              <a:ext uri="{FF2B5EF4-FFF2-40B4-BE49-F238E27FC236}">
                <a16:creationId xmlns:a16="http://schemas.microsoft.com/office/drawing/2014/main" id="{5812B94D-8B12-4C66-B25F-133456F434B0}"/>
              </a:ext>
            </a:extLst>
          </p:cNvPr>
          <p:cNvSpPr txBox="1">
            <a:spLocks/>
          </p:cNvSpPr>
          <p:nvPr/>
        </p:nvSpPr>
        <p:spPr>
          <a:xfrm>
            <a:off x="8595674" y="6334601"/>
            <a:ext cx="2032000" cy="365125"/>
          </a:xfrm>
        </p:spPr>
        <p:txBody>
          <a:bodyPr/>
          <a:ls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C660F4E-7A89-407D-9F0D-D302D330ECD1}" type="slidenum">
              <a:rPr kumimoji="0" lang="en-GB" altLang="en-US" sz="1200" b="0" i="0" u="none" strike="noStrike" kern="1200" cap="none" spc="0" normalizeH="0" baseline="0" noProof="0" smtClean="0">
                <a:ln>
                  <a:noFill/>
                </a:ln>
                <a:solidFill>
                  <a:srgbClr val="D1930F"/>
                </a:solidFill>
                <a:effectLst/>
                <a:uLnTx/>
                <a:uFillTx/>
                <a:latin typeface="Arial" charset="0"/>
                <a:ea typeface="MS PGothic" pitchFamily="34" charset="-128"/>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GB" altLang="en-US" sz="1200" b="0" i="0" u="none" strike="noStrike" kern="1200" cap="none" spc="0" normalizeH="0" baseline="0" noProof="0">
              <a:ln>
                <a:noFill/>
              </a:ln>
              <a:solidFill>
                <a:srgbClr val="D1930F"/>
              </a:solidFill>
              <a:effectLst/>
              <a:uLnTx/>
              <a:uFillTx/>
              <a:latin typeface="Arial" charset="0"/>
              <a:ea typeface="MS PGothic" pitchFamily="34" charset="-128"/>
              <a:cs typeface="Arial" charset="0"/>
            </a:endParaRPr>
          </a:p>
        </p:txBody>
      </p:sp>
      <p:sp>
        <p:nvSpPr>
          <p:cNvPr id="6" name="Date Placeholder 1">
            <a:extLst>
              <a:ext uri="{FF2B5EF4-FFF2-40B4-BE49-F238E27FC236}">
                <a16:creationId xmlns:a16="http://schemas.microsoft.com/office/drawing/2014/main" id="{AEE86DA4-579D-4798-AC17-2A2264E05F39}"/>
              </a:ext>
            </a:extLst>
          </p:cNvPr>
          <p:cNvSpPr txBox="1">
            <a:spLocks/>
          </p:cNvSpPr>
          <p:nvPr/>
        </p:nvSpPr>
        <p:spPr>
          <a:xfrm>
            <a:off x="366074" y="6334601"/>
            <a:ext cx="2844800" cy="365125"/>
          </a:xfrm>
        </p:spPr>
        <p:txBody>
          <a:bodyPr/>
          <a:ls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fld id="{CE7CB9CC-F84A-44E7-ADF5-B2F1DD625EF7}" type="datetime1">
              <a:rPr kumimoji="0" lang="vi-VN" altLang="en-US" sz="1200" b="0" i="0" u="none" strike="noStrike" kern="1200" cap="none" spc="0" normalizeH="0" baseline="0" noProof="0" smtClean="0">
                <a:ln>
                  <a:noFill/>
                </a:ln>
                <a:solidFill>
                  <a:srgbClr val="D1930F"/>
                </a:solidFill>
                <a:effectLst/>
                <a:uLnTx/>
                <a:uFillTx/>
                <a:latin typeface="Arial" charset="0"/>
                <a:ea typeface="MS PGothic" pitchFamily="34" charset="-128"/>
                <a:cs typeface="Arial" charset="0"/>
              </a:rPr>
              <a:pPr marL="0" marR="0" lvl="0" indent="0" algn="l" defTabSz="914400" rtl="0" eaLnBrk="1" fontAlgn="base" latinLnBrk="0" hangingPunct="1">
                <a:lnSpc>
                  <a:spcPct val="100000"/>
                </a:lnSpc>
                <a:spcBef>
                  <a:spcPct val="0"/>
                </a:spcBef>
                <a:spcAft>
                  <a:spcPct val="0"/>
                </a:spcAft>
                <a:buClrTx/>
                <a:buSzTx/>
                <a:buFontTx/>
                <a:buNone/>
                <a:tabLst/>
                <a:defRPr/>
              </a:pPr>
              <a:t>20/07/2025</a:t>
            </a:fld>
            <a:endParaRPr kumimoji="0" lang="en-GB" altLang="en-US" sz="1200" b="0" i="0" u="none" strike="noStrike" kern="1200" cap="none" spc="0" normalizeH="0" baseline="0" noProof="0">
              <a:ln>
                <a:noFill/>
              </a:ln>
              <a:solidFill>
                <a:srgbClr val="D1930F"/>
              </a:solidFill>
              <a:effectLst/>
              <a:uLnTx/>
              <a:uFillTx/>
              <a:latin typeface="Arial" charset="0"/>
              <a:ea typeface="MS PGothic" pitchFamily="34" charset="-128"/>
              <a:cs typeface="Arial" charset="0"/>
            </a:endParaRPr>
          </a:p>
        </p:txBody>
      </p:sp>
      <p:sp>
        <p:nvSpPr>
          <p:cNvPr id="9" name="Title 1">
            <a:extLst>
              <a:ext uri="{FF2B5EF4-FFF2-40B4-BE49-F238E27FC236}">
                <a16:creationId xmlns:a16="http://schemas.microsoft.com/office/drawing/2014/main" id="{62DF4618-41AD-4E67-ADE2-A22770B029BC}"/>
              </a:ext>
            </a:extLst>
          </p:cNvPr>
          <p:cNvSpPr txBox="1">
            <a:spLocks/>
          </p:cNvSpPr>
          <p:nvPr/>
        </p:nvSpPr>
        <p:spPr>
          <a:xfrm>
            <a:off x="730894" y="145058"/>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EA610"/>
                </a:solidFill>
                <a:effectLst/>
                <a:uLnTx/>
                <a:uFillTx/>
                <a:latin typeface="Montserrat SemiBold" pitchFamily="2" charset="77"/>
                <a:ea typeface="+mj-ea"/>
                <a:cs typeface="+mj-cs"/>
              </a:rPr>
              <a:t>ATR72 – </a:t>
            </a:r>
            <a:r>
              <a:rPr kumimoji="0" lang="en-US" sz="2800" b="1" i="0" u="none" strike="noStrike" kern="1200" cap="none" spc="0" normalizeH="0" baseline="0" noProof="0" dirty="0" err="1">
                <a:ln>
                  <a:noFill/>
                </a:ln>
                <a:solidFill>
                  <a:srgbClr val="DEA610"/>
                </a:solidFill>
                <a:effectLst/>
                <a:uLnTx/>
                <a:uFillTx/>
                <a:latin typeface="Montserrat SemiBold" pitchFamily="2" charset="77"/>
                <a:ea typeface="+mj-ea"/>
                <a:cs typeface="+mj-cs"/>
              </a:rPr>
              <a:t>Hỏng</a:t>
            </a:r>
            <a:r>
              <a:rPr kumimoji="0" lang="en-US" sz="2800" b="1" i="0" u="none" strike="noStrike" kern="1200" cap="none" spc="0" normalizeH="0" baseline="0" noProof="0" dirty="0">
                <a:ln>
                  <a:noFill/>
                </a:ln>
                <a:solidFill>
                  <a:srgbClr val="DEA610"/>
                </a:solidFill>
                <a:effectLst/>
                <a:uLnTx/>
                <a:uFillTx/>
                <a:latin typeface="Montserrat SemiBold" pitchFamily="2" charset="77"/>
                <a:ea typeface="+mj-ea"/>
                <a:cs typeface="+mj-cs"/>
              </a:rPr>
              <a:t> </a:t>
            </a:r>
            <a:r>
              <a:rPr kumimoji="0" lang="en-US" sz="2800" b="1" i="0" u="none" strike="noStrike" kern="1200" cap="none" spc="0" normalizeH="0" baseline="0" noProof="0" dirty="0" err="1">
                <a:ln>
                  <a:noFill/>
                </a:ln>
                <a:solidFill>
                  <a:srgbClr val="DEA610"/>
                </a:solidFill>
                <a:effectLst/>
                <a:uLnTx/>
                <a:uFillTx/>
                <a:latin typeface="Montserrat SemiBold" pitchFamily="2" charset="77"/>
                <a:ea typeface="+mj-ea"/>
                <a:cs typeface="+mj-cs"/>
              </a:rPr>
              <a:t>hóc</a:t>
            </a:r>
            <a:r>
              <a:rPr kumimoji="0" lang="en-US" sz="2800" b="1" i="0" u="none" strike="noStrike" kern="1200" cap="none" spc="0" normalizeH="0" baseline="0" noProof="0" dirty="0">
                <a:ln>
                  <a:noFill/>
                </a:ln>
                <a:solidFill>
                  <a:srgbClr val="DEA610"/>
                </a:solidFill>
                <a:effectLst/>
                <a:uLnTx/>
                <a:uFillTx/>
                <a:latin typeface="Montserrat SemiBold" pitchFamily="2" charset="77"/>
                <a:ea typeface="+mj-ea"/>
                <a:cs typeface="+mj-cs"/>
              </a:rPr>
              <a:t> AFCS </a:t>
            </a:r>
            <a:r>
              <a:rPr kumimoji="0" lang="en-US" sz="2800" b="1" i="0" u="none" strike="noStrike" kern="1200" cap="none" spc="0" normalizeH="0" baseline="0" noProof="0" dirty="0" err="1">
                <a:ln>
                  <a:noFill/>
                </a:ln>
                <a:solidFill>
                  <a:srgbClr val="DEA610"/>
                </a:solidFill>
                <a:effectLst/>
                <a:uLnTx/>
                <a:uFillTx/>
                <a:latin typeface="Montserrat SemiBold" pitchFamily="2" charset="77"/>
                <a:ea typeface="+mj-ea"/>
                <a:cs typeface="+mj-cs"/>
              </a:rPr>
              <a:t>trên</a:t>
            </a:r>
            <a:r>
              <a:rPr kumimoji="0" lang="en-US" sz="2800" b="1" i="0" u="none" strike="noStrike" kern="1200" cap="none" spc="0" normalizeH="0" baseline="0" noProof="0" dirty="0">
                <a:ln>
                  <a:noFill/>
                </a:ln>
                <a:solidFill>
                  <a:srgbClr val="DEA610"/>
                </a:solidFill>
                <a:effectLst/>
                <a:uLnTx/>
                <a:uFillTx/>
                <a:latin typeface="Montserrat SemiBold" pitchFamily="2" charset="77"/>
                <a:ea typeface="+mj-ea"/>
                <a:cs typeface="+mj-cs"/>
              </a:rPr>
              <a:t> B221</a:t>
            </a:r>
          </a:p>
        </p:txBody>
      </p:sp>
      <p:sp>
        <p:nvSpPr>
          <p:cNvPr id="3" name="TextBox 2">
            <a:extLst>
              <a:ext uri="{FF2B5EF4-FFF2-40B4-BE49-F238E27FC236}">
                <a16:creationId xmlns:a16="http://schemas.microsoft.com/office/drawing/2014/main" id="{21E8626E-B1FD-4CD7-AACF-5C77B1EA3C87}"/>
              </a:ext>
            </a:extLst>
          </p:cNvPr>
          <p:cNvSpPr txBox="1"/>
          <p:nvPr/>
        </p:nvSpPr>
        <p:spPr>
          <a:xfrm>
            <a:off x="693144" y="799183"/>
            <a:ext cx="8247656" cy="5570371"/>
          </a:xfrm>
          <a:prstGeom prst="rect">
            <a:avLst/>
          </a:prstGeom>
          <a:noFill/>
        </p:spPr>
        <p:txBody>
          <a:bodyPr wrap="square" rtlCol="0">
            <a:spAutoFit/>
          </a:bodyPr>
          <a:lstStyle/>
          <a:p>
            <a:pPr marL="0" marR="0" lvl="0" indent="0" algn="l" defTabSz="914400" rtl="0" eaLnBrk="1" fontAlgn="auto" latinLnBrk="0" hangingPunct="1">
              <a:lnSpc>
                <a:spcPct val="125000"/>
              </a:lnSpc>
              <a:spcBef>
                <a:spcPts val="300"/>
              </a:spcBef>
              <a:spcAft>
                <a:spcPts val="0"/>
              </a:spcAft>
              <a:buClrTx/>
              <a:buSzTx/>
              <a:buFontTx/>
              <a:buNone/>
              <a:tabLst/>
              <a:defRPr/>
            </a:pPr>
            <a:r>
              <a:rPr kumimoji="0" lang="en-US" sz="13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Mô</a:t>
            </a:r>
            <a:r>
              <a:rPr kumimoji="0" lang="en-US" sz="13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tả</a:t>
            </a:r>
            <a:r>
              <a:rPr kumimoji="0" lang="en-US" sz="13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1" fontAlgn="auto" latinLnBrk="0" hangingPunct="1">
              <a:lnSpc>
                <a:spcPct val="125000"/>
              </a:lnSpc>
              <a:spcBef>
                <a:spcPts val="30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B221/ATB/SGN-VCS/0V8057: C</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tr</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ởng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báo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AFCS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Automatioc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Flight Control System)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intermitten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điều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thời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ở VCS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xấu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ngại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manual an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toàn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quyết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định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quay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lại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25000"/>
              </a:lnSpc>
              <a:spcBef>
                <a:spcPts val="300"/>
              </a:spcBef>
              <a:spcAft>
                <a:spcPts val="0"/>
              </a:spcAft>
              <a:buClrTx/>
              <a:buSzTx/>
              <a:buFontTx/>
              <a:buNone/>
              <a:tabLst/>
              <a:defRPr/>
            </a:pPr>
            <a:r>
              <a:rPr lang="en-US" sz="1300" dirty="0">
                <a:solidFill>
                  <a:prstClr val="black"/>
                </a:solidFill>
                <a:latin typeface="Times New Roman" panose="02020603050405020304" pitchFamily="18" charset="0"/>
                <a:cs typeface="Times New Roman" panose="02020603050405020304" pitchFamily="18" charset="0"/>
              </a:rPr>
              <a:t>AFCS </a:t>
            </a:r>
            <a:r>
              <a:rPr lang="en-US" sz="1300" dirty="0" err="1">
                <a:solidFill>
                  <a:prstClr val="black"/>
                </a:solidFill>
                <a:latin typeface="Times New Roman" panose="02020603050405020304" pitchFamily="18" charset="0"/>
                <a:cs typeface="Times New Roman" panose="02020603050405020304" pitchFamily="18" charset="0"/>
              </a:rPr>
              <a:t>hiện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có</a:t>
            </a:r>
            <a:r>
              <a:rPr lang="en-US" sz="1300" dirty="0">
                <a:solidFill>
                  <a:prstClr val="black"/>
                </a:solidFill>
                <a:latin typeface="Times New Roman" panose="02020603050405020304" pitchFamily="18" charset="0"/>
                <a:cs typeface="Times New Roman" panose="02020603050405020304" pitchFamily="18" charset="0"/>
              </a:rPr>
              <a:t> MTBUR 3844FH &gt; GMTBUR 2500FH, </a:t>
            </a:r>
            <a:r>
              <a:rPr lang="en-US" sz="1300" dirty="0" err="1">
                <a:solidFill>
                  <a:prstClr val="black"/>
                </a:solidFill>
                <a:latin typeface="Times New Roman" panose="02020603050405020304" pitchFamily="18" charset="0"/>
                <a:cs typeface="Times New Roman" panose="02020603050405020304" pitchFamily="18" charset="0"/>
              </a:rPr>
              <a:t>khối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đang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lắp</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trên</a:t>
            </a:r>
            <a:r>
              <a:rPr lang="en-US" sz="1300" dirty="0">
                <a:solidFill>
                  <a:prstClr val="black"/>
                </a:solidFill>
                <a:latin typeface="Times New Roman" panose="02020603050405020304" pitchFamily="18" charset="0"/>
                <a:cs typeface="Times New Roman" panose="02020603050405020304" pitchFamily="18" charset="0"/>
              </a:rPr>
              <a:t> B221 </a:t>
            </a:r>
            <a:r>
              <a:rPr lang="en-US" sz="1300" dirty="0" err="1">
                <a:solidFill>
                  <a:prstClr val="black"/>
                </a:solidFill>
                <a:latin typeface="Times New Roman" panose="02020603050405020304" pitchFamily="18" charset="0"/>
                <a:cs typeface="Times New Roman" panose="02020603050405020304" pitchFamily="18" charset="0"/>
              </a:rPr>
              <a:t>có</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tuổi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cao</a:t>
            </a:r>
            <a:r>
              <a:rPr lang="en-US" sz="1300" dirty="0">
                <a:solidFill>
                  <a:prstClr val="black"/>
                </a:solidFill>
                <a:latin typeface="Times New Roman" panose="02020603050405020304" pitchFamily="18" charset="0"/>
                <a:cs typeface="Times New Roman" panose="02020603050405020304" pitchFamily="18" charset="0"/>
              </a:rPr>
              <a:t> (16 </a:t>
            </a:r>
            <a:r>
              <a:rPr lang="en-US" sz="1300" dirty="0" err="1">
                <a:solidFill>
                  <a:prstClr val="black"/>
                </a:solidFill>
                <a:latin typeface="Times New Roman" panose="02020603050405020304" pitchFamily="18" charset="0"/>
                <a:cs typeface="Times New Roman" panose="02020603050405020304" pitchFamily="18" charset="0"/>
              </a:rPr>
              <a:t>năm</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lần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đi</a:t>
            </a:r>
            <a:r>
              <a:rPr lang="en-US" sz="1300" dirty="0">
                <a:solidFill>
                  <a:prstClr val="black"/>
                </a:solidFill>
                <a:latin typeface="Times New Roman" panose="02020603050405020304" pitchFamily="18" charset="0"/>
                <a:cs typeface="Times New Roman" panose="02020603050405020304" pitchFamily="18" charset="0"/>
              </a:rPr>
              <a:t> shop </a:t>
            </a:r>
            <a:r>
              <a:rPr lang="en-US" sz="1300" dirty="0" err="1">
                <a:solidFill>
                  <a:prstClr val="black"/>
                </a:solidFill>
                <a:latin typeface="Times New Roman" panose="02020603050405020304" pitchFamily="18" charset="0"/>
                <a:cs typeface="Times New Roman" panose="02020603050405020304" pitchFamily="18" charset="0"/>
              </a:rPr>
              <a:t>gần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nhất</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là</a:t>
            </a:r>
            <a:r>
              <a:rPr lang="en-US" sz="1300" dirty="0">
                <a:solidFill>
                  <a:prstClr val="black"/>
                </a:solidFill>
                <a:latin typeface="Times New Roman" panose="02020603050405020304" pitchFamily="18" charset="0"/>
                <a:cs typeface="Times New Roman" panose="02020603050405020304" pitchFamily="18" charset="0"/>
              </a:rPr>
              <a:t> 2016 (9 </a:t>
            </a:r>
            <a:r>
              <a:rPr lang="en-US" sz="1300" dirty="0" err="1">
                <a:solidFill>
                  <a:prstClr val="black"/>
                </a:solidFill>
                <a:latin typeface="Times New Roman" panose="02020603050405020304" pitchFamily="18" charset="0"/>
                <a:cs typeface="Times New Roman" panose="02020603050405020304" pitchFamily="18" charset="0"/>
              </a:rPr>
              <a:t>năm</a:t>
            </a:r>
            <a:r>
              <a:rPr lang="en-US" sz="1300" dirty="0">
                <a:solidFill>
                  <a:prstClr val="black"/>
                </a:solidFill>
                <a:latin typeface="Times New Roman" panose="02020603050405020304" pitchFamily="18" charset="0"/>
                <a:cs typeface="Times New Roman" panose="02020603050405020304" pitchFamily="18" charset="0"/>
              </a:rPr>
              <a:t>)</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25000"/>
              </a:lnSpc>
              <a:spcBef>
                <a:spcPts val="300"/>
              </a:spcBef>
              <a:spcAft>
                <a:spcPts val="0"/>
              </a:spcAft>
              <a:buClrTx/>
              <a:buSzTx/>
              <a:buFontTx/>
              <a:buNone/>
              <a:tabLst/>
              <a:defRPr/>
            </a:pPr>
            <a:r>
              <a:rPr kumimoji="0" lang="en-US" sz="13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Nguyên</a:t>
            </a:r>
            <a:r>
              <a:rPr kumimoji="0" lang="en-US" sz="13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nhân</a:t>
            </a:r>
            <a:r>
              <a:rPr kumimoji="0" lang="en-US" sz="13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25000"/>
              </a:lnSpc>
              <a:spcBef>
                <a:spcPts val="300"/>
              </a:spcBef>
              <a:spcAft>
                <a:spcPts val="0"/>
              </a:spcAft>
              <a:buClrTx/>
              <a:buSzTx/>
              <a:buFontTx/>
              <a:buNone/>
              <a:tabLst/>
              <a:defRPr/>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AFCS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nguyên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nhân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chính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285750" lvl="0" indent="-285750">
              <a:lnSpc>
                <a:spcPct val="125000"/>
              </a:lnSpc>
              <a:spcBef>
                <a:spcPts val="300"/>
              </a:spcBef>
              <a:buFontTx/>
              <a:buChar char="-"/>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máy</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tính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AFCS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tuổi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tụ</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trở</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bị</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lão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thông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a:t>
            </a:r>
            <a:r>
              <a:rPr lang="vi-VN" sz="1300" dirty="0">
                <a:solidFill>
                  <a:prstClr val="black"/>
                </a:solidFill>
                <a:latin typeface="Times New Roman" panose="02020603050405020304" pitchFamily="18" charset="0"/>
                <a:cs typeface="Times New Roman" panose="02020603050405020304" pitchFamily="18" charset="0"/>
              </a:rPr>
              <a:t>ư</a:t>
            </a:r>
            <a:r>
              <a:rPr lang="en-US" sz="1300" dirty="0" err="1">
                <a:solidFill>
                  <a:prstClr val="black"/>
                </a:solidFill>
                <a:latin typeface="Times New Roman" panose="02020603050405020304" pitchFamily="18" charset="0"/>
                <a:cs typeface="Times New Roman" panose="02020603050405020304" pitchFamily="18" charset="0"/>
              </a:rPr>
              <a:t>ờng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khối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có</a:t>
            </a:r>
            <a:r>
              <a:rPr lang="en-US" sz="1300" dirty="0">
                <a:solidFill>
                  <a:prstClr val="black"/>
                </a:solidFill>
                <a:latin typeface="Times New Roman" panose="02020603050405020304" pitchFamily="18" charset="0"/>
                <a:cs typeface="Times New Roman" panose="02020603050405020304" pitchFamily="18" charset="0"/>
              </a:rPr>
              <a:t> TSN/CSN </a:t>
            </a:r>
            <a:r>
              <a:rPr lang="en-US" sz="1300" dirty="0" err="1">
                <a:solidFill>
                  <a:prstClr val="black"/>
                </a:solidFill>
                <a:latin typeface="Times New Roman" panose="02020603050405020304" pitchFamily="18" charset="0"/>
                <a:cs typeface="Times New Roman" panose="02020603050405020304" pitchFamily="18" charset="0"/>
              </a:rPr>
              <a:t>khoảng</a:t>
            </a:r>
            <a:r>
              <a:rPr lang="en-US" sz="1300" dirty="0">
                <a:solidFill>
                  <a:prstClr val="black"/>
                </a:solidFill>
                <a:latin typeface="Times New Roman" panose="02020603050405020304" pitchFamily="18" charset="0"/>
                <a:cs typeface="Times New Roman" panose="02020603050405020304" pitchFamily="18" charset="0"/>
              </a:rPr>
              <a:t> 20000FH/23000FC </a:t>
            </a:r>
            <a:r>
              <a:rPr lang="en-US" sz="1300" dirty="0" err="1">
                <a:solidFill>
                  <a:prstClr val="black"/>
                </a:solidFill>
                <a:latin typeface="Times New Roman" panose="02020603050405020304" pitchFamily="18" charset="0"/>
                <a:cs typeface="Times New Roman" panose="02020603050405020304" pitchFamily="18" charset="0"/>
              </a:rPr>
              <a:t>sẽ</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hỏng</a:t>
            </a:r>
            <a:r>
              <a:rPr lang="en-US" sz="1300" dirty="0">
                <a:solidFill>
                  <a:prstClr val="black"/>
                </a:solidFill>
                <a:latin typeface="Times New Roman" panose="02020603050405020304" pitchFamily="18" charset="0"/>
                <a:cs typeface="Times New Roman" panose="02020603050405020304" pitchFamily="18" charset="0"/>
              </a:rPr>
              <a:t> do </a:t>
            </a:r>
            <a:r>
              <a:rPr lang="en-US" sz="1300" dirty="0" err="1">
                <a:solidFill>
                  <a:prstClr val="black"/>
                </a:solidFill>
                <a:latin typeface="Times New Roman" panose="02020603050405020304" pitchFamily="18" charset="0"/>
                <a:cs typeface="Times New Roman" panose="02020603050405020304" pitchFamily="18" charset="0"/>
              </a:rPr>
              <a:t>lão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hóa</a:t>
            </a:r>
            <a:r>
              <a:rPr lang="en-US" sz="1300" dirty="0">
                <a:solidFill>
                  <a:prstClr val="black"/>
                </a:solidFill>
                <a:latin typeface="Times New Roman" panose="02020603050405020304" pitchFamily="18" charset="0"/>
                <a:cs typeface="Times New Roman" panose="02020603050405020304" pitchFamily="18" charset="0"/>
              </a:rPr>
              <a:t>. B221 </a:t>
            </a:r>
            <a:r>
              <a:rPr lang="en-US" sz="1300" dirty="0" err="1">
                <a:solidFill>
                  <a:prstClr val="black"/>
                </a:solidFill>
                <a:latin typeface="Times New Roman" panose="02020603050405020304" pitchFamily="18" charset="0"/>
                <a:cs typeface="Times New Roman" panose="02020603050405020304" pitchFamily="18" charset="0"/>
              </a:rPr>
              <a:t>có</a:t>
            </a:r>
            <a:r>
              <a:rPr lang="en-US" sz="1300" dirty="0">
                <a:solidFill>
                  <a:prstClr val="black"/>
                </a:solidFill>
                <a:latin typeface="Times New Roman" panose="02020603050405020304" pitchFamily="18" charset="0"/>
                <a:cs typeface="Times New Roman" panose="02020603050405020304" pitchFamily="18" charset="0"/>
              </a:rPr>
              <a:t> TSN/CSN 21029FH/24812FC</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25000"/>
              </a:lnSpc>
              <a:spcBef>
                <a:spcPts val="300"/>
              </a:spcBef>
              <a:spcAft>
                <a:spcPts val="0"/>
              </a:spcAft>
              <a:buClrTx/>
              <a:buSzTx/>
              <a:buFontTx/>
              <a:buChar char="-"/>
              <a:tabLst/>
              <a:defRPr/>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intermittent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hoặc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NFF:</a:t>
            </a:r>
          </a:p>
          <a:p>
            <a:pPr lvl="0">
              <a:lnSpc>
                <a:spcPct val="125000"/>
              </a:lnSpc>
              <a:spcBef>
                <a:spcPts val="300"/>
              </a:spcBef>
              <a:defRPr/>
            </a:pP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a:t>
            </a:r>
            <a:r>
              <a:rPr lang="en-US" sz="1300" dirty="0" err="1">
                <a:latin typeface="Times New Roman" panose="02020603050405020304" pitchFamily="18" charset="0"/>
                <a:cs typeface="Times New Roman" panose="02020603050405020304" pitchFamily="18" charset="0"/>
              </a:rPr>
              <a:t>hả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năng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hỏng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hóc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chập</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chờn</a:t>
            </a:r>
            <a:r>
              <a:rPr lang="en-US" sz="1300" dirty="0">
                <a:latin typeface="Times New Roman" panose="02020603050405020304" pitchFamily="18" charset="0"/>
                <a:cs typeface="Times New Roman" panose="02020603050405020304" pitchFamily="18" charset="0"/>
              </a:rPr>
              <a:t> do </a:t>
            </a:r>
            <a:r>
              <a:rPr lang="en-US" sz="1300" dirty="0" err="1">
                <a:latin typeface="Times New Roman" panose="02020603050405020304" pitchFamily="18" charset="0"/>
                <a:cs typeface="Times New Roman" panose="02020603050405020304" pitchFamily="18" charset="0"/>
              </a:rPr>
              <a:t>hỏng</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dây</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vị</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trí</a:t>
            </a:r>
            <a:r>
              <a:rPr lang="en-US" sz="1300" dirty="0">
                <a:latin typeface="Times New Roman" panose="02020603050405020304" pitchFamily="18" charset="0"/>
                <a:cs typeface="Times New Roman" panose="02020603050405020304" pitchFamily="18" charset="0"/>
              </a:rPr>
              <a:t> 5024VC &amp; 5045VC </a:t>
            </a:r>
          </a:p>
          <a:p>
            <a:pPr lvl="0">
              <a:lnSpc>
                <a:spcPct val="125000"/>
              </a:lnSpc>
              <a:spcBef>
                <a:spcPts val="300"/>
              </a:spcBef>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Auto Pilot (AP) actuator connectors </a:t>
            </a:r>
            <a:r>
              <a:rPr lang="en-US" sz="1300" dirty="0" err="1">
                <a:latin typeface="Times New Roman" panose="02020603050405020304" pitchFamily="18" charset="0"/>
                <a:cs typeface="Times New Roman" panose="02020603050405020304" pitchFamily="18" charset="0"/>
              </a:rPr>
              <a:t>có</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thể</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bị</a:t>
            </a:r>
            <a:r>
              <a:rPr lang="en-US" sz="1300" dirty="0">
                <a:latin typeface="Times New Roman" panose="02020603050405020304" pitchFamily="18" charset="0"/>
                <a:cs typeface="Times New Roman" panose="02020603050405020304" pitchFamily="18" charset="0"/>
              </a:rPr>
              <a:t> heavily corroded</a:t>
            </a:r>
          </a:p>
          <a:p>
            <a:pPr marL="0" marR="0" lvl="0" indent="0" algn="l" defTabSz="914400" rtl="0" eaLnBrk="1" fontAlgn="auto" latinLnBrk="0" hangingPunct="1">
              <a:lnSpc>
                <a:spcPct val="125000"/>
              </a:lnSpc>
              <a:spcBef>
                <a:spcPts val="300"/>
              </a:spcBef>
              <a:spcAft>
                <a:spcPts val="0"/>
              </a:spcAft>
              <a:buClrTx/>
              <a:buSzTx/>
              <a:buFontTx/>
              <a:buNone/>
              <a:tabLst/>
              <a:defRPr/>
            </a:pPr>
            <a:r>
              <a:rPr kumimoji="0" lang="en-US" sz="13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Giải</a:t>
            </a:r>
            <a:r>
              <a:rPr kumimoji="0" lang="en-US" sz="13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pháp</a:t>
            </a:r>
            <a:r>
              <a:rPr kumimoji="0" lang="en-US" sz="13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285750" indent="-285750">
              <a:lnSpc>
                <a:spcPct val="125000"/>
              </a:lnSpc>
              <a:spcBef>
                <a:spcPts val="300"/>
              </a:spcBef>
              <a:buFontTx/>
              <a:buChar char="-"/>
              <a:defRPr/>
            </a:pPr>
            <a:r>
              <a:rPr lang="en-US" sz="1300" dirty="0" err="1">
                <a:solidFill>
                  <a:prstClr val="black"/>
                </a:solidFill>
                <a:latin typeface="Times New Roman" panose="02020603050405020304" pitchFamily="18" charset="0"/>
                <a:cs typeface="Times New Roman" panose="02020603050405020304" pitchFamily="18" charset="0"/>
              </a:rPr>
              <a:t>Với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thiết</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bị</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cao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tuổi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hiện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không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có</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giải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pháp</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triệt</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để</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khi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hỏng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có</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thể</a:t>
            </a:r>
            <a:r>
              <a:rPr lang="en-US" sz="1300" dirty="0">
                <a:solidFill>
                  <a:prstClr val="black"/>
                </a:solidFill>
                <a:latin typeface="Times New Roman" panose="02020603050405020304" pitchFamily="18" charset="0"/>
                <a:cs typeface="Times New Roman" panose="02020603050405020304" pitchFamily="18" charset="0"/>
              </a:rPr>
              <a:t> Raise MEL </a:t>
            </a:r>
            <a:r>
              <a:rPr lang="en-US" sz="1300" dirty="0" err="1">
                <a:solidFill>
                  <a:prstClr val="black"/>
                </a:solidFill>
                <a:latin typeface="Times New Roman" panose="02020603050405020304" pitchFamily="18" charset="0"/>
                <a:cs typeface="Times New Roman" panose="02020603050405020304" pitchFamily="18" charset="0"/>
              </a:rPr>
              <a:t>tiếp</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tục</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khai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thác</a:t>
            </a:r>
            <a:endParaRPr lang="en-US" sz="1300" dirty="0">
              <a:solidFill>
                <a:prstClr val="black"/>
              </a:solidFill>
              <a:latin typeface="Times New Roman" panose="02020603050405020304" pitchFamily="18" charset="0"/>
              <a:cs typeface="Times New Roman" panose="02020603050405020304" pitchFamily="18" charset="0"/>
            </a:endParaRPr>
          </a:p>
          <a:p>
            <a:pPr marL="285750" marR="0" lvl="0" indent="-285750" algn="l" defTabSz="914400" rtl="0" eaLnBrk="1" fontAlgn="auto" latinLnBrk="0" hangingPunct="1">
              <a:lnSpc>
                <a:spcPct val="125000"/>
              </a:lnSpc>
              <a:spcBef>
                <a:spcPts val="300"/>
              </a:spcBef>
              <a:spcAft>
                <a:spcPts val="0"/>
              </a:spcAft>
              <a:buClrTx/>
              <a:buSzTx/>
              <a:buFontTx/>
              <a:buChar char="-"/>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V</a:t>
            </a:r>
            <a:r>
              <a:rPr lang="en-US" sz="1300" dirty="0" err="1">
                <a:solidFill>
                  <a:prstClr val="black"/>
                </a:solidFill>
                <a:latin typeface="Times New Roman" panose="02020603050405020304" pitchFamily="18" charset="0"/>
                <a:cs typeface="Times New Roman" panose="02020603050405020304" pitchFamily="18" charset="0"/>
              </a:rPr>
              <a:t>ới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hỏng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hóc</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intermitten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hoặc</a:t>
            </a:r>
            <a:r>
              <a:rPr lang="en-US" sz="1300" dirty="0">
                <a:solidFill>
                  <a:prstClr val="black"/>
                </a:solidFill>
                <a:latin typeface="Times New Roman" panose="02020603050405020304" pitchFamily="18" charset="0"/>
                <a:cs typeface="Times New Roman" panose="02020603050405020304" pitchFamily="18" charset="0"/>
              </a:rPr>
              <a:t> NFF:</a:t>
            </a:r>
          </a:p>
          <a:p>
            <a:pPr lvl="0">
              <a:lnSpc>
                <a:spcPct val="125000"/>
              </a:lnSpc>
              <a:spcBef>
                <a:spcPts val="300"/>
              </a:spcBef>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EOD-ATR-22-00-0001-R00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S0071824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chữa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vị</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5024VC &amp; 5045VC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nếu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xong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cuối</a:t>
            </a:r>
            <a:r>
              <a:rPr lang="en-US" sz="1300" dirty="0">
                <a:solidFill>
                  <a:prstClr val="black"/>
                </a:solidFill>
                <a:latin typeface="Times New Roman" panose="02020603050405020304" pitchFamily="18" charset="0"/>
                <a:cs typeface="Times New Roman" panose="02020603050405020304" pitchFamily="18" charset="0"/>
              </a:rPr>
              <a:t> – B221 23</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/6/25, </a:t>
            </a:r>
            <a:r>
              <a:rPr lang="en-US" sz="1300" dirty="0" err="1">
                <a:solidFill>
                  <a:prstClr val="black"/>
                </a:solidFill>
                <a:latin typeface="Times New Roman" panose="02020603050405020304" pitchFamily="18" charset="0"/>
                <a:cs typeface="Times New Roman" panose="02020603050405020304" pitchFamily="18" charset="0"/>
              </a:rPr>
              <a:t>không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phát</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hiện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bất</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a:t>
            </a:r>
            <a:r>
              <a:rPr lang="vi-VN" sz="1300" dirty="0">
                <a:solidFill>
                  <a:prstClr val="black"/>
                </a:solidFill>
                <a:latin typeface="Times New Roman" panose="02020603050405020304" pitchFamily="18" charset="0"/>
                <a:cs typeface="Times New Roman" panose="02020603050405020304" pitchFamily="18" charset="0"/>
              </a:rPr>
              <a:t>ư</a:t>
            </a:r>
            <a:r>
              <a:rPr lang="en-US" sz="1300" dirty="0" err="1">
                <a:solidFill>
                  <a:prstClr val="black"/>
                </a:solidFill>
                <a:latin typeface="Times New Roman" panose="02020603050405020304" pitchFamily="18" charset="0"/>
                <a:cs typeface="Times New Roman" panose="02020603050405020304" pitchFamily="18" charset="0"/>
              </a:rPr>
              <a:t>ờng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lvl="0">
              <a:lnSpc>
                <a:spcPct val="125000"/>
              </a:lnSpc>
              <a:spcBef>
                <a:spcPts val="300"/>
              </a:spcBef>
              <a:defRPr/>
            </a:pP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Thực</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hiện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a:latin typeface="Times New Roman" panose="02020603050405020304" pitchFamily="18" charset="0"/>
                <a:cs typeface="Times New Roman" panose="02020603050405020304" pitchFamily="18" charset="0"/>
              </a:rPr>
              <a:t>MP ATR-A-22-16-XX-00ZZZ-281Z-A Scheduled inspection of the auto pilot (AP) actuators, connectors and cables </a:t>
            </a:r>
            <a:r>
              <a:rPr lang="en-US" sz="1300" dirty="0" err="1">
                <a:latin typeface="Times New Roman" panose="02020603050405020304" pitchFamily="18" charset="0"/>
                <a:cs typeface="Times New Roman" panose="02020603050405020304" pitchFamily="18" charset="0"/>
              </a:rPr>
              <a:t>theo</a:t>
            </a:r>
            <a:r>
              <a:rPr lang="en-US" sz="1300" dirty="0">
                <a:latin typeface="Times New Roman" panose="02020603050405020304" pitchFamily="18" charset="0"/>
                <a:cs typeface="Times New Roman" panose="02020603050405020304" pitchFamily="18" charset="0"/>
              </a:rPr>
              <a:t> AMP </a:t>
            </a:r>
            <a:r>
              <a:rPr lang="en-US" sz="1300" dirty="0" err="1">
                <a:latin typeface="Times New Roman" panose="02020603050405020304" pitchFamily="18" charset="0"/>
                <a:cs typeface="Times New Roman" panose="02020603050405020304" pitchFamily="18" charset="0"/>
              </a:rPr>
              <a:t>tần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suất</a:t>
            </a:r>
            <a:r>
              <a:rPr lang="en-US" sz="1300" dirty="0">
                <a:latin typeface="Times New Roman" panose="02020603050405020304" pitchFamily="18" charset="0"/>
                <a:cs typeface="Times New Roman" panose="02020603050405020304" pitchFamily="18" charset="0"/>
              </a:rPr>
              <a:t> 01 </a:t>
            </a:r>
            <a:r>
              <a:rPr lang="en-US" sz="1300" dirty="0" err="1">
                <a:latin typeface="Times New Roman" panose="02020603050405020304" pitchFamily="18" charset="0"/>
                <a:cs typeface="Times New Roman" panose="02020603050405020304" pitchFamily="18" charset="0"/>
              </a:rPr>
              <a:t>năm</a:t>
            </a:r>
            <a:r>
              <a:rPr lang="en-US" sz="1300" dirty="0">
                <a:latin typeface="Times New Roman" panose="02020603050405020304" pitchFamily="18" charset="0"/>
                <a:cs typeface="Times New Roman" panose="02020603050405020304" pitchFamily="18" charset="0"/>
              </a:rPr>
              <a:t> (B221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5/1/25) =&gt; </a:t>
            </a:r>
            <a:r>
              <a:rPr lang="en-US" sz="1300" i="1" dirty="0" err="1">
                <a:latin typeface="Times New Roman" panose="02020603050405020304" pitchFamily="18" charset="0"/>
                <a:cs typeface="Times New Roman" panose="02020603050405020304" pitchFamily="18" charset="0"/>
              </a:rPr>
              <a:t>Với</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môi</a:t>
            </a:r>
            <a:r>
              <a:rPr lang="en-US" sz="1300" i="1" dirty="0">
                <a:latin typeface="Times New Roman" panose="02020603050405020304" pitchFamily="18" charset="0"/>
                <a:cs typeface="Times New Roman" panose="02020603050405020304" pitchFamily="18" charset="0"/>
              </a:rPr>
              <a:t> tr</a:t>
            </a:r>
            <a:r>
              <a:rPr lang="vi-VN" sz="1300" i="1" dirty="0">
                <a:latin typeface="Times New Roman" panose="02020603050405020304" pitchFamily="18" charset="0"/>
                <a:cs typeface="Times New Roman" panose="02020603050405020304" pitchFamily="18" charset="0"/>
              </a:rPr>
              <a:t>ư</a:t>
            </a:r>
            <a:r>
              <a:rPr lang="en-US" sz="1300" i="1" dirty="0" err="1">
                <a:latin typeface="Times New Roman" panose="02020603050405020304" pitchFamily="18" charset="0"/>
                <a:cs typeface="Times New Roman" panose="02020603050405020304" pitchFamily="18" charset="0"/>
              </a:rPr>
              <a:t>ờng</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khai</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thác</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hiện</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tại</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của</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tàu</a:t>
            </a:r>
            <a:r>
              <a:rPr lang="en-US" sz="1300" i="1" dirty="0">
                <a:latin typeface="Times New Roman" panose="02020603050405020304" pitchFamily="18" charset="0"/>
                <a:cs typeface="Times New Roman" panose="02020603050405020304" pitchFamily="18" charset="0"/>
              </a:rPr>
              <a:t> ATR, Ban KT </a:t>
            </a:r>
            <a:r>
              <a:rPr lang="en-US" sz="1300" i="1" dirty="0" err="1">
                <a:latin typeface="Times New Roman" panose="02020603050405020304" pitchFamily="18" charset="0"/>
                <a:cs typeface="Times New Roman" panose="02020603050405020304" pitchFamily="18" charset="0"/>
              </a:rPr>
              <a:t>sẽ</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làm</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việc</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với</a:t>
            </a:r>
            <a:r>
              <a:rPr lang="en-US" sz="1300" i="1" dirty="0">
                <a:latin typeface="Times New Roman" panose="02020603050405020304" pitchFamily="18" charset="0"/>
                <a:cs typeface="Times New Roman" panose="02020603050405020304" pitchFamily="18" charset="0"/>
              </a:rPr>
              <a:t> VAECO </a:t>
            </a:r>
            <a:r>
              <a:rPr lang="en-US" sz="1300" i="1" dirty="0" err="1">
                <a:latin typeface="Times New Roman" panose="02020603050405020304" pitchFamily="18" charset="0"/>
                <a:cs typeface="Times New Roman" panose="02020603050405020304" pitchFamily="18" charset="0"/>
              </a:rPr>
              <a:t>để</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đánh</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giá</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giảm</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tần</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suất</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này</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xuống</a:t>
            </a:r>
            <a:r>
              <a:rPr lang="en-US" sz="1300" i="1" dirty="0">
                <a:latin typeface="Times New Roman" panose="02020603050405020304" pitchFamily="18" charset="0"/>
                <a:cs typeface="Times New Roman" panose="02020603050405020304" pitchFamily="18" charset="0"/>
              </a:rPr>
              <a:t> 06 </a:t>
            </a:r>
            <a:r>
              <a:rPr lang="en-US" sz="1300" i="1" dirty="0" err="1">
                <a:latin typeface="Times New Roman" panose="02020603050405020304" pitchFamily="18" charset="0"/>
                <a:cs typeface="Times New Roman" panose="02020603050405020304" pitchFamily="18" charset="0"/>
              </a:rPr>
              <a:t>tháng</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nếu</a:t>
            </a:r>
            <a:r>
              <a:rPr lang="en-US" sz="1300" i="1" dirty="0">
                <a:latin typeface="Times New Roman" panose="02020603050405020304" pitchFamily="18" charset="0"/>
                <a:cs typeface="Times New Roman" panose="02020603050405020304" pitchFamily="18" charset="0"/>
              </a:rPr>
              <a:t> </a:t>
            </a:r>
            <a:r>
              <a:rPr lang="en-US" sz="1300" i="1" dirty="0" err="1">
                <a:latin typeface="Times New Roman" panose="02020603050405020304" pitchFamily="18" charset="0"/>
                <a:cs typeface="Times New Roman" panose="02020603050405020304" pitchFamily="18" charset="0"/>
              </a:rPr>
              <a:t>cần</a:t>
            </a:r>
            <a:endParaRPr lang="en-US" sz="1300" i="1"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184E034C-9117-437E-90F5-DEB20B991041}"/>
              </a:ext>
            </a:extLst>
          </p:cNvPr>
          <p:cNvPicPr>
            <a:picLocks noChangeAspect="1"/>
          </p:cNvPicPr>
          <p:nvPr/>
        </p:nvPicPr>
        <p:blipFill>
          <a:blip r:embed="rId4"/>
          <a:stretch>
            <a:fillRect/>
          </a:stretch>
        </p:blipFill>
        <p:spPr>
          <a:xfrm>
            <a:off x="227896" y="2167859"/>
            <a:ext cx="510877" cy="512345"/>
          </a:xfrm>
          <a:prstGeom prst="rect">
            <a:avLst/>
          </a:prstGeom>
        </p:spPr>
      </p:pic>
      <p:pic>
        <p:nvPicPr>
          <p:cNvPr id="13" name="Picture 12">
            <a:extLst>
              <a:ext uri="{FF2B5EF4-FFF2-40B4-BE49-F238E27FC236}">
                <a16:creationId xmlns:a16="http://schemas.microsoft.com/office/drawing/2014/main" id="{A916E70B-C1CE-4269-8183-B3B72CAE45A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7896" y="3811299"/>
            <a:ext cx="480458" cy="446842"/>
          </a:xfrm>
          <a:prstGeom prst="rect">
            <a:avLst/>
          </a:prstGeom>
        </p:spPr>
      </p:pic>
      <p:pic>
        <p:nvPicPr>
          <p:cNvPr id="2" name="Picture 1">
            <a:extLst>
              <a:ext uri="{FF2B5EF4-FFF2-40B4-BE49-F238E27FC236}">
                <a16:creationId xmlns:a16="http://schemas.microsoft.com/office/drawing/2014/main" id="{EE72B073-EBC2-4F89-9FE2-4F582CFB26D3}"/>
              </a:ext>
            </a:extLst>
          </p:cNvPr>
          <p:cNvPicPr>
            <a:picLocks noChangeAspect="1"/>
          </p:cNvPicPr>
          <p:nvPr/>
        </p:nvPicPr>
        <p:blipFill>
          <a:blip r:embed="rId6"/>
          <a:stretch>
            <a:fillRect/>
          </a:stretch>
        </p:blipFill>
        <p:spPr>
          <a:xfrm>
            <a:off x="9050866" y="786686"/>
            <a:ext cx="3115633" cy="4860581"/>
          </a:xfrm>
          <a:prstGeom prst="rect">
            <a:avLst/>
          </a:prstGeom>
        </p:spPr>
      </p:pic>
    </p:spTree>
    <p:custDataLst>
      <p:tags r:id="rId1"/>
    </p:custDataLst>
    <p:extLst>
      <p:ext uri="{BB962C8B-B14F-4D97-AF65-F5344CB8AC3E}">
        <p14:creationId xmlns:p14="http://schemas.microsoft.com/office/powerpoint/2010/main" val="1430114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304800" y="228600"/>
            <a:ext cx="10341784"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4799" y="894769"/>
            <a:ext cx="11536315" cy="2062103"/>
          </a:xfrm>
          <a:prstGeom prst="rect">
            <a:avLst/>
          </a:prstGeom>
          <a:noFill/>
        </p:spPr>
        <p:txBody>
          <a:bodyPr wrap="square">
            <a:spAutoFit/>
          </a:bodyPr>
          <a:lstStyle/>
          <a:p>
            <a:pPr algn="just">
              <a:buClrTx/>
              <a:buFontTx/>
              <a:buNone/>
              <a:defRPr/>
            </a:pPr>
            <a:r>
              <a:rPr lang="en-US" sz="1600" b="1" kern="1200" dirty="0" err="1">
                <a:solidFill>
                  <a:prstClr val="black"/>
                </a:solidFill>
                <a:latin typeface="Times New Roman" panose="02020603050405020304" pitchFamily="18" charset="0"/>
                <a:cs typeface="Times New Roman" panose="02020603050405020304" pitchFamily="18" charset="0"/>
              </a:rPr>
              <a:t>Đội</a:t>
            </a:r>
            <a:r>
              <a:rPr lang="en-US" sz="1600" b="1" kern="1200" dirty="0">
                <a:solidFill>
                  <a:prstClr val="black"/>
                </a:solidFill>
                <a:latin typeface="Times New Roman" panose="02020603050405020304" pitchFamily="18" charset="0"/>
                <a:cs typeface="Times New Roman" panose="02020603050405020304" pitchFamily="18" charset="0"/>
              </a:rPr>
              <a:t> bay ATR72: </a:t>
            </a:r>
          </a:p>
          <a:p>
            <a:pPr algn="just">
              <a:buClrTx/>
              <a:buFontTx/>
              <a:buNone/>
              <a:defRPr/>
            </a:pPr>
            <a:r>
              <a:rPr lang="vi-VN" sz="1600" dirty="0">
                <a:solidFill>
                  <a:prstClr val="black"/>
                </a:solidFill>
                <a:latin typeface="Times New Roman" panose="02020603050405020304" pitchFamily="18" charset="0"/>
                <a:cs typeface="Times New Roman" panose="02020603050405020304" pitchFamily="18" charset="0"/>
              </a:rPr>
              <a:t>Hỏng hóc nổi cộm </a:t>
            </a:r>
            <a:r>
              <a:rPr lang="vi-VN" sz="1600">
                <a:solidFill>
                  <a:prstClr val="black"/>
                </a:solidFill>
                <a:latin typeface="Times New Roman" panose="02020603050405020304" pitchFamily="18" charset="0"/>
                <a:cs typeface="Times New Roman" panose="02020603050405020304" pitchFamily="18" charset="0"/>
              </a:rPr>
              <a:t>ATR72:</a:t>
            </a:r>
            <a:endParaRPr lang="en-US" sz="1600">
              <a:solidFill>
                <a:prstClr val="black"/>
              </a:solidFill>
              <a:latin typeface="Times New Roman" panose="02020603050405020304" pitchFamily="18" charset="0"/>
              <a:cs typeface="Times New Roman" panose="02020603050405020304" pitchFamily="18" charset="0"/>
            </a:endParaRPr>
          </a:p>
          <a:p>
            <a:pPr algn="just">
              <a:buClrTx/>
              <a:buFontTx/>
              <a:buNone/>
              <a:defRPr/>
            </a:pPr>
            <a:r>
              <a:rPr lang="vi-VN" sz="1600" kern="1200">
                <a:solidFill>
                  <a:prstClr val="black"/>
                </a:solidFill>
                <a:latin typeface="Times New Roman" panose="02020603050405020304" pitchFamily="18" charset="0"/>
                <a:cs typeface="Times New Roman" panose="02020603050405020304" pitchFamily="18" charset="0"/>
              </a:rPr>
              <a:t>- B218 delay 2 lần trong ngày 17/07/2025 vì lý do không khởi động được động cơ số 1. Lần 1 tại VCS được CRS thực hiện swap GCU thì nổ máy được bình thường. Lần 2 tại SGN đã thay GCU nhưng vẫn không nổ lại được. Sau đó phải thay DC starter generator và khắc phục được hoàn toàn. Nguyên nhân nghi ngờ là do khối Starter generator vừa đi shop về chưa được shop sửa triệt để, dẫn đến vẫn có lỗi. Ban KT và Ban QLVT làm việc tiếp với shop về chất lượng sửa chữa và bảo hành.</a:t>
            </a:r>
          </a:p>
          <a:p>
            <a:pPr algn="just">
              <a:buClrTx/>
              <a:buFontTx/>
              <a:buNone/>
              <a:defRPr/>
            </a:pPr>
            <a:r>
              <a:rPr lang="vi-VN" sz="1600" kern="1200">
                <a:solidFill>
                  <a:prstClr val="black"/>
                </a:solidFill>
                <a:latin typeface="Times New Roman" panose="02020603050405020304" pitchFamily="18" charset="0"/>
                <a:cs typeface="Times New Roman" panose="02020603050405020304" pitchFamily="18" charset="0"/>
              </a:rPr>
              <a:t>- B221/ATB ngày 20/07 khi đang bay SGN - VCS do lỗi AFCS intermittent và thời tiết tại VCS không tốt. Đã thay AFCS để khắc phục. Khối AFCS bị lỗi đã cao tuổi. Ban KT cũng đang xem xét đánh giá tăng tần suất kiểm tra Auto pilot actuator connectors theo task AMP.</a:t>
            </a:r>
            <a:endParaRPr lang="en-US" sz="1600" kern="12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395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W29 (14/07/2025-20/07/20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60043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lang="en-US" sz="1400">
                <a:solidFill>
                  <a:prstClr val="black"/>
                </a:solidFill>
                <a:latin typeface="Times New Roman" panose="02020603050405020304" pitchFamily="18" charset="0"/>
                <a:cs typeface="Times New Roman" panose="02020603050405020304" pitchFamily="18" charset="0"/>
              </a:rPr>
              <a:t>29</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a:t>
            </a:r>
            <a:r>
              <a:rPr lang="en-US" sz="1400" noProof="0">
                <a:solidFill>
                  <a:prstClr val="black"/>
                </a:solidFill>
                <a:latin typeface="Times New Roman" panose="02020603050405020304" pitchFamily="18" charset="0"/>
                <a:cs typeface="Times New Roman" panose="02020603050405020304" pitchFamily="18" charset="0"/>
              </a:rPr>
              <a:t>đội các đội A321, A350, B787 đạt mục tiêu, riêng đội ATR72 không đạt mục tiêu</a:t>
            </a:r>
            <a:r>
              <a:rPr lang="en-US" sz="1400">
                <a:solidFill>
                  <a:prstClr val="black"/>
                </a:solidFill>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99,78% cao hơn 0,15%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99,62% cao hơn 0,18%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r>
              <a:rPr lang="pt-BR" sz="140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99,75% cao</a:t>
            </a:r>
            <a:r>
              <a:rPr lang="en-US" sz="1400">
                <a:latin typeface="Times New Roman" panose="02020603050405020304" pitchFamily="18" charset="0"/>
                <a:cs typeface="Times New Roman" panose="02020603050405020304" pitchFamily="18" charset="0"/>
              </a:rPr>
              <a:t> hơn 0,39%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99,49% thấp hơn 0,66%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02 sự kiện do Starter Generator tàu B218 và AFCS Computer tàu B221.</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2718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405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nvGraphicFramePr>
        <p:xfrm>
          <a:off x="552666" y="764292"/>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977578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26</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623288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46876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13.5k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 slot.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telecon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follow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Lease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tịch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07/06/2025.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tịch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EVP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commercial,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vẫn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chưa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đạt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cụ</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549449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27</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65581107"/>
              </p:ext>
            </p:extLst>
          </p:nvPr>
        </p:nvGraphicFramePr>
        <p:xfrm>
          <a:off x="156782" y="444125"/>
          <a:ext cx="11878434" cy="5419473"/>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524548">
                  <a:extLst>
                    <a:ext uri="{9D8B030D-6E8A-4147-A177-3AD203B41FA5}">
                      <a16:colId xmlns:a16="http://schemas.microsoft.com/office/drawing/2014/main" val="426833219"/>
                    </a:ext>
                  </a:extLst>
                </a:gridCol>
                <a:gridCol w="1748216">
                  <a:extLst>
                    <a:ext uri="{9D8B030D-6E8A-4147-A177-3AD203B41FA5}">
                      <a16:colId xmlns:a16="http://schemas.microsoft.com/office/drawing/2014/main" val="3649942957"/>
                    </a:ext>
                  </a:extLst>
                </a:gridCol>
              </a:tblGrid>
              <a:tr h="43283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11589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Dự</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kiến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SwissAS</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a:solidFill>
                            <a:schemeClr val="tx1"/>
                          </a:solidFill>
                          <a:effectLst/>
                          <a:latin typeface="Times New Roman" panose="02020603050405020304" pitchFamily="18" charset="0"/>
                          <a:cs typeface="Times New Roman" panose="02020603050405020304" pitchFamily="18" charset="0"/>
                        </a:rPr>
                        <a:t>Sau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hợp</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đồng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với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SAS,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Tổ</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eTL</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triển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khai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các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liên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quan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Mục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tiêu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đ</a:t>
                      </a:r>
                      <a:r>
                        <a:rPr lang="vi-VN" sz="1300" b="0" i="0" u="none" strike="noStrike" dirty="0">
                          <a:solidFill>
                            <a:schemeClr val="tx1"/>
                          </a:solidFill>
                          <a:effectLst/>
                          <a:latin typeface="Times New Roman" panose="02020603050405020304" pitchFamily="18" charset="0"/>
                          <a:cs typeface="Times New Roman" panose="02020603050405020304" pitchFamily="18" charset="0"/>
                        </a:rPr>
                        <a:t>ư</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a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vào</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sử</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dụng</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đầu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năm</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2026</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70725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B787 VN-A863</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600"/>
                        </a:spcBef>
                        <a:spcAft>
                          <a:spcPts val="0"/>
                        </a:spcAft>
                        <a:buClrTx/>
                        <a:buSzTx/>
                        <a:buFontTx/>
                        <a:buNone/>
                        <a:tabLst>
                          <a:tab pos="173038" algn="l"/>
                        </a:tabLst>
                        <a:defRPr/>
                      </a:pPr>
                      <a:r>
                        <a:rPr lang="vi-VN" sz="1300" b="0" u="none" strike="noStrike" kern="1200" baseline="0">
                          <a:solidFill>
                            <a:schemeClr val="tx1"/>
                          </a:solidFill>
                          <a:effectLst/>
                          <a:latin typeface="+mn-lt"/>
                          <a:ea typeface="+mn-ea"/>
                          <a:cs typeface="Times New Roman" panose="02020603050405020304" pitchFamily="18" charset="0"/>
                          <a:sym typeface="Wingdings" panose="05000000000000000000" pitchFamily="2" charset="2"/>
                        </a:rPr>
                        <a:t>Phải thay RH Wingtip và Slat #12. BOE AOG team đánh giá Wingtip và slats hỏng, không thể sủa được. TGĐ đã đồng ý bàn chào sửa chữa trọn gói (vật tư + nhân công). PTGĐ đã ký bản chào; </a:t>
                      </a:r>
                    </a:p>
                    <a:p>
                      <a:pPr marL="0" marR="0" lvl="0" indent="0" algn="l" defTabSz="914400" rtl="0" eaLnBrk="1" fontAlgn="b" latinLnBrk="0" hangingPunct="1">
                        <a:lnSpc>
                          <a:spcPct val="100000"/>
                        </a:lnSpc>
                        <a:spcBef>
                          <a:spcPts val="600"/>
                        </a:spcBef>
                        <a:spcAft>
                          <a:spcPts val="0"/>
                        </a:spcAft>
                        <a:buClrTx/>
                        <a:buSzTx/>
                        <a:buFontTx/>
                        <a:buNone/>
                        <a:tabLst>
                          <a:tab pos="173038" algn="l"/>
                        </a:tabLst>
                        <a:defRPr/>
                      </a:pPr>
                      <a:r>
                        <a:rPr lang="vi-VN" sz="1300" b="0" u="none" strike="noStrike" kern="1200" baseline="0">
                          <a:solidFill>
                            <a:schemeClr val="tx1"/>
                          </a:solidFill>
                          <a:effectLst/>
                          <a:latin typeface="+mn-lt"/>
                          <a:ea typeface="+mn-ea"/>
                          <a:cs typeface="Times New Roman" panose="02020603050405020304" pitchFamily="18" charset="0"/>
                          <a:sym typeface="Wingdings" panose="05000000000000000000" pitchFamily="2" charset="2"/>
                        </a:rPr>
                        <a:t>Dự kiến 24/7 BOE bắt đầu sửa chữa. Thời gian sửa chữa dự kiến khoảng 8 ngày. A863 tạm dừng bay hết 31/7/2025</a:t>
                      </a:r>
                      <a:r>
                        <a:rPr lang="vi-VN" sz="1300" b="1" u="none" strike="noStrike" kern="1200" baseline="0">
                          <a:solidFill>
                            <a:schemeClr val="tx1"/>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053598">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05 tàu đã nâng cấp HW (on-wing/off-wing): A891, A899, A893, A897 và A896</a:t>
                      </a:r>
                    </a:p>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KH nâng cấp SW activation 05 tàu: </a:t>
                      </a:r>
                      <a:r>
                        <a:rPr lang="en-US" sz="1400" b="1">
                          <a:solidFill>
                            <a:srgbClr val="FF0000"/>
                          </a:solidFill>
                          <a:latin typeface="Times New Roman" panose="02020603050405020304" pitchFamily="18" charset="0"/>
                          <a:cs typeface="Times New Roman" panose="02020603050405020304" pitchFamily="18" charset="0"/>
                        </a:rPr>
                        <a:t>hoàn thành A893, A899, A891, A896, A897 </a:t>
                      </a:r>
                    </a:p>
                    <a:p>
                      <a:pPr marL="176213" lvl="1" indent="-176213">
                        <a:lnSpc>
                          <a:spcPct val="130000"/>
                        </a:lnSpc>
                        <a:buFontTx/>
                        <a:buChar char="-"/>
                      </a:pPr>
                      <a:r>
                        <a:rPr lang="en-US" sz="1400" b="1">
                          <a:solidFill>
                            <a:schemeClr val="tx1"/>
                          </a:solidFill>
                          <a:latin typeface="Times New Roman" panose="02020603050405020304" pitchFamily="18" charset="0"/>
                          <a:cs typeface="Times New Roman" panose="02020603050405020304" pitchFamily="18" charset="0"/>
                        </a:rPr>
                        <a:t>Kế hoạch activate IFC:</a:t>
                      </a:r>
                      <a:r>
                        <a:rPr lang="en-US" sz="1400" b="0">
                          <a:solidFill>
                            <a:schemeClr val="tx1"/>
                          </a:solidFill>
                          <a:latin typeface="Times New Roman" panose="02020603050405020304" pitchFamily="18" charset="0"/>
                          <a:cs typeface="Times New Roman" panose="02020603050405020304" pitchFamily="18" charset="0"/>
                        </a:rPr>
                        <a:t> </a:t>
                      </a:r>
                      <a:r>
                        <a:rPr lang="en-US" sz="1400" b="1">
                          <a:solidFill>
                            <a:srgbClr val="FF0000"/>
                          </a:solidFill>
                          <a:latin typeface="Times New Roman" panose="02020603050405020304" pitchFamily="18" charset="0"/>
                          <a:cs typeface="Times New Roman" panose="02020603050405020304" pitchFamily="18" charset="0"/>
                        </a:rPr>
                        <a:t>A899 (28/7), A896 (29/7), A891 (30/7), A897 (31/7)</a:t>
                      </a:r>
                      <a:endParaRPr lang="en-US" sz="1400" b="1" dirty="0">
                        <a:solidFill>
                          <a:srgbClr val="FF0000"/>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038974"/>
                  </a:ext>
                </a:extLst>
              </a:tr>
            </a:tbl>
          </a:graphicData>
        </a:graphic>
      </p:graphicFrame>
    </p:spTree>
    <p:extLst>
      <p:ext uri="{BB962C8B-B14F-4D97-AF65-F5344CB8AC3E}">
        <p14:creationId xmlns:p14="http://schemas.microsoft.com/office/powerpoint/2010/main" val="16511032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28</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2099288309"/>
              </p:ext>
            </p:extLst>
          </p:nvPr>
        </p:nvGraphicFramePr>
        <p:xfrm>
          <a:off x="156782" y="838200"/>
          <a:ext cx="11959018" cy="5613654"/>
        </p:xfrm>
        <a:graphic>
          <a:graphicData uri="http://schemas.openxmlformats.org/drawingml/2006/table">
            <a:tbl>
              <a:tblPr>
                <a:tableStyleId>{5C22544A-7EE6-4342-B048-85BDC9FD1C3A}</a:tableStyleId>
              </a:tblPr>
              <a:tblGrid>
                <a:gridCol w="425595">
                  <a:extLst>
                    <a:ext uri="{9D8B030D-6E8A-4147-A177-3AD203B41FA5}">
                      <a16:colId xmlns:a16="http://schemas.microsoft.com/office/drawing/2014/main" val="2758273930"/>
                    </a:ext>
                  </a:extLst>
                </a:gridCol>
                <a:gridCol w="1771669">
                  <a:extLst>
                    <a:ext uri="{9D8B030D-6E8A-4147-A177-3AD203B41FA5}">
                      <a16:colId xmlns:a16="http://schemas.microsoft.com/office/drawing/2014/main" val="221963637"/>
                    </a:ext>
                  </a:extLst>
                </a:gridCol>
                <a:gridCol w="8710582">
                  <a:extLst>
                    <a:ext uri="{9D8B030D-6E8A-4147-A177-3AD203B41FA5}">
                      <a16:colId xmlns:a16="http://schemas.microsoft.com/office/drawing/2014/main" val="426833219"/>
                    </a:ext>
                  </a:extLst>
                </a:gridCol>
                <a:gridCol w="1051172">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 Giải pháp B787: </a:t>
                      </a:r>
                    </a:p>
                    <a:p>
                      <a:pPr marL="342900" marR="0" lvl="1" indent="-342900" algn="l" defTabSz="914400" rtl="0" eaLnBrk="1" fontAlgn="auto" latinLnBrk="0" hangingPunct="1">
                        <a:lnSpc>
                          <a:spcPct val="130000"/>
                        </a:lnSpc>
                        <a:spcBef>
                          <a:spcPts val="0"/>
                        </a:spcBef>
                        <a:spcAft>
                          <a:spcPts val="0"/>
                        </a:spcAft>
                        <a:buClrTx/>
                        <a:buSzTx/>
                        <a:buFontTx/>
                        <a:buAutoNum type="alphaLcPeriod"/>
                        <a:tabLst/>
                        <a:defRPr/>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Starlink: leadtime 15MO; chi phí HW&amp; SB: 1.6trUSD/tàu (Starlink yêu cầu ký cả A321 và B787) =&gt; bản chào Boeing (T8/2025)</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Safran và Intelsat: Boeing đang đánh giá chưa phê chuẩn, leadtime 24-36MO; chi phí HW&amp; SB: 1.5-1.8 trUSD/tàu</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Viasat: Boeing chưa có lộ trình phê chuẩn (leadtime – TBD); chi phí HW&amp; SB: 1.4trUSD/tàu </a:t>
                      </a:r>
                    </a:p>
                    <a:p>
                      <a:pPr marL="0" lvl="1" indent="0">
                        <a:lnSpc>
                          <a:spcPct val="130000"/>
                        </a:lnSpc>
                        <a:buFontTx/>
                        <a:buNone/>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 Giải pháp A321</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Starlink: leadtime 15MO; chi phí HW&amp; STC: 350K/tàu (Starlink yêu cầu ký cả A321 và B787)</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leadtime 12MO; chi phí HW&amp; SB: 500K/ tàu</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Safran: leadtime 12 MO; chi phí HW &amp; SB: 830K/tàu</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Skyfive A2G: leadtime 12-15 MO, chi phí HW &amp; SB: 300K/tàu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8</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CĐCH </a:t>
                      </a:r>
                      <a:r>
                        <a:rPr lang="en-US" sz="1400" b="1" dirty="0" err="1">
                          <a:solidFill>
                            <a:schemeClr val="tx1"/>
                          </a:solidFill>
                          <a:latin typeface="Times New Roman" panose="02020603050405020304" pitchFamily="18" charset="0"/>
                          <a:cs typeface="Times New Roman" panose="02020603050405020304" pitchFamily="18" charset="0"/>
                        </a:rPr>
                        <a:t>ghế</a:t>
                      </a:r>
                      <a:r>
                        <a:rPr lang="en-US" sz="1400" b="1" dirty="0">
                          <a:solidFill>
                            <a:schemeClr val="tx1"/>
                          </a:solidFill>
                          <a:latin typeface="Times New Roman" panose="02020603050405020304" pitchFamily="18" charset="0"/>
                          <a:cs typeface="Times New Roman" panose="02020603050405020304" pitchFamily="18" charset="0"/>
                        </a:rPr>
                        <a:t> 23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HĐQT đã thông quả kết quả LC NCC ghế và SB</a:t>
                      </a:r>
                    </a:p>
                    <a:p>
                      <a:pPr marL="176213" lvl="1" indent="-176213">
                        <a:lnSpc>
                          <a:spcPct val="130000"/>
                        </a:lnSpc>
                        <a:buFontTx/>
                        <a:buChar char="-"/>
                      </a:pPr>
                      <a:r>
                        <a:rPr lang="en-US" sz="1400">
                          <a:solidFill>
                            <a:schemeClr val="tx1"/>
                          </a:solidFill>
                          <a:latin typeface="Times New Roman" panose="02020603050405020304" pitchFamily="18" charset="0"/>
                          <a:cs typeface="Times New Roman" panose="02020603050405020304" pitchFamily="18" charset="0"/>
                        </a:rPr>
                        <a:t>Họp ICMT ngày 2-3 tháng 7/2025. KQ họp ICTM:</a:t>
                      </a:r>
                    </a:p>
                    <a:p>
                      <a:pPr marL="0" lvl="1" indent="0">
                        <a:lnSpc>
                          <a:spcPct val="130000"/>
                        </a:lnSpc>
                        <a:buFontTx/>
                        <a:buNone/>
                      </a:pPr>
                      <a:r>
                        <a:rPr lang="en-US" sz="1400">
                          <a:solidFill>
                            <a:schemeClr val="tx1"/>
                          </a:solidFill>
                          <a:latin typeface="Times New Roman" panose="02020603050405020304" pitchFamily="18" charset="0"/>
                          <a:cs typeface="Times New Roman" panose="02020603050405020304" pitchFamily="18" charset="0"/>
                        </a:rPr>
                        <a:t>   + Thống nhất Work scope, timeline dự án, LOPA. </a:t>
                      </a:r>
                      <a:r>
                        <a:rPr lang="en-US" sz="1400" b="1">
                          <a:solidFill>
                            <a:schemeClr val="tx1"/>
                          </a:solidFill>
                          <a:latin typeface="Times New Roman" panose="02020603050405020304" pitchFamily="18" charset="0"/>
                          <a:cs typeface="Times New Roman" panose="02020603050405020304" pitchFamily="18" charset="0"/>
                        </a:rPr>
                        <a:t>Dự kiến tàu đầu tiên thực hiện đầu tháng 12/2025</a:t>
                      </a:r>
                      <a:r>
                        <a:rPr lang="en-US" sz="1400">
                          <a:solidFill>
                            <a:schemeClr val="tx1"/>
                          </a:solidFill>
                          <a:latin typeface="Times New Roman" panose="02020603050405020304" pitchFamily="18" charset="0"/>
                          <a:cs typeface="Times New Roman" panose="02020603050405020304" pitchFamily="18" charset="0"/>
                        </a:rPr>
                        <a:t> để kịp xin phê chuẩn STC trong năm 2025 (KH thực hiện 23 tàu bay từ T12/2025 – T4/2026)</a:t>
                      </a:r>
                    </a:p>
                    <a:p>
                      <a:pPr marL="0" lvl="1" indent="0">
                        <a:lnSpc>
                          <a:spcPct val="130000"/>
                        </a:lnSpc>
                        <a:buFontTx/>
                        <a:buNone/>
                      </a:pPr>
                      <a:r>
                        <a:rPr lang="en-US" sz="1400">
                          <a:solidFill>
                            <a:schemeClr val="tx1"/>
                          </a:solidFill>
                          <a:latin typeface="Times New Roman" panose="02020603050405020304" pitchFamily="18" charset="0"/>
                          <a:cs typeface="Times New Roman" panose="02020603050405020304" pitchFamily="18" charset="0"/>
                        </a:rPr>
                        <a:t>   + Thống nhất AAR tìm P/A sử dụng used part cho tàu đầu tiên để rút ngắn leadtime; đàm phán sử dụng lại EEPL trên ghế của VNA để tiết kiệm chi phí</a:t>
                      </a:r>
                    </a:p>
                    <a:p>
                      <a:pPr marL="0" lvl="0" indent="0">
                        <a:lnSpc>
                          <a:spcPct val="130000"/>
                        </a:lnSpc>
                        <a:buFontTx/>
                        <a:buNone/>
                      </a:pPr>
                      <a:r>
                        <a:rPr lang="en-US" sz="1400">
                          <a:solidFill>
                            <a:schemeClr val="tx1"/>
                          </a:solidFill>
                          <a:latin typeface="Times New Roman" panose="02020603050405020304" pitchFamily="18" charset="0"/>
                          <a:cs typeface="Times New Roman" panose="02020603050405020304" pitchFamily="18" charset="0"/>
                        </a:rPr>
                        <a:t>-  Tổ tiếp tục triển khai các gói còn lại: vải áo ghế (đã chọn Botani), vận chuyển, thiết bị khẩn nguy để kịp timeline từ seat OEM .</a:t>
                      </a:r>
                      <a:br>
                        <a:rPr lang="en-US" sz="1400">
                          <a:solidFill>
                            <a:schemeClr val="tx1"/>
                          </a:solidFill>
                          <a:latin typeface="Times New Roman" panose="02020603050405020304" pitchFamily="18" charset="0"/>
                          <a:cs typeface="Times New Roman" panose="02020603050405020304" pitchFamily="18" charset="0"/>
                        </a:rPr>
                      </a:br>
                      <a:r>
                        <a:rPr lang="en-US" sz="1400">
                          <a:solidFill>
                            <a:schemeClr val="tx1"/>
                          </a:solidFill>
                          <a:latin typeface="Times New Roman" panose="02020603050405020304" pitchFamily="18" charset="0"/>
                          <a:cs typeface="Times New Roman" panose="02020603050405020304" pitchFamily="18" charset="0"/>
                        </a:rPr>
                        <a:t>- Triển khai ký HĐ thực hiện CĐCH với VAECO</a:t>
                      </a:r>
                      <a:endParaRPr lang="en-US" sz="140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3575203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29</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443746378"/>
              </p:ext>
            </p:extLst>
          </p:nvPr>
        </p:nvGraphicFramePr>
        <p:xfrm>
          <a:off x="156782" y="838200"/>
          <a:ext cx="11959018" cy="4781550"/>
        </p:xfrm>
        <a:graphic>
          <a:graphicData uri="http://schemas.openxmlformats.org/drawingml/2006/table">
            <a:tbl>
              <a:tblPr>
                <a:tableStyleId>{5C22544A-7EE6-4342-B048-85BDC9FD1C3A}</a:tableStyleId>
              </a:tblPr>
              <a:tblGrid>
                <a:gridCol w="425595">
                  <a:extLst>
                    <a:ext uri="{9D8B030D-6E8A-4147-A177-3AD203B41FA5}">
                      <a16:colId xmlns:a16="http://schemas.microsoft.com/office/drawing/2014/main" val="2758273930"/>
                    </a:ext>
                  </a:extLst>
                </a:gridCol>
                <a:gridCol w="1771669">
                  <a:extLst>
                    <a:ext uri="{9D8B030D-6E8A-4147-A177-3AD203B41FA5}">
                      <a16:colId xmlns:a16="http://schemas.microsoft.com/office/drawing/2014/main" val="221963637"/>
                    </a:ext>
                  </a:extLst>
                </a:gridCol>
                <a:gridCol w="8710582">
                  <a:extLst>
                    <a:ext uri="{9D8B030D-6E8A-4147-A177-3AD203B41FA5}">
                      <a16:colId xmlns:a16="http://schemas.microsoft.com/office/drawing/2014/main" val="426833219"/>
                    </a:ext>
                  </a:extLst>
                </a:gridCol>
                <a:gridCol w="1051172">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Giải pháp: </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Local mod:  tự nghiên cứu và phê chuẩn mod thực hiện</a:t>
                      </a:r>
                    </a:p>
                    <a:p>
                      <a:pPr marL="0" lvl="1" indent="0">
                        <a:lnSpc>
                          <a:spcPct val="130000"/>
                        </a:lnSpc>
                        <a:buFontTx/>
                        <a:buNone/>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VNA và VAECO đã thực hiện khảo sát và tháo các chi tiết ghế để đánh giá khả năng thực hiện local mod.</a:t>
                      </a:r>
                    </a:p>
                    <a:p>
                      <a:pPr marL="0" lvl="1" indent="0">
                        <a:lnSpc>
                          <a:spcPct val="130000"/>
                        </a:lnSpc>
                        <a:buFontTx/>
                        <a:buNone/>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=&gt; VAECO đánh giá không thể thực hiện</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Mua Mod và phê chuẩn EASA</a:t>
                      </a:r>
                    </a:p>
                    <a:p>
                      <a:pPr marL="0" lvl="1" indent="0">
                        <a:lnSpc>
                          <a:spcPct val="130000"/>
                        </a:lnSpc>
                        <a:buFontTx/>
                        <a:buNone/>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VNA đã  làm việc với một số đôi tác trong đó có OEM Safran. Hiện có DOA regent đồng ý nghiên cứu và chào phương án sửa đổi ghế C để lắp vách ngăn ghế C</a:t>
                      </a:r>
                    </a:p>
                    <a:p>
                      <a:pPr marL="0" lvl="1" indent="0">
                        <a:lnSpc>
                          <a:spcPct val="130000"/>
                        </a:lnSpc>
                        <a:buFontTx/>
                        <a:buNone/>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 VNA đã cung cấp tài liệu, ảnh chụp, video và thông tin cấu trúc ghế cho Regent </a:t>
                      </a: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=&gt; Regent đã cung cấp thiết kế. KT đang hỏi ý kiến DVHK về design vách ngăn trước khi triển khai mua giải pháp</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Đã phê chuẩn local mode cho 20 tàu A321 (thiết kế dựa trên mẫu của Boeing/Airbus)</a:t>
                      </a:r>
                    </a:p>
                    <a:p>
                      <a:pPr marL="342900" lvl="1" indent="-342900">
                        <a:lnSpc>
                          <a:spcPct val="130000"/>
                        </a:lnSpc>
                        <a:buFontTx/>
                        <a:buAutoNum type="alphaLcPeriod"/>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Đã mua vật tư đủ cho 20 tàu bay và đang triển khai lắp trên tàu bay theo nhu cầu sử dụng từ OCC. Tiến độ thực hiện: 4/20 tàu. Tàu thực hiện làm mod khi vào check</a:t>
                      </a:r>
                    </a:p>
                    <a:p>
                      <a:pPr marL="0" lvl="1" indent="0">
                        <a:lnSpc>
                          <a:spcPct val="130000"/>
                        </a:lnSpc>
                        <a:buFontTx/>
                        <a:buNone/>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=&gt; DVHK có ý kiến việc lắp rèm ảnh hưởng tới thẩm mỹ và di chuyển của hành khách. Đã tổ chức họp các đơn vị đánh giá nhu cầu, giải pháp</a:t>
                      </a:r>
                      <a:b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14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=&gt; Đang triển khai cải tiến (thu ngắn, dán placard warning trên khung rèm). Kết quả kiểm tra sửa đổi khung rèm trên tàu khả thi.</a:t>
                      </a:r>
                      <a:endPar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1838213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372671" y="76200"/>
            <a:ext cx="11487298"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702911503"/>
              </p:ext>
            </p:extLst>
          </p:nvPr>
        </p:nvGraphicFramePr>
        <p:xfrm>
          <a:off x="353817" y="648317"/>
          <a:ext cx="11487298" cy="6132697"/>
        </p:xfrm>
        <a:graphic>
          <a:graphicData uri="http://schemas.openxmlformats.org/drawingml/2006/table">
            <a:tbl>
              <a:tblPr>
                <a:tableStyleId>{5C22544A-7EE6-4342-B048-85BDC9FD1C3A}</a:tableStyleId>
              </a:tblPr>
              <a:tblGrid>
                <a:gridCol w="408808">
                  <a:extLst>
                    <a:ext uri="{9D8B030D-6E8A-4147-A177-3AD203B41FA5}">
                      <a16:colId xmlns:a16="http://schemas.microsoft.com/office/drawing/2014/main" val="3304650821"/>
                    </a:ext>
                  </a:extLst>
                </a:gridCol>
                <a:gridCol w="1701786">
                  <a:extLst>
                    <a:ext uri="{9D8B030D-6E8A-4147-A177-3AD203B41FA5}">
                      <a16:colId xmlns:a16="http://schemas.microsoft.com/office/drawing/2014/main" val="1220325190"/>
                    </a:ext>
                  </a:extLst>
                </a:gridCol>
                <a:gridCol w="8223028">
                  <a:extLst>
                    <a:ext uri="{9D8B030D-6E8A-4147-A177-3AD203B41FA5}">
                      <a16:colId xmlns:a16="http://schemas.microsoft.com/office/drawing/2014/main" val="3909604654"/>
                    </a:ext>
                  </a:extLst>
                </a:gridCol>
                <a:gridCol w="1153676">
                  <a:extLst>
                    <a:ext uri="{9D8B030D-6E8A-4147-A177-3AD203B41FA5}">
                      <a16:colId xmlns:a16="http://schemas.microsoft.com/office/drawing/2014/main" val="1269662541"/>
                    </a:ext>
                  </a:extLst>
                </a:gridCol>
              </a:tblGrid>
              <a:tr h="217662">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05361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GIA HẠN THUÊ 10 TÀU VALC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a:latin typeface="Times New Roman" panose="02020603050405020304" pitchFamily="18" charset="0"/>
                          <a:cs typeface="Times New Roman" panose="02020603050405020304" pitchFamily="18" charset="0"/>
                        </a:rPr>
                        <a:t>Thủ tục bán tàu của VALC chậm nên VNA và VALC đã đồng ý và ký kết gia hạn hợp đồng thuê tiếp 10 tàu bay A321CEO 3 tháng đến hết 30/06/2025 đang triển khai gia hạn thuê tiếp đến hết tháng 12/2025.</a:t>
                      </a:r>
                    </a:p>
                    <a:p>
                      <a:pPr algn="just">
                        <a:lnSpc>
                          <a:spcPct val="150000"/>
                        </a:lnSpc>
                      </a:pPr>
                      <a:r>
                        <a:rPr lang="en-US" sz="1300">
                          <a:latin typeface="Times New Roman" panose="02020603050405020304" pitchFamily="18" charset="0"/>
                          <a:cs typeface="Times New Roman" panose="02020603050405020304" pitchFamily="18" charset="0"/>
                        </a:rPr>
                        <a:t>Hiện tại VNA đang chờ kết quả bán tàu từ VALC, tiếp theo sẽ cần triển khai đàm phán hợp đồng thuê trong tr</a:t>
                      </a:r>
                      <a:r>
                        <a:rPr lang="vi-VN" sz="1300">
                          <a:latin typeface="+mn-lt"/>
                          <a:cs typeface="Times New Roman" panose="02020603050405020304" pitchFamily="18" charset="0"/>
                        </a:rPr>
                        <a:t>ư</a:t>
                      </a:r>
                      <a:r>
                        <a:rPr lang="en-US" sz="1300">
                          <a:latin typeface="Times New Roman" panose="02020603050405020304" pitchFamily="18" charset="0"/>
                          <a:cs typeface="Times New Roman" panose="02020603050405020304" pitchFamily="18" charset="0"/>
                        </a:rPr>
                        <a:t>ờng hợp chuyển đổi chủ sở hữu tàu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1416754"/>
                  </a:ext>
                </a:extLst>
              </a:tr>
              <a:tr h="2133821">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latin typeface="Times New Roman" panose="02020603050405020304" pitchFamily="18" charset="0"/>
                          <a:cs typeface="Times New Roman" panose="02020603050405020304" pitchFamily="18" charset="0"/>
                        </a:rPr>
                        <a:t>DỰ ÁN THUÊ KHÔ 05 TÀU GAT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just">
                        <a:lnSpc>
                          <a:spcPct val="150000"/>
                        </a:lnSpc>
                        <a:buFontTx/>
                        <a:buChar char="-"/>
                        <a:defRPr/>
                      </a:pPr>
                      <a:r>
                        <a:rPr lang="en-US" sz="1300">
                          <a:latin typeface="Times New Roman" panose="02020603050405020304" pitchFamily="18" charset="0"/>
                          <a:cs typeface="Times New Roman" panose="02020603050405020304" pitchFamily="18" charset="0"/>
                        </a:rPr>
                        <a:t>VNA đề nghị GAT chào thuê 05 tàu A321 tuy nhiên ngày 09/07/2025 GAT gửi phản hồi Matrix(chưa cập nhật thêm specs các tàu) cập nhật một số nội dung chính sau đây:</a:t>
                      </a:r>
                    </a:p>
                    <a:p>
                      <a:r>
                        <a:rPr lang="en-US" sz="1300">
                          <a:latin typeface="Times New Roman" panose="02020603050405020304" pitchFamily="18" charset="0"/>
                          <a:cs typeface="Times New Roman" panose="02020603050405020304" pitchFamily="18" charset="0"/>
                        </a:rPr>
                        <a:t>       + Bản chào bắt buộc thuê 03 tàu A320 CEO(SX 2015 giá 250K/1Mo) và 02 tàu A321(SX 2017 giá 285K/1Mo) giá rent giữ nguyên so với bản chào trước, thời gian thuê 7 năm, quỹ bảo dưỡng giảm tổng khoảng 7K/1Mo so với bản chào trước tuy nhiên tăng trượt giá từ 3,5% lên 4%. MR: GAT không đồng ý EOLC.</a:t>
                      </a:r>
                    </a:p>
                    <a:p>
                      <a:pPr algn="just">
                        <a:lnSpc>
                          <a:spcPct val="150000"/>
                        </a:lnSpc>
                        <a:defRPr/>
                      </a:pPr>
                      <a:r>
                        <a:rPr lang="en-US" sz="1300">
                          <a:latin typeface="Times New Roman" panose="02020603050405020304" pitchFamily="18" charset="0"/>
                          <a:cs typeface="Times New Roman" panose="02020603050405020304" pitchFamily="18" charset="0"/>
                        </a:rPr>
                        <a:t>       + Điều kiện nhận/ trả: Khi nhận 03 tàu A320 nhận As-is, 02 tàu A321 thực hiện C check, khi trả cả 05 tàu thực hiện clear C check. AD clearance: 6 tháng, LDG remaining: 24 tháng. Engine remaining 6000 FH/3000 FC(giảm 1000 FC so với bản chào trước) tới next SV.  </a:t>
                      </a:r>
                    </a:p>
                    <a:p>
                      <a:pPr algn="just">
                        <a:lnSpc>
                          <a:spcPct val="150000"/>
                        </a:lnSpc>
                        <a:defRPr/>
                      </a:pPr>
                      <a:r>
                        <a:rPr lang="en-US" sz="1300">
                          <a:latin typeface="Times New Roman" panose="02020603050405020304" pitchFamily="18" charset="0"/>
                          <a:cs typeface="Times New Roman" panose="02020603050405020304" pitchFamily="18" charset="0"/>
                        </a:rPr>
                        <a:t>Tổ TMTB đang trình HĐTV phương án </a:t>
                      </a:r>
                      <a:r>
                        <a:rPr lang="en-US" sz="1300" b="1">
                          <a:latin typeface="Times New Roman" panose="02020603050405020304" pitchFamily="18" charset="0"/>
                          <a:cs typeface="Times New Roman" panose="02020603050405020304" pitchFamily="18" charset="0"/>
                        </a:rPr>
                        <a:t>thuê 3 tàu A321 CEO </a:t>
                      </a:r>
                      <a:r>
                        <a:rPr lang="en-US" sz="1300">
                          <a:latin typeface="Times New Roman" panose="02020603050405020304" pitchFamily="18" charset="0"/>
                          <a:cs typeface="Times New Roman" panose="02020603050405020304" pitchFamily="18" charset="0"/>
                        </a:rPr>
                        <a:t>để bù cho 03 tàu A321 đã cho PA thuê.</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849073"/>
                  </a:ext>
                </a:extLst>
              </a:tr>
              <a:tr h="1085981">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13</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DỰ ÁN TÀU BAY FREIGHTER .</a:t>
                      </a: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just" defTabSz="914400" rtl="0" eaLnBrk="1" fontAlgn="auto" latinLnBrk="0" hangingPunct="1">
                        <a:lnSpc>
                          <a:spcPct val="100000"/>
                        </a:lnSpc>
                        <a:spcBef>
                          <a:spcPts val="0"/>
                        </a:spcBef>
                        <a:spcAft>
                          <a:spcPts val="0"/>
                        </a:spcAft>
                        <a:buClrTx/>
                        <a:buSzTx/>
                        <a:buFontTx/>
                        <a:buChar char="-"/>
                        <a:tabLst/>
                        <a:defRPr/>
                      </a:pPr>
                      <a:r>
                        <a:rPr lang="en-US" sz="1300">
                          <a:latin typeface="Times New Roman" panose="02020603050405020304" pitchFamily="18" charset="0"/>
                          <a:cs typeface="Times New Roman" panose="02020603050405020304" pitchFamily="18" charset="0"/>
                        </a:rPr>
                        <a:t>VNA triển khai dự án thuê 02 tàu bay freighter dự kiến nhận Q4/2025 và Q2/2026. Hiện có 01 tàu bay của ST Engineering đáp ứng theo tiêu chí giao quý 4/2025, không có tàu bay giao Q2/2026 đáp ứng về độ tuổi tàu bay với thời hạn thuê 8 năm. Dự kiến sẽ báo cáo thuê trước 1 tàu Q4/2025. Điều kiện nhận trả của ST tương đối chặt tương tự như nhận trả thuê tàu bay mới. Dự kiến xây dựng bản chào giảm xuống còn 6 năm để cạnh tranh hơn, điều kiện trả As-is tuy nhiên vẫn sẽ vẫn xem xét các bản chào với điều kiện trả theo đối tác offer. Đang xây dựng RFP cho cả hai phương án cùng tổ TMTB</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1085981">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14</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vi-VN" sz="1300" b="0" i="0" u="none" strike="noStrike" kern="1200" baseline="0" dirty="0">
                          <a:solidFill>
                            <a:schemeClr val="tx1"/>
                          </a:solidFill>
                          <a:effectLst/>
                          <a:latin typeface="+mn-lt"/>
                          <a:ea typeface="+mn-ea"/>
                          <a:cs typeface="Times New Roman" panose="02020603050405020304" pitchFamily="18" charset="0"/>
                        </a:rPr>
                        <a:t>DỰ ÁN THUÊ ƯỚT 02 TÀU A320</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a:latin typeface="Times New Roman" panose="02020603050405020304" pitchFamily="18" charset="0"/>
                          <a:cs typeface="Times New Roman" panose="02020603050405020304" pitchFamily="18" charset="0"/>
                        </a:rPr>
                        <a:t>- VNA thuê ướt 02 tàu bay A320 của </a:t>
                      </a:r>
                      <a:r>
                        <a:rPr lang="en-GB" sz="1300">
                          <a:latin typeface="Times New Roman" panose="02020603050405020304" pitchFamily="18" charset="0"/>
                          <a:cs typeface="Times New Roman" panose="02020603050405020304" pitchFamily="18" charset="0"/>
                        </a:rPr>
                        <a:t>SIA SMARTLYNX AIRLINES (Latvia) từ tháng 07/2025 đến tháng 12/2025. </a:t>
                      </a:r>
                      <a:r>
                        <a:rPr lang="vi-VN" sz="1300">
                          <a:latin typeface="+mn-lt"/>
                          <a:cs typeface="Times New Roman" panose="02020603050405020304" pitchFamily="18" charset="0"/>
                        </a:rPr>
                        <a:t>VNA đã tiếp nhận 02 tàu thuê ướt từ SmartLynx Airlines (SLX) vào 16/7 và 18/7. Tình trạng kỹ thuật 02 tàu bay tốt. Tuy nhiên đến hiện tại vẫn đang chờ Cục HKVN cấp chứng chỉ RCoA và FAOC cho SLX. Lí do chính  vướng mắc ở nội dung chương trình an ninh của SLX cần được A08 của Bộ CA thông qua sau đó Cục mới phê chuẩn, Trước đây nội dung phê duyệt chương trình an ninh thuộc Cục HKVN (Sau khi thay đổi bộ máy tổ chức, nội dung này chuyển về A08 Bộ CA). Hiện tại Tổ thuê mua đang phối hợp với ATCL xử lí các vướng mắc trên (Chưa rõ khi nào sẽ có phê chuẩn)</a:t>
                      </a:r>
                      <a:r>
                        <a:rPr lang="en-US" sz="1300">
                          <a:latin typeface="Times New Roman" panose="02020603050405020304" pitchFamily="18" charset="0"/>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56777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590520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32</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1912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T7-T9/2025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381000" y="592815"/>
          <a:ext cx="11811000" cy="6265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246959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33</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368842"/>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12/08/2025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21/08/2025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6891771"/>
                  </a:ext>
                </a:extLst>
              </a:tr>
              <a:tr h="195070">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20/08/2025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27/08/2025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SGN (pre 29/08)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95070">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923531"/>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5173775"/>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3592768"/>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912868"/>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012570"/>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20/11/2025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772277"/>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21/11/2025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28/11/2025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 (pre 02/12)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714181"/>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02/12/2025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0145760"/>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V16137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800963"/>
                  </a:ext>
                </a:extLst>
              </a:tr>
              <a:tr h="1950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405524"/>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Q3-Q4/2025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07169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26-28/08/2025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V16563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A363#1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04-06/09/2025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322186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04-06/09/2025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V11704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11-13/10/2025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V11696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V11933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15-17/10/2025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11893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V18371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207948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A608#2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22-24/11/2025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311390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441431"/>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12808"/>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01494"/>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19/06/2026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3305092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A321NEO</a:t>
            </a: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4300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984" y="2578785"/>
            <a:ext cx="5167083" cy="53860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AOG do thiếu động c</a:t>
            </a:r>
            <a:r>
              <a:rPr kumimoji="0" lang="vi-VN"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23027" y="3608004"/>
          <a:ext cx="5765457" cy="792480"/>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267768">
                <a:tc>
                  <a:txBody>
                    <a:bodyPr/>
                    <a:lstStyle/>
                    <a:p>
                      <a:pPr algn="ctr"/>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356452">
                <a:tc>
                  <a:txBody>
                    <a:bodyPr/>
                    <a:lstStyle/>
                    <a:p>
                      <a:r>
                        <a:rPr lang="en-US" sz="1200" b="1">
                          <a:latin typeface="Times New Roman" panose="02020603050405020304" pitchFamily="18" charset="0"/>
                          <a:cs typeface="Times New Roman" panose="02020603050405020304" pitchFamily="18" charset="0"/>
                        </a:rPr>
                        <a:t>A622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tx1"/>
                          </a:solidFill>
                          <a:latin typeface="Times New Roman" panose="02020603050405020304" pitchFamily="18" charset="0"/>
                          <a:cs typeface="Times New Roman" panose="02020603050405020304" pitchFamily="18" charset="0"/>
                        </a:rPr>
                        <a:t>Dự</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kiến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sử</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dụng</a:t>
                      </a:r>
                      <a:r>
                        <a:rPr lang="en-US" sz="1200" dirty="0">
                          <a:solidFill>
                            <a:schemeClr val="tx1"/>
                          </a:solidFill>
                          <a:latin typeface="Times New Roman" panose="02020603050405020304" pitchFamily="18" charset="0"/>
                          <a:cs typeface="Times New Roman" panose="02020603050405020304" pitchFamily="18" charset="0"/>
                        </a:rPr>
                        <a:t> 02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thuê</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của</a:t>
                      </a:r>
                      <a:r>
                        <a:rPr lang="en-US" sz="1200" dirty="0">
                          <a:solidFill>
                            <a:schemeClr val="tx1"/>
                          </a:solidFill>
                          <a:latin typeface="Times New Roman" panose="02020603050405020304" pitchFamily="18" charset="0"/>
                          <a:cs typeface="Times New Roman" panose="02020603050405020304" pitchFamily="18" charset="0"/>
                        </a:rPr>
                        <a:t> MAM. 17/07 </a:t>
                      </a:r>
                      <a:r>
                        <a:rPr lang="en-US" sz="1200" dirty="0" err="1">
                          <a:solidFill>
                            <a:schemeClr val="tx1"/>
                          </a:solidFill>
                          <a:latin typeface="Times New Roman" panose="02020603050405020304" pitchFamily="18" charset="0"/>
                          <a:cs typeface="Times New Roman" panose="02020603050405020304" pitchFamily="18" charset="0"/>
                        </a:rPr>
                        <a:t>đủ</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endParaRPr lang="en-US" sz="1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tx1"/>
                          </a:solidFill>
                          <a:latin typeface="Times New Roman" panose="02020603050405020304" pitchFamily="18" charset="0"/>
                          <a:cs typeface="Times New Roman" panose="02020603050405020304" pitchFamily="18" charset="0"/>
                        </a:rPr>
                        <a:t>Còn</a:t>
                      </a:r>
                      <a:r>
                        <a:rPr lang="en-US" sz="1200" dirty="0">
                          <a:solidFill>
                            <a:schemeClr val="tx1"/>
                          </a:solidFill>
                          <a:latin typeface="Times New Roman" panose="02020603050405020304" pitchFamily="18" charset="0"/>
                          <a:cs typeface="Times New Roman" panose="02020603050405020304" pitchFamily="18" charset="0"/>
                        </a:rPr>
                        <a:t> 10 AOG.</a:t>
                      </a:r>
                    </a:p>
                  </a:txBody>
                  <a:tcPr marL="121920" marR="121920" marT="60960" marB="60960" anchor="ctr"/>
                </a:tc>
                <a:extLst>
                  <a:ext uri="{0D108BD9-81ED-4DB2-BD59-A6C34878D82A}">
                    <a16:rowId xmlns:a16="http://schemas.microsoft.com/office/drawing/2014/main" val="1074696803"/>
                  </a:ext>
                </a:extLst>
              </a:tr>
            </a:tbl>
          </a:graphicData>
        </a:graphic>
      </p:graphicFrame>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12328" y="307436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770" y="987232"/>
            <a:ext cx="5909513" cy="1452001"/>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600"/>
              </a:spcBef>
              <a:spcAft>
                <a:spcPts val="0"/>
              </a:spcAft>
              <a:buClrTx/>
              <a:buSzTx/>
              <a:buFontTx/>
              <a:buAutoNum type="arabicPeriod"/>
              <a:tabLst/>
              <a:defRPr/>
            </a:pP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Rủi ro tháo động c</a:t>
            </a:r>
            <a:r>
              <a:rPr kumimoji="0" lang="vi-VN"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ngoài KH: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Rủi ro tháo do hỏng HPT Blade (A625 S/N P772905 &amp; A621 S/N P771710 BSI Reduced Interval 675 FH/337 FC);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A621 S/N P771710 Ground Stall; </a:t>
            </a:r>
          </a:p>
          <a:p>
            <a:pPr marL="285750" marR="0" lvl="0" indent="-285750" algn="just" defTabSz="121917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Oil leak, #3DFS worn (all fleet);</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8C24F927-43FE-43A1-80E2-A11360025336}"/>
              </a:ext>
            </a:extLst>
          </p:cNvPr>
          <p:cNvSpPr txBox="1"/>
          <p:nvPr/>
        </p:nvSpPr>
        <p:spPr>
          <a:xfrm>
            <a:off x="5860989" y="57367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23027" y="838077"/>
          <a:ext cx="5765458" cy="2321207"/>
        </p:xfrm>
        <a:graphic>
          <a:graphicData uri="http://schemas.openxmlformats.org/drawingml/2006/table">
            <a:tbl>
              <a:tblPr firstRow="1" bandRow="1">
                <a:tableStyleId>{5C22544A-7EE6-4342-B048-85BDC9FD1C3A}</a:tableStyleId>
              </a:tblPr>
              <a:tblGrid>
                <a:gridCol w="793078">
                  <a:extLst>
                    <a:ext uri="{9D8B030D-6E8A-4147-A177-3AD203B41FA5}">
                      <a16:colId xmlns:a16="http://schemas.microsoft.com/office/drawing/2014/main" val="3123040184"/>
                    </a:ext>
                  </a:extLst>
                </a:gridCol>
                <a:gridCol w="890615">
                  <a:extLst>
                    <a:ext uri="{9D8B030D-6E8A-4147-A177-3AD203B41FA5}">
                      <a16:colId xmlns:a16="http://schemas.microsoft.com/office/drawing/2014/main" val="2204338324"/>
                    </a:ext>
                  </a:extLst>
                </a:gridCol>
                <a:gridCol w="820738">
                  <a:extLst>
                    <a:ext uri="{9D8B030D-6E8A-4147-A177-3AD203B41FA5}">
                      <a16:colId xmlns:a16="http://schemas.microsoft.com/office/drawing/2014/main" val="1128924154"/>
                    </a:ext>
                  </a:extLst>
                </a:gridCol>
                <a:gridCol w="933075">
                  <a:extLst>
                    <a:ext uri="{9D8B030D-6E8A-4147-A177-3AD203B41FA5}">
                      <a16:colId xmlns:a16="http://schemas.microsoft.com/office/drawing/2014/main" val="2627377997"/>
                    </a:ext>
                  </a:extLst>
                </a:gridCol>
                <a:gridCol w="2327952">
                  <a:extLst>
                    <a:ext uri="{9D8B030D-6E8A-4147-A177-3AD203B41FA5}">
                      <a16:colId xmlns:a16="http://schemas.microsoft.com/office/drawing/2014/main" val="1687818387"/>
                    </a:ext>
                  </a:extLst>
                </a:gridCol>
              </a:tblGrid>
              <a:tr h="200582">
                <a:tc>
                  <a:txBody>
                    <a:bodyPr/>
                    <a:lstStyle/>
                    <a:p>
                      <a:pPr algn="l" rtl="0" fontAlgn="ctr"/>
                      <a:r>
                        <a:rPr lang="vi-VN" sz="1100" b="1" u="none" strike="noStrike" dirty="0">
                          <a:solidFill>
                            <a:srgbClr val="FFFFFF"/>
                          </a:solidFill>
                          <a:effectLst/>
                          <a:latin typeface="+mn-lt"/>
                        </a:rPr>
                        <a:t>Động cơ</a:t>
                      </a:r>
                      <a:endParaRPr lang="vi-VN" sz="1100" b="1" i="0" u="none" strike="noStrike" dirty="0">
                        <a:solidFill>
                          <a:srgbClr val="FFFFFF"/>
                        </a:solidFill>
                        <a:effectLst/>
                        <a:latin typeface="+mn-lt"/>
                      </a:endParaRPr>
                    </a:p>
                  </a:txBody>
                  <a:tcPr marL="47527" marR="5281" marT="5281" marB="0" anchor="ctr"/>
                </a:tc>
                <a:tc>
                  <a:txBody>
                    <a:bodyPr/>
                    <a:lstStyle/>
                    <a:p>
                      <a:pPr algn="ctr" rtl="0" fontAlgn="ctr"/>
                      <a:r>
                        <a:rPr lang="en-GB" sz="1100" b="1" u="none" strike="noStrike">
                          <a:solidFill>
                            <a:srgbClr val="FFFFFF"/>
                          </a:solidFill>
                          <a:effectLst/>
                          <a:latin typeface="+mn-lt"/>
                        </a:rPr>
                        <a:t>Induction</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Dự kiến về</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KH Sử dụng</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Remark</a:t>
                      </a:r>
                      <a:endParaRPr lang="en-GB" sz="1100" b="1" i="0" u="none" strike="noStrike">
                        <a:solidFill>
                          <a:srgbClr val="FFFFFF"/>
                        </a:solidFill>
                        <a:effectLst/>
                        <a:latin typeface="+mn-lt"/>
                      </a:endParaRPr>
                    </a:p>
                  </a:txBody>
                  <a:tcPr marL="5281" marR="5281" marT="5281" marB="0" anchor="ctr"/>
                </a:tc>
                <a:extLst>
                  <a:ext uri="{0D108BD9-81ED-4DB2-BD59-A6C34878D82A}">
                    <a16:rowId xmlns:a16="http://schemas.microsoft.com/office/drawing/2014/main" val="1673130687"/>
                  </a:ext>
                </a:extLst>
              </a:tr>
              <a:tr h="365362">
                <a:tc>
                  <a:txBody>
                    <a:bodyPr/>
                    <a:lstStyle/>
                    <a:p>
                      <a:pPr algn="ctr" rtl="0" fontAlgn="ctr"/>
                      <a:r>
                        <a:rPr lang="en-GB" sz="1100" b="0" i="0" u="none" strike="noStrike" dirty="0">
                          <a:solidFill>
                            <a:schemeClr val="tx1">
                              <a:lumMod val="85000"/>
                              <a:lumOff val="15000"/>
                            </a:schemeClr>
                          </a:solidFill>
                          <a:effectLst/>
                          <a:latin typeface="+mn-lt"/>
                        </a:rPr>
                        <a:t>2 Spare</a:t>
                      </a:r>
                    </a:p>
                    <a:p>
                      <a:pPr algn="ctr" rtl="0" fontAlgn="ctr"/>
                      <a:r>
                        <a:rPr lang="en-GB" sz="1100" b="0" i="0" u="none" strike="noStrike" baseline="0">
                          <a:solidFill>
                            <a:schemeClr val="tx1">
                              <a:lumMod val="85000"/>
                              <a:lumOff val="15000"/>
                            </a:schemeClr>
                          </a:solidFill>
                          <a:effectLst/>
                          <a:latin typeface="+mn-lt"/>
                        </a:rPr>
                        <a:t>Marathon</a:t>
                      </a:r>
                      <a:endParaRPr lang="en-GB" sz="1100" b="0" i="0" u="none" strike="noStrike" dirty="0">
                        <a:solidFill>
                          <a:schemeClr val="tx1">
                            <a:lumMod val="85000"/>
                            <a:lumOff val="15000"/>
                          </a:schemeClr>
                        </a:solidFill>
                        <a:effectLst/>
                        <a:latin typeface="+mn-lt"/>
                      </a:endParaRPr>
                    </a:p>
                  </a:txBody>
                  <a:tcPr marL="5281" marR="5281" marT="5281" marB="0" anchor="ctr"/>
                </a:tc>
                <a:tc>
                  <a:txBody>
                    <a:bodyPr/>
                    <a:lstStyle/>
                    <a:p>
                      <a:pPr algn="ctr" rtl="0" fontAlgn="ctr"/>
                      <a:r>
                        <a:rPr lang="en-GB" sz="1100" b="0" i="0" u="none" strike="noStrike" dirty="0">
                          <a:solidFill>
                            <a:schemeClr val="tx1">
                              <a:lumMod val="85000"/>
                              <a:lumOff val="15000"/>
                            </a:schemeClr>
                          </a:solidFill>
                          <a:effectLst/>
                          <a:latin typeface="+mn-lt"/>
                        </a:rPr>
                        <a:t>N/A</a:t>
                      </a:r>
                    </a:p>
                  </a:txBody>
                  <a:tcPr marL="5281" marR="5281" marT="5281" marB="0" anchor="ctr"/>
                </a:tc>
                <a:tc>
                  <a:txBody>
                    <a:bodyPr/>
                    <a:lstStyle/>
                    <a:p>
                      <a:pPr algn="ctr" rtl="0" fontAlgn="ctr"/>
                      <a:r>
                        <a:rPr lang="en-GB" sz="1100" b="0" u="none" strike="noStrike">
                          <a:solidFill>
                            <a:schemeClr val="tx1">
                              <a:lumMod val="85000"/>
                              <a:lumOff val="15000"/>
                            </a:schemeClr>
                          </a:solidFill>
                          <a:effectLst/>
                          <a:latin typeface="+mn-lt"/>
                        </a:rPr>
                        <a:t>15/07/2025</a:t>
                      </a:r>
                      <a:endParaRPr lang="en-GB" sz="1100" b="0" u="none" strike="noStrike" dirty="0">
                        <a:solidFill>
                          <a:schemeClr val="tx1">
                            <a:lumMod val="85000"/>
                            <a:lumOff val="15000"/>
                          </a:schemeClr>
                        </a:solidFill>
                        <a:effectLst/>
                        <a:latin typeface="+mn-lt"/>
                      </a:endParaRPr>
                    </a:p>
                  </a:txBody>
                  <a:tcPr marL="5281" marR="5281" marT="5281" marB="0" anchor="ctr"/>
                </a:tc>
                <a:tc>
                  <a:txBody>
                    <a:bodyPr/>
                    <a:lstStyle/>
                    <a:p>
                      <a:pPr algn="ctr" rtl="0" fontAlgn="ctr"/>
                      <a:r>
                        <a:rPr lang="en-GB" sz="1100" b="0" i="0" u="none" strike="noStrike">
                          <a:solidFill>
                            <a:schemeClr val="tx1">
                              <a:lumMod val="85000"/>
                              <a:lumOff val="15000"/>
                            </a:schemeClr>
                          </a:solidFill>
                          <a:effectLst/>
                          <a:latin typeface="+mn-lt"/>
                        </a:rPr>
                        <a:t>RTS A622</a:t>
                      </a:r>
                      <a:endParaRPr lang="en-GB" sz="1100" b="0" i="0" u="none" strike="noStrike" dirty="0">
                        <a:solidFill>
                          <a:schemeClr val="tx1">
                            <a:lumMod val="85000"/>
                            <a:lumOff val="15000"/>
                          </a:schemeClr>
                        </a:solidFill>
                        <a:effectLst/>
                        <a:latin typeface="+mn-lt"/>
                      </a:endParaRPr>
                    </a:p>
                  </a:txBody>
                  <a:tcPr marL="5281" marR="5281" marT="5281" marB="0" anchor="ctr"/>
                </a:tc>
                <a:tc>
                  <a:txBody>
                    <a:bodyPr/>
                    <a:lstStyle/>
                    <a:p>
                      <a:pPr algn="l" rtl="0" fontAlgn="ct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a16="http://schemas.microsoft.com/office/drawing/2014/main" val="10001"/>
                  </a:ext>
                </a:extLst>
              </a:tr>
              <a:tr h="375262">
                <a:tc>
                  <a:txBody>
                    <a:bodyPr/>
                    <a:lstStyle/>
                    <a:p>
                      <a:pPr algn="ctr" rtl="0" fontAlgn="ctr"/>
                      <a:r>
                        <a:rPr lang="en-GB" sz="1100" b="0" u="none" strike="noStrike">
                          <a:solidFill>
                            <a:schemeClr val="tx1"/>
                          </a:solidFill>
                          <a:effectLst/>
                          <a:latin typeface="+mn-lt"/>
                        </a:rPr>
                        <a:t>P771423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15/04/2025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30/07/2025</a:t>
                      </a:r>
                    </a:p>
                  </a:txBody>
                  <a:tcPr marL="5281" marR="5281" marT="5281" marB="0" anchor="ctr"/>
                </a:tc>
                <a:tc>
                  <a:txBody>
                    <a:bodyPr/>
                    <a:lstStyle/>
                    <a:p>
                      <a:pPr algn="ctr" rtl="0" fontAlgn="ctr"/>
                      <a:r>
                        <a:rPr lang="en-GB" sz="1100" b="0" i="0" u="none" strike="noStrike">
                          <a:solidFill>
                            <a:schemeClr val="tx1">
                              <a:lumMod val="85000"/>
                              <a:lumOff val="15000"/>
                            </a:schemeClr>
                          </a:solidFill>
                          <a:effectLst/>
                          <a:latin typeface="+mn-lt"/>
                        </a:rPr>
                        <a:t>A507#1</a:t>
                      </a:r>
                      <a:endParaRPr lang="en-GB" sz="1100" b="0" i="0" u="none" strike="noStrike" dirty="0">
                        <a:solidFill>
                          <a:schemeClr val="tx1"/>
                        </a:solidFill>
                        <a:effectLst/>
                        <a:latin typeface="+mn-lt"/>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a:solidFill>
                            <a:schemeClr val="tx1">
                              <a:lumMod val="85000"/>
                              <a:lumOff val="15000"/>
                            </a:schemeClr>
                          </a:solidFill>
                          <a:effectLst/>
                          <a:latin typeface="+mn-lt"/>
                        </a:rPr>
                        <a:t>ESN P770982 AD due 15-Aug</a:t>
                      </a: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a16="http://schemas.microsoft.com/office/drawing/2014/main" val="871960572"/>
                  </a:ext>
                </a:extLst>
              </a:tr>
              <a:tr h="365362">
                <a:tc>
                  <a:txBody>
                    <a:bodyPr/>
                    <a:lstStyle/>
                    <a:p>
                      <a:pPr algn="ctr" rtl="0" fontAlgn="ctr"/>
                      <a:r>
                        <a:rPr lang="en-GB" sz="1100" b="0" u="none" strike="noStrike">
                          <a:solidFill>
                            <a:schemeClr val="tx1"/>
                          </a:solidFill>
                          <a:effectLst/>
                          <a:latin typeface="+mn-lt"/>
                        </a:rPr>
                        <a:t>P771373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20/02/2025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04/09/2025</a:t>
                      </a:r>
                    </a:p>
                  </a:txBody>
                  <a:tcPr marL="5281" marR="5281" marT="5281" marB="0" anchor="ctr"/>
                </a:tc>
                <a:tc>
                  <a:txBody>
                    <a:bodyPr/>
                    <a:lstStyle/>
                    <a:p>
                      <a:pPr algn="ctr" rtl="0" fontAlgn="ctr"/>
                      <a:r>
                        <a:rPr lang="en-GB" sz="1100" b="0" u="none" strike="noStrike" dirty="0">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algn="l" rtl="0" fontAlgn="ctr"/>
                      <a:r>
                        <a:rPr lang="en-GB" sz="1100" b="0" i="0" u="none" strike="noStrike">
                          <a:solidFill>
                            <a:schemeClr val="tx1"/>
                          </a:solidFill>
                          <a:effectLst/>
                          <a:latin typeface="+mn-lt"/>
                        </a:rPr>
                        <a:t>Động cơ không có QEC</a:t>
                      </a:r>
                    </a:p>
                    <a:p>
                      <a:pPr algn="l" rtl="0" fontAlgn="ctr"/>
                      <a:r>
                        <a:rPr lang="en-GB" sz="1100" b="0" i="0" u="none" strike="noStrike">
                          <a:solidFill>
                            <a:schemeClr val="tx1"/>
                          </a:solidFill>
                          <a:effectLst/>
                          <a:latin typeface="+mn-lt"/>
                        </a:rPr>
                        <a:t>Cần lắp QEC tại VAECO</a:t>
                      </a:r>
                    </a:p>
                  </a:txBody>
                  <a:tcPr marL="5281" marR="5281" marT="5281" marB="0" anchor="ctr"/>
                </a:tc>
                <a:extLst>
                  <a:ext uri="{0D108BD9-81ED-4DB2-BD59-A6C34878D82A}">
                    <a16:rowId xmlns:a16="http://schemas.microsoft.com/office/drawing/2014/main" val="3042752024"/>
                  </a:ext>
                </a:extLst>
              </a:tr>
              <a:tr h="338213">
                <a:tc>
                  <a:txBody>
                    <a:bodyPr/>
                    <a:lstStyle/>
                    <a:p>
                      <a:pPr algn="ctr" rtl="0" fontAlgn="ctr"/>
                      <a:r>
                        <a:rPr lang="en-GB" sz="1100" b="0" i="0" u="none" strike="noStrike">
                          <a:solidFill>
                            <a:schemeClr val="tx1"/>
                          </a:solidFill>
                          <a:effectLst/>
                          <a:latin typeface="+mn-lt"/>
                        </a:rPr>
                        <a:t>P771079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15/05/2025</a:t>
                      </a:r>
                    </a:p>
                  </a:txBody>
                  <a:tcPr marL="5281" marR="5281" marT="5281"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algn="l" rtl="0" fontAlgn="ctr"/>
                      <a:r>
                        <a:rPr lang="en-GB" sz="1100" b="0" i="0" u="none" strike="noStrike">
                          <a:solidFill>
                            <a:schemeClr val="tx1"/>
                          </a:solidFill>
                          <a:effectLst/>
                          <a:latin typeface="+mn-lt"/>
                        </a:rPr>
                        <a:t>WSC FIV</a:t>
                      </a:r>
                    </a:p>
                  </a:txBody>
                  <a:tcPr marL="5281" marR="5281" marT="5281" marB="0" anchor="ctr"/>
                </a:tc>
                <a:extLst>
                  <a:ext uri="{0D108BD9-81ED-4DB2-BD59-A6C34878D82A}">
                    <a16:rowId xmlns:a16="http://schemas.microsoft.com/office/drawing/2014/main" val="3826051407"/>
                  </a:ext>
                </a:extLst>
              </a:tr>
              <a:tr h="338213">
                <a:tc>
                  <a:txBody>
                    <a:bodyPr/>
                    <a:lstStyle/>
                    <a:p>
                      <a:pPr algn="ctr" rtl="0" fontAlgn="ctr"/>
                      <a:r>
                        <a:rPr lang="en-GB" sz="1100" b="0" i="0" u="none" strike="noStrike">
                          <a:solidFill>
                            <a:schemeClr val="tx1"/>
                          </a:solidFill>
                          <a:effectLst/>
                          <a:latin typeface="+mn-lt"/>
                        </a:rPr>
                        <a:t>P771119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17/06/2025</a:t>
                      </a:r>
                    </a:p>
                  </a:txBody>
                  <a:tcPr marL="5281" marR="5281" marT="5281"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mn-lt"/>
                          <a:ea typeface="+mn-ea"/>
                          <a:cs typeface="+mn-cs"/>
                        </a:rPr>
                        <a:t>WSC FIV</a:t>
                      </a:r>
                    </a:p>
                  </a:txBody>
                  <a:tcPr marL="5281" marR="5281" marT="5281" marB="0" anchor="ctr"/>
                </a:tc>
                <a:extLst>
                  <a:ext uri="{0D108BD9-81ED-4DB2-BD59-A6C34878D82A}">
                    <a16:rowId xmlns:a16="http://schemas.microsoft.com/office/drawing/2014/main" val="2247301018"/>
                  </a:ext>
                </a:extLst>
              </a:tr>
              <a:tr h="338213">
                <a:tc>
                  <a:txBody>
                    <a:bodyPr/>
                    <a:lstStyle/>
                    <a:p>
                      <a:pPr algn="ctr" rtl="0" fontAlgn="ctr"/>
                      <a:r>
                        <a:rPr lang="en-GB" sz="1100" b="0" i="0" u="none" strike="noStrike">
                          <a:solidFill>
                            <a:schemeClr val="tx1"/>
                          </a:solidFill>
                          <a:effectLst/>
                          <a:latin typeface="+mn-lt"/>
                        </a:rPr>
                        <a:t>P771463</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19/06/2025</a:t>
                      </a:r>
                    </a:p>
                  </a:txBody>
                  <a:tcPr marL="5281" marR="5281" marT="5281"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mn-lt"/>
                          <a:ea typeface="+mn-ea"/>
                          <a:cs typeface="+mn-cs"/>
                        </a:rPr>
                        <a:t>WSC FIV</a:t>
                      </a:r>
                    </a:p>
                  </a:txBody>
                  <a:tcPr marL="5281" marR="5281" marT="5281" marB="0" anchor="ctr"/>
                </a:tc>
                <a:extLst>
                  <a:ext uri="{0D108BD9-81ED-4DB2-BD59-A6C34878D82A}">
                    <a16:rowId xmlns:a16="http://schemas.microsoft.com/office/drawing/2014/main" val="784712550"/>
                  </a:ext>
                </a:extLst>
              </a:tr>
            </a:tbl>
          </a:graphicData>
        </a:graphic>
      </p:graphicFrame>
      <p:sp>
        <p:nvSpPr>
          <p:cNvPr id="14" name="TextBox 13">
            <a:extLst>
              <a:ext uri="{FF2B5EF4-FFF2-40B4-BE49-F238E27FC236}">
                <a16:creationId xmlns:a16="http://schemas.microsoft.com/office/drawing/2014/main" id="{3665DF89-9C1E-039A-24B3-2AC39417A7A0}"/>
              </a:ext>
            </a:extLst>
          </p:cNvPr>
          <p:cNvSpPr txBox="1"/>
          <p:nvPr/>
        </p:nvSpPr>
        <p:spPr>
          <a:xfrm>
            <a:off x="26894" y="3238671"/>
            <a:ext cx="583409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8" name="TextBox 17">
            <a:extLst>
              <a:ext uri="{FF2B5EF4-FFF2-40B4-BE49-F238E27FC236}">
                <a16:creationId xmlns:a16="http://schemas.microsoft.com/office/drawing/2014/main" id="{CC5E228E-E3EC-4098-B50D-0EB6E35D60A1}"/>
              </a:ext>
            </a:extLst>
          </p:cNvPr>
          <p:cNvSpPr txBox="1"/>
          <p:nvPr/>
        </p:nvSpPr>
        <p:spPr>
          <a:xfrm>
            <a:off x="0" y="4564471"/>
            <a:ext cx="6266703"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en-US" b="1">
                <a:solidFill>
                  <a:srgbClr val="002060"/>
                </a:solidFill>
                <a:latin typeface="Times New Roman" panose="02020603050405020304" pitchFamily="18" charset="0"/>
                <a:cs typeface="Times New Roman" panose="02020603050405020304" pitchFamily="18" charset="0"/>
              </a:rPr>
              <a:t>giữ giờ phục vụ CĐ tết 2026</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9" name="TextBox 18">
            <a:extLst>
              <a:ext uri="{FF2B5EF4-FFF2-40B4-BE49-F238E27FC236}">
                <a16:creationId xmlns:a16="http://schemas.microsoft.com/office/drawing/2014/main" id="{646654A8-2338-4BFD-A6E9-33BD153433BE}"/>
              </a:ext>
            </a:extLst>
          </p:cNvPr>
          <p:cNvSpPr txBox="1"/>
          <p:nvPr/>
        </p:nvSpPr>
        <p:spPr>
          <a:xfrm>
            <a:off x="163789" y="5041777"/>
            <a:ext cx="5737176" cy="1538883"/>
          </a:xfrm>
          <a:prstGeom prst="rect">
            <a:avLst/>
          </a:prstGeom>
          <a:solidFill>
            <a:schemeClr val="accent4">
              <a:lumMod val="40000"/>
              <a:lumOff val="60000"/>
            </a:schemeClr>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just" defTabSz="1219170" rtl="0" eaLnBrk="1" fontAlgn="auto" latinLnBrk="0" hangingPunct="1">
              <a:lnSpc>
                <a:spcPct val="100000"/>
              </a:lnSpc>
              <a:spcBef>
                <a:spcPts val="600"/>
              </a:spcBef>
              <a:spcAft>
                <a:spcPts val="0"/>
              </a:spcAft>
              <a:buClrTx/>
              <a:buSzTx/>
              <a:buFont typeface="+mj-lt"/>
              <a:buAutoNum type="arabicPeriod"/>
              <a:tabLst/>
              <a:defRPr/>
            </a:pPr>
            <a:r>
              <a:rPr lang="en-US" sz="1400">
                <a:solidFill>
                  <a:prstClr val="black"/>
                </a:solidFill>
                <a:latin typeface="Times New Roman" panose="02020603050405020304" pitchFamily="18" charset="0"/>
                <a:cs typeface="Times New Roman" panose="02020603050405020304" pitchFamily="18" charset="0"/>
              </a:rPr>
              <a:t>Swap động cơ A621#2 với A625#1. A621 sẽ dừng giữ 50-70 FC từ đầu Tháng 8, A625 tiếp tục khai thác. Dự kiến thực hiện 23-24/7.</a:t>
            </a:r>
          </a:p>
          <a:p>
            <a:pPr marL="342900" marR="0" lvl="0" indent="-342900" algn="just" defTabSz="1219170" rtl="0" eaLnBrk="1" fontAlgn="auto" latinLnBrk="0" hangingPunct="1">
              <a:lnSpc>
                <a:spcPct val="100000"/>
              </a:lnSpc>
              <a:spcBef>
                <a:spcPts val="600"/>
              </a:spcBef>
              <a:spcAft>
                <a:spcPts val="0"/>
              </a:spcAft>
              <a:buClrTx/>
              <a:buSzTx/>
              <a:buFont typeface="+mj-lt"/>
              <a:buAutoNum type="arabicPeriod"/>
              <a:tabLst/>
              <a:defRPr/>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a:t>
            </a:r>
            <a:r>
              <a:rPr lang="en-US" sz="1400">
                <a:solidFill>
                  <a:prstClr val="black"/>
                </a:solidFill>
                <a:latin typeface="Times New Roman" panose="02020603050405020304" pitchFamily="18" charset="0"/>
                <a:cs typeface="Times New Roman" panose="02020603050405020304" pitchFamily="18" charset="0"/>
              </a:rPr>
              <a:t>áo giữ giờ động cơ A507#1 ESN P770982 ~ 100 FC. Dk thực hiện 2/8.</a:t>
            </a:r>
          </a:p>
          <a:p>
            <a:pPr marL="342900" marR="0" lvl="0" indent="-342900" algn="just" defTabSz="1219170" rtl="0" eaLnBrk="1" fontAlgn="auto" latinLnBrk="0" hangingPunct="1">
              <a:lnSpc>
                <a:spcPct val="100000"/>
              </a:lnSpc>
              <a:spcBef>
                <a:spcPts val="600"/>
              </a:spcBef>
              <a:spcAft>
                <a:spcPts val="0"/>
              </a:spcAft>
              <a:buClrTx/>
              <a:buSzTx/>
              <a:buFont typeface="+mj-lt"/>
              <a:buAutoNum type="arabicPeriod"/>
              <a:tabLst/>
              <a:defRPr/>
            </a:pP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Tháo giữ giờ động cơ A619#1 ESN P771056 ~ 1 tháng. Dk thực hiện T9-T12 khi có động cơ lẻ từ shop về.</a:t>
            </a:r>
          </a:p>
        </p:txBody>
      </p:sp>
    </p:spTree>
    <p:extLst>
      <p:ext uri="{BB962C8B-B14F-4D97-AF65-F5344CB8AC3E}">
        <p14:creationId xmlns:p14="http://schemas.microsoft.com/office/powerpoint/2010/main" val="2293877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35</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35</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5"/>
          <a:ext cx="5855025" cy="3231035"/>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4539352"/>
            <a:ext cx="6054134" cy="1815882"/>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00" b="1" dirty="0" err="1">
                <a:solidFill>
                  <a:schemeClr val="tx1"/>
                </a:solidFill>
                <a:latin typeface="Times New Roman" panose="02020603050405020304" pitchFamily="18" charset="0"/>
                <a:cs typeface="Times New Roman" panose="02020603050405020304" pitchFamily="18" charset="0"/>
              </a:rPr>
              <a:t>Động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cơ</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dự</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phòng</a:t>
            </a:r>
            <a:r>
              <a:rPr lang="en-US" sz="1400" b="1" dirty="0">
                <a:solidFill>
                  <a:schemeClr val="tx1"/>
                </a:solidFill>
                <a:latin typeface="Times New Roman" panose="02020603050405020304" pitchFamily="18" charset="0"/>
                <a:cs typeface="Times New Roman" panose="02020603050405020304" pitchFamily="18" charset="0"/>
              </a:rPr>
              <a:t>:</a:t>
            </a:r>
            <a:r>
              <a:rPr lang="en-US" sz="1400" dirty="0">
                <a:solidFill>
                  <a:schemeClr val="tx1"/>
                </a:solidFill>
                <a:latin typeface="Times New Roman" panose="02020603050405020304" pitchFamily="18" charset="0"/>
                <a:cs typeface="Times New Roman" panose="02020603050405020304" pitchFamily="18" charset="0"/>
              </a:rPr>
              <a:t> 956569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về</a:t>
            </a:r>
            <a:r>
              <a:rPr lang="en-US" sz="1400" dirty="0">
                <a:solidFill>
                  <a:schemeClr val="tx1"/>
                </a:solidFill>
                <a:latin typeface="Times New Roman" panose="02020603050405020304" pitchFamily="18" charset="0"/>
                <a:cs typeface="Times New Roman" panose="02020603050405020304" pitchFamily="18" charset="0"/>
              </a:rPr>
              <a:t> SGN, 15/7 </a:t>
            </a:r>
            <a:r>
              <a:rPr lang="en-US" sz="1400" dirty="0" err="1">
                <a:solidFill>
                  <a:schemeClr val="tx1"/>
                </a:solidFill>
                <a:latin typeface="Times New Roman" panose="02020603050405020304" pitchFamily="18" charset="0"/>
                <a:cs typeface="Times New Roman" panose="02020603050405020304" pitchFamily="18" charset="0"/>
              </a:rPr>
              <a:t>dùng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cho</a:t>
            </a:r>
            <a:r>
              <a:rPr lang="en-US" sz="1400" dirty="0">
                <a:solidFill>
                  <a:schemeClr val="tx1"/>
                </a:solidFill>
                <a:latin typeface="Times New Roman" panose="02020603050405020304" pitchFamily="18" charset="0"/>
                <a:cs typeface="Times New Roman" panose="02020603050405020304" pitchFamily="18" charset="0"/>
              </a:rPr>
              <a:t> A873</a:t>
            </a:r>
          </a:p>
          <a:p>
            <a:pPr marL="380990" indent="-380990" defTabSz="1219170">
              <a:buFontTx/>
              <a:buChar char="-"/>
              <a:defRPr/>
            </a:pPr>
            <a:r>
              <a:rPr lang="en-US" sz="1400" b="1" dirty="0" err="1">
                <a:solidFill>
                  <a:schemeClr val="tx1"/>
                </a:solidFill>
                <a:latin typeface="Times New Roman" panose="02020603050405020304" pitchFamily="18" charset="0"/>
                <a:cs typeface="Times New Roman" panose="02020603050405020304" pitchFamily="18" charset="0"/>
              </a:rPr>
              <a:t>Động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cơ</a:t>
            </a:r>
            <a:r>
              <a:rPr lang="en-US" sz="1400" b="1" dirty="0">
                <a:solidFill>
                  <a:schemeClr val="tx1"/>
                </a:solidFill>
                <a:latin typeface="Times New Roman" panose="02020603050405020304" pitchFamily="18" charset="0"/>
                <a:cs typeface="Times New Roman" panose="02020603050405020304" pitchFamily="18" charset="0"/>
              </a:rPr>
              <a:t> on-watch &amp; </a:t>
            </a:r>
            <a:r>
              <a:rPr lang="en-US" sz="1400" b="1" dirty="0" err="1">
                <a:solidFill>
                  <a:schemeClr val="tx1"/>
                </a:solidFill>
                <a:latin typeface="Times New Roman" panose="02020603050405020304" pitchFamily="18" charset="0"/>
                <a:cs typeface="Times New Roman" panose="02020603050405020304" pitchFamily="18" charset="0"/>
              </a:rPr>
              <a:t>Hạn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chế</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khai</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thác</a:t>
            </a:r>
            <a:r>
              <a:rPr lang="en-US" sz="1400"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00" dirty="0">
                <a:solidFill>
                  <a:schemeClr val="tx1"/>
                </a:solidFill>
                <a:cs typeface="Times New Roman" panose="02020603050405020304" pitchFamily="18" charset="0"/>
              </a:rPr>
              <a:t>6</a:t>
            </a:r>
            <a:r>
              <a:rPr lang="en-US" sz="1400">
                <a:solidFill>
                  <a:schemeClr val="tx1"/>
                </a:solidFill>
                <a:cs typeface="Times New Roman" panose="02020603050405020304" pitchFamily="18" charset="0"/>
              </a:rPr>
              <a:t> </a:t>
            </a:r>
            <a:r>
              <a:rPr lang="en-US" sz="1400" dirty="0" err="1">
                <a:solidFill>
                  <a:schemeClr val="tx1"/>
                </a:solidFill>
                <a:cs typeface="Times New Roman" panose="02020603050405020304" pitchFamily="18" charset="0"/>
              </a:rPr>
              <a:t>động</a:t>
            </a:r>
            <a:r>
              <a:rPr lang="en-US" sz="1400" dirty="0">
                <a:solidFill>
                  <a:schemeClr val="tx1"/>
                </a:solidFill>
                <a:cs typeface="Times New Roman" panose="02020603050405020304" pitchFamily="18" charset="0"/>
              </a:rPr>
              <a:t> c</a:t>
            </a:r>
            <a:r>
              <a:rPr lang="vi-VN" sz="1400" dirty="0">
                <a:solidFill>
                  <a:schemeClr val="tx1"/>
                </a:solidFill>
                <a:cs typeface="Times New Roman" panose="02020603050405020304" pitchFamily="18" charset="0"/>
              </a:rPr>
              <a:t>ơ</a:t>
            </a:r>
            <a:r>
              <a:rPr lang="en-US" sz="1400" dirty="0">
                <a:solidFill>
                  <a:schemeClr val="tx1"/>
                </a:solidFill>
                <a:cs typeface="Times New Roman" panose="02020603050405020304" pitchFamily="18" charset="0"/>
              </a:rPr>
              <a:t> on-watch 50 – 250FC</a:t>
            </a:r>
          </a:p>
          <a:p>
            <a:pPr marL="380990" indent="-380990" defTabSz="1219170">
              <a:buFontTx/>
              <a:buChar char="-"/>
              <a:defRPr/>
            </a:pPr>
            <a:r>
              <a:rPr lang="en-US" sz="1400" b="1">
                <a:solidFill>
                  <a:schemeClr val="tx1"/>
                </a:solidFill>
                <a:latin typeface="Times New Roman" panose="02020603050405020304" pitchFamily="18" charset="0"/>
                <a:cs typeface="Times New Roman" panose="02020603050405020304" pitchFamily="18" charset="0"/>
              </a:rPr>
              <a:t>Rủi </a:t>
            </a:r>
            <a:r>
              <a:rPr lang="en-US" sz="1400" b="1" dirty="0" err="1">
                <a:solidFill>
                  <a:schemeClr val="tx1"/>
                </a:solidFill>
                <a:latin typeface="Times New Roman" panose="02020603050405020304" pitchFamily="18" charset="0"/>
                <a:cs typeface="Times New Roman" panose="02020603050405020304" pitchFamily="18" charset="0"/>
              </a:rPr>
              <a:t>ro</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và</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công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trọng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điểm</a:t>
            </a:r>
            <a:r>
              <a:rPr lang="en-US" sz="1400" b="1" dirty="0">
                <a:solidFill>
                  <a:schemeClr val="tx1"/>
                </a:solidFill>
                <a:latin typeface="Times New Roman" panose="02020603050405020304" pitchFamily="18" charset="0"/>
                <a:cs typeface="Times New Roman" panose="02020603050405020304" pitchFamily="18" charset="0"/>
              </a:rPr>
              <a:t> 2H 2025:</a:t>
            </a:r>
            <a:endParaRPr lang="en-US" sz="1400"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00" dirty="0">
                <a:solidFill>
                  <a:schemeClr val="tx1"/>
                </a:solidFill>
                <a:latin typeface="Times New Roman" panose="02020603050405020304" pitchFamily="18" charset="0"/>
                <a:cs typeface="Times New Roman" panose="02020603050405020304" pitchFamily="18" charset="0"/>
              </a:rPr>
              <a:t>Các </a:t>
            </a:r>
            <a:r>
              <a:rPr lang="en-US" sz="1400" dirty="0" err="1">
                <a:solidFill>
                  <a:schemeClr val="tx1"/>
                </a:solidFill>
                <a:latin typeface="Times New Roman" panose="02020603050405020304" pitchFamily="18" charset="0"/>
                <a:cs typeface="Times New Roman" panose="02020603050405020304" pitchFamily="18" charset="0"/>
              </a:rPr>
              <a:t>động</a:t>
            </a:r>
            <a:r>
              <a:rPr lang="en-US" sz="1400" dirty="0">
                <a:solidFill>
                  <a:schemeClr val="tx1"/>
                </a:solidFill>
                <a:latin typeface="Times New Roman" panose="02020603050405020304" pitchFamily="18" charset="0"/>
                <a:cs typeface="Times New Roman" panose="02020603050405020304" pitchFamily="18" charset="0"/>
              </a:rPr>
              <a:t> c</a:t>
            </a:r>
            <a:r>
              <a:rPr lang="vi-VN" sz="1400" dirty="0">
                <a:solidFill>
                  <a:schemeClr val="tx1"/>
                </a:solidFill>
                <a:latin typeface="Times New Roman" panose="02020603050405020304" pitchFamily="18" charset="0"/>
                <a:cs typeface="Times New Roman" panose="02020603050405020304" pitchFamily="18" charset="0"/>
              </a:rPr>
              <a:t>ơ</a:t>
            </a:r>
            <a:r>
              <a:rPr lang="en-US" sz="1400" dirty="0">
                <a:solidFill>
                  <a:schemeClr val="tx1"/>
                </a:solidFill>
                <a:latin typeface="Times New Roman" panose="02020603050405020304" pitchFamily="18" charset="0"/>
                <a:cs typeface="Times New Roman" panose="02020603050405020304" pitchFamily="18" charset="0"/>
              </a:rPr>
              <a:t> on-watch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rủi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ro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sớm</a:t>
            </a:r>
            <a:r>
              <a:rPr lang="en-US" sz="1400" dirty="0">
                <a:solidFill>
                  <a:schemeClr val="tx1"/>
                </a:solidFill>
                <a:latin typeface="Times New Roman" panose="02020603050405020304" pitchFamily="18" charset="0"/>
                <a:cs typeface="Times New Roman" panose="02020603050405020304" pitchFamily="18" charset="0"/>
              </a:rPr>
              <a:t>. Các </a:t>
            </a:r>
            <a:r>
              <a:rPr lang="en-US" sz="1400" dirty="0" err="1">
                <a:solidFill>
                  <a:schemeClr val="tx1"/>
                </a:solidFill>
                <a:latin typeface="Times New Roman" panose="02020603050405020304" pitchFamily="18" charset="0"/>
                <a:cs typeface="Times New Roman" panose="02020603050405020304" pitchFamily="18" charset="0"/>
              </a:rPr>
              <a:t>động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cơ</a:t>
            </a:r>
            <a:r>
              <a:rPr lang="en-US" sz="1400" dirty="0">
                <a:solidFill>
                  <a:schemeClr val="tx1"/>
                </a:solidFill>
                <a:latin typeface="Times New Roman" panose="02020603050405020304" pitchFamily="18" charset="0"/>
                <a:cs typeface="Times New Roman" panose="02020603050405020304" pitchFamily="18" charset="0"/>
              </a:rPr>
              <a:t> spare </a:t>
            </a:r>
            <a:r>
              <a:rPr lang="en-US" sz="1400" dirty="0" err="1">
                <a:solidFill>
                  <a:schemeClr val="tx1"/>
                </a:solidFill>
                <a:latin typeface="Times New Roman" panose="02020603050405020304" pitchFamily="18" charset="0"/>
                <a:cs typeface="Times New Roman" panose="02020603050405020304" pitchFamily="18" charset="0"/>
              </a:rPr>
              <a:t>sẽ</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về</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lượt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tháng</a:t>
            </a:r>
            <a:r>
              <a:rPr lang="en-US" sz="1400" dirty="0">
                <a:solidFill>
                  <a:schemeClr val="tx1"/>
                </a:solidFill>
                <a:latin typeface="Times New Roman" panose="02020603050405020304" pitchFamily="18" charset="0"/>
                <a:cs typeface="Times New Roman" panose="02020603050405020304" pitchFamily="18" charset="0"/>
              </a:rPr>
              <a:t> 7– 9 </a:t>
            </a:r>
            <a:r>
              <a:rPr lang="en-US" sz="1400" dirty="0" err="1">
                <a:solidFill>
                  <a:schemeClr val="tx1"/>
                </a:solidFill>
                <a:latin typeface="Times New Roman" panose="02020603050405020304" pitchFamily="18" charset="0"/>
                <a:cs typeface="Times New Roman" panose="02020603050405020304" pitchFamily="18" charset="0"/>
              </a:rPr>
              <a:t>tuy</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nhiên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thể</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delay. </a:t>
            </a:r>
          </a:p>
          <a:p>
            <a:pPr marL="548640" indent="-182880">
              <a:buFont typeface="Wingdings" panose="05000000000000000000" pitchFamily="2" charset="2"/>
              <a:buChar char="§"/>
              <a:defRPr/>
            </a:pPr>
            <a:r>
              <a:rPr lang="en-US" sz="1400" dirty="0">
                <a:solidFill>
                  <a:schemeClr val="tx1"/>
                </a:solidFill>
                <a:latin typeface="Times New Roman" panose="02020603050405020304" pitchFamily="18" charset="0"/>
                <a:cs typeface="Times New Roman" panose="02020603050405020304" pitchFamily="18" charset="0"/>
              </a:rPr>
              <a:t>958266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lịch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trả</a:t>
            </a:r>
            <a:r>
              <a:rPr lang="en-US" sz="1400" dirty="0">
                <a:solidFill>
                  <a:schemeClr val="tx1"/>
                </a:solidFill>
                <a:latin typeface="Times New Roman" panose="02020603050405020304" pitchFamily="18" charset="0"/>
                <a:cs typeface="Times New Roman" panose="02020603050405020304" pitchFamily="18" charset="0"/>
              </a:rPr>
              <a:t> T9/2025 –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dùng</a:t>
            </a:r>
            <a:r>
              <a:rPr lang="en-US" sz="1400" dirty="0">
                <a:solidFill>
                  <a:schemeClr val="tx1"/>
                </a:solidFill>
                <a:latin typeface="Times New Roman" panose="02020603050405020304" pitchFamily="18" charset="0"/>
                <a:cs typeface="Times New Roman" panose="02020603050405020304" pitchFamily="18" charset="0"/>
              </a:rPr>
              <a:t> spare </a:t>
            </a:r>
            <a:r>
              <a:rPr lang="en-US" sz="1400" dirty="0" err="1">
                <a:solidFill>
                  <a:schemeClr val="tx1"/>
                </a:solidFill>
                <a:latin typeface="Times New Roman" panose="02020603050405020304" pitchFamily="18" charset="0"/>
                <a:cs typeface="Times New Roman" panose="02020603050405020304" pitchFamily="18" charset="0"/>
              </a:rPr>
              <a:t>đổi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Aercap</a:t>
            </a:r>
            <a:r>
              <a:rPr lang="en-US" sz="1400" dirty="0">
                <a:solidFill>
                  <a:schemeClr val="tx1"/>
                </a:solidFill>
                <a:latin typeface="Times New Roman" panose="02020603050405020304" pitchFamily="18" charset="0"/>
                <a:cs typeface="Times New Roman" panose="02020603050405020304" pitchFamily="18" charset="0"/>
              </a:rPr>
              <a:t> </a:t>
            </a:r>
            <a:r>
              <a:rPr lang="en-US" sz="1400" err="1">
                <a:solidFill>
                  <a:schemeClr val="tx1"/>
                </a:solidFill>
                <a:latin typeface="Times New Roman" panose="02020603050405020304" pitchFamily="18" charset="0"/>
                <a:cs typeface="Times New Roman" panose="02020603050405020304" pitchFamily="18" charset="0"/>
              </a:rPr>
              <a:t>vào</a:t>
            </a:r>
            <a:r>
              <a:rPr lang="en-US" sz="1400">
                <a:solidFill>
                  <a:schemeClr val="tx1"/>
                </a:solidFill>
                <a:latin typeface="Times New Roman" panose="02020603050405020304" pitchFamily="18" charset="0"/>
                <a:cs typeface="Times New Roman" panose="02020603050405020304" pitchFamily="18" charset="0"/>
              </a:rPr>
              <a:t> 17/08</a:t>
            </a:r>
          </a:p>
          <a:p>
            <a:pPr marL="548640" indent="-182880">
              <a:buFont typeface="Wingdings" panose="05000000000000000000" pitchFamily="2" charset="2"/>
              <a:buChar char="§"/>
              <a:defRPr/>
            </a:pPr>
            <a:r>
              <a:rPr lang="en-US" sz="1400">
                <a:solidFill>
                  <a:schemeClr val="tx1"/>
                </a:solidFill>
                <a:latin typeface="Times New Roman" panose="02020603050405020304" pitchFamily="18" charset="0"/>
                <a:cs typeface="Times New Roman" panose="02020603050405020304" pitchFamily="18" charset="0"/>
              </a:rPr>
              <a:t>Tháo trả 2 spare trong T11-T12</a:t>
            </a:r>
            <a:endParaRPr lang="en-US" sz="1400"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054135" cy="3231034"/>
        </p:xfrm>
        <a:graphic>
          <a:graphicData uri="http://schemas.openxmlformats.org/drawingml/2006/table">
            <a:tbl>
              <a:tblPr firstRow="1" bandRow="1">
                <a:tableStyleId>{7DF18680-E054-41AD-8BC1-D1AEF772440D}</a:tableStyleId>
              </a:tblPr>
              <a:tblGrid>
                <a:gridCol w="679825">
                  <a:extLst>
                    <a:ext uri="{9D8B030D-6E8A-4147-A177-3AD203B41FA5}">
                      <a16:colId xmlns:a16="http://schemas.microsoft.com/office/drawing/2014/main" val="1598605427"/>
                    </a:ext>
                  </a:extLst>
                </a:gridCol>
                <a:gridCol w="668877">
                  <a:extLst>
                    <a:ext uri="{9D8B030D-6E8A-4147-A177-3AD203B41FA5}">
                      <a16:colId xmlns:a16="http://schemas.microsoft.com/office/drawing/2014/main" val="3845954792"/>
                    </a:ext>
                  </a:extLst>
                </a:gridCol>
                <a:gridCol w="923652">
                  <a:extLst>
                    <a:ext uri="{9D8B030D-6E8A-4147-A177-3AD203B41FA5}">
                      <a16:colId xmlns:a16="http://schemas.microsoft.com/office/drawing/2014/main" val="3803391337"/>
                    </a:ext>
                  </a:extLst>
                </a:gridCol>
                <a:gridCol w="1636438">
                  <a:extLst>
                    <a:ext uri="{9D8B030D-6E8A-4147-A177-3AD203B41FA5}">
                      <a16:colId xmlns:a16="http://schemas.microsoft.com/office/drawing/2014/main" val="2148822928"/>
                    </a:ext>
                  </a:extLst>
                </a:gridCol>
                <a:gridCol w="955635">
                  <a:extLst>
                    <a:ext uri="{9D8B030D-6E8A-4147-A177-3AD203B41FA5}">
                      <a16:colId xmlns:a16="http://schemas.microsoft.com/office/drawing/2014/main" val="1106888684"/>
                    </a:ext>
                  </a:extLst>
                </a:gridCol>
                <a:gridCol w="1189708">
                  <a:extLst>
                    <a:ext uri="{9D8B030D-6E8A-4147-A177-3AD203B41FA5}">
                      <a16:colId xmlns:a16="http://schemas.microsoft.com/office/drawing/2014/main" val="558551088"/>
                    </a:ext>
                  </a:extLst>
                </a:gridCol>
              </a:tblGrid>
              <a:tr h="523854">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a:solidFill>
                            <a:schemeClr val="bg1"/>
                          </a:solidFill>
                          <a:effectLst/>
                          <a:latin typeface="+mn-lt"/>
                        </a:rPr>
                        <a:t>Status</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70718">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T2/2026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70718">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a:solidFill>
                            <a:schemeClr val="tx1"/>
                          </a:solidFill>
                          <a:effectLst/>
                          <a:latin typeface="+mn-lt"/>
                          <a:cs typeface="Times New Roman" panose="02020603050405020304" pitchFamily="18" charset="0"/>
                        </a:rPr>
                        <a:t>Ship</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 25/08/2025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T4/2026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70718">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24/06/2025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T2/2026</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270718">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Finish: 18/07/2025</a:t>
                      </a:r>
                    </a:p>
                  </a:txBody>
                  <a:tcPr marL="12700" marR="12700" marT="12700" marB="0" anchor="ctr"/>
                </a:tc>
                <a:tc>
                  <a:txBody>
                    <a:bodyPr/>
                    <a:lstStyle/>
                    <a:p>
                      <a:pPr algn="ctr" fontAlgn="ctr"/>
                      <a:r>
                        <a:rPr lang="en-US" sz="1200" b="0" i="0" u="none" strike="noStrike">
                          <a:solidFill>
                            <a:schemeClr val="tx1"/>
                          </a:solidFill>
                          <a:effectLst/>
                          <a:latin typeface="+mn-lt"/>
                          <a:cs typeface="Times New Roman" panose="02020603050405020304" pitchFamily="18" charset="0"/>
                        </a:rPr>
                        <a:t>25/07/25</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chemeClr val="tx1"/>
                          </a:solidFill>
                          <a:effectLst/>
                          <a:latin typeface="+mn-lt"/>
                          <a:cs typeface="Times New Roman" panose="02020603050405020304" pitchFamily="18" charset="0"/>
                        </a:rPr>
                        <a:t>Dùng cho A873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70718">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T1/2026</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270718">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20/09/25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7071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21/11/25</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70718">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 15/05/2025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04/09/25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49697906"/>
                  </a:ext>
                </a:extLst>
              </a:tr>
              <a:tr h="270718">
                <a:tc>
                  <a:txBody>
                    <a:bodyPr/>
                    <a:lstStyle/>
                    <a:p>
                      <a:pPr algn="ctr" fontAlgn="ctr"/>
                      <a:r>
                        <a:rPr lang="en-US" sz="1200" b="0" i="0" u="none" strike="noStrike">
                          <a:solidFill>
                            <a:schemeClr val="tx1"/>
                          </a:solidFill>
                          <a:effectLst/>
                          <a:latin typeface="+mn-lt"/>
                          <a:cs typeface="Times New Roman" panose="02020603050405020304" pitchFamily="18" charset="0"/>
                        </a:rPr>
                        <a:t>958435</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18/06/2025</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a:t>
                      </a:r>
                      <a:r>
                        <a:rPr lang="en-US" sz="1200" b="0" u="none" strike="noStrike" baseline="0" dirty="0">
                          <a:solidFill>
                            <a:schemeClr val="tx1"/>
                          </a:solidFill>
                          <a:effectLst/>
                          <a:latin typeface="+mn-lt"/>
                          <a:cs typeface="Times New Roman" panose="02020603050405020304" pitchFamily="18" charset="0"/>
                        </a:rPr>
                        <a:t> </a:t>
                      </a:r>
                      <a:r>
                        <a:rPr lang="en-US" sz="1200" b="0" u="none" strike="noStrike" dirty="0">
                          <a:solidFill>
                            <a:schemeClr val="tx1"/>
                          </a:solidFill>
                          <a:effectLst/>
                          <a:latin typeface="+mn-lt"/>
                          <a:cs typeface="Times New Roman" panose="02020603050405020304" pitchFamily="18" charset="0"/>
                        </a:rPr>
                        <a:t>30/07/2025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dirty="0">
                          <a:solidFill>
                            <a:schemeClr val="tx1"/>
                          </a:solidFill>
                          <a:effectLst/>
                          <a:latin typeface="+mn-lt"/>
                          <a:cs typeface="Times New Roman" panose="02020603050405020304" pitchFamily="18" charset="0"/>
                        </a:rPr>
                        <a:t>12/12/25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68071698"/>
                  </a:ext>
                </a:extLst>
              </a:tr>
              <a:tr h="270718">
                <a:tc>
                  <a:txBody>
                    <a:bodyPr/>
                    <a:lstStyle/>
                    <a:p>
                      <a:pPr algn="ctr" fontAlgn="ctr"/>
                      <a:r>
                        <a:rPr lang="en-US" sz="1200" b="0" i="0" u="none" strike="noStrike">
                          <a:solidFill>
                            <a:schemeClr val="tx1"/>
                          </a:solidFill>
                          <a:effectLst/>
                          <a:latin typeface="+mn-lt"/>
                          <a:cs typeface="Times New Roman" panose="02020603050405020304" pitchFamily="18" charset="0"/>
                        </a:rPr>
                        <a:t>958438</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mn-lt"/>
                          <a:cs typeface="Times New Roman" panose="02020603050405020304" pitchFamily="18" charset="0"/>
                        </a:rPr>
                        <a:t>SGN</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20/07/2025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a:solidFill>
                            <a:schemeClr val="tx1"/>
                          </a:solidFill>
                          <a:effectLst/>
                          <a:latin typeface="+mn-lt"/>
                          <a:cs typeface="Times New Roman" panose="02020603050405020304" pitchFamily="18" charset="0"/>
                        </a:rPr>
                        <a:t>Induct</a:t>
                      </a:r>
                      <a:r>
                        <a:rPr lang="en-US" sz="1200" b="0" u="none" strike="noStrike" baseline="0">
                          <a:solidFill>
                            <a:schemeClr val="tx1"/>
                          </a:solidFill>
                          <a:effectLst/>
                          <a:latin typeface="+mn-lt"/>
                          <a:cs typeface="Times New Roman" panose="02020603050405020304" pitchFamily="18" charset="0"/>
                        </a:rPr>
                        <a:t> 18</a:t>
                      </a:r>
                      <a:r>
                        <a:rPr lang="en-US" sz="1200" b="0" u="none" strike="noStrike">
                          <a:solidFill>
                            <a:schemeClr val="tx1"/>
                          </a:solidFill>
                          <a:effectLst/>
                          <a:latin typeface="+mn-lt"/>
                          <a:cs typeface="Times New Roman" panose="02020603050405020304" pitchFamily="18" charset="0"/>
                        </a:rPr>
                        <a:t>/08/2025</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a:solidFill>
                            <a:schemeClr val="tx1"/>
                          </a:solidFill>
                          <a:effectLst/>
                          <a:latin typeface="+mn-lt"/>
                          <a:cs typeface="Times New Roman" panose="02020603050405020304" pitchFamily="18" charset="0"/>
                        </a:rPr>
                        <a:t>T1/2026</a:t>
                      </a: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612265"/>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A9D91912-17CF-433C-B165-5E5AB289CBE4}"/>
              </a:ext>
            </a:extLst>
          </p:cNvPr>
          <p:cNvGraphicFramePr>
            <a:graphicFrameLocks noGrp="1"/>
          </p:cNvGraphicFramePr>
          <p:nvPr/>
        </p:nvGraphicFramePr>
        <p:xfrm>
          <a:off x="6203332" y="3962398"/>
          <a:ext cx="5885504" cy="2651760"/>
        </p:xfrm>
        <a:graphic>
          <a:graphicData uri="http://schemas.openxmlformats.org/drawingml/2006/table">
            <a:tbl>
              <a:tblPr firstRow="1" bandRow="1">
                <a:tableStyleId>{93296810-A885-4BE3-A3E7-6D5BEEA58F35}</a:tableStyleId>
              </a:tblPr>
              <a:tblGrid>
                <a:gridCol w="459580">
                  <a:extLst>
                    <a:ext uri="{9D8B030D-6E8A-4147-A177-3AD203B41FA5}">
                      <a16:colId xmlns:a16="http://schemas.microsoft.com/office/drawing/2014/main" val="3292621586"/>
                    </a:ext>
                  </a:extLst>
                </a:gridCol>
                <a:gridCol w="919160">
                  <a:extLst>
                    <a:ext uri="{9D8B030D-6E8A-4147-A177-3AD203B41FA5}">
                      <a16:colId xmlns:a16="http://schemas.microsoft.com/office/drawing/2014/main" val="3587079032"/>
                    </a:ext>
                  </a:extLst>
                </a:gridCol>
                <a:gridCol w="612773">
                  <a:extLst>
                    <a:ext uri="{9D8B030D-6E8A-4147-A177-3AD203B41FA5}">
                      <a16:colId xmlns:a16="http://schemas.microsoft.com/office/drawing/2014/main" val="3691161886"/>
                    </a:ext>
                  </a:extLst>
                </a:gridCol>
                <a:gridCol w="1225547">
                  <a:extLst>
                    <a:ext uri="{9D8B030D-6E8A-4147-A177-3AD203B41FA5}">
                      <a16:colId xmlns:a16="http://schemas.microsoft.com/office/drawing/2014/main" val="1199058238"/>
                    </a:ext>
                  </a:extLst>
                </a:gridCol>
                <a:gridCol w="2668444">
                  <a:extLst>
                    <a:ext uri="{9D8B030D-6E8A-4147-A177-3AD203B41FA5}">
                      <a16:colId xmlns:a16="http://schemas.microsoft.com/office/drawing/2014/main" val="2279892850"/>
                    </a:ext>
                  </a:extLst>
                </a:gridCol>
              </a:tblGrid>
              <a:tr h="228600">
                <a:tc>
                  <a:txBody>
                    <a:bodyPr/>
                    <a:lstStyle/>
                    <a:p>
                      <a:endParaRPr lang="en-US" sz="1200" dirty="0"/>
                    </a:p>
                  </a:txBody>
                  <a:tcPr/>
                </a:tc>
                <a:tc>
                  <a:txBody>
                    <a:bodyPr/>
                    <a:lstStyle/>
                    <a:p>
                      <a:r>
                        <a:rPr lang="en-US" sz="1200"/>
                        <a:t>ESN</a:t>
                      </a:r>
                    </a:p>
                  </a:txBody>
                  <a:tcPr/>
                </a:tc>
                <a:tc>
                  <a:txBody>
                    <a:bodyPr/>
                    <a:lstStyle/>
                    <a:p>
                      <a:r>
                        <a:rPr lang="en-US" sz="1200"/>
                        <a:t>AC</a:t>
                      </a:r>
                    </a:p>
                  </a:txBody>
                  <a:tcPr/>
                </a:tc>
                <a:tc>
                  <a:txBody>
                    <a:bodyPr/>
                    <a:lstStyle/>
                    <a:p>
                      <a:r>
                        <a:rPr lang="en-US" sz="1200"/>
                        <a:t>Interval</a:t>
                      </a:r>
                    </a:p>
                  </a:txBody>
                  <a:tcPr/>
                </a:tc>
                <a:tc>
                  <a:txBody>
                    <a:bodyPr/>
                    <a:lstStyle/>
                    <a:p>
                      <a:r>
                        <a:rPr lang="en-US" sz="1200"/>
                        <a:t>Remark</a:t>
                      </a:r>
                    </a:p>
                  </a:txBody>
                  <a:tcPr/>
                </a:tc>
                <a:extLst>
                  <a:ext uri="{0D108BD9-81ED-4DB2-BD59-A6C34878D82A}">
                    <a16:rowId xmlns:a16="http://schemas.microsoft.com/office/drawing/2014/main" val="2389571425"/>
                  </a:ext>
                </a:extLst>
              </a:tr>
              <a:tr h="533401">
                <a:tc>
                  <a:txBody>
                    <a:bodyPr/>
                    <a:lstStyle/>
                    <a:p>
                      <a:r>
                        <a:rPr lang="en-US" sz="1200"/>
                        <a:t>1</a:t>
                      </a:r>
                    </a:p>
                  </a:txBody>
                  <a:tcPr/>
                </a:tc>
                <a:tc>
                  <a:txBody>
                    <a:bodyPr/>
                    <a:lstStyle/>
                    <a:p>
                      <a:r>
                        <a:rPr lang="en-US" sz="1200" dirty="0"/>
                        <a:t>958170</a:t>
                      </a:r>
                    </a:p>
                  </a:txBody>
                  <a:tcPr/>
                </a:tc>
                <a:tc>
                  <a:txBody>
                    <a:bodyPr/>
                    <a:lstStyle/>
                    <a:p>
                      <a:r>
                        <a:rPr lang="en-US" sz="1200"/>
                        <a:t>A863</a:t>
                      </a:r>
                    </a:p>
                  </a:txBody>
                  <a:tcPr/>
                </a:tc>
                <a:tc>
                  <a:txBody>
                    <a:bodyPr/>
                    <a:lstStyle/>
                    <a:p>
                      <a:r>
                        <a:rPr lang="en-US" sz="1200"/>
                        <a:t>50FC</a:t>
                      </a:r>
                    </a:p>
                  </a:txBody>
                  <a:tcPr/>
                </a:tc>
                <a:tc>
                  <a:txBody>
                    <a:bodyPr/>
                    <a:lstStyle/>
                    <a:p>
                      <a:r>
                        <a:rPr lang="en-US" sz="1200" dirty="0" err="1"/>
                        <a:t>Động</a:t>
                      </a:r>
                      <a:r>
                        <a:rPr lang="en-US" sz="1200" baseline="0" dirty="0"/>
                        <a:t> </a:t>
                      </a:r>
                      <a:r>
                        <a:rPr lang="en-US" sz="1200" baseline="0" dirty="0" err="1"/>
                        <a:t>cơ</a:t>
                      </a:r>
                      <a:r>
                        <a:rPr lang="en-US" sz="1200" baseline="0" dirty="0"/>
                        <a:t> </a:t>
                      </a:r>
                      <a:r>
                        <a:rPr lang="en-US" sz="1200" baseline="0" dirty="0" err="1"/>
                        <a:t>đã</a:t>
                      </a:r>
                      <a:r>
                        <a:rPr lang="en-US" sz="1200" baseline="0" dirty="0"/>
                        <a:t> </a:t>
                      </a:r>
                      <a:r>
                        <a:rPr lang="en-US" sz="1200" baseline="0" dirty="0" err="1"/>
                        <a:t>soi</a:t>
                      </a:r>
                      <a:r>
                        <a:rPr lang="en-US" sz="1200" baseline="0" dirty="0"/>
                        <a:t> </a:t>
                      </a:r>
                      <a:r>
                        <a:rPr lang="en-US" sz="1200" baseline="0" dirty="0" err="1"/>
                        <a:t>và</a:t>
                      </a:r>
                      <a:r>
                        <a:rPr lang="en-US" sz="1200" baseline="0" dirty="0"/>
                        <a:t> </a:t>
                      </a:r>
                      <a:r>
                        <a:rPr lang="en-US" sz="1200" baseline="0" dirty="0" err="1"/>
                        <a:t>được</a:t>
                      </a:r>
                      <a:r>
                        <a:rPr lang="en-US" sz="1200" baseline="0" dirty="0"/>
                        <a:t> </a:t>
                      </a:r>
                      <a:r>
                        <a:rPr lang="en-US" sz="1200" baseline="0" dirty="0" err="1"/>
                        <a:t>cấp</a:t>
                      </a:r>
                      <a:r>
                        <a:rPr lang="en-US" sz="1200" baseline="0" dirty="0"/>
                        <a:t> DR </a:t>
                      </a:r>
                      <a:r>
                        <a:rPr lang="en-US" sz="1200" baseline="0" dirty="0" err="1"/>
                        <a:t>thêm</a:t>
                      </a:r>
                      <a:r>
                        <a:rPr lang="en-US" sz="1200" baseline="0" dirty="0"/>
                        <a:t> 50FC. </a:t>
                      </a:r>
                      <a:r>
                        <a:rPr lang="en-US" sz="1200" baseline="0" dirty="0" err="1"/>
                        <a:t>Sẽ</a:t>
                      </a:r>
                      <a:r>
                        <a:rPr lang="en-US" sz="1200" baseline="0" dirty="0"/>
                        <a:t> </a:t>
                      </a:r>
                      <a:r>
                        <a:rPr lang="en-US" sz="1200" baseline="0" dirty="0" err="1"/>
                        <a:t>thực</a:t>
                      </a:r>
                      <a:r>
                        <a:rPr lang="en-US" sz="1200" baseline="0" dirty="0"/>
                        <a:t> </a:t>
                      </a:r>
                      <a:r>
                        <a:rPr lang="en-US" sz="1200" baseline="0" dirty="0" err="1"/>
                        <a:t>hiện</a:t>
                      </a:r>
                      <a:r>
                        <a:rPr lang="en-US" sz="1200" baseline="0" dirty="0"/>
                        <a:t> </a:t>
                      </a:r>
                      <a:r>
                        <a:rPr lang="en-US" sz="1200" baseline="0" dirty="0" err="1"/>
                        <a:t>thay</a:t>
                      </a:r>
                      <a:r>
                        <a:rPr lang="en-US" sz="1200" baseline="0" dirty="0"/>
                        <a:t> </a:t>
                      </a:r>
                      <a:r>
                        <a:rPr lang="en-US" sz="1200" baseline="0" dirty="0" err="1"/>
                        <a:t>nếu</a:t>
                      </a:r>
                      <a:r>
                        <a:rPr lang="en-US" sz="1200" baseline="0" dirty="0"/>
                        <a:t> </a:t>
                      </a:r>
                      <a:r>
                        <a:rPr lang="en-US" sz="1200" baseline="0" dirty="0" err="1"/>
                        <a:t>có</a:t>
                      </a:r>
                      <a:r>
                        <a:rPr lang="en-US" sz="1200" baseline="0" dirty="0"/>
                        <a:t> spare </a:t>
                      </a:r>
                      <a:r>
                        <a:rPr lang="en-US" sz="1200" baseline="0" dirty="0" err="1"/>
                        <a:t>về</a:t>
                      </a:r>
                      <a:r>
                        <a:rPr lang="en-US" sz="1200" baseline="0" dirty="0"/>
                        <a:t> </a:t>
                      </a:r>
                      <a:r>
                        <a:rPr lang="en-US" sz="1200" baseline="0" dirty="0" err="1"/>
                        <a:t>khi</a:t>
                      </a:r>
                      <a:r>
                        <a:rPr lang="en-US" sz="1200" baseline="0" dirty="0"/>
                        <a:t> </a:t>
                      </a:r>
                      <a:r>
                        <a:rPr lang="en-US" sz="1200" baseline="0" dirty="0" err="1"/>
                        <a:t>tàu</a:t>
                      </a:r>
                      <a:r>
                        <a:rPr lang="en-US" sz="1200" baseline="0" dirty="0"/>
                        <a:t> </a:t>
                      </a:r>
                      <a:r>
                        <a:rPr lang="en-US" sz="1200" baseline="0" dirty="0" err="1"/>
                        <a:t>vẫn</a:t>
                      </a:r>
                      <a:r>
                        <a:rPr lang="en-US" sz="1200" baseline="0" dirty="0"/>
                        <a:t> AOG. </a:t>
                      </a:r>
                      <a:endParaRPr lang="en-US" sz="1200" dirty="0"/>
                    </a:p>
                  </a:txBody>
                  <a:tcPr/>
                </a:tc>
                <a:extLst>
                  <a:ext uri="{0D108BD9-81ED-4DB2-BD59-A6C34878D82A}">
                    <a16:rowId xmlns:a16="http://schemas.microsoft.com/office/drawing/2014/main" val="3899119871"/>
                  </a:ext>
                </a:extLst>
              </a:tr>
              <a:tr h="228600">
                <a:tc>
                  <a:txBody>
                    <a:bodyPr/>
                    <a:lstStyle/>
                    <a:p>
                      <a:r>
                        <a:rPr lang="en-US" sz="1200"/>
                        <a:t>2</a:t>
                      </a:r>
                    </a:p>
                  </a:txBody>
                  <a:tcPr/>
                </a:tc>
                <a:tc>
                  <a:txBody>
                    <a:bodyPr/>
                    <a:lstStyle/>
                    <a:p>
                      <a:r>
                        <a:rPr lang="en-US" sz="1200"/>
                        <a:t>958266</a:t>
                      </a:r>
                    </a:p>
                  </a:txBody>
                  <a:tcPr/>
                </a:tc>
                <a:tc>
                  <a:txBody>
                    <a:bodyPr/>
                    <a:lstStyle/>
                    <a:p>
                      <a:r>
                        <a:rPr lang="en-US" sz="1200"/>
                        <a:t>A874</a:t>
                      </a:r>
                    </a:p>
                  </a:txBody>
                  <a:tcPr/>
                </a:tc>
                <a:tc>
                  <a:txBody>
                    <a:bodyPr/>
                    <a:lstStyle/>
                    <a:p>
                      <a:r>
                        <a:rPr lang="en-US" sz="1200"/>
                        <a:t>100FC</a:t>
                      </a:r>
                    </a:p>
                  </a:txBody>
                  <a:tcPr/>
                </a:tc>
                <a:tc>
                  <a:txBody>
                    <a:bodyPr/>
                    <a:lstStyle/>
                    <a:p>
                      <a:r>
                        <a:rPr lang="en-US" sz="1200" dirty="0"/>
                        <a:t>Thay </a:t>
                      </a:r>
                      <a:r>
                        <a:rPr lang="en-US" sz="1200" dirty="0" err="1"/>
                        <a:t>giữa</a:t>
                      </a:r>
                      <a:r>
                        <a:rPr lang="en-US" sz="1200" dirty="0"/>
                        <a:t> </a:t>
                      </a:r>
                      <a:r>
                        <a:rPr lang="en-US" sz="1200"/>
                        <a:t>T8 để trả động c</a:t>
                      </a:r>
                      <a:r>
                        <a:rPr lang="vi-VN" sz="1200"/>
                        <a:t>ơ</a:t>
                      </a:r>
                      <a:endParaRPr lang="en-US" sz="1200" dirty="0"/>
                    </a:p>
                  </a:txBody>
                  <a:tcPr/>
                </a:tc>
                <a:extLst>
                  <a:ext uri="{0D108BD9-81ED-4DB2-BD59-A6C34878D82A}">
                    <a16:rowId xmlns:a16="http://schemas.microsoft.com/office/drawing/2014/main" val="3244585303"/>
                  </a:ext>
                </a:extLst>
              </a:tr>
              <a:tr h="228600">
                <a:tc>
                  <a:txBody>
                    <a:bodyPr/>
                    <a:lstStyle/>
                    <a:p>
                      <a:r>
                        <a:rPr lang="en-US" sz="1200"/>
                        <a:t>3</a:t>
                      </a:r>
                    </a:p>
                  </a:txBody>
                  <a:tcPr/>
                </a:tc>
                <a:tc>
                  <a:txBody>
                    <a:bodyPr/>
                    <a:lstStyle/>
                    <a:p>
                      <a:r>
                        <a:rPr lang="en-US" sz="1200"/>
                        <a:t>956600</a:t>
                      </a:r>
                    </a:p>
                  </a:txBody>
                  <a:tcPr/>
                </a:tc>
                <a:tc>
                  <a:txBody>
                    <a:bodyPr/>
                    <a:lstStyle/>
                    <a:p>
                      <a:r>
                        <a:rPr lang="en-US" sz="1200"/>
                        <a:t>A862</a:t>
                      </a:r>
                    </a:p>
                  </a:txBody>
                  <a:tcPr/>
                </a:tc>
                <a:tc>
                  <a:txBody>
                    <a:bodyPr/>
                    <a:lstStyle/>
                    <a:p>
                      <a:r>
                        <a:rPr lang="en-US" sz="1200"/>
                        <a:t>100FC</a:t>
                      </a:r>
                    </a:p>
                  </a:txBody>
                  <a:tcPr/>
                </a:tc>
                <a:tc>
                  <a:txBody>
                    <a:bodyPr/>
                    <a:lstStyle/>
                    <a:p>
                      <a:r>
                        <a:rPr lang="en-US" sz="1200" dirty="0" err="1"/>
                        <a:t>Có</a:t>
                      </a:r>
                      <a:r>
                        <a:rPr lang="en-US" sz="1200" baseline="0" dirty="0"/>
                        <a:t> spare </a:t>
                      </a:r>
                      <a:r>
                        <a:rPr lang="en-US" sz="1200" baseline="0" dirty="0" err="1"/>
                        <a:t>về</a:t>
                      </a:r>
                      <a:r>
                        <a:rPr lang="en-US" sz="1200" baseline="0" dirty="0"/>
                        <a:t> </a:t>
                      </a:r>
                      <a:r>
                        <a:rPr lang="en-US" sz="1200" baseline="0" dirty="0" err="1"/>
                        <a:t>trong</a:t>
                      </a:r>
                      <a:r>
                        <a:rPr lang="en-US" sz="1200" baseline="0" dirty="0"/>
                        <a:t> T9</a:t>
                      </a:r>
                      <a:endParaRPr lang="en-US" sz="1200" dirty="0"/>
                    </a:p>
                  </a:txBody>
                  <a:tcPr/>
                </a:tc>
                <a:extLst>
                  <a:ext uri="{0D108BD9-81ED-4DB2-BD59-A6C34878D82A}">
                    <a16:rowId xmlns:a16="http://schemas.microsoft.com/office/drawing/2014/main" val="2820853633"/>
                  </a:ext>
                </a:extLst>
              </a:tr>
              <a:tr h="0">
                <a:tc>
                  <a:txBody>
                    <a:bodyPr/>
                    <a:lstStyle/>
                    <a:p>
                      <a:r>
                        <a:rPr lang="en-US" sz="1200"/>
                        <a:t>4</a:t>
                      </a:r>
                    </a:p>
                  </a:txBody>
                  <a:tcPr/>
                </a:tc>
                <a:tc>
                  <a:txBody>
                    <a:bodyPr/>
                    <a:lstStyle/>
                    <a:p>
                      <a:r>
                        <a:rPr lang="en-US" sz="1200"/>
                        <a:t>956639</a:t>
                      </a:r>
                    </a:p>
                  </a:txBody>
                  <a:tcPr/>
                </a:tc>
                <a:tc>
                  <a:txBody>
                    <a:bodyPr/>
                    <a:lstStyle/>
                    <a:p>
                      <a:r>
                        <a:rPr lang="en-US" sz="1200"/>
                        <a:t>A865</a:t>
                      </a:r>
                    </a:p>
                  </a:txBody>
                  <a:tcPr/>
                </a:tc>
                <a:tc>
                  <a:txBody>
                    <a:bodyPr/>
                    <a:lstStyle/>
                    <a:p>
                      <a:r>
                        <a:rPr lang="en-US" sz="1200"/>
                        <a:t>250FC</a:t>
                      </a:r>
                    </a:p>
                  </a:txBody>
                  <a:tcPr/>
                </a:tc>
                <a:tc>
                  <a:txBody>
                    <a:bodyPr/>
                    <a:lstStyle/>
                    <a:p>
                      <a:endParaRPr lang="en-US" sz="1200" dirty="0"/>
                    </a:p>
                  </a:txBody>
                  <a:tcPr/>
                </a:tc>
                <a:extLst>
                  <a:ext uri="{0D108BD9-81ED-4DB2-BD59-A6C34878D82A}">
                    <a16:rowId xmlns:a16="http://schemas.microsoft.com/office/drawing/2014/main" val="3676968406"/>
                  </a:ext>
                </a:extLst>
              </a:tr>
              <a:tr h="228600">
                <a:tc>
                  <a:txBody>
                    <a:bodyPr/>
                    <a:lstStyle/>
                    <a:p>
                      <a:r>
                        <a:rPr lang="en-US" sz="1200"/>
                        <a:t>5</a:t>
                      </a:r>
                    </a:p>
                  </a:txBody>
                  <a:tcPr/>
                </a:tc>
                <a:tc>
                  <a:txBody>
                    <a:bodyPr/>
                    <a:lstStyle/>
                    <a:p>
                      <a:r>
                        <a:rPr lang="en-US" sz="1200" dirty="0"/>
                        <a:t>958374</a:t>
                      </a:r>
                    </a:p>
                  </a:txBody>
                  <a:tcPr/>
                </a:tc>
                <a:tc>
                  <a:txBody>
                    <a:bodyPr/>
                    <a:lstStyle/>
                    <a:p>
                      <a:r>
                        <a:rPr lang="en-US" sz="1200" dirty="0"/>
                        <a:t>A861</a:t>
                      </a:r>
                    </a:p>
                  </a:txBody>
                  <a:tcPr/>
                </a:tc>
                <a:tc>
                  <a:txBody>
                    <a:bodyPr/>
                    <a:lstStyle/>
                    <a:p>
                      <a:r>
                        <a:rPr lang="en-US" sz="1200" dirty="0"/>
                        <a:t>250FC</a:t>
                      </a:r>
                    </a:p>
                  </a:txBody>
                  <a:tcPr/>
                </a:tc>
                <a:tc>
                  <a:txBody>
                    <a:bodyPr/>
                    <a:lstStyle/>
                    <a:p>
                      <a:endParaRPr lang="en-US" sz="1200" dirty="0"/>
                    </a:p>
                  </a:txBody>
                  <a:tcPr/>
                </a:tc>
                <a:extLst>
                  <a:ext uri="{0D108BD9-81ED-4DB2-BD59-A6C34878D82A}">
                    <a16:rowId xmlns:a16="http://schemas.microsoft.com/office/drawing/2014/main" val="1805137390"/>
                  </a:ext>
                </a:extLst>
              </a:tr>
              <a:tr h="228600">
                <a:tc>
                  <a:txBody>
                    <a:bodyPr/>
                    <a:lstStyle/>
                    <a:p>
                      <a:r>
                        <a:rPr lang="en-US" sz="1200"/>
                        <a:t>6</a:t>
                      </a:r>
                    </a:p>
                  </a:txBody>
                  <a:tcPr/>
                </a:tc>
                <a:tc>
                  <a:txBody>
                    <a:bodyPr/>
                    <a:lstStyle/>
                    <a:p>
                      <a:r>
                        <a:rPr lang="en-US" sz="1200" dirty="0"/>
                        <a:t>956555</a:t>
                      </a:r>
                    </a:p>
                  </a:txBody>
                  <a:tcPr/>
                </a:tc>
                <a:tc>
                  <a:txBody>
                    <a:bodyPr/>
                    <a:lstStyle/>
                    <a:p>
                      <a:r>
                        <a:rPr lang="en-US" sz="1200" dirty="0"/>
                        <a:t>A862</a:t>
                      </a:r>
                    </a:p>
                  </a:txBody>
                  <a:tcPr/>
                </a:tc>
                <a:tc>
                  <a:txBody>
                    <a:bodyPr/>
                    <a:lstStyle/>
                    <a:p>
                      <a:r>
                        <a:rPr lang="en-US" sz="1200" dirty="0"/>
                        <a:t>250FC</a:t>
                      </a:r>
                    </a:p>
                  </a:txBody>
                  <a:tcPr/>
                </a:tc>
                <a:tc>
                  <a:txBody>
                    <a:bodyPr/>
                    <a:lstStyle/>
                    <a:p>
                      <a:endParaRPr lang="en-US" sz="1200" dirty="0"/>
                    </a:p>
                  </a:txBody>
                  <a:tcPr/>
                </a:tc>
                <a:extLst>
                  <a:ext uri="{0D108BD9-81ED-4DB2-BD59-A6C34878D82A}">
                    <a16:rowId xmlns:a16="http://schemas.microsoft.com/office/drawing/2014/main" val="1886295833"/>
                  </a:ext>
                </a:extLst>
              </a:tr>
              <a:tr h="228600">
                <a:tc>
                  <a:txBody>
                    <a:bodyPr/>
                    <a:lstStyle/>
                    <a:p>
                      <a:endParaRPr lang="en-US" sz="1200"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sz="1200" dirty="0"/>
                    </a:p>
                  </a:txBody>
                  <a:tcPr/>
                </a:tc>
                <a:extLst>
                  <a:ext uri="{0D108BD9-81ED-4DB2-BD59-A6C34878D82A}">
                    <a16:rowId xmlns:a16="http://schemas.microsoft.com/office/drawing/2014/main" val="3981139605"/>
                  </a:ext>
                </a:extLst>
              </a:tr>
            </a:tbl>
          </a:graphicData>
        </a:graphic>
      </p:graphicFrame>
    </p:spTree>
    <p:extLst>
      <p:ext uri="{BB962C8B-B14F-4D97-AF65-F5344CB8AC3E}">
        <p14:creationId xmlns:p14="http://schemas.microsoft.com/office/powerpoint/2010/main" val="6538920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151306" y="707662"/>
          <a:ext cx="5765456" cy="2729685"/>
        </p:xfrm>
        <a:graphic>
          <a:graphicData uri="http://schemas.openxmlformats.org/drawingml/2006/table">
            <a:tbl>
              <a:tblPr firstRow="1" bandRow="1">
                <a:tableStyleId>{5C22544A-7EE6-4342-B048-85BDC9FD1C3A}</a:tableStyleId>
              </a:tblPr>
              <a:tblGrid>
                <a:gridCol w="657752">
                  <a:extLst>
                    <a:ext uri="{9D8B030D-6E8A-4147-A177-3AD203B41FA5}">
                      <a16:colId xmlns:a16="http://schemas.microsoft.com/office/drawing/2014/main" val="1930757539"/>
                    </a:ext>
                  </a:extLst>
                </a:gridCol>
                <a:gridCol w="656705">
                  <a:extLst>
                    <a:ext uri="{9D8B030D-6E8A-4147-A177-3AD203B41FA5}">
                      <a16:colId xmlns:a16="http://schemas.microsoft.com/office/drawing/2014/main" val="1674463010"/>
                    </a:ext>
                  </a:extLst>
                </a:gridCol>
                <a:gridCol w="591637">
                  <a:extLst>
                    <a:ext uri="{9D8B030D-6E8A-4147-A177-3AD203B41FA5}">
                      <a16:colId xmlns:a16="http://schemas.microsoft.com/office/drawing/2014/main" val="1549944897"/>
                    </a:ext>
                  </a:extLst>
                </a:gridCol>
                <a:gridCol w="2209800">
                  <a:extLst>
                    <a:ext uri="{9D8B030D-6E8A-4147-A177-3AD203B41FA5}">
                      <a16:colId xmlns:a16="http://schemas.microsoft.com/office/drawing/2014/main" val="3687717734"/>
                    </a:ext>
                  </a:extLst>
                </a:gridCol>
                <a:gridCol w="1649562">
                  <a:extLst>
                    <a:ext uri="{9D8B030D-6E8A-4147-A177-3AD203B41FA5}">
                      <a16:colId xmlns:a16="http://schemas.microsoft.com/office/drawing/2014/main" val="2727922721"/>
                    </a:ext>
                  </a:extLst>
                </a:gridCol>
              </a:tblGrid>
              <a:tr h="455078">
                <a:tc>
                  <a:txBody>
                    <a:bodyPr/>
                    <a:lstStyle/>
                    <a:p>
                      <a:pPr algn="ctr"/>
                      <a:r>
                        <a:rPr lang="en-US" sz="1100" dirty="0" err="1"/>
                        <a:t>Động</a:t>
                      </a:r>
                      <a:r>
                        <a:rPr lang="en-US" sz="1100" dirty="0"/>
                        <a:t> c</a:t>
                      </a:r>
                      <a:r>
                        <a:rPr lang="vi-VN" sz="1100" dirty="0"/>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GB" sz="1100" dirty="0"/>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a:t>TAT</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err="1"/>
                        <a:t>Ngày</a:t>
                      </a:r>
                      <a:r>
                        <a:rPr lang="en-US" sz="1100" dirty="0"/>
                        <a:t> </a:t>
                      </a:r>
                      <a:r>
                        <a:rPr lang="en-US" sz="1100" dirty="0" err="1"/>
                        <a:t>về</a:t>
                      </a:r>
                      <a:r>
                        <a:rPr lang="en-US" sz="1100" dirty="0"/>
                        <a:t> </a:t>
                      </a:r>
                      <a:r>
                        <a:rPr lang="en-US" sz="1100" dirty="0" err="1"/>
                        <a:t>dự</a:t>
                      </a:r>
                      <a:r>
                        <a:rPr lang="en-US" sz="1100" dirty="0"/>
                        <a:t> </a:t>
                      </a:r>
                      <a:r>
                        <a:rPr lang="en-US" sz="1100" dirty="0" err="1"/>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algn="ctr"/>
                      <a:r>
                        <a:rPr lang="en-US" sz="1100" dirty="0" err="1">
                          <a:latin typeface="Times New Roman" panose="02020603050405020304" pitchFamily="18" charset="0"/>
                          <a:cs typeface="Times New Roman" panose="02020603050405020304" pitchFamily="18" charset="0"/>
                        </a:rPr>
                        <a:t>Kế</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hoạch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sử</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333724">
                <a:tc>
                  <a:txBody>
                    <a:bodyPr/>
                    <a:lstStyle/>
                    <a:p>
                      <a:pPr algn="ctr" fontAlgn="ctr"/>
                      <a:r>
                        <a:rPr lang="en-GB" sz="1100" b="0" u="none" strike="noStrike">
                          <a:solidFill>
                            <a:schemeClr val="tx1"/>
                          </a:solidFill>
                          <a:effectLst/>
                        </a:rPr>
                        <a:t>21043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257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09/08/2025</a:t>
                      </a:r>
                    </a:p>
                    <a:p>
                      <a:pPr algn="ctr" fontAlgn="ctr"/>
                      <a:r>
                        <a:rPr lang="en-GB" sz="1100" b="0" u="none" strike="noStrike" dirty="0">
                          <a:solidFill>
                            <a:schemeClr val="tx1"/>
                          </a:solidFill>
                          <a:effectLst/>
                        </a:rPr>
                        <a:t>(</a:t>
                      </a:r>
                      <a:r>
                        <a:rPr lang="en-US" sz="1100" b="0" u="none" strike="noStrike" dirty="0" err="1">
                          <a:solidFill>
                            <a:schemeClr val="tx1"/>
                          </a:solidFill>
                          <a:effectLst/>
                        </a:rPr>
                        <a:t>tổng</a:t>
                      </a:r>
                      <a:r>
                        <a:rPr lang="en-US" sz="1100" b="0" u="none" strike="noStrike" dirty="0">
                          <a:solidFill>
                            <a:schemeClr val="tx1"/>
                          </a:solidFill>
                          <a:effectLst/>
                        </a:rPr>
                        <a:t> TAT delay 57 </a:t>
                      </a:r>
                      <a:r>
                        <a:rPr lang="en-US" sz="1100" b="0" u="none" strike="noStrike" dirty="0" err="1">
                          <a:solidFill>
                            <a:schemeClr val="tx1"/>
                          </a:solidFill>
                          <a:effectLst/>
                        </a:rPr>
                        <a:t>ngày</a:t>
                      </a:r>
                      <a:r>
                        <a:rPr lang="en-GB" sz="1100" b="0" u="none" strike="noStrike" dirty="0">
                          <a:solidFill>
                            <a:schemeClr val="tx1"/>
                          </a:solidFill>
                          <a:effectLst/>
                        </a:rPr>
                        <a:t>)</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A898 (21268 </a:t>
                      </a:r>
                      <a:r>
                        <a:rPr lang="en-GB" sz="1100" b="0" i="0" u="none" strike="noStrike" dirty="0" err="1">
                          <a:solidFill>
                            <a:schemeClr val="tx1"/>
                          </a:solidFill>
                          <a:effectLst/>
                          <a:latin typeface="Times New Roman" panose="02020603050405020304" pitchFamily="18" charset="0"/>
                        </a:rPr>
                        <a:t>đến</a:t>
                      </a:r>
                      <a:r>
                        <a:rPr lang="en-GB" sz="1100" b="0" i="0" u="none" strike="noStrike" dirty="0">
                          <a:solidFill>
                            <a:schemeClr val="tx1"/>
                          </a:solidFill>
                          <a:effectLst/>
                          <a:latin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rPr>
                        <a:t>hạn</a:t>
                      </a:r>
                      <a:r>
                        <a:rPr lang="en-GB" sz="1100" b="0" i="0" u="none" strike="noStrike" dirty="0">
                          <a:solidFill>
                            <a:schemeClr val="tx1"/>
                          </a:solidFill>
                          <a:effectLst/>
                          <a:latin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rPr>
                        <a:t>kiểm</a:t>
                      </a:r>
                      <a:r>
                        <a:rPr lang="en-GB" sz="1100" b="0" i="0" u="none" strike="noStrike" dirty="0">
                          <a:solidFill>
                            <a:schemeClr val="tx1"/>
                          </a:solidFill>
                          <a:effectLst/>
                          <a:latin typeface="Times New Roman" panose="02020603050405020304" pitchFamily="18" charset="0"/>
                        </a:rPr>
                        <a:t> </a:t>
                      </a:r>
                      <a:r>
                        <a:rPr lang="en-GB" sz="1100" b="0" i="0" u="none" strike="noStrike" dirty="0" err="1">
                          <a:solidFill>
                            <a:schemeClr val="tx1"/>
                          </a:solidFill>
                          <a:effectLst/>
                          <a:latin typeface="Times New Roman" panose="02020603050405020304" pitchFamily="18" charset="0"/>
                        </a:rPr>
                        <a:t>tra</a:t>
                      </a:r>
                      <a:r>
                        <a:rPr lang="en-GB" sz="1100" b="0" i="0" u="none" strike="noStrike" dirty="0">
                          <a:solidFill>
                            <a:schemeClr val="tx1"/>
                          </a:solidFill>
                          <a:effectLst/>
                          <a:latin typeface="Times New Roman" panose="02020603050405020304" pitchFamily="18" charset="0"/>
                        </a:rPr>
                        <a:t> LPT)</a:t>
                      </a:r>
                    </a:p>
                  </a:txBody>
                  <a:tcPr marL="0" marR="0" marT="0" marB="0" anchor="ctr"/>
                </a:tc>
                <a:extLst>
                  <a:ext uri="{0D108BD9-81ED-4DB2-BD59-A6C34878D82A}">
                    <a16:rowId xmlns:a16="http://schemas.microsoft.com/office/drawing/2014/main" val="3135666374"/>
                  </a:ext>
                </a:extLst>
              </a:tr>
              <a:tr h="333724">
                <a:tc>
                  <a:txBody>
                    <a:bodyPr/>
                    <a:lstStyle/>
                    <a:p>
                      <a:pPr algn="ctr" fontAlgn="ctr"/>
                      <a:r>
                        <a:rPr lang="en-GB" sz="1100" b="0" u="none" strike="noStrike" dirty="0">
                          <a:solidFill>
                            <a:schemeClr val="tx1"/>
                          </a:solidFill>
                          <a:effectLst/>
                        </a:rPr>
                        <a:t>21414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134</a:t>
                      </a:r>
                    </a:p>
                  </a:txBody>
                  <a:tcPr marL="0" marR="0" marT="0" marB="0" anchor="ctr"/>
                </a:tc>
                <a:tc>
                  <a:txBody>
                    <a:bodyPr/>
                    <a:lstStyle/>
                    <a:p>
                      <a:pPr algn="ctr" fontAlgn="ctr"/>
                      <a:r>
                        <a:rPr lang="en-GB" sz="1100" b="0" u="none" strike="noStrike" dirty="0">
                          <a:solidFill>
                            <a:srgbClr val="FF0000"/>
                          </a:solidFill>
                          <a:effectLst/>
                        </a:rPr>
                        <a:t>20/08/2025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rPr>
                        <a:t>(</a:t>
                      </a:r>
                      <a:r>
                        <a:rPr lang="en-US" sz="1100" b="0" u="none" strike="noStrike" dirty="0" err="1">
                          <a:solidFill>
                            <a:srgbClr val="FF0000"/>
                          </a:solidFill>
                          <a:effectLst/>
                        </a:rPr>
                        <a:t>tổng</a:t>
                      </a:r>
                      <a:r>
                        <a:rPr lang="en-US" sz="1100" b="0" u="none" strike="noStrike" dirty="0">
                          <a:solidFill>
                            <a:srgbClr val="FF0000"/>
                          </a:solidFill>
                          <a:effectLst/>
                        </a:rPr>
                        <a:t> </a:t>
                      </a:r>
                      <a:r>
                        <a:rPr lang="en-GB" sz="1100" b="0" u="none" strike="noStrike" dirty="0">
                          <a:solidFill>
                            <a:srgbClr val="FF0000"/>
                          </a:solidFill>
                          <a:effectLst/>
                        </a:rPr>
                        <a:t>TAT delay 24 </a:t>
                      </a:r>
                      <a:r>
                        <a:rPr lang="en-GB" sz="1100" b="0" u="none" strike="noStrike" dirty="0" err="1">
                          <a:solidFill>
                            <a:srgbClr val="FF0000"/>
                          </a:solidFill>
                          <a:effectLst/>
                        </a:rPr>
                        <a:t>ngày</a:t>
                      </a:r>
                      <a:r>
                        <a:rPr lang="en-GB" sz="1100" b="0" u="none" strike="noStrike"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rPr>
                        <a:t>A894 (21346 </a:t>
                      </a:r>
                      <a:r>
                        <a:rPr lang="en-GB" sz="1100" b="0" i="0" u="none" strike="noStrike" dirty="0" err="1">
                          <a:solidFill>
                            <a:srgbClr val="FF0000"/>
                          </a:solidFill>
                          <a:effectLst/>
                          <a:latin typeface="Times New Roman" panose="02020603050405020304" pitchFamily="18" charset="0"/>
                        </a:rPr>
                        <a:t>đến</a:t>
                      </a:r>
                      <a:r>
                        <a:rPr lang="en-GB" sz="1100" b="0" i="0" u="none" strike="noStrike" dirty="0">
                          <a:solidFill>
                            <a:srgbClr val="FF0000"/>
                          </a:solidFill>
                          <a:effectLst/>
                          <a:latin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rPr>
                        <a:t>hạn</a:t>
                      </a:r>
                      <a:r>
                        <a:rPr lang="en-GB" sz="1100" b="0" i="0" u="none" strike="noStrike" dirty="0">
                          <a:solidFill>
                            <a:srgbClr val="FF0000"/>
                          </a:solidFill>
                          <a:effectLst/>
                          <a:latin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rPr>
                        <a:t>kiểm</a:t>
                      </a:r>
                      <a:r>
                        <a:rPr lang="en-GB" sz="1100" b="0" i="0" u="none" strike="noStrike" dirty="0">
                          <a:solidFill>
                            <a:srgbClr val="FF0000"/>
                          </a:solidFill>
                          <a:effectLst/>
                          <a:latin typeface="Times New Roman" panose="02020603050405020304" pitchFamily="18" charset="0"/>
                        </a:rPr>
                        <a:t> </a:t>
                      </a:r>
                      <a:r>
                        <a:rPr lang="en-GB" sz="1100" b="0" i="0" u="none" strike="noStrike" dirty="0" err="1">
                          <a:solidFill>
                            <a:srgbClr val="FF0000"/>
                          </a:solidFill>
                          <a:effectLst/>
                          <a:latin typeface="Times New Roman" panose="02020603050405020304" pitchFamily="18" charset="0"/>
                        </a:rPr>
                        <a:t>tra</a:t>
                      </a:r>
                      <a:r>
                        <a:rPr lang="en-GB" sz="1100" b="0" i="0" u="none" strike="noStrike" dirty="0">
                          <a:solidFill>
                            <a:srgbClr val="FF0000"/>
                          </a:solidFill>
                          <a:effectLst/>
                          <a:latin typeface="Times New Roman" panose="02020603050405020304" pitchFamily="18" charset="0"/>
                        </a:rPr>
                        <a:t> LPT)</a:t>
                      </a:r>
                    </a:p>
                  </a:txBody>
                  <a:tcPr marL="0" marR="0" marT="0" marB="0" anchor="ctr"/>
                </a:tc>
                <a:extLst>
                  <a:ext uri="{0D108BD9-81ED-4DB2-BD59-A6C34878D82A}">
                    <a16:rowId xmlns:a16="http://schemas.microsoft.com/office/drawing/2014/main" val="587742417"/>
                  </a:ext>
                </a:extLst>
              </a:tr>
              <a:tr h="333724">
                <a:tc>
                  <a:txBody>
                    <a:bodyPr/>
                    <a:lstStyle/>
                    <a:p>
                      <a:pPr algn="ctr" fontAlgn="ctr"/>
                      <a:r>
                        <a:rPr lang="en-GB" sz="1100" b="0" u="none" strike="noStrike" dirty="0">
                          <a:solidFill>
                            <a:schemeClr val="tx1"/>
                          </a:solidFill>
                          <a:effectLst/>
                        </a:rPr>
                        <a:t>21137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247</a:t>
                      </a:r>
                    </a:p>
                  </a:txBody>
                  <a:tcPr marL="0" marR="0" marT="0" marB="0" anchor="ctr"/>
                </a:tc>
                <a:tc>
                  <a:txBody>
                    <a:bodyPr/>
                    <a:lstStyle/>
                    <a:p>
                      <a:pPr algn="ctr" fontAlgn="ctr"/>
                      <a:r>
                        <a:rPr lang="en-GB" sz="1100" b="0" u="none" strike="noStrike" dirty="0">
                          <a:solidFill>
                            <a:srgbClr val="FF0000"/>
                          </a:solidFill>
                          <a:effectLst/>
                        </a:rPr>
                        <a:t>(28/08/2025)</a:t>
                      </a:r>
                    </a:p>
                    <a:p>
                      <a:pPr algn="ctr" fontAlgn="ctr"/>
                      <a:r>
                        <a:rPr lang="en-GB" sz="1100" b="0" u="none" strike="noStrike" dirty="0">
                          <a:solidFill>
                            <a:srgbClr val="FF0000"/>
                          </a:solidFill>
                          <a:effectLst/>
                        </a:rPr>
                        <a:t>(</a:t>
                      </a:r>
                      <a:r>
                        <a:rPr lang="en-US" sz="1100" b="0" u="none" strike="noStrike" dirty="0" err="1">
                          <a:solidFill>
                            <a:srgbClr val="FF0000"/>
                          </a:solidFill>
                          <a:effectLst/>
                        </a:rPr>
                        <a:t>tổng</a:t>
                      </a:r>
                      <a:r>
                        <a:rPr lang="en-US" sz="1100" b="0" u="none" strike="noStrike" dirty="0">
                          <a:solidFill>
                            <a:srgbClr val="FF0000"/>
                          </a:solidFill>
                          <a:effectLst/>
                        </a:rPr>
                        <a:t> TAT delay 58 </a:t>
                      </a:r>
                      <a:r>
                        <a:rPr lang="en-US" sz="1100" b="0" u="none" strike="noStrike" dirty="0" err="1">
                          <a:solidFill>
                            <a:srgbClr val="FF0000"/>
                          </a:solidFill>
                          <a:effectLst/>
                        </a:rPr>
                        <a:t>ngày</a:t>
                      </a:r>
                      <a:r>
                        <a:rPr lang="en-GB" sz="1100" b="0" u="none" strike="noStrike"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rgbClr val="FF0000"/>
                          </a:solidFill>
                          <a:effectLst/>
                          <a:latin typeface="Times New Roman" panose="02020603050405020304" pitchFamily="18" charset="0"/>
                        </a:rPr>
                        <a:t>A895 (</a:t>
                      </a:r>
                      <a:r>
                        <a:rPr lang="en-GB" sz="1100" b="0" i="0" u="none" strike="noStrike" dirty="0" err="1">
                          <a:solidFill>
                            <a:srgbClr val="FF0000"/>
                          </a:solidFill>
                          <a:effectLst/>
                          <a:latin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endParaRPr>
                    </a:p>
                  </a:txBody>
                  <a:tcPr marL="0" marR="0" marT="0" marB="0" anchor="ctr"/>
                </a:tc>
                <a:extLst>
                  <a:ext uri="{0D108BD9-81ED-4DB2-BD59-A6C34878D82A}">
                    <a16:rowId xmlns:a16="http://schemas.microsoft.com/office/drawing/2014/main" val="4034618264"/>
                  </a:ext>
                </a:extLst>
              </a:tr>
              <a:tr h="333724">
                <a:tc>
                  <a:txBody>
                    <a:bodyPr/>
                    <a:lstStyle/>
                    <a:p>
                      <a:pPr algn="ctr" fontAlgn="ctr"/>
                      <a:r>
                        <a:rPr lang="en-GB" sz="1100" b="0" u="none" strike="noStrike" dirty="0">
                          <a:solidFill>
                            <a:schemeClr val="tx1"/>
                          </a:solidFill>
                          <a:effectLst/>
                        </a:rPr>
                        <a:t>21604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134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rgbClr val="FF0000"/>
                          </a:solidFill>
                          <a:effectLst/>
                        </a:rPr>
                        <a:t>03/09/2025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rPr>
                        <a:t>(</a:t>
                      </a:r>
                      <a:r>
                        <a:rPr lang="en-US" sz="1100" b="0" u="none" strike="noStrike" dirty="0" err="1">
                          <a:solidFill>
                            <a:srgbClr val="FF0000"/>
                          </a:solidFill>
                          <a:effectLst/>
                        </a:rPr>
                        <a:t>tổng</a:t>
                      </a:r>
                      <a:r>
                        <a:rPr lang="en-GB" sz="1100" b="0" u="none" strike="noStrike" dirty="0">
                          <a:solidFill>
                            <a:srgbClr val="FF0000"/>
                          </a:solidFill>
                          <a:effectLst/>
                        </a:rPr>
                        <a:t> TAT delay 26 </a:t>
                      </a:r>
                      <a:r>
                        <a:rPr lang="en-GB" sz="1100" b="0" u="none" strike="noStrike" dirty="0" err="1">
                          <a:solidFill>
                            <a:srgbClr val="FF0000"/>
                          </a:solidFill>
                          <a:effectLst/>
                        </a:rPr>
                        <a:t>ngày</a:t>
                      </a:r>
                      <a:r>
                        <a:rPr lang="en-GB" sz="1100" b="0" u="none" strike="noStrike"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i="0" u="none" strike="noStrike" dirty="0">
                          <a:solidFill>
                            <a:srgbClr val="FF0000"/>
                          </a:solidFill>
                          <a:effectLst/>
                          <a:latin typeface="Times New Roman" panose="02020603050405020304" pitchFamily="18" charset="0"/>
                        </a:rPr>
                        <a:t>A895( </a:t>
                      </a:r>
                      <a:r>
                        <a:rPr lang="en-GB" sz="1100" b="0" i="0" u="none" strike="noStrike" dirty="0" err="1">
                          <a:solidFill>
                            <a:srgbClr val="FF0000"/>
                          </a:solidFill>
                          <a:effectLst/>
                          <a:latin typeface="Times New Roman" panose="02020603050405020304" pitchFamily="18" charset="0"/>
                        </a:rPr>
                        <a:t>trống</a:t>
                      </a:r>
                      <a:r>
                        <a:rPr lang="en-GB" sz="1100" b="0" i="0" u="none" strike="noStrike" dirty="0">
                          <a:solidFill>
                            <a:srgbClr val="FF0000"/>
                          </a:solidFill>
                          <a:effectLst/>
                          <a:latin typeface="Times New Roman" panose="02020603050405020304" pitchFamily="18" charset="0"/>
                        </a:rPr>
                        <a:t> 02 </a:t>
                      </a:r>
                      <a:r>
                        <a:rPr lang="en-GB" sz="1100" b="0" i="0" u="none" strike="noStrike" dirty="0" err="1">
                          <a:solidFill>
                            <a:srgbClr val="FF0000"/>
                          </a:solidFill>
                          <a:effectLst/>
                          <a:latin typeface="Times New Roman" panose="02020603050405020304" pitchFamily="18" charset="0"/>
                        </a:rPr>
                        <a:t>động</a:t>
                      </a:r>
                      <a:r>
                        <a:rPr lang="en-GB" sz="1100" b="0" i="0" u="none" strike="noStrike" dirty="0">
                          <a:solidFill>
                            <a:srgbClr val="FF0000"/>
                          </a:solidFill>
                          <a:effectLst/>
                          <a:latin typeface="Times New Roman" panose="02020603050405020304" pitchFamily="18" charset="0"/>
                        </a:rPr>
                        <a:t> c</a:t>
                      </a:r>
                      <a:r>
                        <a:rPr lang="vi-VN" sz="1100" b="0" i="0" u="none" strike="noStrike" dirty="0">
                          <a:solidFill>
                            <a:srgbClr val="FF0000"/>
                          </a:solidFill>
                          <a:effectLst/>
                          <a:latin typeface="Times New Roman" panose="02020603050405020304" pitchFamily="18" charset="0"/>
                        </a:rPr>
                        <a:t>ơ</a:t>
                      </a:r>
                      <a:r>
                        <a:rPr lang="en-US" sz="1100" b="0" i="0" u="none" strike="noStrike" dirty="0">
                          <a:solidFill>
                            <a:srgbClr val="FF0000"/>
                          </a:solidFill>
                          <a:effectLst/>
                          <a:latin typeface="Times New Roman" panose="02020603050405020304" pitchFamily="18" charset="0"/>
                        </a:rPr>
                        <a:t>)</a:t>
                      </a:r>
                      <a:endParaRPr lang="en-GB" sz="1100" b="0" i="0" u="none" strike="noStrike" dirty="0">
                        <a:solidFill>
                          <a:srgbClr val="FF0000"/>
                        </a:solidFill>
                        <a:effectLst/>
                        <a:latin typeface="Times New Roman" panose="02020603050405020304" pitchFamily="18" charset="0"/>
                      </a:endParaRPr>
                    </a:p>
                  </a:txBody>
                  <a:tcPr marL="0" marR="0" marT="0" marB="0" anchor="ctr"/>
                </a:tc>
                <a:extLst>
                  <a:ext uri="{0D108BD9-81ED-4DB2-BD59-A6C34878D82A}">
                    <a16:rowId xmlns:a16="http://schemas.microsoft.com/office/drawing/2014/main" val="4245775366"/>
                  </a:ext>
                </a:extLst>
              </a:tr>
              <a:tr h="186273">
                <a:tc>
                  <a:txBody>
                    <a:bodyPr/>
                    <a:lstStyle/>
                    <a:p>
                      <a:pPr algn="ctr" fontAlgn="ctr"/>
                      <a:r>
                        <a:rPr lang="en-GB" sz="1100" b="0" u="none" strike="noStrike" dirty="0">
                          <a:solidFill>
                            <a:schemeClr val="tx1"/>
                          </a:solidFill>
                          <a:effectLst/>
                        </a:rPr>
                        <a:t>21048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08/11/2025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TBD</a:t>
                      </a:r>
                    </a:p>
                  </a:txBody>
                  <a:tcPr marL="0" marR="0" marT="0" marB="0" anchor="ctr"/>
                </a:tc>
                <a:extLst>
                  <a:ext uri="{0D108BD9-81ED-4DB2-BD59-A6C34878D82A}">
                    <a16:rowId xmlns:a16="http://schemas.microsoft.com/office/drawing/2014/main" val="2430177177"/>
                  </a:ext>
                </a:extLst>
              </a:tr>
              <a:tr h="186273">
                <a:tc>
                  <a:txBody>
                    <a:bodyPr/>
                    <a:lstStyle/>
                    <a:p>
                      <a:pPr algn="ctr" fontAlgn="ctr"/>
                      <a:r>
                        <a:rPr lang="en-US" sz="1100" b="0" u="none" strike="noStrike" dirty="0">
                          <a:solidFill>
                            <a:schemeClr val="tx1"/>
                          </a:solidFill>
                          <a:effectLst/>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TBD</a:t>
                      </a:r>
                    </a:p>
                  </a:txBody>
                  <a:tcPr marL="0" marR="0" marT="0" marB="0" anchor="ctr"/>
                </a:tc>
                <a:extLst>
                  <a:ext uri="{0D108BD9-81ED-4DB2-BD59-A6C34878D82A}">
                    <a16:rowId xmlns:a16="http://schemas.microsoft.com/office/drawing/2014/main" val="2287308911"/>
                  </a:ext>
                </a:extLst>
              </a:tr>
              <a:tr h="186273">
                <a:tc>
                  <a:txBody>
                    <a:bodyPr/>
                    <a:lstStyle/>
                    <a:p>
                      <a:pPr algn="ctr" fontAlgn="ctr"/>
                      <a:r>
                        <a:rPr lang="en-US" sz="1100" b="0" u="none" strike="noStrike" dirty="0">
                          <a:solidFill>
                            <a:schemeClr val="tx1"/>
                          </a:solidFill>
                          <a:effectLst/>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dirty="0">
                          <a:solidFill>
                            <a:schemeClr val="tx1"/>
                          </a:solidFill>
                          <a:effectLst/>
                          <a:latin typeface="Times New Roman" panose="02020603050405020304" pitchFamily="18" charset="0"/>
                        </a:rPr>
                        <a:t>HAESL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02/12/2025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TBD</a:t>
                      </a:r>
                    </a:p>
                  </a:txBody>
                  <a:tcPr marL="0" marR="0" marT="0" marB="0" anchor="ctr"/>
                </a:tc>
                <a:extLst>
                  <a:ext uri="{0D108BD9-81ED-4DB2-BD59-A6C34878D82A}">
                    <a16:rowId xmlns:a16="http://schemas.microsoft.com/office/drawing/2014/main" val="1533439476"/>
                  </a:ext>
                </a:extLst>
              </a:tr>
              <a:tr h="186273">
                <a:tc>
                  <a:txBody>
                    <a:bodyPr/>
                    <a:lstStyle/>
                    <a:p>
                      <a:pPr algn="ctr" fontAlgn="ctr"/>
                      <a:r>
                        <a:rPr lang="en-GB" sz="1100" b="0" i="0" u="none" strike="noStrike">
                          <a:solidFill>
                            <a:schemeClr val="tx1"/>
                          </a:solidFill>
                          <a:effectLst/>
                          <a:latin typeface="Times New Roman" panose="02020603050405020304" pitchFamily="18" charset="0"/>
                        </a:rPr>
                        <a:t>21425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OFF</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TBD</a:t>
                      </a:r>
                    </a:p>
                  </a:txBody>
                  <a:tcPr marL="0" marR="0" marT="0" marB="0" anchor="ctr"/>
                </a:tc>
                <a:extLst>
                  <a:ext uri="{0D108BD9-81ED-4DB2-BD59-A6C34878D82A}">
                    <a16:rowId xmlns:a16="http://schemas.microsoft.com/office/drawing/2014/main" val="3223524369"/>
                  </a:ext>
                </a:extLst>
              </a:tr>
              <a:tr h="186273">
                <a:tc>
                  <a:txBody>
                    <a:bodyPr/>
                    <a:lstStyle/>
                    <a:p>
                      <a:pPr algn="ctr" fontAlgn="ctr"/>
                      <a:r>
                        <a:rPr lang="en-GB" sz="1100" b="0" i="0" u="none" strike="noStrike" dirty="0">
                          <a:solidFill>
                            <a:schemeClr val="tx1"/>
                          </a:solidFill>
                          <a:effectLst/>
                          <a:latin typeface="Times New Roman" panose="02020603050405020304" pitchFamily="18" charset="0"/>
                        </a:rPr>
                        <a:t>21418</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OFF</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TBD</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2026</a:t>
                      </a: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TBD</a:t>
                      </a:r>
                    </a:p>
                  </a:txBody>
                  <a:tcPr marL="0" marR="0" marT="0" marB="0" anchor="ctr"/>
                </a:tc>
                <a:extLst>
                  <a:ext uri="{0D108BD9-81ED-4DB2-BD59-A6C34878D82A}">
                    <a16:rowId xmlns:a16="http://schemas.microsoft.com/office/drawing/2014/main" val="3946219434"/>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chờ</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do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thiếu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73504" y="5924699"/>
          <a:ext cx="5765457" cy="57912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đủ</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vào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cuối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T8</a:t>
                      </a:r>
                      <a:r>
                        <a:rPr lang="en-US" sz="1100" dirty="0">
                          <a:latin typeface="Times New Roman" panose="02020603050405020304" pitchFamily="18" charset="0"/>
                          <a:cs typeface="Times New Roman" panose="02020603050405020304" pitchFamily="18" charset="0"/>
                        </a:rPr>
                        <a:t> – </a:t>
                      </a:r>
                      <a:r>
                        <a:rPr lang="en-US" sz="1100" dirty="0" err="1">
                          <a:latin typeface="Times New Roman" panose="02020603050405020304" pitchFamily="18" charset="0"/>
                          <a:cs typeface="Times New Roman" panose="02020603050405020304" pitchFamily="18" charset="0"/>
                        </a:rPr>
                        <a:t>đầu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T9</a:t>
                      </a:r>
                      <a:r>
                        <a:rPr lang="en-US" sz="1100" dirty="0">
                          <a:latin typeface="Times New Roman" panose="02020603050405020304" pitchFamily="18" charset="0"/>
                          <a:cs typeface="Times New Roman" panose="02020603050405020304" pitchFamily="18" charset="0"/>
                        </a:rPr>
                        <a:t>)</a:t>
                      </a: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173504" y="5555367"/>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(01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112" y="842032"/>
            <a:ext cx="5909513"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200" dirty="0">
                <a:solidFill>
                  <a:prstClr val="black"/>
                </a:solidFill>
                <a:latin typeface="Times New Roman" panose="02020603050405020304" pitchFamily="18" charset="0"/>
                <a:cs typeface="Times New Roman" panose="02020603050405020304" pitchFamily="18" charset="0"/>
              </a:rPr>
              <a:t>(</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A898</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A894)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gây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phải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giờ</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tháo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ngoài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Blade (A889#1 21088 </a:t>
            </a:r>
            <a:r>
              <a:rPr lang="en-US" sz="1200" dirty="0">
                <a:solidFill>
                  <a:prstClr val="black"/>
                </a:solidFill>
                <a:latin typeface="Times New Roman" panose="02020603050405020304" pitchFamily="18" charset="0"/>
                <a:cs typeface="Times New Roman" panose="02020603050405020304" pitchFamily="18" charset="0"/>
              </a:rPr>
              <a:t>100</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FC); A898#2 21268 100FC;</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Crack IPC (A898#2 21268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A894#1 21317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crack soi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suất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100FC, A889#1 21088 interval 200FC);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High Oil Consumption (A887#2 21369); Oil Hiding (A889#2 21034, A888#1 21052)</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9870" y="335369"/>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 name="Rectangle 5">
            <a:extLst>
              <a:ext uri="{FF2B5EF4-FFF2-40B4-BE49-F238E27FC236}">
                <a16:creationId xmlns:a16="http://schemas.microsoft.com/office/drawing/2014/main" id="{2BA759F6-D850-4EB4-AD1E-1FF6AF20FC2A}"/>
              </a:ext>
            </a:extLst>
          </p:cNvPr>
          <p:cNvSpPr/>
          <p:nvPr/>
        </p:nvSpPr>
        <p:spPr>
          <a:xfrm>
            <a:off x="6934200" y="5743545"/>
            <a:ext cx="2971800" cy="400110"/>
          </a:xfrm>
          <a:prstGeom prst="rect">
            <a:avLst/>
          </a:prstGeom>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T8</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tăng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thành</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02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tàu</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AOG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từ</a:t>
            </a:r>
            <a:r>
              <a:rPr lang="en-US" sz="1000" i="1" dirty="0">
                <a:solidFill>
                  <a:srgbClr val="FF0000"/>
                </a:solidFill>
                <a:latin typeface="Times New Roman" panose="02020603050405020304" pitchFamily="18" charset="0"/>
                <a:cs typeface="Times New Roman" panose="02020603050405020304" pitchFamily="18" charset="0"/>
              </a:rPr>
              <a:t> 07/08 </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do </a:t>
            </a:r>
            <a:r>
              <a:rPr kumimoji="0" lang="en-US" sz="1000" b="0" i="1"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21414, 21604, 21137 </a:t>
            </a:r>
            <a:r>
              <a:rPr kumimoji="0" lang="en-US" sz="1000" b="0" i="1" u="none" strike="noStrike" kern="1200" cap="none" spc="0" normalizeH="0" baseline="0" noProof="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000" b="0" i="1"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rPr>
              <a:t> muộn</a:t>
            </a:r>
            <a:r>
              <a:rPr lang="en-US" sz="1000" i="1">
                <a:solidFill>
                  <a:srgbClr val="FF0000"/>
                </a:solidFill>
                <a:latin typeface="Times New Roman" panose="02020603050405020304" pitchFamily="18" charset="0"/>
                <a:cs typeface="Times New Roman" panose="02020603050405020304" pitchFamily="18" charset="0"/>
              </a:rPr>
              <a:t>.</a:t>
            </a:r>
            <a:endParaRPr kumimoji="0" lang="en-GB" sz="1000" b="0" i="1"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77D4BF57-1C59-4961-BDE7-C3F8E37C5EBD}"/>
              </a:ext>
            </a:extLst>
          </p:cNvPr>
          <p:cNvGraphicFramePr>
            <a:graphicFrameLocks noGrp="1"/>
          </p:cNvGraphicFramePr>
          <p:nvPr/>
        </p:nvGraphicFramePr>
        <p:xfrm>
          <a:off x="173504" y="3806679"/>
          <a:ext cx="5740762" cy="1727400"/>
        </p:xfrm>
        <a:graphic>
          <a:graphicData uri="http://schemas.openxmlformats.org/drawingml/2006/table">
            <a:tbl>
              <a:tblPr firstRow="1" bandRow="1">
                <a:tableStyleId>{21E4AEA4-8DFA-4A89-87EB-49C32662AFE0}</a:tableStyleId>
              </a:tblPr>
              <a:tblGrid>
                <a:gridCol w="861494">
                  <a:extLst>
                    <a:ext uri="{9D8B030D-6E8A-4147-A177-3AD203B41FA5}">
                      <a16:colId xmlns:a16="http://schemas.microsoft.com/office/drawing/2014/main" val="1930757539"/>
                    </a:ext>
                  </a:extLst>
                </a:gridCol>
                <a:gridCol w="1371600">
                  <a:extLst>
                    <a:ext uri="{9D8B030D-6E8A-4147-A177-3AD203B41FA5}">
                      <a16:colId xmlns:a16="http://schemas.microsoft.com/office/drawing/2014/main" val="1674463010"/>
                    </a:ext>
                  </a:extLst>
                </a:gridCol>
                <a:gridCol w="3507668">
                  <a:extLst>
                    <a:ext uri="{9D8B030D-6E8A-4147-A177-3AD203B41FA5}">
                      <a16:colId xmlns:a16="http://schemas.microsoft.com/office/drawing/2014/main" val="3226218833"/>
                    </a:ext>
                  </a:extLst>
                </a:gridCol>
              </a:tblGrid>
              <a:tr h="0">
                <a:tc>
                  <a:txBody>
                    <a:bodyPr/>
                    <a:lstStyle/>
                    <a:p>
                      <a:r>
                        <a:rPr lang="en-US" sz="1100">
                          <a:latin typeface="Times New Roman" panose="02020603050405020304" pitchFamily="18" charset="0"/>
                          <a:cs typeface="Times New Roman" panose="02020603050405020304" pitchFamily="18" charset="0"/>
                        </a:rPr>
                        <a:t>Động c</a:t>
                      </a:r>
                      <a:r>
                        <a:rPr lang="vi-VN" sz="110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t>Vị trí</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a:latin typeface="Times New Roman" panose="02020603050405020304" pitchFamily="18" charset="0"/>
                          <a:cs typeface="Times New Roman" panose="02020603050405020304" pitchFamily="18" charset="0"/>
                        </a:rPr>
                        <a:t>KH tháo</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t>21268</a:t>
                      </a:r>
                      <a:endParaRPr lang="en-US" sz="1100" b="1"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A898</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Đầu T8. Còn ~30FC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3218884716"/>
                  </a:ext>
                </a:extLst>
              </a:tr>
              <a:tr h="0">
                <a:tc>
                  <a:txBody>
                    <a:bodyPr/>
                    <a:lstStyle/>
                    <a:p>
                      <a:r>
                        <a:rPr lang="en-US" sz="1100" b="0">
                          <a:latin typeface="Times New Roman" panose="02020603050405020304" pitchFamily="18" charset="0"/>
                          <a:cs typeface="Times New Roman" panose="02020603050405020304" pitchFamily="18" charset="0"/>
                        </a:rPr>
                        <a:t>21346</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Giữa T8. Còn ~50FC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2115461348"/>
                  </a:ext>
                </a:extLst>
              </a:tr>
              <a:tr h="0">
                <a:tc>
                  <a:txBody>
                    <a:bodyPr/>
                    <a:lstStyle/>
                    <a:p>
                      <a:r>
                        <a:rPr lang="en-US" sz="1100" b="0">
                          <a:latin typeface="Times New Roman" panose="02020603050405020304" pitchFamily="18" charset="0"/>
                          <a:cs typeface="Times New Roman" panose="02020603050405020304" pitchFamily="18" charset="0"/>
                        </a:rPr>
                        <a:t>21317</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A894</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Giữa T9. Còn ~120FC (+thời gian tàu thay Eng#2)</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3390329999"/>
                  </a:ext>
                </a:extLst>
              </a:tr>
              <a:tr h="0">
                <a:tc>
                  <a:txBody>
                    <a:bodyPr/>
                    <a:lstStyle/>
                    <a:p>
                      <a:r>
                        <a:rPr lang="en-US" sz="1100" b="0">
                          <a:latin typeface="Times New Roman" panose="02020603050405020304" pitchFamily="18" charset="0"/>
                          <a:cs typeface="Times New Roman" panose="02020603050405020304" pitchFamily="18" charset="0"/>
                        </a:rPr>
                        <a:t>21170</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Đầu T9. Còn ~130FC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1994482227"/>
                  </a:ext>
                </a:extLst>
              </a:tr>
              <a:tr h="0">
                <a:tc>
                  <a:txBody>
                    <a:bodyPr/>
                    <a:lstStyle/>
                    <a:p>
                      <a:r>
                        <a:rPr lang="en-US" sz="1100" b="0">
                          <a:latin typeface="Times New Roman" panose="02020603050405020304" pitchFamily="18" charset="0"/>
                          <a:cs typeface="Times New Roman" panose="02020603050405020304" pitchFamily="18" charset="0"/>
                        </a:rPr>
                        <a:t>21368</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A892</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Đầu T10. Còn ~200FC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1605329921"/>
                  </a:ext>
                </a:extLst>
              </a:tr>
              <a:tr h="0">
                <a:tc>
                  <a:txBody>
                    <a:bodyPr/>
                    <a:lstStyle/>
                    <a:p>
                      <a:r>
                        <a:rPr lang="en-US" sz="1100" b="0">
                          <a:latin typeface="Times New Roman" panose="02020603050405020304" pitchFamily="18" charset="0"/>
                          <a:cs typeface="Times New Roman" panose="02020603050405020304" pitchFamily="18" charset="0"/>
                        </a:rPr>
                        <a:t>21369</a:t>
                      </a:r>
                      <a:endParaRPr lang="en-US" sz="1100" b="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A887</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latin typeface="Times New Roman" panose="02020603050405020304" pitchFamily="18" charset="0"/>
                          <a:cs typeface="Times New Roman" panose="02020603050405020304" pitchFamily="18" charset="0"/>
                        </a:rPr>
                        <a:t>Đầu T11. Còn ~350FC</a:t>
                      </a:r>
                      <a:endParaRPr lang="en-US" sz="1100" dirty="0">
                        <a:latin typeface="Times New Roman" panose="02020603050405020304" pitchFamily="18" charset="0"/>
                        <a:cs typeface="Times New Roman" panose="02020603050405020304" pitchFamily="18" charset="0"/>
                      </a:endParaRPr>
                    </a:p>
                  </a:txBody>
                  <a:tcPr marL="36000" marR="36000" marT="36000" marB="36000" anchor="ctr"/>
                </a:tc>
                <a:extLst>
                  <a:ext uri="{0D108BD9-81ED-4DB2-BD59-A6C34878D82A}">
                    <a16:rowId xmlns:a16="http://schemas.microsoft.com/office/drawing/2014/main" val="1844911163"/>
                  </a:ext>
                </a:extLst>
              </a:tr>
            </a:tbl>
          </a:graphicData>
        </a:graphic>
      </p:graphicFrame>
      <p:sp>
        <p:nvSpPr>
          <p:cNvPr id="18" name="TextBox 17">
            <a:extLst>
              <a:ext uri="{FF2B5EF4-FFF2-40B4-BE49-F238E27FC236}">
                <a16:creationId xmlns:a16="http://schemas.microsoft.com/office/drawing/2014/main" id="{DD5D1154-5101-4974-B303-960D55C1C05F}"/>
              </a:ext>
            </a:extLst>
          </p:cNvPr>
          <p:cNvSpPr txBox="1"/>
          <p:nvPr/>
        </p:nvSpPr>
        <p:spPr>
          <a:xfrm>
            <a:off x="140206" y="3457335"/>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Các động c</a:t>
            </a:r>
            <a:r>
              <a:rPr kumimoji="0" lang="vi-VN"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đến lịch tháo</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72105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37</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Q3-Q4/2025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28140"/>
          <a:ext cx="6207275" cy="2308703"/>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398718">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302940">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Oil Leak,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33659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ED0206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B221#1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4303709"/>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15-17/08/2025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ED0206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20-22/10/2025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ED0233</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5</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05-07/11/2025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OVH, lắp ED0214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3741233"/>
                  </a:ext>
                </a:extLst>
              </a:tr>
              <a:tr h="317612">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6</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05-07/12/2025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ED0217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5397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1" y="3368377"/>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4" y="3793658"/>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T12/2025. Do động cơ sửa chữa về muộn.</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00568"/>
          <a:ext cx="5144652" cy="2328041"/>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365258">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441163">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15/07/2025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B218#2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979002"/>
                  </a:ext>
                </a:extLst>
              </a:tr>
              <a:tr h="4538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08/2025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B221#1</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538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297242">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297242">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799" y="3773237"/>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8" y="3336844"/>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13144" y="5466723"/>
            <a:ext cx="11772189" cy="141365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Động cơ B218#2 ESN ED0235 tháo ngoài KH do oil leak khoang ổ bi số 5. Phối hợp ban QLVT về P/A sửa chữa cho động cơ này do ban đầu KH tháo để trong kho chờ bán tàu.</a:t>
            </a:r>
          </a:p>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03 động cơ sửa OVH  dk extend TAT~40 days so với KH ban đầu</a:t>
            </a:r>
            <a:r>
              <a:rPr lang="en-US" sz="140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a:solidFill>
                  <a:schemeClr val="tx1"/>
                </a:solidFill>
                <a:latin typeface="Times New Roman" panose="02020603050405020304" pitchFamily="18" charset="0"/>
                <a:cs typeface="Times New Roman" panose="02020603050405020304" pitchFamily="18" charset="0"/>
              </a:rPr>
              <a:t>rủi ro thiếu 01 động cơ GĐ cuối T9-T10. Tiếp tục phối hợp với ban QLVT làm việc với Shop rút ngắn TAT hạn chế ảnh hưởng nguồn lực</a:t>
            </a:r>
            <a:r>
              <a:rPr lang="en-US" sz="1400">
                <a:solidFill>
                  <a:srgbClr val="ED0000"/>
                </a:solidFill>
                <a:latin typeface="Times New Roman" panose="02020603050405020304" pitchFamily="18" charset="0"/>
                <a:cs typeface="Times New Roman" panose="02020603050405020304" pitchFamily="18" charset="0"/>
              </a:rPr>
              <a:t>.</a:t>
            </a:r>
          </a:p>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Đã bàn giao cho K6 thuê khô tàu B225 từ 28/06/2025 – 25/10/2025 và gia hạn cho K6 thuê tàu B220 từ T7/2025 đến T11/2025.</a:t>
            </a:r>
          </a:p>
        </p:txBody>
      </p:sp>
    </p:spTree>
    <p:extLst>
      <p:ext uri="{BB962C8B-B14F-4D97-AF65-F5344CB8AC3E}">
        <p14:creationId xmlns:p14="http://schemas.microsoft.com/office/powerpoint/2010/main" val="40497344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537426"/>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98005">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A620</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a:t>
                      </a:r>
                      <a:r>
                        <a:rPr lang="vi-VN" sz="1500" b="0" i="0" u="none" strike="noStrike" dirty="0">
                          <a:solidFill>
                            <a:schemeClr val="tx1"/>
                          </a:solidFill>
                          <a:effectLst/>
                          <a:latin typeface="Times New Roman" panose="02020603050405020304" pitchFamily="18" charset="0"/>
                          <a:cs typeface="Times New Roman" panose="02020603050405020304" pitchFamily="18" charset="0"/>
                        </a:rPr>
                        <a:t>-</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A332</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A327</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31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-Aug-25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endParaRPr lang="vi-VN"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376311">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P-4774</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18-Jul-25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Sep-25</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endParaRPr lang="vi-VN"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1941714106"/>
                  </a:ext>
                </a:extLst>
              </a:tr>
              <a:tr h="376311">
                <a:tc>
                  <a:txBody>
                    <a:bodyPr/>
                    <a:lstStyle/>
                    <a:p>
                      <a:pPr algn="ctr" fontAlgn="ctr">
                        <a:buNone/>
                      </a:pPr>
                      <a:r>
                        <a:rPr lang="en-US" sz="15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P-5117</a:t>
                      </a:r>
                    </a:p>
                  </a:txBody>
                  <a:tcPr marL="4763" marR="4763" marT="4763"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TBD (shipping to HNW)</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mn-lt"/>
                          <a:cs typeface="Times New Roman" panose="02020603050405020304" pitchFamily="18" charset="0"/>
                        </a:rPr>
                        <a:t>TBD</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algn="ctr" fontAlgn="ctr"/>
                      <a:r>
                        <a:rPr lang="vi-VN" sz="1500" b="0" i="0" u="none" strike="noStrike" dirty="0">
                          <a:solidFill>
                            <a:schemeClr val="tx1"/>
                          </a:solidFill>
                          <a:effectLst/>
                          <a:latin typeface="+mn-lt"/>
                          <a:cs typeface="Times New Roman" panose="02020603050405020304" pitchFamily="18" charset="0"/>
                        </a:rPr>
                        <a:t>TBD</a:t>
                      </a:r>
                      <a:endParaRPr lang="vi-VN"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661329750"/>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P-6347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13-Aug-25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59025434"/>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P-4887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11-Jul-25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9-Aug-25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mn-lt"/>
                          <a:cs typeface="Times New Roman" panose="02020603050405020304" pitchFamily="18" charset="0"/>
                        </a:rPr>
                        <a:t>A616</a:t>
                      </a:r>
                      <a:endParaRPr lang="vi-VN" sz="1500" b="0" i="0" u="none" strike="noStrike" dirty="0">
                        <a:solidFill>
                          <a:schemeClr val="tx1"/>
                        </a:solidFill>
                        <a:effectLst/>
                        <a:latin typeface="+mn-lt"/>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039005"/>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Z925603</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23-Jun-25</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23-Sep-25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A862</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01</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t>
                      </a:r>
                      <a:r>
                        <a:rPr lang="vi-VN" sz="1500" b="0" i="0" u="none" strike="noStrike" dirty="0">
                          <a:solidFill>
                            <a:schemeClr val="tx1"/>
                          </a:solidFill>
                          <a:effectLst/>
                          <a:latin typeface="Times New Roman" panose="02020603050405020304" pitchFamily="18" charset="0"/>
                          <a:cs typeface="Times New Roman" panose="02020603050405020304" pitchFamily="18" charset="0"/>
                        </a:rPr>
                        <a:t>Aug</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A898</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31387" y="5245394"/>
            <a:ext cx="11567481" cy="120032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Hiện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QLVT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thuê</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01 APU spare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điểm</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hè</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9909679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14</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07</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/2025 – </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20</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/07/2025:</a:t>
            </a:r>
          </a:p>
          <a:p>
            <a:pPr marL="380990" lvl="0" indent="-380990" defTabSz="1219170">
              <a:buFont typeface="Times New Roman" panose="02020603050405020304" pitchFamily="18" charset="0"/>
              <a:buChar char="⁃"/>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A615, A325.</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A879 (OPS test).</a:t>
            </a:r>
          </a:p>
          <a:p>
            <a:pPr marL="380990" indent="-380990">
              <a:buFont typeface="Times New Roman" panose="02020603050405020304" pitchFamily="18" charset="0"/>
              <a:buChar char="⁃"/>
              <a:defRPr/>
            </a:pPr>
            <a:r>
              <a:rPr kumimoji="0" lang="vi-VN"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APU c</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lang="en-US" sz="1600" dirty="0">
                <a:solidFill>
                  <a:prstClr val="black"/>
                </a:solidFill>
                <a:latin typeface="Times New Roman" panose="02020603050405020304" pitchFamily="18" charset="0"/>
                <a:cs typeface="Times New Roman" panose="02020603050405020304" pitchFamily="18" charset="0"/>
              </a:rPr>
              <a:t>A615, A325.</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4409354"/>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260200">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686051">
                <a:tc>
                  <a:txBody>
                    <a:bodyPr/>
                    <a:lstStyle/>
                    <a:p>
                      <a:pPr marL="0" marR="0" algn="ctr">
                        <a:spcBef>
                          <a:spcPts val="0"/>
                        </a:spcBef>
                        <a:spcAft>
                          <a:spcPts val="0"/>
                        </a:spcAf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615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BLEED AIR SUPPLY SYSTEM INOP</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0" kern="1200" dirty="0">
                          <a:solidFill>
                            <a:schemeClr val="tx1"/>
                          </a:solidFill>
                          <a:effectLst/>
                          <a:latin typeface="Times New Roman" panose="02020603050405020304" pitchFamily="18" charset="0"/>
                          <a:ea typeface="+mn-ea"/>
                          <a:cs typeface="Times New Roman" panose="02020603050405020304" pitchFamily="18" charset="0"/>
                        </a:rPr>
                        <a:t>T/S  HAN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đêm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21/</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07.</a:t>
                      </a:r>
                    </a:p>
                    <a:p>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thấp giờ. VAECO sẽ thực hiện thay IGVA.</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dụng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7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còn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a:solidFill>
                            <a:schemeClr val="tx1"/>
                          </a:solidFill>
                          <a:effectLst/>
                          <a:latin typeface="Times New Roman" panose="02020603050405020304" pitchFamily="18" charset="0"/>
                          <a:ea typeface="+mn-ea"/>
                          <a:cs typeface="Times New Roman" panose="02020603050405020304" pitchFamily="18" charset="0"/>
                        </a:rPr>
                        <a:t>01</a:t>
                      </a:r>
                      <a:r>
                        <a:rPr lang="en-US" sz="1500" b="0" kern="120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thuê</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A892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13/07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tuy nhiên vì giá APU đang bị hỏng nên tạm lùi lịch. QLVT đang làm việc với shop &amp; HNW song song 2 phương án: sửa giá và yêu cầu cấp tạm 1 giá APU.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giá</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sẽ</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21/7.</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509">
                <a:tc>
                  <a:txBody>
                    <a:bodyPr/>
                    <a:lstStyle/>
                    <a:p>
                      <a:pPr marL="0" marR="0" algn="ctr">
                        <a:spcBef>
                          <a:spcPts val="0"/>
                        </a:spcBef>
                        <a:spcAft>
                          <a:spcPts val="0"/>
                        </a:spcAft>
                      </a:pP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A325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INOP </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500" b="0" kern="1200" dirty="0">
                          <a:solidFill>
                            <a:schemeClr val="tx1"/>
                          </a:solidFill>
                          <a:effectLst/>
                          <a:latin typeface="Times New Roman" panose="02020603050405020304" pitchFamily="18" charset="0"/>
                          <a:ea typeface="+mn-ea"/>
                          <a:cs typeface="Times New Roman" panose="02020603050405020304" pitchFamily="18" charset="0"/>
                        </a:rPr>
                        <a:t>T/S HAN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đêm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20/</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07.</a:t>
                      </a:r>
                    </a:p>
                    <a:p>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chưa cao giờ. VAECO sẽ thực hiện thay FCU.</a:t>
                      </a: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255579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40</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759824" y="740535"/>
            <a:ext cx="11068012" cy="52792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300" b="1" dirty="0">
                <a:cs typeface="Times New Roman" panose="02020603050405020304" pitchFamily="18" charset="0"/>
              </a:rPr>
              <a:t>I. A321: </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a:t>
            </a:r>
            <a:r>
              <a:rPr lang="es-ES" sz="1300" b="1" dirty="0">
                <a:solidFill>
                  <a:srgbClr val="FF0000"/>
                </a:solidFill>
                <a:cs typeface="Times New Roman" panose="02020603050405020304" pitchFamily="18" charset="0"/>
                <a:sym typeface="Wingdings" panose="05000000000000000000" pitchFamily="2" charset="2"/>
              </a:rPr>
              <a:t>1. </a:t>
            </a:r>
            <a:r>
              <a:rPr lang="en-US" sz="1300" b="1" dirty="0">
                <a:solidFill>
                  <a:srgbClr val="FF0000"/>
                </a:solidFill>
                <a:cs typeface="Times New Roman" panose="02020603050405020304" pitchFamily="18" charset="0"/>
                <a:sym typeface="Wingdings" panose="05000000000000000000" pitchFamily="2" charset="2"/>
              </a:rPr>
              <a:t>A622_HAN_ MO18, ENG#1;2CHG, EA08-EA11, RTS_12-23/7: Est 20/7  </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a:t>
            </a:r>
            <a:r>
              <a:rPr lang="en-US" sz="1300" dirty="0" err="1">
                <a:cs typeface="Times New Roman" panose="02020603050405020304" pitchFamily="18" charset="0"/>
                <a:sym typeface="Wingdings" panose="05000000000000000000" pitchFamily="2" charset="2"/>
              </a:rPr>
              <a:t>Tàu</a:t>
            </a:r>
            <a:r>
              <a:rPr lang="en-US" sz="1300" dirty="0">
                <a:cs typeface="Times New Roman" panose="02020603050405020304" pitchFamily="18" charset="0"/>
                <a:sym typeface="Wingdings" panose="05000000000000000000" pitchFamily="2" charset="2"/>
              </a:rPr>
              <a:t> release 17h45, 20/7,</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a:t>
            </a:r>
            <a:r>
              <a:rPr lang="en-US" sz="1300" dirty="0" err="1">
                <a:cs typeface="Times New Roman" panose="02020603050405020304" pitchFamily="18" charset="0"/>
                <a:sym typeface="Wingdings" panose="05000000000000000000" pitchFamily="2" charset="2"/>
              </a:rPr>
              <a:t>Triển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khai</a:t>
            </a:r>
            <a:r>
              <a:rPr lang="en-US" sz="1300" dirty="0">
                <a:cs typeface="Times New Roman" panose="02020603050405020304" pitchFamily="18" charset="0"/>
                <a:sym typeface="Wingdings" panose="05000000000000000000" pitchFamily="2" charset="2"/>
              </a:rPr>
              <a:t> bay </a:t>
            </a:r>
            <a:r>
              <a:rPr lang="en-US" sz="1300" dirty="0" err="1">
                <a:cs typeface="Times New Roman" panose="02020603050405020304" pitchFamily="18" charset="0"/>
                <a:sym typeface="Wingdings" panose="05000000000000000000" pitchFamily="2" charset="2"/>
              </a:rPr>
              <a:t>thư</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tàu</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dư</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kiến</a:t>
            </a:r>
            <a:r>
              <a:rPr lang="en-US" sz="1300" dirty="0">
                <a:cs typeface="Times New Roman" panose="02020603050405020304" pitchFamily="18" charset="0"/>
                <a:sym typeface="Wingdings" panose="05000000000000000000" pitchFamily="2" charset="2"/>
              </a:rPr>
              <a:t> 14h, 21/7,</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CAAV sẽ </a:t>
            </a:r>
            <a:r>
              <a:rPr lang="en-US" sz="1300" dirty="0" err="1">
                <a:cs typeface="Times New Roman" panose="02020603050405020304" pitchFamily="18" charset="0"/>
                <a:sym typeface="Wingdings" panose="05000000000000000000" pitchFamily="2" charset="2"/>
              </a:rPr>
              <a:t>kiểm</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tra</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va</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gia</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han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CofA</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cho</a:t>
            </a:r>
            <a:r>
              <a:rPr lang="en-US" sz="1300" dirty="0">
                <a:cs typeface="Times New Roman" panose="02020603050405020304" pitchFamily="18" charset="0"/>
                <a:sym typeface="Wingdings" panose="05000000000000000000" pitchFamily="2" charset="2"/>
              </a:rPr>
              <a:t> A622.</a:t>
            </a:r>
          </a:p>
          <a:p>
            <a:pPr marL="12700" indent="0" algn="just">
              <a:buClr>
                <a:schemeClr val="dk1"/>
              </a:buClr>
              <a:buSzPts val="1100"/>
              <a:buNone/>
            </a:pPr>
            <a:r>
              <a:rPr lang="en-US" sz="1300" b="1" dirty="0">
                <a:cs typeface="Times New Roman" panose="02020603050405020304" pitchFamily="18" charset="0"/>
              </a:rPr>
              <a:t>II. A350: </a:t>
            </a:r>
          </a:p>
          <a:p>
            <a:pPr marL="12700" indent="0" algn="just">
              <a:lnSpc>
                <a:spcPct val="100000"/>
              </a:lnSpc>
              <a:spcBef>
                <a:spcPts val="600"/>
              </a:spcBef>
              <a:buSzPts val="1100"/>
              <a:buNone/>
            </a:pPr>
            <a:r>
              <a:rPr lang="es-ES" sz="1300" b="1" dirty="0">
                <a:solidFill>
                  <a:srgbClr val="FF0000"/>
                </a:solidFill>
                <a:cs typeface="Times New Roman" panose="02020603050405020304" pitchFamily="18" charset="0"/>
                <a:sym typeface="Wingdings" panose="05000000000000000000" pitchFamily="2" charset="2"/>
              </a:rPr>
              <a:t>    </a:t>
            </a:r>
            <a:r>
              <a:rPr lang="en-US" sz="1300" b="1" dirty="0">
                <a:solidFill>
                  <a:srgbClr val="FF0000"/>
                </a:solidFill>
                <a:cs typeface="Times New Roman" panose="02020603050405020304" pitchFamily="18" charset="0"/>
                <a:sym typeface="Wingdings" panose="05000000000000000000" pitchFamily="2" charset="2"/>
              </a:rPr>
              <a:t>Nil</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b="1" dirty="0">
                <a:cs typeface="Times New Roman" panose="02020603050405020304" pitchFamily="18" charset="0"/>
              </a:rPr>
              <a:t>III. ATR72:</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a:t>
            </a:r>
            <a:r>
              <a:rPr lang="en-US" sz="1300" b="1" dirty="0">
                <a:solidFill>
                  <a:srgbClr val="FF0000"/>
                </a:solidFill>
                <a:cs typeface="Times New Roman" panose="02020603050405020304" pitchFamily="18" charset="0"/>
                <a:sym typeface="Wingdings" panose="05000000000000000000" pitchFamily="2" charset="2"/>
              </a:rPr>
              <a:t>Nil</a:t>
            </a:r>
            <a:endParaRPr lang="fr-FR" sz="1300" dirty="0">
              <a:cs typeface="Times New Roman" panose="02020603050405020304" pitchFamily="18" charset="0"/>
              <a:sym typeface="Wingdings" panose="05000000000000000000" pitchFamily="2" charset="2"/>
            </a:endParaRPr>
          </a:p>
          <a:p>
            <a:pPr marL="12700" indent="0" algn="just">
              <a:lnSpc>
                <a:spcPct val="150000"/>
              </a:lnSpc>
              <a:spcBef>
                <a:spcPts val="0"/>
              </a:spcBef>
              <a:buSzPts val="1100"/>
              <a:buNone/>
            </a:pPr>
            <a:endParaRPr lang="fr-FR" sz="1300" dirty="0">
              <a:cs typeface="Times New Roman" panose="02020603050405020304" pitchFamily="18" charset="0"/>
              <a:sym typeface="Wingdings" panose="05000000000000000000" pitchFamily="2" charset="2"/>
            </a:endParaRPr>
          </a:p>
          <a:p>
            <a:pPr marL="12700" indent="0" algn="just">
              <a:lnSpc>
                <a:spcPct val="150000"/>
              </a:lnSpc>
              <a:spcBef>
                <a:spcPts val="0"/>
              </a:spcBef>
              <a:buSzPts val="1100"/>
              <a:buNone/>
            </a:pPr>
            <a:r>
              <a:rPr lang="en-US" sz="1300" b="1" dirty="0">
                <a:cs typeface="Times New Roman" panose="02020603050405020304" pitchFamily="18" charset="0"/>
              </a:rPr>
              <a:t>  IV. B787:</a:t>
            </a:r>
          </a:p>
          <a:p>
            <a:pPr marL="12700" indent="0" algn="just">
              <a:lnSpc>
                <a:spcPct val="150000"/>
              </a:lnSpc>
              <a:spcBef>
                <a:spcPts val="0"/>
              </a:spcBef>
              <a:buSzPts val="1100"/>
              <a:buNone/>
            </a:pPr>
            <a:r>
              <a:rPr lang="en-US" sz="1300" b="1" dirty="0">
                <a:cs typeface="Times New Roman" panose="02020603050405020304" pitchFamily="18" charset="0"/>
                <a:sym typeface="Wingdings" panose="05000000000000000000" pitchFamily="2" charset="2"/>
              </a:rPr>
              <a:t>  </a:t>
            </a:r>
            <a:r>
              <a:rPr lang="en-US" sz="1300" dirty="0">
                <a:cs typeface="Times New Roman" panose="02020603050405020304" pitchFamily="18" charset="0"/>
                <a:sym typeface="Wingdings" panose="05000000000000000000" pitchFamily="2" charset="2"/>
              </a:rPr>
              <a:t> </a:t>
            </a:r>
            <a:r>
              <a:rPr lang="es-ES" sz="1300" b="1" dirty="0">
                <a:solidFill>
                  <a:srgbClr val="FF0000"/>
                </a:solidFill>
                <a:cs typeface="Times New Roman" panose="02020603050405020304" pitchFamily="18" charset="0"/>
                <a:sym typeface="Wingdings" panose="05000000000000000000" pitchFamily="2" charset="2"/>
              </a:rPr>
              <a:t>1. </a:t>
            </a:r>
            <a:r>
              <a:rPr lang="en-US" sz="1300" b="1" dirty="0">
                <a:solidFill>
                  <a:srgbClr val="FF0000"/>
                </a:solidFill>
                <a:cs typeface="Times New Roman" panose="02020603050405020304" pitchFamily="18" charset="0"/>
                <a:sym typeface="Wingdings" panose="05000000000000000000" pitchFamily="2" charset="2"/>
              </a:rPr>
              <a:t>A873_SGN_ ENGCHG_20-23/7: On sked.</a:t>
            </a:r>
            <a:endParaRPr lang="en-US" sz="1300" dirty="0">
              <a:cs typeface="Times New Roman" panose="02020603050405020304" pitchFamily="18" charset="0"/>
              <a:sym typeface="Wingdings" panose="05000000000000000000" pitchFamily="2" charset="2"/>
            </a:endParaRPr>
          </a:p>
          <a:p>
            <a:pPr marL="12700" indent="0" algn="just">
              <a:lnSpc>
                <a:spcPct val="150000"/>
              </a:lnSpc>
              <a:spcBef>
                <a:spcPts val="0"/>
              </a:spcBef>
              <a:buSzPts val="1100"/>
              <a:buNone/>
            </a:pPr>
            <a:endParaRPr lang="fr-FR"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endParaRPr lang="en-US" sz="1500" dirty="0">
              <a:cs typeface="Times New Roman" panose="02020603050405020304" pitchFamily="18" charset="0"/>
              <a:sym typeface="Wingdings" panose="05000000000000000000" pitchFamily="2" charset="2"/>
            </a:endParaRPr>
          </a:p>
          <a:p>
            <a:pPr marL="12700" indent="0">
              <a:lnSpc>
                <a:spcPct val="120000"/>
              </a:lnSpc>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4442125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3" name="Table 2">
            <a:extLst>
              <a:ext uri="{FF2B5EF4-FFF2-40B4-BE49-F238E27FC236}">
                <a16:creationId xmlns:a16="http://schemas.microsoft.com/office/drawing/2014/main" id="{06EE3099-D952-BE45-75B6-48833F49D837}"/>
              </a:ext>
            </a:extLst>
          </p:cNvPr>
          <p:cNvGraphicFramePr>
            <a:graphicFrameLocks noGrp="1"/>
          </p:cNvGraphicFramePr>
          <p:nvPr/>
        </p:nvGraphicFramePr>
        <p:xfrm>
          <a:off x="533401" y="914401"/>
          <a:ext cx="11277599" cy="5562600"/>
        </p:xfrm>
        <a:graphic>
          <a:graphicData uri="http://schemas.openxmlformats.org/drawingml/2006/table">
            <a:tbl>
              <a:tblPr/>
              <a:tblGrid>
                <a:gridCol w="309628">
                  <a:extLst>
                    <a:ext uri="{9D8B030D-6E8A-4147-A177-3AD203B41FA5}">
                      <a16:colId xmlns:a16="http://schemas.microsoft.com/office/drawing/2014/main" val="646942807"/>
                    </a:ext>
                  </a:extLst>
                </a:gridCol>
                <a:gridCol w="2465114">
                  <a:extLst>
                    <a:ext uri="{9D8B030D-6E8A-4147-A177-3AD203B41FA5}">
                      <a16:colId xmlns:a16="http://schemas.microsoft.com/office/drawing/2014/main" val="370503263"/>
                    </a:ext>
                  </a:extLst>
                </a:gridCol>
                <a:gridCol w="488260">
                  <a:extLst>
                    <a:ext uri="{9D8B030D-6E8A-4147-A177-3AD203B41FA5}">
                      <a16:colId xmlns:a16="http://schemas.microsoft.com/office/drawing/2014/main" val="3036289717"/>
                    </a:ext>
                  </a:extLst>
                </a:gridCol>
                <a:gridCol w="547804">
                  <a:extLst>
                    <a:ext uri="{9D8B030D-6E8A-4147-A177-3AD203B41FA5}">
                      <a16:colId xmlns:a16="http://schemas.microsoft.com/office/drawing/2014/main" val="3199572178"/>
                    </a:ext>
                  </a:extLst>
                </a:gridCol>
                <a:gridCol w="512076">
                  <a:extLst>
                    <a:ext uri="{9D8B030D-6E8A-4147-A177-3AD203B41FA5}">
                      <a16:colId xmlns:a16="http://schemas.microsoft.com/office/drawing/2014/main" val="2897405330"/>
                    </a:ext>
                  </a:extLst>
                </a:gridCol>
                <a:gridCol w="512076">
                  <a:extLst>
                    <a:ext uri="{9D8B030D-6E8A-4147-A177-3AD203B41FA5}">
                      <a16:colId xmlns:a16="http://schemas.microsoft.com/office/drawing/2014/main" val="3911250902"/>
                    </a:ext>
                  </a:extLst>
                </a:gridCol>
                <a:gridCol w="523985">
                  <a:extLst>
                    <a:ext uri="{9D8B030D-6E8A-4147-A177-3AD203B41FA5}">
                      <a16:colId xmlns:a16="http://schemas.microsoft.com/office/drawing/2014/main" val="3224359453"/>
                    </a:ext>
                  </a:extLst>
                </a:gridCol>
                <a:gridCol w="523985">
                  <a:extLst>
                    <a:ext uri="{9D8B030D-6E8A-4147-A177-3AD203B41FA5}">
                      <a16:colId xmlns:a16="http://schemas.microsoft.com/office/drawing/2014/main" val="2514780613"/>
                    </a:ext>
                  </a:extLst>
                </a:gridCol>
                <a:gridCol w="5394671">
                  <a:extLst>
                    <a:ext uri="{9D8B030D-6E8A-4147-A177-3AD203B41FA5}">
                      <a16:colId xmlns:a16="http://schemas.microsoft.com/office/drawing/2014/main" val="736932399"/>
                    </a:ext>
                  </a:extLst>
                </a:gridCol>
              </a:tblGrid>
              <a:tr h="313680">
                <a:tc gridSpan="9">
                  <a:txBody>
                    <a:bodyPr/>
                    <a:lstStyle/>
                    <a:p>
                      <a:pPr algn="ctr" fontAlgn="ctr">
                        <a:buNone/>
                      </a:pPr>
                      <a:r>
                        <a:rPr lang="en-US" sz="1400" b="1" i="0" u="none" strike="noStrike" dirty="0">
                          <a:solidFill>
                            <a:srgbClr val="000000"/>
                          </a:solidFill>
                          <a:effectLst/>
                          <a:latin typeface="Times New Roman" panose="02020603050405020304" pitchFamily="18" charset="0"/>
                        </a:rPr>
                        <a:t>NGUỒN LỰC KỸ THUÂT FLEET A321 (CẬP NHẬT 20/07)</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47516919"/>
                  </a:ext>
                </a:extLst>
              </a:tr>
              <a:tr h="380219">
                <a:tc>
                  <a:txBody>
                    <a:bodyPr/>
                    <a:lstStyle/>
                    <a:p>
                      <a:pPr algn="ctr" fontAlgn="ctr">
                        <a:buNone/>
                      </a:pPr>
                      <a:r>
                        <a:rPr lang="en-US" sz="1200" b="1" i="0" u="none" strike="noStrike">
                          <a:solidFill>
                            <a:srgbClr val="000000"/>
                          </a:solidFill>
                          <a:effectLst/>
                          <a:latin typeface="Times New Roman" panose="02020603050405020304" pitchFamily="18" charset="0"/>
                        </a:rPr>
                        <a:t>STT</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A/C</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Jul-25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Aug-25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Sep-25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Oct-25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Nov-25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Dec-25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Note</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643393540"/>
                  </a:ext>
                </a:extLst>
              </a:tr>
              <a:tr h="1186282">
                <a:tc>
                  <a:txBody>
                    <a:bodyPr/>
                    <a:lstStyle/>
                    <a:p>
                      <a:pPr algn="ctr" fontAlgn="ctr">
                        <a:buNone/>
                      </a:pPr>
                      <a:r>
                        <a:rPr lang="en-US" sz="1200" b="1" i="0" u="none" strike="noStrike">
                          <a:solidFill>
                            <a:srgbClr val="000000"/>
                          </a:solidFill>
                          <a:effectLst/>
                          <a:latin typeface="Times New Roman" panose="02020603050405020304" pitchFamily="18" charset="0"/>
                        </a:rPr>
                        <a:t>1</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10.75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FF0000"/>
                          </a:solidFill>
                          <a:effectLst/>
                          <a:latin typeface="Times New Roman" panose="02020603050405020304" pitchFamily="18" charset="0"/>
                        </a:rPr>
                        <a:t>11.00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FF0000"/>
                          </a:solidFill>
                          <a:effectLst/>
                          <a:latin typeface="Times New Roman" panose="02020603050405020304" pitchFamily="18" charset="0"/>
                        </a:rPr>
                        <a:t>11.50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200" b="0" i="0" u="none" strike="noStrike">
                          <a:solidFill>
                            <a:srgbClr val="FF0000"/>
                          </a:solidFill>
                          <a:effectLst/>
                          <a:latin typeface="Times New Roman" panose="02020603050405020304" pitchFamily="18" charset="0"/>
                        </a:rPr>
                        <a:t>12.00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11.75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11.75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FF0000"/>
                          </a:solidFill>
                          <a:effectLst/>
                          <a:latin typeface="Times New Roman" panose="02020603050405020304" pitchFamily="18" charset="0"/>
                        </a:rPr>
                        <a:t>- Swap ENG A621 &amp; A625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cuối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tháng</a:t>
                      </a:r>
                      <a:r>
                        <a:rPr lang="en-US" sz="1200" b="0" i="0" u="none" strike="noStrike" dirty="0">
                          <a:solidFill>
                            <a:srgbClr val="FF0000"/>
                          </a:solidFill>
                          <a:effectLst/>
                          <a:latin typeface="Times New Roman" panose="02020603050405020304" pitchFamily="18" charset="0"/>
                        </a:rPr>
                        <a:t> 7 </a:t>
                      </a:r>
                      <a:r>
                        <a:rPr lang="en-US" sz="1200" b="0" i="0" u="none" strike="noStrike" dirty="0" err="1">
                          <a:solidFill>
                            <a:srgbClr val="FF0000"/>
                          </a:solidFill>
                          <a:effectLst/>
                          <a:latin typeface="Times New Roman" panose="02020603050405020304" pitchFamily="18" charset="0"/>
                        </a:rPr>
                        <a:t>để</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giữ</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giờ</a:t>
                      </a:r>
                      <a:r>
                        <a:rPr lang="en-US" sz="1200" b="0" i="0" u="none" strike="noStrike" dirty="0">
                          <a:solidFill>
                            <a:srgbClr val="FF0000"/>
                          </a:solidFill>
                          <a:effectLst/>
                          <a:latin typeface="Times New Roman" panose="02020603050405020304" pitchFamily="18" charset="0"/>
                        </a:rPr>
                        <a:t> ENG A621 </a:t>
                      </a:r>
                      <a:r>
                        <a:rPr lang="en-US" sz="1200" b="0" i="0" u="none" strike="noStrike" dirty="0" err="1">
                          <a:solidFill>
                            <a:srgbClr val="FF0000"/>
                          </a:solidFill>
                          <a:effectLst/>
                          <a:latin typeface="Times New Roman" panose="02020603050405020304" pitchFamily="18" charset="0"/>
                        </a:rPr>
                        <a:t>khoảng</a:t>
                      </a:r>
                      <a:r>
                        <a:rPr lang="en-US" sz="1200" b="0" i="0" u="none" strike="noStrike" dirty="0">
                          <a:solidFill>
                            <a:srgbClr val="FF0000"/>
                          </a:solidFill>
                          <a:effectLst/>
                          <a:latin typeface="Times New Roman" panose="02020603050405020304" pitchFamily="18" charset="0"/>
                        </a:rPr>
                        <a:t> 70CY </a:t>
                      </a:r>
                      <a:r>
                        <a:rPr lang="en-US" sz="1200" b="0" i="0" u="none" strike="noStrike" dirty="0" err="1">
                          <a:solidFill>
                            <a:srgbClr val="FF0000"/>
                          </a:solidFill>
                          <a:effectLst/>
                          <a:latin typeface="Times New Roman" panose="02020603050405020304" pitchFamily="18" charset="0"/>
                        </a:rPr>
                        <a:t>khai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thác</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cao</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điểm</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tết</a:t>
                      </a:r>
                      <a:br>
                        <a:rPr lang="en-US" sz="1200" b="0" i="0" u="none" strike="noStrike" dirty="0">
                          <a:solidFill>
                            <a:srgbClr val="FF0000"/>
                          </a:solidFill>
                          <a:effectLst/>
                          <a:latin typeface="Times New Roman" panose="02020603050405020304" pitchFamily="18" charset="0"/>
                        </a:rPr>
                      </a:b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Dừng</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giữ</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giờ</a:t>
                      </a:r>
                      <a:r>
                        <a:rPr lang="en-US" sz="1200" b="0" i="0" u="none" strike="noStrike" dirty="0">
                          <a:solidFill>
                            <a:schemeClr val="tx1"/>
                          </a:solidFill>
                          <a:effectLst/>
                          <a:latin typeface="Times New Roman" panose="02020603050405020304" pitchFamily="18" charset="0"/>
                        </a:rPr>
                        <a:t> 2 ENG A618 (</a:t>
                      </a:r>
                      <a:r>
                        <a:rPr lang="en-US" sz="1200" b="0" i="0" u="none" strike="noStrike" dirty="0" err="1">
                          <a:solidFill>
                            <a:schemeClr val="tx1"/>
                          </a:solidFill>
                          <a:effectLst/>
                          <a:latin typeface="Times New Roman" panose="02020603050405020304" pitchFamily="18" charset="0"/>
                        </a:rPr>
                        <a:t>dự</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kiến</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hết</a:t>
                      </a:r>
                      <a:r>
                        <a:rPr lang="en-US" sz="1200" b="0" i="0" u="none" strike="noStrike" dirty="0">
                          <a:solidFill>
                            <a:schemeClr val="tx1"/>
                          </a:solidFill>
                          <a:effectLst/>
                          <a:latin typeface="Times New Roman" panose="02020603050405020304" pitchFamily="18" charset="0"/>
                        </a:rPr>
                        <a:t> L/L </a:t>
                      </a:r>
                      <a:r>
                        <a:rPr lang="en-US" sz="1200" b="0" i="0" u="none" strike="noStrike" dirty="0" err="1">
                          <a:solidFill>
                            <a:schemeClr val="tx1"/>
                          </a:solidFill>
                          <a:effectLst/>
                          <a:latin typeface="Times New Roman" panose="02020603050405020304" pitchFamily="18" charset="0"/>
                        </a:rPr>
                        <a:t>cuối</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tháng</a:t>
                      </a:r>
                      <a:r>
                        <a:rPr lang="en-US" sz="1200" b="0" i="0" u="none" strike="noStrike" dirty="0">
                          <a:solidFill>
                            <a:schemeClr val="tx1"/>
                          </a:solidFill>
                          <a:effectLst/>
                          <a:latin typeface="Times New Roman" panose="02020603050405020304" pitchFamily="18" charset="0"/>
                        </a:rPr>
                        <a:t> 10), </a:t>
                      </a:r>
                      <a:r>
                        <a:rPr lang="en-US" sz="1200" b="0" i="0" u="none" strike="noStrike" dirty="0" err="1">
                          <a:solidFill>
                            <a:schemeClr val="tx1"/>
                          </a:solidFill>
                          <a:effectLst/>
                          <a:latin typeface="Times New Roman" panose="02020603050405020304" pitchFamily="18" charset="0"/>
                        </a:rPr>
                        <a:t>dừng</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giữ</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giờ</a:t>
                      </a:r>
                      <a:r>
                        <a:rPr lang="en-US" sz="1200" b="0" i="0" u="none" strike="noStrike" dirty="0">
                          <a:solidFill>
                            <a:schemeClr val="tx1"/>
                          </a:solidFill>
                          <a:effectLst/>
                          <a:latin typeface="Times New Roman" panose="02020603050405020304" pitchFamily="18" charset="0"/>
                        </a:rPr>
                        <a:t> 1.5 </a:t>
                      </a:r>
                      <a:r>
                        <a:rPr lang="en-US" sz="1200" b="0" i="0" u="none" strike="noStrike" dirty="0" err="1">
                          <a:solidFill>
                            <a:schemeClr val="tx1"/>
                          </a:solidFill>
                          <a:effectLst/>
                          <a:latin typeface="Times New Roman" panose="02020603050405020304" pitchFamily="18" charset="0"/>
                        </a:rPr>
                        <a:t>tháng</a:t>
                      </a:r>
                      <a:r>
                        <a:rPr lang="en-US" sz="1200" b="0" i="0" u="none" strike="noStrike" dirty="0">
                          <a:solidFill>
                            <a:schemeClr val="tx1"/>
                          </a:solidFill>
                          <a:effectLst/>
                          <a:latin typeface="Times New Roman" panose="02020603050405020304" pitchFamily="18" charset="0"/>
                        </a:rPr>
                        <a:t> 18/09/25-01/26 </a:t>
                      </a:r>
                      <a:r>
                        <a:rPr lang="en-US" sz="1200" b="0" i="0" u="none" strike="noStrike" dirty="0" err="1">
                          <a:solidFill>
                            <a:schemeClr val="tx1"/>
                          </a:solidFill>
                          <a:effectLst/>
                          <a:latin typeface="Times New Roman" panose="02020603050405020304" pitchFamily="18" charset="0"/>
                        </a:rPr>
                        <a:t>để</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khai</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thác</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cao</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điểm</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tết</a:t>
                      </a:r>
                      <a:r>
                        <a:rPr lang="en-US" sz="1200" b="0" i="0" u="none" strike="noStrike" dirty="0">
                          <a:solidFill>
                            <a:schemeClr val="tx1"/>
                          </a:solidFill>
                          <a:effectLst/>
                          <a:latin typeface="Times New Roman" panose="02020603050405020304" pitchFamily="18" charset="0"/>
                        </a:rPr>
                        <a:t> 02/2026-12/03/2026</a:t>
                      </a:r>
                      <a:br>
                        <a:rPr lang="en-US" sz="1200" b="0" i="0" u="none" strike="noStrike" dirty="0">
                          <a:solidFill>
                            <a:schemeClr val="tx1"/>
                          </a:solidFill>
                          <a:effectLst/>
                          <a:latin typeface="Times New Roman" panose="02020603050405020304" pitchFamily="18" charset="0"/>
                        </a:rPr>
                      </a:br>
                      <a:r>
                        <a:rPr lang="en-US" sz="1200" b="0" i="0" u="none" strike="noStrike" dirty="0">
                          <a:solidFill>
                            <a:schemeClr val="tx1"/>
                          </a:solidFill>
                          <a:effectLst/>
                          <a:latin typeface="Times New Roman" panose="02020603050405020304" pitchFamily="18" charset="0"/>
                        </a:rPr>
                        <a:t>- Swap ENG P770904/A616 </a:t>
                      </a:r>
                      <a:r>
                        <a:rPr lang="en-US" sz="1200" b="0" i="0" u="none" strike="noStrike" dirty="0" err="1">
                          <a:solidFill>
                            <a:schemeClr val="tx1"/>
                          </a:solidFill>
                          <a:effectLst/>
                          <a:latin typeface="Times New Roman" panose="02020603050405020304" pitchFamily="18" charset="0"/>
                        </a:rPr>
                        <a:t>với</a:t>
                      </a:r>
                      <a:r>
                        <a:rPr lang="en-US" sz="1200" b="0" i="0" u="none" strike="noStrike" dirty="0">
                          <a:solidFill>
                            <a:schemeClr val="tx1"/>
                          </a:solidFill>
                          <a:effectLst/>
                          <a:latin typeface="Times New Roman" panose="02020603050405020304" pitchFamily="18" charset="0"/>
                        </a:rPr>
                        <a:t> P771703/A512 (</a:t>
                      </a:r>
                      <a:r>
                        <a:rPr lang="en-US" sz="1200" b="0" i="0" u="none" strike="noStrike" dirty="0" err="1">
                          <a:solidFill>
                            <a:schemeClr val="tx1"/>
                          </a:solidFill>
                          <a:effectLst/>
                          <a:latin typeface="Times New Roman" panose="02020603050405020304" pitchFamily="18" charset="0"/>
                        </a:rPr>
                        <a:t>dự</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kiến</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hết</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hạn</a:t>
                      </a:r>
                      <a:r>
                        <a:rPr lang="en-US" sz="1200" b="0" i="0" u="none" strike="noStrike" dirty="0">
                          <a:solidFill>
                            <a:schemeClr val="tx1"/>
                          </a:solidFill>
                          <a:effectLst/>
                          <a:latin typeface="Times New Roman" panose="02020603050405020304" pitchFamily="18" charset="0"/>
                        </a:rPr>
                        <a:t> 02/2026) </a:t>
                      </a:r>
                      <a:r>
                        <a:rPr lang="en-US" sz="1200" b="0" i="0" u="none" strike="noStrike" dirty="0" err="1">
                          <a:solidFill>
                            <a:schemeClr val="tx1"/>
                          </a:solidFill>
                          <a:effectLst/>
                          <a:latin typeface="Times New Roman" panose="02020603050405020304" pitchFamily="18" charset="0"/>
                        </a:rPr>
                        <a:t>và</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giữ</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giờ</a:t>
                      </a:r>
                      <a:r>
                        <a:rPr lang="en-US" sz="1200" b="0" i="0" u="none" strike="noStrike" dirty="0">
                          <a:solidFill>
                            <a:schemeClr val="tx1"/>
                          </a:solidFill>
                          <a:effectLst/>
                          <a:latin typeface="Times New Roman" panose="02020603050405020304" pitchFamily="18" charset="0"/>
                        </a:rPr>
                        <a:t> 1 </a:t>
                      </a:r>
                      <a:r>
                        <a:rPr lang="en-US" sz="1200" b="0" i="0" u="none" strike="noStrike" dirty="0" err="1">
                          <a:solidFill>
                            <a:schemeClr val="tx1"/>
                          </a:solidFill>
                          <a:effectLst/>
                          <a:latin typeface="Times New Roman" panose="02020603050405020304" pitchFamily="18" charset="0"/>
                        </a:rPr>
                        <a:t>tháng</a:t>
                      </a:r>
                      <a:r>
                        <a:rPr lang="en-US" sz="1200" b="0" i="0" u="none" strike="noStrike" dirty="0">
                          <a:solidFill>
                            <a:schemeClr val="tx1"/>
                          </a:solidFill>
                          <a:effectLst/>
                          <a:latin typeface="Times New Roman" panose="02020603050405020304" pitchFamily="18" charset="0"/>
                        </a:rPr>
                        <a:t> 01/2026 </a:t>
                      </a:r>
                      <a:r>
                        <a:rPr lang="en-US" sz="1200" b="0" i="0" u="none" strike="noStrike" dirty="0" err="1">
                          <a:solidFill>
                            <a:schemeClr val="tx1"/>
                          </a:solidFill>
                          <a:effectLst/>
                          <a:latin typeface="Times New Roman" panose="02020603050405020304" pitchFamily="18" charset="0"/>
                        </a:rPr>
                        <a:t>để</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khai</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thác</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cao</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điểm</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tết</a:t>
                      </a:r>
                      <a:r>
                        <a:rPr lang="en-US" sz="1200" b="0" i="0" u="none" strike="noStrike" dirty="0">
                          <a:solidFill>
                            <a:schemeClr val="tx1"/>
                          </a:solidFill>
                          <a:effectLst/>
                          <a:latin typeface="Times New Roman" panose="02020603050405020304" pitchFamily="18" charset="0"/>
                        </a:rPr>
                        <a:t> 02/2026</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3471545"/>
                  </a:ext>
                </a:extLst>
              </a:tr>
              <a:tr h="427746">
                <a:tc>
                  <a:txBody>
                    <a:bodyPr/>
                    <a:lstStyle/>
                    <a:p>
                      <a:pPr algn="ctr" fontAlgn="ctr">
                        <a:buNone/>
                      </a:pPr>
                      <a:r>
                        <a:rPr lang="en-US" sz="1200" b="1" i="0" u="none" strike="noStrike">
                          <a:solidFill>
                            <a:srgbClr val="000000"/>
                          </a:solidFill>
                          <a:effectLst/>
                          <a:latin typeface="Times New Roman" panose="02020603050405020304" pitchFamily="18" charset="0"/>
                        </a:rPr>
                        <a:t>2</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pt-BR" sz="1200" b="1" i="0" u="none" strike="noStrike">
                          <a:solidFill>
                            <a:srgbClr val="000000"/>
                          </a:solidFill>
                          <a:effectLst/>
                          <a:latin typeface="Times New Roman" panose="02020603050405020304" pitchFamily="18" charset="0"/>
                        </a:rPr>
                        <a:t>A321 CEO AOG do thiếu ENG</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621054108"/>
                  </a:ext>
                </a:extLst>
              </a:tr>
              <a:tr h="1193887">
                <a:tc>
                  <a:txBody>
                    <a:bodyPr/>
                    <a:lstStyle/>
                    <a:p>
                      <a:pPr algn="ctr" fontAlgn="ctr">
                        <a:buNone/>
                      </a:pPr>
                      <a:r>
                        <a:rPr lang="en-US" sz="1200" b="1" i="0" u="none" strike="noStrike">
                          <a:solidFill>
                            <a:srgbClr val="000000"/>
                          </a:solidFill>
                          <a:effectLst/>
                          <a:latin typeface="Times New Roman" panose="02020603050405020304" pitchFamily="18" charset="0"/>
                        </a:rPr>
                        <a:t>3</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A321 dừng thực hiện BD</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3.50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4.40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- 07/2025: </a:t>
                      </a:r>
                      <a:r>
                        <a:rPr lang="en-US" sz="1200" b="0" i="0" u="none" strike="noStrike" dirty="0" err="1">
                          <a:solidFill>
                            <a:srgbClr val="000000"/>
                          </a:solidFill>
                          <a:effectLst/>
                          <a:latin typeface="Times New Roman" panose="02020603050405020304" pitchFamily="18" charset="0"/>
                        </a:rPr>
                        <a:t>tăng</a:t>
                      </a:r>
                      <a:r>
                        <a:rPr lang="en-US" sz="1200" b="0" i="0" u="none" strike="noStrike" dirty="0">
                          <a:solidFill>
                            <a:srgbClr val="000000"/>
                          </a:solidFill>
                          <a:effectLst/>
                          <a:latin typeface="Times New Roman" panose="02020603050405020304" pitchFamily="18" charset="0"/>
                        </a:rPr>
                        <a:t> 0.2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lùi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thay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càng</a:t>
                      </a:r>
                      <a:r>
                        <a:rPr lang="en-US" sz="1200" b="0" i="0" u="none" strike="noStrike" dirty="0">
                          <a:solidFill>
                            <a:srgbClr val="000000"/>
                          </a:solidFill>
                          <a:effectLst/>
                          <a:latin typeface="Times New Roman" panose="02020603050405020304" pitchFamily="18" charset="0"/>
                        </a:rPr>
                        <a:t> A613 bay </a:t>
                      </a:r>
                      <a:r>
                        <a:rPr lang="en-US" sz="1200" b="0" i="0" u="none" strike="noStrike" dirty="0" err="1">
                          <a:solidFill>
                            <a:srgbClr val="000000"/>
                          </a:solidFill>
                          <a:effectLst/>
                          <a:latin typeface="Times New Roman" panose="02020603050405020304" pitchFamily="18" charset="0"/>
                        </a:rPr>
                        <a:t>thay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cho</a:t>
                      </a:r>
                      <a:r>
                        <a:rPr lang="en-US" sz="1200" b="0" i="0" u="none" strike="noStrike" dirty="0">
                          <a:solidFill>
                            <a:srgbClr val="000000"/>
                          </a:solidFill>
                          <a:effectLst/>
                          <a:latin typeface="Times New Roman" panose="02020603050405020304" pitchFamily="18" charset="0"/>
                        </a:rPr>
                        <a:t> A338 AOG do </a:t>
                      </a:r>
                      <a:r>
                        <a:rPr lang="en-US" sz="1200" b="0" i="0" u="none" strike="noStrike" dirty="0" err="1">
                          <a:solidFill>
                            <a:srgbClr val="000000"/>
                          </a:solidFill>
                          <a:effectLst/>
                          <a:latin typeface="Times New Roman" panose="02020603050405020304" pitchFamily="18" charset="0"/>
                        </a:rPr>
                        <a:t>va</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chạm</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với</a:t>
                      </a:r>
                      <a:r>
                        <a:rPr lang="en-US" sz="1200" b="0" i="0" u="none" strike="noStrike" dirty="0">
                          <a:solidFill>
                            <a:srgbClr val="000000"/>
                          </a:solidFill>
                          <a:effectLst/>
                          <a:latin typeface="Times New Roman" panose="02020603050405020304" pitchFamily="18" charset="0"/>
                        </a:rPr>
                        <a:t> A863 (</a:t>
                      </a:r>
                      <a:r>
                        <a:rPr lang="en-US" sz="1200" b="0" i="0" u="none" strike="noStrike" dirty="0" err="1">
                          <a:solidFill>
                            <a:srgbClr val="000000"/>
                          </a:solidFill>
                          <a:effectLst/>
                          <a:latin typeface="Times New Roman" panose="02020603050405020304" pitchFamily="18" charset="0"/>
                        </a:rPr>
                        <a:t>dự</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kiến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từ</a:t>
                      </a:r>
                      <a:r>
                        <a:rPr lang="en-US" sz="1200" b="0" i="0" u="none" strike="noStrike" dirty="0">
                          <a:solidFill>
                            <a:srgbClr val="000000"/>
                          </a:solidFill>
                          <a:effectLst/>
                          <a:latin typeface="Times New Roman" panose="02020603050405020304" pitchFamily="18" charset="0"/>
                        </a:rPr>
                        <a:t> 27/06-12/07)</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- 08/2025: </a:t>
                      </a:r>
                      <a:r>
                        <a:rPr lang="en-US" sz="1200" b="0" i="0" u="none" strike="noStrike" dirty="0" err="1">
                          <a:solidFill>
                            <a:srgbClr val="000000"/>
                          </a:solidFill>
                          <a:effectLst/>
                          <a:latin typeface="Times New Roman" panose="02020603050405020304" pitchFamily="18" charset="0"/>
                        </a:rPr>
                        <a:t>tăng</a:t>
                      </a:r>
                      <a:r>
                        <a:rPr lang="en-US" sz="1200" b="0" i="0" u="none" strike="noStrike" dirty="0">
                          <a:solidFill>
                            <a:srgbClr val="000000"/>
                          </a:solidFill>
                          <a:effectLst/>
                          <a:latin typeface="Times New Roman" panose="02020603050405020304" pitchFamily="18" charset="0"/>
                        </a:rPr>
                        <a:t> 0.4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dồn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dịch</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lịch</a:t>
                      </a:r>
                      <a:r>
                        <a:rPr lang="en-US" sz="1200" b="0" i="0" u="none" strike="noStrike" dirty="0">
                          <a:solidFill>
                            <a:srgbClr val="000000"/>
                          </a:solidFill>
                          <a:effectLst/>
                          <a:latin typeface="Times New Roman" panose="02020603050405020304" pitchFamily="18" charset="0"/>
                        </a:rPr>
                        <a:t> BD </a:t>
                      </a:r>
                      <a:r>
                        <a:rPr lang="en-US" sz="1200" b="0" i="0" u="none" strike="noStrike" dirty="0" err="1">
                          <a:solidFill>
                            <a:srgbClr val="000000"/>
                          </a:solidFill>
                          <a:effectLst/>
                          <a:latin typeface="Times New Roman" panose="02020603050405020304" pitchFamily="18" charset="0"/>
                        </a:rPr>
                        <a:t>tháng</a:t>
                      </a:r>
                      <a:r>
                        <a:rPr lang="en-US" sz="1200" b="0" i="0" u="none" strike="noStrike" dirty="0">
                          <a:solidFill>
                            <a:srgbClr val="000000"/>
                          </a:solidFill>
                          <a:effectLst/>
                          <a:latin typeface="Times New Roman" panose="02020603050405020304" pitchFamily="18" charset="0"/>
                        </a:rPr>
                        <a:t> 06-07/2025 bay </a:t>
                      </a:r>
                      <a:r>
                        <a:rPr lang="en-US" sz="1200" b="0" i="0" u="none" strike="noStrike" dirty="0" err="1">
                          <a:solidFill>
                            <a:srgbClr val="000000"/>
                          </a:solidFill>
                          <a:effectLst/>
                          <a:latin typeface="Times New Roman" panose="02020603050405020304" pitchFamily="18" charset="0"/>
                        </a:rPr>
                        <a:t>bù</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cho</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AOG </a:t>
                      </a:r>
                      <a:r>
                        <a:rPr lang="en-US" sz="1200" b="0" i="0" u="none" strike="noStrike" dirty="0" err="1">
                          <a:solidFill>
                            <a:srgbClr val="000000"/>
                          </a:solidFill>
                          <a:effectLst/>
                          <a:latin typeface="Times New Roman" panose="02020603050405020304" pitchFamily="18" charset="0"/>
                        </a:rPr>
                        <a:t>và</a:t>
                      </a:r>
                      <a:r>
                        <a:rPr lang="en-US" sz="1200" b="0" i="0" u="none" strike="noStrike" dirty="0">
                          <a:solidFill>
                            <a:srgbClr val="000000"/>
                          </a:solidFill>
                          <a:effectLst/>
                          <a:latin typeface="Times New Roman" panose="02020603050405020304" pitchFamily="18" charset="0"/>
                        </a:rPr>
                        <a:t> ENG </a:t>
                      </a:r>
                      <a:r>
                        <a:rPr lang="en-US" sz="1200" b="0" i="0" u="none" strike="noStrike" dirty="0" err="1">
                          <a:solidFill>
                            <a:srgbClr val="000000"/>
                          </a:solidFill>
                          <a:effectLst/>
                          <a:latin typeface="Times New Roman" panose="02020603050405020304" pitchFamily="18" charset="0"/>
                        </a:rPr>
                        <a:t>về</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muộn</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000000"/>
                          </a:solidFill>
                          <a:effectLst/>
                          <a:latin typeface="Times New Roman" panose="02020603050405020304" pitchFamily="18" charset="0"/>
                        </a:rPr>
                        <a:t>- 09/2025: </a:t>
                      </a:r>
                      <a:r>
                        <a:rPr lang="en-US" sz="1200" b="0" i="0" u="none" strike="noStrike" dirty="0" err="1">
                          <a:solidFill>
                            <a:srgbClr val="000000"/>
                          </a:solidFill>
                          <a:effectLst/>
                          <a:latin typeface="Times New Roman" panose="02020603050405020304" pitchFamily="18" charset="0"/>
                        </a:rPr>
                        <a:t>tăng</a:t>
                      </a:r>
                      <a:r>
                        <a:rPr lang="en-US" sz="1200" b="0" i="0" u="none" strike="noStrike" dirty="0">
                          <a:solidFill>
                            <a:srgbClr val="000000"/>
                          </a:solidFill>
                          <a:effectLst/>
                          <a:latin typeface="Times New Roman" panose="02020603050405020304" pitchFamily="18" charset="0"/>
                        </a:rPr>
                        <a:t> 0.4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do </a:t>
                      </a:r>
                      <a:r>
                        <a:rPr lang="en-US" sz="1200" b="0" i="0" u="none" strike="noStrike" err="1">
                          <a:solidFill>
                            <a:srgbClr val="000000"/>
                          </a:solidFill>
                          <a:effectLst/>
                          <a:latin typeface="Times New Roman" panose="02020603050405020304" pitchFamily="18" charset="0"/>
                        </a:rPr>
                        <a:t>dồn</a:t>
                      </a:r>
                      <a:r>
                        <a:rPr lang="en-US" sz="1200" b="0" i="0" u="none" strike="noStrike">
                          <a:solidFill>
                            <a:srgbClr val="000000"/>
                          </a:solidFill>
                          <a:effectLst/>
                          <a:latin typeface="Times New Roman" panose="02020603050405020304" pitchFamily="18" charset="0"/>
                        </a:rPr>
                        <a:t> dịch lịch </a:t>
                      </a:r>
                      <a:r>
                        <a:rPr lang="en-US" sz="1200" b="0" i="0" u="none" strike="noStrike" dirty="0">
                          <a:solidFill>
                            <a:srgbClr val="000000"/>
                          </a:solidFill>
                          <a:effectLst/>
                          <a:latin typeface="Times New Roman" panose="02020603050405020304" pitchFamily="18" charset="0"/>
                        </a:rPr>
                        <a:t>BD </a:t>
                      </a:r>
                      <a:r>
                        <a:rPr lang="en-US" sz="1200" b="0" i="0" u="none" strike="noStrike" dirty="0" err="1">
                          <a:solidFill>
                            <a:srgbClr val="000000"/>
                          </a:solidFill>
                          <a:effectLst/>
                          <a:latin typeface="Times New Roman" panose="02020603050405020304" pitchFamily="18" charset="0"/>
                        </a:rPr>
                        <a:t>tháng</a:t>
                      </a:r>
                      <a:r>
                        <a:rPr lang="en-US" sz="1200" b="0" i="0" u="none" strike="noStrike" dirty="0">
                          <a:solidFill>
                            <a:srgbClr val="000000"/>
                          </a:solidFill>
                          <a:effectLst/>
                          <a:latin typeface="Times New Roman" panose="02020603050405020304" pitchFamily="18" charset="0"/>
                        </a:rPr>
                        <a:t> 06-07/2025 bay </a:t>
                      </a:r>
                      <a:r>
                        <a:rPr lang="en-US" sz="1200" b="0" i="0" u="none" strike="noStrike" dirty="0" err="1">
                          <a:solidFill>
                            <a:srgbClr val="000000"/>
                          </a:solidFill>
                          <a:effectLst/>
                          <a:latin typeface="Times New Roman" panose="02020603050405020304" pitchFamily="18" charset="0"/>
                        </a:rPr>
                        <a:t>bù</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cho</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AOG </a:t>
                      </a:r>
                      <a:r>
                        <a:rPr lang="en-US" sz="1200" b="0" i="0" u="none" strike="noStrike" dirty="0" err="1">
                          <a:solidFill>
                            <a:srgbClr val="000000"/>
                          </a:solidFill>
                          <a:effectLst/>
                          <a:latin typeface="Times New Roman" panose="02020603050405020304" pitchFamily="18" charset="0"/>
                        </a:rPr>
                        <a:t>và</a:t>
                      </a:r>
                      <a:r>
                        <a:rPr lang="en-US" sz="1200" b="0" i="0" u="none" strike="noStrike" dirty="0">
                          <a:solidFill>
                            <a:srgbClr val="000000"/>
                          </a:solidFill>
                          <a:effectLst/>
                          <a:latin typeface="Times New Roman" panose="02020603050405020304" pitchFamily="18" charset="0"/>
                        </a:rPr>
                        <a:t> ENG </a:t>
                      </a:r>
                      <a:r>
                        <a:rPr lang="en-US" sz="1200" b="0" i="0" u="none" strike="noStrike" dirty="0" err="1">
                          <a:solidFill>
                            <a:srgbClr val="000000"/>
                          </a:solidFill>
                          <a:effectLst/>
                          <a:latin typeface="Times New Roman" panose="02020603050405020304" pitchFamily="18" charset="0"/>
                        </a:rPr>
                        <a:t>về</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muộn</a:t>
                      </a:r>
                      <a:endParaRPr lang="en-US" sz="1200" b="0" i="0" u="none" strike="noStrike" dirty="0">
                        <a:solidFill>
                          <a:srgbClr val="000000"/>
                        </a:solidFill>
                        <a:effectLst/>
                        <a:latin typeface="Times New Roman" panose="02020603050405020304" pitchFamily="18" charset="0"/>
                      </a:endParaRP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1333355"/>
                  </a:ext>
                </a:extLst>
              </a:tr>
              <a:tr h="437252">
                <a:tc>
                  <a:txBody>
                    <a:bodyPr/>
                    <a:lstStyle/>
                    <a:p>
                      <a:pPr algn="ctr" fontAlgn="ctr">
                        <a:buNone/>
                      </a:pPr>
                      <a:r>
                        <a:rPr lang="en-US" sz="1200" b="1" i="0" u="none" strike="noStrike">
                          <a:solidFill>
                            <a:srgbClr val="000000"/>
                          </a:solidFill>
                          <a:effectLst/>
                          <a:latin typeface="Times New Roman" panose="02020603050405020304" pitchFamily="18" charset="0"/>
                        </a:rPr>
                        <a:t>4</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11.85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14.50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15.90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14.75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15.75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207915453"/>
                  </a:ext>
                </a:extLst>
              </a:tr>
              <a:tr h="593141">
                <a:tc>
                  <a:txBody>
                    <a:bodyPr/>
                    <a:lstStyle/>
                    <a:p>
                      <a:pPr algn="ctr" fontAlgn="ctr">
                        <a:buNone/>
                      </a:pPr>
                      <a:r>
                        <a:rPr lang="en-US" sz="1200" b="1" i="0" u="none" strike="noStrike">
                          <a:solidFill>
                            <a:srgbClr val="000000"/>
                          </a:solidFill>
                          <a:effectLst/>
                          <a:latin typeface="Times New Roman" panose="02020603050405020304" pitchFamily="18" charset="0"/>
                        </a:rPr>
                        <a:t>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số tàu A321 thực tế có thể khai thác (bao gồm tàu thuê)</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53.75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52.50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51.10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52.25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53.25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vi-VN" sz="1200" b="0" i="0" u="none" strike="noStrike" dirty="0">
                          <a:solidFill>
                            <a:srgbClr val="FF0000"/>
                          </a:solidFill>
                          <a:effectLst/>
                          <a:latin typeface="Times New Roman" panose="02020603050405020304" pitchFamily="18" charset="0"/>
                        </a:rPr>
                        <a:t>Kịch bản:</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- 2 tàu thuê ướt từ 21/07/25-21/01/26</a:t>
                      </a:r>
                      <a:br>
                        <a:rPr lang="vi-VN" sz="1200" b="0" i="0" u="none" strike="noStrike" dirty="0">
                          <a:solidFill>
                            <a:srgbClr val="FF0000"/>
                          </a:solidFill>
                          <a:effectLst/>
                          <a:latin typeface="Times New Roman" panose="02020603050405020304" pitchFamily="18" charset="0"/>
                        </a:rPr>
                      </a:br>
                      <a:r>
                        <a:rPr lang="vi-VN" sz="1200" b="0" i="0" u="none" strike="noStrike" dirty="0">
                          <a:solidFill>
                            <a:srgbClr val="FF0000"/>
                          </a:solidFill>
                          <a:effectLst/>
                          <a:latin typeface="Times New Roman" panose="02020603050405020304" pitchFamily="18" charset="0"/>
                        </a:rPr>
                        <a:t>- 5 tàu thuê khô  (12/2025: 2, 01/2026: 1, 02/2026: 1, 05/2026: 1)</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6986766"/>
                  </a:ext>
                </a:extLst>
              </a:tr>
              <a:tr h="437252">
                <a:tc>
                  <a:txBody>
                    <a:bodyPr/>
                    <a:lstStyle/>
                    <a:p>
                      <a:pPr algn="ctr" fontAlgn="ctr">
                        <a:buNone/>
                      </a:pPr>
                      <a:r>
                        <a:rPr lang="en-US" sz="1200" b="1" i="0" u="none" strike="noStrike">
                          <a:solidFill>
                            <a:srgbClr val="000000"/>
                          </a:solidFill>
                          <a:effectLst/>
                          <a:latin typeface="Times New Roman" panose="02020603050405020304" pitchFamily="18" charset="0"/>
                        </a:rPr>
                        <a:t>6</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nhu cầu A321 yêu cầu từ KHPT</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53.00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50.20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50.10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50.00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51.00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315342453"/>
                  </a:ext>
                </a:extLst>
              </a:tr>
              <a:tr h="593141">
                <a:tc>
                  <a:txBody>
                    <a:bodyPr/>
                    <a:lstStyle/>
                    <a:p>
                      <a:pPr algn="ctr" fontAlgn="ctr">
                        <a:buNone/>
                      </a:pPr>
                      <a:r>
                        <a:rPr lang="en-US" sz="1200" b="1" i="0" u="none" strike="noStrike">
                          <a:solidFill>
                            <a:srgbClr val="000000"/>
                          </a:solidFill>
                          <a:effectLst/>
                          <a:latin typeface="Times New Roman" panose="02020603050405020304" pitchFamily="18" charset="0"/>
                        </a:rPr>
                        <a:t>7</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số A321 so với nhu cầu của KHPT</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(7) = (5) - (6)</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0.75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D6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2.30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1.00</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172"/>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576"/>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2.25</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7E984"/>
                    </a:solid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5949" marR="5949" marT="594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30655487"/>
                  </a:ext>
                </a:extLst>
              </a:tr>
            </a:tbl>
          </a:graphicData>
        </a:graphic>
      </p:graphicFrame>
    </p:spTree>
    <p:extLst>
      <p:ext uri="{BB962C8B-B14F-4D97-AF65-F5344CB8AC3E}">
        <p14:creationId xmlns:p14="http://schemas.microsoft.com/office/powerpoint/2010/main" val="8188764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a:extLst>
              <a:ext uri="{FF2B5EF4-FFF2-40B4-BE49-F238E27FC236}">
                <a16:creationId xmlns:a16="http://schemas.microsoft.com/office/drawing/2014/main" id="{743992B9-87F4-A82E-8F87-2A39BB0B3B6B}"/>
              </a:ext>
            </a:extLst>
          </p:cNvPr>
          <p:cNvGraphicFramePr>
            <a:graphicFrameLocks noGrp="1"/>
          </p:cNvGraphicFramePr>
          <p:nvPr/>
        </p:nvGraphicFramePr>
        <p:xfrm>
          <a:off x="399308" y="685800"/>
          <a:ext cx="11487892" cy="6121138"/>
        </p:xfrm>
        <a:graphic>
          <a:graphicData uri="http://schemas.openxmlformats.org/drawingml/2006/table">
            <a:tbl>
              <a:tblPr/>
              <a:tblGrid>
                <a:gridCol w="360816">
                  <a:extLst>
                    <a:ext uri="{9D8B030D-6E8A-4147-A177-3AD203B41FA5}">
                      <a16:colId xmlns:a16="http://schemas.microsoft.com/office/drawing/2014/main" val="1844585670"/>
                    </a:ext>
                  </a:extLst>
                </a:gridCol>
                <a:gridCol w="2723572">
                  <a:extLst>
                    <a:ext uri="{9D8B030D-6E8A-4147-A177-3AD203B41FA5}">
                      <a16:colId xmlns:a16="http://schemas.microsoft.com/office/drawing/2014/main" val="199439093"/>
                    </a:ext>
                  </a:extLst>
                </a:gridCol>
                <a:gridCol w="442290">
                  <a:extLst>
                    <a:ext uri="{9D8B030D-6E8A-4147-A177-3AD203B41FA5}">
                      <a16:colId xmlns:a16="http://schemas.microsoft.com/office/drawing/2014/main" val="679020417"/>
                    </a:ext>
                  </a:extLst>
                </a:gridCol>
                <a:gridCol w="500486">
                  <a:extLst>
                    <a:ext uri="{9D8B030D-6E8A-4147-A177-3AD203B41FA5}">
                      <a16:colId xmlns:a16="http://schemas.microsoft.com/office/drawing/2014/main" val="4048181740"/>
                    </a:ext>
                  </a:extLst>
                </a:gridCol>
                <a:gridCol w="477207">
                  <a:extLst>
                    <a:ext uri="{9D8B030D-6E8A-4147-A177-3AD203B41FA5}">
                      <a16:colId xmlns:a16="http://schemas.microsoft.com/office/drawing/2014/main" val="1439811339"/>
                    </a:ext>
                  </a:extLst>
                </a:gridCol>
                <a:gridCol w="477207">
                  <a:extLst>
                    <a:ext uri="{9D8B030D-6E8A-4147-A177-3AD203B41FA5}">
                      <a16:colId xmlns:a16="http://schemas.microsoft.com/office/drawing/2014/main" val="487670100"/>
                    </a:ext>
                  </a:extLst>
                </a:gridCol>
                <a:gridCol w="500486">
                  <a:extLst>
                    <a:ext uri="{9D8B030D-6E8A-4147-A177-3AD203B41FA5}">
                      <a16:colId xmlns:a16="http://schemas.microsoft.com/office/drawing/2014/main" val="3213696180"/>
                    </a:ext>
                  </a:extLst>
                </a:gridCol>
                <a:gridCol w="477207">
                  <a:extLst>
                    <a:ext uri="{9D8B030D-6E8A-4147-A177-3AD203B41FA5}">
                      <a16:colId xmlns:a16="http://schemas.microsoft.com/office/drawing/2014/main" val="4109354164"/>
                    </a:ext>
                  </a:extLst>
                </a:gridCol>
                <a:gridCol w="5528621">
                  <a:extLst>
                    <a:ext uri="{9D8B030D-6E8A-4147-A177-3AD203B41FA5}">
                      <a16:colId xmlns:a16="http://schemas.microsoft.com/office/drawing/2014/main" val="3106881544"/>
                    </a:ext>
                  </a:extLst>
                </a:gridCol>
              </a:tblGrid>
              <a:tr h="276240">
                <a:tc gridSpan="9">
                  <a:txBody>
                    <a:bodyPr/>
                    <a:lstStyle/>
                    <a:p>
                      <a:pPr algn="ctr" fontAlgn="ctr">
                        <a:buNone/>
                      </a:pPr>
                      <a:r>
                        <a:rPr lang="en-US" sz="1400" b="1" i="0" u="none" strike="noStrike" dirty="0">
                          <a:solidFill>
                            <a:srgbClr val="000000"/>
                          </a:solidFill>
                          <a:effectLst/>
                          <a:latin typeface="Times New Roman" panose="02020603050405020304" pitchFamily="18" charset="0"/>
                        </a:rPr>
                        <a:t>NGUỒN LỰC KỸ THUÂT A350/B787 (CẬP NHẬT 20/07)</a:t>
                      </a:r>
                    </a:p>
                  </a:txBody>
                  <a:tcPr marL="4980" marR="4980" marT="498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94543183"/>
                  </a:ext>
                </a:extLst>
              </a:tr>
              <a:tr h="261173">
                <a:tc>
                  <a:txBody>
                    <a:bodyPr/>
                    <a:lstStyle/>
                    <a:p>
                      <a:pPr algn="ctr" fontAlgn="ctr">
                        <a:buNone/>
                      </a:pPr>
                      <a:r>
                        <a:rPr lang="en-US" sz="1200" b="1" i="0" u="none" strike="noStrike">
                          <a:solidFill>
                            <a:srgbClr val="000000"/>
                          </a:solidFill>
                          <a:effectLst/>
                          <a:latin typeface="Times New Roman" panose="02020603050405020304" pitchFamily="18" charset="0"/>
                        </a:rPr>
                        <a:t>STT</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A/C</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Jul-25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Aug-25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Sep-25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Oct-25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Nov-25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Dec-25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Note</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4269621488"/>
                  </a:ext>
                </a:extLst>
              </a:tr>
              <a:tr h="368320">
                <a:tc>
                  <a:txBody>
                    <a:bodyPr/>
                    <a:lstStyle/>
                    <a:p>
                      <a:pPr algn="ctr" fontAlgn="ctr">
                        <a:buNone/>
                      </a:pPr>
                      <a:r>
                        <a:rPr lang="en-US" sz="1200" b="0" i="0" u="none" strike="noStrike">
                          <a:solidFill>
                            <a:srgbClr val="000000"/>
                          </a:solidFill>
                          <a:effectLst/>
                          <a:latin typeface="Times New Roman" panose="02020603050405020304" pitchFamily="18" charset="0"/>
                        </a:rPr>
                        <a:t>1</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200" b="1" i="0" u="none" strike="noStrike">
                          <a:solidFill>
                            <a:srgbClr val="000000"/>
                          </a:solidFill>
                          <a:effectLst/>
                          <a:latin typeface="Times New Roman" panose="02020603050405020304" pitchFamily="18" charset="0"/>
                        </a:rPr>
                        <a:t>A350 AOG do thiếu ENG</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FF0000"/>
                          </a:solidFill>
                          <a:effectLst/>
                          <a:latin typeface="Times New Roman" panose="02020603050405020304" pitchFamily="18" charset="0"/>
                        </a:rPr>
                        <a:t>2.00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chemeClr val="tx1"/>
                          </a:solidFill>
                          <a:effectLst/>
                          <a:latin typeface="Times New Roman" panose="02020603050405020304" pitchFamily="18" charset="0"/>
                        </a:rPr>
                        <a:t>- 08/2025: </a:t>
                      </a:r>
                      <a:r>
                        <a:rPr lang="en-US" sz="1200" b="0" i="0" u="none" strike="noStrike" dirty="0" err="1">
                          <a:solidFill>
                            <a:schemeClr val="tx1"/>
                          </a:solidFill>
                          <a:effectLst/>
                          <a:latin typeface="Times New Roman" panose="02020603050405020304" pitchFamily="18" charset="0"/>
                        </a:rPr>
                        <a:t>tăng</a:t>
                      </a:r>
                      <a:r>
                        <a:rPr lang="en-US" sz="1200" b="0" i="0" u="none" strike="noStrike" dirty="0">
                          <a:solidFill>
                            <a:schemeClr val="tx1"/>
                          </a:solidFill>
                          <a:effectLst/>
                          <a:latin typeface="Times New Roman" panose="02020603050405020304" pitchFamily="18" charset="0"/>
                        </a:rPr>
                        <a:t> 1 </a:t>
                      </a:r>
                      <a:r>
                        <a:rPr lang="en-US" sz="1200" b="0" i="0" u="none" strike="noStrike" dirty="0" err="1">
                          <a:solidFill>
                            <a:schemeClr val="tx1"/>
                          </a:solidFill>
                          <a:effectLst/>
                          <a:latin typeface="Times New Roman" panose="02020603050405020304" pitchFamily="18" charset="0"/>
                        </a:rPr>
                        <a:t>tàu</a:t>
                      </a:r>
                      <a:r>
                        <a:rPr lang="en-US" sz="1200" b="0" i="0" u="none" strike="noStrike" dirty="0">
                          <a:solidFill>
                            <a:schemeClr val="tx1"/>
                          </a:solidFill>
                          <a:effectLst/>
                          <a:latin typeface="Times New Roman" panose="02020603050405020304" pitchFamily="18" charset="0"/>
                        </a:rPr>
                        <a:t> do ENG </a:t>
                      </a:r>
                      <a:r>
                        <a:rPr lang="en-US" sz="1200" b="0" i="0" u="none" strike="noStrike" dirty="0" err="1">
                          <a:solidFill>
                            <a:schemeClr val="tx1"/>
                          </a:solidFill>
                          <a:effectLst/>
                          <a:latin typeface="Times New Roman" panose="02020603050405020304" pitchFamily="18" charset="0"/>
                        </a:rPr>
                        <a:t>về</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muộn</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trong</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đó</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giai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doạn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từ</a:t>
                      </a:r>
                      <a:r>
                        <a:rPr lang="en-US" sz="1200" b="0" i="0" u="none" strike="noStrike" dirty="0">
                          <a:solidFill>
                            <a:srgbClr val="FF0000"/>
                          </a:solidFill>
                          <a:effectLst/>
                          <a:latin typeface="Times New Roman" panose="02020603050405020304" pitchFamily="18" charset="0"/>
                        </a:rPr>
                        <a:t> 11-25/08 </a:t>
                      </a:r>
                      <a:r>
                        <a:rPr lang="en-US" sz="1200" b="0" i="0" u="none" strike="noStrike" dirty="0" err="1">
                          <a:solidFill>
                            <a:srgbClr val="FF0000"/>
                          </a:solidFill>
                          <a:effectLst/>
                          <a:latin typeface="Times New Roman" panose="02020603050405020304" pitchFamily="18" charset="0"/>
                        </a:rPr>
                        <a:t>có</a:t>
                      </a:r>
                      <a:r>
                        <a:rPr lang="en-US" sz="1200" b="0" i="0" u="none" strike="noStrike" dirty="0">
                          <a:solidFill>
                            <a:srgbClr val="FF0000"/>
                          </a:solidFill>
                          <a:effectLst/>
                          <a:latin typeface="Times New Roman" panose="02020603050405020304" pitchFamily="18" charset="0"/>
                        </a:rPr>
                        <a:t> 3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A350 </a:t>
                      </a:r>
                      <a:r>
                        <a:rPr lang="en-US" sz="1200" b="0" i="0" u="none" strike="noStrike" dirty="0" err="1">
                          <a:solidFill>
                            <a:srgbClr val="FF0000"/>
                          </a:solidFill>
                          <a:effectLst/>
                          <a:latin typeface="Times New Roman" panose="02020603050405020304" pitchFamily="18" charset="0"/>
                        </a:rPr>
                        <a:t>dừng</a:t>
                      </a:r>
                      <a:r>
                        <a:rPr lang="en-US" sz="1200" b="0" i="0" u="none" strike="noStrike" dirty="0">
                          <a:solidFill>
                            <a:srgbClr val="FF0000"/>
                          </a:solidFill>
                          <a:effectLst/>
                          <a:latin typeface="Times New Roman" panose="02020603050405020304" pitchFamily="18" charset="0"/>
                        </a:rPr>
                        <a:t> (KH </a:t>
                      </a:r>
                      <a:r>
                        <a:rPr lang="en-US" sz="1200" b="0" i="0" u="none" strike="noStrike" dirty="0" err="1">
                          <a:solidFill>
                            <a:srgbClr val="FF0000"/>
                          </a:solidFill>
                          <a:effectLst/>
                          <a:latin typeface="Times New Roman" panose="02020603050405020304" pitchFamily="18" charset="0"/>
                        </a:rPr>
                        <a:t>cũ</a:t>
                      </a:r>
                      <a:r>
                        <a:rPr lang="en-US" sz="1200" b="0" i="0" u="none" strike="noStrike" dirty="0">
                          <a:solidFill>
                            <a:srgbClr val="FF0000"/>
                          </a:solidFill>
                          <a:effectLst/>
                          <a:latin typeface="Times New Roman" panose="02020603050405020304" pitchFamily="18" charset="0"/>
                        </a:rPr>
                        <a:t> 2 </a:t>
                      </a:r>
                      <a:r>
                        <a:rPr lang="en-US" sz="1200" b="0" i="0" u="none" strike="noStrike" dirty="0" err="1">
                          <a:solidFill>
                            <a:srgbClr val="FF0000"/>
                          </a:solidFill>
                          <a:effectLst/>
                          <a:latin typeface="Times New Roman" panose="02020603050405020304" pitchFamily="18" charset="0"/>
                        </a:rPr>
                        <a:t>tàu</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dừng</a:t>
                      </a:r>
                      <a:r>
                        <a:rPr lang="en-US" sz="1200" b="0" i="0" u="none" strike="noStrike" dirty="0">
                          <a:solidFill>
                            <a:srgbClr val="FF0000"/>
                          </a:solidFill>
                          <a:effectLst/>
                          <a:latin typeface="Times New Roman" panose="02020603050405020304" pitchFamily="18" charset="0"/>
                        </a:rPr>
                        <a:t>)</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3068389"/>
                  </a:ext>
                </a:extLst>
              </a:tr>
              <a:tr h="826429">
                <a:tc>
                  <a:txBody>
                    <a:bodyPr/>
                    <a:lstStyle/>
                    <a:p>
                      <a:pPr algn="ctr" fontAlgn="ctr">
                        <a:buNone/>
                      </a:pPr>
                      <a:r>
                        <a:rPr lang="en-US" sz="1200" b="0" i="0" u="none" strike="noStrike">
                          <a:solidFill>
                            <a:srgbClr val="000000"/>
                          </a:solidFill>
                          <a:effectLst/>
                          <a:latin typeface="Times New Roman" panose="02020603050405020304" pitchFamily="18" charset="0"/>
                        </a:rPr>
                        <a:t>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 dừng BD</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- 07/2025: </a:t>
                      </a:r>
                      <a:r>
                        <a:rPr lang="en-US" sz="1200" b="0" i="0" u="none" strike="noStrike" dirty="0" err="1">
                          <a:solidFill>
                            <a:srgbClr val="000000"/>
                          </a:solidFill>
                          <a:effectLst/>
                          <a:latin typeface="Times New Roman" panose="02020603050405020304" pitchFamily="18" charset="0"/>
                        </a:rPr>
                        <a:t>Giảm</a:t>
                      </a:r>
                      <a:r>
                        <a:rPr lang="en-US" sz="1200" b="0" i="0" u="none" strike="noStrike" dirty="0">
                          <a:solidFill>
                            <a:srgbClr val="000000"/>
                          </a:solidFill>
                          <a:effectLst/>
                          <a:latin typeface="Times New Roman" panose="02020603050405020304" pitchFamily="18" charset="0"/>
                        </a:rPr>
                        <a:t> 0.2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dừng</a:t>
                      </a:r>
                      <a:r>
                        <a:rPr lang="en-US" sz="1200" b="0" i="0" u="none" strike="noStrike" dirty="0">
                          <a:solidFill>
                            <a:srgbClr val="000000"/>
                          </a:solidFill>
                          <a:effectLst/>
                          <a:latin typeface="Times New Roman" panose="02020603050405020304" pitchFamily="18" charset="0"/>
                        </a:rPr>
                        <a:t> do </a:t>
                      </a:r>
                      <a:r>
                        <a:rPr lang="en-US" sz="1200" b="0" i="0" u="none" strike="noStrike" dirty="0" err="1">
                          <a:solidFill>
                            <a:srgbClr val="000000"/>
                          </a:solidFill>
                          <a:effectLst/>
                          <a:latin typeface="Times New Roman" panose="02020603050405020304" pitchFamily="18" charset="0"/>
                        </a:rPr>
                        <a:t>lùi</a:t>
                      </a:r>
                      <a:r>
                        <a:rPr lang="en-US" sz="1200" b="0" i="0" u="none" strike="noStrike" dirty="0">
                          <a:solidFill>
                            <a:srgbClr val="000000"/>
                          </a:solidFill>
                          <a:effectLst/>
                          <a:latin typeface="Times New Roman" panose="02020603050405020304" pitchFamily="18" charset="0"/>
                        </a:rPr>
                        <a:t> Check A894, A898 (</a:t>
                      </a:r>
                      <a:r>
                        <a:rPr lang="en-US" sz="1200" b="0" i="0" u="none" strike="noStrike" dirty="0" err="1">
                          <a:solidFill>
                            <a:srgbClr val="000000"/>
                          </a:solidFill>
                          <a:effectLst/>
                          <a:latin typeface="Times New Roman" panose="02020603050405020304" pitchFamily="18" charset="0"/>
                        </a:rPr>
                        <a:t>chỉ</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làm</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gói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công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việc</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tối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thiểu</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và</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rút</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ngắt</a:t>
                      </a:r>
                      <a:r>
                        <a:rPr lang="en-US" sz="1200" b="0" i="0" u="none" strike="noStrike" dirty="0">
                          <a:solidFill>
                            <a:srgbClr val="000000"/>
                          </a:solidFill>
                          <a:effectLst/>
                          <a:latin typeface="Times New Roman" panose="02020603050405020304" pitchFamily="18" charset="0"/>
                        </a:rPr>
                        <a:t> RTS A886 2 </a:t>
                      </a:r>
                      <a:r>
                        <a:rPr lang="en-US" sz="1200" b="0" i="0" u="none" strike="noStrike" dirty="0" err="1">
                          <a:solidFill>
                            <a:srgbClr val="000000"/>
                          </a:solidFill>
                          <a:effectLst/>
                          <a:latin typeface="Times New Roman" panose="02020603050405020304" pitchFamily="18" charset="0"/>
                        </a:rPr>
                        <a:t>ngày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dự</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kiến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hết</a:t>
                      </a:r>
                      <a:r>
                        <a:rPr lang="en-US" sz="1200" b="0" i="0" u="none" strike="noStrike" dirty="0">
                          <a:solidFill>
                            <a:srgbClr val="000000"/>
                          </a:solidFill>
                          <a:effectLst/>
                          <a:latin typeface="Times New Roman" panose="02020603050405020304" pitchFamily="18" charset="0"/>
                        </a:rPr>
                        <a:t> 03/07 (KH </a:t>
                      </a:r>
                      <a:r>
                        <a:rPr lang="en-US" sz="1200" b="0" i="0" u="none" strike="noStrike" dirty="0" err="1">
                          <a:solidFill>
                            <a:srgbClr val="000000"/>
                          </a:solidFill>
                          <a:effectLst/>
                          <a:latin typeface="Times New Roman" panose="02020603050405020304" pitchFamily="18" charset="0"/>
                        </a:rPr>
                        <a:t>cũ</a:t>
                      </a:r>
                      <a:r>
                        <a:rPr lang="en-US" sz="1200" b="0" i="0" u="none" strike="noStrike" dirty="0">
                          <a:solidFill>
                            <a:srgbClr val="000000"/>
                          </a:solidFill>
                          <a:effectLst/>
                          <a:latin typeface="Times New Roman" panose="02020603050405020304" pitchFamily="18" charset="0"/>
                        </a:rPr>
                        <a:t> 05/07)</a:t>
                      </a:r>
                      <a:br>
                        <a:rPr lang="en-US" sz="1200" b="0" i="0" u="none" strike="noStrike" dirty="0">
                          <a:solidFill>
                            <a:srgbClr val="000000"/>
                          </a:solidFill>
                          <a:effectLst/>
                          <a:latin typeface="Times New Roman" panose="02020603050405020304" pitchFamily="18" charset="0"/>
                        </a:rPr>
                      </a:br>
                      <a:r>
                        <a:rPr lang="en-US" sz="1200" b="0" i="0" u="none" strike="noStrike" dirty="0">
                          <a:solidFill>
                            <a:srgbClr val="FF0000"/>
                          </a:solidFill>
                          <a:effectLst/>
                          <a:latin typeface="Times New Roman" panose="02020603050405020304" pitchFamily="18" charset="0"/>
                        </a:rPr>
                        <a:t>- 09/2025: </a:t>
                      </a:r>
                      <a:r>
                        <a:rPr lang="en-US" sz="1200" b="0" i="0" u="none" strike="noStrike" dirty="0" err="1">
                          <a:solidFill>
                            <a:srgbClr val="FF0000"/>
                          </a:solidFill>
                          <a:effectLst/>
                          <a:latin typeface="Times New Roman" panose="02020603050405020304" pitchFamily="18" charset="0"/>
                        </a:rPr>
                        <a:t>xin</a:t>
                      </a:r>
                      <a:r>
                        <a:rPr lang="en-US" sz="1200" b="0" i="0" u="none" strike="noStrike" dirty="0">
                          <a:solidFill>
                            <a:srgbClr val="FF0000"/>
                          </a:solidFill>
                          <a:effectLst/>
                          <a:latin typeface="Times New Roman" panose="02020603050405020304" pitchFamily="18" charset="0"/>
                        </a:rPr>
                        <a:t> NN Y3 A890 (TAT 10 </a:t>
                      </a:r>
                      <a:r>
                        <a:rPr lang="en-US" sz="1200" b="0" i="0" u="none" strike="noStrike" dirty="0" err="1">
                          <a:solidFill>
                            <a:srgbClr val="FF0000"/>
                          </a:solidFill>
                          <a:effectLst/>
                          <a:latin typeface="Times New Roman" panose="02020603050405020304" pitchFamily="18" charset="0"/>
                        </a:rPr>
                        <a:t>ngày</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để</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giữ</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nguồn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lực</a:t>
                      </a:r>
                      <a:r>
                        <a:rPr lang="en-US" sz="1200" b="0" i="0" u="none" strike="noStrike" dirty="0">
                          <a:solidFill>
                            <a:srgbClr val="FF0000"/>
                          </a:solidFill>
                          <a:effectLst/>
                          <a:latin typeface="Times New Roman" panose="02020603050405020304" pitchFamily="18" charset="0"/>
                        </a:rPr>
                        <a:t> do A895 RTS </a:t>
                      </a:r>
                      <a:r>
                        <a:rPr lang="en-US" sz="1200" b="0" i="0" u="none" strike="noStrike" dirty="0" err="1">
                          <a:solidFill>
                            <a:srgbClr val="FF0000"/>
                          </a:solidFill>
                          <a:effectLst/>
                          <a:latin typeface="Times New Roman" panose="02020603050405020304" pitchFamily="18" charset="0"/>
                        </a:rPr>
                        <a:t>muộn</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dự</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kiến</a:t>
                      </a:r>
                      <a:r>
                        <a:rPr lang="en-US" sz="1200" b="0" i="0" u="none" strike="noStrike" dirty="0">
                          <a:solidFill>
                            <a:srgbClr val="FF0000"/>
                          </a:solidFill>
                          <a:effectLst/>
                          <a:latin typeface="Times New Roman" panose="02020603050405020304" pitchFamily="18" charset="0"/>
                        </a:rPr>
                        <a:t> 15/09 (</a:t>
                      </a:r>
                      <a:r>
                        <a:rPr lang="en-US" sz="1200" b="0" i="0" u="none" strike="noStrike" dirty="0" err="1">
                          <a:solidFill>
                            <a:srgbClr val="FF0000"/>
                          </a:solidFill>
                          <a:effectLst/>
                          <a:latin typeface="Times New Roman" panose="02020603050405020304" pitchFamily="18" charset="0"/>
                        </a:rPr>
                        <a:t>thay</a:t>
                      </a:r>
                      <a:r>
                        <a:rPr lang="en-US" sz="1200" b="0" i="0" u="none" strike="noStrike" dirty="0">
                          <a:solidFill>
                            <a:srgbClr val="FF0000"/>
                          </a:solidFill>
                          <a:effectLst/>
                          <a:latin typeface="Times New Roman" panose="02020603050405020304" pitchFamily="18" charset="0"/>
                        </a:rPr>
                        <a:t> KH </a:t>
                      </a:r>
                      <a:r>
                        <a:rPr lang="en-US" sz="1200" b="0" i="0" u="none" strike="noStrike" dirty="0" err="1">
                          <a:solidFill>
                            <a:srgbClr val="FF0000"/>
                          </a:solidFill>
                          <a:effectLst/>
                          <a:latin typeface="Times New Roman" panose="02020603050405020304" pitchFamily="18" charset="0"/>
                        </a:rPr>
                        <a:t>cũ</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cuối</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tháng</a:t>
                      </a:r>
                      <a:r>
                        <a:rPr lang="en-US" sz="1200" b="0" i="0" u="none" strike="noStrike" dirty="0">
                          <a:solidFill>
                            <a:srgbClr val="FF0000"/>
                          </a:solidFill>
                          <a:effectLst/>
                          <a:latin typeface="Times New Roman" panose="02020603050405020304" pitchFamily="18" charset="0"/>
                        </a:rPr>
                        <a:t> 8/2025)</a:t>
                      </a:r>
                      <a:endParaRPr lang="en-US" sz="1200" b="0" i="0" u="none" strike="noStrike" dirty="0">
                        <a:solidFill>
                          <a:srgbClr val="000000"/>
                        </a:solidFill>
                        <a:effectLst/>
                        <a:latin typeface="Times New Roman" panose="02020603050405020304" pitchFamily="18" charset="0"/>
                      </a:endParaRP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891909562"/>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3</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FF0000"/>
                          </a:solidFill>
                          <a:effectLst/>
                          <a:latin typeface="Times New Roman" panose="02020603050405020304" pitchFamily="18" charset="0"/>
                        </a:rPr>
                        <a:t>3.2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5383079"/>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4</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12.8</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10.8</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7383817"/>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pt-BR" sz="1200" b="1" i="0" u="none" strike="noStrike">
                          <a:solidFill>
                            <a:srgbClr val="000000"/>
                          </a:solidFill>
                          <a:effectLst/>
                          <a:latin typeface="Times New Roman" panose="02020603050405020304" pitchFamily="18" charset="0"/>
                        </a:rPr>
                        <a:t>B787 rủi ro AOG do ENG</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Times New Roman" panose="02020603050405020304" pitchFamily="18" charset="0"/>
                        </a:rPr>
                        <a:t>- Rủi ro phát sinh tàu AOG do ENG A863 BSI 50CY.</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374632"/>
                  </a:ext>
                </a:extLst>
              </a:tr>
              <a:tr h="1121702">
                <a:tc>
                  <a:txBody>
                    <a:bodyPr/>
                    <a:lstStyle/>
                    <a:p>
                      <a:pPr algn="ctr" fontAlgn="ctr">
                        <a:buNone/>
                      </a:pPr>
                      <a:r>
                        <a:rPr lang="en-US" sz="1200" b="0" i="0" u="none" strike="noStrike">
                          <a:solidFill>
                            <a:srgbClr val="000000"/>
                          </a:solidFill>
                          <a:effectLst/>
                          <a:latin typeface="Times New Roman" panose="02020603050405020304" pitchFamily="18" charset="0"/>
                        </a:rPr>
                        <a:t>6</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B787 dừng BD</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vi-VN" sz="1200" b="0" i="0" u="none" strike="noStrike">
                          <a:solidFill>
                            <a:srgbClr val="000000"/>
                          </a:solidFill>
                          <a:effectLst/>
                          <a:latin typeface="Times New Roman" panose="02020603050405020304" pitchFamily="18" charset="0"/>
                        </a:rPr>
                        <a:t>- 07/2025: Tăng 0.5 tàu do A863 AOG từ 27/06 - 01/08 do va chạm với A338, lùi các định kỳ dưới đây sáng tháng 8 để bay bù A863:</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A879: A04 + PIVOT PIN từ 25-28/07 (xin NN làm gói MIN WS tháng 08)</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A872: A04 từ 29-30/07 (xin NN làm gói MIN WS tháng 08)</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A864: A06 từ 31/07-03/08 (xin NN làm gói MIN WS tháng 08).</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- 09/2025: tăng 0.2 tàu dừng do dồn dịch lịch BD tháng 07/2025</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62630948"/>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7</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3142506"/>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8</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B787 thực tế có thể khai thác</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15.8</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15.8</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16.0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056210072"/>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9</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2.4</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4.0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496123"/>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28.6</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26.8</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26.8</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28.0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214842174"/>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11</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Times New Roman" panose="02020603050405020304" pitchFamily="18" charset="0"/>
                        </a:rPr>
                        <a:t>Tổng nhu cầu A350/B787 yêu cầu từ KHPT</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30.0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29.0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0" i="0" u="none" strike="noStrike">
                          <a:solidFill>
                            <a:srgbClr val="000000"/>
                          </a:solidFill>
                          <a:effectLst/>
                          <a:latin typeface="Times New Roman" panose="02020603050405020304" pitchFamily="18" charset="0"/>
                        </a:rPr>
                        <a:t>27.0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6205200"/>
                  </a:ext>
                </a:extLst>
              </a:tr>
              <a:tr h="334837">
                <a:tc>
                  <a:txBody>
                    <a:bodyPr/>
                    <a:lstStyle/>
                    <a:p>
                      <a:pPr algn="ctr" fontAlgn="ctr">
                        <a:buNone/>
                      </a:pPr>
                      <a:r>
                        <a:rPr lang="en-US" sz="1200" b="0" i="0" u="none" strike="noStrike">
                          <a:solidFill>
                            <a:srgbClr val="000000"/>
                          </a:solidFill>
                          <a:effectLst/>
                          <a:latin typeface="Times New Roman" panose="02020603050405020304" pitchFamily="18" charset="0"/>
                        </a:rPr>
                        <a:t>12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1" i="0" u="none" strike="noStrike">
                          <a:solidFill>
                            <a:srgbClr val="000000"/>
                          </a:solidFill>
                          <a:effectLst/>
                          <a:latin typeface="Times New Roman" panose="02020603050405020304" pitchFamily="18" charset="0"/>
                        </a:rPr>
                        <a:t>A350/B787 so với nhu cầu của KHPT</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(12) = (11) - (10)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FF0000"/>
                          </a:solidFill>
                          <a:effectLst/>
                          <a:latin typeface="Times New Roman" panose="02020603050405020304" pitchFamily="18" charset="0"/>
                        </a:rPr>
                        <a:t>-1.4</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FF0000"/>
                          </a:solidFill>
                          <a:effectLst/>
                          <a:latin typeface="Times New Roman" panose="02020603050405020304" pitchFamily="18" charset="0"/>
                        </a:rPr>
                        <a:t>-2.2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200" b="0" i="0" u="none" strike="noStrike">
                          <a:solidFill>
                            <a:srgbClr val="FF0000"/>
                          </a:solidFill>
                          <a:effectLst/>
                          <a:latin typeface="Times New Roman" panose="02020603050405020304" pitchFamily="18" charset="0"/>
                        </a:rPr>
                        <a:t>-0.2</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0.0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buNone/>
                      </a:pPr>
                      <a:r>
                        <a:rPr lang="en-US" sz="1200" b="0" i="0" u="none" strike="noStrike">
                          <a:solidFill>
                            <a:srgbClr val="000000"/>
                          </a:solidFill>
                          <a:effectLst/>
                          <a:latin typeface="Times New Roman" panose="02020603050405020304" pitchFamily="18" charset="0"/>
                        </a:rPr>
                        <a:t>1.0</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 </a:t>
                      </a:r>
                    </a:p>
                  </a:txBody>
                  <a:tcPr marL="4980" marR="4980" marT="49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944631247"/>
                  </a:ext>
                </a:extLst>
              </a:tr>
            </a:tbl>
          </a:graphicData>
        </a:graphic>
      </p:graphicFrame>
    </p:spTree>
    <p:extLst>
      <p:ext uri="{BB962C8B-B14F-4D97-AF65-F5344CB8AC3E}">
        <p14:creationId xmlns:p14="http://schemas.microsoft.com/office/powerpoint/2010/main" val="1479125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70778"/>
            <a:ext cx="2743200" cy="365125"/>
          </a:xfrm>
        </p:spPr>
        <p:txBody>
          <a:bodyPr>
            <a:normAutofit/>
          </a:bodyPr>
          <a:lstStyle/>
          <a:p>
            <a:fld id="{6C6B6B8D-D74E-47CD-B5EE-156060B7CD17}" type="slidenum">
              <a:rPr lang="en-US" sz="1100" smtClean="0"/>
              <a:pPr/>
              <a:t>43</a:t>
            </a:fld>
            <a:endParaRPr lang="en-US" sz="1100" dirty="0"/>
          </a:p>
        </p:txBody>
      </p:sp>
      <p:sp>
        <p:nvSpPr>
          <p:cNvPr id="21" name="TextBox 20"/>
          <p:cNvSpPr txBox="1"/>
          <p:nvPr/>
        </p:nvSpPr>
        <p:spPr>
          <a:xfrm>
            <a:off x="685800" y="59329"/>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29</a:t>
            </a:r>
            <a:endParaRPr lang="vi-VN" sz="2700" dirty="0"/>
          </a:p>
        </p:txBody>
      </p:sp>
      <p:sp>
        <p:nvSpPr>
          <p:cNvPr id="22" name="TextBox 21"/>
          <p:cNvSpPr txBox="1"/>
          <p:nvPr/>
        </p:nvSpPr>
        <p:spPr>
          <a:xfrm>
            <a:off x="464124" y="3429001"/>
            <a:ext cx="11591027" cy="342899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2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2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endParaRPr lang="en-US" sz="1400" b="1" dirty="0">
              <a:latin typeface="Times New Roman" panose="02020603050405020304" pitchFamily="18" charset="0"/>
              <a:cs typeface="Times New Roman" panose="02020603050405020304" pitchFamily="18" charset="0"/>
            </a:endParaRPr>
          </a:p>
          <a:p>
            <a:pPr marL="285750" indent="-285750">
              <a:lnSpc>
                <a:spcPct val="120000"/>
              </a:lnSpc>
              <a:buFontTx/>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21a,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17ea.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10</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2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07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panose="02020603050405020304" pitchFamily="18" charset="0"/>
              <a:cs typeface="Times New Roman" panose="02020603050405020304" pitchFamily="18" charset="0"/>
            </a:endParaRPr>
          </a:p>
          <a:p>
            <a:pPr lvl="1">
              <a:lnSpc>
                <a:spcPct val="120000"/>
              </a:lnSpc>
              <a:buClr>
                <a:srgbClr val="000000"/>
              </a:buClr>
              <a:buSzPts val="1300"/>
            </a:pPr>
            <a:r>
              <a:rPr lang="en-US" sz="1400" dirty="0">
                <a:latin typeface="Times New Roman" panose="02020603050405020304" pitchFamily="18" charset="0"/>
                <a:cs typeface="Times New Roman" panose="02020603050405020304" pitchFamily="18" charset="0"/>
              </a:rPr>
              <a:t>=&gt; KT </a:t>
            </a:r>
            <a:r>
              <a:rPr lang="en-US" sz="1400" dirty="0" err="1">
                <a:latin typeface="Times New Roman" panose="02020603050405020304" pitchFamily="18" charset="0"/>
                <a:cs typeface="Times New Roman" panose="02020603050405020304" pitchFamily="18" charset="0"/>
              </a:rPr>
              <a:t>tiếp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tục</a:t>
            </a:r>
            <a:r>
              <a:rPr lang="en-US" sz="1400" dirty="0">
                <a:latin typeface="Times New Roman" panose="02020603050405020304" pitchFamily="18" charset="0"/>
                <a:cs typeface="Times New Roman" panose="02020603050405020304" pitchFamily="18" charset="0"/>
              </a:rPr>
              <a:t> claim Collins support FOC loan chiller </a:t>
            </a:r>
            <a:r>
              <a:rPr lang="en-US" sz="1400" dirty="0" err="1">
                <a:latin typeface="Times New Roman" panose="02020603050405020304" pitchFamily="18" charset="0"/>
                <a:cs typeface="Times New Roman" panose="02020603050405020304" pitchFamily="18" charset="0"/>
              </a:rPr>
              <a:t>khắc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hỏng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hóc</a:t>
            </a:r>
            <a:r>
              <a:rPr lang="en-US" sz="1400" dirty="0">
                <a:latin typeface="Times New Roman" panose="02020603050405020304" pitchFamily="18" charset="0"/>
                <a:cs typeface="Times New Roman" panose="02020603050405020304" pitchFamily="18" charset="0"/>
              </a:rPr>
              <a:t> on-wing  </a:t>
            </a:r>
          </a:p>
          <a:p>
            <a:pPr marL="285750" indent="-285750">
              <a:lnSpc>
                <a:spcPct val="120000"/>
              </a:lnSpc>
              <a:buClr>
                <a:srgbClr val="000000"/>
              </a:buClr>
              <a:buSzPts val="1300"/>
              <a:buFont typeface="Times New Roman" panose="02020603050405020304" pitchFamily="18" charset="0"/>
              <a:buChar char="⁃"/>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oven: </a:t>
            </a:r>
            <a:r>
              <a:rPr lang="en-US" sz="1400" b="1" dirty="0">
                <a:solidFill>
                  <a:srgbClr val="FF0000"/>
                </a:solidFill>
                <a:latin typeface="Times New Roman" panose="02020603050405020304" pitchFamily="18" charset="0"/>
                <a:cs typeface="Times New Roman" panose="02020603050405020304" pitchFamily="18" charset="0"/>
              </a:rPr>
              <a:t>hỏng </a:t>
            </a:r>
            <a:r>
              <a:rPr lang="en-US" sz="1400" b="1" dirty="0" err="1">
                <a:solidFill>
                  <a:srgbClr val="FF0000"/>
                </a:solidFill>
                <a:latin typeface="Times New Roman" panose="02020603050405020304" pitchFamily="18" charset="0"/>
                <a:cs typeface="Times New Roman" panose="02020603050405020304" pitchFamily="18" charset="0"/>
              </a:rPr>
              <a:t>hóc</a:t>
            </a:r>
            <a:r>
              <a:rPr lang="en-US" sz="1400" b="1" dirty="0">
                <a:solidFill>
                  <a:srgbClr val="FF0000"/>
                </a:solidFill>
                <a:latin typeface="Times New Roman" panose="02020603050405020304" pitchFamily="18" charset="0"/>
                <a:cs typeface="Times New Roman" panose="02020603050405020304" pitchFamily="18" charset="0"/>
              </a:rPr>
              <a:t> 22ea, khắc </a:t>
            </a:r>
            <a:r>
              <a:rPr lang="en-US" sz="1400" b="1" dirty="0" err="1">
                <a:solidFill>
                  <a:srgbClr val="FF0000"/>
                </a:solidFill>
                <a:latin typeface="Times New Roman" panose="02020603050405020304" pitchFamily="18" charset="0"/>
                <a:cs typeface="Times New Roman" panose="02020603050405020304" pitchFamily="18" charset="0"/>
              </a:rPr>
              <a:t>phục</a:t>
            </a:r>
            <a:r>
              <a:rPr lang="en-US" sz="1400" b="1" dirty="0">
                <a:solidFill>
                  <a:srgbClr val="FF0000"/>
                </a:solidFill>
                <a:latin typeface="Times New Roman" panose="02020603050405020304" pitchFamily="18" charset="0"/>
                <a:cs typeface="Times New Roman" panose="02020603050405020304" pitchFamily="18" charset="0"/>
              </a:rPr>
              <a:t> 07ea, </a:t>
            </a:r>
            <a:r>
              <a:rPr lang="en-US" sz="1400" b="1" dirty="0" err="1">
                <a:solidFill>
                  <a:srgbClr val="FF0000"/>
                </a:solidFill>
                <a:latin typeface="Times New Roman" panose="02020603050405020304" pitchFamily="18" charset="0"/>
                <a:cs typeface="Times New Roman" panose="02020603050405020304" pitchFamily="18" charset="0"/>
              </a:rPr>
              <a:t>tồn</a:t>
            </a:r>
            <a:r>
              <a:rPr lang="en-US" sz="1400" b="1" dirty="0">
                <a:solidFill>
                  <a:srgbClr val="FF0000"/>
                </a:solidFill>
                <a:latin typeface="Times New Roman" panose="02020603050405020304" pitchFamily="18" charset="0"/>
                <a:cs typeface="Times New Roman" panose="02020603050405020304" pitchFamily="18" charset="0"/>
              </a:rPr>
              <a:t> 15ea </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Safran A350A: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11ea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03 oven). Oven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A350A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nhiều</a:t>
            </a:r>
            <a:r>
              <a:rPr lang="en-US" sz="1400" dirty="0">
                <a:solidFill>
                  <a:schemeClr val="tx1"/>
                </a:solidFill>
                <a:latin typeface="Times New Roman" panose="02020603050405020304" pitchFamily="18" charset="0"/>
                <a:cs typeface="Times New Roman" panose="02020603050405020304" pitchFamily="18" charset="0"/>
              </a:rPr>
              <a:t>, obsolete </a:t>
            </a:r>
          </a:p>
          <a:p>
            <a:pPr lvl="1">
              <a:lnSpc>
                <a:spcPct val="120000"/>
              </a:lnSpc>
              <a:buClr>
                <a:srgbClr val="000000"/>
              </a:buClr>
              <a:buSzPts val="1300"/>
            </a:pPr>
            <a:r>
              <a:rPr lang="en-US" sz="1400" dirty="0">
                <a:solidFill>
                  <a:schemeClr val="tx1"/>
                </a:solidFill>
                <a:latin typeface="Times New Roman" panose="02020603050405020304" pitchFamily="18" charset="0"/>
                <a:cs typeface="Times New Roman" panose="02020603050405020304" pitchFamily="18" charset="0"/>
              </a:rPr>
              <a:t>     +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KT: Safran </a:t>
            </a:r>
            <a:r>
              <a:rPr lang="en-US" sz="1400" dirty="0" err="1">
                <a:solidFill>
                  <a:schemeClr val="tx1"/>
                </a:solidFill>
                <a:latin typeface="Times New Roman" panose="02020603050405020304" pitchFamily="18" charset="0"/>
                <a:cs typeface="Times New Roman" panose="02020603050405020304" pitchFamily="18" charset="0"/>
              </a:rPr>
              <a:t>phương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án</a:t>
            </a:r>
            <a:r>
              <a:rPr lang="en-US" sz="1400" dirty="0">
                <a:solidFill>
                  <a:schemeClr val="tx1"/>
                </a:solidFill>
                <a:latin typeface="Times New Roman" panose="02020603050405020304" pitchFamily="18" charset="0"/>
                <a:cs typeface="Times New Roman" panose="02020603050405020304" pitchFamily="18" charset="0"/>
              </a:rPr>
              <a:t> retrofit – T10/2025. KT </a:t>
            </a:r>
            <a:r>
              <a:rPr lang="en-US" sz="1400" dirty="0" err="1">
                <a:solidFill>
                  <a:schemeClr val="tx1"/>
                </a:solidFill>
                <a:latin typeface="Times New Roman" panose="02020603050405020304" pitchFamily="18" charset="0"/>
                <a:cs typeface="Times New Roman" panose="02020603050405020304" pitchFamily="18" charset="0"/>
              </a:rPr>
              <a:t>viết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thư</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cap claim Safran </a:t>
            </a:r>
            <a:r>
              <a:rPr lang="en-US" sz="1400" dirty="0" err="1">
                <a:solidFill>
                  <a:schemeClr val="tx1"/>
                </a:solidFill>
                <a:latin typeface="Times New Roman" panose="02020603050405020304" pitchFamily="18" charset="0"/>
                <a:cs typeface="Times New Roman" panose="02020603050405020304" pitchFamily="18" charset="0"/>
              </a:rPr>
              <a:t>tìm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giải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sớm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retrofit.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30 </a:t>
            </a:r>
            <a:r>
              <a:rPr lang="en-US" sz="1400" dirty="0" err="1">
                <a:solidFill>
                  <a:schemeClr val="tx1"/>
                </a:solidFill>
                <a:latin typeface="Times New Roman" panose="02020603050405020304" pitchFamily="18" charset="0"/>
                <a:cs typeface="Times New Roman" panose="02020603050405020304" pitchFamily="18" charset="0"/>
              </a:rPr>
              <a:t>về</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thêm</a:t>
            </a:r>
            <a:r>
              <a:rPr lang="en-US" sz="1400" dirty="0">
                <a:solidFill>
                  <a:schemeClr val="tx1"/>
                </a:solidFill>
                <a:latin typeface="Times New Roman" panose="02020603050405020304" pitchFamily="18" charset="0"/>
                <a:cs typeface="Times New Roman" panose="02020603050405020304" pitchFamily="18" charset="0"/>
              </a:rPr>
              <a:t> 03 oven</a:t>
            </a:r>
          </a:p>
          <a:p>
            <a:pPr lvl="1">
              <a:lnSpc>
                <a:spcPct val="120000"/>
              </a:lnSpc>
              <a:buClr>
                <a:srgbClr val="000000"/>
              </a:buClr>
              <a:buSzPts val="1300"/>
            </a:pP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 Quy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ĐTV </a:t>
            </a:r>
            <a:r>
              <a:rPr lang="en-US" sz="1400" dirty="0" err="1">
                <a:solidFill>
                  <a:schemeClr val="tx1"/>
                </a:solidFill>
                <a:latin typeface="Times New Roman" panose="02020603050405020304" pitchFamily="18" charset="0"/>
                <a:cs typeface="Times New Roman" panose="02020603050405020304" pitchFamily="18" charset="0"/>
              </a:rPr>
              <a:t>thực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quy</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trình</a:t>
            </a:r>
            <a:r>
              <a:rPr lang="en-US" sz="1400" dirty="0">
                <a:solidFill>
                  <a:schemeClr val="tx1"/>
                </a:solidFill>
                <a:latin typeface="Times New Roman" panose="02020603050405020304" pitchFamily="18" charset="0"/>
                <a:cs typeface="Times New Roman" panose="02020603050405020304" pitchFamily="18" charset="0"/>
              </a:rPr>
              <a:t>: warm up 5 </a:t>
            </a:r>
            <a:r>
              <a:rPr lang="en-US" sz="1400" dirty="0" err="1">
                <a:solidFill>
                  <a:schemeClr val="tx1"/>
                </a:solidFill>
                <a:latin typeface="Times New Roman" panose="02020603050405020304" pitchFamily="18" charset="0"/>
                <a:cs typeface="Times New Roman" panose="02020603050405020304" pitchFamily="18" charset="0"/>
              </a:rPr>
              <a:t>phút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trước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dụng</a:t>
            </a:r>
            <a:r>
              <a:rPr lang="en-US" sz="1400" dirty="0">
                <a:solidFill>
                  <a:schemeClr val="tx1"/>
                </a:solidFill>
                <a:latin typeface="Times New Roman" panose="02020603050405020304" pitchFamily="18" charset="0"/>
                <a:cs typeface="Times New Roman" panose="02020603050405020304" pitchFamily="18" charset="0"/>
              </a:rPr>
              <a:t> Oven (</a:t>
            </a:r>
            <a:r>
              <a:rPr lang="en-US" sz="1400" dirty="0" err="1">
                <a:solidFill>
                  <a:schemeClr val="tx1"/>
                </a:solidFill>
                <a:latin typeface="Times New Roman" panose="02020603050405020304" pitchFamily="18" charset="0"/>
                <a:cs typeface="Times New Roman" panose="02020603050405020304" pitchFamily="18" charset="0"/>
              </a:rPr>
              <a:t>khuyến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từ</a:t>
            </a:r>
            <a:r>
              <a:rPr lang="en-US" sz="1400" dirty="0">
                <a:solidFill>
                  <a:schemeClr val="tx1"/>
                </a:solidFill>
                <a:latin typeface="Times New Roman" panose="02020603050405020304" pitchFamily="18" charset="0"/>
                <a:cs typeface="Times New Roman" panose="02020603050405020304" pitchFamily="18" charset="0"/>
              </a:rPr>
              <a:t> Safran)</a:t>
            </a:r>
          </a:p>
          <a:p>
            <a:pPr marL="742950" lvl="1" indent="-285750">
              <a:lnSpc>
                <a:spcPct val="12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A321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A35X: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b="1"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2 oven (04 oven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trong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=&gt;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được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kiểm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soát</a:t>
            </a:r>
            <a:r>
              <a:rPr lang="en-US" sz="1400" dirty="0">
                <a:solidFill>
                  <a:schemeClr val="tx1"/>
                </a:solidFill>
                <a:latin typeface="Times New Roman" panose="02020603050405020304" pitchFamily="18" charset="0"/>
                <a:cs typeface="Times New Roman" panose="02020603050405020304" pitchFamily="18" charset="0"/>
              </a:rPr>
              <a:t>; QLVT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mua</a:t>
            </a:r>
            <a:r>
              <a:rPr lang="en-US" sz="1400" dirty="0">
                <a:solidFill>
                  <a:schemeClr val="tx1"/>
                </a:solidFill>
                <a:latin typeface="Times New Roman" panose="02020603050405020304" pitchFamily="18" charset="0"/>
                <a:cs typeface="Times New Roman" panose="02020603050405020304" pitchFamily="18" charset="0"/>
              </a:rPr>
              <a:t> used part/new part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SB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hóc</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467837" y="1777651"/>
            <a:ext cx="11592543" cy="73694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US" sz="1400" b="1" dirty="0">
                <a:latin typeface="Times New Roman" panose="02020603050405020304" pitchFamily="18" charset="0"/>
                <a:cs typeface="Times New Roman" panose="02020603050405020304" pitchFamily="18" charset="0"/>
              </a:rPr>
              <a:t>3221</a:t>
            </a:r>
            <a:r>
              <a:rPr lang="en-GB" sz="1400" b="1" dirty="0">
                <a:solidFill>
                  <a:schemeClr val="tx1"/>
                </a:solidFill>
                <a:latin typeface="Times New Roman" panose="02020603050405020304" pitchFamily="18" charset="0"/>
                <a:cs typeface="Times New Roman" panose="02020603050405020304" pitchFamily="18" charset="0"/>
              </a:rPr>
              <a:t>/3369</a:t>
            </a:r>
            <a:r>
              <a:rPr lang="en-GB" sz="1400" dirty="0">
                <a:solidFill>
                  <a:schemeClr val="tx1"/>
                </a:solidFill>
                <a:latin typeface="Times New Roman" panose="02020603050405020304" pitchFamily="18" charset="0"/>
                <a:cs typeface="Times New Roman" panose="02020603050405020304" pitchFamily="18" charset="0"/>
              </a:rPr>
              <a:t> </a:t>
            </a:r>
            <a:r>
              <a:rPr lang="en-GB" sz="1400" b="1" dirty="0">
                <a:solidFill>
                  <a:schemeClr val="tx1"/>
                </a:solidFill>
                <a:latin typeface="Times New Roman" panose="02020603050405020304" pitchFamily="18" charset="0"/>
                <a:cs typeface="Times New Roman" panose="02020603050405020304" pitchFamily="18" charset="0"/>
              </a:rPr>
              <a:t>SVDU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148 INOP SVDU). </a:t>
            </a:r>
            <a:r>
              <a:rPr lang="en-US" sz="1400" dirty="0">
                <a:solidFill>
                  <a:schemeClr val="tx1"/>
                </a:solidFill>
                <a:latin typeface="Times New Roman" panose="02020603050405020304" pitchFamily="18" charset="0"/>
                <a:cs typeface="Times New Roman" panose="02020603050405020304" pitchFamily="18" charset="0"/>
              </a:rPr>
              <a:t>Trong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29:  hỏng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61 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21ea. </a:t>
            </a:r>
            <a:endParaRPr lang="en-GB" sz="1400" dirty="0">
              <a:solidFill>
                <a:schemeClr val="tx1"/>
              </a:solidFill>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=&gt; </a:t>
            </a:r>
            <a:r>
              <a:rPr lang="vi-VN" sz="1400" dirty="0"/>
              <a:t>Hỏng hóc</a:t>
            </a:r>
            <a:r>
              <a:rPr lang="en-US" sz="1400" dirty="0"/>
              <a:t> </a:t>
            </a:r>
            <a:r>
              <a:rPr lang="en-US" sz="1400" dirty="0" err="1"/>
              <a:t>tăng</a:t>
            </a:r>
            <a:r>
              <a:rPr lang="en-US" sz="1400" dirty="0"/>
              <a:t> </a:t>
            </a:r>
            <a:r>
              <a:rPr lang="en-US" sz="1400" dirty="0" err="1"/>
              <a:t>trở</a:t>
            </a:r>
            <a:r>
              <a:rPr lang="en-US" sz="1400" dirty="0"/>
              <a:t> </a:t>
            </a:r>
            <a:r>
              <a:rPr lang="en-US" sz="1400" dirty="0" err="1"/>
              <a:t>lại</a:t>
            </a:r>
            <a:r>
              <a:rPr lang="en-US" sz="1400" dirty="0"/>
              <a:t> </a:t>
            </a:r>
            <a:r>
              <a:rPr lang="en-US" sz="1400" dirty="0" err="1"/>
              <a:t>các</a:t>
            </a:r>
            <a:r>
              <a:rPr lang="en-US" sz="1400" dirty="0"/>
              <a:t> </a:t>
            </a:r>
            <a:r>
              <a:rPr lang="en-US" sz="1400" dirty="0" err="1"/>
              <a:t>khối</a:t>
            </a:r>
            <a:r>
              <a:rPr lang="en-US" sz="1400" dirty="0"/>
              <a:t> pre-mod intermittent</a:t>
            </a:r>
            <a:br>
              <a:rPr lang="en-US" sz="1400" dirty="0"/>
            </a:br>
            <a:r>
              <a:rPr lang="en-US" sz="1400" dirty="0"/>
              <a:t>=&gt; </a:t>
            </a:r>
            <a:r>
              <a:rPr lang="en-US" sz="1400" dirty="0" err="1"/>
              <a:t>Vật</a:t>
            </a:r>
            <a:r>
              <a:rPr lang="en-US" sz="1400" dirty="0"/>
              <a:t> </a:t>
            </a:r>
            <a:r>
              <a:rPr lang="en-US" sz="1400" dirty="0" err="1"/>
              <a:t>tư</a:t>
            </a:r>
            <a:r>
              <a:rPr lang="en-US" sz="1400" dirty="0"/>
              <a:t> quay </a:t>
            </a:r>
            <a:r>
              <a:rPr lang="en-US" sz="1400" dirty="0" err="1"/>
              <a:t>vòng</a:t>
            </a:r>
            <a:r>
              <a:rPr lang="en-US" sz="1400" dirty="0"/>
              <a:t> it (130 </a:t>
            </a:r>
            <a:r>
              <a:rPr lang="en-US" sz="1400" dirty="0" err="1"/>
              <a:t>ea</a:t>
            </a:r>
            <a:r>
              <a:rPr lang="en-US" sz="1400" dirty="0"/>
              <a:t>) =&gt; </a:t>
            </a:r>
            <a:r>
              <a:rPr lang="en-US" sz="1400" dirty="0" err="1"/>
              <a:t>cần</a:t>
            </a:r>
            <a:r>
              <a:rPr lang="en-US" sz="1400" dirty="0"/>
              <a:t> </a:t>
            </a:r>
            <a:r>
              <a:rPr lang="en-US" sz="1400" dirty="0" err="1"/>
              <a:t>cân</a:t>
            </a:r>
            <a:r>
              <a:rPr lang="en-US" sz="1400" dirty="0"/>
              <a:t> </a:t>
            </a:r>
            <a:r>
              <a:rPr lang="en-US" sz="1400" dirty="0" err="1"/>
              <a:t>đối</a:t>
            </a:r>
            <a:r>
              <a:rPr lang="en-US" sz="1400" dirty="0"/>
              <a:t> </a:t>
            </a:r>
            <a:r>
              <a:rPr lang="en-US" sz="1400" dirty="0" err="1"/>
              <a:t>vật</a:t>
            </a:r>
            <a:r>
              <a:rPr lang="en-US" sz="1400" dirty="0"/>
              <a:t> </a:t>
            </a:r>
            <a:r>
              <a:rPr lang="en-US" sz="1400" dirty="0" err="1"/>
              <a:t>tư</a:t>
            </a:r>
            <a:r>
              <a:rPr lang="en-US" sz="1400" dirty="0"/>
              <a:t> </a:t>
            </a:r>
            <a:r>
              <a:rPr lang="en-US" sz="1400" dirty="0" err="1"/>
              <a:t>khắc</a:t>
            </a:r>
            <a:r>
              <a:rPr lang="en-US" sz="1400" dirty="0"/>
              <a:t> </a:t>
            </a:r>
            <a:r>
              <a:rPr lang="en-US" sz="1400" dirty="0" err="1"/>
              <a:t>phục</a:t>
            </a:r>
            <a:r>
              <a:rPr lang="en-US" sz="1400" dirty="0"/>
              <a:t> </a:t>
            </a:r>
            <a:r>
              <a:rPr lang="en-US" sz="1400" dirty="0" err="1"/>
              <a:t>hỏng</a:t>
            </a:r>
            <a:r>
              <a:rPr lang="en-US" sz="1400" dirty="0"/>
              <a:t> </a:t>
            </a:r>
            <a:r>
              <a:rPr lang="en-US" sz="1400" dirty="0" err="1"/>
              <a:t>hóc</a:t>
            </a:r>
            <a:r>
              <a:rPr lang="en-US" sz="1400" dirty="0"/>
              <a:t> </a:t>
            </a:r>
            <a:r>
              <a:rPr lang="en-US" sz="1400" dirty="0" err="1"/>
              <a:t>và</a:t>
            </a:r>
            <a:r>
              <a:rPr lang="en-US" sz="1400" dirty="0"/>
              <a:t> </a:t>
            </a:r>
            <a:r>
              <a:rPr lang="en-US" sz="1400" dirty="0" err="1"/>
              <a:t>chuẩn</a:t>
            </a:r>
            <a:r>
              <a:rPr lang="en-US" sz="1400" dirty="0"/>
              <a:t> </a:t>
            </a:r>
            <a:r>
              <a:rPr lang="en-US" sz="1400" dirty="0" err="1"/>
              <a:t>bị</a:t>
            </a:r>
            <a:r>
              <a:rPr lang="en-US" sz="1400" dirty="0"/>
              <a:t> RTS A895 (</a:t>
            </a:r>
            <a:r>
              <a:rPr lang="en-US" sz="1400" dirty="0" err="1"/>
              <a:t>đang</a:t>
            </a:r>
            <a:r>
              <a:rPr lang="en-US" sz="1400" dirty="0"/>
              <a:t> </a:t>
            </a:r>
            <a:r>
              <a:rPr lang="en-US" sz="1400" dirty="0" err="1"/>
              <a:t>thiếu</a:t>
            </a:r>
            <a:r>
              <a:rPr lang="en-US" sz="1400" dirty="0"/>
              <a:t> 150 SVDU).</a:t>
            </a:r>
            <a:endParaRPr lang="en-US"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464124" y="2514600"/>
            <a:ext cx="11592544"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LAV:</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06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06ea,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04ea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p:txBody>
      </p:sp>
      <p:sp>
        <p:nvSpPr>
          <p:cNvPr id="26" name="TextBox 25"/>
          <p:cNvSpPr txBox="1"/>
          <p:nvPr/>
        </p:nvSpPr>
        <p:spPr>
          <a:xfrm>
            <a:off x="457199" y="533400"/>
            <a:ext cx="11582399"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29: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272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04%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28),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88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184 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2 %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28).</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457199" y="937736"/>
            <a:ext cx="11592542" cy="7386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29</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02,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02.</a:t>
            </a:r>
          </a:p>
          <a:p>
            <a:pPr marL="285750" indent="-285750">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12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07,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05</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43671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9BCBC3C-968C-0739-5A71-F735C24874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928E75-8990-75D2-3394-14DB8FCFF01B}"/>
              </a:ext>
            </a:extLst>
          </p:cNvPr>
          <p:cNvPicPr>
            <a:picLocks noChangeAspect="1"/>
          </p:cNvPicPr>
          <p:nvPr/>
        </p:nvPicPr>
        <p:blipFill>
          <a:blip r:embed="rId3"/>
          <a:stretch>
            <a:fillRect/>
          </a:stretch>
        </p:blipFill>
        <p:spPr>
          <a:xfrm>
            <a:off x="6381062" y="457201"/>
            <a:ext cx="5810938" cy="2743200"/>
          </a:xfrm>
          <a:prstGeom prst="rect">
            <a:avLst/>
          </a:prstGeom>
        </p:spPr>
      </p:pic>
      <p:sp>
        <p:nvSpPr>
          <p:cNvPr id="51" name="Google Shape;51;p4">
            <a:extLst>
              <a:ext uri="{FF2B5EF4-FFF2-40B4-BE49-F238E27FC236}">
                <a16:creationId xmlns:a16="http://schemas.microsoft.com/office/drawing/2014/main" id="{92F1352D-D369-A1AD-4743-313612306CD2}"/>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44</a:t>
            </a:fld>
            <a:endParaRPr>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8014DA43-F655-E3A3-FC9B-4FAC5C164F59}"/>
              </a:ext>
            </a:extLst>
          </p:cNvPr>
          <p:cNvSpPr>
            <a:spLocks noGrp="1"/>
          </p:cNvSpPr>
          <p:nvPr>
            <p:ph type="title"/>
          </p:nvPr>
        </p:nvSpPr>
        <p:spPr>
          <a:xfrm>
            <a:off x="2209800" y="25401"/>
            <a:ext cx="10058400" cy="508000"/>
          </a:xfrm>
        </p:spPr>
        <p:txBody>
          <a:bodyPr>
            <a:normAutofit fontScale="90000"/>
          </a:bodyPr>
          <a:lstStyle/>
          <a:p>
            <a:pPr algn="ctr" eaLnBrk="1" hangingPunct="1"/>
            <a:r>
              <a:rPr lang="en-US" altLang="en-US" sz="3200" dirty="0">
                <a:solidFill>
                  <a:srgbClr val="FFC000"/>
                </a:solidFill>
                <a:latin typeface="Times New Roman" panose="02020603050405020304" pitchFamily="18" charset="0"/>
                <a:cs typeface="Times New Roman" panose="02020603050405020304" pitchFamily="18" charset="0"/>
              </a:rPr>
              <a:t>A321 IFC – </a:t>
            </a:r>
            <a:r>
              <a:rPr lang="en-US" altLang="en-US" sz="3200" dirty="0" err="1">
                <a:solidFill>
                  <a:srgbClr val="FFC000"/>
                </a:solidFill>
                <a:latin typeface="Times New Roman" panose="02020603050405020304" pitchFamily="18" charset="0"/>
                <a:cs typeface="Times New Roman" panose="02020603050405020304" pitchFamily="18" charset="0"/>
              </a:rPr>
              <a:t>Skyfive</a:t>
            </a:r>
            <a:r>
              <a:rPr lang="en-US" altLang="en-US" sz="3200" dirty="0">
                <a:solidFill>
                  <a:srgbClr val="FFC000"/>
                </a:solidFill>
                <a:latin typeface="Times New Roman" panose="02020603050405020304" pitchFamily="18" charset="0"/>
                <a:cs typeface="Times New Roman" panose="02020603050405020304" pitchFamily="18" charset="0"/>
              </a:rPr>
              <a:t> A2G Solution</a:t>
            </a:r>
          </a:p>
        </p:txBody>
      </p:sp>
      <p:sp>
        <p:nvSpPr>
          <p:cNvPr id="5" name="TextBox 4">
            <a:extLst>
              <a:ext uri="{FF2B5EF4-FFF2-40B4-BE49-F238E27FC236}">
                <a16:creationId xmlns:a16="http://schemas.microsoft.com/office/drawing/2014/main" id="{A0069198-2AE2-3BEB-82D6-6DD6F2F6A6F7}"/>
              </a:ext>
            </a:extLst>
          </p:cNvPr>
          <p:cNvSpPr txBox="1"/>
          <p:nvPr/>
        </p:nvSpPr>
        <p:spPr>
          <a:xfrm>
            <a:off x="341315" y="152400"/>
            <a:ext cx="6059485" cy="6684972"/>
          </a:xfrm>
          <a:prstGeom prst="rect">
            <a:avLst/>
          </a:prstGeom>
          <a:noFill/>
        </p:spPr>
        <p:txBody>
          <a:bodyPr wrap="square" rtlCol="0">
            <a:spAutoFit/>
          </a:bodyPr>
          <a:lstStyle/>
          <a:p>
            <a:pPr algn="just">
              <a:lnSpc>
                <a:spcPct val="130000"/>
              </a:lnSpc>
            </a:pPr>
            <a:r>
              <a:rPr lang="en-US" sz="2000" b="1" dirty="0">
                <a:latin typeface="Times New Roman" panose="02020603050405020304" pitchFamily="18" charset="0"/>
                <a:cs typeface="Times New Roman" panose="02020603050405020304" pitchFamily="18" charset="0"/>
              </a:rPr>
              <a:t>1. </a:t>
            </a:r>
            <a:r>
              <a:rPr lang="en-US" sz="2000" b="1" dirty="0" err="1">
                <a:latin typeface="Times New Roman" panose="02020603050405020304" pitchFamily="18" charset="0"/>
                <a:cs typeface="Times New Roman" panose="02020603050405020304" pitchFamily="18" charset="0"/>
              </a:rPr>
              <a:t>Giải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pháp</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Skyfive</a:t>
            </a:r>
            <a:r>
              <a:rPr lang="en-US" sz="2000" b="1" dirty="0">
                <a:latin typeface="Times New Roman" panose="02020603050405020304" pitchFamily="18" charset="0"/>
                <a:cs typeface="Times New Roman" panose="02020603050405020304" pitchFamily="18" charset="0"/>
              </a:rPr>
              <a:t> A2G</a:t>
            </a:r>
          </a:p>
          <a:p>
            <a:pPr marL="342900" indent="-342900" algn="just">
              <a:lnSpc>
                <a:spcPct val="13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A2G </a:t>
            </a:r>
            <a:r>
              <a:rPr lang="en-US" sz="1600" dirty="0" err="1">
                <a:latin typeface="Times New Roman" panose="02020603050405020304" pitchFamily="18" charset="0"/>
                <a:cs typeface="Times New Roman" panose="02020603050405020304" pitchFamily="18" charset="0"/>
              </a:rPr>
              <a:t>cung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IFC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từ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mặt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đất</a:t>
            </a:r>
            <a:r>
              <a:rPr lang="en-US" sz="1600" dirty="0">
                <a:latin typeface="Times New Roman" panose="02020603050405020304" pitchFamily="18" charset="0"/>
                <a:cs typeface="Times New Roman" panose="02020603050405020304" pitchFamily="18" charset="0"/>
              </a:rPr>
              <a:t> – </a:t>
            </a:r>
            <a:r>
              <a:rPr lang="en-US" sz="1600" b="1" i="1" dirty="0" err="1">
                <a:latin typeface="Times New Roman" panose="02020603050405020304" pitchFamily="18" charset="0"/>
                <a:cs typeface="Times New Roman" panose="02020603050405020304" pitchFamily="18" charset="0"/>
              </a:rPr>
              <a:t>công</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nghệ</a:t>
            </a:r>
            <a:r>
              <a:rPr lang="en-US" sz="1600" b="1" i="1" dirty="0">
                <a:latin typeface="Times New Roman" panose="02020603050405020304" pitchFamily="18" charset="0"/>
                <a:cs typeface="Times New Roman" panose="02020603050405020304" pitchFamily="18" charset="0"/>
              </a:rPr>
              <a:t> 4G, </a:t>
            </a:r>
            <a:r>
              <a:rPr lang="en-US" sz="1600" b="1" i="1" dirty="0" err="1">
                <a:latin typeface="Times New Roman" panose="02020603050405020304" pitchFamily="18" charset="0"/>
                <a:cs typeface="Times New Roman" panose="02020603050405020304" pitchFamily="18" charset="0"/>
              </a:rPr>
              <a:t>độ</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trễ</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thấp</a:t>
            </a:r>
            <a:r>
              <a:rPr lang="en-US" sz="1600" b="1" i="1" dirty="0">
                <a:latin typeface="Times New Roman" panose="02020603050405020304" pitchFamily="18" charset="0"/>
                <a:cs typeface="Times New Roman" panose="02020603050405020304" pitchFamily="18" charset="0"/>
              </a:rPr>
              <a:t> so </a:t>
            </a:r>
            <a:r>
              <a:rPr lang="en-US" sz="1600" b="1" i="1" dirty="0" err="1">
                <a:latin typeface="Times New Roman" panose="02020603050405020304" pitchFamily="18" charset="0"/>
                <a:cs typeface="Times New Roman" panose="02020603050405020304" pitchFamily="18" charset="0"/>
              </a:rPr>
              <a:t>với</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vệ</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tinh</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tốc</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độ</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tới</a:t>
            </a:r>
            <a:r>
              <a:rPr lang="en-US" sz="1600" b="1" i="1" dirty="0">
                <a:latin typeface="Times New Roman" panose="02020603050405020304" pitchFamily="18" charset="0"/>
                <a:cs typeface="Times New Roman" panose="02020603050405020304" pitchFamily="18" charset="0"/>
              </a:rPr>
              <a:t> 110 Mbps/ </a:t>
            </a:r>
            <a:r>
              <a:rPr lang="en-US" sz="1600" b="1" i="1" dirty="0" err="1">
                <a:latin typeface="Times New Roman" panose="02020603050405020304" pitchFamily="18" charset="0"/>
                <a:cs typeface="Times New Roman" panose="02020603050405020304" pitchFamily="18" charset="0"/>
              </a:rPr>
              <a:t>tàu</a:t>
            </a:r>
            <a:r>
              <a:rPr lang="en-US" sz="1600" b="1" i="1" dirty="0">
                <a:latin typeface="Times New Roman" panose="02020603050405020304" pitchFamily="18" charset="0"/>
                <a:cs typeface="Times New Roman" panose="02020603050405020304" pitchFamily="18" charset="0"/>
              </a:rPr>
              <a:t>, 1Mbps/PAX (</a:t>
            </a:r>
            <a:r>
              <a:rPr lang="en-US" sz="1600" b="1" i="1" dirty="0" err="1">
                <a:latin typeface="Times New Roman" panose="02020603050405020304" pitchFamily="18" charset="0"/>
                <a:cs typeface="Times New Roman" panose="02020603050405020304" pitchFamily="18" charset="0"/>
              </a:rPr>
              <a:t>tương</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tự</a:t>
            </a:r>
            <a:r>
              <a:rPr lang="en-US" sz="1600" b="1" i="1" dirty="0">
                <a:latin typeface="Times New Roman" panose="02020603050405020304" pitchFamily="18" charset="0"/>
                <a:cs typeface="Times New Roman" panose="02020603050405020304" pitchFamily="18" charset="0"/>
              </a:rPr>
              <a:t> Starlink)</a:t>
            </a:r>
            <a:r>
              <a:rPr lang="en-US" sz="1600" dirty="0">
                <a:latin typeface="Times New Roman" panose="02020603050405020304" pitchFamily="18" charset="0"/>
                <a:cs typeface="Times New Roman" panose="02020603050405020304" pitchFamily="18" charset="0"/>
              </a:rPr>
              <a:t>.</a:t>
            </a:r>
          </a:p>
          <a:p>
            <a:pPr marL="342900" indent="-342900" algn="just">
              <a:lnSpc>
                <a:spcPct val="130000"/>
              </a:lnSpc>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Skyfive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A2G </a:t>
            </a:r>
            <a:r>
              <a:rPr lang="en-US" sz="1600" dirty="0" err="1">
                <a:latin typeface="Times New Roman" panose="02020603050405020304" pitchFamily="18" charset="0"/>
                <a:cs typeface="Times New Roman" panose="02020603050405020304" pitchFamily="18" charset="0"/>
              </a:rPr>
              <a:t>tại</a:t>
            </a:r>
            <a:r>
              <a:rPr lang="en-US" sz="1600"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châu</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Âu</a:t>
            </a:r>
            <a:r>
              <a:rPr lang="en-US" sz="1600" b="1" i="1" dirty="0">
                <a:latin typeface="Times New Roman" panose="02020603050405020304" pitchFamily="18" charset="0"/>
                <a:cs typeface="Times New Roman" panose="02020603050405020304" pitchFamily="18" charset="0"/>
              </a:rPr>
              <a:t>, Trung </a:t>
            </a:r>
            <a:r>
              <a:rPr lang="en-US" sz="1600" b="1" i="1" dirty="0" err="1">
                <a:latin typeface="Times New Roman" panose="02020603050405020304" pitchFamily="18" charset="0"/>
                <a:cs typeface="Times New Roman" panose="02020603050405020304" pitchFamily="18" charset="0"/>
              </a:rPr>
              <a:t>đông</a:t>
            </a:r>
            <a:r>
              <a:rPr lang="en-US" sz="1600" b="1" i="1" dirty="0">
                <a:latin typeface="Times New Roman" panose="02020603050405020304" pitchFamily="18" charset="0"/>
                <a:cs typeface="Times New Roman" panose="02020603050405020304" pitchFamily="18" charset="0"/>
              </a:rPr>
              <a:t>, Indo; </a:t>
            </a:r>
            <a:r>
              <a:rPr lang="en-US" sz="1600" b="1" i="1" dirty="0" err="1">
                <a:latin typeface="Times New Roman" panose="02020603050405020304" pitchFamily="18" charset="0"/>
                <a:cs typeface="Times New Roman" panose="02020603050405020304" pitchFamily="18" charset="0"/>
              </a:rPr>
              <a:t>và</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kế</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hoạch</a:t>
            </a:r>
            <a:r>
              <a:rPr lang="en-US" sz="1600" b="1" i="1" dirty="0">
                <a:latin typeface="Times New Roman" panose="02020603050405020304" pitchFamily="18" charset="0"/>
                <a:cs typeface="Times New Roman" panose="02020603050405020304" pitchFamily="18" charset="0"/>
              </a:rPr>
              <a:t> bao </a:t>
            </a:r>
            <a:r>
              <a:rPr lang="en-US" sz="1600" b="1" i="1" dirty="0" err="1">
                <a:latin typeface="Times New Roman" panose="02020603050405020304" pitchFamily="18" charset="0"/>
                <a:cs typeface="Times New Roman" panose="02020603050405020304" pitchFamily="18" charset="0"/>
              </a:rPr>
              <a:t>phủ</a:t>
            </a:r>
            <a:r>
              <a:rPr lang="en-US" sz="1600" b="1" i="1" dirty="0">
                <a:latin typeface="Times New Roman" panose="02020603050405020304" pitchFamily="18" charset="0"/>
                <a:cs typeface="Times New Roman" panose="02020603050405020304" pitchFamily="18" charset="0"/>
              </a:rPr>
              <a:t> ĐNA </a:t>
            </a:r>
            <a:r>
              <a:rPr lang="en-US" sz="1600" b="1" i="1" dirty="0" err="1">
                <a:latin typeface="Times New Roman" panose="02020603050405020304" pitchFamily="18" charset="0"/>
                <a:cs typeface="Times New Roman" panose="02020603050405020304" pitchFamily="18" charset="0"/>
              </a:rPr>
              <a:t>trước</a:t>
            </a:r>
            <a:r>
              <a:rPr lang="en-US" sz="1600" b="1" i="1" dirty="0">
                <a:latin typeface="Times New Roman" panose="02020603050405020304" pitchFamily="18" charset="0"/>
                <a:cs typeface="Times New Roman" panose="02020603050405020304" pitchFamily="18" charset="0"/>
              </a:rPr>
              <a:t> 2028</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 320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A2G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Skyfive</a:t>
            </a:r>
            <a:r>
              <a:rPr lang="en-US" sz="1600" dirty="0">
                <a:latin typeface="Times New Roman" panose="02020603050405020304" pitchFamily="18" charset="0"/>
                <a:cs typeface="Times New Roman" panose="02020603050405020304" pitchFamily="18" charset="0"/>
              </a:rPr>
              <a:t>.</a:t>
            </a:r>
          </a:p>
          <a:p>
            <a:pPr marL="342900" indent="-342900" algn="just">
              <a:lnSpc>
                <a:spcPct val="130000"/>
              </a:lnSpc>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Giải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pháp</a:t>
            </a:r>
            <a:r>
              <a:rPr lang="en-US" sz="1600" dirty="0">
                <a:latin typeface="Times New Roman" panose="02020603050405020304" pitchFamily="18" charset="0"/>
                <a:cs typeface="Times New Roman" panose="02020603050405020304" pitchFamily="18" charset="0"/>
              </a:rPr>
              <a:t> A2G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bao </a:t>
            </a:r>
            <a:r>
              <a:rPr lang="en-US" sz="1600" dirty="0" err="1">
                <a:latin typeface="Times New Roman" panose="02020603050405020304" pitchFamily="18" charset="0"/>
                <a:cs typeface="Times New Roman" panose="02020603050405020304" pitchFamily="18" charset="0"/>
              </a:rPr>
              <a:t>gồm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tính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năng</a:t>
            </a:r>
            <a:r>
              <a:rPr lang="en-US" sz="1600" b="1" i="1" dirty="0">
                <a:latin typeface="Times New Roman" panose="02020603050405020304" pitchFamily="18" charset="0"/>
                <a:cs typeface="Times New Roman" panose="02020603050405020304" pitchFamily="18" charset="0"/>
              </a:rPr>
              <a:t> Wireless IFE </a:t>
            </a:r>
            <a:r>
              <a:rPr lang="en-US" sz="1600" b="1" i="1" dirty="0" err="1">
                <a:latin typeface="Times New Roman" panose="02020603050405020304" pitchFamily="18" charset="0"/>
                <a:cs typeface="Times New Roman" panose="02020603050405020304" pitchFamily="18" charset="0"/>
              </a:rPr>
              <a:t>có</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thể</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thay</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thế</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việc</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thuê</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Wifibox</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đang</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dùng</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trên</a:t>
            </a:r>
            <a:r>
              <a:rPr lang="en-US" sz="1600" b="1" i="1" dirty="0">
                <a:latin typeface="Times New Roman" panose="02020603050405020304" pitchFamily="18" charset="0"/>
                <a:cs typeface="Times New Roman" panose="02020603050405020304" pitchFamily="18" charset="0"/>
              </a:rPr>
              <a:t> A321CEO. </a:t>
            </a:r>
          </a:p>
          <a:p>
            <a:pPr algn="just">
              <a:lnSpc>
                <a:spcPct val="130000"/>
              </a:lnSpc>
              <a:spcBef>
                <a:spcPts val="600"/>
              </a:spcBef>
            </a:pPr>
            <a:r>
              <a:rPr lang="en-US" sz="2000" b="1" dirty="0">
                <a:latin typeface="Times New Roman" panose="02020603050405020304" pitchFamily="18" charset="0"/>
                <a:cs typeface="Times New Roman" panose="02020603050405020304" pitchFamily="18" charset="0"/>
              </a:rPr>
              <a:t>2. </a:t>
            </a:r>
            <a:r>
              <a:rPr lang="en-US" sz="2000" b="1" dirty="0" err="1">
                <a:latin typeface="Times New Roman" panose="02020603050405020304" pitchFamily="18" charset="0"/>
                <a:cs typeface="Times New Roman" panose="02020603050405020304" pitchFamily="18" charset="0"/>
              </a:rPr>
              <a:t>Triển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khai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tại</a:t>
            </a:r>
            <a:r>
              <a:rPr lang="en-US" sz="2000" b="1" dirty="0">
                <a:latin typeface="Times New Roman" panose="02020603050405020304" pitchFamily="18" charset="0"/>
                <a:cs typeface="Times New Roman" panose="02020603050405020304" pitchFamily="18" charset="0"/>
              </a:rPr>
              <a:t> VN</a:t>
            </a:r>
          </a:p>
          <a:p>
            <a:pPr marL="342900" indent="-342900" algn="just">
              <a:lnSpc>
                <a:spcPct val="130000"/>
              </a:lnSpc>
              <a:buFont typeface="Wingdings" panose="05000000000000000000" pitchFamily="2" charset="2"/>
              <a:buChar char="§"/>
            </a:pPr>
            <a:r>
              <a:rPr lang="en-US" sz="1600" b="1" dirty="0" err="1">
                <a:latin typeface="Times New Roman" panose="02020603050405020304" pitchFamily="18" charset="0"/>
                <a:cs typeface="Times New Roman" panose="02020603050405020304" pitchFamily="18" charset="0"/>
              </a:rPr>
              <a:t>Trạm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phát</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mặt</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đất</a:t>
            </a:r>
            <a:r>
              <a:rPr lang="en-US" sz="1600" b="1"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22 </a:t>
            </a:r>
            <a:r>
              <a:rPr lang="en-US" sz="1600" dirty="0" err="1">
                <a:latin typeface="Times New Roman" panose="02020603050405020304" pitchFamily="18" charset="0"/>
                <a:cs typeface="Times New Roman" panose="02020603050405020304" pitchFamily="18" charset="0"/>
              </a:rPr>
              <a:t>trạm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để</a:t>
            </a:r>
            <a:r>
              <a:rPr lang="en-US" sz="1600" dirty="0">
                <a:latin typeface="Times New Roman" panose="02020603050405020304" pitchFamily="18" charset="0"/>
                <a:cs typeface="Times New Roman" panose="02020603050405020304" pitchFamily="18" charset="0"/>
              </a:rPr>
              <a:t> bao </a:t>
            </a:r>
            <a:r>
              <a:rPr lang="en-US" sz="1600" dirty="0" err="1">
                <a:latin typeface="Times New Roman" panose="02020603050405020304" pitchFamily="18" charset="0"/>
                <a:cs typeface="Times New Roman" panose="02020603050405020304" pitchFamily="18" charset="0"/>
              </a:rPr>
              <a:t>phủ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toàn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bộ</a:t>
            </a:r>
            <a:r>
              <a:rPr lang="en-US" sz="1600" dirty="0">
                <a:latin typeface="Times New Roman" panose="02020603050405020304" pitchFamily="18" charset="0"/>
                <a:cs typeface="Times New Roman" panose="02020603050405020304" pitchFamily="18" charset="0"/>
              </a:rPr>
              <a:t> VN, </a:t>
            </a:r>
            <a:r>
              <a:rPr lang="en-US" sz="1600" dirty="0" err="1">
                <a:latin typeface="Times New Roman" panose="02020603050405020304" pitchFamily="18" charset="0"/>
                <a:cs typeface="Times New Roman" panose="02020603050405020304" pitchFamily="18" charset="0"/>
              </a:rPr>
              <a:t>dự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kiến</a:t>
            </a:r>
            <a:r>
              <a:rPr lang="en-US" sz="1600" dirty="0">
                <a:latin typeface="Times New Roman" panose="02020603050405020304" pitchFamily="18" charset="0"/>
                <a:cs typeface="Times New Roman" panose="02020603050405020304" pitchFamily="18" charset="0"/>
              </a:rPr>
              <a:t> 6-9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dụng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trạm</a:t>
            </a:r>
            <a:r>
              <a:rPr lang="en-US" sz="1600" dirty="0">
                <a:latin typeface="Times New Roman" panose="02020603050405020304" pitchFamily="18" charset="0"/>
                <a:cs typeface="Times New Roman" panose="02020603050405020304" pitchFamily="18" charset="0"/>
              </a:rPr>
              <a:t> ACARS </a:t>
            </a:r>
            <a:r>
              <a:rPr lang="en-US" sz="1600" dirty="0" err="1">
                <a:latin typeface="Times New Roman" panose="02020603050405020304" pitchFamily="18" charset="0"/>
                <a:cs typeface="Times New Roman" panose="02020603050405020304" pitchFamily="18" charset="0"/>
              </a:rPr>
              <a:t>sẵn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Skyfive</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đã</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có</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đối</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tác</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triển</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khai</a:t>
            </a:r>
            <a:r>
              <a:rPr lang="en-US" sz="1600" b="1" i="1" dirty="0">
                <a:latin typeface="Times New Roman" panose="02020603050405020304" pitchFamily="18" charset="0"/>
                <a:cs typeface="Times New Roman" panose="02020603050405020304" pitchFamily="18" charset="0"/>
              </a:rPr>
              <a:t> </a:t>
            </a:r>
            <a:r>
              <a:rPr lang="en-US" sz="1600" b="1" i="1" dirty="0" err="1">
                <a:latin typeface="Times New Roman" panose="02020603050405020304" pitchFamily="18" charset="0"/>
                <a:cs typeface="Times New Roman" panose="02020603050405020304" pitchFamily="18" charset="0"/>
              </a:rPr>
              <a:t>tại</a:t>
            </a:r>
            <a:r>
              <a:rPr lang="en-US" sz="1600" b="1" i="1" dirty="0">
                <a:latin typeface="Times New Roman" panose="02020603050405020304" pitchFamily="18" charset="0"/>
                <a:cs typeface="Times New Roman" panose="02020603050405020304" pitchFamily="18" charset="0"/>
              </a:rPr>
              <a:t> VN.</a:t>
            </a:r>
          </a:p>
          <a:p>
            <a:pPr marL="342900" indent="-342900" algn="just">
              <a:lnSpc>
                <a:spcPct val="130000"/>
              </a:lnSpc>
              <a:buFont typeface="Wingdings" panose="05000000000000000000" pitchFamily="2" charset="2"/>
              <a:buChar char="§"/>
            </a:pPr>
            <a:r>
              <a:rPr lang="en-US" sz="1600" b="1" dirty="0" err="1">
                <a:latin typeface="Times New Roman" panose="02020603050405020304" pitchFamily="18" charset="0"/>
                <a:cs typeface="Times New Roman" panose="02020603050405020304" pitchFamily="18" charset="0"/>
              </a:rPr>
              <a:t>Cấp</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phát</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tần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số</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vô</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tuyến</a:t>
            </a:r>
            <a:r>
              <a:rPr lang="en-US" sz="1600" b="1"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Skyfive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việc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phép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sử</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dụng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A2G (</a:t>
            </a:r>
            <a:r>
              <a:rPr lang="en-US" sz="1600" dirty="0" err="1">
                <a:latin typeface="Times New Roman" panose="02020603050405020304" pitchFamily="18" charset="0"/>
                <a:cs typeface="Times New Roman" panose="02020603050405020304" pitchFamily="18" charset="0"/>
              </a:rPr>
              <a:t>dự</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kiến</a:t>
            </a:r>
            <a:r>
              <a:rPr lang="en-US" sz="1600" dirty="0">
                <a:latin typeface="Times New Roman" panose="02020603050405020304" pitchFamily="18" charset="0"/>
                <a:cs typeface="Times New Roman" panose="02020603050405020304" pitchFamily="18" charset="0"/>
              </a:rPr>
              <a:t> 6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sau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MOU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VNA –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ký</a:t>
            </a:r>
            <a:r>
              <a:rPr lang="en-US" sz="1600" dirty="0">
                <a:latin typeface="Times New Roman" panose="02020603050405020304" pitchFamily="18" charset="0"/>
                <a:cs typeface="Times New Roman" panose="02020603050405020304" pitchFamily="18" charset="0"/>
              </a:rPr>
              <a:t>)</a:t>
            </a:r>
          </a:p>
          <a:p>
            <a:pPr algn="just">
              <a:lnSpc>
                <a:spcPct val="130000"/>
              </a:lnSpc>
              <a:spcBef>
                <a:spcPts val="600"/>
              </a:spcBef>
            </a:pPr>
            <a:r>
              <a:rPr lang="en-US" sz="2000" b="1" dirty="0">
                <a:latin typeface="Times New Roman" panose="02020603050405020304" pitchFamily="18" charset="0"/>
                <a:cs typeface="Times New Roman" panose="02020603050405020304" pitchFamily="18" charset="0"/>
              </a:rPr>
              <a:t>3. </a:t>
            </a:r>
            <a:r>
              <a:rPr lang="en-US" sz="2000" b="1" dirty="0" err="1">
                <a:latin typeface="Times New Roman" panose="02020603050405020304" pitchFamily="18" charset="0"/>
                <a:cs typeface="Times New Roman" panose="02020603050405020304" pitchFamily="18" charset="0"/>
              </a:rPr>
              <a:t>Thời</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gian</a:t>
            </a:r>
            <a:r>
              <a:rPr lang="en-US" sz="20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L</a:t>
            </a:r>
            <a:r>
              <a:rPr lang="en-US" sz="1600" dirty="0">
                <a:latin typeface="Times New Roman" panose="02020603050405020304" pitchFamily="18" charset="0"/>
                <a:cs typeface="Times New Roman" panose="02020603050405020304" pitchFamily="18" charset="0"/>
              </a:rPr>
              <a:t>eadtime </a:t>
            </a:r>
            <a:r>
              <a:rPr lang="en-US" sz="1600" dirty="0" err="1">
                <a:latin typeface="Times New Roman" panose="02020603050405020304" pitchFamily="18" charset="0"/>
                <a:cs typeface="Times New Roman" panose="02020603050405020304" pitchFamily="18" charset="0"/>
              </a:rPr>
              <a:t>phần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cứng</a:t>
            </a:r>
            <a:r>
              <a:rPr lang="en-US" sz="1600" dirty="0">
                <a:latin typeface="Times New Roman" panose="02020603050405020304" pitchFamily="18" charset="0"/>
                <a:cs typeface="Times New Roman" panose="02020603050405020304" pitchFamily="18" charset="0"/>
              </a:rPr>
              <a:t> + STC 12-15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Trong </a:t>
            </a:r>
            <a:r>
              <a:rPr lang="en-US" sz="1600" dirty="0" err="1">
                <a:latin typeface="Times New Roman" panose="02020603050405020304" pitchFamily="18" charset="0"/>
                <a:cs typeface="Times New Roman" panose="02020603050405020304" pitchFamily="18" charset="0"/>
              </a:rPr>
              <a:t>đó</a:t>
            </a:r>
            <a:r>
              <a:rPr lang="en-US" sz="1600">
                <a:latin typeface="Times New Roman" panose="02020603050405020304" pitchFamily="18" charset="0"/>
                <a:cs typeface="Times New Roman" panose="02020603050405020304" pitchFamily="18" charset="0"/>
              </a:rPr>
              <a:t> Wireless </a:t>
            </a:r>
            <a:r>
              <a:rPr lang="en-US" sz="1600" dirty="0">
                <a:latin typeface="Times New Roman" panose="02020603050405020304" pitchFamily="18" charset="0"/>
                <a:cs typeface="Times New Roman" panose="02020603050405020304" pitchFamily="18" charset="0"/>
              </a:rPr>
              <a:t>IFE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thể</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trước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Leadtime 8-10 </a:t>
            </a:r>
            <a:r>
              <a:rPr lang="en-US" sz="1600" dirty="0" err="1">
                <a:latin typeface="Times New Roman" panose="02020603050405020304" pitchFamily="18" charset="0"/>
                <a:cs typeface="Times New Roman" panose="02020603050405020304" pitchFamily="18" charset="0"/>
              </a:rPr>
              <a:t>tháng</a:t>
            </a:r>
            <a:endParaRPr lang="en-US" sz="1600" dirty="0">
              <a:latin typeface="Times New Roman" panose="02020603050405020304" pitchFamily="18" charset="0"/>
              <a:cs typeface="Times New Roman" panose="02020603050405020304" pitchFamily="18" charset="0"/>
            </a:endParaRPr>
          </a:p>
          <a:p>
            <a:pPr algn="just">
              <a:lnSpc>
                <a:spcPct val="130000"/>
              </a:lnSpc>
              <a:spcBef>
                <a:spcPts val="600"/>
              </a:spcBef>
            </a:pPr>
            <a:r>
              <a:rPr lang="en-US" sz="2000" b="1" dirty="0">
                <a:latin typeface="Times New Roman" panose="02020603050405020304" pitchFamily="18" charset="0"/>
                <a:cs typeface="Times New Roman" panose="02020603050405020304" pitchFamily="18" charset="0"/>
              </a:rPr>
              <a:t>4. Chi </a:t>
            </a:r>
            <a:r>
              <a:rPr lang="en-US" sz="2000" b="1" dirty="0" err="1">
                <a:latin typeface="Times New Roman" panose="02020603050405020304" pitchFamily="18" charset="0"/>
                <a:cs typeface="Times New Roman" panose="02020603050405020304" pitchFamily="18" charset="0"/>
              </a:rPr>
              <a:t>phí</a:t>
            </a:r>
            <a:r>
              <a:rPr lang="en-US" sz="2000" b="1"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cứng</a:t>
            </a:r>
            <a:r>
              <a:rPr lang="en-US" sz="1600" dirty="0">
                <a:latin typeface="Times New Roman" panose="02020603050405020304" pitchFamily="18" charset="0"/>
                <a:cs typeface="Times New Roman" panose="02020603050405020304" pitchFamily="18" charset="0"/>
              </a:rPr>
              <a:t> + STC + Mod kit </a:t>
            </a:r>
            <a:r>
              <a:rPr lang="en-US" sz="1600" b="1" i="1" dirty="0">
                <a:latin typeface="Times New Roman" panose="02020603050405020304" pitchFamily="18" charset="0"/>
                <a:cs typeface="Times New Roman" panose="02020603050405020304" pitchFamily="18" charset="0"/>
              </a:rPr>
              <a:t>~ 250K/</a:t>
            </a:r>
            <a:r>
              <a:rPr lang="en-US" sz="1600" b="1" i="1" dirty="0" err="1">
                <a:latin typeface="Times New Roman" panose="02020603050405020304" pitchFamily="18" charset="0"/>
                <a:cs typeface="Times New Roman" panose="02020603050405020304" pitchFamily="18" charset="0"/>
              </a:rPr>
              <a:t>tàu</a:t>
            </a:r>
            <a:endParaRPr lang="en-US" sz="1600" b="1"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3D2C779-56FD-A8BE-D661-EDC6ECC9818F}"/>
              </a:ext>
            </a:extLst>
          </p:cNvPr>
          <p:cNvSpPr txBox="1"/>
          <p:nvPr/>
        </p:nvSpPr>
        <p:spPr>
          <a:xfrm>
            <a:off x="6705600" y="3556002"/>
            <a:ext cx="4734270" cy="2491836"/>
          </a:xfrm>
          <a:prstGeom prst="rect">
            <a:avLst/>
          </a:prstGeom>
          <a:noFill/>
        </p:spPr>
        <p:txBody>
          <a:bodyPr wrap="square">
            <a:spAutoFit/>
          </a:bodyPr>
          <a:lstStyle/>
          <a:p>
            <a:pPr algn="just">
              <a:lnSpc>
                <a:spcPct val="120000"/>
              </a:lnSpc>
            </a:pPr>
            <a:r>
              <a:rPr lang="en-US" sz="2000" b="1" dirty="0">
                <a:latin typeface="Times New Roman" panose="02020603050405020304" pitchFamily="18" charset="0"/>
                <a:cs typeface="Times New Roman" panose="02020603050405020304" pitchFamily="18" charset="0"/>
              </a:rPr>
              <a:t>5. Tiến </a:t>
            </a:r>
            <a:r>
              <a:rPr lang="en-US" sz="2000" b="1" dirty="0" err="1">
                <a:latin typeface="Times New Roman" panose="02020603050405020304" pitchFamily="18" charset="0"/>
                <a:cs typeface="Times New Roman" panose="02020603050405020304" pitchFamily="18" charset="0"/>
              </a:rPr>
              <a:t>độ</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với</a:t>
            </a:r>
            <a:r>
              <a:rPr lang="en-US" sz="2000" b="1" dirty="0">
                <a:latin typeface="Times New Roman" panose="02020603050405020304" pitchFamily="18" charset="0"/>
                <a:cs typeface="Times New Roman" panose="02020603050405020304" pitchFamily="18" charset="0"/>
              </a:rPr>
              <a:t> VNA</a:t>
            </a:r>
          </a:p>
          <a:p>
            <a:pPr marL="285750" indent="-285750" algn="just">
              <a:lnSpc>
                <a:spcPct val="14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ký</a:t>
            </a:r>
            <a:r>
              <a:rPr lang="en-US" sz="1600" dirty="0">
                <a:latin typeface="Times New Roman" panose="02020603050405020304" pitchFamily="18" charset="0"/>
                <a:cs typeface="Times New Roman" panose="02020603050405020304" pitchFamily="18" charset="0"/>
              </a:rPr>
              <a:t> MOU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Skyfive</a:t>
            </a:r>
            <a:endParaRPr lang="en-US" sz="1600" dirty="0">
              <a:latin typeface="Times New Roman" panose="02020603050405020304" pitchFamily="18" charset="0"/>
              <a:cs typeface="Times New Roman" panose="02020603050405020304" pitchFamily="18" charset="0"/>
            </a:endParaRPr>
          </a:p>
          <a:p>
            <a:pPr marL="285750" indent="-285750" algn="just">
              <a:lnSpc>
                <a:spcPct val="140000"/>
              </a:lnSpc>
              <a:buFont typeface="Wingdings" panose="05000000000000000000" pitchFamily="2" charset="2"/>
              <a:buChar char="§"/>
            </a:pPr>
            <a:r>
              <a:rPr lang="en-US" sz="1600" dirty="0" err="1">
                <a:latin typeface="Times New Roman" panose="02020603050405020304" pitchFamily="18" charset="0"/>
                <a:cs typeface="Times New Roman" panose="02020603050405020304" pitchFamily="18" charset="0"/>
              </a:rPr>
              <a:t>Skyfive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gửi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ROM: </a:t>
            </a:r>
            <a:r>
              <a:rPr lang="en-US" sz="1600" dirty="0" err="1">
                <a:latin typeface="Times New Roman" panose="02020603050405020304" pitchFamily="18" charset="0"/>
                <a:cs typeface="Times New Roman" panose="02020603050405020304" pitchFamily="18" charset="0"/>
              </a:rPr>
              <a:t>Phần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cứng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STC, Mod kit</a:t>
            </a:r>
          </a:p>
          <a:p>
            <a:pPr marL="285750" indent="-285750" algn="just">
              <a:lnSpc>
                <a:spcPct val="140000"/>
              </a:lnSpc>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việc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cập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nhật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Skyfive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cấp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phép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mặt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FIRM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lộ</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triển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33834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45</a:t>
            </a:fld>
            <a:endParaRPr lang="en-US"/>
          </a:p>
        </p:txBody>
      </p:sp>
      <p:sp>
        <p:nvSpPr>
          <p:cNvPr id="5" name="Title 4"/>
          <p:cNvSpPr>
            <a:spLocks noGrp="1"/>
          </p:cNvSpPr>
          <p:nvPr>
            <p:ph type="title"/>
          </p:nvPr>
        </p:nvSpPr>
        <p:spPr>
          <a:xfrm>
            <a:off x="914400" y="762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1201120147"/>
              </p:ext>
            </p:extLst>
          </p:nvPr>
        </p:nvGraphicFramePr>
        <p:xfrm>
          <a:off x="3745916" y="581614"/>
          <a:ext cx="4483684" cy="26187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9BFB0BC0-3A58-8298-0DD1-F8F5F84980AD}"/>
              </a:ext>
            </a:extLst>
          </p:cNvPr>
          <p:cNvGraphicFramePr>
            <a:graphicFrameLocks noGrp="1"/>
          </p:cNvGraphicFramePr>
          <p:nvPr>
            <p:extLst>
              <p:ext uri="{D42A27DB-BD31-4B8C-83A1-F6EECF244321}">
                <p14:modId xmlns:p14="http://schemas.microsoft.com/office/powerpoint/2010/main" val="1097655689"/>
              </p:ext>
            </p:extLst>
          </p:nvPr>
        </p:nvGraphicFramePr>
        <p:xfrm>
          <a:off x="381000" y="3276600"/>
          <a:ext cx="11430002" cy="2362201"/>
        </p:xfrm>
        <a:graphic>
          <a:graphicData uri="http://schemas.openxmlformats.org/drawingml/2006/table">
            <a:tbl>
              <a:tblPr/>
              <a:tblGrid>
                <a:gridCol w="245411">
                  <a:extLst>
                    <a:ext uri="{9D8B030D-6E8A-4147-A177-3AD203B41FA5}">
                      <a16:colId xmlns:a16="http://schemas.microsoft.com/office/drawing/2014/main" val="2105016904"/>
                    </a:ext>
                  </a:extLst>
                </a:gridCol>
                <a:gridCol w="1561707">
                  <a:extLst>
                    <a:ext uri="{9D8B030D-6E8A-4147-A177-3AD203B41FA5}">
                      <a16:colId xmlns:a16="http://schemas.microsoft.com/office/drawing/2014/main" val="2637579382"/>
                    </a:ext>
                  </a:extLst>
                </a:gridCol>
                <a:gridCol w="498259">
                  <a:extLst>
                    <a:ext uri="{9D8B030D-6E8A-4147-A177-3AD203B41FA5}">
                      <a16:colId xmlns:a16="http://schemas.microsoft.com/office/drawing/2014/main" val="371678907"/>
                    </a:ext>
                  </a:extLst>
                </a:gridCol>
                <a:gridCol w="608984">
                  <a:extLst>
                    <a:ext uri="{9D8B030D-6E8A-4147-A177-3AD203B41FA5}">
                      <a16:colId xmlns:a16="http://schemas.microsoft.com/office/drawing/2014/main" val="2308686733"/>
                    </a:ext>
                  </a:extLst>
                </a:gridCol>
                <a:gridCol w="5010270">
                  <a:extLst>
                    <a:ext uri="{9D8B030D-6E8A-4147-A177-3AD203B41FA5}">
                      <a16:colId xmlns:a16="http://schemas.microsoft.com/office/drawing/2014/main" val="2012955442"/>
                    </a:ext>
                  </a:extLst>
                </a:gridCol>
                <a:gridCol w="609809">
                  <a:extLst>
                    <a:ext uri="{9D8B030D-6E8A-4147-A177-3AD203B41FA5}">
                      <a16:colId xmlns:a16="http://schemas.microsoft.com/office/drawing/2014/main" val="754862410"/>
                    </a:ext>
                  </a:extLst>
                </a:gridCol>
                <a:gridCol w="713924">
                  <a:extLst>
                    <a:ext uri="{9D8B030D-6E8A-4147-A177-3AD203B41FA5}">
                      <a16:colId xmlns:a16="http://schemas.microsoft.com/office/drawing/2014/main" val="479741508"/>
                    </a:ext>
                  </a:extLst>
                </a:gridCol>
                <a:gridCol w="1757747">
                  <a:extLst>
                    <a:ext uri="{9D8B030D-6E8A-4147-A177-3AD203B41FA5}">
                      <a16:colId xmlns:a16="http://schemas.microsoft.com/office/drawing/2014/main" val="3270436283"/>
                    </a:ext>
                  </a:extLst>
                </a:gridCol>
                <a:gridCol w="423891">
                  <a:extLst>
                    <a:ext uri="{9D8B030D-6E8A-4147-A177-3AD203B41FA5}">
                      <a16:colId xmlns:a16="http://schemas.microsoft.com/office/drawing/2014/main" val="642346426"/>
                    </a:ext>
                  </a:extLst>
                </a:gridCol>
              </a:tblGrid>
              <a:tr h="191503">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9484572"/>
                  </a:ext>
                </a:extLst>
              </a:tr>
              <a:tr h="191503">
                <a:tc>
                  <a:txBody>
                    <a:bodyPr/>
                    <a:lstStyle/>
                    <a:p>
                      <a:pPr algn="ctr" fontAlgn="ctr"/>
                      <a:r>
                        <a:rPr lang="en-US" sz="1100" b="1" i="0" u="none" strike="noStrike">
                          <a:solidFill>
                            <a:srgbClr val="000000"/>
                          </a:solidFill>
                          <a:effectLst/>
                          <a:latin typeface="Times New Roman" panose="02020603050405020304" pitchFamily="18" charset="0"/>
                        </a:rPr>
                        <a:t>No</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7423058"/>
                  </a:ext>
                </a:extLst>
              </a:tr>
              <a:tr h="395839">
                <a:tc>
                  <a:txBody>
                    <a:bodyPr/>
                    <a:lstStyle/>
                    <a:p>
                      <a:pPr algn="ctr" fontAlgn="ctr"/>
                      <a:r>
                        <a:rPr lang="en-US" sz="1100" b="0" i="0" u="none" strike="noStrike">
                          <a:solidFill>
                            <a:srgbClr val="000000"/>
                          </a:solidFill>
                          <a:effectLst/>
                          <a:latin typeface="Times New Roman" panose="02020603050405020304" pitchFamily="18" charset="0"/>
                        </a:rPr>
                        <a:t>1</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864-07/25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B787</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A864</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AMP TASK 21-071-00 (INTERVAL OF 3 YEARS) APPLY FOR PN: 7113609-8 &amp; SN: 7150522 </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18-Aug-2025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AMP 21-071-00</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0025080"/>
                  </a:ext>
                </a:extLst>
              </a:tr>
              <a:tr h="395839">
                <a:tc>
                  <a:txBody>
                    <a:bodyPr/>
                    <a:lstStyle/>
                    <a:p>
                      <a:pPr algn="ctr" fontAlgn="ctr"/>
                      <a:r>
                        <a:rPr lang="en-US" sz="1100" b="0" i="0" u="none" strike="noStrike">
                          <a:solidFill>
                            <a:srgbClr val="000000"/>
                          </a:solidFill>
                          <a:effectLst/>
                          <a:latin typeface="Times New Roman" panose="02020603050405020304" pitchFamily="18" charset="0"/>
                        </a:rPr>
                        <a:t>2</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515-01/25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A321</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A515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DUE TO OPERATION SCHEDULE, SCHEDULE OF CMP TASK 720000-W2-1 NEEDS TO BE EXTENDED</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16-Jul-2025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AMP 720000-W2-1</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2121472"/>
                  </a:ext>
                </a:extLst>
              </a:tr>
              <a:tr h="395839">
                <a:tc>
                  <a:txBody>
                    <a:bodyPr/>
                    <a:lstStyle/>
                    <a:p>
                      <a:pPr algn="ctr" fontAlgn="ctr"/>
                      <a:r>
                        <a:rPr lang="en-US" sz="1100" b="0" i="0" u="none" strike="noStrike">
                          <a:solidFill>
                            <a:srgbClr val="000000"/>
                          </a:solidFill>
                          <a:effectLst/>
                          <a:latin typeface="Times New Roman" panose="02020603050405020304" pitchFamily="18" charset="0"/>
                        </a:rPr>
                        <a:t>3</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612-02/25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A321</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A612</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B2127 FUEL INERTING SYSTEM FAULT</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14-Jul-2025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B2127</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9364667"/>
                  </a:ext>
                </a:extLst>
              </a:tr>
              <a:tr h="395839">
                <a:tc>
                  <a:txBody>
                    <a:bodyPr/>
                    <a:lstStyle/>
                    <a:p>
                      <a:pPr algn="ctr" fontAlgn="ctr"/>
                      <a:r>
                        <a:rPr lang="en-US" sz="1100" b="0" i="0" u="none" strike="noStrike">
                          <a:solidFill>
                            <a:srgbClr val="000000"/>
                          </a:solidFill>
                          <a:effectLst/>
                          <a:latin typeface="Times New Roman" panose="02020603050405020304" pitchFamily="18" charset="0"/>
                        </a:rPr>
                        <a:t>4</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861-05/25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B787</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A861</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B1628 LAVATORY/GALLEY AIR FLOW</a:t>
                      </a:r>
                      <a:br>
                        <a:rPr lang="en-SG" sz="1100" b="0" i="0" u="none" strike="noStrike">
                          <a:solidFill>
                            <a:srgbClr val="000000"/>
                          </a:solidFill>
                          <a:effectLst/>
                          <a:latin typeface="Times New Roman" panose="02020603050405020304" pitchFamily="18" charset="0"/>
                        </a:rPr>
                      </a:br>
                      <a:r>
                        <a:rPr lang="en-SG" sz="1100" b="0" i="0" u="none" strike="noStrike">
                          <a:solidFill>
                            <a:srgbClr val="000000"/>
                          </a:solidFill>
                          <a:effectLst/>
                          <a:latin typeface="Times New Roman" panose="02020603050405020304" pitchFamily="18" charset="0"/>
                        </a:rPr>
                        <a:t>B1629 CORRELATED WITH B1628</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14-Jul-2025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B1628</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25537"/>
                  </a:ext>
                </a:extLst>
              </a:tr>
              <a:tr h="395839">
                <a:tc>
                  <a:txBody>
                    <a:bodyPr/>
                    <a:lstStyle/>
                    <a:p>
                      <a:pPr algn="ctr" fontAlgn="ctr"/>
                      <a:r>
                        <a:rPr lang="en-US" sz="1100" b="0" i="0" u="none" strike="noStrike">
                          <a:solidFill>
                            <a:srgbClr val="000000"/>
                          </a:solidFill>
                          <a:effectLst/>
                          <a:latin typeface="Times New Roman" panose="02020603050405020304" pitchFamily="18" charset="0"/>
                        </a:rPr>
                        <a:t>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HVN/VN-A886/2025-07-18</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A350</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A886</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pt-BR" sz="1100" b="0" i="0" u="none" strike="noStrike">
                          <a:solidFill>
                            <a:srgbClr val="000000"/>
                          </a:solidFill>
                          <a:effectLst/>
                          <a:latin typeface="Times New Roman" panose="02020603050405020304" pitchFamily="18" charset="0"/>
                        </a:rPr>
                        <a:t>B1396 F/CTRL STABILIZER E1 ACTUATOR</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CAAV</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18-Jul-2025</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B1396</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 </a:t>
                      </a:r>
                    </a:p>
                  </a:txBody>
                  <a:tcPr marL="6005" marR="6005" marT="60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0071070"/>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059507" y="3904055"/>
          <a:ext cx="4954432" cy="2822544"/>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52193">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This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300614">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52193">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144.99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52193">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829:11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52193">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401:15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947:45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52193">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789:10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293:35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52193">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52193">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nvGraphicFramePr>
        <p:xfrm>
          <a:off x="6312510" y="3904053"/>
          <a:ext cx="5117489" cy="2822545"/>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Next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1882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386:55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1065:40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297:35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78642">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484:50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232:15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nvGraphicFramePr>
        <p:xfrm>
          <a:off x="1059507" y="972328"/>
          <a:ext cx="10370492"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694288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Số chuyến bay theo ngày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925417" y="3601492"/>
          <a:ext cx="5166913" cy="3074727"/>
        </p:xfrm>
        <a:graphic>
          <a:graphicData uri="http://schemas.openxmlformats.org/drawingml/2006/table">
            <a:tbl>
              <a:tblPr/>
              <a:tblGrid>
                <a:gridCol w="598583">
                  <a:extLst>
                    <a:ext uri="{9D8B030D-6E8A-4147-A177-3AD203B41FA5}">
                      <a16:colId xmlns:a16="http://schemas.microsoft.com/office/drawing/2014/main" val="4007203340"/>
                    </a:ext>
                  </a:extLst>
                </a:gridCol>
                <a:gridCol w="574752">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04181">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419836">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79389">
                <a:tc>
                  <a:txBody>
                    <a:bodyPr/>
                    <a:lstStyle/>
                    <a:p>
                      <a:pPr algn="ctr" fontAlgn="ctr"/>
                      <a:r>
                        <a:rPr lang="en-US" sz="1400" b="0" i="0" u="none" strike="noStrike">
                          <a:solidFill>
                            <a:srgbClr val="000000"/>
                          </a:solidFill>
                          <a:effectLst/>
                          <a:latin typeface="Times New Roman" panose="02020603050405020304" pitchFamily="18" charset="0"/>
                        </a:rPr>
                        <a:t>A320</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79389">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79389">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04181">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04181">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04181">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Next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400" b="0" i="0" u="none" strike="noStrike">
                          <a:solidFill>
                            <a:srgbClr val="000000"/>
                          </a:solidFill>
                          <a:effectLst/>
                          <a:latin typeface="Times New Roman" panose="02020603050405020304" pitchFamily="18" charset="0"/>
                        </a:rPr>
                        <a:t>A320</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400" b="0" i="0" u="none" strike="noStrike">
                          <a:solidFill>
                            <a:srgbClr val="000000"/>
                          </a:solidFill>
                          <a:effectLst/>
                          <a:latin typeface="Times New Roman" panose="02020603050405020304" pitchFamily="18" charset="0"/>
                        </a:rPr>
                        <a:t>A321</a:t>
                      </a:r>
                    </a:p>
                    <a:p>
                      <a:pPr algn="ctr" fontAlgn="ctr"/>
                      <a:r>
                        <a:rPr lang="en-US" sz="14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nvGraphicFramePr>
        <p:xfrm>
          <a:off x="925417" y="1219201"/>
          <a:ext cx="10521107" cy="21768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983707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nvGraphicFramePr>
        <p:xfrm>
          <a:off x="838199" y="1447800"/>
          <a:ext cx="10820401" cy="4953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088581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158" name="Google Shape;158;g31ccdae391d_0_248"/>
          <p:cNvSpPr/>
          <p:nvPr/>
        </p:nvSpPr>
        <p:spPr>
          <a:xfrm>
            <a:off x="137375" y="569550"/>
            <a:ext cx="117552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A357: </a:t>
            </a:r>
            <a:r>
              <a:rPr lang="en-US" sz="1500">
                <a:solidFill>
                  <a:schemeClr val="dk1"/>
                </a:solidFill>
                <a:latin typeface="Times New Roman"/>
                <a:ea typeface="Times New Roman"/>
                <a:cs typeface="Times New Roman"/>
                <a:sym typeface="Times New Roman"/>
              </a:rPr>
              <a:t>đã chuyển đủ PTVT sang BKK, chờ khắc phục.</a:t>
            </a:r>
            <a:endParaRPr sz="150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 A622: MO18+ENG1CHG+ENG2CHG+EA08-EA11+RTS (12/07-21/07): đã có đủ phương án vật tư</a:t>
            </a:r>
            <a:endParaRPr sz="1500">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A613: LDGCHG (15/07-18/07): không có phát sinh</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a:t>
            </a:r>
            <a:endParaRPr sz="1500" b="1">
              <a:solidFill>
                <a:schemeClr val="dk1"/>
              </a:solidFill>
              <a:latin typeface="Times New Roman"/>
              <a:ea typeface="Times New Roman"/>
              <a:cs typeface="Times New Roman"/>
              <a:sym typeface="Times New Roman"/>
            </a:endParaRPr>
          </a:p>
          <a:p>
            <a:pPr marL="914400" marR="0" lvl="1" indent="-323850" algn="just" rtl="0">
              <a:lnSpc>
                <a:spcPct val="110000"/>
              </a:lnSpc>
              <a:spcBef>
                <a:spcPts val="6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A356 hỏng ELT PN S1823502-03: dự kiến 30/7</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669100" y="3222450"/>
            <a:ext cx="7941499" cy="33798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54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99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23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a:t>
            </a:r>
            <a:r>
              <a:rPr lang="en-US" sz="1500">
                <a:solidFill>
                  <a:schemeClr val="dk1"/>
                </a:solidFill>
                <a:latin typeface="Times New Roman"/>
                <a:ea typeface="Times New Roman"/>
                <a:cs typeface="Times New Roman"/>
                <a:sym typeface="Times New Roman"/>
              </a:rPr>
              <a:t> 31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13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46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18 overdue orders / total 22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913575" y="2338375"/>
            <a:ext cx="9244825" cy="38361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6" name="Google Shape;176;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
        <p:nvSpPr>
          <p:cNvPr id="177" name="Google Shape;177;g31ccdae391d_0_285"/>
          <p:cNvSpPr txBox="1"/>
          <p:nvPr/>
        </p:nvSpPr>
        <p:spPr>
          <a:xfrm>
            <a:off x="469725" y="1005200"/>
            <a:ext cx="10884000" cy="4186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2000" b="1">
                <a:solidFill>
                  <a:schemeClr val="dk1"/>
                </a:solidFill>
                <a:latin typeface="Times New Roman"/>
                <a:ea typeface="Times New Roman"/>
                <a:cs typeface="Times New Roman"/>
                <a:sym typeface="Times New Roman"/>
              </a:rPr>
              <a:t>1. Danh mục ngoài pool:  </a:t>
            </a:r>
            <a:r>
              <a:rPr lang="en-US" sz="2000">
                <a:solidFill>
                  <a:schemeClr val="dk1"/>
                </a:solidFill>
                <a:latin typeface="Times New Roman"/>
                <a:ea typeface="Times New Roman"/>
                <a:cs typeface="Times New Roman"/>
                <a:sym typeface="Times New Roman"/>
              </a:rPr>
              <a:t>có 01 mục thiếu dự phòng so với yêu cầu: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Starter Duct NEO: hiện đã dùng các thiết bị dự phòng cho tàu NEO bảo quản, có thể rob từ engine dự phòng hoặc tàu bảo quản khi cần gấp</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b="1">
                <a:solidFill>
                  <a:schemeClr val="dk1"/>
                </a:solidFill>
                <a:latin typeface="Times New Roman"/>
                <a:ea typeface="Times New Roman"/>
                <a:cs typeface="Times New Roman"/>
                <a:sym typeface="Times New Roman"/>
              </a:rPr>
              <a:t>2. Danh mục pool: </a:t>
            </a:r>
            <a:r>
              <a:rPr lang="en-US" sz="2000">
                <a:solidFill>
                  <a:schemeClr val="dk1"/>
                </a:solidFill>
                <a:latin typeface="Times New Roman"/>
                <a:ea typeface="Times New Roman"/>
                <a:cs typeface="Times New Roman"/>
                <a:sym typeface="Times New Roman"/>
              </a:rPr>
              <a:t>có 13 mục thiếu dự phòng so với yêu cầu như sau: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- 01 mục có stock alternate (EEC NEO)</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- 05 mới bị dùng cho tàu khai thác: sẽ về trước 30/07 (ACC VALVE NEO, SSTU, Sensor Delta Pressure, PRV và HPV CEO)</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- 04 mục không có mức kho MBK (SSU captain, IPCV NEO)</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- 03 mục khó khăn trong việc cung ứng như sau:</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Motor Converter: OEM Safran không có stock, leadtime dài (tháng 8/25)</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IFPC PUMP NEO: OEM Collins thiếu PTVT sửa chữa</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 Skin Outlet Valve: VSTEA thiếu PTVT sửa chữa</a:t>
            </a:r>
            <a:endParaRPr sz="20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000" b="1">
              <a:solidFill>
                <a:schemeClr val="dk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5f1b08c610_0_9"/>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(Chi tiết)</a:t>
            </a:r>
            <a:endParaRPr sz="2800">
              <a:solidFill>
                <a:srgbClr val="FFC000"/>
              </a:solidFill>
              <a:latin typeface="Times New Roman"/>
              <a:ea typeface="Times New Roman"/>
              <a:cs typeface="Times New Roman"/>
              <a:sym typeface="Times New Roman"/>
            </a:endParaRPr>
          </a:p>
        </p:txBody>
      </p:sp>
      <p:sp>
        <p:nvSpPr>
          <p:cNvPr id="184" name="Google Shape;184;g35f1b08c610_0_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pic>
        <p:nvPicPr>
          <p:cNvPr id="185" name="Google Shape;185;g35f1b08c610_0_9"/>
          <p:cNvPicPr preferRelativeResize="0"/>
          <p:nvPr/>
        </p:nvPicPr>
        <p:blipFill>
          <a:blip r:embed="rId3">
            <a:alphaModFix/>
          </a:blip>
          <a:stretch>
            <a:fillRect/>
          </a:stretch>
        </p:blipFill>
        <p:spPr>
          <a:xfrm>
            <a:off x="396650" y="528948"/>
            <a:ext cx="10528200" cy="610575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2" name="Google Shape;192;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193" name="Google Shape;193;g31ccdae391d_0_278"/>
          <p:cNvGraphicFramePr/>
          <p:nvPr/>
        </p:nvGraphicFramePr>
        <p:xfrm>
          <a:off x="558675" y="462325"/>
          <a:ext cx="10287000" cy="5903725"/>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hiện OEM không có stock nên PO chưa có dự kiến</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3</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21/7 có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15</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33</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13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14</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19</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028825" y="1857375"/>
            <a:ext cx="7907101" cy="480537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211" name="Google Shape;211;g31ccdae391d_0_308"/>
          <p:cNvGraphicFramePr/>
          <p:nvPr/>
        </p:nvGraphicFramePr>
        <p:xfrm>
          <a:off x="607288" y="787650"/>
          <a:ext cx="11227800" cy="4360600"/>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 7000546H14</a:t>
                      </a:r>
                      <a:endParaRPr sz="1300" b="0" i="0" u="none" strike="noStrike" cap="none" dirty="0">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err="1">
                          <a:latin typeface="Times New Roman"/>
                          <a:ea typeface="Times New Roman"/>
                          <a:cs typeface="Times New Roman"/>
                          <a:sym typeface="Times New Roman"/>
                        </a:rPr>
                        <a:t>Không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01ea in stock + 01 </a:t>
                      </a:r>
                      <a:r>
                        <a:rPr lang="en-US" sz="1300" dirty="0" err="1">
                          <a:latin typeface="Times New Roman"/>
                          <a:ea typeface="Times New Roman"/>
                          <a:cs typeface="Times New Roman"/>
                          <a:sym typeface="Times New Roman"/>
                        </a:rPr>
                        <a:t>Vip</a:t>
                      </a:r>
                      <a:r>
                        <a:rPr lang="en-US" sz="1300" dirty="0">
                          <a:latin typeface="Times New Roman"/>
                          <a:ea typeface="Times New Roman"/>
                          <a:cs typeface="Times New Roman"/>
                          <a:sym typeface="Times New Roman"/>
                        </a:rPr>
                        <a:t> kit + 01ea </a:t>
                      </a:r>
                      <a:r>
                        <a:rPr lang="en-US" sz="1300" dirty="0" err="1">
                          <a:latin typeface="Times New Roman"/>
                          <a:ea typeface="Times New Roman"/>
                          <a:cs typeface="Times New Roman"/>
                          <a:sym typeface="Times New Roman"/>
                        </a:rPr>
                        <a:t>về</a:t>
                      </a:r>
                      <a:r>
                        <a:rPr lang="en-US" sz="1300" dirty="0">
                          <a:latin typeface="Times New Roman"/>
                          <a:ea typeface="Times New Roman"/>
                          <a:cs typeface="Times New Roman"/>
                          <a:sym typeface="Times New Roman"/>
                        </a:rPr>
                        <a:t> trong </a:t>
                      </a:r>
                      <a:r>
                        <a:rPr lang="en-US" sz="1300" dirty="0" err="1">
                          <a:latin typeface="Times New Roman"/>
                          <a:ea typeface="Times New Roman"/>
                          <a:cs typeface="Times New Roman"/>
                          <a:sym typeface="Times New Roman"/>
                        </a:rPr>
                        <a:t>tuần</a:t>
                      </a:r>
                      <a:r>
                        <a:rPr lang="en-US" sz="1300" dirty="0">
                          <a:latin typeface="Times New Roman"/>
                          <a:ea typeface="Times New Roman"/>
                          <a:cs typeface="Times New Roman"/>
                          <a:sym typeface="Times New Roman"/>
                        </a:rPr>
                        <a:t> 30.</a:t>
                      </a:r>
                      <a:endParaRPr sz="1300" u="none" strike="noStrike" cap="none" dirty="0">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a:t>
                      </a:r>
                      <a:r>
                        <a:rPr lang="en-US" sz="1300">
                          <a:latin typeface="Times New Roman"/>
                          <a:ea typeface="Times New Roman"/>
                          <a:cs typeface="Times New Roman"/>
                          <a:sym typeface="Times New Roman"/>
                        </a:rPr>
                        <a:t>07</a:t>
                      </a:r>
                      <a:r>
                        <a:rPr lang="en-US" sz="1300" u="none" strike="noStrike" cap="none">
                          <a:latin typeface="Times New Roman"/>
                          <a:ea typeface="Times New Roman"/>
                          <a:cs typeface="Times New Roman"/>
                          <a:sym typeface="Times New Roman"/>
                        </a:rPr>
                        <a:t> hỏng hóc.</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- 02ea in stock</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a:t>
                      </a:r>
                      <a:r>
                        <a:rPr lang="en-US" sz="1300" u="none" strike="noStrike" cap="none" dirty="0">
                          <a:latin typeface="Times New Roman"/>
                          <a:ea typeface="Times New Roman"/>
                          <a:cs typeface="Times New Roman"/>
                          <a:sym typeface="Times New Roman"/>
                        </a:rPr>
                        <a:t>0</a:t>
                      </a:r>
                      <a:r>
                        <a:rPr lang="en-US" sz="1300" dirty="0">
                          <a:latin typeface="Times New Roman"/>
                          <a:ea typeface="Times New Roman"/>
                          <a:cs typeface="Times New Roman"/>
                          <a:sym typeface="Times New Roman"/>
                        </a:rPr>
                        <a:t>1</a:t>
                      </a:r>
                      <a:r>
                        <a:rPr lang="en-US" sz="1300" u="none" strike="noStrike" cap="none" dirty="0">
                          <a:latin typeface="Times New Roman"/>
                          <a:ea typeface="Times New Roman"/>
                          <a:cs typeface="Times New Roman"/>
                          <a:sym typeface="Times New Roman"/>
                        </a:rPr>
                        <a:t>RO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giao</a:t>
                      </a:r>
                      <a:r>
                        <a:rPr lang="en-US" sz="1300" dirty="0">
                          <a:latin typeface="Times New Roman"/>
                          <a:ea typeface="Times New Roman"/>
                          <a:cs typeface="Times New Roman"/>
                          <a:sym typeface="Times New Roman"/>
                        </a:rPr>
                        <a:t> HAN 21/07.</a:t>
                      </a:r>
                      <a:endParaRPr sz="1300" dirty="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CMSC</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7000045H03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Hỏng hóc nhiều tại vị trí CAC chưa được làm nâng cấp lên H04 (dự kiến SB có trong tháng 9)</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01ea in stock.</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dirty="0">
                <a:solidFill>
                  <a:schemeClr val="dk1"/>
                </a:solidFill>
                <a:latin typeface="Times New Roman"/>
                <a:ea typeface="Times New Roman"/>
                <a:cs typeface="Times New Roman"/>
                <a:sym typeface="Times New Roman"/>
              </a:rPr>
              <a:t>PTVT </a:t>
            </a:r>
            <a:r>
              <a:rPr lang="en-US" sz="1600" b="0" i="0" u="none" strike="noStrike" cap="none" dirty="0" err="1">
                <a:solidFill>
                  <a:schemeClr val="dk1"/>
                </a:solidFill>
                <a:latin typeface="Times New Roman"/>
                <a:ea typeface="Times New Roman"/>
                <a:cs typeface="Times New Roman"/>
                <a:sym typeface="Times New Roman"/>
              </a:rPr>
              <a:t>thay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VFSG,</a:t>
            </a:r>
            <a:r>
              <a:rPr lang="en-US" sz="1600" dirty="0">
                <a:solidFill>
                  <a:schemeClr val="dk1"/>
                </a:solidFill>
                <a:latin typeface="Times New Roman"/>
                <a:ea typeface="Times New Roman"/>
                <a:cs typeface="Times New Roman"/>
                <a:sym typeface="Times New Roman"/>
              </a:rPr>
              <a:t> CMSC</a:t>
            </a:r>
            <a:r>
              <a:rPr lang="en-US" sz="1600" b="0" i="0" u="none" strike="noStrike" cap="none" dirty="0">
                <a:solidFill>
                  <a:schemeClr val="dk1"/>
                </a:solidFill>
                <a:latin typeface="Times New Roman"/>
                <a:ea typeface="Times New Roman"/>
                <a:cs typeface="Times New Roman"/>
                <a:sym typeface="Times New Roman"/>
              </a:rPr>
              <a:t>, NSG, CAC, GWIV.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algn="just">
              <a:buClr>
                <a:schemeClr val="dk1"/>
              </a:buClr>
              <a:buSzPts val="1100"/>
            </a:pPr>
            <a:r>
              <a:rPr lang="en-US" sz="1600" dirty="0">
                <a:solidFill>
                  <a:schemeClr val="dk1"/>
                </a:solidFill>
                <a:latin typeface="Times New Roman"/>
                <a:ea typeface="Times New Roman"/>
                <a:cs typeface="Times New Roman"/>
                <a:sym typeface="Times New Roman"/>
              </a:rPr>
              <a:t>• A868 - CABIN ATTENDANT HANDSET AT DOOR 2L: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Handset</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A871 - RIGHT HAND VACUUM INOP: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Vacuum.</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p:txBody>
      </p:sp>
      <p:pic>
        <p:nvPicPr>
          <p:cNvPr id="220" name="Google Shape;220;g31ccdae391d_0_315"/>
          <p:cNvPicPr preferRelativeResize="0"/>
          <p:nvPr/>
        </p:nvPicPr>
        <p:blipFill>
          <a:blip r:embed="rId3">
            <a:alphaModFix/>
          </a:blip>
          <a:stretch>
            <a:fillRect/>
          </a:stretch>
        </p:blipFill>
        <p:spPr>
          <a:xfrm>
            <a:off x="795338" y="3161300"/>
            <a:ext cx="10601325" cy="10953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44</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78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12 </a:t>
            </a:r>
            <a:r>
              <a:rPr lang="en-US" sz="1500" b="0" i="0" u="none" strike="noStrike" cap="none">
                <a:solidFill>
                  <a:schemeClr val="dk1"/>
                </a:solidFill>
                <a:latin typeface="Times New Roman"/>
                <a:ea typeface="Times New Roman"/>
                <a:cs typeface="Times New Roman"/>
                <a:sym typeface="Times New Roman"/>
              </a:rPr>
              <a:t>overdue LO / total </a:t>
            </a:r>
            <a:r>
              <a:rPr lang="en-US" sz="1500">
                <a:solidFill>
                  <a:schemeClr val="dk1"/>
                </a:solidFill>
                <a:latin typeface="Times New Roman"/>
                <a:ea typeface="Times New Roman"/>
                <a:cs typeface="Times New Roman"/>
                <a:sym typeface="Times New Roman"/>
              </a:rPr>
              <a:t>14</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32 </a:t>
            </a:r>
            <a:r>
              <a:rPr lang="en-US" sz="1500" b="0" i="0" u="none" strike="noStrike" cap="none">
                <a:solidFill>
                  <a:schemeClr val="dk1"/>
                </a:solidFill>
                <a:latin typeface="Times New Roman"/>
                <a:ea typeface="Times New Roman"/>
                <a:cs typeface="Times New Roman"/>
                <a:sym typeface="Times New Roman"/>
              </a:rPr>
              <a:t>overdue EO / total </a:t>
            </a:r>
            <a:r>
              <a:rPr lang="en-US" sz="1500">
                <a:solidFill>
                  <a:schemeClr val="dk1"/>
                </a:solidFill>
                <a:latin typeface="Times New Roman"/>
                <a:ea typeface="Times New Roman"/>
                <a:cs typeface="Times New Roman"/>
                <a:sym typeface="Times New Roman"/>
              </a:rPr>
              <a:t>64</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662247" y="2259797"/>
            <a:ext cx="6076524" cy="41648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238" name="Google Shape;238;g31ccdae391d_0_332"/>
          <p:cNvGraphicFramePr/>
          <p:nvPr/>
        </p:nvGraphicFramePr>
        <p:xfrm>
          <a:off x="474783" y="301869"/>
          <a:ext cx="11561850" cy="6270147"/>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50396">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396">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42474">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Spoiler Servo control</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FCRM</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 lấp đầy chưa có EDD</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a:solidFill>
                            <a:schemeClr val="dk1"/>
                          </a:solidFill>
                          <a:latin typeface="Times New Roman"/>
                          <a:ea typeface="Times New Roman"/>
                          <a:cs typeface="Times New Roman"/>
                          <a:sym typeface="Times New Roman"/>
                        </a:rPr>
                        <a:t>01 lấp đầy dự kiến về trong tuần 30.</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984649">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688-6/688-6-00-100</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1</a:t>
                      </a:r>
                      <a:r>
                        <a:rPr lang="en-US" sz="1300" dirty="0">
                          <a:latin typeface="Times New Roman"/>
                          <a:ea typeface="Times New Roman"/>
                          <a:cs typeface="Times New Roman"/>
                          <a:sym typeface="Times New Roman"/>
                        </a:rPr>
                        <a:t>3</a:t>
                      </a:r>
                      <a:r>
                        <a:rPr lang="en-US" sz="1300" u="none" strike="noStrike" cap="none" dirty="0">
                          <a:latin typeface="Times New Roman"/>
                          <a:ea typeface="Times New Roman"/>
                          <a:cs typeface="Times New Roman"/>
                          <a:sym typeface="Times New Roman"/>
                        </a:rPr>
                        <a:t>ea (</a:t>
                      </a:r>
                      <a:r>
                        <a:rPr lang="en-US" sz="1300" dirty="0">
                          <a:latin typeface="Times New Roman"/>
                          <a:ea typeface="Times New Roman"/>
                          <a:cs typeface="Times New Roman"/>
                          <a:sym typeface="Times New Roman"/>
                        </a:rPr>
                        <a:t>11</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a:t>
                      </a:r>
                      <a:r>
                        <a:rPr lang="en-US" sz="1300" dirty="0">
                          <a:latin typeface="Times New Roman"/>
                          <a:ea typeface="Times New Roman"/>
                          <a:cs typeface="Times New Roman"/>
                          <a:sym typeface="Times New Roman"/>
                        </a:rPr>
                        <a:t>2</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NIL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- 06</a:t>
                      </a:r>
                      <a:r>
                        <a:rPr lang="en-US" sz="1300" u="none" strike="noStrike" cap="none">
                          <a:solidFill>
                            <a:schemeClr val="dk1"/>
                          </a:solidFill>
                          <a:latin typeface="Times New Roman"/>
                          <a:ea typeface="Times New Roman"/>
                          <a:cs typeface="Times New Roman"/>
                          <a:sym typeface="Times New Roman"/>
                        </a:rPr>
                        <a:t>RO</a:t>
                      </a:r>
                      <a:r>
                        <a:rPr lang="en-US" sz="1300">
                          <a:solidFill>
                            <a:schemeClr val="dk1"/>
                          </a:solidFill>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EDD 11/08.</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+02ea chưa có EDD.</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mới vào shop, chưa có quote.</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84247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53098-06</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05</a:t>
                      </a:r>
                      <a:r>
                        <a:rPr lang="en-US" sz="1300" u="none" strike="noStrike" cap="none" dirty="0">
                          <a:solidFill>
                            <a:schemeClr val="dk1"/>
                          </a:solidFill>
                          <a:latin typeface="Times New Roman"/>
                          <a:ea typeface="Times New Roman"/>
                          <a:cs typeface="Times New Roman"/>
                          <a:sym typeface="Times New Roman"/>
                        </a:rPr>
                        <a:t>ea in stock</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đó</a:t>
                      </a:r>
                      <a:r>
                        <a:rPr lang="en-US" sz="1300" dirty="0">
                          <a:solidFill>
                            <a:schemeClr val="dk1"/>
                          </a:solidFill>
                          <a:latin typeface="Times New Roman"/>
                          <a:ea typeface="Times New Roman"/>
                          <a:cs typeface="Times New Roman"/>
                          <a:sym typeface="Times New Roman"/>
                        </a:rPr>
                        <a:t> 04ea </a:t>
                      </a:r>
                      <a:r>
                        <a:rPr lang="en-US" sz="1300" dirty="0" err="1">
                          <a:solidFill>
                            <a:schemeClr val="dk1"/>
                          </a:solidFill>
                          <a:latin typeface="Times New Roman"/>
                          <a:ea typeface="Times New Roman"/>
                          <a:cs typeface="Times New Roman"/>
                          <a:sym typeface="Times New Roman"/>
                        </a:rPr>
                        <a:t>là</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của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A895).</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84247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hệ</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thống</a:t>
                      </a:r>
                      <a:r>
                        <a:rPr lang="en-US" sz="1300" u="none" strike="noStrike" cap="none" dirty="0">
                          <a:latin typeface="Times New Roman"/>
                          <a:ea typeface="Times New Roman"/>
                          <a:cs typeface="Times New Roman"/>
                          <a:sym typeface="Times New Roman"/>
                        </a:rPr>
                        <a:t> chiller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bay.</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TAT </a:t>
                      </a:r>
                      <a:r>
                        <a:rPr lang="en-US" sz="1300" u="none" strike="noStrike" cap="none" dirty="0" err="1">
                          <a:latin typeface="Times New Roman"/>
                          <a:ea typeface="Times New Roman"/>
                          <a:cs typeface="Times New Roman"/>
                          <a:sym typeface="Times New Roman"/>
                        </a:rPr>
                        <a:t>sửa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chữa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tại</a:t>
                      </a:r>
                      <a:r>
                        <a:rPr lang="en-US" sz="1300" u="none" strike="noStrike" cap="none" dirty="0">
                          <a:latin typeface="Times New Roman"/>
                          <a:ea typeface="Times New Roman"/>
                          <a:cs typeface="Times New Roman"/>
                          <a:sym typeface="Times New Roman"/>
                        </a:rPr>
                        <a:t> shop Honeywell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dài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chưa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được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việc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cung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ứng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hàng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Airbus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chậm</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thêm</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và</a:t>
                      </a:r>
                      <a:r>
                        <a:rPr lang="en-US" sz="1300"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842474">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5</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X200100</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lượng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dịch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vụ</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TAT ở shop </a:t>
                      </a:r>
                      <a:r>
                        <a:rPr lang="en-US" sz="1300" dirty="0" err="1">
                          <a:latin typeface="Times New Roman"/>
                          <a:ea typeface="Times New Roman"/>
                          <a:cs typeface="Times New Roman"/>
                          <a:sym typeface="Times New Roman"/>
                        </a:rPr>
                        <a:t>rất</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dài</a:t>
                      </a:r>
                      <a:r>
                        <a:rPr lang="en-US" sz="1300" dirty="0">
                          <a:latin typeface="Times New Roman"/>
                          <a:ea typeface="Times New Roman"/>
                          <a:cs typeface="Times New Roman"/>
                          <a:sym typeface="Times New Roman"/>
                        </a:rPr>
                        <a:t> do </a:t>
                      </a:r>
                      <a:r>
                        <a:rPr lang="en-US" sz="1300" dirty="0" err="1">
                          <a:latin typeface="Times New Roman"/>
                          <a:ea typeface="Times New Roman"/>
                          <a:cs typeface="Times New Roman"/>
                          <a:sym typeface="Times New Roman"/>
                        </a:rPr>
                        <a:t>thiếu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hụt</a:t>
                      </a:r>
                      <a:r>
                        <a:rPr lang="en-US" sz="1300" dirty="0">
                          <a:latin typeface="Times New Roman"/>
                          <a:ea typeface="Times New Roman"/>
                          <a:cs typeface="Times New Roman"/>
                          <a:sym typeface="Times New Roman"/>
                        </a:rPr>
                        <a:t> sub part </a:t>
                      </a:r>
                      <a:r>
                        <a:rPr lang="en-US" sz="1300" dirty="0" err="1">
                          <a:latin typeface="Times New Roman"/>
                          <a:ea typeface="Times New Roman"/>
                          <a:cs typeface="Times New Roman"/>
                          <a:sym typeface="Times New Roman"/>
                        </a:rPr>
                        <a:t>sửa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chữa</a:t>
                      </a:r>
                      <a:r>
                        <a:rPr lang="en-US" sz="1300" dirty="0">
                          <a:latin typeface="Times New Roman"/>
                          <a:ea typeface="Times New Roman"/>
                          <a:cs typeface="Times New Roman"/>
                          <a:sym typeface="Times New Roman"/>
                        </a:rPr>
                        <a:t> (PMSD). </a:t>
                      </a:r>
                      <a:r>
                        <a:rPr lang="en-US" sz="1300" dirty="0" err="1">
                          <a:latin typeface="Times New Roman"/>
                          <a:ea typeface="Times New Roman"/>
                          <a:cs typeface="Times New Roman"/>
                          <a:sym typeface="Times New Roman"/>
                        </a:rPr>
                        <a:t>Độ</a:t>
                      </a:r>
                      <a:r>
                        <a:rPr lang="en-US" sz="1300" dirty="0">
                          <a:latin typeface="Times New Roman"/>
                          <a:ea typeface="Times New Roman"/>
                          <a:cs typeface="Times New Roman"/>
                          <a:sym typeface="Times New Roman"/>
                        </a:rPr>
                        <a:t> tin </a:t>
                      </a:r>
                      <a:r>
                        <a:rPr lang="en-US" sz="1300" dirty="0" err="1">
                          <a:latin typeface="Times New Roman"/>
                          <a:ea typeface="Times New Roman"/>
                          <a:cs typeface="Times New Roman"/>
                          <a:sym typeface="Times New Roman"/>
                        </a:rPr>
                        <a:t>cậy</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kém</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nên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rất</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nhiều</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Hiện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12ea </a:t>
                      </a:r>
                      <a:r>
                        <a:rPr lang="en-US" sz="1300" dirty="0" err="1">
                          <a:solidFill>
                            <a:schemeClr val="dk1"/>
                          </a:solidFill>
                          <a:latin typeface="Times New Roman"/>
                          <a:ea typeface="Times New Roman"/>
                          <a:cs typeface="Times New Roman"/>
                          <a:sym typeface="Times New Roman"/>
                        </a:rPr>
                        <a:t>hỏng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hóc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dự</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kiến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relase</a:t>
                      </a:r>
                      <a:r>
                        <a:rPr lang="en-US" sz="1300" dirty="0">
                          <a:solidFill>
                            <a:schemeClr val="dk1"/>
                          </a:solidFill>
                          <a:latin typeface="Times New Roman"/>
                          <a:ea typeface="Times New Roman"/>
                          <a:cs typeface="Times New Roman"/>
                          <a:sym typeface="Times New Roman"/>
                        </a:rPr>
                        <a:t> 04ea trong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30 (trong </a:t>
                      </a:r>
                      <a:r>
                        <a:rPr lang="en-US" sz="1300" dirty="0" err="1">
                          <a:solidFill>
                            <a:schemeClr val="dk1"/>
                          </a:solidFill>
                          <a:latin typeface="Times New Roman"/>
                          <a:ea typeface="Times New Roman"/>
                          <a:cs typeface="Times New Roman"/>
                          <a:sym typeface="Times New Roman"/>
                        </a:rPr>
                        <a:t>đó</a:t>
                      </a:r>
                      <a:r>
                        <a:rPr lang="en-US" sz="1300" dirty="0">
                          <a:solidFill>
                            <a:schemeClr val="dk1"/>
                          </a:solidFill>
                          <a:latin typeface="Times New Roman"/>
                          <a:ea typeface="Times New Roman"/>
                          <a:cs typeface="Times New Roman"/>
                          <a:sym typeface="Times New Roman"/>
                        </a:rPr>
                        <a:t> 01ea </a:t>
                      </a:r>
                      <a:r>
                        <a:rPr lang="en-US" sz="1300" dirty="0" err="1">
                          <a:solidFill>
                            <a:schemeClr val="dk1"/>
                          </a:solidFill>
                          <a:latin typeface="Times New Roman"/>
                          <a:ea typeface="Times New Roman"/>
                          <a:cs typeface="Times New Roman"/>
                          <a:sym typeface="Times New Roman"/>
                        </a:rPr>
                        <a:t>dã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ngày</a:t>
                      </a:r>
                      <a:r>
                        <a:rPr lang="en-US" sz="1300" dirty="0">
                          <a:solidFill>
                            <a:schemeClr val="dk1"/>
                          </a:solidFill>
                          <a:latin typeface="Times New Roman"/>
                          <a:ea typeface="Times New Roman"/>
                          <a:cs typeface="Times New Roman"/>
                          <a:sym typeface="Times New Roman"/>
                        </a:rPr>
                        <a:t> 21/07).</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r h="117970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6</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Starter</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1714214A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vi-VN" sz="1300" dirty="0">
                          <a:latin typeface="Times New Roman"/>
                          <a:ea typeface="Times New Roman"/>
                          <a:cs typeface="Times New Roman"/>
                          <a:sym typeface="Times New Roman"/>
                        </a:rPr>
                        <a:t>+ Hỏng nhiều trên fleet A350 và rất nhiều quote BER repair, nguồn hàng từ OEM Collins không có sẵn, tàu BQ đã bị rob hết nhưng cũng không đủ</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vi-VN" sz="1300" dirty="0">
                          <a:solidFill>
                            <a:schemeClr val="dk1"/>
                          </a:solidFill>
                          <a:latin typeface="Times New Roman"/>
                          <a:ea typeface="Times New Roman"/>
                          <a:cs typeface="Times New Roman"/>
                          <a:sym typeface="Times New Roman"/>
                        </a:rPr>
                        <a:t>Hiện cần 01ea cho A890 đang AOG ở SGN và 02ea cho tàu BQ A895.</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chờ</a:t>
                      </a:r>
                      <a:r>
                        <a:rPr lang="en-US" sz="1300" baseline="0" dirty="0">
                          <a:solidFill>
                            <a:schemeClr val="dk1"/>
                          </a:solidFill>
                          <a:latin typeface="Times New Roman"/>
                          <a:ea typeface="Times New Roman"/>
                          <a:cs typeface="Times New Roman"/>
                          <a:sym typeface="Times New Roman"/>
                        </a:rPr>
                        <a:t> Collins </a:t>
                      </a:r>
                      <a:r>
                        <a:rPr lang="en-US" sz="1300" baseline="0" dirty="0" err="1">
                          <a:solidFill>
                            <a:schemeClr val="dk1"/>
                          </a:solidFill>
                          <a:latin typeface="Times New Roman"/>
                          <a:ea typeface="Times New Roman"/>
                          <a:cs typeface="Times New Roman"/>
                          <a:sym typeface="Times New Roman"/>
                        </a:rPr>
                        <a:t>cập</a:t>
                      </a:r>
                      <a:r>
                        <a:rPr lang="en-US" sz="1300" baseline="0" dirty="0">
                          <a:solidFill>
                            <a:schemeClr val="dk1"/>
                          </a:solidFill>
                          <a:latin typeface="Times New Roman"/>
                          <a:ea typeface="Times New Roman"/>
                          <a:cs typeface="Times New Roman"/>
                          <a:sym typeface="Times New Roman"/>
                        </a:rPr>
                        <a:t> </a:t>
                      </a:r>
                      <a:r>
                        <a:rPr lang="en-US" sz="1300" baseline="0" dirty="0" err="1">
                          <a:solidFill>
                            <a:schemeClr val="dk1"/>
                          </a:solidFill>
                          <a:latin typeface="Times New Roman"/>
                          <a:ea typeface="Times New Roman"/>
                          <a:cs typeface="Times New Roman"/>
                          <a:sym typeface="Times New Roman"/>
                        </a:rPr>
                        <a:t>nhật</a:t>
                      </a:r>
                      <a:r>
                        <a:rPr lang="en-US" sz="1300" baseline="0" dirty="0">
                          <a:solidFill>
                            <a:schemeClr val="dk1"/>
                          </a:solidFill>
                          <a:latin typeface="Times New Roman"/>
                          <a:ea typeface="Times New Roman"/>
                          <a:cs typeface="Times New Roman"/>
                          <a:sym typeface="Times New Roman"/>
                        </a:rPr>
                        <a:t> </a:t>
                      </a:r>
                      <a:r>
                        <a:rPr lang="en-US" sz="1300" baseline="0" dirty="0" err="1">
                          <a:solidFill>
                            <a:schemeClr val="dk1"/>
                          </a:solidFill>
                          <a:latin typeface="Times New Roman"/>
                          <a:ea typeface="Times New Roman"/>
                          <a:cs typeface="Times New Roman"/>
                          <a:sym typeface="Times New Roman"/>
                        </a:rPr>
                        <a:t>nguồn</a:t>
                      </a:r>
                      <a:r>
                        <a:rPr lang="en-US" sz="1300" baseline="0" dirty="0">
                          <a:solidFill>
                            <a:schemeClr val="dk1"/>
                          </a:solidFill>
                          <a:latin typeface="Times New Roman"/>
                          <a:ea typeface="Times New Roman"/>
                          <a:cs typeface="Times New Roman"/>
                          <a:sym typeface="Times New Roman"/>
                        </a:rPr>
                        <a:t> </a:t>
                      </a:r>
                      <a:r>
                        <a:rPr lang="en-US" sz="1300" baseline="0" dirty="0" err="1">
                          <a:solidFill>
                            <a:schemeClr val="dk1"/>
                          </a:solidFill>
                          <a:latin typeface="Times New Roman"/>
                          <a:ea typeface="Times New Roman"/>
                          <a:cs typeface="Times New Roman"/>
                          <a:sym typeface="Times New Roman"/>
                        </a:rPr>
                        <a:t>hàng</a:t>
                      </a:r>
                      <a:r>
                        <a:rPr lang="en-US" sz="1300" baseline="0" dirty="0">
                          <a:solidFill>
                            <a:schemeClr val="dk1"/>
                          </a:solidFill>
                          <a:latin typeface="Times New Roman"/>
                          <a:ea typeface="Times New Roman"/>
                          <a:cs typeface="Times New Roman"/>
                          <a:sym typeface="Times New Roman"/>
                        </a:rPr>
                        <a:t> </a:t>
                      </a:r>
                      <a:r>
                        <a:rPr lang="en-US" sz="1300" baseline="0" dirty="0" err="1">
                          <a:solidFill>
                            <a:schemeClr val="dk1"/>
                          </a:solidFill>
                          <a:latin typeface="Times New Roman"/>
                          <a:ea typeface="Times New Roman"/>
                          <a:cs typeface="Times New Roman"/>
                          <a:sym typeface="Times New Roman"/>
                        </a:rPr>
                        <a:t>đầu</a:t>
                      </a:r>
                      <a:r>
                        <a:rPr lang="en-US" sz="1300" baseline="0" dirty="0">
                          <a:solidFill>
                            <a:schemeClr val="dk1"/>
                          </a:solidFill>
                          <a:latin typeface="Times New Roman"/>
                          <a:ea typeface="Times New Roman"/>
                          <a:cs typeface="Times New Roman"/>
                          <a:sym typeface="Times New Roman"/>
                        </a:rPr>
                        <a:t> </a:t>
                      </a:r>
                      <a:r>
                        <a:rPr lang="en-US" sz="1300" baseline="0" dirty="0" err="1">
                          <a:solidFill>
                            <a:schemeClr val="dk1"/>
                          </a:solidFill>
                          <a:latin typeface="Times New Roman"/>
                          <a:ea typeface="Times New Roman"/>
                          <a:cs typeface="Times New Roman"/>
                          <a:sym typeface="Times New Roman"/>
                        </a:rPr>
                        <a:t>tuần</a:t>
                      </a:r>
                      <a:r>
                        <a:rPr lang="en-US" sz="1300" baseline="0" dirty="0">
                          <a:solidFill>
                            <a:schemeClr val="dk1"/>
                          </a:solidFill>
                          <a:latin typeface="Times New Roman"/>
                          <a:ea typeface="Times New Roman"/>
                          <a:cs typeface="Times New Roman"/>
                          <a:sym typeface="Times New Roman"/>
                        </a:rPr>
                        <a:t> 30).</a:t>
                      </a:r>
                      <a:endParaRPr lang="vi-VN"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vi-VN" sz="1300" dirty="0">
                          <a:solidFill>
                            <a:schemeClr val="dk1"/>
                          </a:solidFill>
                          <a:latin typeface="Times New Roman"/>
                          <a:ea typeface="Times New Roman"/>
                          <a:cs typeface="Times New Roman"/>
                          <a:sym typeface="Times New Roman"/>
                        </a:rPr>
                        <a:t>+ 03ea PO chưa có EDD (01ea mới phát tuần 29).</a:t>
                      </a:r>
                    </a:p>
                    <a:p>
                      <a:pPr marL="0" marR="0" lvl="0" indent="0" algn="l" rtl="0">
                        <a:lnSpc>
                          <a:spcPct val="100000"/>
                        </a:lnSpc>
                        <a:spcBef>
                          <a:spcPts val="0"/>
                        </a:spcBef>
                        <a:spcAft>
                          <a:spcPts val="0"/>
                        </a:spcAft>
                        <a:buClr>
                          <a:schemeClr val="dk1"/>
                        </a:buClr>
                        <a:buSzPts val="1300"/>
                        <a:buFont typeface="Times New Roman"/>
                        <a:buNone/>
                      </a:pPr>
                      <a:r>
                        <a:rPr lang="vi-VN" sz="1300" dirty="0">
                          <a:solidFill>
                            <a:schemeClr val="dk1"/>
                          </a:solidFill>
                          <a:latin typeface="Times New Roman"/>
                          <a:ea typeface="Times New Roman"/>
                          <a:cs typeface="Times New Roman"/>
                          <a:sym typeface="Times New Roman"/>
                        </a:rPr>
                        <a:t>+ 03 RO: 02ea BER repair, ban KT đang làm việc với Collins tìm nguyên nhân, 01ea chờ quote.</a:t>
                      </a:r>
                    </a:p>
                    <a:p>
                      <a:pPr marL="0" marR="0" lvl="0" indent="0" algn="l" rtl="0">
                        <a:lnSpc>
                          <a:spcPct val="100000"/>
                        </a:lnSpc>
                        <a:spcBef>
                          <a:spcPts val="0"/>
                        </a:spcBef>
                        <a:spcAft>
                          <a:spcPts val="0"/>
                        </a:spcAft>
                        <a:buClr>
                          <a:schemeClr val="dk1"/>
                        </a:buClr>
                        <a:buSzPts val="1300"/>
                        <a:buFont typeface="Times New Roman"/>
                        <a:buNone/>
                      </a:pP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Times New Roman"/>
                <a:ea typeface="Times New Roman"/>
                <a:cs typeface="Times New Roman"/>
                <a:sym typeface="Times New Roman"/>
              </a:rPr>
              <a:t>  +    </a:t>
            </a:r>
            <a:r>
              <a:rPr lang="en-US" sz="1600" b="0" i="0" u="none" strike="noStrike" cap="none" dirty="0" err="1">
                <a:solidFill>
                  <a:srgbClr val="000000"/>
                </a:solidFill>
                <a:latin typeface="Times New Roman"/>
                <a:ea typeface="Times New Roman"/>
                <a:cs typeface="Times New Roman"/>
                <a:sym typeface="Times New Roman"/>
              </a:rPr>
              <a:t>Một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số</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thiết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bị</a:t>
            </a:r>
            <a:r>
              <a:rPr lang="en-US" sz="1600" b="0" i="0" u="none" strike="noStrike" cap="none" dirty="0">
                <a:solidFill>
                  <a:srgbClr val="000000"/>
                </a:solidFill>
                <a:latin typeface="Times New Roman"/>
                <a:ea typeface="Times New Roman"/>
                <a:cs typeface="Times New Roman"/>
                <a:sym typeface="Times New Roman"/>
              </a:rPr>
              <a:t> pooling </a:t>
            </a:r>
            <a:r>
              <a:rPr lang="en-US" sz="1600" b="0" i="0" u="none" strike="noStrike" cap="none" dirty="0" err="1">
                <a:solidFill>
                  <a:srgbClr val="000000"/>
                </a:solidFill>
                <a:latin typeface="Times New Roman"/>
                <a:ea typeface="Times New Roman"/>
                <a:cs typeface="Times New Roman"/>
                <a:sym typeface="Times New Roman"/>
              </a:rPr>
              <a:t>của</a:t>
            </a:r>
            <a:r>
              <a:rPr lang="en-US" sz="1600" b="0" i="0" u="none" strike="noStrike" cap="none" dirty="0">
                <a:solidFill>
                  <a:srgbClr val="000000"/>
                </a:solidFill>
                <a:latin typeface="Times New Roman"/>
                <a:ea typeface="Times New Roman"/>
                <a:cs typeface="Times New Roman"/>
                <a:sym typeface="Times New Roman"/>
              </a:rPr>
              <a:t> OEM Honeywell </a:t>
            </a:r>
            <a:r>
              <a:rPr lang="en-US" sz="1600" b="0" i="0" u="none" strike="noStrike" cap="none" dirty="0" err="1">
                <a:solidFill>
                  <a:srgbClr val="000000"/>
                </a:solidFill>
                <a:latin typeface="Times New Roman"/>
                <a:ea typeface="Times New Roman"/>
                <a:cs typeface="Times New Roman"/>
                <a:sym typeface="Times New Roman"/>
              </a:rPr>
              <a:t>liên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quan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Chiller (VCRU, Motor </a:t>
            </a:r>
            <a:r>
              <a:rPr lang="en-US" sz="1600" b="0" i="0" u="none" strike="noStrike" cap="none" dirty="0" err="1">
                <a:solidFill>
                  <a:srgbClr val="000000"/>
                </a:solidFill>
                <a:latin typeface="Times New Roman"/>
                <a:ea typeface="Times New Roman"/>
                <a:cs typeface="Times New Roman"/>
                <a:sym typeface="Times New Roman"/>
              </a:rPr>
              <a:t>Controler</a:t>
            </a:r>
            <a:r>
              <a:rPr lang="en-US" sz="1600" b="0" i="0" u="none" strike="noStrike" cap="none" dirty="0">
                <a:solidFill>
                  <a:srgbClr val="000000"/>
                </a:solidFill>
                <a:latin typeface="Times New Roman"/>
                <a:ea typeface="Times New Roman"/>
                <a:cs typeface="Times New Roman"/>
                <a:sym typeface="Times New Roman"/>
              </a:rPr>
              <a:t>) TAT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rất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dài</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dirty="0" err="1">
                <a:solidFill>
                  <a:srgbClr val="000000"/>
                </a:solidFill>
                <a:latin typeface="Times New Roman"/>
                <a:ea typeface="Times New Roman"/>
                <a:cs typeface="Times New Roman"/>
                <a:sym typeface="Times New Roman"/>
              </a:rPr>
              <a:t>Hỏng</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hóc</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flight control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nhiều</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A886, A887, A888, A892, A896 - CHILLER SYS INOP: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VCRU,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EDD.</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A886 - SATCOM INOP: </a:t>
            </a:r>
            <a:r>
              <a:rPr lang="en-US" sz="1600" dirty="0" err="1">
                <a:solidFill>
                  <a:schemeClr val="dk1"/>
                </a:solidFill>
                <a:latin typeface="Times New Roman"/>
                <a:ea typeface="Times New Roman"/>
                <a:cs typeface="Times New Roman"/>
                <a:sym typeface="Times New Roman"/>
              </a:rPr>
              <a:t>Satcom</a:t>
            </a:r>
            <a:r>
              <a:rPr lang="en-US" sz="1600" dirty="0">
                <a:solidFill>
                  <a:schemeClr val="dk1"/>
                </a:solidFill>
                <a:latin typeface="Times New Roman"/>
                <a:ea typeface="Times New Roman"/>
                <a:cs typeface="Times New Roman"/>
                <a:sym typeface="Times New Roman"/>
              </a:rPr>
              <a:t> Antenna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19/07.</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A892 - F/CTL R OUTR AI-LERON Y ACTUATOR: FCRM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23/07.</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A894 - DM F/CTL R OUTR AILER-ON G ACTUATOR: Actuator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tối</a:t>
            </a:r>
            <a:r>
              <a:rPr lang="en-US" sz="1600" dirty="0">
                <a:solidFill>
                  <a:schemeClr val="dk1"/>
                </a:solidFill>
                <a:latin typeface="Times New Roman"/>
                <a:ea typeface="Times New Roman"/>
                <a:cs typeface="Times New Roman"/>
                <a:sym typeface="Times New Roman"/>
              </a:rPr>
              <a:t> 19/07.</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endParaRPr sz="20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790575" y="3114675"/>
            <a:ext cx="10610850" cy="32194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graphicFrame>
        <p:nvGraphicFramePr>
          <p:cNvPr id="255" name="Google Shape;255;g31ccdae391d_0_347"/>
          <p:cNvGraphicFramePr/>
          <p:nvPr/>
        </p:nvGraphicFramePr>
        <p:xfrm>
          <a:off x="439614" y="221847"/>
          <a:ext cx="11611325" cy="6223296"/>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55">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5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1970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1</a:t>
                      </a:r>
                      <a:endParaRPr sz="1400" i="0" u="none" strike="noStrike" cap="none" dirty="0">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Blade Propeller</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06</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br>
                        <a:rPr lang="en-US" sz="1400" u="none" strike="noStrike" cap="none">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01RO: SCRAP</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01RO: vào shop ngày 30/06 </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1970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815470-2</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For Major Inspection</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58413">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For Major Inspection</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758413">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09441">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latin typeface="Times New Roman"/>
                          <a:ea typeface="Times New Roman"/>
                          <a:cs typeface="Times New Roman"/>
                          <a:sym typeface="Times New Roman"/>
                        </a:rPr>
                        <a:t>02EA: STK SGN</a:t>
                      </a:r>
                      <a:endParaRPr dirty="0"/>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46472">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RO R4580325: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EDD</a:t>
                      </a: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1068858">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ACM</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2205120-4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Cabin Hot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05RO: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EDD do </a:t>
                      </a:r>
                      <a:r>
                        <a:rPr lang="en-US" dirty="0" err="1">
                          <a:solidFill>
                            <a:schemeClr val="dk1"/>
                          </a:solidFill>
                          <a:latin typeface="Times New Roman"/>
                          <a:ea typeface="Times New Roman"/>
                          <a:cs typeface="Times New Roman"/>
                          <a:sym typeface="Times New Roman"/>
                        </a:rPr>
                        <a:t>thiếu</a:t>
                      </a:r>
                      <a:r>
                        <a:rPr lang="en-US" dirty="0">
                          <a:solidFill>
                            <a:schemeClr val="dk1"/>
                          </a:solidFill>
                          <a:latin typeface="Times New Roman"/>
                          <a:ea typeface="Times New Roman"/>
                          <a:cs typeface="Times New Roman"/>
                          <a:sym typeface="Times New Roman"/>
                        </a:rPr>
                        <a:t> PTVT </a:t>
                      </a:r>
                      <a:r>
                        <a:rPr lang="en-US" dirty="0" err="1">
                          <a:solidFill>
                            <a:schemeClr val="dk1"/>
                          </a:solidFill>
                          <a:latin typeface="Times New Roman"/>
                          <a:ea typeface="Times New Roman"/>
                          <a:cs typeface="Times New Roman"/>
                          <a:sym typeface="Times New Roman"/>
                        </a:rPr>
                        <a:t>thay</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thế</a:t>
                      </a:r>
                      <a:r>
                        <a:rPr lang="en-US" dirty="0">
                          <a:solidFill>
                            <a:schemeClr val="dk1"/>
                          </a:solidFill>
                          <a:latin typeface="Times New Roman"/>
                          <a:ea typeface="Times New Roman"/>
                          <a:cs typeface="Times New Roman"/>
                          <a:sym typeface="Times New Roman"/>
                        </a:rPr>
                        <a:t>. Trong </a:t>
                      </a:r>
                      <a:r>
                        <a:rPr lang="en-US" dirty="0" err="1">
                          <a:solidFill>
                            <a:schemeClr val="dk1"/>
                          </a:solidFill>
                          <a:latin typeface="Times New Roman"/>
                          <a:ea typeface="Times New Roman"/>
                          <a:cs typeface="Times New Roman"/>
                          <a:sym typeface="Times New Roman"/>
                        </a:rPr>
                        <a:t>đó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4 warranty order </a:t>
                      </a:r>
                      <a:r>
                        <a:rPr lang="en-US" dirty="0" err="1">
                          <a:solidFill>
                            <a:schemeClr val="dk1"/>
                          </a:solidFill>
                          <a:latin typeface="Times New Roman"/>
                          <a:ea typeface="Times New Roman"/>
                          <a:cs typeface="Times New Roman"/>
                          <a:sym typeface="Times New Roman"/>
                        </a:rPr>
                        <a:t>bị</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từ</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chối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bảo</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hành</a:t>
                      </a:r>
                      <a:r>
                        <a:rPr lang="en-US" dirty="0">
                          <a:solidFill>
                            <a:schemeClr val="dk1"/>
                          </a:solidFill>
                          <a:latin typeface="Times New Roman"/>
                          <a:ea typeface="Times New Roman"/>
                          <a:cs typeface="Times New Roman"/>
                          <a:sym typeface="Times New Roman"/>
                        </a:rPr>
                        <a:t> do </a:t>
                      </a:r>
                      <a:r>
                        <a:rPr lang="en-US" dirty="0" err="1">
                          <a:solidFill>
                            <a:schemeClr val="dk1"/>
                          </a:solidFill>
                          <a:latin typeface="Times New Roman"/>
                          <a:ea typeface="Times New Roman"/>
                          <a:cs typeface="Times New Roman"/>
                          <a:sym typeface="Times New Roman"/>
                        </a:rPr>
                        <a:t>bị</a:t>
                      </a:r>
                      <a:r>
                        <a:rPr lang="en-US" dirty="0">
                          <a:solidFill>
                            <a:schemeClr val="dk1"/>
                          </a:solidFill>
                          <a:latin typeface="Times New Roman"/>
                          <a:ea typeface="Times New Roman"/>
                          <a:cs typeface="Times New Roman"/>
                          <a:sym typeface="Times New Roman"/>
                        </a:rPr>
                        <a:t> oil and carbon contamination</a:t>
                      </a:r>
                      <a:endParaRPr sz="1100" dirty="0">
                        <a:solidFill>
                          <a:srgbClr val="1F497D"/>
                        </a:solidFill>
                        <a:latin typeface="Calibri"/>
                        <a:ea typeface="Calibri"/>
                        <a:cs typeface="Calibri"/>
                        <a:sym typeface="Calibri"/>
                      </a:endParaRPr>
                    </a:p>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01LO: </a:t>
                      </a:r>
                      <a:r>
                        <a:rPr lang="en-US" dirty="0" err="1">
                          <a:solidFill>
                            <a:schemeClr val="dk1"/>
                          </a:solidFill>
                          <a:latin typeface="Times New Roman"/>
                          <a:ea typeface="Times New Roman"/>
                          <a:cs typeface="Times New Roman"/>
                          <a:sym typeface="Times New Roman"/>
                        </a:rPr>
                        <a:t>thuê</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từ</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ngày</a:t>
                      </a:r>
                      <a:r>
                        <a:rPr lang="en-US" dirty="0">
                          <a:solidFill>
                            <a:schemeClr val="dk1"/>
                          </a:solidFill>
                          <a:latin typeface="Times New Roman"/>
                          <a:ea typeface="Times New Roman"/>
                          <a:cs typeface="Times New Roman"/>
                          <a:sym typeface="Times New Roman"/>
                        </a:rPr>
                        <a:t> 30/6 (min. 3 </a:t>
                      </a:r>
                      <a:r>
                        <a:rPr lang="en-US" dirty="0" err="1">
                          <a:solidFill>
                            <a:schemeClr val="dk1"/>
                          </a:solidFill>
                          <a:latin typeface="Times New Roman"/>
                          <a:ea typeface="Times New Roman"/>
                          <a:cs typeface="Times New Roman"/>
                          <a:sym typeface="Times New Roman"/>
                        </a:rPr>
                        <a:t>tháng</a:t>
                      </a:r>
                      <a:r>
                        <a:rPr lang="en-US" dirty="0">
                          <a:solidFill>
                            <a:schemeClr val="dk1"/>
                          </a:solidFill>
                          <a:latin typeface="Times New Roman"/>
                          <a:ea typeface="Times New Roman"/>
                          <a:cs typeface="Times New Roman"/>
                          <a:sym typeface="Times New Roman"/>
                        </a:rPr>
                        <a:t>)</a:t>
                      </a:r>
                      <a:br>
                        <a:rPr lang="en-US" dirty="0">
                          <a:solidFill>
                            <a:schemeClr val="dk1"/>
                          </a:solidFill>
                          <a:latin typeface="Times New Roman"/>
                          <a:ea typeface="Times New Roman"/>
                          <a:cs typeface="Times New Roman"/>
                          <a:sym typeface="Times New Roman"/>
                        </a:rPr>
                      </a:br>
                      <a:r>
                        <a:rPr lang="en-US" dirty="0">
                          <a:solidFill>
                            <a:schemeClr val="dk1"/>
                          </a:solidFill>
                          <a:latin typeface="Times New Roman"/>
                          <a:ea typeface="Times New Roman"/>
                          <a:cs typeface="Times New Roman"/>
                          <a:sym typeface="Times New Roman"/>
                        </a:rPr>
                        <a:t>01EA: STK SGN </a:t>
                      </a:r>
                      <a:r>
                        <a:rPr lang="en-US" dirty="0" err="1">
                          <a:solidFill>
                            <a:schemeClr val="dk1"/>
                          </a:solidFill>
                          <a:latin typeface="Times New Roman"/>
                          <a:ea typeface="Times New Roman"/>
                          <a:cs typeface="Times New Roman"/>
                          <a:sym typeface="Times New Roman"/>
                        </a:rPr>
                        <a:t>p/n</a:t>
                      </a:r>
                      <a:r>
                        <a:rPr lang="en-US" dirty="0">
                          <a:solidFill>
                            <a:schemeClr val="dk1"/>
                          </a:solidFill>
                          <a:latin typeface="Times New Roman"/>
                          <a:ea typeface="Times New Roman"/>
                          <a:cs typeface="Times New Roman"/>
                          <a:sym typeface="Times New Roman"/>
                        </a:rPr>
                        <a:t> 1600D000-004</a:t>
                      </a:r>
                      <a:endParaRPr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graphicFrame>
        <p:nvGraphicFramePr>
          <p:cNvPr id="263" name="Google Shape;263;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C20648000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01ea stock</a:t>
                      </a:r>
                      <a:endParaRPr>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01ea Vip kit + 01ea FAK Nga.</a:t>
                      </a:r>
                      <a:endParaRPr>
                        <a:latin typeface="Times New Roman"/>
                        <a:ea typeface="Times New Roman"/>
                        <a:cs typeface="Times New Roman"/>
                        <a:sym typeface="Times New Roman"/>
                      </a:endParaRPr>
                    </a:p>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04ea về trong tuần 30.</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2-1756-1</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03ea in stock. Dự kiến tuần 30 VSTEA xuất xưởng thêm 03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C20534100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a:solidFill>
                            <a:schemeClr val="dk1"/>
                          </a:solidFill>
                          <a:latin typeface="Times New Roman"/>
                          <a:ea typeface="Times New Roman"/>
                          <a:cs typeface="Times New Roman"/>
                          <a:sym typeface="Times New Roman"/>
                        </a:rPr>
                        <a:t>05ea in stock. trong </a:t>
                      </a:r>
                      <a:r>
                        <a:rPr lang="en-US" dirty="0" err="1">
                          <a:solidFill>
                            <a:schemeClr val="dk1"/>
                          </a:solidFill>
                          <a:latin typeface="Times New Roman"/>
                          <a:ea typeface="Times New Roman"/>
                          <a:cs typeface="Times New Roman"/>
                          <a:sym typeface="Times New Roman"/>
                        </a:rPr>
                        <a:t>tuần</a:t>
                      </a:r>
                      <a:r>
                        <a:rPr lang="en-US" dirty="0">
                          <a:solidFill>
                            <a:schemeClr val="dk1"/>
                          </a:solidFill>
                          <a:latin typeface="Times New Roman"/>
                          <a:ea typeface="Times New Roman"/>
                          <a:cs typeface="Times New Roman"/>
                          <a:sym typeface="Times New Roman"/>
                        </a:rPr>
                        <a:t> 30 </a:t>
                      </a:r>
                      <a:r>
                        <a:rPr lang="en-US" dirty="0" err="1">
                          <a:solidFill>
                            <a:schemeClr val="dk1"/>
                          </a:solidFill>
                          <a:latin typeface="Times New Roman"/>
                          <a:ea typeface="Times New Roman"/>
                          <a:cs typeface="Times New Roman"/>
                          <a:sym typeface="Times New Roman"/>
                        </a:rPr>
                        <a:t>dự</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kiến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sẽ</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thêm</a:t>
                      </a:r>
                      <a:r>
                        <a:rPr lang="en-US" dirty="0">
                          <a:solidFill>
                            <a:schemeClr val="dk1"/>
                          </a:solidFill>
                          <a:latin typeface="Times New Roman"/>
                          <a:ea typeface="Times New Roman"/>
                          <a:cs typeface="Times New Roman"/>
                          <a:sym typeface="Times New Roman"/>
                        </a:rPr>
                        <a:t> 05ea. </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b="1" i="0" u="none" strike="noStrike" cap="none">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03ea (thuê dài hạn) &amp; 03 động cơ thuê ngắn hạn + </a:t>
            </a:r>
            <a:r>
              <a:rPr lang="en-US" sz="1500">
                <a:solidFill>
                  <a:schemeClr val="dk1"/>
                </a:solidFill>
                <a:highlight>
                  <a:schemeClr val="lt1"/>
                </a:highlight>
                <a:latin typeface="Times New Roman"/>
                <a:ea typeface="Times New Roman"/>
                <a:cs typeface="Times New Roman"/>
                <a:sym typeface="Times New Roman"/>
              </a:rPr>
              <a:t>01 động cơ new (giao HAN 22/01).</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01ea (ENG 21136)</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 0</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ea (0</a:t>
            </a:r>
            <a:r>
              <a:rPr lang="en-US" sz="1500">
                <a:solidFill>
                  <a:schemeClr val="dk1"/>
                </a:solidFill>
                <a:highlight>
                  <a:schemeClr val="lt1"/>
                </a:highlight>
                <a:latin typeface="Times New Roman"/>
                <a:ea typeface="Times New Roman"/>
                <a:cs typeface="Times New Roman"/>
                <a:sym typeface="Times New Roman"/>
              </a:rPr>
              <a:t>4</a:t>
            </a:r>
            <a:r>
              <a:rPr lang="en-US" sz="1500" b="0" i="0" u="none" strike="noStrike" cap="none">
                <a:solidFill>
                  <a:schemeClr val="dk1"/>
                </a:solidFill>
                <a:highlight>
                  <a:schemeClr val="lt1"/>
                </a:highlight>
                <a:latin typeface="Times New Roman"/>
                <a:ea typeface="Times New Roman"/>
                <a:cs typeface="Times New Roman"/>
                <a:sym typeface="Times New Roman"/>
              </a:rPr>
              <a:t> động cơ  21043 và </a:t>
            </a:r>
            <a:r>
              <a:rPr lang="en-US" sz="1500">
                <a:solidFill>
                  <a:schemeClr val="dk1"/>
                </a:solidFill>
                <a:highlight>
                  <a:schemeClr val="lt1"/>
                </a:highlight>
                <a:latin typeface="Times New Roman"/>
                <a:ea typeface="Times New Roman"/>
                <a:cs typeface="Times New Roman"/>
                <a:sym typeface="Times New Roman"/>
              </a:rPr>
              <a:t>21137</a:t>
            </a:r>
            <a:r>
              <a:rPr lang="en-US" sz="1500" b="0" i="0" u="none" strike="noStrike" cap="none">
                <a:solidFill>
                  <a:schemeClr val="dk1"/>
                </a:solidFill>
                <a:highlight>
                  <a:schemeClr val="lt1"/>
                </a:highlight>
                <a:latin typeface="Times New Roman"/>
                <a:ea typeface="Times New Roman"/>
                <a:cs typeface="Times New Roman"/>
                <a:sym typeface="Times New Roman"/>
              </a:rPr>
              <a:t>, 21048</a:t>
            </a:r>
            <a:r>
              <a:rPr lang="en-US" sz="1500">
                <a:solidFill>
                  <a:schemeClr val="dk1"/>
                </a:solidFill>
                <a:highlight>
                  <a:schemeClr val="lt1"/>
                </a:highlight>
                <a:latin typeface="Times New Roman"/>
                <a:ea typeface="Times New Roman"/>
                <a:cs typeface="Times New Roman"/>
                <a:sym typeface="Times New Roman"/>
              </a:rPr>
              <a:t>, 21024 </a:t>
            </a:r>
            <a:r>
              <a:rPr lang="en-US" sz="1500" b="0" i="0" u="none" strike="noStrike" cap="none">
                <a:solidFill>
                  <a:schemeClr val="dk1"/>
                </a:solidFill>
                <a:highlight>
                  <a:schemeClr val="lt1"/>
                </a:highlight>
                <a:latin typeface="Times New Roman"/>
                <a:ea typeface="Times New Roman"/>
                <a:cs typeface="Times New Roman"/>
                <a:sym typeface="Times New Roman"/>
              </a:rPr>
              <a:t>sửa tại N3 và</a:t>
            </a:r>
            <a:r>
              <a:rPr lang="en-US" sz="1500">
                <a:solidFill>
                  <a:schemeClr val="dk1"/>
                </a:solidFill>
                <a:highlight>
                  <a:schemeClr val="lt1"/>
                </a:highlight>
                <a:latin typeface="Times New Roman"/>
                <a:ea typeface="Times New Roman"/>
                <a:cs typeface="Times New Roman"/>
                <a:sym typeface="Times New Roman"/>
              </a:rPr>
              <a:t> 02 tại SEASL 21414 và 21604</a:t>
            </a:r>
            <a:r>
              <a:rPr lang="en-US" sz="1500" b="0" i="0" u="none" strike="noStrike" cap="none">
                <a:solidFill>
                  <a:schemeClr val="dk1"/>
                </a:solidFill>
                <a:highlight>
                  <a:schemeClr val="lt1"/>
                </a:highlight>
                <a:latin typeface="Times New Roman"/>
                <a:ea typeface="Times New Roman"/>
                <a:cs typeface="Times New Roman"/>
                <a:sym typeface="Times New Roman"/>
              </a:rPr>
              <a:t>)</a:t>
            </a:r>
            <a:r>
              <a:rPr lang="en-US" sz="1500">
                <a:solidFill>
                  <a:schemeClr val="dk1"/>
                </a:solidFill>
                <a:highlight>
                  <a:schemeClr val="lt1"/>
                </a:highlight>
                <a:latin typeface="Times New Roman"/>
                <a:ea typeface="Times New Roman"/>
                <a:cs typeface="Times New Roman"/>
                <a:sym typeface="Times New Roman"/>
              </a:rPr>
              <a:t>. 02 động cơ 21425 sẽ gửi N3 và 21035 sẽ gửi HAESL tháng 7/2025</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01 </a:t>
            </a:r>
            <a:r>
              <a:rPr lang="en-US" sz="1500">
                <a:solidFill>
                  <a:schemeClr val="dk1"/>
                </a:solidFill>
                <a:highlight>
                  <a:schemeClr val="lt1"/>
                </a:highlight>
                <a:latin typeface="Times New Roman"/>
                <a:ea typeface="Times New Roman"/>
                <a:cs typeface="Times New Roman"/>
                <a:sym typeface="Times New Roman"/>
              </a:rPr>
              <a:t>ENG </a:t>
            </a:r>
            <a:r>
              <a:rPr lang="en-US" sz="1500">
                <a:solidFill>
                  <a:schemeClr val="dk1"/>
                </a:solidFill>
                <a:latin typeface="Times New Roman"/>
                <a:ea typeface="Times New Roman"/>
                <a:cs typeface="Times New Roman"/>
                <a:sym typeface="Times New Roman"/>
              </a:rPr>
              <a:t>21043 pickup 29Jul tại N3 dự kiến giao Vaeco 07/Aug.</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01 </a:t>
            </a:r>
            <a:r>
              <a:rPr lang="en-US" sz="1500">
                <a:solidFill>
                  <a:schemeClr val="dk1"/>
                </a:solidFill>
                <a:highlight>
                  <a:schemeClr val="lt1"/>
                </a:highlight>
                <a:latin typeface="Times New Roman"/>
                <a:ea typeface="Times New Roman"/>
                <a:cs typeface="Times New Roman"/>
                <a:sym typeface="Times New Roman"/>
              </a:rPr>
              <a:t>ENG </a:t>
            </a:r>
            <a:r>
              <a:rPr lang="en-US" sz="1500">
                <a:solidFill>
                  <a:schemeClr val="dk1"/>
                </a:solidFill>
                <a:latin typeface="Times New Roman"/>
                <a:ea typeface="Times New Roman"/>
                <a:cs typeface="Times New Roman"/>
                <a:sym typeface="Times New Roman"/>
              </a:rPr>
              <a:t>21137 pickup 07Aug tại N3 dự kiến giao Vaeco 15/Aug.</a:t>
            </a:r>
            <a:endParaRPr sz="150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 01 ENG 21414 pickup 30July tại SIN giao Vaeco 10/Aug</a:t>
            </a: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dự phòng: </a:t>
            </a:r>
            <a:r>
              <a:rPr lang="en-US" sz="1500">
                <a:solidFill>
                  <a:schemeClr val="dk1"/>
                </a:solidFill>
                <a:highlight>
                  <a:schemeClr val="lt1"/>
                </a:highlight>
                <a:latin typeface="Times New Roman"/>
                <a:ea typeface="Times New Roman"/>
                <a:cs typeface="Times New Roman"/>
                <a:sym typeface="Times New Roman"/>
              </a:rPr>
              <a:t>10</a:t>
            </a:r>
            <a:r>
              <a:rPr lang="en-US" sz="1500" b="0" i="0" u="none" strike="noStrike" cap="none">
                <a:solidFill>
                  <a:schemeClr val="dk1"/>
                </a:solidFill>
                <a:highlight>
                  <a:schemeClr val="lt1"/>
                </a:highlight>
                <a:latin typeface="Times New Roman"/>
                <a:ea typeface="Times New Roman"/>
                <a:cs typeface="Times New Roman"/>
                <a:sym typeface="Times New Roman"/>
              </a:rPr>
              <a:t>ea (2 sở hữu, 2 dài hạn và </a:t>
            </a:r>
            <a:r>
              <a:rPr lang="en-US" sz="1500">
                <a:solidFill>
                  <a:schemeClr val="dk1"/>
                </a:solidFill>
                <a:highlight>
                  <a:schemeClr val="lt1"/>
                </a:highlight>
                <a:latin typeface="Times New Roman"/>
                <a:ea typeface="Times New Roman"/>
                <a:cs typeface="Times New Roman"/>
                <a:sym typeface="Times New Roman"/>
              </a:rPr>
              <a:t>6</a:t>
            </a:r>
            <a:r>
              <a:rPr lang="en-US" sz="1500" b="0" i="0" u="none" strike="noStrike" cap="none">
                <a:solidFill>
                  <a:schemeClr val="dk1"/>
                </a:solidFill>
                <a:highlight>
                  <a:schemeClr val="lt1"/>
                </a:highlight>
                <a:latin typeface="Times New Roman"/>
                <a:ea typeface="Times New Roman"/>
                <a:cs typeface="Times New Roman"/>
                <a:sym typeface="Times New Roman"/>
              </a:rPr>
              <a:t> ngắn hạn) đã ký thêm </a:t>
            </a:r>
            <a:r>
              <a:rPr lang="en-US" sz="1500">
                <a:solidFill>
                  <a:schemeClr val="dk1"/>
                </a:solidFill>
                <a:highlight>
                  <a:schemeClr val="lt1"/>
                </a:highlight>
                <a:latin typeface="Times New Roman"/>
                <a:ea typeface="Times New Roman"/>
                <a:cs typeface="Times New Roman"/>
                <a:sym typeface="Times New Roman"/>
              </a:rPr>
              <a:t>01</a:t>
            </a:r>
            <a:r>
              <a:rPr lang="en-US" sz="1500" b="0" i="0" u="none" strike="noStrike" cap="none">
                <a:solidFill>
                  <a:schemeClr val="dk1"/>
                </a:solidFill>
                <a:highlight>
                  <a:schemeClr val="lt1"/>
                </a:highlight>
                <a:latin typeface="Times New Roman"/>
                <a:ea typeface="Times New Roman"/>
                <a:cs typeface="Times New Roman"/>
                <a:sym typeface="Times New Roman"/>
              </a:rPr>
              <a:t> hđ thuê đc M</a:t>
            </a:r>
            <a:r>
              <a:rPr lang="en-US" sz="1500">
                <a:solidFill>
                  <a:schemeClr val="dk1"/>
                </a:solidFill>
                <a:highlight>
                  <a:schemeClr val="lt1"/>
                </a:highlight>
                <a:latin typeface="Times New Roman"/>
                <a:ea typeface="Times New Roman"/>
                <a:cs typeface="Times New Roman"/>
                <a:sym typeface="Times New Roman"/>
              </a:rPr>
              <a:t>ar/2025 </a:t>
            </a:r>
            <a:r>
              <a:rPr lang="en-US" sz="1500" b="0" i="0" u="none" strike="noStrike" cap="none">
                <a:solidFill>
                  <a:schemeClr val="dk1"/>
                </a:solidFill>
                <a:highlight>
                  <a:schemeClr val="lt1"/>
                </a:highlight>
                <a:latin typeface="Times New Roman"/>
                <a:ea typeface="Times New Roman"/>
                <a:cs typeface="Times New Roman"/>
                <a:sym typeface="Times New Roman"/>
              </a:rPr>
              <a:t>với Aercap.</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trong kho: </a:t>
            </a:r>
            <a:r>
              <a:rPr lang="en-US" sz="1500">
                <a:solidFill>
                  <a:schemeClr val="dk1"/>
                </a:solidFill>
                <a:highlight>
                  <a:schemeClr val="lt1"/>
                </a:highlight>
                <a:latin typeface="Times New Roman"/>
                <a:ea typeface="Times New Roman"/>
                <a:cs typeface="Times New Roman"/>
                <a:sym typeface="Times New Roman"/>
              </a:rPr>
              <a:t>01ea in stock (ENG 956569)</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Số lượng động cơ đang tại shop sửa chữa:</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a:solidFill>
                  <a:schemeClr val="dk1"/>
                </a:solidFill>
                <a:highlight>
                  <a:schemeClr val="lt1"/>
                </a:highlight>
                <a:latin typeface="Times New Roman"/>
                <a:ea typeface="Times New Roman"/>
                <a:cs typeface="Times New Roman"/>
                <a:sym typeface="Times New Roman"/>
              </a:rPr>
              <a:t>0</a:t>
            </a:r>
            <a:r>
              <a:rPr lang="en-US" sz="1500">
                <a:solidFill>
                  <a:schemeClr val="dk1"/>
                </a:solidFill>
                <a:highlight>
                  <a:schemeClr val="lt1"/>
                </a:highlight>
                <a:latin typeface="Times New Roman"/>
                <a:ea typeface="Times New Roman"/>
                <a:cs typeface="Times New Roman"/>
                <a:sym typeface="Times New Roman"/>
              </a:rPr>
              <a:t>6 </a:t>
            </a:r>
            <a:r>
              <a:rPr lang="en-US" sz="1500" b="0" i="0" u="none" strike="noStrike" cap="none">
                <a:solidFill>
                  <a:schemeClr val="dk1"/>
                </a:solidFill>
                <a:highlight>
                  <a:schemeClr val="lt1"/>
                </a:highlight>
                <a:latin typeface="Times New Roman"/>
                <a:ea typeface="Times New Roman"/>
                <a:cs typeface="Times New Roman"/>
                <a:sym typeface="Times New Roman"/>
              </a:rPr>
              <a:t>động cơ ở KLM shop:</a:t>
            </a:r>
            <a:r>
              <a:rPr lang="en-US" sz="1500">
                <a:solidFill>
                  <a:schemeClr val="dk1"/>
                </a:solidFill>
                <a:highlight>
                  <a:schemeClr val="lt1"/>
                </a:highlight>
                <a:latin typeface="Times New Roman"/>
                <a:ea typeface="Times New Roman"/>
                <a:cs typeface="Times New Roman"/>
                <a:sym typeface="Times New Roman"/>
              </a:rPr>
              <a:t> </a:t>
            </a:r>
            <a:r>
              <a:rPr lang="en-US" sz="1500" b="0" i="0" u="none" strike="noStrike" cap="none">
                <a:solidFill>
                  <a:schemeClr val="dk1"/>
                </a:solidFill>
                <a:highlight>
                  <a:schemeClr val="lt1"/>
                </a:highlight>
                <a:latin typeface="Times New Roman"/>
                <a:ea typeface="Times New Roman"/>
                <a:cs typeface="Times New Roman"/>
                <a:sym typeface="Times New Roman"/>
              </a:rPr>
              <a:t>956599 và 956947, 956534</a:t>
            </a:r>
            <a:r>
              <a:rPr lang="en-US" sz="1500">
                <a:solidFill>
                  <a:schemeClr val="dk1"/>
                </a:solidFill>
                <a:highlight>
                  <a:schemeClr val="lt1"/>
                </a:highlight>
                <a:latin typeface="Times New Roman"/>
                <a:ea typeface="Times New Roman"/>
                <a:cs typeface="Times New Roman"/>
                <a:sym typeface="Times New Roman"/>
              </a:rPr>
              <a:t>, 956913, 956638, 956577 </a:t>
            </a:r>
            <a:r>
              <a:rPr lang="en-US" sz="1500" b="0" i="0" u="none" strike="noStrike" cap="none">
                <a:solidFill>
                  <a:schemeClr val="dk1"/>
                </a:solidFill>
                <a:highlight>
                  <a:schemeClr val="lt1"/>
                </a:highlight>
                <a:latin typeface="Times New Roman"/>
                <a:ea typeface="Times New Roman"/>
                <a:cs typeface="Times New Roman"/>
                <a:sym typeface="Times New Roman"/>
              </a:rPr>
              <a:t>trong </a:t>
            </a:r>
            <a:r>
              <a:rPr lang="en-US" sz="1500">
                <a:solidFill>
                  <a:schemeClr val="dk1"/>
                </a:solidFill>
                <a:highlight>
                  <a:schemeClr val="lt1"/>
                </a:highlight>
                <a:latin typeface="Times New Roman"/>
                <a:ea typeface="Times New Roman"/>
                <a:cs typeface="Times New Roman"/>
                <a:sym typeface="Times New Roman"/>
              </a:rPr>
              <a:t>đó động cơ 956599 dự kiến giao SGN 27/06.</a:t>
            </a:r>
            <a:endParaRPr sz="150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highlight>
                  <a:schemeClr val="lt1"/>
                </a:highlight>
                <a:latin typeface="Times New Roman"/>
                <a:ea typeface="Times New Roman"/>
                <a:cs typeface="Times New Roman"/>
                <a:sym typeface="Times New Roman"/>
              </a:rPr>
              <a:t>02 động cơ ở tại GE shop trong đó 01 động cơ 959395 đang sửa tại GE shop dự kiến xong cuối tháng 8/2025.</a:t>
            </a: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a:solidFill>
                  <a:schemeClr val="dk1"/>
                </a:solidFill>
                <a:highlight>
                  <a:schemeClr val="lt1"/>
                </a:highlight>
                <a:latin typeface="Times New Roman"/>
                <a:ea typeface="Times New Roman"/>
                <a:cs typeface="Times New Roman"/>
                <a:sym typeface="Times New Roman"/>
              </a:rPr>
              <a:t>• </a:t>
            </a:r>
            <a:r>
              <a:rPr lang="en-US" sz="1500">
                <a:highlight>
                  <a:schemeClr val="lt1"/>
                </a:highlight>
                <a:latin typeface="Times New Roman"/>
                <a:ea typeface="Times New Roman"/>
                <a:cs typeface="Times New Roman"/>
                <a:sym typeface="Times New Roman"/>
              </a:rPr>
              <a:t>Thuê </a:t>
            </a:r>
            <a:r>
              <a:rPr lang="en-US" sz="1500" b="0" i="0" u="none" strike="noStrike" cap="none">
                <a:solidFill>
                  <a:srgbClr val="000000"/>
                </a:solidFill>
                <a:highlight>
                  <a:schemeClr val="lt1"/>
                </a:highlight>
                <a:latin typeface="Times New Roman"/>
                <a:ea typeface="Times New Roman"/>
                <a:cs typeface="Times New Roman"/>
                <a:sym typeface="Times New Roman"/>
              </a:rPr>
              <a:t>động cơ đáp ứng KH sửa 2024-2025: B787 có 04 dự phòng và đang thuê 0</a:t>
            </a:r>
            <a:r>
              <a:rPr lang="en-US" sz="1500">
                <a:highlight>
                  <a:schemeClr val="lt1"/>
                </a:highlight>
                <a:latin typeface="Times New Roman"/>
                <a:ea typeface="Times New Roman"/>
                <a:cs typeface="Times New Roman"/>
                <a:sym typeface="Times New Roman"/>
              </a:rPr>
              <a:t>6</a:t>
            </a:r>
            <a:r>
              <a:rPr lang="en-US" sz="1500" b="0" i="0" u="none" strike="noStrike" cap="none">
                <a:solidFill>
                  <a:srgbClr val="000000"/>
                </a:solidFill>
                <a:highlight>
                  <a:schemeClr val="lt1"/>
                </a:highlight>
                <a:latin typeface="Times New Roman"/>
                <a:ea typeface="Times New Roman"/>
                <a:cs typeface="Times New Roman"/>
                <a:sym typeface="Times New Roman"/>
              </a:rPr>
              <a:t> của Aercap (956933; 958266 và 958934 958966 và 956626, 956980)</a:t>
            </a:r>
            <a:r>
              <a:rPr lang="en-US" sz="1500">
                <a:highlight>
                  <a:schemeClr val="lt1"/>
                </a:highlight>
                <a:latin typeface="Times New Roman"/>
                <a:ea typeface="Times New Roman"/>
                <a:cs typeface="Times New Roman"/>
                <a:sym typeface="Times New Roman"/>
              </a:rPr>
              <a:t> trong đó 956980 mới thuê do 01 đc trên A868 phải tháo đầu tháng 4/2025</a:t>
            </a:r>
            <a:r>
              <a:rPr lang="en-US" sz="1500" b="0" i="0" u="none" strike="noStrike" cap="none">
                <a:solidFill>
                  <a:srgbClr val="000000"/>
                </a:solidFill>
                <a:highlight>
                  <a:schemeClr val="lt1"/>
                </a:highlight>
                <a:latin typeface="Times New Roman"/>
                <a:ea typeface="Times New Roman"/>
                <a:cs typeface="Times New Roman"/>
                <a:sym typeface="Times New Roman"/>
              </a:rPr>
              <a:t>  </a:t>
            </a:r>
            <a:endParaRPr sz="15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a:t>
            </a:r>
            <a:r>
              <a:rPr lang="en-US" sz="1600">
                <a:solidFill>
                  <a:schemeClr val="dk1"/>
                </a:solidFill>
                <a:latin typeface="Times New Roman"/>
                <a:ea typeface="Times New Roman"/>
                <a:cs typeface="Times New Roman"/>
                <a:sym typeface="Times New Roman"/>
              </a:rPr>
              <a:t> NIL</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a:t>
            </a:r>
            <a:r>
              <a:rPr lang="en-US" sz="1600">
                <a:solidFill>
                  <a:schemeClr val="dk1"/>
                </a:solidFill>
                <a:latin typeface="Times New Roman"/>
                <a:ea typeface="Times New Roman"/>
                <a:cs typeface="Times New Roman"/>
                <a:sym typeface="Times New Roman"/>
              </a:rPr>
              <a:t>09ea</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Tàu đang thay động cơ: A390 - lắp V15858, tháo V16570</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cho K6 thuê: 01ea (V12505) - dự kiến trả cuối tháng 8/2025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thuê tháo trả : V10533 (đã tháo 29/6, đã hoàn thiện tại VAECO, đang chuyển trả Willis)</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286" name="Google Shape;286;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6</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4 t</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1</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Đang làm việc với shop, không có indution slot vào tháng 7</a:t>
            </a:r>
            <a:endParaRPr sz="1500" b="0" i="0" u="none" strike="noStrike" cap="none">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Đã kí HĐ thuê thêm 2 động cơ </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AerCap đã có engine GTF PW1127G-JM sẽ ready vào tháng 9</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ELFC có 02 engine GTF PW1127G-JM sẽ ready vào tháng 9 -10</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ALC có 02 engine GTF PW11333GA-JM sẽ ready vào tháng 10</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PTVT thiếu hụt, đặc biệt là khác khối AP51</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293" name="Google Shape;293;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a:t>
            </a:r>
            <a:r>
              <a:rPr lang="en-US" sz="1500">
                <a:solidFill>
                  <a:schemeClr val="dk1"/>
                </a:solidFill>
                <a:latin typeface="Times New Roman"/>
                <a:ea typeface="Times New Roman"/>
                <a:cs typeface="Times New Roman"/>
                <a:sym typeface="Times New Roman"/>
              </a:rPr>
              <a:t> -</a:t>
            </a:r>
            <a:r>
              <a:rPr lang="en-US" sz="1500" b="0" i="0" u="none" strike="noStrike" cap="none">
                <a:solidFill>
                  <a:schemeClr val="dk1"/>
                </a:solidFill>
                <a:latin typeface="Times New Roman"/>
                <a:ea typeface="Times New Roman"/>
                <a:cs typeface="Times New Roman"/>
                <a:sym typeface="Times New Roman"/>
              </a:rPr>
              <a:t> 06</a:t>
            </a:r>
            <a:r>
              <a:rPr lang="en-US" sz="1500">
                <a:solidFill>
                  <a:schemeClr val="dk1"/>
                </a:solidFill>
                <a:latin typeface="Times New Roman"/>
                <a:ea typeface="Times New Roman"/>
                <a:cs typeface="Times New Roman"/>
                <a:sym typeface="Times New Roman"/>
              </a:rPr>
              <a:t> gồm </a:t>
            </a:r>
            <a:r>
              <a:rPr lang="en-US" sz="1500" b="0" i="0" u="none" strike="noStrike" cap="none">
                <a:solidFill>
                  <a:schemeClr val="dk1"/>
                </a:solidFill>
                <a:latin typeface="Times New Roman"/>
                <a:ea typeface="Times New Roman"/>
                <a:cs typeface="Times New Roman"/>
                <a:sym typeface="Times New Roman"/>
              </a:rPr>
              <a:t>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ED0217, 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ED0237 chuẩn bị gửi đi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 </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StandardAero: 250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TAT PWC: 240 ngày</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294" name="Google Shape;294;g31ccdae391d_0_389"/>
          <p:cNvPicPr preferRelativeResize="0"/>
          <p:nvPr/>
        </p:nvPicPr>
        <p:blipFill>
          <a:blip r:embed="rId3">
            <a:alphaModFix/>
          </a:blip>
          <a:stretch>
            <a:fillRect/>
          </a:stretch>
        </p:blipFill>
        <p:spPr>
          <a:xfrm>
            <a:off x="0" y="3268816"/>
            <a:ext cx="12192000" cy="2540617"/>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1" name="Google Shape;301;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02" name="Google Shape;302;g31ccdae391d_0_396"/>
          <p:cNvSpPr/>
          <p:nvPr/>
        </p:nvSpPr>
        <p:spPr>
          <a:xfrm>
            <a:off x="609900" y="3074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A350: </a:t>
            </a:r>
            <a:r>
              <a:rPr lang="en-US" sz="1600">
                <a:solidFill>
                  <a:schemeClr val="dk1"/>
                </a:solidFill>
                <a:latin typeface="Times New Roman"/>
                <a:ea typeface="Times New Roman"/>
                <a:cs typeface="Times New Roman"/>
                <a:sym typeface="Times New Roman"/>
              </a:rPr>
              <a:t>NIL stock</a:t>
            </a:r>
            <a:r>
              <a:rPr lang="en-US" sz="160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ENG 21043 pickup 29Jul tại N3 dự kiến giao Vaeco 07/Aug.</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ENG 21137 pickup 07Aug tại N3 dự kiến giao Vaeco 15/Aug.</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ENG 21414 pickup 30July dự kiến giao 10/Aug</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endParaRPr sz="160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B787: </a:t>
            </a:r>
            <a:r>
              <a:rPr lang="en-US" sz="1600">
                <a:solidFill>
                  <a:schemeClr val="dk1"/>
                </a:solidFill>
                <a:latin typeface="Times New Roman"/>
                <a:ea typeface="Times New Roman"/>
                <a:cs typeface="Times New Roman"/>
                <a:sym typeface="Times New Roman"/>
              </a:rPr>
              <a:t>01ea in stock (ENG 956569).</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ENG 965599 dự kiến giao VAECO SGN 26/Jul.</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ENG 958395 dự kiến giao 30/Aug về SGN ngày 15/Sep</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endParaRPr sz="160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A321 CEO </a:t>
            </a:r>
            <a:r>
              <a:rPr lang="en-US" sz="1600" b="0" i="0" u="none" strike="noStrike" cap="none">
                <a:solidFill>
                  <a:schemeClr val="dk1"/>
                </a:solidFill>
                <a:latin typeface="Times New Roman"/>
                <a:ea typeface="Times New Roman"/>
                <a:cs typeface="Times New Roman"/>
                <a:sym typeface="Times New Roman"/>
              </a:rPr>
              <a:t>: </a:t>
            </a: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Động cơ về trong tháng </a:t>
            </a:r>
            <a:r>
              <a:rPr lang="en-US" sz="1600">
                <a:solidFill>
                  <a:schemeClr val="dk1"/>
                </a:solidFill>
                <a:latin typeface="Times New Roman"/>
                <a:ea typeface="Times New Roman"/>
                <a:cs typeface="Times New Roman"/>
                <a:sym typeface="Times New Roman"/>
              </a:rPr>
              <a:t>8: V16517 (27/8), V16694 (21/8).</a:t>
            </a: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A321 NEO</a:t>
            </a:r>
            <a:r>
              <a:rPr lang="en-US"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Động cơ P771423 dự kiến về HAN 28/07.</a:t>
            </a:r>
            <a:endParaRPr sz="160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P771079 dự kiến về HAN 25/08.</a:t>
            </a:r>
            <a:endParaRPr sz="160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Động cơ P771373 dự kiến về HAN 23/09.</a:t>
            </a:r>
            <a:endParaRPr sz="160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endParaRPr sz="160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a:solidFill>
                  <a:schemeClr val="dk1"/>
                </a:solidFill>
                <a:latin typeface="Times New Roman"/>
                <a:ea typeface="Times New Roman"/>
                <a:cs typeface="Times New Roman"/>
                <a:sym typeface="Times New Roman"/>
              </a:rPr>
              <a:t>ATR:</a:t>
            </a:r>
            <a:r>
              <a:rPr lang="en-US" sz="1600" b="0" i="0" u="none" strike="noStrike" cap="none">
                <a:solidFill>
                  <a:schemeClr val="dk1"/>
                </a:solidFill>
                <a:latin typeface="Times New Roman"/>
                <a:ea typeface="Times New Roman"/>
                <a:cs typeface="Times New Roman"/>
                <a:sym typeface="Times New Roman"/>
              </a:rPr>
              <a:t> </a:t>
            </a:r>
            <a:r>
              <a:rPr lang="en-US" sz="1600">
                <a:solidFill>
                  <a:schemeClr val="dk1"/>
                </a:solidFill>
                <a:latin typeface="Times New Roman"/>
                <a:ea typeface="Times New Roman"/>
                <a:cs typeface="Times New Roman"/>
                <a:sym typeface="Times New Roman"/>
              </a:rPr>
              <a:t>NIL stock</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a:solidFill>
                  <a:schemeClr val="dk1"/>
                </a:solidFill>
                <a:latin typeface="Times New Roman"/>
                <a:ea typeface="Times New Roman"/>
                <a:cs typeface="Times New Roman"/>
                <a:sym typeface="Times New Roman"/>
              </a:rPr>
              <a:t>+ ED0238 sửa chữa tại PWC: dk release cuối tháng 8/2025.</a:t>
            </a:r>
            <a:endParaRPr sz="160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a:solidFill>
                  <a:schemeClr val="dk1"/>
                </a:solidFill>
                <a:latin typeface="Times New Roman"/>
                <a:ea typeface="Times New Roman"/>
                <a:cs typeface="Times New Roman"/>
                <a:sym typeface="Times New Roman"/>
              </a:rPr>
              <a:t>+ ED0214 sửa chữa tại StandardAero: dk release 16/09/2025.</a:t>
            </a:r>
            <a:endParaRPr sz="160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09" name="Google Shape;309;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310" name="Google Shape;310;g31ccdae391d_0_403"/>
          <p:cNvSpPr txBox="1"/>
          <p:nvPr/>
        </p:nvSpPr>
        <p:spPr>
          <a:xfrm>
            <a:off x="7807000" y="495300"/>
            <a:ext cx="3783300" cy="4206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a:t>
            </a:r>
            <a:r>
              <a:rPr lang="en-US">
                <a:solidFill>
                  <a:schemeClr val="dk1"/>
                </a:solidFill>
                <a:latin typeface="Times New Roman"/>
                <a:ea typeface="Times New Roman"/>
                <a:cs typeface="Times New Roman"/>
                <a:sym typeface="Times New Roman"/>
              </a:rPr>
              <a:t>00 in stock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a:solidFill>
                  <a:schemeClr val="dk1"/>
                </a:solidFill>
                <a:latin typeface="Times New Roman"/>
                <a:ea typeface="Times New Roman"/>
                <a:cs typeface="Times New Roman"/>
                <a:sym typeface="Times New Roman"/>
              </a:rPr>
              <a:t>dự kiến có tiếp 02ea về trong tháng 7. (P-5207 Đang ship về, P-5706 dk ship 25/07/2025)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endParaRPr sz="1500" b="1">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01 (P-00304)</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đang sửa chữa: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P-00391: EDD 25/08/2025.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P-00113: về HAN 19/07/2025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01ea stock SGN.</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đang sửa tại shop</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11" name="Google Shape;311;g31ccdae391d_0_403"/>
          <p:cNvPicPr preferRelativeResize="0"/>
          <p:nvPr/>
        </p:nvPicPr>
        <p:blipFill>
          <a:blip r:embed="rId3">
            <a:alphaModFix/>
          </a:blip>
          <a:stretch>
            <a:fillRect/>
          </a:stretch>
        </p:blipFill>
        <p:spPr>
          <a:xfrm>
            <a:off x="372775" y="571500"/>
            <a:ext cx="7084299" cy="606645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http://purl.org/dc/terms/"/>
    <ds:schemaRef ds:uri="http://schemas.openxmlformats.org/package/2006/metadata/core-properties"/>
    <ds:schemaRef ds:uri="e189f61e-1295-4779-a752-040c7fad5177"/>
    <ds:schemaRef ds:uri="http://purl.org/dc/dcmitype/"/>
    <ds:schemaRef ds:uri="b6015720-aa74-4be3-ba0d-eab08776cb9b"/>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77919</TotalTime>
  <Words>17923</Words>
  <Application>Microsoft Office PowerPoint</Application>
  <PresentationFormat>Widescreen</PresentationFormat>
  <Paragraphs>2576</Paragraphs>
  <Slides>69</Slides>
  <Notes>62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Exo</vt:lpstr>
      <vt:lpstr>Aharoni</vt:lpstr>
      <vt:lpstr>Aptos</vt:lpstr>
      <vt:lpstr>Arial</vt:lpstr>
      <vt:lpstr>Calibri</vt:lpstr>
      <vt:lpstr>Cambria</vt:lpstr>
      <vt:lpstr>Montserrat</vt:lpstr>
      <vt:lpstr>Montserrat SemiBold</vt:lpstr>
      <vt:lpstr>Times New Roman</vt:lpstr>
      <vt:lpstr>Wingdings</vt:lpstr>
      <vt:lpstr>16-9 MASTER TEMPLATE</vt:lpstr>
      <vt:lpstr>BÁO CÁO KỸ THUẬT (Tuần 29: 14/07/2025 – 20/07/2025)</vt:lpstr>
      <vt:lpstr>TỔNG HỢP AOG, DELAY VÀ GTB/ATB/DIV</vt:lpstr>
      <vt:lpstr>ATB/GTB COMPARISON</vt:lpstr>
      <vt:lpstr>CÁC SỰ KIỆN ATB/GTB/DIV</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PowerPoint Presentation</vt:lpstr>
      <vt:lpstr>PowerPoint Presentation</vt:lpstr>
      <vt:lpstr>TÌNH TRẠNG KỸ THUẬT ĐỘI BAY – A320/A321</vt:lpstr>
      <vt:lpstr>TÌNH TRẠNG KỸ THUẬT ĐỘI BAY – A350</vt:lpstr>
      <vt:lpstr>TÌNH TRẠNG KỸ THUẬT ĐỘI BAY – A350</vt:lpstr>
      <vt:lpstr>PowerPoint Presentation</vt:lpstr>
      <vt:lpstr>PowerPoint Presentation</vt:lpstr>
      <vt:lpstr>PowerPoint Presentation</vt:lpstr>
      <vt:lpstr>PowerPoint Presentation</vt:lpstr>
      <vt:lpstr>TÌNH TRẠNG KỸ THUẬT ĐỘI BAY – B787</vt:lpstr>
      <vt:lpstr>TIẾN ĐỘ SỬA CHỮA VN-A863</vt:lpstr>
      <vt:lpstr>PowerPoint Presentation</vt:lpstr>
      <vt:lpstr>PowerPoint Presentation</vt:lpstr>
      <vt:lpstr>TÌNH TRẠNG KỸ THUẬT ĐỘI BAY – ATR72</vt:lpstr>
      <vt:lpstr>PowerPoint Presentation</vt:lpstr>
      <vt:lpstr>TÌNH TRẠNG KỸ THUẬT ĐỘI BAY – ATR72</vt:lpstr>
      <vt:lpstr>DISPATCH RELIABILITY W29 (14/07/2025-20/07/2025)</vt:lpstr>
      <vt:lpstr>CÁC CÔNG VIỆC TRỌNG ĐIỂM TRONG TUẦN</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BẢO DƯỠNG</vt:lpstr>
      <vt:lpstr>PowerPoint Presentation</vt:lpstr>
      <vt:lpstr>PowerPoint Presentation</vt:lpstr>
      <vt:lpstr>PowerPoint Presentation</vt:lpstr>
      <vt:lpstr>A321 IFC – Skyfive A2G Solution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A321 CÁC VẬT TƯ VƯỚNG MẮC (Chi tiết)</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PowerPoint Presentation</vt:lpstr>
      <vt:lpstr>PowerPoint Presentation</vt:lpstr>
      <vt:lpstr>Kế hoạch động cơ </vt:lpstr>
      <vt:lpstr>APU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Nguyen Dinh Thanh</cp:lastModifiedBy>
  <cp:revision>12110</cp:revision>
  <cp:lastPrinted>2019-03-27T09:25:07Z</cp:lastPrinted>
  <dcterms:created xsi:type="dcterms:W3CDTF">2018-12-27T04:50:36Z</dcterms:created>
  <dcterms:modified xsi:type="dcterms:W3CDTF">2025-07-20T13:02:44Z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