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4.xml" ContentType="application/vnd.openxmlformats-officedocument.presentationml.tags+xml"/>
  <Override PartName="/ppt/notesSlides/notesSlide31.xml" ContentType="application/vnd.openxmlformats-officedocument.presentationml.notesSlide+xml"/>
  <Override PartName="/ppt/charts/chart7.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13.xml" ContentType="application/vnd.openxmlformats-officedocument.drawingml.chart+xml"/>
  <Override PartName="/ppt/notesSlides/notesSlide45.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7.xml" ContentType="application/vnd.openxmlformats-officedocument.themeOverride+xml"/>
  <Override PartName="/ppt/notesSlides/notesSlide46.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8.xml" ContentType="application/vnd.openxmlformats-officedocument.themeOverride+xml"/>
  <Override PartName="/ppt/notesSlides/notesSlide47.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9.xml" ContentType="application/vnd.openxmlformats-officedocument.themeOverr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80"/>
  </p:notesMasterIdLst>
  <p:sldIdLst>
    <p:sldId id="11486" r:id="rId5"/>
    <p:sldId id="12569" r:id="rId6"/>
    <p:sldId id="11488" r:id="rId7"/>
    <p:sldId id="12599" r:id="rId8"/>
    <p:sldId id="12601" r:id="rId9"/>
    <p:sldId id="12600" r:id="rId10"/>
    <p:sldId id="11493" r:id="rId11"/>
    <p:sldId id="12613" r:id="rId12"/>
    <p:sldId id="12602" r:id="rId13"/>
    <p:sldId id="12603" r:id="rId14"/>
    <p:sldId id="12574" r:id="rId15"/>
    <p:sldId id="12604" r:id="rId16"/>
    <p:sldId id="12573" r:id="rId17"/>
    <p:sldId id="12605" r:id="rId18"/>
    <p:sldId id="12595" r:id="rId19"/>
    <p:sldId id="12582" r:id="rId20"/>
    <p:sldId id="12556" r:id="rId21"/>
    <p:sldId id="12608" r:id="rId22"/>
    <p:sldId id="12606" r:id="rId23"/>
    <p:sldId id="12576" r:id="rId24"/>
    <p:sldId id="12578" r:id="rId25"/>
    <p:sldId id="12577" r:id="rId26"/>
    <p:sldId id="12580" r:id="rId27"/>
    <p:sldId id="12559" r:id="rId28"/>
    <p:sldId id="12609" r:id="rId29"/>
    <p:sldId id="12610" r:id="rId30"/>
    <p:sldId id="12607" r:id="rId31"/>
    <p:sldId id="12581" r:id="rId32"/>
    <p:sldId id="12597" r:id="rId33"/>
    <p:sldId id="12612" r:id="rId34"/>
    <p:sldId id="12598" r:id="rId35"/>
    <p:sldId id="12584" r:id="rId36"/>
    <p:sldId id="12538" r:id="rId37"/>
    <p:sldId id="12539" r:id="rId38"/>
    <p:sldId id="12541" r:id="rId39"/>
    <p:sldId id="12542" r:id="rId40"/>
    <p:sldId id="12585" r:id="rId41"/>
    <p:sldId id="12586" r:id="rId42"/>
    <p:sldId id="12587" r:id="rId43"/>
    <p:sldId id="12588" r:id="rId44"/>
    <p:sldId id="12589" r:id="rId45"/>
    <p:sldId id="12590" r:id="rId46"/>
    <p:sldId id="12591" r:id="rId47"/>
    <p:sldId id="12592" r:id="rId48"/>
    <p:sldId id="12593" r:id="rId49"/>
    <p:sldId id="12187" r:id="rId50"/>
    <p:sldId id="12188" r:id="rId51"/>
    <p:sldId id="11904" r:id="rId52"/>
    <p:sldId id="11905" r:id="rId53"/>
    <p:sldId id="11902" r:id="rId54"/>
    <p:sldId id="11545" r:id="rId55"/>
    <p:sldId id="12571" r:id="rId56"/>
    <p:sldId id="12572" r:id="rId57"/>
    <p:sldId id="11489" r:id="rId58"/>
    <p:sldId id="256" r:id="rId59"/>
    <p:sldId id="257" r:id="rId60"/>
    <p:sldId id="258" r:id="rId61"/>
    <p:sldId id="259" r:id="rId62"/>
    <p:sldId id="260" r:id="rId63"/>
    <p:sldId id="261" r:id="rId64"/>
    <p:sldId id="262" r:id="rId65"/>
    <p:sldId id="263" r:id="rId66"/>
    <p:sldId id="264" r:id="rId67"/>
    <p:sldId id="265" r:id="rId68"/>
    <p:sldId id="266" r:id="rId69"/>
    <p:sldId id="267" r:id="rId70"/>
    <p:sldId id="268" r:id="rId71"/>
    <p:sldId id="269" r:id="rId72"/>
    <p:sldId id="270" r:id="rId73"/>
    <p:sldId id="271" r:id="rId74"/>
    <p:sldId id="272" r:id="rId75"/>
    <p:sldId id="273" r:id="rId76"/>
    <p:sldId id="274" r:id="rId77"/>
    <p:sldId id="275" r:id="rId78"/>
    <p:sldId id="11888" r:id="rId7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2" autoAdjust="0"/>
    <p:restoredTop sz="94374" autoAdjust="0"/>
  </p:normalViewPr>
  <p:slideViewPr>
    <p:cSldViewPr>
      <p:cViewPr varScale="1">
        <p:scale>
          <a:sx n="73" d="100"/>
          <a:sy n="73" d="100"/>
        </p:scale>
        <p:origin x="585" y="39"/>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4\W24%20(09-15.06.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4\W24%20(09-15.06.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thanh_ggdrive\work\B&#193;O%20C&#193;O\B&#225;o%20c&#225;o%20tu&#7847;n\2025\Week%2024\W24%20(09-15.06.2025).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thanh_ggdrive\work\B&#193;O%20C&#193;O\B&#225;o%20c&#225;o%20tu&#7847;n\2025\Week%2024\W24%20(09-15.06.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4\W24%20(09-15.06.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4\W24%20(09-15.06.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24\DR-W24.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1" Type="http://schemas.openxmlformats.org/officeDocument/2006/relationships/oleObject" Target="file:///C:\Users\hoangdg\Desktop\BC%20MOC\W23\W23%20(02-08.06.2025).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10</c:v>
                </c:pt>
                <c:pt idx="2">
                  <c:v>0</c:v>
                </c:pt>
                <c:pt idx="3">
                  <c:v>1</c:v>
                </c:pt>
                <c:pt idx="4">
                  <c:v>0</c:v>
                </c:pt>
                <c:pt idx="5">
                  <c:v>11</c:v>
                </c:pt>
              </c:numCache>
            </c:numRef>
          </c:val>
          <c:extLst xmlns:c15="http://schemas.microsoft.com/office/drawing/2012/chart">
            <c:ext xmlns:c16="http://schemas.microsoft.com/office/drawing/2014/chart" uri="{C3380CC4-5D6E-409C-BE32-E72D297353CC}">
              <c16:uniqueId val="{00000000-5552-43C5-BE73-7209DCD46559}"/>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6</c:v>
                </c:pt>
                <c:pt idx="2">
                  <c:v>0</c:v>
                </c:pt>
                <c:pt idx="3">
                  <c:v>4</c:v>
                </c:pt>
                <c:pt idx="4">
                  <c:v>2</c:v>
                </c:pt>
                <c:pt idx="5">
                  <c:v>12</c:v>
                </c:pt>
              </c:numCache>
            </c:numRef>
          </c:val>
          <c:extLst>
            <c:ext xmlns:c16="http://schemas.microsoft.com/office/drawing/2014/chart" uri="{C3380CC4-5D6E-409C-BE32-E72D297353CC}">
              <c16:uniqueId val="{00000001-5552-43C5-BE73-7209DCD46559}"/>
            </c:ext>
          </c:extLst>
        </c:ser>
        <c:dLbls>
          <c:dLblPos val="outEnd"/>
          <c:showLegendKey val="0"/>
          <c:showVal val="1"/>
          <c:showCatName val="0"/>
          <c:showSerName val="0"/>
          <c:showPercent val="0"/>
          <c:showBubbleSize val="0"/>
        </c:dLbls>
        <c:gapWidth val="219"/>
        <c:overlap val="-27"/>
        <c:axId val="338769072"/>
        <c:axId val="338766720"/>
        <c:extLst/>
      </c:barChart>
      <c:catAx>
        <c:axId val="33876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38766720"/>
        <c:crosses val="autoZero"/>
        <c:auto val="1"/>
        <c:lblAlgn val="ctr"/>
        <c:lblOffset val="100"/>
        <c:noMultiLvlLbl val="0"/>
      </c:catAx>
      <c:valAx>
        <c:axId val="338766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3876907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3</c:v>
                </c:pt>
                <c:pt idx="2">
                  <c:v>0</c:v>
                </c:pt>
                <c:pt idx="3">
                  <c:v>0</c:v>
                </c:pt>
                <c:pt idx="4">
                  <c:v>0</c:v>
                </c:pt>
                <c:pt idx="5">
                  <c:v>3</c:v>
                </c:pt>
              </c:numCache>
            </c:numRef>
          </c:val>
          <c:extLst xmlns:c15="http://schemas.microsoft.com/office/drawing/2012/chart">
            <c:ext xmlns:c16="http://schemas.microsoft.com/office/drawing/2014/chart" uri="{C3380CC4-5D6E-409C-BE32-E72D297353CC}">
              <c16:uniqueId val="{00000000-D78F-4513-97C9-4224766F6D75}"/>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2</c:v>
                </c:pt>
                <c:pt idx="2">
                  <c:v>0</c:v>
                </c:pt>
                <c:pt idx="3">
                  <c:v>2</c:v>
                </c:pt>
                <c:pt idx="4">
                  <c:v>1</c:v>
                </c:pt>
                <c:pt idx="5">
                  <c:v>5</c:v>
                </c:pt>
              </c:numCache>
            </c:numRef>
          </c:val>
          <c:extLst>
            <c:ext xmlns:c16="http://schemas.microsoft.com/office/drawing/2014/chart" uri="{C3380CC4-5D6E-409C-BE32-E72D297353CC}">
              <c16:uniqueId val="{00000001-D78F-4513-97C9-4224766F6D75}"/>
            </c:ext>
          </c:extLst>
        </c:ser>
        <c:dLbls>
          <c:showLegendKey val="0"/>
          <c:showVal val="0"/>
          <c:showCatName val="0"/>
          <c:showSerName val="0"/>
          <c:showPercent val="0"/>
          <c:showBubbleSize val="0"/>
        </c:dLbls>
        <c:gapWidth val="219"/>
        <c:overlap val="-27"/>
        <c:axId val="338762408"/>
        <c:axId val="338765152"/>
        <c:extLst/>
      </c:barChart>
      <c:catAx>
        <c:axId val="338762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8765152"/>
        <c:crosses val="autoZero"/>
        <c:auto val="1"/>
        <c:lblAlgn val="ctr"/>
        <c:lblOffset val="100"/>
        <c:noMultiLvlLbl val="0"/>
      </c:catAx>
      <c:valAx>
        <c:axId val="338765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876240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3</c:v>
                </c:pt>
                <c:pt idx="2">
                  <c:v>2</c:v>
                </c:pt>
                <c:pt idx="3">
                  <c:v>0</c:v>
                </c:pt>
                <c:pt idx="4">
                  <c:v>1</c:v>
                </c:pt>
                <c:pt idx="5">
                  <c:v>6</c:v>
                </c:pt>
              </c:numCache>
            </c:numRef>
          </c:val>
          <c:extLst xmlns:c15="http://schemas.microsoft.com/office/drawing/2012/chart">
            <c:ext xmlns:c16="http://schemas.microsoft.com/office/drawing/2014/chart" uri="{C3380CC4-5D6E-409C-BE32-E72D297353CC}">
              <c16:uniqueId val="{00000000-1335-439C-B6CD-C184BF6E1876}"/>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1</c:v>
                </c:pt>
                <c:pt idx="2">
                  <c:v>3</c:v>
                </c:pt>
                <c:pt idx="3">
                  <c:v>1</c:v>
                </c:pt>
                <c:pt idx="4">
                  <c:v>1</c:v>
                </c:pt>
                <c:pt idx="5">
                  <c:v>6</c:v>
                </c:pt>
              </c:numCache>
            </c:numRef>
          </c:val>
          <c:extLst>
            <c:ext xmlns:c16="http://schemas.microsoft.com/office/drawing/2014/chart" uri="{C3380CC4-5D6E-409C-BE32-E72D297353CC}">
              <c16:uniqueId val="{00000001-1335-439C-B6CD-C184BF6E1876}"/>
            </c:ext>
          </c:extLst>
        </c:ser>
        <c:dLbls>
          <c:dLblPos val="outEnd"/>
          <c:showLegendKey val="0"/>
          <c:showVal val="1"/>
          <c:showCatName val="0"/>
          <c:showSerName val="0"/>
          <c:showPercent val="0"/>
          <c:showBubbleSize val="0"/>
        </c:dLbls>
        <c:gapWidth val="219"/>
        <c:overlap val="-27"/>
        <c:axId val="339892808"/>
        <c:axId val="339894376"/>
        <c:extLst/>
      </c:barChart>
      <c:catAx>
        <c:axId val="339892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94376"/>
        <c:crosses val="autoZero"/>
        <c:auto val="1"/>
        <c:lblAlgn val="ctr"/>
        <c:lblOffset val="100"/>
        <c:noMultiLvlLbl val="0"/>
      </c:catAx>
      <c:valAx>
        <c:axId val="339894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92808"/>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B2C8-423D-B7D6-E4790984E106}"/>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B2C8-423D-B7D6-E4790984E106}"/>
            </c:ext>
          </c:extLst>
        </c:ser>
        <c:dLbls>
          <c:showLegendKey val="0"/>
          <c:showVal val="0"/>
          <c:showCatName val="0"/>
          <c:showSerName val="0"/>
          <c:showPercent val="0"/>
          <c:showBubbleSize val="0"/>
        </c:dLbls>
        <c:gapWidth val="219"/>
        <c:overlap val="-27"/>
        <c:axId val="339888104"/>
        <c:axId val="339889672"/>
        <c:extLst/>
      </c:barChart>
      <c:catAx>
        <c:axId val="339888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89672"/>
        <c:crosses val="autoZero"/>
        <c:auto val="1"/>
        <c:lblAlgn val="ctr"/>
        <c:lblOffset val="100"/>
        <c:noMultiLvlLbl val="0"/>
      </c:catAx>
      <c:valAx>
        <c:axId val="339889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8810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60CD-4C22-8784-71DE31781C2C}"/>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pt idx="22">
                  <c:v>0</c:v>
                </c:pt>
                <c:pt idx="23">
                  <c:v>0</c:v>
                </c:pt>
              </c:numCache>
            </c:numRef>
          </c:val>
          <c:smooth val="0"/>
          <c:extLst>
            <c:ext xmlns:c16="http://schemas.microsoft.com/office/drawing/2014/chart" uri="{C3380CC4-5D6E-409C-BE32-E72D297353CC}">
              <c16:uniqueId val="{00000001-60CD-4C22-8784-71DE31781C2C}"/>
            </c:ext>
          </c:extLst>
        </c:ser>
        <c:dLbls>
          <c:showLegendKey val="0"/>
          <c:showVal val="0"/>
          <c:showCatName val="0"/>
          <c:showSerName val="0"/>
          <c:showPercent val="0"/>
          <c:showBubbleSize val="0"/>
        </c:dLbls>
        <c:marker val="1"/>
        <c:smooth val="0"/>
        <c:axId val="333287248"/>
        <c:axId val="333290384"/>
      </c:lineChart>
      <c:catAx>
        <c:axId val="3332872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90384"/>
        <c:crosses val="autoZero"/>
        <c:auto val="1"/>
        <c:lblAlgn val="ctr"/>
        <c:lblOffset val="100"/>
        <c:noMultiLvlLbl val="0"/>
      </c:catAx>
      <c:valAx>
        <c:axId val="3332903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7248"/>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3F59-436D-BD64-128AD50835C5}"/>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pt idx="22">
                  <c:v>3</c:v>
                </c:pt>
                <c:pt idx="23">
                  <c:v>5</c:v>
                </c:pt>
              </c:numCache>
            </c:numRef>
          </c:val>
          <c:smooth val="0"/>
          <c:extLst>
            <c:ext xmlns:c16="http://schemas.microsoft.com/office/drawing/2014/chart" uri="{C3380CC4-5D6E-409C-BE32-E72D297353CC}">
              <c16:uniqueId val="{00000001-3F59-436D-BD64-128AD50835C5}"/>
            </c:ext>
          </c:extLst>
        </c:ser>
        <c:dLbls>
          <c:showLegendKey val="0"/>
          <c:showVal val="0"/>
          <c:showCatName val="0"/>
          <c:showSerName val="0"/>
          <c:showPercent val="0"/>
          <c:showBubbleSize val="0"/>
        </c:dLbls>
        <c:marker val="1"/>
        <c:smooth val="0"/>
        <c:axId val="333289992"/>
        <c:axId val="333286464"/>
      </c:lineChart>
      <c:catAx>
        <c:axId val="33328999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6464"/>
        <c:crosses val="autoZero"/>
        <c:auto val="1"/>
        <c:lblAlgn val="ctr"/>
        <c:lblOffset val="100"/>
        <c:noMultiLvlLbl val="0"/>
      </c:catAx>
      <c:valAx>
        <c:axId val="3332864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99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W23</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DD4E-49D2-A3B9-C2EF315AB3C3}"/>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99.559647718174546</c:v>
                </c:pt>
                <c:pt idx="1">
                  <c:v>99.489795918367349</c:v>
                </c:pt>
                <c:pt idx="2">
                  <c:v>99.738219895287955</c:v>
                </c:pt>
                <c:pt idx="3">
                  <c:v>99.551569506726452</c:v>
                </c:pt>
              </c:numCache>
            </c:numRef>
          </c:val>
          <c:extLst>
            <c:ext xmlns:c16="http://schemas.microsoft.com/office/drawing/2014/chart" uri="{C3380CC4-5D6E-409C-BE32-E72D297353CC}">
              <c16:uniqueId val="{00000001-DD4E-49D2-A3B9-C2EF315AB3C3}"/>
            </c:ext>
          </c:extLst>
        </c:ser>
        <c:ser>
          <c:idx val="1"/>
          <c:order val="1"/>
          <c:tx>
            <c:strRef>
              <c:f>DR!$D$3</c:f>
              <c:strCache>
                <c:ptCount val="1"/>
                <c:pt idx="0">
                  <c:v>W24</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99.802058590657168</c:v>
                </c:pt>
                <c:pt idx="1">
                  <c:v>99.526066350710906</c:v>
                </c:pt>
                <c:pt idx="2">
                  <c:v>99.017199017199019</c:v>
                </c:pt>
                <c:pt idx="3">
                  <c:v>99.545454545454547</c:v>
                </c:pt>
              </c:numCache>
            </c:numRef>
          </c:val>
          <c:extLst>
            <c:ext xmlns:c16="http://schemas.microsoft.com/office/drawing/2014/chart" uri="{C3380CC4-5D6E-409C-BE32-E72D297353CC}">
              <c16:uniqueId val="{00000002-DD4E-49D2-A3B9-C2EF315AB3C3}"/>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D4E-49D2-A3B9-C2EF315AB3C3}"/>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DD4E-49D2-A3B9-C2EF315AB3C3}"/>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DD4E-49D2-A3B9-C2EF315AB3C3}"/>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Sheet1!$D$8:$BC$8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Sheet1!$D$9:$BC$9</c:f>
              <c:numCache>
                <c:formatCode>General</c:formatCode>
                <c:ptCount val="12"/>
                <c:pt idx="0">
                  <c:v>25</c:v>
                </c:pt>
                <c:pt idx="1">
                  <c:v>24</c:v>
                </c:pt>
                <c:pt idx="2">
                  <c:v>24</c:v>
                </c:pt>
                <c:pt idx="3">
                  <c:v>24</c:v>
                </c:pt>
                <c:pt idx="4">
                  <c:v>24</c:v>
                </c:pt>
                <c:pt idx="5">
                  <c:v>20</c:v>
                </c:pt>
                <c:pt idx="6">
                  <c:v>20</c:v>
                </c:pt>
                <c:pt idx="7">
                  <c:v>20</c:v>
                </c:pt>
                <c:pt idx="8">
                  <c:v>19</c:v>
                </c:pt>
                <c:pt idx="9">
                  <c:v>20</c:v>
                </c:pt>
                <c:pt idx="10">
                  <c:v>21</c:v>
                </c:pt>
                <c:pt idx="11">
                  <c:v>21</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Sheet1!$D$10:$BC$10</c:f>
              <c:numCache>
                <c:formatCode>General</c:formatCode>
                <c:ptCount val="12"/>
                <c:pt idx="0">
                  <c:v>4</c:v>
                </c:pt>
                <c:pt idx="1">
                  <c:v>4</c:v>
                </c:pt>
                <c:pt idx="2">
                  <c:v>3</c:v>
                </c:pt>
                <c:pt idx="3">
                  <c:v>2</c:v>
                </c:pt>
                <c:pt idx="4">
                  <c:v>2</c:v>
                </c:pt>
                <c:pt idx="5">
                  <c:v>2</c:v>
                </c:pt>
                <c:pt idx="6">
                  <c:v>2</c:v>
                </c:pt>
                <c:pt idx="7">
                  <c:v>1</c:v>
                </c:pt>
                <c:pt idx="8">
                  <c:v>0</c:v>
                </c:pt>
                <c:pt idx="9">
                  <c:v>1</c:v>
                </c:pt>
                <c:pt idx="10">
                  <c:v>1</c:v>
                </c:pt>
                <c:pt idx="11">
                  <c:v>1</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Sheet1!$D$11:$BC$11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Sheet1!$D$12:$BC$12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630326240"/>
        <c:axId val="630315360"/>
      </c:lineChart>
      <c:catAx>
        <c:axId val="6303262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30315360"/>
        <c:crosses val="autoZero"/>
        <c:auto val="1"/>
        <c:lblAlgn val="ctr"/>
        <c:lblOffset val="100"/>
        <c:tickMarkSkip val="1"/>
        <c:noMultiLvlLbl val="0"/>
      </c:catAx>
      <c:valAx>
        <c:axId val="630315360"/>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30326240"/>
        <c:crosses val="autoZero"/>
        <c:crossBetween val="between"/>
      </c:valAx>
      <c:spPr>
        <a:noFill/>
        <a:ln>
          <a:noFill/>
        </a:ln>
        <a:effectLst/>
      </c:spPr>
    </c:plotArea>
    <c:legend>
      <c:legendPos val="b"/>
      <c:layout>
        <c:manualLayout>
          <c:xMode val="edge"/>
          <c:yMode val="edge"/>
          <c:x val="0.64598125529584383"/>
          <c:y val="0.4976428427215828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General</c:formatCode>
                <c:ptCount val="12"/>
                <c:pt idx="0">
                  <c:v>14.25</c:v>
                </c:pt>
                <c:pt idx="1">
                  <c:v>13.75</c:v>
                </c:pt>
                <c:pt idx="2">
                  <c:v>15.25</c:v>
                </c:pt>
                <c:pt idx="3">
                  <c:v>15</c:v>
                </c:pt>
                <c:pt idx="4">
                  <c:v>14.5</c:v>
                </c:pt>
                <c:pt idx="5">
                  <c:v>12.25</c:v>
                </c:pt>
                <c:pt idx="6">
                  <c:v>11.5</c:v>
                </c:pt>
                <c:pt idx="7">
                  <c:v>11.5</c:v>
                </c:pt>
                <c:pt idx="8">
                  <c:v>11.75</c:v>
                </c:pt>
                <c:pt idx="9">
                  <c:v>11</c:v>
                </c:pt>
                <c:pt idx="10">
                  <c:v>12</c:v>
                </c:pt>
                <c:pt idx="11">
                  <c:v>12</c:v>
                </c:pt>
              </c:numCache>
            </c:numRef>
          </c:val>
          <c:smooth val="0"/>
          <c:extLst>
            <c:ext xmlns:c16="http://schemas.microsoft.com/office/drawing/2014/chart" uri="{C3380CC4-5D6E-409C-BE32-E72D297353CC}">
              <c16:uniqueId val="{00000001-6D6A-460E-8E11-3C956E9EF4D8}"/>
            </c:ext>
          </c:extLst>
        </c:ser>
        <c:ser>
          <c:idx val="0"/>
          <c:order val="1"/>
          <c:tx>
            <c:strRef>
              <c:f>Sheet1!$D$1</c:f>
              <c:strCache>
                <c:ptCount val="1"/>
                <c:pt idx="0">
                  <c:v>Add 02 Lease đầu T7</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Pt>
            <c:idx val="5"/>
            <c:marker>
              <c:symbol val="circle"/>
              <c:size val="25"/>
              <c:spPr>
                <a:noFill/>
                <a:ln w="9525">
                  <a:noFill/>
                </a:ln>
                <a:effectLst/>
              </c:spPr>
            </c:marker>
            <c:bubble3D val="0"/>
            <c:spPr>
              <a:ln w="28575" cap="rnd">
                <a:noFill/>
                <a:round/>
              </a:ln>
              <a:effectLst/>
            </c:spPr>
            <c:extLst>
              <c:ext xmlns:c16="http://schemas.microsoft.com/office/drawing/2014/chart" uri="{C3380CC4-5D6E-409C-BE32-E72D297353CC}">
                <c16:uniqueId val="{00000002-BADC-4A39-B3FA-08B2A3E82B11}"/>
              </c:ext>
            </c:extLst>
          </c:dPt>
          <c:dLbls>
            <c:dLbl>
              <c:idx val="5"/>
              <c:delete val="1"/>
              <c:extLst>
                <c:ext xmlns:c15="http://schemas.microsoft.com/office/drawing/2012/chart" uri="{CE6537A1-D6FC-4f65-9D91-7224C49458BB}"/>
                <c:ext xmlns:c16="http://schemas.microsoft.com/office/drawing/2014/chart" uri="{C3380CC4-5D6E-409C-BE32-E72D297353CC}">
                  <c16:uniqueId val="{00000002-BADC-4A39-B3FA-08B2A3E82B1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Sheet1!$D$22:$D$33</c:f>
              <c:numCache>
                <c:formatCode>General</c:formatCode>
                <c:ptCount val="12"/>
                <c:pt idx="5">
                  <c:v>12.25</c:v>
                </c:pt>
                <c:pt idx="6">
                  <c:v>10.5</c:v>
                </c:pt>
                <c:pt idx="7">
                  <c:v>10.5</c:v>
                </c:pt>
                <c:pt idx="8">
                  <c:v>10.75</c:v>
                </c:pt>
                <c:pt idx="9">
                  <c:v>10</c:v>
                </c:pt>
                <c:pt idx="10">
                  <c:v>11</c:v>
                </c:pt>
                <c:pt idx="11">
                  <c:v>11</c:v>
                </c:pt>
              </c:numCache>
            </c:numRef>
          </c:val>
          <c:smooth val="0"/>
          <c:extLst>
            <c:ext xmlns:c16="http://schemas.microsoft.com/office/drawing/2014/chart" uri="{C3380CC4-5D6E-409C-BE32-E72D297353CC}">
              <c16:uniqueId val="{00000001-BADC-4A39-B3FA-08B2A3E82B11}"/>
            </c:ext>
          </c:extLst>
        </c:ser>
        <c:dLbls>
          <c:dLblPos val="ctr"/>
          <c:showLegendKey val="0"/>
          <c:showVal val="1"/>
          <c:showCatName val="0"/>
          <c:showSerName val="0"/>
          <c:showPercent val="0"/>
          <c:showBubbleSize val="0"/>
        </c:dLbls>
        <c:marker val="1"/>
        <c:smooth val="0"/>
        <c:axId val="630318080"/>
        <c:axId val="630326784"/>
      </c:lineChart>
      <c:catAx>
        <c:axId val="630318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6784"/>
        <c:crosses val="autoZero"/>
        <c:auto val="1"/>
        <c:lblAlgn val="ctr"/>
        <c:lblOffset val="100"/>
        <c:noMultiLvlLbl val="0"/>
      </c:catAx>
      <c:valAx>
        <c:axId val="630326784"/>
        <c:scaling>
          <c:orientation val="minMax"/>
          <c:max val="16"/>
          <c:min val="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30318080"/>
        <c:crosses val="autoZero"/>
        <c:crossBetween val="between"/>
        <c:majorUnit val="1"/>
      </c:valAx>
      <c:spPr>
        <a:noFill/>
        <a:ln>
          <a:noFill/>
        </a:ln>
        <a:effectLst/>
      </c:spPr>
    </c:plotArea>
    <c:legend>
      <c:legendPos val="r"/>
      <c:layout>
        <c:manualLayout>
          <c:xMode val="edge"/>
          <c:yMode val="edge"/>
          <c:x val="0.6014428597681637"/>
          <c:y val="0.17217252125015778"/>
          <c:w val="0.29325237236090818"/>
          <c:h val="0.137457945796320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solidFill>
        <a:srgbClr val="00B050"/>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Sheet1!$A$14:$A$29</c:f>
              <c:strCache>
                <c:ptCount val="16"/>
                <c:pt idx="0">
                  <c:v>Jun-W1</c:v>
                </c:pt>
                <c:pt idx="1">
                  <c:v>Jun-W2</c:v>
                </c:pt>
                <c:pt idx="2">
                  <c:v>Jun-W3</c:v>
                </c:pt>
                <c:pt idx="3">
                  <c:v>Jun-W4</c:v>
                </c:pt>
                <c:pt idx="4">
                  <c:v>Jul-W1</c:v>
                </c:pt>
                <c:pt idx="5">
                  <c:v>Jul-W2</c:v>
                </c:pt>
                <c:pt idx="6">
                  <c:v>Jul-W3</c:v>
                </c:pt>
                <c:pt idx="7">
                  <c:v>Jul-W4</c:v>
                </c:pt>
                <c:pt idx="8">
                  <c:v>Aug-W1</c:v>
                </c:pt>
                <c:pt idx="9">
                  <c:v>Aug-W2</c:v>
                </c:pt>
                <c:pt idx="10">
                  <c:v>Aug-W3</c:v>
                </c:pt>
                <c:pt idx="11">
                  <c:v>Aug-W4</c:v>
                </c:pt>
                <c:pt idx="12">
                  <c:v>Sep-W1</c:v>
                </c:pt>
                <c:pt idx="13">
                  <c:v>Sep-W2</c:v>
                </c:pt>
                <c:pt idx="14">
                  <c:v>Sep-W3</c:v>
                </c:pt>
                <c:pt idx="15">
                  <c:v>Sep-W4</c:v>
                </c:pt>
              </c:strCache>
            </c:strRef>
          </c:cat>
          <c:val>
            <c:numRef>
              <c:f>Sheet1!$B$14:$B$29</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630327328"/>
        <c:axId val="630318624"/>
      </c:lineChart>
      <c:catAx>
        <c:axId val="630327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630318624"/>
        <c:crosses val="autoZero"/>
        <c:auto val="1"/>
        <c:lblAlgn val="ctr"/>
        <c:lblOffset val="100"/>
        <c:noMultiLvlLbl val="0"/>
      </c:catAx>
      <c:valAx>
        <c:axId val="630318624"/>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73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c:v>
                </c:pt>
                <c:pt idx="7">
                  <c:v>1</c:v>
                </c:pt>
                <c:pt idx="8">
                  <c:v>1.5</c:v>
                </c:pt>
                <c:pt idx="9">
                  <c:v>2</c:v>
                </c:pt>
                <c:pt idx="10">
                  <c:v>2</c:v>
                </c:pt>
                <c:pt idx="11">
                  <c:v>1</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767025936"/>
        <c:axId val="767022672"/>
      </c:lineChart>
      <c:catAx>
        <c:axId val="767025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767022672"/>
        <c:crosses val="autoZero"/>
        <c:auto val="1"/>
        <c:lblAlgn val="ctr"/>
        <c:lblOffset val="100"/>
        <c:noMultiLvlLbl val="0"/>
      </c:catAx>
      <c:valAx>
        <c:axId val="767022672"/>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767025936"/>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630322432"/>
        <c:axId val="630322976"/>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630322432"/>
        <c:axId val="630322976"/>
      </c:lineChart>
      <c:catAx>
        <c:axId val="630322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2976"/>
        <c:crosses val="autoZero"/>
        <c:auto val="1"/>
        <c:lblAlgn val="ctr"/>
        <c:lblOffset val="100"/>
        <c:noMultiLvlLbl val="0"/>
      </c:catAx>
      <c:valAx>
        <c:axId val="630322976"/>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30322432"/>
        <c:crosses val="autoZero"/>
        <c:crossBetween val="between"/>
      </c:valAx>
      <c:spPr>
        <a:noFill/>
        <a:ln>
          <a:noFill/>
        </a:ln>
        <a:effectLst/>
      </c:spPr>
    </c:plotArea>
    <c:legend>
      <c:legendPos val="r"/>
      <c:legendEntry>
        <c:idx val="0"/>
        <c:delete val="1"/>
      </c:legendEntry>
      <c:layout>
        <c:manualLayout>
          <c:xMode val="edge"/>
          <c:yMode val="edge"/>
          <c:x val="0.64913379864755461"/>
          <c:y val="0.43544805434948713"/>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manualLayout>
          <c:xMode val="edge"/>
          <c:yMode val="edge"/>
          <c:x val="0.2126350455901776"/>
          <c:y val="3.2012408379184877E-2"/>
        </c:manualLayout>
      </c:layout>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2</c:v>
                </c:pt>
                <c:pt idx="2">
                  <c:v>0</c:v>
                </c:pt>
                <c:pt idx="3">
                  <c:v>0</c:v>
                </c:pt>
                <c:pt idx="4">
                  <c:v>0</c:v>
                </c:pt>
                <c:pt idx="5" formatCode="0">
                  <c:v>2</c:v>
                </c:pt>
              </c:numCache>
            </c:numRef>
          </c:val>
          <c:extLst>
            <c:ext xmlns:c16="http://schemas.microsoft.com/office/drawing/2014/chart" uri="{C3380CC4-5D6E-409C-BE32-E72D297353CC}">
              <c16:uniqueId val="{00000000-63B8-47B7-ADB8-BCE8FD6B6E79}"/>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1</c:v>
                </c:pt>
                <c:pt idx="2">
                  <c:v>0</c:v>
                </c:pt>
                <c:pt idx="3">
                  <c:v>1</c:v>
                </c:pt>
                <c:pt idx="4">
                  <c:v>0</c:v>
                </c:pt>
                <c:pt idx="5" formatCode="0">
                  <c:v>2</c:v>
                </c:pt>
              </c:numCache>
            </c:numRef>
          </c:val>
          <c:extLst>
            <c:ext xmlns:c16="http://schemas.microsoft.com/office/drawing/2014/chart" uri="{C3380CC4-5D6E-409C-BE32-E72D297353CC}">
              <c16:uniqueId val="{00000001-63B8-47B7-ADB8-BCE8FD6B6E79}"/>
            </c:ext>
          </c:extLst>
        </c:ser>
        <c:dLbls>
          <c:showLegendKey val="0"/>
          <c:showVal val="0"/>
          <c:showCatName val="0"/>
          <c:showSerName val="0"/>
          <c:showPercent val="0"/>
          <c:showBubbleSize val="0"/>
        </c:dLbls>
        <c:gapWidth val="150"/>
        <c:axId val="338767112"/>
        <c:axId val="338763976"/>
      </c:barChart>
      <c:catAx>
        <c:axId val="338767112"/>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38763976"/>
        <c:crosses val="autoZero"/>
        <c:auto val="1"/>
        <c:lblAlgn val="ctr"/>
        <c:lblOffset val="100"/>
        <c:noMultiLvlLbl val="0"/>
      </c:catAx>
      <c:valAx>
        <c:axId val="338763976"/>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38767112"/>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6.395348837209304E-2</c:v>
                </c:pt>
                <c:pt idx="1">
                  <c:v>7.6962045911726451E-2</c:v>
                </c:pt>
                <c:pt idx="2">
                  <c:v>8.5927041499330795E-2</c:v>
                </c:pt>
                <c:pt idx="3">
                  <c:v>0.15117122719734657</c:v>
                </c:pt>
                <c:pt idx="4">
                  <c:v>0.26000957854406165</c:v>
                </c:pt>
                <c:pt idx="5">
                  <c:v>0.24485895779500452</c:v>
                </c:pt>
                <c:pt idx="6">
                  <c:v>0.12970430107526881</c:v>
                </c:pt>
                <c:pt idx="7">
                  <c:v>0.1291363084395874</c:v>
                </c:pt>
                <c:pt idx="8">
                  <c:v>4.3671085858585895E-2</c:v>
                </c:pt>
              </c:numCache>
            </c:numRef>
          </c:val>
          <c:extLst>
            <c:ext xmlns:c16="http://schemas.microsoft.com/office/drawing/2014/chart" uri="{C3380CC4-5D6E-409C-BE32-E72D297353CC}">
              <c16:uniqueId val="{00000000-FB99-4326-8AB4-25DD4209CEDD}"/>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6.3398692810457527E-2</c:v>
                </c:pt>
                <c:pt idx="1">
                  <c:v>7.7093019790176492E-2</c:v>
                </c:pt>
                <c:pt idx="2">
                  <c:v>8.5194137507673545E-2</c:v>
                </c:pt>
                <c:pt idx="3">
                  <c:v>0.15243055555555562</c:v>
                </c:pt>
                <c:pt idx="4">
                  <c:v>0.27054398148148168</c:v>
                </c:pt>
                <c:pt idx="5">
                  <c:v>0.23508575689783767</c:v>
                </c:pt>
                <c:pt idx="6">
                  <c:v>0.12979667812142037</c:v>
                </c:pt>
                <c:pt idx="7">
                  <c:v>0.12720189701897044</c:v>
                </c:pt>
                <c:pt idx="8">
                  <c:v>4.5975942460317505E-2</c:v>
                </c:pt>
              </c:numCache>
            </c:numRef>
          </c:val>
          <c:extLst>
            <c:ext xmlns:c16="http://schemas.microsoft.com/office/drawing/2014/chart" uri="{C3380CC4-5D6E-409C-BE32-E72D297353CC}">
              <c16:uniqueId val="{00000001-FB99-4326-8AB4-25DD4209CEDD}"/>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6.395348837209304E-2</c:v>
                </c:pt>
                <c:pt idx="1">
                  <c:v>7.6962045911726451E-2</c:v>
                </c:pt>
                <c:pt idx="2">
                  <c:v>8.5927041499330795E-2</c:v>
                </c:pt>
                <c:pt idx="3">
                  <c:v>0.15117122719734657</c:v>
                </c:pt>
                <c:pt idx="4">
                  <c:v>0.26000957854406165</c:v>
                </c:pt>
                <c:pt idx="5">
                  <c:v>0.24485895779500452</c:v>
                </c:pt>
                <c:pt idx="6">
                  <c:v>0.12970430107526881</c:v>
                </c:pt>
                <c:pt idx="7">
                  <c:v>0.1291363084395874</c:v>
                </c:pt>
                <c:pt idx="8">
                  <c:v>4.3671085858585895E-2</c:v>
                </c:pt>
              </c:numCache>
            </c:numRef>
          </c:val>
          <c:extLst>
            <c:ext xmlns:c16="http://schemas.microsoft.com/office/drawing/2014/chart" uri="{C3380CC4-5D6E-409C-BE32-E72D297353CC}">
              <c16:uniqueId val="{00000000-4410-4978-B8EF-4C4409B6C418}"/>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6.3398692810457527E-2</c:v>
                </c:pt>
                <c:pt idx="1">
                  <c:v>7.7093019790176492E-2</c:v>
                </c:pt>
                <c:pt idx="2">
                  <c:v>8.5194137507673545E-2</c:v>
                </c:pt>
                <c:pt idx="3">
                  <c:v>0.15243055555555562</c:v>
                </c:pt>
                <c:pt idx="4">
                  <c:v>0.27054398148148168</c:v>
                </c:pt>
                <c:pt idx="5">
                  <c:v>0.23508575689783767</c:v>
                </c:pt>
                <c:pt idx="6">
                  <c:v>0.12979667812142037</c:v>
                </c:pt>
                <c:pt idx="7">
                  <c:v>0.12720189701897044</c:v>
                </c:pt>
                <c:pt idx="8">
                  <c:v>4.5975942460317505E-2</c:v>
                </c:pt>
              </c:numCache>
            </c:numRef>
          </c:val>
          <c:extLst>
            <c:ext xmlns:c16="http://schemas.microsoft.com/office/drawing/2014/chart" uri="{C3380CC4-5D6E-409C-BE32-E72D297353CC}">
              <c16:uniqueId val="{00000001-4410-4978-B8EF-4C4409B6C418}"/>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1DC9-4B15-ABDB-C34160D2BDED}"/>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1DC9-4B15-ABDB-C34160D2BDED}"/>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1DC9-4B15-ABDB-C34160D2BDED}"/>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1DC9-4B15-ABDB-C34160D2BDED}"/>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1DC9-4B15-ABDB-C34160D2BDED}"/>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1DC9-4B15-ABDB-C34160D2BDED}"/>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1DC9-4B15-ABDB-C34160D2BDED}"/>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1DC9-4B15-ABDB-C34160D2BDED}"/>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Week!$B$35:$BP$35</c:f>
              <c:numCache>
                <c:formatCode>d\-mmm</c:formatCode>
                <c:ptCount val="67"/>
                <c:pt idx="0">
                  <c:v>45817</c:v>
                </c:pt>
                <c:pt idx="1">
                  <c:v>45818</c:v>
                </c:pt>
                <c:pt idx="2">
                  <c:v>45819</c:v>
                </c:pt>
                <c:pt idx="3">
                  <c:v>45820</c:v>
                </c:pt>
                <c:pt idx="4">
                  <c:v>45821</c:v>
                </c:pt>
                <c:pt idx="5">
                  <c:v>45822</c:v>
                </c:pt>
                <c:pt idx="6">
                  <c:v>45823</c:v>
                </c:pt>
                <c:pt idx="7">
                  <c:v>45824</c:v>
                </c:pt>
                <c:pt idx="8">
                  <c:v>45825</c:v>
                </c:pt>
                <c:pt idx="9">
                  <c:v>45826</c:v>
                </c:pt>
                <c:pt idx="10">
                  <c:v>45827</c:v>
                </c:pt>
                <c:pt idx="11">
                  <c:v>45828</c:v>
                </c:pt>
                <c:pt idx="12">
                  <c:v>45829</c:v>
                </c:pt>
                <c:pt idx="13">
                  <c:v>45830</c:v>
                </c:pt>
                <c:pt idx="14">
                  <c:v>45831</c:v>
                </c:pt>
                <c:pt idx="15">
                  <c:v>45832</c:v>
                </c:pt>
                <c:pt idx="16">
                  <c:v>45833</c:v>
                </c:pt>
                <c:pt idx="17">
                  <c:v>45834</c:v>
                </c:pt>
                <c:pt idx="18">
                  <c:v>45835</c:v>
                </c:pt>
                <c:pt idx="19">
                  <c:v>45836</c:v>
                </c:pt>
                <c:pt idx="20">
                  <c:v>45837</c:v>
                </c:pt>
                <c:pt idx="21">
                  <c:v>45838</c:v>
                </c:pt>
                <c:pt idx="22">
                  <c:v>45839</c:v>
                </c:pt>
                <c:pt idx="23">
                  <c:v>45840</c:v>
                </c:pt>
                <c:pt idx="24">
                  <c:v>45841</c:v>
                </c:pt>
                <c:pt idx="25">
                  <c:v>45842</c:v>
                </c:pt>
                <c:pt idx="26">
                  <c:v>45843</c:v>
                </c:pt>
                <c:pt idx="27">
                  <c:v>45844</c:v>
                </c:pt>
                <c:pt idx="28">
                  <c:v>45845</c:v>
                </c:pt>
                <c:pt idx="29">
                  <c:v>45846</c:v>
                </c:pt>
                <c:pt idx="30">
                  <c:v>45847</c:v>
                </c:pt>
                <c:pt idx="31">
                  <c:v>45848</c:v>
                </c:pt>
                <c:pt idx="32">
                  <c:v>45849</c:v>
                </c:pt>
                <c:pt idx="33">
                  <c:v>45850</c:v>
                </c:pt>
                <c:pt idx="34">
                  <c:v>45851</c:v>
                </c:pt>
                <c:pt idx="35">
                  <c:v>45852</c:v>
                </c:pt>
                <c:pt idx="36">
                  <c:v>45853</c:v>
                </c:pt>
                <c:pt idx="37">
                  <c:v>45854</c:v>
                </c:pt>
                <c:pt idx="38">
                  <c:v>45855</c:v>
                </c:pt>
                <c:pt idx="39">
                  <c:v>45856</c:v>
                </c:pt>
                <c:pt idx="40">
                  <c:v>45857</c:v>
                </c:pt>
                <c:pt idx="41">
                  <c:v>45858</c:v>
                </c:pt>
                <c:pt idx="42">
                  <c:v>45859</c:v>
                </c:pt>
                <c:pt idx="43">
                  <c:v>45860</c:v>
                </c:pt>
                <c:pt idx="44">
                  <c:v>45861</c:v>
                </c:pt>
                <c:pt idx="45">
                  <c:v>45862</c:v>
                </c:pt>
                <c:pt idx="46">
                  <c:v>45863</c:v>
                </c:pt>
                <c:pt idx="47">
                  <c:v>45864</c:v>
                </c:pt>
                <c:pt idx="48">
                  <c:v>45865</c:v>
                </c:pt>
                <c:pt idx="49">
                  <c:v>45866</c:v>
                </c:pt>
                <c:pt idx="50">
                  <c:v>45867</c:v>
                </c:pt>
                <c:pt idx="51">
                  <c:v>45868</c:v>
                </c:pt>
              </c:numCache>
            </c:numRef>
          </c:cat>
          <c:val>
            <c:numRef>
              <c:f>Week!$B$36:$BP$36</c:f>
              <c:numCache>
                <c:formatCode>General</c:formatCode>
                <c:ptCount val="67"/>
                <c:pt idx="0">
                  <c:v>485</c:v>
                </c:pt>
                <c:pt idx="1">
                  <c:v>470</c:v>
                </c:pt>
                <c:pt idx="2">
                  <c:v>470</c:v>
                </c:pt>
                <c:pt idx="3">
                  <c:v>468</c:v>
                </c:pt>
                <c:pt idx="4">
                  <c:v>497</c:v>
                </c:pt>
                <c:pt idx="5">
                  <c:v>486</c:v>
                </c:pt>
                <c:pt idx="6">
                  <c:v>488</c:v>
                </c:pt>
                <c:pt idx="7">
                  <c:v>478</c:v>
                </c:pt>
                <c:pt idx="8">
                  <c:v>473</c:v>
                </c:pt>
                <c:pt idx="9">
                  <c:v>476</c:v>
                </c:pt>
                <c:pt idx="10">
                  <c:v>485</c:v>
                </c:pt>
                <c:pt idx="11">
                  <c:v>497</c:v>
                </c:pt>
                <c:pt idx="12">
                  <c:v>503</c:v>
                </c:pt>
                <c:pt idx="13">
                  <c:v>510</c:v>
                </c:pt>
                <c:pt idx="14">
                  <c:v>503</c:v>
                </c:pt>
                <c:pt idx="15">
                  <c:v>484</c:v>
                </c:pt>
                <c:pt idx="16">
                  <c:v>503</c:v>
                </c:pt>
                <c:pt idx="17">
                  <c:v>505</c:v>
                </c:pt>
                <c:pt idx="18">
                  <c:v>516</c:v>
                </c:pt>
                <c:pt idx="19">
                  <c:v>517</c:v>
                </c:pt>
                <c:pt idx="20">
                  <c:v>523</c:v>
                </c:pt>
                <c:pt idx="21">
                  <c:v>519</c:v>
                </c:pt>
                <c:pt idx="22">
                  <c:v>524</c:v>
                </c:pt>
                <c:pt idx="23">
                  <c:v>520</c:v>
                </c:pt>
                <c:pt idx="24">
                  <c:v>522</c:v>
                </c:pt>
                <c:pt idx="25">
                  <c:v>550</c:v>
                </c:pt>
                <c:pt idx="26">
                  <c:v>546</c:v>
                </c:pt>
                <c:pt idx="27">
                  <c:v>545</c:v>
                </c:pt>
                <c:pt idx="28">
                  <c:v>533</c:v>
                </c:pt>
                <c:pt idx="29">
                  <c:v>530</c:v>
                </c:pt>
                <c:pt idx="30">
                  <c:v>538</c:v>
                </c:pt>
                <c:pt idx="31">
                  <c:v>543</c:v>
                </c:pt>
                <c:pt idx="32">
                  <c:v>560</c:v>
                </c:pt>
                <c:pt idx="33">
                  <c:v>560</c:v>
                </c:pt>
                <c:pt idx="34">
                  <c:v>559</c:v>
                </c:pt>
                <c:pt idx="35">
                  <c:v>550</c:v>
                </c:pt>
                <c:pt idx="36">
                  <c:v>525</c:v>
                </c:pt>
                <c:pt idx="37">
                  <c:v>530</c:v>
                </c:pt>
                <c:pt idx="38">
                  <c:v>532</c:v>
                </c:pt>
                <c:pt idx="39">
                  <c:v>544</c:v>
                </c:pt>
                <c:pt idx="40">
                  <c:v>546</c:v>
                </c:pt>
                <c:pt idx="41">
                  <c:v>552</c:v>
                </c:pt>
                <c:pt idx="42">
                  <c:v>537</c:v>
                </c:pt>
                <c:pt idx="43">
                  <c:v>530</c:v>
                </c:pt>
                <c:pt idx="44">
                  <c:v>539</c:v>
                </c:pt>
                <c:pt idx="45">
                  <c:v>541</c:v>
                </c:pt>
                <c:pt idx="46">
                  <c:v>553</c:v>
                </c:pt>
                <c:pt idx="47">
                  <c:v>550</c:v>
                </c:pt>
                <c:pt idx="48">
                  <c:v>548</c:v>
                </c:pt>
                <c:pt idx="49">
                  <c:v>537</c:v>
                </c:pt>
                <c:pt idx="50">
                  <c:v>535</c:v>
                </c:pt>
                <c:pt idx="51">
                  <c:v>538</c:v>
                </c:pt>
              </c:numCache>
            </c:numRef>
          </c:val>
          <c:extLst>
            <c:ext xmlns:c16="http://schemas.microsoft.com/office/drawing/2014/chart" uri="{C3380CC4-5D6E-409C-BE32-E72D297353CC}">
              <c16:uniqueId val="{00000010-1DC9-4B15-ABDB-C34160D2BDED}"/>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70"/>
          <c:min val="38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6/15/2025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210620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864874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711684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6</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7</a:t>
            </a:fld>
            <a:endParaRPr/>
          </a:p>
        </p:txBody>
      </p:sp>
    </p:spTree>
    <p:extLst>
      <p:ext uri="{BB962C8B-B14F-4D97-AF65-F5344CB8AC3E}">
        <p14:creationId xmlns:p14="http://schemas.microsoft.com/office/powerpoint/2010/main" val="1372208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8272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16579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6581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p:cNvSpPr>
            <a:spLocks noGrp="1"/>
          </p:cNvSpPr>
          <p:nvPr>
            <p:ph type="sldNum" sz="quarter" idx="10"/>
          </p:nvPr>
        </p:nvSpPr>
        <p:spPr/>
        <p:txBody>
          <a:bodyPr/>
          <a:lstStyle/>
          <a:p>
            <a:fld id="{D27FAC9D-6C4D-45A1-835A-6091318B370B}" type="slidenum">
              <a:rPr lang="en-US" smtClean="0"/>
              <a:pPr/>
              <a:t>11</a:t>
            </a:fld>
            <a:endParaRPr lang="en-US" dirty="0"/>
          </a:p>
        </p:txBody>
      </p:sp>
    </p:spTree>
    <p:extLst>
      <p:ext uri="{BB962C8B-B14F-4D97-AF65-F5344CB8AC3E}">
        <p14:creationId xmlns:p14="http://schemas.microsoft.com/office/powerpoint/2010/main" val="3906895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4702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1981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66494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t>Có</a:t>
            </a:r>
            <a:r>
              <a:rPr lang="en-US" sz="1200" b="1" dirty="0"/>
              <a:t> 3 </a:t>
            </a:r>
            <a:r>
              <a:rPr lang="en-US" sz="1200" b="1" dirty="0" err="1"/>
              <a:t>nguyên</a:t>
            </a:r>
            <a:r>
              <a:rPr lang="en-US" sz="1200" b="1" dirty="0"/>
              <a:t> </a:t>
            </a:r>
            <a:r>
              <a:rPr lang="en-US" sz="1200" b="1" dirty="0" err="1"/>
              <a:t>nhân</a:t>
            </a:r>
            <a:r>
              <a:rPr lang="en-US" sz="1200" b="1" dirty="0"/>
              <a:t> </a:t>
            </a:r>
            <a:r>
              <a:rPr lang="en-US" sz="1200" b="1" dirty="0" err="1"/>
              <a:t>chính</a:t>
            </a:r>
            <a:r>
              <a:rPr lang="en-US" sz="1200" dirty="0"/>
              <a:t>:  EM, PRIM/SEC, Aircraft Wiring (60V power supply line or 1553 bus)</a:t>
            </a:r>
          </a:p>
          <a:p>
            <a:r>
              <a:rPr lang="en-US" dirty="0" err="1"/>
              <a:t>Tuy</a:t>
            </a:r>
            <a:r>
              <a:rPr lang="en-US" dirty="0"/>
              <a:t> </a:t>
            </a:r>
            <a:r>
              <a:rPr lang="en-US" dirty="0" err="1"/>
              <a:t>nhiên</a:t>
            </a:r>
            <a:r>
              <a:rPr lang="en-US" dirty="0"/>
              <a:t>, do </a:t>
            </a:r>
            <a:r>
              <a:rPr lang="en-US" dirty="0" err="1"/>
              <a:t>mỗi</a:t>
            </a:r>
            <a:r>
              <a:rPr lang="en-US" dirty="0"/>
              <a:t> </a:t>
            </a:r>
            <a:r>
              <a:rPr lang="en-US" dirty="0" err="1"/>
              <a:t>lần</a:t>
            </a:r>
            <a:r>
              <a:rPr lang="en-US" dirty="0"/>
              <a:t> </a:t>
            </a:r>
            <a:r>
              <a:rPr lang="en-US" dirty="0" err="1"/>
              <a:t>thực</a:t>
            </a:r>
            <a:r>
              <a:rPr lang="en-US" dirty="0"/>
              <a:t> </a:t>
            </a:r>
            <a:r>
              <a:rPr lang="en-US" dirty="0" err="1"/>
              <a:t>hiện</a:t>
            </a:r>
            <a:r>
              <a:rPr lang="en-US" dirty="0"/>
              <a:t> reset </a:t>
            </a:r>
            <a:r>
              <a:rPr lang="en-US" dirty="0" err="1"/>
              <a:t>hệ</a:t>
            </a:r>
            <a:r>
              <a:rPr lang="en-US" dirty="0"/>
              <a:t> </a:t>
            </a:r>
            <a:r>
              <a:rPr lang="en-US" dirty="0" err="1"/>
              <a:t>thống</a:t>
            </a:r>
            <a:r>
              <a:rPr lang="en-US" dirty="0"/>
              <a:t> </a:t>
            </a:r>
            <a:r>
              <a:rPr lang="en-US" dirty="0" err="1"/>
              <a:t>thì</a:t>
            </a:r>
            <a:r>
              <a:rPr lang="en-US" dirty="0"/>
              <a:t> FC  </a:t>
            </a:r>
            <a:r>
              <a:rPr lang="en-US" dirty="0" err="1"/>
              <a:t>và</a:t>
            </a:r>
            <a:r>
              <a:rPr lang="en-US" dirty="0"/>
              <a:t> FM đ</a:t>
            </a:r>
            <a:r>
              <a:rPr lang="vi-VN" dirty="0"/>
              <a:t>ư</a:t>
            </a:r>
            <a:r>
              <a:rPr lang="en-US" dirty="0" err="1"/>
              <a:t>ợc</a:t>
            </a:r>
            <a:r>
              <a:rPr lang="en-US" dirty="0"/>
              <a:t> detect </a:t>
            </a:r>
            <a:r>
              <a:rPr lang="en-US" dirty="0" err="1"/>
              <a:t>bởi</a:t>
            </a:r>
            <a:r>
              <a:rPr lang="en-US" dirty="0"/>
              <a:t> PRIM  </a:t>
            </a:r>
            <a:r>
              <a:rPr lang="en-US" dirty="0" err="1"/>
              <a:t>và</a:t>
            </a:r>
            <a:r>
              <a:rPr lang="en-US" dirty="0"/>
              <a:t> SEC:  </a:t>
            </a:r>
            <a:r>
              <a:rPr lang="en-US" dirty="0" err="1"/>
              <a:t>nhảy</a:t>
            </a:r>
            <a:r>
              <a:rPr lang="en-US" dirty="0"/>
              <a:t> sang PRIM (FC 2796FA4E) </a:t>
            </a:r>
            <a:r>
              <a:rPr lang="en-US" dirty="0" err="1"/>
              <a:t>hoặc</a:t>
            </a:r>
            <a:r>
              <a:rPr lang="en-US" dirty="0"/>
              <a:t> SEC (2796F6KZ) </a:t>
            </a:r>
            <a:r>
              <a:rPr lang="en-US" dirty="0" err="1"/>
              <a:t>nên</a:t>
            </a:r>
            <a:r>
              <a:rPr lang="en-US" dirty="0"/>
              <a:t> </a:t>
            </a:r>
            <a:r>
              <a:rPr lang="en-US" dirty="0" err="1"/>
              <a:t>không</a:t>
            </a:r>
            <a:r>
              <a:rPr lang="en-US" dirty="0"/>
              <a:t> </a:t>
            </a:r>
            <a:r>
              <a:rPr lang="en-US" dirty="0" err="1"/>
              <a:t>nghi</a:t>
            </a:r>
            <a:r>
              <a:rPr lang="en-US" dirty="0"/>
              <a:t> </a:t>
            </a:r>
            <a:r>
              <a:rPr lang="en-US" dirty="0" err="1"/>
              <a:t>ngờ</a:t>
            </a:r>
            <a:r>
              <a:rPr lang="en-US" dirty="0"/>
              <a:t> do </a:t>
            </a:r>
            <a:r>
              <a:rPr lang="en-US" dirty="0" err="1"/>
              <a:t>máy</a:t>
            </a:r>
            <a:r>
              <a:rPr lang="en-US" dirty="0"/>
              <a:t> </a:t>
            </a:r>
            <a:r>
              <a:rPr lang="en-US" dirty="0" err="1"/>
              <a:t>tính</a:t>
            </a:r>
            <a:r>
              <a:rPr lang="en-US" dirty="0"/>
              <a:t> PRIM/SEC </a:t>
            </a:r>
            <a:r>
              <a:rPr lang="en-US" dirty="0" err="1"/>
              <a:t>mà</a:t>
            </a:r>
            <a:r>
              <a:rPr lang="en-US" dirty="0"/>
              <a:t> do wiring, </a:t>
            </a:r>
            <a:r>
              <a:rPr lang="en-US" dirty="0" err="1"/>
              <a:t>đặc</a:t>
            </a:r>
            <a:r>
              <a:rPr lang="en-US" dirty="0"/>
              <a:t> </a:t>
            </a:r>
            <a:r>
              <a:rPr lang="en-US" dirty="0" err="1"/>
              <a:t>biệt</a:t>
            </a:r>
            <a:r>
              <a:rPr lang="en-US" dirty="0"/>
              <a:t> </a:t>
            </a:r>
            <a:r>
              <a:rPr lang="en-US" dirty="0" err="1"/>
              <a:t>là</a:t>
            </a:r>
            <a:r>
              <a:rPr lang="en-US" dirty="0"/>
              <a:t> 2 coupler </a:t>
            </a:r>
            <a:r>
              <a:rPr lang="en-US" dirty="0" err="1"/>
              <a:t>có</a:t>
            </a:r>
            <a:r>
              <a:rPr lang="en-US" dirty="0"/>
              <a:t> </a:t>
            </a:r>
            <a:r>
              <a:rPr lang="en-US" dirty="0" err="1"/>
              <a:t>nối</a:t>
            </a:r>
            <a:r>
              <a:rPr lang="en-US" dirty="0"/>
              <a:t> </a:t>
            </a:r>
            <a:r>
              <a:rPr lang="en-US" dirty="0" err="1"/>
              <a:t>chung</a:t>
            </a:r>
            <a:r>
              <a:rPr lang="en-US" dirty="0"/>
              <a:t> </a:t>
            </a:r>
            <a:r>
              <a:rPr lang="en-US" dirty="0" err="1"/>
              <a:t>giữ</a:t>
            </a:r>
            <a:r>
              <a:rPr lang="en-US" dirty="0"/>
              <a:t> PRIM </a:t>
            </a:r>
            <a:r>
              <a:rPr lang="en-US" dirty="0" err="1"/>
              <a:t>và</a:t>
            </a:r>
            <a:r>
              <a:rPr lang="en-US" dirty="0"/>
              <a:t> SEC </a:t>
            </a:r>
            <a:r>
              <a:rPr lang="en-US" dirty="0" err="1"/>
              <a:t>đến</a:t>
            </a:r>
            <a:r>
              <a:rPr lang="en-US" dirty="0"/>
              <a:t> </a:t>
            </a:r>
            <a:r>
              <a:rPr lang="en-US" dirty="0" err="1"/>
              <a:t>khối</a:t>
            </a:r>
            <a:r>
              <a:rPr lang="en-US" dirty="0"/>
              <a:t> </a:t>
            </a:r>
            <a:r>
              <a:rPr lang="en-US" dirty="0" err="1"/>
              <a:t>điều</a:t>
            </a:r>
            <a:r>
              <a:rPr lang="en-US" dirty="0"/>
              <a:t> </a:t>
            </a:r>
            <a:r>
              <a:rPr lang="en-US" dirty="0" err="1"/>
              <a:t>khiển</a:t>
            </a:r>
            <a:r>
              <a:rPr lang="en-US" dirty="0"/>
              <a:t> EM. </a:t>
            </a:r>
          </a:p>
          <a:p>
            <a:endParaRPr lang="en-US" dirty="0"/>
          </a:p>
          <a:p>
            <a:endParaRPr lang="en-US" dirty="0"/>
          </a:p>
          <a:p>
            <a:r>
              <a:rPr lang="en-US" dirty="0"/>
              <a:t>Theo AMM task </a:t>
            </a:r>
            <a:r>
              <a:rPr lang="en-US" dirty="0" err="1"/>
              <a:t>hiện</a:t>
            </a:r>
            <a:r>
              <a:rPr lang="en-US" dirty="0"/>
              <a:t> </a:t>
            </a:r>
            <a:r>
              <a:rPr lang="en-US" dirty="0" err="1"/>
              <a:t>tại</a:t>
            </a:r>
            <a:r>
              <a:rPr lang="en-US" dirty="0"/>
              <a:t>, </a:t>
            </a:r>
            <a:r>
              <a:rPr lang="en-US" dirty="0" err="1"/>
              <a:t>chỉ</a:t>
            </a:r>
            <a:r>
              <a:rPr lang="en-US" dirty="0"/>
              <a:t> </a:t>
            </a:r>
            <a:r>
              <a:rPr lang="en-US" dirty="0" err="1"/>
              <a:t>cần</a:t>
            </a:r>
            <a:r>
              <a:rPr lang="en-US" dirty="0"/>
              <a:t> </a:t>
            </a:r>
            <a:r>
              <a:rPr lang="en-US" dirty="0" err="1"/>
              <a:t>thực</a:t>
            </a:r>
            <a:r>
              <a:rPr lang="en-US" dirty="0"/>
              <a:t> </a:t>
            </a:r>
            <a:r>
              <a:rPr lang="en-US" dirty="0" err="1"/>
              <a:t>hiện</a:t>
            </a:r>
            <a:r>
              <a:rPr lang="en-US" dirty="0"/>
              <a:t> 1 </a:t>
            </a:r>
            <a:r>
              <a:rPr lang="en-US" dirty="0" err="1"/>
              <a:t>lần</a:t>
            </a:r>
            <a:r>
              <a:rPr lang="en-US" dirty="0"/>
              <a:t> OPTS TEST </a:t>
            </a:r>
            <a:r>
              <a:rPr lang="en-US" dirty="0" err="1"/>
              <a:t>sau</a:t>
            </a:r>
            <a:r>
              <a:rPr lang="en-US" dirty="0"/>
              <a:t> </a:t>
            </a:r>
            <a:r>
              <a:rPr lang="en-US" dirty="0" err="1"/>
              <a:t>khi</a:t>
            </a:r>
            <a:r>
              <a:rPr lang="en-US" dirty="0"/>
              <a:t> </a:t>
            </a:r>
            <a:r>
              <a:rPr lang="en-US" dirty="0" err="1"/>
              <a:t>thay</a:t>
            </a:r>
            <a:r>
              <a:rPr lang="en-US" dirty="0"/>
              <a:t> </a:t>
            </a:r>
            <a:r>
              <a:rPr lang="en-US" dirty="0" err="1"/>
              <a:t>thế</a:t>
            </a:r>
            <a:r>
              <a:rPr lang="en-US" dirty="0"/>
              <a:t> </a:t>
            </a:r>
            <a:r>
              <a:rPr lang="en-US" dirty="0" err="1"/>
              <a:t>thiết</a:t>
            </a:r>
            <a:r>
              <a:rPr lang="en-US" dirty="0"/>
              <a:t> </a:t>
            </a:r>
            <a:r>
              <a:rPr lang="en-US" dirty="0" err="1"/>
              <a:t>bị</a:t>
            </a:r>
            <a:r>
              <a:rPr lang="en-US" dirty="0"/>
              <a:t>  (FCRM, EM, actuator…). </a:t>
            </a:r>
            <a:r>
              <a:rPr lang="en-US" dirty="0" err="1"/>
              <a:t>Việc</a:t>
            </a:r>
            <a:r>
              <a:rPr lang="en-US" dirty="0"/>
              <a:t> </a:t>
            </a:r>
            <a:r>
              <a:rPr lang="en-US" dirty="0" err="1"/>
              <a:t>yêu</a:t>
            </a:r>
            <a:r>
              <a:rPr lang="en-US" dirty="0"/>
              <a:t> </a:t>
            </a:r>
            <a:r>
              <a:rPr lang="en-US" dirty="0" err="1"/>
              <a:t>cầu</a:t>
            </a:r>
            <a:r>
              <a:rPr lang="en-US" dirty="0"/>
              <a:t> </a:t>
            </a:r>
            <a:r>
              <a:rPr lang="en-US" dirty="0" err="1"/>
              <a:t>thực</a:t>
            </a:r>
            <a:r>
              <a:rPr lang="en-US" dirty="0"/>
              <a:t> </a:t>
            </a:r>
            <a:r>
              <a:rPr lang="en-US" dirty="0" err="1"/>
              <a:t>hiện</a:t>
            </a:r>
            <a:r>
              <a:rPr lang="en-US" dirty="0"/>
              <a:t> OPTS TEST </a:t>
            </a:r>
            <a:r>
              <a:rPr lang="en-US" dirty="0" err="1"/>
              <a:t>hệ</a:t>
            </a:r>
            <a:r>
              <a:rPr lang="en-US" dirty="0"/>
              <a:t> </a:t>
            </a:r>
            <a:r>
              <a:rPr lang="en-US" dirty="0" err="1"/>
              <a:t>thống</a:t>
            </a:r>
            <a:r>
              <a:rPr lang="en-US" dirty="0"/>
              <a:t> flight control </a:t>
            </a:r>
            <a:r>
              <a:rPr lang="en-US" dirty="0" err="1"/>
              <a:t>nhiều</a:t>
            </a:r>
            <a:r>
              <a:rPr lang="en-US" dirty="0"/>
              <a:t> </a:t>
            </a:r>
            <a:r>
              <a:rPr lang="en-US" dirty="0" err="1"/>
              <a:t>lần</a:t>
            </a:r>
            <a:r>
              <a:rPr lang="en-US" dirty="0"/>
              <a:t> hi </a:t>
            </a:r>
            <a:r>
              <a:rPr lang="en-US" dirty="0" err="1"/>
              <a:t>vọng</a:t>
            </a:r>
            <a:r>
              <a:rPr lang="en-US" dirty="0"/>
              <a:t> </a:t>
            </a:r>
            <a:r>
              <a:rPr lang="en-US" dirty="0" err="1"/>
              <a:t>sẽ</a:t>
            </a:r>
            <a:r>
              <a:rPr lang="en-US" dirty="0"/>
              <a:t> </a:t>
            </a:r>
            <a:r>
              <a:rPr lang="en-US" dirty="0" err="1"/>
              <a:t>hạn</a:t>
            </a:r>
            <a:r>
              <a:rPr lang="en-US" dirty="0"/>
              <a:t> </a:t>
            </a:r>
            <a:r>
              <a:rPr lang="en-US" dirty="0" err="1"/>
              <a:t>chế</a:t>
            </a:r>
            <a:r>
              <a:rPr lang="en-US" dirty="0"/>
              <a:t> đ</a:t>
            </a:r>
            <a:r>
              <a:rPr lang="vi-VN" dirty="0"/>
              <a:t>ư</a:t>
            </a:r>
            <a:r>
              <a:rPr lang="en-US" dirty="0" err="1"/>
              <a:t>ợc</a:t>
            </a:r>
            <a:r>
              <a:rPr lang="en-US" dirty="0"/>
              <a:t> </a:t>
            </a:r>
            <a:r>
              <a:rPr lang="en-US" dirty="0" err="1"/>
              <a:t>việc</a:t>
            </a:r>
            <a:r>
              <a:rPr lang="en-US" dirty="0"/>
              <a:t> </a:t>
            </a:r>
            <a:r>
              <a:rPr lang="en-US" dirty="0" err="1"/>
              <a:t>hỏng</a:t>
            </a:r>
            <a:r>
              <a:rPr lang="en-US" dirty="0"/>
              <a:t> </a:t>
            </a:r>
            <a:r>
              <a:rPr lang="en-US" dirty="0" err="1"/>
              <a:t>hóc</a:t>
            </a:r>
            <a:r>
              <a:rPr lang="en-US" dirty="0"/>
              <a:t> </a:t>
            </a:r>
            <a:r>
              <a:rPr lang="en-US" dirty="0" err="1"/>
              <a:t>xuất</a:t>
            </a:r>
            <a:r>
              <a:rPr lang="en-US" dirty="0"/>
              <a:t> </a:t>
            </a:r>
            <a:r>
              <a:rPr lang="en-US" dirty="0" err="1"/>
              <a:t>hiện</a:t>
            </a:r>
            <a:r>
              <a:rPr lang="en-US" dirty="0"/>
              <a:t> </a:t>
            </a:r>
            <a:r>
              <a:rPr lang="en-US" dirty="0" err="1"/>
              <a:t>ngay</a:t>
            </a:r>
            <a:r>
              <a:rPr lang="en-US" dirty="0"/>
              <a:t> </a:t>
            </a:r>
            <a:r>
              <a:rPr lang="en-US" dirty="0" err="1"/>
              <a:t>chuyến</a:t>
            </a:r>
            <a:r>
              <a:rPr lang="en-US"/>
              <a:t> bay </a:t>
            </a:r>
            <a:r>
              <a:rPr lang="en-US" dirty="0" err="1"/>
              <a:t>đầu</a:t>
            </a:r>
            <a:r>
              <a:rPr lang="en-US" dirty="0"/>
              <a:t> </a:t>
            </a:r>
            <a:r>
              <a:rPr lang="en-US" dirty="0" err="1"/>
              <a:t>tiên</a:t>
            </a:r>
            <a:r>
              <a:rPr lang="en-US" dirty="0"/>
              <a:t>, </a:t>
            </a:r>
            <a:r>
              <a:rPr lang="en-US" dirty="0" err="1"/>
              <a:t>từ</a:t>
            </a:r>
            <a:r>
              <a:rPr lang="en-US" dirty="0"/>
              <a:t> </a:t>
            </a:r>
            <a:r>
              <a:rPr lang="en-US" dirty="0" err="1"/>
              <a:t>đó</a:t>
            </a:r>
            <a:r>
              <a:rPr lang="en-US" dirty="0"/>
              <a:t> </a:t>
            </a:r>
            <a:r>
              <a:rPr lang="en-US" dirty="0" err="1"/>
              <a:t>hạn</a:t>
            </a:r>
            <a:r>
              <a:rPr lang="en-US" dirty="0"/>
              <a:t> </a:t>
            </a:r>
            <a:r>
              <a:rPr lang="en-US" dirty="0" err="1"/>
              <a:t>chế</a:t>
            </a:r>
            <a:r>
              <a:rPr lang="en-US" dirty="0"/>
              <a:t> </a:t>
            </a:r>
            <a:r>
              <a:rPr lang="en-US" dirty="0" err="1"/>
              <a:t>bị</a:t>
            </a:r>
            <a:r>
              <a:rPr lang="en-US" dirty="0"/>
              <a:t> OI do </a:t>
            </a:r>
            <a:r>
              <a:rPr lang="en-US" dirty="0" err="1"/>
              <a:t>thiết</a:t>
            </a:r>
            <a:r>
              <a:rPr lang="en-US" dirty="0"/>
              <a:t> </a:t>
            </a:r>
            <a:r>
              <a:rPr lang="en-US" dirty="0" err="1"/>
              <a:t>bị</a:t>
            </a:r>
            <a:r>
              <a:rPr lang="en-US" dirty="0"/>
              <a:t> </a:t>
            </a:r>
            <a:r>
              <a:rPr lang="en-US" dirty="0" err="1"/>
              <a:t>trong</a:t>
            </a:r>
            <a:r>
              <a:rPr lang="en-US" dirty="0"/>
              <a:t> </a:t>
            </a:r>
            <a:r>
              <a:rPr lang="en-US" dirty="0" err="1"/>
              <a:t>kho</a:t>
            </a:r>
            <a:r>
              <a:rPr lang="en-US" dirty="0"/>
              <a:t> / </a:t>
            </a:r>
            <a:r>
              <a:rPr lang="en-US" dirty="0" err="1"/>
              <a:t>hoặc</a:t>
            </a:r>
            <a:r>
              <a:rPr lang="en-US" dirty="0"/>
              <a:t> rod </a:t>
            </a:r>
            <a:r>
              <a:rPr lang="en-US" dirty="0" err="1"/>
              <a:t>từ</a:t>
            </a:r>
            <a:r>
              <a:rPr lang="en-US" dirty="0"/>
              <a:t> </a:t>
            </a:r>
            <a:r>
              <a:rPr lang="en-US" dirty="0" err="1"/>
              <a:t>tàu</a:t>
            </a:r>
            <a:r>
              <a:rPr lang="en-US" dirty="0"/>
              <a:t> bay </a:t>
            </a:r>
            <a:r>
              <a:rPr lang="en-US" dirty="0" err="1"/>
              <a:t>khác</a:t>
            </a:r>
            <a:r>
              <a:rPr lang="en-US" dirty="0"/>
              <a:t> </a:t>
            </a:r>
            <a:r>
              <a:rPr lang="en-US" dirty="0" err="1"/>
              <a:t>có</a:t>
            </a:r>
            <a:r>
              <a:rPr lang="en-US" dirty="0"/>
              <a:t> </a:t>
            </a:r>
            <a:r>
              <a:rPr lang="en-US" dirty="0" err="1"/>
              <a:t>vấn</a:t>
            </a:r>
            <a:r>
              <a:rPr lang="en-US" dirty="0"/>
              <a:t> </a:t>
            </a:r>
            <a:r>
              <a:rPr lang="en-US" dirty="0" err="1"/>
              <a:t>đề</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4686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1610733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977118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2627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9176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6398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42199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102880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2527279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29114624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759937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875176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81911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41825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422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31</a:t>
            </a:fld>
            <a:endParaRPr/>
          </a:p>
        </p:txBody>
      </p:sp>
    </p:spTree>
    <p:extLst>
      <p:ext uri="{BB962C8B-B14F-4D97-AF65-F5344CB8AC3E}">
        <p14:creationId xmlns:p14="http://schemas.microsoft.com/office/powerpoint/2010/main" val="5085080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32</a:t>
            </a:fld>
            <a:endParaRPr/>
          </a:p>
        </p:txBody>
      </p:sp>
    </p:spTree>
    <p:extLst>
      <p:ext uri="{BB962C8B-B14F-4D97-AF65-F5344CB8AC3E}">
        <p14:creationId xmlns:p14="http://schemas.microsoft.com/office/powerpoint/2010/main" val="41542205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33</a:t>
            </a:fld>
            <a:endParaRPr/>
          </a:p>
        </p:txBody>
      </p:sp>
    </p:spTree>
    <p:extLst>
      <p:ext uri="{BB962C8B-B14F-4D97-AF65-F5344CB8AC3E}">
        <p14:creationId xmlns:p14="http://schemas.microsoft.com/office/powerpoint/2010/main" val="37282656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03759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17364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36</a:t>
            </a:fld>
            <a:endParaRPr/>
          </a:p>
        </p:txBody>
      </p:sp>
    </p:spTree>
    <p:extLst>
      <p:ext uri="{BB962C8B-B14F-4D97-AF65-F5344CB8AC3E}">
        <p14:creationId xmlns:p14="http://schemas.microsoft.com/office/powerpoint/2010/main" val="42390075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37</a:t>
            </a:fld>
            <a:endParaRPr/>
          </a:p>
        </p:txBody>
      </p:sp>
    </p:spTree>
    <p:extLst>
      <p:ext uri="{BB962C8B-B14F-4D97-AF65-F5344CB8AC3E}">
        <p14:creationId xmlns:p14="http://schemas.microsoft.com/office/powerpoint/2010/main" val="24037253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43</a:t>
            </a:fld>
            <a:endParaRPr lang="en-US"/>
          </a:p>
        </p:txBody>
      </p:sp>
    </p:spTree>
    <p:extLst>
      <p:ext uri="{BB962C8B-B14F-4D97-AF65-F5344CB8AC3E}">
        <p14:creationId xmlns:p14="http://schemas.microsoft.com/office/powerpoint/2010/main" val="1568098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45</a:t>
            </a:fld>
            <a:endParaRPr/>
          </a:p>
        </p:txBody>
      </p:sp>
    </p:spTree>
    <p:extLst>
      <p:ext uri="{BB962C8B-B14F-4D97-AF65-F5344CB8AC3E}">
        <p14:creationId xmlns:p14="http://schemas.microsoft.com/office/powerpoint/2010/main" val="24133023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46</a:t>
            </a:fld>
            <a:endParaRPr/>
          </a:p>
        </p:txBody>
      </p:sp>
    </p:spTree>
    <p:extLst>
      <p:ext uri="{BB962C8B-B14F-4D97-AF65-F5344CB8AC3E}">
        <p14:creationId xmlns:p14="http://schemas.microsoft.com/office/powerpoint/2010/main" val="38662724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47</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18808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48</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3123175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50</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5193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05930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33899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17574580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55</a:t>
            </a:fld>
            <a:endParaRPr/>
          </a:p>
        </p:txBody>
      </p:sp>
    </p:spTree>
    <p:extLst>
      <p:ext uri="{BB962C8B-B14F-4D97-AF65-F5344CB8AC3E}">
        <p14:creationId xmlns:p14="http://schemas.microsoft.com/office/powerpoint/2010/main" val="8221495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917872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f1b08c610_0_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5f1b08c610_0_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5f1b08c610_0_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7263366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155098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59</a:t>
            </a:fld>
            <a:endParaRPr/>
          </a:p>
        </p:txBody>
      </p:sp>
    </p:spTree>
    <p:extLst>
      <p:ext uri="{BB962C8B-B14F-4D97-AF65-F5344CB8AC3E}">
        <p14:creationId xmlns:p14="http://schemas.microsoft.com/office/powerpoint/2010/main" val="26737067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995756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61</a:t>
            </a:fld>
            <a:endParaRPr/>
          </a:p>
        </p:txBody>
      </p:sp>
    </p:spTree>
    <p:extLst>
      <p:ext uri="{BB962C8B-B14F-4D97-AF65-F5344CB8AC3E}">
        <p14:creationId xmlns:p14="http://schemas.microsoft.com/office/powerpoint/2010/main" val="3147643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62</a:t>
            </a:fld>
            <a:endParaRPr/>
          </a:p>
        </p:txBody>
      </p:sp>
    </p:spTree>
    <p:extLst>
      <p:ext uri="{BB962C8B-B14F-4D97-AF65-F5344CB8AC3E}">
        <p14:creationId xmlns:p14="http://schemas.microsoft.com/office/powerpoint/2010/main" val="14526545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634522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64</a:t>
            </a:fld>
            <a:endParaRPr/>
          </a:p>
        </p:txBody>
      </p:sp>
    </p:spTree>
    <p:extLst>
      <p:ext uri="{BB962C8B-B14F-4D97-AF65-F5344CB8AC3E}">
        <p14:creationId xmlns:p14="http://schemas.microsoft.com/office/powerpoint/2010/main" val="12977110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396631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032126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67</a:t>
            </a:fld>
            <a:endParaRPr sz="1200">
              <a:latin typeface="Calibri"/>
              <a:ea typeface="Calibri"/>
              <a:cs typeface="Calibri"/>
              <a:sym typeface="Calibri"/>
            </a:endParaRPr>
          </a:p>
        </p:txBody>
      </p:sp>
    </p:spTree>
    <p:extLst>
      <p:ext uri="{BB962C8B-B14F-4D97-AF65-F5344CB8AC3E}">
        <p14:creationId xmlns:p14="http://schemas.microsoft.com/office/powerpoint/2010/main" val="28005915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68</a:t>
            </a:fld>
            <a:endParaRPr sz="1200">
              <a:latin typeface="Calibri"/>
              <a:ea typeface="Calibri"/>
              <a:cs typeface="Calibri"/>
              <a:sym typeface="Calibri"/>
            </a:endParaRPr>
          </a:p>
        </p:txBody>
      </p:sp>
    </p:spTree>
    <p:extLst>
      <p:ext uri="{BB962C8B-B14F-4D97-AF65-F5344CB8AC3E}">
        <p14:creationId xmlns:p14="http://schemas.microsoft.com/office/powerpoint/2010/main" val="671697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69</a:t>
            </a:fld>
            <a:endParaRPr sz="1200">
              <a:latin typeface="Calibri"/>
              <a:ea typeface="Calibri"/>
              <a:cs typeface="Calibri"/>
              <a:sym typeface="Calibri"/>
            </a:endParaRPr>
          </a:p>
        </p:txBody>
      </p:sp>
    </p:spTree>
    <p:extLst>
      <p:ext uri="{BB962C8B-B14F-4D97-AF65-F5344CB8AC3E}">
        <p14:creationId xmlns:p14="http://schemas.microsoft.com/office/powerpoint/2010/main" val="305782904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70</a:t>
            </a:fld>
            <a:endParaRPr sz="1200">
              <a:latin typeface="Calibri"/>
              <a:ea typeface="Calibri"/>
              <a:cs typeface="Calibri"/>
              <a:sym typeface="Calibri"/>
            </a:endParaRPr>
          </a:p>
        </p:txBody>
      </p:sp>
    </p:spTree>
    <p:extLst>
      <p:ext uri="{BB962C8B-B14F-4D97-AF65-F5344CB8AC3E}">
        <p14:creationId xmlns:p14="http://schemas.microsoft.com/office/powerpoint/2010/main" val="3958189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71</a:t>
            </a:fld>
            <a:endParaRPr sz="1200">
              <a:latin typeface="Calibri"/>
              <a:ea typeface="Calibri"/>
              <a:cs typeface="Calibri"/>
              <a:sym typeface="Calibri"/>
            </a:endParaRPr>
          </a:p>
        </p:txBody>
      </p:sp>
    </p:spTree>
    <p:extLst>
      <p:ext uri="{BB962C8B-B14F-4D97-AF65-F5344CB8AC3E}">
        <p14:creationId xmlns:p14="http://schemas.microsoft.com/office/powerpoint/2010/main" val="35461716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72</a:t>
            </a:fld>
            <a:endParaRPr sz="1200">
              <a:latin typeface="Calibri"/>
              <a:ea typeface="Calibri"/>
              <a:cs typeface="Calibri"/>
              <a:sym typeface="Calibri"/>
            </a:endParaRPr>
          </a:p>
        </p:txBody>
      </p:sp>
    </p:spTree>
    <p:extLst>
      <p:ext uri="{BB962C8B-B14F-4D97-AF65-F5344CB8AC3E}">
        <p14:creationId xmlns:p14="http://schemas.microsoft.com/office/powerpoint/2010/main" val="303973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278665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45490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en-VN" sz="1200" smtClean="0">
                <a:solidFill>
                  <a:schemeClr val="bg1"/>
                </a:solidFill>
                <a:latin typeface="Exo"/>
              </a:rPr>
              <a:t>‹#›</a:t>
            </a:fld>
            <a:endParaRPr lang="en-VN"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1129522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6/15/2025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39" r:id="rId11"/>
    <p:sldLayoutId id="214748374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2.bin"/><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chart" Target="../charts/char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24</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09/06/2025</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15</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06</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900-000004000000}"/>
              </a:ext>
            </a:extLst>
          </p:cNvPr>
          <p:cNvGraphicFramePr>
            <a:graphicFrameLocks/>
          </p:cNvGraphicFramePr>
          <p:nvPr/>
        </p:nvGraphicFramePr>
        <p:xfrm>
          <a:off x="6340994" y="963939"/>
          <a:ext cx="4176910" cy="22913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900-000005000000}"/>
              </a:ext>
            </a:extLst>
          </p:cNvPr>
          <p:cNvGraphicFramePr>
            <a:graphicFrameLocks/>
          </p:cNvGraphicFramePr>
          <p:nvPr/>
        </p:nvGraphicFramePr>
        <p:xfrm>
          <a:off x="1668110" y="3609756"/>
          <a:ext cx="4098452" cy="22913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00000000-0008-0000-0900-00000F000000}"/>
              </a:ext>
            </a:extLst>
          </p:cNvPr>
          <p:cNvGraphicFramePr>
            <a:graphicFrameLocks/>
          </p:cNvGraphicFramePr>
          <p:nvPr/>
        </p:nvGraphicFramePr>
        <p:xfrm>
          <a:off x="1700609" y="948130"/>
          <a:ext cx="4117501" cy="22913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8347F7AA-5E77-475C-B68E-49E6EF5DA0A7}"/>
              </a:ext>
            </a:extLst>
          </p:cNvPr>
          <p:cNvGraphicFramePr>
            <a:graphicFrameLocks/>
          </p:cNvGraphicFramePr>
          <p:nvPr/>
        </p:nvGraphicFramePr>
        <p:xfrm>
          <a:off x="6346980" y="3618485"/>
          <a:ext cx="4176910" cy="229138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171747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49441973"/>
              </p:ext>
            </p:extLst>
          </p:nvPr>
        </p:nvGraphicFramePr>
        <p:xfrm>
          <a:off x="1296111" y="914400"/>
          <a:ext cx="9599778" cy="26613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405623467"/>
              </p:ext>
            </p:extLst>
          </p:nvPr>
        </p:nvGraphicFramePr>
        <p:xfrm>
          <a:off x="1294351" y="3743609"/>
          <a:ext cx="9589473" cy="265994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5</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BC7B7C08-CD30-40EC-8450-FF432FB889C5}"/>
              </a:ext>
            </a:extLst>
          </p:cNvPr>
          <p:cNvGraphicFramePr>
            <a:graphicFrameLocks noGrp="1"/>
          </p:cNvGraphicFramePr>
          <p:nvPr/>
        </p:nvGraphicFramePr>
        <p:xfrm>
          <a:off x="333918" y="978932"/>
          <a:ext cx="11400882" cy="5072991"/>
        </p:xfrm>
        <a:graphic>
          <a:graphicData uri="http://schemas.openxmlformats.org/drawingml/2006/table">
            <a:tbl>
              <a:tblPr/>
              <a:tblGrid>
                <a:gridCol w="361933">
                  <a:extLst>
                    <a:ext uri="{9D8B030D-6E8A-4147-A177-3AD203B41FA5}">
                      <a16:colId xmlns:a16="http://schemas.microsoft.com/office/drawing/2014/main" val="3674260455"/>
                    </a:ext>
                  </a:extLst>
                </a:gridCol>
                <a:gridCol w="361933">
                  <a:extLst>
                    <a:ext uri="{9D8B030D-6E8A-4147-A177-3AD203B41FA5}">
                      <a16:colId xmlns:a16="http://schemas.microsoft.com/office/drawing/2014/main" val="3448990162"/>
                    </a:ext>
                  </a:extLst>
                </a:gridCol>
                <a:gridCol w="618616">
                  <a:extLst>
                    <a:ext uri="{9D8B030D-6E8A-4147-A177-3AD203B41FA5}">
                      <a16:colId xmlns:a16="http://schemas.microsoft.com/office/drawing/2014/main" val="3824527478"/>
                    </a:ext>
                  </a:extLst>
                </a:gridCol>
                <a:gridCol w="609600">
                  <a:extLst>
                    <a:ext uri="{9D8B030D-6E8A-4147-A177-3AD203B41FA5}">
                      <a16:colId xmlns:a16="http://schemas.microsoft.com/office/drawing/2014/main" val="3595271746"/>
                    </a:ext>
                  </a:extLst>
                </a:gridCol>
                <a:gridCol w="609600">
                  <a:extLst>
                    <a:ext uri="{9D8B030D-6E8A-4147-A177-3AD203B41FA5}">
                      <a16:colId xmlns:a16="http://schemas.microsoft.com/office/drawing/2014/main" val="3043790494"/>
                    </a:ext>
                  </a:extLst>
                </a:gridCol>
                <a:gridCol w="609600">
                  <a:extLst>
                    <a:ext uri="{9D8B030D-6E8A-4147-A177-3AD203B41FA5}">
                      <a16:colId xmlns:a16="http://schemas.microsoft.com/office/drawing/2014/main" val="3999979373"/>
                    </a:ext>
                  </a:extLst>
                </a:gridCol>
                <a:gridCol w="1828800">
                  <a:extLst>
                    <a:ext uri="{9D8B030D-6E8A-4147-A177-3AD203B41FA5}">
                      <a16:colId xmlns:a16="http://schemas.microsoft.com/office/drawing/2014/main" val="2189223672"/>
                    </a:ext>
                  </a:extLst>
                </a:gridCol>
                <a:gridCol w="3321858">
                  <a:extLst>
                    <a:ext uri="{9D8B030D-6E8A-4147-A177-3AD203B41FA5}">
                      <a16:colId xmlns:a16="http://schemas.microsoft.com/office/drawing/2014/main" val="3129152884"/>
                    </a:ext>
                  </a:extLst>
                </a:gridCol>
                <a:gridCol w="402148">
                  <a:extLst>
                    <a:ext uri="{9D8B030D-6E8A-4147-A177-3AD203B41FA5}">
                      <a16:colId xmlns:a16="http://schemas.microsoft.com/office/drawing/2014/main" val="3211525834"/>
                    </a:ext>
                  </a:extLst>
                </a:gridCol>
                <a:gridCol w="2676794">
                  <a:extLst>
                    <a:ext uri="{9D8B030D-6E8A-4147-A177-3AD203B41FA5}">
                      <a16:colId xmlns:a16="http://schemas.microsoft.com/office/drawing/2014/main" val="493277285"/>
                    </a:ext>
                  </a:extLst>
                </a:gridCol>
              </a:tblGrid>
              <a:tr h="352250">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024615"/>
                  </a:ext>
                </a:extLst>
              </a:tr>
              <a:tr h="2771949">
                <a:tc>
                  <a:txBody>
                    <a:bodyPr/>
                    <a:lstStyle/>
                    <a:p>
                      <a:pPr algn="l" fontAlgn="b"/>
                      <a:r>
                        <a:rPr lang="en-US" sz="1100" b="0" i="0" u="none" strike="noStrike">
                          <a:solidFill>
                            <a:srgbClr val="000000"/>
                          </a:solidFill>
                          <a:effectLst/>
                          <a:latin typeface="Calibri" panose="020F0502020204030204" pitchFamily="34" charset="0"/>
                        </a:rPr>
                        <a:t>A878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VN212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13/06/2025 15:00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A/C GTB 2 TIMES &lt;p&gt;FIRST TIME:&lt;br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DURING PUSH BACK, CAPT REPORT MSG: SPOILER EMCU #4 FAULT, A/C GTB TO BAY 104&lt;br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SECOND TIME:&lt;br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CAPT REPORT FLAP CAN NOT EXTEND. CAPT DECIDED GTB TO BAY 35&lt;/p&gt;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a:solidFill>
                            <a:srgbClr val="000000"/>
                          </a:solidFill>
                          <a:effectLst/>
                          <a:latin typeface="Calibri" panose="020F0502020204030204" pitchFamily="34" charset="0"/>
                        </a:rPr>
                        <a:t>  &lt;p&gt;14:25 CHUYẾN BAY VN212 ĐỔI TÀU A879 BAY THAY (A879 13:38 VÀO TỚI BÃI), A878 BAY VN254&lt;br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- 14:35 CRS BÁO TIẾN HÀNH THAY EMCU, XIN DỜI LỊCH BAY TỪ 16:00 -&amp;gt; 17:00 NHƯNG MOC BÁO KHÔNG CÓ TÀU&lt;br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- 14:40 CẤU TRÚC LÊN TỚI BÃI&lt;br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- 14:50 DO SGN KHÔNG CÓ TOOL ĐỂ RIGGING -&amp;gt; CRS BÁO SẼ DEACTIVE VÀ MỞ ADD&lt;br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- 15:40 CẤU TRÚC THÁO XONG PANEL&lt;br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- 17:10 DEACTIVATED XONG, A/C SERVICEABLE&lt;br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- 17:50 TÀU ĐÓNG CỬA&lt;/p&gt;</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&lt;p&gt;TOTAL DELAY 110 MINS, TECH DELAY 50 MINS&lt;/p&gt;&lt;p&gt;- 12:20 CAPT A878 GỌI VHF VỀ ĐIỀU HÀNH KHAI THÁC BÁO TÀU QUAY LẠI LẦN 1 BÃI 104&lt;br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- 12:30 TÀU VÀO TỚI BÃI, TÀU BỊ MSG SPOILER EMCU #4 FAULT&lt;br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- 13:00 PHÁT SINH CẦN CẤU TRÚC HỖ TRỢ MỞ ỐC ĐỂ MỞ PANEL&lt;br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- 13:16 CẤU TRÚC BÁO LÊN HỖ TRỢ&lt;br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- 13:19 A878 SYS TEST PASSED, MSG GONE, TÀU NẠP DẦU TIẾP TỤC KHAI THÁC&lt;br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- 13:42 TÀU A878 ĐÓNG CỬA&lt;br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- 14:02 TÀU A878 ĐẨY RA BỊ FLAP CAN NOT EXTEND. TÀU QUAY LẠI LẦN 2 BÃI 34&lt;br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- 14:25 CHUYẾN BAY VN212 ĐỔI TÀU A879 BAY THAY (A879 13:38 VÀO TỚI BÃI)&lt;br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- 15:45 TÀU ĐÓNG CỬA&lt;/p&gt;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27-00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Hiện tàu đang khai thác với ADD B103 : SPOILER EMCU#4 INOP. </a:t>
                      </a:r>
                    </a:p>
                    <a:p>
                      <a:pPr algn="l" fontAlgn="b"/>
                      <a:r>
                        <a:rPr lang="vi-VN" sz="1100" b="0" i="0" u="none" strike="noStrike" dirty="0">
                          <a:solidFill>
                            <a:srgbClr val="000000"/>
                          </a:solidFill>
                          <a:effectLst/>
                          <a:latin typeface="Calibri" panose="020F0502020204030204" pitchFamily="34" charset="0"/>
                        </a:rPr>
                        <a:t>Lịch sử đã tưng thay 39 khối (23 khối -005 và 16 khối -006, EMCU US Revoval TSN Avg 14332, CSN avg 3030. Part tháo xuống có TSN/CSN: 3219.1/1125, original A878. Khi hạ độ cao, sự thay đổi áp suất và nhiệt độ gây ra các kết nối không liên tục giữa các bảng mạch của EMCU. Sau đó BOE đã nấng cấp lên thế hệ thứ 2 là -006 (added internal and external brackets to stiffen the EMCUs back plane). Đội đang khai thác 24 khối -005 và 78 khối -006. Từ 2021, BOE/OEM có thêm 6 cải tiến cho các chi tiết điện tử của EMCU nhưng chỉ thực hiện trong Production. Khối EMCU của A878 là khối -006 đã được nâng cấp 3/6 cải tiến được OEM triển khai trong production.</a:t>
                      </a:r>
                    </a:p>
                    <a:p>
                      <a:pPr algn="l" fontAlgn="b"/>
                      <a:r>
                        <a:rPr lang="vi-VN" sz="1100" b="0" i="0" u="none" strike="noStrike" dirty="0">
                          <a:solidFill>
                            <a:srgbClr val="000000"/>
                          </a:solidFill>
                          <a:effectLst/>
                          <a:latin typeface="Calibri" panose="020F0502020204030204" pitchFamily="34" charset="0"/>
                        </a:rPr>
                        <a:t>Khi tàu GTB lần 1, CRS lên kiểm tra phát sinh 04 con Bolt cần trợ giúp của Stucture để tháo, như sau đó ít phút thì test pass, do đó đã không Deactivate Spoiler và nạp dầu cho bay. </a:t>
                      </a:r>
                    </a:p>
                    <a:p>
                      <a:pPr algn="l" fontAlgn="b"/>
                      <a:r>
                        <a:rPr lang="vi-VN" sz="1100" b="0" i="0" u="none" strike="noStrike" dirty="0">
                          <a:solidFill>
                            <a:srgbClr val="000000"/>
                          </a:solidFill>
                          <a:effectLst/>
                          <a:latin typeface="Calibri" panose="020F0502020204030204" pitchFamily="34" charset="0"/>
                        </a:rPr>
                        <a:t>Tuy nhiên khi đẩy ra, tàu lại báo MMSG 27-12831 spoiler #4, kèm theo FDE FLAPS GROUND INHIBIT, nguyên nhân là do spoiler #4 fault nhưng không ở vị trí để Flap có thể hoạt động, dẫn đến quay lại lần 2. </a:t>
                      </a:r>
                    </a:p>
                    <a:p>
                      <a:pPr algn="l" fontAlgn="b"/>
                      <a:r>
                        <a:rPr lang="vi-VN" sz="1100" b="0" i="0" u="none" strike="noStrike" dirty="0">
                          <a:solidFill>
                            <a:srgbClr val="000000"/>
                          </a:solidFill>
                          <a:effectLst/>
                          <a:latin typeface="Calibri" panose="020F0502020204030204" pitchFamily="34" charset="0"/>
                        </a:rPr>
                        <a:t>Tàu đã được deactivate spoiler#4 và đợi thay EMCU.</a:t>
                      </a:r>
                      <a:endParaRPr lang="en-US" sz="1100" b="0" i="0" u="none" strike="noStrike" kern="1200" baseline="0" dirty="0">
                        <a:solidFill>
                          <a:srgbClr val="000000"/>
                        </a:solidFill>
                        <a:effectLst/>
                        <a:latin typeface="Calibri" panose="020F0502020204030204" pitchFamily="34" charset="0"/>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332929"/>
                  </a:ext>
                </a:extLst>
              </a:tr>
            </a:tbl>
          </a:graphicData>
        </a:graphic>
      </p:graphicFrame>
    </p:spTree>
    <p:custDataLst>
      <p:tags r:id="rId1"/>
    </p:custDataLst>
    <p:extLst>
      <p:ext uri="{BB962C8B-B14F-4D97-AF65-F5344CB8AC3E}">
        <p14:creationId xmlns:p14="http://schemas.microsoft.com/office/powerpoint/2010/main" val="1965488462"/>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5</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BC7B7C08-CD30-40EC-8450-FF432FB889C5}"/>
              </a:ext>
            </a:extLst>
          </p:cNvPr>
          <p:cNvGraphicFramePr>
            <a:graphicFrameLocks noGrp="1"/>
          </p:cNvGraphicFramePr>
          <p:nvPr>
            <p:extLst>
              <p:ext uri="{D42A27DB-BD31-4B8C-83A1-F6EECF244321}">
                <p14:modId xmlns:p14="http://schemas.microsoft.com/office/powerpoint/2010/main" val="3907431382"/>
              </p:ext>
            </p:extLst>
          </p:nvPr>
        </p:nvGraphicFramePr>
        <p:xfrm>
          <a:off x="333918" y="961439"/>
          <a:ext cx="11400882" cy="4905351"/>
        </p:xfrm>
        <a:graphic>
          <a:graphicData uri="http://schemas.openxmlformats.org/drawingml/2006/table">
            <a:tbl>
              <a:tblPr/>
              <a:tblGrid>
                <a:gridCol w="361933">
                  <a:extLst>
                    <a:ext uri="{9D8B030D-6E8A-4147-A177-3AD203B41FA5}">
                      <a16:colId xmlns:a16="http://schemas.microsoft.com/office/drawing/2014/main" val="3674260455"/>
                    </a:ext>
                  </a:extLst>
                </a:gridCol>
                <a:gridCol w="361933">
                  <a:extLst>
                    <a:ext uri="{9D8B030D-6E8A-4147-A177-3AD203B41FA5}">
                      <a16:colId xmlns:a16="http://schemas.microsoft.com/office/drawing/2014/main" val="3448990162"/>
                    </a:ext>
                  </a:extLst>
                </a:gridCol>
                <a:gridCol w="618616">
                  <a:extLst>
                    <a:ext uri="{9D8B030D-6E8A-4147-A177-3AD203B41FA5}">
                      <a16:colId xmlns:a16="http://schemas.microsoft.com/office/drawing/2014/main" val="3824527478"/>
                    </a:ext>
                  </a:extLst>
                </a:gridCol>
                <a:gridCol w="609600">
                  <a:extLst>
                    <a:ext uri="{9D8B030D-6E8A-4147-A177-3AD203B41FA5}">
                      <a16:colId xmlns:a16="http://schemas.microsoft.com/office/drawing/2014/main" val="3595271746"/>
                    </a:ext>
                  </a:extLst>
                </a:gridCol>
                <a:gridCol w="609600">
                  <a:extLst>
                    <a:ext uri="{9D8B030D-6E8A-4147-A177-3AD203B41FA5}">
                      <a16:colId xmlns:a16="http://schemas.microsoft.com/office/drawing/2014/main" val="3043790494"/>
                    </a:ext>
                  </a:extLst>
                </a:gridCol>
                <a:gridCol w="609600">
                  <a:extLst>
                    <a:ext uri="{9D8B030D-6E8A-4147-A177-3AD203B41FA5}">
                      <a16:colId xmlns:a16="http://schemas.microsoft.com/office/drawing/2014/main" val="3999979373"/>
                    </a:ext>
                  </a:extLst>
                </a:gridCol>
                <a:gridCol w="2286000">
                  <a:extLst>
                    <a:ext uri="{9D8B030D-6E8A-4147-A177-3AD203B41FA5}">
                      <a16:colId xmlns:a16="http://schemas.microsoft.com/office/drawing/2014/main" val="2189223672"/>
                    </a:ext>
                  </a:extLst>
                </a:gridCol>
                <a:gridCol w="2514600">
                  <a:extLst>
                    <a:ext uri="{9D8B030D-6E8A-4147-A177-3AD203B41FA5}">
                      <a16:colId xmlns:a16="http://schemas.microsoft.com/office/drawing/2014/main" val="3129152884"/>
                    </a:ext>
                  </a:extLst>
                </a:gridCol>
                <a:gridCol w="533400">
                  <a:extLst>
                    <a:ext uri="{9D8B030D-6E8A-4147-A177-3AD203B41FA5}">
                      <a16:colId xmlns:a16="http://schemas.microsoft.com/office/drawing/2014/main" val="3211525834"/>
                    </a:ext>
                  </a:extLst>
                </a:gridCol>
                <a:gridCol w="2895600">
                  <a:extLst>
                    <a:ext uri="{9D8B030D-6E8A-4147-A177-3AD203B41FA5}">
                      <a16:colId xmlns:a16="http://schemas.microsoft.com/office/drawing/2014/main" val="493277285"/>
                    </a:ext>
                  </a:extLst>
                </a:gridCol>
              </a:tblGrid>
              <a:tr h="347049">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024615"/>
                  </a:ext>
                </a:extLst>
              </a:tr>
              <a:tr h="2247240">
                <a:tc>
                  <a:txBody>
                    <a:bodyPr/>
                    <a:lstStyle/>
                    <a:p>
                      <a:pPr algn="l" fontAlgn="b"/>
                      <a:r>
                        <a:rPr lang="en-US" sz="1100" b="0" i="0" u="none" strike="noStrike">
                          <a:solidFill>
                            <a:srgbClr val="000000"/>
                          </a:solidFill>
                          <a:effectLst/>
                          <a:latin typeface="Calibri" panose="020F0502020204030204" pitchFamily="34" charset="0"/>
                        </a:rPr>
                        <a:t>B225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VN8063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SGN-VCS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12/06/2025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"ENG 1 BLEED LEAK"</a:t>
                      </a:r>
                    </a:p>
                    <a:p>
                      <a:pPr algn="l" fontAlgn="b"/>
                      <a:r>
                        <a:rPr lang="en-SG" sz="1100" b="0" i="0" u="none" strike="noStrike">
                          <a:solidFill>
                            <a:srgbClr val="000000"/>
                          </a:solidFill>
                          <a:effectLst/>
                          <a:latin typeface="Calibri" panose="020F0502020204030204" pitchFamily="34" charset="0"/>
                        </a:rPr>
                        <a:t>DURING TAXIING CAPT CALL VHF INFORM "ENG 1 BLEED LEAK",  RESET BUT NIL HELP, CAPT DECIDE GTB</a:t>
                      </a:r>
                      <a:endParaRPr lang="en-US" sz="1100" b="0" i="0" u="none" strike="noStrike">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r>
                        <a:rPr lang="vi-VN" sz="1100" b="0" i="0" u="none" strike="noStrike">
                          <a:solidFill>
                            <a:srgbClr val="000000"/>
                          </a:solidFill>
                          <a:effectLst/>
                          <a:latin typeface="Calibri" panose="020F0502020204030204" pitchFamily="34" charset="0"/>
                        </a:rPr>
                        <a:t>`- 12:35 CAPT CALL VHF INFORM "ENG 1 BLEED LEAK"</a:t>
                      </a:r>
                    </a:p>
                    <a:p>
                      <a:pPr algn="l" fontAlgn="b"/>
                      <a:r>
                        <a:rPr lang="vi-VN" sz="1100" b="0" i="0" u="none" strike="noStrike">
                          <a:solidFill>
                            <a:srgbClr val="000000"/>
                          </a:solidFill>
                          <a:effectLst/>
                          <a:latin typeface="Calibri" panose="020F0502020204030204" pitchFamily="34" charset="0"/>
                        </a:rPr>
                        <a:t>- 12:39 CAPT GỌI LẠI BÁO SAU KHI RESET KHOẢNG 4 PHÚT THÌ HỎNG HÓC BỊ LẠI, CAPT QUYẾT ĐỊNH QUAY LẠI</a:t>
                      </a:r>
                    </a:p>
                    <a:p>
                      <a:pPr algn="l" fontAlgn="b"/>
                      <a:r>
                        <a:rPr lang="vi-VN" sz="1100" b="0" i="0" u="none" strike="noStrike">
                          <a:solidFill>
                            <a:srgbClr val="000000"/>
                          </a:solidFill>
                          <a:effectLst/>
                          <a:latin typeface="Calibri" panose="020F0502020204030204" pitchFamily="34" charset="0"/>
                        </a:rPr>
                        <a:t>- 12:50 TÀU QUAY LẠI BÃI 04-TSN, CRS B TIẾP CẬN TÀU</a:t>
                      </a:r>
                    </a:p>
                    <a:p>
                      <a:pPr algn="l" fontAlgn="b"/>
                      <a:r>
                        <a:rPr lang="vi-VN" sz="1100" b="0" i="0" u="none" strike="noStrike">
                          <a:solidFill>
                            <a:srgbClr val="000000"/>
                          </a:solidFill>
                          <a:effectLst/>
                          <a:latin typeface="Calibri" panose="020F0502020204030204" pitchFamily="34" charset="0"/>
                        </a:rPr>
                        <a:t>- 13:07 B1 BÁO CÓ THỂ RAISED MEL, THEO MEL CÓ OPS: "LARGE RAPID POWER CHANGE : AVOID" NÊN CAPT TỪ CHỐI BAY VÌ Ở VCS GIÓ RẤT LỚN, MOC VASCO BÁO HUỶ CHUYẾN VN8063</a:t>
                      </a:r>
                    </a:p>
                    <a:p>
                      <a:pPr algn="l" fontAlgn="b"/>
                      <a:r>
                        <a:rPr lang="vi-VN" sz="1100" b="0" i="0" u="none" strike="noStrike">
                          <a:solidFill>
                            <a:srgbClr val="000000"/>
                          </a:solidFill>
                          <a:effectLst/>
                          <a:latin typeface="Calibri" panose="020F0502020204030204" pitchFamily="34" charset="0"/>
                        </a:rPr>
                        <a:t>- 13:33 CRS TRA TRONG KHO CÓ SEAL (TUY NHIÊN HÀNG 3RD CỦA CEBU), BÁO MCC LÀM VIỆC VỚI CEBU</a:t>
                      </a:r>
                    </a:p>
                    <a:p>
                      <a:pPr algn="l" fontAlgn="b"/>
                      <a:r>
                        <a:rPr lang="vi-VN" sz="1100" b="0" i="0" u="none" strike="noStrike">
                          <a:solidFill>
                            <a:srgbClr val="000000"/>
                          </a:solidFill>
                          <a:effectLst/>
                          <a:latin typeface="Calibri" panose="020F0502020204030204" pitchFamily="34" charset="0"/>
                        </a:rPr>
                        <a:t>- 14:30 TÀU KÉO VỀ ĐẾN HG1, CHỜ THÔNG TIN VTU</a:t>
                      </a:r>
                    </a:p>
                    <a:p>
                      <a:pPr algn="l" fontAlgn="b"/>
                      <a:r>
                        <a:rPr lang="vi-VN" sz="1100" b="0" i="0" u="none" strike="noStrike">
                          <a:solidFill>
                            <a:srgbClr val="000000"/>
                          </a:solidFill>
                          <a:effectLst/>
                          <a:latin typeface="Calibri" panose="020F0502020204030204" pitchFamily="34" charset="0"/>
                        </a:rPr>
                        <a:t>- 15:30: XUỐNG KHO VÀ LẤY ĐƯỢC  SEAL</a:t>
                      </a:r>
                    </a:p>
                    <a:p>
                      <a:pPr algn="l" fontAlgn="b"/>
                      <a:r>
                        <a:rPr lang="vi-VN" sz="1100" b="0" i="0" u="none" strike="noStrike">
                          <a:solidFill>
                            <a:srgbClr val="000000"/>
                          </a:solidFill>
                          <a:effectLst/>
                          <a:latin typeface="Calibri" panose="020F0502020204030204" pitchFamily="34" charset="0"/>
                        </a:rPr>
                        <a:t>- 16:30: THAY  XONG SEAL VÀ CHỜ NỔ  MÁY (DO LỊCH BAY ATR  DÀY NÊN CHƯA  THỂ NỔ MÁY , ƯU TIÊN PHỤC VỤ BAY TRƯỚC )</a:t>
                      </a:r>
                    </a:p>
                    <a:p>
                      <a:pPr algn="l" fontAlgn="b"/>
                      <a:r>
                        <a:rPr lang="vi-VN" sz="1100" b="0" i="0" u="none" strike="noStrike">
                          <a:solidFill>
                            <a:srgbClr val="000000"/>
                          </a:solidFill>
                          <a:effectLst/>
                          <a:latin typeface="Calibri" panose="020F0502020204030204" pitchFamily="34" charset="0"/>
                        </a:rPr>
                        <a:t>- 20:00:  KÉO RA NỔ MÁY CHECK  LEAK</a:t>
                      </a:r>
                    </a:p>
                    <a:p>
                      <a:pPr algn="l" fontAlgn="b"/>
                      <a:r>
                        <a:rPr lang="vi-VN" sz="1100" b="0" i="0" u="none" strike="noStrike">
                          <a:solidFill>
                            <a:srgbClr val="000000"/>
                          </a:solidFill>
                          <a:effectLst/>
                          <a:latin typeface="Calibri" panose="020F0502020204030204" pitchFamily="34" charset="0"/>
                        </a:rPr>
                        <a:t>- 21:00: BÁO TÀU SERVICE</a:t>
                      </a:r>
                    </a:p>
                    <a:p>
                      <a:pPr algn="l" fontAlgn="b"/>
                      <a:r>
                        <a:rPr lang="vi-VN" sz="1100" b="0" i="0" u="none" strike="noStrike">
                          <a:solidFill>
                            <a:srgbClr val="000000"/>
                          </a:solidFill>
                          <a:effectLst/>
                          <a:latin typeface="Calibri" panose="020F0502020204030204" pitchFamily="34" charset="0"/>
                        </a:rPr>
                        <a:t>FINAL ACTION: C/O RPLD SEAL OF ENG 1 BLEED SYSTEM  , ERU LEAK CHECK SATIS, A/C SERVICEABLE</a:t>
                      </a:r>
                      <a:endParaRPr lang="en-US" sz="1100" b="0" i="0" u="none" strike="noStrike">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36-00</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a:solidFill>
                            <a:srgbClr val="000000"/>
                          </a:solidFill>
                          <a:effectLst/>
                          <a:latin typeface="Calibri" panose="020F0502020204030204" pitchFamily="34" charset="0"/>
                        </a:rPr>
                        <a:t>Phát hiện bị leak khí tại vị trí O-ring P/N ASNA2141-40-07 , vị trí on the ducts located at the nacelle/wing junction (Zone 511, vị trí rib 9 và rib 10). Thợ máy chỉ tighten lại để khắc phục. </a:t>
                      </a:r>
                    </a:p>
                    <a:p>
                      <a:pPr algn="l" fontAlgn="b"/>
                      <a:r>
                        <a:rPr lang="vi-VN" sz="1100" b="0" i="0" u="none" strike="noStrike">
                          <a:solidFill>
                            <a:srgbClr val="000000"/>
                          </a:solidFill>
                          <a:effectLst/>
                          <a:latin typeface="Calibri" panose="020F0502020204030204" pitchFamily="34" charset="0"/>
                        </a:rPr>
                        <a:t>Đây là silicone seal dễ bị lão hóa sau một thời gian khai thác, mặc dù seal này đã được cải tiến và lắp trên đội tàu bay ATR72 thông qua SB ATR72-36-1011 (năm 2010). Với việc kiểm tra hệ thống bleed đã có chương trình đánh chặn để kiểm tra thông qua AMP task VNA-36-RAI-10000-1 - CHECK LEADING EDGE BLEED DUCT O-RING AND DISCARD IF NECCESSARY, tần suất 3000 FH/ 4A =&gt; B225  được thực hiện task này lần gần nhất vào 30/12/2024 nhưng không có finding. </a:t>
                      </a:r>
                    </a:p>
                    <a:p>
                      <a:pPr algn="l" fontAlgn="b"/>
                      <a:endParaRPr lang="vi-VN" sz="1100" b="0" i="0" u="none" strike="noStrike">
                        <a:solidFill>
                          <a:srgbClr val="000000"/>
                        </a:solidFill>
                        <a:effectLst/>
                        <a:latin typeface="Calibri" panose="020F0502020204030204" pitchFamily="34" charset="0"/>
                      </a:endParaRPr>
                    </a:p>
                    <a:p>
                      <a:pPr algn="l" fontAlgn="b"/>
                      <a:r>
                        <a:rPr lang="vi-VN" sz="1100" b="0" i="0" u="none" strike="noStrike">
                          <a:solidFill>
                            <a:srgbClr val="000000"/>
                          </a:solidFill>
                          <a:effectLst/>
                          <a:latin typeface="Calibri" panose="020F0502020204030204" pitchFamily="34" charset="0"/>
                        </a:rPr>
                        <a:t>Ngoài ra, Seal này cũng được thực hiện kiểm tra và thay thế theo AMP Task VNA-21-CHK-10000-1, tần suất 2Y. B225 được thực hiện lần gần nhất vào 30/12/2024 nhưng không có findings.</a:t>
                      </a:r>
                    </a:p>
                    <a:p>
                      <a:pPr algn="l" fontAlgn="b"/>
                      <a:r>
                        <a:rPr lang="vi-VN" sz="1100" b="0" i="0" u="none" strike="noStrike">
                          <a:solidFill>
                            <a:srgbClr val="000000"/>
                          </a:solidFill>
                          <a:effectLst/>
                          <a:latin typeface="Calibri" panose="020F0502020204030204" pitchFamily="34" charset="0"/>
                        </a:rPr>
                        <a:t>Hiện tại, đang phối hợp với MCC để thực hiện cho thay chủ động các bleed seal thay vì chỉ kiểm tra và thay nếu có findings.</a:t>
                      </a:r>
                      <a:endParaRPr lang="vi-VN"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332929"/>
                  </a:ext>
                </a:extLst>
              </a:tr>
            </a:tbl>
          </a:graphicData>
        </a:graphic>
      </p:graphicFrame>
    </p:spTree>
    <p:custDataLst>
      <p:tags r:id="rId1"/>
    </p:custDataLst>
    <p:extLst>
      <p:ext uri="{BB962C8B-B14F-4D97-AF65-F5344CB8AC3E}">
        <p14:creationId xmlns:p14="http://schemas.microsoft.com/office/powerpoint/2010/main" val="1699218264"/>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5</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BC7B7C08-CD30-40EC-8450-FF432FB889C5}"/>
              </a:ext>
            </a:extLst>
          </p:cNvPr>
          <p:cNvGraphicFramePr>
            <a:graphicFrameLocks noGrp="1"/>
          </p:cNvGraphicFramePr>
          <p:nvPr/>
        </p:nvGraphicFramePr>
        <p:xfrm>
          <a:off x="333918" y="961439"/>
          <a:ext cx="11400882" cy="5476191"/>
        </p:xfrm>
        <a:graphic>
          <a:graphicData uri="http://schemas.openxmlformats.org/drawingml/2006/table">
            <a:tbl>
              <a:tblPr/>
              <a:tblGrid>
                <a:gridCol w="361933">
                  <a:extLst>
                    <a:ext uri="{9D8B030D-6E8A-4147-A177-3AD203B41FA5}">
                      <a16:colId xmlns:a16="http://schemas.microsoft.com/office/drawing/2014/main" val="3674260455"/>
                    </a:ext>
                  </a:extLst>
                </a:gridCol>
                <a:gridCol w="361933">
                  <a:extLst>
                    <a:ext uri="{9D8B030D-6E8A-4147-A177-3AD203B41FA5}">
                      <a16:colId xmlns:a16="http://schemas.microsoft.com/office/drawing/2014/main" val="3448990162"/>
                    </a:ext>
                  </a:extLst>
                </a:gridCol>
                <a:gridCol w="618616">
                  <a:extLst>
                    <a:ext uri="{9D8B030D-6E8A-4147-A177-3AD203B41FA5}">
                      <a16:colId xmlns:a16="http://schemas.microsoft.com/office/drawing/2014/main" val="3824527478"/>
                    </a:ext>
                  </a:extLst>
                </a:gridCol>
                <a:gridCol w="609600">
                  <a:extLst>
                    <a:ext uri="{9D8B030D-6E8A-4147-A177-3AD203B41FA5}">
                      <a16:colId xmlns:a16="http://schemas.microsoft.com/office/drawing/2014/main" val="3595271746"/>
                    </a:ext>
                  </a:extLst>
                </a:gridCol>
                <a:gridCol w="609600">
                  <a:extLst>
                    <a:ext uri="{9D8B030D-6E8A-4147-A177-3AD203B41FA5}">
                      <a16:colId xmlns:a16="http://schemas.microsoft.com/office/drawing/2014/main" val="3043790494"/>
                    </a:ext>
                  </a:extLst>
                </a:gridCol>
                <a:gridCol w="609600">
                  <a:extLst>
                    <a:ext uri="{9D8B030D-6E8A-4147-A177-3AD203B41FA5}">
                      <a16:colId xmlns:a16="http://schemas.microsoft.com/office/drawing/2014/main" val="3999979373"/>
                    </a:ext>
                  </a:extLst>
                </a:gridCol>
                <a:gridCol w="2286000">
                  <a:extLst>
                    <a:ext uri="{9D8B030D-6E8A-4147-A177-3AD203B41FA5}">
                      <a16:colId xmlns:a16="http://schemas.microsoft.com/office/drawing/2014/main" val="2189223672"/>
                    </a:ext>
                  </a:extLst>
                </a:gridCol>
                <a:gridCol w="2514600">
                  <a:extLst>
                    <a:ext uri="{9D8B030D-6E8A-4147-A177-3AD203B41FA5}">
                      <a16:colId xmlns:a16="http://schemas.microsoft.com/office/drawing/2014/main" val="3129152884"/>
                    </a:ext>
                  </a:extLst>
                </a:gridCol>
                <a:gridCol w="533400">
                  <a:extLst>
                    <a:ext uri="{9D8B030D-6E8A-4147-A177-3AD203B41FA5}">
                      <a16:colId xmlns:a16="http://schemas.microsoft.com/office/drawing/2014/main" val="3211525834"/>
                    </a:ext>
                  </a:extLst>
                </a:gridCol>
                <a:gridCol w="2895600">
                  <a:extLst>
                    <a:ext uri="{9D8B030D-6E8A-4147-A177-3AD203B41FA5}">
                      <a16:colId xmlns:a16="http://schemas.microsoft.com/office/drawing/2014/main" val="493277285"/>
                    </a:ext>
                  </a:extLst>
                </a:gridCol>
              </a:tblGrid>
              <a:tr h="347049">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024615"/>
                  </a:ext>
                </a:extLst>
              </a:tr>
              <a:tr h="2247240">
                <a:tc>
                  <a:txBody>
                    <a:bodyPr/>
                    <a:lstStyle/>
                    <a:p>
                      <a:pPr algn="l" fontAlgn="b"/>
                      <a:r>
                        <a:rPr lang="en-US" sz="1100" b="0" i="0" u="none" strike="noStrike">
                          <a:solidFill>
                            <a:srgbClr val="000000"/>
                          </a:solidFill>
                          <a:effectLst/>
                          <a:latin typeface="Calibri" panose="020F0502020204030204" pitchFamily="34" charset="0"/>
                        </a:rPr>
                        <a:t>A339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VN1386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SGN-DLI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11/06/2025 20:46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[GTB] ENG 2 REV FAULT &lt;p&gt;DURING PUSHBACK, CAPT REPORTED VIA VHF ENG 2 REV FAULT. TSV SGN ADVISED RESET BUT NIL HELP. CAPT DECIDED GTB FOR RECTIFY.&lt;/p&gt;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EVENT CLOSED &lt;p&gt;ACTION: ADD B1489 RAISED FOR ENG 2 THRUST REVERSER INOP WITH C/O MAINT IAW AMM 78-30-00-040-01B. SATIS.</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TOTAL DELAY 80 MINS. TECH 30 MINS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DELAY KT TÍNH TỪ LÚC TÀU QUAY LẠI BÃI 20:30 -21:00 (KHẮC PHỤC XONG)&lt;/p&gt; &lt;div&gt;&lt;strong&gt;[GTB] ENG 2 REV FAULT&lt;/strong&gt;&lt;/div&gt;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&lt;div&gt;&lt;strong&gt;[GTB] ENG 2 REV FAULT&lt;/strong&gt;&lt;/div&gt;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78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TR fault có 2 nguyên nhân chính là do hỏng HCU (do ĐTC của thiết bị) hoặc hỏng TM817/TM824 (chân cắm bị cháy do ẩm hoặc bụi bẩn). Ban KT đã ra SO yêu cầu thay toàn bộ junction của TM và kiểm tra HCU có dấu hiệu quá nhiệt hay không cũng như kiểm tra TM theo tần suất C check. Hiện AIB không có khuyến cáo hay topic nào liên quan đến cảnh báo này.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332929"/>
                  </a:ext>
                </a:extLst>
              </a:tr>
              <a:tr h="2247240">
                <a:tc>
                  <a:txBody>
                    <a:bodyPr/>
                    <a:lstStyle/>
                    <a:p>
                      <a:pPr algn="l" fontAlgn="b"/>
                      <a:r>
                        <a:rPr lang="en-US" sz="1100" b="0" i="0" u="none" strike="noStrike">
                          <a:solidFill>
                            <a:srgbClr val="000000"/>
                          </a:solidFill>
                          <a:effectLst/>
                          <a:latin typeface="Calibri" panose="020F0502020204030204" pitchFamily="34" charset="0"/>
                        </a:rPr>
                        <a:t>A390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HKG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VN593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HKG-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10/06/2025 14:30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(GTB) ENG 2 REVERSE FAULT ANDNG 2 OIL QTY SHOW XX &lt;p&gt;T/S IN PROGRESS&lt;/p&gt;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&lt;p&gt;C/O DEACTIVATED TR, ADD RAISED&lt;br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(NVKT công ty PAPAS tại HKG thực hiện)&lt;/p&gt; C/O DEACTIVATED TR, ADD RAISED EVENT CLOSED &lt;p&gt;&lt;/p&gt; &lt;p&gt;ENG 2 REVERSE FAULT AND ENG 2 OIL QTY SHOW XX.&lt;/p&gt;&lt;div&gt;&lt;strong&gt;(GTB) ENG 2 REVERSE FAULT AND ENG 2 OIL QTY SHOW XX&lt;/strong&gt;&lt;/div&gt;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78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TR fault có 2 nguyên nhân chính là do hỏng HCU (do ĐTC của thiết bị) hoặc hỏng TM817/TM824 (chân cắm bị cháy do ẩm hoặc bụi bẩn). Ban KT đã ra SO yêu cầu thay toàn bộ junction của TM và kiểm tra HCU có dấu hiệu quá nhiệt hay không cũng như kiểm tra TM theo tần suất C check. Hiện AIB không có khuyến cáo hay topic nào liên quan đến cảnh báo này.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6382413"/>
                  </a:ext>
                </a:extLst>
              </a:tr>
            </a:tbl>
          </a:graphicData>
        </a:graphic>
      </p:graphicFrame>
    </p:spTree>
    <p:custDataLst>
      <p:tags r:id="rId1"/>
    </p:custDataLst>
    <p:extLst>
      <p:ext uri="{BB962C8B-B14F-4D97-AF65-F5344CB8AC3E}">
        <p14:creationId xmlns:p14="http://schemas.microsoft.com/office/powerpoint/2010/main" val="2709144498"/>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5" name="TextBox 4">
            <a:extLst>
              <a:ext uri="{FF2B5EF4-FFF2-40B4-BE49-F238E27FC236}">
                <a16:creationId xmlns:a16="http://schemas.microsoft.com/office/drawing/2014/main" id="{92DF34E4-5EAF-DD7F-DEE2-26E7FBD9CDA2}"/>
              </a:ext>
            </a:extLst>
          </p:cNvPr>
          <p:cNvSpPr txBox="1"/>
          <p:nvPr/>
        </p:nvSpPr>
        <p:spPr>
          <a:xfrm>
            <a:off x="207979" y="2101066"/>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7" name="Table 6"/>
          <p:cNvGraphicFramePr>
            <a:graphicFrameLocks noGrp="1"/>
          </p:cNvGraphicFramePr>
          <p:nvPr>
            <p:extLst>
              <p:ext uri="{D42A27DB-BD31-4B8C-83A1-F6EECF244321}">
                <p14:modId xmlns:p14="http://schemas.microsoft.com/office/powerpoint/2010/main" val="308346565"/>
              </p:ext>
            </p:extLst>
          </p:nvPr>
        </p:nvGraphicFramePr>
        <p:xfrm>
          <a:off x="336501" y="2463187"/>
          <a:ext cx="11550698" cy="4049499"/>
        </p:xfrm>
        <a:graphic>
          <a:graphicData uri="http://schemas.openxmlformats.org/drawingml/2006/table">
            <a:tbl>
              <a:tblPr/>
              <a:tblGrid>
                <a:gridCol w="252751">
                  <a:extLst>
                    <a:ext uri="{9D8B030D-6E8A-4147-A177-3AD203B41FA5}">
                      <a16:colId xmlns:a16="http://schemas.microsoft.com/office/drawing/2014/main" val="20000"/>
                    </a:ext>
                  </a:extLst>
                </a:gridCol>
                <a:gridCol w="480227">
                  <a:extLst>
                    <a:ext uri="{9D8B030D-6E8A-4147-A177-3AD203B41FA5}">
                      <a16:colId xmlns:a16="http://schemas.microsoft.com/office/drawing/2014/main" val="20001"/>
                    </a:ext>
                  </a:extLst>
                </a:gridCol>
                <a:gridCol w="454951">
                  <a:extLst>
                    <a:ext uri="{9D8B030D-6E8A-4147-A177-3AD203B41FA5}">
                      <a16:colId xmlns:a16="http://schemas.microsoft.com/office/drawing/2014/main" val="20002"/>
                    </a:ext>
                  </a:extLst>
                </a:gridCol>
                <a:gridCol w="1225840">
                  <a:extLst>
                    <a:ext uri="{9D8B030D-6E8A-4147-A177-3AD203B41FA5}">
                      <a16:colId xmlns:a16="http://schemas.microsoft.com/office/drawing/2014/main" val="20003"/>
                    </a:ext>
                  </a:extLst>
                </a:gridCol>
                <a:gridCol w="454951">
                  <a:extLst>
                    <a:ext uri="{9D8B030D-6E8A-4147-A177-3AD203B41FA5}">
                      <a16:colId xmlns:a16="http://schemas.microsoft.com/office/drawing/2014/main" val="20004"/>
                    </a:ext>
                  </a:extLst>
                </a:gridCol>
                <a:gridCol w="745614">
                  <a:extLst>
                    <a:ext uri="{9D8B030D-6E8A-4147-A177-3AD203B41FA5}">
                      <a16:colId xmlns:a16="http://schemas.microsoft.com/office/drawing/2014/main" val="20005"/>
                    </a:ext>
                  </a:extLst>
                </a:gridCol>
                <a:gridCol w="821439">
                  <a:extLst>
                    <a:ext uri="{9D8B030D-6E8A-4147-A177-3AD203B41FA5}">
                      <a16:colId xmlns:a16="http://schemas.microsoft.com/office/drawing/2014/main" val="20006"/>
                    </a:ext>
                  </a:extLst>
                </a:gridCol>
                <a:gridCol w="697173">
                  <a:extLst>
                    <a:ext uri="{9D8B030D-6E8A-4147-A177-3AD203B41FA5}">
                      <a16:colId xmlns:a16="http://schemas.microsoft.com/office/drawing/2014/main" val="20007"/>
                    </a:ext>
                  </a:extLst>
                </a:gridCol>
                <a:gridCol w="3460572">
                  <a:extLst>
                    <a:ext uri="{9D8B030D-6E8A-4147-A177-3AD203B41FA5}">
                      <a16:colId xmlns:a16="http://schemas.microsoft.com/office/drawing/2014/main" val="20008"/>
                    </a:ext>
                  </a:extLst>
                </a:gridCol>
                <a:gridCol w="2957180">
                  <a:extLst>
                    <a:ext uri="{9D8B030D-6E8A-4147-A177-3AD203B41FA5}">
                      <a16:colId xmlns:a16="http://schemas.microsoft.com/office/drawing/2014/main" val="20009"/>
                    </a:ext>
                  </a:extLst>
                </a:gridCol>
              </a:tblGrid>
              <a:tr h="174030">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ROUTE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973944">
                <a:tc>
                  <a:txBody>
                    <a:bodyPr/>
                    <a:lstStyle/>
                    <a:p>
                      <a:pPr algn="ctr" fontAlgn="ctr"/>
                      <a:r>
                        <a:rPr lang="en-US" sz="1100" b="0" i="0" u="none" strike="noStrike" dirty="0">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A507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09/06/2025 18:00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VN1350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SGN-CXR</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TRANSIT CHECK FOUND MW#3 INNER SHOULDER WORN TO CORD EXPOSED &lt;p&gt;TRANSIT CHECK FOUND MW #3 INNER SHOULDER WORN TO CORD EXPOSED, REMAINING SHOULDER ~0.9MM, CENTER ~1.8MM&lt;/p&gt;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&lt;p&gt;ACTION: C/O REPLACED NEW MW#3 SATIS, A/C SERVICEABLE&lt;/p&gt; TRANSIT CHECK FOUND MW#3 INNER SHOULDER WORN TO CORD EXPOSED EVENT CLOSED &lt;p&gt;&lt;/p&gt; &lt;p&gt;TOTAL DELAY 74 MINS, TECH DELAY 0 MINS , A/C ARRIVAL LATE 46 MINS&lt;/p&gt;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7220">
                <a:tc>
                  <a:txBody>
                    <a:bodyPr/>
                    <a:lstStyle/>
                    <a:p>
                      <a:pPr algn="ctr" fontAlgn="ctr"/>
                      <a:r>
                        <a:rPr lang="en-US" sz="1100" b="0" i="0" u="none" strike="noStrike" dirty="0">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A336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10/06/2025 11:50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DAD</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VN166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DAD-HAN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MW1 INNER SHOULDER CORD EXPOSED &lt;p&gt;MW1 INNER SHOULDER CORD EXPOSED, REMAINING SHOULER GROOVE DEPT 0.2 MMM&lt;/p&gt;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 RPLD NEW MW EVENT CLOSED &lt;p&gt;&lt;/p&gt; &lt;div&gt;&lt;strong&gt;MW1 INNER SHOULDER CORD EXPOSED&lt;/strong&gt;&lt;/div&gt;</a:t>
                      </a:r>
                      <a:br>
                        <a:rPr lang="en-SG" sz="1100" b="0" i="0" u="none" strike="noStrike">
                          <a:solidFill>
                            <a:srgbClr val="000000"/>
                          </a:solidFill>
                          <a:effectLst/>
                          <a:latin typeface="Calibri" panose="020F0502020204030204" pitchFamily="34" charset="0"/>
                        </a:rPr>
                      </a:b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&lt;p&gt;&lt;br /&gt;</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VN166 DAD-HAN DELAY 63 MINS (TD: 0MINS, A/C LATE: 12MINS, ATC:04MINS)&lt;/p&gt;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07220">
                <a:tc>
                  <a:txBody>
                    <a:bodyPr/>
                    <a:lstStyle/>
                    <a:p>
                      <a:pPr algn="ctr" fontAlgn="ctr"/>
                      <a:r>
                        <a:rPr lang="en-US" sz="1100" b="0" i="0" u="none" strike="noStrike">
                          <a:solidFill>
                            <a:srgbClr val="000000"/>
                          </a:solidFill>
                          <a:effectLst/>
                          <a:latin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A606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10/06/2025 11:59</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VN7100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SGN-DAD</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MW #3 INNER SHOULDER WORN TO CORD EXPOSED &lt;p&gt;TRANSIT CHECK FOUND MW #3 INNER SHOULDER WORN TO CORD EXPOSED, REMAINING SHOULDER ~1MM, CENTER ~1.5MM&lt;/p&gt;</a:t>
                      </a:r>
                    </a:p>
                  </a:txBody>
                  <a:tcPr marL="6824" marR="6824" marT="68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 EVENT CLOSED &lt;p&gt;ACTION: C/O REPLACED NEW MW #3. SATIS. </a:t>
                      </a:r>
                      <a:br>
                        <a:rPr lang="en-SG" sz="1100" b="0" i="0" u="none" strike="noStrike">
                          <a:solidFill>
                            <a:srgbClr val="000000"/>
                          </a:solidFill>
                          <a:effectLst/>
                          <a:latin typeface="Calibri" panose="020F0502020204030204" pitchFamily="34" charset="0"/>
                        </a:rPr>
                      </a:b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TOTAL DELAY 23 MINS. TECH 0 MINS.&lt;/p&gt; </a:t>
                      </a:r>
                    </a:p>
                  </a:txBody>
                  <a:tcPr marL="6824" marR="6824" marT="68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2020439"/>
                  </a:ext>
                </a:extLst>
              </a:tr>
              <a:tr h="807220">
                <a:tc>
                  <a:txBody>
                    <a:bodyPr/>
                    <a:lstStyle/>
                    <a:p>
                      <a:pPr algn="ctr" fontAlgn="ctr"/>
                      <a:r>
                        <a:rPr lang="en-US" sz="1100" b="0" i="0" u="none" strike="noStrike">
                          <a:solidFill>
                            <a:srgbClr val="000000"/>
                          </a:solidFill>
                          <a:effectLst/>
                          <a:latin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A397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10/06/2025 12:01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PQC</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SGN-PQC</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MW #4 INNER SHOULDER WORN TO CORD EXPOSED &lt;p&gt;TRANSIT CHECK FOUND MW #4 INNER SHOULDER WORN TO CORD EXPOSED, REMAINING SHOULDER ~0.9MM, CENTER ~1.3MM&lt;/p&gt;</a:t>
                      </a:r>
                    </a:p>
                  </a:txBody>
                  <a:tcPr marL="6824" marR="6824" marT="68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 EVENT CLOSED &lt;p&gt;ACTION: C/O REPLACED NEW MW #4. SATIS.</a:t>
                      </a:r>
                      <a:br>
                        <a:rPr lang="en-SG" sz="1100" b="0" i="0" u="none" strike="noStrike">
                          <a:solidFill>
                            <a:srgbClr val="000000"/>
                          </a:solidFill>
                          <a:effectLst/>
                          <a:latin typeface="Calibri" panose="020F0502020204030204" pitchFamily="34" charset="0"/>
                        </a:rPr>
                      </a:b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TOTAL DELAY 22 MINS. TECH 0 MINS.&lt;/p&gt; </a:t>
                      </a:r>
                    </a:p>
                  </a:txBody>
                  <a:tcPr marL="6824" marR="6824" marT="68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02536"/>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497855822"/>
              </p:ext>
            </p:extLst>
          </p:nvPr>
        </p:nvGraphicFramePr>
        <p:xfrm>
          <a:off x="381000" y="1121945"/>
          <a:ext cx="11383818" cy="699904"/>
        </p:xfrm>
        <a:graphic>
          <a:graphicData uri="http://schemas.openxmlformats.org/drawingml/2006/table">
            <a:tbl>
              <a:tblPr/>
              <a:tblGrid>
                <a:gridCol w="417031">
                  <a:extLst>
                    <a:ext uri="{9D8B030D-6E8A-4147-A177-3AD203B41FA5}">
                      <a16:colId xmlns:a16="http://schemas.microsoft.com/office/drawing/2014/main" val="20000"/>
                    </a:ext>
                  </a:extLst>
                </a:gridCol>
                <a:gridCol w="518471">
                  <a:extLst>
                    <a:ext uri="{9D8B030D-6E8A-4147-A177-3AD203B41FA5}">
                      <a16:colId xmlns:a16="http://schemas.microsoft.com/office/drawing/2014/main" val="20001"/>
                    </a:ext>
                  </a:extLst>
                </a:gridCol>
                <a:gridCol w="371947">
                  <a:extLst>
                    <a:ext uri="{9D8B030D-6E8A-4147-A177-3AD203B41FA5}">
                      <a16:colId xmlns:a16="http://schemas.microsoft.com/office/drawing/2014/main" val="20002"/>
                    </a:ext>
                  </a:extLst>
                </a:gridCol>
                <a:gridCol w="1127111">
                  <a:extLst>
                    <a:ext uri="{9D8B030D-6E8A-4147-A177-3AD203B41FA5}">
                      <a16:colId xmlns:a16="http://schemas.microsoft.com/office/drawing/2014/main" val="20003"/>
                    </a:ext>
                  </a:extLst>
                </a:gridCol>
                <a:gridCol w="383217">
                  <a:extLst>
                    <a:ext uri="{9D8B030D-6E8A-4147-A177-3AD203B41FA5}">
                      <a16:colId xmlns:a16="http://schemas.microsoft.com/office/drawing/2014/main" val="20004"/>
                    </a:ext>
                  </a:extLst>
                </a:gridCol>
                <a:gridCol w="935502">
                  <a:extLst>
                    <a:ext uri="{9D8B030D-6E8A-4147-A177-3AD203B41FA5}">
                      <a16:colId xmlns:a16="http://schemas.microsoft.com/office/drawing/2014/main" val="20005"/>
                    </a:ext>
                  </a:extLst>
                </a:gridCol>
                <a:gridCol w="642453">
                  <a:extLst>
                    <a:ext uri="{9D8B030D-6E8A-4147-A177-3AD203B41FA5}">
                      <a16:colId xmlns:a16="http://schemas.microsoft.com/office/drawing/2014/main" val="20006"/>
                    </a:ext>
                  </a:extLst>
                </a:gridCol>
                <a:gridCol w="755164">
                  <a:extLst>
                    <a:ext uri="{9D8B030D-6E8A-4147-A177-3AD203B41FA5}">
                      <a16:colId xmlns:a16="http://schemas.microsoft.com/office/drawing/2014/main" val="20007"/>
                    </a:ext>
                  </a:extLst>
                </a:gridCol>
                <a:gridCol w="2344390">
                  <a:extLst>
                    <a:ext uri="{9D8B030D-6E8A-4147-A177-3AD203B41FA5}">
                      <a16:colId xmlns:a16="http://schemas.microsoft.com/office/drawing/2014/main" val="20008"/>
                    </a:ext>
                  </a:extLst>
                </a:gridCol>
                <a:gridCol w="3888532">
                  <a:extLst>
                    <a:ext uri="{9D8B030D-6E8A-4147-A177-3AD203B41FA5}">
                      <a16:colId xmlns:a16="http://schemas.microsoft.com/office/drawing/2014/main" val="20009"/>
                    </a:ext>
                  </a:extLst>
                </a:gridCol>
              </a:tblGrid>
              <a:tr h="228143">
                <a:tc>
                  <a:txBody>
                    <a:bodyPr/>
                    <a:lstStyle/>
                    <a:p>
                      <a:pPr algn="ctr" fontAlgn="ctr"/>
                      <a:r>
                        <a:rPr lang="en-US" sz="1000" b="1" i="0" u="none" strike="noStrike" dirty="0">
                          <a:solidFill>
                            <a:srgbClr val="000000"/>
                          </a:solidFill>
                          <a:effectLst/>
                          <a:latin typeface="Times New Roman" panose="02020603050405020304" pitchFamily="18" charset="0"/>
                        </a:rPr>
                        <a:t>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FLEET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A/C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DATE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STA</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MINUTES</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FLIGHT 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ROUTINE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DESC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ACTION</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88857">
                <a:tc>
                  <a:txBody>
                    <a:bodyPr/>
                    <a:lstStyle/>
                    <a:p>
                      <a:pPr algn="l" fontAlgn="ctr"/>
                      <a:r>
                        <a:rPr lang="en-US" sz="1100" b="0" i="0" u="none" strike="noStrike">
                          <a:solidFill>
                            <a:srgbClr val="000000"/>
                          </a:solidFill>
                          <a:effectLst/>
                          <a:latin typeface="Calibri" panose="020F0502020204030204" pitchFamily="34" charset="0"/>
                        </a:rPr>
                        <a:t>NIL</a:t>
                      </a: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5" name="TextBox 4">
            <a:extLst>
              <a:ext uri="{FF2B5EF4-FFF2-40B4-BE49-F238E27FC236}">
                <a16:creationId xmlns:a16="http://schemas.microsoft.com/office/drawing/2014/main" id="{92DF34E4-5EAF-DD7F-DEE2-26E7FBD9CDA2}"/>
              </a:ext>
            </a:extLst>
          </p:cNvPr>
          <p:cNvSpPr txBox="1"/>
          <p:nvPr/>
        </p:nvSpPr>
        <p:spPr>
          <a:xfrm>
            <a:off x="121733" y="719987"/>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7" name="Table 6"/>
          <p:cNvGraphicFramePr>
            <a:graphicFrameLocks noGrp="1"/>
          </p:cNvGraphicFramePr>
          <p:nvPr>
            <p:extLst>
              <p:ext uri="{D42A27DB-BD31-4B8C-83A1-F6EECF244321}">
                <p14:modId xmlns:p14="http://schemas.microsoft.com/office/powerpoint/2010/main" val="2871845922"/>
              </p:ext>
            </p:extLst>
          </p:nvPr>
        </p:nvGraphicFramePr>
        <p:xfrm>
          <a:off x="250255" y="1082109"/>
          <a:ext cx="11550698" cy="5350955"/>
        </p:xfrm>
        <a:graphic>
          <a:graphicData uri="http://schemas.openxmlformats.org/drawingml/2006/table">
            <a:tbl>
              <a:tblPr/>
              <a:tblGrid>
                <a:gridCol w="252751">
                  <a:extLst>
                    <a:ext uri="{9D8B030D-6E8A-4147-A177-3AD203B41FA5}">
                      <a16:colId xmlns:a16="http://schemas.microsoft.com/office/drawing/2014/main" val="20000"/>
                    </a:ext>
                  </a:extLst>
                </a:gridCol>
                <a:gridCol w="480227">
                  <a:extLst>
                    <a:ext uri="{9D8B030D-6E8A-4147-A177-3AD203B41FA5}">
                      <a16:colId xmlns:a16="http://schemas.microsoft.com/office/drawing/2014/main" val="20001"/>
                    </a:ext>
                  </a:extLst>
                </a:gridCol>
                <a:gridCol w="454951">
                  <a:extLst>
                    <a:ext uri="{9D8B030D-6E8A-4147-A177-3AD203B41FA5}">
                      <a16:colId xmlns:a16="http://schemas.microsoft.com/office/drawing/2014/main" val="20002"/>
                    </a:ext>
                  </a:extLst>
                </a:gridCol>
                <a:gridCol w="1225840">
                  <a:extLst>
                    <a:ext uri="{9D8B030D-6E8A-4147-A177-3AD203B41FA5}">
                      <a16:colId xmlns:a16="http://schemas.microsoft.com/office/drawing/2014/main" val="20003"/>
                    </a:ext>
                  </a:extLst>
                </a:gridCol>
                <a:gridCol w="454951">
                  <a:extLst>
                    <a:ext uri="{9D8B030D-6E8A-4147-A177-3AD203B41FA5}">
                      <a16:colId xmlns:a16="http://schemas.microsoft.com/office/drawing/2014/main" val="20004"/>
                    </a:ext>
                  </a:extLst>
                </a:gridCol>
                <a:gridCol w="745614">
                  <a:extLst>
                    <a:ext uri="{9D8B030D-6E8A-4147-A177-3AD203B41FA5}">
                      <a16:colId xmlns:a16="http://schemas.microsoft.com/office/drawing/2014/main" val="20005"/>
                    </a:ext>
                  </a:extLst>
                </a:gridCol>
                <a:gridCol w="821439">
                  <a:extLst>
                    <a:ext uri="{9D8B030D-6E8A-4147-A177-3AD203B41FA5}">
                      <a16:colId xmlns:a16="http://schemas.microsoft.com/office/drawing/2014/main" val="20006"/>
                    </a:ext>
                  </a:extLst>
                </a:gridCol>
                <a:gridCol w="697173">
                  <a:extLst>
                    <a:ext uri="{9D8B030D-6E8A-4147-A177-3AD203B41FA5}">
                      <a16:colId xmlns:a16="http://schemas.microsoft.com/office/drawing/2014/main" val="20007"/>
                    </a:ext>
                  </a:extLst>
                </a:gridCol>
                <a:gridCol w="3460572">
                  <a:extLst>
                    <a:ext uri="{9D8B030D-6E8A-4147-A177-3AD203B41FA5}">
                      <a16:colId xmlns:a16="http://schemas.microsoft.com/office/drawing/2014/main" val="20008"/>
                    </a:ext>
                  </a:extLst>
                </a:gridCol>
                <a:gridCol w="2957180">
                  <a:extLst>
                    <a:ext uri="{9D8B030D-6E8A-4147-A177-3AD203B41FA5}">
                      <a16:colId xmlns:a16="http://schemas.microsoft.com/office/drawing/2014/main" val="20009"/>
                    </a:ext>
                  </a:extLst>
                </a:gridCol>
              </a:tblGrid>
              <a:tr h="113484">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ROUTE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09248">
                <a:tc>
                  <a:txBody>
                    <a:bodyPr/>
                    <a:lstStyle/>
                    <a:p>
                      <a:pPr algn="ctr" fontAlgn="ctr"/>
                      <a:r>
                        <a:rPr lang="en-US" sz="1100" b="0" i="0" u="none" strike="noStrike" dirty="0">
                          <a:solidFill>
                            <a:srgbClr val="00000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B787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A874</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11/06/2025 02:44</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VN428</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HAN-PUS</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W#8 AND W#9 CORD EXPOSED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 REPLACED W#8 AND W#9 EVENT CLOSED &lt;p&gt;&lt;/p&gt; &lt;div&gt;&lt;strong&gt;W#8 AND W#9 CORD EXPOSED&lt;/strong&gt;&lt;/div&gt;</a:t>
                      </a:r>
                      <a:br>
                        <a:rPr lang="en-SG" sz="1100" b="0" i="0" u="none" strike="noStrike">
                          <a:solidFill>
                            <a:srgbClr val="000000"/>
                          </a:solidFill>
                          <a:effectLst/>
                          <a:latin typeface="Calibri" panose="020F0502020204030204" pitchFamily="34" charset="0"/>
                        </a:rPr>
                      </a:b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&lt;p&gt;&lt;br /&gt;</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delay 39MIN&lt;/p&gt;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3929">
                <a:tc>
                  <a:txBody>
                    <a:bodyPr/>
                    <a:lstStyle/>
                    <a:p>
                      <a:pPr algn="ctr" fontAlgn="ctr"/>
                      <a:r>
                        <a:rPr lang="en-US" sz="1100" b="0" i="0" u="none" strike="noStrike" dirty="0">
                          <a:solidFill>
                            <a:srgbClr val="000000"/>
                          </a:solidFill>
                          <a:effectLst/>
                          <a:latin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A608</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11/06/2025 11:05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VN592</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HAN-HKG</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FOUND M/W #4 INNER SHOULDER CORD EXPOSED &lt;p&gt;A608 VN1716/VN592 VII-HAN-HKG (TRANSIT): FOUND M/W #4 INNER SHOULDER CORD EXPOSED; REMAINING SHOULDER GROOVE 0.2 MM.&lt;/p&gt;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 EVENT CLOSED &lt;p&gt;ACTION: C/O REPLACE NEW ONE -&gt; SATIS.&lt;/p&gt;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1010">
                <a:tc>
                  <a:txBody>
                    <a:bodyPr/>
                    <a:lstStyle/>
                    <a:p>
                      <a:pPr algn="ctr" fontAlgn="ctr"/>
                      <a:r>
                        <a:rPr lang="en-US" sz="1100" b="0" i="0" u="none" strike="noStrike">
                          <a:solidFill>
                            <a:srgbClr val="000000"/>
                          </a:solidFill>
                          <a:effectLst/>
                          <a:latin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A612</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11/06/2025 13:20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VN594</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SGN-HKG</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FOUND MW #3 INNER SHOULDER WORN TO CORD EXPOSED &lt;p&gt;T/X CHECK FOUND MW #3 INNER SHOULDER WORN TO CORD EXPOSED, REMAINING SHOULDER ~0.5MM, CENTER ~1.5MM&lt;/p&gt;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&lt;p&gt;FINAL ACTION: C/O REPLACED MW #3, CHECK SATIS&lt;/p&gt; &lt;p&gt;TOTAL DELAY: 42mins, TECH: 0mins, A/C ARRIVED LATE: 25mins&lt;/p&gt;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6864478"/>
                  </a:ext>
                </a:extLst>
              </a:tr>
              <a:tr h="545322">
                <a:tc>
                  <a:txBody>
                    <a:bodyPr/>
                    <a:lstStyle/>
                    <a:p>
                      <a:pPr algn="ctr" fontAlgn="ctr"/>
                      <a:r>
                        <a:rPr lang="en-US" sz="1100" b="0" i="0" u="none" strike="noStrike">
                          <a:solidFill>
                            <a:srgbClr val="000000"/>
                          </a:solidFill>
                          <a:effectLst/>
                          <a:latin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A357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11/06/2025 15:30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VN679</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SGN-KUL</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FOUND MW #4 INNER SHOULDER WORN TO CORD EXPOSED &lt;p&gt;T/X CHECK FOUND MW #4 INNER SHOULDER WORN TO CORD EXPOSED, REMAINING SHOULDER ~0.5 MM,&lt;/p&gt;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FINAL  ACTION: C/O REPLACED MW #4, CHECK SATIS, A/C SERVICEABLE&lt;/p&gt; &lt;p&gt;A/C TOTAL DELAY: 68mins, TECH: 0mins, A/C ARRIVED LATE: 30mins&lt;/p&gt;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7135795"/>
                  </a:ext>
                </a:extLst>
              </a:tr>
              <a:tr h="341499">
                <a:tc>
                  <a:txBody>
                    <a:bodyPr/>
                    <a:lstStyle/>
                    <a:p>
                      <a:pPr algn="ctr" fontAlgn="ctr"/>
                      <a:r>
                        <a:rPr lang="en-US" sz="1100" b="0" i="0" u="none" strike="noStrike">
                          <a:solidFill>
                            <a:srgbClr val="000000"/>
                          </a:solidFill>
                          <a:effectLst/>
                          <a:latin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A610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13/06/2025 16:50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VN979</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SGN-BOM</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TRANSIT CHECK FOUND MW #4 INNER SHOULDER CORD EXPOSED &lt;p&gt;TRANSIT CHECK FOUND MW #4 INNER SHOULDER CORD EXPOSED, REMAINING SHOULDER ~ 0.3MM&lt;/p&gt;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&lt;p&gt;ACTION: C/O REPLACED NEW MW #4 SATIS, A/C SERVICEABLE&lt;/p&gt; TRANSIT CHECK FOUND MW #4 INNER SHOULDER CORD EXPOSED EVENT CLOSED &lt;p&gt;&lt;/p&gt; &lt;p&gt;TOTAL DELAY 25 MINS, TECH DELAY 0 MINS , A/C ARRIVAL LATE 46 MINS&lt;/p&gt;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1735916"/>
                  </a:ext>
                </a:extLst>
              </a:tr>
              <a:tr h="341499">
                <a:tc>
                  <a:txBody>
                    <a:bodyPr/>
                    <a:lstStyle/>
                    <a:p>
                      <a:pPr algn="ctr" fontAlgn="ctr"/>
                      <a:r>
                        <a:rPr lang="en-US" sz="1100" b="0" i="0" u="none" strike="noStrike">
                          <a:solidFill>
                            <a:srgbClr val="000000"/>
                          </a:solidFill>
                          <a:effectLst/>
                          <a:latin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A614</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13/06/2025 23:05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DAD</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VN193</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DAD-ICN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NOSE WHEEL &lt;p&gt;LH NOSE WHEEL CENTER &amp;#160;WORN TO 0 MM.&lt;br /&gt;</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&amp;#160;&lt;/p&gt;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Calibri" panose="020F0502020204030204" pitchFamily="34" charset="0"/>
                        </a:rPr>
                        <a:t> REPLACED NEW ONE. SATIS EVENT CLOSED &lt;p&gt;&lt;/p&gt; &lt;p&gt;TOTAL DELAY 59 MINS&lt;/p&gt;</a:t>
                      </a:r>
                      <a:br>
                        <a:rPr lang="en-SG" sz="1100" b="0" i="0" u="none" strike="noStrike">
                          <a:solidFill>
                            <a:srgbClr val="000000"/>
                          </a:solidFill>
                          <a:effectLst/>
                          <a:latin typeface="Calibri" panose="020F0502020204030204" pitchFamily="34" charset="0"/>
                        </a:rPr>
                      </a:b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&lt;p&gt;25 MINS DUE TO REPLACE NEW NW&lt;/p&gt;</a:t>
                      </a:r>
                      <a:br>
                        <a:rPr lang="en-SG" sz="1100" b="0" i="0" u="none" strike="noStrike">
                          <a:solidFill>
                            <a:srgbClr val="000000"/>
                          </a:solidFill>
                          <a:effectLst/>
                          <a:latin typeface="Calibri" panose="020F0502020204030204" pitchFamily="34" charset="0"/>
                        </a:rPr>
                      </a:b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&lt;p&gt;34 DUE TO OPERATION&lt;/p&gt;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5837053"/>
                  </a:ext>
                </a:extLst>
              </a:tr>
            </a:tbl>
          </a:graphicData>
        </a:graphic>
      </p:graphicFrame>
    </p:spTree>
    <p:extLst>
      <p:ext uri="{BB962C8B-B14F-4D97-AF65-F5344CB8AC3E}">
        <p14:creationId xmlns:p14="http://schemas.microsoft.com/office/powerpoint/2010/main" val="1093189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nvGraphicFramePr>
        <p:xfrm>
          <a:off x="134289" y="1519622"/>
          <a:ext cx="11688715" cy="1773389"/>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a:solidFill>
                            <a:srgbClr val="000000"/>
                          </a:solidFill>
                          <a:effectLst/>
                          <a:latin typeface="Calibri" panose="020F0502020204030204" pitchFamily="34" charset="0"/>
                        </a:rPr>
                        <a:t>A615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09/06/2025 17:30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09/06/2025 21:00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C/O WO 7`447`410 &lt;p&gt;C/O WO 7&amp;#96;447&amp;#96;410: Do TSM 36-22-00-810-803-A T/S WNG: Air ENG#1 bleed leak.&lt;/p&gt;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&lt;p&gt;C/o replaced loop ENG#1, Eng run up satis&lt;/p&gt; FINAL ACTION EVENT CLOSED  &lt;div&gt;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&lt;p&gt;T/S WNG: Air ENG#1 bleed leak.&lt;/p&gt;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36-22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Hỏng hóc liên quan đến ENG loop. Sau một thời gian hoạt động do ảnh hưởng của nhiệt độ môi trường hoạt động cao và rung lắc trong quá trình khai thác có thể dẫn tới loop bị lão hoá đi kèm với nhiệt độ môi trường cao có thể dẫn tới cảnh báo giả. Hiện tượng này đã được nhận diện tuy nhiên chưa có biện pháp khắc phụ triệt để. Việc thay chủ động loop cũng được đánh giá là chưa cần thiết tại thời điểm này. Các tàu khi thực hiện C check sẽ được thực hiện task Eng bleed health check để phát hiện sớm hỏng hóc. Tiếp tục theo dõi thêm</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
        <p:nvSpPr>
          <p:cNvPr id="7" name="TextBox 6">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noProof="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6</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320309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noProof="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ext uri="{D42A27DB-BD31-4B8C-83A1-F6EECF244321}">
                <p14:modId xmlns:p14="http://schemas.microsoft.com/office/powerpoint/2010/main" val="3252321432"/>
              </p:ext>
            </p:extLst>
          </p:nvPr>
        </p:nvGraphicFramePr>
        <p:xfrm>
          <a:off x="116182" y="1521019"/>
          <a:ext cx="11853157" cy="5053155"/>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82465">
                  <a:extLst>
                    <a:ext uri="{9D8B030D-6E8A-4147-A177-3AD203B41FA5}">
                      <a16:colId xmlns:a16="http://schemas.microsoft.com/office/drawing/2014/main" val="2573721533"/>
                    </a:ext>
                  </a:extLst>
                </a:gridCol>
                <a:gridCol w="2660935">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666479">
                <a:tc>
                  <a:txBody>
                    <a:bodyPr/>
                    <a:lstStyle/>
                    <a:p>
                      <a:pPr algn="l" fontAlgn="b"/>
                      <a:r>
                        <a:rPr lang="en-US" sz="1100" b="0" i="0" u="none" strike="noStrike">
                          <a:solidFill>
                            <a:srgbClr val="000000"/>
                          </a:solidFill>
                          <a:effectLst/>
                          <a:latin typeface="Calibri" panose="020F0502020204030204" pitchFamily="34" charset="0"/>
                        </a:rPr>
                        <a:t>A615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09/06/2025 17:30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VN1563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HAN-CXR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C/O WO 7`447`410 &lt;p&gt;C/O WO 7&amp;#96;447&amp;#96;410: Do TSM 36-22-00-810-803-A T/S WNG: Air ENG#1 bleed leak.&lt;/p&gt;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&lt;p&gt;C/o replaced loop ENG#1, Eng run up satis&lt;/p&gt; FINAL ACTION EVENT CLOSED  &lt;div&gt;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&lt;p&gt;T/S WNG: Air ENG#1 bleed leak.&lt;/p&gt;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36-22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Hỏng hóc liên quan đến ENG loop. Sau một thời gian hoạt động do ảnh hưởng của nhiệt độ môi trường hoạt động cao và rung lắc trong quá trình khai thác có thể dẫn tới loop bị lão hoá đi kèm với nhiệt độ môi trường cao có thể dẫn tới cảnh báo giả. Hiện tượng này đã được nhận diện tuy nhiên chưa có biện pháp khắc phụ triệt để. Việc thay chủ động loop cũng được đánh giá là chưa cần thiết tại thời điểm này. Các tàu khi thực hiện C check sẽ được thực hiện task Eng bleed health check để phát hiện sớm hỏng hóc. Tiếp tục theo dõi thêm</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r h="515354">
                <a:tc>
                  <a:txBody>
                    <a:bodyPr/>
                    <a:lstStyle/>
                    <a:p>
                      <a:pPr algn="l" fontAlgn="b"/>
                      <a:r>
                        <a:rPr lang="en-US" sz="1100" b="0" i="0" u="none" strike="noStrike" dirty="0">
                          <a:solidFill>
                            <a:srgbClr val="000000"/>
                          </a:solidFill>
                          <a:effectLst/>
                          <a:latin typeface="Calibri" panose="020F0502020204030204" pitchFamily="34" charset="0"/>
                        </a:rPr>
                        <a:t>A339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11/06/2025 20:46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VN1386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SGN-DLI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[GTB] ENG 2 REV FAULT &lt;p&gt;DURING PUSHBACK, CAPT REPORTED VIA VHF ENG 2 REV FAULT. TSV SGN ADVISED RESET BUT NIL HELP. CAPT DECIDED GTB FOR RECTIFY.&lt;/p&gt;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EVENT CLOSED &lt;p&gt;ACTION: ADD B1489 RAISED FOR ENG 2 THRUST REVERSER INOP WITH C/O MAINT IAW AMM 78-30-00-040-01B. SATIS.</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TOTAL DELAY 80 MINS. TECH 30 MINS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DELAY KT TÍNH TỪ LÚC TÀU QUAY LẠI BÃI 20:30 -21:00 (KHẮC PHỤC XONG)&lt;/p&gt; &lt;div&gt;&lt;strong&gt;[GTB] ENG 2 REV FAULT&lt;/strong&gt;&lt;/div&gt;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TR fault có 2 nguyên nhân chính là do hỏng HCU (do ĐTC của thiết bị) hoặc hỏng TM817/TM824 (chân cắm bị cháy do ẩm hoặc bụi bẩn). Ban KT đã ra SO yêu cầu thay toàn bộ junction của TM và kiểm tra HCU có dấu hiệu quá nhiệt hay không cũng như kiểm tra TM theo tần suất C check. Hiện AIB không có khuyến cáo hay topic nào liên quan đến cảnh báo này.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151509"/>
                  </a:ext>
                </a:extLst>
              </a:tr>
              <a:tr h="515354">
                <a:tc>
                  <a:txBody>
                    <a:bodyPr/>
                    <a:lstStyle/>
                    <a:p>
                      <a:pPr algn="l" fontAlgn="b"/>
                      <a:r>
                        <a:rPr lang="en-US" sz="1100" b="0" i="0" u="none" strike="noStrike" dirty="0">
                          <a:solidFill>
                            <a:srgbClr val="000000"/>
                          </a:solidFill>
                          <a:effectLst/>
                          <a:latin typeface="Calibri" panose="020F0502020204030204" pitchFamily="34" charset="0"/>
                        </a:rPr>
                        <a:t>A390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10/06/2025 14:30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HKG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343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VN593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HKG-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(GTB) ENG 2 REVERSE FAULT ANDNG 2 OIL QTY SHOW XX &lt;p&gt;T/S IN PROGRESS&lt;/p&gt;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&lt;p&gt;C/O DEACTIVATED TR, ADD RAISED&lt;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(NVKT </a:t>
                      </a:r>
                      <a:r>
                        <a:rPr lang="en-US" sz="1100" b="0" i="0" u="none" strike="noStrike" dirty="0" err="1">
                          <a:solidFill>
                            <a:srgbClr val="000000"/>
                          </a:solidFill>
                          <a:effectLst/>
                          <a:latin typeface="Calibri" panose="020F0502020204030204" pitchFamily="34" charset="0"/>
                        </a:rPr>
                        <a:t>công</a:t>
                      </a:r>
                      <a:r>
                        <a:rPr lang="en-US" sz="1100" b="0" i="0" u="none" strike="noStrike" dirty="0">
                          <a:solidFill>
                            <a:srgbClr val="000000"/>
                          </a:solidFill>
                          <a:effectLst/>
                          <a:latin typeface="Calibri" panose="020F0502020204030204" pitchFamily="34" charset="0"/>
                        </a:rPr>
                        <a:t> ty PAPAS </a:t>
                      </a:r>
                      <a:r>
                        <a:rPr lang="en-US" sz="1100" b="0" i="0" u="none" strike="noStrike" dirty="0" err="1">
                          <a:solidFill>
                            <a:srgbClr val="000000"/>
                          </a:solidFill>
                          <a:effectLst/>
                          <a:latin typeface="Calibri" panose="020F0502020204030204" pitchFamily="34" charset="0"/>
                        </a:rPr>
                        <a:t>tại</a:t>
                      </a:r>
                      <a:r>
                        <a:rPr lang="en-US" sz="1100" b="0" i="0" u="none" strike="noStrike" dirty="0">
                          <a:solidFill>
                            <a:srgbClr val="000000"/>
                          </a:solidFill>
                          <a:effectLst/>
                          <a:latin typeface="Calibri" panose="020F0502020204030204" pitchFamily="34" charset="0"/>
                        </a:rPr>
                        <a:t> HKG </a:t>
                      </a:r>
                      <a:r>
                        <a:rPr lang="en-US" sz="1100" b="0" i="0" u="none" strike="noStrike" dirty="0" err="1">
                          <a:solidFill>
                            <a:srgbClr val="000000"/>
                          </a:solidFill>
                          <a:effectLst/>
                          <a:latin typeface="Calibri" panose="020F0502020204030204" pitchFamily="34" charset="0"/>
                        </a:rPr>
                        <a:t>thực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)&lt;/p&gt; C/O DEACTIVATED TR, ADD RAISED EVENT CLOSED &lt;p&gt;&lt;/p&gt; &lt;p&gt;ENG 2 REVERSE FAULT AND ENG 2 OIL QTY SHOW XX.&lt;/p&gt;&lt;div&gt;&lt;strong&gt;(GTB) ENG 2 REVERSE FAULT AND ENG 2 OIL QTY SHOW XX&lt;/strong&gt;&lt;/</a:t>
                      </a:r>
                      <a:r>
                        <a:rPr lang="en-US" sz="1100" b="0" i="0" u="none" strike="noStrike">
                          <a:solidFill>
                            <a:srgbClr val="000000"/>
                          </a:solidFill>
                          <a:effectLst/>
                          <a:latin typeface="Calibri" panose="020F0502020204030204" pitchFamily="34" charset="0"/>
                        </a:rPr>
                        <a:t>div&gt;</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TR fault có 2 nguyên nhân chính là do hỏng HCU (do ĐTC của thiết bị) hoặc hỏng TM817/TM824 (chân cắm bị cháy do ẩm hoặc bụi bẩn). Ban KT đã ra SO yêu cầu thay toàn bộ junction của TM và kiểm tra HCU có dấu hiệu quá nhiệt hay không cũng như kiểm tra TM theo tần suất C check. Hiện AIB không có khuyến cáo hay topic nào liên quan đến cảnh báo này.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2273581"/>
                  </a:ext>
                </a:extLst>
              </a:tr>
            </a:tbl>
          </a:graphicData>
        </a:graphic>
      </p:graphicFrame>
      <p:sp>
        <p:nvSpPr>
          <p:cNvPr id="8" name="TextBox 7">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noProof="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39873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ext uri="{D42A27DB-BD31-4B8C-83A1-F6EECF244321}">
                <p14:modId xmlns:p14="http://schemas.microsoft.com/office/powerpoint/2010/main" val="636954334"/>
              </p:ext>
            </p:extLst>
          </p:nvPr>
        </p:nvGraphicFramePr>
        <p:xfrm>
          <a:off x="116182" y="1521019"/>
          <a:ext cx="11853157" cy="4718349"/>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dirty="0">
                          <a:solidFill>
                            <a:srgbClr val="000000"/>
                          </a:solidFill>
                          <a:effectLst/>
                          <a:latin typeface="Calibri" panose="020F0502020204030204" pitchFamily="34" charset="0"/>
                        </a:rPr>
                        <a:t>A396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10/06/2025 00:50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VN7155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HAN-DAD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CAPT’ REPORT: SMOKE LAVATORY DETECT FAULT &lt;p&gt;CAPT’ REPORT: SMOKE LAVATORY DETECT FAULT&lt;/p&gt;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&lt;p&gt;Found DEU B 300RH8 </a:t>
                      </a:r>
                      <a:r>
                        <a:rPr lang="en-US" sz="1100" b="0" i="0" u="none" strike="noStrike" dirty="0" err="1">
                          <a:solidFill>
                            <a:srgbClr val="000000"/>
                          </a:solidFill>
                          <a:effectLst/>
                          <a:latin typeface="Calibri" panose="020F0502020204030204" pitchFamily="34" charset="0"/>
                        </a:rPr>
                        <a:t>inop</a:t>
                      </a:r>
                      <a:r>
                        <a:rPr lang="en-US" sz="1100" b="0" i="0" u="none" strike="noStrike" dirty="0">
                          <a:solidFill>
                            <a:srgbClr val="000000"/>
                          </a:solidFill>
                          <a:effectLst/>
                          <a:latin typeface="Calibri" panose="020F0502020204030204" pitchFamily="34" charset="0"/>
                        </a:rPr>
                        <a:t>. C/o replaced DEU B REF AMM 23-73-000-001-A/400-001-A. OPT test </a:t>
                      </a:r>
                      <a:r>
                        <a:rPr lang="en-US" sz="1100" b="0" i="0" u="none" strike="noStrike" dirty="0" err="1">
                          <a:solidFill>
                            <a:srgbClr val="000000"/>
                          </a:solidFill>
                          <a:effectLst/>
                          <a:latin typeface="Calibri" panose="020F0502020204030204" pitchFamily="34" charset="0"/>
                        </a:rPr>
                        <a:t>satis</a:t>
                      </a:r>
                      <a:r>
                        <a:rPr lang="en-US" sz="1100" b="0" i="0" u="none" strike="noStrike" dirty="0">
                          <a:solidFill>
                            <a:srgbClr val="000000"/>
                          </a:solidFill>
                          <a:effectLst/>
                          <a:latin typeface="Calibri" panose="020F0502020204030204" pitchFamily="34" charset="0"/>
                        </a:rPr>
                        <a:t>.&lt;/p&gt; FINAL ACTION EVENT CLOSED &lt;p&gt;&lt;/p&gt; &lt;div&gt;&lt;strong&gt;CAPT’ REPORT: SMOKE LAVATORY DETECT FAULT&lt;/strong&gt;&lt;/div&gt;</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&lt;p&gt;A/c delay 70 </a:t>
                      </a:r>
                      <a:r>
                        <a:rPr lang="en-US" sz="1100" b="0" i="0" u="none" strike="noStrike" dirty="0" err="1">
                          <a:solidFill>
                            <a:srgbClr val="000000"/>
                          </a:solidFill>
                          <a:effectLst/>
                          <a:latin typeface="Calibri" panose="020F0502020204030204" pitchFamily="34" charset="0"/>
                        </a:rPr>
                        <a:t>phút</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Tầu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xuống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muộn</a:t>
                      </a:r>
                      <a:r>
                        <a:rPr lang="en-US" sz="1100" b="0" i="0" u="none" strike="noStrike" dirty="0">
                          <a:solidFill>
                            <a:srgbClr val="000000"/>
                          </a:solidFill>
                          <a:effectLst/>
                          <a:latin typeface="Calibri" panose="020F0502020204030204" pitchFamily="34" charset="0"/>
                        </a:rPr>
                        <a:t>: 40 </a:t>
                      </a:r>
                      <a:r>
                        <a:rPr lang="en-US" sz="1100" b="0" i="0" u="none" strike="noStrike" dirty="0" err="1">
                          <a:solidFill>
                            <a:srgbClr val="000000"/>
                          </a:solidFill>
                          <a:effectLst/>
                          <a:latin typeface="Calibri" panose="020F0502020204030204" pitchFamily="34" charset="0"/>
                        </a:rPr>
                        <a:t>phút</a:t>
                      </a:r>
                      <a:r>
                        <a:rPr lang="en-US" sz="1100" b="0" i="0" u="none" strike="noStrike" dirty="0">
                          <a:solidFill>
                            <a:srgbClr val="000000"/>
                          </a:solidFill>
                          <a:effectLst/>
                          <a:latin typeface="Calibri" panose="020F0502020204030204" pitchFamily="34" charset="0"/>
                        </a:rPr>
                        <a:t>, Tech: 30phút)&lt;/p&gt;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23-73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được xác định do lỗi của DEU B P/N Z043H000351A. Part DEU B này có vấn đề liên quan đến một số linh kiện ngừng sản xuất. Tuy nhiên, TH này có thể do part bị aging. Part tháo xuống có TSN/CSN: 26935.55/18870, được sử dụng từ t12/2012. Hỏng hóc đơn lẻ.</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151509"/>
                  </a:ext>
                </a:extLst>
              </a:tr>
              <a:tr h="515354">
                <a:tc>
                  <a:txBody>
                    <a:bodyPr/>
                    <a:lstStyle/>
                    <a:p>
                      <a:pPr algn="l" fontAlgn="b"/>
                      <a:r>
                        <a:rPr lang="en-US" sz="1100" b="0" i="0" u="none" strike="noStrike" dirty="0">
                          <a:solidFill>
                            <a:srgbClr val="000000"/>
                          </a:solidFill>
                          <a:effectLst/>
                          <a:latin typeface="Calibri" panose="020F0502020204030204" pitchFamily="34" charset="0"/>
                        </a:rPr>
                        <a:t>A339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10/06/2025 23:30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DAD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VN9646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DAD-MNL</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AFT OXYGEN MASK CAPT SIDE DO NOT STOP &lt;div id="680" class="level_1"&gt;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&lt;div class="value"&gt;AFT OXYGEN MASK OF CAPT SIDE DO NOT AUTO STOP WHEN TEST&lt;/div&gt;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&lt;/div&gt;</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EVENT CLOSED AFT OXYGEN MASK OF CAPT SIDE DO NOT AUTO STOP WHEN TEST&lt;/div&gt;</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&lt;p&gt;ADD B1488 &amp;#96;AFT OXYGEN MASK OF CAPT SIDE DO NOT AUTO STOP WHEN TEST&amp;#34; IS RAISED IAW MEL35-10-01A (TMP MAR 2025). CAT: C. DEADLINE: 20/06/25. OPS LIMIT: ONLY 3 OCCUPANTS IN COCKPIT&lt;/p&gt;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35-10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hóc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ít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gặp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thêm</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2285532"/>
                  </a:ext>
                </a:extLst>
              </a:tr>
              <a:tr h="515354">
                <a:tc>
                  <a:txBody>
                    <a:bodyPr/>
                    <a:lstStyle/>
                    <a:p>
                      <a:pPr algn="l" fontAlgn="ctr"/>
                      <a:r>
                        <a:rPr lang="en-US" sz="1100" b="0" i="0" u="none" strike="noStrike">
                          <a:solidFill>
                            <a:srgbClr val="000000"/>
                          </a:solidFill>
                          <a:effectLst/>
                          <a:latin typeface="Calibri" panose="020F0502020204030204" pitchFamily="34" charset="0"/>
                        </a:rPr>
                        <a:t>A603</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15/06/2025 13:20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DAD</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Calibri" panose="020F0502020204030204" pitchFamily="34" charset="0"/>
                        </a:rPr>
                        <a:t>17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VN1671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DAD-VCA</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SG" sz="1100" b="0" i="0" u="none" strike="noStrike">
                          <a:solidFill>
                            <a:srgbClr val="000000"/>
                          </a:solidFill>
                          <a:effectLst/>
                          <a:latin typeface="Calibri" panose="020F0502020204030204" pitchFamily="34" charset="0"/>
                        </a:rPr>
                        <a:t>ECAM WRN : WHEEL TYRE LO PR  &lt;p&gt;MSG APPEARED AFTER BOARDING&lt;/p&gt;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 ADD B792 IS RAISED I.A.W MEL 32-09-02B&amp;#160;&lt;/p&gt;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 C/O MAINT I.A.W AMM 32-49-00-040-002A DEACTIVATED TPIS , CHK BY GAUGE FOUND SATIS&lt;/p&gt; ADD B792 IS RAISED EVENT CLOSED &lt;p&gt;&lt;/p&gt;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32-09</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0020142"/>
                  </a:ext>
                </a:extLst>
              </a:tr>
            </a:tbl>
          </a:graphicData>
        </a:graphic>
      </p:graphicFrame>
      <p:sp>
        <p:nvSpPr>
          <p:cNvPr id="8" name="TextBox 7">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noProof="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noProof="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627955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78 – THRUST REVERSER FAULT</a:t>
            </a:r>
          </a:p>
        </p:txBody>
      </p:sp>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347568" y="771643"/>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A/C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G</a:t>
            </a: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TB due to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TR FAULT</a:t>
            </a:r>
          </a:p>
        </p:txBody>
      </p:sp>
      <p:sp>
        <p:nvSpPr>
          <p:cNvPr id="27" name="Rectangle 26">
            <a:extLst>
              <a:ext uri="{FF2B5EF4-FFF2-40B4-BE49-F238E27FC236}">
                <a16:creationId xmlns:a16="http://schemas.microsoft.com/office/drawing/2014/main" id="{367F70C2-5165-479E-AFB9-34EDD474B128}"/>
              </a:ext>
            </a:extLst>
          </p:cNvPr>
          <p:cNvSpPr/>
          <p:nvPr/>
        </p:nvSpPr>
        <p:spPr>
          <a:xfrm>
            <a:off x="778157" y="1195347"/>
            <a:ext cx="10882536" cy="815608"/>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A339/VN1386/SGN-DLI: DURING PUSHBACK, CAPT REPORTED VIA VHF ENG 2 REV FAULT. TSV SGN ADVISED RESET BUT NIL HELP. CAPT DECIED GTB FOR RECTIFY</a:t>
            </a:r>
          </a:p>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A390/HKG/GTB/14:40 10/06: ENG 2 REVERSE FAULT AND ENG 2 OIL QTY SHOW XX DURING TAXI-OUT </a:t>
            </a:r>
            <a:endParaRPr lang="en-US" sz="1400" dirty="0">
              <a:solidFill>
                <a:srgbClr val="203864"/>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4210CCF0-33AF-4035-BD27-3303A8633E6C}"/>
              </a:ext>
            </a:extLst>
          </p:cNvPr>
          <p:cNvSpPr txBox="1"/>
          <p:nvPr/>
        </p:nvSpPr>
        <p:spPr>
          <a:xfrm>
            <a:off x="795407" y="2252911"/>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E05FED27-E33B-4C7E-85F6-BC470EC52ECB}"/>
              </a:ext>
            </a:extLst>
          </p:cNvPr>
          <p:cNvSpPr txBox="1"/>
          <p:nvPr/>
        </p:nvSpPr>
        <p:spPr>
          <a:xfrm>
            <a:off x="826049" y="2626127"/>
            <a:ext cx="5759951" cy="1477328"/>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02 </a:t>
            </a: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chính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HCU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Terminal Module TM817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TM824 </a:t>
            </a:r>
            <a:r>
              <a:rPr lang="en-US" sz="1400" dirty="0" err="1">
                <a:solidFill>
                  <a:srgbClr val="203864"/>
                </a:solidFill>
                <a:latin typeface="Times New Roman" panose="02020603050405020304" pitchFamily="18" charset="0"/>
                <a:cs typeface="Times New Roman" panose="02020603050405020304" pitchFamily="18" charset="0"/>
              </a:rPr>
              <a:t>trong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đó</a:t>
            </a:r>
            <a:endParaRPr lang="en-US" sz="1400" dirty="0">
              <a:solidFill>
                <a:srgbClr val="203864"/>
              </a:solidFill>
              <a:latin typeface="Times New Roman" panose="02020603050405020304" pitchFamily="18" charset="0"/>
              <a:cs typeface="Times New Roman" panose="02020603050405020304" pitchFamily="18" charset="0"/>
            </a:endParaRPr>
          </a:p>
          <a:p>
            <a:pPr marL="742950" lvl="1"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Một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trường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hợp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HCU do </a:t>
            </a:r>
            <a:r>
              <a:rPr lang="en-US" sz="1400" dirty="0" err="1">
                <a:solidFill>
                  <a:srgbClr val="203864"/>
                </a:solidFill>
                <a:latin typeface="Times New Roman" panose="02020603050405020304" pitchFamily="18" charset="0"/>
                <a:cs typeface="Times New Roman" panose="02020603050405020304" pitchFamily="18" charset="0"/>
              </a:rPr>
              <a:t>dấu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quá</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nhiệt</a:t>
            </a:r>
            <a:endParaRPr lang="en-US" sz="1400" dirty="0">
              <a:solidFill>
                <a:srgbClr val="203864"/>
              </a:solidFill>
              <a:latin typeface="Times New Roman" panose="02020603050405020304" pitchFamily="18" charset="0"/>
              <a:cs typeface="Times New Roman" panose="02020603050405020304" pitchFamily="18" charset="0"/>
            </a:endParaRPr>
          </a:p>
          <a:p>
            <a:pPr marL="742950" lvl="1"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TM </a:t>
            </a:r>
            <a:r>
              <a:rPr lang="en-US" sz="1400" dirty="0" err="1">
                <a:solidFill>
                  <a:srgbClr val="203864"/>
                </a:solidFill>
                <a:latin typeface="Times New Roman" panose="02020603050405020304" pitchFamily="18" charset="0"/>
                <a:cs typeface="Times New Roman" panose="02020603050405020304" pitchFamily="18" charset="0"/>
              </a:rPr>
              <a:t>thường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terminal junction do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ẩm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hoặc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bụi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bẩn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xâm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nhập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gây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ngắn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mạch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chập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cháy</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380610" y="2149571"/>
            <a:ext cx="510877" cy="512345"/>
          </a:xfrm>
          <a:prstGeom prst="rect">
            <a:avLst/>
          </a:prstGeom>
        </p:spPr>
      </p:pic>
      <p:grpSp>
        <p:nvGrpSpPr>
          <p:cNvPr id="43" name="Group 42">
            <a:extLst>
              <a:ext uri="{FF2B5EF4-FFF2-40B4-BE49-F238E27FC236}">
                <a16:creationId xmlns:a16="http://schemas.microsoft.com/office/drawing/2014/main" id="{96848787-7A9F-4F52-ABC0-1107EA34F5F0}"/>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EF38EC88-2153-4950-B37C-5AA23CFFE44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E261425C-3820-49B8-A55E-025BA5C93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id="{44661636-EB8A-415F-84D1-76873A64495B}"/>
              </a:ext>
            </a:extLst>
          </p:cNvPr>
          <p:cNvSpPr/>
          <p:nvPr/>
        </p:nvSpPr>
        <p:spPr>
          <a:xfrm>
            <a:off x="347568" y="753635"/>
            <a:ext cx="389850" cy="369332"/>
          </a:xfrm>
          <a:prstGeom prst="rect">
            <a:avLst/>
          </a:prstGeom>
        </p:spPr>
        <p:txBody>
          <a:bodyPr wrap="none">
            <a:spAutoFit/>
          </a:bodyPr>
          <a:lstStyle/>
          <a:p>
            <a:r>
              <a:rPr lang="en-US" b="1">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lang="en-US"/>
          </a:p>
        </p:txBody>
      </p:sp>
      <p:sp>
        <p:nvSpPr>
          <p:cNvPr id="18" name="TextBox 17">
            <a:extLst>
              <a:ext uri="{FF2B5EF4-FFF2-40B4-BE49-F238E27FC236}">
                <a16:creationId xmlns:a16="http://schemas.microsoft.com/office/drawing/2014/main" id="{B299EA22-CE66-4152-AA3B-0EE67E068BED}"/>
              </a:ext>
            </a:extLst>
          </p:cNvPr>
          <p:cNvSpPr txBox="1"/>
          <p:nvPr/>
        </p:nvSpPr>
        <p:spPr>
          <a:xfrm>
            <a:off x="916514" y="4362675"/>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4EBB0B7-3B29-442D-AB18-AC8C4C118B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624" y="4179772"/>
            <a:ext cx="550890" cy="464480"/>
          </a:xfrm>
          <a:prstGeom prst="rect">
            <a:avLst/>
          </a:prstGeom>
        </p:spPr>
      </p:pic>
      <p:sp>
        <p:nvSpPr>
          <p:cNvPr id="6" name="Rectangle 5">
            <a:extLst>
              <a:ext uri="{FF2B5EF4-FFF2-40B4-BE49-F238E27FC236}">
                <a16:creationId xmlns:a16="http://schemas.microsoft.com/office/drawing/2014/main" id="{8577CEAE-802D-4767-9717-645CEE87B488}"/>
              </a:ext>
            </a:extLst>
          </p:cNvPr>
          <p:cNvSpPr/>
          <p:nvPr/>
        </p:nvSpPr>
        <p:spPr>
          <a:xfrm>
            <a:off x="891487" y="4827155"/>
            <a:ext cx="5759950" cy="1107996"/>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thế</a:t>
            </a:r>
            <a:r>
              <a:rPr lang="en-US" sz="1400" dirty="0">
                <a:solidFill>
                  <a:srgbClr val="203864"/>
                </a:solidFill>
                <a:latin typeface="Times New Roman" panose="02020603050405020304" pitchFamily="18" charset="0"/>
                <a:cs typeface="Times New Roman" panose="02020603050405020304" pitchFamily="18" charset="0"/>
              </a:rPr>
              <a:t> 1 </a:t>
            </a:r>
            <a:r>
              <a:rPr lang="en-US" sz="1400" dirty="0" err="1">
                <a:solidFill>
                  <a:srgbClr val="203864"/>
                </a:solidFill>
                <a:latin typeface="Times New Roman" panose="02020603050405020304" pitchFamily="18" charset="0"/>
                <a:cs typeface="Times New Roman" panose="02020603050405020304" pitchFamily="18" charset="0"/>
              </a:rPr>
              <a:t>lần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toàn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bộ</a:t>
            </a:r>
            <a:r>
              <a:rPr lang="en-US" sz="1400" dirty="0">
                <a:solidFill>
                  <a:srgbClr val="203864"/>
                </a:solidFill>
                <a:latin typeface="Times New Roman" panose="02020603050405020304" pitchFamily="18" charset="0"/>
                <a:cs typeface="Times New Roman" panose="02020603050405020304" pitchFamily="18" charset="0"/>
              </a:rPr>
              <a:t> terminal junction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TM817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TM824, chi </a:t>
            </a:r>
            <a:r>
              <a:rPr lang="en-US" sz="1400" dirty="0" err="1">
                <a:solidFill>
                  <a:srgbClr val="203864"/>
                </a:solidFill>
                <a:latin typeface="Times New Roman" panose="02020603050405020304" pitchFamily="18" charset="0"/>
                <a:cs typeface="Times New Roman" panose="02020603050405020304" pitchFamily="18" charset="0"/>
              </a:rPr>
              <a:t>phí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khoảng</a:t>
            </a:r>
            <a:r>
              <a:rPr lang="en-US" sz="1400" dirty="0">
                <a:solidFill>
                  <a:srgbClr val="203864"/>
                </a:solidFill>
                <a:latin typeface="Times New Roman" panose="02020603050405020304" pitchFamily="18" charset="0"/>
                <a:cs typeface="Times New Roman" panose="02020603050405020304" pitchFamily="18" charset="0"/>
              </a:rPr>
              <a:t> 70$/ 1 junction</a:t>
            </a: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Ban </a:t>
            </a:r>
            <a:r>
              <a:rPr lang="en-US" sz="1400" dirty="0" err="1">
                <a:solidFill>
                  <a:srgbClr val="203864"/>
                </a:solidFill>
                <a:latin typeface="Times New Roman" panose="02020603050405020304" pitchFamily="18" charset="0"/>
                <a:cs typeface="Times New Roman" panose="02020603050405020304" pitchFamily="18" charset="0"/>
              </a:rPr>
              <a:t>hành</a:t>
            </a:r>
            <a:r>
              <a:rPr lang="en-US" sz="1400" dirty="0">
                <a:solidFill>
                  <a:srgbClr val="203864"/>
                </a:solidFill>
                <a:latin typeface="Times New Roman" panose="02020603050405020304" pitchFamily="18" charset="0"/>
                <a:cs typeface="Times New Roman" panose="02020603050405020304" pitchFamily="18" charset="0"/>
              </a:rPr>
              <a:t> EO </a:t>
            </a:r>
            <a:r>
              <a:rPr lang="en-US" sz="1400" dirty="0" err="1">
                <a:solidFill>
                  <a:srgbClr val="203864"/>
                </a:solidFill>
                <a:latin typeface="Times New Roman" panose="02020603050405020304" pitchFamily="18" charset="0"/>
                <a:cs typeface="Times New Roman" panose="02020603050405020304" pitchFamily="18" charset="0"/>
              </a:rPr>
              <a:t>kiểm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tra</a:t>
            </a:r>
            <a:r>
              <a:rPr lang="en-US" sz="1400" dirty="0">
                <a:solidFill>
                  <a:srgbClr val="203864"/>
                </a:solidFill>
                <a:latin typeface="Times New Roman" panose="02020603050405020304" pitchFamily="18" charset="0"/>
                <a:cs typeface="Times New Roman" panose="02020603050405020304" pitchFamily="18" charset="0"/>
              </a:rPr>
              <a:t> junction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kiểm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dấu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quá</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nhiệt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trên</a:t>
            </a:r>
            <a:r>
              <a:rPr lang="en-US" sz="1400" dirty="0">
                <a:solidFill>
                  <a:srgbClr val="203864"/>
                </a:solidFill>
                <a:latin typeface="Times New Roman" panose="02020603050405020304" pitchFamily="18" charset="0"/>
                <a:cs typeface="Times New Roman" panose="02020603050405020304" pitchFamily="18" charset="0"/>
              </a:rPr>
              <a:t> HCU </a:t>
            </a:r>
            <a:r>
              <a:rPr lang="en-US" sz="1400" dirty="0" err="1">
                <a:solidFill>
                  <a:srgbClr val="203864"/>
                </a:solidFill>
                <a:latin typeface="Times New Roman" panose="02020603050405020304" pitchFamily="18" charset="0"/>
                <a:cs typeface="Times New Roman" panose="02020603050405020304" pitchFamily="18" charset="0"/>
              </a:rPr>
              <a:t>tần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suất</a:t>
            </a:r>
            <a:r>
              <a:rPr lang="en-US" sz="1400" dirty="0">
                <a:solidFill>
                  <a:srgbClr val="203864"/>
                </a:solidFill>
                <a:latin typeface="Times New Roman" panose="02020603050405020304" pitchFamily="18" charset="0"/>
                <a:cs typeface="Times New Roman" panose="02020603050405020304" pitchFamily="18" charset="0"/>
              </a:rPr>
              <a:t> C check</a:t>
            </a:r>
          </a:p>
        </p:txBody>
      </p:sp>
      <p:pic>
        <p:nvPicPr>
          <p:cNvPr id="2" name="Picture 1"/>
          <p:cNvPicPr>
            <a:picLocks noChangeAspect="1"/>
          </p:cNvPicPr>
          <p:nvPr/>
        </p:nvPicPr>
        <p:blipFill>
          <a:blip r:embed="rId6"/>
          <a:stretch>
            <a:fillRect/>
          </a:stretch>
        </p:blipFill>
        <p:spPr>
          <a:xfrm>
            <a:off x="7663543" y="2622243"/>
            <a:ext cx="3701923" cy="2852579"/>
          </a:xfrm>
          <a:prstGeom prst="rect">
            <a:avLst/>
          </a:prstGeom>
        </p:spPr>
      </p:pic>
    </p:spTree>
    <p:extLst>
      <p:ext uri="{BB962C8B-B14F-4D97-AF65-F5344CB8AC3E}">
        <p14:creationId xmlns:p14="http://schemas.microsoft.com/office/powerpoint/2010/main" val="150962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Rectangle 2">
            <a:extLst>
              <a:ext uri="{FF2B5EF4-FFF2-40B4-BE49-F238E27FC236}">
                <a16:creationId xmlns:a16="http://schemas.microsoft.com/office/drawing/2014/main" id="{AB864C9B-F2A7-3A8D-F6D4-239EB854DC82}"/>
              </a:ext>
            </a:extLst>
          </p:cNvPr>
          <p:cNvSpPr/>
          <p:nvPr/>
        </p:nvSpPr>
        <p:spPr>
          <a:xfrm>
            <a:off x="381000" y="617210"/>
            <a:ext cx="5383105" cy="4308872"/>
          </a:xfrm>
          <a:prstGeom prst="rect">
            <a:avLst/>
          </a:prstGeom>
        </p:spPr>
        <p:txBody>
          <a:bodyPr wrap="square">
            <a:spAutoFit/>
          </a:bodyPr>
          <a:lstStyle/>
          <a:p>
            <a:pPr algn="just">
              <a:buClrTx/>
              <a:buFontTx/>
              <a:buNone/>
            </a:pPr>
            <a:r>
              <a:rPr lang="en-US" b="1" dirty="0" err="1">
                <a:solidFill>
                  <a:prstClr val="black"/>
                </a:solidFill>
                <a:latin typeface="Times New Roman" panose="02020603050405020304" pitchFamily="18" charset="0"/>
                <a:cs typeface="Times New Roman" panose="02020603050405020304" pitchFamily="18" charset="0"/>
              </a:rPr>
              <a:t>Hỏng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hóc</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nổi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cộm</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tàu</a:t>
            </a:r>
            <a:r>
              <a:rPr lang="en-US" b="1" dirty="0">
                <a:solidFill>
                  <a:prstClr val="black"/>
                </a:solidFill>
                <a:latin typeface="Times New Roman" panose="02020603050405020304" pitchFamily="18" charset="0"/>
                <a:cs typeface="Times New Roman" panose="02020603050405020304" pitchFamily="18" charset="0"/>
              </a:rPr>
              <a:t> A321: </a:t>
            </a:r>
          </a:p>
          <a:p>
            <a:pPr algn="just">
              <a:buClrTx/>
            </a:pPr>
            <a:r>
              <a:rPr lang="vi-VN" sz="1600" dirty="0">
                <a:solidFill>
                  <a:prstClr val="black"/>
                </a:solidFill>
                <a:cs typeface="Times New Roman" panose="02020603050405020304" pitchFamily="18" charset="0"/>
              </a:rPr>
              <a:t>Trong tuần đội A321 phát sinh 03 trường hợp AOG và 02 trường hợp GTB. Trong đó cả 2 trường hợp GTB đều do lỗi liên quan đến ENG REVERSE và mở ADD để khắc phục, các hỏng hóc này đã có chương trình kiểm tra và cần đánh giá thêm, cụ thể</a:t>
            </a:r>
            <a:r>
              <a:rPr lang="en-US" sz="1600" dirty="0">
                <a:solidFill>
                  <a:prstClr val="black"/>
                </a:solidFill>
                <a:cs typeface="Times New Roman" panose="02020603050405020304" pitchFamily="18" charset="0"/>
              </a:rPr>
              <a:t>:</a:t>
            </a:r>
            <a:endParaRPr lang="vi-VN" sz="1600" dirty="0">
              <a:solidFill>
                <a:prstClr val="black"/>
              </a:solidFill>
              <a:cs typeface="Times New Roman" panose="02020603050405020304" pitchFamily="18" charset="0"/>
            </a:endParaRPr>
          </a:p>
          <a:p>
            <a:pPr marL="285750" indent="-285750" algn="just">
              <a:buClrTx/>
              <a:buFont typeface="Arial" panose="020B0604020202020204" pitchFamily="34" charset="0"/>
              <a:buChar char="•"/>
            </a:pPr>
            <a:r>
              <a:rPr lang="vi-VN" sz="1600" dirty="0">
                <a:solidFill>
                  <a:prstClr val="black"/>
                </a:solidFill>
                <a:cs typeface="Times New Roman" panose="02020603050405020304" pitchFamily="18" charset="0"/>
              </a:rPr>
              <a:t>A615 AOG /FUK: Air ENG#1 Bleed Leak, tàu sau đó đã thực hiện thay eng 1 loop</a:t>
            </a:r>
            <a:r>
              <a:rPr lang="en-US" sz="1600" dirty="0">
                <a:solidFill>
                  <a:prstClr val="black"/>
                </a:solidFill>
                <a:cs typeface="Times New Roman" panose="02020603050405020304" pitchFamily="18" charset="0"/>
              </a:rPr>
              <a:t>.</a:t>
            </a:r>
          </a:p>
          <a:p>
            <a:pPr marL="285750" indent="-285750" algn="just">
              <a:buClrTx/>
              <a:buFont typeface="Arial" panose="020B0604020202020204" pitchFamily="34" charset="0"/>
              <a:buChar char="•"/>
            </a:pPr>
            <a:r>
              <a:rPr lang="vi-VN" sz="1600" dirty="0">
                <a:solidFill>
                  <a:prstClr val="black"/>
                </a:solidFill>
                <a:cs typeface="Times New Roman" panose="02020603050405020304" pitchFamily="18" charset="0"/>
              </a:rPr>
              <a:t>A390/HKG/GTB/ENG 2 REVERSE FAULT, tàu mở ADD B2395, hiện đang xin slot khắc phục hỏng hóc</a:t>
            </a:r>
            <a:r>
              <a:rPr lang="en-US" sz="1600" dirty="0">
                <a:solidFill>
                  <a:prstClr val="black"/>
                </a:solidFill>
                <a:cs typeface="Times New Roman" panose="02020603050405020304" pitchFamily="18" charset="0"/>
              </a:rPr>
              <a:t>.</a:t>
            </a:r>
            <a:r>
              <a:rPr lang="vi-VN" sz="1600" dirty="0">
                <a:solidFill>
                  <a:prstClr val="black"/>
                </a:solidFill>
                <a:cs typeface="Times New Roman" panose="02020603050405020304" pitchFamily="18" charset="0"/>
              </a:rPr>
              <a:t> </a:t>
            </a:r>
            <a:endParaRPr lang="en-US" sz="1600" dirty="0">
              <a:solidFill>
                <a:prstClr val="black"/>
              </a:solidFill>
              <a:cs typeface="Times New Roman" panose="02020603050405020304" pitchFamily="18" charset="0"/>
            </a:endParaRPr>
          </a:p>
          <a:p>
            <a:pPr marL="285750" indent="-285750" algn="just">
              <a:buClrTx/>
              <a:buFont typeface="Arial" panose="020B0604020202020204" pitchFamily="34" charset="0"/>
              <a:buChar char="•"/>
            </a:pPr>
            <a:r>
              <a:rPr lang="vi-VN" sz="1600" dirty="0">
                <a:solidFill>
                  <a:prstClr val="black"/>
                </a:solidFill>
                <a:cs typeface="Times New Roman" panose="02020603050405020304" pitchFamily="18" charset="0"/>
              </a:rPr>
              <a:t>A339/DLI/GTB/DELAY/ ENG 2 REV FAULT. Tàu mở ADD B1489 để tiếp tục khai thác, sau đó thực hiện test lại hệ thống không phát sinh bất thường</a:t>
            </a:r>
            <a:r>
              <a:rPr lang="en-US" sz="1600" dirty="0">
                <a:solidFill>
                  <a:prstClr val="black"/>
                </a:solidFill>
                <a:cs typeface="Times New Roman" panose="02020603050405020304" pitchFamily="18" charset="0"/>
              </a:rPr>
              <a:t>.</a:t>
            </a:r>
          </a:p>
          <a:p>
            <a:pPr marL="285750" indent="-285750" algn="just">
              <a:buClrTx/>
              <a:buFont typeface="Arial" panose="020B0604020202020204" pitchFamily="34" charset="0"/>
              <a:buChar char="•"/>
            </a:pPr>
            <a:r>
              <a:rPr lang="vi-VN" sz="1600" dirty="0">
                <a:solidFill>
                  <a:prstClr val="black"/>
                </a:solidFill>
                <a:cs typeface="Times New Roman" panose="02020603050405020304" pitchFamily="18" charset="0"/>
              </a:rPr>
              <a:t>Ngoài ra trong tuần cũng phát sinh nhiều trường hợp hỏng APU (8 trường hợp, đã clear được 6) do số lượng chuyến bay nhiều, vật tư về muộn không thể bố trí được slot để khắc phục hết</a:t>
            </a:r>
            <a:r>
              <a:rPr lang="en-US" sz="1600">
                <a:solidFill>
                  <a:prstClr val="black"/>
                </a:solidFill>
                <a:cs typeface="Times New Roman" panose="02020603050405020304" pitchFamily="18" charset="0"/>
              </a:rPr>
              <a:t>.</a:t>
            </a:r>
            <a:endParaRPr lang="vi-VN" sz="1600" dirty="0">
              <a:solidFill>
                <a:prstClr val="black"/>
              </a:solidFill>
              <a:cs typeface="Times New Roman" panose="02020603050405020304" pitchFamily="18" charset="0"/>
            </a:endParaRPr>
          </a:p>
        </p:txBody>
      </p:sp>
      <p:pic>
        <p:nvPicPr>
          <p:cNvPr id="6" name="Picture 5">
            <a:extLst>
              <a:ext uri="{FF2B5EF4-FFF2-40B4-BE49-F238E27FC236}">
                <a16:creationId xmlns:a16="http://schemas.microsoft.com/office/drawing/2014/main" id="{080C0838-9051-64A0-0A76-F05871117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4732" y="905530"/>
            <a:ext cx="4315088" cy="2700000"/>
          </a:xfrm>
          <a:prstGeom prst="rect">
            <a:avLst/>
          </a:prstGeom>
        </p:spPr>
      </p:pic>
    </p:spTree>
    <p:extLst>
      <p:ext uri="{BB962C8B-B14F-4D97-AF65-F5344CB8AC3E}">
        <p14:creationId xmlns:p14="http://schemas.microsoft.com/office/powerpoint/2010/main" val="7301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nvGraphicFramePr>
        <p:xfrm>
          <a:off x="134289" y="1519622"/>
          <a:ext cx="11688715" cy="3228128"/>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a:solidFill>
                            <a:srgbClr val="000000"/>
                          </a:solidFill>
                          <a:effectLst/>
                          <a:latin typeface="Calibri" panose="020F0502020204030204" pitchFamily="34" charset="0"/>
                        </a:rPr>
                        <a:t>A893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12/06/2025 19:00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13/06/2025 17:05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CDG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MESG F/CTL INR AILERON ELEC ACTUATOR &lt;p&gt;MESG F/CTL INR AILERON ELEC ACTUATOR&lt;/p&gt;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&lt;p&gt;WAITING MANPOWER AND SPARE FROM HAN ON VN19 HAN-CDG 12/06/25&lt;/p&gt; ACTION EVENT CLOSED &lt;p&gt;C/O REPLACED 2 COUPLER 115CE1, 115CE2 AND ELECK MODULE 404CR2, TEST ALL SATIS&lt;/p&gt;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27-10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Xuất hiện cảnh báo F/CTL INR AILERON ELEC ACTUATOR , FM: ELEK MODULE-EHA,R INBD AIL(404CR2) / SEC-1(2CE1), FC: 2796F6KZ &amp; 2796FA4E Với FC này là No Refresh is lack of communication between EM of the EHA or EBHA and the Flight Control Computers (PRIM / SEC). Có 3 nguyên nhân chính: EM, PRIM/SEC, Aircraft Wiring (60V power supply line or 1553 bus) Hỏng hóc được khắc phục sau khi thay EM và thay Coupler (wiring vị trí 115CE1 và 115CE2) 1. Với hỏng hóc EM: Hiện tại Airbus và MOOG vẫn đang điều tra nguyên nhân như nêu trong TFU 27.00.00125, khả năng bị đứt gãy mối hàn giống FCRM. Các khối tháo xuống đang chờ SFR để đánh giá thêm 2. Với hỏng hóc coupler: Hỏng hóc này Airbus có đề cập trong ISI 92.00.00.031 do nhiều nguyên nhân khác nhau trong quá trình sản xuất, lắp ráp tàu bay (metallic chip inside the connector, weakness at ferule level...). Tàu bay A893 từng AOG năm 2022 do bị hỏng hóc coupler (vị trí 200CE1 and 205CE1) và chỉ có tàu bay này trong cả fleet bị hiện tượng có hỏng hóc coupler. Hỏng hóc này không có SB hay giải pháp đánh chặn nào ngoài việc sửa chữa thay thế các coupler khi xuất hiện hỏng hóc.</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r h="1401491">
                <a:tc>
                  <a:txBody>
                    <a:bodyPr/>
                    <a:lstStyle/>
                    <a:p>
                      <a:pPr algn="l" fontAlgn="b"/>
                      <a:r>
                        <a:rPr lang="en-US" sz="1100" b="0" i="0" u="none" strike="noStrike">
                          <a:solidFill>
                            <a:srgbClr val="000000"/>
                          </a:solidFill>
                          <a:effectLst/>
                          <a:latin typeface="Calibri" panose="020F0502020204030204" pitchFamily="34" charset="0"/>
                        </a:rPr>
                        <a:t>A893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11/06/2025 08:30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11/06/2025 08:55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MSG RH AILERON EHA (NO GO ITEM) &lt;p&gt;MSG RH AILERON EHA (NO GO ITEM)&lt;/p&gt;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EVENT CLOSED &lt;p&gt;REF TASK A350-A-27-14-XX-2U001-421A-A RPL EM AND TEST PASSED. A/C SERVICEABLE.&lt;/p&gt;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5192585"/>
                  </a:ext>
                </a:extLst>
              </a:tr>
            </a:tbl>
          </a:graphicData>
        </a:graphic>
      </p:graphicFrame>
    </p:spTree>
    <p:extLst>
      <p:ext uri="{BB962C8B-B14F-4D97-AF65-F5344CB8AC3E}">
        <p14:creationId xmlns:p14="http://schemas.microsoft.com/office/powerpoint/2010/main" val="3107541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nvGraphicFramePr>
        <p:xfrm>
          <a:off x="134289" y="1519622"/>
          <a:ext cx="11688715" cy="2389928"/>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a:solidFill>
                            <a:srgbClr val="000000"/>
                          </a:solidFill>
                          <a:effectLst/>
                          <a:latin typeface="Calibri" panose="020F0502020204030204" pitchFamily="34" charset="0"/>
                        </a:rPr>
                        <a:t>A890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09/06/2025 21:20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10/06/2025 05:00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FOUND ENG#2 OIL LEAK &lt;p&gt;FOUND ENG#2 OIL LEAK&lt;/p&gt;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&lt;div id="15142" class="level_2"&gt;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 class="value"&gt;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&lt;p&gt;FOUND OIL LEAK FROM N1 PROBE&lt;br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C/O REPLACE PROBE 4088KS32 AND 4 SEAL REF MP A350-A-77-11-15-00001-520/720A-A(01JUN25) FOUND SATIS&lt;br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ENG RUN UP FOUND NO MORE LEAK&lt;/p&gt;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 FINAL ACTION EVENT CLOSED &lt;p&gt;&lt;/p&gt;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72-00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 Động cơ số 2 tàu A890 S/N 21418 có TSN/CSN = 25625/5059, TSLSV/CSLSV = 12125/2067, còn hơn 100 FC đến hạn tháo gửi đi Shop vào giữa tháng 7. Theo dõi thông số động cơ trên EHM và tiêu hao dầu nhờn đều không có trending bất thường. Hỏng hóc đã được khắc phục sau khi thay N1 Speed Sensor P/N 04801SP002. Khối N1 Speed Sensor P/N 04801SP002 có độ tin cậy tối với MTBR = 31,974 FH, thống kê lịch sử có 2 lần tháo vào năm 2021 và 2024 lần lượt trên các tàu A894 và A898, với nguyên nhân do oil leak. Khối N1 Speed Sensor có SB nâng cấp độ tin cậy, tuy nhiên nội dung SB không liên quan tới hỏng hóc oil leak. Hỏng hóc Oil leak hiện không phải hỏng hóc phổ biến được Airbus hay Rolls-Royce nhận diện và không có chương trình nâng cấp từ phía OEM. KTMB sẽ tiếp tục theo dõi và làm việc với các OEM về hỏng hóc này nếu phát sinh lặp lại.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Tree>
    <p:extLst>
      <p:ext uri="{BB962C8B-B14F-4D97-AF65-F5344CB8AC3E}">
        <p14:creationId xmlns:p14="http://schemas.microsoft.com/office/powerpoint/2010/main" val="2888822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B23ECB9-5CE5-41B0-AC72-533646B0B11B}"/>
              </a:ext>
            </a:extLst>
          </p:cNvPr>
          <p:cNvSpPr txBox="1">
            <a:spLocks/>
          </p:cNvSpPr>
          <p:nvPr/>
        </p:nvSpPr>
        <p:spPr>
          <a:xfrm>
            <a:off x="730894" y="145058"/>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solidFill>
                  <a:srgbClr val="DEA610"/>
                </a:solidFill>
                <a:latin typeface="Montserrat SemiBold" pitchFamily="2" charset="77"/>
                <a:ea typeface="+mn-ea"/>
                <a:cs typeface="+mn-cs"/>
              </a:rPr>
              <a:t>A893- AOG CDG/ NOG MSG &gt; RH AILERON EHA</a:t>
            </a:r>
          </a:p>
        </p:txBody>
      </p:sp>
      <p:sp>
        <p:nvSpPr>
          <p:cNvPr id="2" name="TextBox 1">
            <a:extLst>
              <a:ext uri="{FF2B5EF4-FFF2-40B4-BE49-F238E27FC236}">
                <a16:creationId xmlns:a16="http://schemas.microsoft.com/office/drawing/2014/main" id="{B6008AF3-F0A2-4E1D-B050-E128E75E4377}"/>
              </a:ext>
            </a:extLst>
          </p:cNvPr>
          <p:cNvSpPr txBox="1"/>
          <p:nvPr/>
        </p:nvSpPr>
        <p:spPr>
          <a:xfrm>
            <a:off x="6350371" y="687514"/>
            <a:ext cx="5619752" cy="923330"/>
          </a:xfrm>
          <a:prstGeom prst="rect">
            <a:avLst/>
          </a:prstGeom>
          <a:noFill/>
        </p:spPr>
        <p:txBody>
          <a:bodyPr wrap="square" rtlCol="0">
            <a:spAutoFit/>
          </a:bodyPr>
          <a:lstStyle/>
          <a:p>
            <a:r>
              <a:rPr lang="en-US" b="1" dirty="0">
                <a:solidFill>
                  <a:schemeClr val="accent2"/>
                </a:solidFill>
              </a:rPr>
              <a:t>F/CTL INR AILERON ELEC ACTUATOR </a:t>
            </a:r>
          </a:p>
          <a:p>
            <a:r>
              <a:rPr lang="en-US" b="1" dirty="0"/>
              <a:t>FM</a:t>
            </a:r>
            <a:r>
              <a:rPr lang="en-US" dirty="0"/>
              <a:t>: ELEK MODULE-EHA,R INBD AIL(404CR2) / PRIM (SEC) -1(2CE1); </a:t>
            </a:r>
            <a:r>
              <a:rPr lang="en-US" b="1" dirty="0"/>
              <a:t>FC</a:t>
            </a:r>
            <a:r>
              <a:rPr lang="en-US" dirty="0"/>
              <a:t>: 2796F6KZ &amp; 2796FA4E</a:t>
            </a:r>
          </a:p>
        </p:txBody>
      </p:sp>
      <p:pic>
        <p:nvPicPr>
          <p:cNvPr id="11" name="Picture 10">
            <a:extLst>
              <a:ext uri="{FF2B5EF4-FFF2-40B4-BE49-F238E27FC236}">
                <a16:creationId xmlns:a16="http://schemas.microsoft.com/office/drawing/2014/main" id="{6588AEF2-BA13-4CF9-9C5B-B2F1F9EC9B2D}"/>
              </a:ext>
            </a:extLst>
          </p:cNvPr>
          <p:cNvPicPr>
            <a:picLocks noChangeAspect="1"/>
          </p:cNvPicPr>
          <p:nvPr/>
        </p:nvPicPr>
        <p:blipFill>
          <a:blip r:embed="rId3"/>
          <a:stretch>
            <a:fillRect/>
          </a:stretch>
        </p:blipFill>
        <p:spPr>
          <a:xfrm>
            <a:off x="372314" y="1747935"/>
            <a:ext cx="11191875" cy="733425"/>
          </a:xfrm>
          <a:prstGeom prst="rect">
            <a:avLst/>
          </a:prstGeom>
        </p:spPr>
      </p:pic>
      <p:sp>
        <p:nvSpPr>
          <p:cNvPr id="12" name="TextBox 11">
            <a:extLst>
              <a:ext uri="{FF2B5EF4-FFF2-40B4-BE49-F238E27FC236}">
                <a16:creationId xmlns:a16="http://schemas.microsoft.com/office/drawing/2014/main" id="{489DD1F8-FBDE-4721-9F24-42C6E2E1D49B}"/>
              </a:ext>
            </a:extLst>
          </p:cNvPr>
          <p:cNvSpPr txBox="1"/>
          <p:nvPr/>
        </p:nvSpPr>
        <p:spPr>
          <a:xfrm>
            <a:off x="277064" y="838562"/>
            <a:ext cx="5887570" cy="923330"/>
          </a:xfrm>
          <a:prstGeom prst="rect">
            <a:avLst/>
          </a:prstGeom>
          <a:noFill/>
        </p:spPr>
        <p:txBody>
          <a:bodyPr wrap="square" rtlCol="0">
            <a:spAutoFit/>
          </a:bodyPr>
          <a:lstStyle/>
          <a:p>
            <a:r>
              <a:rPr lang="en-US" dirty="0" err="1"/>
              <a:t>Hỏng</a:t>
            </a:r>
            <a:r>
              <a:rPr lang="en-US" dirty="0"/>
              <a:t> </a:t>
            </a:r>
            <a:r>
              <a:rPr lang="en-US" dirty="0" err="1"/>
              <a:t>hóc</a:t>
            </a:r>
            <a:r>
              <a:rPr lang="en-US" dirty="0"/>
              <a:t> </a:t>
            </a:r>
            <a:r>
              <a:rPr lang="en-US" dirty="0" err="1"/>
              <a:t>lặp</a:t>
            </a:r>
            <a:r>
              <a:rPr lang="en-US" dirty="0"/>
              <a:t> </a:t>
            </a:r>
            <a:r>
              <a:rPr lang="en-US" dirty="0" err="1"/>
              <a:t>lại</a:t>
            </a:r>
            <a:r>
              <a:rPr lang="en-US" dirty="0"/>
              <a:t> </a:t>
            </a:r>
            <a:r>
              <a:rPr lang="en-US" dirty="0" err="1"/>
              <a:t>từ</a:t>
            </a:r>
            <a:r>
              <a:rPr lang="en-US" dirty="0"/>
              <a:t> 08/Jun </a:t>
            </a:r>
            <a:r>
              <a:rPr lang="en-US" dirty="0" err="1"/>
              <a:t>với</a:t>
            </a:r>
            <a:r>
              <a:rPr lang="en-US" dirty="0"/>
              <a:t> FC 2796F6KZ &amp; 2796FA4E: </a:t>
            </a:r>
          </a:p>
          <a:p>
            <a:r>
              <a:rPr lang="en-US" i="1" dirty="0"/>
              <a:t>No Refresh is lack of communication between EM of the EHA or EBHA and the Flight Control Computers (PRIM / SEC). </a:t>
            </a:r>
          </a:p>
        </p:txBody>
      </p:sp>
      <p:sp>
        <p:nvSpPr>
          <p:cNvPr id="14" name="Rectangle 13">
            <a:extLst>
              <a:ext uri="{FF2B5EF4-FFF2-40B4-BE49-F238E27FC236}">
                <a16:creationId xmlns:a16="http://schemas.microsoft.com/office/drawing/2014/main" id="{342BDE07-1DF7-42EC-BEBA-014B57820773}"/>
              </a:ext>
            </a:extLst>
          </p:cNvPr>
          <p:cNvSpPr/>
          <p:nvPr/>
        </p:nvSpPr>
        <p:spPr>
          <a:xfrm>
            <a:off x="172848" y="2618451"/>
            <a:ext cx="6837552" cy="4278094"/>
          </a:xfrm>
          <a:prstGeom prst="rect">
            <a:avLst/>
          </a:prstGeom>
        </p:spPr>
        <p:txBody>
          <a:bodyPr wrap="square">
            <a:spAutoFit/>
          </a:bodyPr>
          <a:lstStyle/>
          <a:p>
            <a:pPr marL="285750" indent="-285750">
              <a:buFont typeface="Arial" panose="020B0604020202020204" pitchFamily="34" charset="0"/>
              <a:buChar char="•"/>
            </a:pPr>
            <a:r>
              <a:rPr lang="en-US" sz="1600" b="1" dirty="0" err="1"/>
              <a:t>Có</a:t>
            </a:r>
            <a:r>
              <a:rPr lang="en-US" sz="1600" b="1" dirty="0"/>
              <a:t> 3 </a:t>
            </a:r>
            <a:r>
              <a:rPr lang="en-US" sz="1600" b="1" dirty="0" err="1"/>
              <a:t>nguyên</a:t>
            </a:r>
            <a:r>
              <a:rPr lang="en-US" sz="1600" b="1" dirty="0"/>
              <a:t> </a:t>
            </a:r>
            <a:r>
              <a:rPr lang="en-US" sz="1600" b="1" dirty="0" err="1"/>
              <a:t>nhân</a:t>
            </a:r>
            <a:r>
              <a:rPr lang="en-US" sz="1600" b="1" dirty="0"/>
              <a:t> </a:t>
            </a:r>
            <a:r>
              <a:rPr lang="en-US" sz="1600" b="1" dirty="0" err="1"/>
              <a:t>chính</a:t>
            </a:r>
            <a:r>
              <a:rPr lang="en-US" sz="1600" dirty="0"/>
              <a:t>:  EM, PRIM/SEC, Aircraft Wiring (60V power supply line or 1553 bus)</a:t>
            </a:r>
          </a:p>
          <a:p>
            <a:pPr marL="285750" indent="-285750">
              <a:buFont typeface="Arial" panose="020B0604020202020204" pitchFamily="34" charset="0"/>
              <a:buChar char="•"/>
            </a:pPr>
            <a:r>
              <a:rPr lang="en-US" sz="1600" dirty="0" err="1"/>
              <a:t>Hỏng</a:t>
            </a:r>
            <a:r>
              <a:rPr lang="en-US" sz="1600" dirty="0"/>
              <a:t> </a:t>
            </a:r>
            <a:r>
              <a:rPr lang="en-US" sz="1600" dirty="0" err="1"/>
              <a:t>hóc</a:t>
            </a:r>
            <a:r>
              <a:rPr lang="en-US" sz="1600" dirty="0"/>
              <a:t> </a:t>
            </a:r>
            <a:r>
              <a:rPr lang="en-US" sz="1600" dirty="0" err="1"/>
              <a:t>được</a:t>
            </a:r>
            <a:r>
              <a:rPr lang="en-US" sz="1600" dirty="0"/>
              <a:t> </a:t>
            </a:r>
            <a:r>
              <a:rPr lang="en-US" sz="1600" dirty="0" err="1"/>
              <a:t>khắc</a:t>
            </a:r>
            <a:r>
              <a:rPr lang="en-US" sz="1600" dirty="0"/>
              <a:t> </a:t>
            </a:r>
            <a:r>
              <a:rPr lang="en-US" sz="1600" dirty="0" err="1"/>
              <a:t>phục</a:t>
            </a:r>
            <a:r>
              <a:rPr lang="en-US" sz="1600" dirty="0"/>
              <a:t> </a:t>
            </a:r>
            <a:r>
              <a:rPr lang="en-US" sz="1600" dirty="0" err="1"/>
              <a:t>sau</a:t>
            </a:r>
            <a:r>
              <a:rPr lang="en-US" sz="1600" dirty="0"/>
              <a:t> </a:t>
            </a:r>
            <a:r>
              <a:rPr lang="en-US" sz="1600" dirty="0" err="1"/>
              <a:t>khi</a:t>
            </a:r>
            <a:r>
              <a:rPr lang="en-US" sz="1600" dirty="0"/>
              <a:t> </a:t>
            </a:r>
            <a:r>
              <a:rPr lang="en-US" sz="1600" dirty="0" err="1"/>
              <a:t>thay</a:t>
            </a:r>
            <a:r>
              <a:rPr lang="en-US" sz="1600" dirty="0"/>
              <a:t> EM </a:t>
            </a:r>
            <a:r>
              <a:rPr lang="en-US" sz="1600" dirty="0" err="1"/>
              <a:t>và</a:t>
            </a:r>
            <a:r>
              <a:rPr lang="en-US" sz="1600" dirty="0"/>
              <a:t> </a:t>
            </a:r>
            <a:r>
              <a:rPr lang="en-US" sz="1600" dirty="0" err="1"/>
              <a:t>thay</a:t>
            </a:r>
            <a:r>
              <a:rPr lang="en-US" sz="1600" dirty="0"/>
              <a:t> Coupler (wiring </a:t>
            </a:r>
            <a:r>
              <a:rPr lang="en-US" sz="1600" dirty="0" err="1"/>
              <a:t>vị</a:t>
            </a:r>
            <a:r>
              <a:rPr lang="en-US" sz="1600" dirty="0"/>
              <a:t> </a:t>
            </a:r>
            <a:r>
              <a:rPr lang="en-US" sz="1600" dirty="0" err="1"/>
              <a:t>trí</a:t>
            </a:r>
            <a:r>
              <a:rPr lang="en-US" sz="1600" dirty="0"/>
              <a:t> 115CE1 </a:t>
            </a:r>
            <a:r>
              <a:rPr lang="en-US" sz="1600" dirty="0" err="1"/>
              <a:t>và</a:t>
            </a:r>
            <a:r>
              <a:rPr lang="en-US" sz="1600" dirty="0"/>
              <a:t> 115CE2)</a:t>
            </a:r>
          </a:p>
          <a:p>
            <a:pPr marL="285750" indent="-285750">
              <a:buFont typeface="Wingdings" panose="05000000000000000000" pitchFamily="2" charset="2"/>
              <a:buChar char="q"/>
            </a:pPr>
            <a:r>
              <a:rPr lang="en-US" sz="1600" dirty="0"/>
              <a:t> </a:t>
            </a:r>
            <a:r>
              <a:rPr lang="en-US" sz="1600" b="1" dirty="0" err="1"/>
              <a:t>Với</a:t>
            </a:r>
            <a:r>
              <a:rPr lang="en-US" sz="1600" b="1" dirty="0"/>
              <a:t> </a:t>
            </a:r>
            <a:r>
              <a:rPr lang="en-US" sz="1600" b="1" dirty="0" err="1"/>
              <a:t>hỏng</a:t>
            </a:r>
            <a:r>
              <a:rPr lang="en-US" sz="1600" b="1" dirty="0"/>
              <a:t> </a:t>
            </a:r>
            <a:r>
              <a:rPr lang="en-US" sz="1600" b="1" dirty="0" err="1"/>
              <a:t>hóc</a:t>
            </a:r>
            <a:r>
              <a:rPr lang="en-US" sz="1600" b="1" dirty="0"/>
              <a:t> EM</a:t>
            </a:r>
            <a:r>
              <a:rPr lang="en-US" sz="1600" dirty="0"/>
              <a:t>: </a:t>
            </a:r>
            <a:r>
              <a:rPr lang="en-US" sz="1600" dirty="0" err="1"/>
              <a:t>Hiện</a:t>
            </a:r>
            <a:r>
              <a:rPr lang="en-US" sz="1600" dirty="0"/>
              <a:t> </a:t>
            </a:r>
            <a:r>
              <a:rPr lang="en-US" sz="1600" dirty="0" err="1"/>
              <a:t>tại</a:t>
            </a:r>
            <a:r>
              <a:rPr lang="en-US" sz="1600" dirty="0"/>
              <a:t> Airbus </a:t>
            </a:r>
            <a:r>
              <a:rPr lang="en-US" sz="1600" dirty="0" err="1"/>
              <a:t>và</a:t>
            </a:r>
            <a:r>
              <a:rPr lang="en-US" sz="1600" dirty="0"/>
              <a:t> MOOG </a:t>
            </a:r>
            <a:r>
              <a:rPr lang="en-US" sz="1600" dirty="0" err="1"/>
              <a:t>vẫn</a:t>
            </a:r>
            <a:r>
              <a:rPr lang="en-US" sz="1600" dirty="0"/>
              <a:t> </a:t>
            </a:r>
            <a:r>
              <a:rPr lang="en-US" sz="1600" dirty="0" err="1"/>
              <a:t>đang</a:t>
            </a:r>
            <a:r>
              <a:rPr lang="en-US" sz="1600" dirty="0"/>
              <a:t> </a:t>
            </a:r>
            <a:r>
              <a:rPr lang="en-US" sz="1600" dirty="0" err="1"/>
              <a:t>điều</a:t>
            </a:r>
            <a:r>
              <a:rPr lang="en-US" sz="1600" dirty="0"/>
              <a:t> </a:t>
            </a:r>
            <a:r>
              <a:rPr lang="en-US" sz="1600" dirty="0" err="1"/>
              <a:t>tra</a:t>
            </a:r>
            <a:r>
              <a:rPr lang="en-US" sz="1600" dirty="0"/>
              <a:t> </a:t>
            </a:r>
            <a:r>
              <a:rPr lang="en-US" sz="1600" dirty="0" err="1"/>
              <a:t>nguyên</a:t>
            </a:r>
            <a:r>
              <a:rPr lang="en-US" sz="1600" dirty="0"/>
              <a:t> </a:t>
            </a:r>
            <a:r>
              <a:rPr lang="en-US" sz="1600" dirty="0" err="1"/>
              <a:t>nhân</a:t>
            </a:r>
            <a:r>
              <a:rPr lang="en-US" sz="1600" dirty="0"/>
              <a:t> </a:t>
            </a:r>
            <a:r>
              <a:rPr lang="en-US" sz="1600" dirty="0" err="1"/>
              <a:t>như</a:t>
            </a:r>
            <a:r>
              <a:rPr lang="en-US" sz="1600" dirty="0"/>
              <a:t> </a:t>
            </a:r>
            <a:r>
              <a:rPr lang="en-US" sz="1600" dirty="0" err="1"/>
              <a:t>nêu</a:t>
            </a:r>
            <a:r>
              <a:rPr lang="en-US" sz="1600" dirty="0"/>
              <a:t> </a:t>
            </a:r>
            <a:r>
              <a:rPr lang="en-US" sz="1600" dirty="0" err="1"/>
              <a:t>trong</a:t>
            </a:r>
            <a:r>
              <a:rPr lang="en-US" sz="1600" dirty="0"/>
              <a:t> TFU 27.00.00125, </a:t>
            </a:r>
            <a:r>
              <a:rPr lang="en-US" sz="1600" dirty="0" err="1"/>
              <a:t>khả</a:t>
            </a:r>
            <a:r>
              <a:rPr lang="en-US" sz="1600" dirty="0"/>
              <a:t> </a:t>
            </a:r>
            <a:r>
              <a:rPr lang="en-US" sz="1600" dirty="0" err="1"/>
              <a:t>năng</a:t>
            </a:r>
            <a:r>
              <a:rPr lang="en-US" sz="1600" dirty="0"/>
              <a:t> </a:t>
            </a:r>
            <a:r>
              <a:rPr lang="en-US" sz="1600" dirty="0" err="1"/>
              <a:t>bị</a:t>
            </a:r>
            <a:r>
              <a:rPr lang="en-US" sz="1600" dirty="0"/>
              <a:t> </a:t>
            </a:r>
            <a:r>
              <a:rPr lang="en-US" sz="1600" dirty="0" err="1"/>
              <a:t>đứt</a:t>
            </a:r>
            <a:r>
              <a:rPr lang="en-US" sz="1600" dirty="0"/>
              <a:t> </a:t>
            </a:r>
            <a:r>
              <a:rPr lang="en-US" sz="1600" dirty="0" err="1"/>
              <a:t>gãy</a:t>
            </a:r>
            <a:r>
              <a:rPr lang="en-US" sz="1600" dirty="0"/>
              <a:t> </a:t>
            </a:r>
            <a:r>
              <a:rPr lang="en-US" sz="1600" dirty="0" err="1"/>
              <a:t>mối</a:t>
            </a:r>
            <a:r>
              <a:rPr lang="en-US" sz="1600" dirty="0"/>
              <a:t> </a:t>
            </a:r>
            <a:r>
              <a:rPr lang="en-US" sz="1600" dirty="0" err="1"/>
              <a:t>hàn</a:t>
            </a:r>
            <a:r>
              <a:rPr lang="en-US" sz="1600" dirty="0"/>
              <a:t> </a:t>
            </a:r>
            <a:r>
              <a:rPr lang="en-US" sz="1600" dirty="0" err="1"/>
              <a:t>giống</a:t>
            </a:r>
            <a:r>
              <a:rPr lang="en-US" sz="1600" dirty="0"/>
              <a:t> FCRM. </a:t>
            </a:r>
            <a:r>
              <a:rPr lang="en-US" sz="1600" dirty="0" err="1"/>
              <a:t>Các</a:t>
            </a:r>
            <a:r>
              <a:rPr lang="en-US" sz="1600" dirty="0"/>
              <a:t> </a:t>
            </a:r>
            <a:r>
              <a:rPr lang="en-US" sz="1600" dirty="0" err="1"/>
              <a:t>khối</a:t>
            </a:r>
            <a:r>
              <a:rPr lang="en-US" sz="1600" dirty="0"/>
              <a:t> </a:t>
            </a:r>
            <a:r>
              <a:rPr lang="en-US" sz="1600" dirty="0" err="1"/>
              <a:t>tháo</a:t>
            </a:r>
            <a:r>
              <a:rPr lang="en-US" sz="1600" dirty="0"/>
              <a:t> </a:t>
            </a:r>
            <a:r>
              <a:rPr lang="en-US" sz="1600" dirty="0" err="1"/>
              <a:t>xuống</a:t>
            </a:r>
            <a:r>
              <a:rPr lang="en-US" sz="1600" dirty="0"/>
              <a:t> </a:t>
            </a:r>
            <a:r>
              <a:rPr lang="en-US" sz="1600" dirty="0" err="1"/>
              <a:t>đang</a:t>
            </a:r>
            <a:r>
              <a:rPr lang="en-US" sz="1600" dirty="0"/>
              <a:t> </a:t>
            </a:r>
            <a:r>
              <a:rPr lang="en-US" sz="1600" dirty="0" err="1"/>
              <a:t>chờ</a:t>
            </a:r>
            <a:r>
              <a:rPr lang="en-US" sz="1600" dirty="0"/>
              <a:t> SFR </a:t>
            </a:r>
            <a:r>
              <a:rPr lang="en-US" sz="1600" dirty="0" err="1"/>
              <a:t>để</a:t>
            </a:r>
            <a:r>
              <a:rPr lang="en-US" sz="1600" dirty="0"/>
              <a:t> </a:t>
            </a:r>
            <a:r>
              <a:rPr lang="en-US" sz="1600" dirty="0" err="1"/>
              <a:t>đánh</a:t>
            </a:r>
            <a:r>
              <a:rPr lang="en-US" sz="1600" dirty="0"/>
              <a:t> </a:t>
            </a:r>
            <a:r>
              <a:rPr lang="en-US" sz="1600" dirty="0" err="1"/>
              <a:t>giá</a:t>
            </a:r>
            <a:r>
              <a:rPr lang="en-US" sz="1600" dirty="0"/>
              <a:t> </a:t>
            </a:r>
            <a:r>
              <a:rPr lang="en-US" sz="1600" dirty="0" err="1"/>
              <a:t>thêm</a:t>
            </a:r>
            <a:r>
              <a:rPr lang="en-US" sz="1600" dirty="0"/>
              <a:t>. </a:t>
            </a:r>
            <a:r>
              <a:rPr lang="en-US" sz="1600" dirty="0" err="1"/>
              <a:t>Ngoài</a:t>
            </a:r>
            <a:r>
              <a:rPr lang="en-US" sz="1600" dirty="0"/>
              <a:t> ra, TSV-MCC </a:t>
            </a:r>
            <a:r>
              <a:rPr lang="en-US" sz="1600" dirty="0" err="1"/>
              <a:t>đã</a:t>
            </a:r>
            <a:r>
              <a:rPr lang="en-US" sz="1600" dirty="0"/>
              <a:t> </a:t>
            </a:r>
            <a:r>
              <a:rPr lang="en-US" sz="1600" dirty="0" err="1"/>
              <a:t>thêm</a:t>
            </a:r>
            <a:r>
              <a:rPr lang="en-US" sz="1600" dirty="0"/>
              <a:t> check list </a:t>
            </a:r>
            <a:r>
              <a:rPr lang="en-US" sz="1600" dirty="0" err="1"/>
              <a:t>yêu</a:t>
            </a:r>
            <a:r>
              <a:rPr lang="en-US" sz="1600" dirty="0"/>
              <a:t> </a:t>
            </a:r>
            <a:r>
              <a:rPr lang="en-US" sz="1600" dirty="0" err="1"/>
              <a:t>cầu</a:t>
            </a:r>
            <a:r>
              <a:rPr lang="en-US" sz="1600" dirty="0"/>
              <a:t> </a:t>
            </a:r>
            <a:r>
              <a:rPr lang="en-US" sz="1600" dirty="0" err="1"/>
              <a:t>thực</a:t>
            </a:r>
            <a:r>
              <a:rPr lang="en-US" sz="1600" dirty="0"/>
              <a:t> </a:t>
            </a:r>
            <a:r>
              <a:rPr lang="en-US" sz="1600" dirty="0" err="1"/>
              <a:t>hiện</a:t>
            </a:r>
            <a:r>
              <a:rPr lang="en-US" sz="1600" dirty="0"/>
              <a:t>  OPTS TEST </a:t>
            </a:r>
            <a:r>
              <a:rPr lang="en-US" sz="1600" dirty="0" err="1"/>
              <a:t>hệ</a:t>
            </a:r>
            <a:r>
              <a:rPr lang="en-US" sz="1600" dirty="0"/>
              <a:t> </a:t>
            </a:r>
            <a:r>
              <a:rPr lang="en-US" sz="1600" dirty="0" err="1"/>
              <a:t>thống</a:t>
            </a:r>
            <a:r>
              <a:rPr lang="en-US" sz="1600" dirty="0"/>
              <a:t> </a:t>
            </a:r>
            <a:r>
              <a:rPr lang="en-US" sz="1600" dirty="0" err="1"/>
              <a:t>tối</a:t>
            </a:r>
            <a:r>
              <a:rPr lang="en-US" sz="1600" dirty="0"/>
              <a:t> </a:t>
            </a:r>
            <a:r>
              <a:rPr lang="en-US" sz="1600" dirty="0" err="1"/>
              <a:t>thiểu</a:t>
            </a:r>
            <a:r>
              <a:rPr lang="en-US" sz="1600" dirty="0"/>
              <a:t> 2 </a:t>
            </a:r>
            <a:r>
              <a:rPr lang="en-US" sz="1600" dirty="0" err="1"/>
              <a:t>lần</a:t>
            </a:r>
            <a:r>
              <a:rPr lang="en-US" sz="1600" dirty="0"/>
              <a:t> </a:t>
            </a:r>
            <a:r>
              <a:rPr lang="en-US" sz="1600" dirty="0" err="1"/>
              <a:t>sau</a:t>
            </a:r>
            <a:r>
              <a:rPr lang="en-US" sz="1600" dirty="0"/>
              <a:t> </a:t>
            </a:r>
            <a:r>
              <a:rPr lang="en-US" sz="1600" dirty="0" err="1"/>
              <a:t>khi</a:t>
            </a:r>
            <a:r>
              <a:rPr lang="en-US" sz="1600" dirty="0"/>
              <a:t> </a:t>
            </a:r>
            <a:r>
              <a:rPr lang="en-US" sz="1600" dirty="0" err="1"/>
              <a:t>thay</a:t>
            </a:r>
            <a:r>
              <a:rPr lang="en-US" sz="1600" dirty="0"/>
              <a:t> </a:t>
            </a:r>
            <a:r>
              <a:rPr lang="en-US" sz="1600" dirty="0" err="1"/>
              <a:t>các</a:t>
            </a:r>
            <a:r>
              <a:rPr lang="en-US" sz="1600" dirty="0"/>
              <a:t> </a:t>
            </a:r>
            <a:r>
              <a:rPr lang="en-US" sz="1600" dirty="0" err="1"/>
              <a:t>thiết</a:t>
            </a:r>
            <a:r>
              <a:rPr lang="en-US" sz="1600" dirty="0"/>
              <a:t> </a:t>
            </a:r>
            <a:r>
              <a:rPr lang="en-US" sz="1600" dirty="0" err="1"/>
              <a:t>bị</a:t>
            </a:r>
            <a:r>
              <a:rPr lang="en-US" sz="1600" dirty="0"/>
              <a:t> flight control </a:t>
            </a:r>
            <a:r>
              <a:rPr lang="en-US" sz="1600" dirty="0" err="1"/>
              <a:t>để</a:t>
            </a:r>
            <a:r>
              <a:rPr lang="en-US" sz="1600" dirty="0"/>
              <a:t> confirm </a:t>
            </a:r>
            <a:r>
              <a:rPr lang="en-US" sz="1600" dirty="0" err="1"/>
              <a:t>hỏng</a:t>
            </a:r>
            <a:r>
              <a:rPr lang="en-US" sz="1600" dirty="0"/>
              <a:t> </a:t>
            </a:r>
            <a:r>
              <a:rPr lang="en-US" sz="1600" dirty="0" err="1"/>
              <a:t>hóc</a:t>
            </a:r>
            <a:r>
              <a:rPr lang="en-US" sz="1600" dirty="0"/>
              <a:t>.</a:t>
            </a:r>
          </a:p>
          <a:p>
            <a:pPr marL="285750" indent="-285750">
              <a:buFont typeface="Wingdings" panose="05000000000000000000" pitchFamily="2" charset="2"/>
              <a:buChar char="q"/>
            </a:pPr>
            <a:r>
              <a:rPr lang="en-US" sz="1600" dirty="0"/>
              <a:t> </a:t>
            </a:r>
            <a:r>
              <a:rPr lang="en-US" sz="1600" b="1" dirty="0" err="1"/>
              <a:t>Với</a:t>
            </a:r>
            <a:r>
              <a:rPr lang="en-US" sz="1600" b="1" dirty="0"/>
              <a:t> </a:t>
            </a:r>
            <a:r>
              <a:rPr lang="en-US" sz="1600" b="1" dirty="0" err="1"/>
              <a:t>hỏng</a:t>
            </a:r>
            <a:r>
              <a:rPr lang="en-US" sz="1600" b="1" dirty="0"/>
              <a:t> </a:t>
            </a:r>
            <a:r>
              <a:rPr lang="en-US" sz="1600" b="1" dirty="0" err="1"/>
              <a:t>hóc</a:t>
            </a:r>
            <a:r>
              <a:rPr lang="en-US" sz="1600" b="1" dirty="0"/>
              <a:t> coupler</a:t>
            </a:r>
            <a:r>
              <a:rPr lang="en-US" sz="1600" dirty="0"/>
              <a:t>: </a:t>
            </a:r>
            <a:r>
              <a:rPr lang="en-US" sz="1600" dirty="0" err="1"/>
              <a:t>Hỏng</a:t>
            </a:r>
            <a:r>
              <a:rPr lang="en-US" sz="1600" dirty="0"/>
              <a:t> </a:t>
            </a:r>
            <a:r>
              <a:rPr lang="en-US" sz="1600" dirty="0" err="1"/>
              <a:t>hóc</a:t>
            </a:r>
            <a:r>
              <a:rPr lang="en-US" sz="1600" dirty="0"/>
              <a:t> </a:t>
            </a:r>
            <a:r>
              <a:rPr lang="en-US" sz="1600" dirty="0" err="1"/>
              <a:t>này</a:t>
            </a:r>
            <a:r>
              <a:rPr lang="en-US" sz="1600" dirty="0"/>
              <a:t> Airbus </a:t>
            </a:r>
            <a:r>
              <a:rPr lang="en-US" sz="1600" dirty="0" err="1"/>
              <a:t>có</a:t>
            </a:r>
            <a:r>
              <a:rPr lang="en-US" sz="1600" dirty="0"/>
              <a:t> </a:t>
            </a:r>
            <a:r>
              <a:rPr lang="en-US" sz="1600" dirty="0" err="1"/>
              <a:t>đề</a:t>
            </a:r>
            <a:r>
              <a:rPr lang="en-US" sz="1600" dirty="0"/>
              <a:t> </a:t>
            </a:r>
            <a:r>
              <a:rPr lang="en-US" sz="1600" dirty="0" err="1"/>
              <a:t>cập</a:t>
            </a:r>
            <a:r>
              <a:rPr lang="en-US" sz="1600" dirty="0"/>
              <a:t> </a:t>
            </a:r>
            <a:r>
              <a:rPr lang="en-US" sz="1600" dirty="0" err="1"/>
              <a:t>trong</a:t>
            </a:r>
            <a:r>
              <a:rPr lang="en-US" sz="1600" dirty="0"/>
              <a:t> ISI 92.00.00.031 do </a:t>
            </a:r>
            <a:r>
              <a:rPr lang="en-US" sz="1600" dirty="0" err="1"/>
              <a:t>nhiều</a:t>
            </a:r>
            <a:r>
              <a:rPr lang="en-US" sz="1600" dirty="0"/>
              <a:t> </a:t>
            </a:r>
            <a:r>
              <a:rPr lang="en-US" sz="1600" dirty="0" err="1"/>
              <a:t>nguyên</a:t>
            </a:r>
            <a:r>
              <a:rPr lang="en-US" sz="1600" dirty="0"/>
              <a:t> </a:t>
            </a:r>
            <a:r>
              <a:rPr lang="en-US" sz="1600" dirty="0" err="1"/>
              <a:t>nhân</a:t>
            </a:r>
            <a:r>
              <a:rPr lang="en-US" sz="1600" dirty="0"/>
              <a:t> </a:t>
            </a:r>
            <a:r>
              <a:rPr lang="en-US" sz="1600" dirty="0" err="1"/>
              <a:t>khác</a:t>
            </a:r>
            <a:r>
              <a:rPr lang="en-US" sz="1600" dirty="0"/>
              <a:t> </a:t>
            </a:r>
            <a:r>
              <a:rPr lang="en-US" sz="1600" dirty="0" err="1"/>
              <a:t>nhau</a:t>
            </a:r>
            <a:r>
              <a:rPr lang="en-US" sz="1600" dirty="0"/>
              <a:t> </a:t>
            </a:r>
            <a:r>
              <a:rPr lang="en-US" sz="1600" dirty="0" err="1"/>
              <a:t>trong</a:t>
            </a:r>
            <a:r>
              <a:rPr lang="en-US" sz="1600" dirty="0"/>
              <a:t> </a:t>
            </a:r>
            <a:r>
              <a:rPr lang="en-US" sz="1600" dirty="0" err="1"/>
              <a:t>quá</a:t>
            </a:r>
            <a:r>
              <a:rPr lang="en-US" sz="1600" dirty="0"/>
              <a:t> </a:t>
            </a:r>
            <a:r>
              <a:rPr lang="en-US" sz="1600" dirty="0" err="1"/>
              <a:t>trình</a:t>
            </a:r>
            <a:r>
              <a:rPr lang="en-US" sz="1600" dirty="0"/>
              <a:t> </a:t>
            </a:r>
            <a:r>
              <a:rPr lang="en-US" sz="1600" dirty="0" err="1"/>
              <a:t>sản</a:t>
            </a:r>
            <a:r>
              <a:rPr lang="en-US" sz="1600" dirty="0"/>
              <a:t> </a:t>
            </a:r>
            <a:r>
              <a:rPr lang="en-US" sz="1600" dirty="0" err="1"/>
              <a:t>xuất</a:t>
            </a:r>
            <a:r>
              <a:rPr lang="en-US" sz="1600" dirty="0"/>
              <a:t>, </a:t>
            </a:r>
            <a:r>
              <a:rPr lang="en-US" sz="1600" dirty="0" err="1"/>
              <a:t>lắp</a:t>
            </a:r>
            <a:r>
              <a:rPr lang="en-US" sz="1600" dirty="0"/>
              <a:t> </a:t>
            </a:r>
            <a:r>
              <a:rPr lang="en-US" sz="1600" dirty="0" err="1"/>
              <a:t>ráp</a:t>
            </a:r>
            <a:r>
              <a:rPr lang="en-US" sz="1600" dirty="0"/>
              <a:t> </a:t>
            </a:r>
            <a:r>
              <a:rPr lang="en-US" sz="1600" dirty="0" err="1"/>
              <a:t>tàu</a:t>
            </a:r>
            <a:r>
              <a:rPr lang="en-US" sz="1600" dirty="0"/>
              <a:t> bay (metallic chip inside the connector, weakness at ferule level...). </a:t>
            </a:r>
            <a:r>
              <a:rPr lang="en-US" sz="1600" dirty="0" err="1"/>
              <a:t>Tàu</a:t>
            </a:r>
            <a:r>
              <a:rPr lang="en-US" sz="1600" dirty="0"/>
              <a:t> bay A893 </a:t>
            </a:r>
            <a:r>
              <a:rPr lang="en-US" sz="1600" dirty="0" err="1"/>
              <a:t>từng</a:t>
            </a:r>
            <a:r>
              <a:rPr lang="en-US" sz="1600" dirty="0"/>
              <a:t> AOG </a:t>
            </a:r>
            <a:r>
              <a:rPr lang="en-US" sz="1600" dirty="0" err="1"/>
              <a:t>năm</a:t>
            </a:r>
            <a:r>
              <a:rPr lang="en-US" sz="1600" dirty="0"/>
              <a:t> 2022 do </a:t>
            </a:r>
            <a:r>
              <a:rPr lang="en-US" sz="1600" dirty="0" err="1"/>
              <a:t>bị</a:t>
            </a:r>
            <a:r>
              <a:rPr lang="en-US" sz="1600" dirty="0"/>
              <a:t> </a:t>
            </a:r>
            <a:r>
              <a:rPr lang="en-US" sz="1600" dirty="0" err="1"/>
              <a:t>hỏng</a:t>
            </a:r>
            <a:r>
              <a:rPr lang="en-US" sz="1600" dirty="0"/>
              <a:t> </a:t>
            </a:r>
            <a:r>
              <a:rPr lang="en-US" sz="1600" dirty="0" err="1"/>
              <a:t>hóc</a:t>
            </a:r>
            <a:r>
              <a:rPr lang="en-US" sz="1600" dirty="0"/>
              <a:t> coupler (</a:t>
            </a:r>
            <a:r>
              <a:rPr lang="en-US" sz="1600" dirty="0" err="1"/>
              <a:t>vị</a:t>
            </a:r>
            <a:r>
              <a:rPr lang="en-US" sz="1600" dirty="0"/>
              <a:t> </a:t>
            </a:r>
            <a:r>
              <a:rPr lang="en-US" sz="1600" dirty="0" err="1"/>
              <a:t>trí</a:t>
            </a:r>
            <a:r>
              <a:rPr lang="en-US" sz="1600" dirty="0"/>
              <a:t> 200CE1 and 205CE1) </a:t>
            </a:r>
            <a:r>
              <a:rPr lang="en-US" sz="1600" dirty="0" err="1"/>
              <a:t>và</a:t>
            </a:r>
            <a:r>
              <a:rPr lang="en-US" sz="1600" dirty="0"/>
              <a:t> </a:t>
            </a:r>
            <a:r>
              <a:rPr lang="en-US" sz="1600" dirty="0" err="1"/>
              <a:t>chỉ</a:t>
            </a:r>
            <a:r>
              <a:rPr lang="en-US" sz="1600" dirty="0"/>
              <a:t> </a:t>
            </a:r>
            <a:r>
              <a:rPr lang="en-US" sz="1600" dirty="0" err="1"/>
              <a:t>có</a:t>
            </a:r>
            <a:r>
              <a:rPr lang="en-US" sz="1600" dirty="0"/>
              <a:t> </a:t>
            </a:r>
            <a:r>
              <a:rPr lang="en-US" sz="1600" dirty="0" err="1"/>
              <a:t>tàu</a:t>
            </a:r>
            <a:r>
              <a:rPr lang="en-US" sz="1600" dirty="0"/>
              <a:t> bay </a:t>
            </a:r>
            <a:r>
              <a:rPr lang="en-US" sz="1600" dirty="0" err="1"/>
              <a:t>này</a:t>
            </a:r>
            <a:r>
              <a:rPr lang="en-US" sz="1600" dirty="0"/>
              <a:t> </a:t>
            </a:r>
            <a:r>
              <a:rPr lang="en-US" sz="1600" dirty="0" err="1"/>
              <a:t>trong</a:t>
            </a:r>
            <a:r>
              <a:rPr lang="en-US" sz="1600" dirty="0"/>
              <a:t> </a:t>
            </a:r>
            <a:r>
              <a:rPr lang="en-US" sz="1600" dirty="0" err="1"/>
              <a:t>cả</a:t>
            </a:r>
            <a:r>
              <a:rPr lang="en-US" sz="1600" dirty="0"/>
              <a:t> A350 fleet </a:t>
            </a:r>
            <a:r>
              <a:rPr lang="en-US" sz="1600" dirty="0" err="1"/>
              <a:t>gặp</a:t>
            </a:r>
            <a:r>
              <a:rPr lang="en-US" sz="1600" dirty="0"/>
              <a:t> </a:t>
            </a:r>
            <a:r>
              <a:rPr lang="en-US" sz="1600" dirty="0" err="1"/>
              <a:t>hiện</a:t>
            </a:r>
            <a:r>
              <a:rPr lang="en-US" sz="1600" dirty="0"/>
              <a:t> </a:t>
            </a:r>
            <a:r>
              <a:rPr lang="en-US" sz="1600" dirty="0" err="1"/>
              <a:t>tượng</a:t>
            </a:r>
            <a:r>
              <a:rPr lang="en-US" sz="1600" dirty="0"/>
              <a:t> </a:t>
            </a:r>
            <a:r>
              <a:rPr lang="en-US" sz="1600" dirty="0" err="1"/>
              <a:t>hỏng</a:t>
            </a:r>
            <a:r>
              <a:rPr lang="en-US" sz="1600" dirty="0"/>
              <a:t> </a:t>
            </a:r>
            <a:r>
              <a:rPr lang="en-US" sz="1600" dirty="0" err="1"/>
              <a:t>hóc</a:t>
            </a:r>
            <a:r>
              <a:rPr lang="en-US" sz="1600" dirty="0"/>
              <a:t> coupler.</a:t>
            </a:r>
          </a:p>
          <a:p>
            <a:pPr marL="742950" lvl="1" indent="-285750">
              <a:buFont typeface="Arial" panose="020B0604020202020204" pitchFamily="34" charset="0"/>
              <a:buChar char="•"/>
            </a:pPr>
            <a:r>
              <a:rPr lang="en-US" sz="1600" dirty="0" err="1"/>
              <a:t>Hỏng</a:t>
            </a:r>
            <a:r>
              <a:rPr lang="en-US" sz="1600" dirty="0"/>
              <a:t> </a:t>
            </a:r>
            <a:r>
              <a:rPr lang="en-US" sz="1600" dirty="0" err="1"/>
              <a:t>hóc</a:t>
            </a:r>
            <a:r>
              <a:rPr lang="en-US" sz="1600" dirty="0"/>
              <a:t> </a:t>
            </a:r>
            <a:r>
              <a:rPr lang="en-US" sz="1600" dirty="0" err="1"/>
              <a:t>này</a:t>
            </a:r>
            <a:r>
              <a:rPr lang="en-US" sz="1600" dirty="0"/>
              <a:t> </a:t>
            </a:r>
            <a:r>
              <a:rPr lang="en-US" sz="1600" dirty="0" err="1"/>
              <a:t>không</a:t>
            </a:r>
            <a:r>
              <a:rPr lang="en-US" sz="1600" dirty="0"/>
              <a:t> </a:t>
            </a:r>
            <a:r>
              <a:rPr lang="en-US" sz="1600" dirty="0" err="1"/>
              <a:t>có</a:t>
            </a:r>
            <a:r>
              <a:rPr lang="en-US" sz="1600" dirty="0"/>
              <a:t> SB hay </a:t>
            </a:r>
            <a:r>
              <a:rPr lang="en-US" sz="1600" dirty="0" err="1"/>
              <a:t>giải</a:t>
            </a:r>
            <a:r>
              <a:rPr lang="en-US" sz="1600" dirty="0"/>
              <a:t> </a:t>
            </a:r>
            <a:r>
              <a:rPr lang="en-US" sz="1600" dirty="0" err="1"/>
              <a:t>pháp</a:t>
            </a:r>
            <a:r>
              <a:rPr lang="en-US" sz="1600" dirty="0"/>
              <a:t> </a:t>
            </a:r>
            <a:r>
              <a:rPr lang="en-US" sz="1600" dirty="0" err="1"/>
              <a:t>đánh</a:t>
            </a:r>
            <a:r>
              <a:rPr lang="en-US" sz="1600" dirty="0"/>
              <a:t> </a:t>
            </a:r>
            <a:r>
              <a:rPr lang="en-US" sz="1600" dirty="0" err="1"/>
              <a:t>chặn</a:t>
            </a:r>
            <a:r>
              <a:rPr lang="en-US" sz="1600" dirty="0"/>
              <a:t> </a:t>
            </a:r>
            <a:r>
              <a:rPr lang="en-US" sz="1600" dirty="0" err="1"/>
              <a:t>nào</a:t>
            </a:r>
            <a:r>
              <a:rPr lang="en-US" sz="1600" dirty="0"/>
              <a:t> </a:t>
            </a:r>
            <a:r>
              <a:rPr lang="en-US" sz="1600" dirty="0" err="1"/>
              <a:t>ngoài</a:t>
            </a:r>
            <a:r>
              <a:rPr lang="en-US" sz="1600" dirty="0"/>
              <a:t> </a:t>
            </a:r>
            <a:r>
              <a:rPr lang="en-US" sz="1600" dirty="0" err="1"/>
              <a:t>việc</a:t>
            </a:r>
            <a:r>
              <a:rPr lang="en-US" sz="1600" dirty="0"/>
              <a:t> </a:t>
            </a:r>
            <a:r>
              <a:rPr lang="en-US" sz="1600" dirty="0" err="1"/>
              <a:t>sửa</a:t>
            </a:r>
            <a:r>
              <a:rPr lang="en-US" sz="1600" dirty="0"/>
              <a:t> </a:t>
            </a:r>
            <a:r>
              <a:rPr lang="en-US" sz="1600" dirty="0" err="1"/>
              <a:t>chữa</a:t>
            </a:r>
            <a:r>
              <a:rPr lang="en-US" sz="1600" dirty="0"/>
              <a:t> </a:t>
            </a:r>
            <a:r>
              <a:rPr lang="en-US" sz="1600" dirty="0" err="1"/>
              <a:t>thay</a:t>
            </a:r>
            <a:r>
              <a:rPr lang="en-US" sz="1600" dirty="0"/>
              <a:t> </a:t>
            </a:r>
            <a:r>
              <a:rPr lang="en-US" sz="1600" dirty="0" err="1"/>
              <a:t>thế</a:t>
            </a:r>
            <a:r>
              <a:rPr lang="en-US" sz="1600" dirty="0"/>
              <a:t> </a:t>
            </a:r>
            <a:r>
              <a:rPr lang="en-US" sz="1600" dirty="0" err="1"/>
              <a:t>các</a:t>
            </a:r>
            <a:r>
              <a:rPr lang="en-US" sz="1600" dirty="0"/>
              <a:t> coupler </a:t>
            </a:r>
            <a:r>
              <a:rPr lang="en-US" sz="1600" dirty="0" err="1"/>
              <a:t>khi</a:t>
            </a:r>
            <a:r>
              <a:rPr lang="en-US" sz="1600" dirty="0"/>
              <a:t> </a:t>
            </a:r>
            <a:r>
              <a:rPr lang="en-US" sz="1600" dirty="0" err="1"/>
              <a:t>xuất</a:t>
            </a:r>
            <a:r>
              <a:rPr lang="en-US" sz="1600" dirty="0"/>
              <a:t> </a:t>
            </a:r>
            <a:r>
              <a:rPr lang="en-US" sz="1600" dirty="0" err="1"/>
              <a:t>hiện</a:t>
            </a:r>
            <a:r>
              <a:rPr lang="en-US" sz="1600" dirty="0"/>
              <a:t> </a:t>
            </a:r>
            <a:r>
              <a:rPr lang="en-US" sz="1600" dirty="0" err="1"/>
              <a:t>hỏng</a:t>
            </a:r>
            <a:r>
              <a:rPr lang="en-US" sz="1600" dirty="0"/>
              <a:t> </a:t>
            </a:r>
            <a:r>
              <a:rPr lang="en-US" sz="1600" dirty="0" err="1"/>
              <a:t>hóc</a:t>
            </a:r>
            <a:r>
              <a:rPr lang="en-US" sz="1600" dirty="0"/>
              <a:t>.</a:t>
            </a:r>
          </a:p>
        </p:txBody>
      </p:sp>
      <p:grpSp>
        <p:nvGrpSpPr>
          <p:cNvPr id="3" name="Group 2"/>
          <p:cNvGrpSpPr/>
          <p:nvPr/>
        </p:nvGrpSpPr>
        <p:grpSpPr>
          <a:xfrm>
            <a:off x="6858001" y="2817394"/>
            <a:ext cx="5334000" cy="3354806"/>
            <a:chOff x="6717851" y="3099125"/>
            <a:chExt cx="5443541" cy="3430450"/>
          </a:xfrm>
        </p:grpSpPr>
        <p:pic>
          <p:nvPicPr>
            <p:cNvPr id="13" name="Picture 12">
              <a:extLst>
                <a:ext uri="{FF2B5EF4-FFF2-40B4-BE49-F238E27FC236}">
                  <a16:creationId xmlns:a16="http://schemas.microsoft.com/office/drawing/2014/main" id="{9B685A13-CF63-418D-A420-924DE13B90BB}"/>
                </a:ext>
              </a:extLst>
            </p:cNvPr>
            <p:cNvPicPr>
              <a:picLocks noChangeAspect="1"/>
            </p:cNvPicPr>
            <p:nvPr/>
          </p:nvPicPr>
          <p:blipFill>
            <a:blip r:embed="rId4"/>
            <a:stretch>
              <a:fillRect/>
            </a:stretch>
          </p:blipFill>
          <p:spPr>
            <a:xfrm>
              <a:off x="6717851" y="3099125"/>
              <a:ext cx="5443541" cy="3044467"/>
            </a:xfrm>
            <a:prstGeom prst="rect">
              <a:avLst/>
            </a:prstGeom>
          </p:spPr>
        </p:pic>
        <p:pic>
          <p:nvPicPr>
            <p:cNvPr id="15" name="Picture 14">
              <a:extLst>
                <a:ext uri="{FF2B5EF4-FFF2-40B4-BE49-F238E27FC236}">
                  <a16:creationId xmlns:a16="http://schemas.microsoft.com/office/drawing/2014/main" id="{A7907B2B-FDD7-4600-B082-4FC2E89F784E}"/>
                </a:ext>
              </a:extLst>
            </p:cNvPr>
            <p:cNvPicPr>
              <a:picLocks noChangeAspect="1"/>
            </p:cNvPicPr>
            <p:nvPr/>
          </p:nvPicPr>
          <p:blipFill>
            <a:blip r:embed="rId5"/>
            <a:stretch>
              <a:fillRect/>
            </a:stretch>
          </p:blipFill>
          <p:spPr>
            <a:xfrm>
              <a:off x="10603005" y="4450976"/>
              <a:ext cx="1367117" cy="920649"/>
            </a:xfrm>
            <a:prstGeom prst="rect">
              <a:avLst/>
            </a:prstGeom>
          </p:spPr>
        </p:pic>
        <p:pic>
          <p:nvPicPr>
            <p:cNvPr id="16" name="Picture 15">
              <a:extLst>
                <a:ext uri="{FF2B5EF4-FFF2-40B4-BE49-F238E27FC236}">
                  <a16:creationId xmlns:a16="http://schemas.microsoft.com/office/drawing/2014/main" id="{C51392D8-A2BE-4FCD-AF08-108BE7B6BC90}"/>
                </a:ext>
              </a:extLst>
            </p:cNvPr>
            <p:cNvPicPr>
              <a:picLocks noChangeAspect="1"/>
            </p:cNvPicPr>
            <p:nvPr/>
          </p:nvPicPr>
          <p:blipFill>
            <a:blip r:embed="rId6"/>
            <a:stretch>
              <a:fillRect/>
            </a:stretch>
          </p:blipFill>
          <p:spPr>
            <a:xfrm>
              <a:off x="10603005" y="5393300"/>
              <a:ext cx="1202146" cy="1136275"/>
            </a:xfrm>
            <a:prstGeom prst="rect">
              <a:avLst/>
            </a:prstGeom>
          </p:spPr>
        </p:pic>
      </p:grpSp>
      <p:cxnSp>
        <p:nvCxnSpPr>
          <p:cNvPr id="18" name="Straight Arrow Connector 17">
            <a:extLst>
              <a:ext uri="{FF2B5EF4-FFF2-40B4-BE49-F238E27FC236}">
                <a16:creationId xmlns:a16="http://schemas.microsoft.com/office/drawing/2014/main" id="{0A187DE9-A6D4-4EDE-83D5-C563E13460F7}"/>
              </a:ext>
            </a:extLst>
          </p:cNvPr>
          <p:cNvCxnSpPr/>
          <p:nvPr/>
        </p:nvCxnSpPr>
        <p:spPr>
          <a:xfrm>
            <a:off x="8236324" y="4390465"/>
            <a:ext cx="2306170" cy="413898"/>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539380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99EB258A-4954-BF7B-0806-D2A3C78E1DDD}"/>
              </a:ext>
            </a:extLst>
          </p:cNvPr>
          <p:cNvGraphicFramePr>
            <a:graphicFrameLocks noGrp="1"/>
          </p:cNvGraphicFramePr>
          <p:nvPr/>
        </p:nvGraphicFramePr>
        <p:xfrm>
          <a:off x="174091" y="565155"/>
          <a:ext cx="11854120" cy="6143771"/>
        </p:xfrm>
        <a:graphic>
          <a:graphicData uri="http://schemas.openxmlformats.org/drawingml/2006/table">
            <a:tbl>
              <a:tblPr/>
              <a:tblGrid>
                <a:gridCol w="264135">
                  <a:extLst>
                    <a:ext uri="{9D8B030D-6E8A-4147-A177-3AD203B41FA5}">
                      <a16:colId xmlns:a16="http://schemas.microsoft.com/office/drawing/2014/main" val="4186916333"/>
                    </a:ext>
                  </a:extLst>
                </a:gridCol>
                <a:gridCol w="649432">
                  <a:extLst>
                    <a:ext uri="{9D8B030D-6E8A-4147-A177-3AD203B41FA5}">
                      <a16:colId xmlns:a16="http://schemas.microsoft.com/office/drawing/2014/main" val="3924496931"/>
                    </a:ext>
                  </a:extLst>
                </a:gridCol>
                <a:gridCol w="689396">
                  <a:extLst>
                    <a:ext uri="{9D8B030D-6E8A-4147-A177-3AD203B41FA5}">
                      <a16:colId xmlns:a16="http://schemas.microsoft.com/office/drawing/2014/main" val="3377862717"/>
                    </a:ext>
                  </a:extLst>
                </a:gridCol>
                <a:gridCol w="1408765">
                  <a:extLst>
                    <a:ext uri="{9D8B030D-6E8A-4147-A177-3AD203B41FA5}">
                      <a16:colId xmlns:a16="http://schemas.microsoft.com/office/drawing/2014/main" val="3893387634"/>
                    </a:ext>
                  </a:extLst>
                </a:gridCol>
                <a:gridCol w="1036776">
                  <a:extLst>
                    <a:ext uri="{9D8B030D-6E8A-4147-A177-3AD203B41FA5}">
                      <a16:colId xmlns:a16="http://schemas.microsoft.com/office/drawing/2014/main" val="709744923"/>
                    </a:ext>
                  </a:extLst>
                </a:gridCol>
                <a:gridCol w="1506655">
                  <a:extLst>
                    <a:ext uri="{9D8B030D-6E8A-4147-A177-3AD203B41FA5}">
                      <a16:colId xmlns:a16="http://schemas.microsoft.com/office/drawing/2014/main" val="3347079229"/>
                    </a:ext>
                  </a:extLst>
                </a:gridCol>
                <a:gridCol w="6298961">
                  <a:extLst>
                    <a:ext uri="{9D8B030D-6E8A-4147-A177-3AD203B41FA5}">
                      <a16:colId xmlns:a16="http://schemas.microsoft.com/office/drawing/2014/main" val="249982567"/>
                    </a:ext>
                  </a:extLst>
                </a:gridCol>
              </a:tblGrid>
              <a:tr h="205599">
                <a:tc>
                  <a:txBody>
                    <a:bodyPr/>
                    <a:lstStyle/>
                    <a:p>
                      <a:pPr algn="ctr" fontAlgn="ctr"/>
                      <a:r>
                        <a:rPr lang="en-US" sz="1300" b="0" i="0" u="none" strike="noStrike">
                          <a:solidFill>
                            <a:srgbClr val="000000"/>
                          </a:solidFill>
                          <a:effectLst/>
                          <a:latin typeface="Calibri" panose="020F0502020204030204" pitchFamily="34" charset="0"/>
                        </a:rPr>
                        <a:t>No</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9789694"/>
                  </a:ext>
                </a:extLst>
              </a:tr>
              <a:tr h="205599">
                <a:tc>
                  <a:txBody>
                    <a:bodyPr/>
                    <a:lstStyle/>
                    <a:p>
                      <a:pPr algn="ctr" fontAlgn="ctr"/>
                      <a:r>
                        <a:rPr lang="en-US" sz="1300" b="0" i="0" u="none" strike="noStrike">
                          <a:solidFill>
                            <a:srgbClr val="000000"/>
                          </a:solidFill>
                          <a:effectLst/>
                          <a:latin typeface="Calibri" panose="020F0502020204030204" pitchFamily="34" charset="0"/>
                        </a:rPr>
                        <a:t>1</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3605764"/>
                  </a:ext>
                </a:extLst>
              </a:tr>
              <a:tr h="408799">
                <a:tc>
                  <a:txBody>
                    <a:bodyPr/>
                    <a:lstStyle/>
                    <a:p>
                      <a:pPr algn="ctr" fontAlgn="ctr"/>
                      <a:r>
                        <a:rPr lang="en-US" sz="1300" b="0" i="0" u="none" strike="noStrike">
                          <a:solidFill>
                            <a:srgbClr val="000000"/>
                          </a:solidFill>
                          <a:effectLst/>
                          <a:latin typeface="Calibri" panose="020F0502020204030204" pitchFamily="34" charset="0"/>
                        </a:rPr>
                        <a:t>2</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2. ADD B1246 RAISED AIR PACK 2 REGUL REDUNDANCY</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2440216"/>
                  </a:ext>
                </a:extLst>
              </a:tr>
              <a:tr h="1221599">
                <a:tc>
                  <a:txBody>
                    <a:bodyPr/>
                    <a:lstStyle/>
                    <a:p>
                      <a:pPr algn="ctr" fontAlgn="ctr"/>
                      <a:r>
                        <a:rPr lang="en-US" sz="1300" b="0" i="0" u="none" strike="noStrike">
                          <a:solidFill>
                            <a:srgbClr val="000000"/>
                          </a:solidFill>
                          <a:effectLst/>
                          <a:latin typeface="Calibri" panose="020F0502020204030204" pitchFamily="34" charset="0"/>
                        </a:rPr>
                        <a:t>3</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 -&gt; Ref Afi A350-A-79-31-XX-09001-421A-A Low Oil Quantity Alert: no maint action require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TR 81601748: PREVENTIVE RECOMMENDATION: HIGH TEMPERATURE YELLOW RESERVOIR</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9651339"/>
                  </a:ext>
                </a:extLst>
              </a:tr>
              <a:tr h="1030185">
                <a:tc>
                  <a:txBody>
                    <a:bodyPr/>
                    <a:lstStyle/>
                    <a:p>
                      <a:pPr algn="ctr" fontAlgn="ctr"/>
                      <a:r>
                        <a:rPr lang="en-US" sz="1300" b="0" i="0" u="none" strike="noStrike">
                          <a:solidFill>
                            <a:srgbClr val="000000"/>
                          </a:solidFill>
                          <a:effectLst/>
                          <a:latin typeface="Calibri" panose="020F0502020204030204" pitchFamily="34" charset="0"/>
                        </a:rPr>
                        <a:t>4</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 -&gt; Ref Afi A350-A-79-31-XX-09001-421A-A Low Oil Quantity Alert: no maint action require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DM A-ICE L+R STBY STATIC PROBE HEATG =&gt; monitor thêm</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ADD B1274 RAISED XPDR # 02 FAULT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8994844"/>
                  </a:ext>
                </a:extLst>
              </a:tr>
              <a:tr h="205599">
                <a:tc>
                  <a:txBody>
                    <a:bodyPr/>
                    <a:lstStyle/>
                    <a:p>
                      <a:pPr algn="ctr" fontAlgn="ctr"/>
                      <a:r>
                        <a:rPr lang="en-US" sz="1300" b="0" i="0" u="none" strike="noStrike">
                          <a:solidFill>
                            <a:srgbClr val="000000"/>
                          </a:solidFill>
                          <a:effectLst/>
                          <a:latin typeface="Calibri" panose="020F0502020204030204" pitchFamily="34" charset="0"/>
                        </a:rPr>
                        <a:t>5</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TR 81489576: PREVENTIVE RECOMMENDATION PACK 2 INTERNAL LEAKAGE</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2442318"/>
                  </a:ext>
                </a:extLst>
              </a:tr>
              <a:tr h="205599">
                <a:tc>
                  <a:txBody>
                    <a:bodyPr/>
                    <a:lstStyle/>
                    <a:p>
                      <a:pPr algn="ctr" fontAlgn="ctr"/>
                      <a:r>
                        <a:rPr lang="en-US" sz="1300" b="0" i="0" u="none" strike="noStrike">
                          <a:solidFill>
                            <a:srgbClr val="000000"/>
                          </a:solidFill>
                          <a:effectLst/>
                          <a:latin typeface="Calibri" panose="020F0502020204030204" pitchFamily="34" charset="0"/>
                        </a:rPr>
                        <a:t>6</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81570626 PREVENTIVE RECOMMENDATION PACK 2 INTERNAL LEAKAGE</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3617229"/>
                  </a:ext>
                </a:extLst>
              </a:tr>
              <a:tr h="408799">
                <a:tc>
                  <a:txBody>
                    <a:bodyPr/>
                    <a:lstStyle/>
                    <a:p>
                      <a:pPr algn="ctr" fontAlgn="ctr"/>
                      <a:r>
                        <a:rPr lang="en-US" sz="1300" b="0" i="0" u="none" strike="noStrike">
                          <a:solidFill>
                            <a:srgbClr val="000000"/>
                          </a:solidFill>
                          <a:effectLst/>
                          <a:latin typeface="Calibri" panose="020F0502020204030204" pitchFamily="34" charset="0"/>
                        </a:rPr>
                        <a:t>7</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ENGINE: #2/21368 ON AIRCRAFT VN-A892: P25 MEASUREMENT ERROR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3. ADD B1566 RAISED AIR PACK 2 REGUL REDUNANCY</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1770932"/>
                  </a:ext>
                </a:extLst>
              </a:tr>
              <a:tr h="205599">
                <a:tc>
                  <a:txBody>
                    <a:bodyPr/>
                    <a:lstStyle/>
                    <a:p>
                      <a:pPr algn="ctr" fontAlgn="ctr"/>
                      <a:r>
                        <a:rPr lang="en-US" sz="1300" b="0" i="0" u="none" strike="noStrike">
                          <a:solidFill>
                            <a:srgbClr val="000000"/>
                          </a:solidFill>
                          <a:effectLst/>
                          <a:latin typeface="Calibri" panose="020F0502020204030204" pitchFamily="34" charset="0"/>
                        </a:rPr>
                        <a:t>8</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C1191 RAISED CHILLER AT AFT CREWREST INOP</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9016313"/>
                  </a:ext>
                </a:extLst>
              </a:tr>
              <a:tr h="205599">
                <a:tc>
                  <a:txBody>
                    <a:bodyPr/>
                    <a:lstStyle/>
                    <a:p>
                      <a:pPr algn="ctr" fontAlgn="ctr"/>
                      <a:r>
                        <a:rPr lang="en-US" sz="1300" b="0" i="0" u="none" strike="noStrike">
                          <a:solidFill>
                            <a:srgbClr val="000000"/>
                          </a:solidFill>
                          <a:effectLst/>
                          <a:latin typeface="Calibri" panose="020F0502020204030204" pitchFamily="34" charset="0"/>
                        </a:rPr>
                        <a:t>9</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2. ADD B1053 RAISED ENG 1 SINGLE FIRE LOOP</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4375961"/>
                  </a:ext>
                </a:extLst>
              </a:tr>
              <a:tr h="205599">
                <a:tc>
                  <a:txBody>
                    <a:bodyPr/>
                    <a:lstStyle/>
                    <a:p>
                      <a:pPr algn="ctr" fontAlgn="ctr"/>
                      <a:r>
                        <a:rPr lang="en-US" sz="1300" b="0" i="0" u="none" strike="noStrike">
                          <a:solidFill>
                            <a:srgbClr val="000000"/>
                          </a:solidFill>
                          <a:effectLst/>
                          <a:latin typeface="Calibri" panose="020F0502020204030204" pitchFamily="34" charset="0"/>
                        </a:rPr>
                        <a:t>10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6092325"/>
                  </a:ext>
                </a:extLst>
              </a:tr>
              <a:tr h="205599">
                <a:tc>
                  <a:txBody>
                    <a:bodyPr/>
                    <a:lstStyle/>
                    <a:p>
                      <a:pPr algn="ctr" fontAlgn="ctr"/>
                      <a:r>
                        <a:rPr lang="en-US" sz="1300" b="0" i="0" u="none" strike="noStrike">
                          <a:solidFill>
                            <a:srgbClr val="000000"/>
                          </a:solidFill>
                          <a:effectLst/>
                          <a:latin typeface="Calibri" panose="020F0502020204030204" pitchFamily="34" charset="0"/>
                        </a:rPr>
                        <a:t>11</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991020"/>
                  </a:ext>
                </a:extLst>
              </a:tr>
              <a:tr h="408799">
                <a:tc>
                  <a:txBody>
                    <a:bodyPr/>
                    <a:lstStyle/>
                    <a:p>
                      <a:pPr algn="ctr" fontAlgn="ctr"/>
                      <a:r>
                        <a:rPr lang="en-US" sz="1300" b="0" i="0" u="none" strike="noStrike">
                          <a:solidFill>
                            <a:srgbClr val="000000"/>
                          </a:solidFill>
                          <a:effectLst/>
                          <a:latin typeface="Calibri" panose="020F0502020204030204" pitchFamily="34" charset="0"/>
                        </a:rPr>
                        <a:t>12</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014523"/>
                  </a:ext>
                </a:extLst>
              </a:tr>
              <a:tr h="815199">
                <a:tc>
                  <a:txBody>
                    <a:bodyPr/>
                    <a:lstStyle/>
                    <a:p>
                      <a:pPr algn="ctr" fontAlgn="ctr"/>
                      <a:r>
                        <a:rPr lang="en-US" sz="1300" b="0" i="0" u="none" strike="noStrike">
                          <a:solidFill>
                            <a:srgbClr val="000000"/>
                          </a:solidFill>
                          <a:effectLst/>
                          <a:latin typeface="Calibri" panose="020F0502020204030204" pitchFamily="34" charset="0"/>
                        </a:rPr>
                        <a:t>13</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 giảm tần suất soi IPC blade root 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C552 RAISED AIR CHILLER SYS AT ALL GALLEY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ENGINE: #1/21422 ON AIRCRAFT VN-A898: P25 MEASUREMENT ERROR</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214272"/>
                  </a:ext>
                </a:extLst>
              </a:tr>
              <a:tr h="205599">
                <a:tc>
                  <a:txBody>
                    <a:bodyPr/>
                    <a:lstStyle/>
                    <a:p>
                      <a:pPr algn="ctr" fontAlgn="ctr"/>
                      <a:r>
                        <a:rPr lang="en-US" sz="1300" b="0" i="0" u="none" strike="noStrike">
                          <a:solidFill>
                            <a:srgbClr val="000000"/>
                          </a:solidFill>
                          <a:effectLst/>
                          <a:latin typeface="Calibri" panose="020F0502020204030204" pitchFamily="34" charset="0"/>
                        </a:rPr>
                        <a:t>14</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0030048"/>
                  </a:ext>
                </a:extLst>
              </a:tr>
            </a:tbl>
          </a:graphicData>
        </a:graphic>
      </p:graphicFrame>
    </p:spTree>
    <p:extLst>
      <p:ext uri="{BB962C8B-B14F-4D97-AF65-F5344CB8AC3E}">
        <p14:creationId xmlns:p14="http://schemas.microsoft.com/office/powerpoint/2010/main" val="4054754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69386" y="476426"/>
            <a:ext cx="11910532" cy="6494085"/>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không tốt với các TH AOG của A890 và A893.</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A890 AOG tại HAN ngày 09-10/06 do phát sinh ENG#2 OIL LEAK</a:t>
            </a:r>
            <a:r>
              <a:rPr lang="nl-NL" sz="1600">
                <a:latin typeface="Times New Roman" panose="02020603050405020304" pitchFamily="18" charset="0"/>
                <a:cs typeface="Times New Roman" panose="02020603050405020304" pitchFamily="18" charset="0"/>
              </a:rPr>
              <a:t> -&gt; </a:t>
            </a:r>
            <a:r>
              <a:rPr lang="en-SG" sz="1600">
                <a:latin typeface="Times New Roman" panose="02020603050405020304" pitchFamily="18" charset="0"/>
                <a:cs typeface="Times New Roman" panose="02020603050405020304" pitchFamily="18" charset="0"/>
              </a:rPr>
              <a:t>REPLACE PROBE 4088KS32 &amp; 4 SEAL FOUND SATIS</a:t>
            </a:r>
            <a:r>
              <a:rPr lang="nl-NL" sz="1600">
                <a:latin typeface="Times New Roman" panose="02020603050405020304" pitchFamily="18" charset="0"/>
                <a:cs typeface="Times New Roman" panose="02020603050405020304" pitchFamily="18" charset="0"/>
              </a:rPr>
              <a:t>.</a:t>
            </a:r>
          </a:p>
          <a:p>
            <a:pPr marL="609585" lvl="1" algn="just"/>
            <a:r>
              <a:rPr lang="vi-VN" sz="1600">
                <a:solidFill>
                  <a:srgbClr val="FF0000"/>
                </a:solidFill>
                <a:latin typeface="Times New Roman" panose="02020603050405020304" pitchFamily="18" charset="0"/>
                <a:cs typeface="Times New Roman" panose="02020603050405020304" pitchFamily="18" charset="0"/>
              </a:rPr>
              <a:t>Động cơ số 2 tàu A890 S/N 21418 có TSN/CSN = 25625/5059, TSLSV/CSLSV = 12125/2067, còn hơn 100 FC đến hạn tháo gửi đi Shop vào giữa tháng </a:t>
            </a:r>
            <a:r>
              <a:rPr lang="en-US" sz="1600">
                <a:solidFill>
                  <a:srgbClr val="FF0000"/>
                </a:solidFill>
                <a:latin typeface="Times New Roman" panose="02020603050405020304" pitchFamily="18" charset="0"/>
                <a:cs typeface="Times New Roman" panose="02020603050405020304" pitchFamily="18" charset="0"/>
              </a:rPr>
              <a:t>7. </a:t>
            </a:r>
            <a:r>
              <a:rPr lang="vi-VN" sz="1600">
                <a:solidFill>
                  <a:srgbClr val="FF0000"/>
                </a:solidFill>
                <a:latin typeface="Times New Roman" panose="02020603050405020304" pitchFamily="18" charset="0"/>
                <a:cs typeface="Times New Roman" panose="02020603050405020304" pitchFamily="18" charset="0"/>
              </a:rPr>
              <a:t>Theo dõi thông số động cơ trên EHM và tiêu hao dầu nhờn đều không có trending bất thường. Hỏng hóc đã được khắc phục sau khi thay N1 Speed Sensor P/N 04801SP002.</a:t>
            </a:r>
          </a:p>
          <a:p>
            <a:pPr marL="609585" lvl="1" algn="just"/>
            <a:r>
              <a:rPr lang="vi-VN" sz="1600">
                <a:solidFill>
                  <a:srgbClr val="FF0000"/>
                </a:solidFill>
                <a:latin typeface="Times New Roman" panose="02020603050405020304" pitchFamily="18" charset="0"/>
                <a:cs typeface="Times New Roman" panose="02020603050405020304" pitchFamily="18" charset="0"/>
              </a:rPr>
              <a:t>Khối N1 Speed Sensor P/N 04801SP002 có độ tin cậy tối với MTBR = 31,974 FH, thống kê lịch sử có 2 lần tháo vào năm 2021 và 2024 lần lượt trên các tàu A894 và A898, với nguyên nhân do oil leak.</a:t>
            </a:r>
          </a:p>
          <a:p>
            <a:pPr marL="609585" lvl="1" algn="just"/>
            <a:r>
              <a:rPr lang="vi-VN" sz="1600">
                <a:solidFill>
                  <a:srgbClr val="FF0000"/>
                </a:solidFill>
                <a:latin typeface="Times New Roman" panose="02020603050405020304" pitchFamily="18" charset="0"/>
                <a:cs typeface="Times New Roman" panose="02020603050405020304" pitchFamily="18" charset="0"/>
              </a:rPr>
              <a:t>Khối N1 Speed Sensor có SB nâng cấp độ tin cậy, tuy nhiên nội dung SB không liên quan tới hỏng hóc oil leak. Hỏng hóc Oil leak hiện không phải hỏng hóc phổ biến được Airbus hay Rolls-Royce nhận diện và không có chương trình nâng cấp từ phía OEM. KTMB sẽ tiếp tục theo dõi và làm việc với các OEM về hỏng hóc này nếu phát sinh lặp lại.</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A893 AOG tại HAN ngày 11/06 và CDG ngày 12/06 do MSG RH AILERON EHA -&gt; </a:t>
            </a:r>
            <a:r>
              <a:rPr lang="en-SG" sz="1600">
                <a:latin typeface="Times New Roman" panose="02020603050405020304" pitchFamily="18" charset="0"/>
                <a:cs typeface="Times New Roman" panose="02020603050405020304" pitchFamily="18" charset="0"/>
              </a:rPr>
              <a:t>RPL EM AND TEST PASSED (11/06); C/O REPLACED 2 COUPLER 115CE1, 115CE2 AND ELECK MODULE 404CR2, TEST ALL SATIS (12/06)</a:t>
            </a:r>
            <a:endParaRPr lang="en-US" sz="1600">
              <a:latin typeface="Times New Roman" panose="02020603050405020304" pitchFamily="18" charset="0"/>
              <a:cs typeface="Times New Roman" panose="02020603050405020304" pitchFamily="18" charset="0"/>
            </a:endParaRPr>
          </a:p>
          <a:p>
            <a:pPr marL="609585" lvl="1" algn="just"/>
            <a:r>
              <a:rPr lang="vi-VN" sz="1600">
                <a:solidFill>
                  <a:srgbClr val="FF0000"/>
                </a:solidFill>
                <a:latin typeface="Times New Roman" panose="02020603050405020304" pitchFamily="18" charset="0"/>
                <a:cs typeface="Times New Roman" panose="02020603050405020304" pitchFamily="18" charset="0"/>
              </a:rPr>
              <a:t>Xuất hiện cảnh báo F/CTL INR AILERON ELEC ACTUATOR , FM: ELEK MODULE-EHA,R INBD AIL(404CR2) / SEC-1(2CE1), FC: 2796F6KZ &amp; 2796FA4E</a:t>
            </a:r>
            <a:r>
              <a:rPr lang="en-US" sz="1600">
                <a:solidFill>
                  <a:srgbClr val="FF0000"/>
                </a:solidFill>
                <a:latin typeface="Times New Roman" panose="02020603050405020304" pitchFamily="18" charset="0"/>
                <a:cs typeface="Times New Roman" panose="02020603050405020304" pitchFamily="18" charset="0"/>
              </a:rPr>
              <a:t>.</a:t>
            </a:r>
            <a:r>
              <a:rPr lang="vi-VN" sz="1600">
                <a:solidFill>
                  <a:srgbClr val="FF0000"/>
                </a:solidFill>
                <a:latin typeface="Times New Roman" panose="02020603050405020304" pitchFamily="18" charset="0"/>
                <a:cs typeface="Times New Roman" panose="02020603050405020304" pitchFamily="18" charset="0"/>
              </a:rPr>
              <a:t>Với FC này là  No Refresh is lack of communication between EM of the EHA or EBHA and the Flight Control Computers (PRIM / SEC).</a:t>
            </a:r>
          </a:p>
          <a:p>
            <a:pPr marL="609585" lvl="1" algn="just"/>
            <a:r>
              <a:rPr lang="vi-VN" sz="1600">
                <a:solidFill>
                  <a:srgbClr val="FF0000"/>
                </a:solidFill>
                <a:latin typeface="Times New Roman" panose="02020603050405020304" pitchFamily="18" charset="0"/>
                <a:cs typeface="Times New Roman" panose="02020603050405020304" pitchFamily="18" charset="0"/>
              </a:rPr>
              <a:t>Có 3 nguyên nhân chính:  EM, PRIM/SEC, Aircraft Wiring (60V power supply line or 1553 bus)</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được khắc phục sau khi thay EM và thay Coupler (wiring vị trí 115CE1 và 115CE2)</a:t>
            </a:r>
          </a:p>
          <a:p>
            <a:pPr marL="609585" lvl="1" algn="just"/>
            <a:r>
              <a:rPr lang="vi-VN" sz="1600">
                <a:solidFill>
                  <a:srgbClr val="FF0000"/>
                </a:solidFill>
                <a:latin typeface="Times New Roman" panose="02020603050405020304" pitchFamily="18" charset="0"/>
                <a:cs typeface="Times New Roman" panose="02020603050405020304" pitchFamily="18" charset="0"/>
              </a:rPr>
              <a:t>1. Với hỏng hóc EM: Hiện tại Airbus và MOOG vẫn đang điều tra nguyên nhân như nêu trong TFU 27.00.00125, khả năng bị đứt gãy mối hàn giống FCRM. Các khối tháo xuống đang chờ SFR để đánh giá thêm</a:t>
            </a:r>
          </a:p>
          <a:p>
            <a:pPr marL="609585" lvl="1" algn="just"/>
            <a:r>
              <a:rPr lang="vi-VN" sz="1600">
                <a:solidFill>
                  <a:srgbClr val="FF0000"/>
                </a:solidFill>
                <a:latin typeface="Times New Roman" panose="02020603050405020304" pitchFamily="18" charset="0"/>
                <a:cs typeface="Times New Roman" panose="02020603050405020304" pitchFamily="18" charset="0"/>
              </a:rPr>
              <a:t>2. Với hỏng hóc coupler: Hỏng hóc này Airbus có đề cập trong ISI 92.00.00.031 do nhiều nguyên nhân khác nhau trong quá trình sản xuất, lắp ráp tàu bay (metallic chip inside the connector, weakness at ferule level...). Tàu bay A893 từng AOG năm 2022 do bị hỏng hóc coupler (vị trí 200CE1 and 205CE1) và chỉ có tàu bay này trong cả fleet bị hiện tượng có hỏng hóc coupler.</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này không có SB hay giải pháp đánh chặn nào ngoài việc sửa chữa thay thế các coupler khi xuất hiện hỏng hóc.</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50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sp>
        <p:nvSpPr>
          <p:cNvPr id="7" name="TextBox 6">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p>
        </p:txBody>
      </p:sp>
      <p:graphicFrame>
        <p:nvGraphicFramePr>
          <p:cNvPr id="8" name="Table 7">
            <a:extLst>
              <a:ext uri="{FF2B5EF4-FFF2-40B4-BE49-F238E27FC236}">
                <a16:creationId xmlns:a16="http://schemas.microsoft.com/office/drawing/2014/main" id="{D8A6B6E7-802B-28F6-5A71-3330ACB11301}"/>
              </a:ext>
            </a:extLst>
          </p:cNvPr>
          <p:cNvGraphicFramePr>
            <a:graphicFrameLocks noGrp="1"/>
          </p:cNvGraphicFramePr>
          <p:nvPr/>
        </p:nvGraphicFramePr>
        <p:xfrm>
          <a:off x="134289" y="1519622"/>
          <a:ext cx="11688715" cy="3060488"/>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914400">
                  <a:extLst>
                    <a:ext uri="{9D8B030D-6E8A-4147-A177-3AD203B41FA5}">
                      <a16:colId xmlns:a16="http://schemas.microsoft.com/office/drawing/2014/main" val="1905667060"/>
                    </a:ext>
                  </a:extLst>
                </a:gridCol>
                <a:gridCol w="2514600">
                  <a:extLst>
                    <a:ext uri="{9D8B030D-6E8A-4147-A177-3AD203B41FA5}">
                      <a16:colId xmlns:a16="http://schemas.microsoft.com/office/drawing/2014/main" val="59642537"/>
                    </a:ext>
                  </a:extLst>
                </a:gridCol>
                <a:gridCol w="609600">
                  <a:extLst>
                    <a:ext uri="{9D8B030D-6E8A-4147-A177-3AD203B41FA5}">
                      <a16:colId xmlns:a16="http://schemas.microsoft.com/office/drawing/2014/main" val="3935706781"/>
                    </a:ext>
                  </a:extLst>
                </a:gridCol>
                <a:gridCol w="5041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a:solidFill>
                            <a:srgbClr val="000000"/>
                          </a:solidFill>
                          <a:effectLst/>
                          <a:latin typeface="Calibri" panose="020F0502020204030204" pitchFamily="34" charset="0"/>
                        </a:rPr>
                        <a:t>A862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09/06/2025 16:51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09/06/2025 15:30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ENG BAI VALVE CLOSED R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EVENT CLOSED &lt;p&gt;TX found MSG: ENG BAI VALVE CLOSED R. (CANNOT RAISE MEL AT MAINBASE)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ACT: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REPLACED BAI VALVE, OPS TEST SATIS&lt;/p&gt; &lt;div&gt;&lt;strong&gt;ENG BAI VALVE CLOSED R&lt;/strong&gt;&lt;/div&gt;</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&lt;p&gt;A871 C/O VN55 HAN-LHR&lt;/p&gt;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R/H ESN 956555 Cảnh báo BAI VALVE position failed closed NO-GO xuất hiện trong chuyến bay và phải khắc phục Hệ thống chống đóng bang Booster của động cơ do các nguyên nhận kẹt cơ học, seal và piston leak hoặc sensor bẩn, wiring chafing… có thể gây cảnh báo failed tại vị trí closed hoặc open GE đã có nhiều khắc phục liên quan đến wiring chafing (SB75-0037), CNR isolate cảnh báo nếu do pressure sensor… tuy nhiên hiện BAI Valve vẫn là top removal của worldwide. Đối với trường hợp cảnh báo A862, không có CNR liên quan đến sensor nên BAI Valve đã được tháo để isolate. Số liệu tháo: 2022 – 01 lần, 2023 – 01 lần, 2024 – 02 lần, 2025 – 01 lần. MTBUR 2024 – 2025 là 53448 giờ. BAI Valve tháo từ A862 S/N GRT10507 có TSLR/CSLR: 6658:46 FH/1175 FC do mới được sửa trong lần động cơ đi đại tu năm 2023 (workscope GVI, phát sinh repair do THE BUTTER-FLY VLV FOUND LOOSEN). BAI Valve này cũng thực hiện SB75-0037 đối với lỗi internal wiring ở shop visit 2019. Giải pháp và đánh giá: - GE hiện đang nghiên cứu overhaul softime cho thiết bị này để hồi phục tính năng, khắc phục mechanical wear (binding) - Hỏng hóc này xuất hiện ít trên đội bay HVN, thường nếu bị ở outstation sẽ test nếu hết message sẽ quay về main base khắc phục. Trường hợp A862, cảnh báo xuất hiện trong chuyến bay về mainbase nên được khắc phục luôn.</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Tree>
    <p:extLst>
      <p:ext uri="{BB962C8B-B14F-4D97-AF65-F5344CB8AC3E}">
        <p14:creationId xmlns:p14="http://schemas.microsoft.com/office/powerpoint/2010/main" val="581241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nvGraphicFramePr>
        <p:xfrm>
          <a:off x="116182" y="1521019"/>
          <a:ext cx="11853157" cy="4872815"/>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691865">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34290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29777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dirty="0">
                          <a:solidFill>
                            <a:srgbClr val="000000"/>
                          </a:solidFill>
                          <a:effectLst/>
                          <a:latin typeface="Calibri" panose="020F0502020204030204" pitchFamily="34" charset="0"/>
                        </a:rPr>
                        <a:t>A862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09/06/2025 16:51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60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VN55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HAN-LHR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ENG BAI VALVE CLOSED R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EVENT CLOSED &lt;p&gt;TX found MSG: ENG BAI VALVE CLOSED R. (CANNOT RAISE MEL AT MAINBASE)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ACT: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REPLACED BAI VALVE, OPS TEST SATIS&lt;/p&gt; &lt;div&gt;&lt;strong&gt;ENG BAI VALVE CLOSED R&lt;/strong&gt;&lt;/div&gt;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&lt;p&gt;A871 C/O VN55 HAN-LHR&lt;/p&gt;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R/H ESN 956555 Cảnh báo BAI VALVE position failed closed NO-GO xuất hiện trong chuyến bay và phải khắc phục Hệ thống chống đóng bang Booster của động cơ do các nguyên nhận kẹt cơ học, seal và piston leak hoặc sensor bẩn, wiring chafing… có thể gây cảnh báo failed tại vị trí closed hoặc open GE đã có nhiều khắc phục liên quan đến wiring chafing (SB75-0037), CNR isolate cảnh báo nếu do pressure sensor… tuy nhiên hiện BAI Valve vẫn là top removal của worldwide. Đối với trường hợp cảnh báo A862, không có CNR liên quan đến sensor nên BAI Valve đã được tháo để isolate. Số liệu tháo: 2022 – 01 lần, 2023 – 01 lần, 2024 – 02 lần, 2025 – 01 lần. MTBUR 2024 – 2025 là 53448 giờ. BAI Valve tháo từ A862 S/N GRT10507 có TSLR/CSLR: 6658:46 FH/1175 FC do mới được sửa trong lần động cơ đi đại tu năm 2023 (workscope GVI, phát sinh repair do THE BUTTER-FLY VLV FOUND LOOSEN). BAI Valve này cũng thực hiện SB75-0037 đối với lỗi internal wiring ở shop visit 2019. Giải pháp và đánh giá: - GE hiện đang nghiên cứu overhaul softime cho thiết bị này để hồi phục tính năng, khắc phục mechanical wear (binding) - Hỏng hóc này xuất hiện ít trên đội bay HVN, thường nếu bị ở outstation sẽ test nếu hết message sẽ quay về main base khắc phục. Trường hợp A862, cảnh báo xuất hiện trong chuyến bay về mainbase nên được khắc phục luôn.</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3223236"/>
                  </a:ext>
                </a:extLst>
              </a:tr>
            </a:tbl>
          </a:graphicData>
        </a:graphic>
      </p:graphicFrame>
      <p:sp>
        <p:nvSpPr>
          <p:cNvPr id="8" name="TextBox 7">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sp>
        <p:nvSpPr>
          <p:cNvPr id="10" name="TextBox 9">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p>
        </p:txBody>
      </p:sp>
    </p:spTree>
    <p:extLst>
      <p:ext uri="{BB962C8B-B14F-4D97-AF65-F5344CB8AC3E}">
        <p14:creationId xmlns:p14="http://schemas.microsoft.com/office/powerpoint/2010/main" val="4112327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nvGraphicFramePr>
        <p:xfrm>
          <a:off x="116182" y="1521019"/>
          <a:ext cx="11853157" cy="5214445"/>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691865">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34290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29777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dirty="0">
                          <a:solidFill>
                            <a:srgbClr val="000000"/>
                          </a:solidFill>
                          <a:effectLst/>
                          <a:latin typeface="Calibri" panose="020F0502020204030204" pitchFamily="34" charset="0"/>
                        </a:rPr>
                        <a:t>A869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09/06/2025 17:40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VN259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HAN-SGN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MSG RAM FAN R &lt;p&gt;Before boarding appeared MSG RAM FAN R&lt;/p&gt;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&lt;p&gt;C/o deactivated R ram air fan &amp;amp; applied MEL,&lt;/p&gt; ACTION EVENT CLOSED &lt;p&gt;&lt;/p&gt; &lt;div&gt;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&lt;p&gt;MSG RAM FAN R&lt;/p&gt;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&lt;/div&gt;</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21-52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Tàu thực hiện thay RAF để khắc phục hỏng hóc Hỏng hóc của RAF là vấn đề WW, có thể do khai thác ở môi trường high dust, insects, FOD, pollution gây giảm hiệu quả trao đổi nhiệt ở HX khi đó RAF hoạt động với công suất lớn hơn và làm giảm tuổi thọ RAF. Các giải pháp: Lắp sensor vào RAF nhằm cảnh báo sớm việc tắc HX. Đã triển khai được 8/10 tàu bay (A863 và A870 chưa thực hiện) 787-SL-21-003/006 (ban hành FON 20/36) reduce pack operation, sử dụng ground air. Khuyến cáo dùng GSE tool K21026-94 for long ground operation. Hiện VAECO chưa có tool này. VSB B787-81205-SB210033-00 upgrade software to reduce airflow base on PECS temperature (2013 completed) Rửa HX theo EO-2020-3365/2265 ở 4000FH; active flush ở 2Mo ĐTC: Fleet đã thay tổng 77 khối (2023: 13; 2024: 4; 2025: 5)</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2792896"/>
                  </a:ext>
                </a:extLst>
              </a:tr>
              <a:tr h="515354">
                <a:tc>
                  <a:txBody>
                    <a:bodyPr/>
                    <a:lstStyle/>
                    <a:p>
                      <a:pPr algn="l" fontAlgn="b"/>
                      <a:r>
                        <a:rPr lang="en-US" sz="1100" b="0" i="0" u="none" strike="noStrike" dirty="0">
                          <a:solidFill>
                            <a:srgbClr val="000000"/>
                          </a:solidFill>
                          <a:effectLst/>
                          <a:latin typeface="Calibri" panose="020F0502020204030204" pitchFamily="34" charset="0"/>
                        </a:rPr>
                        <a:t>A874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12/06/2025 00:23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VN310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HAN-NRT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ADVISORY MSG : WINDOW HEAT R FWD &lt;p&gt;T/X </a:t>
                      </a:r>
                      <a:r>
                        <a:rPr lang="en-US" sz="1100" b="0" i="0" u="none" strike="noStrike" dirty="0" err="1">
                          <a:solidFill>
                            <a:srgbClr val="000000"/>
                          </a:solidFill>
                          <a:effectLst/>
                          <a:latin typeface="Calibri" panose="020F0502020204030204" pitchFamily="34" charset="0"/>
                        </a:rPr>
                        <a:t>Capt</a:t>
                      </a:r>
                      <a:r>
                        <a:rPr lang="en-US" sz="1100" b="0" i="0" u="none" strike="noStrike" dirty="0">
                          <a:solidFill>
                            <a:srgbClr val="000000"/>
                          </a:solidFill>
                          <a:effectLst/>
                          <a:latin typeface="Calibri" panose="020F0502020204030204" pitchFamily="34" charset="0"/>
                        </a:rPr>
                        <a:t> report Advisory MSG : WINDOW HEAT R FWD. M.MSG 30-39212.&lt;/p&gt;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&lt;p&gt;Follow FIM 30-40-F1-H9A-421A, C/O inspected window, check wiring and Ops test-&amp;</a:t>
                      </a:r>
                      <a:r>
                        <a:rPr lang="en-US" sz="1100" b="0" i="0" u="none" strike="noStrike" dirty="0" err="1">
                          <a:solidFill>
                            <a:srgbClr val="000000"/>
                          </a:solidFill>
                          <a:effectLst/>
                          <a:latin typeface="Calibri" panose="020F0502020204030204" pitchFamily="34" charset="0"/>
                        </a:rPr>
                        <a:t>gt</a:t>
                      </a:r>
                      <a:r>
                        <a:rPr lang="en-US" sz="1100" b="0" i="0" u="none" strike="noStrike" dirty="0">
                          <a:solidFill>
                            <a:srgbClr val="000000"/>
                          </a:solidFill>
                          <a:effectLst/>
                          <a:latin typeface="Calibri" panose="020F0502020204030204" pitchFamily="34" charset="0"/>
                        </a:rPr>
                        <a:t>; Passed&lt;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A/C serviceable&lt;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&amp;#160;&lt;/p&gt; ADVISORY MSG : WINDOW HEAT R FWD EVENT CLOSED &lt;p&gt;&lt;/p&gt; &lt;p&gt;Time frame:&lt;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00:23 Chock on -&amp;</a:t>
                      </a:r>
                      <a:r>
                        <a:rPr lang="en-US" sz="1100" b="0" i="0" u="none" strike="noStrike" dirty="0" err="1">
                          <a:solidFill>
                            <a:srgbClr val="000000"/>
                          </a:solidFill>
                          <a:effectLst/>
                          <a:latin typeface="Calibri" panose="020F0502020204030204" pitchFamily="34" charset="0"/>
                        </a:rPr>
                        <a:t>gt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tổ</a:t>
                      </a:r>
                      <a:r>
                        <a:rPr lang="en-US" sz="1100" b="0" i="0" u="none" strike="noStrike" dirty="0">
                          <a:solidFill>
                            <a:srgbClr val="000000"/>
                          </a:solidFill>
                          <a:effectLst/>
                          <a:latin typeface="Calibri" panose="020F0502020204030204" pitchFamily="34" charset="0"/>
                        </a:rPr>
                        <a:t> bay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advisory WINDOW HEAT R FWD. CRS B </a:t>
                      </a:r>
                      <a:r>
                        <a:rPr lang="en-US" sz="1100" b="0" i="0" u="none" strike="noStrike" dirty="0" err="1">
                          <a:solidFill>
                            <a:srgbClr val="000000"/>
                          </a:solidFill>
                          <a:effectLst/>
                          <a:latin typeface="Calibri" panose="020F0502020204030204" pitchFamily="34" charset="0"/>
                        </a:rPr>
                        <a:t>tiếp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cận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kính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lái</a:t>
                      </a:r>
                      <a:r>
                        <a:rPr lang="en-US" sz="1100" b="0" i="0" u="none" strike="noStrike" dirty="0">
                          <a:solidFill>
                            <a:srgbClr val="000000"/>
                          </a:solidFill>
                          <a:effectLst/>
                          <a:latin typeface="Calibri" panose="020F0502020204030204" pitchFamily="34" charset="0"/>
                        </a:rPr>
                        <a:t> troubleshoot&lt;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02:07 aircraft </a:t>
                      </a:r>
                      <a:r>
                        <a:rPr lang="en-US" sz="1100" b="0" i="0" u="none" strike="noStrike" dirty="0" err="1">
                          <a:solidFill>
                            <a:srgbClr val="000000"/>
                          </a:solidFill>
                          <a:effectLst/>
                          <a:latin typeface="Calibri" panose="020F0502020204030204" pitchFamily="34" charset="0"/>
                        </a:rPr>
                        <a:t>seviceable</a:t>
                      </a:r>
                      <a:r>
                        <a:rPr lang="en-US" sz="1100" b="0" i="0" u="none" strike="noStrike" dirty="0">
                          <a:solidFill>
                            <a:srgbClr val="000000"/>
                          </a:solidFill>
                          <a:effectLst/>
                          <a:latin typeface="Calibri" panose="020F0502020204030204" pitchFamily="34" charset="0"/>
                        </a:rPr>
                        <a: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02:30 </a:t>
                      </a:r>
                      <a:r>
                        <a:rPr lang="en-US" sz="1100" b="0" i="0" u="none" strike="noStrike" dirty="0" err="1">
                          <a:solidFill>
                            <a:srgbClr val="000000"/>
                          </a:solidFill>
                          <a:effectLst/>
                          <a:latin typeface="Calibri" panose="020F0502020204030204" pitchFamily="34" charset="0"/>
                        </a:rPr>
                        <a:t>tổ</a:t>
                      </a:r>
                      <a:r>
                        <a:rPr lang="en-US" sz="1100" b="0" i="0" u="none" strike="noStrike" dirty="0">
                          <a:solidFill>
                            <a:srgbClr val="000000"/>
                          </a:solidFill>
                          <a:effectLst/>
                          <a:latin typeface="Calibri" panose="020F0502020204030204" pitchFamily="34" charset="0"/>
                        </a:rPr>
                        <a:t> bay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mặt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tại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02:51 </a:t>
                      </a:r>
                      <a:r>
                        <a:rPr lang="en-US" sz="1100" b="0" i="0" u="none" strike="noStrike" dirty="0" err="1">
                          <a:solidFill>
                            <a:srgbClr val="000000"/>
                          </a:solidFill>
                          <a:effectLst/>
                          <a:latin typeface="Calibri" panose="020F0502020204030204" pitchFamily="34" charset="0"/>
                        </a:rPr>
                        <a:t>hoàn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thành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nạp</a:t>
                      </a:r>
                      <a:r>
                        <a:rPr lang="en-US" sz="1100" b="0" i="0" u="none" strike="noStrike" dirty="0">
                          <a:solidFill>
                            <a:srgbClr val="000000"/>
                          </a:solidFill>
                          <a:effectLst/>
                          <a:latin typeface="Calibri" panose="020F0502020204030204" pitchFamily="34" charset="0"/>
                        </a:rPr>
                        <a:t> fuel&lt;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03:07 </a:t>
                      </a:r>
                      <a:r>
                        <a:rPr lang="en-US" sz="1100" b="0" i="0" u="none" strike="noStrike" dirty="0" err="1">
                          <a:solidFill>
                            <a:srgbClr val="000000"/>
                          </a:solidFill>
                          <a:effectLst/>
                          <a:latin typeface="Calibri" panose="020F0502020204030204" pitchFamily="34" charset="0"/>
                        </a:rPr>
                        <a:t>bắt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đầu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boaảding</a:t>
                      </a:r>
                      <a:r>
                        <a:rPr lang="en-US" sz="1100" b="0" i="0" u="none" strike="noStrike" dirty="0">
                          <a:solidFill>
                            <a:srgbClr val="000000"/>
                          </a:solidFill>
                          <a:effectLst/>
                          <a:latin typeface="Calibri" panose="020F0502020204030204" pitchFamily="34" charset="0"/>
                        </a:rPr>
                        <a: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03:42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r>
                        <a:rPr lang="en-US" sz="1100" b="0" i="0" u="none" strike="noStrike" dirty="0">
                          <a:solidFill>
                            <a:srgbClr val="000000"/>
                          </a:solidFill>
                          <a:effectLst/>
                          <a:latin typeface="Calibri" panose="020F0502020204030204" pitchFamily="34" charset="0"/>
                        </a:rPr>
                        <a: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30-40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thực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window, wiring, Ops test pass. </a:t>
                      </a:r>
                      <a:r>
                        <a:rPr lang="en-US" sz="1100" b="0" i="0" u="none" strike="noStrike" dirty="0" err="1">
                          <a:solidFill>
                            <a:srgbClr val="000000"/>
                          </a:solidFill>
                          <a:effectLst/>
                          <a:latin typeface="Calibri" panose="020F0502020204030204" pitchFamily="34" charset="0"/>
                        </a:rPr>
                        <a:t>Sẽ</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thêm</a:t>
                      </a:r>
                      <a:r>
                        <a:rPr lang="en-US" sz="1100" b="0" i="0" u="none" strike="noStrike" dirty="0">
                          <a:solidFill>
                            <a:srgbClr val="000000"/>
                          </a:solidFill>
                          <a:effectLst/>
                          <a:latin typeface="Calibri" panose="020F0502020204030204" pitchFamily="34" charset="0"/>
                        </a:rPr>
                        <a: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093887"/>
                  </a:ext>
                </a:extLst>
              </a:tr>
            </a:tbl>
          </a:graphicData>
        </a:graphic>
      </p:graphicFrame>
      <p:sp>
        <p:nvSpPr>
          <p:cNvPr id="8" name="TextBox 7">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sp>
        <p:nvSpPr>
          <p:cNvPr id="9" name="TextBox 8">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p>
        </p:txBody>
      </p:sp>
    </p:spTree>
    <p:extLst>
      <p:ext uri="{BB962C8B-B14F-4D97-AF65-F5344CB8AC3E}">
        <p14:creationId xmlns:p14="http://schemas.microsoft.com/office/powerpoint/2010/main" val="2384536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nvGraphicFramePr>
        <p:xfrm>
          <a:off x="116182" y="1521019"/>
          <a:ext cx="11853157" cy="5040455"/>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691865">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34290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29777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dirty="0">
                          <a:solidFill>
                            <a:srgbClr val="000000"/>
                          </a:solidFill>
                          <a:effectLst/>
                          <a:latin typeface="Calibri" panose="020F0502020204030204" pitchFamily="34" charset="0"/>
                        </a:rPr>
                        <a:t>A878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13/06/2025 15:00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58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VN212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A/C GTB 2 TIMES &lt;p&gt;FIRST TIME:&lt;br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DURING PUSH BACK, CAPT REPORT MSG: SPOILER EMCU #4 FAULT, A/C GTB TO BAY 104&lt;br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SECOND TIME:&lt;br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CAPT REPORT FLAP CAN NOT EXTEND. CAPT DECIDED GTB TO BAY 35&lt;/p&gt;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  &lt;p&gt;14:25 CHUYẾN BAY VN212 ĐỔI TÀU A879 BAY THAY (A879 13:38 VÀO TỚI BÃI), A878 BAY VN254&lt;br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- 14:35 CRS BÁO TIẾN HÀNH THAY EMCU, XIN DỜI LỊCH BAY TỪ 16:00 -&amp;gt; 17:00 NHƯNG MOC BÁO KHÔNG CÓ TÀU&lt;br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- 14:40 CẤU TRÚC LÊN TỚI BÃI&lt;br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- 14:50 DO SGN KHÔNG CÓ TOOL ĐỂ RIGGING -&amp;gt; CRS BÁO SẼ DEACTIVE VÀ MỞ ADD&lt;br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- 15:40 CẤU TRÚC THÁO XONG PANEL&lt;br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- 17:10 DEACTIVATED XONG, A/C SERVICEABLE&lt;br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- 17:50 TÀU ĐÓNG CỬA&lt;/p&gt;</a:t>
                      </a:r>
                      <a:br>
                        <a:rPr lang="vi-VN" sz="1100" b="0" i="0" u="none" strike="noStrike" dirty="0">
                          <a:solidFill>
                            <a:srgbClr val="000000"/>
                          </a:solidFill>
                          <a:effectLst/>
                          <a:latin typeface="Calibri" panose="020F0502020204030204" pitchFamily="34" charset="0"/>
                        </a:rPr>
                      </a:b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&lt;p&gt;TOTAL DELAY 110 MINS, TECH DELAY 50 MINS&lt;/p&gt;&lt;p&gt;- 12:20 CAPT A878 GỌI VHF VỀ ĐIỀU HÀNH KHAI THÁC BÁO TÀU QUAY LẠI LẦN 1 BÃI 104&lt;br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- 12:30 TÀU VÀO TỚI BÃI, TÀU BỊ MSG SPOILER EMCU #4 FAULT&lt;br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- 13:00 PHÁT SINH CẦN CẤU TRÚC HỖ TRỢ MỞ ỐC ĐỂ MỞ PANEL&lt;br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- 13:16 CẤU TRÚC BÁO LÊN HỖ TRỢ&lt;br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- 13:19 A878 SYS TEST PASSED, MSG GONE, TÀU NẠP DẦU TIẾP TỤC KHAI THÁC&lt;br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- 13:42 TÀU A878 ĐÓNG CỬA&lt;br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- 14:02 TÀU A878 ĐẨY RA BỊ FLAP CAN NOT EXTEND. TÀU QUAY LẠI LẦN 2 BÃI 34&lt;br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- 14:25 CHUYẾN BAY VN212 ĐỔI TÀU A879 BAY THAY (A879 13:38 VÀO TỚI BÃI)&lt;br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- 15:45 TÀU ĐÓNG CỬA&lt;/p&gt;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27-00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Hiện tàu đang khai thác với ADD B103 : SPOILER EMCU#4 INOP. Lịch sử đã tưng thay 39 khối (23 khối -005 và 16 khối -006). Khi hạ độ cao, sự thay đổi áp suất và nhiệt độ gây ra các kết nối không liên tục giữa các bảng mạch của EMCU. Sau đó BOE đã nấng cấp lên thế hệ thứ 2 là -006 (added internal and external brackets to stiffen the EMCUs back plane). Đội đang khai thác 24 khối -005 và 78 khối -006. Từ 2021, BOE/OEM có thêm 6 cải tiến cho các chi tiết điện tử của EMCU nhưng chỉ thực hiện trong Production. Khối EMCU của A878 là khối -006 đã được nâng cấp 3/6 cải tiến được OEM triển khai trong production. Khi tàu GTB lần 1, CRS lên kiểm tra phát sinh 04 con Bolt cần trợ giúp của Stucture để tháo, như sau đó ít phút thì test pass, do đó đã không Deactivate Spoiler và nạp dầu cho bay. Tuy nhiên khi đẩy ra, tàu lại báo MMSG 27-12831 spoiler #4, kèm theo FDE FLAPS GROUND INHIBIT, nguyên nhân là do spoiler #4 fault nhưng không ở vị trí để Flap có thể hoạt động, dẫn đến quay lại lần 2. Tàu đã được deactivate spoiler#4 và đợi thay EMCU.</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2792896"/>
                  </a:ext>
                </a:extLst>
              </a:tr>
            </a:tbl>
          </a:graphicData>
        </a:graphic>
      </p:graphicFrame>
      <p:sp>
        <p:nvSpPr>
          <p:cNvPr id="8" name="TextBox 7">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spTree>
    <p:extLst>
      <p:ext uri="{BB962C8B-B14F-4D97-AF65-F5344CB8AC3E}">
        <p14:creationId xmlns:p14="http://schemas.microsoft.com/office/powerpoint/2010/main" val="1074542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nvGraphicFramePr>
        <p:xfrm>
          <a:off x="116182" y="1521019"/>
          <a:ext cx="11853157" cy="2358215"/>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691865">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34290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29777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dirty="0">
                          <a:solidFill>
                            <a:srgbClr val="000000"/>
                          </a:solidFill>
                          <a:effectLst/>
                          <a:latin typeface="Calibri" panose="020F0502020204030204" pitchFamily="34" charset="0"/>
                        </a:rPr>
                        <a:t>A874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12/06/2025 00:23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VN310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HAN-NRT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ADVISORY MSG : WINDOW HEAT R FWD &lt;p&gt;T/X </a:t>
                      </a:r>
                      <a:r>
                        <a:rPr lang="en-US" sz="1100" b="0" i="0" u="none" strike="noStrike" dirty="0" err="1">
                          <a:solidFill>
                            <a:srgbClr val="000000"/>
                          </a:solidFill>
                          <a:effectLst/>
                          <a:latin typeface="Calibri" panose="020F0502020204030204" pitchFamily="34" charset="0"/>
                        </a:rPr>
                        <a:t>Capt</a:t>
                      </a:r>
                      <a:r>
                        <a:rPr lang="en-US" sz="1100" b="0" i="0" u="none" strike="noStrike" dirty="0">
                          <a:solidFill>
                            <a:srgbClr val="000000"/>
                          </a:solidFill>
                          <a:effectLst/>
                          <a:latin typeface="Calibri" panose="020F0502020204030204" pitchFamily="34" charset="0"/>
                        </a:rPr>
                        <a:t> report Advisory MSG : WINDOW HEAT R FWD. M.MSG 30-39212.&lt;/p&gt;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&lt;p&gt;Follow FIM 30-40-F1-H9A-421A, C/O inspected window, check wiring and Ops test-&amp;</a:t>
                      </a:r>
                      <a:r>
                        <a:rPr lang="en-US" sz="1100" b="0" i="0" u="none" strike="noStrike" dirty="0" err="1">
                          <a:solidFill>
                            <a:srgbClr val="000000"/>
                          </a:solidFill>
                          <a:effectLst/>
                          <a:latin typeface="Calibri" panose="020F0502020204030204" pitchFamily="34" charset="0"/>
                        </a:rPr>
                        <a:t>gt</a:t>
                      </a:r>
                      <a:r>
                        <a:rPr lang="en-US" sz="1100" b="0" i="0" u="none" strike="noStrike" dirty="0">
                          <a:solidFill>
                            <a:srgbClr val="000000"/>
                          </a:solidFill>
                          <a:effectLst/>
                          <a:latin typeface="Calibri" panose="020F0502020204030204" pitchFamily="34" charset="0"/>
                        </a:rPr>
                        <a:t>; Passed&lt;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A/C serviceable&lt;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&amp;#160;&lt;/p&gt; ADVISORY MSG : WINDOW HEAT R FWD EVENT CLOSED &lt;p&gt;&lt;/p&gt; &lt;p&gt;Time frame:&lt;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00:23 Chock on -&amp;</a:t>
                      </a:r>
                      <a:r>
                        <a:rPr lang="en-US" sz="1100" b="0" i="0" u="none" strike="noStrike" dirty="0" err="1">
                          <a:solidFill>
                            <a:srgbClr val="000000"/>
                          </a:solidFill>
                          <a:effectLst/>
                          <a:latin typeface="Calibri" panose="020F0502020204030204" pitchFamily="34" charset="0"/>
                        </a:rPr>
                        <a:t>gt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tổ</a:t>
                      </a:r>
                      <a:r>
                        <a:rPr lang="en-US" sz="1100" b="0" i="0" u="none" strike="noStrike" dirty="0">
                          <a:solidFill>
                            <a:srgbClr val="000000"/>
                          </a:solidFill>
                          <a:effectLst/>
                          <a:latin typeface="Calibri" panose="020F0502020204030204" pitchFamily="34" charset="0"/>
                        </a:rPr>
                        <a:t> bay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advisory WINDOW HEAT R FWD. CRS B </a:t>
                      </a:r>
                      <a:r>
                        <a:rPr lang="en-US" sz="1100" b="0" i="0" u="none" strike="noStrike" dirty="0" err="1">
                          <a:solidFill>
                            <a:srgbClr val="000000"/>
                          </a:solidFill>
                          <a:effectLst/>
                          <a:latin typeface="Calibri" panose="020F0502020204030204" pitchFamily="34" charset="0"/>
                        </a:rPr>
                        <a:t>tiếp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cận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kính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lái</a:t>
                      </a:r>
                      <a:r>
                        <a:rPr lang="en-US" sz="1100" b="0" i="0" u="none" strike="noStrike" dirty="0">
                          <a:solidFill>
                            <a:srgbClr val="000000"/>
                          </a:solidFill>
                          <a:effectLst/>
                          <a:latin typeface="Calibri" panose="020F0502020204030204" pitchFamily="34" charset="0"/>
                        </a:rPr>
                        <a:t> troubleshoot&lt;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02:07 aircraft </a:t>
                      </a:r>
                      <a:r>
                        <a:rPr lang="en-US" sz="1100" b="0" i="0" u="none" strike="noStrike" dirty="0" err="1">
                          <a:solidFill>
                            <a:srgbClr val="000000"/>
                          </a:solidFill>
                          <a:effectLst/>
                          <a:latin typeface="Calibri" panose="020F0502020204030204" pitchFamily="34" charset="0"/>
                        </a:rPr>
                        <a:t>seviceable</a:t>
                      </a:r>
                      <a:r>
                        <a:rPr lang="en-US" sz="1100" b="0" i="0" u="none" strike="noStrike" dirty="0">
                          <a:solidFill>
                            <a:srgbClr val="000000"/>
                          </a:solidFill>
                          <a:effectLst/>
                          <a:latin typeface="Calibri" panose="020F0502020204030204" pitchFamily="34" charset="0"/>
                        </a:rPr>
                        <a: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02:30 </a:t>
                      </a:r>
                      <a:r>
                        <a:rPr lang="en-US" sz="1100" b="0" i="0" u="none" strike="noStrike" dirty="0" err="1">
                          <a:solidFill>
                            <a:srgbClr val="000000"/>
                          </a:solidFill>
                          <a:effectLst/>
                          <a:latin typeface="Calibri" panose="020F0502020204030204" pitchFamily="34" charset="0"/>
                        </a:rPr>
                        <a:t>tổ</a:t>
                      </a:r>
                      <a:r>
                        <a:rPr lang="en-US" sz="1100" b="0" i="0" u="none" strike="noStrike" dirty="0">
                          <a:solidFill>
                            <a:srgbClr val="000000"/>
                          </a:solidFill>
                          <a:effectLst/>
                          <a:latin typeface="Calibri" panose="020F0502020204030204" pitchFamily="34" charset="0"/>
                        </a:rPr>
                        <a:t> bay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mặt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tại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02:51 </a:t>
                      </a:r>
                      <a:r>
                        <a:rPr lang="en-US" sz="1100" b="0" i="0" u="none" strike="noStrike" dirty="0" err="1">
                          <a:solidFill>
                            <a:srgbClr val="000000"/>
                          </a:solidFill>
                          <a:effectLst/>
                          <a:latin typeface="Calibri" panose="020F0502020204030204" pitchFamily="34" charset="0"/>
                        </a:rPr>
                        <a:t>hoàn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thành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nạp</a:t>
                      </a:r>
                      <a:r>
                        <a:rPr lang="en-US" sz="1100" b="0" i="0" u="none" strike="noStrike" dirty="0">
                          <a:solidFill>
                            <a:srgbClr val="000000"/>
                          </a:solidFill>
                          <a:effectLst/>
                          <a:latin typeface="Calibri" panose="020F0502020204030204" pitchFamily="34" charset="0"/>
                        </a:rPr>
                        <a:t> fuel&lt;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03:07 </a:t>
                      </a:r>
                      <a:r>
                        <a:rPr lang="en-US" sz="1100" b="0" i="0" u="none" strike="noStrike" dirty="0" err="1">
                          <a:solidFill>
                            <a:srgbClr val="000000"/>
                          </a:solidFill>
                          <a:effectLst/>
                          <a:latin typeface="Calibri" panose="020F0502020204030204" pitchFamily="34" charset="0"/>
                        </a:rPr>
                        <a:t>bắt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đầu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boaảding</a:t>
                      </a:r>
                      <a:r>
                        <a:rPr lang="en-US" sz="1100" b="0" i="0" u="none" strike="noStrike" dirty="0">
                          <a:solidFill>
                            <a:srgbClr val="000000"/>
                          </a:solidFill>
                          <a:effectLst/>
                          <a:latin typeface="Calibri" panose="020F0502020204030204" pitchFamily="34" charset="0"/>
                        </a:rPr>
                        <a: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03:42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r>
                        <a:rPr lang="en-US" sz="1100" b="0" i="0" u="none" strike="noStrike" dirty="0">
                          <a:solidFill>
                            <a:srgbClr val="000000"/>
                          </a:solidFill>
                          <a:effectLst/>
                          <a:latin typeface="Calibri" panose="020F0502020204030204" pitchFamily="34" charset="0"/>
                        </a:rPr>
                        <a: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30-40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thực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window, wiring, Ops test pass. </a:t>
                      </a:r>
                      <a:r>
                        <a:rPr lang="en-US" sz="1100" b="0" i="0" u="none" strike="noStrike" dirty="0" err="1">
                          <a:solidFill>
                            <a:srgbClr val="000000"/>
                          </a:solidFill>
                          <a:effectLst/>
                          <a:latin typeface="Calibri" panose="020F0502020204030204" pitchFamily="34" charset="0"/>
                        </a:rPr>
                        <a:t>Sẽ</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thêm</a:t>
                      </a:r>
                      <a:r>
                        <a:rPr lang="en-US" sz="1100" b="0" i="0" u="none" strike="noStrike" dirty="0">
                          <a:solidFill>
                            <a:srgbClr val="000000"/>
                          </a:solidFill>
                          <a:effectLst/>
                          <a:latin typeface="Calibri" panose="020F0502020204030204" pitchFamily="34" charset="0"/>
                        </a:rPr>
                        <a: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1427108"/>
                  </a:ext>
                </a:extLst>
              </a:tr>
            </a:tbl>
          </a:graphicData>
        </a:graphic>
      </p:graphicFrame>
      <p:sp>
        <p:nvSpPr>
          <p:cNvPr id="8" name="TextBox 7">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sp>
        <p:nvSpPr>
          <p:cNvPr id="9" name="TextBox 8">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p>
        </p:txBody>
      </p:sp>
    </p:spTree>
    <p:extLst>
      <p:ext uri="{BB962C8B-B14F-4D97-AF65-F5344CB8AC3E}">
        <p14:creationId xmlns:p14="http://schemas.microsoft.com/office/powerpoint/2010/main" val="2899868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A7ADCE5F-E946-556C-1840-4DB61D17D426}"/>
              </a:ext>
            </a:extLst>
          </p:cNvPr>
          <p:cNvGraphicFramePr>
            <a:graphicFrameLocks noGrp="1"/>
          </p:cNvGraphicFramePr>
          <p:nvPr/>
        </p:nvGraphicFramePr>
        <p:xfrm>
          <a:off x="163789" y="501463"/>
          <a:ext cx="11830731" cy="6289800"/>
        </p:xfrm>
        <a:graphic>
          <a:graphicData uri="http://schemas.openxmlformats.org/drawingml/2006/table">
            <a:tbl>
              <a:tblPr/>
              <a:tblGrid>
                <a:gridCol w="470591">
                  <a:extLst>
                    <a:ext uri="{9D8B030D-6E8A-4147-A177-3AD203B41FA5}">
                      <a16:colId xmlns:a16="http://schemas.microsoft.com/office/drawing/2014/main" val="141406292"/>
                    </a:ext>
                  </a:extLst>
                </a:gridCol>
                <a:gridCol w="674029">
                  <a:extLst>
                    <a:ext uri="{9D8B030D-6E8A-4147-A177-3AD203B41FA5}">
                      <a16:colId xmlns:a16="http://schemas.microsoft.com/office/drawing/2014/main" val="659887263"/>
                    </a:ext>
                  </a:extLst>
                </a:gridCol>
                <a:gridCol w="693855">
                  <a:extLst>
                    <a:ext uri="{9D8B030D-6E8A-4147-A177-3AD203B41FA5}">
                      <a16:colId xmlns:a16="http://schemas.microsoft.com/office/drawing/2014/main" val="3877890265"/>
                    </a:ext>
                  </a:extLst>
                </a:gridCol>
                <a:gridCol w="1268760">
                  <a:extLst>
                    <a:ext uri="{9D8B030D-6E8A-4147-A177-3AD203B41FA5}">
                      <a16:colId xmlns:a16="http://schemas.microsoft.com/office/drawing/2014/main" val="217338626"/>
                    </a:ext>
                  </a:extLst>
                </a:gridCol>
                <a:gridCol w="1189464">
                  <a:extLst>
                    <a:ext uri="{9D8B030D-6E8A-4147-A177-3AD203B41FA5}">
                      <a16:colId xmlns:a16="http://schemas.microsoft.com/office/drawing/2014/main" val="3938147295"/>
                    </a:ext>
                  </a:extLst>
                </a:gridCol>
                <a:gridCol w="1625600">
                  <a:extLst>
                    <a:ext uri="{9D8B030D-6E8A-4147-A177-3AD203B41FA5}">
                      <a16:colId xmlns:a16="http://schemas.microsoft.com/office/drawing/2014/main" val="1190084043"/>
                    </a:ext>
                  </a:extLst>
                </a:gridCol>
                <a:gridCol w="5908432">
                  <a:extLst>
                    <a:ext uri="{9D8B030D-6E8A-4147-A177-3AD203B41FA5}">
                      <a16:colId xmlns:a16="http://schemas.microsoft.com/office/drawing/2014/main" val="23589817"/>
                    </a:ext>
                  </a:extLst>
                </a:gridCol>
              </a:tblGrid>
              <a:tr h="207931">
                <a:tc>
                  <a:txBody>
                    <a:bodyPr/>
                    <a:lstStyle/>
                    <a:p>
                      <a:pPr algn="ctr" fontAlgn="ctr"/>
                      <a:r>
                        <a:rPr lang="en-US" sz="1300" b="0" i="0" u="none" strike="noStrike">
                          <a:solidFill>
                            <a:srgbClr val="000000"/>
                          </a:solidFill>
                          <a:effectLst/>
                          <a:latin typeface="Calibri" panose="020F0502020204030204" pitchFamily="34" charset="0"/>
                        </a:rPr>
                        <a:t>No</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1301988"/>
                  </a:ext>
                </a:extLst>
              </a:tr>
              <a:tr h="411131">
                <a:tc>
                  <a:txBody>
                    <a:bodyPr/>
                    <a:lstStyle/>
                    <a:p>
                      <a:pPr algn="ctr" fontAlgn="ctr"/>
                      <a:r>
                        <a:rPr lang="en-US" sz="1300" b="0" i="0" u="none" strike="noStrike">
                          <a:solidFill>
                            <a:srgbClr val="000000"/>
                          </a:solidFill>
                          <a:effectLst/>
                          <a:latin typeface="Calibri" panose="020F0502020204030204" pitchFamily="34" charset="0"/>
                        </a:rPr>
                        <a:t>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B1584 NITROGEN GENERATION SYS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B1586 TAIL STRIKE CHANNEL 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6290513"/>
                  </a:ext>
                </a:extLst>
              </a:tr>
              <a:tr h="411131">
                <a:tc>
                  <a:txBody>
                    <a:bodyPr/>
                    <a:lstStyle/>
                    <a:p>
                      <a:pPr algn="ctr" fontAlgn="ctr"/>
                      <a:r>
                        <a:rPr lang="en-US" sz="1300" b="0" i="0" u="none" strike="noStrike">
                          <a:solidFill>
                            <a:srgbClr val="000000"/>
                          </a:solidFill>
                          <a:effectLst/>
                          <a:latin typeface="Calibri" panose="020F0502020204030204" pitchFamily="34" charset="0"/>
                        </a:rPr>
                        <a:t>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B1370 RAM FAN PRIMARY 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B1372 CABIN AIR CPRSR R1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5771137"/>
                  </a:ext>
                </a:extLst>
              </a:tr>
              <a:tr h="817531">
                <a:tc>
                  <a:txBody>
                    <a:bodyPr/>
                    <a:lstStyle/>
                    <a:p>
                      <a:pPr algn="ctr" fontAlgn="ctr"/>
                      <a:r>
                        <a:rPr lang="en-US" sz="1300" b="0" i="0" u="none" strike="noStrike">
                          <a:solidFill>
                            <a:srgbClr val="000000"/>
                          </a:solidFill>
                          <a:effectLst/>
                          <a:latin typeface="Calibri" panose="020F0502020204030204" pitchFamily="34" charset="0"/>
                        </a:rPr>
                        <a:t>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TAIL AIRFLOW SYS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B1724 CAC R1</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B1725 ELEC  ENGINE STARTER L2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023332"/>
                  </a:ext>
                </a:extLst>
              </a:tr>
              <a:tr h="411131">
                <a:tc>
                  <a:txBody>
                    <a:bodyPr/>
                    <a:lstStyle/>
                    <a:p>
                      <a:pPr algn="ctr" fontAlgn="ctr"/>
                      <a:r>
                        <a:rPr lang="en-US" sz="1300" b="0" i="0" u="none" strike="noStrike">
                          <a:solidFill>
                            <a:srgbClr val="000000"/>
                          </a:solidFill>
                          <a:effectLst/>
                          <a:latin typeface="Calibri" panose="020F0502020204030204" pitchFamily="34" charset="0"/>
                        </a:rPr>
                        <a:t>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B1264 AFT CARGO HANDLING SYSTEM IN/OUT IN CENTER LOADING PDU INOP</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B1287 INTEGRATED COOLING SYSTEM DEACTIVATED</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3694375"/>
                  </a:ext>
                </a:extLst>
              </a:tr>
              <a:tr h="207931">
                <a:tc>
                  <a:txBody>
                    <a:bodyPr/>
                    <a:lstStyle/>
                    <a:p>
                      <a:pPr algn="ctr" fontAlgn="ctr"/>
                      <a:r>
                        <a:rPr lang="en-US" sz="1300" b="0" i="0" u="none" strike="noStrike">
                          <a:solidFill>
                            <a:srgbClr val="000000"/>
                          </a:solidFill>
                          <a:effectLst/>
                          <a:latin typeface="Calibri" panose="020F0502020204030204" pitchFamily="34" charset="0"/>
                        </a:rPr>
                        <a:t>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1801815"/>
                  </a:ext>
                </a:extLst>
              </a:tr>
              <a:tr h="411131">
                <a:tc>
                  <a:txBody>
                    <a:bodyPr/>
                    <a:lstStyle/>
                    <a:p>
                      <a:pPr algn="ctr" fontAlgn="ctr"/>
                      <a:r>
                        <a:rPr lang="en-US" sz="1300" b="0" i="0" u="none" strike="noStrike">
                          <a:solidFill>
                            <a:srgbClr val="000000"/>
                          </a:solidFill>
                          <a:effectLst/>
                          <a:latin typeface="Calibri" panose="020F0502020204030204" pitchFamily="34" charset="0"/>
                        </a:rPr>
                        <a:t>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3631054"/>
                  </a:ext>
                </a:extLst>
              </a:tr>
              <a:tr h="411131">
                <a:tc>
                  <a:txBody>
                    <a:bodyPr/>
                    <a:lstStyle/>
                    <a:p>
                      <a:pPr algn="ctr" fontAlgn="ctr"/>
                      <a:r>
                        <a:rPr lang="en-US" sz="1300" b="0" i="0" u="none" strike="noStrike">
                          <a:solidFill>
                            <a:srgbClr val="000000"/>
                          </a:solidFill>
                          <a:effectLst/>
                          <a:latin typeface="Calibri" panose="020F0502020204030204" pitchFamily="34" charset="0"/>
                        </a:rPr>
                        <a:t>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5189163"/>
                  </a:ext>
                </a:extLst>
              </a:tr>
              <a:tr h="207931">
                <a:tc>
                  <a:txBody>
                    <a:bodyPr/>
                    <a:lstStyle/>
                    <a:p>
                      <a:pPr algn="ctr" fontAlgn="ctr"/>
                      <a:r>
                        <a:rPr lang="en-US" sz="1300" b="0" i="0" u="none" strike="noStrike">
                          <a:solidFill>
                            <a:srgbClr val="000000"/>
                          </a:solidFill>
                          <a:effectLst/>
                          <a:latin typeface="Calibri" panose="020F0502020204030204" pitchFamily="34" charset="0"/>
                        </a:rPr>
                        <a:t>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2010351"/>
                  </a:ext>
                </a:extLst>
              </a:tr>
              <a:tr h="411131">
                <a:tc>
                  <a:txBody>
                    <a:bodyPr/>
                    <a:lstStyle/>
                    <a:p>
                      <a:pPr algn="ctr" fontAlgn="ctr"/>
                      <a:r>
                        <a:rPr lang="en-US" sz="1300" b="0" i="0" u="none" strike="noStrike">
                          <a:solidFill>
                            <a:srgbClr val="000000"/>
                          </a:solidFill>
                          <a:effectLst/>
                          <a:latin typeface="Calibri" panose="020F0502020204030204" pitchFamily="34" charset="0"/>
                        </a:rPr>
                        <a:t>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3858582"/>
                  </a:ext>
                </a:extLst>
              </a:tr>
              <a:tr h="207931">
                <a:tc>
                  <a:txBody>
                    <a:bodyPr/>
                    <a:lstStyle/>
                    <a:p>
                      <a:pPr algn="ctr" fontAlgn="ctr"/>
                      <a:r>
                        <a:rPr lang="en-US" sz="1300" b="0" i="0" u="none" strike="noStrike">
                          <a:solidFill>
                            <a:srgbClr val="000000"/>
                          </a:solidFill>
                          <a:effectLst/>
                          <a:latin typeface="Calibri" panose="020F0502020204030204" pitchFamily="34" charset="0"/>
                        </a:rPr>
                        <a:t>10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3556557"/>
                  </a:ext>
                </a:extLst>
              </a:tr>
              <a:tr h="614331">
                <a:tc>
                  <a:txBody>
                    <a:bodyPr/>
                    <a:lstStyle/>
                    <a:p>
                      <a:pPr algn="ctr" fontAlgn="ctr"/>
                      <a:r>
                        <a:rPr lang="en-US" sz="1300" b="0" i="0" u="none" strike="noStrike">
                          <a:solidFill>
                            <a:srgbClr val="000000"/>
                          </a:solidFill>
                          <a:effectLst/>
                          <a:latin typeface="Calibri" panose="020F0502020204030204" pitchFamily="34" charset="0"/>
                        </a:rPr>
                        <a:t>11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B2317 CABIN AIR CPRSR L2</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B2315 INTEGRATED COOLING LEAK</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B2315 INTEGRATED CLG RECIRC AIR</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7930277"/>
                  </a:ext>
                </a:extLst>
              </a:tr>
              <a:tr h="207931">
                <a:tc>
                  <a:txBody>
                    <a:bodyPr/>
                    <a:lstStyle/>
                    <a:p>
                      <a:pPr algn="ctr" fontAlgn="ctr"/>
                      <a:r>
                        <a:rPr lang="en-US" sz="1300" b="0" i="0" u="none" strike="noStrike">
                          <a:solidFill>
                            <a:srgbClr val="000000"/>
                          </a:solidFill>
                          <a:effectLst/>
                          <a:latin typeface="Calibri" panose="020F0502020204030204" pitchFamily="34" charset="0"/>
                        </a:rPr>
                        <a:t>12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046854"/>
                  </a:ext>
                </a:extLst>
              </a:tr>
              <a:tr h="292940">
                <a:tc>
                  <a:txBody>
                    <a:bodyPr/>
                    <a:lstStyle/>
                    <a:p>
                      <a:pPr algn="ctr" fontAlgn="ctr"/>
                      <a:r>
                        <a:rPr lang="en-US" sz="1300" b="0" i="0" u="none" strike="noStrike">
                          <a:solidFill>
                            <a:srgbClr val="000000"/>
                          </a:solidFill>
                          <a:effectLst/>
                          <a:latin typeface="Calibri" panose="020F0502020204030204" pitchFamily="34" charset="0"/>
                        </a:rPr>
                        <a:t>13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B540 : 50 CYCS REPEATED INSPECTION INTERVAL ON ENG#1 S/N 958435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4988151"/>
                  </a:ext>
                </a:extLst>
              </a:tr>
              <a:tr h="231564">
                <a:tc>
                  <a:txBody>
                    <a:bodyPr/>
                    <a:lstStyle/>
                    <a:p>
                      <a:pPr algn="ctr" fontAlgn="ctr"/>
                      <a:r>
                        <a:rPr lang="en-US" sz="1300" b="0" i="0" u="none" strike="noStrike">
                          <a:solidFill>
                            <a:srgbClr val="000000"/>
                          </a:solidFill>
                          <a:effectLst/>
                          <a:latin typeface="Calibri" panose="020F0502020204030204" pitchFamily="34" charset="0"/>
                        </a:rPr>
                        <a:t>14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2278283"/>
                  </a:ext>
                </a:extLst>
              </a:tr>
              <a:tr h="207931">
                <a:tc>
                  <a:txBody>
                    <a:bodyPr/>
                    <a:lstStyle/>
                    <a:p>
                      <a:pPr algn="ctr" fontAlgn="ctr"/>
                      <a:r>
                        <a:rPr lang="en-US" sz="1300" b="0" i="0" u="none" strike="noStrike">
                          <a:solidFill>
                            <a:srgbClr val="000000"/>
                          </a:solidFill>
                          <a:effectLst/>
                          <a:latin typeface="Calibri" panose="020F0502020204030204" pitchFamily="34" charset="0"/>
                        </a:rPr>
                        <a:t>15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B066 WING ANTI-ICE ZONE</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1171059"/>
                  </a:ext>
                </a:extLst>
              </a:tr>
              <a:tr h="207931">
                <a:tc>
                  <a:txBody>
                    <a:bodyPr/>
                    <a:lstStyle/>
                    <a:p>
                      <a:pPr algn="ctr" fontAlgn="ctr"/>
                      <a:r>
                        <a:rPr lang="en-US" sz="1300" b="0" i="0" u="none" strike="noStrike">
                          <a:solidFill>
                            <a:srgbClr val="000000"/>
                          </a:solidFill>
                          <a:effectLst/>
                          <a:latin typeface="Calibri" panose="020F0502020204030204" pitchFamily="34" charset="0"/>
                        </a:rPr>
                        <a:t>16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4056351"/>
                  </a:ext>
                </a:extLst>
              </a:tr>
              <a:tr h="411131">
                <a:tc>
                  <a:txBody>
                    <a:bodyPr/>
                    <a:lstStyle/>
                    <a:p>
                      <a:pPr algn="ctr" fontAlgn="ctr"/>
                      <a:r>
                        <a:rPr lang="en-US" sz="1300" b="0" i="0" u="none" strike="noStrike">
                          <a:solidFill>
                            <a:srgbClr val="000000"/>
                          </a:solidFill>
                          <a:effectLst/>
                          <a:latin typeface="Calibri" panose="020F0502020204030204" pitchFamily="34" charset="0"/>
                        </a:rPr>
                        <a:t>17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2951752"/>
                  </a:ext>
                </a:extLst>
              </a:tr>
            </a:tbl>
          </a:graphicData>
        </a:graphic>
      </p:graphicFrame>
    </p:spTree>
    <p:extLst>
      <p:ext uri="{BB962C8B-B14F-4D97-AF65-F5344CB8AC3E}">
        <p14:creationId xmlns:p14="http://schemas.microsoft.com/office/powerpoint/2010/main" val="4123912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3"/>
            <a:ext cx="11941351" cy="4770537"/>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không tốt với TH AOG của A862 và GTB 2 lần của A878.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en-US" sz="1600">
                <a:solidFill>
                  <a:prstClr val="black"/>
                </a:solidFill>
                <a:latin typeface="Times New Roman" panose="02020603050405020304" pitchFamily="18" charset="0"/>
                <a:cs typeface="Times New Roman" panose="02020603050405020304" pitchFamily="18" charset="0"/>
              </a:rPr>
              <a:t>A862 AOG tại HAN ngày 09/06 do phát sinh </a:t>
            </a:r>
            <a:r>
              <a:rPr lang="en-SG" sz="1600">
                <a:solidFill>
                  <a:prstClr val="black"/>
                </a:solidFill>
                <a:latin typeface="Times New Roman" panose="02020603050405020304" pitchFamily="18" charset="0"/>
                <a:cs typeface="Times New Roman" panose="02020603050405020304" pitchFamily="18" charset="0"/>
              </a:rPr>
              <a:t>ENG BAI VALVE CLOSED R -&gt; REPLACED BAI VALVE, OPS TEST SATIS</a:t>
            </a:r>
          </a:p>
          <a:p>
            <a:pPr marL="609585" lvl="1" algn="just"/>
            <a:r>
              <a:rPr lang="vi-VN" sz="1600">
                <a:solidFill>
                  <a:srgbClr val="FF0000"/>
                </a:solidFill>
                <a:latin typeface="Times New Roman" panose="02020603050405020304" pitchFamily="18" charset="0"/>
                <a:cs typeface="Times New Roman" panose="02020603050405020304" pitchFamily="18" charset="0"/>
              </a:rPr>
              <a:t>R/H ESN 956555</a:t>
            </a:r>
          </a:p>
          <a:p>
            <a:pPr marL="609585" lvl="1" algn="just"/>
            <a:r>
              <a:rPr lang="vi-VN" sz="1600">
                <a:solidFill>
                  <a:srgbClr val="FF0000"/>
                </a:solidFill>
                <a:latin typeface="Times New Roman" panose="02020603050405020304" pitchFamily="18" charset="0"/>
                <a:cs typeface="Times New Roman" panose="02020603050405020304" pitchFamily="18" charset="0"/>
              </a:rPr>
              <a:t>Cảnh báo BAI VALVE position failed closed NO-GO xuất hiện trong chuyến bay và phải khắc phục</a:t>
            </a:r>
          </a:p>
          <a:p>
            <a:pPr marL="609585" lvl="1" algn="just"/>
            <a:r>
              <a:rPr lang="vi-VN" sz="1600">
                <a:solidFill>
                  <a:srgbClr val="FF0000"/>
                </a:solidFill>
                <a:latin typeface="Times New Roman" panose="02020603050405020304" pitchFamily="18" charset="0"/>
                <a:cs typeface="Times New Roman" panose="02020603050405020304" pitchFamily="18" charset="0"/>
              </a:rPr>
              <a:t>Hệ thống chống đóng bang Booster của động cơ do các nguyên nhận kẹt cơ học, seal và piston leak hoặc sensor bẩn, wiring chafing… có thể gây cảnh báo failed tại vị trí closed hoặc open</a:t>
            </a:r>
          </a:p>
          <a:p>
            <a:pPr marL="609585" lvl="1" algn="just"/>
            <a:r>
              <a:rPr lang="vi-VN" sz="1600">
                <a:solidFill>
                  <a:srgbClr val="FF0000"/>
                </a:solidFill>
                <a:latin typeface="Times New Roman" panose="02020603050405020304" pitchFamily="18" charset="0"/>
                <a:cs typeface="Times New Roman" panose="02020603050405020304" pitchFamily="18" charset="0"/>
              </a:rPr>
              <a:t>GE đã có nhiều khắc phục liên quan đến wiring chafing (SB75-0037), CNR isolate cảnh báo nếu do pressure sensor… tuy nhiên hiện BAI Valve vẫn là top removal của worldwide. </a:t>
            </a:r>
          </a:p>
          <a:p>
            <a:pPr marL="609585" lvl="1" algn="just"/>
            <a:r>
              <a:rPr lang="vi-VN" sz="1600">
                <a:solidFill>
                  <a:srgbClr val="FF0000"/>
                </a:solidFill>
                <a:latin typeface="Times New Roman" panose="02020603050405020304" pitchFamily="18" charset="0"/>
                <a:cs typeface="Times New Roman" panose="02020603050405020304" pitchFamily="18" charset="0"/>
              </a:rPr>
              <a:t>Đối với trường hợp cảnh báo A862, không có CNR liên quan đến sensor nên BAI Valve đã được tháo để isolate.</a:t>
            </a:r>
          </a:p>
          <a:p>
            <a:pPr marL="609585" lvl="1" algn="just"/>
            <a:r>
              <a:rPr lang="vi-VN" sz="1600">
                <a:solidFill>
                  <a:srgbClr val="FF0000"/>
                </a:solidFill>
                <a:latin typeface="Times New Roman" panose="02020603050405020304" pitchFamily="18" charset="0"/>
                <a:cs typeface="Times New Roman" panose="02020603050405020304" pitchFamily="18" charset="0"/>
              </a:rPr>
              <a:t>Số liệu tháo: 2022 – 01 lần, 2023 – 01 lần, 2024 – 02 lần, 2025 – 01 lần. MTBUR 2024 – 2025 là 53448 giờ.</a:t>
            </a:r>
          </a:p>
          <a:p>
            <a:pPr marL="609585" lvl="1" algn="just"/>
            <a:r>
              <a:rPr lang="vi-VN" sz="1600">
                <a:solidFill>
                  <a:srgbClr val="FF0000"/>
                </a:solidFill>
                <a:latin typeface="Times New Roman" panose="02020603050405020304" pitchFamily="18" charset="0"/>
                <a:cs typeface="Times New Roman" panose="02020603050405020304" pitchFamily="18" charset="0"/>
              </a:rPr>
              <a:t>BAI Valve tháo từ A862 S/N GRT10507 có TSLR/CSLR: 6658:46 FH/1175 FC do mới được sửa trong lần động cơ đi đại tu năm 2023 (workscope GVI, phát sinh repair do THE BUTTER-FLY VLV FOUND LOOSEN). BAI Valve này cũng thực hiện SB75-0037 đối với lỗi internal wiring ở shop visit 2019.  </a:t>
            </a:r>
          </a:p>
          <a:p>
            <a:pPr marL="609585" lvl="1" algn="just"/>
            <a:r>
              <a:rPr lang="vi-VN" sz="1600">
                <a:solidFill>
                  <a:srgbClr val="FF0000"/>
                </a:solidFill>
                <a:latin typeface="Times New Roman" panose="02020603050405020304" pitchFamily="18" charset="0"/>
                <a:cs typeface="Times New Roman" panose="02020603050405020304" pitchFamily="18" charset="0"/>
              </a:rPr>
              <a:t>Giải pháp và đánh giá:</a:t>
            </a:r>
          </a:p>
          <a:p>
            <a:pPr marL="609585" lvl="1" algn="just"/>
            <a:r>
              <a:rPr lang="vi-VN" sz="1600">
                <a:solidFill>
                  <a:srgbClr val="FF0000"/>
                </a:solidFill>
                <a:latin typeface="Times New Roman" panose="02020603050405020304" pitchFamily="18" charset="0"/>
                <a:cs typeface="Times New Roman" panose="02020603050405020304" pitchFamily="18" charset="0"/>
              </a:rPr>
              <a:t>-	GE hiện đang nghiên cứu overhaul softime cho thiết bị này để hồi phục tính năng, khắc phục mechanical wear (binding)</a:t>
            </a:r>
          </a:p>
          <a:p>
            <a:pPr marL="609585" lvl="1" algn="just"/>
            <a:r>
              <a:rPr lang="vi-VN" sz="1600">
                <a:solidFill>
                  <a:srgbClr val="FF0000"/>
                </a:solidFill>
                <a:latin typeface="Times New Roman" panose="02020603050405020304" pitchFamily="18" charset="0"/>
                <a:cs typeface="Times New Roman" panose="02020603050405020304" pitchFamily="18" charset="0"/>
              </a:rPr>
              <a:t>-	Hỏng hóc này xuất hiện ít trên đội bay HVN, thường nếu bị ở outstation sẽ test nếu hết message sẽ quay về main base khắc phục. Trường hợp A862, cảnh báo xuất hiện trong chuyến bay về mainbase nên được khắc phục luôn.</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39379" y="706237"/>
            <a:ext cx="11941351" cy="4524315"/>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không tốt với TH AOG của A862 và GTB 2 lần của A878.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en-US" sz="1600">
                <a:solidFill>
                  <a:prstClr val="black"/>
                </a:solidFill>
                <a:latin typeface="Times New Roman" panose="02020603050405020304" pitchFamily="18" charset="0"/>
                <a:cs typeface="Times New Roman" panose="02020603050405020304" pitchFamily="18" charset="0"/>
              </a:rPr>
              <a:t>A878 GTB 2 lần VN212 SGN-HAN ngày 13/06 do phát sinh SPOILER EMCU #4 FAULT (1</a:t>
            </a:r>
            <a:r>
              <a:rPr lang="en-US" sz="1600" baseline="30000">
                <a:solidFill>
                  <a:prstClr val="black"/>
                </a:solidFill>
                <a:latin typeface="Times New Roman" panose="02020603050405020304" pitchFamily="18" charset="0"/>
                <a:cs typeface="Times New Roman" panose="02020603050405020304" pitchFamily="18" charset="0"/>
              </a:rPr>
              <a:t>st</a:t>
            </a:r>
            <a:r>
              <a:rPr lang="en-US" sz="1600">
                <a:solidFill>
                  <a:prstClr val="black"/>
                </a:solidFill>
                <a:latin typeface="Times New Roman" panose="02020603050405020304" pitchFamily="18" charset="0"/>
                <a:cs typeface="Times New Roman" panose="02020603050405020304" pitchFamily="18" charset="0"/>
              </a:rPr>
              <a:t>) &amp; FLAP CAN NOT EXTEND (2</a:t>
            </a:r>
            <a:r>
              <a:rPr lang="en-US" sz="1600" baseline="30000">
                <a:solidFill>
                  <a:prstClr val="black"/>
                </a:solidFill>
                <a:latin typeface="Times New Roman" panose="02020603050405020304" pitchFamily="18" charset="0"/>
                <a:cs typeface="Times New Roman" panose="02020603050405020304" pitchFamily="18" charset="0"/>
              </a:rPr>
              <a:t>nd</a:t>
            </a:r>
            <a:r>
              <a:rPr lang="en-US" sz="1600">
                <a:solidFill>
                  <a:prstClr val="black"/>
                </a:solidFill>
                <a:latin typeface="Times New Roman" panose="02020603050405020304" pitchFamily="18" charset="0"/>
                <a:cs typeface="Times New Roman" panose="02020603050405020304" pitchFamily="18" charset="0"/>
              </a:rPr>
              <a:t>) -&gt; </a:t>
            </a:r>
            <a:r>
              <a:rPr lang="en-SG" sz="1600">
                <a:solidFill>
                  <a:prstClr val="black"/>
                </a:solidFill>
                <a:latin typeface="Times New Roman" panose="02020603050405020304" pitchFamily="18" charset="0"/>
                <a:cs typeface="Times New Roman" panose="02020603050405020304" pitchFamily="18" charset="0"/>
              </a:rPr>
              <a:t>SYS TEST PASSED, MSG GONE (1</a:t>
            </a:r>
            <a:r>
              <a:rPr lang="en-SG" sz="1600" baseline="30000">
                <a:solidFill>
                  <a:prstClr val="black"/>
                </a:solidFill>
                <a:latin typeface="Times New Roman" panose="02020603050405020304" pitchFamily="18" charset="0"/>
                <a:cs typeface="Times New Roman" panose="02020603050405020304" pitchFamily="18" charset="0"/>
              </a:rPr>
              <a:t>st</a:t>
            </a:r>
            <a:r>
              <a:rPr lang="en-SG" sz="1600">
                <a:solidFill>
                  <a:prstClr val="black"/>
                </a:solidFill>
                <a:latin typeface="Times New Roman" panose="02020603050405020304" pitchFamily="18" charset="0"/>
                <a:cs typeface="Times New Roman" panose="02020603050405020304" pitchFamily="18" charset="0"/>
              </a:rPr>
              <a:t>), C/O DEACTIVATED SPOILER #4 (2</a:t>
            </a:r>
            <a:r>
              <a:rPr lang="en-SG" sz="1600" baseline="30000">
                <a:solidFill>
                  <a:prstClr val="black"/>
                </a:solidFill>
                <a:latin typeface="Times New Roman" panose="02020603050405020304" pitchFamily="18" charset="0"/>
                <a:cs typeface="Times New Roman" panose="02020603050405020304" pitchFamily="18" charset="0"/>
              </a:rPr>
              <a:t>nd</a:t>
            </a:r>
            <a:r>
              <a:rPr lang="en-SG" sz="1600">
                <a:solidFill>
                  <a:prstClr val="black"/>
                </a:solidFill>
                <a:latin typeface="Times New Roman" panose="02020603050405020304" pitchFamily="18" charset="0"/>
                <a:cs typeface="Times New Roman" panose="02020603050405020304" pitchFamily="18" charset="0"/>
              </a:rPr>
              <a:t>)</a:t>
            </a:r>
            <a:endParaRPr lang="en-US" sz="1600">
              <a:solidFill>
                <a:prstClr val="black"/>
              </a:solidFill>
              <a:latin typeface="Times New Roman" panose="02020603050405020304" pitchFamily="18" charset="0"/>
              <a:cs typeface="Times New Roman" panose="02020603050405020304" pitchFamily="18" charset="0"/>
            </a:endParaRPr>
          </a:p>
          <a:p>
            <a:pPr marL="609585" lvl="1" algn="just"/>
            <a:r>
              <a:rPr lang="vi-VN" sz="1600">
                <a:solidFill>
                  <a:srgbClr val="FF0000"/>
                </a:solidFill>
                <a:latin typeface="Times New Roman" panose="02020603050405020304" pitchFamily="18" charset="0"/>
                <a:cs typeface="Times New Roman" panose="02020603050405020304" pitchFamily="18" charset="0"/>
              </a:rPr>
              <a:t>Hiện tàu đang khai thác với ADD B103 : SPOILER EMCU#4 INOP. </a:t>
            </a:r>
          </a:p>
          <a:p>
            <a:pPr marL="609585" lvl="1" algn="just"/>
            <a:r>
              <a:rPr lang="vi-VN" sz="1600">
                <a:solidFill>
                  <a:srgbClr val="FF0000"/>
                </a:solidFill>
                <a:latin typeface="Times New Roman" panose="02020603050405020304" pitchFamily="18" charset="0"/>
                <a:cs typeface="Times New Roman" panose="02020603050405020304" pitchFamily="18" charset="0"/>
              </a:rPr>
              <a:t>Lịch sử đã tưng thay 39 khối (23 khối -005 và 16 khối -006). Khi hạ độ cao, sự thay đổi áp suất và nhiệt độ gây ra các kết nối không liên tục giữa các bảng mạch của EMCU. Sau đó BOE đã nấng cấp lên thế hệ thứ 2 là -006 (added internal and external brackets to stiffen the EMCUs back plane). Đội đang khai thác 24 khối -005 và 78 khối -006. Từ 2021, BOE/OEM có thêm 6 cải tiến cho các chi tiết điện tử của EMCU nhưng chỉ thực hiện trong Production. Khối EMCU của A878 là khối -006 đã được nâng cấp 3/6 cải tiến được OEM triển khai trong production.</a:t>
            </a:r>
          </a:p>
          <a:p>
            <a:pPr marL="609585" lvl="1" algn="just"/>
            <a:r>
              <a:rPr lang="vi-VN" sz="1600">
                <a:solidFill>
                  <a:srgbClr val="FF0000"/>
                </a:solidFill>
                <a:latin typeface="Times New Roman" panose="02020603050405020304" pitchFamily="18" charset="0"/>
                <a:cs typeface="Times New Roman" panose="02020603050405020304" pitchFamily="18" charset="0"/>
              </a:rPr>
              <a:t>Khi tàu GTB lần 1, CRS lên kiểm tra phát sinh 04 con Bolt cần trợ giúp của Stucture để tháo, như sau đó ít phút thì test pass, do đó đã không Deactivate Spoiler và nạp dầu cho bay. </a:t>
            </a:r>
          </a:p>
          <a:p>
            <a:pPr marL="609585" lvl="1" algn="just"/>
            <a:r>
              <a:rPr lang="vi-VN" sz="1600">
                <a:solidFill>
                  <a:srgbClr val="FF0000"/>
                </a:solidFill>
                <a:latin typeface="Times New Roman" panose="02020603050405020304" pitchFamily="18" charset="0"/>
                <a:cs typeface="Times New Roman" panose="02020603050405020304" pitchFamily="18" charset="0"/>
              </a:rPr>
              <a:t>Tuy nhiên khi đẩy ra, tàu lại báo MMSG 27-12831 spoiler #4, kèm theo FDE FLAPS GROUND INHIBIT, nguyên nhân là do spoiler #4 fault nhưng không ở vị trí để Flap có thể hoạt động, dẫn đến quay lại lần 2. </a:t>
            </a:r>
          </a:p>
          <a:p>
            <a:pPr marL="609585" lvl="1" algn="just"/>
            <a:r>
              <a:rPr lang="vi-VN" sz="1600">
                <a:solidFill>
                  <a:srgbClr val="FF0000"/>
                </a:solidFill>
                <a:latin typeface="Times New Roman" panose="02020603050405020304" pitchFamily="18" charset="0"/>
                <a:cs typeface="Times New Roman" panose="02020603050405020304" pitchFamily="18" charset="0"/>
              </a:rPr>
              <a:t>Tàu đã được deactivate spoiler#4 và đợi thay EMCU.</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A873 động cơ số 1 BSI HPT giảm tần suất 50FC tối 13/06 phát sinh phải thay trong 10FC, trước đó đã có KH thay động cơ 18-22/06.</a:t>
            </a:r>
          </a:p>
        </p:txBody>
      </p:sp>
    </p:spTree>
    <p:extLst>
      <p:ext uri="{BB962C8B-B14F-4D97-AF65-F5344CB8AC3E}">
        <p14:creationId xmlns:p14="http://schemas.microsoft.com/office/powerpoint/2010/main" val="4492893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02</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ext uri="{D42A27DB-BD31-4B8C-83A1-F6EECF244321}">
                <p14:modId xmlns:p14="http://schemas.microsoft.com/office/powerpoint/2010/main" val="1996410773"/>
              </p:ext>
            </p:extLst>
          </p:nvPr>
        </p:nvGraphicFramePr>
        <p:xfrm>
          <a:off x="134289" y="1519622"/>
          <a:ext cx="11688715" cy="4736888"/>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a:solidFill>
                            <a:srgbClr val="000000"/>
                          </a:solidFill>
                          <a:effectLst/>
                          <a:latin typeface="Calibri" panose="020F0502020204030204" pitchFamily="34" charset="0"/>
                        </a:rPr>
                        <a:t>B225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12/06/2025 14:00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12/06/2025 21:00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SG" sz="1100" b="0" i="0" u="none" strike="noStrike">
                          <a:solidFill>
                            <a:srgbClr val="000000"/>
                          </a:solidFill>
                          <a:effectLst/>
                          <a:latin typeface="Calibri" panose="020F0502020204030204" pitchFamily="34" charset="0"/>
                        </a:rPr>
                        <a:t>DURING TAXIING CAPT CALL VHF INFORM "ENG 1 BLEED LEAK",  RESET BUT NIL HELP, CAPT DECIDE GTB</a:t>
                      </a:r>
                      <a:endParaRPr lang="en-US" sz="1100" b="0" i="0" u="none" strike="noStrike">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`- 12:35 CAPT CALL VHF INFORM "ENG 1 BLEED LEAK"</a:t>
                      </a:r>
                    </a:p>
                    <a:p>
                      <a:pPr algn="l" fontAlgn="b"/>
                      <a:r>
                        <a:rPr lang="vi-VN" sz="1100" b="0" i="0" u="none" strike="noStrike">
                          <a:solidFill>
                            <a:srgbClr val="000000"/>
                          </a:solidFill>
                          <a:effectLst/>
                          <a:latin typeface="Calibri" panose="020F0502020204030204" pitchFamily="34" charset="0"/>
                        </a:rPr>
                        <a:t>- 12:39 CAPT GỌI LẠI BÁO SAU KHI RESET KHOẢNG 4 PHÚT THÌ HỎNG HÓC BỊ LẠI, CAPT QUYẾT ĐỊNH QUAY LẠI</a:t>
                      </a:r>
                    </a:p>
                    <a:p>
                      <a:pPr algn="l" fontAlgn="b"/>
                      <a:r>
                        <a:rPr lang="vi-VN" sz="1100" b="0" i="0" u="none" strike="noStrike">
                          <a:solidFill>
                            <a:srgbClr val="000000"/>
                          </a:solidFill>
                          <a:effectLst/>
                          <a:latin typeface="Calibri" panose="020F0502020204030204" pitchFamily="34" charset="0"/>
                        </a:rPr>
                        <a:t>- 12:50 TÀU QUAY LẠI BÃI 04-TSN, CRS B TIẾP CẬN TÀU</a:t>
                      </a:r>
                    </a:p>
                    <a:p>
                      <a:pPr algn="l" fontAlgn="b"/>
                      <a:r>
                        <a:rPr lang="vi-VN" sz="1100" b="0" i="0" u="none" strike="noStrike">
                          <a:solidFill>
                            <a:srgbClr val="000000"/>
                          </a:solidFill>
                          <a:effectLst/>
                          <a:latin typeface="Calibri" panose="020F0502020204030204" pitchFamily="34" charset="0"/>
                        </a:rPr>
                        <a:t>- 13:07 B1 BÁO CÓ THỂ RAISED MEL, THEO MEL CÓ OPS: "LARGE RAPID POWER CHANGE : AVOID" NÊN CAPT TỪ CHỐI BAY VÌ Ở VCS GIÓ RẤT LỚN, MOC VASCO BÁO HUỶ CHUYẾN VN8063</a:t>
                      </a:r>
                    </a:p>
                    <a:p>
                      <a:pPr algn="l" fontAlgn="b"/>
                      <a:r>
                        <a:rPr lang="vi-VN" sz="1100" b="0" i="0" u="none" strike="noStrike">
                          <a:solidFill>
                            <a:srgbClr val="000000"/>
                          </a:solidFill>
                          <a:effectLst/>
                          <a:latin typeface="Calibri" panose="020F0502020204030204" pitchFamily="34" charset="0"/>
                        </a:rPr>
                        <a:t>- 13:33 CRS TRA TRONG KHO CÓ SEAL (TUY NHIÊN HÀNG 3RD CỦA CEBU), BÁO MCC LÀM VIỆC VỚI CEBU</a:t>
                      </a:r>
                    </a:p>
                    <a:p>
                      <a:pPr algn="l" fontAlgn="b"/>
                      <a:r>
                        <a:rPr lang="vi-VN" sz="1100" b="0" i="0" u="none" strike="noStrike">
                          <a:solidFill>
                            <a:srgbClr val="000000"/>
                          </a:solidFill>
                          <a:effectLst/>
                          <a:latin typeface="Calibri" panose="020F0502020204030204" pitchFamily="34" charset="0"/>
                        </a:rPr>
                        <a:t>- 14:30 TÀU KÉO VỀ ĐẾN HG1, CHỜ THÔNG TIN VTU</a:t>
                      </a:r>
                    </a:p>
                    <a:p>
                      <a:pPr algn="l" fontAlgn="b"/>
                      <a:r>
                        <a:rPr lang="vi-VN" sz="1100" b="0" i="0" u="none" strike="noStrike">
                          <a:solidFill>
                            <a:srgbClr val="000000"/>
                          </a:solidFill>
                          <a:effectLst/>
                          <a:latin typeface="Calibri" panose="020F0502020204030204" pitchFamily="34" charset="0"/>
                        </a:rPr>
                        <a:t>- 15:30: XUỐNG KHO VÀ LẤY ĐƯỢC  SEAL</a:t>
                      </a:r>
                    </a:p>
                    <a:p>
                      <a:pPr algn="l" fontAlgn="b"/>
                      <a:r>
                        <a:rPr lang="vi-VN" sz="1100" b="0" i="0" u="none" strike="noStrike">
                          <a:solidFill>
                            <a:srgbClr val="000000"/>
                          </a:solidFill>
                          <a:effectLst/>
                          <a:latin typeface="Calibri" panose="020F0502020204030204" pitchFamily="34" charset="0"/>
                        </a:rPr>
                        <a:t>- 16:30: THAY  XONG SEAL VÀ CHỜ NỔ  MÁY (DO LỊCH BAY ATR  DÀY NÊN CHƯA  THỂ NỔ MÁY , ƯU TIÊN PHỤC VỤ BAY TRƯỚC )</a:t>
                      </a:r>
                    </a:p>
                    <a:p>
                      <a:pPr algn="l" fontAlgn="b"/>
                      <a:r>
                        <a:rPr lang="vi-VN" sz="1100" b="0" i="0" u="none" strike="noStrike">
                          <a:solidFill>
                            <a:srgbClr val="000000"/>
                          </a:solidFill>
                          <a:effectLst/>
                          <a:latin typeface="Calibri" panose="020F0502020204030204" pitchFamily="34" charset="0"/>
                        </a:rPr>
                        <a:t>- 20:00:  KÉO RA NỔ MÁY CHECK  LEAK</a:t>
                      </a:r>
                    </a:p>
                    <a:p>
                      <a:pPr algn="l" fontAlgn="b"/>
                      <a:r>
                        <a:rPr lang="vi-VN" sz="1100" b="0" i="0" u="none" strike="noStrike">
                          <a:solidFill>
                            <a:srgbClr val="000000"/>
                          </a:solidFill>
                          <a:effectLst/>
                          <a:latin typeface="Calibri" panose="020F0502020204030204" pitchFamily="34" charset="0"/>
                        </a:rPr>
                        <a:t>- 21:00: BÁO TÀU SERVICE</a:t>
                      </a:r>
                    </a:p>
                    <a:p>
                      <a:pPr algn="l" fontAlgn="b"/>
                      <a:r>
                        <a:rPr lang="vi-VN" sz="1100" b="0" i="0" u="none" strike="noStrike">
                          <a:solidFill>
                            <a:srgbClr val="000000"/>
                          </a:solidFill>
                          <a:effectLst/>
                          <a:latin typeface="Calibri" panose="020F0502020204030204" pitchFamily="34" charset="0"/>
                        </a:rPr>
                        <a:t>FINAL ACTION: C/O RPLD SEAL OF ENG 1 BLEED SYSTEM  , ERU LEAK CHECK SATIS, A/C SERVICEABLE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36-00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r>
                        <a:rPr lang="vi-VN" sz="1100" b="0" i="0" u="none" strike="noStrike">
                          <a:solidFill>
                            <a:srgbClr val="000000"/>
                          </a:solidFill>
                          <a:effectLst/>
                          <a:latin typeface="Calibri" panose="020F0502020204030204" pitchFamily="34" charset="0"/>
                        </a:rPr>
                        <a:t>Phát hiện bị leak khí tại vị trí O-ring P/N ASNA2141-40-07 , vị trí on the ducts located at the nacelle/wing junction (Zone 511, vị trí rib 9 và rib 10). Thợ máy chỉ tighten lại để khắc phục. </a:t>
                      </a:r>
                    </a:p>
                    <a:p>
                      <a:pPr algn="l" fontAlgn="b"/>
                      <a:r>
                        <a:rPr lang="vi-VN" sz="1100" b="0" i="0" u="none" strike="noStrike">
                          <a:solidFill>
                            <a:srgbClr val="000000"/>
                          </a:solidFill>
                          <a:effectLst/>
                          <a:latin typeface="Calibri" panose="020F0502020204030204" pitchFamily="34" charset="0"/>
                        </a:rPr>
                        <a:t>Đây là silicone seal dễ bị lão hóa sau một thời gian khai thác, mặc dù seal này đã được cải tiến và lắp trên đội tàu bay ATR72 thông qua SB ATR72-36-1011 (năm 2010). Với việc kiểm tra hệ thống bleed đã có chương trình đánh chặn để kiểm tra thông qua AMP task VNA-36-RAI-10000-1 - CHECK LEADING EDGE BLEED DUCT O-RING AND DISCARD IF NECCESSARY, tần suất 3000 FH/ 4A =&gt; B225  được thực hiện task này lần gần nhất vào 30/12/2024 nhưng không có finding. </a:t>
                      </a:r>
                    </a:p>
                    <a:p>
                      <a:pPr algn="l" fontAlgn="b"/>
                      <a:endParaRPr lang="vi-VN" sz="1100" b="0" i="0" u="none" strike="noStrike">
                        <a:solidFill>
                          <a:srgbClr val="000000"/>
                        </a:solidFill>
                        <a:effectLst/>
                        <a:latin typeface="Calibri" panose="020F0502020204030204" pitchFamily="34" charset="0"/>
                      </a:endParaRPr>
                    </a:p>
                    <a:p>
                      <a:pPr algn="l" fontAlgn="b"/>
                      <a:r>
                        <a:rPr lang="vi-VN" sz="1100" b="0" i="0" u="none" strike="noStrike">
                          <a:solidFill>
                            <a:srgbClr val="000000"/>
                          </a:solidFill>
                          <a:effectLst/>
                          <a:latin typeface="Calibri" panose="020F0502020204030204" pitchFamily="34" charset="0"/>
                        </a:rPr>
                        <a:t>Ngoài ra, Seal này cũng được thực hiện kiểm tra và thay thế theo AMP Task VNA-21-CHK-10000-1, tần suất 2Y. B225 được thực hiện lần gần nhất vào 30/12/2024 nhưng không có findings.</a:t>
                      </a:r>
                    </a:p>
                    <a:p>
                      <a:pPr algn="l" fontAlgn="b"/>
                      <a:r>
                        <a:rPr lang="vi-VN" sz="1100" b="0" i="0" u="none" strike="noStrike">
                          <a:solidFill>
                            <a:srgbClr val="000000"/>
                          </a:solidFill>
                          <a:effectLst/>
                          <a:latin typeface="Calibri" panose="020F0502020204030204" pitchFamily="34" charset="0"/>
                        </a:rPr>
                        <a:t>Hiện tại, đang phối hợp với MCC để thực hiện cho thay chủ động các bleed seal thay vì chỉ kiểm tra và thay nếu có findings.</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Tree>
    <p:extLst>
      <p:ext uri="{BB962C8B-B14F-4D97-AF65-F5344CB8AC3E}">
        <p14:creationId xmlns:p14="http://schemas.microsoft.com/office/powerpoint/2010/main" val="3638972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B23ECB9-5CE5-41B0-AC72-533646B0B11B}"/>
              </a:ext>
            </a:extLst>
          </p:cNvPr>
          <p:cNvSpPr txBox="1">
            <a:spLocks/>
          </p:cNvSpPr>
          <p:nvPr/>
        </p:nvSpPr>
        <p:spPr>
          <a:xfrm>
            <a:off x="730894" y="145058"/>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solidFill>
                  <a:srgbClr val="DEA610"/>
                </a:solidFill>
                <a:latin typeface="Montserrat SemiBold" pitchFamily="2" charset="77"/>
                <a:ea typeface="+mn-ea"/>
                <a:cs typeface="+mn-cs"/>
              </a:rPr>
              <a:t>B225 –AOG- ENG1 BLEED LEAK</a:t>
            </a:r>
          </a:p>
        </p:txBody>
      </p:sp>
      <p:sp>
        <p:nvSpPr>
          <p:cNvPr id="2" name="Rectangle 1">
            <a:extLst>
              <a:ext uri="{FF2B5EF4-FFF2-40B4-BE49-F238E27FC236}">
                <a16:creationId xmlns:a16="http://schemas.microsoft.com/office/drawing/2014/main" id="{597ECF9B-3067-4F16-BD6F-EF516B39444E}"/>
              </a:ext>
            </a:extLst>
          </p:cNvPr>
          <p:cNvSpPr/>
          <p:nvPr/>
        </p:nvSpPr>
        <p:spPr>
          <a:xfrm>
            <a:off x="324970" y="1052542"/>
            <a:ext cx="6936441" cy="5078313"/>
          </a:xfrm>
          <a:prstGeom prst="rect">
            <a:avLst/>
          </a:prstGeom>
        </p:spPr>
        <p:txBody>
          <a:bodyPr wrap="square">
            <a:spAutoFit/>
          </a:bodyPr>
          <a:lstStyle/>
          <a:p>
            <a:pPr marL="285750" indent="-285750">
              <a:buFont typeface="Wingdings" panose="05000000000000000000" pitchFamily="2" charset="2"/>
              <a:buChar char="q"/>
            </a:pP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leak </a:t>
            </a:r>
            <a:r>
              <a:rPr lang="en-US" dirty="0" err="1">
                <a:latin typeface="Times New Roman" panose="02020603050405020304" pitchFamily="18" charset="0"/>
                <a:cs typeface="Times New Roman" panose="02020603050405020304" pitchFamily="18" charset="0"/>
              </a:rPr>
              <a:t>khí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O-ring P/N ASNA2141-40-07 ,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on the ducts located at the nacelle/wing junction (Zone 511,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rib 9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rib 10). </a:t>
            </a:r>
            <a:r>
              <a:rPr lang="en-US" dirty="0" err="1">
                <a:latin typeface="Times New Roman" panose="02020603050405020304" pitchFamily="18" charset="0"/>
                <a:cs typeface="Times New Roman" panose="02020603050405020304" pitchFamily="18" charset="0"/>
              </a:rPr>
              <a:t>Đây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silicone seal </a:t>
            </a:r>
            <a:r>
              <a:rPr lang="en-US" dirty="0" err="1">
                <a:latin typeface="Times New Roman" panose="02020603050405020304" pitchFamily="18" charset="0"/>
                <a:cs typeface="Times New Roman" panose="02020603050405020304" pitchFamily="18" charset="0"/>
              </a:rPr>
              <a:t>dễ</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a:t>
            </a:r>
            <a:r>
              <a:rPr lang="en-US" dirty="0">
                <a:latin typeface="Times New Roman" panose="02020603050405020304" pitchFamily="18" charset="0"/>
                <a:cs typeface="Times New Roman" panose="02020603050405020304" pitchFamily="18" charset="0"/>
              </a:rPr>
              <a:t> seal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lắp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tàu</a:t>
            </a:r>
            <a:r>
              <a:rPr lang="en-US" dirty="0">
                <a:latin typeface="Times New Roman" panose="02020603050405020304" pitchFamily="18" charset="0"/>
                <a:cs typeface="Times New Roman" panose="02020603050405020304" pitchFamily="18" charset="0"/>
              </a:rPr>
              <a:t> bay ATR72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qua SB ATR72-36-1011 (</a:t>
            </a:r>
            <a:r>
              <a:rPr lang="en-US" dirty="0" err="1">
                <a:latin typeface="Times New Roman" panose="02020603050405020304" pitchFamily="18" charset="0"/>
                <a:cs typeface="Times New Roman" panose="02020603050405020304" pitchFamily="18" charset="0"/>
              </a:rPr>
              <a:t>năm</a:t>
            </a:r>
            <a:r>
              <a:rPr lang="en-US" dirty="0">
                <a:latin typeface="Times New Roman" panose="02020603050405020304" pitchFamily="18" charset="0"/>
                <a:cs typeface="Times New Roman" panose="02020603050405020304" pitchFamily="18" charset="0"/>
              </a:rPr>
              <a:t> 2010).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bleed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chặn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qua AMP task VNA-36-RAI-10000-1 - CHECK LEADING EDGE BLEED DUCT O-RING AND DISCARD IF NECCESSARY,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3000 FH/ 4A =&gt; B225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task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30/12/2024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finding.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err="1">
                <a:latin typeface="Times New Roman" panose="02020603050405020304" pitchFamily="18" charset="0"/>
                <a:cs typeface="Times New Roman" panose="02020603050405020304" pitchFamily="18" charset="0"/>
              </a:rPr>
              <a:t>Ngoài</a:t>
            </a:r>
            <a:r>
              <a:rPr lang="en-US" dirty="0">
                <a:latin typeface="Times New Roman" panose="02020603050405020304" pitchFamily="18" charset="0"/>
                <a:cs typeface="Times New Roman" panose="02020603050405020304" pitchFamily="18" charset="0"/>
              </a:rPr>
              <a:t> ra, Seal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AMP Task VNA-21-CHK-10000-1,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2Y. B225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30/12/2024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findings.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MCC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bleed seal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2Y)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findings.</a:t>
            </a:r>
          </a:p>
        </p:txBody>
      </p:sp>
      <p:pic>
        <p:nvPicPr>
          <p:cNvPr id="3" name="Picture 2">
            <a:extLst>
              <a:ext uri="{FF2B5EF4-FFF2-40B4-BE49-F238E27FC236}">
                <a16:creationId xmlns:a16="http://schemas.microsoft.com/office/drawing/2014/main" id="{A66E378F-0E96-455A-89CA-32EE89CA026E}"/>
              </a:ext>
            </a:extLst>
          </p:cNvPr>
          <p:cNvPicPr>
            <a:picLocks noChangeAspect="1"/>
          </p:cNvPicPr>
          <p:nvPr/>
        </p:nvPicPr>
        <p:blipFill>
          <a:blip r:embed="rId3"/>
          <a:stretch>
            <a:fillRect/>
          </a:stretch>
        </p:blipFill>
        <p:spPr>
          <a:xfrm>
            <a:off x="7503459" y="262547"/>
            <a:ext cx="4442572" cy="3731509"/>
          </a:xfrm>
          <a:prstGeom prst="rect">
            <a:avLst/>
          </a:prstGeom>
        </p:spPr>
      </p:pic>
      <p:pic>
        <p:nvPicPr>
          <p:cNvPr id="4" name="Picture 3">
            <a:extLst>
              <a:ext uri="{FF2B5EF4-FFF2-40B4-BE49-F238E27FC236}">
                <a16:creationId xmlns:a16="http://schemas.microsoft.com/office/drawing/2014/main" id="{05D0279E-0C6D-45D9-805A-611DE19C11C8}"/>
              </a:ext>
            </a:extLst>
          </p:cNvPr>
          <p:cNvPicPr>
            <a:picLocks noChangeAspect="1"/>
          </p:cNvPicPr>
          <p:nvPr/>
        </p:nvPicPr>
        <p:blipFill>
          <a:blip r:embed="rId4"/>
          <a:stretch>
            <a:fillRect/>
          </a:stretch>
        </p:blipFill>
        <p:spPr>
          <a:xfrm>
            <a:off x="8357346" y="3977389"/>
            <a:ext cx="3647963" cy="2827878"/>
          </a:xfrm>
          <a:prstGeom prst="rect">
            <a:avLst/>
          </a:prstGeom>
        </p:spPr>
      </p:pic>
    </p:spTree>
    <p:extLst>
      <p:ext uri="{BB962C8B-B14F-4D97-AF65-F5344CB8AC3E}">
        <p14:creationId xmlns:p14="http://schemas.microsoft.com/office/powerpoint/2010/main" val="1833852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02</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20237352-D4C4-3150-33AC-3486E1B1B470}"/>
              </a:ext>
            </a:extLst>
          </p:cNvPr>
          <p:cNvGraphicFramePr>
            <a:graphicFrameLocks noGrp="1"/>
          </p:cNvGraphicFramePr>
          <p:nvPr>
            <p:extLst>
              <p:ext uri="{D42A27DB-BD31-4B8C-83A1-F6EECF244321}">
                <p14:modId xmlns:p14="http://schemas.microsoft.com/office/powerpoint/2010/main" val="1122815235"/>
              </p:ext>
            </p:extLst>
          </p:nvPr>
        </p:nvGraphicFramePr>
        <p:xfrm>
          <a:off x="116182" y="1521019"/>
          <a:ext cx="11853157" cy="3873799"/>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691865">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34290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29777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a:solidFill>
                            <a:srgbClr val="000000"/>
                          </a:solidFill>
                          <a:effectLst/>
                          <a:latin typeface="Calibri" panose="020F0502020204030204" pitchFamily="34" charset="0"/>
                        </a:rPr>
                        <a:t>B218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Calibri" panose="020F0502020204030204" pitchFamily="34" charset="0"/>
                        </a:rPr>
                        <a:t>15/06/2025 11:30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Calibri" panose="020F0502020204030204" pitchFamily="34" charset="0"/>
                        </a:rPr>
                        <a:t>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0V8061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SGN-CAH</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A/C HAS DEFECT "EADI CAPT INOP"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DURING BOARDING AND PREPARE CLOSE THE DOOR A/C HAS DEFECT "EADI CAPT INOP"</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`- 11:40: CRS BÁO TÀU ĐANG BOARDING THÌ PHÁT SINH MÀN HÌNH EADI CAPT INOP"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- 11:50: TRA CÓ HÀNG TRONG KHO VÀ BÁO LÃNH HÀNG GỬI LÊN THAY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- 12:00: MÀN HÌNH MANG LÊN  ĐẾN TÀU</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- 12:20: THAY XONG VÀ TEST OK , TÀU SERVICE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FINAL ACTION: C/O RPLD EADI CAPT , CHECK SATIS, A/C SERVICEABLE</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A/C HAS DEFECT "EADI CAPT INOP" (LOCAL TIME) EVENT CLOSED</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FINAL ACTION: C/O RPLD EADI CAPT , CHECK SATIS, A/C SERVICEABLE</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DURING BOARDING AND PREPARE CLOSE THE DOOR A/C HAS DEFECT "EADI CAPT INOP"</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31-00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hóc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hình</a:t>
                      </a:r>
                      <a:r>
                        <a:rPr lang="en-US" sz="1100" b="0" i="0" u="none" strike="noStrike" dirty="0">
                          <a:solidFill>
                            <a:srgbClr val="000000"/>
                          </a:solidFill>
                          <a:effectLst/>
                          <a:latin typeface="Calibri" panose="020F0502020204030204" pitchFamily="34" charset="0"/>
                        </a:rPr>
                        <a:t> PN 7003110-912, </a:t>
                      </a:r>
                      <a:r>
                        <a:rPr lang="en-US" sz="1100" b="0" i="0" u="none" strike="noStrike" dirty="0" err="1">
                          <a:solidFill>
                            <a:srgbClr val="000000"/>
                          </a:solidFill>
                          <a:effectLst/>
                          <a:latin typeface="Calibri" panose="020F0502020204030204" pitchFamily="34" charset="0"/>
                        </a:rPr>
                        <a:t>đây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loại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hình</a:t>
                      </a:r>
                      <a:r>
                        <a:rPr lang="en-US" sz="1100" b="0" i="0" u="none" strike="noStrike" dirty="0">
                          <a:solidFill>
                            <a:srgbClr val="000000"/>
                          </a:solidFill>
                          <a:effectLst/>
                          <a:latin typeface="Calibri" panose="020F0502020204030204" pitchFamily="34" charset="0"/>
                        </a:rPr>
                        <a:t> cathode ray tube </a:t>
                      </a:r>
                      <a:r>
                        <a:rPr lang="en-US" sz="1100" b="0" i="0" u="none" strike="noStrike" dirty="0" err="1">
                          <a:solidFill>
                            <a:srgbClr val="000000"/>
                          </a:solidFill>
                          <a:effectLst/>
                          <a:latin typeface="Calibri" panose="020F0502020204030204" pitchFamily="34" charset="0"/>
                        </a:rPr>
                        <a:t>loại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cũ</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hình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trên</a:t>
                      </a:r>
                      <a:r>
                        <a:rPr lang="en-US" sz="1100" b="0" i="0" u="none" strike="noStrike" dirty="0">
                          <a:solidFill>
                            <a:srgbClr val="000000"/>
                          </a:solidFill>
                          <a:effectLst/>
                          <a:latin typeface="Calibri" panose="020F0502020204030204" pitchFamily="34" charset="0"/>
                        </a:rPr>
                        <a:t> B218 </a:t>
                      </a:r>
                      <a:r>
                        <a:rPr lang="en-US" sz="1100" b="0" i="0" u="none" strike="noStrike" dirty="0" err="1">
                          <a:solidFill>
                            <a:srgbClr val="000000"/>
                          </a:solidFill>
                          <a:effectLst/>
                          <a:latin typeface="Calibri" panose="020F0502020204030204" pitchFamily="34" charset="0"/>
                        </a:rPr>
                        <a:t>tháo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xuống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tuổi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đời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khai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thác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cao</a:t>
                      </a:r>
                      <a:r>
                        <a:rPr lang="en-US" sz="1100" b="0" i="0" u="none" strike="noStrike" dirty="0">
                          <a:solidFill>
                            <a:srgbClr val="000000"/>
                          </a:solidFill>
                          <a:effectLst/>
                          <a:latin typeface="Calibri" panose="020F0502020204030204" pitchFamily="34" charset="0"/>
                        </a:rPr>
                        <a:t> TSN 36338, CSN 41752, </a:t>
                      </a:r>
                      <a:r>
                        <a:rPr lang="en-US" sz="1100" b="0" i="0" u="none" strike="noStrike" dirty="0" err="1">
                          <a:solidFill>
                            <a:srgbClr val="000000"/>
                          </a:solidFill>
                          <a:effectLst/>
                          <a:latin typeface="Calibri" panose="020F0502020204030204" pitchFamily="34" charset="0"/>
                        </a:rPr>
                        <a:t>đánh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giá</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hóc</a:t>
                      </a:r>
                      <a:r>
                        <a:rPr lang="en-US" sz="1100" b="0" i="0" u="none" strike="noStrike" dirty="0">
                          <a:solidFill>
                            <a:srgbClr val="000000"/>
                          </a:solidFill>
                          <a:effectLst/>
                          <a:latin typeface="Calibri" panose="020F0502020204030204" pitchFamily="34" charset="0"/>
                        </a:rPr>
                        <a:t> do </a:t>
                      </a:r>
                      <a:r>
                        <a:rPr lang="en-US" sz="1100" b="0" i="0" u="none" strike="noStrike" dirty="0" err="1">
                          <a:solidFill>
                            <a:srgbClr val="000000"/>
                          </a:solidFill>
                          <a:effectLst/>
                          <a:latin typeface="Calibri" panose="020F0502020204030204" pitchFamily="34" charset="0"/>
                        </a:rPr>
                        <a:t>lão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hoá</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thiết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bị</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Gần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đây</a:t>
                      </a:r>
                      <a:r>
                        <a:rPr lang="en-US" sz="1100" b="0" i="0" u="none" strike="noStrike" dirty="0">
                          <a:solidFill>
                            <a:srgbClr val="000000"/>
                          </a:solidFill>
                          <a:effectLst/>
                          <a:latin typeface="Calibri" panose="020F0502020204030204" pitchFamily="34" charset="0"/>
                        </a:rPr>
                        <a:t> Ban KT </a:t>
                      </a:r>
                      <a:r>
                        <a:rPr lang="en-US" sz="1100" b="0" i="0" u="none" strike="noStrike" dirty="0" err="1">
                          <a:solidFill>
                            <a:srgbClr val="000000"/>
                          </a:solidFill>
                          <a:effectLst/>
                          <a:latin typeface="Calibri" panose="020F0502020204030204" pitchFamily="34" charset="0"/>
                        </a:rPr>
                        <a:t>đã</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thông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cho</a:t>
                      </a:r>
                      <a:r>
                        <a:rPr lang="en-US" sz="1100" b="0" i="0" u="none" strike="noStrike" dirty="0">
                          <a:solidFill>
                            <a:srgbClr val="000000"/>
                          </a:solidFill>
                          <a:effectLst/>
                          <a:latin typeface="Calibri" panose="020F0502020204030204" pitchFamily="34" charset="0"/>
                        </a:rPr>
                        <a:t> Ban QLVT </a:t>
                      </a:r>
                      <a:r>
                        <a:rPr lang="en-US" sz="1100" b="0" i="0" u="none" strike="noStrike" dirty="0" err="1">
                          <a:solidFill>
                            <a:srgbClr val="000000"/>
                          </a:solidFill>
                          <a:effectLst/>
                          <a:latin typeface="Calibri" panose="020F0502020204030204" pitchFamily="34" charset="0"/>
                        </a:rPr>
                        <a:t>mua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hình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loại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mới</a:t>
                      </a:r>
                      <a:r>
                        <a:rPr lang="en-US" sz="1100" b="0" i="0" u="none" strike="noStrike" dirty="0">
                          <a:solidFill>
                            <a:srgbClr val="000000"/>
                          </a:solidFill>
                          <a:effectLst/>
                          <a:latin typeface="Calibri" panose="020F0502020204030204" pitchFamily="34" charset="0"/>
                        </a:rPr>
                        <a:t> (LCD - 2 way interchangeable) </a:t>
                      </a:r>
                      <a:r>
                        <a:rPr lang="en-US" sz="1100" b="0" i="0" u="none" strike="noStrike" dirty="0" err="1">
                          <a:solidFill>
                            <a:srgbClr val="000000"/>
                          </a:solidFill>
                          <a:effectLst/>
                          <a:latin typeface="Calibri" panose="020F0502020204030204" pitchFamily="34" charset="0"/>
                        </a:rPr>
                        <a:t>để</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thay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thế</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dần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cho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các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hình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loại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cũ</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tuổi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đời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khai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thác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cao</a:t>
                      </a:r>
                      <a:r>
                        <a:rPr lang="en-US" sz="1100" b="0" i="0" u="none" strike="noStrike" dirty="0">
                          <a:solidFill>
                            <a:srgbClr val="000000"/>
                          </a:solidFill>
                          <a:effectLst/>
                          <a:latin typeface="Calibri" panose="020F0502020204030204" pitchFamily="34" charset="0"/>
                        </a:rPr>
                        <a:t>, Ban QLVT </a:t>
                      </a:r>
                      <a:r>
                        <a:rPr lang="en-US" sz="1100" b="0" i="0" u="none" strike="noStrike" dirty="0" err="1">
                          <a:solidFill>
                            <a:srgbClr val="000000"/>
                          </a:solidFill>
                          <a:effectLst/>
                          <a:latin typeface="Calibri" panose="020F0502020204030204" pitchFamily="34" charset="0"/>
                        </a:rPr>
                        <a:t>đã</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triển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khai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mua</a:t>
                      </a:r>
                      <a:r>
                        <a:rPr lang="en-US" sz="1100" b="0" i="0" u="none" strike="noStrike" dirty="0">
                          <a:solidFill>
                            <a:srgbClr val="000000"/>
                          </a:solidFill>
                          <a:effectLst/>
                          <a:latin typeface="Calibri" panose="020F0502020204030204" pitchFamily="34" charset="0"/>
                        </a:rPr>
                        <a: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2792896"/>
                  </a:ext>
                </a:extLst>
              </a:tr>
              <a:tr h="515354">
                <a:tc>
                  <a:txBody>
                    <a:bodyPr/>
                    <a:lstStyle/>
                    <a:p>
                      <a:pPr algn="l" fontAlgn="ctr"/>
                      <a:r>
                        <a:rPr lang="en-US" sz="1100" b="0" i="0" u="none" strike="noStrike">
                          <a:solidFill>
                            <a:srgbClr val="000000"/>
                          </a:solidFill>
                          <a:effectLst/>
                          <a:latin typeface="Calibri" panose="020F0502020204030204" pitchFamily="34" charset="0"/>
                        </a:rPr>
                        <a:t>B218</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14/06/2025 07:47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Calibri" panose="020F0502020204030204" pitchFamily="34" charset="0"/>
                        </a:rPr>
                        <a:t>35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0V8003</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SGN-VKG</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SG" sz="1100" b="0" i="0" u="none" strike="noStrike">
                          <a:solidFill>
                            <a:srgbClr val="000000"/>
                          </a:solidFill>
                          <a:effectLst/>
                          <a:latin typeface="Calibri" panose="020F0502020204030204" pitchFamily="34" charset="0"/>
                        </a:rPr>
                        <a:t>SEAT CA2 IS STUCK IN USED POSITION &lt;p&gt;SEAT CA2 IS STUCK IN USED POSITION&lt;/p&gt;</a:t>
                      </a:r>
                    </a:p>
                  </a:txBody>
                  <a:tcPr marL="6824" marR="6824" marT="68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SG" sz="1100" b="0" i="0" u="none" strike="noStrike">
                          <a:solidFill>
                            <a:srgbClr val="000000"/>
                          </a:solidFill>
                          <a:effectLst/>
                          <a:latin typeface="Calibri" panose="020F0502020204030204" pitchFamily="34" charset="0"/>
                        </a:rPr>
                        <a:t> EVENT CLOSED &lt;p&gt;ACTION: C/O RETURNED SEAT CA2 TO STOWED POS &amp; RAISED ADD SEAT CA2 INOP. A/C SERVICEABLE.</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 TOTAL DELAY 55 MINS, TECH DELAY 35 MINS</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DELAY KT TÍNH TỪ 05:40 - 06:15&lt;/p&gt; </a:t>
                      </a:r>
                    </a:p>
                  </a:txBody>
                  <a:tcPr marL="6824" marR="6824" marT="68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0862699"/>
                  </a:ext>
                </a:extLst>
              </a:tr>
            </a:tbl>
          </a:graphicData>
        </a:graphic>
      </p:graphicFrame>
    </p:spTree>
    <p:extLst>
      <p:ext uri="{BB962C8B-B14F-4D97-AF65-F5344CB8AC3E}">
        <p14:creationId xmlns:p14="http://schemas.microsoft.com/office/powerpoint/2010/main" val="29777437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51312" y="56561"/>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B0CED8B0-19C0-2A42-F11C-A929B88AEA37}"/>
              </a:ext>
            </a:extLst>
          </p:cNvPr>
          <p:cNvSpPr txBox="1"/>
          <p:nvPr/>
        </p:nvSpPr>
        <p:spPr>
          <a:xfrm>
            <a:off x="211015" y="716914"/>
            <a:ext cx="11769970" cy="1815882"/>
          </a:xfrm>
          <a:prstGeom prst="rect">
            <a:avLst/>
          </a:prstGeom>
          <a:noFill/>
        </p:spPr>
        <p:txBody>
          <a:bodyPr wrap="square">
            <a:spAutoFit/>
          </a:bodyPr>
          <a:lstStyle/>
          <a:p>
            <a:pPr algn="just">
              <a:buClrTx/>
              <a:buFontTx/>
              <a:buNone/>
              <a:defRPr/>
            </a:pPr>
            <a:r>
              <a:rPr lang="en-US" sz="1600" b="1" kern="1200">
                <a:solidFill>
                  <a:prstClr val="black"/>
                </a:solidFill>
                <a:latin typeface="Times New Roman" panose="02020603050405020304" pitchFamily="18" charset="0"/>
                <a:ea typeface="+mn-ea"/>
                <a:cs typeface="Times New Roman" panose="02020603050405020304" pitchFamily="18" charset="0"/>
              </a:rPr>
              <a:t>Đội bay ATR72: </a:t>
            </a:r>
            <a:r>
              <a:rPr lang="en-US" sz="1600" kern="1200">
                <a:solidFill>
                  <a:prstClr val="black"/>
                </a:solidFill>
                <a:latin typeface="Times New Roman" panose="02020603050405020304" pitchFamily="18" charset="0"/>
                <a:ea typeface="+mn-ea"/>
                <a:cs typeface="Times New Roman" panose="02020603050405020304" pitchFamily="18" charset="0"/>
              </a:rPr>
              <a:t>Tình hình kỹ thuật đội ATR72 trong tuần không tốt, có 01 TH GTB tàu B225 và 01 TH Delay tàu B218:</a:t>
            </a:r>
          </a:p>
          <a:p>
            <a:pPr marL="228600" indent="-228600" algn="just">
              <a:buClrTx/>
              <a:buFontTx/>
              <a:buAutoNum type="arabicPeriod"/>
              <a:defRPr/>
            </a:pPr>
            <a:r>
              <a:rPr lang="en-US" sz="1600" kern="1200">
                <a:solidFill>
                  <a:prstClr val="black"/>
                </a:solidFill>
                <a:latin typeface="Times New Roman" panose="02020603050405020304" pitchFamily="18" charset="0"/>
                <a:ea typeface="+mn-ea"/>
                <a:cs typeface="Times New Roman" panose="02020603050405020304" pitchFamily="18" charset="0"/>
              </a:rPr>
              <a:t>Tàu B225/GTB ngày 12/06 do ENG 1 BLEED LEAK. VAECO kiểm tra và phát hiện bị leak khí tại vị trí O-ring P/N ASNA2141-40-07, vị trí on the ducts located at the nacelle/wing junction (Zone 511, vị trí rib 9 và rib 10). NVKT đã thay seal và siết lại đầu nối, nổ máy kiểm tra để khắc phục. Sau vụ việc, Ban KT đã phối hợp với VAECO để thực hiện cho thay chủ động các bleed seal (tần suất 2Y) thay vì chỉ kiểm tra và thay nếu có findings.</a:t>
            </a:r>
          </a:p>
          <a:p>
            <a:pPr marL="228600" indent="-228600" algn="just">
              <a:buClrTx/>
              <a:buFontTx/>
              <a:buAutoNum type="arabicPeriod"/>
              <a:defRPr/>
            </a:pPr>
            <a:r>
              <a:rPr lang="en-US" sz="1600" kern="1200">
                <a:solidFill>
                  <a:prstClr val="black"/>
                </a:solidFill>
                <a:latin typeface="Times New Roman" panose="02020603050405020304" pitchFamily="18" charset="0"/>
                <a:cs typeface="Times New Roman" panose="02020603050405020304" pitchFamily="18" charset="0"/>
              </a:rPr>
              <a:t>Tàu B218/Delay ngày 15/06 do phát sinh EADI CAPT INOP. Lỗi này liên quan đến màn hình lắp trên tàu là loại cũ và đã có tuổi đời cao, do đó hỏng hóc được đánh giá là do thiết bị đã lão hóa. Lỗi đã được khắc phục sau khi thay màn hình mới.</a:t>
            </a:r>
          </a:p>
        </p:txBody>
      </p:sp>
    </p:spTree>
    <p:extLst>
      <p:ext uri="{BB962C8B-B14F-4D97-AF65-F5344CB8AC3E}">
        <p14:creationId xmlns:p14="http://schemas.microsoft.com/office/powerpoint/2010/main" val="2589395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W24 (09/06/2025-15/06/20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24/2025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a:t>
            </a:r>
            <a:r>
              <a:rPr lang="en-US" sz="1400" noProof="0">
                <a:solidFill>
                  <a:prstClr val="black"/>
                </a:solidFill>
                <a:latin typeface="Times New Roman" panose="02020603050405020304" pitchFamily="18" charset="0"/>
                <a:cs typeface="Times New Roman" panose="02020603050405020304" pitchFamily="18" charset="0"/>
              </a:rPr>
              <a:t>đội A321, A350 đạt mục tiêu, B787 và ATR72 không đạt mục tiêu</a:t>
            </a:r>
            <a:r>
              <a:rPr lang="en-US" sz="1400">
                <a:solidFill>
                  <a:prstClr val="black"/>
                </a:solidFill>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99,80% cao hơn 0,17%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99,53% cao hơn 0,09%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r>
              <a:rPr lang="pt-BR" sz="140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99,02% thấp</a:t>
            </a:r>
            <a:r>
              <a:rPr lang="en-US" sz="1400">
                <a:latin typeface="Times New Roman" panose="02020603050405020304" pitchFamily="18" charset="0"/>
                <a:cs typeface="Times New Roman" panose="02020603050405020304" pitchFamily="18" charset="0"/>
              </a:rPr>
              <a:t> hơn 0,34% so với mục tiêu do có 4 sự kiện liên quan tới Spoiler EMCU, Window Heat, Eng BAI Valve, Ram Fan.</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99.55% thấp hơn 0,10%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01 sự kiện tàu B218 Capt EADI DU.</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2526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407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1" name="Chart 10">
            <a:extLst>
              <a:ext uri="{FF2B5EF4-FFF2-40B4-BE49-F238E27FC236}">
                <a16:creationId xmlns:a16="http://schemas.microsoft.com/office/drawing/2014/main" id="{00000000-0008-0000-0000-000006000000}"/>
              </a:ext>
            </a:extLst>
          </p:cNvPr>
          <p:cNvGraphicFramePr>
            <a:graphicFrameLocks/>
          </p:cNvGraphicFramePr>
          <p:nvPr/>
        </p:nvGraphicFramePr>
        <p:xfrm>
          <a:off x="392969" y="764292"/>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605019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31</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611033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46876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13.5k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 slot.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telecon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chuẩn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Paris </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Airshow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lịch</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Paris Airshow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4" name="Title 2">
            <a:extLst>
              <a:ext uri="{FF2B5EF4-FFF2-40B4-BE49-F238E27FC236}">
                <a16:creationId xmlns:a16="http://schemas.microsoft.com/office/drawing/2014/main" id="{4F4E3F3C-6D60-BAB3-BB99-B4FE045FBB56}"/>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8973847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32</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338166910"/>
              </p:ext>
            </p:extLst>
          </p:nvPr>
        </p:nvGraphicFramePr>
        <p:xfrm>
          <a:off x="156782" y="536017"/>
          <a:ext cx="11878434" cy="5999318"/>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30744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7582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E-</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lvl="1" indent="0" defTabSz="457200">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VAECO </a:t>
                      </a:r>
                      <a:r>
                        <a:rPr lang="en-US" sz="1400" dirty="0" err="1">
                          <a:solidFill>
                            <a:srgbClr val="FF0000"/>
                          </a:solidFill>
                          <a:latin typeface="Times New Roman" panose="02020603050405020304" pitchFamily="18" charset="0"/>
                          <a:cs typeface="Times New Roman" panose="02020603050405020304" pitchFamily="18" charset="0"/>
                        </a:rPr>
                        <a:t>đã</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trình</a:t>
                      </a:r>
                      <a:r>
                        <a:rPr lang="en-US" sz="1400" dirty="0">
                          <a:solidFill>
                            <a:srgbClr val="FF0000"/>
                          </a:solidFill>
                          <a:latin typeface="Times New Roman" panose="02020603050405020304" pitchFamily="18" charset="0"/>
                          <a:cs typeface="Times New Roman" panose="02020603050405020304" pitchFamily="18" charset="0"/>
                        </a:rPr>
                        <a:t> HĐTV </a:t>
                      </a:r>
                      <a:r>
                        <a:rPr lang="en-US" sz="1400" dirty="0" err="1">
                          <a:solidFill>
                            <a:srgbClr val="FF0000"/>
                          </a:solidFill>
                          <a:latin typeface="Times New Roman" panose="02020603050405020304" pitchFamily="18" charset="0"/>
                          <a:cs typeface="Times New Roman" panose="02020603050405020304" pitchFamily="18" charset="0"/>
                        </a:rPr>
                        <a:t>bản</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sửa</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đổi</a:t>
                      </a:r>
                      <a:r>
                        <a:rPr lang="en-US" sz="1400" dirty="0">
                          <a:solidFill>
                            <a:srgbClr val="FF0000"/>
                          </a:solidFill>
                          <a:latin typeface="Times New Roman" panose="02020603050405020304" pitchFamily="18" charset="0"/>
                          <a:cs typeface="Times New Roman" panose="02020603050405020304" pitchFamily="18" charset="0"/>
                        </a:rPr>
                        <a:t> HĐ. </a:t>
                      </a:r>
                      <a:endPar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Sau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VAECO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sửa</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đổi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HĐ AMOS, VNA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HĐ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eTL</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với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SAS</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533400">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defTabSz="457200">
                        <a:buFont typeface="Arial" panose="020B0604020202020204" pitchFamily="34" charset="0"/>
                        <a:buNone/>
                      </a:pP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Đang</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chờ</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Ban PC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thẩm</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định</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KHLCNCC,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đồng</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thời</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làm</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việc</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với</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Airbus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cập</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nhật</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PN WQAR 3G/4G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vào</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IPC</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Airbus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đối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tác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thiết</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bị</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dịch</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vụ</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WQAR</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185706">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A891,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KH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SW activation 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hoàn</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thành</a:t>
                      </a:r>
                      <a:r>
                        <a:rPr lang="en-US" sz="1400" b="1" dirty="0">
                          <a:solidFill>
                            <a:srgbClr val="FF0000"/>
                          </a:solidFill>
                          <a:latin typeface="Times New Roman" panose="02020603050405020304" pitchFamily="18" charset="0"/>
                          <a:cs typeface="Times New Roman" panose="02020603050405020304" pitchFamily="18" charset="0"/>
                        </a:rPr>
                        <a:t> A893, A899, A891, A896. =&gt; test </a:t>
                      </a:r>
                      <a:r>
                        <a:rPr lang="en-US" sz="1400" b="1" dirty="0" err="1">
                          <a:solidFill>
                            <a:srgbClr val="FF0000"/>
                          </a:solidFill>
                          <a:latin typeface="Times New Roman" panose="02020603050405020304" pitchFamily="18" charset="0"/>
                          <a:cs typeface="Times New Roman" panose="02020603050405020304" pitchFamily="18" charset="0"/>
                        </a:rPr>
                        <a:t>dịch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vụ</a:t>
                      </a:r>
                      <a:r>
                        <a:rPr lang="en-US" sz="1400" b="1" dirty="0">
                          <a:solidFill>
                            <a:srgbClr val="FF0000"/>
                          </a:solidFill>
                          <a:latin typeface="Times New Roman" panose="02020603050405020304" pitchFamily="18" charset="0"/>
                          <a:cs typeface="Times New Roman" panose="02020603050405020304" pitchFamily="18" charset="0"/>
                        </a:rPr>
                        <a:t> A899 failed. </a:t>
                      </a:r>
                      <a:r>
                        <a:rPr lang="en-US" sz="1400" b="1" dirty="0" err="1">
                          <a:solidFill>
                            <a:srgbClr val="FF0000"/>
                          </a:solidFill>
                          <a:latin typeface="Times New Roman" panose="02020603050405020304" pitchFamily="18" charset="0"/>
                          <a:cs typeface="Times New Roman" panose="02020603050405020304" pitchFamily="18" charset="0"/>
                        </a:rPr>
                        <a:t>Tàu</a:t>
                      </a:r>
                      <a:r>
                        <a:rPr lang="en-US" sz="1400" b="1" dirty="0">
                          <a:solidFill>
                            <a:srgbClr val="FF0000"/>
                          </a:solidFill>
                          <a:latin typeface="Times New Roman" panose="02020603050405020304" pitchFamily="18" charset="0"/>
                          <a:cs typeface="Times New Roman" panose="02020603050405020304" pitchFamily="18" charset="0"/>
                        </a:rPr>
                        <a:t> bay </a:t>
                      </a:r>
                      <a:r>
                        <a:rPr lang="en-US" sz="1400" b="1" dirty="0" err="1">
                          <a:solidFill>
                            <a:srgbClr val="FF0000"/>
                          </a:solidFill>
                          <a:latin typeface="Times New Roman" panose="02020603050405020304" pitchFamily="18" charset="0"/>
                          <a:cs typeface="Times New Roman" panose="02020603050405020304" pitchFamily="18" charset="0"/>
                        </a:rPr>
                        <a:t>không</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thể</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hiệu</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chỉnh</a:t>
                      </a:r>
                      <a:r>
                        <a:rPr lang="en-US" sz="1400" b="1" dirty="0">
                          <a:solidFill>
                            <a:srgbClr val="FF0000"/>
                          </a:solidFill>
                          <a:latin typeface="Times New Roman" panose="02020603050405020304" pitchFamily="18" charset="0"/>
                          <a:cs typeface="Times New Roman" panose="02020603050405020304" pitchFamily="18" charset="0"/>
                        </a:rPr>
                        <a:t> antenna, </a:t>
                      </a:r>
                      <a:r>
                        <a:rPr lang="en-US" sz="1400" b="1" dirty="0" err="1">
                          <a:solidFill>
                            <a:srgbClr val="FF0000"/>
                          </a:solidFill>
                          <a:latin typeface="Times New Roman" panose="02020603050405020304" pitchFamily="18" charset="0"/>
                          <a:cs typeface="Times New Roman" panose="02020603050405020304" pitchFamily="18" charset="0"/>
                        </a:rPr>
                        <a:t>trạng</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thái</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dịch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vụ</a:t>
                      </a:r>
                      <a:r>
                        <a:rPr lang="en-US" sz="1400" b="1" dirty="0">
                          <a:solidFill>
                            <a:srgbClr val="FF0000"/>
                          </a:solidFill>
                          <a:latin typeface="Times New Roman" panose="02020603050405020304" pitchFamily="18" charset="0"/>
                          <a:cs typeface="Times New Roman" panose="02020603050405020304" pitchFamily="18" charset="0"/>
                        </a:rPr>
                        <a:t> disabled. </a:t>
                      </a:r>
                      <a:r>
                        <a:rPr lang="en-US" sz="1400" b="1" dirty="0" err="1">
                          <a:solidFill>
                            <a:srgbClr val="FF0000"/>
                          </a:solidFill>
                          <a:latin typeface="Times New Roman" panose="02020603050405020304" pitchFamily="18" charset="0"/>
                          <a:cs typeface="Times New Roman" panose="02020603050405020304" pitchFamily="18" charset="0"/>
                        </a:rPr>
                        <a:t>Đã</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cho</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thay</a:t>
                      </a:r>
                      <a:r>
                        <a:rPr lang="en-US" sz="1400" b="1" dirty="0">
                          <a:solidFill>
                            <a:srgbClr val="FF0000"/>
                          </a:solidFill>
                          <a:latin typeface="Times New Roman" panose="02020603050405020304" pitchFamily="18" charset="0"/>
                          <a:cs typeface="Times New Roman" panose="02020603050405020304" pitchFamily="18" charset="0"/>
                        </a:rPr>
                        <a:t> antenna </a:t>
                      </a:r>
                      <a:r>
                        <a:rPr lang="en-US" sz="1400" b="1" dirty="0" err="1">
                          <a:solidFill>
                            <a:srgbClr val="FF0000"/>
                          </a:solidFill>
                          <a:latin typeface="Times New Roman" panose="02020603050405020304" pitchFamily="18" charset="0"/>
                          <a:cs typeface="Times New Roman" panose="02020603050405020304" pitchFamily="18" charset="0"/>
                        </a:rPr>
                        <a:t>và</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lên</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lịch</a:t>
                      </a:r>
                      <a:r>
                        <a:rPr lang="en-US" sz="1400" b="1" dirty="0">
                          <a:solidFill>
                            <a:srgbClr val="FF0000"/>
                          </a:solidFill>
                          <a:latin typeface="Times New Roman" panose="02020603050405020304" pitchFamily="18" charset="0"/>
                          <a:cs typeface="Times New Roman" panose="02020603050405020304" pitchFamily="18" charset="0"/>
                        </a:rPr>
                        <a:t> test </a:t>
                      </a:r>
                      <a:r>
                        <a:rPr lang="en-US" sz="1400" b="1" dirty="0" err="1">
                          <a:solidFill>
                            <a:srgbClr val="FF0000"/>
                          </a:solidFill>
                          <a:latin typeface="Times New Roman" panose="02020603050405020304" pitchFamily="18" charset="0"/>
                          <a:cs typeface="Times New Roman" panose="02020603050405020304" pitchFamily="18" charset="0"/>
                        </a:rPr>
                        <a:t>lại</a:t>
                      </a:r>
                      <a:endParaRPr lang="en-US" sz="1400" b="0"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400" b="1" dirty="0">
                          <a:solidFill>
                            <a:srgbClr val="FF0000"/>
                          </a:solidFill>
                          <a:latin typeface="Times New Roman" panose="02020603050405020304" pitchFamily="18" charset="0"/>
                          <a:cs typeface="Times New Roman" panose="02020603050405020304" pitchFamily="18" charset="0"/>
                        </a:rPr>
                        <a:t>KH test </a:t>
                      </a:r>
                      <a:r>
                        <a:rPr lang="en-US" sz="1400" b="1" dirty="0" err="1">
                          <a:solidFill>
                            <a:srgbClr val="FF0000"/>
                          </a:solidFill>
                          <a:latin typeface="Times New Roman" panose="02020603050405020304" pitchFamily="18" charset="0"/>
                          <a:cs typeface="Times New Roman" panose="02020603050405020304" pitchFamily="18" charset="0"/>
                        </a:rPr>
                        <a:t>dịch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vụ</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tàu</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tiếp</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theo</a:t>
                      </a:r>
                      <a:r>
                        <a:rPr lang="en-US" sz="1400" b="1" dirty="0">
                          <a:solidFill>
                            <a:srgbClr val="FF0000"/>
                          </a:solidFill>
                          <a:latin typeface="Times New Roman" panose="02020603050405020304" pitchFamily="18" charset="0"/>
                          <a:cs typeface="Times New Roman" panose="02020603050405020304" pitchFamily="18" charset="0"/>
                        </a:rPr>
                        <a:t> A893 </a:t>
                      </a:r>
                      <a:r>
                        <a:rPr lang="en-US" sz="1400" b="1" dirty="0" err="1">
                          <a:solidFill>
                            <a:srgbClr val="FF0000"/>
                          </a:solidFill>
                          <a:latin typeface="Times New Roman" panose="02020603050405020304" pitchFamily="18" charset="0"/>
                          <a:cs typeface="Times New Roman" panose="02020603050405020304" pitchFamily="18" charset="0"/>
                        </a:rPr>
                        <a:t>ngày</a:t>
                      </a:r>
                      <a:r>
                        <a:rPr lang="en-US" sz="1400" b="1" dirty="0">
                          <a:solidFill>
                            <a:srgbClr val="FF0000"/>
                          </a:solidFill>
                          <a:latin typeface="Times New Roman" panose="02020603050405020304" pitchFamily="18" charset="0"/>
                          <a:cs typeface="Times New Roman" panose="02020603050405020304" pitchFamily="18" charset="0"/>
                        </a:rPr>
                        <a:t> 20/6/2025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118570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(T8/2025)</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038974"/>
                  </a:ext>
                </a:extLst>
              </a:tr>
            </a:tbl>
          </a:graphicData>
        </a:graphic>
      </p:graphicFrame>
    </p:spTree>
    <p:extLst>
      <p:ext uri="{BB962C8B-B14F-4D97-AF65-F5344CB8AC3E}">
        <p14:creationId xmlns:p14="http://schemas.microsoft.com/office/powerpoint/2010/main" val="1651103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33</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554376341"/>
              </p:ext>
            </p:extLst>
          </p:nvPr>
        </p:nvGraphicFramePr>
        <p:xfrm>
          <a:off x="228600" y="656502"/>
          <a:ext cx="11612515" cy="6133877"/>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8</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CĐCH </a:t>
                      </a:r>
                      <a:r>
                        <a:rPr lang="en-US" sz="1400" b="1" dirty="0" err="1">
                          <a:solidFill>
                            <a:schemeClr val="tx1"/>
                          </a:solidFill>
                          <a:latin typeface="Times New Roman" panose="02020603050405020304" pitchFamily="18" charset="0"/>
                          <a:cs typeface="Times New Roman" panose="02020603050405020304" pitchFamily="18" charset="0"/>
                        </a:rPr>
                        <a:t>ghế</a:t>
                      </a:r>
                      <a:r>
                        <a:rPr lang="en-US" sz="1400" b="1" dirty="0">
                          <a:solidFill>
                            <a:schemeClr val="tx1"/>
                          </a:solidFill>
                          <a:latin typeface="Times New Roman" panose="02020603050405020304" pitchFamily="18" charset="0"/>
                          <a:cs typeface="Times New Roman" panose="02020603050405020304" pitchFamily="18" charset="0"/>
                        </a:rPr>
                        <a:t> 23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HĐQT đã thông quả kết quả LC NCC ghế và SB</a:t>
                      </a:r>
                    </a:p>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Tổ đang tiến hành đàm phán HĐ, dự kiến phát PO tuần 3 tháng 6/2025 và họp ICMT đầu tháng 7</a:t>
                      </a:r>
                    </a:p>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Tổ tiếp tục thủ tục triển khai các gói còn lại: vải áo ghế, vận chuyển, thiết bị khẩn nguy.</a:t>
                      </a:r>
                    </a:p>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KH triển khai dự kiến từ T12/2025 – Q1/2026</a:t>
                      </a:r>
                      <a:endParaRPr lang="en-US" sz="140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9</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Decal </a:t>
                      </a:r>
                      <a:r>
                        <a:rPr lang="en-US" sz="1400" b="1" dirty="0" err="1">
                          <a:solidFill>
                            <a:schemeClr val="tx1"/>
                          </a:solidFill>
                          <a:latin typeface="Times New Roman" panose="02020603050405020304" pitchFamily="18" charset="0"/>
                          <a:cs typeface="Times New Roman" panose="02020603050405020304" pitchFamily="18" charset="0"/>
                        </a:rPr>
                        <a:t>báo</a:t>
                      </a:r>
                      <a:r>
                        <a:rPr lang="en-US" sz="1400" b="1" dirty="0">
                          <a:solidFill>
                            <a:schemeClr val="tx1"/>
                          </a:solidFill>
                          <a:latin typeface="Times New Roman" panose="02020603050405020304" pitchFamily="18" charset="0"/>
                          <a:cs typeface="Times New Roman" panose="02020603050405020304" pitchFamily="18" charset="0"/>
                        </a:rPr>
                        <a:t> ND</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bản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chào</a:t>
                      </a:r>
                      <a:r>
                        <a:rPr lang="en-US" sz="1400" kern="1200" dirty="0">
                          <a:solidFill>
                            <a:schemeClr val="tx1"/>
                          </a:solidFill>
                          <a:latin typeface="Times New Roman" panose="02020603050405020304" pitchFamily="18" charset="0"/>
                          <a:ea typeface="+mn-ea"/>
                          <a:cs typeface="Times New Roman" panose="02020603050405020304" pitchFamily="18" charset="0"/>
                        </a:rPr>
                        <a:t> chi </a:t>
                      </a:r>
                      <a:r>
                        <a:rPr lang="en-US" sz="1400" kern="1200" dirty="0" err="1">
                          <a:solidFill>
                            <a:schemeClr val="tx1"/>
                          </a:solidFill>
                          <a:latin typeface="Times New Roman" panose="02020603050405020304" pitchFamily="18" charset="0"/>
                          <a:ea typeface="+mn-ea"/>
                          <a:cs typeface="Times New Roman" panose="02020603050405020304" pitchFamily="18" charset="0"/>
                        </a:rPr>
                        <a:t>phí</a:t>
                      </a:r>
                      <a:r>
                        <a:rPr lang="en-US" sz="1400" kern="1200" dirty="0">
                          <a:solidFill>
                            <a:schemeClr val="tx1"/>
                          </a:solidFill>
                          <a:latin typeface="Times New Roman" panose="02020603050405020304" pitchFamily="18" charset="0"/>
                          <a:ea typeface="+mn-ea"/>
                          <a:cs typeface="Times New Roman" panose="02020603050405020304" pitchFamily="18" charset="0"/>
                        </a:rPr>
                        <a:t> SB &amp; </a:t>
                      </a:r>
                      <a:r>
                        <a:rPr lang="en-US" sz="1400" kern="1200" dirty="0" err="1">
                          <a:solidFill>
                            <a:schemeClr val="tx1"/>
                          </a:solidFill>
                          <a:latin typeface="Times New Roman" panose="02020603050405020304" pitchFamily="18" charset="0"/>
                          <a:ea typeface="+mn-ea"/>
                          <a:cs typeface="Times New Roman" panose="02020603050405020304" pitchFamily="18" charset="0"/>
                        </a:rPr>
                        <a:t>modkit</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cho</a:t>
                      </a:r>
                      <a:r>
                        <a:rPr lang="en-US" sz="1400" kern="1200" dirty="0">
                          <a:solidFill>
                            <a:schemeClr val="tx1"/>
                          </a:solidFill>
                          <a:latin typeface="Times New Roman" panose="02020603050405020304" pitchFamily="18" charset="0"/>
                          <a:ea typeface="+mn-ea"/>
                          <a:cs typeface="Times New Roman" panose="02020603050405020304" pitchFamily="18" charset="0"/>
                        </a:rPr>
                        <a:t> B787 =&gt; </a:t>
                      </a:r>
                      <a:r>
                        <a:rPr lang="en-US" sz="1400" b="1" kern="1200" dirty="0">
                          <a:solidFill>
                            <a:schemeClr val="tx1"/>
                          </a:solidFill>
                          <a:latin typeface="Times New Roman" panose="02020603050405020304" pitchFamily="18" charset="0"/>
                          <a:ea typeface="+mn-ea"/>
                          <a:cs typeface="Times New Roman" panose="02020603050405020304" pitchFamily="18" charset="0"/>
                        </a:rPr>
                        <a:t>ban KT </a:t>
                      </a:r>
                      <a:r>
                        <a:rPr lang="en-US" sz="1400" b="1" kern="1200" dirty="0" err="1">
                          <a:solidFill>
                            <a:schemeClr val="tx1"/>
                          </a:solidFill>
                          <a:latin typeface="Times New Roman" panose="02020603050405020304" pitchFamily="18" charset="0"/>
                          <a:ea typeface="+mn-ea"/>
                          <a:cs typeface="Times New Roman" panose="02020603050405020304" pitchFamily="18" charset="0"/>
                        </a:rPr>
                        <a:t>đã</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phát</a:t>
                      </a:r>
                      <a:r>
                        <a:rPr lang="en-US" sz="1400" b="1" kern="1200" dirty="0">
                          <a:solidFill>
                            <a:schemeClr val="tx1"/>
                          </a:solidFill>
                          <a:latin typeface="Times New Roman" panose="02020603050405020304" pitchFamily="18" charset="0"/>
                          <a:ea typeface="+mn-ea"/>
                          <a:cs typeface="Times New Roman" panose="02020603050405020304" pitchFamily="18" charset="0"/>
                        </a:rPr>
                        <a:t> PO </a:t>
                      </a:r>
                      <a:r>
                        <a:rPr lang="en-US" sz="1400" b="1" kern="1200" err="1">
                          <a:solidFill>
                            <a:schemeClr val="tx1"/>
                          </a:solidFill>
                          <a:latin typeface="Times New Roman" panose="02020603050405020304" pitchFamily="18" charset="0"/>
                          <a:ea typeface="+mn-ea"/>
                          <a:cs typeface="Times New Roman" panose="02020603050405020304" pitchFamily="18" charset="0"/>
                        </a:rPr>
                        <a:t>triển</a:t>
                      </a:r>
                      <a:r>
                        <a:rPr lang="en-US" sz="1400" b="1" kern="1200">
                          <a:solidFill>
                            <a:schemeClr val="tx1"/>
                          </a:solidFill>
                          <a:latin typeface="Times New Roman" panose="02020603050405020304" pitchFamily="18" charset="0"/>
                          <a:ea typeface="+mn-ea"/>
                          <a:cs typeface="Times New Roman" panose="02020603050405020304" pitchFamily="18" charset="0"/>
                        </a:rPr>
                        <a:t> khai</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a:solidFill>
                            <a:schemeClr val="tx1"/>
                          </a:solidFill>
                          <a:latin typeface="Times New Roman" panose="02020603050405020304" pitchFamily="18" charset="0"/>
                          <a:ea typeface="+mn-ea"/>
                          <a:cs typeface="Times New Roman" panose="02020603050405020304" pitchFamily="18" charset="0"/>
                        </a:rPr>
                        <a:t>Đã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SB </a:t>
                      </a:r>
                      <a:r>
                        <a:rPr lang="en-US" sz="1400" kern="1200" dirty="0" err="1">
                          <a:solidFill>
                            <a:schemeClr val="tx1"/>
                          </a:solidFill>
                          <a:latin typeface="Times New Roman" panose="02020603050405020304" pitchFamily="18" charset="0"/>
                          <a:ea typeface="+mn-ea"/>
                          <a:cs typeface="Times New Roman" panose="02020603050405020304" pitchFamily="18" charset="0"/>
                        </a:rPr>
                        <a:t>và</a:t>
                      </a:r>
                      <a:r>
                        <a:rPr lang="en-US" sz="1400" kern="1200" dirty="0">
                          <a:solidFill>
                            <a:schemeClr val="tx1"/>
                          </a:solidFill>
                          <a:latin typeface="Times New Roman" panose="02020603050405020304" pitchFamily="18" charset="0"/>
                          <a:ea typeface="+mn-ea"/>
                          <a:cs typeface="Times New Roman" panose="02020603050405020304" pitchFamily="18" charset="0"/>
                        </a:rPr>
                        <a:t> decal </a:t>
                      </a: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nhập</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kho</a:t>
                      </a:r>
                      <a:r>
                        <a:rPr lang="en-US" sz="1400" kern="1200" dirty="0">
                          <a:solidFill>
                            <a:schemeClr val="tx1"/>
                          </a:solidFill>
                          <a:latin typeface="Times New Roman" panose="02020603050405020304" pitchFamily="18" charset="0"/>
                          <a:ea typeface="+mn-ea"/>
                          <a:cs typeface="Times New Roman" panose="02020603050405020304" pitchFamily="18" charset="0"/>
                        </a:rPr>
                        <a:t> =&gt; VAECO </a:t>
                      </a:r>
                      <a:r>
                        <a:rPr lang="en-US" sz="1400" kern="1200" dirty="0" err="1">
                          <a:solidFill>
                            <a:schemeClr val="tx1"/>
                          </a:solidFill>
                          <a:latin typeface="Times New Roman" panose="02020603050405020304" pitchFamily="18" charset="0"/>
                          <a:ea typeface="+mn-ea"/>
                          <a:cs typeface="Times New Roman" panose="02020603050405020304" pitchFamily="18" charset="0"/>
                        </a:rPr>
                        <a:t>sẽ</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dán</a:t>
                      </a:r>
                      <a:r>
                        <a:rPr lang="en-US" sz="1400" kern="1200" dirty="0">
                          <a:solidFill>
                            <a:schemeClr val="tx1"/>
                          </a:solidFill>
                          <a:latin typeface="Times New Roman" panose="02020603050405020304" pitchFamily="18" charset="0"/>
                          <a:ea typeface="+mn-ea"/>
                          <a:cs typeface="Times New Roman" panose="02020603050405020304" pitchFamily="18" charset="0"/>
                        </a:rPr>
                        <a:t> decal</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a:solidFill>
                            <a:schemeClr val="tx1"/>
                          </a:solidFill>
                          <a:latin typeface="Times New Roman" panose="02020603050405020304" pitchFamily="18" charset="0"/>
                          <a:ea typeface="+mn-ea"/>
                          <a:cs typeface="Times New Roman" panose="02020603050405020304" pitchFamily="18" charset="0"/>
                        </a:rPr>
                        <a:t>KH </a:t>
                      </a:r>
                      <a:r>
                        <a:rPr lang="en-US" sz="1400"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kern="1200" dirty="0">
                          <a:solidFill>
                            <a:schemeClr val="tx1"/>
                          </a:solidFill>
                          <a:latin typeface="Times New Roman" panose="02020603050405020304" pitchFamily="18" charset="0"/>
                          <a:ea typeface="+mn-ea"/>
                          <a:cs typeface="Times New Roman" panose="02020603050405020304" pitchFamily="18" charset="0"/>
                        </a:rPr>
                        <a:t> A871: 12-17/6/2025 </a:t>
                      </a:r>
                      <a:r>
                        <a:rPr lang="en-US" sz="1400" kern="1200" dirty="0">
                          <a:solidFill>
                            <a:srgbClr val="FF0000"/>
                          </a:solidFill>
                          <a:latin typeface="Times New Roman" panose="02020603050405020304" pitchFamily="18" charset="0"/>
                          <a:ea typeface="+mn-ea"/>
                          <a:cs typeface="Times New Roman" panose="02020603050405020304" pitchFamily="18" charset="0"/>
                        </a:rPr>
                        <a:t>=&gt; </a:t>
                      </a:r>
                      <a:r>
                        <a:rPr lang="en-US" sz="1400" kern="1200" dirty="0" err="1">
                          <a:solidFill>
                            <a:srgbClr val="FF0000"/>
                          </a:solidFill>
                          <a:latin typeface="Times New Roman" panose="02020603050405020304" pitchFamily="18" charset="0"/>
                          <a:ea typeface="+mn-ea"/>
                          <a:cs typeface="Times New Roman" panose="02020603050405020304" pitchFamily="18" charset="0"/>
                        </a:rPr>
                        <a:t>đã</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có</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phê</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chuẩn</a:t>
                      </a:r>
                      <a:r>
                        <a:rPr lang="en-US" sz="1400" kern="1200" dirty="0">
                          <a:solidFill>
                            <a:srgbClr val="FF0000"/>
                          </a:solidFill>
                          <a:latin typeface="Times New Roman" panose="02020603050405020304" pitchFamily="18" charset="0"/>
                          <a:ea typeface="+mn-ea"/>
                          <a:cs typeface="Times New Roman" panose="02020603050405020304" pitchFamily="18" charset="0"/>
                        </a:rPr>
                        <a:t> mod </a:t>
                      </a:r>
                      <a:r>
                        <a:rPr lang="en-US" sz="1400" kern="1200" dirty="0" err="1">
                          <a:solidFill>
                            <a:srgbClr val="FF0000"/>
                          </a:solidFill>
                          <a:latin typeface="Times New Roman" panose="02020603050405020304" pitchFamily="18" charset="0"/>
                          <a:ea typeface="+mn-ea"/>
                          <a:cs typeface="Times New Roman" panose="02020603050405020304" pitchFamily="18" charset="0"/>
                        </a:rPr>
                        <a:t>cho</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mẫu</a:t>
                      </a:r>
                      <a:r>
                        <a:rPr lang="en-US" sz="1400" kern="1200" dirty="0">
                          <a:solidFill>
                            <a:srgbClr val="FF0000"/>
                          </a:solidFill>
                          <a:latin typeface="Times New Roman" panose="02020603050405020304" pitchFamily="18" charset="0"/>
                          <a:ea typeface="+mn-ea"/>
                          <a:cs typeface="Times New Roman" panose="02020603050405020304" pitchFamily="18" charset="0"/>
                        </a:rPr>
                        <a:t> decal </a:t>
                      </a:r>
                      <a:r>
                        <a:rPr lang="en-US" sz="1400" kern="1200" dirty="0" err="1">
                          <a:solidFill>
                            <a:srgbClr val="FF0000"/>
                          </a:solidFill>
                          <a:latin typeface="Times New Roman" panose="02020603050405020304" pitchFamily="18" charset="0"/>
                          <a:ea typeface="+mn-ea"/>
                          <a:cs typeface="Times New Roman" panose="02020603050405020304" pitchFamily="18" charset="0"/>
                        </a:rPr>
                        <a:t>mới</a:t>
                      </a:r>
                      <a:endParaRPr lang="en-US" sz="1400" kern="1200" dirty="0">
                        <a:solidFill>
                          <a:srgbClr val="FF0000"/>
                        </a:solidFill>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Local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Mua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EASA</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một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OEM 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DOA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video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trúc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6/2025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mẫu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Boeing/Airbus)</a:t>
                      </a: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đủ</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OCC. Tiến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DVHK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thẩm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mỹ</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ngắn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bọc</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da,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dán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placard)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hoặc</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đanh</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607578"/>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3575203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nvGraphicFramePr>
        <p:xfrm>
          <a:off x="2362200" y="3142104"/>
          <a:ext cx="8610600" cy="3276601"/>
        </p:xfrm>
        <a:graphic>
          <a:graphicData uri="http://schemas.openxmlformats.org/drawingml/2006/table">
            <a:tbl>
              <a:tblPr firstRow="1" firstCol="1" bandRow="1"/>
              <a:tblGrid>
                <a:gridCol w="608030">
                  <a:extLst>
                    <a:ext uri="{9D8B030D-6E8A-4147-A177-3AD203B41FA5}">
                      <a16:colId xmlns:a16="http://schemas.microsoft.com/office/drawing/2014/main" val="1531600724"/>
                    </a:ext>
                  </a:extLst>
                </a:gridCol>
                <a:gridCol w="1630726">
                  <a:extLst>
                    <a:ext uri="{9D8B030D-6E8A-4147-A177-3AD203B41FA5}">
                      <a16:colId xmlns:a16="http://schemas.microsoft.com/office/drawing/2014/main" val="2778344331"/>
                    </a:ext>
                  </a:extLst>
                </a:gridCol>
                <a:gridCol w="1377696">
                  <a:extLst>
                    <a:ext uri="{9D8B030D-6E8A-4147-A177-3AD203B41FA5}">
                      <a16:colId xmlns:a16="http://schemas.microsoft.com/office/drawing/2014/main" val="51065387"/>
                    </a:ext>
                  </a:extLst>
                </a:gridCol>
                <a:gridCol w="1205484">
                  <a:extLst>
                    <a:ext uri="{9D8B030D-6E8A-4147-A177-3AD203B41FA5}">
                      <a16:colId xmlns:a16="http://schemas.microsoft.com/office/drawing/2014/main" val="783667054"/>
                    </a:ext>
                  </a:extLst>
                </a:gridCol>
                <a:gridCol w="1291590">
                  <a:extLst>
                    <a:ext uri="{9D8B030D-6E8A-4147-A177-3AD203B41FA5}">
                      <a16:colId xmlns:a16="http://schemas.microsoft.com/office/drawing/2014/main" val="2213163783"/>
                    </a:ext>
                  </a:extLst>
                </a:gridCol>
                <a:gridCol w="2497074">
                  <a:extLst>
                    <a:ext uri="{9D8B030D-6E8A-4147-A177-3AD203B41FA5}">
                      <a16:colId xmlns:a16="http://schemas.microsoft.com/office/drawing/2014/main" val="3043656086"/>
                    </a:ext>
                  </a:extLst>
                </a:gridCol>
              </a:tblGrid>
              <a:tr h="857967">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p>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lnSpc>
                          <a:spcPct val="107000"/>
                        </a:lnSpc>
                        <a:spcAft>
                          <a:spcPts val="800"/>
                        </a:spcAft>
                      </a:pPr>
                      <a:r>
                        <a:rPr lang="en-GB" sz="1400" kern="100">
                          <a:effectLst/>
                          <a:latin typeface="Times New Roman" panose="02020603050405020304" pitchFamily="18" charset="0"/>
                          <a:cs typeface="Times New Roman" panose="02020603050405020304" pitchFamily="18" charset="0"/>
                        </a:rPr>
                        <a:t>Đã hoàn thành 6Y Check + Engine change 29/04/2025</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9733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bl>
          </a:graphicData>
        </a:graphic>
      </p:graphicFrame>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94443" y="45993"/>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1893961065"/>
              </p:ext>
            </p:extLst>
          </p:nvPr>
        </p:nvGraphicFramePr>
        <p:xfrm>
          <a:off x="166948" y="533400"/>
          <a:ext cx="11853749" cy="6216831"/>
        </p:xfrm>
        <a:graphic>
          <a:graphicData uri="http://schemas.openxmlformats.org/drawingml/2006/table">
            <a:tbl>
              <a:tblPr>
                <a:tableStyleId>{5C22544A-7EE6-4342-B048-85BDC9FD1C3A}</a:tableStyleId>
              </a:tblPr>
              <a:tblGrid>
                <a:gridCol w="421849">
                  <a:extLst>
                    <a:ext uri="{9D8B030D-6E8A-4147-A177-3AD203B41FA5}">
                      <a16:colId xmlns:a16="http://schemas.microsoft.com/office/drawing/2014/main" val="3304650821"/>
                    </a:ext>
                  </a:extLst>
                </a:gridCol>
                <a:gridCol w="1756074">
                  <a:extLst>
                    <a:ext uri="{9D8B030D-6E8A-4147-A177-3AD203B41FA5}">
                      <a16:colId xmlns:a16="http://schemas.microsoft.com/office/drawing/2014/main" val="1220325190"/>
                    </a:ext>
                  </a:extLst>
                </a:gridCol>
                <a:gridCol w="8633907">
                  <a:extLst>
                    <a:ext uri="{9D8B030D-6E8A-4147-A177-3AD203B41FA5}">
                      <a16:colId xmlns:a16="http://schemas.microsoft.com/office/drawing/2014/main" val="3909604654"/>
                    </a:ext>
                  </a:extLst>
                </a:gridCol>
                <a:gridCol w="1041919">
                  <a:extLst>
                    <a:ext uri="{9D8B030D-6E8A-4147-A177-3AD203B41FA5}">
                      <a16:colId xmlns:a16="http://schemas.microsoft.com/office/drawing/2014/main" val="1269662541"/>
                    </a:ext>
                  </a:extLst>
                </a:gridCol>
              </a:tblGrid>
              <a:tr h="53884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41327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TÀU THUÊ KHÔ/ƯỚT VỚI K6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just" defTabSz="914400" rtl="0" eaLnBrk="1" fontAlgn="auto" latinLnBrk="0" hangingPunct="1">
                        <a:lnSpc>
                          <a:spcPct val="150000"/>
                        </a:lnSpc>
                        <a:spcBef>
                          <a:spcPts val="0"/>
                        </a:spcBef>
                        <a:spcAft>
                          <a:spcPts val="0"/>
                        </a:spcAft>
                        <a:buClrTx/>
                        <a:buSzTx/>
                        <a:buFontTx/>
                        <a:buChar char="-"/>
                        <a:tabLst/>
                        <a:defRPr/>
                      </a:pPr>
                      <a:r>
                        <a:rPr lang="vi-VN" sz="1300">
                          <a:latin typeface="+mn-lt"/>
                          <a:cs typeface="Times New Roman" panose="02020603050405020304" pitchFamily="18" charset="0"/>
                        </a:rPr>
                        <a:t>VNA đang cho K6 thuê khô 01 tàu ATR72 MSN 890 VN-B220, hết hạn thuê vào ngày 25/06/2025. TGĐ đã phê duyệt tờ trình đồng ý gia hạn thuê đến 30/11/2025, đang triển khai thủ tục ký phụ lục hợp đồng gia hạn thuê tàu.</a:t>
                      </a:r>
                    </a:p>
                    <a:p>
                      <a:pPr marL="285750" marR="0" indent="-285750" algn="just" defTabSz="914400" rtl="0" eaLnBrk="1" fontAlgn="auto" latinLnBrk="0" hangingPunct="1">
                        <a:lnSpc>
                          <a:spcPct val="150000"/>
                        </a:lnSpc>
                        <a:spcBef>
                          <a:spcPts val="0"/>
                        </a:spcBef>
                        <a:spcAft>
                          <a:spcPts val="0"/>
                        </a:spcAft>
                        <a:buClrTx/>
                        <a:buSzTx/>
                        <a:buFontTx/>
                        <a:buChar char="-"/>
                        <a:tabLst/>
                        <a:defRPr/>
                      </a:pPr>
                      <a:r>
                        <a:rPr lang="vi-VN" sz="1300">
                          <a:latin typeface="+mn-lt"/>
                          <a:cs typeface="Times New Roman" panose="02020603050405020304" pitchFamily="18" charset="0"/>
                        </a:rPr>
                        <a:t>VNA dự kiến cho K6 thuê khô thêm 01 tàu ATR 72 B225 thời gian từ 15/06/2025 đến 25/10/2025  và VNA thuê ướt của K6 01 tàu A321 bay kết hợp khai thác với K6 từ 15/06/2025 đến 25/10/2025: BKT đã góp ý nội dung các hợp đồng thuê, đang chờ FD báo cáo Cục HK.</a:t>
                      </a:r>
                      <a:endParaRPr lang="vi-VN" sz="1300" dirty="0">
                        <a:latin typeface="+mn-lt"/>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968683"/>
                  </a:ext>
                </a:extLst>
              </a:tr>
              <a:tr h="422135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03 TÀU A321 CEO CHO PA THUÊ KHÔ A354, A359,</a:t>
                      </a:r>
                      <a:r>
                        <a:rPr lang="en-US" sz="1300" b="0" baseline="0" dirty="0">
                          <a:latin typeface="Times New Roman" panose="02020603050405020304" pitchFamily="18" charset="0"/>
                          <a:cs typeface="Times New Roman" panose="02020603050405020304" pitchFamily="18" charset="0"/>
                        </a:rPr>
                        <a:t> </a:t>
                      </a:r>
                      <a:r>
                        <a:rPr lang="en-US" sz="1300" b="0" dirty="0">
                          <a:latin typeface="Times New Roman" panose="02020603050405020304" pitchFamily="18" charset="0"/>
                          <a:cs typeface="Times New Roman" panose="02020603050405020304" pitchFamily="18" charset="0"/>
                        </a:rPr>
                        <a:t>A363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a:latin typeface="Times New Roman" panose="02020603050405020304" pitchFamily="18" charset="0"/>
                          <a:cs typeface="Times New Roman" panose="02020603050405020304" pitchFamily="18" charset="0"/>
                        </a:rPr>
                        <a:t>03 tàu bay hết hạn thuê tháng 06,07,10 năm 2025 cần gia hạn duy trì khai thác AOC cho PA. PA đã có văn bản đề nghị VNA gia hạn thuê tiếp 03 tàu A354, A359, A363 trong 1 năm tiếp theo so với hạn thuê hiện tại. TGĐ đã đồng ý gia hạn thêm 1 năm, đang thực hiển thủ tục sửa đổi phụ lục hợp đồng thuê.</a:t>
                      </a:r>
                    </a:p>
                    <a:p>
                      <a:pPr marL="285750" lvl="0" indent="-285750" algn="just">
                        <a:buFontTx/>
                        <a:buChar char="-"/>
                      </a:pPr>
                      <a:endParaRPr lang="en-US" sz="1200" dirty="0">
                        <a:latin typeface="Times New Roman" panose="02020603050405020304" pitchFamily="18" charset="0"/>
                        <a:cs typeface="Times New Roman" panose="02020603050405020304" pitchFamily="18" charset="0"/>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2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87746"/>
                  </a:ext>
                </a:extLst>
              </a:tr>
            </a:tbl>
          </a:graphicData>
        </a:graphic>
      </p:graphicFrame>
    </p:spTree>
    <p:extLst>
      <p:ext uri="{BB962C8B-B14F-4D97-AF65-F5344CB8AC3E}">
        <p14:creationId xmlns:p14="http://schemas.microsoft.com/office/powerpoint/2010/main" val="456777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96019" y="140130"/>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7"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354371090"/>
              </p:ext>
            </p:extLst>
          </p:nvPr>
        </p:nvGraphicFramePr>
        <p:xfrm>
          <a:off x="232954" y="762000"/>
          <a:ext cx="11612515" cy="2814066"/>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GIA HẠN THUÊ 10 TÀU VALC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a:latin typeface="+mn-lt"/>
                          <a:cs typeface="Times New Roman" panose="02020603050405020304" pitchFamily="18" charset="0"/>
                        </a:rPr>
                        <a:t>Thủ tục bán tàu của VALC chậm nên VNA và VALC đã đồng ý và ký kết gia hạn hợp đồng thuê tiếp 10 tàu bay A321CEO 3 tháng đến hết 30/06/2025.</a:t>
                      </a:r>
                    </a:p>
                    <a:p>
                      <a:pPr algn="just">
                        <a:lnSpc>
                          <a:spcPct val="150000"/>
                        </a:lnSpc>
                      </a:pPr>
                      <a:r>
                        <a:rPr lang="vi-VN" sz="1300">
                          <a:latin typeface="+mn-lt"/>
                          <a:cs typeface="Times New Roman" panose="02020603050405020304" pitchFamily="18" charset="0"/>
                        </a:rPr>
                        <a:t>Hiện tại VNA đang chờ kết quả bán tàu từ VALC, tiếp theo sẽ cần triển khai đàm phán hợp đồng thuê trong trường hợp chuyển đổi chủ sở hữu tàu bay. </a:t>
                      </a:r>
                      <a:endParaRPr lang="vi-VN" sz="1300" dirty="0" err="1">
                        <a:latin typeface="+mn-lt"/>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latin typeface="Times New Roman" panose="02020603050405020304" pitchFamily="18" charset="0"/>
                          <a:cs typeface="Times New Roman" panose="02020603050405020304" pitchFamily="18" charset="0"/>
                        </a:rPr>
                        <a:t>DỰ ÁN THUÊ KHÔ 05 TÀU GAT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vi-VN" sz="1300">
                          <a:latin typeface="+mn-lt"/>
                          <a:cs typeface="Times New Roman" panose="02020603050405020304" pitchFamily="18" charset="0"/>
                        </a:rPr>
                        <a:t>GAT đang gửi VNA bản chào cho VNA thuê khô 05 tàu A321 CEO(năm sản xuất 2015(01) và 2017(04) thời gian thuê 60 months, giá thuê 285K$/1 Mo, điều kiện giao / nhận serviceable theo AMM, có đóng quỹ bảo dưỡng 6Y12Y LDG APU. Kế hoạch giao tàu: 10/2025, 11/2025, 01/2026, 02/2026, 04/2026 , VNA đề xuất thuê ngắn hạn (đến LLP run out) nhưng GAT chưa đồng ý. GAT gửi thêm specs của 15 tàu A320 NEO tuy nhiên đang chờ bản chào chính thức của GAT cho 15 tàu bay này.</a:t>
                      </a:r>
                      <a:endParaRPr lang="vi-VN" sz="1300" dirty="0">
                        <a:latin typeface="+mn-lt"/>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bl>
          </a:graphicData>
        </a:graphic>
      </p:graphicFrame>
    </p:spTree>
    <p:extLst>
      <p:ext uri="{BB962C8B-B14F-4D97-AF65-F5344CB8AC3E}">
        <p14:creationId xmlns:p14="http://schemas.microsoft.com/office/powerpoint/2010/main" val="4264215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5905205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37</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FLEET T5-T8/2025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2514600" y="592815"/>
          <a:ext cx="9677400" cy="626518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52400" y="592815"/>
            <a:ext cx="2133600" cy="5493812"/>
          </a:xfrm>
          <a:prstGeom prst="rect">
            <a:avLst/>
          </a:prstGeom>
          <a:noFill/>
          <a:ln>
            <a:solidFill>
              <a:schemeClr val="accent1"/>
            </a:solidFill>
          </a:ln>
        </p:spPr>
        <p:txBody>
          <a:bodyPr wrap="square" rtlCol="0">
            <a:spAutoFit/>
          </a:bodyPr>
          <a:lstStyle/>
          <a:p>
            <a:r>
              <a:rPr lang="en-US" sz="1300" b="1" dirty="0" err="1">
                <a:latin typeface="Times New Roman" panose="02020603050405020304" pitchFamily="18" charset="0"/>
                <a:cs typeface="Times New Roman" panose="02020603050405020304" pitchFamily="18" charset="0"/>
              </a:rPr>
              <a:t>Rủi</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ro</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nhận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diện</a:t>
            </a:r>
            <a:r>
              <a:rPr lang="en-US" sz="1300" dirty="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A321CEO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kiến</a:t>
            </a:r>
            <a:r>
              <a:rPr lang="en-US" sz="1300" dirty="0">
                <a:solidFill>
                  <a:prstClr val="black"/>
                </a:solidFill>
                <a:latin typeface="Times New Roman" panose="02020603050405020304" pitchFamily="18" charset="0"/>
                <a:cs typeface="Times New Roman" panose="02020603050405020304" pitchFamily="18" charset="0"/>
              </a:rPr>
              <a:t> Q3-Q4/2025 </a:t>
            </a:r>
            <a:r>
              <a:rPr lang="en-US" sz="1300" dirty="0" err="1">
                <a:solidFill>
                  <a:prstClr val="black"/>
                </a:solidFill>
                <a:latin typeface="Times New Roman" panose="02020603050405020304" pitchFamily="18" charset="0"/>
                <a:cs typeface="Times New Roman" panose="02020603050405020304" pitchFamily="18" charset="0"/>
              </a:rPr>
              <a:t>trả</a:t>
            </a:r>
            <a:r>
              <a:rPr lang="en-US" sz="1300" dirty="0">
                <a:solidFill>
                  <a:prstClr val="black"/>
                </a:solidFill>
                <a:latin typeface="Times New Roman" panose="02020603050405020304" pitchFamily="18" charset="0"/>
                <a:cs typeface="Times New Roman" panose="02020603050405020304" pitchFamily="18" charset="0"/>
              </a:rPr>
              <a:t>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thuê</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duy</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trì</a:t>
            </a:r>
            <a:r>
              <a:rPr lang="en-US" sz="1300" dirty="0">
                <a:solidFill>
                  <a:prstClr val="black"/>
                </a:solidFill>
                <a:latin typeface="Times New Roman" panose="02020603050405020304" pitchFamily="18" charset="0"/>
                <a:cs typeface="Times New Roman" panose="02020603050405020304" pitchFamily="18" charset="0"/>
              </a:rPr>
              <a:t> 9-10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phòng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trong</a:t>
            </a:r>
            <a:r>
              <a:rPr lang="en-US" sz="1300" dirty="0">
                <a:solidFill>
                  <a:prstClr val="black"/>
                </a:solidFill>
                <a:latin typeface="Times New Roman" panose="02020603050405020304" pitchFamily="18" charset="0"/>
                <a:cs typeface="Times New Roman" panose="02020603050405020304" pitchFamily="18" charset="0"/>
              </a:rPr>
              <a:t> 2026.</a:t>
            </a:r>
          </a:p>
          <a:p>
            <a:pPr defTabSz="914377">
              <a:defRPr/>
            </a:pPr>
            <a:endParaRPr lang="en-US" sz="1300" dirty="0">
              <a:solidFill>
                <a:prstClr val="black"/>
              </a:solidFill>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A321NEO </a:t>
            </a:r>
            <a:r>
              <a:rPr lang="en-US" sz="1300" dirty="0">
                <a:latin typeface="Times New Roman" panose="02020603050405020304" pitchFamily="18" charset="0"/>
                <a:cs typeface="Times New Roman" panose="02020603050405020304" pitchFamily="18" charset="0"/>
              </a:rPr>
              <a:t>: </a:t>
            </a:r>
            <a:r>
              <a:rPr lang="vi-VN" sz="1300" dirty="0">
                <a:solidFill>
                  <a:prstClr val="black"/>
                </a:solidFill>
                <a:cs typeface="Times New Roman" panose="02020603050405020304" pitchFamily="18" charset="0"/>
              </a:rPr>
              <a:t>Rủi ro động cơ đi shop về muộn (thực tế đã bị shop delay nhiều lần) và rủi ro tháo động cơ </a:t>
            </a:r>
            <a:r>
              <a:rPr lang="vi-VN" sz="1300" dirty="0">
                <a:cs typeface="Times New Roman" panose="02020603050405020304" pitchFamily="18" charset="0"/>
              </a:rPr>
              <a:t>ngoài KH do Vibration, Oil </a:t>
            </a:r>
            <a:r>
              <a:rPr lang="vi-VN" sz="1300">
                <a:cs typeface="Times New Roman" panose="02020603050405020304" pitchFamily="18" charset="0"/>
              </a:rPr>
              <a:t>Leak…</a:t>
            </a:r>
            <a:endParaRPr lang="en-US" sz="1300">
              <a:cs typeface="Times New Roman" panose="02020603050405020304" pitchFamily="18" charset="0"/>
            </a:endParaRPr>
          </a:p>
          <a:p>
            <a:pPr defTabSz="914377">
              <a:defRPr/>
            </a:pPr>
            <a:r>
              <a:rPr lang="en-US" sz="1300">
                <a:solidFill>
                  <a:srgbClr val="FF0000"/>
                </a:solidFill>
                <a:cs typeface="Times New Roman" panose="02020603050405020304" pitchFamily="18" charset="0"/>
              </a:rPr>
              <a:t>Đã tính thêm 02 động cơ thuê dk về đầu tháng 7</a:t>
            </a:r>
            <a:endParaRPr lang="en-US" sz="1300" dirty="0">
              <a:solidFill>
                <a:srgbClr val="FF0000"/>
              </a:solidFill>
              <a:cs typeface="Times New Roman" panose="02020603050405020304" pitchFamily="18" charset="0"/>
            </a:endParaRPr>
          </a:p>
          <a:p>
            <a:pPr defTabSz="914377">
              <a:defRPr/>
            </a:pPr>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B787 </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ĐCDP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tại</a:t>
            </a:r>
            <a:r>
              <a:rPr lang="en-US" sz="1300" dirty="0">
                <a:latin typeface="Times New Roman" panose="02020603050405020304" pitchFamily="18" charset="0"/>
                <a:cs typeface="Times New Roman" panose="02020603050405020304" pitchFamily="18" charset="0"/>
              </a:rPr>
              <a:t> 10 (ĐC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06)</a:t>
            </a:r>
          </a:p>
          <a:p>
            <a:endParaRPr lang="en-US" sz="1300" dirty="0">
              <a:latin typeface="Times New Roman" panose="02020603050405020304" pitchFamily="18" charset="0"/>
              <a:cs typeface="Times New Roman" panose="02020603050405020304" pitchFamily="18" charset="0"/>
            </a:endParaRPr>
          </a:p>
          <a:p>
            <a:pPr marL="0" lvl="1"/>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A350: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đi</a:t>
            </a:r>
            <a:r>
              <a:rPr lang="en-US" sz="1300" dirty="0">
                <a:solidFill>
                  <a:prstClr val="black"/>
                </a:solidFill>
                <a:latin typeface="Times New Roman" panose="02020603050405020304" pitchFamily="18" charset="0"/>
                <a:cs typeface="Times New Roman" panose="02020603050405020304" pitchFamily="18" charset="0"/>
              </a:rPr>
              <a:t> shop </a:t>
            </a:r>
            <a:r>
              <a:rPr lang="en-US" sz="1300" dirty="0" err="1">
                <a:solidFill>
                  <a:prstClr val="black"/>
                </a:solidFill>
                <a:latin typeface="Times New Roman" panose="02020603050405020304" pitchFamily="18" charset="0"/>
                <a:cs typeface="Times New Roman" panose="02020603050405020304" pitchFamily="18" charset="0"/>
              </a:rPr>
              <a:t>về</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muộn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cao</a:t>
            </a:r>
            <a:r>
              <a:rPr lang="en-US" sz="1300" dirty="0">
                <a:solidFill>
                  <a:prstClr val="black"/>
                </a:solidFill>
                <a:latin typeface="Times New Roman" panose="02020603050405020304" pitchFamily="18" charset="0"/>
                <a:cs typeface="Times New Roman" panose="02020603050405020304" pitchFamily="18" charset="0"/>
              </a:rPr>
              <a:t> do RR </a:t>
            </a:r>
            <a:r>
              <a:rPr lang="en-US" sz="1300" dirty="0" err="1">
                <a:solidFill>
                  <a:prstClr val="black"/>
                </a:solidFill>
                <a:latin typeface="Times New Roman" panose="02020603050405020304" pitchFamily="18" charset="0"/>
                <a:cs typeface="Times New Roman" panose="02020603050405020304" pitchFamily="18" charset="0"/>
              </a:rPr>
              <a:t>th</a:t>
            </a:r>
            <a:r>
              <a:rPr lang="vi-VN" sz="1300" dirty="0">
                <a:solidFill>
                  <a:prstClr val="black"/>
                </a:solidFill>
                <a:cs typeface="Times New Roman" panose="02020603050405020304" pitchFamily="18" charset="0"/>
              </a:rPr>
              <a:t>ư</a:t>
            </a:r>
            <a:r>
              <a:rPr lang="en-US" sz="1300" dirty="0" err="1">
                <a:solidFill>
                  <a:prstClr val="black"/>
                </a:solidFill>
                <a:latin typeface="Times New Roman" panose="02020603050405020304" pitchFamily="18" charset="0"/>
                <a:cs typeface="Times New Roman" panose="02020603050405020304" pitchFamily="18" charset="0"/>
              </a:rPr>
              <a:t>ờng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xuyên</a:t>
            </a:r>
            <a:r>
              <a:rPr lang="en-US" sz="1300" dirty="0">
                <a:solidFill>
                  <a:prstClr val="black"/>
                </a:solidFill>
                <a:latin typeface="Times New Roman" panose="02020603050405020304" pitchFamily="18" charset="0"/>
                <a:cs typeface="Times New Roman" panose="02020603050405020304" pitchFamily="18" charset="0"/>
              </a:rPr>
              <a:t> extend TAT) </a:t>
            </a:r>
            <a:r>
              <a:rPr lang="en-US" sz="1300" dirty="0" err="1">
                <a:solidFill>
                  <a:prstClr val="black"/>
                </a:solidFill>
                <a:latin typeface="Times New Roman" panose="02020603050405020304" pitchFamily="18" charset="0"/>
                <a:cs typeface="Times New Roman" panose="02020603050405020304" pitchFamily="18" charset="0"/>
              </a:rPr>
              <a:t>tháo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c</a:t>
            </a:r>
            <a:r>
              <a:rPr lang="vi-VN" sz="1300" dirty="0">
                <a:solidFill>
                  <a:prstClr val="black"/>
                </a:solidFill>
                <a:cs typeface="Times New Roman" panose="02020603050405020304" pitchFamily="18" charset="0"/>
              </a:rPr>
              <a:t>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ngoài</a:t>
            </a:r>
            <a:r>
              <a:rPr lang="en-US" sz="1300" dirty="0">
                <a:solidFill>
                  <a:prstClr val="black"/>
                </a:solidFill>
                <a:latin typeface="Times New Roman" panose="02020603050405020304" pitchFamily="18" charset="0"/>
                <a:cs typeface="Times New Roman" panose="02020603050405020304" pitchFamily="18" charset="0"/>
              </a:rPr>
              <a:t> KH do High oil consumption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A893), HPT Blade (2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100FC), IPC Blade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soi </a:t>
            </a:r>
            <a:r>
              <a:rPr lang="en-US" sz="1300" dirty="0" err="1">
                <a:solidFill>
                  <a:prstClr val="black"/>
                </a:solidFill>
                <a:latin typeface="Times New Roman" panose="02020603050405020304" pitchFamily="18" charset="0"/>
                <a:cs typeface="Times New Roman" panose="02020603050405020304" pitchFamily="18" charset="0"/>
              </a:rPr>
              <a:t>năm</a:t>
            </a:r>
            <a:r>
              <a:rPr lang="en-US" sz="1300" dirty="0">
                <a:solidFill>
                  <a:prstClr val="black"/>
                </a:solidFill>
                <a:latin typeface="Times New Roman" panose="02020603050405020304" pitchFamily="18" charset="0"/>
                <a:cs typeface="Times New Roman" panose="02020603050405020304" pitchFamily="18" charset="0"/>
              </a:rPr>
              <a:t> 2025)/ </a:t>
            </a:r>
          </a:p>
        </p:txBody>
      </p:sp>
    </p:spTree>
    <p:extLst>
      <p:ext uri="{BB962C8B-B14F-4D97-AF65-F5344CB8AC3E}">
        <p14:creationId xmlns:p14="http://schemas.microsoft.com/office/powerpoint/2010/main" val="3424695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38</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20/06/2025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01/07/2025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27/06)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12/08/2025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19/08/2025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12/07)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07/07/2025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14/07/2025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06/08)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23/06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16/06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26/06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1624019"/>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26-28/06/2025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06-08/07/2025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V16563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A363#1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16-18/08/2025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98572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22-24/08/2025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29-31/08/2025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23260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62128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3689912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39</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39</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A321NEO</a:t>
            </a: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76948" y="2404954"/>
            <a:ext cx="5167083" cy="538609"/>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tàu</a:t>
            </a:r>
            <a:r>
              <a:rPr lang="en-US" b="1">
                <a:solidFill>
                  <a:srgbClr val="002060"/>
                </a:solidFill>
                <a:latin typeface="Times New Roman" panose="02020603050405020304" pitchFamily="18" charset="0"/>
                <a:cs typeface="Times New Roman" panose="02020603050405020304" pitchFamily="18" charset="0"/>
              </a:rPr>
              <a:t> AOG do thiếu động c</a:t>
            </a:r>
            <a:r>
              <a:rPr lang="vi-VN" b="1">
                <a:solidFill>
                  <a:srgbClr val="002060"/>
                </a:solidFill>
                <a:latin typeface="Times New Roman" panose="02020603050405020304" pitchFamily="18" charset="0"/>
                <a:cs typeface="Times New Roman" panose="02020603050405020304" pitchFamily="18" charset="0"/>
              </a:rPr>
              <a:t>ơ</a:t>
            </a:r>
            <a:r>
              <a:rPr lang="en-US" b="1">
                <a:solidFill>
                  <a:srgbClr val="002060"/>
                </a:solidFill>
                <a:latin typeface="Times New Roman" panose="02020603050405020304" pitchFamily="18" charset="0"/>
                <a:cs typeface="Times New Roman" panose="02020603050405020304" pitchFamily="18" charset="0"/>
              </a:rPr>
              <a:t>*</a:t>
            </a:r>
          </a:p>
          <a:p>
            <a:pPr algn="ctr" defTabSz="1219170">
              <a:defRPr/>
            </a:pPr>
            <a:r>
              <a:rPr lang="en-US" sz="1100" i="1">
                <a:solidFill>
                  <a:srgbClr val="002060"/>
                </a:solidFill>
                <a:latin typeface="Times New Roman" panose="02020603050405020304" pitchFamily="18" charset="0"/>
                <a:cs typeface="Times New Roman" panose="02020603050405020304" pitchFamily="18" charset="0"/>
              </a:rPr>
              <a:t>*Không tính thời gian lắp + RTS + định kỳ</a:t>
            </a:r>
            <a:endParaRPr lang="en-GB" sz="1100" i="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205742" y="4495800"/>
          <a:ext cx="5765457" cy="1889760"/>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366346">
                <a:tc>
                  <a:txBody>
                    <a:bodyPr/>
                    <a:lstStyle/>
                    <a:p>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548054">
                <a:tc>
                  <a:txBody>
                    <a:bodyPr/>
                    <a:lstStyle/>
                    <a:p>
                      <a:r>
                        <a:rPr lang="en-US" sz="1200" b="1">
                          <a:latin typeface="Times New Roman" panose="02020603050405020304" pitchFamily="18" charset="0"/>
                          <a:cs typeface="Times New Roman" panose="02020603050405020304" pitchFamily="18" charset="0"/>
                        </a:rPr>
                        <a:t>A501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FF0000"/>
                          </a:solidFill>
                          <a:latin typeface="Times New Roman" panose="02020603050405020304" pitchFamily="18" charset="0"/>
                          <a:cs typeface="Times New Roman" panose="02020603050405020304" pitchFamily="18" charset="0"/>
                        </a:rPr>
                        <a:t>Đã hoàn thành bay thử 14/06 và đưa vào khai thác từ 15/06.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FF0000"/>
                          </a:solidFill>
                          <a:latin typeface="Times New Roman" panose="02020603050405020304" pitchFamily="18" charset="0"/>
                          <a:cs typeface="Times New Roman" panose="02020603050405020304" pitchFamily="18" charset="0"/>
                        </a:rPr>
                        <a:t>Còn 12 AOG</a:t>
                      </a:r>
                      <a:endParaRPr lang="en-US" sz="1200"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366346">
                <a:tc>
                  <a:txBody>
                    <a:bodyPr/>
                    <a:lstStyle/>
                    <a:p>
                      <a:r>
                        <a:rPr lang="en-US" sz="1200" b="1" dirty="0">
                          <a:latin typeface="Times New Roman" panose="02020603050405020304" pitchFamily="18" charset="0"/>
                          <a:cs typeface="Times New Roman" panose="02020603050405020304" pitchFamily="18" charset="0"/>
                        </a:rPr>
                        <a:t>A508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Dự</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kiến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sử</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dụng</a:t>
                      </a:r>
                      <a:r>
                        <a:rPr lang="en-US" sz="1200" dirty="0">
                          <a:solidFill>
                            <a:srgbClr val="FF0000"/>
                          </a:solidFill>
                          <a:latin typeface="Times New Roman" panose="02020603050405020304" pitchFamily="18" charset="0"/>
                          <a:cs typeface="Times New Roman" panose="02020603050405020304" pitchFamily="18" charset="0"/>
                        </a:rPr>
                        <a:t> 02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cơ</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thuê</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về</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đầu</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tháng</a:t>
                      </a:r>
                      <a:r>
                        <a:rPr lang="en-US" sz="1200" dirty="0">
                          <a:solidFill>
                            <a:srgbClr val="FF0000"/>
                          </a:solidFill>
                          <a:latin typeface="Times New Roman" panose="02020603050405020304" pitchFamily="18" charset="0"/>
                          <a:cs typeface="Times New Roman" panose="02020603050405020304" pitchFamily="18" charset="0"/>
                        </a:rPr>
                        <a:t> 7 </a:t>
                      </a:r>
                      <a:r>
                        <a:rPr lang="en-US" sz="1200" dirty="0" err="1">
                          <a:solidFill>
                            <a:srgbClr val="FF0000"/>
                          </a:solidFill>
                          <a:latin typeface="Times New Roman" panose="02020603050405020304" pitchFamily="18" charset="0"/>
                          <a:cs typeface="Times New Roman" panose="02020603050405020304" pitchFamily="18" charset="0"/>
                        </a:rPr>
                        <a:t>theo</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cập</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nhật</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từ</a:t>
                      </a:r>
                      <a:r>
                        <a:rPr lang="en-US" sz="1200" dirty="0">
                          <a:solidFill>
                            <a:srgbClr val="FF0000"/>
                          </a:solidFill>
                          <a:latin typeface="Times New Roman" panose="02020603050405020304" pitchFamily="18" charset="0"/>
                          <a:cs typeface="Times New Roman" panose="02020603050405020304" pitchFamily="18" charset="0"/>
                        </a:rPr>
                        <a:t> ban QLVT.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Còn</a:t>
                      </a:r>
                      <a:r>
                        <a:rPr lang="en-US" sz="1200" dirty="0">
                          <a:solidFill>
                            <a:srgbClr val="FF0000"/>
                          </a:solidFill>
                          <a:latin typeface="Times New Roman" panose="02020603050405020304" pitchFamily="18" charset="0"/>
                          <a:cs typeface="Times New Roman" panose="02020603050405020304" pitchFamily="18" charset="0"/>
                        </a:rPr>
                        <a:t> 11 AOG</a:t>
                      </a:r>
                    </a:p>
                  </a:txBody>
                  <a:tcPr marL="121920" marR="121920" marT="60960" marB="60960" anchor="ctr"/>
                </a:tc>
                <a:extLst>
                  <a:ext uri="{0D108BD9-81ED-4DB2-BD59-A6C34878D82A}">
                    <a16:rowId xmlns:a16="http://schemas.microsoft.com/office/drawing/2014/main" val="1764342503"/>
                  </a:ext>
                </a:extLst>
              </a:tr>
              <a:tr h="366346">
                <a:tc>
                  <a:txBody>
                    <a:bodyPr/>
                    <a:lstStyle/>
                    <a:p>
                      <a:r>
                        <a:rPr lang="en-US" sz="1200" b="1">
                          <a:latin typeface="Times New Roman" panose="02020603050405020304" pitchFamily="18" charset="0"/>
                          <a:cs typeface="Times New Roman" panose="02020603050405020304" pitchFamily="18" charset="0"/>
                        </a:rPr>
                        <a:t>A623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latin typeface="Times New Roman" panose="02020603050405020304" pitchFamily="18" charset="0"/>
                          <a:cs typeface="Times New Roman" panose="02020603050405020304" pitchFamily="18" charset="0"/>
                        </a:rPr>
                        <a:t>12/07 </a:t>
                      </a:r>
                      <a:r>
                        <a:rPr lang="en-US" sz="1200" dirty="0" err="1">
                          <a:solidFill>
                            <a:srgbClr val="FF0000"/>
                          </a:solidFill>
                          <a:latin typeface="Times New Roman" panose="02020603050405020304" pitchFamily="18" charset="0"/>
                          <a:cs typeface="Times New Roman" panose="02020603050405020304" pitchFamily="18" charset="0"/>
                        </a:rPr>
                        <a:t>đủ</a:t>
                      </a:r>
                      <a:r>
                        <a:rPr lang="en-US" sz="1200" dirty="0">
                          <a:solidFill>
                            <a:srgbClr val="FF0000"/>
                          </a:solidFill>
                          <a:latin typeface="Times New Roman" panose="02020603050405020304" pitchFamily="18" charset="0"/>
                          <a:cs typeface="Times New Roman" panose="02020603050405020304" pitchFamily="18" charset="0"/>
                        </a:rPr>
                        <a:t> 2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c</a:t>
                      </a:r>
                      <a:r>
                        <a:rPr lang="vi-VN" sz="1200" dirty="0">
                          <a:solidFill>
                            <a:srgbClr val="FF0000"/>
                          </a:solidFill>
                          <a:latin typeface="+mn-lt"/>
                          <a:cs typeface="Times New Roman" panose="02020603050405020304" pitchFamily="18" charset="0"/>
                        </a:rPr>
                        <a:t>ơ</a:t>
                      </a:r>
                      <a:r>
                        <a:rPr lang="en-US" sz="1200" dirty="0">
                          <a:solidFill>
                            <a:srgbClr val="FF0000"/>
                          </a:solidFill>
                          <a:latin typeface="Times New Roman" panose="02020603050405020304" pitchFamily="18" charset="0"/>
                          <a:cs typeface="Times New Roman" panose="02020603050405020304" pitchFamily="18" charset="0"/>
                        </a:rPr>
                        <a:t> (P771387 &amp; P771041).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Còn</a:t>
                      </a:r>
                      <a:r>
                        <a:rPr lang="en-US" sz="1200" dirty="0">
                          <a:solidFill>
                            <a:srgbClr val="FF0000"/>
                          </a:solidFill>
                          <a:latin typeface="Times New Roman" panose="02020603050405020304" pitchFamily="18" charset="0"/>
                          <a:cs typeface="Times New Roman" panose="02020603050405020304" pitchFamily="18" charset="0"/>
                        </a:rPr>
                        <a:t> 10 AOG.</a:t>
                      </a:r>
                    </a:p>
                  </a:txBody>
                  <a:tcPr marL="121920" marR="121920" marT="60960" marB="60960" anchor="ctr"/>
                </a:tc>
                <a:extLst>
                  <a:ext uri="{0D108BD9-81ED-4DB2-BD59-A6C34878D82A}">
                    <a16:rowId xmlns:a16="http://schemas.microsoft.com/office/drawing/2014/main" val="1074696803"/>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304800" y="3352800"/>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RTS</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306621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1672702"/>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1.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Hiện</a:t>
            </a:r>
            <a:r>
              <a:rPr lang="en-US" sz="1467">
                <a:solidFill>
                  <a:schemeClr val="tx1"/>
                </a:solidFill>
                <a:latin typeface="Times New Roman" panose="02020603050405020304" pitchFamily="18" charset="0"/>
                <a:cs typeface="Times New Roman" panose="02020603050405020304" pitchFamily="18" charset="0"/>
              </a:rPr>
              <a:t> còn 2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RTS trong </a:t>
            </a:r>
            <a:r>
              <a:rPr lang="en-US" sz="1467" dirty="0" err="1">
                <a:solidFill>
                  <a:schemeClr val="tx1"/>
                </a:solidFill>
                <a:latin typeface="Times New Roman" panose="02020603050405020304" pitchFamily="18" charset="0"/>
                <a:cs typeface="Times New Roman" panose="02020603050405020304" pitchFamily="18" charset="0"/>
              </a:rPr>
              <a:t>giai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đoạn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điểm</a:t>
            </a:r>
            <a:r>
              <a:rPr lang="en-US" sz="1467">
                <a:solidFill>
                  <a:schemeClr val="tx1"/>
                </a:solidFill>
                <a:latin typeface="Times New Roman" panose="02020603050405020304" pitchFamily="18" charset="0"/>
                <a:cs typeface="Times New Roman" panose="02020603050405020304" pitchFamily="18" charset="0"/>
              </a:rPr>
              <a:t> (A508, A623) </a:t>
            </a:r>
            <a:r>
              <a:rPr lang="en-US" sz="1467" dirty="0" err="1">
                <a:solidFill>
                  <a:schemeClr val="tx1"/>
                </a:solidFill>
                <a:latin typeface="Times New Roman" panose="02020603050405020304" pitchFamily="18" charset="0"/>
                <a:cs typeface="Times New Roman" panose="02020603050405020304" pitchFamily="18" charset="0"/>
              </a:rPr>
              <a:t>phụ</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thuộc</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vào</a:t>
            </a:r>
            <a:r>
              <a:rPr lang="en-US" sz="1467">
                <a:solidFill>
                  <a:schemeClr val="tx1"/>
                </a:solidFill>
                <a:latin typeface="Times New Roman" panose="02020603050405020304" pitchFamily="18" charset="0"/>
                <a:cs typeface="Times New Roman" panose="02020603050405020304" pitchFamily="18" charset="0"/>
              </a:rPr>
              <a:t> 2 động cơ thuê và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a:t>
            </a:r>
            <a:r>
              <a:rPr lang="en-US" sz="1467" dirty="0">
                <a:solidFill>
                  <a:schemeClr val="tx1"/>
                </a:solidFill>
                <a:latin typeface="Times New Roman" panose="02020603050405020304" pitchFamily="18" charset="0"/>
                <a:cs typeface="Times New Roman" panose="02020603050405020304" pitchFamily="18" charset="0"/>
              </a:rPr>
              <a:t> shop </a:t>
            </a:r>
            <a:r>
              <a:rPr lang="en-US" sz="1467" err="1">
                <a:solidFill>
                  <a:schemeClr val="tx1"/>
                </a:solidFill>
                <a:latin typeface="Times New Roman" panose="02020603050405020304" pitchFamily="18" charset="0"/>
                <a:cs typeface="Times New Roman" panose="02020603050405020304" pitchFamily="18" charset="0"/>
              </a:rPr>
              <a:t>về</a:t>
            </a:r>
            <a:r>
              <a:rPr lang="en-US" sz="1467">
                <a:solidFill>
                  <a:schemeClr val="tx1"/>
                </a:solidFill>
                <a:latin typeface="Times New Roman" panose="02020603050405020304" pitchFamily="18" charset="0"/>
                <a:cs typeface="Times New Roman" panose="02020603050405020304" pitchFamily="18" charset="0"/>
              </a:rPr>
              <a:t> (P771387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P771041),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ro</a:t>
            </a:r>
            <a:r>
              <a:rPr lang="en-US" sz="1467">
                <a:solidFill>
                  <a:schemeClr val="tx1"/>
                </a:solidFill>
                <a:latin typeface="Times New Roman" panose="02020603050405020304" pitchFamily="18" charset="0"/>
                <a:cs typeface="Times New Roman" panose="02020603050405020304" pitchFamily="18" charset="0"/>
              </a:rPr>
              <a:t> delay. </a:t>
            </a: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b="1" dirty="0">
                <a:solidFill>
                  <a:srgbClr val="FF0000"/>
                </a:solidFill>
                <a:latin typeface="Times New Roman" panose="02020603050405020304" pitchFamily="18" charset="0"/>
                <a:cs typeface="Times New Roman" panose="02020603050405020304" pitchFamily="18" charset="0"/>
              </a:rPr>
              <a:t>2.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a:t>
            </a: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t>
            </a:r>
            <a:r>
              <a:rPr lang="en-US" sz="1467">
                <a:solidFill>
                  <a:schemeClr val="tx1"/>
                </a:solidFill>
                <a:latin typeface="Times New Roman" panose="02020603050405020304" pitchFamily="18" charset="0"/>
                <a:cs typeface="Times New Roman" panose="02020603050405020304" pitchFamily="18" charset="0"/>
              </a:rPr>
              <a:t>(A625 S/N P772905 675 FH/337 FC); A621 S/N P771710 Ground Stall; Oil </a:t>
            </a:r>
            <a:r>
              <a:rPr lang="en-US" sz="1467" dirty="0">
                <a:solidFill>
                  <a:schemeClr val="tx1"/>
                </a:solidFill>
                <a:latin typeface="Times New Roman" panose="02020603050405020304" pitchFamily="18" charset="0"/>
                <a:cs typeface="Times New Roman" panose="02020603050405020304" pitchFamily="18" charset="0"/>
              </a:rPr>
              <a:t>leak #3DFS (all </a:t>
            </a:r>
            <a:r>
              <a:rPr lang="en-US" sz="1467">
                <a:solidFill>
                  <a:schemeClr val="tx1"/>
                </a:solidFill>
                <a:latin typeface="Times New Roman" panose="02020603050405020304" pitchFamily="18" charset="0"/>
                <a:cs typeface="Times New Roman" panose="02020603050405020304" pitchFamily="18" charset="0"/>
              </a:rPr>
              <a:t>fleet);</a:t>
            </a:r>
            <a:endParaRPr lang="en-US" sz="1467" dirty="0">
              <a:solidFill>
                <a:schemeClr val="tx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73504" y="708743"/>
          <a:ext cx="5650067" cy="3093408"/>
        </p:xfrm>
        <a:graphic>
          <a:graphicData uri="http://schemas.openxmlformats.org/drawingml/2006/table">
            <a:tbl>
              <a:tblPr firstRow="1" bandRow="1">
                <a:tableStyleId>{5C22544A-7EE6-4342-B048-85BDC9FD1C3A}</a:tableStyleId>
              </a:tblPr>
              <a:tblGrid>
                <a:gridCol w="777205">
                  <a:extLst>
                    <a:ext uri="{9D8B030D-6E8A-4147-A177-3AD203B41FA5}">
                      <a16:colId xmlns:a16="http://schemas.microsoft.com/office/drawing/2014/main" val="3123040184"/>
                    </a:ext>
                  </a:extLst>
                </a:gridCol>
                <a:gridCol w="872790">
                  <a:extLst>
                    <a:ext uri="{9D8B030D-6E8A-4147-A177-3AD203B41FA5}">
                      <a16:colId xmlns:a16="http://schemas.microsoft.com/office/drawing/2014/main" val="2204338324"/>
                    </a:ext>
                  </a:extLst>
                </a:gridCol>
                <a:gridCol w="804312">
                  <a:extLst>
                    <a:ext uri="{9D8B030D-6E8A-4147-A177-3AD203B41FA5}">
                      <a16:colId xmlns:a16="http://schemas.microsoft.com/office/drawing/2014/main" val="1128924154"/>
                    </a:ext>
                  </a:extLst>
                </a:gridCol>
                <a:gridCol w="914400">
                  <a:extLst>
                    <a:ext uri="{9D8B030D-6E8A-4147-A177-3AD203B41FA5}">
                      <a16:colId xmlns:a16="http://schemas.microsoft.com/office/drawing/2014/main" val="2627377997"/>
                    </a:ext>
                  </a:extLst>
                </a:gridCol>
                <a:gridCol w="2281360">
                  <a:extLst>
                    <a:ext uri="{9D8B030D-6E8A-4147-A177-3AD203B41FA5}">
                      <a16:colId xmlns:a16="http://schemas.microsoft.com/office/drawing/2014/main" val="1687818387"/>
                    </a:ext>
                  </a:extLst>
                </a:gridCol>
              </a:tblGrid>
              <a:tr h="304791">
                <a:tc>
                  <a:txBody>
                    <a:bodyPr/>
                    <a:lstStyle/>
                    <a:p>
                      <a:pPr algn="l" rtl="0" fontAlgn="ctr"/>
                      <a:r>
                        <a:rPr lang="vi-VN" sz="1100" b="1" u="none" strike="noStrike" dirty="0">
                          <a:solidFill>
                            <a:srgbClr val="FFFFFF"/>
                          </a:solidFill>
                          <a:effectLst/>
                        </a:rPr>
                        <a:t>Động cơ</a:t>
                      </a:r>
                      <a:endParaRPr lang="vi-VN" sz="1100" b="1" i="0" u="none" strike="noStrike" dirty="0">
                        <a:solidFill>
                          <a:srgbClr val="FFFFFF"/>
                        </a:solidFill>
                        <a:effectLst/>
                        <a:latin typeface="Times New Roman" panose="02020603050405020304" pitchFamily="18" charset="0"/>
                      </a:endParaRPr>
                    </a:p>
                  </a:txBody>
                  <a:tcPr marL="47527" marR="5281" marT="5281" marB="0" anchor="ctr"/>
                </a:tc>
                <a:tc>
                  <a:txBody>
                    <a:bodyPr/>
                    <a:lstStyle/>
                    <a:p>
                      <a:pPr algn="ctr" rtl="0" fontAlgn="ctr"/>
                      <a:r>
                        <a:rPr lang="en-GB" sz="1100" b="1" u="none" strike="noStrike">
                          <a:solidFill>
                            <a:srgbClr val="FFFFFF"/>
                          </a:solidFill>
                          <a:effectLst/>
                        </a:rPr>
                        <a:t>Induction</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Dự kiến về</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KH Sử dụng</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Remark</a:t>
                      </a:r>
                      <a:endParaRPr lang="en-GB" sz="1100" b="1" i="0" u="none" strike="noStrike">
                        <a:solidFill>
                          <a:srgbClr val="FFFFFF"/>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673130687"/>
                  </a:ext>
                </a:extLst>
              </a:tr>
              <a:tr h="439087">
                <a:tc>
                  <a:txBody>
                    <a:bodyPr/>
                    <a:lstStyle/>
                    <a:p>
                      <a:pPr algn="ctr" rtl="0" fontAlgn="ctr"/>
                      <a:r>
                        <a:rPr lang="en-GB" sz="1100" b="0" i="0" u="none" strike="noStrike">
                          <a:solidFill>
                            <a:schemeClr val="tx1">
                              <a:lumMod val="85000"/>
                              <a:lumOff val="15000"/>
                            </a:schemeClr>
                          </a:solidFill>
                          <a:effectLst/>
                          <a:latin typeface="Times New Roman" panose="02020603050405020304" pitchFamily="18" charset="0"/>
                        </a:rPr>
                        <a:t>2 lease Spare</a:t>
                      </a:r>
                      <a:endParaRPr lang="en-GB" sz="1100" b="0" i="0" u="none" strike="noStrike" dirty="0">
                        <a:solidFill>
                          <a:schemeClr val="tx1">
                            <a:lumMod val="85000"/>
                            <a:lumOff val="15000"/>
                          </a:schemeClr>
                        </a:solidFill>
                        <a:effectLst/>
                        <a:latin typeface="Times New Roman" panose="02020603050405020304" pitchFamily="18" charset="0"/>
                      </a:endParaRPr>
                    </a:p>
                    <a:p>
                      <a:pPr algn="ctr" rtl="0" fontAlgn="ctr"/>
                      <a:r>
                        <a:rPr lang="en-GB" sz="1100" b="0" i="0" u="none" strike="noStrike" dirty="0">
                          <a:solidFill>
                            <a:schemeClr val="tx1">
                              <a:lumMod val="85000"/>
                              <a:lumOff val="15000"/>
                            </a:schemeClr>
                          </a:solidFill>
                          <a:effectLst/>
                          <a:latin typeface="Times New Roman" panose="02020603050405020304" pitchFamily="18" charset="0"/>
                        </a:rPr>
                        <a:t>Willis</a:t>
                      </a:r>
                      <a:r>
                        <a:rPr lang="en-GB" sz="1100" b="0" i="0" u="none" strike="noStrike" baseline="0" dirty="0">
                          <a:solidFill>
                            <a:schemeClr val="tx1">
                              <a:lumMod val="85000"/>
                              <a:lumOff val="15000"/>
                            </a:schemeClr>
                          </a:solidFill>
                          <a:effectLst/>
                          <a:latin typeface="Times New Roman" panose="02020603050405020304" pitchFamily="18" charset="0"/>
                        </a:rPr>
                        <a:t> + Marathon</a:t>
                      </a:r>
                      <a:endParaRPr lang="en-GB" sz="1100" b="0" i="0" u="none" strike="noStrike" dirty="0">
                        <a:solidFill>
                          <a:schemeClr val="tx1">
                            <a:lumMod val="85000"/>
                            <a:lumOff val="15000"/>
                          </a:schemeClr>
                        </a:solidFill>
                        <a:effectLst/>
                        <a:latin typeface="Times New Roman" panose="02020603050405020304" pitchFamily="18" charset="0"/>
                      </a:endParaRPr>
                    </a:p>
                  </a:txBody>
                  <a:tcPr marL="5281" marR="5281" marT="5281" marB="0" anchor="ctr"/>
                </a:tc>
                <a:tc>
                  <a:txBody>
                    <a:bodyPr/>
                    <a:lstStyle/>
                    <a:p>
                      <a:pPr algn="ctr" rtl="0" fontAlgn="ctr"/>
                      <a:r>
                        <a:rPr lang="en-GB" sz="1100" b="0" i="0" u="none" strike="noStrike" dirty="0">
                          <a:solidFill>
                            <a:schemeClr val="tx1">
                              <a:lumMod val="85000"/>
                              <a:lumOff val="15000"/>
                            </a:schemeClr>
                          </a:solidFill>
                          <a:effectLst/>
                          <a:latin typeface="Times New Roman" panose="02020603050405020304" pitchFamily="18" charset="0"/>
                        </a:rPr>
                        <a:t>N/A</a:t>
                      </a:r>
                    </a:p>
                  </a:txBody>
                  <a:tcPr marL="5281" marR="5281" marT="5281" marB="0" anchor="ctr"/>
                </a:tc>
                <a:tc>
                  <a:txBody>
                    <a:bodyPr/>
                    <a:lstStyle/>
                    <a:p>
                      <a:pPr algn="ctr" rtl="0" fontAlgn="ctr"/>
                      <a:r>
                        <a:rPr lang="en-GB" sz="1100" b="0" u="none" strike="noStrike" dirty="0">
                          <a:solidFill>
                            <a:schemeClr val="tx1">
                              <a:lumMod val="85000"/>
                              <a:lumOff val="15000"/>
                            </a:schemeClr>
                          </a:solidFill>
                          <a:effectLst/>
                        </a:rPr>
                        <a:t>01/07/2025</a:t>
                      </a:r>
                    </a:p>
                  </a:txBody>
                  <a:tcPr marL="5281" marR="5281" marT="5281" marB="0" anchor="ctr"/>
                </a:tc>
                <a:tc>
                  <a:txBody>
                    <a:bodyPr/>
                    <a:lstStyle/>
                    <a:p>
                      <a:pPr algn="ctr" rtl="0" fontAlgn="ctr"/>
                      <a:r>
                        <a:rPr lang="en-GB" sz="1100" b="0" i="0" u="none" strike="noStrike" dirty="0">
                          <a:solidFill>
                            <a:schemeClr val="tx1">
                              <a:lumMod val="85000"/>
                              <a:lumOff val="15000"/>
                            </a:schemeClr>
                          </a:solidFill>
                          <a:effectLst/>
                          <a:latin typeface="Times New Roman" panose="02020603050405020304" pitchFamily="18" charset="0"/>
                        </a:rPr>
                        <a:t>RTS A508</a:t>
                      </a:r>
                    </a:p>
                  </a:txBody>
                  <a:tcPr marL="5281" marR="5281" marT="5281" marB="0" anchor="ctr"/>
                </a:tc>
                <a:tc>
                  <a:txBody>
                    <a:bodyPr/>
                    <a:lstStyle/>
                    <a:p>
                      <a:pPr algn="l" rtl="0" fontAlgn="ctr"/>
                      <a:r>
                        <a:rPr lang="en-GB" sz="1100" b="0" i="0" u="none" strike="noStrike" baseline="0">
                          <a:solidFill>
                            <a:schemeClr val="tx1">
                              <a:lumMod val="85000"/>
                              <a:lumOff val="15000"/>
                            </a:schemeClr>
                          </a:solidFill>
                          <a:effectLst/>
                          <a:latin typeface="Times New Roman" panose="02020603050405020304" pitchFamily="18" charset="0"/>
                        </a:rPr>
                        <a:t>2 </a:t>
                      </a:r>
                      <a:r>
                        <a:rPr lang="en-GB" sz="1100" b="0" i="0" u="none" strike="noStrike" baseline="0" dirty="0">
                          <a:solidFill>
                            <a:schemeClr val="tx1">
                              <a:lumMod val="85000"/>
                              <a:lumOff val="15000"/>
                            </a:schemeClr>
                          </a:solidFill>
                          <a:effectLst/>
                          <a:latin typeface="Times New Roman" panose="02020603050405020304" pitchFamily="18" charset="0"/>
                        </a:rPr>
                        <a:t>spare </a:t>
                      </a:r>
                      <a:r>
                        <a:rPr lang="en-GB" sz="1100" b="0" i="0" u="none" strike="noStrike" baseline="0" err="1">
                          <a:solidFill>
                            <a:schemeClr val="tx1">
                              <a:lumMod val="85000"/>
                              <a:lumOff val="15000"/>
                            </a:schemeClr>
                          </a:solidFill>
                          <a:effectLst/>
                          <a:latin typeface="Times New Roman" panose="02020603050405020304" pitchFamily="18" charset="0"/>
                        </a:rPr>
                        <a:t>về</a:t>
                      </a:r>
                      <a:r>
                        <a:rPr lang="en-GB" sz="1100" b="0" i="0" u="none" strike="noStrike" baseline="0">
                          <a:solidFill>
                            <a:schemeClr val="tx1">
                              <a:lumMod val="85000"/>
                              <a:lumOff val="15000"/>
                            </a:schemeClr>
                          </a:solidFill>
                          <a:effectLst/>
                          <a:latin typeface="Times New Roman" panose="02020603050405020304" pitchFamily="18" charset="0"/>
                        </a:rPr>
                        <a:t> đầu </a:t>
                      </a:r>
                      <a:r>
                        <a:rPr lang="en-GB" sz="1100" b="0" i="0" u="none" strike="noStrike" baseline="0" dirty="0">
                          <a:solidFill>
                            <a:schemeClr val="tx1">
                              <a:lumMod val="85000"/>
                              <a:lumOff val="15000"/>
                            </a:schemeClr>
                          </a:solidFill>
                          <a:effectLst/>
                          <a:latin typeface="Times New Roman" panose="02020603050405020304" pitchFamily="18" charset="0"/>
                        </a:rPr>
                        <a:t>T7 </a:t>
                      </a:r>
                      <a:r>
                        <a:rPr lang="en-GB" sz="1100" b="0" i="0" u="none" strike="noStrike" baseline="0" dirty="0" err="1">
                          <a:solidFill>
                            <a:schemeClr val="tx1">
                              <a:lumMod val="85000"/>
                              <a:lumOff val="15000"/>
                            </a:schemeClr>
                          </a:solidFill>
                          <a:effectLst/>
                          <a:latin typeface="Times New Roman" panose="02020603050405020304" pitchFamily="18" charset="0"/>
                        </a:rPr>
                        <a:t>sẽ</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lắp</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cho</a:t>
                      </a:r>
                      <a:r>
                        <a:rPr lang="en-GB" sz="1100" b="0" i="0" u="none" strike="noStrike" baseline="0" dirty="0">
                          <a:solidFill>
                            <a:schemeClr val="tx1">
                              <a:lumMod val="85000"/>
                              <a:lumOff val="15000"/>
                            </a:schemeClr>
                          </a:solidFill>
                          <a:effectLst/>
                          <a:latin typeface="Times New Roman" panose="02020603050405020304" pitchFamily="18" charset="0"/>
                        </a:rPr>
                        <a:t> A508, </a:t>
                      </a:r>
                      <a:r>
                        <a:rPr lang="en-GB" sz="1100" b="0" i="0" u="none" strike="noStrike" baseline="0" dirty="0" err="1">
                          <a:solidFill>
                            <a:schemeClr val="tx1">
                              <a:lumMod val="85000"/>
                              <a:lumOff val="15000"/>
                            </a:schemeClr>
                          </a:solidFill>
                          <a:effectLst/>
                          <a:latin typeface="Times New Roman" panose="02020603050405020304" pitchFamily="18" charset="0"/>
                        </a:rPr>
                        <a:t>hai</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động</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cơ</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đi</a:t>
                      </a:r>
                      <a:r>
                        <a:rPr lang="en-GB" sz="1100" b="0" i="0" u="none" strike="noStrike" baseline="0" dirty="0">
                          <a:solidFill>
                            <a:schemeClr val="tx1">
                              <a:lumMod val="85000"/>
                              <a:lumOff val="15000"/>
                            </a:schemeClr>
                          </a:solidFill>
                          <a:effectLst/>
                          <a:latin typeface="Times New Roman" panose="02020603050405020304" pitchFamily="18" charset="0"/>
                        </a:rPr>
                        <a:t> shop </a:t>
                      </a:r>
                      <a:r>
                        <a:rPr lang="en-GB" sz="1100" b="0" i="0" u="none" strike="noStrike" baseline="0" dirty="0" err="1">
                          <a:solidFill>
                            <a:schemeClr val="tx1">
                              <a:lumMod val="85000"/>
                              <a:lumOff val="15000"/>
                            </a:schemeClr>
                          </a:solidFill>
                          <a:effectLst/>
                          <a:latin typeface="Times New Roman" panose="02020603050405020304" pitchFamily="18" charset="0"/>
                        </a:rPr>
                        <a:t>về</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sẽ</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thay</a:t>
                      </a:r>
                      <a:r>
                        <a:rPr lang="en-GB" sz="1100" b="0" i="0" u="none" strike="noStrike" baseline="0" dirty="0">
                          <a:solidFill>
                            <a:schemeClr val="tx1">
                              <a:lumMod val="85000"/>
                              <a:lumOff val="15000"/>
                            </a:schemeClr>
                          </a:solidFill>
                          <a:effectLst/>
                          <a:latin typeface="Times New Roman" panose="02020603050405020304" pitchFamily="18" charset="0"/>
                        </a:rPr>
                        <a:t> </a:t>
                      </a:r>
                      <a:r>
                        <a:rPr lang="en-GB" sz="1100" b="0" i="0" u="none" strike="noStrike" baseline="0" dirty="0" err="1">
                          <a:solidFill>
                            <a:schemeClr val="tx1">
                              <a:lumMod val="85000"/>
                              <a:lumOff val="15000"/>
                            </a:schemeClr>
                          </a:solidFill>
                          <a:effectLst/>
                          <a:latin typeface="Times New Roman" panose="02020603050405020304" pitchFamily="18" charset="0"/>
                        </a:rPr>
                        <a:t>cho</a:t>
                      </a:r>
                      <a:r>
                        <a:rPr lang="en-GB" sz="1100" b="0" i="0" u="none" strike="noStrike" baseline="0" dirty="0">
                          <a:solidFill>
                            <a:schemeClr val="tx1">
                              <a:lumMod val="85000"/>
                              <a:lumOff val="15000"/>
                            </a:schemeClr>
                          </a:solidFill>
                          <a:effectLst/>
                          <a:latin typeface="Times New Roman" panose="02020603050405020304" pitchFamily="18" charset="0"/>
                        </a:rPr>
                        <a:t> A623 </a:t>
                      </a:r>
                      <a:r>
                        <a:rPr lang="en-GB" sz="1100" b="0" i="0" u="none" strike="noStrike" baseline="0" dirty="0" err="1">
                          <a:solidFill>
                            <a:schemeClr val="tx1">
                              <a:lumMod val="85000"/>
                              <a:lumOff val="15000"/>
                            </a:schemeClr>
                          </a:solidFill>
                          <a:effectLst/>
                          <a:latin typeface="Times New Roman" panose="02020603050405020304" pitchFamily="18" charset="0"/>
                        </a:rPr>
                        <a:t>để</a:t>
                      </a:r>
                      <a:r>
                        <a:rPr lang="en-GB" sz="1100" b="0" i="0" u="none" strike="noStrike" baseline="0" dirty="0">
                          <a:solidFill>
                            <a:schemeClr val="tx1">
                              <a:lumMod val="85000"/>
                              <a:lumOff val="15000"/>
                            </a:schemeClr>
                          </a:solidFill>
                          <a:effectLst/>
                          <a:latin typeface="Times New Roman" panose="02020603050405020304" pitchFamily="18" charset="0"/>
                        </a:rPr>
                        <a:t> RTS</a:t>
                      </a:r>
                      <a:endParaRPr lang="en-GB" sz="1100" b="0" i="0" u="none" strike="noStrike" dirty="0">
                        <a:solidFill>
                          <a:schemeClr val="tx1">
                            <a:lumMod val="85000"/>
                            <a:lumOff val="15000"/>
                          </a:schemeClr>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0001"/>
                  </a:ext>
                </a:extLst>
              </a:tr>
              <a:tr h="439087">
                <a:tc>
                  <a:txBody>
                    <a:bodyPr/>
                    <a:lstStyle/>
                    <a:p>
                      <a:pPr algn="ctr" rtl="0" fontAlgn="ctr"/>
                      <a:r>
                        <a:rPr lang="en-GB" sz="1100" b="0" u="none" strike="noStrike">
                          <a:solidFill>
                            <a:schemeClr val="tx1"/>
                          </a:solidFill>
                          <a:effectLst/>
                        </a:rPr>
                        <a:t>P771387</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05/11/2024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lumMod val="85000"/>
                              <a:lumOff val="15000"/>
                            </a:schemeClr>
                          </a:solidFill>
                          <a:effectLst/>
                        </a:rPr>
                        <a:t>10/07/2025</a:t>
                      </a:r>
                      <a:endParaRPr lang="en-GB" sz="1100" b="0" u="none" strike="noStrike" dirty="0">
                        <a:solidFill>
                          <a:schemeClr val="tx1">
                            <a:lumMod val="85000"/>
                            <a:lumOff val="15000"/>
                          </a:schemeClr>
                        </a:solidFill>
                        <a:effectLst/>
                      </a:endParaRPr>
                    </a:p>
                  </a:txBody>
                  <a:tcPr marL="5281" marR="5281" marT="5281" marB="0" anchor="ctr"/>
                </a:tc>
                <a:tc>
                  <a:txBody>
                    <a:bodyPr/>
                    <a:lstStyle/>
                    <a:p>
                      <a:pPr algn="ctr" rtl="0" fontAlgn="ctr"/>
                      <a:r>
                        <a:rPr lang="en-GB" sz="1100" b="0" u="none" strike="noStrike">
                          <a:solidFill>
                            <a:schemeClr val="tx1"/>
                          </a:solidFill>
                          <a:effectLst/>
                        </a:rPr>
                        <a:t>RTS A623</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35326823"/>
                  </a:ext>
                </a:extLst>
              </a:tr>
              <a:tr h="757179">
                <a:tc>
                  <a:txBody>
                    <a:bodyPr/>
                    <a:lstStyle/>
                    <a:p>
                      <a:pPr algn="ctr" rtl="0" fontAlgn="ctr"/>
                      <a:r>
                        <a:rPr lang="en-GB" sz="1100" b="0" u="none" strike="noStrike">
                          <a:solidFill>
                            <a:schemeClr val="tx1"/>
                          </a:solidFill>
                          <a:effectLst/>
                        </a:rPr>
                        <a:t>P771041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19/03/2025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lumMod val="85000"/>
                              <a:lumOff val="15000"/>
                            </a:schemeClr>
                          </a:solidFill>
                          <a:effectLst/>
                        </a:rPr>
                        <a:t>12/07/2025</a:t>
                      </a:r>
                    </a:p>
                  </a:txBody>
                  <a:tcPr marL="5281" marR="5281" marT="5281" marB="0" anchor="ctr"/>
                </a:tc>
                <a:tc>
                  <a:txBody>
                    <a:bodyPr/>
                    <a:lstStyle/>
                    <a:p>
                      <a:pPr algn="ctr" rtl="0" fontAlgn="ctr"/>
                      <a:r>
                        <a:rPr lang="en-GB" sz="1100" b="0" u="none" strike="noStrike" dirty="0">
                          <a:solidFill>
                            <a:schemeClr val="tx1"/>
                          </a:solidFill>
                          <a:effectLst/>
                        </a:rPr>
                        <a:t>RTS A623</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r>
                        <a:rPr lang="en-US" sz="1100" b="0" u="none" strike="noStrike">
                          <a:solidFill>
                            <a:schemeClr val="tx1"/>
                          </a:solidFill>
                          <a:effectLst/>
                        </a:rPr>
                        <a:t>Pacing </a:t>
                      </a:r>
                      <a:r>
                        <a:rPr lang="en-US" sz="1100" b="0" u="none" strike="noStrike" dirty="0">
                          <a:solidFill>
                            <a:schemeClr val="tx1"/>
                          </a:solidFill>
                          <a:effectLst/>
                        </a:rPr>
                        <a:t>items include #4 BRG, T1 hub, T1 blades, T2 stator vanes, and T2 retaining plate</a:t>
                      </a:r>
                      <a:endParaRPr lang="en-GB"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236595682"/>
                  </a:ext>
                </a:extLst>
              </a:tr>
              <a:tr h="570224">
                <a:tc>
                  <a:txBody>
                    <a:bodyPr/>
                    <a:lstStyle/>
                    <a:p>
                      <a:pPr algn="ctr" rtl="0" fontAlgn="ctr"/>
                      <a:r>
                        <a:rPr lang="en-GB" sz="1100" b="0" u="none" strike="noStrike">
                          <a:solidFill>
                            <a:schemeClr val="tx1"/>
                          </a:solidFill>
                          <a:effectLst/>
                        </a:rPr>
                        <a:t>P771423</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15/04/2025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30/07/2025</a:t>
                      </a:r>
                    </a:p>
                  </a:txBody>
                  <a:tcPr marL="5281" marR="5281" marT="5281" marB="0" anchor="ctr"/>
                </a:tc>
                <a:tc>
                  <a:txBody>
                    <a:bodyPr/>
                    <a:lstStyle/>
                    <a:p>
                      <a:pPr algn="ctr" rtl="0" fontAlgn="ctr"/>
                      <a:r>
                        <a:rPr lang="en-US" sz="1100" b="0" i="0" u="none" strike="noStrike">
                          <a:solidFill>
                            <a:schemeClr val="tx1"/>
                          </a:solidFill>
                          <a:effectLst/>
                          <a:latin typeface="Times New Roman" panose="02020603050405020304" pitchFamily="18" charset="0"/>
                        </a:rPr>
                        <a:t>ENG CHANGE</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100" b="0" u="none" strike="noStrike" baseline="0" dirty="0" err="1">
                          <a:solidFill>
                            <a:schemeClr val="tx1">
                              <a:lumMod val="85000"/>
                              <a:lumOff val="15000"/>
                            </a:schemeClr>
                          </a:solidFill>
                          <a:effectLst/>
                        </a:rPr>
                        <a:t>Về</a:t>
                      </a:r>
                      <a:r>
                        <a:rPr lang="en-US" sz="1100" b="0" u="none" strike="noStrike" baseline="0" dirty="0">
                          <a:solidFill>
                            <a:schemeClr val="tx1">
                              <a:lumMod val="85000"/>
                              <a:lumOff val="15000"/>
                            </a:schemeClr>
                          </a:solidFill>
                          <a:effectLst/>
                        </a:rPr>
                        <a:t> </a:t>
                      </a:r>
                      <a:r>
                        <a:rPr lang="en-US" sz="1100" b="0" u="none" strike="noStrike" baseline="0" dirty="0" err="1">
                          <a:solidFill>
                            <a:schemeClr val="tx1">
                              <a:lumMod val="85000"/>
                              <a:lumOff val="15000"/>
                            </a:schemeClr>
                          </a:solidFill>
                          <a:effectLst/>
                        </a:rPr>
                        <a:t>làm</a:t>
                      </a:r>
                      <a:r>
                        <a:rPr lang="en-US" sz="1100" b="0" u="none" strike="noStrike" baseline="0" dirty="0">
                          <a:solidFill>
                            <a:schemeClr val="tx1">
                              <a:lumMod val="85000"/>
                              <a:lumOff val="15000"/>
                            </a:schemeClr>
                          </a:solidFill>
                          <a:effectLst/>
                        </a:rPr>
                        <a:t> </a:t>
                      </a:r>
                      <a:r>
                        <a:rPr lang="en-US" sz="1100" b="0" u="none" strike="noStrike" baseline="0" dirty="0" err="1">
                          <a:solidFill>
                            <a:schemeClr val="tx1">
                              <a:lumMod val="85000"/>
                              <a:lumOff val="15000"/>
                            </a:schemeClr>
                          </a:solidFill>
                          <a:effectLst/>
                        </a:rPr>
                        <a:t>dự</a:t>
                      </a:r>
                      <a:r>
                        <a:rPr lang="en-US" sz="1100" b="0" u="none" strike="noStrike" baseline="0" dirty="0">
                          <a:solidFill>
                            <a:schemeClr val="tx1">
                              <a:lumMod val="85000"/>
                              <a:lumOff val="15000"/>
                            </a:schemeClr>
                          </a:solidFill>
                          <a:effectLst/>
                        </a:rPr>
                        <a:t> </a:t>
                      </a:r>
                      <a:r>
                        <a:rPr lang="en-US" sz="1100" b="0" u="none" strike="noStrike" baseline="0" dirty="0" err="1">
                          <a:solidFill>
                            <a:schemeClr val="tx1">
                              <a:lumMod val="85000"/>
                              <a:lumOff val="15000"/>
                            </a:schemeClr>
                          </a:solidFill>
                          <a:effectLst/>
                        </a:rPr>
                        <a:t>phòng</a:t>
                      </a:r>
                      <a:r>
                        <a:rPr lang="en-US" sz="1100" b="0" u="none" strike="noStrike" baseline="0" dirty="0">
                          <a:solidFill>
                            <a:schemeClr val="tx1">
                              <a:lumMod val="85000"/>
                              <a:lumOff val="15000"/>
                            </a:schemeClr>
                          </a:solidFill>
                          <a:effectLst/>
                        </a:rPr>
                        <a:t> </a:t>
                      </a:r>
                      <a:r>
                        <a:rPr lang="en-US" sz="1100" b="0" u="none" strike="noStrike" dirty="0">
                          <a:solidFill>
                            <a:schemeClr val="tx1">
                              <a:lumMod val="85000"/>
                              <a:lumOff val="15000"/>
                            </a:schemeClr>
                          </a:solidFill>
                          <a:effectLst/>
                        </a:rPr>
                        <a:t>do </a:t>
                      </a:r>
                      <a:r>
                        <a:rPr lang="en-US" sz="1100" b="0" u="none" strike="noStrike" dirty="0" err="1">
                          <a:solidFill>
                            <a:schemeClr val="tx1">
                              <a:lumMod val="85000"/>
                              <a:lumOff val="15000"/>
                            </a:schemeClr>
                          </a:solidFill>
                          <a:effectLst/>
                        </a:rPr>
                        <a:t>thiếu</a:t>
                      </a:r>
                      <a:r>
                        <a:rPr lang="en-US" sz="1100" b="0" u="none" strike="noStrike" dirty="0">
                          <a:solidFill>
                            <a:schemeClr val="tx1">
                              <a:lumMod val="85000"/>
                              <a:lumOff val="15000"/>
                            </a:schemeClr>
                          </a:solidFill>
                          <a:effectLst/>
                        </a:rPr>
                        <a:t> 1 </a:t>
                      </a:r>
                      <a:r>
                        <a:rPr lang="en-US" sz="1100" b="0" u="none" strike="noStrike" dirty="0" err="1">
                          <a:solidFill>
                            <a:schemeClr val="tx1">
                              <a:lumMod val="85000"/>
                              <a:lumOff val="15000"/>
                            </a:schemeClr>
                          </a:solidFill>
                          <a:effectLst/>
                        </a:rPr>
                        <a:t>động</a:t>
                      </a:r>
                      <a:r>
                        <a:rPr lang="en-US" sz="1100" b="0" u="none" strike="noStrike" dirty="0">
                          <a:solidFill>
                            <a:schemeClr val="tx1">
                              <a:lumMod val="85000"/>
                              <a:lumOff val="15000"/>
                            </a:schemeClr>
                          </a:solidFill>
                          <a:effectLst/>
                        </a:rPr>
                        <a:t> c</a:t>
                      </a:r>
                      <a:r>
                        <a:rPr lang="vi-VN" sz="1100" b="0" u="none" strike="noStrike" dirty="0">
                          <a:solidFill>
                            <a:schemeClr val="tx1">
                              <a:lumMod val="85000"/>
                              <a:lumOff val="15000"/>
                            </a:schemeClr>
                          </a:solidFill>
                          <a:effectLst/>
                        </a:rPr>
                        <a:t>ơ</a:t>
                      </a:r>
                      <a:r>
                        <a:rPr lang="en-US" sz="1100" b="0" u="none" strike="noStrike" dirty="0">
                          <a:solidFill>
                            <a:schemeClr val="tx1">
                              <a:lumMod val="85000"/>
                              <a:lumOff val="15000"/>
                            </a:schemeClr>
                          </a:solidFill>
                          <a:effectLst/>
                        </a:rPr>
                        <a:t> </a:t>
                      </a:r>
                      <a:r>
                        <a:rPr lang="en-US" sz="1100" b="0" u="none" strike="noStrike" dirty="0" err="1">
                          <a:solidFill>
                            <a:schemeClr val="tx1">
                              <a:lumMod val="85000"/>
                              <a:lumOff val="15000"/>
                            </a:schemeClr>
                          </a:solidFill>
                          <a:effectLst/>
                        </a:rPr>
                        <a:t>nữa</a:t>
                      </a:r>
                      <a:r>
                        <a:rPr lang="en-US" sz="1100" b="0" u="none" strike="noStrike" baseline="0" dirty="0">
                          <a:solidFill>
                            <a:schemeClr val="tx1">
                              <a:lumMod val="85000"/>
                              <a:lumOff val="15000"/>
                            </a:schemeClr>
                          </a:solidFill>
                          <a:effectLst/>
                        </a:rPr>
                        <a:t> </a:t>
                      </a:r>
                      <a:r>
                        <a:rPr lang="en-US" sz="1100" b="0" u="none" strike="noStrike" baseline="0" dirty="0" err="1">
                          <a:solidFill>
                            <a:schemeClr val="tx1">
                              <a:lumMod val="85000"/>
                              <a:lumOff val="15000"/>
                            </a:schemeClr>
                          </a:solidFill>
                          <a:effectLst/>
                        </a:rPr>
                        <a:t>để</a:t>
                      </a:r>
                      <a:r>
                        <a:rPr lang="en-US" sz="1100" b="0" u="none" strike="noStrike" baseline="0" dirty="0">
                          <a:solidFill>
                            <a:schemeClr val="tx1">
                              <a:lumMod val="85000"/>
                              <a:lumOff val="15000"/>
                            </a:schemeClr>
                          </a:solidFill>
                          <a:effectLst/>
                        </a:rPr>
                        <a:t> </a:t>
                      </a:r>
                      <a:r>
                        <a:rPr lang="en-US" sz="1100" b="0" u="none" strike="noStrike" baseline="0" err="1">
                          <a:solidFill>
                            <a:schemeClr val="tx1">
                              <a:lumMod val="85000"/>
                              <a:lumOff val="15000"/>
                            </a:schemeClr>
                          </a:solidFill>
                          <a:effectLst/>
                        </a:rPr>
                        <a:t>làm</a:t>
                      </a:r>
                      <a:r>
                        <a:rPr lang="en-US" sz="1100" b="0" u="none" strike="noStrike" baseline="0">
                          <a:solidFill>
                            <a:schemeClr val="tx1">
                              <a:lumMod val="85000"/>
                              <a:lumOff val="15000"/>
                            </a:schemeClr>
                          </a:solidFill>
                          <a:effectLst/>
                        </a:rPr>
                        <a:t> RTS</a:t>
                      </a:r>
                      <a:endParaRPr lang="en-GB" sz="1100" b="0" i="0" u="none" strike="noStrike" dirty="0">
                        <a:solidFill>
                          <a:schemeClr val="tx1">
                            <a:lumMod val="85000"/>
                            <a:lumOff val="15000"/>
                          </a:schemeClr>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871960572"/>
                  </a:ext>
                </a:extLst>
              </a:tr>
              <a:tr h="513926">
                <a:tc>
                  <a:txBody>
                    <a:bodyPr/>
                    <a:lstStyle/>
                    <a:p>
                      <a:pPr algn="ctr" rtl="0" fontAlgn="ctr"/>
                      <a:r>
                        <a:rPr lang="en-GB" sz="1100" b="0" u="none" strike="noStrike">
                          <a:solidFill>
                            <a:srgbClr val="000000"/>
                          </a:solidFill>
                          <a:effectLst/>
                        </a:rPr>
                        <a:t>P771373</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000000"/>
                          </a:solidFill>
                          <a:effectLst/>
                        </a:rPr>
                        <a:t>20/02/2025</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16/09/2025</a:t>
                      </a:r>
                    </a:p>
                  </a:txBody>
                  <a:tcPr marL="5281" marR="5281" marT="5281" marB="0" anchor="ctr"/>
                </a:tc>
                <a:tc>
                  <a:txBody>
                    <a:bodyPr/>
                    <a:lstStyle/>
                    <a:p>
                      <a:pPr algn="ctr" rtl="0" fontAlgn="ctr"/>
                      <a:r>
                        <a:rPr lang="en-GB" sz="1100" b="0" u="none" strike="noStrike" dirty="0">
                          <a:solidFill>
                            <a:srgbClr val="000000"/>
                          </a:solidFill>
                          <a:effectLst/>
                        </a:rPr>
                        <a:t>RTS</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l" fontAlgn="ctr"/>
                      <a:r>
                        <a:rPr lang="en-GB" sz="1100" b="0" u="none" strike="noStrike" dirty="0" err="1">
                          <a:solidFill>
                            <a:srgbClr val="000000"/>
                          </a:solidFill>
                          <a:effectLst/>
                        </a:rPr>
                        <a:t>Sau</a:t>
                      </a:r>
                      <a:r>
                        <a:rPr lang="en-GB" sz="1100" b="0" u="none" strike="noStrike" dirty="0">
                          <a:solidFill>
                            <a:srgbClr val="000000"/>
                          </a:solidFill>
                          <a:effectLst/>
                        </a:rPr>
                        <a:t> </a:t>
                      </a:r>
                      <a:r>
                        <a:rPr lang="en-GB" sz="1100" b="0" u="none" strike="noStrike" dirty="0" err="1">
                          <a:solidFill>
                            <a:srgbClr val="000000"/>
                          </a:solidFill>
                          <a:effectLst/>
                        </a:rPr>
                        <a:t>cao</a:t>
                      </a:r>
                      <a:r>
                        <a:rPr lang="en-GB" sz="1100" b="0" u="none" strike="noStrike" dirty="0">
                          <a:solidFill>
                            <a:srgbClr val="000000"/>
                          </a:solidFill>
                          <a:effectLst/>
                        </a:rPr>
                        <a:t> </a:t>
                      </a:r>
                      <a:r>
                        <a:rPr lang="en-GB" sz="1100" b="0" u="none" strike="noStrike" dirty="0" err="1">
                          <a:solidFill>
                            <a:srgbClr val="000000"/>
                          </a:solidFill>
                          <a:effectLst/>
                        </a:rPr>
                        <a:t>điểm</a:t>
                      </a:r>
                      <a:r>
                        <a:rPr lang="en-GB" sz="1100" b="0" u="none" strike="noStrike" dirty="0">
                          <a:solidFill>
                            <a:srgbClr val="000000"/>
                          </a:solidFill>
                          <a:effectLst/>
                        </a:rPr>
                        <a:t> </a:t>
                      </a:r>
                      <a:endParaRPr lang="en-GB" sz="1100" b="0" i="0" u="none" strike="noStrike" dirty="0">
                        <a:solidFill>
                          <a:srgbClr val="000000"/>
                        </a:solidFill>
                        <a:effectLst/>
                        <a:latin typeface="Arial" panose="020B0604020202020204" pitchFamily="34" charset="0"/>
                      </a:endParaRPr>
                    </a:p>
                  </a:txBody>
                  <a:tcPr marL="5281" marR="5281" marT="5281" marB="0" anchor="ctr"/>
                </a:tc>
                <a:extLst>
                  <a:ext uri="{0D108BD9-81ED-4DB2-BD59-A6C34878D82A}">
                    <a16:rowId xmlns:a16="http://schemas.microsoft.com/office/drawing/2014/main" val="3042752024"/>
                  </a:ext>
                </a:extLst>
              </a:tr>
            </a:tbl>
          </a:graphicData>
        </a:graphic>
      </p:graphicFrame>
      <p:sp>
        <p:nvSpPr>
          <p:cNvPr id="14" name="TextBox 13">
            <a:extLst>
              <a:ext uri="{FF2B5EF4-FFF2-40B4-BE49-F238E27FC236}">
                <a16:creationId xmlns:a16="http://schemas.microsoft.com/office/drawing/2014/main" id="{3665DF89-9C1E-039A-24B3-2AC39417A7A0}"/>
              </a:ext>
            </a:extLst>
          </p:cNvPr>
          <p:cNvSpPr txBox="1"/>
          <p:nvPr/>
        </p:nvSpPr>
        <p:spPr>
          <a:xfrm>
            <a:off x="-438596" y="4114800"/>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RTS</a:t>
            </a:r>
            <a:endParaRPr lang="en-GB"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007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40</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40</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5"/>
          <a:ext cx="5855025" cy="373041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4235644"/>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a:solidFill>
                  <a:srgbClr val="ED0000"/>
                </a:solidFill>
                <a:latin typeface="Times New Roman" panose="02020603050405020304" pitchFamily="18" charset="0"/>
                <a:cs typeface="Times New Roman" panose="02020603050405020304" pitchFamily="18" charset="0"/>
              </a:rPr>
              <a:t>958398. </a:t>
            </a:r>
            <a:r>
              <a:rPr lang="en-US" sz="1467" dirty="0" err="1">
                <a:solidFill>
                  <a:srgbClr val="ED0000"/>
                </a:solidFill>
                <a:latin typeface="Times New Roman" panose="02020603050405020304" pitchFamily="18" charset="0"/>
                <a:cs typeface="Times New Roman" panose="02020603050405020304" pitchFamily="18" charset="0"/>
              </a:rPr>
              <a:t>Cuối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tháng</a:t>
            </a:r>
            <a:r>
              <a:rPr lang="en-US" sz="1467" dirty="0">
                <a:solidFill>
                  <a:srgbClr val="ED0000"/>
                </a:solidFill>
                <a:latin typeface="Times New Roman" panose="02020603050405020304" pitchFamily="18" charset="0"/>
                <a:cs typeface="Times New Roman" panose="02020603050405020304" pitchFamily="18" charset="0"/>
              </a:rPr>
              <a:t> 6 – 956569 (KLM </a:t>
            </a:r>
            <a:r>
              <a:rPr lang="en-US" sz="1467" dirty="0" err="1">
                <a:solidFill>
                  <a:srgbClr val="ED0000"/>
                </a:solidFill>
                <a:latin typeface="Times New Roman" panose="02020603050405020304" pitchFamily="18" charset="0"/>
                <a:cs typeface="Times New Roman" panose="02020603050405020304" pitchFamily="18" charset="0"/>
              </a:rPr>
              <a:t>thông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báo</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đã</a:t>
            </a:r>
            <a:r>
              <a:rPr lang="en-US" sz="1467" dirty="0">
                <a:solidFill>
                  <a:srgbClr val="ED0000"/>
                </a:solidFill>
                <a:latin typeface="Times New Roman" panose="02020603050405020304" pitchFamily="18" charset="0"/>
                <a:cs typeface="Times New Roman" panose="02020603050405020304" pitchFamily="18" charset="0"/>
              </a:rPr>
              <a:t> test </a:t>
            </a:r>
            <a:r>
              <a:rPr lang="en-US" sz="1467" dirty="0" err="1">
                <a:solidFill>
                  <a:srgbClr val="ED0000"/>
                </a:solidFill>
                <a:latin typeface="Times New Roman" panose="02020603050405020304" pitchFamily="18" charset="0"/>
                <a:cs typeface="Times New Roman" panose="02020603050405020304" pitchFamily="18" charset="0"/>
              </a:rPr>
              <a:t>xong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trong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tuần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đang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chờ</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kiểm</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tra</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certify – delay 2 </a:t>
            </a:r>
            <a:r>
              <a:rPr lang="en-US" sz="1467" dirty="0" err="1">
                <a:solidFill>
                  <a:srgbClr val="ED0000"/>
                </a:solidFill>
                <a:latin typeface="Times New Roman" panose="02020603050405020304" pitchFamily="18" charset="0"/>
                <a:cs typeface="Times New Roman" panose="02020603050405020304" pitchFamily="18" charset="0"/>
              </a:rPr>
              <a:t>tuần</a:t>
            </a:r>
            <a:r>
              <a:rPr lang="en-US" sz="1467" dirty="0">
                <a:solidFill>
                  <a:srgbClr val="ED0000"/>
                </a:solidFill>
                <a:latin typeface="Times New Roman" panose="02020603050405020304" pitchFamily="18" charset="0"/>
                <a:cs typeface="Times New Roman" panose="02020603050405020304" pitchFamily="18" charset="0"/>
              </a:rPr>
              <a:t> do AFI–KLM </a:t>
            </a:r>
            <a:r>
              <a:rPr lang="en-US" sz="1467" dirty="0" err="1">
                <a:solidFill>
                  <a:srgbClr val="ED0000"/>
                </a:solidFill>
                <a:latin typeface="Times New Roman" panose="02020603050405020304" pitchFamily="18" charset="0"/>
                <a:cs typeface="Times New Roman" panose="02020603050405020304" pitchFamily="18" charset="0"/>
              </a:rPr>
              <a:t>có</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vấn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đề</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về</a:t>
            </a:r>
            <a:r>
              <a:rPr lang="en-US" sz="1467" dirty="0">
                <a:solidFill>
                  <a:srgbClr val="ED0000"/>
                </a:solidFill>
                <a:latin typeface="Times New Roman" panose="02020603050405020304" pitchFamily="18" charset="0"/>
                <a:cs typeface="Times New Roman" panose="02020603050405020304" pitchFamily="18" charset="0"/>
              </a:rPr>
              <a:t> test cell).</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dirty="0">
                <a:solidFill>
                  <a:srgbClr val="ED0000"/>
                </a:solidFill>
                <a:cs typeface="Times New Roman" panose="02020603050405020304" pitchFamily="18" charset="0"/>
              </a:rPr>
              <a:t>Remove from service 10 cyc: 958435 - KQ soi ngày 13/06 được phép khai thác 10 cycle (trước đó soi tần suất 50 cycle) – KH 18/06 theo lịch induct 30/07 (ESN ON 958398).</a:t>
            </a:r>
            <a:endParaRPr lang="en-US" sz="1467" dirty="0">
              <a:solidFill>
                <a:srgbClr val="ED0000"/>
              </a:solidFill>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a:t>
            </a:r>
            <a:r>
              <a:rPr lang="en-US" sz="1467" dirty="0" err="1">
                <a:solidFill>
                  <a:schemeClr val="tx1"/>
                </a:solidFill>
                <a:latin typeface="Times New Roman" panose="02020603050405020304" pitchFamily="18" charset="0"/>
                <a:cs typeface="Times New Roman" panose="02020603050405020304" pitchFamily="18" charset="0"/>
              </a:rPr>
              <a:t>reinspect</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05/06 </a:t>
            </a:r>
            <a:r>
              <a:rPr lang="en-US" sz="1467" dirty="0" err="1">
                <a:solidFill>
                  <a:schemeClr val="tx1"/>
                </a:solidFill>
                <a:latin typeface="Times New Roman" panose="02020603050405020304" pitchFamily="18" charset="0"/>
                <a:cs typeface="Times New Roman" panose="02020603050405020304" pitchFamily="18" charset="0"/>
              </a:rPr>
              <a:t>vẫn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nguyên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dirty="0">
                <a:solidFill>
                  <a:schemeClr val="tx1"/>
                </a:solidFill>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endParaRPr lang="en-US" sz="1467" b="1" dirty="0">
              <a:solidFill>
                <a:schemeClr val="tx1"/>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Rủi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ro</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và</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việc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 2H 2025:</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A863 (958170 – 50 cycle); A862 (956600 - 100 cycle ), A873 (958438 – 150 cycle) </a:t>
            </a:r>
            <a:r>
              <a:rPr lang="en-US" sz="1467" dirty="0" err="1">
                <a:solidFill>
                  <a:schemeClr val="tx1"/>
                </a:solidFill>
                <a:latin typeface="Times New Roman" panose="02020603050405020304" pitchFamily="18" charset="0"/>
                <a:cs typeface="Times New Roman" panose="02020603050405020304" pitchFamily="18" charset="0"/>
              </a:rPr>
              <a:t>đều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Các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spare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lượt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tháng</a:t>
            </a:r>
            <a:r>
              <a:rPr lang="en-US" sz="1467" dirty="0">
                <a:solidFill>
                  <a:schemeClr val="tx1"/>
                </a:solidFill>
                <a:latin typeface="Times New Roman" panose="02020603050405020304" pitchFamily="18" charset="0"/>
                <a:cs typeface="Times New Roman" panose="02020603050405020304" pitchFamily="18" charset="0"/>
              </a:rPr>
              <a:t> 6 - 8.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958266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trả</a:t>
            </a:r>
            <a:r>
              <a:rPr lang="en-US" sz="1467" dirty="0">
                <a:solidFill>
                  <a:schemeClr val="tx1"/>
                </a:solidFill>
                <a:latin typeface="Times New Roman" panose="02020603050405020304" pitchFamily="18" charset="0"/>
                <a:cs typeface="Times New Roman" panose="02020603050405020304" pitchFamily="18" charset="0"/>
              </a:rPr>
              <a:t> T9/2025 –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theo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dõi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 spare.</a:t>
            </a:r>
            <a:endParaRPr lang="en-US" sz="1467"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159828" cy="3730417"/>
        </p:xfrm>
        <a:graphic>
          <a:graphicData uri="http://schemas.openxmlformats.org/drawingml/2006/table">
            <a:tbl>
              <a:tblPr firstRow="1" bandRow="1">
                <a:tableStyleId>{7DF18680-E054-41AD-8BC1-D1AEF772440D}</a:tableStyleId>
              </a:tblPr>
              <a:tblGrid>
                <a:gridCol w="691693">
                  <a:extLst>
                    <a:ext uri="{9D8B030D-6E8A-4147-A177-3AD203B41FA5}">
                      <a16:colId xmlns:a16="http://schemas.microsoft.com/office/drawing/2014/main" val="1598605427"/>
                    </a:ext>
                  </a:extLst>
                </a:gridCol>
                <a:gridCol w="680554">
                  <a:extLst>
                    <a:ext uri="{9D8B030D-6E8A-4147-A177-3AD203B41FA5}">
                      <a16:colId xmlns:a16="http://schemas.microsoft.com/office/drawing/2014/main" val="3845954792"/>
                    </a:ext>
                  </a:extLst>
                </a:gridCol>
                <a:gridCol w="939777">
                  <a:extLst>
                    <a:ext uri="{9D8B030D-6E8A-4147-A177-3AD203B41FA5}">
                      <a16:colId xmlns:a16="http://schemas.microsoft.com/office/drawing/2014/main" val="3803391337"/>
                    </a:ext>
                  </a:extLst>
                </a:gridCol>
                <a:gridCol w="1665007">
                  <a:extLst>
                    <a:ext uri="{9D8B030D-6E8A-4147-A177-3AD203B41FA5}">
                      <a16:colId xmlns:a16="http://schemas.microsoft.com/office/drawing/2014/main" val="2148822928"/>
                    </a:ext>
                  </a:extLst>
                </a:gridCol>
                <a:gridCol w="978496">
                  <a:extLst>
                    <a:ext uri="{9D8B030D-6E8A-4147-A177-3AD203B41FA5}">
                      <a16:colId xmlns:a16="http://schemas.microsoft.com/office/drawing/2014/main" val="1106888684"/>
                    </a:ext>
                  </a:extLst>
                </a:gridCol>
                <a:gridCol w="1204301">
                  <a:extLst>
                    <a:ext uri="{9D8B030D-6E8A-4147-A177-3AD203B41FA5}">
                      <a16:colId xmlns:a16="http://schemas.microsoft.com/office/drawing/2014/main" val="558551088"/>
                    </a:ext>
                  </a:extLst>
                </a:gridCol>
              </a:tblGrid>
              <a:tr h="455167">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388824">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rgbClr val="FF0000"/>
                          </a:solidFill>
                          <a:effectLst/>
                          <a:latin typeface="+mn-lt"/>
                        </a:rPr>
                        <a:t>TBD</a:t>
                      </a:r>
                      <a:endParaRPr lang="en-US" sz="1200" u="none" strike="noStrike" dirty="0">
                        <a:solidFill>
                          <a:srgbClr val="FF0000"/>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r>
                        <a:rPr lang="en-US" sz="1200" b="0" i="0" u="none" strike="noStrike" dirty="0" err="1">
                          <a:solidFill>
                            <a:srgbClr val="FF0000"/>
                          </a:solidFill>
                          <a:effectLst/>
                          <a:latin typeface="+mn-lt"/>
                          <a:cs typeface="Times New Roman" panose="02020603050405020304" pitchFamily="18" charset="0"/>
                        </a:rPr>
                        <a:t>Đảo</a:t>
                      </a:r>
                      <a:r>
                        <a:rPr lang="en-US" sz="1200" b="0" i="0" u="none" strike="noStrike" dirty="0">
                          <a:solidFill>
                            <a:srgbClr val="FF0000"/>
                          </a:solidFill>
                          <a:effectLst/>
                          <a:latin typeface="+mn-lt"/>
                          <a:cs typeface="Times New Roman" panose="02020603050405020304" pitchFamily="18" charset="0"/>
                        </a:rPr>
                        <a:t> </a:t>
                      </a:r>
                      <a:r>
                        <a:rPr lang="en-US" sz="1200" b="0" i="0" u="none" strike="noStrike" dirty="0" err="1">
                          <a:solidFill>
                            <a:srgbClr val="FF0000"/>
                          </a:solidFill>
                          <a:effectLst/>
                          <a:latin typeface="+mn-lt"/>
                          <a:cs typeface="Times New Roman" panose="02020603050405020304" pitchFamily="18" charset="0"/>
                        </a:rPr>
                        <a:t>lịch</a:t>
                      </a:r>
                      <a:r>
                        <a:rPr lang="en-US" sz="1200" b="0" i="0" u="none" strike="noStrike" dirty="0">
                          <a:solidFill>
                            <a:srgbClr val="FF0000"/>
                          </a:solidFill>
                          <a:effectLst/>
                          <a:latin typeface="+mn-lt"/>
                          <a:cs typeface="Times New Roman" panose="02020603050405020304" pitchFamily="18" charset="0"/>
                        </a:rPr>
                        <a:t> induct </a:t>
                      </a:r>
                      <a:r>
                        <a:rPr lang="en-US" sz="1200" b="0" i="0" u="none" strike="noStrike" dirty="0" err="1">
                          <a:solidFill>
                            <a:srgbClr val="FF0000"/>
                          </a:solidFill>
                          <a:effectLst/>
                          <a:latin typeface="+mn-lt"/>
                          <a:cs typeface="Times New Roman" panose="02020603050405020304" pitchFamily="18" charset="0"/>
                        </a:rPr>
                        <a:t>với</a:t>
                      </a:r>
                      <a:r>
                        <a:rPr lang="en-US" sz="1200" b="0" i="0" u="none" strike="noStrike" dirty="0">
                          <a:solidFill>
                            <a:srgbClr val="FF0000"/>
                          </a:solidFill>
                          <a:effectLst/>
                          <a:latin typeface="+mn-lt"/>
                          <a:cs typeface="Times New Roman" panose="02020603050405020304" pitchFamily="18" charset="0"/>
                        </a:rPr>
                        <a:t> 956913</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31304">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23233">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24/06/2025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21422">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err="1">
                          <a:solidFill>
                            <a:srgbClr val="BA0000"/>
                          </a:solidFill>
                          <a:effectLst/>
                          <a:latin typeface="+mn-lt"/>
                          <a:cs typeface="Times New Roman" panose="02020603050405020304" pitchFamily="18" charset="0"/>
                        </a:rPr>
                        <a:t>Cuối</a:t>
                      </a:r>
                      <a:r>
                        <a:rPr lang="en-US" sz="1200" b="1" u="none" strike="noStrike" dirty="0">
                          <a:solidFill>
                            <a:srgbClr val="BA0000"/>
                          </a:solidFill>
                          <a:effectLst/>
                          <a:latin typeface="+mn-lt"/>
                          <a:cs typeface="Times New Roman" panose="02020603050405020304" pitchFamily="18" charset="0"/>
                        </a:rPr>
                        <a:t> T6</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err="1">
                          <a:solidFill>
                            <a:srgbClr val="BA0000"/>
                          </a:solidFill>
                          <a:effectLst/>
                          <a:latin typeface="+mn-lt"/>
                          <a:ea typeface="+mn-ea"/>
                          <a:cs typeface="Times New Roman" panose="02020603050405020304" pitchFamily="18" charset="0"/>
                        </a:rPr>
                        <a:t>Cuối</a:t>
                      </a:r>
                      <a:r>
                        <a:rPr lang="en-US" sz="1200" b="1" i="0" u="none" strike="noStrike" kern="1200" dirty="0">
                          <a:solidFill>
                            <a:srgbClr val="BA0000"/>
                          </a:solidFill>
                          <a:effectLst/>
                          <a:latin typeface="+mn-lt"/>
                          <a:ea typeface="+mn-ea"/>
                          <a:cs typeface="Times New Roman" panose="02020603050405020304" pitchFamily="18" charset="0"/>
                        </a:rPr>
                        <a:t> T6</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A873 (958438)</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368084">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02/06/2025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04/06/2025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A873 (958435)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385641">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1" i="0" u="none" strike="noStrike" dirty="0">
                          <a:solidFill>
                            <a:srgbClr val="D80000"/>
                          </a:solidFill>
                          <a:effectLst/>
                          <a:latin typeface="+mn-lt"/>
                          <a:cs typeface="Times New Roman" panose="02020603050405020304" pitchFamily="18" charset="0"/>
                        </a:rPr>
                        <a:t>10/07/2025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A863 (958170)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54704">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882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1" u="none" strike="noStrike" dirty="0">
                          <a:solidFill>
                            <a:srgbClr val="D80000"/>
                          </a:solidFill>
                          <a:effectLst/>
                          <a:latin typeface="+mn-lt"/>
                          <a:cs typeface="Times New Roman" panose="02020603050405020304" pitchFamily="18" charset="0"/>
                        </a:rPr>
                        <a:t>13/09/2025</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A862 (956600)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2437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35221">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u="none" strike="noStrike" dirty="0">
                          <a:solidFill>
                            <a:srgbClr val="FF0000"/>
                          </a:solidFill>
                          <a:effectLst/>
                          <a:latin typeface="+mn-lt"/>
                          <a:cs typeface="Times New Roman" panose="02020603050405020304" pitchFamily="18" charset="0"/>
                        </a:rPr>
                        <a:t>15/08/2025</a:t>
                      </a:r>
                    </a:p>
                    <a:p>
                      <a:pPr algn="ctr" fontAlgn="ctr"/>
                      <a:r>
                        <a:rPr lang="en-US" sz="1200" b="0" u="none" strike="noStrike" dirty="0">
                          <a:solidFill>
                            <a:schemeClr val="tx1"/>
                          </a:solidFill>
                          <a:effectLst/>
                          <a:latin typeface="+mn-lt"/>
                          <a:cs typeface="Times New Roman" panose="02020603050405020304" pitchFamily="18" charset="0"/>
                        </a:rPr>
                        <a:t>Inducted 05/05/2025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A874 (958266)</a:t>
                      </a: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8920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41</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41</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151306" y="707662"/>
          <a:ext cx="5787655" cy="4658013"/>
        </p:xfrm>
        <a:graphic>
          <a:graphicData uri="http://schemas.openxmlformats.org/drawingml/2006/table">
            <a:tbl>
              <a:tblPr firstRow="1" bandRow="1">
                <a:tableStyleId>{5C22544A-7EE6-4342-B048-85BDC9FD1C3A}</a:tableStyleId>
              </a:tblPr>
              <a:tblGrid>
                <a:gridCol w="686894">
                  <a:extLst>
                    <a:ext uri="{9D8B030D-6E8A-4147-A177-3AD203B41FA5}">
                      <a16:colId xmlns:a16="http://schemas.microsoft.com/office/drawing/2014/main" val="1930757539"/>
                    </a:ext>
                  </a:extLst>
                </a:gridCol>
                <a:gridCol w="685800">
                  <a:extLst>
                    <a:ext uri="{9D8B030D-6E8A-4147-A177-3AD203B41FA5}">
                      <a16:colId xmlns:a16="http://schemas.microsoft.com/office/drawing/2014/main" val="1674463010"/>
                    </a:ext>
                  </a:extLst>
                </a:gridCol>
                <a:gridCol w="533400">
                  <a:extLst>
                    <a:ext uri="{9D8B030D-6E8A-4147-A177-3AD203B41FA5}">
                      <a16:colId xmlns:a16="http://schemas.microsoft.com/office/drawing/2014/main" val="1549944897"/>
                    </a:ext>
                  </a:extLst>
                </a:gridCol>
                <a:gridCol w="1828800">
                  <a:extLst>
                    <a:ext uri="{9D8B030D-6E8A-4147-A177-3AD203B41FA5}">
                      <a16:colId xmlns:a16="http://schemas.microsoft.com/office/drawing/2014/main" val="3687717734"/>
                    </a:ext>
                  </a:extLst>
                </a:gridCol>
                <a:gridCol w="2052761">
                  <a:extLst>
                    <a:ext uri="{9D8B030D-6E8A-4147-A177-3AD203B41FA5}">
                      <a16:colId xmlns:a16="http://schemas.microsoft.com/office/drawing/2014/main" val="4100307886"/>
                    </a:ext>
                  </a:extLst>
                </a:gridCol>
              </a:tblGrid>
              <a:tr h="363427">
                <a:tc>
                  <a:txBody>
                    <a:bodyPr/>
                    <a:lstStyle/>
                    <a:p>
                      <a:r>
                        <a:rPr lang="en-US" sz="1100" dirty="0" err="1"/>
                        <a:t>Động</a:t>
                      </a:r>
                      <a:r>
                        <a:rPr lang="en-US" sz="1100" dirty="0"/>
                        <a:t> c</a:t>
                      </a:r>
                      <a:r>
                        <a:rPr lang="vi-VN" sz="1100" dirty="0"/>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a:t>TAT</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Ngày</a:t>
                      </a:r>
                      <a:r>
                        <a:rPr lang="en-US" sz="1100" dirty="0"/>
                        <a:t> </a:t>
                      </a:r>
                      <a:r>
                        <a:rPr lang="en-US" sz="1100" dirty="0" err="1"/>
                        <a:t>về</a:t>
                      </a:r>
                      <a:r>
                        <a:rPr lang="en-US" sz="1100" dirty="0"/>
                        <a:t> </a:t>
                      </a:r>
                      <a:r>
                        <a:rPr lang="en-US" sz="1100" dirty="0" err="1"/>
                        <a:t>dự</a:t>
                      </a:r>
                      <a:r>
                        <a:rPr lang="en-US" sz="1100" dirty="0"/>
                        <a:t> </a:t>
                      </a:r>
                      <a:r>
                        <a:rPr lang="en-US" sz="1100" dirty="0" err="1"/>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Kế</a:t>
                      </a:r>
                      <a:r>
                        <a:rPr lang="en-US" sz="1100" dirty="0"/>
                        <a:t> </a:t>
                      </a:r>
                      <a:r>
                        <a:rPr lang="en-US" sz="1100" dirty="0" err="1"/>
                        <a:t>hoạch</a:t>
                      </a:r>
                      <a:r>
                        <a:rPr lang="en-US" sz="1100" dirty="0"/>
                        <a:t> </a:t>
                      </a:r>
                      <a:r>
                        <a:rPr lang="en-US" sz="1100" dirty="0" err="1"/>
                        <a:t>sử</a:t>
                      </a:r>
                      <a:r>
                        <a:rPr lang="en-US" sz="1100" dirty="0"/>
                        <a:t> </a:t>
                      </a:r>
                      <a:r>
                        <a:rPr lang="en-US" sz="1100" dirty="0" err="1"/>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420810">
                <a:tc>
                  <a:txBody>
                    <a:bodyPr/>
                    <a:lstStyle/>
                    <a:p>
                      <a:pPr algn="ctr" fontAlgn="ctr"/>
                      <a:r>
                        <a:rPr lang="en-GB" sz="1100" b="0" u="none" strike="noStrike" dirty="0">
                          <a:solidFill>
                            <a:schemeClr val="tx1"/>
                          </a:solidFill>
                          <a:effectLst/>
                        </a:rPr>
                        <a:t>21040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HAESL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15/06/2025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A886#1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394394">
                <a:tc>
                  <a:txBody>
                    <a:bodyPr/>
                    <a:lstStyle/>
                    <a:p>
                      <a:pPr algn="ctr" fontAlgn="ctr"/>
                      <a:r>
                        <a:rPr lang="en-GB" sz="1100" b="0" u="none" strike="noStrike" dirty="0">
                          <a:solidFill>
                            <a:schemeClr val="tx1"/>
                          </a:solidFill>
                          <a:effectLst/>
                        </a:rPr>
                        <a:t>21584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SAESL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24/06/2025</a:t>
                      </a:r>
                      <a:endParaRPr lang="en-GB" sz="1100" b="0" u="none" strike="noStrike" dirty="0">
                        <a:solidFill>
                          <a:schemeClr val="tx1"/>
                        </a:solidFill>
                        <a:effectLst/>
                      </a:endParaRPr>
                    </a:p>
                  </a:txBody>
                  <a:tcPr marL="0" marR="0" marT="0" marB="0" anchor="ctr"/>
                </a:tc>
                <a:tc>
                  <a:txBody>
                    <a:bodyPr/>
                    <a:lstStyle/>
                    <a:p>
                      <a:r>
                        <a:rPr lang="en-US" sz="1100" b="0" dirty="0">
                          <a:solidFill>
                            <a:schemeClr val="tx1"/>
                          </a:solidFill>
                        </a:rPr>
                        <a:t>A886#2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363427">
                <a:tc>
                  <a:txBody>
                    <a:bodyPr/>
                    <a:lstStyle/>
                    <a:p>
                      <a:pPr algn="ctr" fontAlgn="ctr"/>
                      <a:r>
                        <a:rPr lang="en-GB" sz="1100" b="0" u="none" strike="noStrike">
                          <a:solidFill>
                            <a:schemeClr val="tx1"/>
                          </a:solidFill>
                          <a:effectLst/>
                        </a:rPr>
                        <a:t>21136</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75</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05/07/2025</a:t>
                      </a:r>
                      <a:endParaRPr lang="en-GB" sz="1100" b="0" i="0" u="none" strike="noStrike" dirty="0">
                        <a:solidFill>
                          <a:schemeClr val="tx1"/>
                        </a:solidFill>
                        <a:effectLst/>
                        <a:latin typeface="Times New Roman" panose="02020603050405020304" pitchFamily="18" charset="0"/>
                      </a:endParaRPr>
                    </a:p>
                  </a:txBody>
                  <a:tcPr marL="0" marR="0" marT="0" marB="0" anchor="ctr"/>
                </a:tc>
                <a:tc rowSpan="5">
                  <a:txBody>
                    <a:bodyPr/>
                    <a:lstStyle/>
                    <a:p>
                      <a:r>
                        <a:rPr lang="en-US" sz="1100" b="0" dirty="0">
                          <a:solidFill>
                            <a:schemeClr val="tx1"/>
                          </a:solidFill>
                          <a:latin typeface="Times New Roman" panose="02020603050405020304" pitchFamily="18" charset="0"/>
                          <a:cs typeface="Times New Roman" panose="02020603050405020304" pitchFamily="18" charset="0"/>
                        </a:rPr>
                        <a:t>05 </a:t>
                      </a:r>
                      <a:r>
                        <a:rPr lang="en-US" sz="1100" b="0" dirty="0" err="1">
                          <a:solidFill>
                            <a:schemeClr val="tx1"/>
                          </a:solidFill>
                          <a:latin typeface="Times New Roman" panose="02020603050405020304" pitchFamily="18" charset="0"/>
                          <a:cs typeface="Times New Roman" panose="02020603050405020304" pitchFamily="18" charset="0"/>
                        </a:rPr>
                        <a:t>động</a:t>
                      </a:r>
                      <a:r>
                        <a:rPr lang="en-US" sz="1100" b="0" dirty="0">
                          <a:solidFill>
                            <a:schemeClr val="tx1"/>
                          </a:solidFill>
                          <a:latin typeface="Times New Roman" panose="02020603050405020304" pitchFamily="18" charset="0"/>
                          <a:cs typeface="Times New Roman" panose="02020603050405020304" pitchFamily="18" charset="0"/>
                        </a:rPr>
                        <a:t> c</a:t>
                      </a:r>
                      <a:r>
                        <a:rPr lang="vi-VN" sz="1100" b="0" dirty="0">
                          <a:solidFill>
                            <a:schemeClr val="tx1"/>
                          </a:solidFill>
                          <a:latin typeface="Times New Roman" panose="02020603050405020304" pitchFamily="18" charset="0"/>
                          <a:cs typeface="Times New Roman" panose="02020603050405020304" pitchFamily="18" charset="0"/>
                        </a:rPr>
                        <a:t>ơ</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này</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sẽ</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sử</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dụng</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cho</a:t>
                      </a:r>
                      <a:r>
                        <a:rPr lang="en-US" sz="1100" b="0" dirty="0">
                          <a:solidFill>
                            <a:schemeClr val="tx1"/>
                          </a:solidFill>
                          <a:latin typeface="Times New Roman" panose="02020603050405020304" pitchFamily="18" charset="0"/>
                          <a:cs typeface="Times New Roman" panose="02020603050405020304" pitchFamily="18" charset="0"/>
                        </a:rPr>
                        <a:t>:</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A890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12/07</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A898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23/07</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A894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31/07</a:t>
                      </a:r>
                    </a:p>
                    <a:p>
                      <a:pPr marL="0" indent="0">
                        <a:buFontTx/>
                        <a:buNone/>
                      </a:pPr>
                      <a:r>
                        <a:rPr lang="en-US" sz="1100" b="0" dirty="0">
                          <a:solidFill>
                            <a:schemeClr val="tx1"/>
                          </a:solidFill>
                          <a:latin typeface="Times New Roman" panose="02020603050405020304" pitchFamily="18" charset="0"/>
                          <a:cs typeface="Times New Roman" panose="02020603050405020304" pitchFamily="18" charset="0"/>
                        </a:rPr>
                        <a:t>(</a:t>
                      </a:r>
                      <a:r>
                        <a:rPr lang="en-US" sz="1100" b="0" dirty="0" err="1">
                          <a:solidFill>
                            <a:schemeClr val="tx1"/>
                          </a:solidFill>
                          <a:latin typeface="Times New Roman" panose="02020603050405020304" pitchFamily="18" charset="0"/>
                          <a:cs typeface="Times New Roman" panose="02020603050405020304" pitchFamily="18" charset="0"/>
                        </a:rPr>
                        <a:t>ước</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baseline="0" dirty="0" err="1">
                          <a:solidFill>
                            <a:schemeClr val="tx1"/>
                          </a:solidFill>
                          <a:latin typeface="Times New Roman" panose="02020603050405020304" pitchFamily="18" charset="0"/>
                          <a:cs typeface="Times New Roman" panose="02020603050405020304" pitchFamily="18" charset="0"/>
                        </a:rPr>
                        <a:t>lượng</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ngày</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tháo</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ch</a:t>
                      </a:r>
                      <a:r>
                        <a:rPr lang="vi-VN" sz="1100" b="0" dirty="0">
                          <a:solidFill>
                            <a:schemeClr val="tx1"/>
                          </a:solidFill>
                          <a:latin typeface="Times New Roman" panose="02020603050405020304" pitchFamily="18" charset="0"/>
                          <a:cs typeface="Times New Roman" panose="02020603050405020304" pitchFamily="18" charset="0"/>
                        </a:rPr>
                        <a:t>ư</a:t>
                      </a:r>
                      <a:r>
                        <a:rPr lang="en-US" sz="1100" b="0" dirty="0">
                          <a:solidFill>
                            <a:schemeClr val="tx1"/>
                          </a:solidFill>
                          <a:latin typeface="Times New Roman" panose="02020603050405020304" pitchFamily="18" charset="0"/>
                          <a:cs typeface="Times New Roman" panose="02020603050405020304" pitchFamily="18" charset="0"/>
                        </a:rPr>
                        <a:t>a </a:t>
                      </a:r>
                      <a:r>
                        <a:rPr lang="en-US" sz="1100" b="0" dirty="0" err="1">
                          <a:solidFill>
                            <a:schemeClr val="tx1"/>
                          </a:solidFill>
                          <a:latin typeface="Times New Roman" panose="02020603050405020304" pitchFamily="18" charset="0"/>
                          <a:cs typeface="Times New Roman" panose="02020603050405020304" pitchFamily="18" charset="0"/>
                        </a:rPr>
                        <a:t>tính</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giữ</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giờ</a:t>
                      </a:r>
                      <a:r>
                        <a:rPr lang="en-US" sz="1100" b="0" dirty="0">
                          <a:solidFill>
                            <a:schemeClr val="tx1"/>
                          </a:solidFill>
                          <a:latin typeface="Times New Roman" panose="02020603050405020304" pitchFamily="18" charset="0"/>
                          <a:cs typeface="Times New Roman" panose="02020603050405020304" pitchFamily="18" charset="0"/>
                        </a:rPr>
                        <a:t>)</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A895 </a:t>
                      </a:r>
                      <a:r>
                        <a:rPr lang="en-US" sz="1100" b="0" dirty="0" err="1">
                          <a:solidFill>
                            <a:schemeClr val="tx1"/>
                          </a:solidFill>
                          <a:latin typeface="Times New Roman" panose="02020603050405020304" pitchFamily="18" charset="0"/>
                          <a:cs typeface="Times New Roman" panose="02020603050405020304" pitchFamily="18" charset="0"/>
                        </a:rPr>
                        <a:t>thiếu</a:t>
                      </a:r>
                      <a:r>
                        <a:rPr lang="en-US" sz="1100" b="0" dirty="0">
                          <a:solidFill>
                            <a:schemeClr val="tx1"/>
                          </a:solidFill>
                          <a:latin typeface="Times New Roman" panose="02020603050405020304" pitchFamily="18" charset="0"/>
                          <a:cs typeface="Times New Roman" panose="02020603050405020304" pitchFamily="18" charset="0"/>
                        </a:rPr>
                        <a:t> 2 </a:t>
                      </a:r>
                      <a:r>
                        <a:rPr lang="en-US" sz="1100" b="0" dirty="0" err="1">
                          <a:solidFill>
                            <a:schemeClr val="tx1"/>
                          </a:solidFill>
                          <a:latin typeface="Times New Roman" panose="02020603050405020304" pitchFamily="18" charset="0"/>
                          <a:cs typeface="Times New Roman" panose="02020603050405020304" pitchFamily="18" charset="0"/>
                        </a:rPr>
                        <a:t>động</a:t>
                      </a:r>
                      <a:r>
                        <a:rPr lang="en-US" sz="1100" b="0" dirty="0">
                          <a:solidFill>
                            <a:schemeClr val="tx1"/>
                          </a:solidFill>
                          <a:latin typeface="Times New Roman" panose="02020603050405020304" pitchFamily="18" charset="0"/>
                          <a:cs typeface="Times New Roman" panose="02020603050405020304" pitchFamily="18" charset="0"/>
                        </a:rPr>
                        <a:t> c</a:t>
                      </a:r>
                      <a:r>
                        <a:rPr lang="vi-VN" sz="1100" b="0" dirty="0">
                          <a:solidFill>
                            <a:schemeClr val="tx1"/>
                          </a:solidFill>
                          <a:latin typeface="Times New Roman" panose="02020603050405020304" pitchFamily="18" charset="0"/>
                          <a:cs typeface="Times New Roman" panose="02020603050405020304" pitchFamily="18" charset="0"/>
                        </a:rPr>
                        <a:t>ơ</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420810">
                <a:tc>
                  <a:txBody>
                    <a:bodyPr/>
                    <a:lstStyle/>
                    <a:p>
                      <a:pPr algn="ctr" fontAlgn="ctr"/>
                      <a:r>
                        <a:rPr lang="en-GB" sz="1100" b="0" u="none" strike="noStrike">
                          <a:solidFill>
                            <a:schemeClr val="tx1"/>
                          </a:solidFill>
                          <a:effectLst/>
                        </a:rPr>
                        <a:t>21043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228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23/07/2025</a:t>
                      </a:r>
                    </a:p>
                    <a:p>
                      <a:pPr algn="ctr" fontAlgn="ctr"/>
                      <a:r>
                        <a:rPr lang="en-GB" sz="1100" b="0" u="none" strike="noStrike">
                          <a:solidFill>
                            <a:schemeClr val="tx1"/>
                          </a:solidFill>
                          <a:effectLst/>
                        </a:rPr>
                        <a:t>(+</a:t>
                      </a:r>
                      <a:r>
                        <a:rPr lang="en-GB" sz="1100" b="0" u="none" strike="noStrike" dirty="0">
                          <a:solidFill>
                            <a:schemeClr val="tx1"/>
                          </a:solidFill>
                          <a:effectLst/>
                        </a:rPr>
                        <a:t>42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a:t>
                      </a:r>
                      <a:r>
                        <a:rPr lang="en-GB" sz="1100" b="0" u="none" strike="noStrike">
                          <a:solidFill>
                            <a:schemeClr val="tx1"/>
                          </a:solidFill>
                          <a:effectLst/>
                        </a:rPr>
                        <a:t>KH gốc)</a:t>
                      </a:r>
                      <a:endParaRPr lang="en-GB" sz="1100" b="0" i="0" u="none" strike="noStrike" dirty="0">
                        <a:solidFill>
                          <a:schemeClr val="tx1"/>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r h="363427">
                <a:tc>
                  <a:txBody>
                    <a:bodyPr/>
                    <a:lstStyle/>
                    <a:p>
                      <a:pPr algn="ctr" fontAlgn="ctr"/>
                      <a:r>
                        <a:rPr lang="en-GB" sz="1100" b="0" u="none" strike="noStrike" dirty="0">
                          <a:solidFill>
                            <a:schemeClr val="tx1"/>
                          </a:solidFill>
                          <a:effectLst/>
                        </a:rPr>
                        <a:t>21414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06/08/2025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chemeClr val="tx1"/>
                          </a:solidFill>
                          <a:effectLst/>
                        </a:rPr>
                        <a:t>(+10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err="1">
                          <a:solidFill>
                            <a:schemeClr val="tx1"/>
                          </a:solidFill>
                          <a:effectLst/>
                        </a:rPr>
                        <a:t>với</a:t>
                      </a:r>
                      <a:r>
                        <a:rPr lang="en-GB" sz="1100" b="0" u="none" strike="noStrike" baseline="0">
                          <a:solidFill>
                            <a:schemeClr val="tx1"/>
                          </a:solidFill>
                          <a:effectLst/>
                        </a:rPr>
                        <a:t> KH gốc</a:t>
                      </a:r>
                      <a:r>
                        <a:rPr lang="en-GB" sz="1100" b="0" u="none" strike="noStrike">
                          <a:solidFill>
                            <a:schemeClr val="tx1"/>
                          </a:solidFill>
                          <a:effectLst/>
                        </a:rPr>
                        <a:t>)</a:t>
                      </a:r>
                      <a:endParaRPr lang="en-GB" sz="1100" b="0" i="0" u="none" strike="noStrike" dirty="0">
                        <a:solidFill>
                          <a:schemeClr val="tx1"/>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420810">
                <a:tc>
                  <a:txBody>
                    <a:bodyPr/>
                    <a:lstStyle/>
                    <a:p>
                      <a:pPr algn="ctr" fontAlgn="ctr"/>
                      <a:r>
                        <a:rPr lang="en-GB" sz="1100" b="0" u="none" strike="noStrike" dirty="0">
                          <a:solidFill>
                            <a:schemeClr val="tx1"/>
                          </a:solidFill>
                          <a:effectLst/>
                        </a:rPr>
                        <a:t>21137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207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a:solidFill>
                            <a:schemeClr val="tx1"/>
                          </a:solidFill>
                          <a:effectLst/>
                        </a:rPr>
                        <a:t>(+</a:t>
                      </a:r>
                      <a:r>
                        <a:rPr lang="en-GB" sz="1100" b="0" u="none" strike="noStrike" baseline="0">
                          <a:solidFill>
                            <a:schemeClr val="tx1"/>
                          </a:solidFill>
                          <a:effectLst/>
                        </a:rPr>
                        <a:t>42 </a:t>
                      </a:r>
                      <a:r>
                        <a:rPr lang="en-GB" sz="1100" b="0" u="none" strike="noStrike" baseline="0" dirty="0" err="1">
                          <a:solidFill>
                            <a:schemeClr val="tx1"/>
                          </a:solidFill>
                          <a:effectLst/>
                        </a:rPr>
                        <a:t>ngày</a:t>
                      </a:r>
                      <a:r>
                        <a:rPr lang="en-GB" sz="1100" b="0" u="none" strike="noStrike" baseline="0" dirty="0">
                          <a:solidFill>
                            <a:schemeClr val="tx1"/>
                          </a:solidFill>
                          <a:effectLst/>
                        </a:rPr>
                        <a:t> so </a:t>
                      </a:r>
                      <a:r>
                        <a:rPr lang="en-GB" sz="1100" b="0" u="none" strike="noStrike" baseline="0" dirty="0" err="1">
                          <a:solidFill>
                            <a:schemeClr val="tx1"/>
                          </a:solidFill>
                          <a:effectLst/>
                        </a:rPr>
                        <a:t>với</a:t>
                      </a:r>
                      <a:r>
                        <a:rPr lang="en-GB" sz="1100" b="0" u="none" strike="noStrike" baseline="0" dirty="0">
                          <a:solidFill>
                            <a:schemeClr val="tx1"/>
                          </a:solidFill>
                          <a:effectLst/>
                        </a:rPr>
                        <a:t> KH </a:t>
                      </a:r>
                      <a:r>
                        <a:rPr lang="en-GB" sz="1100" b="0" u="none" strike="noStrike" baseline="0" dirty="0" err="1">
                          <a:solidFill>
                            <a:schemeClr val="tx1"/>
                          </a:solidFill>
                          <a:effectLst/>
                        </a:rPr>
                        <a:t>gốc</a:t>
                      </a:r>
                      <a:r>
                        <a:rPr lang="en-GB" sz="1100" b="0" u="none" strike="noStrike" baseline="0" dirty="0">
                          <a:solidFill>
                            <a:schemeClr val="tx1"/>
                          </a:solidFill>
                          <a:effectLst/>
                        </a:rPr>
                        <a:t>)</a:t>
                      </a:r>
                      <a:endParaRPr lang="en-GB" sz="1100" b="0" i="0" u="none" strike="noStrike" dirty="0">
                        <a:solidFill>
                          <a:schemeClr val="tx1"/>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r h="363427">
                <a:tc>
                  <a:txBody>
                    <a:bodyPr/>
                    <a:lstStyle/>
                    <a:p>
                      <a:pPr algn="ctr" fontAlgn="ctr"/>
                      <a:r>
                        <a:rPr lang="en-GB" sz="1100" b="0" u="none" strike="noStrike" dirty="0">
                          <a:solidFill>
                            <a:schemeClr val="tx1"/>
                          </a:solidFill>
                          <a:effectLst/>
                        </a:rPr>
                        <a:t>21604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13/08/2025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chemeClr val="tx1"/>
                          </a:solidFill>
                          <a:effectLst/>
                        </a:rPr>
                        <a:t>(+5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err="1">
                          <a:solidFill>
                            <a:schemeClr val="tx1"/>
                          </a:solidFill>
                          <a:effectLst/>
                        </a:rPr>
                        <a:t>với</a:t>
                      </a:r>
                      <a:r>
                        <a:rPr lang="en-GB" sz="1100" b="0" u="none" strike="noStrike" baseline="0">
                          <a:solidFill>
                            <a:schemeClr val="tx1"/>
                          </a:solidFill>
                          <a:effectLst/>
                        </a:rPr>
                        <a:t> KH gốc</a:t>
                      </a:r>
                      <a:r>
                        <a:rPr lang="en-GB" sz="1100" b="0" u="none" strike="noStrike">
                          <a:solidFill>
                            <a:schemeClr val="tx1"/>
                          </a:solidFill>
                          <a:effectLst/>
                        </a:rPr>
                        <a:t>)</a:t>
                      </a:r>
                      <a:endParaRPr lang="en-GB" sz="1100" b="0" i="0" u="none" strike="noStrike" dirty="0">
                        <a:solidFill>
                          <a:schemeClr val="tx1"/>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45775366"/>
                  </a:ext>
                </a:extLst>
              </a:tr>
              <a:tr h="363427">
                <a:tc>
                  <a:txBody>
                    <a:bodyPr/>
                    <a:lstStyle/>
                    <a:p>
                      <a:pPr algn="ctr" fontAlgn="ctr"/>
                      <a:r>
                        <a:rPr lang="en-GB" sz="1100" b="0" u="none" strike="noStrike" dirty="0">
                          <a:solidFill>
                            <a:schemeClr val="tx1"/>
                          </a:solidFill>
                          <a:effectLst/>
                        </a:rPr>
                        <a:t>21048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08/11/2025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430177177"/>
                  </a:ext>
                </a:extLst>
              </a:tr>
              <a:tr h="363427">
                <a:tc>
                  <a:txBody>
                    <a:bodyPr/>
                    <a:lstStyle/>
                    <a:p>
                      <a:pPr algn="ctr" fontAlgn="ctr"/>
                      <a:r>
                        <a:rPr lang="en-US" sz="1100" b="0" u="none" strike="noStrike" dirty="0">
                          <a:solidFill>
                            <a:schemeClr val="tx1"/>
                          </a:solidFill>
                          <a:effectLst/>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287308911"/>
                  </a:ext>
                </a:extLst>
              </a:tr>
              <a:tr h="363427">
                <a:tc>
                  <a:txBody>
                    <a:bodyPr/>
                    <a:lstStyle/>
                    <a:p>
                      <a:pPr algn="ctr" fontAlgn="ctr"/>
                      <a:r>
                        <a:rPr lang="en-US" sz="1100" b="0" u="none" strike="noStrike" dirty="0">
                          <a:solidFill>
                            <a:schemeClr val="tx1"/>
                          </a:solidFill>
                          <a:effectLst/>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a:solidFill>
                            <a:schemeClr val="tx1"/>
                          </a:solidFill>
                          <a:effectLst/>
                          <a:latin typeface="Times New Roman" panose="02020603050405020304" pitchFamily="18" charset="0"/>
                        </a:rPr>
                        <a:t>OFF</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3439476"/>
                  </a:ext>
                </a:extLst>
              </a:tr>
              <a:tr h="363427">
                <a:tc>
                  <a:txBody>
                    <a:bodyPr/>
                    <a:lstStyle/>
                    <a:p>
                      <a:pPr algn="ctr" fontAlgn="ctr"/>
                      <a:r>
                        <a:rPr lang="en-GB" sz="1100" b="0" i="0" u="none" strike="noStrike">
                          <a:solidFill>
                            <a:schemeClr val="tx1"/>
                          </a:solidFill>
                          <a:effectLst/>
                          <a:latin typeface="Times New Roman" panose="02020603050405020304" pitchFamily="18" charset="0"/>
                        </a:rPr>
                        <a:t>21425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OFF</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23524369"/>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chờ</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sửa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 do </a:t>
            </a:r>
            <a:r>
              <a:rPr lang="en-US" b="1" dirty="0" err="1">
                <a:solidFill>
                  <a:srgbClr val="002060"/>
                </a:solidFill>
                <a:latin typeface="Times New Roman" panose="02020603050405020304" pitchFamily="18" charset="0"/>
                <a:cs typeface="Times New Roman" panose="02020603050405020304" pitchFamily="18" charset="0"/>
              </a:rPr>
              <a:t>thiếu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c</a:t>
            </a:r>
            <a:r>
              <a:rPr lang="vi-VN" b="1" dirty="0">
                <a:solidFill>
                  <a:srgbClr val="002060"/>
                </a:solidFill>
                <a:cs typeface="Times New Roman" panose="02020603050405020304" pitchFamily="18" charset="0"/>
              </a:rPr>
              <a:t>ơ</a:t>
            </a:r>
            <a:r>
              <a:rPr lang="en-US" b="1" dirty="0">
                <a:solidFill>
                  <a:srgbClr val="002060"/>
                </a:solidFill>
                <a:latin typeface="Times New Roman" panose="02020603050405020304" pitchFamily="18" charset="0"/>
                <a:cs typeface="Times New Roman" panose="02020603050405020304" pitchFamily="18" charset="0"/>
              </a:rPr>
              <a:t>*</a:t>
            </a:r>
          </a:p>
          <a:p>
            <a:pPr algn="ctr" defTabSz="1219170">
              <a:defRPr/>
            </a:pPr>
            <a:r>
              <a:rPr lang="en-US" sz="1100" i="1" dirty="0">
                <a:solidFill>
                  <a:srgbClr val="002060"/>
                </a:solidFill>
                <a:latin typeface="Times New Roman" panose="02020603050405020304" pitchFamily="18" charset="0"/>
                <a:cs typeface="Times New Roman" panose="02020603050405020304" pitchFamily="18" charset="0"/>
              </a:rPr>
              <a:t>*</a:t>
            </a:r>
            <a:r>
              <a:rPr lang="en-US" sz="1100" i="1" dirty="0" err="1">
                <a:solidFill>
                  <a:srgbClr val="002060"/>
                </a:solidFill>
                <a:latin typeface="Times New Roman" panose="02020603050405020304" pitchFamily="18" charset="0"/>
                <a:cs typeface="Times New Roman" panose="02020603050405020304" pitchFamily="18" charset="0"/>
              </a:rPr>
              <a:t>Không</a:t>
            </a:r>
            <a:r>
              <a:rPr lang="en-US" sz="1100" i="1" dirty="0">
                <a:solidFill>
                  <a:srgbClr val="002060"/>
                </a:solidFill>
                <a:latin typeface="Times New Roman" panose="02020603050405020304" pitchFamily="18" charset="0"/>
                <a:cs typeface="Times New Roman" panose="02020603050405020304" pitchFamily="18" charset="0"/>
              </a:rPr>
              <a:t> </a:t>
            </a:r>
            <a:r>
              <a:rPr lang="en-US" sz="1100" i="1" dirty="0" err="1">
                <a:solidFill>
                  <a:srgbClr val="002060"/>
                </a:solidFill>
                <a:latin typeface="Times New Roman" panose="02020603050405020304" pitchFamily="18" charset="0"/>
                <a:cs typeface="Times New Roman" panose="02020603050405020304" pitchFamily="18" charset="0"/>
              </a:rPr>
              <a:t>tính</a:t>
            </a:r>
            <a:r>
              <a:rPr lang="en-US" sz="1100" i="1" dirty="0">
                <a:solidFill>
                  <a:srgbClr val="002060"/>
                </a:solidFill>
                <a:latin typeface="Times New Roman" panose="02020603050405020304" pitchFamily="18" charset="0"/>
                <a:cs typeface="Times New Roman" panose="02020603050405020304" pitchFamily="18" charset="0"/>
              </a:rPr>
              <a:t> </a:t>
            </a:r>
            <a:r>
              <a:rPr lang="en-US" sz="1100" i="1" dirty="0" err="1">
                <a:solidFill>
                  <a:srgbClr val="002060"/>
                </a:solidFill>
                <a:latin typeface="Times New Roman" panose="02020603050405020304" pitchFamily="18" charset="0"/>
                <a:cs typeface="Times New Roman" panose="02020603050405020304" pitchFamily="18" charset="0"/>
              </a:rPr>
              <a:t>thời</a:t>
            </a:r>
            <a:r>
              <a:rPr lang="en-US" sz="1100" i="1" dirty="0">
                <a:solidFill>
                  <a:srgbClr val="002060"/>
                </a:solidFill>
                <a:latin typeface="Times New Roman" panose="02020603050405020304" pitchFamily="18" charset="0"/>
                <a:cs typeface="Times New Roman" panose="02020603050405020304" pitchFamily="18" charset="0"/>
              </a:rPr>
              <a:t> </a:t>
            </a:r>
            <a:r>
              <a:rPr lang="en-US" sz="1100" i="1" dirty="0" err="1">
                <a:solidFill>
                  <a:srgbClr val="002060"/>
                </a:solidFill>
                <a:latin typeface="Times New Roman" panose="02020603050405020304" pitchFamily="18" charset="0"/>
                <a:cs typeface="Times New Roman" panose="02020603050405020304" pitchFamily="18" charset="0"/>
              </a:rPr>
              <a:t>gian</a:t>
            </a:r>
            <a:r>
              <a:rPr lang="en-US" sz="1100" i="1" dirty="0">
                <a:solidFill>
                  <a:srgbClr val="002060"/>
                </a:solidFill>
                <a:latin typeface="Times New Roman" panose="02020603050405020304" pitchFamily="18" charset="0"/>
                <a:cs typeface="Times New Roman" panose="02020603050405020304" pitchFamily="18" charset="0"/>
              </a:rPr>
              <a:t> </a:t>
            </a:r>
            <a:r>
              <a:rPr lang="en-US" sz="1100" i="1" dirty="0" err="1">
                <a:solidFill>
                  <a:srgbClr val="002060"/>
                </a:solidFill>
                <a:latin typeface="Times New Roman" panose="02020603050405020304" pitchFamily="18" charset="0"/>
                <a:cs typeface="Times New Roman" panose="02020603050405020304" pitchFamily="18" charset="0"/>
              </a:rPr>
              <a:t>lắp</a:t>
            </a:r>
            <a:r>
              <a:rPr lang="en-US" sz="1100" i="1" dirty="0">
                <a:solidFill>
                  <a:srgbClr val="002060"/>
                </a:solidFill>
                <a:latin typeface="Times New Roman" panose="02020603050405020304" pitchFamily="18" charset="0"/>
                <a:cs typeface="Times New Roman" panose="02020603050405020304" pitchFamily="18" charset="0"/>
              </a:rPr>
              <a:t> + RTS + </a:t>
            </a:r>
            <a:r>
              <a:rPr lang="en-US" sz="1100" i="1" dirty="0" err="1">
                <a:solidFill>
                  <a:srgbClr val="002060"/>
                </a:solidFill>
                <a:latin typeface="Times New Roman" panose="02020603050405020304" pitchFamily="18" charset="0"/>
                <a:cs typeface="Times New Roman" panose="02020603050405020304" pitchFamily="18" charset="0"/>
              </a:rPr>
              <a:t>định</a:t>
            </a:r>
            <a:r>
              <a:rPr lang="en-US" sz="1100" i="1" dirty="0">
                <a:solidFill>
                  <a:srgbClr val="002060"/>
                </a:solidFill>
                <a:latin typeface="Times New Roman" panose="02020603050405020304" pitchFamily="18" charset="0"/>
                <a:cs typeface="Times New Roman" panose="02020603050405020304" pitchFamily="18" charset="0"/>
              </a:rPr>
              <a:t> </a:t>
            </a:r>
            <a:r>
              <a:rPr lang="en-US" sz="1100" i="1" dirty="0" err="1">
                <a:solidFill>
                  <a:srgbClr val="002060"/>
                </a:solidFill>
                <a:latin typeface="Times New Roman" panose="02020603050405020304" pitchFamily="18" charset="0"/>
                <a:cs typeface="Times New Roman" panose="02020603050405020304" pitchFamily="18" charset="0"/>
              </a:rPr>
              <a:t>kỳ</a:t>
            </a:r>
            <a:endParaRPr lang="en-GB" sz="1100" i="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269613" y="5943600"/>
          <a:ext cx="5765457" cy="86868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A886</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a:t>
                      </a:r>
                      <a:r>
                        <a:rPr lang="en-US" sz="1100">
                          <a:latin typeface="Times New Roman" panose="02020603050405020304" pitchFamily="18" charset="0"/>
                          <a:cs typeface="Times New Roman" panose="02020603050405020304" pitchFamily="18" charset="0"/>
                        </a:rPr>
                        <a:t>c</a:t>
                      </a:r>
                      <a:r>
                        <a:rPr lang="vi-VN" sz="1100">
                          <a:latin typeface="Times New Roman" panose="02020603050405020304" pitchFamily="18" charset="0"/>
                          <a:cs typeface="Times New Roman" panose="02020603050405020304" pitchFamily="18" charset="0"/>
                        </a:rPr>
                        <a:t>ơ</a:t>
                      </a:r>
                      <a:r>
                        <a:rPr lang="en-US" sz="1100">
                          <a:latin typeface="Times New Roman" panose="02020603050405020304" pitchFamily="18" charset="0"/>
                          <a:cs typeface="Times New Roman" panose="02020603050405020304" pitchFamily="18" charset="0"/>
                        </a:rPr>
                        <a:t> (đủ vào cuối T6)</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a:t>
                      </a:r>
                      <a:r>
                        <a:rPr lang="en-US" sz="1100">
                          <a:latin typeface="Times New Roman" panose="02020603050405020304" pitchFamily="18" charset="0"/>
                          <a:cs typeface="Times New Roman" panose="02020603050405020304" pitchFamily="18" charset="0"/>
                        </a:rPr>
                        <a:t>c</a:t>
                      </a:r>
                      <a:r>
                        <a:rPr lang="vi-VN" sz="1100">
                          <a:latin typeface="Times New Roman" panose="02020603050405020304" pitchFamily="18" charset="0"/>
                          <a:cs typeface="Times New Roman" panose="02020603050405020304" pitchFamily="18" charset="0"/>
                        </a:rPr>
                        <a:t>ơ</a:t>
                      </a:r>
                      <a:r>
                        <a:rPr lang="en-US" sz="1100">
                          <a:latin typeface="Times New Roman" panose="02020603050405020304" pitchFamily="18" charset="0"/>
                          <a:cs typeface="Times New Roman" panose="02020603050405020304" pitchFamily="18" charset="0"/>
                        </a:rPr>
                        <a:t> (đủ vào đầu T8)</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173504" y="5555367"/>
            <a:ext cx="5787655" cy="369332"/>
          </a:xfrm>
          <a:prstGeom prst="rect">
            <a:avLst/>
          </a:prstGeom>
          <a:noFill/>
        </p:spPr>
        <p:txBody>
          <a:bodyPr wrap="square" rtlCol="0">
            <a:spAutoFit/>
          </a:bodyPr>
          <a:lstStyle/>
          <a:p>
            <a:pPr algn="ctr" defTabSz="1219170">
              <a:defRPr/>
            </a:pPr>
            <a:r>
              <a:rPr lang="en-US" b="1" dirty="0">
                <a:solidFill>
                  <a:srgbClr val="002060"/>
                </a:solidFill>
                <a:latin typeface="Times New Roman" panose="02020603050405020304" pitchFamily="18" charset="0"/>
                <a:cs typeface="Times New Roman" panose="02020603050405020304" pitchFamily="18" charset="0"/>
              </a:rPr>
              <a:t>Các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AOG </a:t>
            </a:r>
            <a:r>
              <a:rPr lang="en-US" b="1">
                <a:solidFill>
                  <a:srgbClr val="002060"/>
                </a:solidFill>
                <a:latin typeface="Times New Roman" panose="02020603050405020304" pitchFamily="18" charset="0"/>
                <a:cs typeface="Times New Roman" panose="02020603050405020304" pitchFamily="18" charset="0"/>
              </a:rPr>
              <a:t>(02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112" y="842032"/>
            <a:ext cx="5909513"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defTabSz="1219170">
              <a:buAutoNum type="arabicPeriod"/>
              <a:defRPr/>
            </a:pPr>
            <a:r>
              <a:rPr lang="en-US" sz="1200" b="1" dirty="0" err="1">
                <a:solidFill>
                  <a:srgbClr val="FF0000"/>
                </a:solidFill>
                <a:latin typeface="Times New Roman" panose="02020603050405020304" pitchFamily="18" charset="0"/>
                <a:cs typeface="Times New Roman" panose="02020603050405020304" pitchFamily="18" charset="0"/>
              </a:rPr>
              <a:t>Rủi</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ro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động</a:t>
            </a:r>
            <a:r>
              <a:rPr lang="en-US" sz="1200" b="1" dirty="0">
                <a:solidFill>
                  <a:srgbClr val="FF0000"/>
                </a:solidFill>
                <a:latin typeface="Times New Roman" panose="02020603050405020304" pitchFamily="18" charset="0"/>
                <a:cs typeface="Times New Roman" panose="02020603050405020304" pitchFamily="18" charset="0"/>
              </a:rPr>
              <a:t> c</a:t>
            </a:r>
            <a:r>
              <a:rPr lang="vi-VN" sz="1200" b="1" dirty="0">
                <a:solidFill>
                  <a:srgbClr val="FF0000"/>
                </a:solidFill>
                <a:latin typeface="Times New Roman" panose="02020603050405020304" pitchFamily="18" charset="0"/>
                <a:cs typeface="Times New Roman" panose="02020603050405020304" pitchFamily="18" charset="0"/>
              </a:rPr>
              <a:t>ơ</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về</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muộn</a:t>
            </a:r>
            <a:r>
              <a:rPr lang="en-US" sz="1200" b="1" dirty="0">
                <a:solidFill>
                  <a:srgbClr val="FF0000"/>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Hiện</a:t>
            </a:r>
            <a:r>
              <a:rPr lang="en-US" sz="1200" dirty="0">
                <a:solidFill>
                  <a:schemeClr val="tx1"/>
                </a:solidFill>
                <a:latin typeface="Times New Roman" panose="02020603050405020304" pitchFamily="18" charset="0"/>
                <a:cs typeface="Times New Roman" panose="02020603050405020304" pitchFamily="18" charset="0"/>
              </a:rPr>
              <a:t> 2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thiếu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a:solidFill>
                  <a:schemeClr val="tx1"/>
                </a:solidFill>
                <a:latin typeface="Times New Roman" panose="02020603050405020304" pitchFamily="18" charset="0"/>
                <a:cs typeface="Times New Roman" panose="02020603050405020304" pitchFamily="18" charset="0"/>
              </a:rPr>
              <a:t>(A886, </a:t>
            </a:r>
            <a:r>
              <a:rPr lang="en-US" sz="1200" dirty="0">
                <a:solidFill>
                  <a:schemeClr val="tx1"/>
                </a:solidFill>
                <a:latin typeface="Times New Roman" panose="02020603050405020304" pitchFamily="18" charset="0"/>
                <a:cs typeface="Times New Roman" panose="02020603050405020304" pitchFamily="18" charset="0"/>
              </a:rPr>
              <a:t>A895)  </a:t>
            </a:r>
            <a:r>
              <a:rPr lang="en-US" sz="1200" dirty="0" err="1">
                <a:solidFill>
                  <a:schemeClr val="tx1"/>
                </a:solidFill>
                <a:latin typeface="Times New Roman" panose="02020603050405020304" pitchFamily="18" charset="0"/>
                <a:cs typeface="Times New Roman" panose="02020603050405020304" pitchFamily="18" charset="0"/>
              </a:rPr>
              <a:t>và</a:t>
            </a:r>
            <a:r>
              <a:rPr lang="en-US" sz="1200" dirty="0">
                <a:solidFill>
                  <a:schemeClr val="tx1"/>
                </a:solidFill>
                <a:latin typeface="Times New Roman" panose="02020603050405020304" pitchFamily="18" charset="0"/>
                <a:cs typeface="Times New Roman" panose="02020603050405020304" pitchFamily="18" charset="0"/>
              </a:rPr>
              <a:t> 3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thay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(A890,  A898, A894) </a:t>
            </a: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thay</a:t>
            </a:r>
            <a:r>
              <a:rPr lang="en-US" sz="1200" dirty="0">
                <a:solidFill>
                  <a:schemeClr val="tx1"/>
                </a:solidFill>
                <a:latin typeface="Times New Roman" panose="02020603050405020304" pitchFamily="18" charset="0"/>
                <a:cs typeface="Times New Roman" panose="02020603050405020304" pitchFamily="18" charset="0"/>
              </a:rPr>
              <a:t>: 7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trong</a:t>
            </a:r>
            <a:r>
              <a:rPr lang="en-US" sz="1200" dirty="0">
                <a:solidFill>
                  <a:schemeClr val="tx1"/>
                </a:solidFill>
                <a:latin typeface="Times New Roman" panose="02020603050405020304" pitchFamily="18" charset="0"/>
                <a:cs typeface="Times New Roman" panose="02020603050405020304" pitchFamily="18" charset="0"/>
              </a:rPr>
              <a:t> T6 – T8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rủi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ro</a:t>
            </a:r>
            <a:r>
              <a:rPr lang="en-US" sz="1200" dirty="0">
                <a:solidFill>
                  <a:schemeClr val="tx1"/>
                </a:solidFill>
                <a:latin typeface="Times New Roman" panose="02020603050405020304" pitchFamily="18" charset="0"/>
                <a:cs typeface="Times New Roman" panose="02020603050405020304" pitchFamily="18" charset="0"/>
              </a:rPr>
              <a:t> delay </a:t>
            </a:r>
            <a:r>
              <a:rPr lang="en-US" sz="1200" dirty="0" err="1">
                <a:solidFill>
                  <a:schemeClr val="tx1"/>
                </a:solidFill>
                <a:latin typeface="Times New Roman" panose="02020603050405020304" pitchFamily="18" charset="0"/>
                <a:cs typeface="Times New Roman" panose="02020603050405020304" pitchFamily="18" charset="0"/>
              </a:rPr>
              <a:t>rất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cao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thực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tế</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đã</a:t>
            </a:r>
            <a:r>
              <a:rPr lang="en-US" sz="1200" dirty="0">
                <a:solidFill>
                  <a:schemeClr val="tx1"/>
                </a:solidFill>
                <a:latin typeface="Times New Roman" panose="02020603050405020304" pitchFamily="18" charset="0"/>
                <a:cs typeface="Times New Roman" panose="02020603050405020304" pitchFamily="18" charset="0"/>
              </a:rPr>
              <a:t> delay </a:t>
            </a:r>
            <a:r>
              <a:rPr lang="en-US" sz="1200" dirty="0" err="1">
                <a:solidFill>
                  <a:schemeClr val="tx1"/>
                </a:solidFill>
                <a:latin typeface="Times New Roman" panose="02020603050405020304" pitchFamily="18" charset="0"/>
                <a:cs typeface="Times New Roman" panose="02020603050405020304" pitchFamily="18" charset="0"/>
              </a:rPr>
              <a:t>gây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ảnh</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hưởng</a:t>
            </a:r>
            <a:r>
              <a:rPr lang="en-US" sz="1200" dirty="0">
                <a:solidFill>
                  <a:schemeClr val="tx1"/>
                </a:solidFill>
                <a:latin typeface="Times New Roman" panose="02020603050405020304" pitchFamily="18" charset="0"/>
                <a:cs typeface="Times New Roman" panose="02020603050405020304" pitchFamily="18" charset="0"/>
              </a:rPr>
              <a:t>). </a:t>
            </a:r>
          </a:p>
          <a:p>
            <a:pPr marL="342900" indent="-342900" defTabSz="1219170">
              <a:buAutoNum type="arabicPeriod"/>
              <a:defRPr/>
            </a:pPr>
            <a:endParaRPr lang="en-US" sz="1200" dirty="0">
              <a:solidFill>
                <a:schemeClr val="tx1"/>
              </a:solidFill>
              <a:latin typeface="Times New Roman" panose="02020603050405020304" pitchFamily="18" charset="0"/>
              <a:cs typeface="Times New Roman" panose="02020603050405020304" pitchFamily="18" charset="0"/>
            </a:endParaRPr>
          </a:p>
          <a:p>
            <a:pPr marL="342900" indent="-342900" defTabSz="1219170">
              <a:buAutoNum type="arabicPeriod"/>
              <a:defRPr/>
            </a:pPr>
            <a:r>
              <a:rPr lang="en-US" sz="1200" b="1" dirty="0" err="1">
                <a:solidFill>
                  <a:srgbClr val="FF0000"/>
                </a:solidFill>
                <a:latin typeface="Times New Roman" panose="02020603050405020304" pitchFamily="18" charset="0"/>
                <a:cs typeface="Times New Roman" panose="02020603050405020304" pitchFamily="18" charset="0"/>
              </a:rPr>
              <a:t>Rủi</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ro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tháo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động</a:t>
            </a:r>
            <a:r>
              <a:rPr lang="en-US" sz="1200" b="1" dirty="0">
                <a:solidFill>
                  <a:srgbClr val="FF0000"/>
                </a:solidFill>
                <a:latin typeface="Times New Roman" panose="02020603050405020304" pitchFamily="18" charset="0"/>
                <a:cs typeface="Times New Roman" panose="02020603050405020304" pitchFamily="18" charset="0"/>
              </a:rPr>
              <a:t> c</a:t>
            </a:r>
            <a:r>
              <a:rPr lang="vi-VN" sz="1200" b="1" dirty="0">
                <a:solidFill>
                  <a:srgbClr val="FF0000"/>
                </a:solidFill>
                <a:latin typeface="Times New Roman" panose="02020603050405020304" pitchFamily="18" charset="0"/>
                <a:cs typeface="Times New Roman" panose="02020603050405020304" pitchFamily="18" charset="0"/>
              </a:rPr>
              <a:t>ơ</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ngoài</a:t>
            </a:r>
            <a:r>
              <a:rPr lang="en-US" sz="1200" b="1" dirty="0">
                <a:solidFill>
                  <a:srgbClr val="FF0000"/>
                </a:solidFill>
                <a:latin typeface="Times New Roman" panose="02020603050405020304" pitchFamily="18" charset="0"/>
                <a:cs typeface="Times New Roman" panose="02020603050405020304" pitchFamily="18" charset="0"/>
              </a:rPr>
              <a:t> KH: </a:t>
            </a:r>
          </a:p>
          <a:p>
            <a:pPr marL="742950" lvl="1" indent="-285750" defTabSz="1219170">
              <a:buFont typeface="Arial" panose="020B0604020202020204" pitchFamily="34" charset="0"/>
              <a:buChar char="•"/>
              <a:defRPr/>
            </a:pPr>
            <a:r>
              <a:rPr lang="en-US" sz="1200" dirty="0" err="1">
                <a:solidFill>
                  <a:schemeClr val="tx1"/>
                </a:solidFill>
                <a:latin typeface="Times New Roman" panose="02020603050405020304" pitchFamily="18" charset="0"/>
                <a:cs typeface="Times New Roman" panose="02020603050405020304" pitchFamily="18" charset="0"/>
              </a:rPr>
              <a:t>Hỏng</a:t>
            </a:r>
            <a:r>
              <a:rPr lang="en-US" sz="1200" dirty="0">
                <a:solidFill>
                  <a:schemeClr val="tx1"/>
                </a:solidFill>
                <a:latin typeface="Times New Roman" panose="02020603050405020304" pitchFamily="18" charset="0"/>
                <a:cs typeface="Times New Roman" panose="02020603050405020304" pitchFamily="18" charset="0"/>
              </a:rPr>
              <a:t> HPT Blade (A889#1 21088 100FC); A898#2 21268 100FC;</a:t>
            </a:r>
          </a:p>
          <a:p>
            <a:pPr marL="742950" lvl="1" indent="-285750" defTabSz="1219170">
              <a:buFont typeface="Arial" panose="020B0604020202020204" pitchFamily="34" charset="0"/>
              <a:buChar char="•"/>
              <a:defRPr/>
            </a:pPr>
            <a:r>
              <a:rPr lang="en-US" sz="1200" dirty="0">
                <a:solidFill>
                  <a:schemeClr val="tx1"/>
                </a:solidFill>
                <a:latin typeface="Times New Roman" panose="02020603050405020304" pitchFamily="18" charset="0"/>
                <a:cs typeface="Times New Roman" panose="02020603050405020304" pitchFamily="18" charset="0"/>
              </a:rPr>
              <a:t>Crack IPC (A898#2 21268 100FC, A889#1 21088 </a:t>
            </a:r>
            <a:r>
              <a:rPr lang="en-US" sz="1200" dirty="0" err="1">
                <a:solidFill>
                  <a:schemeClr val="tx1"/>
                </a:solidFill>
                <a:latin typeface="Times New Roman" panose="02020603050405020304" pitchFamily="18" charset="0"/>
                <a:cs typeface="Times New Roman" panose="02020603050405020304" pitchFamily="18" charset="0"/>
              </a:rPr>
              <a:t>đến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hạn</a:t>
            </a:r>
            <a:r>
              <a:rPr lang="en-US" sz="1200" dirty="0">
                <a:solidFill>
                  <a:schemeClr val="tx1"/>
                </a:solidFill>
                <a:latin typeface="Times New Roman" panose="02020603050405020304" pitchFamily="18" charset="0"/>
                <a:cs typeface="Times New Roman" panose="02020603050405020304" pitchFamily="18" charset="0"/>
              </a:rPr>
              <a:t> 2300FC trong </a:t>
            </a:r>
            <a:r>
              <a:rPr lang="en-US" sz="1200" dirty="0" err="1">
                <a:solidFill>
                  <a:schemeClr val="tx1"/>
                </a:solidFill>
                <a:latin typeface="Times New Roman" panose="02020603050405020304" pitchFamily="18" charset="0"/>
                <a:cs typeface="Times New Roman" panose="02020603050405020304" pitchFamily="18" charset="0"/>
              </a:rPr>
              <a:t>cao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điểm</a:t>
            </a:r>
            <a:r>
              <a:rPr lang="en-US" sz="1200" dirty="0">
                <a:solidFill>
                  <a:schemeClr val="tx1"/>
                </a:solidFill>
                <a:latin typeface="Times New Roman" panose="02020603050405020304" pitchFamily="18" charset="0"/>
                <a:cs typeface="Times New Roman" panose="02020603050405020304" pitchFamily="18" charset="0"/>
              </a:rPr>
              <a:t>); </a:t>
            </a:r>
          </a:p>
          <a:p>
            <a:pPr marL="742950" lvl="1" indent="-285750" defTabSz="1219170">
              <a:buFont typeface="Arial" panose="020B0604020202020204" pitchFamily="34" charset="0"/>
              <a:buChar char="•"/>
              <a:defRPr/>
            </a:pPr>
            <a:r>
              <a:rPr lang="en-US" sz="1200" dirty="0">
                <a:solidFill>
                  <a:schemeClr val="tx1"/>
                </a:solidFill>
                <a:latin typeface="Times New Roman" panose="02020603050405020304" pitchFamily="18" charset="0"/>
                <a:cs typeface="Times New Roman" panose="02020603050405020304" pitchFamily="18" charset="0"/>
              </a:rPr>
              <a:t>Oil leak (A887#2 21369); Oil Hiding (A889#2 21034, A888#1 21052)</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9870" y="335369"/>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6036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42</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28139"/>
          <a:ext cx="6207275" cy="22672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541578">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431413">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12-14/07/2025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 </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431413">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10-13/08/2025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Stagger, lắp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431413">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20-21/09/2025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ED0177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31413">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6765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0" y="3336844"/>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4" y="3793658"/>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rgbClr val="ED0000"/>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rgbClr val="ED0000"/>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rgbClr val="ED0000"/>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rgbClr val="ED0000"/>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rgbClr val="ED0000"/>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rgbClr val="ED0000"/>
                          </a:solidFill>
                          <a:effectLst/>
                          <a:latin typeface="Times New Roman" panose="02020603050405020304" pitchFamily="18" charset="0"/>
                          <a:ea typeface="+mn-ea"/>
                          <a:cs typeface="Times New Roman" panose="02020603050405020304" pitchFamily="18" charset="0"/>
                        </a:rPr>
                        <a:t> T11/2025. Do động cơ sửa chữa về muộn.</a:t>
                      </a:r>
                      <a:endParaRPr lang="en-US" sz="1200" b="0" i="0" u="none" strike="noStrike" kern="1200" dirty="0">
                        <a:solidFill>
                          <a:srgbClr val="ED0000"/>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00567"/>
          <a:ext cx="5144652" cy="2294801"/>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378535">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359374">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rgbClr val="ED0000"/>
                          </a:solidFill>
                          <a:latin typeface="Times New Roman" panose="02020603050405020304" pitchFamily="18" charset="0"/>
                          <a:ea typeface="+mn-ea"/>
                          <a:cs typeface="Times New Roman" panose="02020603050405020304" pitchFamily="18" charset="0"/>
                        </a:rPr>
                        <a:t>12/07/2025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B220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979002"/>
                  </a:ext>
                </a:extLst>
              </a:tr>
              <a:tr h="4703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rgbClr val="ED0000"/>
                          </a:solidFill>
                          <a:latin typeface="Times New Roman" panose="02020603050405020304" pitchFamily="18" charset="0"/>
                          <a:ea typeface="+mn-ea"/>
                          <a:cs typeface="Times New Roman" panose="02020603050405020304" pitchFamily="18" charset="0"/>
                        </a:rPr>
                        <a:t>08/2025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703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08047">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08047">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799" y="3773237"/>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8" y="3336844"/>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13144" y="5594456"/>
            <a:ext cx="11772189" cy="129458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rgbClr val="ED0000"/>
                </a:solidFill>
                <a:latin typeface="Times New Roman" panose="02020603050405020304" pitchFamily="18" charset="0"/>
                <a:cs typeface="Times New Roman" panose="02020603050405020304" pitchFamily="18" charset="0"/>
              </a:rPr>
              <a:t>Theo thông tin từ ban QLVT 03 động cơ sửa OVH  dk extend TAT~40 days so với KH ban đầu</a:t>
            </a:r>
            <a:r>
              <a:rPr lang="en-US" sz="1600">
                <a:solidFill>
                  <a:srgbClr val="ED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600">
                <a:solidFill>
                  <a:srgbClr val="ED0000"/>
                </a:solidFill>
                <a:latin typeface="Times New Roman" panose="02020603050405020304" pitchFamily="18" charset="0"/>
                <a:cs typeface="Times New Roman" panose="02020603050405020304" pitchFamily="18" charset="0"/>
              </a:rPr>
              <a:t>rủi ro thiếu 01 động cơ GĐ cuối T9-T10. Tiếp tục phối hợp với ban QLVT làm việc với Shop rút ngắn TAT hạn chế ảnh hưởng nguồn lực.</a:t>
            </a: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Ban ĐTMS đang triển khai thủ tục gia hạn cho K6 thuê tàu B220 từ T7/2025 đến T11/2025. và cho K6 thuê khô thêm tàu B225 từ 15/06/2025 – 25/10/2025.</a:t>
            </a:r>
          </a:p>
        </p:txBody>
      </p:sp>
    </p:spTree>
    <p:extLst>
      <p:ext uri="{BB962C8B-B14F-4D97-AF65-F5344CB8AC3E}">
        <p14:creationId xmlns:p14="http://schemas.microsoft.com/office/powerpoint/2010/main" val="40497344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3784811"/>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31988">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A332</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A359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24-Jun-25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10-Aug-25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A613</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Z925603</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23-Jun-25</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08-May-25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A892</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3237182100"/>
                  </a:ext>
                </a:extLst>
              </a:tr>
              <a:tr h="31389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01-Aug-25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4394409"/>
            <a:ext cx="11567481" cy="1200329"/>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59583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323439"/>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09/06/2025 – 15/06/2025: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A396</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A398</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A606</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A602</a:t>
            </a:r>
            <a:r>
              <a:rPr lang="en-US" sz="1600" dirty="0">
                <a:solidFill>
                  <a:prstClr val="black"/>
                </a:solidFill>
                <a:latin typeface="Times New Roman" panose="02020603050405020304" pitchFamily="18" charset="0"/>
                <a:cs typeface="Times New Roman" panose="02020603050405020304" pitchFamily="18" charset="0"/>
              </a:rPr>
              <a:t>.</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A601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GEN), A397 – A605 – A606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FCU, wash APU), A615 (Ops test), A616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Lube Module), A602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02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A396, A398.</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4841850"/>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260200">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916330">
                <a:tc>
                  <a:txBody>
                    <a:bodyPr/>
                    <a:lstStyle/>
                    <a:p>
                      <a:pPr marL="0" marR="0" algn="ctr">
                        <a:spcBef>
                          <a:spcPts val="0"/>
                        </a:spcBef>
                        <a:spcAft>
                          <a:spcPts val="0"/>
                        </a:spcAft>
                      </a:pPr>
                      <a:r>
                        <a:rPr lang="en-US" sz="15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A398</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BAD SMELL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12/06. KH T/S HAN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15/06.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tuy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dụng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ngoài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A623)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đều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đủ</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A886.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thuê</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A892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916330">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sau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check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định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lich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theo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(20/06), APU spare rob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A505.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916330">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r h="916330">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val="3601119411"/>
                  </a:ext>
                </a:extLst>
              </a:tr>
              <a:tr h="916330">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427382"/>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06000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45</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781051" y="740535"/>
            <a:ext cx="11068012" cy="70318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600" b="1" dirty="0">
                <a:cs typeface="Times New Roman" panose="02020603050405020304" pitchFamily="18" charset="0"/>
              </a:rPr>
              <a:t>I. A321: </a:t>
            </a:r>
          </a:p>
          <a:p>
            <a:pPr marL="12700" indent="0" algn="just">
              <a:lnSpc>
                <a:spcPct val="100000"/>
              </a:lnSpc>
              <a:buSzPts val="1100"/>
              <a:buNone/>
            </a:pPr>
            <a:r>
              <a:rPr lang="es-ES" sz="1600" b="1" dirty="0">
                <a:solidFill>
                  <a:srgbClr val="FF0000"/>
                </a:solidFill>
                <a:cs typeface="Times New Roman" panose="02020603050405020304" pitchFamily="18" charset="0"/>
                <a:sym typeface="Wingdings" panose="05000000000000000000" pitchFamily="2" charset="2"/>
              </a:rPr>
              <a:t>    1. </a:t>
            </a:r>
            <a:r>
              <a:rPr lang="en-US" sz="1600" b="1" dirty="0">
                <a:solidFill>
                  <a:srgbClr val="FF0000"/>
                </a:solidFill>
                <a:cs typeface="Times New Roman" panose="02020603050405020304" pitchFamily="18" charset="0"/>
                <a:sym typeface="Wingdings" panose="05000000000000000000" pitchFamily="2" charset="2"/>
              </a:rPr>
              <a:t>A623_ C01, C03, Y06, 18MO, INSTALL ENG1+2, RTS _12/04-13/05, EST: 22/07</a:t>
            </a:r>
          </a:p>
          <a:p>
            <a:pPr marL="12700" indent="0" algn="just">
              <a:lnSpc>
                <a:spcPct val="100000"/>
              </a:lnSpc>
              <a:spcBef>
                <a:spcPts val="600"/>
              </a:spcBef>
              <a:buSzPts val="1100"/>
              <a:buNone/>
            </a:pPr>
            <a:r>
              <a:rPr lang="es-ES" sz="1600" dirty="0">
                <a:cs typeface="Times New Roman" panose="02020603050405020304" pitchFamily="18" charset="0"/>
                <a:sym typeface="Wingdings" panose="05000000000000000000" pitchFamily="2" charset="2"/>
              </a:rPr>
              <a:t>    </a:t>
            </a:r>
            <a:r>
              <a:rPr lang="es-E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Chơ</a:t>
            </a:r>
            <a:r>
              <a:rPr lang="en-US" sz="1600" b="1" dirty="0">
                <a:cs typeface="Times New Roman" panose="02020603050405020304" pitchFamily="18" charset="0"/>
                <a:sym typeface="Wingdings" panose="05000000000000000000" pitchFamily="2" charset="2"/>
              </a:rPr>
              <a:t>̀ KH ENG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trong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thời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gian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Chơ</a:t>
            </a:r>
            <a:r>
              <a:rPr lang="en-US" sz="1600" dirty="0">
                <a:cs typeface="Times New Roman" panose="02020603050405020304" pitchFamily="18" charset="0"/>
                <a:sym typeface="Wingdings" panose="05000000000000000000" pitchFamily="2" charset="2"/>
              </a:rPr>
              <a:t>̀ ENG </a:t>
            </a:r>
            <a:r>
              <a:rPr lang="en-US" sz="1600" dirty="0" err="1">
                <a:cs typeface="Times New Roman" panose="02020603050405020304" pitchFamily="18" charset="0"/>
                <a:sym typeface="Wingdings" panose="05000000000000000000" pitchFamily="2" charset="2"/>
              </a:rPr>
              <a:t>vê</a:t>
            </a:r>
            <a:r>
              <a:rPr lang="en-US" sz="1600" dirty="0">
                <a:cs typeface="Times New Roman" panose="02020603050405020304" pitchFamily="18" charset="0"/>
                <a:sym typeface="Wingdings" panose="05000000000000000000" pitchFamily="2" charset="2"/>
              </a:rPr>
              <a:t>̀, đ/n VAECO </a:t>
            </a:r>
            <a:r>
              <a:rPr lang="en-US" sz="1600" dirty="0" err="1">
                <a:cs typeface="Times New Roman" panose="02020603050405020304" pitchFamily="18" charset="0"/>
                <a:sym typeface="Wingdings" panose="05000000000000000000" pitchFamily="2" charset="2"/>
              </a:rPr>
              <a:t>tiếp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tục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các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công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việc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còn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tồn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đọng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lắp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các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a:t>
            </a:r>
            <a:r>
              <a:rPr lang="en-US" sz="1600" dirty="0">
                <a:cs typeface="Times New Roman" panose="02020603050405020304" pitchFamily="18" charset="0"/>
                <a:sym typeface="Wingdings" panose="05000000000000000000" pitchFamily="2" charset="2"/>
              </a:rPr>
              <a:t>̃ avail, </a:t>
            </a:r>
            <a:r>
              <a:rPr lang="en-US" sz="1600" dirty="0" err="1">
                <a:cs typeface="Times New Roman" panose="02020603050405020304" pitchFamily="18" charset="0"/>
                <a:sym typeface="Wingdings" panose="05000000000000000000" pitchFamily="2" charset="2"/>
              </a:rPr>
              <a:t>tránh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dồn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công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việc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cuối</a:t>
            </a:r>
            <a:r>
              <a:rPr lang="en-US" sz="1600" dirty="0">
                <a:cs typeface="Times New Roman" panose="02020603050405020304" pitchFamily="18" charset="0"/>
                <a:sym typeface="Wingdings" panose="05000000000000000000" pitchFamily="2" charset="2"/>
              </a:rPr>
              <a:t> Check.</a:t>
            </a:r>
          </a:p>
          <a:p>
            <a:pPr marL="12700" indent="0" algn="just">
              <a:lnSpc>
                <a:spcPct val="100000"/>
              </a:lnSpc>
              <a:spcBef>
                <a:spcPts val="600"/>
              </a:spcBef>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Nhiều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bị Rob </a:t>
            </a:r>
            <a:r>
              <a:rPr lang="en-US" sz="1600" dirty="0" err="1">
                <a:cs typeface="Times New Roman" panose="02020603050405020304" pitchFamily="18" charset="0"/>
                <a:sym typeface="Wingdings" panose="05000000000000000000" pitchFamily="2" charset="2"/>
              </a:rPr>
              <a:t>dẫn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không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được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thuy</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lực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khi</a:t>
            </a:r>
            <a:r>
              <a:rPr lang="en-US" sz="1600" dirty="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600" dirty="0">
                <a:cs typeface="Times New Roman" panose="02020603050405020304" pitchFamily="18" charset="0"/>
                <a:sym typeface="Wingdings" panose="05000000000000000000" pitchFamily="2" charset="2"/>
              </a:rPr>
              <a:t>   - 20/04, </a:t>
            </a:r>
            <a:r>
              <a:rPr lang="vi-VN" sz="1600" dirty="0">
                <a:cs typeface="Times New Roman" panose="02020603050405020304" pitchFamily="18" charset="0"/>
                <a:sym typeface="Wingdings" panose="05000000000000000000" pitchFamily="2" charset="2"/>
              </a:rPr>
              <a:t>Finding: Corrosion 02 Plate On Fwd Cargo Compartment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Plate</a:t>
            </a:r>
            <a:r>
              <a:rPr lang="vi-VN" sz="1600" dirty="0">
                <a:cs typeface="Times New Roman" panose="02020603050405020304" pitchFamily="18" charset="0"/>
                <a:sym typeface="Wingdings" panose="05000000000000000000" pitchFamily="2" charset="2"/>
              </a:rPr>
              <a:t> PN: D5323514620200 </a:t>
            </a:r>
            <a:r>
              <a:rPr lang="en-US" sz="1600" dirty="0">
                <a:cs typeface="Times New Roman" panose="02020603050405020304" pitchFamily="18" charset="0"/>
                <a:sym typeface="Wingdings" panose="05000000000000000000" pitchFamily="2" charset="2"/>
              </a:rPr>
              <a:t>Not Avail. </a:t>
            </a:r>
            <a:r>
              <a:rPr lang="vi-VN" sz="1600" dirty="0">
                <a:cs typeface="Times New Roman" panose="02020603050405020304" pitchFamily="18" charset="0"/>
                <a:sym typeface="Wingdings" panose="05000000000000000000" pitchFamily="2" charset="2"/>
              </a:rPr>
              <a:t>= &gt; Đ/n CƯVT tìm nguồn hàng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chê</a:t>
            </a:r>
            <a:r>
              <a:rPr lang="en-US" sz="1600" dirty="0">
                <a:cs typeface="Times New Roman" panose="02020603050405020304" pitchFamily="18" charset="0"/>
                <a:sym typeface="Wingdings" panose="05000000000000000000" pitchFamily="2" charset="2"/>
              </a:rPr>
              <a:t>́</a:t>
            </a:r>
            <a:r>
              <a:rPr lang="vi-VN" sz="1600" dirty="0">
                <a:cs typeface="Times New Roman" panose="02020603050405020304" pitchFamily="18" charset="0"/>
                <a:sym typeface="Wingdings" panose="05000000000000000000" pitchFamily="2" charset="2"/>
              </a:rPr>
              <a:t> sớm đảm bảo release tàu đúng KH.</a:t>
            </a:r>
            <a:endParaRPr lang="en-US" sz="16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s-ES" sz="1600" b="1" dirty="0">
                <a:solidFill>
                  <a:srgbClr val="FF0000"/>
                </a:solidFill>
                <a:cs typeface="Times New Roman" panose="02020603050405020304" pitchFamily="18" charset="0"/>
                <a:sym typeface="Wingdings" panose="05000000000000000000" pitchFamily="2" charset="2"/>
              </a:rPr>
              <a:t>    2. </a:t>
            </a:r>
            <a:r>
              <a:rPr lang="en-US" sz="1600" b="1" dirty="0">
                <a:solidFill>
                  <a:srgbClr val="FF0000"/>
                </a:solidFill>
                <a:cs typeface="Times New Roman" panose="02020603050405020304" pitchFamily="18" charset="0"/>
                <a:sym typeface="Wingdings" panose="05000000000000000000" pitchFamily="2" charset="2"/>
              </a:rPr>
              <a:t>A613_HAN_Y01, C01_09-17/6: On sked.</a:t>
            </a:r>
          </a:p>
          <a:p>
            <a:pPr marL="12700" indent="0" algn="just">
              <a:lnSpc>
                <a:spcPct val="100000"/>
              </a:lnSpc>
              <a:spcBef>
                <a:spcPts val="600"/>
              </a:spcBef>
              <a:buSzPts val="1100"/>
              <a:buNone/>
            </a:pPr>
            <a:r>
              <a:rPr lang="en-US" sz="1600" b="1" dirty="0">
                <a:solidFill>
                  <a:srgbClr val="FF0000"/>
                </a:solidFill>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vi-VN" sz="1600" dirty="0">
                <a:cs typeface="Times New Roman" panose="02020603050405020304" pitchFamily="18" charset="0"/>
                <a:sym typeface="Wingdings" panose="05000000000000000000" pitchFamily="2" charset="2"/>
              </a:rPr>
              <a:t>Tàu vào Check sớm 1 ngày để Rob vật tư Fancowl, Anti- ice Vavle, Panel cho A396.</a:t>
            </a:r>
          </a:p>
          <a:p>
            <a:pPr marL="12700" indent="0" algn="just">
              <a:lnSpc>
                <a:spcPct val="100000"/>
              </a:lnSpc>
              <a:spcBef>
                <a:spcPts val="600"/>
              </a:spcBef>
              <a:buSzPts val="1100"/>
              <a:buNone/>
            </a:pPr>
            <a:r>
              <a:rPr lang="vi-VN" sz="1600" dirty="0">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vi-VN" sz="1600" dirty="0">
                <a:cs typeface="Times New Roman" panose="02020603050405020304" pitchFamily="18" charset="0"/>
                <a:sym typeface="Wingdings" panose="05000000000000000000" pitchFamily="2" charset="2"/>
              </a:rPr>
              <a:t>- Đ/n CƯVT đảm bảo KH về cho các Vật tư</a:t>
            </a:r>
            <a:r>
              <a:rPr lang="en-US" sz="1600" dirty="0">
                <a:cs typeface="Times New Roman" panose="02020603050405020304" pitchFamily="18" charset="0"/>
                <a:sym typeface="Wingdings" panose="05000000000000000000" pitchFamily="2" charset="2"/>
              </a:rPr>
              <a:t>: Seal, Joint, Strips.</a:t>
            </a:r>
          </a:p>
          <a:p>
            <a:pPr marL="12700" indent="0" algn="just">
              <a:lnSpc>
                <a:spcPct val="100000"/>
              </a:lnSpc>
              <a:spcBef>
                <a:spcPts val="600"/>
              </a:spcBef>
              <a:buSzPts val="1100"/>
              <a:buNone/>
            </a:pPr>
            <a:r>
              <a:rPr lang="en-US" sz="1600" dirty="0">
                <a:cs typeface="Times New Roman" panose="02020603050405020304" pitchFamily="18" charset="0"/>
                <a:sym typeface="Wingdings" panose="05000000000000000000" pitchFamily="2" charset="2"/>
              </a:rPr>
              <a:t>    </a:t>
            </a:r>
            <a:r>
              <a:rPr lang="es-ES" sz="1600" b="1" dirty="0">
                <a:solidFill>
                  <a:srgbClr val="FF0000"/>
                </a:solidFill>
                <a:cs typeface="Times New Roman" panose="02020603050405020304" pitchFamily="18" charset="0"/>
                <a:sym typeface="Wingdings" panose="05000000000000000000" pitchFamily="2" charset="2"/>
              </a:rPr>
              <a:t>3. </a:t>
            </a:r>
            <a:r>
              <a:rPr lang="en-US" sz="1600" b="1" dirty="0">
                <a:solidFill>
                  <a:srgbClr val="FF0000"/>
                </a:solidFill>
                <a:cs typeface="Times New Roman" panose="02020603050405020304" pitchFamily="18" charset="0"/>
                <a:sym typeface="Wingdings" panose="05000000000000000000" pitchFamily="2" charset="2"/>
              </a:rPr>
              <a:t>A508_HAN_ ENG# 1, 2CHG, C01, C03, Y01, Y06, EA22-EA02 _21/5-28/6: Est 15/7</a:t>
            </a:r>
          </a:p>
          <a:p>
            <a:pPr marL="12700" indent="0" algn="just">
              <a:lnSpc>
                <a:spcPct val="100000"/>
              </a:lnSpc>
              <a:spcBef>
                <a:spcPts val="600"/>
              </a:spcBef>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ENG Avail 07/7</a:t>
            </a:r>
          </a:p>
          <a:p>
            <a:pPr marL="12700" indent="0" algn="just">
              <a:lnSpc>
                <a:spcPct val="100000"/>
              </a:lnSpc>
              <a:spcBef>
                <a:spcPts val="600"/>
              </a:spcBef>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bay </a:t>
            </a:r>
            <a:r>
              <a:rPr lang="en-US" sz="1600" dirty="0" err="1">
                <a:cs typeface="Times New Roman" panose="02020603050405020304" pitchFamily="18" charset="0"/>
                <a:sym typeface="Wingdings" panose="05000000000000000000" pitchFamily="2" charset="2"/>
              </a:rPr>
              <a:t>thư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va</a:t>
            </a:r>
            <a:r>
              <a:rPr lang="en-US" sz="1600" dirty="0">
                <a:cs typeface="Times New Roman" panose="02020603050405020304" pitchFamily="18" charset="0"/>
                <a:sym typeface="Wingdings" panose="05000000000000000000" pitchFamily="2" charset="2"/>
              </a:rPr>
              <a:t>̀ Renew </a:t>
            </a:r>
            <a:r>
              <a:rPr lang="en-US" sz="1600" dirty="0" err="1">
                <a:cs typeface="Times New Roman" panose="02020603050405020304" pitchFamily="18" charset="0"/>
                <a:sym typeface="Wingdings" panose="05000000000000000000" pitchFamily="2" charset="2"/>
              </a:rPr>
              <a:t>CofA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trước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thác</a:t>
            </a:r>
            <a:r>
              <a:rPr lang="en-US" sz="1600" dirty="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Một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sô</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FWC, F/O Seat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có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a:t>
            </a:r>
          </a:p>
          <a:p>
            <a:pPr marL="12700" indent="0" algn="just">
              <a:lnSpc>
                <a:spcPct val="150000"/>
              </a:lnSpc>
              <a:buSzPts val="1100"/>
              <a:buNone/>
            </a:pPr>
            <a:r>
              <a:rPr lang="es-ES" sz="1600" b="1" dirty="0">
                <a:cs typeface="Times New Roman" panose="02020603050405020304" pitchFamily="18" charset="0"/>
                <a:sym typeface="Wingdings" panose="05000000000000000000" pitchFamily="2" charset="2"/>
              </a:rPr>
              <a:t>III. B787:</a:t>
            </a:r>
          </a:p>
          <a:p>
            <a:pPr marL="12700" indent="0" algn="just">
              <a:lnSpc>
                <a:spcPct val="150000"/>
              </a:lnSpc>
              <a:spcBef>
                <a:spcPts val="0"/>
              </a:spcBef>
              <a:buSzPts val="1100"/>
              <a:buNone/>
            </a:pPr>
            <a:r>
              <a:rPr lang="en-US" sz="1600" b="1" dirty="0">
                <a:solidFill>
                  <a:srgbClr val="FF0000"/>
                </a:solidFill>
                <a:cs typeface="Times New Roman" panose="02020603050405020304" pitchFamily="18" charset="0"/>
                <a:sym typeface="Wingdings" panose="05000000000000000000" pitchFamily="2" charset="2"/>
              </a:rPr>
              <a:t> 1. A871_SGN_A08, </a:t>
            </a:r>
            <a:r>
              <a:rPr lang="en-US" sz="1600" b="1" dirty="0" err="1">
                <a:solidFill>
                  <a:srgbClr val="FF0000"/>
                </a:solidFill>
                <a:cs typeface="Times New Roman" panose="02020603050405020304" pitchFamily="18" charset="0"/>
                <a:sym typeface="Wingdings" panose="05000000000000000000" pitchFamily="2" charset="2"/>
              </a:rPr>
              <a:t>Dán</a:t>
            </a:r>
            <a:r>
              <a:rPr lang="en-US" sz="1600" b="1" dirty="0">
                <a:solidFill>
                  <a:srgbClr val="FF0000"/>
                </a:solidFill>
                <a:cs typeface="Times New Roman" panose="02020603050405020304" pitchFamily="18" charset="0"/>
                <a:sym typeface="Wingdings" panose="05000000000000000000" pitchFamily="2" charset="2"/>
              </a:rPr>
              <a:t> Decal_14-18/6: Est 17/6.</a:t>
            </a:r>
          </a:p>
          <a:p>
            <a:pPr marL="12700" indent="0" algn="just">
              <a:lnSpc>
                <a:spcPct val="150000"/>
              </a:lnSpc>
              <a:spcBef>
                <a:spcPts val="0"/>
              </a:spcBef>
              <a:buSzPts val="1100"/>
              <a:buNone/>
            </a:pPr>
            <a:r>
              <a:rPr lang="fr-FR" sz="1600" dirty="0">
                <a:cs typeface="Times New Roman" panose="02020603050405020304" pitchFamily="18" charset="0"/>
                <a:sym typeface="Wingdings" panose="05000000000000000000" pitchFamily="2" charset="2"/>
              </a:rPr>
              <a:t>    - </a:t>
            </a:r>
            <a:r>
              <a:rPr lang="fr-FR" sz="1600" dirty="0" err="1">
                <a:cs typeface="Times New Roman" panose="02020603050405020304" pitchFamily="18" charset="0"/>
                <a:sym typeface="Wingdings" panose="05000000000000000000" pitchFamily="2" charset="2"/>
              </a:rPr>
              <a:t>Tàu</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dư</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kiến</a:t>
            </a:r>
            <a:r>
              <a:rPr lang="fr-FR" sz="1600" dirty="0">
                <a:cs typeface="Times New Roman" panose="02020603050405020304" pitchFamily="18" charset="0"/>
                <a:sym typeface="Wingdings" panose="05000000000000000000" pitchFamily="2" charset="2"/>
              </a:rPr>
              <a:t> sẽ </a:t>
            </a:r>
            <a:r>
              <a:rPr lang="fr-FR" sz="1600" dirty="0" err="1">
                <a:cs typeface="Times New Roman" panose="02020603050405020304" pitchFamily="18" charset="0"/>
                <a:sym typeface="Wingdings" panose="05000000000000000000" pitchFamily="2" charset="2"/>
              </a:rPr>
              <a:t>tham</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gia</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sư</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kiện</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báo</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Nhân</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Dân</a:t>
            </a:r>
            <a:r>
              <a:rPr lang="fr-FR" sz="1600" dirty="0">
                <a:cs typeface="Times New Roman" panose="02020603050405020304" pitchFamily="18" charset="0"/>
                <a:sym typeface="Wingdings" panose="05000000000000000000" pitchFamily="2" charset="2"/>
              </a:rPr>
              <a:t> 18/6 </a:t>
            </a:r>
            <a:r>
              <a:rPr lang="fr-FR" sz="1600" dirty="0" err="1">
                <a:cs typeface="Times New Roman" panose="02020603050405020304" pitchFamily="18" charset="0"/>
                <a:sym typeface="Wingdings" panose="05000000000000000000" pitchFamily="2" charset="2"/>
              </a:rPr>
              <a:t>tại</a:t>
            </a:r>
            <a:r>
              <a:rPr lang="fr-FR" sz="1600" dirty="0">
                <a:cs typeface="Times New Roman" panose="02020603050405020304" pitchFamily="18" charset="0"/>
                <a:sym typeface="Wingdings" panose="05000000000000000000" pitchFamily="2" charset="2"/>
              </a:rPr>
              <a:t> HAN.</a:t>
            </a:r>
          </a:p>
          <a:p>
            <a:pPr marL="12700" indent="0" algn="just">
              <a:lnSpc>
                <a:spcPct val="150000"/>
              </a:lnSpc>
              <a:spcBef>
                <a:spcPts val="0"/>
              </a:spcBef>
              <a:buSzPts val="1100"/>
              <a:buNone/>
            </a:pPr>
            <a:r>
              <a:rPr lang="fr-FR" sz="1600" dirty="0">
                <a:cs typeface="Times New Roman" panose="02020603050405020304" pitchFamily="18" charset="0"/>
                <a:sym typeface="Wingdings" panose="05000000000000000000" pitchFamily="2" charset="2"/>
              </a:rPr>
              <a:t>    - </a:t>
            </a:r>
            <a:r>
              <a:rPr lang="fr-FR" sz="1600" dirty="0" err="1">
                <a:cs typeface="Times New Roman" panose="02020603050405020304" pitchFamily="18" charset="0"/>
                <a:sym typeface="Wingdings" panose="05000000000000000000" pitchFamily="2" charset="2"/>
              </a:rPr>
              <a:t>Đa</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co</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Approved</a:t>
            </a:r>
            <a:r>
              <a:rPr lang="fr-FR" sz="1600" dirty="0">
                <a:cs typeface="Times New Roman" panose="02020603050405020304" pitchFamily="18" charset="0"/>
                <a:sym typeface="Wingdings" panose="05000000000000000000" pitchFamily="2" charset="2"/>
              </a:rPr>
              <a:t> DOA và </a:t>
            </a:r>
            <a:r>
              <a:rPr lang="fr-FR" sz="1600" dirty="0" err="1">
                <a:cs typeface="Times New Roman" panose="02020603050405020304" pitchFamily="18" charset="0"/>
                <a:sym typeface="Wingdings" panose="05000000000000000000" pitchFamily="2" charset="2"/>
              </a:rPr>
              <a:t>hoàn</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tất</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việc</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dán</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Decal</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lên</a:t>
            </a:r>
            <a:r>
              <a:rPr lang="fr-FR" sz="1600" dirty="0">
                <a:cs typeface="Times New Roman" panose="02020603050405020304" pitchFamily="18" charset="0"/>
                <a:sym typeface="Wingdings" panose="05000000000000000000" pitchFamily="2" charset="2"/>
              </a:rPr>
              <a:t> </a:t>
            </a:r>
            <a:r>
              <a:rPr lang="fr-FR" sz="1600" dirty="0" err="1">
                <a:cs typeface="Times New Roman" panose="02020603050405020304" pitchFamily="18" charset="0"/>
                <a:sym typeface="Wingdings" panose="05000000000000000000" pitchFamily="2" charset="2"/>
              </a:rPr>
              <a:t>tàu</a:t>
            </a:r>
            <a:r>
              <a:rPr lang="fr-FR" sz="1600" dirty="0">
                <a:cs typeface="Times New Roman" panose="02020603050405020304" pitchFamily="18" charset="0"/>
                <a:sym typeface="Wingdings" panose="05000000000000000000" pitchFamily="2" charset="2"/>
              </a:rPr>
              <a:t>, .</a:t>
            </a:r>
          </a:p>
          <a:p>
            <a:pPr marL="12700" indent="0" algn="just">
              <a:lnSpc>
                <a:spcPct val="100000"/>
              </a:lnSpc>
              <a:spcBef>
                <a:spcPts val="600"/>
              </a:spcBef>
              <a:buSzPts val="1100"/>
              <a:buNone/>
            </a:pPr>
            <a:endParaRPr lang="en-US" sz="1500" dirty="0">
              <a:cs typeface="Times New Roman" panose="02020603050405020304" pitchFamily="18" charset="0"/>
              <a:sym typeface="Wingdings" panose="05000000000000000000" pitchFamily="2" charset="2"/>
            </a:endParaRPr>
          </a:p>
          <a:p>
            <a:pPr marL="12700" indent="0">
              <a:lnSpc>
                <a:spcPct val="120000"/>
              </a:lnSpc>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8160078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46</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609600"/>
            <a:ext cx="10591800" cy="62484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lnSpc>
                <a:spcPct val="150000"/>
              </a:lnSpc>
              <a:buSzPts val="1100"/>
              <a:buNone/>
            </a:pPr>
            <a:r>
              <a:rPr lang="es-ES" sz="1600" b="1" dirty="0">
                <a:sym typeface="Wingdings" panose="05000000000000000000" pitchFamily="2" charset="2"/>
              </a:rPr>
              <a:t>IV. ATR72:</a:t>
            </a:r>
          </a:p>
          <a:p>
            <a:pPr marL="12700" indent="0" algn="just">
              <a:lnSpc>
                <a:spcPct val="150000"/>
              </a:lnSpc>
              <a:buSzPts val="1100"/>
              <a:buNone/>
            </a:pPr>
            <a:r>
              <a:rPr lang="en-US" sz="1600" b="1" dirty="0">
                <a:solidFill>
                  <a:srgbClr val="FF0000"/>
                </a:solidFill>
                <a:sym typeface="Wingdings" panose="05000000000000000000" pitchFamily="2" charset="2"/>
              </a:rPr>
              <a:t>1. B219_SGN_Y01, Y02, Y04, Y08, RPL LH LDG_12/05-04/06: Est 23/6.</a:t>
            </a:r>
          </a:p>
          <a:p>
            <a:pPr marL="12700" indent="0" algn="just">
              <a:lnSpc>
                <a:spcPct val="150000"/>
              </a:lnSpc>
              <a:buSzPts val="1100"/>
              <a:buNone/>
            </a:pPr>
            <a:r>
              <a:rPr lang="en-US" sz="1600" dirty="0">
                <a:cs typeface="Times New Roman" panose="02020603050405020304" pitchFamily="18" charset="0"/>
                <a:sym typeface="Wingdings" panose="05000000000000000000" pitchFamily="2" charset="2"/>
              </a:rPr>
              <a:t>  </a:t>
            </a:r>
            <a:r>
              <a:rPr lang="vi-VN" sz="1600" dirty="0">
                <a:cs typeface="Times New Roman" panose="02020603050405020304" pitchFamily="18" charset="0"/>
                <a:sym typeface="Wingdings" panose="05000000000000000000" pitchFamily="2" charset="2"/>
              </a:rPr>
              <a:t>-  LH MLG tiếp tục bị lùi, Est 20/6..</a:t>
            </a:r>
          </a:p>
          <a:p>
            <a:pPr marL="12700" indent="0" algn="just">
              <a:lnSpc>
                <a:spcPct val="150000"/>
              </a:lnSpc>
              <a:buSzPts val="1100"/>
              <a:buNone/>
            </a:pPr>
            <a:r>
              <a:rPr lang="vi-VN" sz="1600" dirty="0">
                <a:cs typeface="Times New Roman" panose="02020603050405020304" pitchFamily="18" charset="0"/>
                <a:sym typeface="Wingdings" panose="05000000000000000000" pitchFamily="2" charset="2"/>
              </a:rPr>
              <a:t>  - </a:t>
            </a:r>
            <a:r>
              <a:rPr lang="en-US" sz="1600" dirty="0">
                <a:cs typeface="Times New Roman" panose="02020603050405020304" pitchFamily="18" charset="0"/>
                <a:sym typeface="Wingdings" panose="05000000000000000000" pitchFamily="2" charset="2"/>
              </a:rPr>
              <a:t> B</a:t>
            </a:r>
            <a:r>
              <a:rPr lang="vi-VN" sz="1600" dirty="0">
                <a:cs typeface="Times New Roman" panose="02020603050405020304" pitchFamily="18" charset="0"/>
                <a:sym typeface="Wingdings" panose="05000000000000000000" pitchFamily="2" charset="2"/>
              </a:rPr>
              <a:t>ổ sung Check B225</a:t>
            </a:r>
            <a:r>
              <a:rPr lang="en-US" sz="1600" dirty="0">
                <a:cs typeface="Times New Roman" panose="02020603050405020304" pitchFamily="18" charset="0"/>
                <a:sym typeface="Wingdings" panose="05000000000000000000" pitchFamily="2" charset="2"/>
              </a:rPr>
              <a:t>,</a:t>
            </a:r>
            <a:r>
              <a:rPr lang="vi-VN" sz="1600" dirty="0">
                <a:cs typeface="Times New Roman" panose="02020603050405020304" pitchFamily="18" charset="0"/>
                <a:sym typeface="Wingdings" panose="05000000000000000000" pitchFamily="2" charset="2"/>
              </a:rPr>
              <a:t> 5000 FH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vi-VN" sz="1600" dirty="0">
                <a:cs typeface="Times New Roman" panose="02020603050405020304" pitchFamily="18" charset="0"/>
                <a:sym typeface="Wingdings" panose="05000000000000000000" pitchFamily="2" charset="2"/>
              </a:rPr>
              <a:t> bàn giao tàu cho K6</a:t>
            </a:r>
            <a:r>
              <a:rPr lang="en-US" sz="1600" dirty="0">
                <a:cs typeface="Times New Roman" panose="02020603050405020304" pitchFamily="18" charset="0"/>
                <a:sym typeface="Wingdings" panose="05000000000000000000" pitchFamily="2" charset="2"/>
              </a:rPr>
              <a:t> = &gt; B219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ext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thêm</a:t>
            </a:r>
            <a:r>
              <a:rPr lang="en-US" sz="1600" dirty="0">
                <a:cs typeface="Times New Roman" panose="02020603050405020304" pitchFamily="18" charset="0"/>
                <a:sym typeface="Wingdings" panose="05000000000000000000" pitchFamily="2" charset="2"/>
              </a:rPr>
              <a:t> 1 </a:t>
            </a:r>
            <a:r>
              <a:rPr lang="en-US" sz="1600" dirty="0" err="1">
                <a:cs typeface="Times New Roman" panose="02020603050405020304" pitchFamily="18" charset="0"/>
                <a:sym typeface="Wingdings" panose="05000000000000000000" pitchFamily="2" charset="2"/>
              </a:rPr>
              <a:t>ngày</a:t>
            </a:r>
            <a:endParaRPr lang="vi-VN" sz="1600" dirty="0">
              <a:cs typeface="Times New Roman" panose="02020603050405020304" pitchFamily="18" charset="0"/>
              <a:sym typeface="Wingdings" panose="05000000000000000000" pitchFamily="2" charset="2"/>
            </a:endParaRPr>
          </a:p>
          <a:p>
            <a:pPr marL="12700" indent="0" algn="just">
              <a:lnSpc>
                <a:spcPct val="150000"/>
              </a:lnSpc>
              <a:buSzPts val="1100"/>
              <a:buNone/>
            </a:pPr>
            <a:r>
              <a:rPr lang="vi-VN" sz="1600" dirty="0">
                <a:cs typeface="Times New Roman" panose="02020603050405020304" pitchFamily="18" charset="0"/>
                <a:sym typeface="Wingdings" panose="05000000000000000000" pitchFamily="2" charset="2"/>
              </a:rPr>
              <a:t>  - Many LH/RH Wing Flap Cam Guide Corroded= &gt;ATR cho phép khai thác với missing 1 khối Cam-guide mỗi bên cánh. Các khối khác đang xin ATR cho bay As-is.  = &gt; Đ/n VAECO tìm p/a sớm bổ  sung Cam-guide cho các vị trí Missing.</a:t>
            </a:r>
            <a:endParaRPr lang="en-US" sz="1600" dirty="0">
              <a:cs typeface="Times New Roman" panose="02020603050405020304" pitchFamily="18" charset="0"/>
              <a:sym typeface="Wingdings" panose="05000000000000000000" pitchFamily="2" charset="2"/>
            </a:endParaRPr>
          </a:p>
          <a:p>
            <a:pPr marL="12700" indent="0">
              <a:lnSpc>
                <a:spcPct val="120000"/>
              </a:lnSpc>
              <a:buSzPts val="1100"/>
              <a:buNone/>
            </a:pPr>
            <a:r>
              <a:rPr lang="en-US" sz="1600" b="1" dirty="0">
                <a:cs typeface="Times New Roman" panose="02020603050405020304" pitchFamily="18" charset="0"/>
              </a:rPr>
              <a:t>II. A350:</a:t>
            </a:r>
            <a:r>
              <a:rPr lang="es-ES" sz="1600" i="1" dirty="0">
                <a:cs typeface="Times New Roman" panose="02020603050405020304" pitchFamily="18" charset="0"/>
                <a:sym typeface="Wingdings" panose="05000000000000000000" pitchFamily="2" charset="2"/>
              </a:rPr>
              <a:t> </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1. A890_HAN_ A12_14-17/06: On sked</a:t>
            </a:r>
          </a:p>
          <a:p>
            <a:pPr marL="12700" indent="0" algn="just">
              <a:buSzPts val="1100"/>
              <a:buNone/>
            </a:pPr>
            <a:r>
              <a:rPr lang="en-US" sz="1600" dirty="0">
                <a:cs typeface="Times New Roman" panose="02020603050405020304" pitchFamily="18" charset="0"/>
                <a:sym typeface="Wingdings" panose="05000000000000000000" pitchFamily="2" charset="2"/>
              </a:rPr>
              <a:t>   </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2. A886_HAN_ A03-A06, C01, INSTALL ENG 1,2 +RTS_25/05-05/07: On sked</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vi-VN" sz="1600" dirty="0">
                <a:cs typeface="Times New Roman" panose="02020603050405020304" pitchFamily="18" charset="0"/>
                <a:sym typeface="Wingdings" panose="05000000000000000000" pitchFamily="2" charset="2"/>
              </a:rPr>
              <a:t>Đ/n ENG về đúng KH hiện tại,</a:t>
            </a:r>
          </a:p>
          <a:p>
            <a:pPr marL="12700" indent="0" algn="just">
              <a:buSzPts val="1100"/>
              <a:buNone/>
            </a:pPr>
            <a:r>
              <a:rPr lang="vi-VN" sz="1600" dirty="0">
                <a:cs typeface="Times New Roman" panose="02020603050405020304" pitchFamily="18" charset="0"/>
                <a:sym typeface="Wingdings" panose="05000000000000000000" pitchFamily="2" charset="2"/>
              </a:rPr>
              <a:t>    - Đã gửi sai lệch BQDB cho Airbus,</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18/6 có Draft TM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lệch</a:t>
            </a:r>
            <a:r>
              <a:rPr lang="en-US" sz="1600" dirty="0">
                <a:cs typeface="Times New Roman" panose="02020603050405020304" pitchFamily="18" charset="0"/>
                <a:sym typeface="Wingdings" panose="05000000000000000000" pitchFamily="2" charset="2"/>
              </a:rPr>
              <a:t> BQ.</a:t>
            </a:r>
            <a:endParaRPr lang="vi-VN" sz="1600" dirty="0">
              <a:cs typeface="Times New Roman" panose="02020603050405020304" pitchFamily="18" charset="0"/>
              <a:sym typeface="Wingdings" panose="05000000000000000000" pitchFamily="2" charset="2"/>
            </a:endParaRPr>
          </a:p>
          <a:p>
            <a:pPr marL="12700" indent="0" algn="just">
              <a:buSzPts val="1100"/>
              <a:buNone/>
            </a:pPr>
            <a:r>
              <a:rPr lang="vi-VN" sz="1600" dirty="0">
                <a:cs typeface="Times New Roman" panose="02020603050405020304" pitchFamily="18" charset="0"/>
                <a:sym typeface="Wingdings" panose="05000000000000000000" pitchFamily="2" charset="2"/>
              </a:rPr>
              <a:t>    - Nhiều Vật tư chưa có dự kiến như Droop nose, Brake Motor, Bushing, Oven, Chiller... = &gt; Đ/n QLVT/ CƯVT có KH cung ứng đảm bảo tiến độ.</a:t>
            </a:r>
          </a:p>
          <a:p>
            <a:pPr marL="12700" indent="0" algn="just">
              <a:buSzPts val="1100"/>
              <a:buNone/>
            </a:pPr>
            <a:r>
              <a:rPr lang="vi-VN" sz="1600" dirty="0">
                <a:cs typeface="Times New Roman" panose="02020603050405020304" pitchFamily="18" charset="0"/>
                <a:sym typeface="Wingdings" panose="05000000000000000000" pitchFamily="2" charset="2"/>
              </a:rPr>
              <a:t>    - Cần bay thử sau Check và renew CofA.</a:t>
            </a:r>
            <a:endParaRPr lang="fr-FR" sz="1600" dirty="0">
              <a:cs typeface="Times New Roman" panose="02020603050405020304" pitchFamily="18" charset="0"/>
              <a:sym typeface="Wingdings" panose="05000000000000000000" pitchFamily="2" charset="2"/>
            </a:endParaRPr>
          </a:p>
          <a:p>
            <a:pPr marL="12700" indent="0" algn="just">
              <a:lnSpc>
                <a:spcPct val="150000"/>
              </a:lnSpc>
              <a:buSzPts val="1100"/>
              <a:buNone/>
            </a:pPr>
            <a:endParaRPr lang="fr-FR" sz="14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621510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B465A547-B0A7-BD76-FD53-BC839A7398C3}"/>
              </a:ext>
            </a:extLst>
          </p:cNvPr>
          <p:cNvGraphicFramePr>
            <a:graphicFrameLocks noGrp="1"/>
          </p:cNvGraphicFramePr>
          <p:nvPr/>
        </p:nvGraphicFramePr>
        <p:xfrm>
          <a:off x="457200" y="1600200"/>
          <a:ext cx="11277600" cy="4343399"/>
        </p:xfrm>
        <a:graphic>
          <a:graphicData uri="http://schemas.openxmlformats.org/drawingml/2006/table">
            <a:tbl>
              <a:tblPr/>
              <a:tblGrid>
                <a:gridCol w="314273">
                  <a:extLst>
                    <a:ext uri="{9D8B030D-6E8A-4147-A177-3AD203B41FA5}">
                      <a16:colId xmlns:a16="http://schemas.microsoft.com/office/drawing/2014/main" val="1426714235"/>
                    </a:ext>
                  </a:extLst>
                </a:gridCol>
                <a:gridCol w="2127393">
                  <a:extLst>
                    <a:ext uri="{9D8B030D-6E8A-4147-A177-3AD203B41FA5}">
                      <a16:colId xmlns:a16="http://schemas.microsoft.com/office/drawing/2014/main" val="3715751870"/>
                    </a:ext>
                  </a:extLst>
                </a:gridCol>
                <a:gridCol w="483498">
                  <a:extLst>
                    <a:ext uri="{9D8B030D-6E8A-4147-A177-3AD203B41FA5}">
                      <a16:colId xmlns:a16="http://schemas.microsoft.com/office/drawing/2014/main" val="3012294961"/>
                    </a:ext>
                  </a:extLst>
                </a:gridCol>
                <a:gridCol w="459324">
                  <a:extLst>
                    <a:ext uri="{9D8B030D-6E8A-4147-A177-3AD203B41FA5}">
                      <a16:colId xmlns:a16="http://schemas.microsoft.com/office/drawing/2014/main" val="3156779075"/>
                    </a:ext>
                  </a:extLst>
                </a:gridCol>
                <a:gridCol w="495586">
                  <a:extLst>
                    <a:ext uri="{9D8B030D-6E8A-4147-A177-3AD203B41FA5}">
                      <a16:colId xmlns:a16="http://schemas.microsoft.com/office/drawing/2014/main" val="2367831226"/>
                    </a:ext>
                  </a:extLst>
                </a:gridCol>
                <a:gridCol w="483498">
                  <a:extLst>
                    <a:ext uri="{9D8B030D-6E8A-4147-A177-3AD203B41FA5}">
                      <a16:colId xmlns:a16="http://schemas.microsoft.com/office/drawing/2014/main" val="1658072405"/>
                    </a:ext>
                  </a:extLst>
                </a:gridCol>
                <a:gridCol w="495586">
                  <a:extLst>
                    <a:ext uri="{9D8B030D-6E8A-4147-A177-3AD203B41FA5}">
                      <a16:colId xmlns:a16="http://schemas.microsoft.com/office/drawing/2014/main" val="2514074343"/>
                    </a:ext>
                  </a:extLst>
                </a:gridCol>
                <a:gridCol w="495586">
                  <a:extLst>
                    <a:ext uri="{9D8B030D-6E8A-4147-A177-3AD203B41FA5}">
                      <a16:colId xmlns:a16="http://schemas.microsoft.com/office/drawing/2014/main" val="577231037"/>
                    </a:ext>
                  </a:extLst>
                </a:gridCol>
                <a:gridCol w="495586">
                  <a:extLst>
                    <a:ext uri="{9D8B030D-6E8A-4147-A177-3AD203B41FA5}">
                      <a16:colId xmlns:a16="http://schemas.microsoft.com/office/drawing/2014/main" val="4273135141"/>
                    </a:ext>
                  </a:extLst>
                </a:gridCol>
                <a:gridCol w="483498">
                  <a:extLst>
                    <a:ext uri="{9D8B030D-6E8A-4147-A177-3AD203B41FA5}">
                      <a16:colId xmlns:a16="http://schemas.microsoft.com/office/drawing/2014/main" val="480965342"/>
                    </a:ext>
                  </a:extLst>
                </a:gridCol>
                <a:gridCol w="495586">
                  <a:extLst>
                    <a:ext uri="{9D8B030D-6E8A-4147-A177-3AD203B41FA5}">
                      <a16:colId xmlns:a16="http://schemas.microsoft.com/office/drawing/2014/main" val="1366827984"/>
                    </a:ext>
                  </a:extLst>
                </a:gridCol>
                <a:gridCol w="4448186">
                  <a:extLst>
                    <a:ext uri="{9D8B030D-6E8A-4147-A177-3AD203B41FA5}">
                      <a16:colId xmlns:a16="http://schemas.microsoft.com/office/drawing/2014/main" val="3756831575"/>
                    </a:ext>
                  </a:extLst>
                </a:gridCol>
              </a:tblGrid>
              <a:tr h="484230">
                <a:tc gridSpan="12">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15/06)</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89439940"/>
                  </a:ext>
                </a:extLst>
              </a:tr>
              <a:tr h="586945">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Jan-26</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Feb-26</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131222121"/>
                  </a:ext>
                </a:extLst>
              </a:tr>
              <a:tr h="1672796">
                <a:tc>
                  <a:txBody>
                    <a:bodyPr/>
                    <a:lstStyle/>
                    <a:p>
                      <a:pPr algn="ctr" fontAlgn="ctr"/>
                      <a:r>
                        <a:rPr lang="en-US" sz="1200" b="1" i="0" u="none" strike="noStrike">
                          <a:solidFill>
                            <a:srgbClr val="000000"/>
                          </a:solidFill>
                          <a:effectLst/>
                          <a:latin typeface="Times New Roman" panose="02020603050405020304" pitchFamily="18" charset="0"/>
                        </a:rPr>
                        <a:t>1</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12.00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FF0000"/>
                          </a:solidFill>
                          <a:effectLst/>
                          <a:latin typeface="Times New Roman" panose="02020603050405020304" pitchFamily="18" charset="0"/>
                        </a:rPr>
                        <a:t>10.75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10.50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10.50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10.50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11.00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FF0000"/>
                          </a:solidFill>
                          <a:effectLst/>
                          <a:latin typeface="Times New Roman" panose="02020603050405020304" pitchFamily="18" charset="0"/>
                        </a:rPr>
                        <a:t>- 07/2025: tăng 0.25 tàu do ENG sửa chữa dự kiến về 12/07 (muộn hơn 5 ngày so với kế hoạch cũ 07/07) .</a:t>
                      </a:r>
                      <a:br>
                        <a:rPr lang="vi-VN" sz="1200" b="0" i="0" u="none" strike="noStrike" dirty="0">
                          <a:solidFill>
                            <a:srgbClr val="000000"/>
                          </a:solidFill>
                          <a:effectLst/>
                          <a:latin typeface="Times New Roman" panose="02020603050405020304" pitchFamily="18" charset="0"/>
                        </a:rPr>
                      </a:br>
                      <a:endParaRPr lang="vi-VN" sz="1200" b="0" i="0" u="none" strike="noStrike" dirty="0">
                        <a:solidFill>
                          <a:srgbClr val="000000"/>
                        </a:solidFill>
                        <a:effectLst/>
                        <a:latin typeface="Times New Roman" panose="02020603050405020304" pitchFamily="18" charset="0"/>
                      </a:endParaRP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6229522"/>
                  </a:ext>
                </a:extLst>
              </a:tr>
              <a:tr h="507709">
                <a:tc>
                  <a:txBody>
                    <a:bodyPr/>
                    <a:lstStyle/>
                    <a:p>
                      <a:pPr algn="ctr" fontAlgn="ctr"/>
                      <a:r>
                        <a:rPr lang="en-US" sz="1200" b="1" i="0" u="none" strike="noStrike">
                          <a:solidFill>
                            <a:srgbClr val="000000"/>
                          </a:solidFill>
                          <a:effectLst/>
                          <a:latin typeface="Times New Roman" panose="02020603050405020304" pitchFamily="18" charset="0"/>
                        </a:rPr>
                        <a:t>2</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122479655"/>
                  </a:ext>
                </a:extLst>
              </a:tr>
              <a:tr h="481295">
                <a:tc>
                  <a:txBody>
                    <a:bodyPr/>
                    <a:lstStyle/>
                    <a:p>
                      <a:pPr algn="ctr" fontAlgn="ctr"/>
                      <a:r>
                        <a:rPr lang="en-US" sz="1200" b="1" i="0" u="none" strike="noStrike">
                          <a:solidFill>
                            <a:srgbClr val="000000"/>
                          </a:solidFill>
                          <a:effectLst/>
                          <a:latin typeface="Times New Roman" panose="02020603050405020304" pitchFamily="18" charset="0"/>
                        </a:rPr>
                        <a:t>3</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0.90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2.20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7631828"/>
                  </a:ext>
                </a:extLst>
              </a:tr>
              <a:tr h="610424">
                <a:tc>
                  <a:txBody>
                    <a:bodyPr/>
                    <a:lstStyle/>
                    <a:p>
                      <a:pPr algn="ctr" fontAlgn="ctr"/>
                      <a:r>
                        <a:rPr lang="en-US" sz="1200" b="1" i="0" u="none" strike="noStrike">
                          <a:solidFill>
                            <a:srgbClr val="000000"/>
                          </a:solidFill>
                          <a:effectLst/>
                          <a:latin typeface="Times New Roman" panose="02020603050405020304" pitchFamily="18" charset="0"/>
                        </a:rPr>
                        <a:t>4</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13.30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11.65</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13.70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13.50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12.20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12.30</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762" marR="6762" marT="67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625854082"/>
                  </a:ext>
                </a:extLst>
              </a:tr>
            </a:tbl>
          </a:graphicData>
        </a:graphic>
      </p:graphicFrame>
    </p:spTree>
    <p:extLst>
      <p:ext uri="{BB962C8B-B14F-4D97-AF65-F5344CB8AC3E}">
        <p14:creationId xmlns:p14="http://schemas.microsoft.com/office/powerpoint/2010/main" val="5368293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id="{05B8125F-0318-5F09-5DEA-896034DCE42B}"/>
              </a:ext>
            </a:extLst>
          </p:cNvPr>
          <p:cNvGraphicFramePr>
            <a:graphicFrameLocks noGrp="1"/>
          </p:cNvGraphicFramePr>
          <p:nvPr/>
        </p:nvGraphicFramePr>
        <p:xfrm>
          <a:off x="381000" y="838200"/>
          <a:ext cx="11430000" cy="5791198"/>
        </p:xfrm>
        <a:graphic>
          <a:graphicData uri="http://schemas.openxmlformats.org/drawingml/2006/table">
            <a:tbl>
              <a:tblPr/>
              <a:tblGrid>
                <a:gridCol w="380183">
                  <a:extLst>
                    <a:ext uri="{9D8B030D-6E8A-4147-A177-3AD203B41FA5}">
                      <a16:colId xmlns:a16="http://schemas.microsoft.com/office/drawing/2014/main" val="3069966951"/>
                    </a:ext>
                  </a:extLst>
                </a:gridCol>
                <a:gridCol w="2599958">
                  <a:extLst>
                    <a:ext uri="{9D8B030D-6E8A-4147-A177-3AD203B41FA5}">
                      <a16:colId xmlns:a16="http://schemas.microsoft.com/office/drawing/2014/main" val="3557648778"/>
                    </a:ext>
                  </a:extLst>
                </a:gridCol>
                <a:gridCol w="502821">
                  <a:extLst>
                    <a:ext uri="{9D8B030D-6E8A-4147-A177-3AD203B41FA5}">
                      <a16:colId xmlns:a16="http://schemas.microsoft.com/office/drawing/2014/main" val="1298258902"/>
                    </a:ext>
                  </a:extLst>
                </a:gridCol>
                <a:gridCol w="466031">
                  <a:extLst>
                    <a:ext uri="{9D8B030D-6E8A-4147-A177-3AD203B41FA5}">
                      <a16:colId xmlns:a16="http://schemas.microsoft.com/office/drawing/2014/main" val="172641190"/>
                    </a:ext>
                  </a:extLst>
                </a:gridCol>
                <a:gridCol w="527350">
                  <a:extLst>
                    <a:ext uri="{9D8B030D-6E8A-4147-A177-3AD203B41FA5}">
                      <a16:colId xmlns:a16="http://schemas.microsoft.com/office/drawing/2014/main" val="3457438480"/>
                    </a:ext>
                  </a:extLst>
                </a:gridCol>
                <a:gridCol w="502821">
                  <a:extLst>
                    <a:ext uri="{9D8B030D-6E8A-4147-A177-3AD203B41FA5}">
                      <a16:colId xmlns:a16="http://schemas.microsoft.com/office/drawing/2014/main" val="313874409"/>
                    </a:ext>
                  </a:extLst>
                </a:gridCol>
                <a:gridCol w="502821">
                  <a:extLst>
                    <a:ext uri="{9D8B030D-6E8A-4147-A177-3AD203B41FA5}">
                      <a16:colId xmlns:a16="http://schemas.microsoft.com/office/drawing/2014/main" val="1144219864"/>
                    </a:ext>
                  </a:extLst>
                </a:gridCol>
                <a:gridCol w="527350">
                  <a:extLst>
                    <a:ext uri="{9D8B030D-6E8A-4147-A177-3AD203B41FA5}">
                      <a16:colId xmlns:a16="http://schemas.microsoft.com/office/drawing/2014/main" val="4122245706"/>
                    </a:ext>
                  </a:extLst>
                </a:gridCol>
                <a:gridCol w="502821">
                  <a:extLst>
                    <a:ext uri="{9D8B030D-6E8A-4147-A177-3AD203B41FA5}">
                      <a16:colId xmlns:a16="http://schemas.microsoft.com/office/drawing/2014/main" val="429607545"/>
                    </a:ext>
                  </a:extLst>
                </a:gridCol>
                <a:gridCol w="4917844">
                  <a:extLst>
                    <a:ext uri="{9D8B030D-6E8A-4147-A177-3AD203B41FA5}">
                      <a16:colId xmlns:a16="http://schemas.microsoft.com/office/drawing/2014/main" val="145200968"/>
                    </a:ext>
                  </a:extLst>
                </a:gridCol>
              </a:tblGrid>
              <a:tr h="350660">
                <a:tc gridSpan="10">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15/06)</a:t>
                      </a:r>
                    </a:p>
                  </a:txBody>
                  <a:tcPr marL="6387" marR="6387" marT="6387"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49777483"/>
                  </a:ext>
                </a:extLst>
              </a:tr>
              <a:tr h="331533">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514823553"/>
                  </a:ext>
                </a:extLst>
              </a:tr>
              <a:tr h="966971">
                <a:tc>
                  <a:txBody>
                    <a:bodyPr/>
                    <a:lstStyle/>
                    <a:p>
                      <a:pPr algn="ctr" fontAlgn="ctr"/>
                      <a:r>
                        <a:rPr lang="en-US" sz="1200" b="0" i="0" u="none" strike="noStrike">
                          <a:solidFill>
                            <a:srgbClr val="000000"/>
                          </a:solidFill>
                          <a:effectLst/>
                          <a:latin typeface="Times New Roman" panose="02020603050405020304" pitchFamily="18" charset="0"/>
                        </a:rPr>
                        <a:t>1</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dirty="0">
                          <a:solidFill>
                            <a:srgbClr val="000000"/>
                          </a:solidFill>
                          <a:effectLst/>
                          <a:latin typeface="Times New Roman" panose="02020603050405020304" pitchFamily="18" charset="0"/>
                        </a:rPr>
                        <a:t>A350 AOG do thiếu ENG</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2.0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a:solidFill>
                            <a:srgbClr val="000000"/>
                          </a:solidFill>
                          <a:effectLst/>
                          <a:latin typeface="Times New Roman" panose="02020603050405020304" pitchFamily="18" charset="0"/>
                        </a:rPr>
                        <a:t>- 07/2025: tăng 0.5 tàu do ENG về muộn  =&gt; A895 RTS muộn</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- 08/2025: tăng 0.25 tàu do ENG về muộn</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- 09,10/2025: giảm và tăng tương ứng 0.5 tàu do ảnh hưởng việc stagger</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- 12/2025: giảm 1 tàu do về thêm 1 ENG quick turn</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5944502"/>
                  </a:ext>
                </a:extLst>
              </a:tr>
              <a:tr h="416541">
                <a:tc>
                  <a:txBody>
                    <a:bodyPr/>
                    <a:lstStyle/>
                    <a:p>
                      <a:pPr algn="ctr" fontAlgn="ctr"/>
                      <a:r>
                        <a:rPr lang="en-US" sz="1200" b="0" i="0" u="none" strike="noStrike">
                          <a:solidFill>
                            <a:srgbClr val="000000"/>
                          </a:solidFill>
                          <a:effectLst/>
                          <a:latin typeface="Times New Roman" panose="02020603050405020304" pitchFamily="18" charset="0"/>
                        </a:rPr>
                        <a:t>2</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0.5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07/2025: tăng 0.2 tàu do bổ sung thay ENG A890 (không giữ được giờ do ENG 21584 về 16/06 muộn 14 ngày so với KH cũ 02/06)</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219113547"/>
                  </a:ext>
                </a:extLst>
              </a:tr>
              <a:tr h="425042">
                <a:tc>
                  <a:txBody>
                    <a:bodyPr/>
                    <a:lstStyle/>
                    <a:p>
                      <a:pPr algn="ctr" fontAlgn="ctr"/>
                      <a:r>
                        <a:rPr lang="en-US" sz="1200" b="0" i="0" u="none" strike="noStrike">
                          <a:solidFill>
                            <a:srgbClr val="000000"/>
                          </a:solidFill>
                          <a:effectLst/>
                          <a:latin typeface="Times New Roman" panose="02020603050405020304" pitchFamily="18" charset="0"/>
                        </a:rPr>
                        <a:t>3</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7916614"/>
                  </a:ext>
                </a:extLst>
              </a:tr>
              <a:tr h="425042">
                <a:tc>
                  <a:txBody>
                    <a:bodyPr/>
                    <a:lstStyle/>
                    <a:p>
                      <a:pPr algn="ctr" fontAlgn="ctr"/>
                      <a:r>
                        <a:rPr lang="en-US" sz="1200" b="0" i="0" u="none" strike="noStrike">
                          <a:solidFill>
                            <a:srgbClr val="000000"/>
                          </a:solidFill>
                          <a:effectLst/>
                          <a:latin typeface="Times New Roman" panose="02020603050405020304" pitchFamily="18" charset="0"/>
                        </a:rPr>
                        <a:t>4</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055019047"/>
                  </a:ext>
                </a:extLst>
              </a:tr>
              <a:tr h="425042">
                <a:tc>
                  <a:txBody>
                    <a:bodyPr/>
                    <a:lstStyle/>
                    <a:p>
                      <a:pPr algn="ctr" fontAlgn="ctr"/>
                      <a:r>
                        <a:rPr lang="en-US" sz="1200" b="0" i="0" u="none" strike="noStrike">
                          <a:solidFill>
                            <a:srgbClr val="000000"/>
                          </a:solidFill>
                          <a:effectLst/>
                          <a:latin typeface="Times New Roman" panose="02020603050405020304" pitchFamily="18" charset="0"/>
                        </a:rPr>
                        <a:t>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1949920"/>
                  </a:ext>
                </a:extLst>
              </a:tr>
              <a:tr h="1175241">
                <a:tc>
                  <a:txBody>
                    <a:bodyPr/>
                    <a:lstStyle/>
                    <a:p>
                      <a:pPr algn="ctr" fontAlgn="ctr"/>
                      <a:r>
                        <a:rPr lang="en-US" sz="1200" b="0" i="0" u="none" strike="noStrike">
                          <a:solidFill>
                            <a:srgbClr val="000000"/>
                          </a:solidFill>
                          <a:effectLst/>
                          <a:latin typeface="Times New Roman" panose="02020603050405020304" pitchFamily="18" charset="0"/>
                        </a:rPr>
                        <a:t>6</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0.4</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- 06/2025: tăng 0.2 tàu do ảnh hưởng thay ENG A871 AOG và bổ sung thay ENG A863 &amp; A873</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- 07/2023: tăng 0.2 tàu do bổ sung thay ENG A873 (giới hạn CY để ko phát sinh tăng WS SV)</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- 08/2025: tăng 0.2 tàu do A870 Y3 (due: 04/06) xin NN lùi sau cao điểm hè</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82185915"/>
                  </a:ext>
                </a:extLst>
              </a:tr>
              <a:tr h="425042">
                <a:tc>
                  <a:txBody>
                    <a:bodyPr/>
                    <a:lstStyle/>
                    <a:p>
                      <a:pPr algn="ctr" fontAlgn="ctr"/>
                      <a:r>
                        <a:rPr lang="en-US" sz="1200" b="0" i="0" u="none" strike="noStrike">
                          <a:solidFill>
                            <a:srgbClr val="000000"/>
                          </a:solidFill>
                          <a:effectLst/>
                          <a:latin typeface="Times New Roman" panose="02020603050405020304" pitchFamily="18" charset="0"/>
                        </a:rPr>
                        <a:t>7</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0.4</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1994977"/>
                  </a:ext>
                </a:extLst>
              </a:tr>
              <a:tr h="425042">
                <a:tc>
                  <a:txBody>
                    <a:bodyPr/>
                    <a:lstStyle/>
                    <a:p>
                      <a:pPr algn="ctr" fontAlgn="ctr"/>
                      <a:r>
                        <a:rPr lang="en-US" sz="1200" b="0" i="0" u="none" strike="noStrike">
                          <a:solidFill>
                            <a:srgbClr val="000000"/>
                          </a:solidFill>
                          <a:effectLst/>
                          <a:latin typeface="Times New Roman" panose="02020603050405020304" pitchFamily="18" charset="0"/>
                        </a:rPr>
                        <a:t>8</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16.6</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397832136"/>
                  </a:ext>
                </a:extLst>
              </a:tr>
              <a:tr h="425042">
                <a:tc>
                  <a:txBody>
                    <a:bodyPr/>
                    <a:lstStyle/>
                    <a:p>
                      <a:pPr algn="ctr" fontAlgn="ctr"/>
                      <a:r>
                        <a:rPr lang="en-US" sz="1200" b="0" i="0" u="none" strike="noStrike">
                          <a:solidFill>
                            <a:srgbClr val="000000"/>
                          </a:solidFill>
                          <a:effectLst/>
                          <a:latin typeface="Times New Roman" panose="02020603050405020304" pitchFamily="18" charset="0"/>
                        </a:rPr>
                        <a:t>9</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4.0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1.9</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4.5</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387" marR="6387" marT="63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5864184"/>
                  </a:ext>
                </a:extLst>
              </a:tr>
            </a:tbl>
          </a:graphicData>
        </a:graphic>
      </p:graphicFrame>
    </p:spTree>
    <p:extLst>
      <p:ext uri="{BB962C8B-B14F-4D97-AF65-F5344CB8AC3E}">
        <p14:creationId xmlns:p14="http://schemas.microsoft.com/office/powerpoint/2010/main" val="23207692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515401"/>
            <a:ext cx="2743200" cy="365125"/>
          </a:xfrm>
        </p:spPr>
        <p:txBody>
          <a:bodyPr>
            <a:normAutofit/>
          </a:bodyPr>
          <a:lstStyle/>
          <a:p>
            <a:fld id="{6C6B6B8D-D74E-47CD-B5EE-156060B7CD17}" type="slidenum">
              <a:rPr lang="en-US" sz="1100" smtClean="0"/>
              <a:pPr/>
              <a:t>49</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24</a:t>
            </a:r>
            <a:endParaRPr lang="vi-VN" sz="2700" dirty="0"/>
          </a:p>
        </p:txBody>
      </p:sp>
      <p:sp>
        <p:nvSpPr>
          <p:cNvPr id="22" name="TextBox 21"/>
          <p:cNvSpPr txBox="1"/>
          <p:nvPr/>
        </p:nvSpPr>
        <p:spPr>
          <a:xfrm>
            <a:off x="375591" y="3590084"/>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16a,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15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06</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9</a:t>
            </a: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07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21ea,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07ea,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14ea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 – T10/2025; 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p:txBody>
      </p:sp>
      <p:sp>
        <p:nvSpPr>
          <p:cNvPr id="23" name="TextBox 22"/>
          <p:cNvSpPr txBox="1"/>
          <p:nvPr/>
        </p:nvSpPr>
        <p:spPr>
          <a:xfrm>
            <a:off x="376712" y="1605903"/>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094</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197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104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24: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60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36ea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=&gt; </a:t>
            </a:r>
            <a:r>
              <a:rPr lang="vi-VN" sz="1400" dirty="0"/>
              <a:t>Hỏng hóc tồn đọng: </a:t>
            </a:r>
            <a:r>
              <a:rPr lang="en-US" sz="1400" dirty="0" err="1"/>
              <a:t>Hỏng</a:t>
            </a:r>
            <a:r>
              <a:rPr lang="en-US" sz="1400" dirty="0"/>
              <a:t> </a:t>
            </a:r>
            <a:r>
              <a:rPr lang="en-US" sz="1400" dirty="0" err="1"/>
              <a:t>hóc</a:t>
            </a:r>
            <a:r>
              <a:rPr lang="en-US" sz="1400" dirty="0"/>
              <a:t> </a:t>
            </a:r>
            <a:r>
              <a:rPr lang="en-US" sz="1400" dirty="0" err="1"/>
              <a:t>trong</a:t>
            </a:r>
            <a:r>
              <a:rPr lang="en-US" sz="1400" dirty="0"/>
              <a:t> </a:t>
            </a:r>
            <a:r>
              <a:rPr lang="en-US" sz="1400" dirty="0" err="1"/>
              <a:t>tuần</a:t>
            </a:r>
            <a:r>
              <a:rPr lang="en-US" sz="1400" dirty="0"/>
              <a:t> </a:t>
            </a:r>
            <a:r>
              <a:rPr lang="en-US" sz="1400" dirty="0" err="1"/>
              <a:t>nhiều</a:t>
            </a:r>
            <a:r>
              <a:rPr lang="en-US" sz="1400" dirty="0"/>
              <a:t> (60ea) </a:t>
            </a:r>
            <a:r>
              <a:rPr lang="en-US" sz="1400" dirty="0" err="1"/>
              <a:t>tập</a:t>
            </a:r>
            <a:r>
              <a:rPr lang="en-US" sz="1400" dirty="0"/>
              <a:t> </a:t>
            </a:r>
            <a:r>
              <a:rPr lang="en-US" sz="1400" dirty="0" err="1"/>
              <a:t>trung</a:t>
            </a:r>
            <a:r>
              <a:rPr lang="en-US" sz="1400" dirty="0"/>
              <a:t> </a:t>
            </a:r>
            <a:r>
              <a:rPr lang="en-US" sz="1400" dirty="0" err="1"/>
              <a:t>tàu</a:t>
            </a:r>
            <a:r>
              <a:rPr lang="en-US" sz="1400" dirty="0"/>
              <a:t> A869 </a:t>
            </a:r>
            <a:r>
              <a:rPr lang="en-US" sz="1400" dirty="0" err="1"/>
              <a:t>nằm</a:t>
            </a:r>
            <a:r>
              <a:rPr lang="en-US" sz="1400" dirty="0"/>
              <a:t> check </a:t>
            </a:r>
            <a:r>
              <a:rPr lang="en-US" sz="1400" dirty="0" err="1"/>
              <a:t>dài</a:t>
            </a:r>
            <a:r>
              <a:rPr lang="en-US" sz="1400" dirty="0"/>
              <a:t> =&gt; </a:t>
            </a:r>
            <a:r>
              <a:rPr lang="en-US" sz="1400" dirty="0" err="1"/>
              <a:t>lấy</a:t>
            </a:r>
            <a:r>
              <a:rPr lang="en-US" sz="1400" dirty="0"/>
              <a:t> </a:t>
            </a:r>
            <a:r>
              <a:rPr lang="en-US" sz="1400" dirty="0" err="1"/>
              <a:t>vật</a:t>
            </a:r>
            <a:r>
              <a:rPr lang="en-US" sz="1400" dirty="0"/>
              <a:t> </a:t>
            </a:r>
            <a:r>
              <a:rPr lang="en-US" sz="1400" dirty="0" err="1"/>
              <a:t>tư</a:t>
            </a:r>
            <a:r>
              <a:rPr lang="en-US" sz="1400" dirty="0"/>
              <a:t> </a:t>
            </a:r>
            <a:r>
              <a:rPr lang="en-US" sz="1400" dirty="0" err="1"/>
              <a:t>chuẩ</a:t>
            </a:r>
            <a:r>
              <a:rPr lang="en-US" sz="1400" dirty="0"/>
              <a:t> </a:t>
            </a:r>
            <a:r>
              <a:rPr lang="en-US" sz="1400" dirty="0" err="1"/>
              <a:t>bị</a:t>
            </a:r>
            <a:r>
              <a:rPr lang="en-US" sz="1400" dirty="0"/>
              <a:t> </a:t>
            </a:r>
            <a:r>
              <a:rPr lang="en-US" sz="1400" dirty="0" err="1"/>
              <a:t>cho</a:t>
            </a:r>
            <a:r>
              <a:rPr lang="en-US" sz="1400" dirty="0"/>
              <a:t> A895 </a:t>
            </a:r>
            <a:r>
              <a:rPr lang="en-US" sz="1400" dirty="0" err="1"/>
              <a:t>để</a:t>
            </a:r>
            <a:r>
              <a:rPr lang="en-US" sz="1400" dirty="0"/>
              <a:t> </a:t>
            </a:r>
            <a:r>
              <a:rPr lang="en-US" sz="1400" dirty="0" err="1"/>
              <a:t>khắc</a:t>
            </a:r>
            <a:r>
              <a:rPr lang="en-US" sz="1400" dirty="0"/>
              <a:t> </a:t>
            </a:r>
            <a:r>
              <a:rPr lang="en-US" sz="1400" dirty="0" err="1"/>
              <a:t>phục</a:t>
            </a:r>
            <a:r>
              <a:rPr lang="en-US" sz="1400" dirty="0"/>
              <a:t> </a:t>
            </a:r>
            <a:r>
              <a:rPr lang="en-US" sz="1400" dirty="0" err="1"/>
              <a:t>hỏng</a:t>
            </a:r>
            <a:r>
              <a:rPr lang="en-US" sz="1400" dirty="0"/>
              <a:t> </a:t>
            </a:r>
            <a:r>
              <a:rPr lang="en-US" sz="1400" dirty="0" err="1"/>
              <a:t>hóc</a:t>
            </a:r>
            <a:r>
              <a:rPr lang="en-US" sz="1400" dirty="0"/>
              <a:t> </a:t>
            </a:r>
            <a:r>
              <a:rPr lang="en-US" sz="1400" dirty="0" err="1"/>
              <a:t>khai</a:t>
            </a:r>
            <a:r>
              <a:rPr lang="en-US" sz="1400" dirty="0"/>
              <a:t> </a:t>
            </a:r>
            <a:r>
              <a:rPr lang="en-US" sz="1400" dirty="0" err="1"/>
              <a:t>thác</a:t>
            </a:r>
            <a:r>
              <a:rPr lang="en-US" sz="1400" dirty="0"/>
              <a:t>.</a:t>
            </a:r>
            <a:endParaRPr lang="en-US"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376712" y="2596503"/>
            <a:ext cx="1167303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LAV:</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05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378023"/>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24: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247 (</a:t>
            </a:r>
            <a:r>
              <a:rPr lang="en-US" sz="1400" dirty="0" err="1">
                <a:latin typeface="Times New Roman" panose="02020603050405020304" pitchFamily="18" charset="0"/>
                <a:cs typeface="Times New Roman" panose="02020603050405020304" pitchFamily="18" charset="0"/>
              </a:rPr>
              <a:t>tăng</a:t>
            </a:r>
            <a:r>
              <a:rPr lang="en-US" sz="1400" dirty="0">
                <a:latin typeface="Times New Roman" panose="02020603050405020304" pitchFamily="18" charset="0"/>
                <a:cs typeface="Times New Roman" panose="02020603050405020304" pitchFamily="18" charset="0"/>
              </a:rPr>
              <a:t> 8%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23),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85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162ADD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23).</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5450" y="615303"/>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24</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00,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13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11,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02</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140DACE-D0F1-64CD-8376-158402D14377}"/>
              </a:ext>
            </a:extLst>
          </p:cNvPr>
          <p:cNvSpPr txBox="1"/>
          <p:nvPr/>
        </p:nvSpPr>
        <p:spPr>
          <a:xfrm>
            <a:off x="376712" y="5638800"/>
            <a:ext cx="1167303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A887 </a:t>
            </a:r>
            <a:r>
              <a:rPr lang="en-US" sz="1400" b="1" dirty="0" err="1">
                <a:latin typeface="Times New Roman" panose="02020603050405020304" pitchFamily="18" charset="0"/>
                <a:cs typeface="Times New Roman" panose="02020603050405020304" pitchFamily="18" charset="0"/>
              </a:rPr>
              <a:t>ra</a:t>
            </a:r>
            <a:r>
              <a:rPr lang="en-US" sz="1400" b="1" dirty="0">
                <a:latin typeface="Times New Roman" panose="02020603050405020304" pitchFamily="18" charset="0"/>
                <a:cs typeface="Times New Roman" panose="02020603050405020304" pitchFamily="18" charset="0"/>
              </a:rPr>
              <a:t> check </a:t>
            </a:r>
            <a:r>
              <a:rPr lang="en-US" sz="1400" b="1" dirty="0" err="1">
                <a:latin typeface="Times New Roman" panose="02020603050405020304" pitchFamily="18" charset="0"/>
                <a:cs typeface="Times New Roman" panose="02020603050405020304" pitchFamily="18" charset="0"/>
              </a:rPr>
              <a:t>bị</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nước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tràn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các</a:t>
            </a:r>
            <a:r>
              <a:rPr lang="en-US" sz="1400" b="1" dirty="0">
                <a:latin typeface="Times New Roman" panose="02020603050405020304" pitchFamily="18" charset="0"/>
                <a:cs typeface="Times New Roman" panose="02020603050405020304" pitchFamily="18" charset="0"/>
              </a:rPr>
              <a:t> galley sink </a:t>
            </a:r>
            <a:r>
              <a:rPr lang="en-US" sz="1400" b="1" dirty="0" err="1">
                <a:latin typeface="Times New Roman" panose="02020603050405020304" pitchFamily="18" charset="0"/>
                <a:cs typeface="Times New Roman" panose="02020603050405020304" pitchFamily="18" charset="0"/>
              </a:rPr>
              <a:t>và</a:t>
            </a:r>
            <a:r>
              <a:rPr lang="en-US" sz="1400" b="1" dirty="0">
                <a:latin typeface="Times New Roman" panose="02020603050405020304" pitchFamily="18" charset="0"/>
                <a:cs typeface="Times New Roman" panose="02020603050405020304" pitchFamily="18" charset="0"/>
              </a:rPr>
              <a:t> toilet basin: </a:t>
            </a:r>
            <a:r>
              <a:rPr lang="en-US" sz="1400" dirty="0">
                <a:latin typeface="Times New Roman" panose="02020603050405020304" pitchFamily="18" charset="0"/>
                <a:cs typeface="Times New Roman" panose="02020603050405020304" pitchFamily="18" charset="0"/>
              </a:rPr>
              <a:t>Do </a:t>
            </a:r>
            <a:r>
              <a:rPr lang="en-US" sz="1400" dirty="0" err="1">
                <a:latin typeface="Times New Roman" panose="02020603050405020304" pitchFamily="18" charset="0"/>
                <a:cs typeface="Times New Roman" panose="02020603050405020304" pitchFamily="18" charset="0"/>
              </a:rPr>
              <a:t>tắc</a:t>
            </a:r>
            <a:r>
              <a:rPr lang="en-US" sz="1400" dirty="0">
                <a:latin typeface="Times New Roman" panose="02020603050405020304" pitchFamily="18" charset="0"/>
                <a:cs typeface="Times New Roman" panose="02020603050405020304" pitchFamily="18" charset="0"/>
              </a:rPr>
              <a:t> drain mast </a:t>
            </a:r>
            <a:r>
              <a:rPr lang="en-US" sz="1400" dirty="0" err="1">
                <a:latin typeface="Times New Roman" panose="02020603050405020304" pitchFamily="18" charset="0"/>
                <a:cs typeface="Times New Roman" panose="02020603050405020304" pitchFamily="18" charset="0"/>
              </a:rPr>
              <a:t>cả</a:t>
            </a:r>
            <a:r>
              <a:rPr lang="en-US" sz="1400" dirty="0">
                <a:latin typeface="Times New Roman" panose="02020603050405020304" pitchFamily="18" charset="0"/>
                <a:cs typeface="Times New Roman" panose="02020603050405020304" pitchFamily="18" charset="0"/>
              </a:rPr>
              <a:t> AFT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FWD =&gt; VAECO </a:t>
            </a:r>
            <a:r>
              <a:rPr lang="en-US" sz="1400" dirty="0" err="1">
                <a:latin typeface="Times New Roman" panose="02020603050405020304" pitchFamily="18" charset="0"/>
                <a:cs typeface="Times New Roman" panose="02020603050405020304" pitchFamily="18" charset="0"/>
              </a:rPr>
              <a:t>thực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sạch</a:t>
            </a:r>
            <a:r>
              <a:rPr lang="en-US" sz="1400" dirty="0">
                <a:latin typeface="Times New Roman" panose="02020603050405020304" pitchFamily="18" charset="0"/>
                <a:cs typeface="Times New Roman" panose="02020603050405020304" pitchFamily="18" charset="0"/>
              </a:rPr>
              <a:t> 02 </a:t>
            </a:r>
            <a:r>
              <a:rPr lang="en-US" sz="1400" dirty="0" err="1">
                <a:latin typeface="Times New Roman" panose="02020603050405020304" pitchFamily="18" charset="0"/>
                <a:cs typeface="Times New Roman" panose="02020603050405020304" pitchFamily="18" charset="0"/>
              </a:rPr>
              <a:t>lần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tại</a:t>
            </a:r>
            <a:r>
              <a:rPr lang="en-US" sz="1400" dirty="0">
                <a:latin typeface="Times New Roman" panose="02020603050405020304" pitchFamily="18" charset="0"/>
                <a:cs typeface="Times New Roman" panose="02020603050405020304" pitchFamily="18" charset="0"/>
              </a:rPr>
              <a:t> HAN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SGN. Trong check RTS </a:t>
            </a:r>
            <a:r>
              <a:rPr lang="en-US" sz="1400" dirty="0" err="1">
                <a:latin typeface="Times New Roman" panose="02020603050405020304" pitchFamily="18" charset="0"/>
                <a:cs typeface="Times New Roman" panose="02020603050405020304" pitchFamily="18" charset="0"/>
              </a:rPr>
              <a:t>chưa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nội</a:t>
            </a:r>
            <a:r>
              <a:rPr lang="en-US" sz="1400" dirty="0">
                <a:latin typeface="Times New Roman" panose="02020603050405020304" pitchFamily="18" charset="0"/>
                <a:cs typeface="Times New Roman" panose="02020603050405020304" pitchFamily="18" charset="0"/>
              </a:rPr>
              <a:t> dung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sách</a:t>
            </a:r>
            <a:r>
              <a:rPr lang="en-US" sz="1400" dirty="0">
                <a:latin typeface="Times New Roman" panose="02020603050405020304" pitchFamily="18" charset="0"/>
                <a:cs typeface="Times New Roman" panose="02020603050405020304" pitchFamily="18" charset="0"/>
              </a:rPr>
              <a:t> drain mast </a:t>
            </a:r>
            <a:r>
              <a:rPr lang="en-US" sz="1400" dirty="0" err="1">
                <a:latin typeface="Times New Roman" panose="02020603050405020304" pitchFamily="18" charset="0"/>
                <a:cs typeface="Times New Roman" panose="02020603050405020304" pitchFamily="18" charset="0"/>
              </a:rPr>
              <a:t>trong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tàu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dừng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lâu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cặn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bẩn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bám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chặt</a:t>
            </a:r>
            <a:r>
              <a:rPr lang="en-US" sz="1400" dirty="0">
                <a:latin typeface="Times New Roman" panose="02020603050405020304" pitchFamily="18" charset="0"/>
                <a:cs typeface="Times New Roman" panose="02020603050405020304" pitchFamily="18" charset="0"/>
              </a:rPr>
              <a:t> drain line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drain mast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đường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thoát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nước</a:t>
            </a:r>
            <a:r>
              <a:rPr lang="en-US" sz="1400" dirty="0">
                <a:latin typeface="Times New Roman" panose="02020603050405020304" pitchFamily="18" charset="0"/>
                <a:cs typeface="Times New Roman" panose="02020603050405020304" pitchFamily="18" charset="0"/>
              </a:rPr>
              <a:t> =&gt; </a:t>
            </a:r>
            <a:r>
              <a:rPr lang="en-US" sz="1400" dirty="0" err="1">
                <a:latin typeface="Times New Roman" panose="02020603050405020304" pitchFamily="18" charset="0"/>
                <a:cs typeface="Times New Roman" panose="02020603050405020304" pitchFamily="18" charset="0"/>
              </a:rPr>
              <a:t>Bổ</a:t>
            </a:r>
            <a:r>
              <a:rPr lang="en-US" sz="1400" dirty="0">
                <a:latin typeface="Times New Roman" panose="02020603050405020304" pitchFamily="18" charset="0"/>
                <a:cs typeface="Times New Roman" panose="02020603050405020304" pitchFamily="18" charset="0"/>
              </a:rPr>
              <a:t> sung </a:t>
            </a:r>
            <a:r>
              <a:rPr lang="en-US" sz="1400" dirty="0" err="1">
                <a:latin typeface="Times New Roman" panose="02020603050405020304" pitchFamily="18" charset="0"/>
                <a:cs typeface="Times New Roman" panose="02020603050405020304" pitchFamily="18" charset="0"/>
              </a:rPr>
              <a:t>nội</a:t>
            </a:r>
            <a:r>
              <a:rPr lang="en-US" sz="1400" dirty="0">
                <a:latin typeface="Times New Roman" panose="02020603050405020304" pitchFamily="18" charset="0"/>
                <a:cs typeface="Times New Roman" panose="02020603050405020304" pitchFamily="18" charset="0"/>
              </a:rPr>
              <a:t> dung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sạch</a:t>
            </a:r>
            <a:r>
              <a:rPr lang="en-US" sz="1400" dirty="0">
                <a:latin typeface="Times New Roman" panose="02020603050405020304" pitchFamily="18" charset="0"/>
                <a:cs typeface="Times New Roman" panose="02020603050405020304" pitchFamily="18" charset="0"/>
              </a:rPr>
              <a:t> drain mast &amp; drain line </a:t>
            </a:r>
            <a:r>
              <a:rPr lang="en-US" sz="1400" dirty="0" err="1">
                <a:latin typeface="Times New Roman" panose="02020603050405020304" pitchFamily="18" charset="0"/>
                <a:cs typeface="Times New Roman" panose="02020603050405020304" pitchFamily="18" charset="0"/>
              </a:rPr>
              <a:t>khi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tàu</a:t>
            </a:r>
            <a:r>
              <a:rPr lang="en-US" sz="1400" dirty="0">
                <a:latin typeface="Times New Roman" panose="02020603050405020304" pitchFamily="18" charset="0"/>
                <a:cs typeface="Times New Roman" panose="02020603050405020304" pitchFamily="18" charset="0"/>
              </a:rPr>
              <a:t> RTS</a:t>
            </a:r>
          </a:p>
        </p:txBody>
      </p:sp>
    </p:spTree>
    <p:extLst>
      <p:ext uri="{BB962C8B-B14F-4D97-AF65-F5344CB8AC3E}">
        <p14:creationId xmlns:p14="http://schemas.microsoft.com/office/powerpoint/2010/main" val="24743671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50</a:t>
            </a:fld>
            <a:endParaRPr lang="en-US"/>
          </a:p>
        </p:txBody>
      </p:sp>
      <p:sp>
        <p:nvSpPr>
          <p:cNvPr id="5" name="Title 4"/>
          <p:cNvSpPr>
            <a:spLocks noGrp="1"/>
          </p:cNvSpPr>
          <p:nvPr>
            <p:ph type="title"/>
          </p:nvPr>
        </p:nvSpPr>
        <p:spPr>
          <a:xfrm>
            <a:off x="201769" y="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561419961"/>
              </p:ext>
            </p:extLst>
          </p:nvPr>
        </p:nvGraphicFramePr>
        <p:xfrm>
          <a:off x="761999" y="3200399"/>
          <a:ext cx="10591801" cy="1237129"/>
        </p:xfrm>
        <a:graphic>
          <a:graphicData uri="http://schemas.openxmlformats.org/drawingml/2006/table">
            <a:tbl>
              <a:tblPr/>
              <a:tblGrid>
                <a:gridCol w="246553">
                  <a:extLst>
                    <a:ext uri="{9D8B030D-6E8A-4147-A177-3AD203B41FA5}">
                      <a16:colId xmlns:a16="http://schemas.microsoft.com/office/drawing/2014/main" val="20000"/>
                    </a:ext>
                  </a:extLst>
                </a:gridCol>
                <a:gridCol w="1658448">
                  <a:extLst>
                    <a:ext uri="{9D8B030D-6E8A-4147-A177-3AD203B41FA5}">
                      <a16:colId xmlns:a16="http://schemas.microsoft.com/office/drawing/2014/main" val="20001"/>
                    </a:ext>
                  </a:extLst>
                </a:gridCol>
                <a:gridCol w="426041">
                  <a:extLst>
                    <a:ext uri="{9D8B030D-6E8A-4147-A177-3AD203B41FA5}">
                      <a16:colId xmlns:a16="http://schemas.microsoft.com/office/drawing/2014/main" val="20002"/>
                    </a:ext>
                  </a:extLst>
                </a:gridCol>
                <a:gridCol w="433335">
                  <a:extLst>
                    <a:ext uri="{9D8B030D-6E8A-4147-A177-3AD203B41FA5}">
                      <a16:colId xmlns:a16="http://schemas.microsoft.com/office/drawing/2014/main" val="20003"/>
                    </a:ext>
                  </a:extLst>
                </a:gridCol>
                <a:gridCol w="4246024">
                  <a:extLst>
                    <a:ext uri="{9D8B030D-6E8A-4147-A177-3AD203B41FA5}">
                      <a16:colId xmlns:a16="http://schemas.microsoft.com/office/drawing/2014/main" val="20004"/>
                    </a:ext>
                  </a:extLst>
                </a:gridCol>
                <a:gridCol w="762232">
                  <a:extLst>
                    <a:ext uri="{9D8B030D-6E8A-4147-A177-3AD203B41FA5}">
                      <a16:colId xmlns:a16="http://schemas.microsoft.com/office/drawing/2014/main" val="20005"/>
                    </a:ext>
                  </a:extLst>
                </a:gridCol>
                <a:gridCol w="799428">
                  <a:extLst>
                    <a:ext uri="{9D8B030D-6E8A-4147-A177-3AD203B41FA5}">
                      <a16:colId xmlns:a16="http://schemas.microsoft.com/office/drawing/2014/main" val="20006"/>
                    </a:ext>
                  </a:extLst>
                </a:gridCol>
                <a:gridCol w="1593876">
                  <a:extLst>
                    <a:ext uri="{9D8B030D-6E8A-4147-A177-3AD203B41FA5}">
                      <a16:colId xmlns:a16="http://schemas.microsoft.com/office/drawing/2014/main" val="20007"/>
                    </a:ext>
                  </a:extLst>
                </a:gridCol>
                <a:gridCol w="425864">
                  <a:extLst>
                    <a:ext uri="{9D8B030D-6E8A-4147-A177-3AD203B41FA5}">
                      <a16:colId xmlns:a16="http://schemas.microsoft.com/office/drawing/2014/main" val="20008"/>
                    </a:ext>
                  </a:extLst>
                </a:gridCol>
              </a:tblGrid>
              <a:tr h="322729">
                <a:tc gridSpan="9">
                  <a:txBody>
                    <a:bodyPr/>
                    <a:lstStyle/>
                    <a:p>
                      <a:pPr algn="ctr" fontAlgn="ctr"/>
                      <a:r>
                        <a:rPr lang="vi-VN" sz="1000" b="1" i="0" u="none" strike="noStrike" dirty="0">
                          <a:solidFill>
                            <a:srgbClr val="000000"/>
                          </a:solidFill>
                          <a:effectLst/>
                          <a:latin typeface="Times New Roman" panose="02020603050405020304" pitchFamily="18" charset="0"/>
                        </a:rPr>
                        <a:t>BẢNG TỔNG HỢP VÀ THEO DÕI NHÂN NHƯỢNG - VIETNAM AIRLINES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2729">
                <a:tc>
                  <a:txBody>
                    <a:bodyPr/>
                    <a:lstStyle/>
                    <a:p>
                      <a:pPr algn="ctr" fontAlgn="ctr"/>
                      <a:r>
                        <a:rPr lang="en-US" sz="1000" b="1" i="0" u="none" strike="noStrike">
                          <a:solidFill>
                            <a:srgbClr val="000000"/>
                          </a:solidFill>
                          <a:effectLst/>
                          <a:latin typeface="Times New Roman" panose="02020603050405020304" pitchFamily="18" charset="0"/>
                        </a:rPr>
                        <a:t>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Concession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Times New Roman" panose="02020603050405020304" pitchFamily="18" charset="0"/>
                        </a:rPr>
                        <a:t>Type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Reg</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Description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By</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Date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ADD/CHK/Task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Status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1671">
                <a:tc>
                  <a:txBody>
                    <a:bodyPr/>
                    <a:lstStyle/>
                    <a:p>
                      <a:pPr algn="ctr" fontAlgn="ctr"/>
                      <a:r>
                        <a:rPr lang="en-US" sz="900" b="0" i="0" u="none" strike="noStrike" dirty="0">
                          <a:solidFill>
                            <a:srgbClr val="000000"/>
                          </a:solidFill>
                          <a:effectLst/>
                          <a:latin typeface="Times New Roman" panose="02020603050405020304" pitchFamily="18" charset="0"/>
                        </a:rPr>
                        <a:t>1</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HVN/VN-A390/2025-06-06/01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A390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ADD B2316 RAISED DUE TO NIL SPARE “SEAL OF FLAP TRACK FIXED FAIRING 632EB DAMAGED IAW MCDL 27-15. NEXT DEAD-LINE: 36,353:42 FH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7-Jun-2025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            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873480449"/>
              </p:ext>
            </p:extLst>
          </p:nvPr>
        </p:nvGraphicFramePr>
        <p:xfrm>
          <a:off x="761999" y="4440069"/>
          <a:ext cx="10591801" cy="591671"/>
        </p:xfrm>
        <a:graphic>
          <a:graphicData uri="http://schemas.openxmlformats.org/drawingml/2006/table">
            <a:tbl>
              <a:tblPr/>
              <a:tblGrid>
                <a:gridCol w="246553">
                  <a:extLst>
                    <a:ext uri="{9D8B030D-6E8A-4147-A177-3AD203B41FA5}">
                      <a16:colId xmlns:a16="http://schemas.microsoft.com/office/drawing/2014/main" val="2965330969"/>
                    </a:ext>
                  </a:extLst>
                </a:gridCol>
                <a:gridCol w="1658448">
                  <a:extLst>
                    <a:ext uri="{9D8B030D-6E8A-4147-A177-3AD203B41FA5}">
                      <a16:colId xmlns:a16="http://schemas.microsoft.com/office/drawing/2014/main" val="3355577873"/>
                    </a:ext>
                  </a:extLst>
                </a:gridCol>
                <a:gridCol w="426041">
                  <a:extLst>
                    <a:ext uri="{9D8B030D-6E8A-4147-A177-3AD203B41FA5}">
                      <a16:colId xmlns:a16="http://schemas.microsoft.com/office/drawing/2014/main" val="3527980464"/>
                    </a:ext>
                  </a:extLst>
                </a:gridCol>
                <a:gridCol w="433335">
                  <a:extLst>
                    <a:ext uri="{9D8B030D-6E8A-4147-A177-3AD203B41FA5}">
                      <a16:colId xmlns:a16="http://schemas.microsoft.com/office/drawing/2014/main" val="4245479879"/>
                    </a:ext>
                  </a:extLst>
                </a:gridCol>
                <a:gridCol w="4246024">
                  <a:extLst>
                    <a:ext uri="{9D8B030D-6E8A-4147-A177-3AD203B41FA5}">
                      <a16:colId xmlns:a16="http://schemas.microsoft.com/office/drawing/2014/main" val="510598735"/>
                    </a:ext>
                  </a:extLst>
                </a:gridCol>
                <a:gridCol w="762232">
                  <a:extLst>
                    <a:ext uri="{9D8B030D-6E8A-4147-A177-3AD203B41FA5}">
                      <a16:colId xmlns:a16="http://schemas.microsoft.com/office/drawing/2014/main" val="1936629445"/>
                    </a:ext>
                  </a:extLst>
                </a:gridCol>
                <a:gridCol w="799428">
                  <a:extLst>
                    <a:ext uri="{9D8B030D-6E8A-4147-A177-3AD203B41FA5}">
                      <a16:colId xmlns:a16="http://schemas.microsoft.com/office/drawing/2014/main" val="3445340454"/>
                    </a:ext>
                  </a:extLst>
                </a:gridCol>
                <a:gridCol w="1593876">
                  <a:extLst>
                    <a:ext uri="{9D8B030D-6E8A-4147-A177-3AD203B41FA5}">
                      <a16:colId xmlns:a16="http://schemas.microsoft.com/office/drawing/2014/main" val="3615637604"/>
                    </a:ext>
                  </a:extLst>
                </a:gridCol>
                <a:gridCol w="425864">
                  <a:extLst>
                    <a:ext uri="{9D8B030D-6E8A-4147-A177-3AD203B41FA5}">
                      <a16:colId xmlns:a16="http://schemas.microsoft.com/office/drawing/2014/main" val="1775437875"/>
                    </a:ext>
                  </a:extLst>
                </a:gridCol>
              </a:tblGrid>
              <a:tr h="591671">
                <a:tc>
                  <a:txBody>
                    <a:bodyPr/>
                    <a:lstStyle/>
                    <a:p>
                      <a:pPr algn="ctr" fontAlgn="ctr"/>
                      <a:r>
                        <a:rPr lang="en-US" sz="1000" b="0" i="0" u="none" strike="noStrike" dirty="0">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871-05/25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A871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ADD B2317 RAISED: “CABIN AIR CPRSR L2” REF MEL 21-51-01-0201-01, REV 09, CAT C, DEADLINE: 08/06/2025. New Dead -Line: 13/06/2025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rPr>
                        <a:t>8-Jun-2025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            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5840957"/>
                  </a:ext>
                </a:extLst>
              </a:tr>
            </a:tbl>
          </a:graphicData>
        </a:graphic>
      </p:graphicFrame>
      <p:graphicFrame>
        <p:nvGraphicFramePr>
          <p:cNvPr id="8" name="Chart 7">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2336797714"/>
              </p:ext>
            </p:extLst>
          </p:nvPr>
        </p:nvGraphicFramePr>
        <p:xfrm>
          <a:off x="3581400" y="762000"/>
          <a:ext cx="4004481" cy="23803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This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904:50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nvGraphicFramePr>
        <p:xfrm>
          <a:off x="6312510" y="3904053"/>
          <a:ext cx="5117489" cy="2822545"/>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Next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256:05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78642">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nvGraphicFramePr>
        <p:xfrm>
          <a:off x="1059507" y="914400"/>
          <a:ext cx="10370491" cy="26857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69428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Số chuyến bay theo ngày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925417" y="3601492"/>
          <a:ext cx="5166913" cy="3074728"/>
        </p:xfrm>
        <a:graphic>
          <a:graphicData uri="http://schemas.openxmlformats.org/drawingml/2006/table">
            <a:tbl>
              <a:tblPr/>
              <a:tblGrid>
                <a:gridCol w="674783">
                  <a:extLst>
                    <a:ext uri="{9D8B030D-6E8A-4147-A177-3AD203B41FA5}">
                      <a16:colId xmlns:a16="http://schemas.microsoft.com/office/drawing/2014/main" val="4007203340"/>
                    </a:ext>
                  </a:extLst>
                </a:gridCol>
                <a:gridCol w="498552">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400" b="0" i="0" u="none" strike="noStrike">
                          <a:solidFill>
                            <a:srgbClr val="000000"/>
                          </a:solidFill>
                          <a:effectLst/>
                          <a:latin typeface="Times New Roman" panose="02020603050405020304" pitchFamily="18" charset="0"/>
                        </a:rPr>
                        <a:t>A320</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Next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400" b="0" i="0" u="none" strike="noStrike">
                          <a:solidFill>
                            <a:srgbClr val="000000"/>
                          </a:solidFill>
                          <a:effectLst/>
                          <a:latin typeface="Times New Roman" panose="02020603050405020304" pitchFamily="18" charset="0"/>
                        </a:rPr>
                        <a:t>A320</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nvGraphicFramePr>
        <p:xfrm>
          <a:off x="925418" y="1066799"/>
          <a:ext cx="10521106" cy="23529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98370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nvGraphicFramePr>
        <p:xfrm>
          <a:off x="761999" y="1219200"/>
          <a:ext cx="10972801"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088581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158" name="Google Shape;158;g31ccdae391d_0_248"/>
          <p:cNvSpPr/>
          <p:nvPr/>
        </p:nvSpPr>
        <p:spPr>
          <a:xfrm>
            <a:off x="1373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i="0" u="none" strike="noStrike" cap="none">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A613: HAN - C01+Y01 (09/06-17/06): hiện không có vướng mắc vật tư</a:t>
            </a:r>
            <a:endParaRPr sz="15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a:t>
            </a:r>
            <a:endParaRPr sz="1500" b="1">
              <a:solidFill>
                <a:schemeClr val="dk1"/>
              </a:solidFill>
              <a:latin typeface="Times New Roman"/>
              <a:ea typeface="Times New Roman"/>
              <a:cs typeface="Times New Roman"/>
              <a:sym typeface="Times New Roman"/>
            </a:endParaRPr>
          </a:p>
          <a:p>
            <a:pPr marL="914400" marR="0" lvl="1"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A396: </a:t>
            </a:r>
            <a:r>
              <a:rPr lang="en-US" sz="1500">
                <a:solidFill>
                  <a:schemeClr val="dk1"/>
                </a:solidFill>
                <a:latin typeface="Times New Roman"/>
                <a:ea typeface="Times New Roman"/>
                <a:cs typeface="Times New Roman"/>
                <a:sym typeface="Times New Roman"/>
              </a:rPr>
              <a:t>ADD B1078 RAISED APU START FAULT đặt hàng Clutch PN 3860864-1: dự kiến 16/6 có hàng</a:t>
            </a:r>
            <a:endParaRPr sz="1500">
              <a:solidFill>
                <a:schemeClr val="dk1"/>
              </a:solidFill>
              <a:latin typeface="Times New Roman"/>
              <a:ea typeface="Times New Roman"/>
              <a:cs typeface="Times New Roman"/>
              <a:sym typeface="Times New Roman"/>
            </a:endParaRPr>
          </a:p>
          <a:p>
            <a:pPr marL="914400" marR="0" lvl="1"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A392</a:t>
            </a:r>
            <a:r>
              <a:rPr lang="en-US" sz="1500">
                <a:solidFill>
                  <a:schemeClr val="dk1"/>
                </a:solidFill>
                <a:latin typeface="Times New Roman"/>
                <a:ea typeface="Times New Roman"/>
                <a:cs typeface="Times New Roman"/>
                <a:sym typeface="Times New Roman"/>
              </a:rPr>
              <a:t>: hỏng Anti Ice Valve PN 326975: hiện đang missing MBK, đang kiểm tra với VAECO và xin nhân nhượng cho tàu </a:t>
            </a:r>
            <a:endParaRPr sz="21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220576" y="3321951"/>
            <a:ext cx="11359199" cy="128651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59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101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30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a:t>
            </a:r>
            <a:r>
              <a:rPr lang="en-US" sz="1500">
                <a:solidFill>
                  <a:schemeClr val="dk1"/>
                </a:solidFill>
                <a:latin typeface="Times New Roman"/>
                <a:ea typeface="Times New Roman"/>
                <a:cs typeface="Times New Roman"/>
                <a:sym typeface="Times New Roman"/>
              </a:rPr>
              <a:t> 45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14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17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15 overdue orders / total 39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913575" y="2048666"/>
            <a:ext cx="8610600" cy="424403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6" name="Google Shape;176;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pic>
        <p:nvPicPr>
          <p:cNvPr id="177" name="Google Shape;177;g31ccdae391d_0_285"/>
          <p:cNvPicPr preferRelativeResize="0"/>
          <p:nvPr/>
        </p:nvPicPr>
        <p:blipFill>
          <a:blip r:embed="rId3">
            <a:alphaModFix/>
          </a:blip>
          <a:stretch>
            <a:fillRect/>
          </a:stretch>
        </p:blipFill>
        <p:spPr>
          <a:xfrm>
            <a:off x="443625" y="829549"/>
            <a:ext cx="11352225" cy="3550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5f1b08c610_0_9"/>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(Chi tiết)</a:t>
            </a:r>
            <a:endParaRPr sz="2800">
              <a:solidFill>
                <a:srgbClr val="FFC000"/>
              </a:solidFill>
              <a:latin typeface="Times New Roman"/>
              <a:ea typeface="Times New Roman"/>
              <a:cs typeface="Times New Roman"/>
              <a:sym typeface="Times New Roman"/>
            </a:endParaRPr>
          </a:p>
        </p:txBody>
      </p:sp>
      <p:sp>
        <p:nvSpPr>
          <p:cNvPr id="184" name="Google Shape;184;g35f1b08c610_0_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pic>
        <p:nvPicPr>
          <p:cNvPr id="185" name="Google Shape;185;g35f1b08c610_0_9"/>
          <p:cNvPicPr preferRelativeResize="0"/>
          <p:nvPr/>
        </p:nvPicPr>
        <p:blipFill>
          <a:blip r:embed="rId3">
            <a:alphaModFix/>
          </a:blip>
          <a:stretch>
            <a:fillRect/>
          </a:stretch>
        </p:blipFill>
        <p:spPr>
          <a:xfrm>
            <a:off x="800625" y="900610"/>
            <a:ext cx="9953625" cy="46196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2" name="Google Shape;192;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193" name="Google Shape;193;g31ccdae391d_0_278"/>
          <p:cNvGraphicFramePr/>
          <p:nvPr/>
        </p:nvGraphicFramePr>
        <p:xfrm>
          <a:off x="558675" y="462325"/>
          <a:ext cx="10287000" cy="6141469"/>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do </a:t>
                      </a:r>
                      <a:r>
                        <a:rPr lang="en-US" sz="1300">
                          <a:latin typeface="Times New Roman"/>
                          <a:ea typeface="Times New Roman"/>
                          <a:cs typeface="Times New Roman"/>
                          <a:sym typeface="Times New Roman"/>
                        </a:rPr>
                        <a:t>không có mức kho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giục ST cấp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20/6 nhập kho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16/6 nhập kho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err="1">
                <a:solidFill>
                  <a:srgbClr val="FF0000"/>
                </a:solidFill>
                <a:latin typeface="Times New Roman"/>
                <a:ea typeface="Times New Roman"/>
                <a:cs typeface="Times New Roman"/>
                <a:sym typeface="Times New Roman"/>
              </a:rPr>
              <a:t>Tình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trạng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Pooling: </a:t>
            </a:r>
            <a:r>
              <a:rPr lang="en-US" sz="2000" b="1" dirty="0">
                <a:solidFill>
                  <a:srgbClr val="FF0000"/>
                </a:solidFill>
                <a:latin typeface="Times New Roman"/>
                <a:ea typeface="Times New Roman"/>
                <a:cs typeface="Times New Roman"/>
                <a:sym typeface="Times New Roman"/>
              </a:rPr>
              <a:t>20</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quá</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hạn</a:t>
            </a:r>
            <a:r>
              <a:rPr lang="en-US" sz="2000" b="1" i="0" u="none" strike="noStrike" cap="none" dirty="0">
                <a:solidFill>
                  <a:srgbClr val="FF0000"/>
                </a:solidFill>
                <a:latin typeface="Times New Roman"/>
                <a:ea typeface="Times New Roman"/>
                <a:cs typeface="Times New Roman"/>
                <a:sym typeface="Times New Roman"/>
              </a:rPr>
              <a:t> trong </a:t>
            </a:r>
            <a:r>
              <a:rPr lang="en-US" sz="2000" b="1" i="0" u="none" strike="noStrike" cap="none" dirty="0" err="1">
                <a:solidFill>
                  <a:srgbClr val="FF0000"/>
                </a:solidFill>
                <a:latin typeface="Times New Roman"/>
                <a:ea typeface="Times New Roman"/>
                <a:cs typeface="Times New Roman"/>
                <a:sym typeface="Times New Roman"/>
              </a:rPr>
              <a:t>tổng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a:t>
            </a:r>
            <a:r>
              <a:rPr lang="en-US" sz="2000" b="1" dirty="0">
                <a:solidFill>
                  <a:srgbClr val="FF0000"/>
                </a:solidFill>
                <a:latin typeface="Times New Roman"/>
                <a:ea typeface="Times New Roman"/>
                <a:cs typeface="Times New Roman"/>
                <a:sym typeface="Times New Roman"/>
              </a:rPr>
              <a:t>44</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đang</a:t>
            </a:r>
            <a:r>
              <a:rPr lang="en-US" sz="2000" b="1" i="0" u="none" strike="noStrike" cap="none" dirty="0">
                <a:solidFill>
                  <a:srgbClr val="FF0000"/>
                </a:solidFill>
                <a:latin typeface="Times New Roman"/>
                <a:ea typeface="Times New Roman"/>
                <a:cs typeface="Times New Roman"/>
                <a:sym typeface="Times New Roman"/>
              </a:rPr>
              <a:t> open</a:t>
            </a:r>
            <a:endParaRPr sz="2000" b="1" i="0" u="none" strike="noStrike" cap="none" dirty="0">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lấp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đầy</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kho</a:t>
            </a:r>
            <a:r>
              <a:rPr lang="en-US" sz="1500" b="1" i="0" u="none" strike="noStrike" cap="none" dirty="0">
                <a:solidFill>
                  <a:schemeClr val="dk1"/>
                </a:solidFill>
                <a:latin typeface="Times New Roman"/>
                <a:ea typeface="Times New Roman"/>
                <a:cs typeface="Times New Roman"/>
                <a:sym typeface="Times New Roman"/>
              </a:rPr>
              <a:t> MBK: </a:t>
            </a:r>
            <a:r>
              <a:rPr lang="en-US" sz="1500" b="0" i="0" u="none" strike="noStrike" cap="none" dirty="0">
                <a:solidFill>
                  <a:schemeClr val="dk1"/>
                </a:solidFill>
                <a:latin typeface="Times New Roman"/>
                <a:ea typeface="Times New Roman"/>
                <a:cs typeface="Times New Roman"/>
                <a:sym typeface="Times New Roman"/>
              </a:rPr>
              <a:t> overdue </a:t>
            </a:r>
            <a:r>
              <a:rPr lang="en-US" sz="1500" dirty="0">
                <a:solidFill>
                  <a:schemeClr val="dk1"/>
                </a:solidFill>
                <a:latin typeface="Times New Roman"/>
                <a:ea typeface="Times New Roman"/>
                <a:cs typeface="Times New Roman"/>
                <a:sym typeface="Times New Roman"/>
              </a:rPr>
              <a:t>15 </a:t>
            </a:r>
            <a:r>
              <a:rPr lang="en-US" sz="1500" b="0" i="0" u="none" strike="noStrike" cap="none" dirty="0">
                <a:solidFill>
                  <a:schemeClr val="dk1"/>
                </a:solidFill>
                <a:latin typeface="Times New Roman"/>
                <a:ea typeface="Times New Roman"/>
                <a:cs typeface="Times New Roman"/>
                <a:sym typeface="Times New Roman"/>
              </a:rPr>
              <a:t>LO / total </a:t>
            </a:r>
            <a:r>
              <a:rPr lang="en-US" sz="1500" dirty="0">
                <a:solidFill>
                  <a:schemeClr val="dk1"/>
                </a:solidFill>
                <a:latin typeface="Times New Roman"/>
                <a:ea typeface="Times New Roman"/>
                <a:cs typeface="Times New Roman"/>
                <a:sym typeface="Times New Roman"/>
              </a:rPr>
              <a:t>17</a:t>
            </a:r>
            <a:r>
              <a:rPr lang="en-US" sz="1500" b="0" i="0" u="none" strike="noStrike" cap="none" dirty="0">
                <a:solidFill>
                  <a:schemeClr val="dk1"/>
                </a:solidFill>
                <a:latin typeface="Times New Roman"/>
                <a:ea typeface="Times New Roman"/>
                <a:cs typeface="Times New Roman"/>
                <a:sym typeface="Times New Roman"/>
              </a:rPr>
              <a:t> LO</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khác</a:t>
            </a:r>
            <a:r>
              <a:rPr lang="en-US" sz="1500" b="1" i="0" u="none" strike="noStrike" cap="none" dirty="0">
                <a:solidFill>
                  <a:schemeClr val="dk1"/>
                </a:solidFill>
                <a:latin typeface="Times New Roman"/>
                <a:ea typeface="Times New Roman"/>
                <a:cs typeface="Times New Roman"/>
                <a:sym typeface="Times New Roman"/>
              </a:rPr>
              <a:t> (Defect, </a:t>
            </a:r>
            <a:r>
              <a:rPr lang="en-US" sz="1500" b="1" i="0" u="none" strike="noStrike" cap="none" dirty="0" err="1">
                <a:solidFill>
                  <a:schemeClr val="dk1"/>
                </a:solidFill>
                <a:latin typeface="Times New Roman"/>
                <a:ea typeface="Times New Roman"/>
                <a:cs typeface="Times New Roman"/>
                <a:sym typeface="Times New Roman"/>
              </a:rPr>
              <a:t>Hardtime</a:t>
            </a:r>
            <a:r>
              <a:rPr lang="en-US" sz="1500" b="1"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chemeClr val="dk1"/>
                </a:solidFill>
                <a:latin typeface="Times New Roman"/>
                <a:ea typeface="Times New Roman"/>
                <a:cs typeface="Times New Roman"/>
                <a:sym typeface="Times New Roman"/>
              </a:rPr>
              <a:t>overdue </a:t>
            </a:r>
            <a:r>
              <a:rPr lang="en-US" sz="1500" dirty="0">
                <a:solidFill>
                  <a:schemeClr val="dk1"/>
                </a:solidFill>
                <a:latin typeface="Times New Roman"/>
                <a:ea typeface="Times New Roman"/>
                <a:cs typeface="Times New Roman"/>
                <a:sym typeface="Times New Roman"/>
              </a:rPr>
              <a:t>5</a:t>
            </a:r>
            <a:r>
              <a:rPr lang="en-US" sz="1500" b="0" i="0" u="none" strike="noStrike" cap="none" dirty="0">
                <a:solidFill>
                  <a:schemeClr val="dk1"/>
                </a:solidFill>
                <a:latin typeface="Times New Roman"/>
                <a:ea typeface="Times New Roman"/>
                <a:cs typeface="Times New Roman"/>
                <a:sym typeface="Times New Roman"/>
              </a:rPr>
              <a:t> EO / total </a:t>
            </a:r>
            <a:r>
              <a:rPr lang="en-US" sz="1500" dirty="0">
                <a:solidFill>
                  <a:schemeClr val="dk1"/>
                </a:solidFill>
                <a:latin typeface="Times New Roman"/>
                <a:ea typeface="Times New Roman"/>
                <a:cs typeface="Times New Roman"/>
                <a:sym typeface="Times New Roman"/>
              </a:rPr>
              <a:t>27</a:t>
            </a:r>
            <a:r>
              <a:rPr lang="en-US" sz="1500" b="0" i="0" u="none" strike="noStrike" cap="none" dirty="0">
                <a:solidFill>
                  <a:schemeClr val="dk1"/>
                </a:solidFill>
                <a:latin typeface="Times New Roman"/>
                <a:ea typeface="Times New Roman"/>
                <a:cs typeface="Times New Roman"/>
                <a:sym typeface="Times New Roman"/>
              </a:rPr>
              <a:t> EO </a:t>
            </a:r>
            <a:endParaRPr sz="1500" b="0" i="0" u="none" strike="noStrike" cap="none" dirty="0">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181225" y="1730524"/>
            <a:ext cx="7614275" cy="46274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graphicFrame>
        <p:nvGraphicFramePr>
          <p:cNvPr id="211" name="Google Shape;211;g31ccdae391d_0_308"/>
          <p:cNvGraphicFramePr/>
          <p:nvPr/>
        </p:nvGraphicFramePr>
        <p:xfrm>
          <a:off x="607288" y="787650"/>
          <a:ext cx="11227800" cy="4360600"/>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03ea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8</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+ 04ea EDD 18Jul.</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chưa có EDD.</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CMSC</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7000045H03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Hỏng hóc nhiều tại vị trí CAC chưa được làm nâng cấp lên H04 (dự kiến SB có trong tháng 9)</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a:t>
                      </a:r>
                      <a:r>
                        <a:rPr lang="en-US" sz="1300">
                          <a:latin typeface="Times New Roman"/>
                          <a:ea typeface="Times New Roman"/>
                          <a:cs typeface="Times New Roman"/>
                          <a:sym typeface="Times New Roman"/>
                        </a:rPr>
                        <a:t>có 02 tàu hỏng hóc CMSC tại vị trí CAC là A861 và A869, trong đó 01ea giao SGN 16/06, 01ea chưa có EDD.</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19" name="Google Shape;219;g31ccdae391d_0_315"/>
          <p:cNvSpPr/>
          <p:nvPr/>
        </p:nvSpPr>
        <p:spPr>
          <a:xfrm>
            <a:off x="500990" y="580190"/>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GWIV.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A861 - .ELEC ENG STARTER R2: yêu cầu CMSC, dự kiến giao SGN 16/06</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A869 - RAM AIR FAN CONTROLLER R: RAF controller in stock (giao SGN 14/06).</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A878 - SPOILER EMCU#4 INOP: EMCU in stock.</a:t>
            </a: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stretch>
            <a:fillRect/>
          </a:stretch>
        </p:blipFill>
        <p:spPr>
          <a:xfrm>
            <a:off x="781050" y="2947995"/>
            <a:ext cx="10629900" cy="279082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err="1">
                <a:solidFill>
                  <a:srgbClr val="FF0000"/>
                </a:solidFill>
                <a:latin typeface="Times New Roman"/>
                <a:ea typeface="Times New Roman"/>
                <a:cs typeface="Times New Roman"/>
                <a:sym typeface="Times New Roman"/>
              </a:rPr>
              <a:t>Tình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trạng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Pooling: </a:t>
            </a:r>
            <a:r>
              <a:rPr lang="en-US" sz="2000" b="1" dirty="0">
                <a:solidFill>
                  <a:srgbClr val="FF0000"/>
                </a:solidFill>
                <a:latin typeface="Times New Roman"/>
                <a:ea typeface="Times New Roman"/>
                <a:cs typeface="Times New Roman"/>
                <a:sym typeface="Times New Roman"/>
              </a:rPr>
              <a:t>41</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quá</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hạn</a:t>
            </a:r>
            <a:r>
              <a:rPr lang="en-US" sz="2000" b="1" i="0" u="none" strike="noStrike" cap="none" dirty="0">
                <a:solidFill>
                  <a:srgbClr val="FF0000"/>
                </a:solidFill>
                <a:latin typeface="Times New Roman"/>
                <a:ea typeface="Times New Roman"/>
                <a:cs typeface="Times New Roman"/>
                <a:sym typeface="Times New Roman"/>
              </a:rPr>
              <a:t> trong </a:t>
            </a:r>
            <a:r>
              <a:rPr lang="en-US" sz="2000" b="1" i="0" u="none" strike="noStrike" cap="none" dirty="0" err="1">
                <a:solidFill>
                  <a:srgbClr val="FF0000"/>
                </a:solidFill>
                <a:latin typeface="Times New Roman"/>
                <a:ea typeface="Times New Roman"/>
                <a:cs typeface="Times New Roman"/>
                <a:sym typeface="Times New Roman"/>
              </a:rPr>
              <a:t>tổng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a:t>
            </a:r>
            <a:r>
              <a:rPr lang="en-US" sz="2000" b="1" dirty="0">
                <a:solidFill>
                  <a:srgbClr val="FF0000"/>
                </a:solidFill>
                <a:latin typeface="Times New Roman"/>
                <a:ea typeface="Times New Roman"/>
                <a:cs typeface="Times New Roman"/>
                <a:sym typeface="Times New Roman"/>
              </a:rPr>
              <a:t>65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đang</a:t>
            </a:r>
            <a:r>
              <a:rPr lang="en-US" sz="2000" b="1" i="0" u="none" strike="noStrike" cap="none" dirty="0">
                <a:solidFill>
                  <a:srgbClr val="FF0000"/>
                </a:solidFill>
                <a:latin typeface="Times New Roman"/>
                <a:ea typeface="Times New Roman"/>
                <a:cs typeface="Times New Roman"/>
                <a:sym typeface="Times New Roman"/>
              </a:rPr>
              <a:t> open</a:t>
            </a:r>
            <a:endParaRPr sz="2000" b="1" i="0" u="none" strike="noStrike" cap="none" dirty="0">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lấp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đầy</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kho</a:t>
            </a:r>
            <a:r>
              <a:rPr lang="en-US" sz="1500" b="1" i="0" u="none" strike="noStrike" cap="none" dirty="0">
                <a:solidFill>
                  <a:schemeClr val="dk1"/>
                </a:solidFill>
                <a:latin typeface="Times New Roman"/>
                <a:ea typeface="Times New Roman"/>
                <a:cs typeface="Times New Roman"/>
                <a:sym typeface="Times New Roman"/>
              </a:rPr>
              <a:t> OSS: </a:t>
            </a:r>
            <a:r>
              <a:rPr lang="en-US" sz="1500" dirty="0">
                <a:solidFill>
                  <a:schemeClr val="dk1"/>
                </a:solidFill>
                <a:latin typeface="Times New Roman"/>
                <a:ea typeface="Times New Roman"/>
                <a:cs typeface="Times New Roman"/>
                <a:sym typeface="Times New Roman"/>
              </a:rPr>
              <a:t>13</a:t>
            </a:r>
            <a:r>
              <a:rPr lang="en-US" sz="1500" b="0" i="0" u="none" strike="noStrike" cap="none" dirty="0">
                <a:solidFill>
                  <a:schemeClr val="dk1"/>
                </a:solidFill>
                <a:latin typeface="Times New Roman"/>
                <a:ea typeface="Times New Roman"/>
                <a:cs typeface="Times New Roman"/>
                <a:sym typeface="Times New Roman"/>
              </a:rPr>
              <a:t> overdue LO / total </a:t>
            </a:r>
            <a:r>
              <a:rPr lang="en-US" sz="1500" dirty="0">
                <a:solidFill>
                  <a:schemeClr val="dk1"/>
                </a:solidFill>
                <a:latin typeface="Times New Roman"/>
                <a:ea typeface="Times New Roman"/>
                <a:cs typeface="Times New Roman"/>
                <a:sym typeface="Times New Roman"/>
              </a:rPr>
              <a:t>14</a:t>
            </a:r>
            <a:r>
              <a:rPr lang="en-US" sz="1500" b="0" i="0" u="none" strike="noStrike" cap="none" dirty="0">
                <a:solidFill>
                  <a:schemeClr val="dk1"/>
                </a:solidFill>
                <a:latin typeface="Times New Roman"/>
                <a:ea typeface="Times New Roman"/>
                <a:cs typeface="Times New Roman"/>
                <a:sym typeface="Times New Roman"/>
              </a:rPr>
              <a:t> LO</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khác</a:t>
            </a:r>
            <a:r>
              <a:rPr lang="en-US" sz="1500" b="1" i="0" u="none" strike="noStrike" cap="none" dirty="0">
                <a:solidFill>
                  <a:schemeClr val="dk1"/>
                </a:solidFill>
                <a:latin typeface="Times New Roman"/>
                <a:ea typeface="Times New Roman"/>
                <a:cs typeface="Times New Roman"/>
                <a:sym typeface="Times New Roman"/>
              </a:rPr>
              <a:t> (Defect, </a:t>
            </a:r>
            <a:r>
              <a:rPr lang="en-US" sz="1500" b="1" i="0" u="none" strike="noStrike" cap="none" dirty="0" err="1">
                <a:solidFill>
                  <a:schemeClr val="dk1"/>
                </a:solidFill>
                <a:latin typeface="Times New Roman"/>
                <a:ea typeface="Times New Roman"/>
                <a:cs typeface="Times New Roman"/>
                <a:sym typeface="Times New Roman"/>
              </a:rPr>
              <a:t>Hardtime</a:t>
            </a:r>
            <a:r>
              <a:rPr lang="en-US" sz="1500" b="1"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28</a:t>
            </a:r>
            <a:r>
              <a:rPr lang="en-US" sz="1500" b="0" i="0" u="none" strike="noStrike" cap="none" dirty="0">
                <a:solidFill>
                  <a:schemeClr val="dk1"/>
                </a:solidFill>
                <a:latin typeface="Times New Roman"/>
                <a:ea typeface="Times New Roman"/>
                <a:cs typeface="Times New Roman"/>
                <a:sym typeface="Times New Roman"/>
              </a:rPr>
              <a:t> overdue EO / total  </a:t>
            </a:r>
            <a:r>
              <a:rPr lang="en-US" sz="1500" dirty="0">
                <a:solidFill>
                  <a:schemeClr val="dk1"/>
                </a:solidFill>
                <a:latin typeface="Times New Roman"/>
                <a:ea typeface="Times New Roman"/>
                <a:cs typeface="Times New Roman"/>
                <a:sym typeface="Times New Roman"/>
              </a:rPr>
              <a:t>51</a:t>
            </a:r>
            <a:r>
              <a:rPr lang="en-US" sz="1500" b="0" i="0" u="none" strike="noStrike" cap="none" dirty="0">
                <a:solidFill>
                  <a:schemeClr val="dk1"/>
                </a:solidFill>
                <a:latin typeface="Times New Roman"/>
                <a:ea typeface="Times New Roman"/>
                <a:cs typeface="Times New Roman"/>
                <a:sym typeface="Times New Roman"/>
              </a:rPr>
              <a:t> EO </a:t>
            </a:r>
            <a:endParaRPr sz="1500" b="0" i="0" u="none" strike="noStrike" cap="none" dirty="0">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Tình</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trạng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pool trong 4 </a:t>
            </a:r>
            <a:r>
              <a:rPr lang="en-US" sz="1500" b="1" i="0" u="none" strike="noStrike" cap="none" dirty="0" err="1">
                <a:solidFill>
                  <a:schemeClr val="dk1"/>
                </a:solidFill>
                <a:latin typeface="Times New Roman"/>
                <a:ea typeface="Times New Roman"/>
                <a:cs typeface="Times New Roman"/>
                <a:sym typeface="Times New Roman"/>
              </a:rPr>
              <a:t>tuần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gần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nhất</a:t>
            </a:r>
            <a:r>
              <a:rPr lang="en-US" sz="1500" b="1" i="0" u="none" strike="noStrike" cap="none" dirty="0">
                <a:solidFill>
                  <a:schemeClr val="dk1"/>
                </a:solidFill>
                <a:latin typeface="Times New Roman"/>
                <a:ea typeface="Times New Roman"/>
                <a:cs typeface="Times New Roman"/>
                <a:sym typeface="Times New Roman"/>
              </a:rPr>
              <a:t>:</a:t>
            </a:r>
            <a:endParaRPr sz="1500" b="1" i="0" u="none" strike="noStrike" cap="none" dirty="0">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433650" y="2063800"/>
            <a:ext cx="6584851" cy="45132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graphicFrame>
        <p:nvGraphicFramePr>
          <p:cNvPr id="238" name="Google Shape;238;g31ccdae391d_0_332"/>
          <p:cNvGraphicFramePr/>
          <p:nvPr/>
        </p:nvGraphicFramePr>
        <p:xfrm>
          <a:off x="474783" y="301869"/>
          <a:ext cx="11561850" cy="6075167"/>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14200">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14200">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57156">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Spoiler Servo control</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FCRM</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1e</a:t>
                      </a:r>
                      <a:r>
                        <a:rPr lang="en-US" sz="1300" u="none" strike="noStrike" cap="none">
                          <a:solidFill>
                            <a:schemeClr val="dk1"/>
                          </a:solidFill>
                          <a:latin typeface="Times New Roman"/>
                          <a:ea typeface="Times New Roman"/>
                          <a:cs typeface="Times New Roman"/>
                          <a:sym typeface="Times New Roman"/>
                        </a:rPr>
                        <a:t>a in stock, 01ea giao HAN 16/06</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218143">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Chiller</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6</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11</a:t>
                      </a:r>
                      <a:r>
                        <a:rPr lang="en-US" sz="1300" u="none" strike="noStrike" cap="none">
                          <a:latin typeface="Times New Roman"/>
                          <a:ea typeface="Times New Roman"/>
                          <a:cs typeface="Times New Roman"/>
                          <a:sym typeface="Times New Roman"/>
                        </a:rPr>
                        <a:t> hỏng hóc + 0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NIL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- 09</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+ 01ea dự kiến release 19/06.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+ 08ea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05715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06</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05715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- 01ea VCRU in stock.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thêm</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và</a:t>
                      </a:r>
                      <a:r>
                        <a:rPr lang="en-US" sz="1300"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05715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Độ tin cậy kém nên hỏng hóc rất nhiều.</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NIL stock.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12ea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A886 RTS </a:t>
                      </a:r>
                      <a:r>
                        <a:rPr lang="en-US" sz="1300" dirty="0" err="1">
                          <a:solidFill>
                            <a:schemeClr val="dk1"/>
                          </a:solidFill>
                          <a:latin typeface="Times New Roman"/>
                          <a:ea typeface="Times New Roman"/>
                          <a:cs typeface="Times New Roman"/>
                          <a:sym typeface="Times New Roman"/>
                        </a:rPr>
                        <a:t>cuối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tháng</a:t>
                      </a:r>
                      <a:r>
                        <a:rPr lang="en-US" sz="1300" dirty="0">
                          <a:solidFill>
                            <a:schemeClr val="dk1"/>
                          </a:solidFill>
                          <a:latin typeface="Times New Roman"/>
                          <a:ea typeface="Times New Roman"/>
                          <a:cs typeface="Times New Roman"/>
                          <a:sym typeface="Times New Roman"/>
                        </a:rPr>
                        <a:t> 6.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oven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ưu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tiên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trước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tạm</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thời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issue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khai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thác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hỏng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hóc</a:t>
                      </a:r>
                      <a:r>
                        <a:rPr lang="en-US" sz="1300" dirty="0">
                          <a:solidFill>
                            <a:schemeClr val="dk1"/>
                          </a:solidFill>
                          <a:latin typeface="Times New Roman"/>
                          <a:ea typeface="Times New Roman"/>
                          <a:cs typeface="Times New Roman"/>
                          <a:sym typeface="Times New Roman"/>
                        </a:rPr>
                        <a:t>.</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Times New Roman"/>
                <a:ea typeface="Times New Roman"/>
                <a:cs typeface="Times New Roman"/>
                <a:sym typeface="Times New Roman"/>
              </a:rPr>
              <a:t>  +    </a:t>
            </a:r>
            <a:r>
              <a:rPr lang="en-US" sz="1600" b="0" i="0" u="none" strike="noStrike" cap="none" dirty="0" err="1">
                <a:solidFill>
                  <a:srgbClr val="000000"/>
                </a:solidFill>
                <a:latin typeface="Times New Roman"/>
                <a:ea typeface="Times New Roman"/>
                <a:cs typeface="Times New Roman"/>
                <a:sym typeface="Times New Roman"/>
              </a:rPr>
              <a:t>Một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số</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thiết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bị</a:t>
            </a:r>
            <a:r>
              <a:rPr lang="en-US" sz="1600" b="0" i="0" u="none" strike="noStrike" cap="none" dirty="0">
                <a:solidFill>
                  <a:srgbClr val="000000"/>
                </a:solidFill>
                <a:latin typeface="Times New Roman"/>
                <a:ea typeface="Times New Roman"/>
                <a:cs typeface="Times New Roman"/>
                <a:sym typeface="Times New Roman"/>
              </a:rPr>
              <a:t> pooling </a:t>
            </a:r>
            <a:r>
              <a:rPr lang="en-US" sz="1600" b="0" i="0" u="none" strike="noStrike" cap="none" dirty="0" err="1">
                <a:solidFill>
                  <a:srgbClr val="000000"/>
                </a:solidFill>
                <a:latin typeface="Times New Roman"/>
                <a:ea typeface="Times New Roman"/>
                <a:cs typeface="Times New Roman"/>
                <a:sym typeface="Times New Roman"/>
              </a:rPr>
              <a:t>của</a:t>
            </a:r>
            <a:r>
              <a:rPr lang="en-US" sz="1600" b="0" i="0" u="none" strike="noStrike" cap="none" dirty="0">
                <a:solidFill>
                  <a:srgbClr val="000000"/>
                </a:solidFill>
                <a:latin typeface="Times New Roman"/>
                <a:ea typeface="Times New Roman"/>
                <a:cs typeface="Times New Roman"/>
                <a:sym typeface="Times New Roman"/>
              </a:rPr>
              <a:t> OEM Honeywell </a:t>
            </a:r>
            <a:r>
              <a:rPr lang="en-US" sz="1600" b="0" i="0" u="none" strike="noStrike" cap="none" dirty="0" err="1">
                <a:solidFill>
                  <a:srgbClr val="000000"/>
                </a:solidFill>
                <a:latin typeface="Times New Roman"/>
                <a:ea typeface="Times New Roman"/>
                <a:cs typeface="Times New Roman"/>
                <a:sym typeface="Times New Roman"/>
              </a:rPr>
              <a:t>liên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quan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Chiller (VCRU, Motor </a:t>
            </a:r>
            <a:r>
              <a:rPr lang="en-US" sz="1600" b="0" i="0" u="none" strike="noStrike" cap="none" dirty="0" err="1">
                <a:solidFill>
                  <a:srgbClr val="000000"/>
                </a:solidFill>
                <a:latin typeface="Times New Roman"/>
                <a:ea typeface="Times New Roman"/>
                <a:cs typeface="Times New Roman"/>
                <a:sym typeface="Times New Roman"/>
              </a:rPr>
              <a:t>Controler</a:t>
            </a:r>
            <a:r>
              <a:rPr lang="en-US" sz="1600" b="0" i="0" u="none" strike="noStrike" cap="none" dirty="0">
                <a:solidFill>
                  <a:srgbClr val="000000"/>
                </a:solidFill>
                <a:latin typeface="Times New Roman"/>
                <a:ea typeface="Times New Roman"/>
                <a:cs typeface="Times New Roman"/>
                <a:sym typeface="Times New Roman"/>
              </a:rPr>
              <a:t>) TAT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rất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dài</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dirty="0" err="1">
                <a:solidFill>
                  <a:srgbClr val="000000"/>
                </a:solidFill>
                <a:latin typeface="Times New Roman"/>
                <a:ea typeface="Times New Roman"/>
                <a:cs typeface="Times New Roman"/>
                <a:sym typeface="Times New Roman"/>
              </a:rPr>
              <a:t>Hỏng</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hóc</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flight control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nhiều</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chưa</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giảm</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dirty="0">
              <a:solidFill>
                <a:schemeClr val="dk1"/>
              </a:solidFill>
              <a:latin typeface="Times New Roman"/>
              <a:ea typeface="Times New Roman"/>
              <a:cs typeface="Times New Roman"/>
              <a:sym typeface="Times New Roman"/>
            </a:endParaRPr>
          </a:p>
          <a:p>
            <a:pPr marL="457200" lvl="0" algn="just">
              <a:buClr>
                <a:schemeClr val="dk1"/>
              </a:buClr>
              <a:buSzPts val="1600"/>
            </a:pPr>
            <a:r>
              <a:rPr lang="en-US" sz="1600" dirty="0">
                <a:solidFill>
                  <a:schemeClr val="dk1"/>
                </a:solidFill>
                <a:latin typeface="Times New Roman"/>
                <a:ea typeface="Times New Roman"/>
                <a:cs typeface="Times New Roman"/>
                <a:sym typeface="Times New Roman"/>
              </a:rPr>
              <a:t>• A887 - CHILLER SYS INOP: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Motor Controller, </a:t>
            </a:r>
            <a:r>
              <a:rPr lang="en-US" sz="1600" dirty="0" err="1">
                <a:solidFill>
                  <a:schemeClr val="dk1"/>
                </a:solidFill>
                <a:latin typeface="Times New Roman"/>
                <a:ea typeface="Times New Roman"/>
                <a:cs typeface="Times New Roman"/>
                <a:sym typeface="Times New Roman"/>
              </a:rPr>
              <a:t>chờ</a:t>
            </a:r>
            <a:r>
              <a:rPr lang="en-US" sz="1600" dirty="0">
                <a:solidFill>
                  <a:schemeClr val="dk1"/>
                </a:solidFill>
                <a:latin typeface="Times New Roman"/>
                <a:ea typeface="Times New Roman"/>
                <a:cs typeface="Times New Roman"/>
                <a:sym typeface="Times New Roman"/>
              </a:rPr>
              <a:t> FHS </a:t>
            </a:r>
            <a:r>
              <a:rPr lang="en-US" sz="1600" dirty="0" err="1">
                <a:solidFill>
                  <a:schemeClr val="dk1"/>
                </a:solidFill>
                <a:latin typeface="Times New Roman"/>
                <a:ea typeface="Times New Roman"/>
                <a:cs typeface="Times New Roman"/>
                <a:sym typeface="Times New Roman"/>
              </a:rPr>
              <a:t>cập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nhật</a:t>
            </a:r>
            <a:r>
              <a:rPr lang="en-US" sz="1600" dirty="0">
                <a:solidFill>
                  <a:schemeClr val="dk1"/>
                </a:solidFill>
                <a:latin typeface="Times New Roman"/>
                <a:ea typeface="Times New Roman"/>
                <a:cs typeface="Times New Roman"/>
                <a:sym typeface="Times New Roman"/>
              </a:rPr>
              <a:t>.</a:t>
            </a: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A888, A892, A898 - CHILLER SYS INOP: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VCRU, 01ea in stock + 02ea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EDD.</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A893 - CHILLER AT AFT CREWREST INOP: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I/O CON-TROLLER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SWITCH PANEL,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endParaRPr sz="20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795338" y="3119438"/>
            <a:ext cx="10601325" cy="26003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graphicFrame>
        <p:nvGraphicFramePr>
          <p:cNvPr id="255" name="Google Shape;255;g31ccdae391d_0_347"/>
          <p:cNvGraphicFramePr/>
          <p:nvPr/>
        </p:nvGraphicFramePr>
        <p:xfrm>
          <a:off x="439614" y="221847"/>
          <a:ext cx="11611325" cy="6405871"/>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99">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99">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5146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1</a:t>
                      </a:r>
                      <a:endParaRPr sz="1400" i="0" u="none" strike="noStrike" cap="none" dirty="0">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05</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br>
                        <a:rPr lang="en-US" sz="1400" u="none" strike="noStrike" cap="none">
                          <a:solidFill>
                            <a:schemeClr val="dk1"/>
                          </a:solidFill>
                          <a:latin typeface="Times New Roman"/>
                          <a:ea typeface="Times New Roman"/>
                          <a:cs typeface="Times New Roman"/>
                          <a:sym typeface="Times New Roman"/>
                        </a:rPr>
                      </a:br>
                      <a:r>
                        <a:rPr lang="en-US" sz="1400" u="none" strike="noStrike" cap="none">
                          <a:solidFill>
                            <a:schemeClr val="dk1"/>
                          </a:solidFill>
                          <a:latin typeface="Times New Roman"/>
                          <a:ea typeface="Times New Roman"/>
                          <a:cs typeface="Times New Roman"/>
                          <a:sym typeface="Times New Roman"/>
                        </a:rPr>
                        <a:t>01PO: </a:t>
                      </a:r>
                      <a:r>
                        <a:rPr lang="en-US">
                          <a:solidFill>
                            <a:schemeClr val="dk1"/>
                          </a:solidFill>
                          <a:latin typeface="Times New Roman"/>
                          <a:ea typeface="Times New Roman"/>
                          <a:cs typeface="Times New Roman"/>
                          <a:sym typeface="Times New Roman"/>
                        </a:rPr>
                        <a:t>EST 30/06</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01RO: Vào shop làm OH ngày 03/06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5146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87798">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787798">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48553">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816332-5-401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6764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106907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01EA: STK SGN</a:t>
                      </a:r>
                      <a:br>
                        <a:rPr lang="en-US" dirty="0">
                          <a:solidFill>
                            <a:schemeClr val="dk1"/>
                          </a:solidFill>
                          <a:latin typeface="Times New Roman"/>
                          <a:ea typeface="Times New Roman"/>
                          <a:cs typeface="Times New Roman"/>
                          <a:sym typeface="Times New Roman"/>
                        </a:rPr>
                      </a:br>
                      <a:r>
                        <a:rPr lang="en-US" dirty="0">
                          <a:solidFill>
                            <a:schemeClr val="dk1"/>
                          </a:solidFill>
                          <a:latin typeface="Times New Roman"/>
                          <a:ea typeface="Times New Roman"/>
                          <a:cs typeface="Times New Roman"/>
                          <a:sym typeface="Times New Roman"/>
                        </a:rPr>
                        <a:t>01RO: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EDD</a:t>
                      </a:r>
                      <a:endParaRPr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graphicFrame>
        <p:nvGraphicFramePr>
          <p:cNvPr id="263" name="Google Shape;26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03ea in stock + 01ea FAK Nga. Dự kiến tuần 25 có 02 ea về.</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01ea in stock. Dự kiến tuần 25 VSTEA xuất xưởng thêm 2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04ea in stock. trong tuần 24 dự kiến sẽ có thêm 05ea.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NIL</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7</a:t>
            </a:r>
            <a:r>
              <a:rPr lang="en-US" sz="1500" b="0" i="0" u="none" strike="noStrike" cap="none" dirty="0">
                <a:solidFill>
                  <a:schemeClr val="dk1"/>
                </a:solidFill>
                <a:highlight>
                  <a:schemeClr val="lt1"/>
                </a:highlight>
                <a:latin typeface="Times New Roman"/>
                <a:ea typeface="Times New Roman"/>
                <a:cs typeface="Times New Roman"/>
                <a:sym typeface="Times New Roman"/>
              </a:rPr>
              <a:t>ea (0</a:t>
            </a:r>
            <a:r>
              <a:rPr lang="en-US" sz="1500" dirty="0">
                <a:solidFill>
                  <a:schemeClr val="dk1"/>
                </a:solidFill>
                <a:highlight>
                  <a:schemeClr val="lt1"/>
                </a:highlight>
                <a:latin typeface="Times New Roman"/>
                <a:ea typeface="Times New Roman"/>
                <a:cs typeface="Times New Roman"/>
                <a:sym typeface="Times New Roman"/>
              </a:rPr>
              <a:t>3</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21317, 21048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a:t>
            </a:r>
            <a:r>
              <a:rPr lang="en-US" sz="1500" dirty="0" err="1">
                <a:solidFill>
                  <a:schemeClr val="dk1"/>
                </a:solidFill>
                <a:highlight>
                  <a:schemeClr val="lt1"/>
                </a:highlight>
                <a:latin typeface="Times New Roman"/>
                <a:ea typeface="Times New Roman"/>
                <a:cs typeface="Times New Roman"/>
                <a:sym typeface="Times New Roman"/>
              </a:rPr>
              <a:t>à</a:t>
            </a:r>
            <a:r>
              <a:rPr lang="en-US" sz="1500" dirty="0">
                <a:solidFill>
                  <a:schemeClr val="dk1"/>
                </a:solidFill>
                <a:highlight>
                  <a:schemeClr val="lt1"/>
                </a:highlight>
                <a:latin typeface="Times New Roman"/>
                <a:ea typeface="Times New Roman"/>
                <a:cs typeface="Times New Roman"/>
                <a:sym typeface="Times New Roman"/>
              </a:rPr>
              <a:t> 03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SEASL 21584, 21414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21604</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dirty="0">
                <a:solidFill>
                  <a:schemeClr val="dk1"/>
                </a:solidFill>
                <a:highlight>
                  <a:schemeClr val="lt1"/>
                </a:highlight>
                <a:latin typeface="Times New Roman"/>
                <a:ea typeface="Times New Roman"/>
                <a:cs typeface="Times New Roman"/>
                <a:sym typeface="Times New Roman"/>
              </a:rPr>
              <a:t>. </a:t>
            </a:r>
            <a:endParaRPr sz="1500"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a:solidFill>
                  <a:schemeClr val="dk1"/>
                </a:solidFill>
                <a:highlight>
                  <a:schemeClr val="lt1"/>
                </a:highlight>
                <a:latin typeface="Times New Roman"/>
                <a:ea typeface="Times New Roman"/>
                <a:cs typeface="Times New Roman"/>
                <a:sym typeface="Times New Roman"/>
              </a:rPr>
              <a:t>02 ENG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A886 </a:t>
            </a:r>
            <a:r>
              <a:rPr lang="en-US" sz="1500" dirty="0" err="1">
                <a:solidFill>
                  <a:schemeClr val="dk1"/>
                </a:solidFill>
                <a:highlight>
                  <a:schemeClr val="lt1"/>
                </a:highlight>
                <a:latin typeface="Times New Roman"/>
                <a:ea typeface="Times New Roman"/>
                <a:cs typeface="Times New Roman"/>
                <a:sym typeface="Times New Roman"/>
              </a:rPr>
              <a:t>phá</a:t>
            </a:r>
            <a:r>
              <a:rPr lang="en-US" sz="1500" dirty="0">
                <a:solidFill>
                  <a:schemeClr val="dk1"/>
                </a:solidFill>
                <a:highlight>
                  <a:schemeClr val="lt1"/>
                </a:highlight>
                <a:latin typeface="Times New Roman"/>
                <a:ea typeface="Times New Roman"/>
                <a:cs typeface="Times New Roman"/>
                <a:sym typeface="Times New Roman"/>
              </a:rPr>
              <a:t> BQ: 01ea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15/06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01ea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25/06.</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10</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M</a:t>
            </a:r>
            <a:r>
              <a:rPr lang="en-US" sz="1500" dirty="0">
                <a:solidFill>
                  <a:schemeClr val="dk1"/>
                </a:solidFill>
                <a:highlight>
                  <a:schemeClr val="lt1"/>
                </a:highlight>
                <a:latin typeface="Times New Roman"/>
                <a:ea typeface="Times New Roman"/>
                <a:cs typeface="Times New Roman"/>
                <a:sym typeface="Times New Roman"/>
              </a:rPr>
              <a:t>ar/2025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lvl="0" algn="just">
              <a:buClr>
                <a:schemeClr val="dk1"/>
              </a:buClr>
              <a:buSzPts val="1500"/>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 (958398)</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9565</a:t>
            </a:r>
            <a:r>
              <a:rPr lang="en-US" sz="1500" dirty="0">
                <a:solidFill>
                  <a:schemeClr val="dk1"/>
                </a:solidFill>
                <a:highlight>
                  <a:schemeClr val="lt1"/>
                </a:highlight>
                <a:latin typeface="Times New Roman"/>
                <a:ea typeface="Times New Roman"/>
                <a:cs typeface="Times New Roman"/>
                <a:sym typeface="Times New Roman"/>
              </a:rPr>
              <a:t>69</a:t>
            </a:r>
            <a:r>
              <a:rPr lang="en-US" sz="1500" b="0" i="0" u="none" strike="noStrike" cap="none" dirty="0">
                <a:solidFill>
                  <a:schemeClr val="dk1"/>
                </a:solidFill>
                <a:highlight>
                  <a:schemeClr val="lt1"/>
                </a:highlight>
                <a:latin typeface="Times New Roman"/>
                <a:ea typeface="Times New Roman"/>
                <a:cs typeface="Times New Roman"/>
                <a:sym typeface="Times New Roman"/>
              </a:rPr>
              <a:t>,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 956534.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956569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15/6/2025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chuyển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25/7/2025. </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a:t>
            </a:r>
            <a:r>
              <a:rPr lang="en-US" sz="1500" dirty="0">
                <a:highlight>
                  <a:schemeClr val="lt1"/>
                </a:highlight>
                <a:latin typeface="Times New Roman"/>
                <a:ea typeface="Times New Roman"/>
                <a:cs typeface="Times New Roman"/>
                <a:sym typeface="Times New Roman"/>
              </a:rPr>
              <a:t>6</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956626, 956980)</a:t>
            </a:r>
            <a:r>
              <a:rPr lang="en-US" sz="1500" dirty="0">
                <a:highlight>
                  <a:schemeClr val="lt1"/>
                </a:highlight>
                <a:latin typeface="Times New Roman"/>
                <a:ea typeface="Times New Roman"/>
                <a:cs typeface="Times New Roman"/>
                <a:sym typeface="Times New Roman"/>
              </a:rPr>
              <a:t> trong </a:t>
            </a:r>
            <a:r>
              <a:rPr lang="en-US" sz="1500" dirty="0" err="1">
                <a:highlight>
                  <a:schemeClr val="lt1"/>
                </a:highlight>
                <a:latin typeface="Times New Roman"/>
                <a:ea typeface="Times New Roman"/>
                <a:cs typeface="Times New Roman"/>
                <a:sym typeface="Times New Roman"/>
              </a:rPr>
              <a:t>đó</a:t>
            </a:r>
            <a:r>
              <a:rPr lang="en-US" sz="1500" dirty="0">
                <a:highlight>
                  <a:schemeClr val="lt1"/>
                </a:highlight>
                <a:latin typeface="Times New Roman"/>
                <a:ea typeface="Times New Roman"/>
                <a:cs typeface="Times New Roman"/>
                <a:sym typeface="Times New Roman"/>
              </a:rPr>
              <a:t> 956980 </a:t>
            </a:r>
            <a:r>
              <a:rPr lang="en-US" sz="1500" dirty="0" err="1">
                <a:highlight>
                  <a:schemeClr val="lt1"/>
                </a:highlight>
                <a:latin typeface="Times New Roman"/>
                <a:ea typeface="Times New Roman"/>
                <a:cs typeface="Times New Roman"/>
                <a:sym typeface="Times New Roman"/>
              </a:rPr>
              <a:t>mới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do 01 </a:t>
            </a:r>
            <a:r>
              <a:rPr lang="en-US" sz="1500" dirty="0" err="1">
                <a:highlight>
                  <a:schemeClr val="lt1"/>
                </a:highlight>
                <a:latin typeface="Times New Roman"/>
                <a:ea typeface="Times New Roman"/>
                <a:cs typeface="Times New Roman"/>
                <a:sym typeface="Times New Roman"/>
              </a:rPr>
              <a:t>đc</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trên</a:t>
            </a:r>
            <a:r>
              <a:rPr lang="en-US" sz="1500" dirty="0">
                <a:highlight>
                  <a:schemeClr val="lt1"/>
                </a:highlight>
                <a:latin typeface="Times New Roman"/>
                <a:ea typeface="Times New Roman"/>
                <a:cs typeface="Times New Roman"/>
                <a:sym typeface="Times New Roman"/>
              </a:rPr>
              <a:t> A868 </a:t>
            </a:r>
            <a:r>
              <a:rPr lang="en-US" sz="1500" dirty="0" err="1">
                <a:highlight>
                  <a:schemeClr val="lt1"/>
                </a:highlight>
                <a:latin typeface="Times New Roman"/>
                <a:ea typeface="Times New Roman"/>
                <a:cs typeface="Times New Roman"/>
                <a:sym typeface="Times New Roman"/>
              </a:rPr>
              <a:t>phải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tháo</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đầu</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tháng</a:t>
            </a:r>
            <a:r>
              <a:rPr lang="en-US" sz="1500" dirty="0">
                <a:highlight>
                  <a:schemeClr val="lt1"/>
                </a:highlight>
                <a:latin typeface="Times New Roman"/>
                <a:ea typeface="Times New Roman"/>
                <a:cs typeface="Times New Roman"/>
                <a:sym typeface="Times New Roman"/>
              </a:rPr>
              <a:t> 4/2025</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endParaRPr sz="15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0ea</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US đang chuyển đi shop: 01ea V15876</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09ea, ch</a:t>
            </a:r>
            <a:r>
              <a:rPr lang="en-US" sz="1600">
                <a:solidFill>
                  <a:schemeClr val="dk1"/>
                </a:solidFill>
                <a:latin typeface="Times New Roman"/>
                <a:ea typeface="Times New Roman"/>
                <a:cs typeface="Times New Roman"/>
                <a:sym typeface="Times New Roman"/>
              </a:rPr>
              <a:t>ờ induct:03ea</a:t>
            </a:r>
            <a:r>
              <a:rPr lang="en-US" sz="1600" b="0" i="0" u="none" strike="noStrike" cap="none">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cho K6 thuê: 01ea (V12505)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6" name="Google Shape;28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sp>
        <p:nvSpPr>
          <p:cNvPr id="287" name="Google Shape;28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8" name="Google Shape;288;g31ccdae391d_0_375"/>
          <p:cNvPicPr preferRelativeResize="0"/>
          <p:nvPr/>
        </p:nvPicPr>
        <p:blipFill>
          <a:blip r:embed="rId3">
            <a:alphaModFix/>
          </a:blip>
          <a:stretch>
            <a:fillRect/>
          </a:stretch>
        </p:blipFill>
        <p:spPr>
          <a:xfrm>
            <a:off x="459225" y="1378813"/>
            <a:ext cx="11732774" cy="37114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70</a:t>
            </a:fld>
            <a:endParaRPr/>
          </a:p>
        </p:txBody>
      </p:sp>
      <p:sp>
        <p:nvSpPr>
          <p:cNvPr id="295" name="Google Shape;29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rgbClr val="FF0000"/>
                </a:solidFill>
                <a:latin typeface="Times New Roman"/>
                <a:ea typeface="Times New Roman"/>
                <a:cs typeface="Times New Roman"/>
                <a:sym typeface="Times New Roman"/>
              </a:rPr>
              <a:t>- Đội bay A321 Neo:</a:t>
            </a:r>
            <a:endParaRPr sz="1500" b="1" i="0" u="none" strike="noStrike" cap="none" dirty="0">
              <a:solidFill>
                <a:srgbClr val="FF0000"/>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05ea (2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SLB), 2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của</a:t>
            </a:r>
            <a:r>
              <a:rPr lang="en-US" sz="1500" b="0" i="0" u="none" strike="noStrike" cap="none" dirty="0">
                <a:solidFill>
                  <a:schemeClr val="dk1"/>
                </a:solidFill>
                <a:latin typeface="Times New Roman"/>
                <a:ea typeface="Times New Roman"/>
                <a:cs typeface="Times New Roman"/>
                <a:sym typeface="Times New Roman"/>
              </a:rPr>
              <a:t> PW).</a:t>
            </a:r>
            <a:endParaRPr sz="1500" b="0" i="0" u="none" strike="noStrike" cap="none" dirty="0">
              <a:solidFill>
                <a:schemeClr val="dk1"/>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trong </a:t>
            </a:r>
            <a:r>
              <a:rPr lang="en-US" sz="1500" b="0" i="0" u="none" strike="noStrike" cap="none" dirty="0" err="1">
                <a:solidFill>
                  <a:schemeClr val="dk1"/>
                </a:solidFill>
                <a:latin typeface="Times New Roman"/>
                <a:ea typeface="Times New Roman"/>
                <a:cs typeface="Times New Roman"/>
                <a:sym typeface="Times New Roman"/>
              </a:rPr>
              <a:t>kho</a:t>
            </a:r>
            <a:r>
              <a:rPr lang="en-US" sz="1500" b="0" i="0" u="none" strike="noStrike" cap="none" dirty="0">
                <a:solidFill>
                  <a:schemeClr val="dk1"/>
                </a:solidFill>
                <a:latin typeface="Times New Roman"/>
                <a:ea typeface="Times New Roman"/>
                <a:cs typeface="Times New Roman"/>
                <a:sym typeface="Times New Roman"/>
              </a:rPr>
              <a:t>: NIL.</a:t>
            </a:r>
            <a:endParaRPr sz="1500" b="0" i="0" u="none" strike="noStrike" cap="none" dirty="0">
              <a:solidFill>
                <a:schemeClr val="dk1"/>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6</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4 </a:t>
            </a:r>
            <a:r>
              <a:rPr lang="en-US" sz="1500" dirty="0" err="1">
                <a:solidFill>
                  <a:schemeClr val="dk1"/>
                </a:solidFill>
                <a:latin typeface="Times New Roman"/>
                <a:ea typeface="Times New Roman"/>
                <a:cs typeface="Times New Roman"/>
                <a:sym typeface="Times New Roman"/>
              </a:rPr>
              <a:t>t</a:t>
            </a:r>
            <a:r>
              <a:rPr lang="en-US" sz="1500" b="0" i="0" u="none" strike="noStrike" cap="none" dirty="0" err="1">
                <a:solidFill>
                  <a:schemeClr val="dk1"/>
                </a:solidFill>
                <a:latin typeface="Times New Roman"/>
                <a:ea typeface="Times New Roman"/>
                <a:cs typeface="Times New Roman"/>
                <a:sym typeface="Times New Roman"/>
              </a:rPr>
              <a:t>ại</a:t>
            </a:r>
            <a:r>
              <a:rPr lang="en-US" sz="1500" b="0" i="0" u="none" strike="noStrike" cap="none" dirty="0">
                <a:solidFill>
                  <a:schemeClr val="dk1"/>
                </a:solidFill>
                <a:latin typeface="Times New Roman"/>
                <a:ea typeface="Times New Roman"/>
                <a:cs typeface="Times New Roman"/>
                <a:sym typeface="Times New Roman"/>
              </a:rPr>
              <a:t> ESA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1</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IHI</a:t>
            </a:r>
            <a:r>
              <a:rPr lang="en-US" sz="1500" dirty="0">
                <a:solidFill>
                  <a:schemeClr val="dk1"/>
                </a:solidFill>
                <a:latin typeface="Times New Roman"/>
                <a:ea typeface="Times New Roman"/>
                <a:cs typeface="Times New Roman"/>
                <a:sym typeface="Times New Roman"/>
              </a:rPr>
              <a:t>, 01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MTU-H</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làm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việc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với</a:t>
            </a:r>
            <a:r>
              <a:rPr lang="en-US" sz="1500" dirty="0">
                <a:solidFill>
                  <a:schemeClr val="dk1"/>
                </a:solidFill>
                <a:latin typeface="Times New Roman"/>
                <a:ea typeface="Times New Roman"/>
                <a:cs typeface="Times New Roman"/>
                <a:sym typeface="Times New Roman"/>
              </a:rPr>
              <a:t> shop, </a:t>
            </a:r>
            <a:r>
              <a:rPr lang="en-US" sz="1500" dirty="0" err="1">
                <a:solidFill>
                  <a:schemeClr val="dk1"/>
                </a:solidFill>
                <a:latin typeface="Times New Roman"/>
                <a:ea typeface="Times New Roman"/>
                <a:cs typeface="Times New Roman"/>
                <a:sym typeface="Times New Roman"/>
              </a:rPr>
              <a:t>không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có</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indution</a:t>
            </a:r>
            <a:r>
              <a:rPr lang="en-US" sz="1500" dirty="0">
                <a:solidFill>
                  <a:schemeClr val="dk1"/>
                </a:solidFill>
                <a:latin typeface="Times New Roman"/>
                <a:ea typeface="Times New Roman"/>
                <a:cs typeface="Times New Roman"/>
                <a:sym typeface="Times New Roman"/>
              </a:rPr>
              <a:t> slot </a:t>
            </a:r>
            <a:r>
              <a:rPr lang="en-US" sz="1500" dirty="0" err="1">
                <a:solidFill>
                  <a:schemeClr val="dk1"/>
                </a:solidFill>
                <a:latin typeface="Times New Roman"/>
                <a:ea typeface="Times New Roman"/>
                <a:cs typeface="Times New Roman"/>
                <a:sym typeface="Times New Roman"/>
              </a:rPr>
              <a:t>vào</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tháng</a:t>
            </a:r>
            <a:r>
              <a:rPr lang="en-US" sz="1500" dirty="0">
                <a:solidFill>
                  <a:schemeClr val="dk1"/>
                </a:solidFill>
                <a:latin typeface="Times New Roman"/>
                <a:ea typeface="Times New Roman"/>
                <a:cs typeface="Times New Roman"/>
                <a:sym typeface="Times New Roman"/>
              </a:rPr>
              <a:t> 7</a:t>
            </a:r>
            <a:endParaRPr sz="1500" b="0" i="0" u="none" strike="noStrike" cap="none" dirty="0">
              <a:solidFill>
                <a:schemeClr val="dk1"/>
              </a:solidFill>
              <a:latin typeface="Times New Roman"/>
              <a:ea typeface="Times New Roman"/>
              <a:cs typeface="Times New Roman"/>
              <a:sym typeface="Times New Roman"/>
            </a:endParaRPr>
          </a:p>
          <a:p>
            <a:pPr marL="0" lvl="0" indent="0"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phán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thuê</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thêm</a:t>
            </a:r>
            <a:r>
              <a:rPr lang="en-US" sz="1500" dirty="0">
                <a:solidFill>
                  <a:schemeClr val="dk1"/>
                </a:solidFill>
                <a:latin typeface="Times New Roman"/>
                <a:ea typeface="Times New Roman"/>
                <a:cs typeface="Times New Roman"/>
                <a:sym typeface="Times New Roman"/>
              </a:rPr>
              <a:t> 2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phán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kí</a:t>
            </a:r>
            <a:r>
              <a:rPr lang="en-US" sz="1500" dirty="0">
                <a:solidFill>
                  <a:schemeClr val="dk1"/>
                </a:solidFill>
                <a:latin typeface="Times New Roman"/>
                <a:ea typeface="Times New Roman"/>
                <a:cs typeface="Times New Roman"/>
                <a:sym typeface="Times New Roman"/>
              </a:rPr>
              <a:t> LOI AERCAP, WLFC, Marathon </a:t>
            </a:r>
            <a:br>
              <a:rPr lang="en-US" sz="1500" dirty="0">
                <a:solidFill>
                  <a:schemeClr val="dk1"/>
                </a:solidFill>
                <a:latin typeface="Times New Roman"/>
                <a:ea typeface="Times New Roman"/>
                <a:cs typeface="Times New Roman"/>
                <a:sym typeface="Times New Roman"/>
              </a:rPr>
            </a:br>
            <a:endParaRPr sz="1500"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TAT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r>
              <a:rPr lang="en-US" sz="1500" b="0" i="0" u="none" strike="noStrike" cap="none" dirty="0" err="1">
                <a:solidFill>
                  <a:schemeClr val="dk1"/>
                </a:solidFill>
                <a:latin typeface="Times New Roman"/>
                <a:ea typeface="Times New Roman"/>
                <a:cs typeface="Times New Roman"/>
                <a:sym typeface="Times New Roman"/>
              </a:rPr>
              <a:t>kéo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hiện</a:t>
            </a:r>
            <a:r>
              <a:rPr lang="en-US" sz="1500" b="0" i="0" u="none" strike="noStrike" cap="none" dirty="0">
                <a:solidFill>
                  <a:schemeClr val="dk1"/>
                </a:solidFill>
                <a:latin typeface="Times New Roman"/>
                <a:ea typeface="Times New Roman"/>
                <a:cs typeface="Times New Roman"/>
                <a:sym typeface="Times New Roman"/>
              </a:rPr>
              <a:t> do shop </a:t>
            </a:r>
            <a:r>
              <a:rPr lang="en-US" sz="1500" b="0" i="0" u="none" strike="noStrike" cap="none" dirty="0" err="1">
                <a:solidFill>
                  <a:schemeClr val="dk1"/>
                </a:solidFill>
                <a:latin typeface="Times New Roman"/>
                <a:ea typeface="Times New Roman"/>
                <a:cs typeface="Times New Roman"/>
                <a:sym typeface="Times New Roman"/>
              </a:rPr>
              <a:t>quá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cung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đợi</a:t>
            </a:r>
            <a:r>
              <a:rPr lang="en-US" sz="1500" b="0" i="0" u="none" strike="noStrike" cap="none" dirty="0">
                <a:solidFill>
                  <a:schemeClr val="dk1"/>
                </a:solidFill>
                <a:latin typeface="Times New Roman"/>
                <a:ea typeface="Times New Roman"/>
                <a:cs typeface="Times New Roman"/>
                <a:sym typeface="Times New Roman"/>
              </a:rPr>
              <a:t> slot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đến</a:t>
            </a:r>
            <a:r>
              <a:rPr lang="en-US" sz="1500" b="0" i="0" u="none" strike="noStrike" cap="none" dirty="0">
                <a:solidFill>
                  <a:schemeClr val="dk1"/>
                </a:solidFill>
                <a:latin typeface="Times New Roman"/>
                <a:ea typeface="Times New Roman"/>
                <a:cs typeface="Times New Roman"/>
                <a:sym typeface="Times New Roman"/>
              </a:rPr>
              <a:t> 200 </a:t>
            </a:r>
            <a:r>
              <a:rPr lang="en-US" sz="1500" b="0" i="0" u="none" strike="noStrike" cap="none" dirty="0" err="1">
                <a:solidFill>
                  <a:schemeClr val="dk1"/>
                </a:solidFill>
                <a:latin typeface="Times New Roman"/>
                <a:ea typeface="Times New Roman"/>
                <a:cs typeface="Times New Roman"/>
                <a:sym typeface="Times New Roman"/>
              </a:rPr>
              <a:t>ngày</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A321 NEO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trước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đây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không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lắp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trả</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nhiều</a:t>
            </a:r>
            <a:r>
              <a:rPr lang="en-US" sz="1500" b="0" i="0" u="none" strike="noStrike" cap="none" dirty="0">
                <a:solidFill>
                  <a:schemeClr val="dk1"/>
                </a:solidFill>
                <a:latin typeface="Times New Roman"/>
                <a:ea typeface="Times New Roman"/>
                <a:cs typeface="Times New Roman"/>
                <a:sym typeface="Times New Roman"/>
              </a:rPr>
              <a:t> LRUs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Khoảng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thời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cao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nghỉ</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lễ</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hụt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phụ</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vật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liệu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tăng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lỗi</a:t>
            </a:r>
            <a:r>
              <a:rPr lang="en-US" sz="1500" b="0" i="0" u="none" strike="noStrike" cap="none" dirty="0">
                <a:solidFill>
                  <a:schemeClr val="dk1"/>
                </a:solidFill>
                <a:latin typeface="Times New Roman"/>
                <a:ea typeface="Times New Roman"/>
                <a:cs typeface="Times New Roman"/>
                <a:sym typeface="Times New Roman"/>
              </a:rPr>
              <a:t> Rejection trong </a:t>
            </a:r>
            <a:r>
              <a:rPr lang="en-US" sz="1500" b="0" i="0" u="none" strike="noStrike" cap="none" dirty="0" err="1">
                <a:solidFill>
                  <a:schemeClr val="dk1"/>
                </a:solidFill>
                <a:latin typeface="Times New Roman"/>
                <a:ea typeface="Times New Roman"/>
                <a:cs typeface="Times New Roman"/>
                <a:sym typeface="Times New Roman"/>
              </a:rPr>
              <a:t>kiểm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sau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thử</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nghiệm</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 PTVT </a:t>
            </a:r>
            <a:r>
              <a:rPr lang="en-US" sz="1500" dirty="0" err="1">
                <a:solidFill>
                  <a:schemeClr val="dk1"/>
                </a:solidFill>
                <a:latin typeface="Times New Roman"/>
                <a:ea typeface="Times New Roman"/>
                <a:cs typeface="Times New Roman"/>
                <a:sym typeface="Times New Roman"/>
              </a:rPr>
              <a:t>thiếu</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hụt</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đặc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biệt</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là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khác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khối</a:t>
            </a:r>
            <a:r>
              <a:rPr lang="en-US" sz="1500" dirty="0">
                <a:solidFill>
                  <a:schemeClr val="dk1"/>
                </a:solidFill>
                <a:latin typeface="Times New Roman"/>
                <a:ea typeface="Times New Roman"/>
                <a:cs typeface="Times New Roman"/>
                <a:sym typeface="Times New Roman"/>
              </a:rPr>
              <a:t> AP51</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Thúc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đẩy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Tổ</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chức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họp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tìm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pháp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Ban KT, VAECO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danh</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mục</a:t>
            </a:r>
            <a:r>
              <a:rPr lang="en-US" sz="1500" b="0" i="0" u="none" strike="noStrike" cap="none" dirty="0">
                <a:solidFill>
                  <a:schemeClr val="dk1"/>
                </a:solidFill>
                <a:latin typeface="Times New Roman"/>
                <a:ea typeface="Times New Roman"/>
                <a:cs typeface="Times New Roman"/>
                <a:sym typeface="Times New Roman"/>
              </a:rPr>
              <a:t> MPL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gửi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71</a:t>
            </a:fld>
            <a:endParaRPr/>
          </a:p>
        </p:txBody>
      </p:sp>
      <p:sp>
        <p:nvSpPr>
          <p:cNvPr id="302" name="Google Shape;30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ED0217,ED0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 Đặc biệt cần giục ED0239 về sớm.</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StandardAero: 250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PWC: 180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303" name="Google Shape;303;g31ccdae391d_0_389"/>
          <p:cNvPicPr preferRelativeResize="0"/>
          <p:nvPr/>
        </p:nvPicPr>
        <p:blipFill>
          <a:blip r:embed="rId3">
            <a:alphaModFix/>
          </a:blip>
          <a:stretch>
            <a:fillRect/>
          </a:stretch>
        </p:blipFill>
        <p:spPr>
          <a:xfrm>
            <a:off x="0" y="3074477"/>
            <a:ext cx="12191998" cy="261149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0" name="Google Shape;31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72</a:t>
            </a:fld>
            <a:endParaRPr/>
          </a:p>
        </p:txBody>
      </p:sp>
      <p:sp>
        <p:nvSpPr>
          <p:cNvPr id="311" name="Google Shape;311;g31ccdae391d_0_396"/>
          <p:cNvSpPr/>
          <p:nvPr/>
        </p:nvSpPr>
        <p:spPr>
          <a:xfrm>
            <a:off x="609900" y="3836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+ 02 ENG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A886 </a:t>
            </a:r>
            <a:r>
              <a:rPr lang="en-US" sz="1600" dirty="0" err="1">
                <a:solidFill>
                  <a:schemeClr val="dk1"/>
                </a:solidFill>
                <a:latin typeface="Times New Roman"/>
                <a:ea typeface="Times New Roman"/>
                <a:cs typeface="Times New Roman"/>
                <a:sym typeface="Times New Roman"/>
              </a:rPr>
              <a:t>phá</a:t>
            </a:r>
            <a:r>
              <a:rPr lang="en-US" sz="1600" dirty="0">
                <a:solidFill>
                  <a:schemeClr val="dk1"/>
                </a:solidFill>
                <a:latin typeface="Times New Roman"/>
                <a:ea typeface="Times New Roman"/>
                <a:cs typeface="Times New Roman"/>
                <a:sym typeface="Times New Roman"/>
              </a:rPr>
              <a:t> BQ: 01ea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15/06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01ea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25/06.</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01ea in stock (ENG 958398)</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956569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15/6/2025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25/06/2025.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6</a:t>
            </a: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 V16558 (20/06),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7: V16799 (1/7), V15858 (14/7).</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P771041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12/07.</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P771423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30/07.</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P771387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10/07.</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P771373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23/09.</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WLFC- Marathon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đầu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7.</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NIL stock</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EST SGN 09/07.</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ED0238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PWC: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tháng</a:t>
            </a:r>
            <a:r>
              <a:rPr lang="en-US" sz="1600">
                <a:solidFill>
                  <a:schemeClr val="dk1"/>
                </a:solidFill>
                <a:latin typeface="Times New Roman"/>
                <a:ea typeface="Times New Roman"/>
                <a:cs typeface="Times New Roman"/>
                <a:sym typeface="Times New Roman"/>
              </a:rPr>
              <a:t> 8/2025.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8" name="Google Shape;31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73</a:t>
            </a:fld>
            <a:endParaRPr/>
          </a:p>
        </p:txBody>
      </p:sp>
      <p:sp>
        <p:nvSpPr>
          <p:cNvPr id="319" name="Google Shape;319;g31ccdae391d_0_403"/>
          <p:cNvSpPr txBox="1"/>
          <p:nvPr/>
        </p:nvSpPr>
        <p:spPr>
          <a:xfrm>
            <a:off x="8187100" y="778400"/>
            <a:ext cx="3783300" cy="4188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a:t>
            </a:r>
            <a:r>
              <a:rPr lang="en-US">
                <a:solidFill>
                  <a:schemeClr val="dk1"/>
                </a:solidFill>
                <a:latin typeface="Times New Roman"/>
                <a:ea typeface="Times New Roman"/>
                <a:cs typeface="Times New Roman"/>
                <a:sym typeface="Times New Roman"/>
              </a:rPr>
              <a:t>NIL stock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a:solidFill>
                  <a:schemeClr val="dk1"/>
                </a:solidFill>
                <a:latin typeface="Times New Roman"/>
                <a:ea typeface="Times New Roman"/>
                <a:cs typeface="Times New Roman"/>
                <a:sym typeface="Times New Roman"/>
              </a:rPr>
              <a:t>+ Th</a:t>
            </a:r>
            <a:r>
              <a:rPr lang="en-US">
                <a:solidFill>
                  <a:schemeClr val="dk1"/>
                </a:solidFill>
                <a:latin typeface="Times New Roman"/>
                <a:ea typeface="Times New Roman"/>
                <a:cs typeface="Times New Roman"/>
                <a:sym typeface="Times New Roman"/>
              </a:rPr>
              <a:t>áng 6: dự kiến có 03ea release ngày 19/06, 21/06, 28/06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01 (s/n P-00194)</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+02 APU đang sửa chữa: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P-00113: EDD 15/07/2025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P-00391: EDD 01/08/2025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NIL stock</a:t>
            </a:r>
            <a:r>
              <a:rPr lang="en-US" sz="1400" b="0" i="0" u="none" strike="noStrike" cap="none">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(PWC-Z926122) dang vận chuyển về dk 19June stk SGN.</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20" name="Google Shape;320;g31ccdae391d_0_403"/>
          <p:cNvPicPr preferRelativeResize="0"/>
          <p:nvPr/>
        </p:nvPicPr>
        <p:blipFill>
          <a:blip r:embed="rId3">
            <a:alphaModFix/>
          </a:blip>
          <a:stretch>
            <a:fillRect/>
          </a:stretch>
        </p:blipFill>
        <p:spPr>
          <a:xfrm>
            <a:off x="1266675" y="152400"/>
            <a:ext cx="6866500" cy="65532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e189f61e-1295-4779-a752-040c7fad5177"/>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b6015720-aa74-4be3-ba0d-eab08776cb9b"/>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76954</TotalTime>
  <Words>19909</Words>
  <Application>Microsoft Office PowerPoint</Application>
  <PresentationFormat>Widescreen</PresentationFormat>
  <Paragraphs>2682</Paragraphs>
  <Slides>75</Slides>
  <Notes>68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75</vt:i4>
      </vt:variant>
    </vt:vector>
  </HeadingPairs>
  <TitlesOfParts>
    <vt:vector size="85" baseType="lpstr">
      <vt:lpstr>Exo</vt:lpstr>
      <vt:lpstr>Arial</vt:lpstr>
      <vt:lpstr>Calibri</vt:lpstr>
      <vt:lpstr>Cambria</vt:lpstr>
      <vt:lpstr>Franklin Gothic Medium Cond</vt:lpstr>
      <vt:lpstr>Montserrat</vt:lpstr>
      <vt:lpstr>Montserrat SemiBold</vt:lpstr>
      <vt:lpstr>Times New Roman</vt:lpstr>
      <vt:lpstr>Wingdings</vt:lpstr>
      <vt:lpstr>16-9 MASTER TEMPLATE</vt:lpstr>
      <vt:lpstr>BÁO CÁO KỸ THUẬT (Tuần 24: 09/06/2025 – 15/06/2025)</vt:lpstr>
      <vt:lpstr>TỔNG HỢP AOG, DELAY VÀ GTB/ATB/DIV</vt:lpstr>
      <vt:lpstr>ATB/GTB COMPARISON</vt:lpstr>
      <vt:lpstr>CÁC SỰ KIỆN ATB/GTB/DIV</vt:lpstr>
      <vt:lpstr>CÁC SỰ KIỆN ATB/GTB/DIV</vt:lpstr>
      <vt:lpstr>CÁC SỰ KIỆN ATB/GTB/DIV</vt:lpstr>
      <vt:lpstr>PowerPoint Presentation</vt:lpstr>
      <vt:lpstr>PowerPoint Presentation</vt:lpstr>
      <vt:lpstr>TÌNH TRẠNG KỸ THUẬT ĐỘI BAY – A320/A321</vt:lpstr>
      <vt:lpstr>TÌNH TRẠNG KỸ THUẬT ĐỘI BAY – A320/A321</vt:lpstr>
      <vt:lpstr>TÌNH TRẠNG KỸ THUẬT ĐỘI BAY – A320/A321</vt:lpstr>
      <vt:lpstr>PowerPoint Presentation</vt:lpstr>
      <vt:lpstr>TÌNH TRẠNG KỸ THUẬT ĐỘI BAY – A320/A321</vt:lpstr>
      <vt:lpstr>TÌNH TRẠNG KỸ THUẬT ĐỘI BAY – A350</vt:lpstr>
      <vt:lpstr>TÌNH TRẠNG KỸ THUẬT ĐỘI BAY – A350</vt:lpstr>
      <vt:lpstr>PowerPoint Presentation</vt:lpstr>
      <vt:lpstr>PowerPoint Presentation</vt:lpstr>
      <vt:lpstr>PowerPoint Presentation</vt:lpstr>
      <vt:lpstr>TÌNH TRẠNG KỸ THUẬT ĐỘI BAY – B787</vt:lpstr>
      <vt:lpstr>TÌNH TRẠNG KỸ THUẬT ĐỘI BAY – B787</vt:lpstr>
      <vt:lpstr>TÌNH TRẠNG KỸ THUẬT ĐỘI BAY – B787</vt:lpstr>
      <vt:lpstr>TÌNH TRẠNG KỸ THUẬT ĐỘI BAY – B787</vt:lpstr>
      <vt:lpstr>TÌNH TRẠNG KỸ THUẬT ĐỘI BAY – B787</vt:lpstr>
      <vt:lpstr>PowerPoint Presentation</vt:lpstr>
      <vt:lpstr>PowerPoint Presentation</vt:lpstr>
      <vt:lpstr>PowerPoint Presentation</vt:lpstr>
      <vt:lpstr>TÌNH TRẠNG KỸ THUẬT ĐỘI BAY – ATR72</vt:lpstr>
      <vt:lpstr>PowerPoint Presentation</vt:lpstr>
      <vt:lpstr>TÌNH TRẠNG KỸ THUẬT ĐỘI BAY – ATR72</vt:lpstr>
      <vt:lpstr>TÌNH TRẠNG KỸ THUẬT ĐỘI BAY – ATR72</vt:lpstr>
      <vt:lpstr>DISPATCH RELIABILITY W24 (09/06/2025-15/06/2025)</vt:lpstr>
      <vt:lpstr>CÁC CÔNG VIỆC TRỌNG ĐIỂM TRONG TUẦN</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A321 CÁC VẬT TƯ VƯỚNG MẮC (Chi tiết)</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Nguyen Dinh Thanh</cp:lastModifiedBy>
  <cp:revision>11991</cp:revision>
  <cp:lastPrinted>2019-03-27T09:25:07Z</cp:lastPrinted>
  <dcterms:created xsi:type="dcterms:W3CDTF">2018-12-27T04:50:36Z</dcterms:created>
  <dcterms:modified xsi:type="dcterms:W3CDTF">2025-06-15T16:06:05Z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