
<file path=[Content_Types].xml><?xml version="1.0" encoding="utf-8"?>
<Types xmlns="http://schemas.openxmlformats.org/package/2006/content-types">
  <Default Extension="png" ContentType="image/png"/>
  <Default Extension="bin" ContentType="image/unknown"/>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charts/chart7.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notesSlides/notesSlide33.xml" ContentType="application/vnd.openxmlformats-officedocument.presentationml.notesSlid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notesSlides/notesSlide34.xml" ContentType="application/vnd.openxmlformats-officedocument.presentationml.notesSlide+xml"/>
  <Override PartName="/ppt/charts/chart15.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64"/>
  </p:notesMasterIdLst>
  <p:sldIdLst>
    <p:sldId id="11486" r:id="rId5"/>
    <p:sldId id="11487" r:id="rId6"/>
    <p:sldId id="11488" r:id="rId7"/>
    <p:sldId id="12997" r:id="rId8"/>
    <p:sldId id="12998" r:id="rId9"/>
    <p:sldId id="13001" r:id="rId10"/>
    <p:sldId id="13002" r:id="rId11"/>
    <p:sldId id="13003" r:id="rId12"/>
    <p:sldId id="12573" r:id="rId13"/>
    <p:sldId id="13004" r:id="rId14"/>
    <p:sldId id="12993" r:id="rId15"/>
    <p:sldId id="12994" r:id="rId16"/>
    <p:sldId id="13005" r:id="rId17"/>
    <p:sldId id="13006" r:id="rId18"/>
    <p:sldId id="13007" r:id="rId19"/>
    <p:sldId id="13008" r:id="rId20"/>
    <p:sldId id="12995" r:id="rId21"/>
    <p:sldId id="12996" r:id="rId22"/>
    <p:sldId id="13009" r:id="rId23"/>
    <p:sldId id="12612" r:id="rId24"/>
    <p:sldId id="13010" r:id="rId25"/>
    <p:sldId id="13011" r:id="rId26"/>
    <p:sldId id="13012" r:id="rId27"/>
    <p:sldId id="12988" r:id="rId28"/>
    <p:sldId id="12913" r:id="rId29"/>
    <p:sldId id="13013" r:id="rId30"/>
    <p:sldId id="13014" r:id="rId31"/>
    <p:sldId id="13015" r:id="rId32"/>
    <p:sldId id="13016" r:id="rId33"/>
    <p:sldId id="13017" r:id="rId34"/>
    <p:sldId id="13018" r:id="rId35"/>
    <p:sldId id="13019" r:id="rId36"/>
    <p:sldId id="13020" r:id="rId37"/>
    <p:sldId id="12966" r:id="rId38"/>
    <p:sldId id="12990" r:id="rId39"/>
    <p:sldId id="12991" r:id="rId40"/>
    <p:sldId id="12992" r:id="rId41"/>
    <p:sldId id="12967" r:id="rId42"/>
    <p:sldId id="12968" r:id="rId43"/>
    <p:sldId id="12969" r:id="rId44"/>
    <p:sldId id="12970" r:id="rId45"/>
    <p:sldId id="12971" r:id="rId46"/>
    <p:sldId id="12972" r:id="rId47"/>
    <p:sldId id="12973" r:id="rId48"/>
    <p:sldId id="12974" r:id="rId49"/>
    <p:sldId id="12975" r:id="rId50"/>
    <p:sldId id="12976" r:id="rId51"/>
    <p:sldId id="12977" r:id="rId52"/>
    <p:sldId id="12978" r:id="rId53"/>
    <p:sldId id="12979" r:id="rId54"/>
    <p:sldId id="12980" r:id="rId55"/>
    <p:sldId id="12981" r:id="rId56"/>
    <p:sldId id="12982" r:id="rId57"/>
    <p:sldId id="12983" r:id="rId58"/>
    <p:sldId id="12984" r:id="rId59"/>
    <p:sldId id="12985" r:id="rId60"/>
    <p:sldId id="12986" r:id="rId61"/>
    <p:sldId id="12987" r:id="rId62"/>
    <p:sldId id="11888" r:id="rId6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5F6E"/>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2" autoAdjust="0"/>
    <p:restoredTop sz="94374" autoAdjust="0"/>
  </p:normalViewPr>
  <p:slideViewPr>
    <p:cSldViewPr>
      <p:cViewPr varScale="1">
        <p:scale>
          <a:sx n="88" d="100"/>
          <a:sy n="88" d="100"/>
        </p:scale>
        <p:origin x="403" y="53"/>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32\W32%20(04.08-10.08.2025).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OneDrive\Desktop\TAI%20LIEU%20LAM%20VIEC\MOC\BC_Tu&#226;n\2025\W32\W32%20(04.08-10.08.202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OneDrive\Desktop\TAI%20LIEU%20LAM%20VIEC\MOC\BC_Tu&#226;n\2025\W32\W32%20(04.08-10.08.2025).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oleObject" Target="file:///C:\Users\admin\OneDrive\Desktop\TAI%20LIEU%20LAM%20VIEC\MOC\BC_Tu&#226;n\2025\W32\W32%20(04.08-10.08.2025).xlsx" TargetMode="External"/><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32\W32%20(04.08-10.08.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32\W32%20(04.08-10.08.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32\DR-W32.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1</c:v>
                </c:pt>
                <c:pt idx="2">
                  <c:v>1</c:v>
                </c:pt>
                <c:pt idx="3">
                  <c:v>0</c:v>
                </c:pt>
                <c:pt idx="4">
                  <c:v>0</c:v>
                </c:pt>
                <c:pt idx="5">
                  <c:v>2</c:v>
                </c:pt>
              </c:numCache>
            </c:numRef>
          </c:val>
          <c:extLst xmlns:c15="http://schemas.microsoft.com/office/drawing/2012/chart" xmlns:c16r2="http://schemas.microsoft.com/office/drawing/2015/06/chart">
            <c:ext xmlns:c16="http://schemas.microsoft.com/office/drawing/2014/chart" uri="{C3380CC4-5D6E-409C-BE32-E72D297353CC}">
              <c16:uniqueId val="{00000000-52E7-4D58-A2BF-9F39FD26E5FC}"/>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3</c:v>
                </c:pt>
                <c:pt idx="2">
                  <c:v>0</c:v>
                </c:pt>
                <c:pt idx="3">
                  <c:v>1</c:v>
                </c:pt>
                <c:pt idx="4">
                  <c:v>0</c:v>
                </c:pt>
                <c:pt idx="5">
                  <c:v>4</c:v>
                </c:pt>
              </c:numCache>
            </c:numRef>
          </c:val>
          <c:extLst xmlns:c16r2="http://schemas.microsoft.com/office/drawing/2015/06/chart">
            <c:ext xmlns:c16="http://schemas.microsoft.com/office/drawing/2014/chart" uri="{C3380CC4-5D6E-409C-BE32-E72D297353CC}">
              <c16:uniqueId val="{00000001-52E7-4D58-A2BF-9F39FD26E5FC}"/>
            </c:ext>
          </c:extLst>
        </c:ser>
        <c:dLbls>
          <c:showLegendKey val="0"/>
          <c:showVal val="0"/>
          <c:showCatName val="0"/>
          <c:showSerName val="0"/>
          <c:showPercent val="0"/>
          <c:showBubbleSize val="0"/>
        </c:dLbls>
        <c:gapWidth val="219"/>
        <c:overlap val="-27"/>
        <c:axId val="482404952"/>
        <c:axId val="482397504"/>
        <c:extLst xmlns:c16r2="http://schemas.microsoft.com/office/drawing/2015/06/chart"/>
      </c:barChart>
      <c:catAx>
        <c:axId val="482404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397504"/>
        <c:crosses val="autoZero"/>
        <c:auto val="1"/>
        <c:lblAlgn val="ctr"/>
        <c:lblOffset val="100"/>
        <c:noMultiLvlLbl val="0"/>
      </c:catAx>
      <c:valAx>
        <c:axId val="482397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404952"/>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2</c:v>
                </c:pt>
                <c:pt idx="2">
                  <c:v>0</c:v>
                </c:pt>
                <c:pt idx="3">
                  <c:v>0</c:v>
                </c:pt>
                <c:pt idx="4">
                  <c:v>0</c:v>
                </c:pt>
                <c:pt idx="5">
                  <c:v>2</c:v>
                </c:pt>
              </c:numCache>
            </c:numRef>
          </c:val>
          <c:extLst xmlns:c15="http://schemas.microsoft.com/office/drawing/2012/chart" xmlns:c16r2="http://schemas.microsoft.com/office/drawing/2015/06/chart">
            <c:ext xmlns:c16="http://schemas.microsoft.com/office/drawing/2014/chart" uri="{C3380CC4-5D6E-409C-BE32-E72D297353CC}">
              <c16:uniqueId val="{00000000-5AD3-4017-ABAE-F359BA419A3B}"/>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2</c:v>
                </c:pt>
                <c:pt idx="2">
                  <c:v>1</c:v>
                </c:pt>
                <c:pt idx="3">
                  <c:v>1</c:v>
                </c:pt>
                <c:pt idx="4">
                  <c:v>0</c:v>
                </c:pt>
                <c:pt idx="5">
                  <c:v>4</c:v>
                </c:pt>
              </c:numCache>
            </c:numRef>
          </c:val>
          <c:extLst xmlns:c16r2="http://schemas.microsoft.com/office/drawing/2015/06/chart">
            <c:ext xmlns:c16="http://schemas.microsoft.com/office/drawing/2014/chart" uri="{C3380CC4-5D6E-409C-BE32-E72D297353CC}">
              <c16:uniqueId val="{00000001-5AD3-4017-ABAE-F359BA419A3B}"/>
            </c:ext>
          </c:extLst>
        </c:ser>
        <c:dLbls>
          <c:dLblPos val="outEnd"/>
          <c:showLegendKey val="0"/>
          <c:showVal val="1"/>
          <c:showCatName val="0"/>
          <c:showSerName val="0"/>
          <c:showPercent val="0"/>
          <c:showBubbleSize val="0"/>
        </c:dLbls>
        <c:gapWidth val="219"/>
        <c:overlap val="-27"/>
        <c:axId val="482396720"/>
        <c:axId val="482406912"/>
        <c:extLst xmlns:c16r2="http://schemas.microsoft.com/office/drawing/2015/06/chart"/>
      </c:barChart>
      <c:catAx>
        <c:axId val="482396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406912"/>
        <c:crosses val="autoZero"/>
        <c:auto val="1"/>
        <c:lblAlgn val="ctr"/>
        <c:lblOffset val="100"/>
        <c:noMultiLvlLbl val="0"/>
      </c:catAx>
      <c:valAx>
        <c:axId val="482406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396720"/>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xmlns:c16r2="http://schemas.microsoft.com/office/drawing/2015/06/chart">
            <c:ext xmlns:c16="http://schemas.microsoft.com/office/drawing/2014/chart" uri="{C3380CC4-5D6E-409C-BE32-E72D297353CC}">
              <c16:uniqueId val="{00000000-E57D-4D3B-8A6E-CDD58F39DF69}"/>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xmlns:c16r2="http://schemas.microsoft.com/office/drawing/2015/06/chart">
            <c:ext xmlns:c16="http://schemas.microsoft.com/office/drawing/2014/chart" uri="{C3380CC4-5D6E-409C-BE32-E72D297353CC}">
              <c16:uniqueId val="{00000001-E57D-4D3B-8A6E-CDD58F39DF69}"/>
            </c:ext>
          </c:extLst>
        </c:ser>
        <c:dLbls>
          <c:showLegendKey val="0"/>
          <c:showVal val="0"/>
          <c:showCatName val="0"/>
          <c:showSerName val="0"/>
          <c:showPercent val="0"/>
          <c:showBubbleSize val="0"/>
        </c:dLbls>
        <c:gapWidth val="219"/>
        <c:overlap val="-27"/>
        <c:axId val="482399464"/>
        <c:axId val="482397112"/>
        <c:extLst xmlns:c16r2="http://schemas.microsoft.com/office/drawing/2015/06/chart"/>
      </c:barChart>
      <c:catAx>
        <c:axId val="482399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397112"/>
        <c:crosses val="autoZero"/>
        <c:auto val="1"/>
        <c:lblAlgn val="ctr"/>
        <c:lblOffset val="100"/>
        <c:noMultiLvlLbl val="0"/>
      </c:catAx>
      <c:valAx>
        <c:axId val="482397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39946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10</c:v>
                </c:pt>
                <c:pt idx="2">
                  <c:v>1</c:v>
                </c:pt>
                <c:pt idx="3">
                  <c:v>2</c:v>
                </c:pt>
                <c:pt idx="4">
                  <c:v>1</c:v>
                </c:pt>
                <c:pt idx="5">
                  <c:v>14</c:v>
                </c:pt>
              </c:numCache>
            </c:numRef>
          </c:val>
          <c:extLst xmlns:c15="http://schemas.microsoft.com/office/drawing/2012/chart" xmlns:c16r2="http://schemas.microsoft.com/office/drawing/2015/06/chart">
            <c:ext xmlns:c16="http://schemas.microsoft.com/office/drawing/2014/chart" uri="{C3380CC4-5D6E-409C-BE32-E72D297353CC}">
              <c16:uniqueId val="{00000000-A60C-41D3-AC1B-B621C14E2F1A}"/>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6</c:v>
                </c:pt>
                <c:pt idx="2">
                  <c:v>0</c:v>
                </c:pt>
                <c:pt idx="3">
                  <c:v>3</c:v>
                </c:pt>
                <c:pt idx="4">
                  <c:v>1</c:v>
                </c:pt>
                <c:pt idx="5">
                  <c:v>10</c:v>
                </c:pt>
              </c:numCache>
            </c:numRef>
          </c:val>
          <c:extLst xmlns:c16r2="http://schemas.microsoft.com/office/drawing/2015/06/chart">
            <c:ext xmlns:c16="http://schemas.microsoft.com/office/drawing/2014/chart" uri="{C3380CC4-5D6E-409C-BE32-E72D297353CC}">
              <c16:uniqueId val="{00000001-A60C-41D3-AC1B-B621C14E2F1A}"/>
            </c:ext>
          </c:extLst>
        </c:ser>
        <c:dLbls>
          <c:dLblPos val="outEnd"/>
          <c:showLegendKey val="0"/>
          <c:showVal val="1"/>
          <c:showCatName val="0"/>
          <c:showSerName val="0"/>
          <c:showPercent val="0"/>
          <c:showBubbleSize val="0"/>
        </c:dLbls>
        <c:gapWidth val="219"/>
        <c:overlap val="-27"/>
        <c:axId val="482398680"/>
        <c:axId val="482406520"/>
        <c:extLst xmlns:c16r2="http://schemas.microsoft.com/office/drawing/2015/06/chart"/>
      </c:barChart>
      <c:catAx>
        <c:axId val="482398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482406520"/>
        <c:crosses val="autoZero"/>
        <c:auto val="1"/>
        <c:lblAlgn val="ctr"/>
        <c:lblOffset val="100"/>
        <c:noMultiLvlLbl val="0"/>
      </c:catAx>
      <c:valAx>
        <c:axId val="482406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482398680"/>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xmlns:c16r2="http://schemas.microsoft.com/office/drawing/2015/06/chart">
            <c:ext xmlns:c16="http://schemas.microsoft.com/office/drawing/2014/chart" uri="{C3380CC4-5D6E-409C-BE32-E72D297353CC}">
              <c16:uniqueId val="{00000000-7947-47E7-8A47-4B54E005FA4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pt idx="21">
                  <c:v>0</c:v>
                </c:pt>
                <c:pt idx="22">
                  <c:v>0</c:v>
                </c:pt>
                <c:pt idx="23">
                  <c:v>0</c:v>
                </c:pt>
                <c:pt idx="24">
                  <c:v>0</c:v>
                </c:pt>
                <c:pt idx="25">
                  <c:v>0</c:v>
                </c:pt>
                <c:pt idx="26">
                  <c:v>0</c:v>
                </c:pt>
                <c:pt idx="27">
                  <c:v>0</c:v>
                </c:pt>
                <c:pt idx="28">
                  <c:v>1</c:v>
                </c:pt>
                <c:pt idx="29">
                  <c:v>0</c:v>
                </c:pt>
                <c:pt idx="30">
                  <c:v>0</c:v>
                </c:pt>
                <c:pt idx="31">
                  <c:v>0</c:v>
                </c:pt>
              </c:numCache>
            </c:numRef>
          </c:val>
          <c:smooth val="0"/>
          <c:extLst xmlns:c16r2="http://schemas.microsoft.com/office/drawing/2015/06/chart">
            <c:ext xmlns:c16="http://schemas.microsoft.com/office/drawing/2014/chart" uri="{C3380CC4-5D6E-409C-BE32-E72D297353CC}">
              <c16:uniqueId val="{00000001-7947-47E7-8A47-4B54E005FA44}"/>
            </c:ext>
          </c:extLst>
        </c:ser>
        <c:dLbls>
          <c:showLegendKey val="0"/>
          <c:showVal val="0"/>
          <c:showCatName val="0"/>
          <c:showSerName val="0"/>
          <c:showPercent val="0"/>
          <c:showBubbleSize val="0"/>
        </c:dLbls>
        <c:marker val="1"/>
        <c:smooth val="0"/>
        <c:axId val="482399072"/>
        <c:axId val="482404560"/>
      </c:lineChart>
      <c:catAx>
        <c:axId val="48239907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404560"/>
        <c:crosses val="autoZero"/>
        <c:auto val="1"/>
        <c:lblAlgn val="ctr"/>
        <c:lblOffset val="100"/>
        <c:noMultiLvlLbl val="0"/>
      </c:catAx>
      <c:valAx>
        <c:axId val="48240456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399072"/>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xmlns:c16r2="http://schemas.microsoft.com/office/drawing/2015/06/chart">
            <c:ext xmlns:c16="http://schemas.microsoft.com/office/drawing/2014/chart" uri="{C3380CC4-5D6E-409C-BE32-E72D297353CC}">
              <c16:uniqueId val="{00000000-8DC2-4125-B660-531F5DDD8413}"/>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pt idx="21">
                  <c:v>2</c:v>
                </c:pt>
                <c:pt idx="22">
                  <c:v>3</c:v>
                </c:pt>
                <c:pt idx="23">
                  <c:v>5</c:v>
                </c:pt>
                <c:pt idx="24">
                  <c:v>2</c:v>
                </c:pt>
                <c:pt idx="25">
                  <c:v>1</c:v>
                </c:pt>
                <c:pt idx="26">
                  <c:v>1</c:v>
                </c:pt>
                <c:pt idx="27">
                  <c:v>1</c:v>
                </c:pt>
                <c:pt idx="28">
                  <c:v>2</c:v>
                </c:pt>
                <c:pt idx="29">
                  <c:v>1</c:v>
                </c:pt>
                <c:pt idx="30">
                  <c:v>2</c:v>
                </c:pt>
                <c:pt idx="31">
                  <c:v>4</c:v>
                </c:pt>
              </c:numCache>
            </c:numRef>
          </c:val>
          <c:smooth val="0"/>
          <c:extLst xmlns:c16r2="http://schemas.microsoft.com/office/drawing/2015/06/chart">
            <c:ext xmlns:c16="http://schemas.microsoft.com/office/drawing/2014/chart" uri="{C3380CC4-5D6E-409C-BE32-E72D297353CC}">
              <c16:uniqueId val="{00000001-8DC2-4125-B660-531F5DDD8413}"/>
            </c:ext>
          </c:extLst>
        </c:ser>
        <c:dLbls>
          <c:showLegendKey val="0"/>
          <c:showVal val="0"/>
          <c:showCatName val="0"/>
          <c:showSerName val="0"/>
          <c:showPercent val="0"/>
          <c:showBubbleSize val="0"/>
        </c:dLbls>
        <c:marker val="1"/>
        <c:smooth val="0"/>
        <c:axId val="482399856"/>
        <c:axId val="482407304"/>
      </c:lineChart>
      <c:catAx>
        <c:axId val="48239985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407304"/>
        <c:crosses val="autoZero"/>
        <c:auto val="1"/>
        <c:lblAlgn val="ctr"/>
        <c:lblOffset val="100"/>
        <c:noMultiLvlLbl val="0"/>
      </c:catAx>
      <c:valAx>
        <c:axId val="48240730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3998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0.11992139596660542"/>
          <c:w val="0.92226413421295206"/>
          <c:h val="0.75494142641163442"/>
        </c:manualLayout>
      </c:layout>
      <c:barChart>
        <c:barDir val="col"/>
        <c:grouping val="clustered"/>
        <c:varyColors val="0"/>
        <c:ser>
          <c:idx val="0"/>
          <c:order val="0"/>
          <c:tx>
            <c:strRef>
              <c:f>DR!$C$3</c:f>
              <c:strCache>
                <c:ptCount val="1"/>
                <c:pt idx="0">
                  <c:v>W31</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B7BA-4696-9E85-FBC584CABD28}"/>
                </c:ext>
                <c:ext xmlns:c15="http://schemas.microsoft.com/office/drawing/2012/chart" uri="{CE6537A1-D6FC-4f65-9D91-7224C49458BB}">
                  <c15:layout>
                    <c:manualLayout>
                      <c:w val="4.8703937780973254E-2"/>
                      <c:h val="6.3644067796610151E-2"/>
                    </c:manualLayout>
                  </c15:layout>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99.730354391371336</c:v>
                </c:pt>
                <c:pt idx="1">
                  <c:v>99.613899613899619</c:v>
                </c:pt>
                <c:pt idx="2">
                  <c:v>99.452054794520549</c:v>
                </c:pt>
                <c:pt idx="3">
                  <c:v>99.504950495049499</c:v>
                </c:pt>
              </c:numCache>
            </c:numRef>
          </c:val>
          <c:extLst xmlns:c16r2="http://schemas.microsoft.com/office/drawing/2015/06/chart">
            <c:ext xmlns:c16="http://schemas.microsoft.com/office/drawing/2014/chart" uri="{C3380CC4-5D6E-409C-BE32-E72D297353CC}">
              <c16:uniqueId val="{00000001-B7BA-4696-9E85-FBC584CABD28}"/>
            </c:ext>
          </c:extLst>
        </c:ser>
        <c:ser>
          <c:idx val="1"/>
          <c:order val="1"/>
          <c:tx>
            <c:strRef>
              <c:f>DR!$D$3</c:f>
              <c:strCache>
                <c:ptCount val="1"/>
                <c:pt idx="0">
                  <c:v>W32</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99.759615384615387</c:v>
                </c:pt>
                <c:pt idx="1">
                  <c:v>100</c:v>
                </c:pt>
                <c:pt idx="2">
                  <c:v>98.876404494382029</c:v>
                </c:pt>
                <c:pt idx="3">
                  <c:v>99.549549549549553</c:v>
                </c:pt>
              </c:numCache>
            </c:numRef>
          </c:val>
          <c:extLst xmlns:c16r2="http://schemas.microsoft.com/office/drawing/2015/06/chart">
            <c:ext xmlns:c16="http://schemas.microsoft.com/office/drawing/2014/chart" uri="{C3380CC4-5D6E-409C-BE32-E72D297353CC}">
              <c16:uniqueId val="{00000002-B7BA-4696-9E85-FBC584CABD28}"/>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B7BA-4696-9E85-FBC584CABD28}"/>
                </c:ext>
                <c:ext xmlns:c15="http://schemas.microsoft.com/office/drawing/2012/chart" uri="{CE6537A1-D6FC-4f65-9D91-7224C49458BB}">
                  <c15:spPr xmlns:c15="http://schemas.microsoft.com/office/drawing/2012/chart">
                    <a:prstGeom prst="rect">
                      <a:avLst/>
                    </a:prstGeom>
                  </c15:spPr>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xmlns:c16r2="http://schemas.microsoft.com/office/drawing/2015/06/chart">
            <c:ext xmlns:c16="http://schemas.microsoft.com/office/drawing/2014/chart" uri="{C3380CC4-5D6E-409C-BE32-E72D297353CC}">
              <c16:uniqueId val="{00000004-B7BA-4696-9E85-FBC584CABD28}"/>
            </c:ext>
          </c:extLst>
        </c:ser>
        <c:dLbls>
          <c:showLegendKey val="0"/>
          <c:showVal val="0"/>
          <c:showCatName val="0"/>
          <c:showSerName val="0"/>
          <c:showPercent val="0"/>
          <c:showBubbleSize val="0"/>
        </c:dLbls>
        <c:gapWidth val="219"/>
        <c:overlap val="-27"/>
        <c:axId val="482401816"/>
        <c:axId val="482402208"/>
        <c:extLst xmlns:c16r2="http://schemas.microsoft.com/office/drawing/2015/06/chart">
          <c:ext xmlns:c15="http://schemas.microsoft.com/office/drawing/2012/chart" uri="{02D57815-91ED-43cb-92C2-25804820EDAC}">
            <c15:filteredBarSeries>
              <c15:ser>
                <c:idx val="3"/>
                <c:order val="2"/>
                <c:tx>
                  <c:strRef>
                    <c:extLst xmlns:c16r2="http://schemas.microsoft.com/office/drawing/2015/06/char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uri="{CE6537A1-D6FC-4f65-9D91-7224C49458BB}">
                      <c15:showLeaderLines val="1"/>
                    </c:ext>
                  </c:extLst>
                </c:dLbls>
                <c:cat>
                  <c:strRef>
                    <c:extLst xmlns:c16r2="http://schemas.microsoft.com/office/drawing/2015/06/chart">
                      <c:ext uri="{02D57815-91ED-43cb-92C2-25804820EDAC}">
                        <c15:formulaRef>
                          <c15:sqref>DR!$B$5:$B$8</c15:sqref>
                        </c15:formulaRef>
                      </c:ext>
                    </c:extLst>
                    <c:strCache>
                      <c:ptCount val="4"/>
                      <c:pt idx="0">
                        <c:v>A321</c:v>
                      </c:pt>
                      <c:pt idx="1">
                        <c:v>A350</c:v>
                      </c:pt>
                      <c:pt idx="2">
                        <c:v>B787</c:v>
                      </c:pt>
                      <c:pt idx="3">
                        <c:v>ATR72</c:v>
                      </c:pt>
                    </c:strCache>
                  </c:strRef>
                </c:cat>
                <c:val>
                  <c:numRef>
                    <c:extLst xmlns:c16r2="http://schemas.microsoft.com/office/drawing/2015/06/chart">
                      <c:ext uri="{02D57815-91ED-43cb-92C2-25804820EDAC}">
                        <c15:formulaRef>
                          <c15:sqref>DR!$E$5:$E$8</c15:sqref>
                        </c15:formulaRef>
                      </c:ext>
                    </c:extLst>
                    <c:numCache>
                      <c:formatCode>General</c:formatCode>
                      <c:ptCount val="4"/>
                    </c:numCache>
                  </c:numRef>
                </c:val>
                <c:extLst xmlns:c16r2="http://schemas.microsoft.com/office/drawing/2015/06/chart">
                  <c:ext xmlns:c16="http://schemas.microsoft.com/office/drawing/2014/chart" uri="{C3380CC4-5D6E-409C-BE32-E72D297353CC}">
                    <c16:uniqueId val="{00000005-B7BA-4696-9E85-FBC584CABD28}"/>
                  </c:ext>
                </c:extLst>
              </c15:ser>
            </c15:filteredBarSeries>
          </c:ext>
        </c:extLst>
      </c:barChart>
      <c:catAx>
        <c:axId val="482401816"/>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482402208"/>
        <c:crosses val="autoZero"/>
        <c:auto val="1"/>
        <c:lblAlgn val="ctr"/>
        <c:lblOffset val="100"/>
        <c:noMultiLvlLbl val="0"/>
      </c:catAx>
      <c:valAx>
        <c:axId val="48240220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482401816"/>
        <c:crosses val="autoZero"/>
        <c:crossBetween val="between"/>
        <c:majorUnit val="1"/>
        <c:minorUnit val="0.5"/>
      </c:valAx>
      <c:spPr>
        <a:noFill/>
        <a:ln>
          <a:noFill/>
        </a:ln>
        <a:effectLst/>
      </c:spPr>
    </c:plotArea>
    <c:legend>
      <c:legendPos val="b"/>
      <c:layout>
        <c:manualLayout>
          <c:xMode val="edge"/>
          <c:yMode val="edge"/>
          <c:x val="0.43206805860333025"/>
          <c:y val="2.629327178941745E-3"/>
          <c:w val="0.32138802834071972"/>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accent1"/>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Sheet1!$D$8:$BG$8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Sheet1!$D$9:$BG$9</c:f>
              <c:numCache>
                <c:formatCode>General</c:formatCode>
                <c:ptCount val="12"/>
                <c:pt idx="0">
                  <c:v>22</c:v>
                </c:pt>
                <c:pt idx="1">
                  <c:v>23</c:v>
                </c:pt>
                <c:pt idx="2">
                  <c:v>23</c:v>
                </c:pt>
                <c:pt idx="3">
                  <c:v>23</c:v>
                </c:pt>
                <c:pt idx="4">
                  <c:v>22</c:v>
                </c:pt>
                <c:pt idx="5">
                  <c:v>23</c:v>
                </c:pt>
                <c:pt idx="6">
                  <c:v>22</c:v>
                </c:pt>
                <c:pt idx="7">
                  <c:v>23</c:v>
                </c:pt>
                <c:pt idx="8">
                  <c:v>22</c:v>
                </c:pt>
                <c:pt idx="9">
                  <c:v>22</c:v>
                </c:pt>
                <c:pt idx="10">
                  <c:v>22</c:v>
                </c:pt>
                <c:pt idx="11">
                  <c:v>22</c:v>
                </c:pt>
              </c:numCache>
            </c:numRef>
          </c:val>
          <c:smooth val="0"/>
          <c:extLst xmlns:c16r2="http://schemas.microsoft.com/office/drawing/2015/06/char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Sheet1!$D$10:$BG$10</c:f>
              <c:numCache>
                <c:formatCode>General</c:formatCode>
                <c:ptCount val="12"/>
                <c:pt idx="0">
                  <c:v>3</c:v>
                </c:pt>
                <c:pt idx="1">
                  <c:v>3</c:v>
                </c:pt>
                <c:pt idx="2">
                  <c:v>3</c:v>
                </c:pt>
                <c:pt idx="3">
                  <c:v>3</c:v>
                </c:pt>
                <c:pt idx="4">
                  <c:v>2</c:v>
                </c:pt>
                <c:pt idx="5">
                  <c:v>2</c:v>
                </c:pt>
                <c:pt idx="6">
                  <c:v>3</c:v>
                </c:pt>
                <c:pt idx="7">
                  <c:v>4</c:v>
                </c:pt>
                <c:pt idx="8">
                  <c:v>4</c:v>
                </c:pt>
                <c:pt idx="9">
                  <c:v>4</c:v>
                </c:pt>
                <c:pt idx="10">
                  <c:v>4</c:v>
                </c:pt>
                <c:pt idx="11">
                  <c:v>4</c:v>
                </c:pt>
              </c:numCache>
            </c:numRef>
          </c:val>
          <c:smooth val="0"/>
          <c:extLst xmlns:c16r2="http://schemas.microsoft.com/office/drawing/2015/06/char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Sheet1!$D$11:$BG$11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2"/>
                <c:pt idx="0">
                  <c:v>Aug-W1</c:v>
                </c:pt>
                <c:pt idx="1">
                  <c:v>Aug-W2</c:v>
                </c:pt>
                <c:pt idx="2">
                  <c:v>Aug-W3</c:v>
                </c:pt>
                <c:pt idx="3">
                  <c:v>Aug-W4</c:v>
                </c:pt>
                <c:pt idx="4">
                  <c:v>Sep-W1</c:v>
                </c:pt>
                <c:pt idx="5">
                  <c:v>Sep-W2</c:v>
                </c:pt>
                <c:pt idx="6">
                  <c:v>Sep-W3</c:v>
                </c:pt>
                <c:pt idx="7">
                  <c:v>Sep-W4</c:v>
                </c:pt>
                <c:pt idx="8">
                  <c:v>Oct-W1</c:v>
                </c:pt>
                <c:pt idx="9">
                  <c:v>Oct-W2</c:v>
                </c:pt>
                <c:pt idx="10">
                  <c:v>Oct-W3</c:v>
                </c:pt>
                <c:pt idx="11">
                  <c:v>Oct-W4</c:v>
                </c:pt>
              </c:strCache>
            </c:strRef>
          </c:cat>
          <c:val>
            <c:numRef>
              <c:f>Sheet1!$D$12:$BG$12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438254656"/>
        <c:axId val="438249560"/>
      </c:lineChart>
      <c:catAx>
        <c:axId val="4382546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438249560"/>
        <c:crosses val="autoZero"/>
        <c:auto val="1"/>
        <c:lblAlgn val="ctr"/>
        <c:lblOffset val="100"/>
        <c:tickMarkSkip val="1"/>
        <c:noMultiLvlLbl val="0"/>
      </c:catAx>
      <c:valAx>
        <c:axId val="438249560"/>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438254656"/>
        <c:crosses val="autoZero"/>
        <c:crossBetween val="between"/>
      </c:valAx>
      <c:spPr>
        <a:noFill/>
        <a:ln>
          <a:noFill/>
        </a:ln>
        <a:effectLst/>
      </c:spPr>
    </c:plotArea>
    <c:legend>
      <c:legendPos val="b"/>
      <c:layout>
        <c:manualLayout>
          <c:xMode val="edge"/>
          <c:yMode val="edge"/>
          <c:x val="0.64490601981203965"/>
          <c:y val="0.45304720402554688"/>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188228338235609E-2"/>
          <c:y val="7.642113830338218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General</c:formatCode>
                <c:ptCount val="12"/>
                <c:pt idx="0">
                  <c:v>14.25</c:v>
                </c:pt>
                <c:pt idx="1">
                  <c:v>13.75</c:v>
                </c:pt>
                <c:pt idx="2">
                  <c:v>15.25</c:v>
                </c:pt>
                <c:pt idx="3">
                  <c:v>15</c:v>
                </c:pt>
                <c:pt idx="4">
                  <c:v>14.5</c:v>
                </c:pt>
                <c:pt idx="5">
                  <c:v>12.25</c:v>
                </c:pt>
                <c:pt idx="6">
                  <c:v>10.75</c:v>
                </c:pt>
                <c:pt idx="7">
                  <c:v>11.75</c:v>
                </c:pt>
                <c:pt idx="8">
                  <c:v>11.5</c:v>
                </c:pt>
                <c:pt idx="9">
                  <c:v>11</c:v>
                </c:pt>
                <c:pt idx="10">
                  <c:v>10.25</c:v>
                </c:pt>
                <c:pt idx="11">
                  <c:v>10</c:v>
                </c:pt>
              </c:numCache>
            </c:numRef>
          </c:val>
          <c:smooth val="0"/>
          <c:extLst xmlns:c16r2="http://schemas.microsoft.com/office/drawing/2015/06/chart">
            <c:ext xmlns:c16="http://schemas.microsoft.com/office/drawing/2014/chart" uri="{C3380CC4-5D6E-409C-BE32-E72D297353CC}">
              <c16:uniqueId val="{00000001-6D6A-460E-8E11-3C956E9EF4D8}"/>
            </c:ext>
          </c:extLst>
        </c:ser>
        <c:ser>
          <c:idx val="0"/>
          <c:order val="1"/>
          <c:tx>
            <c:strRef>
              <c:f>Sheet1!#REF!</c:f>
              <c:strCache>
                <c:ptCount val="1"/>
                <c:pt idx="0">
                  <c:v>#REF!</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Pt>
            <c:idx val="5"/>
            <c:marker>
              <c:symbol val="circle"/>
              <c:size val="25"/>
              <c:spPr>
                <a:noFill/>
                <a:ln w="9525">
                  <a:noFill/>
                </a:ln>
                <a:effectLst/>
              </c:spPr>
            </c:marker>
            <c:bubble3D val="0"/>
            <c:spPr>
              <a:ln w="28575" cap="rnd">
                <a:noFill/>
                <a:round/>
              </a:ln>
              <a:effectLst/>
            </c:spPr>
            <c:extLst xmlns:c16r2="http://schemas.microsoft.com/office/drawing/2015/06/chart">
              <c:ext xmlns:c16="http://schemas.microsoft.com/office/drawing/2014/chart" uri="{C3380CC4-5D6E-409C-BE32-E72D297353CC}">
                <c16:uniqueId val="{00000002-BADC-4A39-B3FA-08B2A3E82B11}"/>
              </c:ext>
            </c:extLst>
          </c:dPt>
          <c:dLbls>
            <c:dLbl>
              <c:idx val="5"/>
              <c:delete val="1"/>
              <c:extLst xmlns:c16r2="http://schemas.microsoft.com/office/drawing/2015/06/chart">
                <c:ext xmlns:c16="http://schemas.microsoft.com/office/drawing/2014/chart" uri="{C3380CC4-5D6E-409C-BE32-E72D297353CC}">
                  <c16:uniqueId val="{00000002-BADC-4A39-B3FA-08B2A3E82B11}"/>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Sheet1!#REF!</c:f>
              <c:numCache>
                <c:formatCode>General</c:formatCode>
                <c:ptCount val="1"/>
                <c:pt idx="0">
                  <c:v>1</c:v>
                </c:pt>
              </c:numCache>
            </c:numRef>
          </c:val>
          <c:smooth val="0"/>
          <c:extLst xmlns:c16r2="http://schemas.microsoft.com/office/drawing/2015/06/chart">
            <c:ext xmlns:c16="http://schemas.microsoft.com/office/drawing/2014/chart" uri="{C3380CC4-5D6E-409C-BE32-E72D297353CC}">
              <c16:uniqueId val="{00000001-BADC-4A39-B3FA-08B2A3E82B11}"/>
            </c:ext>
          </c:extLst>
        </c:ser>
        <c:dLbls>
          <c:dLblPos val="ctr"/>
          <c:showLegendKey val="0"/>
          <c:showVal val="1"/>
          <c:showCatName val="0"/>
          <c:showSerName val="0"/>
          <c:showPercent val="0"/>
          <c:showBubbleSize val="0"/>
        </c:dLbls>
        <c:marker val="1"/>
        <c:smooth val="0"/>
        <c:axId val="438255832"/>
        <c:axId val="438255048"/>
      </c:lineChart>
      <c:catAx>
        <c:axId val="438255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38255048"/>
        <c:crosses val="autoZero"/>
        <c:auto val="1"/>
        <c:lblAlgn val="ctr"/>
        <c:lblOffset val="100"/>
        <c:noMultiLvlLbl val="0"/>
      </c:catAx>
      <c:valAx>
        <c:axId val="438255048"/>
        <c:scaling>
          <c:orientation val="minMax"/>
          <c:max val="16"/>
          <c:min val="9"/>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438255832"/>
        <c:crosses val="autoZero"/>
        <c:crossBetween val="between"/>
        <c:majorUnit val="1"/>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9.4401646448990392E-2"/>
          <c:y val="8.7481770046878113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Sheet1!$A$18:$A$37</c:f>
              <c:strCache>
                <c:ptCount val="20"/>
                <c:pt idx="0">
                  <c:v>Jul-W1</c:v>
                </c:pt>
                <c:pt idx="1">
                  <c:v>Jul-W2</c:v>
                </c:pt>
                <c:pt idx="2">
                  <c:v>Jul-W3</c:v>
                </c:pt>
                <c:pt idx="3">
                  <c:v>Jul-W4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pt idx="16">
                  <c:v>Nov-W1</c:v>
                </c:pt>
                <c:pt idx="17">
                  <c:v>Nov-W2</c:v>
                </c:pt>
                <c:pt idx="18">
                  <c:v>Nov-W3</c:v>
                </c:pt>
                <c:pt idx="19">
                  <c:v>Novv-W4</c:v>
                </c:pt>
              </c:strCache>
            </c:strRef>
          </c:cat>
          <c:val>
            <c:numRef>
              <c:f>Sheet1!$B$18:$B$37</c:f>
              <c:numCache>
                <c:formatCode>General</c:formatCode>
                <c:ptCount val="20"/>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pt idx="16">
                  <c:v>17</c:v>
                </c:pt>
                <c:pt idx="17">
                  <c:v>17</c:v>
                </c:pt>
                <c:pt idx="18">
                  <c:v>17</c:v>
                </c:pt>
                <c:pt idx="19">
                  <c:v>17</c:v>
                </c:pt>
              </c:numCache>
            </c:numRef>
          </c:val>
          <c:smooth val="0"/>
          <c:extLst xmlns:c16r2="http://schemas.microsoft.com/office/drawing/2015/06/char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438252304"/>
        <c:axId val="438252696"/>
      </c:lineChart>
      <c:catAx>
        <c:axId val="438252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438252696"/>
        <c:crosses val="autoZero"/>
        <c:auto val="1"/>
        <c:lblAlgn val="ctr"/>
        <c:lblOffset val="100"/>
        <c:noMultiLvlLbl val="0"/>
      </c:catAx>
      <c:valAx>
        <c:axId val="438252696"/>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38252304"/>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1.25</c:v>
                </c:pt>
                <c:pt idx="7">
                  <c:v>2</c:v>
                </c:pt>
                <c:pt idx="8">
                  <c:v>2</c:v>
                </c:pt>
                <c:pt idx="9">
                  <c:v>2</c:v>
                </c:pt>
                <c:pt idx="10">
                  <c:v>2</c:v>
                </c:pt>
                <c:pt idx="11">
                  <c:v>1</c:v>
                </c:pt>
              </c:numCache>
            </c:numRef>
          </c:val>
          <c:smooth val="0"/>
          <c:extLst xmlns:c16r2="http://schemas.microsoft.com/office/drawing/2015/06/char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437514960"/>
        <c:axId val="437515744"/>
      </c:lineChart>
      <c:catAx>
        <c:axId val="437514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37515744"/>
        <c:crosses val="autoZero"/>
        <c:auto val="1"/>
        <c:lblAlgn val="ctr"/>
        <c:lblOffset val="100"/>
        <c:noMultiLvlLbl val="0"/>
      </c:catAx>
      <c:valAx>
        <c:axId val="437515744"/>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437514960"/>
        <c:crosses val="autoZero"/>
        <c:crossBetween val="between"/>
        <c:majorUnit val="1"/>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xmlns:c16r2="http://schemas.microsoft.com/office/drawing/2015/06/char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437514568"/>
        <c:axId val="437505160"/>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4</c:v>
                </c:pt>
                <c:pt idx="7">
                  <c:v>4</c:v>
                </c:pt>
                <c:pt idx="8">
                  <c:v>4</c:v>
                </c:pt>
                <c:pt idx="9">
                  <c:v>4</c:v>
                </c:pt>
                <c:pt idx="10">
                  <c:v>5</c:v>
                </c:pt>
                <c:pt idx="11">
                  <c:v>6</c:v>
                </c:pt>
              </c:numCache>
            </c:numRef>
          </c:val>
          <c:smooth val="0"/>
          <c:extLst xmlns:c16r2="http://schemas.microsoft.com/office/drawing/2015/06/char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437514568"/>
        <c:axId val="437505160"/>
      </c:lineChart>
      <c:catAx>
        <c:axId val="437514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37505160"/>
        <c:crosses val="autoZero"/>
        <c:auto val="1"/>
        <c:lblAlgn val="ctr"/>
        <c:lblOffset val="100"/>
        <c:noMultiLvlLbl val="0"/>
      </c:catAx>
      <c:valAx>
        <c:axId val="437505160"/>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437514568"/>
        <c:crosses val="autoZero"/>
        <c:crossBetween val="between"/>
      </c:valAx>
      <c:spPr>
        <a:noFill/>
        <a:ln>
          <a:noFill/>
        </a:ln>
        <a:effectLst/>
      </c:spPr>
    </c:plotArea>
    <c:legend>
      <c:legendPos val="r"/>
      <c:legendEntry>
        <c:idx val="0"/>
        <c:delete val="1"/>
      </c:legendEntry>
      <c:layout>
        <c:manualLayout>
          <c:xMode val="edge"/>
          <c:yMode val="edge"/>
          <c:x val="0.63481189410812311"/>
          <c:y val="0.51480903090419827"/>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6.3011930199430202E-2</c:v>
                </c:pt>
                <c:pt idx="1">
                  <c:v>7.8475971472372244E-2</c:v>
                </c:pt>
                <c:pt idx="2">
                  <c:v>9.1446995464852715E-2</c:v>
                </c:pt>
                <c:pt idx="3">
                  <c:v>0.15771198830409361</c:v>
                </c:pt>
                <c:pt idx="4">
                  <c:v>0.29783285440613044</c:v>
                </c:pt>
                <c:pt idx="5">
                  <c:v>0.27271174863388004</c:v>
                </c:pt>
                <c:pt idx="6">
                  <c:v>0.13644255050505052</c:v>
                </c:pt>
                <c:pt idx="7">
                  <c:v>0.14414478691019803</c:v>
                </c:pt>
                <c:pt idx="8">
                  <c:v>4.4689360119047679E-2</c:v>
                </c:pt>
              </c:numCache>
            </c:numRef>
          </c:val>
          <c:extLst xmlns:c16r2="http://schemas.microsoft.com/office/drawing/2015/06/chart">
            <c:ext xmlns:c16="http://schemas.microsoft.com/office/drawing/2014/chart" uri="{C3380CC4-5D6E-409C-BE32-E72D297353CC}">
              <c16:uniqueId val="{00000000-61AA-4540-A9A7-D52D50415296}"/>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6.277863511659805E-2</c:v>
                </c:pt>
                <c:pt idx="1">
                  <c:v>7.8296313009760699E-2</c:v>
                </c:pt>
                <c:pt idx="2">
                  <c:v>8.8443557193557357E-2</c:v>
                </c:pt>
                <c:pt idx="3">
                  <c:v>0.1441993464052288</c:v>
                </c:pt>
                <c:pt idx="4">
                  <c:v>0.2602667865707437</c:v>
                </c:pt>
                <c:pt idx="5">
                  <c:v>0.2367044655414911</c:v>
                </c:pt>
                <c:pt idx="6">
                  <c:v>0.13095238095238096</c:v>
                </c:pt>
                <c:pt idx="7">
                  <c:v>0.13795793075684396</c:v>
                </c:pt>
                <c:pt idx="8">
                  <c:v>4.4557635829662337E-2</c:v>
                </c:pt>
              </c:numCache>
            </c:numRef>
          </c:val>
          <c:extLst xmlns:c16r2="http://schemas.microsoft.com/office/drawing/2015/06/chart">
            <c:ext xmlns:c16="http://schemas.microsoft.com/office/drawing/2014/chart" uri="{C3380CC4-5D6E-409C-BE32-E72D297353CC}">
              <c16:uniqueId val="{00000001-61AA-4540-A9A7-D52D50415296}"/>
            </c:ext>
          </c:extLst>
        </c:ser>
        <c:dLbls>
          <c:showLegendKey val="0"/>
          <c:showVal val="0"/>
          <c:showCatName val="0"/>
          <c:showSerName val="0"/>
          <c:showPercent val="0"/>
          <c:showBubbleSize val="0"/>
        </c:dLbls>
        <c:gapWidth val="75"/>
        <c:axId val="482405344"/>
        <c:axId val="482403384"/>
      </c:barChart>
      <c:catAx>
        <c:axId val="4824053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403384"/>
        <c:crosses val="autoZero"/>
        <c:auto val="1"/>
        <c:lblAlgn val="ctr"/>
        <c:lblOffset val="100"/>
        <c:noMultiLvlLbl val="0"/>
      </c:catAx>
      <c:valAx>
        <c:axId val="482403384"/>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824053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7.4285714285714288</c:v>
                </c:pt>
                <c:pt idx="1">
                  <c:v>6.436293436293437</c:v>
                </c:pt>
                <c:pt idx="2">
                  <c:v>6.2222222222222223</c:v>
                </c:pt>
                <c:pt idx="3">
                  <c:v>2.5274725274725278</c:v>
                </c:pt>
                <c:pt idx="4">
                  <c:v>2.9915966386554622</c:v>
                </c:pt>
                <c:pt idx="5">
                  <c:v>8</c:v>
                </c:pt>
              </c:numCache>
            </c:numRef>
          </c:val>
          <c:extLst xmlns:c16r2="http://schemas.microsoft.com/office/drawing/2015/06/chart">
            <c:ext xmlns:c16="http://schemas.microsoft.com/office/drawing/2014/chart" uri="{C3380CC4-5D6E-409C-BE32-E72D297353CC}">
              <c16:uniqueId val="{00000000-B53A-4AC6-8CE5-1FE3602A2562}"/>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7.7142857142857135</c:v>
                </c:pt>
                <c:pt idx="1">
                  <c:v>6.0879120879120876</c:v>
                </c:pt>
                <c:pt idx="2">
                  <c:v>6.4603174603174605</c:v>
                </c:pt>
                <c:pt idx="3">
                  <c:v>2.8351648351648353</c:v>
                </c:pt>
                <c:pt idx="4">
                  <c:v>3.252100840336134</c:v>
                </c:pt>
                <c:pt idx="5">
                  <c:v>8.1071428571428577</c:v>
                </c:pt>
              </c:numCache>
            </c:numRef>
          </c:val>
          <c:extLst xmlns:c16r2="http://schemas.microsoft.com/office/drawing/2015/06/chart">
            <c:ext xmlns:c16="http://schemas.microsoft.com/office/drawing/2014/chart" uri="{C3380CC4-5D6E-409C-BE32-E72D297353CC}">
              <c16:uniqueId val="{00000001-B53A-4AC6-8CE5-1FE3602A2562}"/>
            </c:ext>
          </c:extLst>
        </c:ser>
        <c:dLbls>
          <c:showLegendKey val="0"/>
          <c:showVal val="1"/>
          <c:showCatName val="0"/>
          <c:showSerName val="0"/>
          <c:showPercent val="0"/>
          <c:showBubbleSize val="0"/>
        </c:dLbls>
        <c:gapWidth val="150"/>
        <c:axId val="438262888"/>
        <c:axId val="438263280"/>
      </c:barChart>
      <c:catAx>
        <c:axId val="43826288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38263280"/>
        <c:crosses val="autoZero"/>
        <c:auto val="1"/>
        <c:lblAlgn val="ctr"/>
        <c:lblOffset val="100"/>
        <c:noMultiLvlLbl val="0"/>
      </c:catAx>
      <c:valAx>
        <c:axId val="43826328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382628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1-F131-4917-85DA-359CA4B12DC5}"/>
              </c:ext>
            </c:extLst>
          </c:dPt>
          <c:dPt>
            <c:idx val="1"/>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3-F131-4917-85DA-359CA4B12DC5}"/>
              </c:ext>
            </c:extLst>
          </c:dPt>
          <c:dPt>
            <c:idx val="2"/>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5-F131-4917-85DA-359CA4B12DC5}"/>
              </c:ext>
            </c:extLst>
          </c:dPt>
          <c:dPt>
            <c:idx val="3"/>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7-F131-4917-85DA-359CA4B12DC5}"/>
              </c:ext>
            </c:extLst>
          </c:dPt>
          <c:dPt>
            <c:idx val="4"/>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9-F131-4917-85DA-359CA4B12DC5}"/>
              </c:ext>
            </c:extLst>
          </c:dPt>
          <c:dPt>
            <c:idx val="5"/>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B-F131-4917-85DA-359CA4B12DC5}"/>
              </c:ext>
            </c:extLst>
          </c:dPt>
          <c:dPt>
            <c:idx val="6"/>
            <c:invertIfNegative val="0"/>
            <c:bubble3D val="0"/>
            <c:spPr>
              <a:solidFill>
                <a:srgbClr val="ED7D31"/>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D-F131-4917-85DA-359CA4B12DC5}"/>
              </c:ext>
            </c:extLst>
          </c:dPt>
          <c:dPt>
            <c:idx val="15"/>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F-F131-4917-85DA-359CA4B12DC5}"/>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Week!$B$35:$BL$35</c:f>
              <c:numCache>
                <c:formatCode>d\-mmm</c:formatCode>
                <c:ptCount val="63"/>
                <c:pt idx="0">
                  <c:v>45873</c:v>
                </c:pt>
                <c:pt idx="1">
                  <c:v>45874</c:v>
                </c:pt>
                <c:pt idx="2">
                  <c:v>45875</c:v>
                </c:pt>
                <c:pt idx="3">
                  <c:v>45876</c:v>
                </c:pt>
                <c:pt idx="4">
                  <c:v>45877</c:v>
                </c:pt>
                <c:pt idx="5">
                  <c:v>45878</c:v>
                </c:pt>
                <c:pt idx="6">
                  <c:v>45879</c:v>
                </c:pt>
                <c:pt idx="7">
                  <c:v>45880</c:v>
                </c:pt>
                <c:pt idx="8">
                  <c:v>45881</c:v>
                </c:pt>
                <c:pt idx="9">
                  <c:v>45882</c:v>
                </c:pt>
                <c:pt idx="10">
                  <c:v>45883</c:v>
                </c:pt>
                <c:pt idx="11">
                  <c:v>45884</c:v>
                </c:pt>
                <c:pt idx="12">
                  <c:v>45885</c:v>
                </c:pt>
                <c:pt idx="13">
                  <c:v>45886</c:v>
                </c:pt>
                <c:pt idx="14">
                  <c:v>45887</c:v>
                </c:pt>
                <c:pt idx="15">
                  <c:v>45888</c:v>
                </c:pt>
                <c:pt idx="16">
                  <c:v>45889</c:v>
                </c:pt>
                <c:pt idx="17">
                  <c:v>45890</c:v>
                </c:pt>
                <c:pt idx="18">
                  <c:v>45891</c:v>
                </c:pt>
                <c:pt idx="19">
                  <c:v>45892</c:v>
                </c:pt>
                <c:pt idx="20">
                  <c:v>45893</c:v>
                </c:pt>
                <c:pt idx="21">
                  <c:v>45894</c:v>
                </c:pt>
                <c:pt idx="22">
                  <c:v>45895</c:v>
                </c:pt>
                <c:pt idx="23">
                  <c:v>45896</c:v>
                </c:pt>
                <c:pt idx="24">
                  <c:v>45897</c:v>
                </c:pt>
                <c:pt idx="25">
                  <c:v>45898</c:v>
                </c:pt>
                <c:pt idx="26">
                  <c:v>45899</c:v>
                </c:pt>
                <c:pt idx="27">
                  <c:v>45900</c:v>
                </c:pt>
                <c:pt idx="28">
                  <c:v>45901</c:v>
                </c:pt>
                <c:pt idx="29">
                  <c:v>45902</c:v>
                </c:pt>
                <c:pt idx="30">
                  <c:v>45903</c:v>
                </c:pt>
                <c:pt idx="31">
                  <c:v>45904</c:v>
                </c:pt>
                <c:pt idx="32">
                  <c:v>45905</c:v>
                </c:pt>
                <c:pt idx="33">
                  <c:v>45906</c:v>
                </c:pt>
                <c:pt idx="34">
                  <c:v>45907</c:v>
                </c:pt>
                <c:pt idx="35">
                  <c:v>45908</c:v>
                </c:pt>
                <c:pt idx="36">
                  <c:v>45909</c:v>
                </c:pt>
                <c:pt idx="37">
                  <c:v>45910</c:v>
                </c:pt>
                <c:pt idx="38">
                  <c:v>45911</c:v>
                </c:pt>
                <c:pt idx="39">
                  <c:v>45912</c:v>
                </c:pt>
                <c:pt idx="40">
                  <c:v>45913</c:v>
                </c:pt>
                <c:pt idx="41">
                  <c:v>45914</c:v>
                </c:pt>
                <c:pt idx="42">
                  <c:v>45915</c:v>
                </c:pt>
                <c:pt idx="43">
                  <c:v>45916</c:v>
                </c:pt>
                <c:pt idx="44">
                  <c:v>45917</c:v>
                </c:pt>
                <c:pt idx="45">
                  <c:v>45918</c:v>
                </c:pt>
                <c:pt idx="46">
                  <c:v>45919</c:v>
                </c:pt>
                <c:pt idx="47">
                  <c:v>45920</c:v>
                </c:pt>
                <c:pt idx="48">
                  <c:v>45921</c:v>
                </c:pt>
                <c:pt idx="49">
                  <c:v>45922</c:v>
                </c:pt>
                <c:pt idx="50">
                  <c:v>45923</c:v>
                </c:pt>
                <c:pt idx="51">
                  <c:v>45924</c:v>
                </c:pt>
                <c:pt idx="52">
                  <c:v>45925</c:v>
                </c:pt>
                <c:pt idx="53">
                  <c:v>45926</c:v>
                </c:pt>
                <c:pt idx="54">
                  <c:v>45927</c:v>
                </c:pt>
                <c:pt idx="55">
                  <c:v>45928</c:v>
                </c:pt>
                <c:pt idx="56">
                  <c:v>45929</c:v>
                </c:pt>
                <c:pt idx="57">
                  <c:v>45930</c:v>
                </c:pt>
              </c:numCache>
            </c:numRef>
          </c:cat>
          <c:val>
            <c:numRef>
              <c:f>Week!$B$36:$BL$36</c:f>
              <c:numCache>
                <c:formatCode>General</c:formatCode>
                <c:ptCount val="63"/>
                <c:pt idx="0">
                  <c:v>475</c:v>
                </c:pt>
                <c:pt idx="1">
                  <c:v>461</c:v>
                </c:pt>
                <c:pt idx="2">
                  <c:v>455</c:v>
                </c:pt>
                <c:pt idx="3">
                  <c:v>469</c:v>
                </c:pt>
                <c:pt idx="4">
                  <c:v>482</c:v>
                </c:pt>
                <c:pt idx="5">
                  <c:v>465</c:v>
                </c:pt>
                <c:pt idx="6">
                  <c:v>498</c:v>
                </c:pt>
                <c:pt idx="7">
                  <c:v>465</c:v>
                </c:pt>
                <c:pt idx="8">
                  <c:v>462</c:v>
                </c:pt>
                <c:pt idx="9">
                  <c:v>476</c:v>
                </c:pt>
                <c:pt idx="10">
                  <c:v>470</c:v>
                </c:pt>
                <c:pt idx="11">
                  <c:v>498</c:v>
                </c:pt>
                <c:pt idx="12">
                  <c:v>496</c:v>
                </c:pt>
                <c:pt idx="13">
                  <c:v>495</c:v>
                </c:pt>
                <c:pt idx="14">
                  <c:v>440</c:v>
                </c:pt>
                <c:pt idx="15">
                  <c:v>432</c:v>
                </c:pt>
                <c:pt idx="16">
                  <c:v>434</c:v>
                </c:pt>
                <c:pt idx="17">
                  <c:v>447</c:v>
                </c:pt>
                <c:pt idx="18">
                  <c:v>454</c:v>
                </c:pt>
                <c:pt idx="19">
                  <c:v>464</c:v>
                </c:pt>
                <c:pt idx="20">
                  <c:v>475</c:v>
                </c:pt>
                <c:pt idx="21">
                  <c:v>455</c:v>
                </c:pt>
                <c:pt idx="22">
                  <c:v>464</c:v>
                </c:pt>
                <c:pt idx="23">
                  <c:v>461</c:v>
                </c:pt>
                <c:pt idx="24">
                  <c:v>478</c:v>
                </c:pt>
                <c:pt idx="25">
                  <c:v>487</c:v>
                </c:pt>
                <c:pt idx="26">
                  <c:v>503</c:v>
                </c:pt>
                <c:pt idx="27">
                  <c:v>477</c:v>
                </c:pt>
                <c:pt idx="28">
                  <c:v>453</c:v>
                </c:pt>
                <c:pt idx="29">
                  <c:v>491</c:v>
                </c:pt>
                <c:pt idx="30">
                  <c:v>484</c:v>
                </c:pt>
                <c:pt idx="31">
                  <c:v>400</c:v>
                </c:pt>
                <c:pt idx="32">
                  <c:v>402</c:v>
                </c:pt>
                <c:pt idx="33">
                  <c:v>391</c:v>
                </c:pt>
                <c:pt idx="34">
                  <c:v>405</c:v>
                </c:pt>
                <c:pt idx="35">
                  <c:v>395</c:v>
                </c:pt>
                <c:pt idx="36">
                  <c:v>382</c:v>
                </c:pt>
                <c:pt idx="37">
                  <c:v>384</c:v>
                </c:pt>
                <c:pt idx="38">
                  <c:v>395</c:v>
                </c:pt>
                <c:pt idx="39">
                  <c:v>396</c:v>
                </c:pt>
                <c:pt idx="40">
                  <c:v>390</c:v>
                </c:pt>
                <c:pt idx="41">
                  <c:v>407</c:v>
                </c:pt>
                <c:pt idx="42">
                  <c:v>385</c:v>
                </c:pt>
                <c:pt idx="43">
                  <c:v>372</c:v>
                </c:pt>
                <c:pt idx="44">
                  <c:v>373</c:v>
                </c:pt>
                <c:pt idx="45">
                  <c:v>387</c:v>
                </c:pt>
                <c:pt idx="46">
                  <c:v>398</c:v>
                </c:pt>
                <c:pt idx="47">
                  <c:v>390</c:v>
                </c:pt>
                <c:pt idx="48">
                  <c:v>404</c:v>
                </c:pt>
                <c:pt idx="49">
                  <c:v>391</c:v>
                </c:pt>
                <c:pt idx="50">
                  <c:v>380</c:v>
                </c:pt>
                <c:pt idx="51">
                  <c:v>384</c:v>
                </c:pt>
                <c:pt idx="52">
                  <c:v>401</c:v>
                </c:pt>
                <c:pt idx="53">
                  <c:v>404</c:v>
                </c:pt>
                <c:pt idx="54">
                  <c:v>397</c:v>
                </c:pt>
                <c:pt idx="55">
                  <c:v>411</c:v>
                </c:pt>
                <c:pt idx="56">
                  <c:v>403</c:v>
                </c:pt>
                <c:pt idx="57">
                  <c:v>392</c:v>
                </c:pt>
              </c:numCache>
            </c:numRef>
          </c:val>
          <c:extLst xmlns:c16r2="http://schemas.microsoft.com/office/drawing/2015/06/chart">
            <c:ext xmlns:c16="http://schemas.microsoft.com/office/drawing/2014/chart" uri="{C3380CC4-5D6E-409C-BE32-E72D297353CC}">
              <c16:uniqueId val="{00000010-F131-4917-85DA-359CA4B12DC5}"/>
            </c:ext>
          </c:extLst>
        </c:ser>
        <c:dLbls>
          <c:showLegendKey val="0"/>
          <c:showVal val="1"/>
          <c:showCatName val="0"/>
          <c:showSerName val="0"/>
          <c:showPercent val="0"/>
          <c:showBubbleSize val="0"/>
        </c:dLbls>
        <c:gapWidth val="75"/>
        <c:axId val="438260928"/>
        <c:axId val="438261320"/>
      </c:barChart>
      <c:dateAx>
        <c:axId val="438260928"/>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38261320"/>
        <c:crosses val="autoZero"/>
        <c:auto val="1"/>
        <c:lblOffset val="100"/>
        <c:baseTimeUnit val="days"/>
      </c:dateAx>
      <c:valAx>
        <c:axId val="438261320"/>
        <c:scaling>
          <c:orientation val="minMax"/>
          <c:max val="520"/>
          <c:min val="30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438260928"/>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10-Aug-25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198542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0BA2F68-1401-C0B7-F167-4E45E903BF28}"/>
            </a:ext>
          </a:extLst>
        </p:cNvPr>
        <p:cNvGrpSpPr/>
        <p:nvPr/>
      </p:nvGrpSpPr>
      <p:grpSpPr>
        <a:xfrm>
          <a:off x="0" y="0"/>
          <a:ext cx="0" cy="0"/>
          <a:chOff x="0" y="0"/>
          <a:chExt cx="0" cy="0"/>
        </a:xfrm>
      </p:grpSpPr>
      <p:sp>
        <p:nvSpPr>
          <p:cNvPr id="22530" name="Slide Image Placeholder 1">
            <a:extLst>
              <a:ext uri="{FF2B5EF4-FFF2-40B4-BE49-F238E27FC236}">
                <a16:creationId xmlns="" xmlns:a16="http://schemas.microsoft.com/office/drawing/2014/main" id="{D48CEFB7-347B-4320-21C7-8B815CE722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 xmlns:a16="http://schemas.microsoft.com/office/drawing/2014/main" id="{C54DC0AC-CF11-C187-24C1-F064AC50A4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 xmlns:a16="http://schemas.microsoft.com/office/drawing/2014/main" id="{404AD922-09B9-7076-D6AE-B392E63AB31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865447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61849B01-8F94-9D9B-D094-573F91E22170}"/>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37A8B88E-FE4A-6C0F-C3FC-DB630C060D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927430AA-9774-BCB3-30E8-456E33F77C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FB9B58AD-6E35-1A34-06C9-7A923DC4DD9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13118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8E98D7D5-8080-14D6-1F34-C155BF6C58CA}"/>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418F8BF1-C024-3DF0-9EE9-F08CE803AE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0AF296F5-895A-D5FF-C9CB-00F88C9BEB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DE25D54D-F8D8-F892-9695-8AC829EBF11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26188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476F5FB7-1F22-AC4B-4C8C-101B726EDB0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49F6A89B-483C-E06D-BE4C-1B5EB7DCD3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50CCC904-3BFE-8BDD-9E8F-9266CDFA5C2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5F7FB512-A657-C8B3-19F2-331C425A137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8546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4702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6DA3109B-2936-C037-4B64-F537D4ED8881}"/>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DE7C7AA2-62E8-D803-9006-269CBE1600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0F9BF322-A618-8260-6055-8A9F39D26A7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44A776D3-2A1D-5983-E2D4-ECF864FBA0F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36651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10</a:t>
            </a:fld>
            <a:endParaRPr/>
          </a:p>
        </p:txBody>
      </p:sp>
    </p:spTree>
    <p:extLst>
      <p:ext uri="{BB962C8B-B14F-4D97-AF65-F5344CB8AC3E}">
        <p14:creationId xmlns:p14="http://schemas.microsoft.com/office/powerpoint/2010/main" val="239063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11</a:t>
            </a:fld>
            <a:endParaRPr/>
          </a:p>
        </p:txBody>
      </p:sp>
    </p:spTree>
    <p:extLst>
      <p:ext uri="{BB962C8B-B14F-4D97-AF65-F5344CB8AC3E}">
        <p14:creationId xmlns:p14="http://schemas.microsoft.com/office/powerpoint/2010/main" val="286015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6D2F019-59AC-3A2E-26A1-9D331458CE11}"/>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53460B06-98DD-8BEA-556A-94F2AB29C4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ACA16D9-24A2-398B-45F0-BF092A4B10C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B0CAAC2D-EB1B-7BE3-F408-53955385CEC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40242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BB5ECD94-BFFA-CAF0-1891-ED013A09C288}"/>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2DE1C1BC-E787-9242-B178-87C8D26B82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E3047FF7-C69E-F736-D93A-7DAB49472F0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41B002F3-3BB0-AC8E-693A-607AB344BC8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3565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1714A426-3C60-0122-AC19-1967C3C8D12D}"/>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B485882D-748F-D2E1-0EDF-42DFAAA2CE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3E08F9B3-C1EF-F25E-82FB-E2638CA865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64023B18-A277-4E13-F5B0-1BA641B67B9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9819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556493A-8283-D59B-C800-B1A03D331A3E}"/>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D75CE82A-18E7-1975-2CA2-1144AA1881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04DC89D7-D3B5-D55C-5090-BF98C59041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83591900-9979-837A-1B6D-F328D80C43A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16102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28572641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38918667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F1E08DD4-9F0F-112A-2ED2-348192F851A6}"/>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E47824A0-AE28-DB6C-D143-9317A206EF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BA657AC1-8350-9A11-2928-19CC6B5C66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5516C97C-B27B-9F44-2054-0D0AA2A0FE5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5525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4182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159079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1034015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1616068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1048601"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2"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03"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lang="vi"/>
          </a:p>
        </p:txBody>
      </p:sp>
    </p:spTree>
    <p:extLst>
      <p:ext uri="{BB962C8B-B14F-4D97-AF65-F5344CB8AC3E}">
        <p14:creationId xmlns:p14="http://schemas.microsoft.com/office/powerpoint/2010/main" val="23491498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8549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7968210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3249571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31883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33</a:t>
            </a:fld>
            <a:endParaRPr/>
          </a:p>
        </p:txBody>
      </p:sp>
    </p:spTree>
    <p:extLst>
      <p:ext uri="{BB962C8B-B14F-4D97-AF65-F5344CB8AC3E}">
        <p14:creationId xmlns:p14="http://schemas.microsoft.com/office/powerpoint/2010/main" val="39699738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34</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547112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35</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6529600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30398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886258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799716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40</a:t>
            </a:fld>
            <a:endParaRPr/>
          </a:p>
        </p:txBody>
      </p:sp>
    </p:spTree>
    <p:extLst>
      <p:ext uri="{BB962C8B-B14F-4D97-AF65-F5344CB8AC3E}">
        <p14:creationId xmlns:p14="http://schemas.microsoft.com/office/powerpoint/2010/main" val="27873151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41</a:t>
            </a:fld>
            <a:endParaRPr/>
          </a:p>
        </p:txBody>
      </p:sp>
    </p:spTree>
    <p:extLst>
      <p:ext uri="{BB962C8B-B14F-4D97-AF65-F5344CB8AC3E}">
        <p14:creationId xmlns:p14="http://schemas.microsoft.com/office/powerpoint/2010/main" val="21666966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157071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2566327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44</a:t>
            </a:fld>
            <a:endParaRPr/>
          </a:p>
        </p:txBody>
      </p:sp>
    </p:spTree>
    <p:extLst>
      <p:ext uri="{BB962C8B-B14F-4D97-AF65-F5344CB8AC3E}">
        <p14:creationId xmlns:p14="http://schemas.microsoft.com/office/powerpoint/2010/main" val="20300754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279600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46</a:t>
            </a:fld>
            <a:endParaRPr/>
          </a:p>
        </p:txBody>
      </p:sp>
    </p:spTree>
    <p:extLst>
      <p:ext uri="{BB962C8B-B14F-4D97-AF65-F5344CB8AC3E}">
        <p14:creationId xmlns:p14="http://schemas.microsoft.com/office/powerpoint/2010/main" val="33898223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47</a:t>
            </a:fld>
            <a:endParaRPr/>
          </a:p>
        </p:txBody>
      </p:sp>
    </p:spTree>
    <p:extLst>
      <p:ext uri="{BB962C8B-B14F-4D97-AF65-F5344CB8AC3E}">
        <p14:creationId xmlns:p14="http://schemas.microsoft.com/office/powerpoint/2010/main" val="2714640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9223016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49</a:t>
            </a:fld>
            <a:endParaRPr/>
          </a:p>
        </p:txBody>
      </p:sp>
    </p:spTree>
    <p:extLst>
      <p:ext uri="{BB962C8B-B14F-4D97-AF65-F5344CB8AC3E}">
        <p14:creationId xmlns:p14="http://schemas.microsoft.com/office/powerpoint/2010/main" val="24774562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630777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324926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52</a:t>
            </a:fld>
            <a:endParaRPr sz="1200">
              <a:latin typeface="Calibri"/>
              <a:ea typeface="Calibri"/>
              <a:cs typeface="Calibri"/>
              <a:sym typeface="Calibri"/>
            </a:endParaRPr>
          </a:p>
        </p:txBody>
      </p:sp>
    </p:spTree>
    <p:extLst>
      <p:ext uri="{BB962C8B-B14F-4D97-AF65-F5344CB8AC3E}">
        <p14:creationId xmlns:p14="http://schemas.microsoft.com/office/powerpoint/2010/main" val="4100418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53</a:t>
            </a:fld>
            <a:endParaRPr sz="1200">
              <a:latin typeface="Calibri"/>
              <a:ea typeface="Calibri"/>
              <a:cs typeface="Calibri"/>
              <a:sym typeface="Calibri"/>
            </a:endParaRPr>
          </a:p>
        </p:txBody>
      </p:sp>
    </p:spTree>
    <p:extLst>
      <p:ext uri="{BB962C8B-B14F-4D97-AF65-F5344CB8AC3E}">
        <p14:creationId xmlns:p14="http://schemas.microsoft.com/office/powerpoint/2010/main" val="4544987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54</a:t>
            </a:fld>
            <a:endParaRPr sz="1200">
              <a:latin typeface="Calibri"/>
              <a:ea typeface="Calibri"/>
              <a:cs typeface="Calibri"/>
              <a:sym typeface="Calibri"/>
            </a:endParaRPr>
          </a:p>
        </p:txBody>
      </p:sp>
    </p:spTree>
    <p:extLst>
      <p:ext uri="{BB962C8B-B14F-4D97-AF65-F5344CB8AC3E}">
        <p14:creationId xmlns:p14="http://schemas.microsoft.com/office/powerpoint/2010/main" val="22799035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55</a:t>
            </a:fld>
            <a:endParaRPr sz="1200">
              <a:latin typeface="Calibri"/>
              <a:ea typeface="Calibri"/>
              <a:cs typeface="Calibri"/>
              <a:sym typeface="Calibri"/>
            </a:endParaRPr>
          </a:p>
        </p:txBody>
      </p:sp>
    </p:spTree>
    <p:extLst>
      <p:ext uri="{BB962C8B-B14F-4D97-AF65-F5344CB8AC3E}">
        <p14:creationId xmlns:p14="http://schemas.microsoft.com/office/powerpoint/2010/main" val="27706982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56</a:t>
            </a:fld>
            <a:endParaRPr sz="1200">
              <a:latin typeface="Calibri"/>
              <a:ea typeface="Calibri"/>
              <a:cs typeface="Calibri"/>
              <a:sym typeface="Calibri"/>
            </a:endParaRPr>
          </a:p>
        </p:txBody>
      </p:sp>
    </p:spTree>
    <p:extLst>
      <p:ext uri="{BB962C8B-B14F-4D97-AF65-F5344CB8AC3E}">
        <p14:creationId xmlns:p14="http://schemas.microsoft.com/office/powerpoint/2010/main" val="13753333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43058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84931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10-Aug-25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68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bin"/><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3.xml"/><Relationship Id="rId4" Type="http://schemas.openxmlformats.org/officeDocument/2006/relationships/chart" Target="../charts/char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0.xml"/><Relationship Id="rId4" Type="http://schemas.openxmlformats.org/officeDocument/2006/relationships/chart" Target="../charts/char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0.xml"/><Relationship Id="rId4" Type="http://schemas.openxmlformats.org/officeDocument/2006/relationships/chart" Target="../charts/chart14.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32</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04/08/2025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10</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08</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lc="http://schemas.openxmlformats.org/drawingml/2006/lockedCanvas" xmlns="" xmlns:a16="http://schemas.microsoft.com/office/drawing/2014/main" xmlns:xdr="http://schemas.openxmlformats.org/drawingml/2006/spreadsheetDrawing" id="{00000000-0008-0000-0900-000005000000}"/>
              </a:ext>
            </a:extLst>
          </p:cNvPr>
          <p:cNvGraphicFramePr>
            <a:graphicFrameLocks/>
          </p:cNvGraphicFramePr>
          <p:nvPr>
            <p:extLst>
              <p:ext uri="{D42A27DB-BD31-4B8C-83A1-F6EECF244321}">
                <p14:modId xmlns:p14="http://schemas.microsoft.com/office/powerpoint/2010/main" val="1920464613"/>
              </p:ext>
            </p:extLst>
          </p:nvPr>
        </p:nvGraphicFramePr>
        <p:xfrm>
          <a:off x="1564005" y="3625215"/>
          <a:ext cx="4124325" cy="2398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lc="http://schemas.openxmlformats.org/drawingml/2006/lockedCanvas" xmlns="" xmlns:a16="http://schemas.microsoft.com/office/drawing/2014/main" xmlns:xdr="http://schemas.openxmlformats.org/drawingml/2006/spreadsheetDrawing" id="{00000000-0008-0000-0900-00000F000000}"/>
              </a:ext>
            </a:extLst>
          </p:cNvPr>
          <p:cNvGraphicFramePr>
            <a:graphicFrameLocks/>
          </p:cNvGraphicFramePr>
          <p:nvPr>
            <p:extLst>
              <p:ext uri="{D42A27DB-BD31-4B8C-83A1-F6EECF244321}">
                <p14:modId xmlns:p14="http://schemas.microsoft.com/office/powerpoint/2010/main" val="2958162270"/>
              </p:ext>
            </p:extLst>
          </p:nvPr>
        </p:nvGraphicFramePr>
        <p:xfrm>
          <a:off x="1600200" y="838200"/>
          <a:ext cx="4143375" cy="23988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lc="http://schemas.openxmlformats.org/drawingml/2006/lockedCanvas" xmlns="" xmlns:a16="http://schemas.microsoft.com/office/drawing/2014/main" xmlns:xdr="http://schemas.openxmlformats.org/drawingml/2006/spreadsheetDrawing" id="{8347F7AA-5E77-475C-B68E-49E6EF5DA0A7}"/>
              </a:ext>
            </a:extLst>
          </p:cNvPr>
          <p:cNvGraphicFramePr>
            <a:graphicFrameLocks/>
          </p:cNvGraphicFramePr>
          <p:nvPr>
            <p:extLst>
              <p:ext uri="{D42A27DB-BD31-4B8C-83A1-F6EECF244321}">
                <p14:modId xmlns:p14="http://schemas.microsoft.com/office/powerpoint/2010/main" val="1631245471"/>
              </p:ext>
            </p:extLst>
          </p:nvPr>
        </p:nvGraphicFramePr>
        <p:xfrm>
          <a:off x="6272445" y="3633944"/>
          <a:ext cx="4206480" cy="23988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Chart 15">
            <a:extLst>
              <a:ext uri="{FF2B5EF4-FFF2-40B4-BE49-F238E27FC236}">
                <a16:creationId xmlns:lc="http://schemas.openxmlformats.org/drawingml/2006/lockedCanvas" xmlns="" xmlns:a16="http://schemas.microsoft.com/office/drawing/2014/main" xmlns:xdr="http://schemas.openxmlformats.org/drawingml/2006/spreadsheetDrawing" id="{00000000-0008-0000-0900-000004000000}"/>
              </a:ext>
            </a:extLst>
          </p:cNvPr>
          <p:cNvGraphicFramePr>
            <a:graphicFrameLocks/>
          </p:cNvGraphicFramePr>
          <p:nvPr>
            <p:extLst>
              <p:ext uri="{D42A27DB-BD31-4B8C-83A1-F6EECF244321}">
                <p14:modId xmlns:p14="http://schemas.microsoft.com/office/powerpoint/2010/main" val="3152436448"/>
              </p:ext>
            </p:extLst>
          </p:nvPr>
        </p:nvGraphicFramePr>
        <p:xfrm>
          <a:off x="6248400" y="838200"/>
          <a:ext cx="4206480" cy="239886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lc="http://schemas.openxmlformats.org/drawingml/2006/lockedCanvas" xmlns="" xmlns:a16="http://schemas.microsoft.com/office/drawing/2014/main" xmlns:xdr="http://schemas.openxmlformats.org/drawingml/2006/spreadsheetDrawing" id="{00000000-0008-0000-0600-000004000000}"/>
              </a:ext>
            </a:extLst>
          </p:cNvPr>
          <p:cNvGraphicFramePr>
            <a:graphicFrameLocks/>
          </p:cNvGraphicFramePr>
          <p:nvPr>
            <p:extLst>
              <p:ext uri="{D42A27DB-BD31-4B8C-83A1-F6EECF244321}">
                <p14:modId xmlns:p14="http://schemas.microsoft.com/office/powerpoint/2010/main" val="3901059013"/>
              </p:ext>
            </p:extLst>
          </p:nvPr>
        </p:nvGraphicFramePr>
        <p:xfrm>
          <a:off x="1295400" y="838200"/>
          <a:ext cx="9658350" cy="27146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lc="http://schemas.openxmlformats.org/drawingml/2006/lockedCanvas" xmlns="" xmlns:a16="http://schemas.microsoft.com/office/drawing/2014/main" xmlns:xdr="http://schemas.openxmlformats.org/drawingml/2006/spreadsheetDrawing" id="{00000000-0008-0000-0600-000005000000}"/>
              </a:ext>
            </a:extLst>
          </p:cNvPr>
          <p:cNvGraphicFramePr>
            <a:graphicFrameLocks/>
          </p:cNvGraphicFramePr>
          <p:nvPr>
            <p:extLst>
              <p:ext uri="{D42A27DB-BD31-4B8C-83A1-F6EECF244321}">
                <p14:modId xmlns:p14="http://schemas.microsoft.com/office/powerpoint/2010/main" val="1937024641"/>
              </p:ext>
            </p:extLst>
          </p:nvPr>
        </p:nvGraphicFramePr>
        <p:xfrm>
          <a:off x="1293640" y="3724275"/>
          <a:ext cx="9648045" cy="271652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srgbClr val="FF0000"/>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lang="en-US" b="1" dirty="0" smtClean="0">
                <a:solidFill>
                  <a:srgbClr val="FF0000"/>
                </a:solidFill>
                <a:latin typeface="Times New Roman" panose="02020603050405020304" pitchFamily="18" charset="0"/>
                <a:ea typeface="MS PGothic" pitchFamily="34" charset="-128"/>
                <a:cs typeface="Times New Roman" panose="02020603050405020304" pitchFamily="18" charset="0"/>
              </a:rPr>
              <a:t>03</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a:extLst>
              <a:ext uri="{FF2B5EF4-FFF2-40B4-BE49-F238E27FC236}">
                <a16:creationId xmlns="" xmlns:a16="http://schemas.microsoft.com/office/drawing/2014/main" id="{EF045C3F-C571-552E-A142-F0F148F2AE40}"/>
              </a:ext>
            </a:extLst>
          </p:cNvPr>
          <p:cNvGraphicFramePr>
            <a:graphicFrameLocks noGrp="1"/>
          </p:cNvGraphicFramePr>
          <p:nvPr>
            <p:extLst/>
          </p:nvPr>
        </p:nvGraphicFramePr>
        <p:xfrm>
          <a:off x="333918" y="1066800"/>
          <a:ext cx="11553282" cy="5005264"/>
        </p:xfrm>
        <a:graphic>
          <a:graphicData uri="http://schemas.openxmlformats.org/drawingml/2006/table">
            <a:tbl>
              <a:tblPr/>
              <a:tblGrid>
                <a:gridCol w="473350">
                  <a:extLst>
                    <a:ext uri="{9D8B030D-6E8A-4147-A177-3AD203B41FA5}">
                      <a16:colId xmlns="" xmlns:a16="http://schemas.microsoft.com/office/drawing/2014/main" val="2366791199"/>
                    </a:ext>
                  </a:extLst>
                </a:gridCol>
                <a:gridCol w="421289">
                  <a:extLst>
                    <a:ext uri="{9D8B030D-6E8A-4147-A177-3AD203B41FA5}">
                      <a16:colId xmlns="" xmlns:a16="http://schemas.microsoft.com/office/drawing/2014/main" val="380038728"/>
                    </a:ext>
                  </a:extLst>
                </a:gridCol>
                <a:gridCol w="674062">
                  <a:extLst>
                    <a:ext uri="{9D8B030D-6E8A-4147-A177-3AD203B41FA5}">
                      <a16:colId xmlns="" xmlns:a16="http://schemas.microsoft.com/office/drawing/2014/main" val="1816131003"/>
                    </a:ext>
                  </a:extLst>
                </a:gridCol>
                <a:gridCol w="842578">
                  <a:extLst>
                    <a:ext uri="{9D8B030D-6E8A-4147-A177-3AD203B41FA5}">
                      <a16:colId xmlns="" xmlns:a16="http://schemas.microsoft.com/office/drawing/2014/main" val="2452487512"/>
                    </a:ext>
                  </a:extLst>
                </a:gridCol>
                <a:gridCol w="842578">
                  <a:extLst>
                    <a:ext uri="{9D8B030D-6E8A-4147-A177-3AD203B41FA5}">
                      <a16:colId xmlns="" xmlns:a16="http://schemas.microsoft.com/office/drawing/2014/main" val="4125799252"/>
                    </a:ext>
                  </a:extLst>
                </a:gridCol>
                <a:gridCol w="674062">
                  <a:extLst>
                    <a:ext uri="{9D8B030D-6E8A-4147-A177-3AD203B41FA5}">
                      <a16:colId xmlns="" xmlns:a16="http://schemas.microsoft.com/office/drawing/2014/main" val="355767024"/>
                    </a:ext>
                  </a:extLst>
                </a:gridCol>
                <a:gridCol w="1348125">
                  <a:extLst>
                    <a:ext uri="{9D8B030D-6E8A-4147-A177-3AD203B41FA5}">
                      <a16:colId xmlns="" xmlns:a16="http://schemas.microsoft.com/office/drawing/2014/main" val="17026393"/>
                    </a:ext>
                  </a:extLst>
                </a:gridCol>
                <a:gridCol w="2619638">
                  <a:extLst>
                    <a:ext uri="{9D8B030D-6E8A-4147-A177-3AD203B41FA5}">
                      <a16:colId xmlns="" xmlns:a16="http://schemas.microsoft.com/office/drawing/2014/main" val="2734111180"/>
                    </a:ext>
                  </a:extLst>
                </a:gridCol>
                <a:gridCol w="381000">
                  <a:extLst>
                    <a:ext uri="{9D8B030D-6E8A-4147-A177-3AD203B41FA5}">
                      <a16:colId xmlns="" xmlns:a16="http://schemas.microsoft.com/office/drawing/2014/main" val="2067814126"/>
                    </a:ext>
                  </a:extLst>
                </a:gridCol>
                <a:gridCol w="3276600">
                  <a:extLst>
                    <a:ext uri="{9D8B030D-6E8A-4147-A177-3AD203B41FA5}">
                      <a16:colId xmlns="" xmlns:a16="http://schemas.microsoft.com/office/drawing/2014/main" val="3875828855"/>
                    </a:ext>
                  </a:extLst>
                </a:gridCol>
              </a:tblGrid>
              <a:tr h="369626">
                <a:tc>
                  <a:txBody>
                    <a:bodyPr/>
                    <a:lstStyle/>
                    <a:p>
                      <a:pPr algn="ctr" fontAlgn="t">
                        <a:buNone/>
                      </a:pP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701666051"/>
                  </a:ext>
                </a:extLst>
              </a:tr>
              <a:tr h="1374581">
                <a:tc>
                  <a:txBody>
                    <a:bodyPr/>
                    <a:lstStyle/>
                    <a:p>
                      <a:pPr algn="l" fontAlgn="ctr">
                        <a:buNone/>
                      </a:pPr>
                      <a:r>
                        <a:rPr lang="vi-VN" sz="1100" b="0" i="0" u="none" strike="noStrike" dirty="0">
                          <a:solidFill>
                            <a:srgbClr val="000000"/>
                          </a:solidFill>
                          <a:effectLst/>
                          <a:latin typeface="Times New Roman" panose="02020603050405020304" pitchFamily="18" charset="0"/>
                        </a:rPr>
                        <a:t>A334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VN113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DAD-SGN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10:00 10/08/2025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Times New Roman" panose="02020603050405020304" pitchFamily="18" charset="0"/>
                        </a:rPr>
                        <a:t>F/CTL : FLAP/SLAT SYS #1 FAULT, C/O RESET BUT NIL HELP , A/C GROUND TURN BACK.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REF TSM 27-51-00-810-805A (REV825) PERFORMED SWAP SFCC #1 AND SFCC #2 THEN TEST SLAT FLAP SYS I.A.W AMM 27-51-34-000/400-001 AND AMM 27-54-00-710-002 FOUND NML .</a:t>
                      </a:r>
                      <a:br>
                        <a:rPr lang="vi-VN" sz="1100" b="0" i="0" u="none" strike="noStrike">
                          <a:solidFill>
                            <a:srgbClr val="000000"/>
                          </a:solidFill>
                          <a:effectLst/>
                          <a:latin typeface="Times New Roman" panose="02020603050405020304" pitchFamily="18" charset="0"/>
                        </a:rPr>
                      </a:br>
                      <a:r>
                        <a:rPr lang="vi-VN" sz="1100" b="0" i="0" u="none" strike="noStrike">
                          <a:solidFill>
                            <a:srgbClr val="000000"/>
                          </a:solidFill>
                          <a:effectLst/>
                          <a:latin typeface="Times New Roman" panose="02020603050405020304" pitchFamily="18" charset="0"/>
                        </a:rPr>
                        <a:t>- ADD B2604 IS RAISED SFCC #2 SLAT CHANNEL INOP I.A.W MEL 27-81-01A (REV JUN/25) AND C/O MAINT FOUND SATIS</a:t>
                      </a:r>
                      <a:br>
                        <a:rPr lang="vi-VN" sz="1100" b="0" i="0" u="none" strike="noStrike">
                          <a:solidFill>
                            <a:srgbClr val="000000"/>
                          </a:solidFill>
                          <a:effectLst/>
                          <a:latin typeface="Times New Roman" panose="02020603050405020304" pitchFamily="18" charset="0"/>
                        </a:rPr>
                      </a:br>
                      <a:r>
                        <a:rPr lang="vi-VN" sz="1100" b="0" i="0" u="none" strike="noStrike">
                          <a:solidFill>
                            <a:srgbClr val="000000"/>
                          </a:solidFill>
                          <a:effectLst/>
                          <a:latin typeface="Times New Roman" panose="02020603050405020304" pitchFamily="18" charset="0"/>
                        </a:rPr>
                        <a:t/>
                      </a:r>
                      <a:br>
                        <a:rPr lang="vi-VN" sz="1100" b="0" i="0" u="none" strike="noStrike">
                          <a:solidFill>
                            <a:srgbClr val="000000"/>
                          </a:solidFill>
                          <a:effectLst/>
                          <a:latin typeface="Times New Roman" panose="02020603050405020304" pitchFamily="18" charset="0"/>
                        </a:rPr>
                      </a:br>
                      <a:r>
                        <a:rPr lang="vi-VN" sz="1100" b="0" i="0" u="none" strike="noStrike">
                          <a:solidFill>
                            <a:srgbClr val="000000"/>
                          </a:solidFill>
                          <a:effectLst/>
                          <a:latin typeface="Times New Roman" panose="02020603050405020304" pitchFamily="18" charset="0"/>
                        </a:rPr>
                        <a:t>SWAP SFCC #1 AND SFCC #2 AND ADD B2604 IS RAISED EVENT CLOSED</a:t>
                      </a:r>
                      <a:br>
                        <a:rPr lang="vi-VN" sz="1100" b="0" i="0" u="none" strike="noStrike">
                          <a:solidFill>
                            <a:srgbClr val="000000"/>
                          </a:solidFill>
                          <a:effectLst/>
                          <a:latin typeface="Times New Roman" panose="02020603050405020304" pitchFamily="18" charset="0"/>
                        </a:rPr>
                      </a:br>
                      <a:r>
                        <a:rPr lang="vi-VN" sz="1100" b="0" i="0" u="none" strike="noStrike">
                          <a:solidFill>
                            <a:srgbClr val="000000"/>
                          </a:solidFill>
                          <a:effectLst/>
                          <a:latin typeface="Times New Roman" panose="02020603050405020304" pitchFamily="18" charset="0"/>
                        </a:rPr>
                        <a:t>TD : 91 MINS, ATC: 04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27-50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Lịch sử tàu A334 ngày 9/8 đã có cảnh báo tương tự nên Vaeco đã thay khối SFCC trong kho lên để clear msg. Đến sáng 10/8, tiếp tục xuất hiện cảnh báo trở lại. Khối SFCC 1 lắp trên A334 ngày 09/08 có TSN hơn 24k FH, trước đó đã gửi đi shop sửa chữa vào T9/2024 với cùng cảnh báo tương tự như lần này. Tại shop chỉ thực hiện thực hiện test NFF, khối được release theo dạng tested. Do đó có thể đánh giá khối này bị hỏng hóc lặp lại sau khi đi shop về. Ngoài ra khối SFCC 2 swap sang vị trí 1 trong ngày 10/8 cũng là khối đi shop về test NFF với cùng cảnh báo tương tự và đã lắp trên A334 từ tháng 03/2025 nên có khả năng cũng sẽ gây hỏng hóc lặp lại. Ban KT sẽ làm việc thêm với Ban QLVT về trường hợp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233399248"/>
                  </a:ext>
                </a:extLst>
              </a:tr>
              <a:tr h="2446793">
                <a:tc>
                  <a:txBody>
                    <a:bodyPr/>
                    <a:lstStyle/>
                    <a:p>
                      <a:pPr algn="l" fontAlgn="ctr">
                        <a:buNone/>
                      </a:pPr>
                      <a:r>
                        <a:rPr lang="vi-VN" sz="1100" b="0" i="0" u="none" strike="noStrike" dirty="0">
                          <a:solidFill>
                            <a:srgbClr val="000000"/>
                          </a:solidFill>
                          <a:effectLst/>
                          <a:latin typeface="Times New Roman" panose="02020603050405020304" pitchFamily="18" charset="0"/>
                        </a:rPr>
                        <a:t>A397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FUK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VN357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FUK-HAN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08:40 04/08/2025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Times New Roman" panose="02020603050405020304" pitchFamily="18" charset="0"/>
                        </a:rPr>
                        <a:t>DURING PUSH BACK CAPT REPORT AUTO THRUST FAULT, CAPT DECIDE RETURN TO GATE FOR 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Times New Roman" panose="02020603050405020304" pitchFamily="18" charset="0"/>
                        </a:rPr>
                        <a:t>DURING TURN BACK, MESG DISAPPEAR, CHECK ALL NORMAL. A/C CONTINUE TO FLIGHT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mn-lt"/>
                        </a:rPr>
                        <a:t>Lỗi có thể do yếu tố con người. Capt phối hợp thợ máy reset thành công (không mở cửa tàu bay), tàu tiếp tục khai thác.</a:t>
                      </a:r>
                    </a:p>
                    <a:p>
                      <a:pPr algn="l" fontAlgn="ctr">
                        <a:buNone/>
                      </a:pPr>
                      <a:r>
                        <a:rPr lang="vi-VN" sz="1100" b="0" i="0" u="none" strike="noStrike" dirty="0">
                          <a:solidFill>
                            <a:srgbClr val="000000"/>
                          </a:solidFill>
                          <a:effectLst/>
                          <a:latin typeface="+mn-lt"/>
                        </a:rPr>
                        <a:t>Theo ISI 22.30.00005, msg Auto Thrust xuất hiện ở phase 2 có thể A/THR đã được cài trc khi nổ máy động cơ (có thể thợ máy hoặc phi công cài) nên sau khi nổ máy hệ thống sẽ tự động disengage A/THR theo cơ chế bảo vệ.</a:t>
                      </a:r>
                    </a:p>
                    <a:p>
                      <a:pPr algn="l" fontAlgn="ctr">
                        <a:buNone/>
                      </a:pPr>
                      <a:r>
                        <a:rPr lang="vi-VN" sz="1100" b="0" i="0" u="none" strike="noStrike" dirty="0">
                          <a:solidFill>
                            <a:srgbClr val="000000"/>
                          </a:solidFill>
                          <a:effectLst/>
                          <a:latin typeface="+mn-lt"/>
                        </a:rPr>
                        <a:t>Trường hợp tương tự gần nhất là vào t8/2024 gây GTB (Airbus kết luận A/THR đã được cài trc khi nổ máy theo dữ liệu QAR).</a:t>
                      </a:r>
                      <a:r>
                        <a:rPr lang="vi-VN" sz="1100" b="0" i="0" u="none" strike="noStrike" dirty="0">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538159054"/>
                  </a:ext>
                </a:extLst>
              </a:tr>
            </a:tbl>
          </a:graphicData>
        </a:graphic>
      </p:graphicFrame>
    </p:spTree>
    <p:custDataLst>
      <p:tags r:id="rId1"/>
    </p:custDataLst>
    <p:extLst>
      <p:ext uri="{BB962C8B-B14F-4D97-AF65-F5344CB8AC3E}">
        <p14:creationId xmlns:p14="http://schemas.microsoft.com/office/powerpoint/2010/main" val="395134192"/>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9E227DD-F9AA-6B64-9A43-ED3D6CF771EE}"/>
            </a:ext>
          </a:extLst>
        </p:cNvPr>
        <p:cNvGrpSpPr/>
        <p:nvPr/>
      </p:nvGrpSpPr>
      <p:grpSpPr>
        <a:xfrm>
          <a:off x="0" y="0"/>
          <a:ext cx="0" cy="0"/>
          <a:chOff x="0" y="0"/>
          <a:chExt cx="0" cy="0"/>
        </a:xfrm>
      </p:grpSpPr>
      <p:sp>
        <p:nvSpPr>
          <p:cNvPr id="21507" name="Slide Number Placeholder 3">
            <a:extLst>
              <a:ext uri="{FF2B5EF4-FFF2-40B4-BE49-F238E27FC236}">
                <a16:creationId xmlns="" xmlns:a16="http://schemas.microsoft.com/office/drawing/2014/main" id="{721103EA-37D8-6226-93EC-C5E3B69B4780}"/>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 xmlns:a16="http://schemas.microsoft.com/office/drawing/2014/main" id="{C5CF5B8B-6BE3-5F47-B8E8-3B4FB6BA406E}"/>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 xmlns:a16="http://schemas.microsoft.com/office/drawing/2014/main" id="{23364B65-DBCF-7E66-097F-37FE08A48838}"/>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srgbClr val="FF0000"/>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lang="en-US" b="1" dirty="0" smtClean="0">
                <a:solidFill>
                  <a:srgbClr val="FF0000"/>
                </a:solidFill>
                <a:latin typeface="Times New Roman" panose="02020603050405020304" pitchFamily="18" charset="0"/>
                <a:ea typeface="MS PGothic" pitchFamily="34" charset="-128"/>
                <a:cs typeface="Times New Roman" panose="02020603050405020304" pitchFamily="18" charset="0"/>
              </a:rPr>
              <a:t>03</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a:extLst>
              <a:ext uri="{FF2B5EF4-FFF2-40B4-BE49-F238E27FC236}">
                <a16:creationId xmlns="" xmlns:a16="http://schemas.microsoft.com/office/drawing/2014/main" id="{71438D1A-83E4-5D98-1D1A-9FC47E2FAA44}"/>
              </a:ext>
            </a:extLst>
          </p:cNvPr>
          <p:cNvGraphicFramePr>
            <a:graphicFrameLocks noGrp="1"/>
          </p:cNvGraphicFramePr>
          <p:nvPr>
            <p:extLst>
              <p:ext uri="{D42A27DB-BD31-4B8C-83A1-F6EECF244321}">
                <p14:modId xmlns:p14="http://schemas.microsoft.com/office/powerpoint/2010/main" val="3125080881"/>
              </p:ext>
            </p:extLst>
          </p:nvPr>
        </p:nvGraphicFramePr>
        <p:xfrm>
          <a:off x="333918" y="1066800"/>
          <a:ext cx="11553282" cy="4268332"/>
        </p:xfrm>
        <a:graphic>
          <a:graphicData uri="http://schemas.openxmlformats.org/drawingml/2006/table">
            <a:tbl>
              <a:tblPr/>
              <a:tblGrid>
                <a:gridCol w="473350">
                  <a:extLst>
                    <a:ext uri="{9D8B030D-6E8A-4147-A177-3AD203B41FA5}">
                      <a16:colId xmlns="" xmlns:a16="http://schemas.microsoft.com/office/drawing/2014/main" val="2366791199"/>
                    </a:ext>
                  </a:extLst>
                </a:gridCol>
                <a:gridCol w="421289">
                  <a:extLst>
                    <a:ext uri="{9D8B030D-6E8A-4147-A177-3AD203B41FA5}">
                      <a16:colId xmlns="" xmlns:a16="http://schemas.microsoft.com/office/drawing/2014/main" val="380038728"/>
                    </a:ext>
                  </a:extLst>
                </a:gridCol>
                <a:gridCol w="674062">
                  <a:extLst>
                    <a:ext uri="{9D8B030D-6E8A-4147-A177-3AD203B41FA5}">
                      <a16:colId xmlns="" xmlns:a16="http://schemas.microsoft.com/office/drawing/2014/main" val="1816131003"/>
                    </a:ext>
                  </a:extLst>
                </a:gridCol>
                <a:gridCol w="842578">
                  <a:extLst>
                    <a:ext uri="{9D8B030D-6E8A-4147-A177-3AD203B41FA5}">
                      <a16:colId xmlns="" xmlns:a16="http://schemas.microsoft.com/office/drawing/2014/main" val="2452487512"/>
                    </a:ext>
                  </a:extLst>
                </a:gridCol>
                <a:gridCol w="842578">
                  <a:extLst>
                    <a:ext uri="{9D8B030D-6E8A-4147-A177-3AD203B41FA5}">
                      <a16:colId xmlns="" xmlns:a16="http://schemas.microsoft.com/office/drawing/2014/main" val="4125799252"/>
                    </a:ext>
                  </a:extLst>
                </a:gridCol>
                <a:gridCol w="674062">
                  <a:extLst>
                    <a:ext uri="{9D8B030D-6E8A-4147-A177-3AD203B41FA5}">
                      <a16:colId xmlns="" xmlns:a16="http://schemas.microsoft.com/office/drawing/2014/main" val="355767024"/>
                    </a:ext>
                  </a:extLst>
                </a:gridCol>
                <a:gridCol w="1348125">
                  <a:extLst>
                    <a:ext uri="{9D8B030D-6E8A-4147-A177-3AD203B41FA5}">
                      <a16:colId xmlns="" xmlns:a16="http://schemas.microsoft.com/office/drawing/2014/main" val="17026393"/>
                    </a:ext>
                  </a:extLst>
                </a:gridCol>
                <a:gridCol w="2619638">
                  <a:extLst>
                    <a:ext uri="{9D8B030D-6E8A-4147-A177-3AD203B41FA5}">
                      <a16:colId xmlns="" xmlns:a16="http://schemas.microsoft.com/office/drawing/2014/main" val="2734111180"/>
                    </a:ext>
                  </a:extLst>
                </a:gridCol>
                <a:gridCol w="381000">
                  <a:extLst>
                    <a:ext uri="{9D8B030D-6E8A-4147-A177-3AD203B41FA5}">
                      <a16:colId xmlns="" xmlns:a16="http://schemas.microsoft.com/office/drawing/2014/main" val="2067814126"/>
                    </a:ext>
                  </a:extLst>
                </a:gridCol>
                <a:gridCol w="3276600">
                  <a:extLst>
                    <a:ext uri="{9D8B030D-6E8A-4147-A177-3AD203B41FA5}">
                      <a16:colId xmlns="" xmlns:a16="http://schemas.microsoft.com/office/drawing/2014/main" val="3875828855"/>
                    </a:ext>
                  </a:extLst>
                </a:gridCol>
              </a:tblGrid>
              <a:tr h="369626">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701666051"/>
                  </a:ext>
                </a:extLst>
              </a:tr>
              <a:tr h="1374581">
                <a:tc>
                  <a:txBody>
                    <a:bodyPr/>
                    <a:lstStyle/>
                    <a:p>
                      <a:pPr algn="l" fontAlgn="ctr">
                        <a:buNone/>
                      </a:pPr>
                      <a:r>
                        <a:rPr lang="vi-VN" sz="1100" b="0" i="0" u="none" strike="noStrike" dirty="0">
                          <a:solidFill>
                            <a:srgbClr val="000000"/>
                          </a:solidFill>
                          <a:effectLst/>
                          <a:latin typeface="Times New Roman" panose="02020603050405020304" pitchFamily="18" charset="0"/>
                        </a:rPr>
                        <a:t>A357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TPE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VN579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TPE-HAN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06:30 04/08/2025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Times New Roman" panose="02020603050405020304" pitchFamily="18" charset="0"/>
                        </a:rPr>
                        <a:t>A357 RTG DUE TO CAPT REPORT RH WING TANK OVERFLOW DURING TAXI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Times New Roman" panose="02020603050405020304" pitchFamily="18" charset="0"/>
                        </a:rPr>
                        <a:t>REF TSM CI C/O</a:t>
                      </a:r>
                      <a:br>
                        <a:rPr lang="en-US" sz="1100" b="0" i="0" u="none" strike="noStrike" dirty="0">
                          <a:solidFill>
                            <a:srgbClr val="000000"/>
                          </a:solidFill>
                          <a:effectLst/>
                          <a:latin typeface="Times New Roman" panose="02020603050405020304" pitchFamily="18" charset="0"/>
                        </a:rPr>
                      </a:br>
                      <a:r>
                        <a:rPr lang="en-US" sz="1100" b="0" i="0" u="none" strike="noStrike" dirty="0" smtClean="0">
                          <a:solidFill>
                            <a:srgbClr val="000000"/>
                          </a:solidFill>
                          <a:effectLst/>
                          <a:latin typeface="Times New Roman" panose="02020603050405020304" pitchFamily="18" charset="0"/>
                        </a:rPr>
                        <a:t>-</a:t>
                      </a:r>
                      <a:r>
                        <a:rPr lang="en-US" sz="1100" b="0" i="0" u="none" strike="noStrike" dirty="0">
                          <a:solidFill>
                            <a:srgbClr val="000000"/>
                          </a:solidFill>
                          <a:effectLst/>
                          <a:latin typeface="Times New Roman" panose="02020603050405020304" pitchFamily="18" charset="0"/>
                        </a:rPr>
                        <a:t>DO OPERATIONAL TEST OF THE MAIN TRANSFER SYSTEM</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-DO FUNCTIONAL (BITE) TEST OF THE FUEL LEVEL SENSING SYSTEM (FLSS) RESET TEST SATIS EVENT CLOSED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28-26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Hiện đang yêu cầu AIB phân tích dữ liệu DFDR để xác định có sự nhầm lẫn do chuyển chế độ nạp dầu từ AUTO sang MAN hay không do tàu về đã thực hiện test và không phát hiện bất thường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233399248"/>
                  </a:ext>
                </a:extLst>
              </a:tr>
              <a:tr h="2446793">
                <a:tc>
                  <a:txBody>
                    <a:bodyPr/>
                    <a:lstStyle/>
                    <a:p>
                      <a:pPr algn="l" fontAlgn="ctr">
                        <a:buNone/>
                      </a:pPr>
                      <a:r>
                        <a:rPr lang="vi-VN" sz="1100" b="0" i="0" u="none" strike="noStrike">
                          <a:solidFill>
                            <a:srgbClr val="000000"/>
                          </a:solidFill>
                          <a:effectLst/>
                          <a:latin typeface="Times New Roman" panose="02020603050405020304" pitchFamily="18" charset="0"/>
                        </a:rPr>
                        <a:t>A864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VN31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SGN-FRA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00:00 04/08/2025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smtClean="0">
                          <a:solidFill>
                            <a:srgbClr val="000000"/>
                          </a:solidFill>
                          <a:effectLst/>
                          <a:latin typeface="Times New Roman" panose="02020603050405020304" pitchFamily="18" charset="0"/>
                        </a:rPr>
                        <a:t>RTG</a:t>
                      </a:r>
                      <a:endParaRPr lang="vi-VN"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Times New Roman" panose="02020603050405020304" pitchFamily="18" charset="0"/>
                        </a:rPr>
                        <a:t>A/C REJECT TAKE OFF DUE TO CAPT INFOR A/C HAS DEFECT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AFT E/E ACCESS PANEL DOOR OPEN WITH EICAS, CAPT DECIDED RTG FOR T/S ( CALL VHF).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FINAL ACTION: C/O INSPECTION AND TEST AFT EE ACCESS DOOR SATIS. EICAS MSG GONE. A/C SERVICEABLE.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TOTAL DELAY: 68 MINS, TECH DELAY: 20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52-40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Thực hiện kiểm tra không thấy bất thường; Ngày 05/8, thực hiện thêm các bước inspect theo FIM task không có bất thường. Tàu vẫn thay Sensor đề phòng OI.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Tháng 7/2024, tàu cũng bị tương tự ở AFT EE door, kiểm tra cũng không phát hiện bất thường và cũng thay sensor để đề phòng OI.</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VAE đang thực hiện download FDR date để gửi BOE phân tích cũng như xem xét về hỏng hóc này.</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Thống kê ĐTC với cửa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A864 tháng 8/2025 thay sensor Aft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A863 tháng 5/2025 thay sensor FWD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A864 tháng 7/2024 thay sensor cho AFT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A864 Tháng 9/2016 thay sensor cho FWD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A869 Tháng 12/2016 thay sensor cho AFT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Boe hiện không có issue liên quan đến sensor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538159054"/>
                  </a:ext>
                </a:extLst>
              </a:tr>
            </a:tbl>
          </a:graphicData>
        </a:graphic>
      </p:graphicFrame>
    </p:spTree>
    <p:custDataLst>
      <p:tags r:id="rId1"/>
    </p:custDataLst>
    <p:extLst>
      <p:ext uri="{BB962C8B-B14F-4D97-AF65-F5344CB8AC3E}">
        <p14:creationId xmlns:p14="http://schemas.microsoft.com/office/powerpoint/2010/main" val="143864090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1AD57216-81AD-066B-1D9E-E0596E6D349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685DE47B-E104-F047-DF06-09D7663C3F5C}"/>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99B2BE76-CD13-92E2-7476-83EAF3143B32}"/>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 xmlns:a16="http://schemas.microsoft.com/office/drawing/2014/main" id="{1C8A335D-94DE-936B-5240-000D28556205}"/>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02 </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EEEB807A-4473-416D-B918-E36A98EA9C96}"/>
              </a:ext>
            </a:extLst>
          </p:cNvPr>
          <p:cNvGraphicFramePr>
            <a:graphicFrameLocks noGrp="1"/>
          </p:cNvGraphicFramePr>
          <p:nvPr>
            <p:extLst>
              <p:ext uri="{D42A27DB-BD31-4B8C-83A1-F6EECF244321}">
                <p14:modId xmlns:p14="http://schemas.microsoft.com/office/powerpoint/2010/main" val="1102259782"/>
              </p:ext>
            </p:extLst>
          </p:nvPr>
        </p:nvGraphicFramePr>
        <p:xfrm>
          <a:off x="134289" y="1521021"/>
          <a:ext cx="11688715" cy="3461300"/>
        </p:xfrm>
        <a:graphic>
          <a:graphicData uri="http://schemas.openxmlformats.org/drawingml/2006/table">
            <a:tbl>
              <a:tblPr/>
              <a:tblGrid>
                <a:gridCol w="376465">
                  <a:extLst>
                    <a:ext uri="{9D8B030D-6E8A-4147-A177-3AD203B41FA5}">
                      <a16:colId xmlns="" xmlns:a16="http://schemas.microsoft.com/office/drawing/2014/main" val="439829933"/>
                    </a:ext>
                  </a:extLst>
                </a:gridCol>
                <a:gridCol w="708446">
                  <a:extLst>
                    <a:ext uri="{9D8B030D-6E8A-4147-A177-3AD203B41FA5}">
                      <a16:colId xmlns="" xmlns:a16="http://schemas.microsoft.com/office/drawing/2014/main" val="1704083537"/>
                    </a:ext>
                  </a:extLst>
                </a:gridCol>
                <a:gridCol w="762000">
                  <a:extLst>
                    <a:ext uri="{9D8B030D-6E8A-4147-A177-3AD203B41FA5}">
                      <a16:colId xmlns="" xmlns:a16="http://schemas.microsoft.com/office/drawing/2014/main" val="3278067950"/>
                    </a:ext>
                  </a:extLst>
                </a:gridCol>
                <a:gridCol w="381000">
                  <a:extLst>
                    <a:ext uri="{9D8B030D-6E8A-4147-A177-3AD203B41FA5}">
                      <a16:colId xmlns="" xmlns:a16="http://schemas.microsoft.com/office/drawing/2014/main" val="2069065738"/>
                    </a:ext>
                  </a:extLst>
                </a:gridCol>
                <a:gridCol w="1676400">
                  <a:extLst>
                    <a:ext uri="{9D8B030D-6E8A-4147-A177-3AD203B41FA5}">
                      <a16:colId xmlns="" xmlns:a16="http://schemas.microsoft.com/office/drawing/2014/main" val="1827819839"/>
                    </a:ext>
                  </a:extLst>
                </a:gridCol>
                <a:gridCol w="2743200">
                  <a:extLst>
                    <a:ext uri="{9D8B030D-6E8A-4147-A177-3AD203B41FA5}">
                      <a16:colId xmlns="" xmlns:a16="http://schemas.microsoft.com/office/drawing/2014/main" val="3969475393"/>
                    </a:ext>
                  </a:extLst>
                </a:gridCol>
                <a:gridCol w="381000">
                  <a:extLst>
                    <a:ext uri="{9D8B030D-6E8A-4147-A177-3AD203B41FA5}">
                      <a16:colId xmlns="" xmlns:a16="http://schemas.microsoft.com/office/drawing/2014/main" val="269388620"/>
                    </a:ext>
                  </a:extLst>
                </a:gridCol>
                <a:gridCol w="4660204">
                  <a:extLst>
                    <a:ext uri="{9D8B030D-6E8A-4147-A177-3AD203B41FA5}">
                      <a16:colId xmlns="" xmlns:a16="http://schemas.microsoft.com/office/drawing/2014/main" val="906467906"/>
                    </a:ext>
                  </a:extLst>
                </a:gridCol>
              </a:tblGrid>
              <a:tr h="354609">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3428218725"/>
                  </a:ext>
                </a:extLst>
              </a:tr>
              <a:tr h="1923686">
                <a:tc>
                  <a:txBody>
                    <a:bodyPr/>
                    <a:lstStyle/>
                    <a:p>
                      <a:pPr algn="l" fontAlgn="ctr">
                        <a:buNone/>
                      </a:pPr>
                      <a:r>
                        <a:rPr lang="vi-VN" sz="1100" b="0" i="0" u="none" strike="noStrike" dirty="0">
                          <a:solidFill>
                            <a:srgbClr val="000000"/>
                          </a:solidFill>
                          <a:effectLst/>
                          <a:latin typeface="Times New Roman" panose="02020603050405020304" pitchFamily="18" charset="0"/>
                        </a:rPr>
                        <a:t>A332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dirty="0">
                          <a:solidFill>
                            <a:srgbClr val="000000"/>
                          </a:solidFill>
                          <a:effectLst/>
                          <a:latin typeface="Times New Roman" panose="02020603050405020304" pitchFamily="18" charset="0"/>
                        </a:rPr>
                        <a:t>01:25 10/08/2025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vi-VN" sz="1100" b="0" i="0" u="none" strike="noStrike" dirty="0">
                          <a:solidFill>
                            <a:srgbClr val="000000"/>
                          </a:solidFill>
                          <a:effectLst/>
                          <a:latin typeface="Times New Roman" panose="02020603050405020304" pitchFamily="18" charset="0"/>
                        </a:rPr>
                        <a:t> </a:t>
                      </a:r>
                      <a:r>
                        <a:rPr lang="vi-VN" sz="1100" b="0" i="0" u="none" strike="noStrike" dirty="0" smtClean="0">
                          <a:solidFill>
                            <a:srgbClr val="000000"/>
                          </a:solidFill>
                          <a:effectLst/>
                          <a:latin typeface="+mn-lt"/>
                        </a:rPr>
                        <a:t>10/08/2025</a:t>
                      </a:r>
                    </a:p>
                    <a:p>
                      <a:pPr algn="l" fontAlgn="ctr">
                        <a:buNone/>
                      </a:pPr>
                      <a:r>
                        <a:rPr lang="en-US" sz="1100" b="0" i="0" u="none" strike="noStrike" dirty="0" smtClean="0">
                          <a:solidFill>
                            <a:srgbClr val="000000"/>
                          </a:solidFill>
                          <a:effectLst/>
                          <a:latin typeface="Times New Roman" panose="02020603050405020304" pitchFamily="18" charset="0"/>
                        </a:rPr>
                        <a:t>16:30</a:t>
                      </a:r>
                      <a:endParaRPr lang="vi-VN"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en-US" sz="1100" b="0" i="0" u="none" strike="noStrike" dirty="0">
                          <a:solidFill>
                            <a:srgbClr val="000000"/>
                          </a:solidFill>
                          <a:effectLst/>
                          <a:latin typeface="Times New Roman" panose="02020603050405020304" pitchFamily="18" charset="0"/>
                        </a:rPr>
                        <a:t>DURING C/O TERMINAL CHECK FOUND TWO HOLES ON THE FWD CARGO DOOR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en-US" sz="1100" b="0" i="0" u="none" strike="noStrike" dirty="0" smtClean="0">
                          <a:solidFill>
                            <a:srgbClr val="000000"/>
                          </a:solidFill>
                          <a:effectLst/>
                          <a:latin typeface="Times New Roman" panose="02020603050405020304" pitchFamily="18" charset="0"/>
                        </a:rPr>
                        <a:t>ROB</a:t>
                      </a:r>
                      <a:r>
                        <a:rPr lang="en-US" sz="1100" b="0" i="0" u="none" strike="noStrike" baseline="0" dirty="0" smtClean="0">
                          <a:solidFill>
                            <a:srgbClr val="000000"/>
                          </a:solidFill>
                          <a:effectLst/>
                          <a:latin typeface="Times New Roman" panose="02020603050405020304" pitchFamily="18" charset="0"/>
                        </a:rPr>
                        <a:t> the FWD CARGO DOOR FROM A506 TO INSTALL, EVENT CLOSED</a:t>
                      </a:r>
                      <a:endParaRPr lang="vi-VN"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52-00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Nguyên nhân là do hook cửa bị gãy trụ giữ, bật ra đâm vào làm thủng tấm vách. Hiện tượng này trước đây chưa từng xảy ra, nguyên nhân có thể do vật liệu hoạt động lâu nên bị gãy. AIB cũng không có topic nào liên quan đến hiện tượng này.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702186563"/>
                  </a:ext>
                </a:extLst>
              </a:tr>
              <a:tr h="548354">
                <a:tc>
                  <a:txBody>
                    <a:bodyPr/>
                    <a:lstStyle/>
                    <a:p>
                      <a:pPr algn="l" fontAlgn="ctr">
                        <a:buNone/>
                      </a:pPr>
                      <a:r>
                        <a:rPr lang="vi-VN" sz="1100" b="0" i="0" u="none" strike="noStrike">
                          <a:solidFill>
                            <a:srgbClr val="000000"/>
                          </a:solidFill>
                          <a:effectLst/>
                          <a:latin typeface="Times New Roman" panose="02020603050405020304" pitchFamily="18" charset="0"/>
                        </a:rPr>
                        <a:t>A338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15:40 07/08/2025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05:30 08/08/2025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en-US" sz="1100" b="0" i="0" u="none" strike="noStrike" dirty="0">
                          <a:solidFill>
                            <a:srgbClr val="000000"/>
                          </a:solidFill>
                          <a:effectLst/>
                          <a:latin typeface="Times New Roman" panose="02020603050405020304" pitchFamily="18" charset="0"/>
                        </a:rPr>
                        <a:t>T/X FOUND CAPT’ WINDSHIELD CRACK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en-US" sz="1100" b="0" i="0" u="none" strike="noStrike" dirty="0">
                          <a:solidFill>
                            <a:srgbClr val="000000"/>
                          </a:solidFill>
                          <a:effectLst/>
                          <a:latin typeface="Times New Roman" panose="02020603050405020304" pitchFamily="18" charset="0"/>
                        </a:rPr>
                        <a:t> ACTION: C/O REPLACED L WINDSHIELD -&gt; SATIS. ADD B1605 RAISED FOR L/H WINDSHIELD SEALANT COVERED BY HI-SPEED TAPE DUE TO CURE TIME NOT ENOUGHT DEADLINE 08/08/2025. HI- SPEED TAPE CONDITION CHECK BEFORE EACH FLIGHT.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56-11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dirty="0">
                          <a:solidFill>
                            <a:srgbClr val="000000"/>
                          </a:solidFill>
                          <a:effectLst/>
                          <a:latin typeface="Times New Roman" panose="02020603050405020304" pitchFamily="18" charset="0"/>
                        </a:rPr>
                        <a:t>Theo đánh giá của AIB, một số trường hợp dù không có cảnh báo hoặc không có defer thì kính vẫn có thể tự nứt. Đây là vấn đề liên quan đến ageing và không có biện pháp phòng ngừa. Hiện vẫn đang triển khai kiểm tra và tầm soát các trường hợp kính bị delamination để lên KH tháo sớm trước khi bị nứt kính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93662366"/>
                  </a:ext>
                </a:extLst>
              </a:tr>
            </a:tbl>
          </a:graphicData>
        </a:graphic>
      </p:graphicFrame>
      <p:sp>
        <p:nvSpPr>
          <p:cNvPr id="3" name="TextBox 2">
            <a:extLst>
              <a:ext uri="{FF2B5EF4-FFF2-40B4-BE49-F238E27FC236}">
                <a16:creationId xmlns="" xmlns:a16="http://schemas.microsoft.com/office/drawing/2014/main" id="{3B4E72EB-B3C0-658D-042A-8AD232267C63}"/>
              </a:ext>
            </a:extLst>
          </p:cNvPr>
          <p:cNvSpPr txBox="1"/>
          <p:nvPr/>
        </p:nvSpPr>
        <p:spPr>
          <a:xfrm>
            <a:off x="134288"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GTB</a:t>
            </a:r>
          </a:p>
        </p:txBody>
      </p:sp>
    </p:spTree>
    <p:extLst>
      <p:ext uri="{BB962C8B-B14F-4D97-AF65-F5344CB8AC3E}">
        <p14:creationId xmlns:p14="http://schemas.microsoft.com/office/powerpoint/2010/main" val="2733389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A84CAD81-BF9D-A36F-45A9-ACF8A013EA8C}"/>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B264FAD8-8963-12C9-AA01-976F247BC22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A3AD3DF5-F10E-4F5F-A15E-A7A1D3BE931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 xmlns:a16="http://schemas.microsoft.com/office/drawing/2014/main" id="{B68A3FAC-3F97-9EE5-2D74-C2C7ADD5CA99}"/>
              </a:ext>
            </a:extLst>
          </p:cNvPr>
          <p:cNvGraphicFramePr>
            <a:graphicFrameLocks noGrp="1"/>
          </p:cNvGraphicFramePr>
          <p:nvPr>
            <p:extLst/>
          </p:nvPr>
        </p:nvGraphicFramePr>
        <p:xfrm>
          <a:off x="117664" y="1521021"/>
          <a:ext cx="11723450" cy="4986971"/>
        </p:xfrm>
        <a:graphic>
          <a:graphicData uri="http://schemas.openxmlformats.org/drawingml/2006/table">
            <a:tbl>
              <a:tblPr/>
              <a:tblGrid>
                <a:gridCol w="381073">
                  <a:extLst>
                    <a:ext uri="{9D8B030D-6E8A-4147-A177-3AD203B41FA5}">
                      <a16:colId xmlns="" xmlns:a16="http://schemas.microsoft.com/office/drawing/2014/main" val="2284300101"/>
                    </a:ext>
                  </a:extLst>
                </a:gridCol>
                <a:gridCol w="698464">
                  <a:extLst>
                    <a:ext uri="{9D8B030D-6E8A-4147-A177-3AD203B41FA5}">
                      <a16:colId xmlns="" xmlns:a16="http://schemas.microsoft.com/office/drawing/2014/main" val="3376405456"/>
                    </a:ext>
                  </a:extLst>
                </a:gridCol>
                <a:gridCol w="419078">
                  <a:extLst>
                    <a:ext uri="{9D8B030D-6E8A-4147-A177-3AD203B41FA5}">
                      <a16:colId xmlns="" xmlns:a16="http://schemas.microsoft.com/office/drawing/2014/main" val="2653704242"/>
                    </a:ext>
                  </a:extLst>
                </a:gridCol>
                <a:gridCol w="698464">
                  <a:extLst>
                    <a:ext uri="{9D8B030D-6E8A-4147-A177-3AD203B41FA5}">
                      <a16:colId xmlns="" xmlns:a16="http://schemas.microsoft.com/office/drawing/2014/main" val="3369821226"/>
                    </a:ext>
                  </a:extLst>
                </a:gridCol>
                <a:gridCol w="769327">
                  <a:extLst>
                    <a:ext uri="{9D8B030D-6E8A-4147-A177-3AD203B41FA5}">
                      <a16:colId xmlns="" xmlns:a16="http://schemas.microsoft.com/office/drawing/2014/main" val="775914175"/>
                    </a:ext>
                  </a:extLst>
                </a:gridCol>
                <a:gridCol w="692320">
                  <a:extLst>
                    <a:ext uri="{9D8B030D-6E8A-4147-A177-3AD203B41FA5}">
                      <a16:colId xmlns="" xmlns:a16="http://schemas.microsoft.com/office/drawing/2014/main" val="1357391052"/>
                    </a:ext>
                  </a:extLst>
                </a:gridCol>
                <a:gridCol w="1405210">
                  <a:extLst>
                    <a:ext uri="{9D8B030D-6E8A-4147-A177-3AD203B41FA5}">
                      <a16:colId xmlns="" xmlns:a16="http://schemas.microsoft.com/office/drawing/2014/main" val="1399571794"/>
                    </a:ext>
                  </a:extLst>
                </a:gridCol>
                <a:gridCol w="2774628">
                  <a:extLst>
                    <a:ext uri="{9D8B030D-6E8A-4147-A177-3AD203B41FA5}">
                      <a16:colId xmlns="" xmlns:a16="http://schemas.microsoft.com/office/drawing/2014/main" val="386609919"/>
                    </a:ext>
                  </a:extLst>
                </a:gridCol>
                <a:gridCol w="349572">
                  <a:extLst>
                    <a:ext uri="{9D8B030D-6E8A-4147-A177-3AD203B41FA5}">
                      <a16:colId xmlns="" xmlns:a16="http://schemas.microsoft.com/office/drawing/2014/main" val="1685409337"/>
                    </a:ext>
                  </a:extLst>
                </a:gridCol>
                <a:gridCol w="3535314">
                  <a:extLst>
                    <a:ext uri="{9D8B030D-6E8A-4147-A177-3AD203B41FA5}">
                      <a16:colId xmlns="" xmlns:a16="http://schemas.microsoft.com/office/drawing/2014/main" val="2020567769"/>
                    </a:ext>
                  </a:extLst>
                </a:gridCol>
              </a:tblGrid>
              <a:tr h="593160">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806886802"/>
                  </a:ext>
                </a:extLst>
              </a:tr>
              <a:tr h="1654932">
                <a:tc>
                  <a:txBody>
                    <a:bodyPr/>
                    <a:lstStyle/>
                    <a:p>
                      <a:pPr algn="l" fontAlgn="ctr">
                        <a:buNone/>
                      </a:pPr>
                      <a:r>
                        <a:rPr lang="vi-VN" sz="1000" b="0" i="0" u="none" strike="noStrike" dirty="0">
                          <a:solidFill>
                            <a:srgbClr val="000000"/>
                          </a:solidFill>
                          <a:effectLst/>
                          <a:latin typeface="Times New Roman" panose="02020603050405020304" pitchFamily="18" charset="0"/>
                        </a:rPr>
                        <a:t>A334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10:00 10/08/2025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VN113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DAD-SGN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dirty="0">
                          <a:solidFill>
                            <a:srgbClr val="000000"/>
                          </a:solidFill>
                          <a:effectLst/>
                          <a:latin typeface="Times New Roman" panose="02020603050405020304" pitchFamily="18" charset="0"/>
                        </a:rPr>
                        <a:t>F/CTL : FLAP/SLAT SYS #1 FAULT, C/O RESET BUT NIL HELP , A/C GROUND TURN BACK.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REF TSM 27-51-00-810-805A (REV825) PERFORMED SWAP SFCC #1 AND SFCC #2 THEN TEST SLAT FLAP SYS I.A.W AMM 27-51-34-000/400-001 AND AMM 27-54-00-710-002 FOUND NML .</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 ADD B2604 IS RAISED SFCC #2 SLAT CHANNEL INOP I.A.W MEL 27-81-01A (REV JUN/25) AND C/O MAINT FOUND SATIS</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SWAP SFCC #1 AND SFCC #2 AND ADD B2604 IS RAISED EVENT CLOSED</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TD : 91 MINS, ATC: 04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27-50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Lịch sử tàu A334 ngày 9/8 đã có cảnh báo tương tự nên Vaeco đã thay khối SFCC trong kho lên để clear msg. Đến sáng 10/8, tiếp tục xuất hiện cảnh báo trở lại. Khối SFCC 1 lắp trên A334 ngày 09/08 có TSN hơn 24k FH, trước đó đã gửi đi shop sửa chữa vào T9/2024 với cùng cảnh báo tương tự như lần này. Tại shop chỉ thực hiện thực hiện test NFF, khối được release theo dạng tested. Do đó có thể đánh giá khối này bị hỏng hóc lặp lại sau khi đi shop về. Ngoài ra khối SFCC 2 swap sang vị trí 1 trong ngày 10/8 cũng là khối đi shop về test NFF với cùng cảnh báo tương tự và đã lắp trên A334 từ tháng 03/2025 nên có khả năng cũng sẽ gây hỏng hóc lặp lại. Ban KT sẽ làm việc thêm với Ban QLVT về trường hợp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27358119"/>
                  </a:ext>
                </a:extLst>
              </a:tr>
              <a:tr h="1272708">
                <a:tc>
                  <a:txBody>
                    <a:bodyPr/>
                    <a:lstStyle/>
                    <a:p>
                      <a:pPr algn="l" fontAlgn="ctr">
                        <a:buNone/>
                      </a:pPr>
                      <a:r>
                        <a:rPr lang="vi-VN" sz="1000" b="0" i="0" u="none" strike="noStrike">
                          <a:solidFill>
                            <a:srgbClr val="000000"/>
                          </a:solidFill>
                          <a:effectLst/>
                          <a:latin typeface="Times New Roman" panose="02020603050405020304" pitchFamily="18" charset="0"/>
                        </a:rPr>
                        <a:t>A338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15:40 07/08/2025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VN1552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HAN-SAI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T/X FOUND CAPT’ WINDSHIELD CRACK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dirty="0">
                          <a:solidFill>
                            <a:srgbClr val="000000"/>
                          </a:solidFill>
                          <a:effectLst/>
                          <a:latin typeface="Times New Roman" panose="02020603050405020304" pitchFamily="18" charset="0"/>
                        </a:rPr>
                        <a:t> ACTION: C/O REPLACED L WINDSHIELD -&gt; SATIS. ADD B1605 RAISED FOR L/H WINDSHIELD SEALANT COVERED BY HI-SPEED TAPE DUE TO CURE TIME NOT ENOUGHT DEADLINE 08/08/2025. HI- SPEED TAPE CONDITION CHECK BEFORE EACH FLIGHT.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56-11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Theo đánh giá của AIB, một số trường hợp dù không có cảnh báo hoặc không có defer thì kính vẫn có thể tự nứt. Đây là vấn đề liên quan đến ageing và không có biện pháp phòng ngừa. Hiện vẫn đang triển khai kiểm tra và tầm soát các trường hợp kính bị delamination để lên KH tháo sớm trước khi bị nứt kính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78289606"/>
                  </a:ext>
                </a:extLst>
              </a:tr>
              <a:tr h="1282778">
                <a:tc>
                  <a:txBody>
                    <a:bodyPr/>
                    <a:lstStyle/>
                    <a:p>
                      <a:pPr algn="l" fontAlgn="ctr">
                        <a:buNone/>
                      </a:pPr>
                      <a:r>
                        <a:rPr lang="vi-VN" sz="1000" b="0" i="0" u="none" strike="noStrike">
                          <a:solidFill>
                            <a:srgbClr val="000000"/>
                          </a:solidFill>
                          <a:effectLst/>
                          <a:latin typeface="Times New Roman" panose="02020603050405020304" pitchFamily="18" charset="0"/>
                        </a:rPr>
                        <a:t>A397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08:40 04/08/2025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FUK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VN357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FUK-HAN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DURING PUSH BACK CAPT REPORT AUTO THRUST FAULT, CAPT DECIDE RETURN TO GATE FOR 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DURING TURN BACK, MESG DISAPPEAR, CHECK ALL NORMAL. A/C CONTINUE TO FLIGHT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 </a:t>
                      </a:r>
                      <a:r>
                        <a:rPr lang="vi-VN" sz="1000" b="0" i="0" u="none" strike="noStrike" dirty="0">
                          <a:solidFill>
                            <a:srgbClr val="000000"/>
                          </a:solidFill>
                          <a:effectLst/>
                          <a:latin typeface="+mn-lt"/>
                        </a:rPr>
                        <a:t>Lỗi có thể do yếu tố con người. Capt phối hợp thợ máy reset thành công (không mở cửa tàu bay), tàu tiếp tục khai thác.</a:t>
                      </a:r>
                    </a:p>
                    <a:p>
                      <a:pPr algn="l" fontAlgn="ctr">
                        <a:buNone/>
                      </a:pPr>
                      <a:r>
                        <a:rPr lang="vi-VN" sz="1000" b="0" i="0" u="none" strike="noStrike" dirty="0">
                          <a:solidFill>
                            <a:srgbClr val="000000"/>
                          </a:solidFill>
                          <a:effectLst/>
                          <a:latin typeface="+mn-lt"/>
                        </a:rPr>
                        <a:t>Theo ISI 22.30.00005, msg Auto Thrust xuất hiện ở phase 2 có thể A/THR đã được cài trc khi nổ máy động cơ (có thể thợ máy hoặc phi công cài) nên sau khi nổ máy hệ thống sẽ tự động disengage A/THR theo cơ chế bảo vệ.</a:t>
                      </a:r>
                    </a:p>
                    <a:p>
                      <a:pPr algn="l" fontAlgn="ctr">
                        <a:buNone/>
                      </a:pPr>
                      <a:r>
                        <a:rPr lang="vi-VN" sz="1000" b="0" i="0" u="none" strike="noStrike" dirty="0">
                          <a:solidFill>
                            <a:srgbClr val="000000"/>
                          </a:solidFill>
                          <a:effectLst/>
                          <a:latin typeface="+mn-lt"/>
                        </a:rPr>
                        <a:t>Trường hợp tương tự gần nhất là vào t8/2024 gây GTB (Airbus kết luận A/THR đã được cài trc khi nổ máy theo dữ liệu QAR).</a:t>
                      </a:r>
                      <a:endParaRPr lang="vi-VN" sz="10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294908810"/>
                  </a:ext>
                </a:extLst>
              </a:tr>
            </a:tbl>
          </a:graphicData>
        </a:graphic>
      </p:graphicFrame>
      <p:sp>
        <p:nvSpPr>
          <p:cNvPr id="11" name="TextBox 10">
            <a:extLst>
              <a:ext uri="{FF2B5EF4-FFF2-40B4-BE49-F238E27FC236}">
                <a16:creationId xmlns="" xmlns:a16="http://schemas.microsoft.com/office/drawing/2014/main" id="{5D6258D0-C5CD-40D6-AF63-5EB8B52BE0CE}"/>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06</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 xmlns:a16="http://schemas.microsoft.com/office/drawing/2014/main" id="{3B6E6394-2AC4-AE5A-CA91-C2F9D7CE025B}"/>
              </a:ext>
            </a:extLst>
          </p:cNvPr>
          <p:cNvSpPr txBox="1"/>
          <p:nvPr/>
        </p:nvSpPr>
        <p:spPr>
          <a:xfrm>
            <a:off x="127939" y="730561"/>
            <a:ext cx="1169506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GTB</a:t>
            </a:r>
          </a:p>
        </p:txBody>
      </p:sp>
    </p:spTree>
    <p:extLst>
      <p:ext uri="{BB962C8B-B14F-4D97-AF65-F5344CB8AC3E}">
        <p14:creationId xmlns:p14="http://schemas.microsoft.com/office/powerpoint/2010/main" val="1878644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FA4FD2B6-6E6F-33A1-D7EF-A4F09E6E1994}"/>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53FFCF01-6346-2E57-3C76-C188363B0A5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CD610D76-6192-1767-9B23-7D40F10D4E25}"/>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 xmlns:a16="http://schemas.microsoft.com/office/drawing/2014/main" id="{F4C5AD21-3D7A-FF77-47F7-D33DF1EFA991}"/>
              </a:ext>
            </a:extLst>
          </p:cNvPr>
          <p:cNvGraphicFramePr>
            <a:graphicFrameLocks noGrp="1"/>
          </p:cNvGraphicFramePr>
          <p:nvPr>
            <p:extLst/>
          </p:nvPr>
        </p:nvGraphicFramePr>
        <p:xfrm>
          <a:off x="117664" y="1521021"/>
          <a:ext cx="11723450" cy="4803578"/>
        </p:xfrm>
        <a:graphic>
          <a:graphicData uri="http://schemas.openxmlformats.org/drawingml/2006/table">
            <a:tbl>
              <a:tblPr/>
              <a:tblGrid>
                <a:gridCol w="381073">
                  <a:extLst>
                    <a:ext uri="{9D8B030D-6E8A-4147-A177-3AD203B41FA5}">
                      <a16:colId xmlns="" xmlns:a16="http://schemas.microsoft.com/office/drawing/2014/main" val="2284300101"/>
                    </a:ext>
                  </a:extLst>
                </a:gridCol>
                <a:gridCol w="698464">
                  <a:extLst>
                    <a:ext uri="{9D8B030D-6E8A-4147-A177-3AD203B41FA5}">
                      <a16:colId xmlns="" xmlns:a16="http://schemas.microsoft.com/office/drawing/2014/main" val="3376405456"/>
                    </a:ext>
                  </a:extLst>
                </a:gridCol>
                <a:gridCol w="419078">
                  <a:extLst>
                    <a:ext uri="{9D8B030D-6E8A-4147-A177-3AD203B41FA5}">
                      <a16:colId xmlns="" xmlns:a16="http://schemas.microsoft.com/office/drawing/2014/main" val="2653704242"/>
                    </a:ext>
                  </a:extLst>
                </a:gridCol>
                <a:gridCol w="698464">
                  <a:extLst>
                    <a:ext uri="{9D8B030D-6E8A-4147-A177-3AD203B41FA5}">
                      <a16:colId xmlns="" xmlns:a16="http://schemas.microsoft.com/office/drawing/2014/main" val="3369821226"/>
                    </a:ext>
                  </a:extLst>
                </a:gridCol>
                <a:gridCol w="769327">
                  <a:extLst>
                    <a:ext uri="{9D8B030D-6E8A-4147-A177-3AD203B41FA5}">
                      <a16:colId xmlns="" xmlns:a16="http://schemas.microsoft.com/office/drawing/2014/main" val="775914175"/>
                    </a:ext>
                  </a:extLst>
                </a:gridCol>
                <a:gridCol w="692320">
                  <a:extLst>
                    <a:ext uri="{9D8B030D-6E8A-4147-A177-3AD203B41FA5}">
                      <a16:colId xmlns="" xmlns:a16="http://schemas.microsoft.com/office/drawing/2014/main" val="1357391052"/>
                    </a:ext>
                  </a:extLst>
                </a:gridCol>
                <a:gridCol w="1405210">
                  <a:extLst>
                    <a:ext uri="{9D8B030D-6E8A-4147-A177-3AD203B41FA5}">
                      <a16:colId xmlns="" xmlns:a16="http://schemas.microsoft.com/office/drawing/2014/main" val="1399571794"/>
                    </a:ext>
                  </a:extLst>
                </a:gridCol>
                <a:gridCol w="2774628">
                  <a:extLst>
                    <a:ext uri="{9D8B030D-6E8A-4147-A177-3AD203B41FA5}">
                      <a16:colId xmlns="" xmlns:a16="http://schemas.microsoft.com/office/drawing/2014/main" val="386609919"/>
                    </a:ext>
                  </a:extLst>
                </a:gridCol>
                <a:gridCol w="349572">
                  <a:extLst>
                    <a:ext uri="{9D8B030D-6E8A-4147-A177-3AD203B41FA5}">
                      <a16:colId xmlns="" xmlns:a16="http://schemas.microsoft.com/office/drawing/2014/main" val="1685409337"/>
                    </a:ext>
                  </a:extLst>
                </a:gridCol>
                <a:gridCol w="3535314">
                  <a:extLst>
                    <a:ext uri="{9D8B030D-6E8A-4147-A177-3AD203B41FA5}">
                      <a16:colId xmlns="" xmlns:a16="http://schemas.microsoft.com/office/drawing/2014/main" val="2020567769"/>
                    </a:ext>
                  </a:extLst>
                </a:gridCol>
              </a:tblGrid>
              <a:tr h="593160">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806886802"/>
                  </a:ext>
                </a:extLst>
              </a:tr>
              <a:tr h="1654932">
                <a:tc>
                  <a:txBody>
                    <a:bodyPr/>
                    <a:lstStyle/>
                    <a:p>
                      <a:pPr algn="l" fontAlgn="ctr">
                        <a:buNone/>
                      </a:pPr>
                      <a:r>
                        <a:rPr lang="vi-VN" sz="1000" b="0" i="0" u="none" strike="noStrike" dirty="0">
                          <a:solidFill>
                            <a:srgbClr val="000000"/>
                          </a:solidFill>
                          <a:effectLst/>
                          <a:latin typeface="Times New Roman" panose="02020603050405020304" pitchFamily="18" charset="0"/>
                        </a:rPr>
                        <a:t>A395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14:30 05/08/2025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PEK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VN513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PEK-HAN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FR" sz="1000" b="0" i="0" u="none" strike="noStrike">
                          <a:solidFill>
                            <a:srgbClr val="000000"/>
                          </a:solidFill>
                          <a:effectLst/>
                          <a:latin typeface="Times New Roman" panose="02020603050405020304" pitchFamily="18" charset="0"/>
                        </a:rPr>
                        <a:t>VENT EXTRACT FAULT, VENT AVNCS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EVENT CLOSED</a:t>
                      </a:r>
                      <a:br>
                        <a:rPr lang="en-US" sz="1000" b="0" i="0" u="none" strike="noStrike">
                          <a:solidFill>
                            <a:srgbClr val="000000"/>
                          </a:solidFill>
                          <a:effectLst/>
                          <a:latin typeface="Times New Roman" panose="02020603050405020304" pitchFamily="18" charset="0"/>
                        </a:rPr>
                      </a:br>
                      <a:r>
                        <a:rPr lang="en-US" sz="1000" b="0" i="0" u="none" strike="noStrike">
                          <a:solidFill>
                            <a:srgbClr val="000000"/>
                          </a:solidFill>
                          <a:effectLst/>
                          <a:latin typeface="Times New Roman" panose="02020603050405020304" pitchFamily="18" charset="0"/>
                        </a:rPr>
                        <a:t>C/O GND PERFORMED OPERATIONAL CHECK OF AEVC SYSTEM VIA MCDU CHECK TEST OK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Sau khi kiểm tra thì không phát hiện bất thường, tuy nhiên Vaeco đang đặt hàng khối SAOV để thay thế tránh hỏng hóc lặp lại. Khối này là pool mới được sửa từ 2023 và khai thác được hơn 4k FH.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27358119"/>
                  </a:ext>
                </a:extLst>
              </a:tr>
              <a:tr h="1272708">
                <a:tc>
                  <a:txBody>
                    <a:bodyPr/>
                    <a:lstStyle/>
                    <a:p>
                      <a:pPr algn="l" fontAlgn="ctr">
                        <a:buNone/>
                      </a:pPr>
                      <a:r>
                        <a:rPr lang="vi-VN" sz="1000" b="0" i="0" u="none" strike="noStrike">
                          <a:solidFill>
                            <a:srgbClr val="000000"/>
                          </a:solidFill>
                          <a:effectLst/>
                          <a:latin typeface="Times New Roman" panose="02020603050405020304" pitchFamily="18" charset="0"/>
                        </a:rPr>
                        <a:t>A357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06:30 04/08/2025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TPE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VN579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TPE-HAN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A357 RTG DUE TO CAPT REPORT RH WING TANK OVER FLOW DURING TAXI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REF TSM CI C/O</a:t>
                      </a:r>
                      <a:br>
                        <a:rPr lang="en-US" sz="1000" b="0" i="0" u="none" strike="noStrike">
                          <a:solidFill>
                            <a:srgbClr val="000000"/>
                          </a:solidFill>
                          <a:effectLst/>
                          <a:latin typeface="Times New Roman" panose="02020603050405020304" pitchFamily="18" charset="0"/>
                        </a:rPr>
                      </a:br>
                      <a:r>
                        <a:rPr lang="en-US" sz="1000" b="0" i="0" u="none" strike="noStrike">
                          <a:solidFill>
                            <a:srgbClr val="000000"/>
                          </a:solidFill>
                          <a:effectLst/>
                          <a:latin typeface="Times New Roman" panose="02020603050405020304" pitchFamily="18" charset="0"/>
                        </a:rPr>
                        <a:t/>
                      </a:r>
                      <a:br>
                        <a:rPr lang="en-US" sz="1000" b="0" i="0" u="none" strike="noStrike">
                          <a:solidFill>
                            <a:srgbClr val="000000"/>
                          </a:solidFill>
                          <a:effectLst/>
                          <a:latin typeface="Times New Roman" panose="02020603050405020304" pitchFamily="18" charset="0"/>
                        </a:rPr>
                      </a:br>
                      <a:r>
                        <a:rPr lang="en-US" sz="1000" b="0" i="0" u="none" strike="noStrike">
                          <a:solidFill>
                            <a:srgbClr val="000000"/>
                          </a:solidFill>
                          <a:effectLst/>
                          <a:latin typeface="Times New Roman" panose="02020603050405020304" pitchFamily="18" charset="0"/>
                        </a:rPr>
                        <a:t>-DO OPERATIONAL TEST OF THE MAIN TRANSFER SYSTEM</a:t>
                      </a:r>
                      <a:br>
                        <a:rPr lang="en-US" sz="1000" b="0" i="0" u="none" strike="noStrike">
                          <a:solidFill>
                            <a:srgbClr val="000000"/>
                          </a:solidFill>
                          <a:effectLst/>
                          <a:latin typeface="Times New Roman" panose="02020603050405020304" pitchFamily="18" charset="0"/>
                        </a:rPr>
                      </a:br>
                      <a:r>
                        <a:rPr lang="en-US" sz="1000" b="0" i="0" u="none" strike="noStrike">
                          <a:solidFill>
                            <a:srgbClr val="000000"/>
                          </a:solidFill>
                          <a:effectLst/>
                          <a:latin typeface="Times New Roman" panose="02020603050405020304" pitchFamily="18" charset="0"/>
                        </a:rPr>
                        <a:t>-DO FUNCTIONAL (BITE) TEST OF THE FUEL LEVEL SENSING SYSTEM (FLSS) RESET TEST SATIS EVENT CLOSED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28-26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Hiện đang yêu cầu AIB phân tích dữ liệu DFDR để xác định có sự nhầm lẫn do chuyển chế độ nạp dầu từ AUTO sang MAN hay không do tàu về đã thực hiện test và không phát hiện bất thường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78289606"/>
                  </a:ext>
                </a:extLst>
              </a:tr>
              <a:tr h="1282778">
                <a:tc>
                  <a:txBody>
                    <a:bodyPr/>
                    <a:lstStyle/>
                    <a:p>
                      <a:pPr algn="l" fontAlgn="ctr">
                        <a:buNone/>
                      </a:pPr>
                      <a:r>
                        <a:rPr lang="vi-VN" sz="1000" b="0" i="0" u="none" strike="noStrike">
                          <a:solidFill>
                            <a:srgbClr val="000000"/>
                          </a:solidFill>
                          <a:effectLst/>
                          <a:latin typeface="Times New Roman" panose="02020603050405020304" pitchFamily="18" charset="0"/>
                        </a:rPr>
                        <a:t>A605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07:57 04/08/2025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VN163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HAN-DAD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HYD overhead panel have FAULT light at BLUE ELEC PUMP P/B and ENG#2 EDP PUMP P/B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REPLACED Eng#2 oil low press sw, test satis.</a:t>
                      </a:r>
                      <a:br>
                        <a:rPr lang="en-US" sz="1000" b="0" i="0" u="none" strike="noStrike">
                          <a:solidFill>
                            <a:srgbClr val="000000"/>
                          </a:solidFill>
                          <a:effectLst/>
                          <a:latin typeface="Times New Roman" panose="02020603050405020304" pitchFamily="18" charset="0"/>
                        </a:rPr>
                      </a:br>
                      <a:r>
                        <a:rPr lang="en-US" sz="1000" b="0" i="0" u="none" strike="noStrike">
                          <a:solidFill>
                            <a:srgbClr val="000000"/>
                          </a:solidFill>
                          <a:effectLst/>
                          <a:latin typeface="Times New Roman" panose="02020603050405020304" pitchFamily="18" charset="0"/>
                        </a:rPr>
                        <a:t>RPLD OIL LOW PRESS SW EVENT CLOSED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Động cơ V16336 có TSN/CSN = 32950/16715; TSO/CSO = 9067/6378. Các thông số động cơ trên ADEM không có gì bất thường. Khối Low Oil Pressure Switch thuộc pool. Hiện không có technical topic đối với thiết bị này.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294908810"/>
                  </a:ext>
                </a:extLst>
              </a:tr>
            </a:tbl>
          </a:graphicData>
        </a:graphic>
      </p:graphicFrame>
      <p:sp>
        <p:nvSpPr>
          <p:cNvPr id="11" name="TextBox 10">
            <a:extLst>
              <a:ext uri="{FF2B5EF4-FFF2-40B4-BE49-F238E27FC236}">
                <a16:creationId xmlns="" xmlns:a16="http://schemas.microsoft.com/office/drawing/2014/main" id="{76B25B3E-FDBC-739C-7F15-12B9FE9EBAE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06</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 xmlns:a16="http://schemas.microsoft.com/office/drawing/2014/main" id="{BCBBCE17-A6AD-9988-8F37-F3E3FFD58BB6}"/>
              </a:ext>
            </a:extLst>
          </p:cNvPr>
          <p:cNvSpPr txBox="1"/>
          <p:nvPr/>
        </p:nvSpPr>
        <p:spPr>
          <a:xfrm>
            <a:off x="127939" y="730561"/>
            <a:ext cx="1169506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GTB</a:t>
            </a:r>
          </a:p>
        </p:txBody>
      </p:sp>
    </p:spTree>
    <p:extLst>
      <p:ext uri="{BB962C8B-B14F-4D97-AF65-F5344CB8AC3E}">
        <p14:creationId xmlns:p14="http://schemas.microsoft.com/office/powerpoint/2010/main" val="2090625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26954780-B04A-D569-A447-89E2973EC6D3}"/>
              </a:ext>
            </a:extLst>
          </p:cNvPr>
          <p:cNvSpPr>
            <a:spLocks noGrp="1"/>
          </p:cNvSpPr>
          <p:nvPr>
            <p:ph type="title"/>
          </p:nvPr>
        </p:nvSpPr>
        <p:spPr>
          <a:xfrm>
            <a:off x="990600" y="152400"/>
            <a:ext cx="10481849"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pic>
        <p:nvPicPr>
          <p:cNvPr id="6" name="Picture 5">
            <a:extLst>
              <a:ext uri="{FF2B5EF4-FFF2-40B4-BE49-F238E27FC236}">
                <a16:creationId xmlns="" xmlns:a16="http://schemas.microsoft.com/office/drawing/2014/main" id="{080C0838-9051-64A0-0A76-F05871117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3561" y="1066800"/>
            <a:ext cx="4627692" cy="2971800"/>
          </a:xfrm>
          <a:prstGeom prst="rect">
            <a:avLst/>
          </a:prstGeom>
        </p:spPr>
      </p:pic>
      <p:sp>
        <p:nvSpPr>
          <p:cNvPr id="4" name="Rectangle 3">
            <a:extLst>
              <a:ext uri="{FF2B5EF4-FFF2-40B4-BE49-F238E27FC236}">
                <a16:creationId xmlns="" xmlns:a16="http://schemas.microsoft.com/office/drawing/2014/main" id="{F9BC0898-399F-EB51-D932-4907C5E9DAD2}"/>
              </a:ext>
            </a:extLst>
          </p:cNvPr>
          <p:cNvSpPr/>
          <p:nvPr/>
        </p:nvSpPr>
        <p:spPr>
          <a:xfrm>
            <a:off x="609600" y="984542"/>
            <a:ext cx="5867400" cy="1846659"/>
          </a:xfrm>
          <a:prstGeom prst="rect">
            <a:avLst/>
          </a:prstGeom>
        </p:spPr>
        <p:txBody>
          <a:bodyPr wrap="square">
            <a:spAutoFit/>
          </a:bodyPr>
          <a:lstStyle/>
          <a:p>
            <a:pPr algn="just">
              <a:buClrTx/>
              <a:buFontTx/>
              <a:buNone/>
            </a:pPr>
            <a:r>
              <a:rPr lang="en-US" sz="1600" b="1" dirty="0">
                <a:solidFill>
                  <a:prstClr val="black"/>
                </a:solidFill>
                <a:latin typeface="Times New Roman" panose="02020603050405020304" pitchFamily="18" charset="0"/>
                <a:cs typeface="Times New Roman" panose="02020603050405020304" pitchFamily="18" charset="0"/>
              </a:rPr>
              <a:t>A321: </a:t>
            </a:r>
          </a:p>
          <a:p>
            <a:pPr algn="just"/>
            <a:r>
              <a:rPr lang="en-US" sz="1400" dirty="0" err="1" smtClean="0">
                <a:latin typeface="Times New Roman" panose="02020603050405020304" pitchFamily="18" charset="0"/>
                <a:cs typeface="Times New Roman" panose="02020603050405020304" pitchFamily="18" charset="0"/>
              </a:rPr>
              <a:t>trong</a:t>
            </a:r>
            <a:r>
              <a:rPr lang="en-US" sz="1400" dirty="0" smtClean="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a:t>
            </a:r>
            <a:r>
              <a:rPr lang="vi-VN" sz="1400" dirty="0" smtClean="0">
                <a:latin typeface="Times New Roman" panose="02020603050405020304" pitchFamily="18" charset="0"/>
                <a:cs typeface="Times New Roman" panose="02020603050405020304" pitchFamily="18" charset="0"/>
              </a:rPr>
              <a:t>phát </a:t>
            </a:r>
            <a:r>
              <a:rPr lang="vi-VN" sz="1400" dirty="0">
                <a:latin typeface="Times New Roman" panose="02020603050405020304" pitchFamily="18" charset="0"/>
                <a:cs typeface="Times New Roman" panose="02020603050405020304" pitchFamily="18" charset="0"/>
              </a:rPr>
              <a:t>sinh một số hỏng </a:t>
            </a:r>
            <a:r>
              <a:rPr lang="vi-VN" sz="1400" dirty="0" smtClean="0">
                <a:latin typeface="Times New Roman" panose="02020603050405020304" pitchFamily="18" charset="0"/>
                <a:cs typeface="Times New Roman" panose="02020603050405020304" pitchFamily="18" charset="0"/>
              </a:rPr>
              <a:t>hóc</a:t>
            </a:r>
            <a:r>
              <a:rPr lang="en-US" sz="1400" dirty="0" smtClean="0">
                <a:latin typeface="Times New Roman" panose="02020603050405020304" pitchFamily="18" charset="0"/>
                <a:cs typeface="Times New Roman" panose="02020603050405020304" pitchFamily="18" charset="0"/>
              </a:rPr>
              <a:t> GTB ở </a:t>
            </a:r>
            <a:r>
              <a:rPr lang="en-US" sz="1400" dirty="0" err="1" smtClean="0">
                <a:latin typeface="Times New Roman" panose="02020603050405020304" pitchFamily="18" charset="0"/>
                <a:cs typeface="Times New Roman" panose="02020603050405020304" pitchFamily="18" charset="0"/>
              </a:rPr>
              <a:t>trong</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nước</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và</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nước</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ngoài</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nhưng</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đã</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khắc</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phục</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xong</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không</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ảnh</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hưởng</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nhiều</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đến</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khai</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thác</a:t>
            </a:r>
            <a:r>
              <a:rPr lang="vi-VN" sz="1400" dirty="0" smtClean="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cụ thể</a:t>
            </a:r>
            <a:r>
              <a:rPr lang="vi-VN" sz="1400" dirty="0" smtClean="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400" dirty="0">
                <a:latin typeface="Times New Roman" panose="02020603050405020304" pitchFamily="18" charset="0"/>
                <a:cs typeface="Times New Roman" panose="02020603050405020304" pitchFamily="18" charset="0"/>
              </a:rPr>
              <a:t>A357 (GBT ở TPE) do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chảy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dầu</a:t>
            </a:r>
            <a:r>
              <a:rPr lang="en-US" sz="1400" dirty="0">
                <a:latin typeface="Times New Roman" panose="02020603050405020304" pitchFamily="18" charset="0"/>
                <a:cs typeface="Times New Roman" panose="02020603050405020304" pitchFamily="18" charset="0"/>
              </a:rPr>
              <a:t>, A397 (GTB ở FUK) do mess Auto Thrust, A334 (GTB ở DAD) do mess SFCC #1. </a:t>
            </a:r>
            <a:r>
              <a:rPr lang="en-US" sz="1400" dirty="0" err="1">
                <a:latin typeface="Times New Roman" panose="02020603050405020304" pitchFamily="18" charset="0"/>
                <a:cs typeface="Times New Roman" panose="02020603050405020304" pitchFamily="18" charset="0"/>
              </a:rPr>
              <a:t>Các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hóc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đều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được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nhanh</a:t>
            </a:r>
            <a:r>
              <a:rPr lang="en-US" sz="1400" dirty="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chóng</a:t>
            </a:r>
            <a:r>
              <a:rPr lang="en-US" sz="14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sz="1400" dirty="0" err="1" smtClean="0">
                <a:latin typeface="Times New Roman" panose="02020603050405020304" pitchFamily="18" charset="0"/>
                <a:cs typeface="Times New Roman" panose="02020603050405020304" pitchFamily="18" charset="0"/>
              </a:rPr>
              <a:t>Ngoài</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ra</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tàu</a:t>
            </a:r>
            <a:r>
              <a:rPr lang="en-US" sz="1400" dirty="0" smtClean="0">
                <a:latin typeface="Times New Roman" panose="02020603050405020304" pitchFamily="18" charset="0"/>
                <a:cs typeface="Times New Roman" panose="02020603050405020304" pitchFamily="18" charset="0"/>
              </a:rPr>
              <a:t> A332 </a:t>
            </a:r>
            <a:r>
              <a:rPr lang="en-US" sz="1400" dirty="0" err="1" smtClean="0">
                <a:latin typeface="Times New Roman" panose="02020603050405020304" pitchFamily="18" charset="0"/>
                <a:cs typeface="Times New Roman" panose="02020603050405020304" pitchFamily="18" charset="0"/>
              </a:rPr>
              <a:t>trong</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khi</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làm</a:t>
            </a:r>
            <a:r>
              <a:rPr lang="en-US" sz="1400" dirty="0" smtClean="0">
                <a:latin typeface="Times New Roman" panose="02020603050405020304" pitchFamily="18" charset="0"/>
                <a:cs typeface="Times New Roman" panose="02020603050405020304" pitchFamily="18" charset="0"/>
              </a:rPr>
              <a:t> EA check </a:t>
            </a:r>
            <a:r>
              <a:rPr lang="en-US" sz="1400" dirty="0" err="1" smtClean="0">
                <a:latin typeface="Times New Roman" panose="02020603050405020304" pitchFamily="18" charset="0"/>
                <a:cs typeface="Times New Roman" panose="02020603050405020304" pitchFamily="18" charset="0"/>
              </a:rPr>
              <a:t>phát</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hiện</a:t>
            </a:r>
            <a:r>
              <a:rPr lang="en-US" sz="1400" dirty="0" smtClean="0">
                <a:latin typeface="Times New Roman" panose="02020603050405020304" pitchFamily="18" charset="0"/>
                <a:cs typeface="Times New Roman" panose="02020603050405020304" pitchFamily="18" charset="0"/>
              </a:rPr>
              <a:t> 2 </a:t>
            </a:r>
            <a:r>
              <a:rPr lang="en-US" sz="1400" dirty="0" err="1" smtClean="0">
                <a:latin typeface="Times New Roman" panose="02020603050405020304" pitchFamily="18" charset="0"/>
                <a:cs typeface="Times New Roman" panose="02020603050405020304" pitchFamily="18" charset="0"/>
              </a:rPr>
              <a:t>lỗ</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thủng</a:t>
            </a:r>
            <a:r>
              <a:rPr lang="en-US" sz="1400" dirty="0" smtClean="0">
                <a:latin typeface="Times New Roman" panose="02020603050405020304" pitchFamily="18" charset="0"/>
                <a:cs typeface="Times New Roman" panose="02020603050405020304" pitchFamily="18" charset="0"/>
              </a:rPr>
              <a:t> ở </a:t>
            </a:r>
            <a:r>
              <a:rPr lang="en-US" sz="1400" dirty="0" err="1" smtClean="0">
                <a:latin typeface="Times New Roman" panose="02020603050405020304" pitchFamily="18" charset="0"/>
                <a:cs typeface="Times New Roman" panose="02020603050405020304" pitchFamily="18" charset="0"/>
              </a:rPr>
              <a:t>cửa</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buồng</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hàng</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trước</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và</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phải</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thay</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cửa</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để</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khắc</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phục</a:t>
            </a:r>
            <a:endParaRPr lang="vi-V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15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A06042C6-BD5F-6C17-1E76-136CB5F77990}"/>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24F8E14B-01A3-0142-3074-A9FE43062A66}"/>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EA44B621-8143-41B2-A565-5CDAA858C6B7}"/>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 xmlns:a16="http://schemas.microsoft.com/office/drawing/2014/main" id="{29766CE9-5B42-375E-C15A-9E43B7FE3434}"/>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01 (non tech) </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B70CA00E-38CB-9960-71C5-715D89FE16A7}"/>
              </a:ext>
            </a:extLst>
          </p:cNvPr>
          <p:cNvGraphicFramePr>
            <a:graphicFrameLocks noGrp="1"/>
          </p:cNvGraphicFramePr>
          <p:nvPr>
            <p:extLst>
              <p:ext uri="{D42A27DB-BD31-4B8C-83A1-F6EECF244321}">
                <p14:modId xmlns:p14="http://schemas.microsoft.com/office/powerpoint/2010/main" val="1800847909"/>
              </p:ext>
            </p:extLst>
          </p:nvPr>
        </p:nvGraphicFramePr>
        <p:xfrm>
          <a:off x="134289" y="1521021"/>
          <a:ext cx="11688715" cy="2278295"/>
        </p:xfrm>
        <a:graphic>
          <a:graphicData uri="http://schemas.openxmlformats.org/drawingml/2006/table">
            <a:tbl>
              <a:tblPr/>
              <a:tblGrid>
                <a:gridCol w="376465">
                  <a:extLst>
                    <a:ext uri="{9D8B030D-6E8A-4147-A177-3AD203B41FA5}">
                      <a16:colId xmlns="" xmlns:a16="http://schemas.microsoft.com/office/drawing/2014/main" val="439829933"/>
                    </a:ext>
                  </a:extLst>
                </a:gridCol>
                <a:gridCol w="632246">
                  <a:extLst>
                    <a:ext uri="{9D8B030D-6E8A-4147-A177-3AD203B41FA5}">
                      <a16:colId xmlns="" xmlns:a16="http://schemas.microsoft.com/office/drawing/2014/main" val="1704083537"/>
                    </a:ext>
                  </a:extLst>
                </a:gridCol>
                <a:gridCol w="685800">
                  <a:extLst>
                    <a:ext uri="{9D8B030D-6E8A-4147-A177-3AD203B41FA5}">
                      <a16:colId xmlns="" xmlns:a16="http://schemas.microsoft.com/office/drawing/2014/main" val="3278067950"/>
                    </a:ext>
                  </a:extLst>
                </a:gridCol>
                <a:gridCol w="381000">
                  <a:extLst>
                    <a:ext uri="{9D8B030D-6E8A-4147-A177-3AD203B41FA5}">
                      <a16:colId xmlns="" xmlns:a16="http://schemas.microsoft.com/office/drawing/2014/main" val="2069065738"/>
                    </a:ext>
                  </a:extLst>
                </a:gridCol>
                <a:gridCol w="1676400">
                  <a:extLst>
                    <a:ext uri="{9D8B030D-6E8A-4147-A177-3AD203B41FA5}">
                      <a16:colId xmlns="" xmlns:a16="http://schemas.microsoft.com/office/drawing/2014/main" val="1827819839"/>
                    </a:ext>
                  </a:extLst>
                </a:gridCol>
                <a:gridCol w="4267200">
                  <a:extLst>
                    <a:ext uri="{9D8B030D-6E8A-4147-A177-3AD203B41FA5}">
                      <a16:colId xmlns="" xmlns:a16="http://schemas.microsoft.com/office/drawing/2014/main" val="3969475393"/>
                    </a:ext>
                  </a:extLst>
                </a:gridCol>
                <a:gridCol w="609600">
                  <a:extLst>
                    <a:ext uri="{9D8B030D-6E8A-4147-A177-3AD203B41FA5}">
                      <a16:colId xmlns="" xmlns:a16="http://schemas.microsoft.com/office/drawing/2014/main" val="269388620"/>
                    </a:ext>
                  </a:extLst>
                </a:gridCol>
                <a:gridCol w="3060004">
                  <a:extLst>
                    <a:ext uri="{9D8B030D-6E8A-4147-A177-3AD203B41FA5}">
                      <a16:colId xmlns="" xmlns:a16="http://schemas.microsoft.com/office/drawing/2014/main" val="906467906"/>
                    </a:ext>
                  </a:extLst>
                </a:gridCol>
              </a:tblGrid>
              <a:tr h="354609">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3428218725"/>
                  </a:ext>
                </a:extLst>
              </a:tr>
              <a:tr h="1923686">
                <a:tc>
                  <a:txBody>
                    <a:bodyPr/>
                    <a:lstStyle/>
                    <a:p>
                      <a:pPr algn="l" fontAlgn="ctr">
                        <a:buNone/>
                      </a:pPr>
                      <a:r>
                        <a:rPr lang="vi-VN" sz="1100" b="0" i="0" u="none" strike="noStrike" dirty="0">
                          <a:solidFill>
                            <a:srgbClr val="000000"/>
                          </a:solidFill>
                          <a:effectLst/>
                          <a:latin typeface="Times New Roman" panose="02020603050405020304" pitchFamily="18" charset="0"/>
                        </a:rPr>
                        <a:t>A896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dirty="0">
                          <a:solidFill>
                            <a:srgbClr val="000000"/>
                          </a:solidFill>
                          <a:effectLst/>
                          <a:latin typeface="Times New Roman" panose="02020603050405020304" pitchFamily="18" charset="0"/>
                        </a:rPr>
                        <a:t>15:45 07/08/2025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02:00 08/08/2025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en-US" sz="1100" b="0" i="0" u="none" strike="noStrike" dirty="0">
                          <a:solidFill>
                            <a:srgbClr val="000000"/>
                          </a:solidFill>
                          <a:effectLst/>
                          <a:latin typeface="Times New Roman" panose="02020603050405020304" pitchFamily="18" charset="0"/>
                        </a:rPr>
                        <a:t>T/x finding Eng#2 LH T/R cowl </a:t>
                      </a:r>
                      <a:r>
                        <a:rPr lang="en-US" sz="1100" b="0" i="0" u="none" strike="noStrike" dirty="0" err="1">
                          <a:solidFill>
                            <a:srgbClr val="000000"/>
                          </a:solidFill>
                          <a:effectLst/>
                          <a:latin typeface="Times New Roman" panose="02020603050405020304" pitchFamily="18" charset="0"/>
                        </a:rPr>
                        <a:t>trailling</a:t>
                      </a:r>
                      <a:r>
                        <a:rPr lang="en-US" sz="1100" b="0" i="0" u="none" strike="noStrike" dirty="0">
                          <a:solidFill>
                            <a:srgbClr val="000000"/>
                          </a:solidFill>
                          <a:effectLst/>
                          <a:latin typeface="Times New Roman" panose="02020603050405020304" pitchFamily="18" charset="0"/>
                        </a:rPr>
                        <a:t> edge </a:t>
                      </a:r>
                      <a:r>
                        <a:rPr lang="en-US" sz="1100" b="0" i="0" u="none" strike="noStrike" dirty="0" err="1">
                          <a:solidFill>
                            <a:srgbClr val="000000"/>
                          </a:solidFill>
                          <a:effectLst/>
                          <a:latin typeface="Times New Roman" panose="02020603050405020304" pitchFamily="18" charset="0"/>
                        </a:rPr>
                        <a:t>pos’</a:t>
                      </a:r>
                      <a:r>
                        <a:rPr lang="en-US" sz="1100" b="0" i="0" u="none" strike="noStrike" dirty="0">
                          <a:solidFill>
                            <a:srgbClr val="000000"/>
                          </a:solidFill>
                          <a:effectLst/>
                          <a:latin typeface="Times New Roman" panose="02020603050405020304" pitchFamily="18" charset="0"/>
                        </a:rPr>
                        <a:t> 06h have 01 burn mark </a:t>
                      </a:r>
                      <a:r>
                        <a:rPr lang="en-US" sz="1100" b="0" i="0" u="none" strike="noStrike" dirty="0" err="1">
                          <a:solidFill>
                            <a:srgbClr val="000000"/>
                          </a:solidFill>
                          <a:effectLst/>
                          <a:latin typeface="Times New Roman" panose="02020603050405020304" pitchFamily="18" charset="0"/>
                        </a:rPr>
                        <a:t>LxW</a:t>
                      </a:r>
                      <a:r>
                        <a:rPr lang="en-US" sz="1100" b="0" i="0" u="none" strike="noStrike" dirty="0">
                          <a:solidFill>
                            <a:srgbClr val="000000"/>
                          </a:solidFill>
                          <a:effectLst/>
                          <a:latin typeface="Times New Roman" panose="02020603050405020304" pitchFamily="18" charset="0"/>
                        </a:rPr>
                        <a:t> 60x30mm. REF MP task A350-54-30-85-0A001-661A-A check out of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en-US" sz="1100" b="0" i="0" u="none" strike="noStrike" dirty="0">
                          <a:solidFill>
                            <a:srgbClr val="000000"/>
                          </a:solidFill>
                          <a:effectLst/>
                          <a:latin typeface="Times New Roman" panose="02020603050405020304" pitchFamily="18" charset="0"/>
                        </a:rPr>
                        <a:t> EVENT CLOSED REF CV 25-10627 AND WO 7615970  </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 C/O BLENDING DAMAGE TO REMOVING MATERIAL REF ASR 51-27-21-01001-667A</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 C/O TAP TEST AND ULTRASONIC NDT 51-94-40-00001-355A-A </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 TEMPORARY APPLY HI-SPEEDTAPE MP 51-77-12-00001-660A-A</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 ADD 1100 RAISED DEADLINE 100 FC , INSP INTERVAL 25 FC AND OPM OPENED</a:t>
                      </a:r>
                      <a:br>
                        <a:rPr lang="en-US" sz="1100" b="0" i="0" u="none" strike="noStrike" dirty="0">
                          <a:solidFill>
                            <a:srgbClr val="000000"/>
                          </a:solidFill>
                          <a:effectLst/>
                          <a:latin typeface="Times New Roman" panose="02020603050405020304" pitchFamily="18" charset="0"/>
                        </a:rPr>
                      </a:br>
                      <a:r>
                        <a:rPr lang="en-US" sz="1100" b="0" i="0" u="none" strike="noStrike" dirty="0">
                          <a:solidFill>
                            <a:srgbClr val="000000"/>
                          </a:solidFill>
                          <a:effectLst/>
                          <a:latin typeface="Times New Roman" panose="02020603050405020304" pitchFamily="18" charset="0"/>
                        </a:rPr>
                        <a:t>A/C SERVICEABLE.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54-30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dirty="0">
                          <a:solidFill>
                            <a:srgbClr val="000000"/>
                          </a:solidFill>
                          <a:effectLst/>
                          <a:latin typeface="Times New Roman" panose="02020603050405020304" pitchFamily="18" charset="0"/>
                        </a:rPr>
                        <a:t>Non-Tech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702186563"/>
                  </a:ext>
                </a:extLst>
              </a:tr>
            </a:tbl>
          </a:graphicData>
        </a:graphic>
      </p:graphicFrame>
      <p:sp>
        <p:nvSpPr>
          <p:cNvPr id="3" name="TextBox 2">
            <a:extLst>
              <a:ext uri="{FF2B5EF4-FFF2-40B4-BE49-F238E27FC236}">
                <a16:creationId xmlns="" xmlns:a16="http://schemas.microsoft.com/office/drawing/2014/main" id="{EEBEDCE8-50E0-CC9E-488D-6F7EAA125B9B}"/>
              </a:ext>
            </a:extLst>
          </p:cNvPr>
          <p:cNvSpPr txBox="1"/>
          <p:nvPr/>
        </p:nvSpPr>
        <p:spPr>
          <a:xfrm>
            <a:off x="134288"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(non</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tech)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GTB</a:t>
            </a:r>
          </a:p>
        </p:txBody>
      </p:sp>
    </p:spTree>
    <p:extLst>
      <p:ext uri="{BB962C8B-B14F-4D97-AF65-F5344CB8AC3E}">
        <p14:creationId xmlns:p14="http://schemas.microsoft.com/office/powerpoint/2010/main" val="3386320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10</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xmlns="" id="{58C3360B-2D44-7F7C-A30D-5714DF093D36}"/>
              </a:ext>
            </a:extLst>
          </p:cNvPr>
          <p:cNvGraphicFramePr>
            <a:graphicFrameLocks noGrp="1"/>
          </p:cNvGraphicFramePr>
          <p:nvPr>
            <p:extLst/>
          </p:nvPr>
        </p:nvGraphicFramePr>
        <p:xfrm>
          <a:off x="257575" y="565153"/>
          <a:ext cx="11865040" cy="6299541"/>
        </p:xfrm>
        <a:graphic>
          <a:graphicData uri="http://schemas.openxmlformats.org/drawingml/2006/table">
            <a:tbl>
              <a:tblPr/>
              <a:tblGrid>
                <a:gridCol w="564173">
                  <a:extLst>
                    <a:ext uri="{9D8B030D-6E8A-4147-A177-3AD203B41FA5}">
                      <a16:colId xmlns:a16="http://schemas.microsoft.com/office/drawing/2014/main" xmlns="" val="1146507105"/>
                    </a:ext>
                  </a:extLst>
                </a:gridCol>
                <a:gridCol w="533813">
                  <a:extLst>
                    <a:ext uri="{9D8B030D-6E8A-4147-A177-3AD203B41FA5}">
                      <a16:colId xmlns:a16="http://schemas.microsoft.com/office/drawing/2014/main" xmlns="" val="1460793197"/>
                    </a:ext>
                  </a:extLst>
                </a:gridCol>
                <a:gridCol w="1271171">
                  <a:extLst>
                    <a:ext uri="{9D8B030D-6E8A-4147-A177-3AD203B41FA5}">
                      <a16:colId xmlns:a16="http://schemas.microsoft.com/office/drawing/2014/main" xmlns="" val="925829615"/>
                    </a:ext>
                  </a:extLst>
                </a:gridCol>
                <a:gridCol w="981307">
                  <a:extLst>
                    <a:ext uri="{9D8B030D-6E8A-4147-A177-3AD203B41FA5}">
                      <a16:colId xmlns:a16="http://schemas.microsoft.com/office/drawing/2014/main" xmlns="" val="3341175808"/>
                    </a:ext>
                  </a:extLst>
                </a:gridCol>
                <a:gridCol w="1615688">
                  <a:extLst>
                    <a:ext uri="{9D8B030D-6E8A-4147-A177-3AD203B41FA5}">
                      <a16:colId xmlns:a16="http://schemas.microsoft.com/office/drawing/2014/main" xmlns="" val="2776601624"/>
                    </a:ext>
                  </a:extLst>
                </a:gridCol>
                <a:gridCol w="6898888">
                  <a:extLst>
                    <a:ext uri="{9D8B030D-6E8A-4147-A177-3AD203B41FA5}">
                      <a16:colId xmlns:a16="http://schemas.microsoft.com/office/drawing/2014/main" xmlns="" val="3009395498"/>
                    </a:ext>
                  </a:extLst>
                </a:gridCol>
              </a:tblGrid>
              <a:tr h="175187">
                <a:tc>
                  <a:txBody>
                    <a:bodyPr/>
                    <a:lstStyle/>
                    <a:p>
                      <a:pPr algn="ctr" fontAlgn="ctr"/>
                      <a:r>
                        <a:rPr lang="en-US" sz="1100" b="0" i="0" u="none" strike="noStrike">
                          <a:solidFill>
                            <a:srgbClr val="000000"/>
                          </a:solidFill>
                          <a:effectLst/>
                          <a:latin typeface="Calibri" panose="020F0502020204030204" pitchFamily="34" charset="0"/>
                        </a:rPr>
                        <a:t>Fleet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Tình trạng tàu bay</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Tình trạng KT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100" b="0" i="0" u="none" strike="noStrike">
                          <a:solidFill>
                            <a:srgbClr val="000000"/>
                          </a:solidFill>
                          <a:effectLst/>
                          <a:latin typeface="Calibri" panose="020F0502020204030204" pitchFamily="34" charset="0"/>
                        </a:rPr>
                        <a:t>Điều kiện chuyên cơ</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Ghi chú</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187507028"/>
                  </a:ext>
                </a:extLst>
              </a:tr>
              <a:tr h="69334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A886</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  ADD C1456 RAISED CHILLER SYS INOP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 ADD B1390 RAISED LH BELLY FAIRING TO FLAP TRUNNION SEAL DAMAGE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3. ADD B1414 RAISED DM AIR REDUNDANCY LOSS ON FUEL INERTING</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4. ADD B1426 MECH INTERPHONE FUNCTION INOP</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0528379"/>
                  </a:ext>
                </a:extLst>
              </a:tr>
              <a:tr h="86606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A887</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2. ADD C1270 RAISED CHILLER SYS INOP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3. ADD B1309 RAISED DM F/CTL ONE GYRO/ ACCLMTR</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4. B1311 RAISED NON-EDTO OPERATION DUE TO ABNORMAL OIL CONSUMPTION TREND OF ENG#2</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5. ADD B1313 RAISED FOR LH TAKEOFF LIGHT REMOVED</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6. ADD B1316 AIR LOSS ON FUEL INERTING REDANDUNCY</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101007089"/>
                  </a:ext>
                </a:extLst>
              </a:tr>
              <a:tr h="52062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A888</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 Eng 2 21682  soi heatshield 2400FH/400FC,  giảm tần suất soi HPT blade 2000FH/250FC</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 FM: ENG1 LOW OIL LEVEL. FC: 7321F7FB/7321F3WV intm appeare during take off phasse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3. ADD C1236 RAISED CHILLER SYS INOP</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26250669"/>
                  </a:ext>
                </a:extLst>
              </a:tr>
              <a:tr h="52062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A889</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 Eng 1 21088 giảm tần suất soi HPT blade 800FH/100FC</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 FM: ENG2 LOW OIL LEVEL. FC: 7321FAZT/7321FEJ9 intm appeare during take off phasse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3. ADD B1306 RAISED FOR AIR LEAK DET REDUNDANCY</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498376939"/>
                  </a:ext>
                </a:extLst>
              </a:tr>
              <a:tr h="69334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 ADD B1558 RAISED ICE INDICATION LGT ON BOTH SIDE INOP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 ADD C1521 RAISED AIR CHILLER SYSTEM INTERMITTENT FAIL</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3. ADD B1583 RAISED DM F/CTL ONE GYRO/ACCLMTR</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4. ADD B1587 "ENG 1 HP BLEED VL NOT OPEN"</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51426858"/>
                  </a:ext>
                </a:extLst>
              </a:tr>
              <a:tr h="17518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A891</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90359554"/>
                  </a:ext>
                </a:extLst>
              </a:tr>
              <a:tr h="34790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A892</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1. ADD C1203 RAISED CHILLER SYS INOP </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2. ADD B1632: SURV SYS 2</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7000518"/>
                  </a:ext>
                </a:extLst>
              </a:tr>
              <a:tr h="17518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A893</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1. ADD C1191 RAISED CHILLER AT AFT CREWREST INOP</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888304405"/>
                  </a:ext>
                </a:extLst>
              </a:tr>
              <a:tr h="219803">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A894</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 Eng 1 21317  giảm tần suất soi IPC blade root 100FC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818149820"/>
                  </a:ext>
                </a:extLst>
              </a:tr>
              <a:tr h="17518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A895</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BQDB</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SG" sz="1100" b="0" i="0" u="none" strike="noStrike">
                        <a:solidFill>
                          <a:srgbClr val="000000"/>
                        </a:solidFill>
                        <a:effectLst/>
                        <a:latin typeface="Calibri" panose="020F0502020204030204" pitchFamily="34" charset="0"/>
                      </a:endParaRP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18881481"/>
                  </a:ext>
                </a:extLst>
              </a:tr>
              <a:tr h="69334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A896</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 C855 RAISED CHILLER SYSTEM INOP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 ADD B1100 RAISED FOR BURN MARK AT THRUST REV BEAVER TAIL FAIRING ENG 2 REF DOCUMENT NUMBER CV25-10627</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3. B1098 :"TRANSIT CHECK FOUND SIGN OF LIGTING STRIKE AT LH T/R TRAILING EDGE ENG 2."</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34054875"/>
                  </a:ext>
                </a:extLst>
              </a:tr>
              <a:tr h="34790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A897</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 Eng 2 21214 giảm tần suất soi heatshield 2400FH/400FC</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 A897 có logo Skyteam</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06862663"/>
                  </a:ext>
                </a:extLst>
              </a:tr>
              <a:tr h="34790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A898</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Đang định kỳ</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Không</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1. ADD B1221 REMOVE THE ENGINE 10 FC OR 80 FH WHICHEVER COME FIRST</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2. ADD B1208 RAISED AFT GALLEY HEATER FAULT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49442996"/>
                  </a:ext>
                </a:extLst>
              </a:tr>
              <a:tr h="347907">
                <a:tc>
                  <a:txBody>
                    <a:bodyPr/>
                    <a:lstStyle/>
                    <a:p>
                      <a:pPr algn="ctr" fontAlgn="ctr"/>
                      <a:r>
                        <a:rPr lang="en-US" sz="1100" b="0" i="0" u="none" strike="noStrike">
                          <a:solidFill>
                            <a:srgbClr val="000000"/>
                          </a:solidFill>
                          <a:effectLst/>
                          <a:latin typeface="Calibri" panose="020F0502020204030204" pitchFamily="34" charset="0"/>
                        </a:rPr>
                        <a:t>A350</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A899</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Khai thác</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Tốt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alibri" panose="020F0502020204030204" pitchFamily="34" charset="0"/>
                        </a:rPr>
                        <a:t>Đạt</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1. ADD B1072 RAISED: INBOARD SEAL OF LH DROOP NOSE DAMAGED(10CM).</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2. ADD B1073: FWD SEAL AT PANEL 671CB DAMAGE (5CM)</a:t>
                      </a:r>
                    </a:p>
                  </a:txBody>
                  <a:tcPr marL="2467" marR="2467" marT="2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41621841"/>
                  </a:ext>
                </a:extLst>
              </a:tr>
            </a:tbl>
          </a:graphicData>
        </a:graphic>
      </p:graphicFrame>
    </p:spTree>
    <p:extLst>
      <p:ext uri="{BB962C8B-B14F-4D97-AF65-F5344CB8AC3E}">
        <p14:creationId xmlns:p14="http://schemas.microsoft.com/office/powerpoint/2010/main" val="777896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xmlns=""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xmlns="" id="{5914447B-A879-4C97-AD62-7AFABAF9410A}"/>
              </a:ext>
            </a:extLst>
          </p:cNvPr>
          <p:cNvSpPr/>
          <p:nvPr/>
        </p:nvSpPr>
        <p:spPr>
          <a:xfrm>
            <a:off x="69386" y="476425"/>
            <a:ext cx="11910532"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NIL</a:t>
            </a:r>
            <a:r>
              <a:rPr lang="vi-VN" sz="1600">
                <a:solidFill>
                  <a:srgbClr val="FF0000"/>
                </a:solidFill>
                <a:latin typeface="Times New Roman" panose="02020603050405020304" pitchFamily="18" charset="0"/>
                <a:cs typeface="Times New Roman" panose="02020603050405020304" pitchFamily="18" charset="0"/>
              </a:rPr>
              <a:t>.</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19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6164E47E-14B4-D2D5-E640-7BF294D34447}"/>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95039A75-A86C-0E28-5C73-5413D7C4D4A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96B4F261-C358-7078-941B-E686C4F71654}"/>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1" name="TextBox 10">
            <a:extLst>
              <a:ext uri="{FF2B5EF4-FFF2-40B4-BE49-F238E27FC236}">
                <a16:creationId xmlns="" xmlns:a16="http://schemas.microsoft.com/office/drawing/2014/main" id="{4EA6FE14-5245-D012-18D6-17E9869FE230}"/>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GTB/RTO: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2" name="TextBox 11">
            <a:extLst>
              <a:ext uri="{FF2B5EF4-FFF2-40B4-BE49-F238E27FC236}">
                <a16:creationId xmlns="" xmlns:a16="http://schemas.microsoft.com/office/drawing/2014/main" id="{EE55F6CB-5530-0E47-5BB3-1E4D5AC2F2A2}"/>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GTB/RTO</a:t>
            </a:r>
          </a:p>
        </p:txBody>
      </p:sp>
      <p:graphicFrame>
        <p:nvGraphicFramePr>
          <p:cNvPr id="7" name="Table 6">
            <a:extLst>
              <a:ext uri="{FF2B5EF4-FFF2-40B4-BE49-F238E27FC236}">
                <a16:creationId xmlns="" xmlns:a16="http://schemas.microsoft.com/office/drawing/2014/main" id="{606A6455-ED76-E1E8-416B-8648650118D0}"/>
              </a:ext>
            </a:extLst>
          </p:cNvPr>
          <p:cNvGraphicFramePr>
            <a:graphicFrameLocks noGrp="1"/>
          </p:cNvGraphicFramePr>
          <p:nvPr>
            <p:extLst>
              <p:ext uri="{D42A27DB-BD31-4B8C-83A1-F6EECF244321}">
                <p14:modId xmlns:p14="http://schemas.microsoft.com/office/powerpoint/2010/main" val="380003280"/>
              </p:ext>
            </p:extLst>
          </p:nvPr>
        </p:nvGraphicFramePr>
        <p:xfrm>
          <a:off x="134289" y="1521020"/>
          <a:ext cx="11676711" cy="2893266"/>
        </p:xfrm>
        <a:graphic>
          <a:graphicData uri="http://schemas.openxmlformats.org/drawingml/2006/table">
            <a:tbl>
              <a:tblPr/>
              <a:tblGrid>
                <a:gridCol w="473350">
                  <a:extLst>
                    <a:ext uri="{9D8B030D-6E8A-4147-A177-3AD203B41FA5}">
                      <a16:colId xmlns="" xmlns:a16="http://schemas.microsoft.com/office/drawing/2014/main" val="2366791199"/>
                    </a:ext>
                  </a:extLst>
                </a:gridCol>
                <a:gridCol w="421289">
                  <a:extLst>
                    <a:ext uri="{9D8B030D-6E8A-4147-A177-3AD203B41FA5}">
                      <a16:colId xmlns="" xmlns:a16="http://schemas.microsoft.com/office/drawing/2014/main" val="380038728"/>
                    </a:ext>
                  </a:extLst>
                </a:gridCol>
                <a:gridCol w="674062">
                  <a:extLst>
                    <a:ext uri="{9D8B030D-6E8A-4147-A177-3AD203B41FA5}">
                      <a16:colId xmlns="" xmlns:a16="http://schemas.microsoft.com/office/drawing/2014/main" val="1816131003"/>
                    </a:ext>
                  </a:extLst>
                </a:gridCol>
                <a:gridCol w="842578">
                  <a:extLst>
                    <a:ext uri="{9D8B030D-6E8A-4147-A177-3AD203B41FA5}">
                      <a16:colId xmlns="" xmlns:a16="http://schemas.microsoft.com/office/drawing/2014/main" val="2452487512"/>
                    </a:ext>
                  </a:extLst>
                </a:gridCol>
                <a:gridCol w="842578">
                  <a:extLst>
                    <a:ext uri="{9D8B030D-6E8A-4147-A177-3AD203B41FA5}">
                      <a16:colId xmlns="" xmlns:a16="http://schemas.microsoft.com/office/drawing/2014/main" val="4125799252"/>
                    </a:ext>
                  </a:extLst>
                </a:gridCol>
                <a:gridCol w="674062">
                  <a:extLst>
                    <a:ext uri="{9D8B030D-6E8A-4147-A177-3AD203B41FA5}">
                      <a16:colId xmlns="" xmlns:a16="http://schemas.microsoft.com/office/drawing/2014/main" val="355767024"/>
                    </a:ext>
                  </a:extLst>
                </a:gridCol>
                <a:gridCol w="1348125">
                  <a:extLst>
                    <a:ext uri="{9D8B030D-6E8A-4147-A177-3AD203B41FA5}">
                      <a16:colId xmlns="" xmlns:a16="http://schemas.microsoft.com/office/drawing/2014/main" val="17026393"/>
                    </a:ext>
                  </a:extLst>
                </a:gridCol>
                <a:gridCol w="2819267">
                  <a:extLst>
                    <a:ext uri="{9D8B030D-6E8A-4147-A177-3AD203B41FA5}">
                      <a16:colId xmlns="" xmlns:a16="http://schemas.microsoft.com/office/drawing/2014/main" val="2734111180"/>
                    </a:ext>
                  </a:extLst>
                </a:gridCol>
                <a:gridCol w="381000">
                  <a:extLst>
                    <a:ext uri="{9D8B030D-6E8A-4147-A177-3AD203B41FA5}">
                      <a16:colId xmlns="" xmlns:a16="http://schemas.microsoft.com/office/drawing/2014/main" val="2067814126"/>
                    </a:ext>
                  </a:extLst>
                </a:gridCol>
                <a:gridCol w="3200400">
                  <a:extLst>
                    <a:ext uri="{9D8B030D-6E8A-4147-A177-3AD203B41FA5}">
                      <a16:colId xmlns="" xmlns:a16="http://schemas.microsoft.com/office/drawing/2014/main" val="3875828855"/>
                    </a:ext>
                  </a:extLst>
                </a:gridCol>
              </a:tblGrid>
              <a:tr h="314855">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701666051"/>
                  </a:ext>
                </a:extLst>
              </a:tr>
              <a:tr h="2152924">
                <a:tc>
                  <a:txBody>
                    <a:bodyPr/>
                    <a:lstStyle/>
                    <a:p>
                      <a:pPr algn="l" fontAlgn="ctr">
                        <a:buNone/>
                      </a:pPr>
                      <a:r>
                        <a:rPr lang="vi-VN" sz="1100" b="0" i="0" u="none" strike="noStrike" dirty="0">
                          <a:solidFill>
                            <a:srgbClr val="000000"/>
                          </a:solidFill>
                          <a:effectLst/>
                          <a:latin typeface="Times New Roman" panose="02020603050405020304" pitchFamily="18" charset="0"/>
                        </a:rPr>
                        <a:t>A864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VN31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SGN-FRA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00:00 04/08/2025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OGTB, RTO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Times New Roman" panose="02020603050405020304" pitchFamily="18" charset="0"/>
                        </a:rPr>
                        <a:t>A/C REJECT TAKE OFF DUE TO CAPT INFOR A/C HAS DEFECT</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AFT E/E ACCESS PANEL DOOR OPEN WITH EICAS, CAPT DECIDED RTG FOR T/S ( CALL VHF).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FINAL ACTION: C/O INSPECTION AND TEST AFT EE ACCESS DOOR SATIS. EICAS MSG GONE. A/C SERVICEABLE.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TOTAL DELAY: 68 MINS, TECH DELAY: 20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52-40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Thực hiện kiểm tra không thấy bất thường; Ngày 05/8, thực hiện thêm các bước inspect theo FIM task không có bất thường. Tàu vẫn thay Sensor đề phòng OI. </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Tháng 7/2024, tàu cũng bị tương tự ở AFT EE door, kiểm tra cũng không phát hiện bất thường và cũng thay sensor để đề phòng OI.</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VAE đang thực hiện download FDR date để gửi BOE phân tích cũng như xem xét về hỏng hóc này.</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Thống kê ĐTC với cửa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A864 tháng 8/2025 thay sensor Aft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A863 tháng 5/2025 thay sensor FWD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A864 tháng 7/2024 thay sensor cho AFT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A864 Tháng 9/2016 thay sensor cho FWD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A869 Tháng 12/2016 thay sensor cho AFT E/E:</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Boe hiện không có issue liên quan đến sensor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538159054"/>
                  </a:ext>
                </a:extLst>
              </a:tr>
            </a:tbl>
          </a:graphicData>
        </a:graphic>
      </p:graphicFrame>
    </p:spTree>
    <p:extLst>
      <p:ext uri="{BB962C8B-B14F-4D97-AF65-F5344CB8AC3E}">
        <p14:creationId xmlns:p14="http://schemas.microsoft.com/office/powerpoint/2010/main" val="1469258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77246678-98A5-0C6C-B0D7-3DC956091751}"/>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F2D60565-BE05-7EF0-A76E-AACD77025668}"/>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A491ACFD-15D0-B335-04AD-684326825074}"/>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 xmlns:a16="http://schemas.microsoft.com/office/drawing/2014/main" id="{797E394E-29E1-B988-A41B-E6FA4D837974}"/>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01 </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97ED4A5D-6409-1985-F9E4-7B1B53DF4C97}"/>
              </a:ext>
            </a:extLst>
          </p:cNvPr>
          <p:cNvGraphicFramePr>
            <a:graphicFrameLocks noGrp="1"/>
          </p:cNvGraphicFramePr>
          <p:nvPr>
            <p:extLst>
              <p:ext uri="{D42A27DB-BD31-4B8C-83A1-F6EECF244321}">
                <p14:modId xmlns:p14="http://schemas.microsoft.com/office/powerpoint/2010/main" val="1204827615"/>
              </p:ext>
            </p:extLst>
          </p:nvPr>
        </p:nvGraphicFramePr>
        <p:xfrm>
          <a:off x="134289" y="1521021"/>
          <a:ext cx="11688715" cy="2711094"/>
        </p:xfrm>
        <a:graphic>
          <a:graphicData uri="http://schemas.openxmlformats.org/drawingml/2006/table">
            <a:tbl>
              <a:tblPr/>
              <a:tblGrid>
                <a:gridCol w="376465">
                  <a:extLst>
                    <a:ext uri="{9D8B030D-6E8A-4147-A177-3AD203B41FA5}">
                      <a16:colId xmlns="" xmlns:a16="http://schemas.microsoft.com/office/drawing/2014/main" val="439829933"/>
                    </a:ext>
                  </a:extLst>
                </a:gridCol>
                <a:gridCol w="708446">
                  <a:extLst>
                    <a:ext uri="{9D8B030D-6E8A-4147-A177-3AD203B41FA5}">
                      <a16:colId xmlns="" xmlns:a16="http://schemas.microsoft.com/office/drawing/2014/main" val="1704083537"/>
                    </a:ext>
                  </a:extLst>
                </a:gridCol>
                <a:gridCol w="685800">
                  <a:extLst>
                    <a:ext uri="{9D8B030D-6E8A-4147-A177-3AD203B41FA5}">
                      <a16:colId xmlns="" xmlns:a16="http://schemas.microsoft.com/office/drawing/2014/main" val="3278067950"/>
                    </a:ext>
                  </a:extLst>
                </a:gridCol>
                <a:gridCol w="381000">
                  <a:extLst>
                    <a:ext uri="{9D8B030D-6E8A-4147-A177-3AD203B41FA5}">
                      <a16:colId xmlns="" xmlns:a16="http://schemas.microsoft.com/office/drawing/2014/main" val="2069065738"/>
                    </a:ext>
                  </a:extLst>
                </a:gridCol>
                <a:gridCol w="1600200">
                  <a:extLst>
                    <a:ext uri="{9D8B030D-6E8A-4147-A177-3AD203B41FA5}">
                      <a16:colId xmlns="" xmlns:a16="http://schemas.microsoft.com/office/drawing/2014/main" val="1827819839"/>
                    </a:ext>
                  </a:extLst>
                </a:gridCol>
                <a:gridCol w="4038600">
                  <a:extLst>
                    <a:ext uri="{9D8B030D-6E8A-4147-A177-3AD203B41FA5}">
                      <a16:colId xmlns="" xmlns:a16="http://schemas.microsoft.com/office/drawing/2014/main" val="3969475393"/>
                    </a:ext>
                  </a:extLst>
                </a:gridCol>
                <a:gridCol w="533400">
                  <a:extLst>
                    <a:ext uri="{9D8B030D-6E8A-4147-A177-3AD203B41FA5}">
                      <a16:colId xmlns="" xmlns:a16="http://schemas.microsoft.com/office/drawing/2014/main" val="269388620"/>
                    </a:ext>
                  </a:extLst>
                </a:gridCol>
                <a:gridCol w="3364804">
                  <a:extLst>
                    <a:ext uri="{9D8B030D-6E8A-4147-A177-3AD203B41FA5}">
                      <a16:colId xmlns="" xmlns:a16="http://schemas.microsoft.com/office/drawing/2014/main" val="906467906"/>
                    </a:ext>
                  </a:extLst>
                </a:gridCol>
              </a:tblGrid>
              <a:tr h="354609">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3428218725"/>
                  </a:ext>
                </a:extLst>
              </a:tr>
              <a:tr h="1923686">
                <a:tc>
                  <a:txBody>
                    <a:bodyPr/>
                    <a:lstStyle/>
                    <a:p>
                      <a:pPr algn="l" fontAlgn="ctr">
                        <a:buNone/>
                      </a:pPr>
                      <a:r>
                        <a:rPr lang="vi-VN" sz="1100" b="0" i="0" u="none" strike="noStrike" dirty="0">
                          <a:solidFill>
                            <a:srgbClr val="000000"/>
                          </a:solidFill>
                          <a:effectLst/>
                          <a:latin typeface="Times New Roman" panose="02020603050405020304" pitchFamily="18" charset="0"/>
                        </a:rPr>
                        <a:t>A868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21:00 08/08/2025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06:00 10/08/2025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en-US" sz="1100" b="0" i="0" u="none" strike="noStrike" dirty="0">
                          <a:solidFill>
                            <a:srgbClr val="000000"/>
                          </a:solidFill>
                          <a:effectLst/>
                          <a:latin typeface="Times New Roman" panose="02020603050405020304" pitchFamily="18" charset="0"/>
                        </a:rPr>
                        <a:t>STS MSG "RUDDER SYSTEM". LOWER RUDDER POWER CONTROL UNIT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dirty="0" smtClean="0">
                          <a:solidFill>
                            <a:srgbClr val="000000"/>
                          </a:solidFill>
                          <a:effectLst/>
                          <a:latin typeface="Times New Roman" panose="02020603050405020304" pitchFamily="18" charset="0"/>
                        </a:rPr>
                        <a:t>FINAL </a:t>
                      </a:r>
                      <a:r>
                        <a:rPr lang="vi-VN" sz="1100" b="0" i="0" u="none" strike="noStrike" dirty="0">
                          <a:solidFill>
                            <a:srgbClr val="000000"/>
                          </a:solidFill>
                          <a:effectLst/>
                          <a:latin typeface="Times New Roman" panose="02020603050405020304" pitchFamily="18" charset="0"/>
                        </a:rPr>
                        <a:t>ACTION: C/O REPLACED LOWER RUDDER PCU, C/O OPS TEST; LEAK CHECK SATIS. A/C SERVICEABLE.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buNone/>
                      </a:pPr>
                      <a:r>
                        <a:rPr lang="vi-VN" sz="1100" b="0" i="0" u="none" strike="noStrike" dirty="0">
                          <a:solidFill>
                            <a:srgbClr val="000000"/>
                          </a:solidFill>
                          <a:effectLst/>
                          <a:latin typeface="+mn-lt"/>
                        </a:rPr>
                        <a:t>Thay Lower Rudder PCU để khắc phục. SN OFF 00063</a:t>
                      </a:r>
                    </a:p>
                    <a:p>
                      <a:pPr algn="l" fontAlgn="ctr">
                        <a:buNone/>
                      </a:pPr>
                      <a:r>
                        <a:rPr lang="vi-VN" sz="1100" b="0" i="0" u="none" strike="noStrike" dirty="0">
                          <a:solidFill>
                            <a:srgbClr val="000000"/>
                          </a:solidFill>
                          <a:effectLst/>
                          <a:latin typeface="+mn-lt"/>
                        </a:rPr>
                        <a:t>Ban KT đã làm việc với BOE và VAECO về chương trình chủ động do Coils resistance giống Spoiler PCU để dự báo trước hỏng hóc. Tuy nhiên BOE không có đủ dữ liệu để đánh giá hiệu quả của việc đo. Và cho rằng, việc đo chỉ khẳng định PCU có hỏng thật hay không.</a:t>
                      </a:r>
                    </a:p>
                    <a:p>
                      <a:pPr algn="l" fontAlgn="ctr">
                        <a:buNone/>
                      </a:pPr>
                      <a:r>
                        <a:rPr lang="vi-VN" sz="1100" b="0" i="0" u="none" strike="noStrike" dirty="0">
                          <a:solidFill>
                            <a:srgbClr val="000000"/>
                          </a:solidFill>
                          <a:effectLst/>
                          <a:latin typeface="+mn-lt"/>
                        </a:rPr>
                        <a:t>Tháng 5/2025, tàu A868 thực hiện đo điện trở cả 3 rudder PCU. Do có giá trị đo ngoài ngưỡng nên đã thay upper và lower để phục vụ VIP.</a:t>
                      </a:r>
                    </a:p>
                    <a:p>
                      <a:pPr algn="l" fontAlgn="ctr">
                        <a:buNone/>
                      </a:pPr>
                      <a:r>
                        <a:rPr lang="vi-VN" sz="1100" b="0" i="0" u="none" strike="noStrike" dirty="0">
                          <a:solidFill>
                            <a:srgbClr val="000000"/>
                          </a:solidFill>
                          <a:effectLst/>
                          <a:latin typeface="+mn-lt"/>
                        </a:rPr>
                        <a:t>Khối này lắp lên ngày 30May2025 là khối repaired co TSN 31757FH SCN 7261FC. Tại shop đã thay REU và Bypass Solenoid valve assy. Khối EHSV và Damper solenoid không được thay mới. Cần thêm SFR lần này để đánh giá thêm.</a:t>
                      </a:r>
                      <a:endParaRPr lang="vi-VN"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702186563"/>
                  </a:ext>
                </a:extLst>
              </a:tr>
            </a:tbl>
          </a:graphicData>
        </a:graphic>
      </p:graphicFrame>
      <p:sp>
        <p:nvSpPr>
          <p:cNvPr id="4" name="TextBox 3">
            <a:extLst>
              <a:ext uri="{FF2B5EF4-FFF2-40B4-BE49-F238E27FC236}">
                <a16:creationId xmlns="" xmlns:a16="http://schemas.microsoft.com/office/drawing/2014/main" id="{D502707A-5C0E-3F7A-E62E-7691AF76FC5B}"/>
              </a:ext>
            </a:extLst>
          </p:cNvPr>
          <p:cNvSpPr txBox="1"/>
          <p:nvPr/>
        </p:nvSpPr>
        <p:spPr>
          <a:xfrm>
            <a:off x="134288" y="73056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GTB/RTO</a:t>
            </a:r>
          </a:p>
        </p:txBody>
      </p:sp>
    </p:spTree>
    <p:extLst>
      <p:ext uri="{BB962C8B-B14F-4D97-AF65-F5344CB8AC3E}">
        <p14:creationId xmlns:p14="http://schemas.microsoft.com/office/powerpoint/2010/main" val="1968173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2EBFA451-1D19-9E3C-1D11-0F7682A8E096}"/>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E4AED3AC-3984-16EC-B888-AEFBBF753B7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0CD3B6A5-B4F5-EBB7-6BF5-6F1728D193F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 xmlns:a16="http://schemas.microsoft.com/office/drawing/2014/main" id="{F0E5744D-4FE8-DD6A-4D5C-7108ADBAD97F}"/>
              </a:ext>
            </a:extLst>
          </p:cNvPr>
          <p:cNvGraphicFramePr>
            <a:graphicFrameLocks noGrp="1"/>
          </p:cNvGraphicFramePr>
          <p:nvPr>
            <p:extLst>
              <p:ext uri="{D42A27DB-BD31-4B8C-83A1-F6EECF244321}">
                <p14:modId xmlns:p14="http://schemas.microsoft.com/office/powerpoint/2010/main" val="4187447196"/>
              </p:ext>
            </p:extLst>
          </p:nvPr>
        </p:nvGraphicFramePr>
        <p:xfrm>
          <a:off x="117664" y="1447800"/>
          <a:ext cx="11723450" cy="5036527"/>
        </p:xfrm>
        <a:graphic>
          <a:graphicData uri="http://schemas.openxmlformats.org/drawingml/2006/table">
            <a:tbl>
              <a:tblPr/>
              <a:tblGrid>
                <a:gridCol w="381073">
                  <a:extLst>
                    <a:ext uri="{9D8B030D-6E8A-4147-A177-3AD203B41FA5}">
                      <a16:colId xmlns="" xmlns:a16="http://schemas.microsoft.com/office/drawing/2014/main" val="2284300101"/>
                    </a:ext>
                  </a:extLst>
                </a:gridCol>
                <a:gridCol w="644263">
                  <a:extLst>
                    <a:ext uri="{9D8B030D-6E8A-4147-A177-3AD203B41FA5}">
                      <a16:colId xmlns="" xmlns:a16="http://schemas.microsoft.com/office/drawing/2014/main" val="3376405456"/>
                    </a:ext>
                  </a:extLst>
                </a:gridCol>
                <a:gridCol w="473279">
                  <a:extLst>
                    <a:ext uri="{9D8B030D-6E8A-4147-A177-3AD203B41FA5}">
                      <a16:colId xmlns="" xmlns:a16="http://schemas.microsoft.com/office/drawing/2014/main" val="2653704242"/>
                    </a:ext>
                  </a:extLst>
                </a:gridCol>
                <a:gridCol w="441121">
                  <a:extLst>
                    <a:ext uri="{9D8B030D-6E8A-4147-A177-3AD203B41FA5}">
                      <a16:colId xmlns="" xmlns:a16="http://schemas.microsoft.com/office/drawing/2014/main" val="3369821226"/>
                    </a:ext>
                  </a:extLst>
                </a:gridCol>
                <a:gridCol w="457200">
                  <a:extLst>
                    <a:ext uri="{9D8B030D-6E8A-4147-A177-3AD203B41FA5}">
                      <a16:colId xmlns="" xmlns:a16="http://schemas.microsoft.com/office/drawing/2014/main" val="775914175"/>
                    </a:ext>
                  </a:extLst>
                </a:gridCol>
                <a:gridCol w="304800">
                  <a:extLst>
                    <a:ext uri="{9D8B030D-6E8A-4147-A177-3AD203B41FA5}">
                      <a16:colId xmlns="" xmlns:a16="http://schemas.microsoft.com/office/drawing/2014/main" val="1357391052"/>
                    </a:ext>
                  </a:extLst>
                </a:gridCol>
                <a:gridCol w="1219200">
                  <a:extLst>
                    <a:ext uri="{9D8B030D-6E8A-4147-A177-3AD203B41FA5}">
                      <a16:colId xmlns="" xmlns:a16="http://schemas.microsoft.com/office/drawing/2014/main" val="1399571794"/>
                    </a:ext>
                  </a:extLst>
                </a:gridCol>
                <a:gridCol w="4114800">
                  <a:extLst>
                    <a:ext uri="{9D8B030D-6E8A-4147-A177-3AD203B41FA5}">
                      <a16:colId xmlns="" xmlns:a16="http://schemas.microsoft.com/office/drawing/2014/main" val="386609919"/>
                    </a:ext>
                  </a:extLst>
                </a:gridCol>
                <a:gridCol w="381000">
                  <a:extLst>
                    <a:ext uri="{9D8B030D-6E8A-4147-A177-3AD203B41FA5}">
                      <a16:colId xmlns="" xmlns:a16="http://schemas.microsoft.com/office/drawing/2014/main" val="1685409337"/>
                    </a:ext>
                  </a:extLst>
                </a:gridCol>
                <a:gridCol w="3306714">
                  <a:extLst>
                    <a:ext uri="{9D8B030D-6E8A-4147-A177-3AD203B41FA5}">
                      <a16:colId xmlns="" xmlns:a16="http://schemas.microsoft.com/office/drawing/2014/main" val="2020567769"/>
                    </a:ext>
                  </a:extLst>
                </a:gridCol>
              </a:tblGrid>
              <a:tr h="537141">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806886802"/>
                  </a:ext>
                </a:extLst>
              </a:tr>
              <a:tr h="2058570">
                <a:tc>
                  <a:txBody>
                    <a:bodyPr/>
                    <a:lstStyle/>
                    <a:p>
                      <a:pPr algn="l" fontAlgn="ctr">
                        <a:buNone/>
                      </a:pPr>
                      <a:r>
                        <a:rPr lang="vi-VN" sz="1000" b="0" i="0" u="none" strike="noStrike" dirty="0">
                          <a:solidFill>
                            <a:srgbClr val="000000"/>
                          </a:solidFill>
                          <a:effectLst/>
                          <a:latin typeface="Times New Roman" panose="02020603050405020304" pitchFamily="18" charset="0"/>
                        </a:rPr>
                        <a:t>A872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00:20 09/08/2025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VN320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SGN-KIX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AFTER REFUELING FOUND LEAKING FROM ADAPTER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CAPT YÊU CẦU NẠP THÊM FUEL, SAU KHI NẠP XONG PHÁT HIỆN LEAK TỪ ADAPTER. BÁO TSV B1 HỖ TRỢ</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FINAL ACTION: C/O CLOSE AND OPEN POPET VALVE AND CHECK FOUND NO LEAK. A/C SERVICEABLE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Trước đó, ngày 14/7, tàu cũng bị leak. TS phát hiện POPPET ASSY hoạt động không chính xác, có thể bị leak sau khi nạp nhiên liệu. VAECO đã mở WO đặt hàng để thay nhưng hiện tại vẫn chưa có spare</a:t>
                      </a:r>
                      <a:br>
                        <a:rPr lang="vi-VN" sz="1000" b="0" i="0" u="none" strike="noStrike">
                          <a:solidFill>
                            <a:srgbClr val="000000"/>
                          </a:solidFill>
                          <a:effectLst/>
                          <a:latin typeface="Times New Roman" panose="02020603050405020304" pitchFamily="18" charset="0"/>
                        </a:rPr>
                      </a:br>
                      <a:r>
                        <a:rPr lang="vi-VN" sz="1000" b="0" i="0" u="none" strike="noStrike">
                          <a:solidFill>
                            <a:srgbClr val="000000"/>
                          </a:solidFill>
                          <a:effectLst/>
                          <a:latin typeface="Times New Roman" panose="02020603050405020304" pitchFamily="18" charset="0"/>
                        </a:rPr>
                        <a:t>ĐTC lịch sử đã từng thay 4 khối (2018, 2019, 2024 (2)). </a:t>
                      </a:r>
                      <a:br>
                        <a:rPr lang="vi-VN" sz="1000" b="0" i="0" u="none" strike="noStrike">
                          <a:solidFill>
                            <a:srgbClr val="000000"/>
                          </a:solidFill>
                          <a:effectLst/>
                          <a:latin typeface="Times New Roman" panose="02020603050405020304" pitchFamily="18" charset="0"/>
                        </a:rPr>
                      </a:br>
                      <a:r>
                        <a:rPr lang="vi-VN" sz="1000" b="0" i="0" u="none" strike="noStrike">
                          <a:solidFill>
                            <a:srgbClr val="000000"/>
                          </a:solidFill>
                          <a:effectLst/>
                          <a:latin typeface="Times New Roman" panose="02020603050405020304" pitchFamily="18" charset="0"/>
                        </a:rPr>
                        <a:t>Theo FTD-28-22001, Nguyên nhân do gioăng phẳng (flat seal) bên trong van poppet bị hỏng. Van poppet có nhiệm vụ chặn nhiên liệu chảy ra khi ngắt ống tiếp nhiên liệu. Khi nối vòi vào, vòi sẽ đẩy mở van poppet. Gioăng phẳng nằm giữa valve support và intermediate ring, giúp bịt kín khi van đóng.</a:t>
                      </a:r>
                      <a:br>
                        <a:rPr lang="vi-VN" sz="1000" b="0" i="0" u="none" strike="noStrike">
                          <a:solidFill>
                            <a:srgbClr val="000000"/>
                          </a:solidFill>
                          <a:effectLst/>
                          <a:latin typeface="Times New Roman" panose="02020603050405020304" pitchFamily="18" charset="0"/>
                        </a:rPr>
                      </a:br>
                      <a:r>
                        <a:rPr lang="vi-VN" sz="1000" b="0" i="0" u="none" strike="noStrike">
                          <a:solidFill>
                            <a:srgbClr val="000000"/>
                          </a:solidFill>
                          <a:effectLst/>
                          <a:latin typeface="Times New Roman" panose="02020603050405020304" pitchFamily="18" charset="0"/>
                        </a:rPr>
                        <a:t>Khi gioăng này hỏng → nhiên liệu kẹt giữa van flapper và van poppet sẽ rò ra ngoài. </a:t>
                      </a:r>
                      <a:br>
                        <a:rPr lang="vi-VN" sz="1000" b="0" i="0" u="none" strike="noStrike">
                          <a:solidFill>
                            <a:srgbClr val="000000"/>
                          </a:solidFill>
                          <a:effectLst/>
                          <a:latin typeface="Times New Roman" panose="02020603050405020304" pitchFamily="18" charset="0"/>
                        </a:rPr>
                      </a:br>
                      <a:r>
                        <a:rPr lang="vi-VN" sz="1000" b="0" i="0" u="none" strike="noStrike">
                          <a:solidFill>
                            <a:srgbClr val="000000"/>
                          </a:solidFill>
                          <a:effectLst/>
                          <a:latin typeface="Times New Roman" panose="02020603050405020304" pitchFamily="18" charset="0"/>
                        </a:rPr>
                        <a:t>Flat seal chỉ được thay ở shop do công nghệ test bonding. BOE/OEM cũng đang xem xét thiết kế mới cho Flat seal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27358119"/>
                  </a:ext>
                </a:extLst>
              </a:tr>
              <a:tr h="2281089">
                <a:tc>
                  <a:txBody>
                    <a:bodyPr/>
                    <a:lstStyle/>
                    <a:p>
                      <a:pPr algn="l" fontAlgn="ctr">
                        <a:buNone/>
                      </a:pPr>
                      <a:r>
                        <a:rPr lang="vi-VN" sz="1000" b="0" i="0" u="none" strike="noStrike">
                          <a:solidFill>
                            <a:srgbClr val="000000"/>
                          </a:solidFill>
                          <a:effectLst/>
                          <a:latin typeface="Times New Roman" panose="02020603050405020304" pitchFamily="18" charset="0"/>
                        </a:rPr>
                        <a:t>A868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21:00 08/08/2025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VN260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STS MSG "RUDDER SYSTEM". LOWER RUDDER POWER CONTROL UNIT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smtClean="0">
                          <a:solidFill>
                            <a:srgbClr val="000000"/>
                          </a:solidFill>
                          <a:effectLst/>
                          <a:latin typeface="Times New Roman" panose="02020603050405020304" pitchFamily="18" charset="0"/>
                        </a:rPr>
                        <a:t>FINAL </a:t>
                      </a:r>
                      <a:r>
                        <a:rPr lang="vi-VN" sz="1000" b="0" i="0" u="none" strike="noStrike" dirty="0">
                          <a:solidFill>
                            <a:srgbClr val="000000"/>
                          </a:solidFill>
                          <a:effectLst/>
                          <a:latin typeface="Times New Roman" panose="02020603050405020304" pitchFamily="18" charset="0"/>
                        </a:rPr>
                        <a:t>ACTION: C/O REPLACED LOWER RUDDER PCU, C/O OPS TEST; LEAK CHECK SATIS. A/C SERVICEABLE.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mn-lt"/>
                        </a:rPr>
                        <a:t>Thay Lower Rudder PCU để khắc phục. SN OFF 00063</a:t>
                      </a:r>
                    </a:p>
                    <a:p>
                      <a:pPr algn="l" fontAlgn="ctr">
                        <a:buNone/>
                      </a:pPr>
                      <a:r>
                        <a:rPr lang="vi-VN" sz="1000" b="0" i="0" u="none" strike="noStrike" dirty="0">
                          <a:solidFill>
                            <a:srgbClr val="000000"/>
                          </a:solidFill>
                          <a:effectLst/>
                          <a:latin typeface="+mn-lt"/>
                        </a:rPr>
                        <a:t>Ban KT đã làm việc với BOE và VAECO về chương trình chủ động do Coils resistance giống Spoiler PCU để dự báo trước hỏng hóc. Tuy nhiên BOE không có đủ dữ liệu để đánh giá hiệu quả của việc đo. Và cho rằng, việc đo chỉ khẳng định PCU có hỏng thật hay không.</a:t>
                      </a:r>
                    </a:p>
                    <a:p>
                      <a:pPr algn="l" fontAlgn="ctr">
                        <a:buNone/>
                      </a:pPr>
                      <a:r>
                        <a:rPr lang="vi-VN" sz="1000" b="0" i="0" u="none" strike="noStrike" dirty="0">
                          <a:solidFill>
                            <a:srgbClr val="000000"/>
                          </a:solidFill>
                          <a:effectLst/>
                          <a:latin typeface="+mn-lt"/>
                        </a:rPr>
                        <a:t>Tháng 5/2025, tàu A868 thực hiện đo điện trở cả 3 rudder PCU. Do có giá trị đo ngoài ngưỡng nên đã thay upper và lower để phục vụ VIP.</a:t>
                      </a:r>
                    </a:p>
                    <a:p>
                      <a:pPr algn="l" fontAlgn="ctr">
                        <a:buNone/>
                      </a:pPr>
                      <a:r>
                        <a:rPr lang="vi-VN" sz="1000" b="0" i="0" u="none" strike="noStrike" dirty="0">
                          <a:solidFill>
                            <a:srgbClr val="000000"/>
                          </a:solidFill>
                          <a:effectLst/>
                          <a:latin typeface="+mn-lt"/>
                        </a:rPr>
                        <a:t>Khối này lắp lên ngày 30May2025 là khối repaired co TSN 31757FH SCN 7261FC. Tại shop đã thay REU và Bypass Solenoid valve assy. Khối EHSV và Damper solenoid không được thay mới. Cần thêm SFR lần này để đánh giá thêm.</a:t>
                      </a:r>
                      <a:endParaRPr lang="vi-VN" sz="10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78289606"/>
                  </a:ext>
                </a:extLst>
              </a:tr>
            </a:tbl>
          </a:graphicData>
        </a:graphic>
      </p:graphicFrame>
      <p:sp>
        <p:nvSpPr>
          <p:cNvPr id="11" name="TextBox 10">
            <a:extLst>
              <a:ext uri="{FF2B5EF4-FFF2-40B4-BE49-F238E27FC236}">
                <a16:creationId xmlns="" xmlns:a16="http://schemas.microsoft.com/office/drawing/2014/main" id="{8EF2AEEE-A900-8FFB-0888-B339FB0F0A9F}"/>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5" name="TextBox 4">
            <a:extLst>
              <a:ext uri="{FF2B5EF4-FFF2-40B4-BE49-F238E27FC236}">
                <a16:creationId xmlns="" xmlns:a16="http://schemas.microsoft.com/office/drawing/2014/main" id="{B9F1B473-869E-9686-1199-DF83769DE417}"/>
              </a:ext>
            </a:extLst>
          </p:cNvPr>
          <p:cNvSpPr txBox="1"/>
          <p:nvPr/>
        </p:nvSpPr>
        <p:spPr>
          <a:xfrm>
            <a:off x="134289"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GTB/RTO</a:t>
            </a:r>
          </a:p>
        </p:txBody>
      </p:sp>
    </p:spTree>
    <p:extLst>
      <p:ext uri="{BB962C8B-B14F-4D97-AF65-F5344CB8AC3E}">
        <p14:creationId xmlns:p14="http://schemas.microsoft.com/office/powerpoint/2010/main" val="1253476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AAB1C3B2-EAFD-1EB8-3C22-79592D97B597}"/>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3003CAF0-D457-8E5A-A21F-4EDCBC270AA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D2629757-0450-27F8-F49A-2F69F541233D}"/>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 xmlns:a16="http://schemas.microsoft.com/office/drawing/2014/main" id="{773F0B5E-145A-39C9-3498-D9EEB634074F}"/>
              </a:ext>
            </a:extLst>
          </p:cNvPr>
          <p:cNvGraphicFramePr>
            <a:graphicFrameLocks noGrp="1"/>
          </p:cNvGraphicFramePr>
          <p:nvPr>
            <p:extLst>
              <p:ext uri="{D42A27DB-BD31-4B8C-83A1-F6EECF244321}">
                <p14:modId xmlns:p14="http://schemas.microsoft.com/office/powerpoint/2010/main" val="3562047163"/>
              </p:ext>
            </p:extLst>
          </p:nvPr>
        </p:nvGraphicFramePr>
        <p:xfrm>
          <a:off x="117664" y="1521021"/>
          <a:ext cx="11723450" cy="2888685"/>
        </p:xfrm>
        <a:graphic>
          <a:graphicData uri="http://schemas.openxmlformats.org/drawingml/2006/table">
            <a:tbl>
              <a:tblPr/>
              <a:tblGrid>
                <a:gridCol w="381073">
                  <a:extLst>
                    <a:ext uri="{9D8B030D-6E8A-4147-A177-3AD203B41FA5}">
                      <a16:colId xmlns="" xmlns:a16="http://schemas.microsoft.com/office/drawing/2014/main" val="2284300101"/>
                    </a:ext>
                  </a:extLst>
                </a:gridCol>
                <a:gridCol w="698464">
                  <a:extLst>
                    <a:ext uri="{9D8B030D-6E8A-4147-A177-3AD203B41FA5}">
                      <a16:colId xmlns="" xmlns:a16="http://schemas.microsoft.com/office/drawing/2014/main" val="3376405456"/>
                    </a:ext>
                  </a:extLst>
                </a:gridCol>
                <a:gridCol w="419078">
                  <a:extLst>
                    <a:ext uri="{9D8B030D-6E8A-4147-A177-3AD203B41FA5}">
                      <a16:colId xmlns="" xmlns:a16="http://schemas.microsoft.com/office/drawing/2014/main" val="2653704242"/>
                    </a:ext>
                  </a:extLst>
                </a:gridCol>
                <a:gridCol w="698464">
                  <a:extLst>
                    <a:ext uri="{9D8B030D-6E8A-4147-A177-3AD203B41FA5}">
                      <a16:colId xmlns="" xmlns:a16="http://schemas.microsoft.com/office/drawing/2014/main" val="3369821226"/>
                    </a:ext>
                  </a:extLst>
                </a:gridCol>
                <a:gridCol w="769327">
                  <a:extLst>
                    <a:ext uri="{9D8B030D-6E8A-4147-A177-3AD203B41FA5}">
                      <a16:colId xmlns="" xmlns:a16="http://schemas.microsoft.com/office/drawing/2014/main" val="775914175"/>
                    </a:ext>
                  </a:extLst>
                </a:gridCol>
                <a:gridCol w="692320">
                  <a:extLst>
                    <a:ext uri="{9D8B030D-6E8A-4147-A177-3AD203B41FA5}">
                      <a16:colId xmlns="" xmlns:a16="http://schemas.microsoft.com/office/drawing/2014/main" val="1357391052"/>
                    </a:ext>
                  </a:extLst>
                </a:gridCol>
                <a:gridCol w="1405210">
                  <a:extLst>
                    <a:ext uri="{9D8B030D-6E8A-4147-A177-3AD203B41FA5}">
                      <a16:colId xmlns="" xmlns:a16="http://schemas.microsoft.com/office/drawing/2014/main" val="1399571794"/>
                    </a:ext>
                  </a:extLst>
                </a:gridCol>
                <a:gridCol w="3200400">
                  <a:extLst>
                    <a:ext uri="{9D8B030D-6E8A-4147-A177-3AD203B41FA5}">
                      <a16:colId xmlns="" xmlns:a16="http://schemas.microsoft.com/office/drawing/2014/main" val="386609919"/>
                    </a:ext>
                  </a:extLst>
                </a:gridCol>
                <a:gridCol w="381000">
                  <a:extLst>
                    <a:ext uri="{9D8B030D-6E8A-4147-A177-3AD203B41FA5}">
                      <a16:colId xmlns="" xmlns:a16="http://schemas.microsoft.com/office/drawing/2014/main" val="1685409337"/>
                    </a:ext>
                  </a:extLst>
                </a:gridCol>
                <a:gridCol w="3078114">
                  <a:extLst>
                    <a:ext uri="{9D8B030D-6E8A-4147-A177-3AD203B41FA5}">
                      <a16:colId xmlns="" xmlns:a16="http://schemas.microsoft.com/office/drawing/2014/main" val="2020567769"/>
                    </a:ext>
                  </a:extLst>
                </a:gridCol>
              </a:tblGrid>
              <a:tr h="593160">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806886802"/>
                  </a:ext>
                </a:extLst>
              </a:tr>
              <a:tr h="1272708">
                <a:tc>
                  <a:txBody>
                    <a:bodyPr/>
                    <a:lstStyle/>
                    <a:p>
                      <a:pPr algn="l" fontAlgn="ctr">
                        <a:buNone/>
                      </a:pPr>
                      <a:r>
                        <a:rPr lang="vi-VN" sz="1000" b="0" i="0" u="none" strike="noStrike" dirty="0">
                          <a:solidFill>
                            <a:srgbClr val="000000"/>
                          </a:solidFill>
                          <a:effectLst/>
                          <a:latin typeface="Times New Roman" panose="02020603050405020304" pitchFamily="18" charset="0"/>
                        </a:rPr>
                        <a:t>A864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00:00 04/08/2025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VN31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SGN-FRA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A/C REJECT TAKE OFF DUE TO CAPT INFOR A/C HAS DEFECT</a:t>
                      </a:r>
                      <a:br>
                        <a:rPr lang="en-US" sz="1000" b="0" i="0" u="none" strike="noStrike">
                          <a:solidFill>
                            <a:srgbClr val="000000"/>
                          </a:solidFill>
                          <a:effectLst/>
                          <a:latin typeface="Times New Roman" panose="02020603050405020304" pitchFamily="18" charset="0"/>
                        </a:rPr>
                      </a:br>
                      <a:r>
                        <a:rPr lang="en-US" sz="1000" b="0" i="0" u="none" strike="noStrike">
                          <a:solidFill>
                            <a:srgbClr val="000000"/>
                          </a:solidFill>
                          <a:effectLst/>
                          <a:latin typeface="Times New Roman" panose="02020603050405020304" pitchFamily="18" charset="0"/>
                        </a:rPr>
                        <a:t>AFT E/E ACCESS PANEL DOOR OPEN WITH EICAS, CAPT DECIDED RTG FOR T/S ( CALL VHF).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FINAL ACTION: C/O INSPECTION AND TEST AFT EE ACCESS DOOR SATIS. EICAS MSG GONE. A/C SERVICEABLE.</a:t>
                      </a:r>
                      <a:br>
                        <a:rPr lang="vi-VN" sz="1000" b="0" i="0" u="none" strike="noStrike" dirty="0">
                          <a:solidFill>
                            <a:srgbClr val="000000"/>
                          </a:solidFill>
                          <a:effectLst/>
                          <a:latin typeface="Times New Roman" panose="02020603050405020304" pitchFamily="18" charset="0"/>
                        </a:rPr>
                      </a:br>
                      <a:endParaRPr lang="vi-VN" sz="10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a:solidFill>
                            <a:srgbClr val="000000"/>
                          </a:solidFill>
                          <a:effectLst/>
                          <a:latin typeface="Times New Roman" panose="02020603050405020304" pitchFamily="18" charset="0"/>
                        </a:rPr>
                        <a:t>52-40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000" b="0" i="0" u="none" strike="noStrike" dirty="0">
                          <a:solidFill>
                            <a:srgbClr val="000000"/>
                          </a:solidFill>
                          <a:effectLst/>
                          <a:latin typeface="Times New Roman" panose="02020603050405020304" pitchFamily="18" charset="0"/>
                        </a:rPr>
                        <a:t>Thực hiện kiểm tra không thấy bất thường; Ngày 05/8, thực hiện thêm các bước inspect theo FIM task không có bất thường. Tàu vẫn thay Sensor đề phòng OI. </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Tháng 7/2024, tàu cũng bị tương tự ở AFT EE door, kiểm tra cũng không phát hiện bất thường và cũng thay sensor để đề phòng OI.</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VAE đang thực hiện download FDR date để gửi BOE phân tích cũng như xem xét về hỏng hóc này.</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Thống kê ĐTC với cửa E/E:</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A864 tháng 8/2025 thay sensor Aft E/E</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A863 tháng 5/2025 thay sensor FWD E/E</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A864 tháng 7/2024 thay sensor cho AFT E/E</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A864 Tháng 9/2016 thay sensor cho FWD E/E.</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A869 Tháng 12/2016 thay sensor cho AFT E/E:</a:t>
                      </a:r>
                      <a:br>
                        <a:rPr lang="vi-VN" sz="1000" b="0" i="0" u="none" strike="noStrike" dirty="0">
                          <a:solidFill>
                            <a:srgbClr val="000000"/>
                          </a:solidFill>
                          <a:effectLst/>
                          <a:latin typeface="Times New Roman" panose="02020603050405020304" pitchFamily="18" charset="0"/>
                        </a:rPr>
                      </a:br>
                      <a:r>
                        <a:rPr lang="vi-VN" sz="1000" b="0" i="0" u="none" strike="noStrike" dirty="0">
                          <a:solidFill>
                            <a:srgbClr val="000000"/>
                          </a:solidFill>
                          <a:effectLst/>
                          <a:latin typeface="Times New Roman" panose="02020603050405020304" pitchFamily="18" charset="0"/>
                        </a:rPr>
                        <a:t>Boe hiện không có issue liên quan đến sensor này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78289606"/>
                  </a:ext>
                </a:extLst>
              </a:tr>
            </a:tbl>
          </a:graphicData>
        </a:graphic>
      </p:graphicFrame>
      <p:sp>
        <p:nvSpPr>
          <p:cNvPr id="11" name="TextBox 10">
            <a:extLst>
              <a:ext uri="{FF2B5EF4-FFF2-40B4-BE49-F238E27FC236}">
                <a16:creationId xmlns="" xmlns:a16="http://schemas.microsoft.com/office/drawing/2014/main" id="{358D91BA-69BE-6E61-6FA5-9BCDF228469D}"/>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5" name="TextBox 4">
            <a:extLst>
              <a:ext uri="{FF2B5EF4-FFF2-40B4-BE49-F238E27FC236}">
                <a16:creationId xmlns="" xmlns:a16="http://schemas.microsoft.com/office/drawing/2014/main" id="{7B6AC697-BE80-187A-3717-0486FEE0D88A}"/>
              </a:ext>
            </a:extLst>
          </p:cNvPr>
          <p:cNvSpPr txBox="1"/>
          <p:nvPr/>
        </p:nvSpPr>
        <p:spPr>
          <a:xfrm>
            <a:off x="134289"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03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GTB/RTO</a:t>
            </a:r>
          </a:p>
        </p:txBody>
      </p:sp>
    </p:spTree>
    <p:extLst>
      <p:ext uri="{BB962C8B-B14F-4D97-AF65-F5344CB8AC3E}">
        <p14:creationId xmlns:p14="http://schemas.microsoft.com/office/powerpoint/2010/main" val="2824568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xmlns="" id="{DCC36D3A-427C-9545-1D4C-5B04B2777BDF}"/>
              </a:ext>
            </a:extLst>
          </p:cNvPr>
          <p:cNvGraphicFramePr>
            <a:graphicFrameLocks noGrp="1"/>
          </p:cNvGraphicFramePr>
          <p:nvPr>
            <p:extLst/>
          </p:nvPr>
        </p:nvGraphicFramePr>
        <p:xfrm>
          <a:off x="175690" y="501461"/>
          <a:ext cx="11768505" cy="6287683"/>
        </p:xfrm>
        <a:graphic>
          <a:graphicData uri="http://schemas.openxmlformats.org/drawingml/2006/table">
            <a:tbl>
              <a:tblPr/>
              <a:tblGrid>
                <a:gridCol w="547901">
                  <a:extLst>
                    <a:ext uri="{9D8B030D-6E8A-4147-A177-3AD203B41FA5}">
                      <a16:colId xmlns:a16="http://schemas.microsoft.com/office/drawing/2014/main" xmlns="" val="643119251"/>
                    </a:ext>
                  </a:extLst>
                </a:gridCol>
                <a:gridCol w="713677">
                  <a:extLst>
                    <a:ext uri="{9D8B030D-6E8A-4147-A177-3AD203B41FA5}">
                      <a16:colId xmlns:a16="http://schemas.microsoft.com/office/drawing/2014/main" xmlns="" val="1309024248"/>
                    </a:ext>
                  </a:extLst>
                </a:gridCol>
                <a:gridCol w="664117">
                  <a:extLst>
                    <a:ext uri="{9D8B030D-6E8A-4147-A177-3AD203B41FA5}">
                      <a16:colId xmlns:a16="http://schemas.microsoft.com/office/drawing/2014/main" xmlns="" val="1599440573"/>
                    </a:ext>
                  </a:extLst>
                </a:gridCol>
                <a:gridCol w="1615688">
                  <a:extLst>
                    <a:ext uri="{9D8B030D-6E8A-4147-A177-3AD203B41FA5}">
                      <a16:colId xmlns:a16="http://schemas.microsoft.com/office/drawing/2014/main" xmlns="" val="3045591744"/>
                    </a:ext>
                  </a:extLst>
                </a:gridCol>
                <a:gridCol w="971395">
                  <a:extLst>
                    <a:ext uri="{9D8B030D-6E8A-4147-A177-3AD203B41FA5}">
                      <a16:colId xmlns:a16="http://schemas.microsoft.com/office/drawing/2014/main" xmlns="" val="3962808476"/>
                    </a:ext>
                  </a:extLst>
                </a:gridCol>
                <a:gridCol w="1595864">
                  <a:extLst>
                    <a:ext uri="{9D8B030D-6E8A-4147-A177-3AD203B41FA5}">
                      <a16:colId xmlns:a16="http://schemas.microsoft.com/office/drawing/2014/main" xmlns="" val="3424609158"/>
                    </a:ext>
                  </a:extLst>
                </a:gridCol>
                <a:gridCol w="5659863">
                  <a:extLst>
                    <a:ext uri="{9D8B030D-6E8A-4147-A177-3AD203B41FA5}">
                      <a16:colId xmlns:a16="http://schemas.microsoft.com/office/drawing/2014/main" xmlns="" val="2112935858"/>
                    </a:ext>
                  </a:extLst>
                </a:gridCol>
              </a:tblGrid>
              <a:tr h="208200">
                <a:tc>
                  <a:txBody>
                    <a:bodyPr/>
                    <a:lstStyle/>
                    <a:p>
                      <a:pPr algn="ctr" fontAlgn="ctr"/>
                      <a:r>
                        <a:rPr lang="en-US" sz="1300" b="0" i="0" u="none" strike="noStrike">
                          <a:solidFill>
                            <a:srgbClr val="000000"/>
                          </a:solidFill>
                          <a:effectLst/>
                          <a:latin typeface="Calibri" panose="020F0502020204030204" pitchFamily="34" charset="0"/>
                        </a:rPr>
                        <a:t>No</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02390930"/>
                  </a:ext>
                </a:extLst>
              </a:tr>
              <a:tr h="208200">
                <a:tc>
                  <a:txBody>
                    <a:bodyPr/>
                    <a:lstStyle/>
                    <a:p>
                      <a:pPr algn="ctr" fontAlgn="ctr"/>
                      <a:r>
                        <a:rPr lang="en-US" sz="1300" b="0" i="0" u="none" strike="noStrike">
                          <a:solidFill>
                            <a:srgbClr val="000000"/>
                          </a:solidFill>
                          <a:effectLst/>
                          <a:latin typeface="Calibri" panose="020F0502020204030204" pitchFamily="34" charset="0"/>
                        </a:rPr>
                        <a:t>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08407738"/>
                  </a:ext>
                </a:extLst>
              </a:tr>
              <a:tr h="288411">
                <a:tc>
                  <a:txBody>
                    <a:bodyPr/>
                    <a:lstStyle/>
                    <a:p>
                      <a:pPr algn="ctr" fontAlgn="ctr"/>
                      <a:r>
                        <a:rPr lang="en-US" sz="1300" b="0" i="0" u="none" strike="noStrike">
                          <a:solidFill>
                            <a:srgbClr val="000000"/>
                          </a:solidFill>
                          <a:effectLst/>
                          <a:latin typeface="Calibri" panose="020F0502020204030204" pitchFamily="34" charset="0"/>
                        </a:rPr>
                        <a:t>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B1412 RAISED FOR BRAKE SET INDICATOR LIGHT ON NLG INOP</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070203086"/>
                  </a:ext>
                </a:extLst>
              </a:tr>
              <a:tr h="614600">
                <a:tc>
                  <a:txBody>
                    <a:bodyPr/>
                    <a:lstStyle/>
                    <a:p>
                      <a:pPr algn="ctr" fontAlgn="ctr"/>
                      <a:r>
                        <a:rPr lang="en-US" sz="1300" b="0" i="0" u="none" strike="noStrike">
                          <a:solidFill>
                            <a:srgbClr val="000000"/>
                          </a:solidFill>
                          <a:effectLst/>
                          <a:latin typeface="Calibri" panose="020F0502020204030204" pitchFamily="34" charset="0"/>
                        </a:rPr>
                        <a:t>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B1741 LOWER DU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B1743 AHRU L INOP;</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215725950"/>
                  </a:ext>
                </a:extLst>
              </a:tr>
              <a:tr h="614600">
                <a:tc>
                  <a:txBody>
                    <a:bodyPr/>
                    <a:lstStyle/>
                    <a:p>
                      <a:pPr algn="ctr" fontAlgn="ctr"/>
                      <a:r>
                        <a:rPr lang="en-US" sz="1300" b="0" i="0" u="none" strike="noStrike">
                          <a:solidFill>
                            <a:srgbClr val="000000"/>
                          </a:solidFill>
                          <a:effectLst/>
                          <a:latin typeface="Calibri" panose="020F0502020204030204" pitchFamily="34" charset="0"/>
                        </a:rPr>
                        <a:t>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B1330 ANTI -ICE CAC 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B1338 STS MSG "FLAP POSN/SKEW SENSORS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B1339 RAISED NITROGEN GENERATION SYS INOP</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99190021"/>
                  </a:ext>
                </a:extLst>
              </a:tr>
              <a:tr h="208200">
                <a:tc>
                  <a:txBody>
                    <a:bodyPr/>
                    <a:lstStyle/>
                    <a:p>
                      <a:pPr algn="ctr" fontAlgn="ctr"/>
                      <a:r>
                        <a:rPr lang="en-US" sz="1300" b="0" i="0" u="none" strike="noStrike">
                          <a:solidFill>
                            <a:srgbClr val="000000"/>
                          </a:solidFill>
                          <a:effectLst/>
                          <a:latin typeface="Calibri" panose="020F0502020204030204" pitchFamily="34" charset="0"/>
                        </a:rPr>
                        <a:t>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B957 STS MSG: "LAVATORY/GALLEY AIR FLOW"</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78451492"/>
                  </a:ext>
                </a:extLst>
              </a:tr>
              <a:tr h="432872">
                <a:tc>
                  <a:txBody>
                    <a:bodyPr/>
                    <a:lstStyle/>
                    <a:p>
                      <a:pPr algn="ctr" fontAlgn="ctr"/>
                      <a:r>
                        <a:rPr lang="en-US" sz="1300" b="0" i="0" u="none" strike="noStrike">
                          <a:solidFill>
                            <a:srgbClr val="000000"/>
                          </a:solidFill>
                          <a:effectLst/>
                          <a:latin typeface="Calibri" panose="020F0502020204030204" pitchFamily="34" charset="0"/>
                        </a:rPr>
                        <a:t>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B1399 CAC R2 IS INOP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30778796"/>
                  </a:ext>
                </a:extLst>
              </a:tr>
              <a:tr h="614600">
                <a:tc>
                  <a:txBody>
                    <a:bodyPr/>
                    <a:lstStyle/>
                    <a:p>
                      <a:pPr algn="ctr" fontAlgn="ctr"/>
                      <a:r>
                        <a:rPr lang="en-US" sz="1300" b="0" i="0" u="none" strike="noStrike">
                          <a:solidFill>
                            <a:srgbClr val="000000"/>
                          </a:solidFill>
                          <a:effectLst/>
                          <a:latin typeface="Calibri" panose="020F0502020204030204" pitchFamily="34" charset="0"/>
                        </a:rPr>
                        <a:t>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giảm tần suất soi 250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B1618 WEATHER RADAR SYS 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B1620 ENG VIB MONITOR L</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37053347"/>
                  </a:ext>
                </a:extLst>
              </a:tr>
              <a:tr h="208200">
                <a:tc>
                  <a:txBody>
                    <a:bodyPr/>
                    <a:lstStyle/>
                    <a:p>
                      <a:pPr algn="ctr" fontAlgn="ctr"/>
                      <a:r>
                        <a:rPr lang="en-US" sz="1300" b="0" i="0" u="none" strike="noStrike">
                          <a:solidFill>
                            <a:srgbClr val="000000"/>
                          </a:solidFill>
                          <a:effectLst/>
                          <a:latin typeface="Calibri" panose="020F0502020204030204" pitchFamily="34" charset="0"/>
                        </a:rPr>
                        <a:t>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919698674"/>
                  </a:ext>
                </a:extLst>
              </a:tr>
              <a:tr h="614600">
                <a:tc>
                  <a:txBody>
                    <a:bodyPr/>
                    <a:lstStyle/>
                    <a:p>
                      <a:pPr algn="ctr" fontAlgn="ctr"/>
                      <a:r>
                        <a:rPr lang="en-US" sz="1300" b="0" i="0" u="none" strike="noStrike">
                          <a:solidFill>
                            <a:srgbClr val="000000"/>
                          </a:solidFill>
                          <a:effectLst/>
                          <a:latin typeface="Calibri" panose="020F0502020204030204" pitchFamily="34" charset="0"/>
                        </a:rPr>
                        <a:t>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B1073:TAIL AIR FLOW SYS</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972392014"/>
                  </a:ext>
                </a:extLst>
              </a:tr>
              <a:tr h="208200">
                <a:tc>
                  <a:txBody>
                    <a:bodyPr/>
                    <a:lstStyle/>
                    <a:p>
                      <a:pPr algn="ctr" fontAlgn="ctr"/>
                      <a:r>
                        <a:rPr lang="en-US" sz="1300" b="0" i="0" u="none" strike="noStrike">
                          <a:solidFill>
                            <a:srgbClr val="000000"/>
                          </a:solidFill>
                          <a:effectLst/>
                          <a:latin typeface="Calibri" panose="020F0502020204030204" pitchFamily="34" charset="0"/>
                        </a:rPr>
                        <a:t>10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10112813"/>
                  </a:ext>
                </a:extLst>
              </a:tr>
              <a:tr h="208200">
                <a:tc>
                  <a:txBody>
                    <a:bodyPr/>
                    <a:lstStyle/>
                    <a:p>
                      <a:pPr algn="ctr" fontAlgn="ctr"/>
                      <a:r>
                        <a:rPr lang="en-US" sz="1300" b="0" i="0" u="none" strike="noStrike">
                          <a:solidFill>
                            <a:srgbClr val="000000"/>
                          </a:solidFill>
                          <a:effectLst/>
                          <a:latin typeface="Calibri" panose="020F0502020204030204" pitchFamily="34" charset="0"/>
                        </a:rPr>
                        <a:t>11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33949999"/>
                  </a:ext>
                </a:extLst>
              </a:tr>
              <a:tr h="208200">
                <a:tc>
                  <a:txBody>
                    <a:bodyPr/>
                    <a:lstStyle/>
                    <a:p>
                      <a:pPr algn="ctr" fontAlgn="ctr"/>
                      <a:r>
                        <a:rPr lang="en-US" sz="1300" b="0" i="0" u="none" strike="noStrike">
                          <a:solidFill>
                            <a:srgbClr val="000000"/>
                          </a:solidFill>
                          <a:effectLst/>
                          <a:latin typeface="Calibri" panose="020F0502020204030204" pitchFamily="34" charset="0"/>
                        </a:rPr>
                        <a:t>12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94305073"/>
                  </a:ext>
                </a:extLst>
              </a:tr>
              <a:tr h="208200">
                <a:tc>
                  <a:txBody>
                    <a:bodyPr/>
                    <a:lstStyle/>
                    <a:p>
                      <a:pPr algn="ctr" fontAlgn="ctr"/>
                      <a:r>
                        <a:rPr lang="en-US" sz="1300" b="0" i="0" u="none" strike="noStrike">
                          <a:solidFill>
                            <a:srgbClr val="000000"/>
                          </a:solidFill>
                          <a:effectLst/>
                          <a:latin typeface="Calibri" panose="020F0502020204030204" pitchFamily="34" charset="0"/>
                        </a:rPr>
                        <a:t>13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45868186"/>
                  </a:ext>
                </a:extLst>
              </a:tr>
              <a:tr h="208200">
                <a:tc>
                  <a:txBody>
                    <a:bodyPr/>
                    <a:lstStyle/>
                    <a:p>
                      <a:pPr algn="ctr" fontAlgn="ctr"/>
                      <a:r>
                        <a:rPr lang="en-US" sz="1300" b="0" i="0" u="none" strike="noStrike">
                          <a:solidFill>
                            <a:srgbClr val="000000"/>
                          </a:solidFill>
                          <a:effectLst/>
                          <a:latin typeface="Calibri" panose="020F0502020204030204" pitchFamily="34" charset="0"/>
                        </a:rPr>
                        <a:t>14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78671017"/>
                  </a:ext>
                </a:extLst>
              </a:tr>
              <a:tr h="208200">
                <a:tc>
                  <a:txBody>
                    <a:bodyPr/>
                    <a:lstStyle/>
                    <a:p>
                      <a:pPr algn="ctr" fontAlgn="ctr"/>
                      <a:r>
                        <a:rPr lang="en-US" sz="1300" b="0" i="0" u="none" strike="noStrike">
                          <a:solidFill>
                            <a:srgbClr val="000000"/>
                          </a:solidFill>
                          <a:effectLst/>
                          <a:latin typeface="Calibri" panose="020F0502020204030204" pitchFamily="34" charset="0"/>
                        </a:rPr>
                        <a:t>15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80918892"/>
                  </a:ext>
                </a:extLst>
              </a:tr>
              <a:tr h="208200">
                <a:tc>
                  <a:txBody>
                    <a:bodyPr/>
                    <a:lstStyle/>
                    <a:p>
                      <a:pPr algn="ctr" fontAlgn="ctr"/>
                      <a:r>
                        <a:rPr lang="en-US" sz="1300" b="0" i="0" u="none" strike="noStrike">
                          <a:solidFill>
                            <a:srgbClr val="000000"/>
                          </a:solidFill>
                          <a:effectLst/>
                          <a:latin typeface="Calibri" panose="020F0502020204030204" pitchFamily="34" charset="0"/>
                        </a:rPr>
                        <a:t>16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118177"/>
                  </a:ext>
                </a:extLst>
              </a:tr>
              <a:tr h="817800">
                <a:tc>
                  <a:txBody>
                    <a:bodyPr/>
                    <a:lstStyle/>
                    <a:p>
                      <a:pPr algn="ctr" fontAlgn="ctr"/>
                      <a:r>
                        <a:rPr lang="en-US" sz="1300" b="0" i="0" u="none" strike="noStrike">
                          <a:solidFill>
                            <a:srgbClr val="000000"/>
                          </a:solidFill>
                          <a:effectLst/>
                          <a:latin typeface="Calibri" panose="020F0502020204030204" pitchFamily="34" charset="0"/>
                        </a:rPr>
                        <a:t>17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B603 WEATHER RADAR SYS L ON STATUS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B616 BRAKE # 7 WORN TO LIMIT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95509788"/>
                  </a:ext>
                </a:extLst>
              </a:tr>
            </a:tbl>
          </a:graphicData>
        </a:graphic>
      </p:graphicFrame>
    </p:spTree>
    <p:extLst>
      <p:ext uri="{BB962C8B-B14F-4D97-AF65-F5344CB8AC3E}">
        <p14:creationId xmlns:p14="http://schemas.microsoft.com/office/powerpoint/2010/main" val="3685484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17</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xmlns="" id="{795CC2F9-72E9-47BD-A040-3231760CEEDB}"/>
              </a:ext>
            </a:extLst>
          </p:cNvPr>
          <p:cNvSpPr/>
          <p:nvPr/>
        </p:nvSpPr>
        <p:spPr>
          <a:xfrm>
            <a:off x="250649" y="594264"/>
            <a:ext cx="11941351" cy="2800767"/>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tương đối tốt, chỉ có 01 TH RTO của A864 ngày 04/08.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t>
            </a:r>
            <a:r>
              <a:rPr lang="en-US" sz="1600">
                <a:solidFill>
                  <a:prstClr val="black"/>
                </a:solidFill>
                <a:latin typeface="Times New Roman" panose="02020603050405020304" pitchFamily="18" charset="0"/>
                <a:cs typeface="Times New Roman" panose="02020603050405020304" pitchFamily="18" charset="0"/>
              </a:rPr>
              <a:t>A864 RTO VN31 SGN-FRA ngày 04/08 do phát sinh </a:t>
            </a:r>
            <a:r>
              <a:rPr lang="en-SG" sz="1600">
                <a:solidFill>
                  <a:prstClr val="black"/>
                </a:solidFill>
                <a:latin typeface="Times New Roman" panose="02020603050405020304" pitchFamily="18" charset="0"/>
                <a:cs typeface="Times New Roman" panose="02020603050405020304" pitchFamily="18" charset="0"/>
              </a:rPr>
              <a:t>AFT E/E ACCESS PANEL DOOR OPEN WITH EICAS -&gt; C/O INSPECTION AND TEST AFT EE ACCESS DOOR SATIS.</a:t>
            </a:r>
          </a:p>
          <a:p>
            <a:pPr marL="609585" lvl="1" algn="just"/>
            <a:r>
              <a:rPr lang="vi-VN" sz="1600">
                <a:solidFill>
                  <a:srgbClr val="FF0000"/>
                </a:solidFill>
                <a:latin typeface="Times New Roman" panose="02020603050405020304" pitchFamily="18" charset="0"/>
                <a:cs typeface="Times New Roman" panose="02020603050405020304" pitchFamily="18" charset="0"/>
              </a:rPr>
              <a:t>Thực hiện kiểm tra không thấy bất thường; Ngày 05/8, thực hiện thêm các bước inspect theo FIM task không có bất thường. Tàu vẫn thay Sensor đề phòng OI. Tháng 7/2024, tàu cũng bị tương tự ở AFT EE door, kiểm tra cũng không phát hiện bất thường và cũng thay sensor để đề phòng OI. VAE đang thực hiện download FDR date để gửi BOE phân tích cũng như xem xét về hỏng hóc này. Thống kê ĐTC với cửa E/E: A864 tháng 8/2025 thay sensor Aft E/E A863 tháng 5/2025 thay sensor FWD E/E A864 tháng 7/2024 thay sensor cho AFT E/E A864 Tháng 9/2016 thay sensor cho FWD E/E. A869 Tháng 12/2016 thay sensor cho AFT E/E: Boe hiện không có issue liên quan đến sensor này</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138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1DF8843E-635B-7145-E3F0-1D26B6D7715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902061A1-C6D6-DD48-60F9-301DACAE033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6CB74666-6723-BBB8-859D-F57AA230B139}"/>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 xmlns:a16="http://schemas.microsoft.com/office/drawing/2014/main" id="{DDFD1353-E13F-C476-9A30-AA5680A9533D}"/>
              </a:ext>
            </a:extLst>
          </p:cNvPr>
          <p:cNvGraphicFramePr>
            <a:graphicFrameLocks noGrp="1"/>
          </p:cNvGraphicFramePr>
          <p:nvPr>
            <p:extLst>
              <p:ext uri="{D42A27DB-BD31-4B8C-83A1-F6EECF244321}">
                <p14:modId xmlns:p14="http://schemas.microsoft.com/office/powerpoint/2010/main" val="3682797649"/>
              </p:ext>
            </p:extLst>
          </p:nvPr>
        </p:nvGraphicFramePr>
        <p:xfrm>
          <a:off x="117664" y="1521021"/>
          <a:ext cx="11723450" cy="2248092"/>
        </p:xfrm>
        <a:graphic>
          <a:graphicData uri="http://schemas.openxmlformats.org/drawingml/2006/table">
            <a:tbl>
              <a:tblPr/>
              <a:tblGrid>
                <a:gridCol w="381073">
                  <a:extLst>
                    <a:ext uri="{9D8B030D-6E8A-4147-A177-3AD203B41FA5}">
                      <a16:colId xmlns="" xmlns:a16="http://schemas.microsoft.com/office/drawing/2014/main" val="2284300101"/>
                    </a:ext>
                  </a:extLst>
                </a:gridCol>
                <a:gridCol w="698464">
                  <a:extLst>
                    <a:ext uri="{9D8B030D-6E8A-4147-A177-3AD203B41FA5}">
                      <a16:colId xmlns="" xmlns:a16="http://schemas.microsoft.com/office/drawing/2014/main" val="3376405456"/>
                    </a:ext>
                  </a:extLst>
                </a:gridCol>
                <a:gridCol w="419078">
                  <a:extLst>
                    <a:ext uri="{9D8B030D-6E8A-4147-A177-3AD203B41FA5}">
                      <a16:colId xmlns="" xmlns:a16="http://schemas.microsoft.com/office/drawing/2014/main" val="2653704242"/>
                    </a:ext>
                  </a:extLst>
                </a:gridCol>
                <a:gridCol w="698464">
                  <a:extLst>
                    <a:ext uri="{9D8B030D-6E8A-4147-A177-3AD203B41FA5}">
                      <a16:colId xmlns="" xmlns:a16="http://schemas.microsoft.com/office/drawing/2014/main" val="3369821226"/>
                    </a:ext>
                  </a:extLst>
                </a:gridCol>
                <a:gridCol w="769327">
                  <a:extLst>
                    <a:ext uri="{9D8B030D-6E8A-4147-A177-3AD203B41FA5}">
                      <a16:colId xmlns="" xmlns:a16="http://schemas.microsoft.com/office/drawing/2014/main" val="775914175"/>
                    </a:ext>
                  </a:extLst>
                </a:gridCol>
                <a:gridCol w="692320">
                  <a:extLst>
                    <a:ext uri="{9D8B030D-6E8A-4147-A177-3AD203B41FA5}">
                      <a16:colId xmlns="" xmlns:a16="http://schemas.microsoft.com/office/drawing/2014/main" val="1357391052"/>
                    </a:ext>
                  </a:extLst>
                </a:gridCol>
                <a:gridCol w="1405210">
                  <a:extLst>
                    <a:ext uri="{9D8B030D-6E8A-4147-A177-3AD203B41FA5}">
                      <a16:colId xmlns="" xmlns:a16="http://schemas.microsoft.com/office/drawing/2014/main" val="1399571794"/>
                    </a:ext>
                  </a:extLst>
                </a:gridCol>
                <a:gridCol w="3200400">
                  <a:extLst>
                    <a:ext uri="{9D8B030D-6E8A-4147-A177-3AD203B41FA5}">
                      <a16:colId xmlns="" xmlns:a16="http://schemas.microsoft.com/office/drawing/2014/main" val="386609919"/>
                    </a:ext>
                  </a:extLst>
                </a:gridCol>
                <a:gridCol w="381000">
                  <a:extLst>
                    <a:ext uri="{9D8B030D-6E8A-4147-A177-3AD203B41FA5}">
                      <a16:colId xmlns="" xmlns:a16="http://schemas.microsoft.com/office/drawing/2014/main" val="1685409337"/>
                    </a:ext>
                  </a:extLst>
                </a:gridCol>
                <a:gridCol w="3078114">
                  <a:extLst>
                    <a:ext uri="{9D8B030D-6E8A-4147-A177-3AD203B41FA5}">
                      <a16:colId xmlns="" xmlns:a16="http://schemas.microsoft.com/office/drawing/2014/main" val="2020567769"/>
                    </a:ext>
                  </a:extLst>
                </a:gridCol>
              </a:tblGrid>
              <a:tr h="593160">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 xmlns:a16="http://schemas.microsoft.com/office/drawing/2014/main" val="2806886802"/>
                  </a:ext>
                </a:extLst>
              </a:tr>
              <a:tr h="1654932">
                <a:tc>
                  <a:txBody>
                    <a:bodyPr/>
                    <a:lstStyle/>
                    <a:p>
                      <a:pPr algn="l" fontAlgn="ctr">
                        <a:buNone/>
                      </a:pPr>
                      <a:r>
                        <a:rPr lang="vi-VN" sz="1100" b="0" i="0" u="none" strike="noStrike" dirty="0">
                          <a:solidFill>
                            <a:srgbClr val="000000"/>
                          </a:solidFill>
                          <a:effectLst/>
                          <a:latin typeface="Times New Roman" panose="02020603050405020304" pitchFamily="18" charset="0"/>
                        </a:rPr>
                        <a:t>B223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18:20 09/08/2025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VN7664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SGN-TBB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Times New Roman" panose="02020603050405020304" pitchFamily="18" charset="0"/>
                        </a:rPr>
                        <a:t>DURING TRANSIT, MESSAGE APPEARED: AFCS INVALID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smtClean="0">
                          <a:solidFill>
                            <a:srgbClr val="000000"/>
                          </a:solidFill>
                          <a:effectLst/>
                          <a:latin typeface="Times New Roman" panose="02020603050405020304" pitchFamily="18" charset="0"/>
                        </a:rPr>
                        <a:t>C/O RAISED MEL 22-18-01-01 FOR AP FUNCTION INOP, A/C SERVICEABLE</a:t>
                      </a:r>
                      <a:endParaRPr lang="en-US" sz="11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a:solidFill>
                            <a:srgbClr val="000000"/>
                          </a:solidFill>
                          <a:effectLst/>
                          <a:latin typeface="Times New Roman" panose="02020603050405020304" pitchFamily="18" charset="0"/>
                        </a:rPr>
                        <a:t>22-00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100" b="0" i="0" u="none" strike="noStrike" dirty="0">
                          <a:solidFill>
                            <a:srgbClr val="000000"/>
                          </a:solidFill>
                          <a:effectLst/>
                          <a:latin typeface="Times New Roman" panose="02020603050405020304" pitchFamily="18" charset="0"/>
                        </a:rPr>
                        <a:t>Raise ADD Auto Pilot function inop để tiếp tục khai thác. Đã thay AFCS computer nhưng chưa khắc phục được, đang chờ kiểm tra LH &amp; RH  ELEVATOR TRIM  ACTUATOR.Tiếp tục theo dõi việc khắc phục ADD để đánh giá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127358119"/>
                  </a:ext>
                </a:extLst>
              </a:tr>
            </a:tbl>
          </a:graphicData>
        </a:graphic>
      </p:graphicFrame>
      <p:sp>
        <p:nvSpPr>
          <p:cNvPr id="11" name="TextBox 10">
            <a:extLst>
              <a:ext uri="{FF2B5EF4-FFF2-40B4-BE49-F238E27FC236}">
                <a16:creationId xmlns="" xmlns:a16="http://schemas.microsoft.com/office/drawing/2014/main" id="{3C74878E-AC93-6635-D917-B6E1EFAAA83F}"/>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5" name="TextBox 4">
            <a:extLst>
              <a:ext uri="{FF2B5EF4-FFF2-40B4-BE49-F238E27FC236}">
                <a16:creationId xmlns="" xmlns:a16="http://schemas.microsoft.com/office/drawing/2014/main" id="{8E59899B-65D4-9AFE-4D06-42C6B19F9F0D}"/>
              </a:ext>
            </a:extLst>
          </p:cNvPr>
          <p:cNvSpPr txBox="1"/>
          <p:nvPr/>
        </p:nvSpPr>
        <p:spPr>
          <a:xfrm>
            <a:off x="134289"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987492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F0CA75EA-080A-64A9-246F-8C137B5AAA1A}"/>
              </a:ext>
            </a:extLst>
          </p:cNvPr>
          <p:cNvSpPr>
            <a:spLocks noGrp="1"/>
          </p:cNvSpPr>
          <p:nvPr>
            <p:ph type="title"/>
          </p:nvPr>
        </p:nvSpPr>
        <p:spPr>
          <a:xfrm>
            <a:off x="991722" y="762000"/>
            <a:ext cx="9981078"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 xmlns:a16="http://schemas.microsoft.com/office/drawing/2014/main" id="{2A0D8269-7016-40C9-871E-187A7FEACF1F}"/>
              </a:ext>
            </a:extLst>
          </p:cNvPr>
          <p:cNvSpPr txBox="1"/>
          <p:nvPr/>
        </p:nvSpPr>
        <p:spPr>
          <a:xfrm>
            <a:off x="991722" y="1428169"/>
            <a:ext cx="10264462" cy="830997"/>
          </a:xfrm>
          <a:prstGeom prst="rect">
            <a:avLst/>
          </a:prstGeom>
          <a:noFill/>
        </p:spPr>
        <p:txBody>
          <a:bodyPr wrap="square">
            <a:spAutoFit/>
          </a:bodyPr>
          <a:lstStyle/>
          <a:p>
            <a:pPr algn="just">
              <a:buClrTx/>
              <a:buFontTx/>
              <a:buNone/>
              <a:defRPr/>
            </a:pPr>
            <a:r>
              <a:rPr lang="en-US" sz="1600" b="1" kern="1200" dirty="0" err="1">
                <a:solidFill>
                  <a:prstClr val="black"/>
                </a:solidFill>
                <a:latin typeface="Times New Roman" panose="02020603050405020304" pitchFamily="18" charset="0"/>
                <a:cs typeface="Times New Roman" panose="02020603050405020304" pitchFamily="18" charset="0"/>
              </a:rPr>
              <a:t>Đội</a:t>
            </a:r>
            <a:r>
              <a:rPr lang="en-US" sz="1600" b="1" kern="1200" dirty="0">
                <a:solidFill>
                  <a:prstClr val="black"/>
                </a:solidFill>
                <a:latin typeface="Times New Roman" panose="02020603050405020304" pitchFamily="18" charset="0"/>
                <a:cs typeface="Times New Roman" panose="02020603050405020304" pitchFamily="18" charset="0"/>
              </a:rPr>
              <a:t> bay ATR72: </a:t>
            </a:r>
            <a:r>
              <a:rPr lang="vi-VN" sz="1600" dirty="0" smtClean="0">
                <a:solidFill>
                  <a:prstClr val="black"/>
                </a:solidFill>
                <a:cs typeface="Times New Roman" panose="02020603050405020304" pitchFamily="18" charset="0"/>
              </a:rPr>
              <a:t>trong </a:t>
            </a:r>
            <a:r>
              <a:rPr lang="vi-VN" sz="1600" dirty="0">
                <a:solidFill>
                  <a:prstClr val="black"/>
                </a:solidFill>
                <a:cs typeface="Times New Roman" panose="02020603050405020304" pitchFamily="18" charset="0"/>
              </a:rPr>
              <a:t>tuần chỉ có 01 vụ việc delay tàu bay B223 ngày 09/08/2025 tại SGN do lỗi AFCS Invalid phải raise ADD để khai thác. Hiện đã thay AFCS computer nhưng chưa khắc phục được, đang chờ kiểm tra LH &amp; RH ELEVATOR TRIM  ACTUATOR để đánh giá thêm.</a:t>
            </a:r>
            <a:endParaRPr lang="en-US" sz="16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395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W32 (04/08/2025-10/08/20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3140014"/>
            <a:ext cx="11502098" cy="36009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a:t>
            </a:r>
            <a:r>
              <a:rPr lang="en-US" sz="1200" noProof="0">
                <a:solidFill>
                  <a:prstClr val="black"/>
                </a:solidFill>
                <a:latin typeface="Times New Roman" panose="02020603050405020304" pitchFamily="18" charset="0"/>
                <a:cs typeface="Times New Roman" panose="02020603050405020304" pitchFamily="18" charset="0"/>
              </a:rPr>
              <a:t>32</a:t>
            </a: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/2025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2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a:t>
            </a:r>
            <a:r>
              <a:rPr lang="en-US" sz="1200" noProof="0">
                <a:solidFill>
                  <a:prstClr val="black"/>
                </a:solidFill>
                <a:latin typeface="Times New Roman" panose="02020603050405020304" pitchFamily="18" charset="0"/>
                <a:cs typeface="Times New Roman" panose="02020603050405020304" pitchFamily="18" charset="0"/>
              </a:rPr>
              <a:t>đội các đội A321, A350 đạt mục tiêu, đội B787 và ATR72 không đạt mục tiêu</a:t>
            </a:r>
            <a:r>
              <a:rPr lang="en-US" sz="1200">
                <a:solidFill>
                  <a:prstClr val="black"/>
                </a:solidFill>
                <a:latin typeface="Times New Roman" panose="02020603050405020304" pitchFamily="18" charset="0"/>
                <a:cs typeface="Times New Roman" panose="02020603050405020304" pitchFamily="18" charset="0"/>
              </a:rPr>
              <a:t>:</a:t>
            </a:r>
            <a:endParaRPr kumimoji="0" lang="en-US" sz="1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200" dirty="0">
                <a:solidFill>
                  <a:prstClr val="black"/>
                </a:solidFill>
                <a:latin typeface="Times New Roman" panose="02020603050405020304" pitchFamily="18" charset="0"/>
                <a:cs typeface="Times New Roman" panose="02020603050405020304" pitchFamily="18" charset="0"/>
              </a:rPr>
              <a:t>A3</a:t>
            </a:r>
            <a:r>
              <a:rPr lang="vi-VN" sz="1200" dirty="0">
                <a:solidFill>
                  <a:prstClr val="black"/>
                </a:solidFill>
                <a:latin typeface="Times New Roman" panose="02020603050405020304" pitchFamily="18" charset="0"/>
                <a:cs typeface="Times New Roman" panose="02020603050405020304" pitchFamily="18" charset="0"/>
              </a:rPr>
              <a:t>21</a:t>
            </a:r>
            <a:r>
              <a:rPr lang="en-US" sz="1200">
                <a:solidFill>
                  <a:prstClr val="black"/>
                </a:solidFill>
                <a:latin typeface="Times New Roman" panose="02020603050405020304" pitchFamily="18" charset="0"/>
                <a:cs typeface="Times New Roman" panose="02020603050405020304" pitchFamily="18" charset="0"/>
              </a:rPr>
              <a:t>: 99,76% cao hơn 0,13% so với mục tiêu, tuy nhiên có 3 sự kiện GTB: </a:t>
            </a:r>
          </a:p>
          <a:p>
            <a:pPr marL="742950" lvl="1" indent="-285750">
              <a:buFont typeface="Wingdings" panose="05000000000000000000" pitchFamily="2" charset="2"/>
              <a:buChar char="Ø"/>
              <a:defRPr/>
            </a:pPr>
            <a:r>
              <a:rPr lang="en-US" sz="1200">
                <a:solidFill>
                  <a:prstClr val="black"/>
                </a:solidFill>
                <a:latin typeface="Times New Roman" panose="02020603050405020304" pitchFamily="18" charset="0"/>
                <a:cs typeface="Times New Roman" panose="02020603050405020304" pitchFamily="18" charset="0"/>
              </a:rPr>
              <a:t>A334 ngày 10/8 GTB FLAP/SYS #1 fault, phải swap SFCC 1 với SFCC 2 để khai thác;</a:t>
            </a:r>
          </a:p>
          <a:p>
            <a:pPr marL="742950" lvl="1" indent="-285750">
              <a:buFont typeface="Wingdings" panose="05000000000000000000" pitchFamily="2" charset="2"/>
              <a:buChar char="Ø"/>
              <a:defRPr/>
            </a:pPr>
            <a:r>
              <a:rPr lang="en-US" sz="1200">
                <a:solidFill>
                  <a:prstClr val="black"/>
                </a:solidFill>
                <a:latin typeface="Times New Roman" panose="02020603050405020304" pitchFamily="18" charset="0"/>
                <a:cs typeface="Times New Roman" panose="02020603050405020304" pitchFamily="18" charset="0"/>
              </a:rPr>
              <a:t>A397 ngày 4/8 GTB Auto Thrust Fault tuy nhiên sau khi quay lại kiểm tra thì bình thường và không bị lại cho tới nay;</a:t>
            </a:r>
          </a:p>
          <a:p>
            <a:pPr marL="742950" lvl="1" indent="-285750">
              <a:buFont typeface="Wingdings" panose="05000000000000000000" pitchFamily="2" charset="2"/>
              <a:buChar char="Ø"/>
              <a:defRPr/>
            </a:pPr>
            <a:r>
              <a:rPr lang="en-US" sz="1200">
                <a:solidFill>
                  <a:prstClr val="black"/>
                </a:solidFill>
                <a:latin typeface="Times New Roman" panose="02020603050405020304" pitchFamily="18" charset="0"/>
                <a:cs typeface="Times New Roman" panose="02020603050405020304" pitchFamily="18" charset="0"/>
              </a:rPr>
              <a:t>A357: 4/8, RTG due to RH Wing Tank Over Flow during taxi, sau khi test thì các hệ thống đều satis. Tuy nhiên tàu A357 đã xuất hiện 1 lần tương tự trước đó gần 1 tháng ngày 7/7/2025 tại HAN: After refuel finished, fuel overflow, C/O reset + bite test Fuel Sys and Ops test auto tranfer fuel normal. Do đó cần phải kiểm tra kỹ hơn đối với tàu này.</a:t>
            </a:r>
          </a:p>
          <a:p>
            <a:pPr marL="285750" indent="-285750">
              <a:buFont typeface="Wingdings" panose="05000000000000000000" pitchFamily="2" charset="2"/>
              <a:buChar char="v"/>
              <a:defRPr/>
            </a:pPr>
            <a:r>
              <a:rPr lang="en-US" sz="1200">
                <a:solidFill>
                  <a:prstClr val="black"/>
                </a:solidFill>
                <a:latin typeface="Times New Roman" panose="02020603050405020304" pitchFamily="18" charset="0"/>
                <a:cs typeface="Times New Roman" panose="02020603050405020304" pitchFamily="18" charset="0"/>
              </a:rPr>
              <a:t>A350: 100% cao hơn 0,56% </a:t>
            </a:r>
            <a:r>
              <a:rPr lang="en-US" sz="1200" dirty="0">
                <a:solidFill>
                  <a:prstClr val="black"/>
                </a:solidFill>
                <a:latin typeface="Times New Roman" panose="02020603050405020304" pitchFamily="18" charset="0"/>
                <a:cs typeface="Times New Roman" panose="02020603050405020304" pitchFamily="18" charset="0"/>
              </a:rPr>
              <a:t>so với </a:t>
            </a:r>
            <a:r>
              <a:rPr lang="en-US" sz="1200">
                <a:solidFill>
                  <a:prstClr val="black"/>
                </a:solidFill>
                <a:latin typeface="Times New Roman" panose="02020603050405020304" pitchFamily="18" charset="0"/>
                <a:cs typeface="Times New Roman" panose="02020603050405020304" pitchFamily="18" charset="0"/>
              </a:rPr>
              <a:t>mục tiêu</a:t>
            </a:r>
            <a:r>
              <a:rPr lang="pt-BR" sz="1200">
                <a:solidFill>
                  <a:prstClr val="black"/>
                </a:solidFill>
                <a:latin typeface="Times New Roman" panose="02020603050405020304" pitchFamily="18" charset="0"/>
                <a:cs typeface="Times New Roman" panose="02020603050405020304" pitchFamily="18" charset="0"/>
              </a:rPr>
              <a:t>.</a:t>
            </a:r>
            <a:endParaRPr lang="en-US" sz="12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200">
                <a:solidFill>
                  <a:prstClr val="black"/>
                </a:solidFill>
                <a:latin typeface="Times New Roman" panose="02020603050405020304" pitchFamily="18" charset="0"/>
                <a:cs typeface="Times New Roman" panose="02020603050405020304" pitchFamily="18" charset="0"/>
              </a:rPr>
              <a:t>B787: 98,88% thấp </a:t>
            </a:r>
            <a:r>
              <a:rPr lang="en-US" sz="1200">
                <a:latin typeface="Times New Roman" panose="02020603050405020304" pitchFamily="18" charset="0"/>
                <a:cs typeface="Times New Roman" panose="02020603050405020304" pitchFamily="18" charset="0"/>
              </a:rPr>
              <a:t>hơn 0,48% so với mục tiêu do trong tuần có 4 sự kiện, cụ thể: </a:t>
            </a:r>
          </a:p>
          <a:p>
            <a:pPr marL="742950" lvl="1" indent="-285750">
              <a:buFont typeface="Wingdings" panose="05000000000000000000" pitchFamily="2" charset="2"/>
              <a:buChar char="Ø"/>
              <a:defRPr/>
            </a:pPr>
            <a:r>
              <a:rPr lang="en-US" sz="1200">
                <a:latin typeface="Times New Roman" panose="02020603050405020304" pitchFamily="18" charset="0"/>
                <a:cs typeface="Times New Roman" panose="02020603050405020304" pitchFamily="18" charset="0"/>
              </a:rPr>
              <a:t>A872 bị fuel leak do Poppet Assy hoạt động không chính xác; theo FTD-28-22001 nguyên nhân do gioăng phẳng (flat seal) bên trong van poppet bị hỏng.</a:t>
            </a:r>
          </a:p>
          <a:p>
            <a:pPr marL="742950" lvl="1" indent="-285750">
              <a:buFont typeface="Wingdings" panose="05000000000000000000" pitchFamily="2" charset="2"/>
              <a:buChar char="Ø"/>
              <a:defRPr/>
            </a:pPr>
            <a:r>
              <a:rPr lang="en-US" sz="1200">
                <a:latin typeface="Times New Roman" panose="02020603050405020304" pitchFamily="18" charset="0"/>
                <a:cs typeface="Times New Roman" panose="02020603050405020304" pitchFamily="18" charset="0"/>
              </a:rPr>
              <a:t>A868: Rudder PCU (khối bị hỏng mới lắp lên từ tháng 5/2025 để phục vụ VIP, cần đánh giá SFR); </a:t>
            </a:r>
          </a:p>
          <a:p>
            <a:pPr marL="742950" lvl="1" indent="-285750">
              <a:buFont typeface="Wingdings" panose="05000000000000000000" pitchFamily="2" charset="2"/>
              <a:buChar char="Ø"/>
              <a:defRPr/>
            </a:pPr>
            <a:r>
              <a:rPr lang="en-US" sz="1200">
                <a:latin typeface="Times New Roman" panose="02020603050405020304" pitchFamily="18" charset="0"/>
                <a:cs typeface="Times New Roman" panose="02020603050405020304" pitchFamily="18" charset="0"/>
              </a:rPr>
              <a:t>A872: Ram Air Inlet Actuator, t</a:t>
            </a:r>
            <a:r>
              <a:rPr lang="vi-VN" sz="1200">
                <a:latin typeface="Times New Roman" panose="02020603050405020304" pitchFamily="18" charset="0"/>
                <a:cs typeface="Times New Roman" panose="02020603050405020304" pitchFamily="18" charset="0"/>
              </a:rPr>
              <a:t>heo 787-FTD-21-14013: Hỏng hóc của actuator do hỏng mối hàn trên bảng mạch; phồng rộp cuộn dây; hơi ẩm xâm nhập; Collins đã có các cải tiến: Cải thiện độ kín (new O ring) từ Aug 2016 theo 7010146-21-1,cải thiện độ bền chống ẩm từ Sep 2016 theo 7010146-21-2,  Từ khi khai thác đã thay 15 khối</a:t>
            </a:r>
            <a:r>
              <a:rPr lang="en-US" sz="1200">
                <a:latin typeface="Times New Roman" panose="02020603050405020304" pitchFamily="18" charset="0"/>
                <a:cs typeface="Times New Roman" panose="02020603050405020304" pitchFamily="18" charset="0"/>
              </a:rPr>
              <a:t> ngoài kế hoạch,</a:t>
            </a:r>
            <a:r>
              <a:rPr lang="vi-VN" sz="1200">
                <a:latin typeface="Times New Roman" panose="02020603050405020304" pitchFamily="18" charset="0"/>
                <a:cs typeface="Times New Roman" panose="02020603050405020304" pitchFamily="18" charset="0"/>
              </a:rPr>
              <a:t> MTBUR 113k lớn hơn RSPL 20k, GTBUR 16k</a:t>
            </a:r>
            <a:r>
              <a:rPr lang="en-US" sz="120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Ø"/>
              <a:defRPr/>
            </a:pPr>
            <a:r>
              <a:rPr lang="en-US" sz="1200">
                <a:latin typeface="Times New Roman" panose="02020603050405020304" pitchFamily="18" charset="0"/>
                <a:cs typeface="Times New Roman" panose="02020603050405020304" pitchFamily="18" charset="0"/>
              </a:rPr>
              <a:t>A864: cảnh báo AFT E/E ACCESS PANEL DOOR OPEN, </a:t>
            </a:r>
            <a:r>
              <a:rPr lang="vi-VN" sz="1200">
                <a:latin typeface="Times New Roman" panose="02020603050405020304" pitchFamily="18" charset="0"/>
                <a:cs typeface="Times New Roman" panose="02020603050405020304" pitchFamily="18" charset="0"/>
              </a:rPr>
              <a:t>Thực hiện kiểm tra không thấy bất thường</a:t>
            </a:r>
            <a:r>
              <a:rPr lang="en-US" sz="1200">
                <a:latin typeface="Times New Roman" panose="02020603050405020304" pitchFamily="18" charset="0"/>
                <a:cs typeface="Times New Roman" panose="02020603050405020304" pitchFamily="18" charset="0"/>
              </a:rPr>
              <a:t>, n</a:t>
            </a:r>
            <a:r>
              <a:rPr lang="vi-VN" sz="1200">
                <a:latin typeface="Times New Roman" panose="02020603050405020304" pitchFamily="18" charset="0"/>
                <a:cs typeface="Times New Roman" panose="02020603050405020304" pitchFamily="18" charset="0"/>
              </a:rPr>
              <a:t>gày 05/8, thực hiện thêm các bước inspect theo FIM task không có bất thường</a:t>
            </a:r>
            <a:r>
              <a:rPr lang="en-US" sz="1200">
                <a:latin typeface="Times New Roman" panose="02020603050405020304" pitchFamily="18" charset="0"/>
                <a:cs typeface="Times New Roman" panose="02020603050405020304" pitchFamily="18" charset="0"/>
              </a:rPr>
              <a:t>, t</a:t>
            </a:r>
            <a:r>
              <a:rPr lang="vi-VN" sz="1200">
                <a:latin typeface="Times New Roman" panose="02020603050405020304" pitchFamily="18" charset="0"/>
                <a:cs typeface="Times New Roman" panose="02020603050405020304" pitchFamily="18" charset="0"/>
              </a:rPr>
              <a:t>àu vẫn thay Sensor đề phòng OI.</a:t>
            </a:r>
            <a:r>
              <a:rPr lang="en-US" sz="1200">
                <a:latin typeface="Times New Roman" panose="02020603050405020304" pitchFamily="18" charset="0"/>
                <a:cs typeface="Times New Roman" panose="02020603050405020304" pitchFamily="18" charset="0"/>
              </a:rPr>
              <a:t> Lịch sử thay thế: A864: 08/2025 – thay sensor AFT E/E; 07/2024 – thay sensor AFT E/E; 09/2016 – thay sensor FWD E/E. A863: 05/2025 – thay sensor FWD E/E. A869: 12/2016 – thay sensor AFT E/E =&gt; cho thấy hỏng hóc tập trung trên A864 nhiều hơn các tàu khác.</a:t>
            </a:r>
          </a:p>
          <a:p>
            <a:pPr marL="285750" indent="-285750">
              <a:buFont typeface="Wingdings" panose="05000000000000000000" pitchFamily="2" charset="2"/>
              <a:buChar char="v"/>
              <a:defRPr/>
            </a:pPr>
            <a:r>
              <a:rPr lang="en-US" sz="1200">
                <a:solidFill>
                  <a:prstClr val="black"/>
                </a:solidFill>
                <a:latin typeface="Times New Roman" panose="02020603050405020304" pitchFamily="18" charset="0"/>
                <a:cs typeface="Times New Roman" panose="02020603050405020304" pitchFamily="18" charset="0"/>
              </a:rPr>
              <a:t>ATR72: 99,55% thấp hơn 0,10% </a:t>
            </a:r>
            <a:r>
              <a:rPr lang="en-US" sz="1200" dirty="0">
                <a:solidFill>
                  <a:prstClr val="black"/>
                </a:solidFill>
                <a:latin typeface="Times New Roman" panose="02020603050405020304" pitchFamily="18" charset="0"/>
                <a:cs typeface="Times New Roman" panose="02020603050405020304" pitchFamily="18" charset="0"/>
              </a:rPr>
              <a:t>so với </a:t>
            </a:r>
            <a:r>
              <a:rPr lang="en-US" sz="1200">
                <a:solidFill>
                  <a:prstClr val="black"/>
                </a:solidFill>
                <a:latin typeface="Times New Roman" panose="02020603050405020304" pitchFamily="18" charset="0"/>
                <a:cs typeface="Times New Roman" panose="02020603050405020304" pitchFamily="18" charset="0"/>
              </a:rPr>
              <a:t>mục tiêu do có 01 sự kiện tàu B223 do cảnh báo AFCS INVALID, raise ADD. Hỏng hóc máy tính AFCS cũng đã gây 01 vụ ATB tàu B221 ngày 20/7/2025.</a:t>
            </a:r>
            <a:endParaRPr lang="en-US" sz="12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 xmlns:a16="http://schemas.microsoft.com/office/drawing/2014/main" id="{29C63447-9F0E-F5EB-F621-78A1848A848E}"/>
              </a:ext>
            </a:extLst>
          </p:cNvPr>
          <p:cNvGraphicFramePr>
            <a:graphicFrameLocks noGrp="1"/>
          </p:cNvGraphicFramePr>
          <p:nvPr/>
        </p:nvGraphicFramePr>
        <p:xfrm>
          <a:off x="9928895" y="671859"/>
          <a:ext cx="2125869" cy="2468155"/>
        </p:xfrm>
        <a:graphic>
          <a:graphicData uri="http://schemas.openxmlformats.org/drawingml/2006/table">
            <a:tbl>
              <a:tblPr/>
              <a:tblGrid>
                <a:gridCol w="802339">
                  <a:extLst>
                    <a:ext uri="{9D8B030D-6E8A-4147-A177-3AD203B41FA5}">
                      <a16:colId xmlns="" xmlns:a16="http://schemas.microsoft.com/office/drawing/2014/main" val="2169649306"/>
                    </a:ext>
                  </a:extLst>
                </a:gridCol>
                <a:gridCol w="851166">
                  <a:extLst>
                    <a:ext uri="{9D8B030D-6E8A-4147-A177-3AD203B41FA5}">
                      <a16:colId xmlns="" xmlns:a16="http://schemas.microsoft.com/office/drawing/2014/main" val="3397981216"/>
                    </a:ext>
                  </a:extLst>
                </a:gridCol>
                <a:gridCol w="472364">
                  <a:extLst>
                    <a:ext uri="{9D8B030D-6E8A-4147-A177-3AD203B41FA5}">
                      <a16:colId xmlns="" xmlns:a16="http://schemas.microsoft.com/office/drawing/2014/main" val="4123869646"/>
                    </a:ext>
                  </a:extLst>
                </a:gridCol>
              </a:tblGrid>
              <a:tr h="1129719">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4238093152"/>
                  </a:ext>
                </a:extLst>
              </a:tr>
              <a:tr h="334609">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2496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3406977045"/>
                  </a:ext>
                </a:extLst>
              </a:tr>
              <a:tr h="334609">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050568924"/>
                  </a:ext>
                </a:extLst>
              </a:tr>
              <a:tr h="334609">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1529025990"/>
                  </a:ext>
                </a:extLst>
              </a:tr>
              <a:tr h="334609">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 xmlns:a16="http://schemas.microsoft.com/office/drawing/2014/main" val="804591176"/>
                  </a:ext>
                </a:extLst>
              </a:tr>
            </a:tbl>
          </a:graphicData>
        </a:graphic>
      </p:graphicFrame>
      <p:graphicFrame>
        <p:nvGraphicFramePr>
          <p:cNvPr id="10" name="Chart 9">
            <a:extLst>
              <a:ext uri="{FF2B5EF4-FFF2-40B4-BE49-F238E27FC236}">
                <a16:creationId xmlns="" xmlns:a16="http://schemas.microsoft.com/office/drawing/2014/main" id="{00000000-0008-0000-0000-000006000000}"/>
              </a:ext>
            </a:extLst>
          </p:cNvPr>
          <p:cNvGraphicFramePr>
            <a:graphicFrameLocks/>
          </p:cNvGraphicFramePr>
          <p:nvPr/>
        </p:nvGraphicFramePr>
        <p:xfrm>
          <a:off x="552666" y="648156"/>
          <a:ext cx="9128363" cy="2491859"/>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281156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21</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 xmlns:a16="http://schemas.microsoft.com/office/drawing/2014/main" id="{B51B125A-92E0-55D4-355A-A287D3D9C84E}"/>
              </a:ext>
            </a:extLst>
          </p:cNvPr>
          <p:cNvGraphicFramePr>
            <a:graphicFrameLocks/>
          </p:cNvGraphicFramePr>
          <p:nvPr/>
        </p:nvGraphicFramePr>
        <p:xfrm>
          <a:off x="156783" y="612694"/>
          <a:ext cx="11878434" cy="5945512"/>
        </p:xfrm>
        <a:graphic>
          <a:graphicData uri="http://schemas.openxmlformats.org/drawingml/2006/table">
            <a:tbl>
              <a:tblPr>
                <a:tableStyleId>{5C22544A-7EE6-4342-B048-85BDC9FD1C3A}</a:tableStyleId>
              </a:tblPr>
              <a:tblGrid>
                <a:gridCol w="422727">
                  <a:extLst>
                    <a:ext uri="{9D8B030D-6E8A-4147-A177-3AD203B41FA5}">
                      <a16:colId xmlns="" xmlns:a16="http://schemas.microsoft.com/office/drawing/2014/main" val="2758273930"/>
                    </a:ext>
                  </a:extLst>
                </a:gridCol>
                <a:gridCol w="1096890">
                  <a:extLst>
                    <a:ext uri="{9D8B030D-6E8A-4147-A177-3AD203B41FA5}">
                      <a16:colId xmlns="" xmlns:a16="http://schemas.microsoft.com/office/drawing/2014/main" val="221963637"/>
                    </a:ext>
                  </a:extLst>
                </a:gridCol>
                <a:gridCol w="9144000">
                  <a:extLst>
                    <a:ext uri="{9D8B030D-6E8A-4147-A177-3AD203B41FA5}">
                      <a16:colId xmlns="" xmlns:a16="http://schemas.microsoft.com/office/drawing/2014/main" val="426833219"/>
                    </a:ext>
                  </a:extLst>
                </a:gridCol>
                <a:gridCol w="1214817">
                  <a:extLst>
                    <a:ext uri="{9D8B030D-6E8A-4147-A177-3AD203B41FA5}">
                      <a16:colId xmlns=""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423454521"/>
                  </a:ext>
                </a:extLst>
              </a:tr>
              <a:tr h="1468767">
                <a:tc>
                  <a:txBody>
                    <a:bodyPr/>
                    <a:lstStyle/>
                    <a:p>
                      <a:pPr algn="ctr" fontAlgn="b"/>
                      <a:r>
                        <a:rPr lang="en-US" sz="125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telecon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03/05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SSA 2024 CAP, Lease engine  PW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ĐC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6,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xem</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xét</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CAP SSA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vượt</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ng</a:t>
                      </a:r>
                      <a:r>
                        <a:rPr lang="vi-VN"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ư</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14-16 slot induct.</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thục</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follow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Lease Engine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tịch</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07/06/2025.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tịch</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trả</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lời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thư</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quý</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PW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hồ</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sơ</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thứ</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đầu</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14/08 VP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Technical Support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gặp</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trao</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đổi</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kỹ</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thuật</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25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25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25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625972957"/>
                  </a:ext>
                </a:extLst>
              </a:tr>
              <a:tr h="1199876">
                <a:tc>
                  <a:txBody>
                    <a:bodyPr/>
                    <a:lstStyle/>
                    <a:p>
                      <a:pPr algn="ctr" fontAlgn="b"/>
                      <a:r>
                        <a:rPr lang="en-US" sz="125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25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ký</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thư</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support.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EVP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lãnh</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đạo</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25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tại</a:t>
                      </a:r>
                      <a:r>
                        <a:rPr lang="en-US" sz="125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IATA.</a:t>
                      </a:r>
                      <a:endParaRPr lang="en-US" sz="125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25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a:t>
                      </a:r>
                      <a:r>
                        <a:rPr lang="fr-FR" sz="125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25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25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25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25107005"/>
                  </a:ext>
                </a:extLst>
              </a:tr>
              <a:tr h="2343894">
                <a:tc>
                  <a:txBody>
                    <a:bodyPr/>
                    <a:lstStyle/>
                    <a:p>
                      <a:pPr algn="ctr" fontAlgn="b"/>
                      <a:r>
                        <a:rPr lang="en-US" sz="125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25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250" kern="1200">
                          <a:solidFill>
                            <a:schemeClr val="tx1"/>
                          </a:solidFill>
                          <a:effectLst/>
                          <a:latin typeface="Times New Roman" panose="02020603050405020304" pitchFamily="18" charset="0"/>
                          <a:ea typeface="+mn-ea"/>
                          <a:cs typeface="Times New Roman" panose="02020603050405020304" pitchFamily="18" charset="0"/>
                        </a:rPr>
                        <a:t>ơ</a:t>
                      </a:r>
                      <a:r>
                        <a:rPr lang="en-US" sz="125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25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25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25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VP RR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EVP VNA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03/07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commercial,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vẫn</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chưa</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đạt</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cụ</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thể</a:t>
                      </a:r>
                      <a:r>
                        <a:rPr lang="en-US" sz="125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VP RR sang </a:t>
                      </a: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EVP VNA </a:t>
                      </a: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14/08 </a:t>
                      </a: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25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25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commercial.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25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5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25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25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99920082"/>
                  </a:ext>
                </a:extLst>
              </a:tr>
            </a:tbl>
          </a:graphicData>
        </a:graphic>
      </p:graphicFrame>
    </p:spTree>
    <p:extLst>
      <p:ext uri="{BB962C8B-B14F-4D97-AF65-F5344CB8AC3E}">
        <p14:creationId xmlns:p14="http://schemas.microsoft.com/office/powerpoint/2010/main" val="3041194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22</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 xmlns:a16="http://schemas.microsoft.com/office/drawing/2014/main" id="{A54B3B80-6D5D-62F3-88B2-C803136634FB}"/>
              </a:ext>
            </a:extLst>
          </p:cNvPr>
          <p:cNvSpPr>
            <a:spLocks noGrp="1"/>
          </p:cNvSpPr>
          <p:nvPr>
            <p:ph type="title"/>
          </p:nvPr>
        </p:nvSpPr>
        <p:spPr>
          <a:xfrm>
            <a:off x="166441" y="38100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135115430"/>
              </p:ext>
            </p:extLst>
          </p:nvPr>
        </p:nvGraphicFramePr>
        <p:xfrm>
          <a:off x="169662" y="1073089"/>
          <a:ext cx="11878434" cy="5554466"/>
        </p:xfrm>
        <a:graphic>
          <a:graphicData uri="http://schemas.openxmlformats.org/drawingml/2006/table">
            <a:tbl>
              <a:tblPr>
                <a:tableStyleId>{5C22544A-7EE6-4342-B048-85BDC9FD1C3A}</a:tableStyleId>
              </a:tblPr>
              <a:tblGrid>
                <a:gridCol w="422727">
                  <a:extLst>
                    <a:ext uri="{9D8B030D-6E8A-4147-A177-3AD203B41FA5}">
                      <a16:colId xmlns="" xmlns:a16="http://schemas.microsoft.com/office/drawing/2014/main" val="2758273930"/>
                    </a:ext>
                  </a:extLst>
                </a:gridCol>
                <a:gridCol w="1182943">
                  <a:extLst>
                    <a:ext uri="{9D8B030D-6E8A-4147-A177-3AD203B41FA5}">
                      <a16:colId xmlns="" xmlns:a16="http://schemas.microsoft.com/office/drawing/2014/main" val="221963637"/>
                    </a:ext>
                  </a:extLst>
                </a:gridCol>
                <a:gridCol w="8524548">
                  <a:extLst>
                    <a:ext uri="{9D8B030D-6E8A-4147-A177-3AD203B41FA5}">
                      <a16:colId xmlns="" xmlns:a16="http://schemas.microsoft.com/office/drawing/2014/main" val="426833219"/>
                    </a:ext>
                  </a:extLst>
                </a:gridCol>
                <a:gridCol w="1748216">
                  <a:extLst>
                    <a:ext uri="{9D8B030D-6E8A-4147-A177-3AD203B41FA5}">
                      <a16:colId xmlns="" xmlns:a16="http://schemas.microsoft.com/office/drawing/2014/main" val="3649942957"/>
                    </a:ext>
                  </a:extLst>
                </a:gridCol>
              </a:tblGrid>
              <a:tr h="314320">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2423454521"/>
                  </a:ext>
                </a:extLst>
              </a:tr>
              <a:tr h="810348">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Chuẩn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SwissAS</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dirty="0">
                          <a:solidFill>
                            <a:schemeClr val="tx1"/>
                          </a:solidFill>
                          <a:effectLst/>
                          <a:latin typeface="Times New Roman" panose="02020603050405020304" pitchFamily="18" charset="0"/>
                          <a:cs typeface="Times New Roman" panose="02020603050405020304" pitchFamily="18" charset="0"/>
                        </a:rPr>
                        <a:t>Sau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hợp</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đồng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với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SAS,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Tổ</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triển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khai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eTL</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triển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khai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các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liên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quan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Mục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tiêu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đ</a:t>
                      </a:r>
                      <a:r>
                        <a:rPr lang="vi-VN" sz="1300" b="0" i="0" u="none" strike="noStrike" dirty="0">
                          <a:solidFill>
                            <a:schemeClr val="tx1"/>
                          </a:solidFill>
                          <a:effectLst/>
                          <a:latin typeface="Times New Roman" panose="02020603050405020304" pitchFamily="18" charset="0"/>
                          <a:cs typeface="Times New Roman" panose="02020603050405020304" pitchFamily="18" charset="0"/>
                        </a:rPr>
                        <a:t>ư</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a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vào</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sử</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dụng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đầu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năm</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2026</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625972957"/>
                  </a:ext>
                </a:extLst>
              </a:tr>
              <a:tr h="810348">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IFC 10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05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A891, A899, A893, A897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KH activation 05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a:solidFill>
                            <a:srgbClr val="FF0000"/>
                          </a:solidFill>
                          <a:latin typeface="Times New Roman" panose="02020603050405020304" pitchFamily="18" charset="0"/>
                          <a:cs typeface="Times New Roman" panose="02020603050405020304" pitchFamily="18" charset="0"/>
                        </a:rPr>
                        <a:t>A899 (28/7), A896 (29/7), A891 (30/7), A897 (31/7), A893 ( </a:t>
                      </a:r>
                      <a:r>
                        <a:rPr lang="en-US" altLang="vi-VN" sz="1400" b="1" dirty="0">
                          <a:solidFill>
                            <a:srgbClr val="FF0000"/>
                          </a:solidFill>
                          <a:latin typeface="Times New Roman" panose="02020603050405020304" pitchFamily="18" charset="0"/>
                          <a:cs typeface="Times New Roman" panose="02020603050405020304" pitchFamily="18" charset="0"/>
                        </a:rPr>
                        <a:t>ng</a:t>
                      </a:r>
                      <a:r>
                        <a:rPr lang="vi-VN" altLang="vi-VN" sz="1400" b="1" dirty="0">
                          <a:solidFill>
                            <a:srgbClr val="FF0000"/>
                          </a:solidFill>
                          <a:latin typeface="Times New Roman" panose="02020603050405020304" pitchFamily="18" charset="0"/>
                          <a:cs typeface="Times New Roman" panose="02020603050405020304" pitchFamily="18" charset="0"/>
                        </a:rPr>
                        <a:t>ày</a:t>
                      </a:r>
                      <a:r>
                        <a:rPr lang="en-US" altLang="vi-VN" sz="1400" b="1" dirty="0">
                          <a:solidFill>
                            <a:srgbClr val="FF0000"/>
                          </a:solidFill>
                          <a:latin typeface="Times New Roman" panose="02020603050405020304" pitchFamily="18" charset="0"/>
                          <a:cs typeface="Times New Roman" panose="02020603050405020304" pitchFamily="18" charset="0"/>
                        </a:rPr>
                        <a:t> </a:t>
                      </a:r>
                      <a:r>
                        <a:rPr lang="en-US" sz="1400" b="1" dirty="0">
                          <a:solidFill>
                            <a:srgbClr val="FF0000"/>
                          </a:solidFill>
                          <a:latin typeface="Times New Roman" panose="02020603050405020304" pitchFamily="18" charset="0"/>
                          <a:cs typeface="Times New Roman" panose="02020603050405020304" pitchFamily="18" charset="0"/>
                        </a:rPr>
                        <a:t>9</a:t>
                      </a:r>
                      <a:r>
                        <a:rPr lang="en-US" altLang="vi-VN" sz="1400" b="1" dirty="0">
                          <a:solidFill>
                            <a:srgbClr val="FF0000"/>
                          </a:solidFill>
                          <a:latin typeface="Times New Roman" panose="02020603050405020304" pitchFamily="18" charset="0"/>
                          <a:cs typeface="Times New Roman" panose="02020603050405020304" pitchFamily="18" charset="0"/>
                        </a:rPr>
                        <a:t>/8</a:t>
                      </a:r>
                      <a:r>
                        <a:rPr lang="en-US" sz="1400" b="1" dirty="0">
                          <a:solidFill>
                            <a:srgbClr val="FF0000"/>
                          </a:solidFill>
                          <a:latin typeface="Times New Roman" panose="02020603050405020304" pitchFamily="18" charset="0"/>
                          <a:cs typeface="Times New Roman" panose="02020603050405020304" pitchFamily="18" charset="0"/>
                        </a:rPr>
                        <a:t>)</a:t>
                      </a:r>
                      <a:endParaRPr lang="zh-CN" altLang="en-US"/>
                    </a:p>
                    <a:p>
                      <a:pPr marL="176213" lvl="1" indent="-176213">
                        <a:lnSpc>
                          <a:spcPct val="130000"/>
                        </a:lnSpc>
                        <a:buFontTx/>
                        <a:buChar char="-"/>
                      </a:pP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r>
                        <a:rPr lang="en-US" sz="1400" b="1" dirty="0">
                          <a:solidFill>
                            <a:schemeClr val="tx1"/>
                          </a:solidFill>
                          <a:latin typeface="Times New Roman" panose="02020603050405020304" pitchFamily="18" charset="0"/>
                          <a:cs typeface="Times New Roman" panose="02020603050405020304" pitchFamily="18" charset="0"/>
                        </a:rPr>
                        <a:t> activate IFC 04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a:t>
                      </a:r>
                      <a:r>
                        <a:rPr lang="en-US" sz="1400" b="1" dirty="0">
                          <a:solidFill>
                            <a:srgbClr val="FF0000"/>
                          </a:solidFill>
                          <a:latin typeface="Times New Roman" panose="02020603050405020304" pitchFamily="18" charset="0"/>
                          <a:cs typeface="Times New Roman" panose="02020603050405020304" pitchFamily="18" charset="0"/>
                        </a:rPr>
                        <a:t> A899, A891, A896, A897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10348">
                <a:tc>
                  <a:txBody>
                    <a:bodyPr/>
                    <a:lstStyle/>
                    <a:p>
                      <a:pPr algn="ctr" fontAlgn="b"/>
                      <a:r>
                        <a:rPr lang="en-US" sz="1400" b="1" i="0" u="none" strike="noStrike" dirty="0">
                          <a:solidFill>
                            <a:schemeClr val="tx1"/>
                          </a:solidFill>
                          <a:effectLst/>
                          <a:latin typeface="Times New Roman" panose="02020603050405020304" pitchFamily="18" charset="0"/>
                          <a:cs typeface="Times New Roman" panose="02020603050405020304" pitchFamily="18" charset="0"/>
                        </a:rPr>
                        <a:t>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marR="0" lvl="1" indent="-342900" algn="l" defTabSz="914400" rtl="0" eaLnBrk="1" fontAlgn="auto" latinLnBrk="0" hangingPunct="1">
                        <a:lnSpc>
                          <a:spcPct val="130000"/>
                        </a:lnSpc>
                        <a:spcBef>
                          <a:spcPts val="0"/>
                        </a:spcBef>
                        <a:spcAft>
                          <a:spcPts val="0"/>
                        </a:spcAft>
                        <a:buClrTx/>
                        <a:buSzTx/>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(T8/2025)</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24-36MO;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1.5-1.8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trUSD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Skyfive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A2G: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12-15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250K/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3411203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1048599" name="Google Shape;51;p4"/>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t>23</a:t>
            </a:fld>
            <a:endParaRPr>
              <a:latin typeface="Times New Roman" panose="02020603050405020304" pitchFamily="18" charset="0"/>
              <a:cs typeface="Times New Roman" panose="02020603050405020304" pitchFamily="18" charset="0"/>
            </a:endParaRPr>
          </a:p>
        </p:txBody>
      </p:sp>
      <p:sp>
        <p:nvSpPr>
          <p:cNvPr id="1048600" name="Title 2"/>
          <p:cNvSpPr>
            <a:spLocks noGrp="1"/>
          </p:cNvSpPr>
          <p:nvPr>
            <p:ph type="title"/>
          </p:nvPr>
        </p:nvSpPr>
        <p:spPr>
          <a:xfrm>
            <a:off x="990600" y="-76200"/>
            <a:ext cx="10058400"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DỰ ÁN TRỌNG ĐIỂM TRONG TUẦN</a:t>
            </a:r>
          </a:p>
        </p:txBody>
      </p:sp>
      <p:graphicFrame>
        <p:nvGraphicFramePr>
          <p:cNvPr id="4194304" name="Content Placeholder 4"/>
          <p:cNvGraphicFramePr>
            <a:graphicFrameLocks/>
          </p:cNvGraphicFramePr>
          <p:nvPr>
            <p:extLst>
              <p:ext uri="{D42A27DB-BD31-4B8C-83A1-F6EECF244321}">
                <p14:modId xmlns:p14="http://schemas.microsoft.com/office/powerpoint/2010/main" val="3691438742"/>
              </p:ext>
            </p:extLst>
          </p:nvPr>
        </p:nvGraphicFramePr>
        <p:xfrm>
          <a:off x="152400" y="393337"/>
          <a:ext cx="11963400" cy="6406382"/>
        </p:xfrm>
        <a:graphic>
          <a:graphicData uri="http://schemas.openxmlformats.org/drawingml/2006/table">
            <a:tbl>
              <a:tblPr>
                <a:tableStyleId>{5C22544A-7EE6-4342-B048-85BDC9FD1C3A}</a:tableStyleId>
              </a:tblPr>
              <a:tblGrid>
                <a:gridCol w="425751">
                  <a:extLst>
                    <a:ext uri="{9D8B030D-6E8A-4147-A177-3AD203B41FA5}">
                      <a16:colId xmlns:a16="http://schemas.microsoft.com/office/drawing/2014/main" xmlns="" val="20000"/>
                    </a:ext>
                  </a:extLst>
                </a:gridCol>
                <a:gridCol w="1022049">
                  <a:extLst>
                    <a:ext uri="{9D8B030D-6E8A-4147-A177-3AD203B41FA5}">
                      <a16:colId xmlns:a16="http://schemas.microsoft.com/office/drawing/2014/main" xmlns="" val="20001"/>
                    </a:ext>
                  </a:extLst>
                </a:gridCol>
                <a:gridCol w="9677400">
                  <a:extLst>
                    <a:ext uri="{9D8B030D-6E8A-4147-A177-3AD203B41FA5}">
                      <a16:colId xmlns:a16="http://schemas.microsoft.com/office/drawing/2014/main" xmlns="" val="20002"/>
                    </a:ext>
                  </a:extLst>
                </a:gridCol>
                <a:gridCol w="838200">
                  <a:extLst>
                    <a:ext uri="{9D8B030D-6E8A-4147-A177-3AD203B41FA5}">
                      <a16:colId xmlns:a16="http://schemas.microsoft.com/office/drawing/2014/main" xmlns="" val="20003"/>
                    </a:ext>
                  </a:extLst>
                </a:gridCol>
              </a:tblGrid>
              <a:tr h="43552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10000"/>
                  </a:ext>
                </a:extLst>
              </a:tr>
              <a:tr h="696718">
                <a:tc>
                  <a:txBody>
                    <a:bodyPr/>
                    <a:lstStyle/>
                    <a:p>
                      <a:pPr algn="ctr" fontAlgn="b"/>
                      <a:r>
                        <a:rPr lang="en-US" sz="1400" b="0" i="0" u="none" strike="noStrike" dirty="0" smtClean="0">
                          <a:solidFill>
                            <a:schemeClr val="tx1"/>
                          </a:solidFill>
                          <a:effectLst/>
                          <a:latin typeface="Times New Roman" panose="02020603050405020304" pitchFamily="18" charset="0"/>
                          <a:cs typeface="Times New Roman" panose="02020603050405020304" pitchFamily="18" charset="0"/>
                        </a:rPr>
                        <a:t>7</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CĐCH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23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300" dirty="0">
                          <a:solidFill>
                            <a:schemeClr val="tx1"/>
                          </a:solidFill>
                          <a:latin typeface="Times New Roman" panose="02020603050405020304" pitchFamily="18" charset="0"/>
                          <a:cs typeface="Times New Roman" panose="02020603050405020304" pitchFamily="18" charset="0"/>
                        </a:rPr>
                        <a:t>HĐQT </a:t>
                      </a:r>
                      <a:r>
                        <a:rPr lang="en-US" sz="1300" dirty="0" err="1">
                          <a:solidFill>
                            <a:schemeClr val="tx1"/>
                          </a:solidFill>
                          <a:latin typeface="Times New Roman" panose="02020603050405020304" pitchFamily="18" charset="0"/>
                          <a:cs typeface="Times New Roman" panose="02020603050405020304" pitchFamily="18" charset="0"/>
                        </a:rPr>
                        <a:t>đã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thông</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quả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kết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quả</a:t>
                      </a:r>
                      <a:r>
                        <a:rPr lang="en-US" sz="1300" dirty="0">
                          <a:solidFill>
                            <a:schemeClr val="tx1"/>
                          </a:solidFill>
                          <a:latin typeface="Times New Roman" panose="02020603050405020304" pitchFamily="18" charset="0"/>
                          <a:cs typeface="Times New Roman" panose="02020603050405020304" pitchFamily="18" charset="0"/>
                        </a:rPr>
                        <a:t> LC NCC </a:t>
                      </a:r>
                      <a:r>
                        <a:rPr lang="en-US" sz="1300" dirty="0" err="1">
                          <a:solidFill>
                            <a:schemeClr val="tx1"/>
                          </a:solidFill>
                          <a:latin typeface="Times New Roman" panose="02020603050405020304" pitchFamily="18" charset="0"/>
                          <a:cs typeface="Times New Roman" panose="02020603050405020304" pitchFamily="18" charset="0"/>
                        </a:rPr>
                        <a:t>ghế</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SB</a:t>
                      </a:r>
                    </a:p>
                    <a:p>
                      <a:pPr marL="176213" lvl="1" indent="-176213">
                        <a:lnSpc>
                          <a:spcPct val="130000"/>
                        </a:lnSpc>
                        <a:buFontTx/>
                        <a:buChar char="-"/>
                      </a:pPr>
                      <a:r>
                        <a:rPr lang="en-US" sz="1300" dirty="0" err="1">
                          <a:solidFill>
                            <a:schemeClr val="tx1"/>
                          </a:solidFill>
                          <a:latin typeface="Times New Roman" panose="02020603050405020304" pitchFamily="18" charset="0"/>
                          <a:cs typeface="Times New Roman" panose="02020603050405020304" pitchFamily="18" charset="0"/>
                        </a:rPr>
                        <a:t>Họp</a:t>
                      </a:r>
                      <a:r>
                        <a:rPr lang="en-US" sz="1300" dirty="0">
                          <a:solidFill>
                            <a:schemeClr val="tx1"/>
                          </a:solidFill>
                          <a:latin typeface="Times New Roman" panose="02020603050405020304" pitchFamily="18" charset="0"/>
                          <a:cs typeface="Times New Roman" panose="02020603050405020304" pitchFamily="18" charset="0"/>
                        </a:rPr>
                        <a:t> ICMT </a:t>
                      </a:r>
                      <a:r>
                        <a:rPr lang="en-US" sz="1300" dirty="0" err="1">
                          <a:solidFill>
                            <a:schemeClr val="tx1"/>
                          </a:solidFill>
                          <a:latin typeface="Times New Roman" panose="02020603050405020304" pitchFamily="18" charset="0"/>
                          <a:cs typeface="Times New Roman" panose="02020603050405020304" pitchFamily="18" charset="0"/>
                        </a:rPr>
                        <a:t>ngày</a:t>
                      </a:r>
                      <a:r>
                        <a:rPr lang="en-US" sz="1300" dirty="0">
                          <a:solidFill>
                            <a:schemeClr val="tx1"/>
                          </a:solidFill>
                          <a:latin typeface="Times New Roman" panose="02020603050405020304" pitchFamily="18" charset="0"/>
                          <a:cs typeface="Times New Roman" panose="02020603050405020304" pitchFamily="18" charset="0"/>
                        </a:rPr>
                        <a:t> 2-3 </a:t>
                      </a:r>
                      <a:r>
                        <a:rPr lang="en-US" sz="1300" dirty="0" err="1">
                          <a:solidFill>
                            <a:schemeClr val="tx1"/>
                          </a:solidFill>
                          <a:latin typeface="Times New Roman" panose="02020603050405020304" pitchFamily="18" charset="0"/>
                          <a:cs typeface="Times New Roman" panose="02020603050405020304" pitchFamily="18" charset="0"/>
                        </a:rPr>
                        <a:t>tháng</a:t>
                      </a:r>
                      <a:r>
                        <a:rPr lang="en-US" sz="1300" dirty="0">
                          <a:solidFill>
                            <a:schemeClr val="tx1"/>
                          </a:solidFill>
                          <a:latin typeface="Times New Roman" panose="02020603050405020304" pitchFamily="18" charset="0"/>
                          <a:cs typeface="Times New Roman" panose="02020603050405020304" pitchFamily="18" charset="0"/>
                        </a:rPr>
                        <a:t> 7/2025. KQ </a:t>
                      </a:r>
                      <a:r>
                        <a:rPr lang="en-US" sz="1300" dirty="0" err="1">
                          <a:solidFill>
                            <a:schemeClr val="tx1"/>
                          </a:solidFill>
                          <a:latin typeface="Times New Roman" panose="02020603050405020304" pitchFamily="18" charset="0"/>
                          <a:cs typeface="Times New Roman" panose="02020603050405020304" pitchFamily="18" charset="0"/>
                        </a:rPr>
                        <a:t>họp</a:t>
                      </a:r>
                      <a:r>
                        <a:rPr lang="en-US" sz="1300" dirty="0">
                          <a:solidFill>
                            <a:schemeClr val="tx1"/>
                          </a:solidFill>
                          <a:latin typeface="Times New Roman" panose="02020603050405020304" pitchFamily="18" charset="0"/>
                          <a:cs typeface="Times New Roman" panose="02020603050405020304" pitchFamily="18" charset="0"/>
                        </a:rPr>
                        <a:t> ICTM:</a:t>
                      </a:r>
                    </a:p>
                    <a:p>
                      <a:pPr marL="0" lvl="1" indent="0">
                        <a:lnSpc>
                          <a:spcPct val="130000"/>
                        </a:lnSpc>
                        <a:buFontTx/>
                        <a:buNone/>
                      </a:pPr>
                      <a:r>
                        <a:rPr lang="en-US" sz="1300" dirty="0">
                          <a:solidFill>
                            <a:schemeClr val="tx1"/>
                          </a:solidFill>
                          <a:latin typeface="Times New Roman" panose="02020603050405020304" pitchFamily="18" charset="0"/>
                          <a:cs typeface="Times New Roman" panose="02020603050405020304" pitchFamily="18" charset="0"/>
                        </a:rPr>
                        <a:t>   + Thống </a:t>
                      </a:r>
                      <a:r>
                        <a:rPr lang="en-US" sz="1300" dirty="0" err="1">
                          <a:solidFill>
                            <a:schemeClr val="tx1"/>
                          </a:solidFill>
                          <a:latin typeface="Times New Roman" panose="02020603050405020304" pitchFamily="18" charset="0"/>
                          <a:cs typeface="Times New Roman" panose="02020603050405020304" pitchFamily="18" charset="0"/>
                        </a:rPr>
                        <a:t>nhất</a:t>
                      </a:r>
                      <a:r>
                        <a:rPr lang="en-US" sz="1300" dirty="0">
                          <a:solidFill>
                            <a:schemeClr val="tx1"/>
                          </a:solidFill>
                          <a:latin typeface="Times New Roman" panose="02020603050405020304" pitchFamily="18" charset="0"/>
                          <a:cs typeface="Times New Roman" panose="02020603050405020304" pitchFamily="18" charset="0"/>
                        </a:rPr>
                        <a:t> Work scope, timeline </a:t>
                      </a:r>
                      <a:r>
                        <a:rPr lang="en-US" sz="1300" dirty="0" err="1">
                          <a:solidFill>
                            <a:schemeClr val="tx1"/>
                          </a:solidFill>
                          <a:latin typeface="Times New Roman" panose="02020603050405020304" pitchFamily="18" charset="0"/>
                          <a:cs typeface="Times New Roman" panose="02020603050405020304" pitchFamily="18" charset="0"/>
                        </a:rPr>
                        <a:t>dự</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án</a:t>
                      </a:r>
                      <a:r>
                        <a:rPr lang="en-US" sz="1300" dirty="0">
                          <a:solidFill>
                            <a:schemeClr val="tx1"/>
                          </a:solidFill>
                          <a:latin typeface="Times New Roman" panose="02020603050405020304" pitchFamily="18" charset="0"/>
                          <a:cs typeface="Times New Roman" panose="02020603050405020304" pitchFamily="18" charset="0"/>
                        </a:rPr>
                        <a:t>, LOPA. </a:t>
                      </a:r>
                      <a:r>
                        <a:rPr lang="en-US" sz="1300" b="1" dirty="0" err="1">
                          <a:solidFill>
                            <a:schemeClr val="tx1"/>
                          </a:solidFill>
                          <a:latin typeface="Times New Roman" panose="02020603050405020304" pitchFamily="18" charset="0"/>
                          <a:cs typeface="Times New Roman" panose="02020603050405020304" pitchFamily="18" charset="0"/>
                        </a:rPr>
                        <a:t>Dự</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kiến</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tàu</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đầu</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tiên</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thực</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hiện</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đầu</a:t>
                      </a:r>
                      <a:r>
                        <a:rPr lang="en-US" sz="1300" b="1" dirty="0">
                          <a:solidFill>
                            <a:schemeClr val="tx1"/>
                          </a:solidFill>
                          <a:latin typeface="Times New Roman" panose="02020603050405020304" pitchFamily="18" charset="0"/>
                          <a:cs typeface="Times New Roman" panose="02020603050405020304" pitchFamily="18" charset="0"/>
                        </a:rPr>
                        <a:t> </a:t>
                      </a:r>
                      <a:r>
                        <a:rPr lang="en-US" sz="1300" b="1" dirty="0" err="1">
                          <a:solidFill>
                            <a:schemeClr val="tx1"/>
                          </a:solidFill>
                          <a:latin typeface="Times New Roman" panose="02020603050405020304" pitchFamily="18" charset="0"/>
                          <a:cs typeface="Times New Roman" panose="02020603050405020304" pitchFamily="18" charset="0"/>
                        </a:rPr>
                        <a:t>tháng</a:t>
                      </a:r>
                      <a:r>
                        <a:rPr lang="en-US" sz="1300" b="1" dirty="0">
                          <a:solidFill>
                            <a:schemeClr val="tx1"/>
                          </a:solidFill>
                          <a:latin typeface="Times New Roman" panose="02020603050405020304" pitchFamily="18" charset="0"/>
                          <a:cs typeface="Times New Roman" panose="02020603050405020304" pitchFamily="18" charset="0"/>
                        </a:rPr>
                        <a:t> 12/2025</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để</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kịp</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xin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phê</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chuẩn</a:t>
                      </a:r>
                      <a:r>
                        <a:rPr lang="en-US" sz="1300" dirty="0">
                          <a:solidFill>
                            <a:schemeClr val="tx1"/>
                          </a:solidFill>
                          <a:latin typeface="Times New Roman" panose="02020603050405020304" pitchFamily="18" charset="0"/>
                          <a:cs typeface="Times New Roman" panose="02020603050405020304" pitchFamily="18" charset="0"/>
                        </a:rPr>
                        <a:t> STC </a:t>
                      </a:r>
                      <a:r>
                        <a:rPr lang="en-US" sz="1300" dirty="0" err="1">
                          <a:solidFill>
                            <a:schemeClr val="tx1"/>
                          </a:solidFill>
                          <a:latin typeface="Times New Roman" panose="02020603050405020304" pitchFamily="18" charset="0"/>
                          <a:cs typeface="Times New Roman" panose="02020603050405020304" pitchFamily="18" charset="0"/>
                        </a:rPr>
                        <a:t>trong</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năm</a:t>
                      </a:r>
                      <a:r>
                        <a:rPr lang="en-US" sz="1300" dirty="0">
                          <a:solidFill>
                            <a:schemeClr val="tx1"/>
                          </a:solidFill>
                          <a:latin typeface="Times New Roman" panose="02020603050405020304" pitchFamily="18" charset="0"/>
                          <a:cs typeface="Times New Roman" panose="02020603050405020304" pitchFamily="18" charset="0"/>
                        </a:rPr>
                        <a:t> 2025 (KH </a:t>
                      </a:r>
                      <a:r>
                        <a:rPr lang="en-US" sz="1300" dirty="0" err="1">
                          <a:solidFill>
                            <a:schemeClr val="tx1"/>
                          </a:solidFill>
                          <a:latin typeface="Times New Roman" panose="02020603050405020304" pitchFamily="18" charset="0"/>
                          <a:cs typeface="Times New Roman" panose="02020603050405020304" pitchFamily="18" charset="0"/>
                        </a:rPr>
                        <a:t>thực</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hiện</a:t>
                      </a:r>
                      <a:r>
                        <a:rPr lang="en-US" sz="1300" dirty="0">
                          <a:solidFill>
                            <a:schemeClr val="tx1"/>
                          </a:solidFill>
                          <a:latin typeface="Times New Roman" panose="02020603050405020304" pitchFamily="18" charset="0"/>
                          <a:cs typeface="Times New Roman" panose="02020603050405020304" pitchFamily="18" charset="0"/>
                        </a:rPr>
                        <a:t> 23 </a:t>
                      </a:r>
                      <a:r>
                        <a:rPr lang="en-US" sz="1300" dirty="0" err="1">
                          <a:solidFill>
                            <a:schemeClr val="tx1"/>
                          </a:solidFill>
                          <a:latin typeface="Times New Roman" panose="02020603050405020304" pitchFamily="18" charset="0"/>
                          <a:cs typeface="Times New Roman" panose="02020603050405020304" pitchFamily="18" charset="0"/>
                        </a:rPr>
                        <a:t>tàu</a:t>
                      </a:r>
                      <a:r>
                        <a:rPr lang="en-US" sz="1300" dirty="0">
                          <a:solidFill>
                            <a:schemeClr val="tx1"/>
                          </a:solidFill>
                          <a:latin typeface="Times New Roman" panose="02020603050405020304" pitchFamily="18" charset="0"/>
                          <a:cs typeface="Times New Roman" panose="02020603050405020304" pitchFamily="18" charset="0"/>
                        </a:rPr>
                        <a:t> bay </a:t>
                      </a:r>
                      <a:r>
                        <a:rPr lang="en-US" sz="1300" dirty="0" err="1">
                          <a:solidFill>
                            <a:schemeClr val="tx1"/>
                          </a:solidFill>
                          <a:latin typeface="Times New Roman" panose="02020603050405020304" pitchFamily="18" charset="0"/>
                          <a:cs typeface="Times New Roman" panose="02020603050405020304" pitchFamily="18" charset="0"/>
                        </a:rPr>
                        <a:t>từ</a:t>
                      </a:r>
                      <a:r>
                        <a:rPr lang="en-US" sz="1300" dirty="0">
                          <a:solidFill>
                            <a:schemeClr val="tx1"/>
                          </a:solidFill>
                          <a:latin typeface="Times New Roman" panose="02020603050405020304" pitchFamily="18" charset="0"/>
                          <a:cs typeface="Times New Roman" panose="02020603050405020304" pitchFamily="18" charset="0"/>
                        </a:rPr>
                        <a:t> T12/2025 – T4/2026)</a:t>
                      </a:r>
                    </a:p>
                    <a:p>
                      <a:pPr marL="0" lvl="1" indent="0">
                        <a:lnSpc>
                          <a:spcPct val="130000"/>
                        </a:lnSpc>
                        <a:buFontTx/>
                        <a:buNone/>
                      </a:pPr>
                      <a:r>
                        <a:rPr lang="en-US" sz="1300" dirty="0">
                          <a:solidFill>
                            <a:schemeClr val="tx1"/>
                          </a:solidFill>
                          <a:latin typeface="Times New Roman" panose="02020603050405020304" pitchFamily="18" charset="0"/>
                          <a:cs typeface="Times New Roman" panose="02020603050405020304" pitchFamily="18" charset="0"/>
                        </a:rPr>
                        <a:t>   + Thống </a:t>
                      </a:r>
                      <a:r>
                        <a:rPr lang="en-US" sz="1300" dirty="0" err="1">
                          <a:solidFill>
                            <a:schemeClr val="tx1"/>
                          </a:solidFill>
                          <a:latin typeface="Times New Roman" panose="02020603050405020304" pitchFamily="18" charset="0"/>
                          <a:cs typeface="Times New Roman" panose="02020603050405020304" pitchFamily="18" charset="0"/>
                        </a:rPr>
                        <a:t>nhất</a:t>
                      </a:r>
                      <a:r>
                        <a:rPr lang="en-US" sz="1300" dirty="0">
                          <a:solidFill>
                            <a:schemeClr val="tx1"/>
                          </a:solidFill>
                          <a:latin typeface="Times New Roman" panose="02020603050405020304" pitchFamily="18" charset="0"/>
                          <a:cs typeface="Times New Roman" panose="02020603050405020304" pitchFamily="18" charset="0"/>
                        </a:rPr>
                        <a:t> AAR </a:t>
                      </a:r>
                      <a:r>
                        <a:rPr lang="en-US" sz="1300" dirty="0" err="1">
                          <a:solidFill>
                            <a:schemeClr val="tx1"/>
                          </a:solidFill>
                          <a:latin typeface="Times New Roman" panose="02020603050405020304" pitchFamily="18" charset="0"/>
                          <a:cs typeface="Times New Roman" panose="02020603050405020304" pitchFamily="18" charset="0"/>
                        </a:rPr>
                        <a:t>tìm</a:t>
                      </a:r>
                      <a:r>
                        <a:rPr lang="en-US" sz="1300" dirty="0">
                          <a:solidFill>
                            <a:schemeClr val="tx1"/>
                          </a:solidFill>
                          <a:latin typeface="Times New Roman" panose="02020603050405020304" pitchFamily="18" charset="0"/>
                          <a:cs typeface="Times New Roman" panose="02020603050405020304" pitchFamily="18" charset="0"/>
                        </a:rPr>
                        <a:t> P/A </a:t>
                      </a:r>
                      <a:r>
                        <a:rPr lang="en-US" sz="1300" dirty="0" err="1">
                          <a:solidFill>
                            <a:schemeClr val="tx1"/>
                          </a:solidFill>
                          <a:latin typeface="Times New Roman" panose="02020603050405020304" pitchFamily="18" charset="0"/>
                          <a:cs typeface="Times New Roman" panose="02020603050405020304" pitchFamily="18" charset="0"/>
                        </a:rPr>
                        <a:t>sử</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dụng</a:t>
                      </a:r>
                      <a:r>
                        <a:rPr lang="en-US" sz="1300" dirty="0">
                          <a:solidFill>
                            <a:schemeClr val="tx1"/>
                          </a:solidFill>
                          <a:latin typeface="Times New Roman" panose="02020603050405020304" pitchFamily="18" charset="0"/>
                          <a:cs typeface="Times New Roman" panose="02020603050405020304" pitchFamily="18" charset="0"/>
                        </a:rPr>
                        <a:t> used part </a:t>
                      </a:r>
                      <a:r>
                        <a:rPr lang="en-US" sz="1300" dirty="0" err="1">
                          <a:solidFill>
                            <a:schemeClr val="tx1"/>
                          </a:solidFill>
                          <a:latin typeface="Times New Roman" panose="02020603050405020304" pitchFamily="18" charset="0"/>
                          <a:cs typeface="Times New Roman" panose="02020603050405020304" pitchFamily="18" charset="0"/>
                        </a:rPr>
                        <a:t>cho</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tàu</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đầu</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tiên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để</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rút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ngắn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leadtime</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đàm</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phán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sử</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dụng</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lại</a:t>
                      </a:r>
                      <a:r>
                        <a:rPr lang="en-US" sz="1300" dirty="0">
                          <a:solidFill>
                            <a:schemeClr val="tx1"/>
                          </a:solidFill>
                          <a:latin typeface="Times New Roman" panose="02020603050405020304" pitchFamily="18" charset="0"/>
                          <a:cs typeface="Times New Roman" panose="02020603050405020304" pitchFamily="18" charset="0"/>
                        </a:rPr>
                        <a:t> EEPL </a:t>
                      </a:r>
                      <a:r>
                        <a:rPr lang="en-US" sz="1300" dirty="0" err="1">
                          <a:solidFill>
                            <a:schemeClr val="tx1"/>
                          </a:solidFill>
                          <a:latin typeface="Times New Roman" panose="02020603050405020304" pitchFamily="18" charset="0"/>
                          <a:cs typeface="Times New Roman" panose="02020603050405020304" pitchFamily="18" charset="0"/>
                        </a:rPr>
                        <a:t>trên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ghế</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của</a:t>
                      </a:r>
                      <a:r>
                        <a:rPr lang="en-US" sz="1300" dirty="0">
                          <a:solidFill>
                            <a:schemeClr val="tx1"/>
                          </a:solidFill>
                          <a:latin typeface="Times New Roman" panose="02020603050405020304" pitchFamily="18" charset="0"/>
                          <a:cs typeface="Times New Roman" panose="02020603050405020304" pitchFamily="18" charset="0"/>
                        </a:rPr>
                        <a:t> VNA </a:t>
                      </a:r>
                      <a:r>
                        <a:rPr lang="en-US" sz="1300" dirty="0" err="1">
                          <a:solidFill>
                            <a:schemeClr val="tx1"/>
                          </a:solidFill>
                          <a:latin typeface="Times New Roman" panose="02020603050405020304" pitchFamily="18" charset="0"/>
                          <a:cs typeface="Times New Roman" panose="02020603050405020304" pitchFamily="18" charset="0"/>
                        </a:rPr>
                        <a:t>để</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tiết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kiệm</a:t>
                      </a:r>
                      <a:r>
                        <a:rPr lang="en-US" sz="1300" dirty="0">
                          <a:solidFill>
                            <a:schemeClr val="tx1"/>
                          </a:solidFill>
                          <a:latin typeface="Times New Roman" panose="02020603050405020304" pitchFamily="18" charset="0"/>
                          <a:cs typeface="Times New Roman" panose="02020603050405020304" pitchFamily="18" charset="0"/>
                        </a:rPr>
                        <a:t> chi </a:t>
                      </a:r>
                      <a:r>
                        <a:rPr lang="en-US" sz="1300" dirty="0" err="1">
                          <a:solidFill>
                            <a:schemeClr val="tx1"/>
                          </a:solidFill>
                          <a:latin typeface="Times New Roman" panose="02020603050405020304" pitchFamily="18" charset="0"/>
                          <a:cs typeface="Times New Roman" panose="02020603050405020304" pitchFamily="18" charset="0"/>
                        </a:rPr>
                        <a:t>phí</a:t>
                      </a:r>
                      <a:endParaRPr lang="en-US" sz="1300" dirty="0">
                        <a:solidFill>
                          <a:schemeClr val="tx1"/>
                        </a:solidFill>
                        <a:latin typeface="Times New Roman" panose="02020603050405020304" pitchFamily="18" charset="0"/>
                        <a:cs typeface="Times New Roman" panose="02020603050405020304" pitchFamily="18" charset="0"/>
                      </a:endParaRPr>
                    </a:p>
                    <a:p>
                      <a:pPr marL="0" lvl="0" indent="0">
                        <a:lnSpc>
                          <a:spcPct val="130000"/>
                        </a:lnSpc>
                        <a:buFontTx/>
                        <a:buNone/>
                      </a:pP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Tổ</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tiếp</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tục</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triển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khai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các</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gói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còn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lại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vải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áo</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ghế</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đã</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chọn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Botani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vận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chuyển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thiết</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bị</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khẩn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nguy</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để</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kịp</a:t>
                      </a:r>
                      <a:r>
                        <a:rPr lang="en-US" sz="1300" dirty="0">
                          <a:solidFill>
                            <a:schemeClr val="tx1"/>
                          </a:solidFill>
                          <a:latin typeface="Times New Roman" panose="02020603050405020304" pitchFamily="18" charset="0"/>
                          <a:cs typeface="Times New Roman" panose="02020603050405020304" pitchFamily="18" charset="0"/>
                        </a:rPr>
                        <a:t> timeline </a:t>
                      </a:r>
                      <a:r>
                        <a:rPr lang="en-US" sz="1300" dirty="0" err="1">
                          <a:solidFill>
                            <a:schemeClr val="tx1"/>
                          </a:solidFill>
                          <a:latin typeface="Times New Roman" panose="02020603050405020304" pitchFamily="18" charset="0"/>
                          <a:cs typeface="Times New Roman" panose="02020603050405020304" pitchFamily="18" charset="0"/>
                        </a:rPr>
                        <a:t>từ</a:t>
                      </a:r>
                      <a:r>
                        <a:rPr lang="en-US" sz="1300" dirty="0">
                          <a:solidFill>
                            <a:schemeClr val="tx1"/>
                          </a:solidFill>
                          <a:latin typeface="Times New Roman" panose="02020603050405020304" pitchFamily="18" charset="0"/>
                          <a:cs typeface="Times New Roman" panose="02020603050405020304" pitchFamily="18" charset="0"/>
                        </a:rPr>
                        <a:t> seat OEM .</a:t>
                      </a:r>
                      <a:br>
                        <a:rPr lang="en-US" sz="1300" dirty="0">
                          <a:solidFill>
                            <a:schemeClr val="tx1"/>
                          </a:solidFill>
                          <a:latin typeface="Times New Roman" panose="02020603050405020304" pitchFamily="18" charset="0"/>
                          <a:cs typeface="Times New Roman" panose="02020603050405020304" pitchFamily="18" charset="0"/>
                        </a:rPr>
                      </a:b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Triển</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khai</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ký</a:t>
                      </a:r>
                      <a:r>
                        <a:rPr lang="en-US" sz="1300" dirty="0">
                          <a:solidFill>
                            <a:schemeClr val="tx1"/>
                          </a:solidFill>
                          <a:latin typeface="Times New Roman" panose="02020603050405020304" pitchFamily="18" charset="0"/>
                          <a:cs typeface="Times New Roman" panose="02020603050405020304" pitchFamily="18" charset="0"/>
                        </a:rPr>
                        <a:t> HĐ </a:t>
                      </a:r>
                      <a:r>
                        <a:rPr lang="en-US" sz="1300" dirty="0" err="1">
                          <a:solidFill>
                            <a:schemeClr val="tx1"/>
                          </a:solidFill>
                          <a:latin typeface="Times New Roman" panose="02020603050405020304" pitchFamily="18" charset="0"/>
                          <a:cs typeface="Times New Roman" panose="02020603050405020304" pitchFamily="18" charset="0"/>
                        </a:rPr>
                        <a:t>thực</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hiện</a:t>
                      </a:r>
                      <a:r>
                        <a:rPr lang="en-US" sz="1300" dirty="0">
                          <a:solidFill>
                            <a:schemeClr val="tx1"/>
                          </a:solidFill>
                          <a:latin typeface="Times New Roman" panose="02020603050405020304" pitchFamily="18" charset="0"/>
                          <a:cs typeface="Times New Roman" panose="02020603050405020304" pitchFamily="18" charset="0"/>
                        </a:rPr>
                        <a:t> CĐCH </a:t>
                      </a:r>
                      <a:r>
                        <a:rPr lang="en-US" sz="1300" dirty="0" err="1">
                          <a:solidFill>
                            <a:schemeClr val="tx1"/>
                          </a:solidFill>
                          <a:latin typeface="Times New Roman" panose="02020603050405020304" pitchFamily="18" charset="0"/>
                          <a:cs typeface="Times New Roman" panose="02020603050405020304" pitchFamily="18" charset="0"/>
                        </a:rPr>
                        <a:t>với</a:t>
                      </a:r>
                      <a:r>
                        <a:rPr lang="en-US" sz="1300" dirty="0">
                          <a:solidFill>
                            <a:schemeClr val="tx1"/>
                          </a:solidFill>
                          <a:latin typeface="Times New Roman" panose="02020603050405020304" pitchFamily="18" charset="0"/>
                          <a:cs typeface="Times New Roman" panose="02020603050405020304" pitchFamily="18" charset="0"/>
                        </a:rPr>
                        <a:t> VAECO </a:t>
                      </a:r>
                      <a:r>
                        <a:rPr lang="en-US" sz="1300" dirty="0" err="1">
                          <a:solidFill>
                            <a:schemeClr val="tx1"/>
                          </a:solidFill>
                          <a:latin typeface="Times New Roman" panose="02020603050405020304" pitchFamily="18" charset="0"/>
                          <a:cs typeface="Times New Roman" panose="02020603050405020304" pitchFamily="18" charset="0"/>
                        </a:rPr>
                        <a:t>và</a:t>
                      </a:r>
                      <a:r>
                        <a:rPr lang="en-US" sz="1300" dirty="0">
                          <a:solidFill>
                            <a:schemeClr val="tx1"/>
                          </a:solidFill>
                          <a:latin typeface="Times New Roman" panose="02020603050405020304" pitchFamily="18" charset="0"/>
                          <a:cs typeface="Times New Roman" panose="02020603050405020304" pitchFamily="18" charset="0"/>
                        </a:rPr>
                        <a:t> </a:t>
                      </a:r>
                      <a:r>
                        <a:rPr lang="en-US" sz="1300" dirty="0" err="1">
                          <a:solidFill>
                            <a:schemeClr val="tx1"/>
                          </a:solidFill>
                          <a:latin typeface="Times New Roman" panose="02020603050405020304" pitchFamily="18" charset="0"/>
                          <a:cs typeface="Times New Roman" panose="02020603050405020304" pitchFamily="18" charset="0"/>
                        </a:rPr>
                        <a:t>họp</a:t>
                      </a:r>
                      <a:r>
                        <a:rPr lang="en-US" sz="1300" dirty="0">
                          <a:solidFill>
                            <a:schemeClr val="tx1"/>
                          </a:solidFill>
                          <a:latin typeface="Times New Roman" panose="02020603050405020304" pitchFamily="18" charset="0"/>
                          <a:cs typeface="Times New Roman" panose="02020603050405020304" pitchFamily="18" charset="0"/>
                        </a:rPr>
                        <a:t> PDR, CDR </a:t>
                      </a:r>
                      <a:r>
                        <a:rPr lang="en-US" sz="1300" dirty="0" err="1">
                          <a:solidFill>
                            <a:schemeClr val="tx1"/>
                          </a:solidFill>
                          <a:latin typeface="Times New Roman" panose="02020603050405020304" pitchFamily="18" charset="0"/>
                          <a:cs typeface="Times New Roman" panose="02020603050405020304" pitchFamily="18" charset="0"/>
                        </a:rPr>
                        <a:t>với</a:t>
                      </a:r>
                      <a:r>
                        <a:rPr lang="en-US" sz="1300" dirty="0">
                          <a:solidFill>
                            <a:schemeClr val="tx1"/>
                          </a:solidFill>
                          <a:latin typeface="Times New Roman" panose="02020603050405020304" pitchFamily="18" charset="0"/>
                          <a:cs typeface="Times New Roman" panose="02020603050405020304" pitchFamily="18" charset="0"/>
                        </a:rPr>
                        <a:t> seat OEM </a:t>
                      </a:r>
                      <a:r>
                        <a:rPr lang="en-US" sz="1300" dirty="0" err="1">
                          <a:solidFill>
                            <a:schemeClr val="tx1"/>
                          </a:solidFill>
                          <a:latin typeface="Times New Roman" panose="02020603050405020304" pitchFamily="18" charset="0"/>
                          <a:cs typeface="Times New Roman" panose="02020603050405020304" pitchFamily="18" charset="0"/>
                        </a:rPr>
                        <a:t>tháng</a:t>
                      </a:r>
                      <a:r>
                        <a:rPr lang="en-US" sz="1300" dirty="0">
                          <a:solidFill>
                            <a:schemeClr val="tx1"/>
                          </a:solidFill>
                          <a:latin typeface="Times New Roman" panose="02020603050405020304" pitchFamily="18" charset="0"/>
                          <a:cs typeface="Times New Roman" panose="02020603050405020304" pitchFamily="18" charset="0"/>
                        </a:rPr>
                        <a:t> 9/2025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3"/>
                  </a:ext>
                </a:extLst>
              </a:tr>
              <a:tr h="696718">
                <a:tc>
                  <a:txBody>
                    <a:bodyPr/>
                    <a:lstStyle/>
                    <a:p>
                      <a:pPr algn="ctr" fontAlgn="b"/>
                      <a:r>
                        <a:rPr lang="en-US" sz="1400" b="0" i="0" u="none" strike="noStrike" dirty="0" smtClean="0">
                          <a:solidFill>
                            <a:schemeClr val="tx1"/>
                          </a:solidFill>
                          <a:effectLst/>
                          <a:latin typeface="Times New Roman" panose="02020603050405020304" pitchFamily="18" charset="0"/>
                          <a:cs typeface="Times New Roman" panose="02020603050405020304" pitchFamily="18" charset="0"/>
                        </a:rPr>
                        <a:t>8</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Local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tự</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VAECO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sát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=&gt; VAECO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Mua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EASA</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một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đôi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OEM Safran.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DOA regent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liệu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chụp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video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trúc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Regent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thiết</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DVHK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design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trước</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endPar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96718">
                <a:tc>
                  <a:txBody>
                    <a:bodyPr/>
                    <a:lstStyle/>
                    <a:p>
                      <a:pPr algn="ctr" fontAlgn="b"/>
                      <a:r>
                        <a:rPr lang="en-US" sz="1400" b="0" i="0" u="none" strike="noStrike" dirty="0" smtClean="0">
                          <a:solidFill>
                            <a:schemeClr val="tx1"/>
                          </a:solidFill>
                          <a:effectLst/>
                          <a:latin typeface="Times New Roman" panose="02020603050405020304" pitchFamily="18" charset="0"/>
                          <a:cs typeface="Times New Roman" panose="02020603050405020304" pitchFamily="18" charset="0"/>
                        </a:rPr>
                        <a:t>9</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mode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mẫu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Boeing/Airbus)</a:t>
                      </a:r>
                    </a:p>
                    <a:p>
                      <a:pPr marL="342900" lvl="1" indent="-342900">
                        <a:lnSpc>
                          <a:spcPct val="130000"/>
                        </a:lnSpc>
                        <a:buFontTx/>
                        <a:buAutoNum type="alphaLcPeriod"/>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đủ</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OCC. Tiến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check</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DVHK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tới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thẩm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mỹ</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khách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chức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họp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đơn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vị</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b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ngắn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dán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placard warning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khung</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b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872947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itle 2">
            <a:extLst>
              <a:ext uri="{FF2B5EF4-FFF2-40B4-BE49-F238E27FC236}">
                <a16:creationId xmlns="" xmlns:a16="http://schemas.microsoft.com/office/drawing/2014/main" id="{A54B3B80-6D5D-62F3-88B2-C803136634FB}"/>
              </a:ext>
            </a:extLst>
          </p:cNvPr>
          <p:cNvSpPr>
            <a:spLocks noGrp="1"/>
          </p:cNvSpPr>
          <p:nvPr>
            <p:ph type="title"/>
          </p:nvPr>
        </p:nvSpPr>
        <p:spPr>
          <a:xfrm>
            <a:off x="372671" y="76200"/>
            <a:ext cx="11487298"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ext uri="{D42A27DB-BD31-4B8C-83A1-F6EECF244321}">
                <p14:modId xmlns:p14="http://schemas.microsoft.com/office/powerpoint/2010/main" val="2021213460"/>
              </p:ext>
            </p:extLst>
          </p:nvPr>
        </p:nvGraphicFramePr>
        <p:xfrm>
          <a:off x="353817" y="648317"/>
          <a:ext cx="11487298" cy="6169303"/>
        </p:xfrm>
        <a:graphic>
          <a:graphicData uri="http://schemas.openxmlformats.org/drawingml/2006/table">
            <a:tbl>
              <a:tblPr>
                <a:tableStyleId>{5C22544A-7EE6-4342-B048-85BDC9FD1C3A}</a:tableStyleId>
              </a:tblPr>
              <a:tblGrid>
                <a:gridCol w="408808">
                  <a:extLst>
                    <a:ext uri="{9D8B030D-6E8A-4147-A177-3AD203B41FA5}">
                      <a16:colId xmlns="" xmlns:a16="http://schemas.microsoft.com/office/drawing/2014/main" val="3304650821"/>
                    </a:ext>
                  </a:extLst>
                </a:gridCol>
                <a:gridCol w="1701786">
                  <a:extLst>
                    <a:ext uri="{9D8B030D-6E8A-4147-A177-3AD203B41FA5}">
                      <a16:colId xmlns="" xmlns:a16="http://schemas.microsoft.com/office/drawing/2014/main" val="1220325190"/>
                    </a:ext>
                  </a:extLst>
                </a:gridCol>
                <a:gridCol w="8223028">
                  <a:extLst>
                    <a:ext uri="{9D8B030D-6E8A-4147-A177-3AD203B41FA5}">
                      <a16:colId xmlns="" xmlns:a16="http://schemas.microsoft.com/office/drawing/2014/main" val="3909604654"/>
                    </a:ext>
                  </a:extLst>
                </a:gridCol>
                <a:gridCol w="1153676">
                  <a:extLst>
                    <a:ext uri="{9D8B030D-6E8A-4147-A177-3AD203B41FA5}">
                      <a16:colId xmlns="" xmlns:a16="http://schemas.microsoft.com/office/drawing/2014/main" val="1269662541"/>
                    </a:ext>
                  </a:extLst>
                </a:gridCol>
              </a:tblGrid>
              <a:tr h="418483">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 xmlns:a16="http://schemas.microsoft.com/office/drawing/2014/main" val="10000"/>
                  </a:ext>
                </a:extLst>
              </a:tr>
              <a:tr h="1053610">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GIA HẠN THUÊ 10 TÀU VALC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dirty="0" err="1" smtClean="0">
                          <a:latin typeface="Times New Roman" panose="02020603050405020304" pitchFamily="18" charset="0"/>
                          <a:cs typeface="Times New Roman" panose="02020603050405020304" pitchFamily="18" charset="0"/>
                        </a:rPr>
                        <a:t>Thủ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của</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chậm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nên</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ý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10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A321CEO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tháng</a:t>
                      </a:r>
                      <a:r>
                        <a:rPr lang="en-US" sz="1300" dirty="0" smtClean="0">
                          <a:latin typeface="Times New Roman" panose="02020603050405020304" pitchFamily="18" charset="0"/>
                          <a:cs typeface="Times New Roman" panose="02020603050405020304" pitchFamily="18" charset="0"/>
                        </a:rPr>
                        <a:t> 12/2025.</a:t>
                      </a:r>
                    </a:p>
                    <a:p>
                      <a:pPr algn="just">
                        <a:lnSpc>
                          <a:spcPct val="150000"/>
                        </a:lnSpc>
                      </a:pPr>
                      <a:r>
                        <a:rPr lang="en-US" sz="1300" dirty="0" err="1" smtClean="0">
                          <a:latin typeface="Times New Roman" panose="02020603050405020304" pitchFamily="18" charset="0"/>
                          <a:cs typeface="Times New Roman" panose="02020603050405020304" pitchFamily="18" charset="0"/>
                        </a:rPr>
                        <a:t>Hiện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tại</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chờ</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quả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từ</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theo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cần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đàm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trong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a:t>
                      </a:r>
                      <a:r>
                        <a:rPr lang="vi-VN" sz="1300" dirty="0" smtClean="0">
                          <a:latin typeface="+mn-lt"/>
                          <a:cs typeface="Times New Roman" panose="02020603050405020304" pitchFamily="18" charset="0"/>
                        </a:rPr>
                        <a:t>ư</a:t>
                      </a:r>
                      <a:r>
                        <a:rPr lang="en-US" sz="1300" dirty="0" err="1" smtClean="0">
                          <a:latin typeface="Times New Roman" panose="02020603050405020304" pitchFamily="18" charset="0"/>
                          <a:cs typeface="Times New Roman" panose="02020603050405020304" pitchFamily="18" charset="0"/>
                        </a:rPr>
                        <a:t>ờng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chuyển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đổi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sở</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hữu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511416754"/>
                  </a:ext>
                </a:extLst>
              </a:tr>
              <a:tr h="2133821">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latin typeface="Times New Roman" panose="02020603050405020304" pitchFamily="18" charset="0"/>
                          <a:cs typeface="Times New Roman" panose="02020603050405020304" pitchFamily="18" charset="0"/>
                        </a:rPr>
                        <a:t>DỰ ÁN THUÊ KHÔ 05 TÀU GAT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just">
                        <a:lnSpc>
                          <a:spcPct val="150000"/>
                        </a:lnSpc>
                        <a:buFontTx/>
                        <a:buChar char="-"/>
                        <a:defRPr/>
                      </a:pPr>
                      <a:r>
                        <a:rPr lang="en-US" sz="1300" dirty="0" smtClean="0">
                          <a:latin typeface="Times New Roman" panose="02020603050405020304" pitchFamily="18" charset="0"/>
                          <a:cs typeface="Times New Roman" panose="02020603050405020304" pitchFamily="18" charset="0"/>
                        </a:rPr>
                        <a:t>GAT </a:t>
                      </a:r>
                      <a:r>
                        <a:rPr lang="en-US" sz="1300" dirty="0" err="1" smtClean="0">
                          <a:latin typeface="Times New Roman" panose="02020603050405020304" pitchFamily="18" charset="0"/>
                          <a:cs typeface="Times New Roman" panose="02020603050405020304" pitchFamily="18" charset="0"/>
                        </a:rPr>
                        <a:t>gửi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bản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chào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cập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nhật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03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A321 26/07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update specs 31/07 </a:t>
                      </a:r>
                      <a:r>
                        <a:rPr lang="en-US" sz="1300" dirty="0" err="1" smtClean="0">
                          <a:latin typeface="Times New Roman" panose="02020603050405020304" pitchFamily="18" charset="0"/>
                          <a:cs typeface="Times New Roman" panose="02020603050405020304" pitchFamily="18" charset="0"/>
                        </a:rPr>
                        <a:t>các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nội</a:t>
                      </a:r>
                      <a:r>
                        <a:rPr lang="en-US" sz="1300" dirty="0" smtClean="0">
                          <a:latin typeface="Times New Roman" panose="02020603050405020304" pitchFamily="18" charset="0"/>
                          <a:cs typeface="Times New Roman" panose="02020603050405020304" pitchFamily="18" charset="0"/>
                        </a:rPr>
                        <a:t> dung </a:t>
                      </a:r>
                      <a:r>
                        <a:rPr lang="en-US" sz="1300" dirty="0" err="1" smtClean="0">
                          <a:latin typeface="Times New Roman" panose="02020603050405020304" pitchFamily="18" charset="0"/>
                          <a:cs typeface="Times New Roman" panose="02020603050405020304" pitchFamily="18" charset="0"/>
                        </a:rPr>
                        <a:t>đàm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về</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kỹ</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thuật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về</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điều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trả</a:t>
                      </a:r>
                      <a:r>
                        <a:rPr lang="en-US" sz="1300" dirty="0" smtClean="0">
                          <a:latin typeface="Times New Roman" panose="02020603050405020304" pitchFamily="18" charset="0"/>
                          <a:cs typeface="Times New Roman" panose="02020603050405020304" pitchFamily="18" charset="0"/>
                        </a:rPr>
                        <a:t>/</a:t>
                      </a:r>
                      <a:r>
                        <a:rPr lang="en-US" sz="1300" dirty="0" err="1" smtClean="0">
                          <a:latin typeface="Times New Roman" panose="02020603050405020304" pitchFamily="18" charset="0"/>
                          <a:cs typeface="Times New Roman" panose="02020603050405020304" pitchFamily="18" charset="0"/>
                        </a:rPr>
                        <a:t>nhận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chưa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phản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hồi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theo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nội</a:t>
                      </a:r>
                      <a:r>
                        <a:rPr lang="en-US" sz="1300" dirty="0" smtClean="0">
                          <a:latin typeface="Times New Roman" panose="02020603050405020304" pitchFamily="18" charset="0"/>
                          <a:cs typeface="Times New Roman" panose="02020603050405020304" pitchFamily="18" charset="0"/>
                        </a:rPr>
                        <a:t> dung VNA </a:t>
                      </a:r>
                      <a:r>
                        <a:rPr lang="en-US" sz="1300" dirty="0" err="1" smtClean="0">
                          <a:latin typeface="Times New Roman" panose="02020603050405020304" pitchFamily="18" charset="0"/>
                          <a:cs typeface="Times New Roman" panose="02020603050405020304" pitchFamily="18" charset="0"/>
                        </a:rPr>
                        <a:t>đề</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nghị</a:t>
                      </a:r>
                      <a:r>
                        <a:rPr lang="en-US" sz="1300" dirty="0" smtClean="0">
                          <a:latin typeface="Times New Roman" panose="02020603050405020304" pitchFamily="18" charset="0"/>
                          <a:cs typeface="Times New Roman" panose="02020603050405020304" pitchFamily="18" charset="0"/>
                        </a:rPr>
                        <a:t>(</a:t>
                      </a:r>
                      <a:r>
                        <a:rPr lang="en-US" sz="1300" dirty="0" err="1" smtClean="0">
                          <a:latin typeface="Times New Roman" panose="02020603050405020304" pitchFamily="18" charset="0"/>
                          <a:cs typeface="Times New Roman" panose="02020603050405020304" pitchFamily="18" charset="0"/>
                        </a:rPr>
                        <a:t>vẫn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giữ</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nội</a:t>
                      </a:r>
                      <a:r>
                        <a:rPr lang="en-US" sz="1300" dirty="0" smtClean="0">
                          <a:latin typeface="Times New Roman" panose="02020603050405020304" pitchFamily="18" charset="0"/>
                          <a:cs typeface="Times New Roman" panose="02020603050405020304" pitchFamily="18" charset="0"/>
                        </a:rPr>
                        <a:t> dung </a:t>
                      </a:r>
                      <a:r>
                        <a:rPr lang="en-US" sz="1300" dirty="0" err="1" smtClean="0">
                          <a:latin typeface="Times New Roman" panose="02020603050405020304" pitchFamily="18" charset="0"/>
                          <a:cs typeface="Times New Roman" panose="02020603050405020304" pitchFamily="18" charset="0"/>
                        </a:rPr>
                        <a:t>cũ</a:t>
                      </a:r>
                      <a:r>
                        <a:rPr lang="en-US" sz="1300" dirty="0" smtClean="0">
                          <a:latin typeface="Times New Roman" panose="02020603050405020304" pitchFamily="18" charset="0"/>
                          <a:cs typeface="Times New Roman" panose="02020603050405020304" pitchFamily="18" charset="0"/>
                        </a:rPr>
                        <a:t>):</a:t>
                      </a:r>
                    </a:p>
                    <a:p>
                      <a:r>
                        <a:rPr lang="en-US" sz="1300" dirty="0" smtClean="0">
                          <a:latin typeface="Times New Roman" panose="02020603050405020304" pitchFamily="18" charset="0"/>
                          <a:cs typeface="Times New Roman" panose="02020603050405020304" pitchFamily="18" charset="0"/>
                        </a:rPr>
                        <a:t>       + </a:t>
                      </a:r>
                      <a:r>
                        <a:rPr lang="en-US" sz="1300" dirty="0" err="1" smtClean="0">
                          <a:latin typeface="Times New Roman" panose="02020603050405020304" pitchFamily="18" charset="0"/>
                          <a:cs typeface="Times New Roman" panose="02020603050405020304" pitchFamily="18" charset="0"/>
                        </a:rPr>
                        <a:t>Bản</a:t>
                      </a:r>
                      <a:r>
                        <a:rPr lang="en-US" sz="1300" dirty="0" smtClean="0">
                          <a:latin typeface="Times New Roman" panose="02020603050405020304" pitchFamily="18" charset="0"/>
                          <a:cs typeface="Times New Roman" panose="02020603050405020304" pitchFamily="18" charset="0"/>
                        </a:rPr>
                        <a:t> 03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A321( 02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SX 2017 </a:t>
                      </a:r>
                      <a:r>
                        <a:rPr lang="en-US" sz="1300" dirty="0" err="1" smtClean="0">
                          <a:latin typeface="Times New Roman" panose="02020603050405020304" pitchFamily="18" charset="0"/>
                          <a:cs typeface="Times New Roman" panose="02020603050405020304" pitchFamily="18" charset="0"/>
                        </a:rPr>
                        <a:t>giá</a:t>
                      </a:r>
                      <a:r>
                        <a:rPr lang="en-US" sz="1300" dirty="0" smtClean="0">
                          <a:latin typeface="Times New Roman" panose="02020603050405020304" pitchFamily="18" charset="0"/>
                          <a:cs typeface="Times New Roman" panose="02020603050405020304" pitchFamily="18" charset="0"/>
                        </a:rPr>
                        <a:t> 285K/1Mo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01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SX 2015 </a:t>
                      </a:r>
                      <a:r>
                        <a:rPr lang="en-US" sz="1300" dirty="0" err="1" smtClean="0">
                          <a:latin typeface="Times New Roman" panose="02020603050405020304" pitchFamily="18" charset="0"/>
                          <a:cs typeface="Times New Roman" panose="02020603050405020304" pitchFamily="18" charset="0"/>
                        </a:rPr>
                        <a:t>giá</a:t>
                      </a:r>
                      <a:r>
                        <a:rPr lang="en-US" sz="1300" dirty="0" smtClean="0">
                          <a:latin typeface="Times New Roman" panose="02020603050405020304" pitchFamily="18" charset="0"/>
                          <a:cs typeface="Times New Roman" panose="02020603050405020304" pitchFamily="18" charset="0"/>
                        </a:rPr>
                        <a:t> 275K/1Mo),  </a:t>
                      </a:r>
                      <a:r>
                        <a:rPr lang="en-US" sz="1300" dirty="0" err="1" smtClean="0">
                          <a:latin typeface="Times New Roman" panose="02020603050405020304" pitchFamily="18" charset="0"/>
                          <a:cs typeface="Times New Roman" panose="02020603050405020304" pitchFamily="18" charset="0"/>
                        </a:rPr>
                        <a:t>thời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7 </a:t>
                      </a:r>
                      <a:r>
                        <a:rPr lang="en-US" sz="1300" dirty="0" err="1" smtClean="0">
                          <a:latin typeface="Times New Roman" panose="02020603050405020304" pitchFamily="18" charset="0"/>
                          <a:cs typeface="Times New Roman" panose="02020603050405020304" pitchFamily="18" charset="0"/>
                        </a:rPr>
                        <a:t>năm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đánh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giá</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sơ</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bộ</a:t>
                      </a:r>
                      <a:r>
                        <a:rPr lang="en-US" sz="1300" dirty="0" smtClean="0">
                          <a:latin typeface="Times New Roman" panose="02020603050405020304" pitchFamily="18" charset="0"/>
                          <a:cs typeface="Times New Roman" panose="02020603050405020304" pitchFamily="18" charset="0"/>
                        </a:rPr>
                        <a:t> specs VNA </a:t>
                      </a:r>
                      <a:r>
                        <a:rPr lang="en-US" sz="1300" dirty="0" err="1" smtClean="0">
                          <a:latin typeface="Times New Roman" panose="02020603050405020304" pitchFamily="18" charset="0"/>
                          <a:cs typeface="Times New Roman" panose="02020603050405020304" pitchFamily="18" charset="0"/>
                        </a:rPr>
                        <a:t>cần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thực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toàn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bộ</a:t>
                      </a:r>
                      <a:r>
                        <a:rPr lang="en-US" sz="1300" dirty="0" smtClean="0">
                          <a:latin typeface="Times New Roman" panose="02020603050405020304" pitchFamily="18" charset="0"/>
                          <a:cs typeface="Times New Roman" panose="02020603050405020304" pitchFamily="18" charset="0"/>
                        </a:rPr>
                        <a:t> 6Y/12Y checks, ENG OVH(LLP), APU SV, LDG OVH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cả</a:t>
                      </a:r>
                      <a:r>
                        <a:rPr lang="en-US" sz="1300" dirty="0" smtClean="0">
                          <a:latin typeface="Times New Roman" panose="02020603050405020304" pitchFamily="18" charset="0"/>
                          <a:cs typeface="Times New Roman" panose="02020603050405020304" pitchFamily="18" charset="0"/>
                        </a:rPr>
                        <a:t> 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trong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quá</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thác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Quỹ</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bảo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dưỡng</a:t>
                      </a:r>
                      <a:r>
                        <a:rPr lang="en-US" sz="1300" dirty="0" smtClean="0">
                          <a:latin typeface="Times New Roman" panose="02020603050405020304" pitchFamily="18" charset="0"/>
                          <a:cs typeface="Times New Roman" panose="02020603050405020304" pitchFamily="18" charset="0"/>
                        </a:rPr>
                        <a:t> LDG: 5,2K$/1 Mo, 6Y: 15,9K$/1 Mo, 12Y: 9,5K$/1 Mo, APU: 52 &amp;/1 APU hour</a:t>
                      </a:r>
                    </a:p>
                    <a:p>
                      <a:pPr algn="just">
                        <a:lnSpc>
                          <a:spcPct val="150000"/>
                        </a:lnSpc>
                        <a:defRPr/>
                      </a:pPr>
                      <a:r>
                        <a:rPr lang="en-US" sz="1300" dirty="0" smtClean="0">
                          <a:latin typeface="Times New Roman" panose="02020603050405020304" pitchFamily="18" charset="0"/>
                          <a:cs typeface="Times New Roman" panose="02020603050405020304" pitchFamily="18" charset="0"/>
                        </a:rPr>
                        <a:t>       + </a:t>
                      </a:r>
                      <a:r>
                        <a:rPr lang="en-US" sz="1300" dirty="0" err="1" smtClean="0">
                          <a:latin typeface="Times New Roman" panose="02020603050405020304" pitchFamily="18" charset="0"/>
                          <a:cs typeface="Times New Roman" panose="02020603050405020304" pitchFamily="18" charset="0"/>
                        </a:rPr>
                        <a:t>Điều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Thực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hiện</a:t>
                      </a:r>
                      <a:r>
                        <a:rPr lang="en-US" sz="1300" dirty="0" smtClean="0">
                          <a:latin typeface="Times New Roman" panose="02020603050405020304" pitchFamily="18" charset="0"/>
                          <a:cs typeface="Times New Roman" panose="02020603050405020304" pitchFamily="18" charset="0"/>
                        </a:rPr>
                        <a:t> clear C check. AD clearance: 6 </a:t>
                      </a:r>
                      <a:r>
                        <a:rPr lang="en-US" sz="1300" dirty="0" err="1" smtClean="0">
                          <a:latin typeface="Times New Roman" panose="02020603050405020304" pitchFamily="18" charset="0"/>
                          <a:cs typeface="Times New Roman" panose="02020603050405020304" pitchFamily="18" charset="0"/>
                        </a:rPr>
                        <a:t>tháng</a:t>
                      </a:r>
                      <a:r>
                        <a:rPr lang="en-US" sz="1300" dirty="0" smtClean="0">
                          <a:latin typeface="Times New Roman" panose="02020603050405020304" pitchFamily="18" charset="0"/>
                          <a:cs typeface="Times New Roman" panose="02020603050405020304" pitchFamily="18" charset="0"/>
                        </a:rPr>
                        <a:t>, LDG remaining: 24 </a:t>
                      </a:r>
                      <a:r>
                        <a:rPr lang="en-US" sz="1300" dirty="0" err="1" smtClean="0">
                          <a:latin typeface="Times New Roman" panose="02020603050405020304" pitchFamily="18" charset="0"/>
                          <a:cs typeface="Times New Roman" panose="02020603050405020304" pitchFamily="18" charset="0"/>
                        </a:rPr>
                        <a:t>tháng</a:t>
                      </a:r>
                      <a:r>
                        <a:rPr lang="en-US" sz="1300" dirty="0" smtClean="0">
                          <a:latin typeface="Times New Roman" panose="02020603050405020304" pitchFamily="18" charset="0"/>
                          <a:cs typeface="Times New Roman" panose="02020603050405020304" pitchFamily="18" charset="0"/>
                        </a:rPr>
                        <a:t>. Engine remaining 6000 FH/3000 FC </a:t>
                      </a:r>
                      <a:r>
                        <a:rPr lang="en-US" sz="1300" dirty="0" err="1" smtClean="0">
                          <a:latin typeface="Times New Roman" panose="02020603050405020304" pitchFamily="18" charset="0"/>
                          <a:cs typeface="Times New Roman" panose="02020603050405020304" pitchFamily="18" charset="0"/>
                        </a:rPr>
                        <a:t>tới</a:t>
                      </a:r>
                      <a:r>
                        <a:rPr lang="en-US" sz="1300" dirty="0" smtClean="0">
                          <a:latin typeface="Times New Roman" panose="02020603050405020304" pitchFamily="18" charset="0"/>
                          <a:cs typeface="Times New Roman" panose="02020603050405020304" pitchFamily="18" charset="0"/>
                        </a:rPr>
                        <a:t> next SV.  </a:t>
                      </a:r>
                    </a:p>
                    <a:p>
                      <a:pPr algn="just">
                        <a:lnSpc>
                          <a:spcPct val="150000"/>
                        </a:lnSpc>
                        <a:defRPr/>
                      </a:pPr>
                      <a:r>
                        <a:rPr lang="en-US" sz="1300" dirty="0" err="1" smtClean="0">
                          <a:latin typeface="Times New Roman" panose="02020603050405020304" pitchFamily="18" charset="0"/>
                          <a:cs typeface="Times New Roman" panose="02020603050405020304" pitchFamily="18" charset="0"/>
                        </a:rPr>
                        <a:t>Tổ</a:t>
                      </a:r>
                      <a:r>
                        <a:rPr lang="en-US" sz="1300" dirty="0" smtClean="0">
                          <a:latin typeface="Times New Roman" panose="02020603050405020304" pitchFamily="18" charset="0"/>
                          <a:cs typeface="Times New Roman" panose="02020603050405020304" pitchFamily="18" charset="0"/>
                        </a:rPr>
                        <a:t> TMTB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HĐTV </a:t>
                      </a:r>
                      <a:r>
                        <a:rPr lang="en-US" sz="1300" dirty="0" err="1" smtClean="0">
                          <a:latin typeface="Times New Roman" panose="02020603050405020304" pitchFamily="18" charset="0"/>
                          <a:cs typeface="Times New Roman" panose="02020603050405020304" pitchFamily="18" charset="0"/>
                        </a:rPr>
                        <a:t>phương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án</a:t>
                      </a:r>
                      <a:r>
                        <a:rPr lang="en-US" sz="1300" dirty="0" smtClean="0">
                          <a:latin typeface="Times New Roman" panose="02020603050405020304" pitchFamily="18" charset="0"/>
                          <a:cs typeface="Times New Roman" panose="02020603050405020304" pitchFamily="18" charset="0"/>
                        </a:rPr>
                        <a:t> </a:t>
                      </a:r>
                      <a:r>
                        <a:rPr lang="en-US" sz="1300" b="1" dirty="0" err="1" smtClean="0">
                          <a:latin typeface="Times New Roman" panose="02020603050405020304" pitchFamily="18" charset="0"/>
                          <a:cs typeface="Times New Roman" panose="02020603050405020304" pitchFamily="18" charset="0"/>
                        </a:rPr>
                        <a:t>thuê</a:t>
                      </a:r>
                      <a:r>
                        <a:rPr lang="en-US" sz="1300" b="1" dirty="0" smtClean="0">
                          <a:latin typeface="Times New Roman" panose="02020603050405020304" pitchFamily="18" charset="0"/>
                          <a:cs typeface="Times New Roman" panose="02020603050405020304" pitchFamily="18" charset="0"/>
                        </a:rPr>
                        <a:t> 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A321 CEO </a:t>
                      </a:r>
                      <a:r>
                        <a:rPr lang="en-US" sz="1300" dirty="0" err="1" smtClean="0">
                          <a:latin typeface="Times New Roman" panose="02020603050405020304" pitchFamily="18" charset="0"/>
                          <a:cs typeface="Times New Roman" panose="02020603050405020304" pitchFamily="18" charset="0"/>
                        </a:rPr>
                        <a:t>để</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bù</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03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A321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PA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tổ</a:t>
                      </a:r>
                      <a:r>
                        <a:rPr lang="en-US" sz="1300" dirty="0" smtClean="0">
                          <a:latin typeface="Times New Roman" panose="02020603050405020304" pitchFamily="18" charset="0"/>
                          <a:cs typeface="Times New Roman" panose="02020603050405020304" pitchFamily="18" charset="0"/>
                        </a:rPr>
                        <a:t> TMTB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xây</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dựng</a:t>
                      </a:r>
                      <a:r>
                        <a:rPr lang="en-US" sz="1300" dirty="0" smtClean="0">
                          <a:latin typeface="Times New Roman" panose="02020603050405020304" pitchFamily="18" charset="0"/>
                          <a:cs typeface="Times New Roman" panose="02020603050405020304" pitchFamily="18" charset="0"/>
                        </a:rPr>
                        <a:t> RFP.</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363849073"/>
                  </a:ext>
                </a:extLst>
              </a:tr>
              <a:tr h="1085981">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DỰ ÁN TÀU BAY FREIGHTER .</a:t>
                      </a: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dirty="0" smtClean="0">
                          <a:latin typeface="Times New Roman" panose="02020603050405020304" pitchFamily="18" charset="0"/>
                          <a:cs typeface="Times New Roman" panose="02020603050405020304" pitchFamily="18" charset="0"/>
                        </a:rPr>
                        <a:t>VNA </a:t>
                      </a:r>
                      <a:r>
                        <a:rPr lang="en-US" sz="1300" dirty="0" err="1" smtClean="0">
                          <a:latin typeface="Times New Roman" panose="02020603050405020304" pitchFamily="18" charset="0"/>
                          <a:cs typeface="Times New Roman" panose="02020603050405020304" pitchFamily="18" charset="0"/>
                        </a:rPr>
                        <a:t>triển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dự</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02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freighter(A321 CEO) </a:t>
                      </a:r>
                      <a:r>
                        <a:rPr lang="en-US" sz="1300" dirty="0" err="1" smtClean="0">
                          <a:latin typeface="Times New Roman" panose="02020603050405020304" pitchFamily="18" charset="0"/>
                          <a:cs typeface="Times New Roman" panose="02020603050405020304" pitchFamily="18" charset="0"/>
                        </a:rPr>
                        <a:t>dự</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nhận</a:t>
                      </a:r>
                      <a:r>
                        <a:rPr lang="en-US" sz="1300" dirty="0" smtClean="0">
                          <a:latin typeface="Times New Roman" panose="02020603050405020304" pitchFamily="18" charset="0"/>
                          <a:cs typeface="Times New Roman" panose="02020603050405020304" pitchFamily="18" charset="0"/>
                        </a:rPr>
                        <a:t> Q4/2025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Q2/2026.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trước</a:t>
                      </a:r>
                      <a:r>
                        <a:rPr lang="en-US" sz="1300" dirty="0" smtClean="0">
                          <a:latin typeface="Times New Roman" panose="02020603050405020304" pitchFamily="18" charset="0"/>
                          <a:cs typeface="Times New Roman" panose="02020603050405020304" pitchFamily="18" charset="0"/>
                        </a:rPr>
                        <a:t> 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Q4/2025. VNA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phát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hành</a:t>
                      </a:r>
                      <a:r>
                        <a:rPr lang="en-US" sz="1300" dirty="0" smtClean="0">
                          <a:latin typeface="Times New Roman" panose="02020603050405020304" pitchFamily="18" charset="0"/>
                          <a:cs typeface="Times New Roman" panose="02020603050405020304" pitchFamily="18" charset="0"/>
                        </a:rPr>
                        <a:t> RFP </a:t>
                      </a:r>
                      <a:r>
                        <a:rPr lang="en-US" sz="1300" dirty="0" err="1" smtClean="0">
                          <a:latin typeface="Times New Roman" panose="02020603050405020304" pitchFamily="18" charset="0"/>
                          <a:cs typeface="Times New Roman" panose="02020603050405020304" pitchFamily="18" charset="0"/>
                        </a:rPr>
                        <a:t>thứ</a:t>
                      </a:r>
                      <a:r>
                        <a:rPr lang="en-US" sz="1300" dirty="0" smtClean="0">
                          <a:latin typeface="Times New Roman" panose="02020603050405020304" pitchFamily="18" charset="0"/>
                          <a:cs typeface="Times New Roman" panose="02020603050405020304" pitchFamily="18" charset="0"/>
                        </a:rPr>
                        <a:t> 6 </a:t>
                      </a:r>
                      <a:r>
                        <a:rPr lang="en-US" sz="1300" dirty="0" err="1" smtClean="0">
                          <a:latin typeface="Times New Roman" panose="02020603050405020304" pitchFamily="18" charset="0"/>
                          <a:cs typeface="Times New Roman" panose="02020603050405020304" pitchFamily="18" charset="0"/>
                        </a:rPr>
                        <a:t>ngày</a:t>
                      </a:r>
                      <a:r>
                        <a:rPr lang="en-US" sz="1300" dirty="0" smtClean="0">
                          <a:latin typeface="Times New Roman" panose="02020603050405020304" pitchFamily="18" charset="0"/>
                          <a:cs typeface="Times New Roman" panose="02020603050405020304" pitchFamily="18" charset="0"/>
                        </a:rPr>
                        <a:t> 25/07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đánh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giá</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các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bản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chào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của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các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đối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tác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có</a:t>
                      </a:r>
                      <a:r>
                        <a:rPr lang="en-US" sz="1300" dirty="0" smtClean="0">
                          <a:latin typeface="Times New Roman" panose="02020603050405020304" pitchFamily="18" charset="0"/>
                          <a:cs typeface="Times New Roman" panose="02020603050405020304" pitchFamily="18" charset="0"/>
                        </a:rPr>
                        <a:t> 4 </a:t>
                      </a:r>
                      <a:r>
                        <a:rPr lang="en-US" sz="1300" dirty="0" err="1" smtClean="0">
                          <a:latin typeface="Times New Roman" panose="02020603050405020304" pitchFamily="18" charset="0"/>
                          <a:cs typeface="Times New Roman" panose="02020603050405020304" pitchFamily="18" charset="0"/>
                        </a:rPr>
                        <a:t>đối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tác</a:t>
                      </a:r>
                      <a:r>
                        <a:rPr lang="en-US" sz="1300" dirty="0" smtClean="0">
                          <a:latin typeface="Times New Roman" panose="02020603050405020304" pitchFamily="18" charset="0"/>
                          <a:cs typeface="Times New Roman" panose="02020603050405020304" pitchFamily="18" charset="0"/>
                        </a:rPr>
                        <a:t> ST/ATSG/BBAM/JPLS)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5"/>
                  </a:ext>
                </a:extLst>
              </a:tr>
              <a:tr h="1085981">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13</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Công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chuẩn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A80</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600"/>
                        </a:spcBef>
                        <a:spcAft>
                          <a:spcPts val="0"/>
                        </a:spcAft>
                        <a:buClrTx/>
                        <a:buSzTx/>
                        <a:buFontTx/>
                        <a:buNone/>
                        <a:tabLst>
                          <a:tab pos="173038" algn="l"/>
                        </a:tabLst>
                        <a:defRPr/>
                      </a:pP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Hiện</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đánh</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giá</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là</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sẽ</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vi-VN"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khó khăn khi vận chuyển động cơ do đường</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cơ</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sở</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vật</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chất</a:t>
                      </a:r>
                      <a:r>
                        <a:rPr lang="vi-VN"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trong triển lãm chưa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hoàn</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b="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thiện</a:t>
                      </a:r>
                      <a:r>
                        <a:rPr lang="en-US"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smtClean="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1129803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3855228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26</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 xmlns:a16="http://schemas.microsoft.com/office/drawing/2014/main" id="{ECD7242A-6EC4-6B1A-A438-79B9107F1CD6}"/>
              </a:ext>
            </a:extLst>
          </p:cNvPr>
          <p:cNvSpPr txBox="1"/>
          <p:nvPr/>
        </p:nvSpPr>
        <p:spPr>
          <a:xfrm>
            <a:off x="203197" y="0"/>
            <a:ext cx="11912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T8-T10/2025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 xmlns:a16="http://schemas.microsoft.com/office/drawing/2014/main" id="{3AE6B01F-84E3-881B-E0A6-2DB2CB883A49}"/>
              </a:ext>
            </a:extLst>
          </p:cNvPr>
          <p:cNvGraphicFramePr>
            <a:graphicFrameLocks/>
          </p:cNvGraphicFramePr>
          <p:nvPr/>
        </p:nvGraphicFramePr>
        <p:xfrm>
          <a:off x="381000" y="592815"/>
          <a:ext cx="11811000" cy="62651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0422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A321NEO</a:t>
            </a:r>
          </a:p>
        </p:txBody>
      </p:sp>
      <p:sp>
        <p:nvSpPr>
          <p:cNvPr id="7" name="TextBox 6">
            <a:extLst>
              <a:ext uri="{FF2B5EF4-FFF2-40B4-BE49-F238E27FC236}">
                <a16:creationId xmlns="" xmlns:a16="http://schemas.microsoft.com/office/drawing/2014/main" id="{3665DF89-9C1E-039A-24B3-2AC39417A7A0}"/>
              </a:ext>
            </a:extLst>
          </p:cNvPr>
          <p:cNvSpPr txBox="1"/>
          <p:nvPr/>
        </p:nvSpPr>
        <p:spPr>
          <a:xfrm>
            <a:off x="-438596" y="43007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 xmlns:a16="http://schemas.microsoft.com/office/drawing/2014/main" id="{E1A7F173-F863-E486-EAEF-8B51EDF0DABA}"/>
              </a:ext>
            </a:extLst>
          </p:cNvPr>
          <p:cNvSpPr txBox="1"/>
          <p:nvPr/>
        </p:nvSpPr>
        <p:spPr>
          <a:xfrm>
            <a:off x="6495984" y="2578785"/>
            <a:ext cx="5167083" cy="53860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AOG do thiếu động c</a:t>
            </a:r>
            <a:r>
              <a:rPr kumimoji="0" lang="vi-VN"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 xmlns:a16="http://schemas.microsoft.com/office/drawing/2014/main" id="{4BCF0C24-45DA-44DA-8EDA-2C6618ED53DE}"/>
              </a:ext>
            </a:extLst>
          </p:cNvPr>
          <p:cNvGraphicFramePr>
            <a:graphicFrameLocks noGrp="1"/>
          </p:cNvGraphicFramePr>
          <p:nvPr/>
        </p:nvGraphicFramePr>
        <p:xfrm>
          <a:off x="96133" y="3790099"/>
          <a:ext cx="5765457" cy="661252"/>
        </p:xfrm>
        <a:graphic>
          <a:graphicData uri="http://schemas.openxmlformats.org/drawingml/2006/table">
            <a:tbl>
              <a:tblPr firstRow="1" bandRow="1">
                <a:tableStyleId>{93296810-A885-4BE3-A3E7-6D5BEEA58F35}</a:tableStyleId>
              </a:tblPr>
              <a:tblGrid>
                <a:gridCol w="740896">
                  <a:extLst>
                    <a:ext uri="{9D8B030D-6E8A-4147-A177-3AD203B41FA5}">
                      <a16:colId xmlns="" xmlns:a16="http://schemas.microsoft.com/office/drawing/2014/main" val="1930757539"/>
                    </a:ext>
                  </a:extLst>
                </a:gridCol>
                <a:gridCol w="5024561">
                  <a:extLst>
                    <a:ext uri="{9D8B030D-6E8A-4147-A177-3AD203B41FA5}">
                      <a16:colId xmlns="" xmlns:a16="http://schemas.microsoft.com/office/drawing/2014/main" val="1674463010"/>
                    </a:ext>
                  </a:extLst>
                </a:gridCol>
              </a:tblGrid>
              <a:tr h="267768">
                <a:tc>
                  <a:txBody>
                    <a:bodyPr/>
                    <a:lstStyle/>
                    <a:p>
                      <a:pPr algn="ctr"/>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532058823"/>
                  </a:ext>
                </a:extLst>
              </a:tr>
              <a:tr h="356452">
                <a:tc>
                  <a:txBody>
                    <a:bodyPr/>
                    <a:lstStyle/>
                    <a:p>
                      <a:pPr algn="ctr"/>
                      <a:r>
                        <a:rPr lang="en-US" sz="1200" b="1">
                          <a:latin typeface="Times New Roman" panose="02020603050405020304" pitchFamily="18" charset="0"/>
                          <a:cs typeface="Times New Roman" panose="02020603050405020304" pitchFamily="18" charset="0"/>
                        </a:rPr>
                        <a:t>A505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1200">
                          <a:solidFill>
                            <a:prstClr val="black"/>
                          </a:solidFill>
                          <a:latin typeface="Times New Roman" panose="02020603050405020304" pitchFamily="18" charset="0"/>
                          <a:ea typeface="+mn-ea"/>
                          <a:cs typeface="Times New Roman" panose="02020603050405020304" pitchFamily="18" charset="0"/>
                        </a:rPr>
                        <a:t>Dk cuối T9 có đủ động cơ: P771373 + P771185 thuê Aercap</a:t>
                      </a:r>
                      <a:endParaRPr lang="en-US" sz="1400" kern="1200" dirty="0">
                        <a:solidFill>
                          <a:prstClr val="black"/>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074696803"/>
                  </a:ext>
                </a:extLst>
              </a:tr>
            </a:tbl>
          </a:graphicData>
        </a:graphic>
      </p:graphicFrame>
      <p:graphicFrame>
        <p:nvGraphicFramePr>
          <p:cNvPr id="15" name="Chart 14">
            <a:extLst>
              <a:ext uri="{FF2B5EF4-FFF2-40B4-BE49-F238E27FC236}">
                <a16:creationId xmlns="" xmlns:a16="http://schemas.microsoft.com/office/drawing/2014/main" id="{CCB8BC50-9C48-4077-8FF9-51F8FD309974}"/>
              </a:ext>
            </a:extLst>
          </p:cNvPr>
          <p:cNvGraphicFramePr/>
          <p:nvPr/>
        </p:nvGraphicFramePr>
        <p:xfrm>
          <a:off x="6112328" y="3074366"/>
          <a:ext cx="5909514" cy="367620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 xmlns:a16="http://schemas.microsoft.com/office/drawing/2014/main" id="{3820863C-A0D5-40A0-8221-0CDAF77AC842}"/>
              </a:ext>
            </a:extLst>
          </p:cNvPr>
          <p:cNvSpPr txBox="1"/>
          <p:nvPr/>
        </p:nvSpPr>
        <p:spPr>
          <a:xfrm>
            <a:off x="6124770" y="987232"/>
            <a:ext cx="5909513" cy="1452001"/>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just" defTabSz="1219170" rtl="0" eaLnBrk="1" fontAlgn="auto" latinLnBrk="0" hangingPunct="1">
              <a:lnSpc>
                <a:spcPct val="100000"/>
              </a:lnSpc>
              <a:spcBef>
                <a:spcPts val="600"/>
              </a:spcBef>
              <a:spcAft>
                <a:spcPts val="0"/>
              </a:spcAft>
              <a:buClrTx/>
              <a:buSzTx/>
              <a:buFontTx/>
              <a:buAutoNum type="arabicPeriod"/>
              <a:tabLst/>
              <a:defRPr/>
            </a:pPr>
            <a:r>
              <a:rPr kumimoji="0" lang="en-US"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Rủi ro tháo động c</a:t>
            </a:r>
            <a:r>
              <a:rPr kumimoji="0" lang="vi-VN"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ngoài KH: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Rủi ro tháo do hỏng HPT Blade (A625 S/N P772905 &amp; A621 S/N P771710 BSI Reduced Interval 675 FH/337 FC);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A621 S/N P771710 Ground Stall;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N2 Transient Vibration, HPT Blade, Oil leak, #3DFS worn (all fleet);</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 xmlns:a16="http://schemas.microsoft.com/office/drawing/2014/main" id="{8C24F927-43FE-43A1-80E2-A11360025336}"/>
              </a:ext>
            </a:extLst>
          </p:cNvPr>
          <p:cNvSpPr txBox="1"/>
          <p:nvPr/>
        </p:nvSpPr>
        <p:spPr>
          <a:xfrm>
            <a:off x="5860989" y="57367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Table 7">
            <a:extLst>
              <a:ext uri="{FF2B5EF4-FFF2-40B4-BE49-F238E27FC236}">
                <a16:creationId xmlns="" xmlns:a16="http://schemas.microsoft.com/office/drawing/2014/main" id="{800D410E-4A58-4273-B625-070B85B3D830}"/>
              </a:ext>
            </a:extLst>
          </p:cNvPr>
          <p:cNvGraphicFramePr>
            <a:graphicFrameLocks noGrp="1"/>
          </p:cNvGraphicFramePr>
          <p:nvPr/>
        </p:nvGraphicFramePr>
        <p:xfrm>
          <a:off x="123027" y="838078"/>
          <a:ext cx="5765458" cy="2563961"/>
        </p:xfrm>
        <a:graphic>
          <a:graphicData uri="http://schemas.openxmlformats.org/drawingml/2006/table">
            <a:tbl>
              <a:tblPr firstRow="1" bandRow="1">
                <a:tableStyleId>{5C22544A-7EE6-4342-B048-85BDC9FD1C3A}</a:tableStyleId>
              </a:tblPr>
              <a:tblGrid>
                <a:gridCol w="793078">
                  <a:extLst>
                    <a:ext uri="{9D8B030D-6E8A-4147-A177-3AD203B41FA5}">
                      <a16:colId xmlns="" xmlns:a16="http://schemas.microsoft.com/office/drawing/2014/main" val="3123040184"/>
                    </a:ext>
                  </a:extLst>
                </a:gridCol>
                <a:gridCol w="890615">
                  <a:extLst>
                    <a:ext uri="{9D8B030D-6E8A-4147-A177-3AD203B41FA5}">
                      <a16:colId xmlns="" xmlns:a16="http://schemas.microsoft.com/office/drawing/2014/main" val="2204338324"/>
                    </a:ext>
                  </a:extLst>
                </a:gridCol>
                <a:gridCol w="820738">
                  <a:extLst>
                    <a:ext uri="{9D8B030D-6E8A-4147-A177-3AD203B41FA5}">
                      <a16:colId xmlns="" xmlns:a16="http://schemas.microsoft.com/office/drawing/2014/main" val="1128924154"/>
                    </a:ext>
                  </a:extLst>
                </a:gridCol>
                <a:gridCol w="933075">
                  <a:extLst>
                    <a:ext uri="{9D8B030D-6E8A-4147-A177-3AD203B41FA5}">
                      <a16:colId xmlns="" xmlns:a16="http://schemas.microsoft.com/office/drawing/2014/main" val="2627377997"/>
                    </a:ext>
                  </a:extLst>
                </a:gridCol>
                <a:gridCol w="2327952">
                  <a:extLst>
                    <a:ext uri="{9D8B030D-6E8A-4147-A177-3AD203B41FA5}">
                      <a16:colId xmlns="" xmlns:a16="http://schemas.microsoft.com/office/drawing/2014/main" val="1687818387"/>
                    </a:ext>
                  </a:extLst>
                </a:gridCol>
              </a:tblGrid>
              <a:tr h="198166">
                <a:tc>
                  <a:txBody>
                    <a:bodyPr/>
                    <a:lstStyle/>
                    <a:p>
                      <a:pPr algn="l" rtl="0" fontAlgn="ctr"/>
                      <a:r>
                        <a:rPr lang="vi-VN" sz="1100" b="1" u="none" strike="noStrike" dirty="0">
                          <a:solidFill>
                            <a:srgbClr val="FFFFFF"/>
                          </a:solidFill>
                          <a:effectLst/>
                          <a:latin typeface="+mn-lt"/>
                        </a:rPr>
                        <a:t>Động cơ</a:t>
                      </a:r>
                      <a:endParaRPr lang="vi-VN" sz="1100" b="1" i="0" u="none" strike="noStrike" dirty="0">
                        <a:solidFill>
                          <a:srgbClr val="FFFFFF"/>
                        </a:solidFill>
                        <a:effectLst/>
                        <a:latin typeface="+mn-lt"/>
                      </a:endParaRPr>
                    </a:p>
                  </a:txBody>
                  <a:tcPr marL="47527" marR="5281" marT="5281" marB="0" anchor="ctr"/>
                </a:tc>
                <a:tc>
                  <a:txBody>
                    <a:bodyPr/>
                    <a:lstStyle/>
                    <a:p>
                      <a:pPr algn="ctr" rtl="0" fontAlgn="ctr"/>
                      <a:r>
                        <a:rPr lang="en-GB" sz="1100" b="1" u="none" strike="noStrike">
                          <a:solidFill>
                            <a:srgbClr val="FFFFFF"/>
                          </a:solidFill>
                          <a:effectLst/>
                          <a:latin typeface="+mn-lt"/>
                        </a:rPr>
                        <a:t>Induction</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Dự kiến về</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KH Sử dụng</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Remark</a:t>
                      </a:r>
                      <a:endParaRPr lang="en-GB" sz="1100" b="1" i="0" u="none" strike="noStrike">
                        <a:solidFill>
                          <a:srgbClr val="FFFFFF"/>
                        </a:solidFill>
                        <a:effectLst/>
                        <a:latin typeface="+mn-lt"/>
                      </a:endParaRPr>
                    </a:p>
                  </a:txBody>
                  <a:tcPr marL="5281" marR="5281" marT="5281" marB="0" anchor="ctr"/>
                </a:tc>
                <a:extLst>
                  <a:ext uri="{0D108BD9-81ED-4DB2-BD59-A6C34878D82A}">
                    <a16:rowId xmlns="" xmlns:a16="http://schemas.microsoft.com/office/drawing/2014/main" val="1673130687"/>
                  </a:ext>
                </a:extLst>
              </a:tr>
              <a:tr h="360961">
                <a:tc>
                  <a:txBody>
                    <a:bodyPr/>
                    <a:lstStyle/>
                    <a:p>
                      <a:pPr algn="ctr" rtl="0" fontAlgn="ctr"/>
                      <a:r>
                        <a:rPr lang="en-GB" sz="1100" b="0" u="none" strike="noStrike">
                          <a:solidFill>
                            <a:schemeClr val="tx1"/>
                          </a:solidFill>
                          <a:effectLst/>
                          <a:latin typeface="+mn-lt"/>
                        </a:rPr>
                        <a:t>P771373</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20/02/2025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15/09/2025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a:solidFill>
                            <a:schemeClr val="tx1">
                              <a:lumMod val="85000"/>
                              <a:lumOff val="15000"/>
                            </a:schemeClr>
                          </a:solidFill>
                          <a:effectLst/>
                          <a:latin typeface="+mn-lt"/>
                        </a:rPr>
                        <a:t>Lắp cho A505 cùng v</a:t>
                      </a:r>
                      <a:r>
                        <a:rPr lang="en-US" sz="1100" b="0" i="0" u="none" strike="noStrike">
                          <a:solidFill>
                            <a:schemeClr val="tx1">
                              <a:lumMod val="85000"/>
                              <a:lumOff val="15000"/>
                            </a:schemeClr>
                          </a:solidFill>
                          <a:effectLst/>
                          <a:latin typeface="+mn-lt"/>
                        </a:rPr>
                        <a:t>ới động c</a:t>
                      </a:r>
                      <a:r>
                        <a:rPr lang="vi-VN" sz="1100" b="0" i="0" u="none" strike="noStrike">
                          <a:solidFill>
                            <a:schemeClr val="tx1">
                              <a:lumMod val="85000"/>
                              <a:lumOff val="15000"/>
                            </a:schemeClr>
                          </a:solidFill>
                          <a:effectLst/>
                          <a:latin typeface="+mn-lt"/>
                        </a:rPr>
                        <a:t>ơ</a:t>
                      </a:r>
                      <a:r>
                        <a:rPr lang="en-US" sz="1100" b="0" i="0" u="none" strike="noStrike">
                          <a:solidFill>
                            <a:schemeClr val="tx1">
                              <a:lumMod val="85000"/>
                              <a:lumOff val="15000"/>
                            </a:schemeClr>
                          </a:solidFill>
                          <a:effectLst/>
                          <a:latin typeface="+mn-lt"/>
                        </a:rPr>
                        <a:t> thuê Aercap hoặc PW</a:t>
                      </a:r>
                      <a:endParaRPr lang="en-GB" sz="1100" b="0" i="0" u="none" strike="noStrike" dirty="0">
                        <a:solidFill>
                          <a:schemeClr val="tx1">
                            <a:lumMod val="85000"/>
                            <a:lumOff val="15000"/>
                          </a:schemeClr>
                        </a:solidFill>
                        <a:effectLst/>
                        <a:latin typeface="+mn-lt"/>
                      </a:endParaRPr>
                    </a:p>
                  </a:txBody>
                  <a:tcPr marL="5281" marR="5281" marT="5281" marB="0" anchor="ctr"/>
                </a:tc>
                <a:extLst>
                  <a:ext uri="{0D108BD9-81ED-4DB2-BD59-A6C34878D82A}">
                    <a16:rowId xmlns="" xmlns:a16="http://schemas.microsoft.com/office/drawing/2014/main" val="3042752024"/>
                  </a:ext>
                </a:extLst>
              </a:tr>
              <a:tr h="334139">
                <a:tc>
                  <a:txBody>
                    <a:bodyPr/>
                    <a:lstStyle/>
                    <a:p>
                      <a:pPr algn="ctr" rtl="0" fontAlgn="ctr"/>
                      <a:r>
                        <a:rPr lang="en-GB" sz="1100" b="0" i="0" u="none" strike="noStrike">
                          <a:solidFill>
                            <a:schemeClr val="tx1"/>
                          </a:solidFill>
                          <a:effectLst/>
                          <a:latin typeface="+mn-lt"/>
                        </a:rPr>
                        <a:t>P771079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15/05/2025</a:t>
                      </a:r>
                    </a:p>
                  </a:txBody>
                  <a:tcPr marL="5281" marR="5281" marT="5281" marB="0" anchor="ctr"/>
                </a:tc>
                <a:tc>
                  <a:txBody>
                    <a:bodyPr/>
                    <a:lstStyle/>
                    <a:p>
                      <a:pPr algn="ctr" rtl="0" fontAlgn="ctr"/>
                      <a:r>
                        <a:rPr lang="en-GB" sz="1100" b="0" u="none" strike="noStrike">
                          <a:solidFill>
                            <a:schemeClr val="tx1"/>
                          </a:solidFill>
                          <a:effectLst/>
                          <a:latin typeface="+mn-lt"/>
                        </a:rPr>
                        <a:t>12/11/2025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algn="l" rtl="0" fontAlgn="ctr"/>
                      <a:endParaRPr lang="en-GB" sz="1100" b="0" i="0" u="none" strike="noStrike">
                        <a:solidFill>
                          <a:schemeClr val="tx1"/>
                        </a:solidFill>
                        <a:effectLst/>
                        <a:latin typeface="+mn-lt"/>
                      </a:endParaRPr>
                    </a:p>
                  </a:txBody>
                  <a:tcPr marL="5281" marR="5281" marT="5281" marB="0" anchor="ctr"/>
                </a:tc>
                <a:extLst>
                  <a:ext uri="{0D108BD9-81ED-4DB2-BD59-A6C34878D82A}">
                    <a16:rowId xmlns="" xmlns:a16="http://schemas.microsoft.com/office/drawing/2014/main" val="3826051407"/>
                  </a:ext>
                </a:extLst>
              </a:tr>
              <a:tr h="334139">
                <a:tc>
                  <a:txBody>
                    <a:bodyPr/>
                    <a:lstStyle/>
                    <a:p>
                      <a:pPr algn="ctr" rtl="0" fontAlgn="ctr"/>
                      <a:r>
                        <a:rPr lang="en-GB" sz="1100" b="0" i="0" u="none" strike="noStrike">
                          <a:solidFill>
                            <a:schemeClr val="tx1"/>
                          </a:solidFill>
                          <a:effectLst/>
                          <a:latin typeface="+mn-lt"/>
                        </a:rPr>
                        <a:t>P771119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17/06/2025</a:t>
                      </a:r>
                    </a:p>
                  </a:txBody>
                  <a:tcPr marL="5281" marR="5281" marT="5281" marB="0" anchor="ctr"/>
                </a:tc>
                <a:tc>
                  <a:txBody>
                    <a:bodyPr/>
                    <a:lstStyle/>
                    <a:p>
                      <a:pPr algn="ctr" rtl="0" fontAlgn="ctr"/>
                      <a:r>
                        <a:rPr lang="en-GB" sz="1100" b="0" u="none" strike="noStrike">
                          <a:solidFill>
                            <a:schemeClr val="tx1"/>
                          </a:solidFill>
                          <a:effectLst/>
                          <a:latin typeface="+mn-lt"/>
                        </a:rPr>
                        <a:t>11/11/2025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 xmlns:a16="http://schemas.microsoft.com/office/drawing/2014/main" val="2247301018"/>
                  </a:ext>
                </a:extLst>
              </a:tr>
              <a:tr h="334139">
                <a:tc>
                  <a:txBody>
                    <a:bodyPr/>
                    <a:lstStyle/>
                    <a:p>
                      <a:pPr algn="ctr" rtl="0" fontAlgn="ctr"/>
                      <a:r>
                        <a:rPr lang="en-GB" sz="1100" b="0" i="0" u="none" strike="noStrike">
                          <a:solidFill>
                            <a:schemeClr val="tx1"/>
                          </a:solidFill>
                          <a:effectLst/>
                          <a:latin typeface="+mn-lt"/>
                        </a:rPr>
                        <a:t>P771463</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19/06/2025</a:t>
                      </a:r>
                    </a:p>
                  </a:txBody>
                  <a:tcPr marL="5281" marR="5281" marT="5281" marB="0" anchor="ctr"/>
                </a:tc>
                <a:tc>
                  <a:txBody>
                    <a:bodyPr/>
                    <a:lstStyle/>
                    <a:p>
                      <a:pPr algn="ctr" rtl="0" fontAlgn="ctr"/>
                      <a:r>
                        <a:rPr lang="en-GB" sz="1100" b="0" u="none" strike="noStrike">
                          <a:solidFill>
                            <a:schemeClr val="tx1"/>
                          </a:solidFill>
                          <a:effectLst/>
                          <a:latin typeface="+mn-lt"/>
                        </a:rPr>
                        <a:t>29/12/2025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 xmlns:a16="http://schemas.microsoft.com/office/drawing/2014/main" val="784712550"/>
                  </a:ext>
                </a:extLst>
              </a:tr>
              <a:tr h="334139">
                <a:tc>
                  <a:txBody>
                    <a:bodyPr/>
                    <a:lstStyle/>
                    <a:p>
                      <a:pPr algn="ctr" fontAlgn="ctr"/>
                      <a:r>
                        <a:rPr lang="en-US" sz="1100" b="0" i="0" u="none" strike="noStrike" kern="1200">
                          <a:solidFill>
                            <a:schemeClr val="tx1"/>
                          </a:solidFill>
                          <a:effectLst/>
                          <a:latin typeface="+mn-lt"/>
                          <a:ea typeface="+mn-ea"/>
                          <a:cs typeface="+mn-cs"/>
                        </a:rPr>
                        <a:t>P771175</a:t>
                      </a:r>
                    </a:p>
                  </a:txBody>
                  <a:tcPr marL="0" marR="0" marT="0" marB="0" anchor="ctr"/>
                </a:tc>
                <a:tc>
                  <a:txBody>
                    <a:bodyPr/>
                    <a:lstStyle/>
                    <a:p>
                      <a:pPr algn="ctr" fontAlgn="ctr"/>
                      <a:r>
                        <a:rPr lang="en-US" sz="1100" b="0" u="none" strike="noStrike" kern="1200">
                          <a:solidFill>
                            <a:schemeClr val="tx1"/>
                          </a:solidFill>
                          <a:effectLst/>
                          <a:latin typeface="+mn-lt"/>
                          <a:ea typeface="+mn-ea"/>
                          <a:cs typeface="+mn-cs"/>
                        </a:rPr>
                        <a:t>08/08/2025</a:t>
                      </a:r>
                    </a:p>
                  </a:txBody>
                  <a:tcPr marL="0" marR="0" marT="0"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kumimoji="0" lang="en-GB" sz="1100" b="0" i="0" u="none" strike="noStrike" kern="1200" cap="none" spc="0" normalizeH="0" baseline="0" noProof="0">
                          <a:ln>
                            <a:noFill/>
                          </a:ln>
                          <a:solidFill>
                            <a:prstClr val="black"/>
                          </a:solidFill>
                          <a:effectLst/>
                          <a:uLnTx/>
                          <a:uFillTx/>
                          <a:latin typeface="Cambria"/>
                          <a:ea typeface="+mn-ea"/>
                          <a:cs typeface="+mn-cs"/>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 xmlns:a16="http://schemas.microsoft.com/office/drawing/2014/main" val="4127060481"/>
                  </a:ext>
                </a:extLst>
              </a:tr>
              <a:tr h="334139">
                <a:tc>
                  <a:txBody>
                    <a:bodyPr/>
                    <a:lstStyle/>
                    <a:p>
                      <a:pPr algn="ctr" fontAlgn="ctr"/>
                      <a:r>
                        <a:rPr lang="en-US" sz="1100" b="0" i="0" u="none" strike="noStrike" kern="1200">
                          <a:solidFill>
                            <a:schemeClr val="tx1"/>
                          </a:solidFill>
                          <a:effectLst/>
                          <a:latin typeface="+mn-lt"/>
                          <a:ea typeface="+mn-ea"/>
                          <a:cs typeface="+mn-cs"/>
                        </a:rPr>
                        <a:t>P771687</a:t>
                      </a:r>
                    </a:p>
                  </a:txBody>
                  <a:tcPr marL="0" marR="0" marT="0" marB="0" anchor="ctr"/>
                </a:tc>
                <a:tc>
                  <a:txBody>
                    <a:bodyPr/>
                    <a:lstStyle/>
                    <a:p>
                      <a:pPr algn="ctr" fontAlgn="ctr"/>
                      <a:r>
                        <a:rPr lang="en-US" sz="1100" b="0" u="none" strike="noStrike" kern="1200">
                          <a:solidFill>
                            <a:schemeClr val="tx1"/>
                          </a:solidFill>
                          <a:effectLst/>
                          <a:latin typeface="+mn-lt"/>
                          <a:ea typeface="+mn-ea"/>
                          <a:cs typeface="+mn-cs"/>
                        </a:rPr>
                        <a:t>21/08/2025</a:t>
                      </a:r>
                    </a:p>
                  </a:txBody>
                  <a:tcPr marL="0" marR="0" marT="0"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kumimoji="0" lang="en-GB" sz="1100" b="0" i="0" u="none" strike="noStrike" kern="1200" cap="none" spc="0" normalizeH="0" baseline="0" noProof="0">
                          <a:ln>
                            <a:noFill/>
                          </a:ln>
                          <a:solidFill>
                            <a:prstClr val="black"/>
                          </a:solidFill>
                          <a:effectLst/>
                          <a:uLnTx/>
                          <a:uFillTx/>
                          <a:latin typeface="Cambria"/>
                          <a:ea typeface="+mn-ea"/>
                          <a:cs typeface="+mn-cs"/>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 xmlns:a16="http://schemas.microsoft.com/office/drawing/2014/main" val="2265960962"/>
                  </a:ext>
                </a:extLst>
              </a:tr>
              <a:tr h="334139">
                <a:tc>
                  <a:txBody>
                    <a:bodyPr/>
                    <a:lstStyle/>
                    <a:p>
                      <a:pPr algn="ctr" fontAlgn="ctr"/>
                      <a:r>
                        <a:rPr lang="en-US" sz="1100" b="0" i="0" u="none" strike="noStrike" kern="1200">
                          <a:solidFill>
                            <a:schemeClr val="tx1"/>
                          </a:solidFill>
                          <a:effectLst/>
                          <a:latin typeface="+mn-lt"/>
                          <a:ea typeface="+mn-ea"/>
                          <a:cs typeface="+mn-cs"/>
                        </a:rPr>
                        <a:t>P771685</a:t>
                      </a:r>
                    </a:p>
                  </a:txBody>
                  <a:tcPr marL="0" marR="0" marT="0" marB="0" anchor="ctr"/>
                </a:tc>
                <a:tc>
                  <a:txBody>
                    <a:bodyPr/>
                    <a:lstStyle/>
                    <a:p>
                      <a:pPr algn="ctr" fontAlgn="ctr"/>
                      <a:r>
                        <a:rPr lang="en-US" sz="1100" b="0" u="none" strike="noStrike" kern="1200">
                          <a:solidFill>
                            <a:schemeClr val="tx1"/>
                          </a:solidFill>
                          <a:effectLst/>
                          <a:latin typeface="+mn-lt"/>
                          <a:ea typeface="+mn-ea"/>
                          <a:cs typeface="+mn-cs"/>
                        </a:rPr>
                        <a:t>Sep/2025</a:t>
                      </a:r>
                    </a:p>
                  </a:txBody>
                  <a:tcPr marL="0" marR="0" marT="0"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kumimoji="0" lang="en-GB" sz="1100" b="0" i="0" u="none" strike="noStrike" kern="1200" cap="none" spc="0" normalizeH="0" baseline="0" noProof="0">
                          <a:ln>
                            <a:noFill/>
                          </a:ln>
                          <a:solidFill>
                            <a:prstClr val="black"/>
                          </a:solidFill>
                          <a:effectLst/>
                          <a:uLnTx/>
                          <a:uFillTx/>
                          <a:latin typeface="Cambria"/>
                          <a:ea typeface="+mn-ea"/>
                          <a:cs typeface="+mn-cs"/>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 xmlns:a16="http://schemas.microsoft.com/office/drawing/2014/main" val="3207586866"/>
                  </a:ext>
                </a:extLst>
              </a:tr>
            </a:tbl>
          </a:graphicData>
        </a:graphic>
      </p:graphicFrame>
      <p:sp>
        <p:nvSpPr>
          <p:cNvPr id="14" name="TextBox 13">
            <a:extLst>
              <a:ext uri="{FF2B5EF4-FFF2-40B4-BE49-F238E27FC236}">
                <a16:creationId xmlns="" xmlns:a16="http://schemas.microsoft.com/office/drawing/2014/main" id="{3665DF89-9C1E-039A-24B3-2AC39417A7A0}"/>
              </a:ext>
            </a:extLst>
          </p:cNvPr>
          <p:cNvSpPr txBox="1"/>
          <p:nvPr/>
        </p:nvSpPr>
        <p:spPr>
          <a:xfrm>
            <a:off x="0" y="3420766"/>
            <a:ext cx="583409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RTS</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8" name="TextBox 17">
            <a:extLst>
              <a:ext uri="{FF2B5EF4-FFF2-40B4-BE49-F238E27FC236}">
                <a16:creationId xmlns="" xmlns:a16="http://schemas.microsoft.com/office/drawing/2014/main" id="{CC5E228E-E3EC-4098-B50D-0EB6E35D60A1}"/>
              </a:ext>
            </a:extLst>
          </p:cNvPr>
          <p:cNvSpPr txBox="1"/>
          <p:nvPr/>
        </p:nvSpPr>
        <p:spPr>
          <a:xfrm>
            <a:off x="0" y="4724400"/>
            <a:ext cx="6266703"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en-US" b="1">
                <a:solidFill>
                  <a:srgbClr val="002060"/>
                </a:solidFill>
                <a:latin typeface="Times New Roman" panose="02020603050405020304" pitchFamily="18" charset="0"/>
                <a:cs typeface="Times New Roman" panose="02020603050405020304" pitchFamily="18" charset="0"/>
              </a:rPr>
              <a:t>giữ giờ phục vụ CĐ tết 2026</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9" name="TextBox 18">
            <a:extLst>
              <a:ext uri="{FF2B5EF4-FFF2-40B4-BE49-F238E27FC236}">
                <a16:creationId xmlns="" xmlns:a16="http://schemas.microsoft.com/office/drawing/2014/main" id="{646654A8-2338-4BFD-A6E9-33BD153433BE}"/>
              </a:ext>
            </a:extLst>
          </p:cNvPr>
          <p:cNvSpPr txBox="1"/>
          <p:nvPr/>
        </p:nvSpPr>
        <p:spPr>
          <a:xfrm>
            <a:off x="96133" y="5131057"/>
            <a:ext cx="5737176" cy="1107996"/>
          </a:xfrm>
          <a:prstGeom prst="rect">
            <a:avLst/>
          </a:prstGeom>
          <a:solidFill>
            <a:schemeClr val="accent4">
              <a:lumMod val="40000"/>
              <a:lumOff val="60000"/>
            </a:schemeClr>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just" defTabSz="1219170" rtl="0" eaLnBrk="1" fontAlgn="auto" latinLnBrk="0" hangingPunct="1">
              <a:lnSpc>
                <a:spcPct val="100000"/>
              </a:lnSpc>
              <a:spcBef>
                <a:spcPts val="1200"/>
              </a:spcBef>
              <a:spcAft>
                <a:spcPts val="0"/>
              </a:spcAft>
              <a:buClrTx/>
              <a:buSzTx/>
              <a:buFont typeface="+mj-lt"/>
              <a:buAutoNum type="arabicPeriod"/>
              <a:tabLst/>
              <a:defRPr/>
            </a:pPr>
            <a:r>
              <a:rPr lang="en-US" sz="1400">
                <a:solidFill>
                  <a:prstClr val="black"/>
                </a:solidFill>
                <a:latin typeface="Times New Roman" panose="02020603050405020304" pitchFamily="18" charset="0"/>
                <a:cs typeface="Times New Roman" panose="02020603050405020304" pitchFamily="18" charset="0"/>
              </a:rPr>
              <a:t>Swap động cơ A621#2 với A625#1. A621 sẽ dừng giữ 50-70 FC từ đầu Tháng 8, A625 tiếp tục khai thác. Đã thực hiện.</a:t>
            </a:r>
          </a:p>
          <a:p>
            <a:pPr marL="342900" marR="0" lvl="0" indent="-342900" algn="just" defTabSz="1219170" rtl="0" eaLnBrk="1" fontAlgn="auto" latinLnBrk="0" hangingPunct="1">
              <a:lnSpc>
                <a:spcPct val="100000"/>
              </a:lnSpc>
              <a:spcBef>
                <a:spcPts val="1200"/>
              </a:spcBef>
              <a:spcAft>
                <a:spcPts val="0"/>
              </a:spcAft>
              <a:buClrTx/>
              <a:buSzTx/>
              <a:buFont typeface="+mj-lt"/>
              <a:buAutoNum type="arabicPeriod"/>
              <a:tabLst/>
              <a:defRPr/>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Swap động cơ </a:t>
            </a:r>
            <a:r>
              <a:rPr lang="en-US" sz="1400">
                <a:solidFill>
                  <a:prstClr val="black"/>
                </a:solidFill>
                <a:latin typeface="Times New Roman" panose="02020603050405020304" pitchFamily="18" charset="0"/>
                <a:cs typeface="Times New Roman" panose="02020603050405020304" pitchFamily="18" charset="0"/>
              </a:rPr>
              <a:t>A618#2 với A619#1. Dự kiến thực hiện cuối tháng 9. A618 giữ giờ đến CĐ tết 2025, A619 khai thác bình thường.</a:t>
            </a:r>
          </a:p>
        </p:txBody>
      </p:sp>
    </p:spTree>
    <p:extLst>
      <p:ext uri="{BB962C8B-B14F-4D97-AF65-F5344CB8AC3E}">
        <p14:creationId xmlns:p14="http://schemas.microsoft.com/office/powerpoint/2010/main" val="374139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28</a:t>
            </a:fld>
            <a:endParaRPr lang="vi"/>
          </a:p>
        </p:txBody>
      </p:sp>
      <p:sp>
        <p:nvSpPr>
          <p:cNvPr id="3" name="Slide Number Placeholder 3">
            <a:extLst>
              <a:ext uri="{FF2B5EF4-FFF2-40B4-BE49-F238E27FC236}">
                <a16:creationId xmlns=""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28</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 xmlns:a16="http://schemas.microsoft.com/office/drawing/2014/main" id="{C6B0DA9E-4175-8F90-5644-7AB7D854EA46}"/>
              </a:ext>
            </a:extLst>
          </p:cNvPr>
          <p:cNvGraphicFramePr/>
          <p:nvPr/>
        </p:nvGraphicFramePr>
        <p:xfrm>
          <a:off x="6248401" y="502765"/>
          <a:ext cx="5855025" cy="395365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 xmlns:a16="http://schemas.microsoft.com/office/drawing/2014/main" id="{B830FD37-0C62-DD9A-7EAB-6CFC0D17CDB3}"/>
              </a:ext>
            </a:extLst>
          </p:cNvPr>
          <p:cNvSpPr txBox="1"/>
          <p:nvPr/>
        </p:nvSpPr>
        <p:spPr>
          <a:xfrm>
            <a:off x="79337" y="3129806"/>
            <a:ext cx="6054134"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200" b="1" dirty="0" err="1">
                <a:solidFill>
                  <a:schemeClr val="tx1"/>
                </a:solidFill>
                <a:latin typeface="Times New Roman" panose="02020603050405020304" pitchFamily="18" charset="0"/>
                <a:cs typeface="Times New Roman" panose="02020603050405020304" pitchFamily="18" charset="0"/>
              </a:rPr>
              <a:t>Động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cơ</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dự</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phòng</a:t>
            </a:r>
            <a:r>
              <a:rPr lang="en-US" sz="1200" b="1" dirty="0">
                <a:solidFill>
                  <a:schemeClr val="tx1"/>
                </a:solidFill>
                <a:latin typeface="Times New Roman" panose="02020603050405020304" pitchFamily="18" charset="0"/>
                <a:cs typeface="Times New Roman" panose="02020603050405020304" pitchFamily="18" charset="0"/>
              </a:rPr>
              <a: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Hiện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956599 </a:t>
            </a:r>
            <a:r>
              <a:rPr lang="en-US" sz="1200" dirty="0" err="1">
                <a:solidFill>
                  <a:schemeClr val="tx1"/>
                </a:solidFill>
                <a:latin typeface="Times New Roman" panose="02020603050405020304" pitchFamily="18" charset="0"/>
                <a:cs typeface="Times New Roman" panose="02020603050405020304" pitchFamily="18" charset="0"/>
              </a:rPr>
              <a:t>đã</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SGN, </a:t>
            </a:r>
            <a:r>
              <a:rPr lang="en-US" sz="1200" dirty="0" err="1">
                <a:solidFill>
                  <a:schemeClr val="tx1"/>
                </a:solidFill>
                <a:latin typeface="Times New Roman" panose="02020603050405020304" pitchFamily="18" charset="0"/>
                <a:cs typeface="Times New Roman" panose="02020603050405020304" pitchFamily="18" charset="0"/>
              </a:rPr>
              <a:t>dự</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kiến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thay</a:t>
            </a:r>
            <a:r>
              <a:rPr lang="en-US" sz="1200" dirty="0">
                <a:solidFill>
                  <a:schemeClr val="tx1"/>
                </a:solidFill>
                <a:latin typeface="Times New Roman" panose="02020603050405020304" pitchFamily="18" charset="0"/>
                <a:cs typeface="Times New Roman" panose="02020603050405020304" pitchFamily="18" charset="0"/>
              </a:rPr>
              <a:t> A863/958170 </a:t>
            </a:r>
            <a:r>
              <a:rPr lang="en-US" sz="1200" dirty="0" err="1">
                <a:solidFill>
                  <a:schemeClr val="tx1"/>
                </a:solidFill>
                <a:latin typeface="Times New Roman" panose="02020603050405020304" pitchFamily="18" charset="0"/>
                <a:cs typeface="Times New Roman" panose="02020603050405020304" pitchFamily="18" charset="0"/>
              </a:rPr>
              <a:t>cuối</a:t>
            </a:r>
            <a:r>
              <a:rPr lang="en-US" sz="1200" dirty="0">
                <a:solidFill>
                  <a:schemeClr val="tx1"/>
                </a:solidFill>
                <a:latin typeface="Times New Roman" panose="02020603050405020304" pitchFamily="18" charset="0"/>
                <a:cs typeface="Times New Roman" panose="02020603050405020304" pitchFamily="18" charset="0"/>
              </a:rPr>
              <a:t> T8</a:t>
            </a:r>
          </a:p>
          <a:p>
            <a:pPr marL="380990" indent="-380990" defTabSz="1219170">
              <a:buFontTx/>
              <a:buChar char="-"/>
              <a:defRPr/>
            </a:pPr>
            <a:r>
              <a:rPr lang="en-US" sz="1200" b="1" dirty="0" err="1">
                <a:solidFill>
                  <a:schemeClr val="tx1"/>
                </a:solidFill>
                <a:latin typeface="Times New Roman" panose="02020603050405020304" pitchFamily="18" charset="0"/>
                <a:cs typeface="Times New Roman" panose="02020603050405020304" pitchFamily="18" charset="0"/>
              </a:rPr>
              <a:t>Động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cơ</a:t>
            </a:r>
            <a:r>
              <a:rPr lang="en-US" sz="1200" b="1" dirty="0">
                <a:solidFill>
                  <a:schemeClr val="tx1"/>
                </a:solidFill>
                <a:latin typeface="Times New Roman" panose="02020603050405020304" pitchFamily="18" charset="0"/>
                <a:cs typeface="Times New Roman" panose="02020603050405020304" pitchFamily="18" charset="0"/>
              </a:rPr>
              <a:t> on-watch &amp; </a:t>
            </a:r>
            <a:r>
              <a:rPr lang="en-US" sz="1200" b="1" dirty="0" err="1">
                <a:solidFill>
                  <a:schemeClr val="tx1"/>
                </a:solidFill>
                <a:latin typeface="Times New Roman" panose="02020603050405020304" pitchFamily="18" charset="0"/>
                <a:cs typeface="Times New Roman" panose="02020603050405020304" pitchFamily="18" charset="0"/>
              </a:rPr>
              <a:t>Hạn</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chế</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khai</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thác</a:t>
            </a:r>
            <a:r>
              <a:rPr lang="en-US" sz="1200"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200" dirty="0">
                <a:solidFill>
                  <a:schemeClr val="tx1"/>
                </a:solidFill>
                <a:cs typeface="Times New Roman" panose="02020603050405020304" pitchFamily="18" charset="0"/>
              </a:rPr>
              <a:t>6 </a:t>
            </a:r>
            <a:r>
              <a:rPr lang="en-US" sz="1200" dirty="0" err="1">
                <a:solidFill>
                  <a:schemeClr val="tx1"/>
                </a:solidFill>
                <a:cs typeface="Times New Roman" panose="02020603050405020304" pitchFamily="18" charset="0"/>
              </a:rPr>
              <a:t>động</a:t>
            </a:r>
            <a:r>
              <a:rPr lang="en-US" sz="1200" dirty="0">
                <a:solidFill>
                  <a:schemeClr val="tx1"/>
                </a:solidFill>
                <a:cs typeface="Times New Roman" panose="02020603050405020304" pitchFamily="18" charset="0"/>
              </a:rPr>
              <a:t> c</a:t>
            </a:r>
            <a:r>
              <a:rPr lang="vi-VN" sz="1200" dirty="0">
                <a:solidFill>
                  <a:schemeClr val="tx1"/>
                </a:solidFill>
                <a:cs typeface="Times New Roman" panose="02020603050405020304" pitchFamily="18" charset="0"/>
              </a:rPr>
              <a:t>ơ</a:t>
            </a:r>
            <a:r>
              <a:rPr lang="en-US" sz="1200" dirty="0">
                <a:solidFill>
                  <a:schemeClr val="tx1"/>
                </a:solidFill>
                <a:cs typeface="Times New Roman" panose="02020603050405020304" pitchFamily="18" charset="0"/>
              </a:rPr>
              <a:t> on-watch 50 – 250FC, </a:t>
            </a:r>
            <a:r>
              <a:rPr lang="en-US" sz="1200" dirty="0" err="1">
                <a:solidFill>
                  <a:schemeClr val="tx1"/>
                </a:solidFill>
                <a:cs typeface="Times New Roman" panose="02020603050405020304" pitchFamily="18" charset="0"/>
              </a:rPr>
              <a:t>hiện</a:t>
            </a:r>
            <a:r>
              <a:rPr lang="en-US" sz="1200" dirty="0">
                <a:solidFill>
                  <a:schemeClr val="tx1"/>
                </a:solidFill>
                <a:cs typeface="Times New Roman" panose="02020603050405020304" pitchFamily="18" charset="0"/>
              </a:rPr>
              <a:t> 3 </a:t>
            </a:r>
            <a:r>
              <a:rPr lang="en-US" sz="1200" dirty="0" err="1">
                <a:solidFill>
                  <a:schemeClr val="tx1"/>
                </a:solidFill>
                <a:cs typeface="Times New Roman" panose="02020603050405020304" pitchFamily="18" charset="0"/>
              </a:rPr>
              <a:t>động</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cơ</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có</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tần</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suất</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thấp</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nhất</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đã</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có</a:t>
            </a:r>
            <a:r>
              <a:rPr lang="en-US" sz="1200" dirty="0">
                <a:solidFill>
                  <a:schemeClr val="tx1"/>
                </a:solidFill>
                <a:cs typeface="Times New Roman" panose="02020603050405020304" pitchFamily="18" charset="0"/>
              </a:rPr>
              <a:t> KH </a:t>
            </a:r>
            <a:r>
              <a:rPr lang="en-US" sz="1200" dirty="0" err="1">
                <a:solidFill>
                  <a:schemeClr val="tx1"/>
                </a:solidFill>
                <a:cs typeface="Times New Roman" panose="02020603050405020304" pitchFamily="18" charset="0"/>
              </a:rPr>
              <a:t>tháo</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trong</a:t>
            </a:r>
            <a:r>
              <a:rPr lang="en-US" sz="1200" dirty="0">
                <a:solidFill>
                  <a:schemeClr val="tx1"/>
                </a:solidFill>
                <a:cs typeface="Times New Roman" panose="02020603050405020304" pitchFamily="18" charset="0"/>
              </a:rPr>
              <a:t> T8 – T9 </a:t>
            </a:r>
            <a:r>
              <a:rPr lang="en-US" sz="1200" dirty="0" err="1">
                <a:solidFill>
                  <a:schemeClr val="tx1"/>
                </a:solidFill>
                <a:cs typeface="Times New Roman" panose="02020603050405020304" pitchFamily="18" charset="0"/>
              </a:rPr>
              <a:t>để</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gửi</a:t>
            </a:r>
            <a:r>
              <a:rPr lang="en-US" sz="1200" dirty="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đi</a:t>
            </a:r>
            <a:r>
              <a:rPr lang="en-US" sz="1200" dirty="0">
                <a:solidFill>
                  <a:schemeClr val="tx1"/>
                </a:solidFill>
                <a:cs typeface="Times New Roman" panose="02020603050405020304" pitchFamily="18" charset="0"/>
              </a:rPr>
              <a:t> shop. </a:t>
            </a:r>
          </a:p>
          <a:p>
            <a:pPr marL="380990" indent="-380990" defTabSz="1219170">
              <a:buFontTx/>
              <a:buChar char="-"/>
              <a:defRPr/>
            </a:pPr>
            <a:r>
              <a:rPr lang="en-US" sz="1200" b="1" dirty="0" err="1">
                <a:solidFill>
                  <a:schemeClr val="tx1"/>
                </a:solidFill>
                <a:latin typeface="Times New Roman" panose="02020603050405020304" pitchFamily="18" charset="0"/>
                <a:cs typeface="Times New Roman" panose="02020603050405020304" pitchFamily="18" charset="0"/>
              </a:rPr>
              <a:t>Rủi</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ro</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và</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công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việc</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trọng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điểm</a:t>
            </a:r>
            <a:r>
              <a:rPr lang="en-US" sz="1200" b="1" dirty="0">
                <a:solidFill>
                  <a:schemeClr val="tx1"/>
                </a:solidFill>
                <a:latin typeface="Times New Roman" panose="02020603050405020304" pitchFamily="18" charset="0"/>
                <a:cs typeface="Times New Roman" panose="02020603050405020304" pitchFamily="18" charset="0"/>
              </a:rPr>
              <a:t> 2H 2025:</a:t>
            </a:r>
            <a:endParaRPr lang="en-US" sz="1200"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200" dirty="0">
                <a:solidFill>
                  <a:schemeClr val="tx1"/>
                </a:solidFill>
                <a:latin typeface="Times New Roman" panose="02020603050405020304" pitchFamily="18" charset="0"/>
                <a:cs typeface="Times New Roman" panose="02020603050405020304" pitchFamily="18" charset="0"/>
              </a:rPr>
              <a:t>Các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on-watch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rủi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tháo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sớm</a:t>
            </a:r>
            <a:r>
              <a:rPr lang="en-US" sz="1200" dirty="0">
                <a:solidFill>
                  <a:schemeClr val="tx1"/>
                </a:solidFill>
                <a:latin typeface="Times New Roman" panose="02020603050405020304" pitchFamily="18" charset="0"/>
                <a:cs typeface="Times New Roman" panose="02020603050405020304" pitchFamily="18" charset="0"/>
              </a:rPr>
              <a:t>. Các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spare </a:t>
            </a:r>
            <a:r>
              <a:rPr lang="en-US" sz="1200" dirty="0" err="1">
                <a:solidFill>
                  <a:schemeClr val="tx1"/>
                </a:solidFill>
                <a:latin typeface="Times New Roman" panose="02020603050405020304" pitchFamily="18" charset="0"/>
                <a:cs typeface="Times New Roman" panose="02020603050405020304" pitchFamily="18" charset="0"/>
              </a:rPr>
              <a:t>sẽ</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lượt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trong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tháng</a:t>
            </a:r>
            <a:r>
              <a:rPr lang="en-US" sz="1200" dirty="0">
                <a:solidFill>
                  <a:schemeClr val="tx1"/>
                </a:solidFill>
                <a:latin typeface="Times New Roman" panose="02020603050405020304" pitchFamily="18" charset="0"/>
                <a:cs typeface="Times New Roman" panose="02020603050405020304" pitchFamily="18" charset="0"/>
              </a:rPr>
              <a:t> 8– 9 </a:t>
            </a:r>
            <a:r>
              <a:rPr lang="en-US" sz="1200" dirty="0" err="1">
                <a:solidFill>
                  <a:schemeClr val="tx1"/>
                </a:solidFill>
                <a:latin typeface="Times New Roman" panose="02020603050405020304" pitchFamily="18" charset="0"/>
                <a:cs typeface="Times New Roman" panose="02020603050405020304" pitchFamily="18" charset="0"/>
              </a:rPr>
              <a:t>tuy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nhiên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thể</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bị</a:t>
            </a:r>
            <a:r>
              <a:rPr lang="en-US" sz="1200" dirty="0">
                <a:solidFill>
                  <a:schemeClr val="tx1"/>
                </a:solidFill>
                <a:latin typeface="Times New Roman" panose="02020603050405020304" pitchFamily="18" charset="0"/>
                <a:cs typeface="Times New Roman" panose="02020603050405020304" pitchFamily="18" charset="0"/>
              </a:rPr>
              <a:t> delay. </a:t>
            </a:r>
          </a:p>
          <a:p>
            <a:pPr marL="548640" indent="-182880">
              <a:buFont typeface="Wingdings" panose="05000000000000000000" pitchFamily="2" charset="2"/>
              <a:buChar char="§"/>
              <a:defRPr/>
            </a:pPr>
            <a:r>
              <a:rPr lang="en-US" sz="1200" dirty="0" err="1">
                <a:solidFill>
                  <a:schemeClr val="tx1"/>
                </a:solidFill>
                <a:latin typeface="Times New Roman" panose="02020603050405020304" pitchFamily="18" charset="0"/>
                <a:cs typeface="Times New Roman" panose="02020603050405020304" pitchFamily="18" charset="0"/>
              </a:rPr>
              <a:t>Cần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trả</a:t>
            </a:r>
            <a:r>
              <a:rPr lang="en-US" sz="1200" dirty="0">
                <a:solidFill>
                  <a:schemeClr val="tx1"/>
                </a:solidFill>
                <a:latin typeface="Times New Roman" panose="02020603050405020304" pitchFamily="18" charset="0"/>
                <a:cs typeface="Times New Roman" panose="02020603050405020304" pitchFamily="18" charset="0"/>
              </a:rPr>
              <a:t> 3 </a:t>
            </a:r>
            <a:r>
              <a:rPr lang="en-US" sz="1200" dirty="0" err="1">
                <a:solidFill>
                  <a:schemeClr val="tx1"/>
                </a:solidFill>
                <a:latin typeface="Times New Roman" panose="02020603050405020304" pitchFamily="18" charset="0"/>
                <a:cs typeface="Times New Roman" panose="02020603050405020304" pitchFamily="18" charset="0"/>
              </a:rPr>
              <a:t>đông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thuê</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năm</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trong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năm</a:t>
            </a:r>
            <a:r>
              <a:rPr lang="en-US" sz="1200" dirty="0">
                <a:solidFill>
                  <a:schemeClr val="tx1"/>
                </a:solidFill>
                <a:latin typeface="Times New Roman" panose="02020603050405020304" pitchFamily="18" charset="0"/>
                <a:cs typeface="Times New Roman" panose="02020603050405020304" pitchFamily="18" charset="0"/>
              </a:rPr>
              <a:t> 2025,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rủi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ảnh</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hưởng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đến</a:t>
            </a:r>
            <a:r>
              <a:rPr lang="en-US" sz="1200" dirty="0">
                <a:solidFill>
                  <a:schemeClr val="tx1"/>
                </a:solidFill>
                <a:latin typeface="Times New Roman" panose="02020603050405020304" pitchFamily="18" charset="0"/>
                <a:cs typeface="Times New Roman" panose="02020603050405020304" pitchFamily="18" charset="0"/>
              </a:rPr>
              <a:t> KH </a:t>
            </a:r>
            <a:r>
              <a:rPr lang="en-US" sz="1200" dirty="0" err="1">
                <a:solidFill>
                  <a:schemeClr val="tx1"/>
                </a:solidFill>
                <a:latin typeface="Times New Roman" panose="02020603050405020304" pitchFamily="18" charset="0"/>
                <a:cs typeface="Times New Roman" panose="02020603050405020304" pitchFamily="18" charset="0"/>
              </a:rPr>
              <a:t>tháo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nếu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muộn</a:t>
            </a:r>
            <a:r>
              <a:rPr lang="en-US" sz="1200" dirty="0">
                <a:solidFill>
                  <a:schemeClr val="tx1"/>
                </a:solidFill>
                <a:latin typeface="Times New Roman" panose="02020603050405020304" pitchFamily="18" charset="0"/>
                <a:cs typeface="Times New Roman" panose="02020603050405020304" pitchFamily="18" charset="0"/>
              </a:rPr>
              <a:t>.</a:t>
            </a:r>
            <a:endParaRPr lang="en-US" sz="1200"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 xmlns:a16="http://schemas.microsoft.com/office/drawing/2014/main" id="{66BC6617-EF33-BB90-B1C0-6DFD65C9FC16}"/>
              </a:ext>
            </a:extLst>
          </p:cNvPr>
          <p:cNvGraphicFramePr>
            <a:graphicFrameLocks noGrp="1"/>
          </p:cNvGraphicFramePr>
          <p:nvPr/>
        </p:nvGraphicFramePr>
        <p:xfrm>
          <a:off x="88573" y="502766"/>
          <a:ext cx="6054135" cy="2541427"/>
        </p:xfrm>
        <a:graphic>
          <a:graphicData uri="http://schemas.openxmlformats.org/drawingml/2006/table">
            <a:tbl>
              <a:tblPr firstRow="1" bandRow="1">
                <a:tableStyleId>{7DF18680-E054-41AD-8BC1-D1AEF772440D}</a:tableStyleId>
              </a:tblPr>
              <a:tblGrid>
                <a:gridCol w="679825">
                  <a:extLst>
                    <a:ext uri="{9D8B030D-6E8A-4147-A177-3AD203B41FA5}">
                      <a16:colId xmlns="" xmlns:a16="http://schemas.microsoft.com/office/drawing/2014/main" val="1598605427"/>
                    </a:ext>
                  </a:extLst>
                </a:gridCol>
                <a:gridCol w="603202">
                  <a:extLst>
                    <a:ext uri="{9D8B030D-6E8A-4147-A177-3AD203B41FA5}">
                      <a16:colId xmlns="" xmlns:a16="http://schemas.microsoft.com/office/drawing/2014/main" val="3845954792"/>
                    </a:ext>
                  </a:extLst>
                </a:gridCol>
                <a:gridCol w="989327">
                  <a:extLst>
                    <a:ext uri="{9D8B030D-6E8A-4147-A177-3AD203B41FA5}">
                      <a16:colId xmlns="" xmlns:a16="http://schemas.microsoft.com/office/drawing/2014/main" val="3803391337"/>
                    </a:ext>
                  </a:extLst>
                </a:gridCol>
                <a:gridCol w="1372873">
                  <a:extLst>
                    <a:ext uri="{9D8B030D-6E8A-4147-A177-3AD203B41FA5}">
                      <a16:colId xmlns="" xmlns:a16="http://schemas.microsoft.com/office/drawing/2014/main" val="2148822928"/>
                    </a:ext>
                  </a:extLst>
                </a:gridCol>
                <a:gridCol w="990600">
                  <a:extLst>
                    <a:ext uri="{9D8B030D-6E8A-4147-A177-3AD203B41FA5}">
                      <a16:colId xmlns="" xmlns:a16="http://schemas.microsoft.com/office/drawing/2014/main" val="1106888684"/>
                    </a:ext>
                  </a:extLst>
                </a:gridCol>
                <a:gridCol w="1418308">
                  <a:extLst>
                    <a:ext uri="{9D8B030D-6E8A-4147-A177-3AD203B41FA5}">
                      <a16:colId xmlns="" xmlns:a16="http://schemas.microsoft.com/office/drawing/2014/main" val="558551088"/>
                    </a:ext>
                  </a:extLst>
                </a:gridCol>
              </a:tblGrid>
              <a:tr h="449728">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a:solidFill>
                            <a:schemeClr val="bg1"/>
                          </a:solidFill>
                          <a:effectLst/>
                          <a:latin typeface="+mn-lt"/>
                        </a:rPr>
                        <a:t>Status</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1234812354"/>
                  </a:ext>
                </a:extLst>
              </a:tr>
              <a:tr h="232411">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T2/2026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2610276437"/>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Ship</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 25/08/2025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T4/2026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3393248472"/>
                  </a:ext>
                </a:extLst>
              </a:tr>
              <a:tr h="232411">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24/06/2025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T2/2026</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880068930"/>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T1/2026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2980115374"/>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20/09/25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err="1">
                          <a:solidFill>
                            <a:schemeClr val="tx1"/>
                          </a:solidFill>
                          <a:effectLst/>
                          <a:latin typeface="+mn-lt"/>
                          <a:cs typeface="Times New Roman" panose="02020603050405020304" pitchFamily="18" charset="0"/>
                        </a:rPr>
                        <a:t>Tháo</a:t>
                      </a:r>
                      <a:r>
                        <a:rPr lang="en-US" sz="1200" b="0" i="0" u="none" strike="noStrike" dirty="0">
                          <a:solidFill>
                            <a:schemeClr val="tx1"/>
                          </a:solidFill>
                          <a:effectLst/>
                          <a:latin typeface="+mn-lt"/>
                          <a:cs typeface="Times New Roman" panose="02020603050405020304" pitchFamily="18" charset="0"/>
                        </a:rPr>
                        <a:t> A861/958374</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090409908"/>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21/11/25</a:t>
                      </a:r>
                    </a:p>
                  </a:txBody>
                  <a:tcPr marL="12700" marR="12700" marT="12700" marB="0" anchor="ctr"/>
                </a:tc>
                <a:tc>
                  <a:txBody>
                    <a:bodyPr/>
                    <a:lstStyle/>
                    <a:p>
                      <a:pPr algn="ctr" fontAlgn="ctr"/>
                      <a:r>
                        <a:rPr lang="en-US" sz="1200" b="0" i="0" u="none" strike="noStrike" dirty="0" err="1">
                          <a:solidFill>
                            <a:schemeClr val="tx1"/>
                          </a:solidFill>
                          <a:effectLst/>
                          <a:latin typeface="+mn-lt"/>
                          <a:cs typeface="Times New Roman" panose="02020603050405020304" pitchFamily="18" charset="0"/>
                        </a:rPr>
                        <a:t>Trả</a:t>
                      </a:r>
                      <a:r>
                        <a:rPr lang="en-US" sz="1200" b="0" i="0" u="none" strike="noStrike" dirty="0">
                          <a:solidFill>
                            <a:schemeClr val="tx1"/>
                          </a:solidFill>
                          <a:effectLst/>
                          <a:latin typeface="+mn-lt"/>
                          <a:cs typeface="Times New Roman" panose="02020603050405020304" pitchFamily="18" charset="0"/>
                        </a:rPr>
                        <a:t> đ/c </a:t>
                      </a:r>
                      <a:r>
                        <a:rPr lang="en-US" sz="1200" b="0" i="0" u="none" strike="noStrike" dirty="0" err="1">
                          <a:solidFill>
                            <a:schemeClr val="tx1"/>
                          </a:solidFill>
                          <a:effectLst/>
                          <a:latin typeface="+mn-lt"/>
                          <a:cs typeface="Times New Roman" panose="02020603050405020304" pitchFamily="18" charset="0"/>
                        </a:rPr>
                        <a:t>thuê</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764472465"/>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15/05/2025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04/09/25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Thay A862/956600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4249697906"/>
                  </a:ext>
                </a:extLst>
              </a:tr>
              <a:tr h="232411">
                <a:tc>
                  <a:txBody>
                    <a:bodyPr/>
                    <a:lstStyle/>
                    <a:p>
                      <a:pPr algn="ctr" fontAlgn="ctr"/>
                      <a:r>
                        <a:rPr lang="en-US" sz="1200" b="0" i="0" u="none" strike="noStrike">
                          <a:solidFill>
                            <a:schemeClr val="tx1"/>
                          </a:solidFill>
                          <a:effectLst/>
                          <a:latin typeface="+mn-lt"/>
                          <a:cs typeface="Times New Roman" panose="02020603050405020304" pitchFamily="18" charset="0"/>
                        </a:rPr>
                        <a:t>958435</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18/06/2025</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a:t>
                      </a:r>
                      <a:r>
                        <a:rPr lang="en-US" sz="1200" b="0" u="none" strike="noStrike" baseline="0" dirty="0">
                          <a:solidFill>
                            <a:schemeClr val="tx1"/>
                          </a:solidFill>
                          <a:effectLst/>
                          <a:latin typeface="+mn-lt"/>
                          <a:cs typeface="Times New Roman" panose="02020603050405020304" pitchFamily="18" charset="0"/>
                        </a:rPr>
                        <a:t> </a:t>
                      </a:r>
                      <a:r>
                        <a:rPr lang="en-US" sz="1200" b="0" u="none" strike="noStrike" dirty="0">
                          <a:solidFill>
                            <a:schemeClr val="tx1"/>
                          </a:solidFill>
                          <a:effectLst/>
                          <a:latin typeface="+mn-lt"/>
                          <a:cs typeface="Times New Roman" panose="02020603050405020304" pitchFamily="18" charset="0"/>
                        </a:rPr>
                        <a:t>30/07/2025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dirty="0">
                          <a:solidFill>
                            <a:schemeClr val="tx1"/>
                          </a:solidFill>
                          <a:effectLst/>
                          <a:latin typeface="+mn-lt"/>
                          <a:cs typeface="Times New Roman" panose="02020603050405020304" pitchFamily="18" charset="0"/>
                        </a:rPr>
                        <a:t>12/12/25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cs typeface="Times New Roman" panose="02020603050405020304" pitchFamily="18" charset="0"/>
                        </a:rPr>
                        <a:t>Trả đ/c thuê</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 xmlns:a16="http://schemas.microsoft.com/office/drawing/2014/main" val="1868071698"/>
                  </a:ext>
                </a:extLst>
              </a:tr>
              <a:tr h="232411">
                <a:tc>
                  <a:txBody>
                    <a:bodyPr/>
                    <a:lstStyle/>
                    <a:p>
                      <a:pPr algn="ctr" fontAlgn="ctr"/>
                      <a:r>
                        <a:rPr lang="en-US" sz="1200" b="0" i="0" u="none" strike="noStrike">
                          <a:solidFill>
                            <a:schemeClr val="tx1"/>
                          </a:solidFill>
                          <a:effectLst/>
                          <a:latin typeface="+mn-lt"/>
                          <a:cs typeface="Times New Roman" panose="02020603050405020304" pitchFamily="18" charset="0"/>
                        </a:rPr>
                        <a:t>958438</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mn-lt"/>
                          <a:cs typeface="Times New Roman" panose="02020603050405020304" pitchFamily="18" charset="0"/>
                        </a:rPr>
                        <a:t>SGN</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a:solidFill>
                            <a:schemeClr val="tx1"/>
                          </a:solidFill>
                          <a:effectLst/>
                          <a:latin typeface="+mn-lt"/>
                          <a:cs typeface="Times New Roman" panose="02020603050405020304" pitchFamily="18" charset="0"/>
                        </a:rPr>
                        <a:t>20/07/2025</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a:solidFill>
                            <a:schemeClr val="tx1"/>
                          </a:solidFill>
                          <a:effectLst/>
                          <a:latin typeface="+mn-lt"/>
                          <a:cs typeface="Times New Roman" panose="02020603050405020304" pitchFamily="18" charset="0"/>
                        </a:rPr>
                        <a:t>Induct</a:t>
                      </a:r>
                      <a:r>
                        <a:rPr lang="en-US" sz="1200" b="0" u="none" strike="noStrike" baseline="0">
                          <a:solidFill>
                            <a:schemeClr val="tx1"/>
                          </a:solidFill>
                          <a:effectLst/>
                          <a:latin typeface="+mn-lt"/>
                          <a:cs typeface="Times New Roman" panose="02020603050405020304" pitchFamily="18" charset="0"/>
                        </a:rPr>
                        <a:t> 18</a:t>
                      </a:r>
                      <a:r>
                        <a:rPr lang="en-US" sz="1200" b="0" u="none" strike="noStrike">
                          <a:solidFill>
                            <a:schemeClr val="tx1"/>
                          </a:solidFill>
                          <a:effectLst/>
                          <a:latin typeface="+mn-lt"/>
                          <a:cs typeface="Times New Roman" panose="02020603050405020304" pitchFamily="18" charset="0"/>
                        </a:rPr>
                        <a:t>/08/2025</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a:solidFill>
                            <a:schemeClr val="tx1"/>
                          </a:solidFill>
                          <a:effectLst/>
                          <a:latin typeface="+mn-lt"/>
                          <a:cs typeface="Times New Roman" panose="02020603050405020304" pitchFamily="18" charset="0"/>
                        </a:rPr>
                        <a:t>T1/2026</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err="1">
                          <a:solidFill>
                            <a:schemeClr val="tx1"/>
                          </a:solidFill>
                          <a:effectLst/>
                          <a:latin typeface="+mn-lt"/>
                          <a:cs typeface="Times New Roman" panose="02020603050405020304" pitchFamily="18" charset="0"/>
                        </a:rPr>
                        <a:t>Trả</a:t>
                      </a:r>
                      <a:r>
                        <a:rPr lang="en-US" sz="1200" b="0" i="0" u="none" strike="noStrike" dirty="0">
                          <a:solidFill>
                            <a:schemeClr val="tx1"/>
                          </a:solidFill>
                          <a:effectLst/>
                          <a:latin typeface="+mn-lt"/>
                          <a:cs typeface="Times New Roman" panose="02020603050405020304" pitchFamily="18" charset="0"/>
                        </a:rPr>
                        <a:t> đ/c </a:t>
                      </a:r>
                      <a:r>
                        <a:rPr lang="en-US" sz="1200" b="0" i="0" u="none" strike="noStrike" dirty="0" err="1">
                          <a:solidFill>
                            <a:schemeClr val="tx1"/>
                          </a:solidFill>
                          <a:effectLst/>
                          <a:latin typeface="+mn-lt"/>
                          <a:cs typeface="Times New Roman" panose="02020603050405020304" pitchFamily="18" charset="0"/>
                        </a:rPr>
                        <a:t>thuê</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9612265"/>
                  </a:ext>
                </a:extLst>
              </a:tr>
            </a:tbl>
          </a:graphicData>
        </a:graphic>
      </p:graphicFrame>
      <p:sp>
        <p:nvSpPr>
          <p:cNvPr id="7" name="TextBox 6">
            <a:extLst>
              <a:ext uri="{FF2B5EF4-FFF2-40B4-BE49-F238E27FC236}">
                <a16:creationId xmlns=""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 xmlns:a16="http://schemas.microsoft.com/office/drawing/2014/main" id="{A9D91912-17CF-433C-B165-5E5AB289CBE4}"/>
              </a:ext>
            </a:extLst>
          </p:cNvPr>
          <p:cNvGraphicFramePr>
            <a:graphicFrameLocks noGrp="1"/>
          </p:cNvGraphicFramePr>
          <p:nvPr/>
        </p:nvGraphicFramePr>
        <p:xfrm>
          <a:off x="6306496" y="4514855"/>
          <a:ext cx="5885504" cy="2227568"/>
        </p:xfrm>
        <a:graphic>
          <a:graphicData uri="http://schemas.openxmlformats.org/drawingml/2006/table">
            <a:tbl>
              <a:tblPr firstRow="1" bandRow="1">
                <a:tableStyleId>{93296810-A885-4BE3-A3E7-6D5BEEA58F35}</a:tableStyleId>
              </a:tblPr>
              <a:tblGrid>
                <a:gridCol w="459580">
                  <a:extLst>
                    <a:ext uri="{9D8B030D-6E8A-4147-A177-3AD203B41FA5}">
                      <a16:colId xmlns="" xmlns:a16="http://schemas.microsoft.com/office/drawing/2014/main" val="3292621586"/>
                    </a:ext>
                  </a:extLst>
                </a:gridCol>
                <a:gridCol w="919160">
                  <a:extLst>
                    <a:ext uri="{9D8B030D-6E8A-4147-A177-3AD203B41FA5}">
                      <a16:colId xmlns="" xmlns:a16="http://schemas.microsoft.com/office/drawing/2014/main" val="3587079032"/>
                    </a:ext>
                  </a:extLst>
                </a:gridCol>
                <a:gridCol w="612773">
                  <a:extLst>
                    <a:ext uri="{9D8B030D-6E8A-4147-A177-3AD203B41FA5}">
                      <a16:colId xmlns="" xmlns:a16="http://schemas.microsoft.com/office/drawing/2014/main" val="3691161886"/>
                    </a:ext>
                  </a:extLst>
                </a:gridCol>
                <a:gridCol w="1225547">
                  <a:extLst>
                    <a:ext uri="{9D8B030D-6E8A-4147-A177-3AD203B41FA5}">
                      <a16:colId xmlns="" xmlns:a16="http://schemas.microsoft.com/office/drawing/2014/main" val="1199058238"/>
                    </a:ext>
                  </a:extLst>
                </a:gridCol>
                <a:gridCol w="2668444">
                  <a:extLst>
                    <a:ext uri="{9D8B030D-6E8A-4147-A177-3AD203B41FA5}">
                      <a16:colId xmlns="" xmlns:a16="http://schemas.microsoft.com/office/drawing/2014/main" val="2279892850"/>
                    </a:ext>
                  </a:extLst>
                </a:gridCol>
              </a:tblGrid>
              <a:tr h="318224">
                <a:tc>
                  <a:txBody>
                    <a:bodyPr/>
                    <a:lstStyle/>
                    <a:p>
                      <a:endParaRPr lang="en-US" sz="1200" dirty="0"/>
                    </a:p>
                  </a:txBody>
                  <a:tcPr/>
                </a:tc>
                <a:tc>
                  <a:txBody>
                    <a:bodyPr/>
                    <a:lstStyle/>
                    <a:p>
                      <a:r>
                        <a:rPr lang="en-US" sz="1200"/>
                        <a:t>ESN</a:t>
                      </a:r>
                    </a:p>
                  </a:txBody>
                  <a:tcPr/>
                </a:tc>
                <a:tc>
                  <a:txBody>
                    <a:bodyPr/>
                    <a:lstStyle/>
                    <a:p>
                      <a:r>
                        <a:rPr lang="en-US" sz="1200"/>
                        <a:t>AC</a:t>
                      </a:r>
                    </a:p>
                  </a:txBody>
                  <a:tcPr/>
                </a:tc>
                <a:tc>
                  <a:txBody>
                    <a:bodyPr/>
                    <a:lstStyle/>
                    <a:p>
                      <a:r>
                        <a:rPr lang="en-US" sz="1200"/>
                        <a:t>Interval</a:t>
                      </a:r>
                    </a:p>
                  </a:txBody>
                  <a:tcPr/>
                </a:tc>
                <a:tc>
                  <a:txBody>
                    <a:bodyPr/>
                    <a:lstStyle/>
                    <a:p>
                      <a:r>
                        <a:rPr lang="en-US" sz="1200"/>
                        <a:t>Remark</a:t>
                      </a:r>
                    </a:p>
                  </a:txBody>
                  <a:tcPr/>
                </a:tc>
                <a:extLst>
                  <a:ext uri="{0D108BD9-81ED-4DB2-BD59-A6C34878D82A}">
                    <a16:rowId xmlns="" xmlns:a16="http://schemas.microsoft.com/office/drawing/2014/main" val="2389571425"/>
                  </a:ext>
                </a:extLst>
              </a:tr>
              <a:tr h="318224">
                <a:tc>
                  <a:txBody>
                    <a:bodyPr/>
                    <a:lstStyle/>
                    <a:p>
                      <a:r>
                        <a:rPr lang="en-US" sz="1200"/>
                        <a:t>1</a:t>
                      </a:r>
                    </a:p>
                  </a:txBody>
                  <a:tcPr/>
                </a:tc>
                <a:tc>
                  <a:txBody>
                    <a:bodyPr/>
                    <a:lstStyle/>
                    <a:p>
                      <a:r>
                        <a:rPr lang="en-US" sz="1200"/>
                        <a:t>956600</a:t>
                      </a:r>
                    </a:p>
                  </a:txBody>
                  <a:tcPr/>
                </a:tc>
                <a:tc>
                  <a:txBody>
                    <a:bodyPr/>
                    <a:lstStyle/>
                    <a:p>
                      <a:r>
                        <a:rPr lang="en-US" sz="1200"/>
                        <a:t>A862</a:t>
                      </a:r>
                    </a:p>
                  </a:txBody>
                  <a:tcPr/>
                </a:tc>
                <a:tc>
                  <a:txBody>
                    <a:bodyPr/>
                    <a:lstStyle/>
                    <a:p>
                      <a:r>
                        <a:rPr lang="en-US" sz="1200" dirty="0"/>
                        <a:t>50FC</a:t>
                      </a:r>
                    </a:p>
                  </a:txBody>
                  <a:tcPr/>
                </a:tc>
                <a:tc>
                  <a:txBody>
                    <a:bodyPr/>
                    <a:lstStyle/>
                    <a:p>
                      <a:r>
                        <a:rPr lang="en-US" sz="1200" dirty="0" err="1"/>
                        <a:t>Dự</a:t>
                      </a:r>
                      <a:r>
                        <a:rPr lang="en-US" sz="1200" dirty="0"/>
                        <a:t> </a:t>
                      </a:r>
                      <a:r>
                        <a:rPr lang="en-US" sz="1200" dirty="0" err="1"/>
                        <a:t>kiến</a:t>
                      </a:r>
                      <a:r>
                        <a:rPr lang="en-US" sz="1200" dirty="0"/>
                        <a:t> </a:t>
                      </a:r>
                      <a:r>
                        <a:rPr lang="en-US" sz="1200" dirty="0" err="1"/>
                        <a:t>thay</a:t>
                      </a:r>
                      <a:r>
                        <a:rPr lang="en-US" sz="1200" dirty="0"/>
                        <a:t> </a:t>
                      </a:r>
                      <a:r>
                        <a:rPr lang="en-US" sz="1200" dirty="0" err="1"/>
                        <a:t>đầu</a:t>
                      </a:r>
                      <a:r>
                        <a:rPr lang="en-US" sz="1200" dirty="0"/>
                        <a:t> T9 </a:t>
                      </a:r>
                      <a:r>
                        <a:rPr lang="en-US" sz="1200" dirty="0" err="1"/>
                        <a:t>để</a:t>
                      </a:r>
                      <a:r>
                        <a:rPr lang="en-US" sz="1200" dirty="0"/>
                        <a:t> </a:t>
                      </a:r>
                      <a:r>
                        <a:rPr lang="en-US" sz="1200" dirty="0" err="1"/>
                        <a:t>đi</a:t>
                      </a:r>
                      <a:r>
                        <a:rPr lang="en-US" sz="1200" dirty="0"/>
                        <a:t> SV</a:t>
                      </a:r>
                    </a:p>
                  </a:txBody>
                  <a:tcPr/>
                </a:tc>
                <a:extLst>
                  <a:ext uri="{0D108BD9-81ED-4DB2-BD59-A6C34878D82A}">
                    <a16:rowId xmlns="" xmlns:a16="http://schemas.microsoft.com/office/drawing/2014/main" val="3899119871"/>
                  </a:ext>
                </a:extLst>
              </a:tr>
              <a:tr h="318224">
                <a:tc>
                  <a:txBody>
                    <a:bodyPr/>
                    <a:lstStyle/>
                    <a:p>
                      <a:r>
                        <a:rPr lang="en-US" sz="1200"/>
                        <a:t>2</a:t>
                      </a:r>
                    </a:p>
                  </a:txBody>
                  <a:tcPr/>
                </a:tc>
                <a:tc>
                  <a:txBody>
                    <a:bodyPr/>
                    <a:lstStyle/>
                    <a:p>
                      <a:r>
                        <a:rPr lang="en-US" sz="1200" dirty="0"/>
                        <a:t>958170</a:t>
                      </a:r>
                    </a:p>
                  </a:txBody>
                  <a:tcPr/>
                </a:tc>
                <a:tc>
                  <a:txBody>
                    <a:bodyPr/>
                    <a:lstStyle/>
                    <a:p>
                      <a:r>
                        <a:rPr lang="en-US" sz="1200"/>
                        <a:t>A863</a:t>
                      </a:r>
                    </a:p>
                  </a:txBody>
                  <a:tcPr/>
                </a:tc>
                <a:tc>
                  <a:txBody>
                    <a:bodyPr/>
                    <a:lstStyle/>
                    <a:p>
                      <a:r>
                        <a:rPr lang="en-US" sz="1200"/>
                        <a:t>50FC</a:t>
                      </a:r>
                    </a:p>
                  </a:txBody>
                  <a:tcPr/>
                </a:tc>
                <a:tc>
                  <a:txBody>
                    <a:bodyPr/>
                    <a:lstStyle/>
                    <a:p>
                      <a:r>
                        <a:rPr lang="en-US" sz="1200" baseline="0" dirty="0" err="1"/>
                        <a:t>Dự</a:t>
                      </a:r>
                      <a:r>
                        <a:rPr lang="en-US" sz="1200" baseline="0" dirty="0"/>
                        <a:t> </a:t>
                      </a:r>
                      <a:r>
                        <a:rPr lang="en-US" sz="1200" baseline="0" dirty="0" err="1"/>
                        <a:t>kiến</a:t>
                      </a:r>
                      <a:r>
                        <a:rPr lang="en-US" sz="1200" baseline="0" dirty="0"/>
                        <a:t> </a:t>
                      </a:r>
                      <a:r>
                        <a:rPr lang="en-US" sz="1200" baseline="0" dirty="0" err="1"/>
                        <a:t>thay</a:t>
                      </a:r>
                      <a:r>
                        <a:rPr lang="en-US" sz="1200" baseline="0" dirty="0"/>
                        <a:t> </a:t>
                      </a:r>
                      <a:r>
                        <a:rPr lang="en-US" sz="1200" baseline="0" dirty="0" err="1"/>
                        <a:t>cuối</a:t>
                      </a:r>
                      <a:r>
                        <a:rPr lang="en-US" sz="1200" baseline="0" dirty="0"/>
                        <a:t> T8 </a:t>
                      </a:r>
                      <a:r>
                        <a:rPr lang="en-US" sz="1200" baseline="0" dirty="0" err="1"/>
                        <a:t>để</a:t>
                      </a:r>
                      <a:r>
                        <a:rPr lang="en-US" sz="1200" baseline="0" dirty="0"/>
                        <a:t> </a:t>
                      </a:r>
                      <a:r>
                        <a:rPr lang="en-US" sz="1200" baseline="0" dirty="0" err="1"/>
                        <a:t>đi</a:t>
                      </a:r>
                      <a:r>
                        <a:rPr lang="en-US" sz="1200" baseline="0" dirty="0"/>
                        <a:t> SV</a:t>
                      </a:r>
                      <a:endParaRPr lang="en-US" sz="1200" dirty="0"/>
                    </a:p>
                  </a:txBody>
                  <a:tcPr/>
                </a:tc>
                <a:extLst>
                  <a:ext uri="{0D108BD9-81ED-4DB2-BD59-A6C34878D82A}">
                    <a16:rowId xmlns="" xmlns:a16="http://schemas.microsoft.com/office/drawing/2014/main" val="3244585303"/>
                  </a:ext>
                </a:extLst>
              </a:tr>
              <a:tr h="318224">
                <a:tc>
                  <a:txBody>
                    <a:bodyPr/>
                    <a:lstStyle/>
                    <a:p>
                      <a:r>
                        <a:rPr lang="en-US" sz="1200"/>
                        <a:t>3</a:t>
                      </a:r>
                    </a:p>
                  </a:txBody>
                  <a:tcPr/>
                </a:tc>
                <a:tc>
                  <a:txBody>
                    <a:bodyPr/>
                    <a:lstStyle/>
                    <a:p>
                      <a:r>
                        <a:rPr lang="en-US" sz="1200"/>
                        <a:t>958266</a:t>
                      </a:r>
                    </a:p>
                  </a:txBody>
                  <a:tcPr/>
                </a:tc>
                <a:tc>
                  <a:txBody>
                    <a:bodyPr/>
                    <a:lstStyle/>
                    <a:p>
                      <a:r>
                        <a:rPr lang="en-US" sz="1200"/>
                        <a:t>A874</a:t>
                      </a:r>
                    </a:p>
                  </a:txBody>
                  <a:tcPr/>
                </a:tc>
                <a:tc>
                  <a:txBody>
                    <a:bodyPr/>
                    <a:lstStyle/>
                    <a:p>
                      <a:r>
                        <a:rPr lang="en-US" sz="1200"/>
                        <a:t>100FC</a:t>
                      </a:r>
                    </a:p>
                  </a:txBody>
                  <a:tcPr/>
                </a:tc>
                <a:tc>
                  <a:txBody>
                    <a:bodyPr/>
                    <a:lstStyle/>
                    <a:p>
                      <a:r>
                        <a:rPr lang="en-US" sz="1200" dirty="0"/>
                        <a:t>Thay </a:t>
                      </a:r>
                      <a:r>
                        <a:rPr lang="en-US" sz="1200" dirty="0" err="1"/>
                        <a:t>giữa</a:t>
                      </a:r>
                      <a:r>
                        <a:rPr lang="en-US" sz="1200" dirty="0"/>
                        <a:t> T8 </a:t>
                      </a:r>
                      <a:r>
                        <a:rPr lang="en-US" sz="1200" dirty="0" err="1"/>
                        <a:t>để</a:t>
                      </a:r>
                      <a:r>
                        <a:rPr lang="en-US" sz="1200" dirty="0"/>
                        <a:t> </a:t>
                      </a:r>
                      <a:r>
                        <a:rPr lang="en-US" sz="1200" dirty="0" err="1"/>
                        <a:t>trả</a:t>
                      </a:r>
                      <a:r>
                        <a:rPr lang="en-US" sz="1200" dirty="0"/>
                        <a:t> </a:t>
                      </a:r>
                      <a:r>
                        <a:rPr lang="en-US" sz="1200" dirty="0" err="1"/>
                        <a:t>động</a:t>
                      </a:r>
                      <a:r>
                        <a:rPr lang="en-US" sz="1200" dirty="0"/>
                        <a:t> c</a:t>
                      </a:r>
                      <a:r>
                        <a:rPr lang="vi-VN" sz="1200" dirty="0"/>
                        <a:t>ơ</a:t>
                      </a:r>
                      <a:r>
                        <a:rPr lang="en-US" sz="1200" dirty="0"/>
                        <a:t> </a:t>
                      </a:r>
                      <a:r>
                        <a:rPr lang="en-US" sz="1200" dirty="0" err="1"/>
                        <a:t>thuê</a:t>
                      </a:r>
                      <a:endParaRPr lang="en-US" sz="1200" dirty="0"/>
                    </a:p>
                  </a:txBody>
                  <a:tcPr/>
                </a:tc>
                <a:extLst>
                  <a:ext uri="{0D108BD9-81ED-4DB2-BD59-A6C34878D82A}">
                    <a16:rowId xmlns="" xmlns:a16="http://schemas.microsoft.com/office/drawing/2014/main" val="2820853633"/>
                  </a:ext>
                </a:extLst>
              </a:tr>
              <a:tr h="318224">
                <a:tc>
                  <a:txBody>
                    <a:bodyPr/>
                    <a:lstStyle/>
                    <a:p>
                      <a:r>
                        <a:rPr lang="en-US" sz="1200"/>
                        <a:t>4</a:t>
                      </a:r>
                    </a:p>
                  </a:txBody>
                  <a:tcPr/>
                </a:tc>
                <a:tc>
                  <a:txBody>
                    <a:bodyPr/>
                    <a:lstStyle/>
                    <a:p>
                      <a:r>
                        <a:rPr lang="en-US" sz="1200" dirty="0"/>
                        <a:t>958374</a:t>
                      </a:r>
                    </a:p>
                  </a:txBody>
                  <a:tcPr/>
                </a:tc>
                <a:tc>
                  <a:txBody>
                    <a:bodyPr/>
                    <a:lstStyle/>
                    <a:p>
                      <a:r>
                        <a:rPr lang="en-US" sz="1200" dirty="0"/>
                        <a:t>A861</a:t>
                      </a:r>
                    </a:p>
                  </a:txBody>
                  <a:tcPr/>
                </a:tc>
                <a:tc>
                  <a:txBody>
                    <a:bodyPr/>
                    <a:lstStyle/>
                    <a:p>
                      <a:r>
                        <a:rPr lang="en-US" sz="1200"/>
                        <a:t>100FC</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Cambria"/>
                          <a:ea typeface="+mn-ea"/>
                          <a:cs typeface="+mn-cs"/>
                        </a:rPr>
                        <a:t>Dự</a:t>
                      </a:r>
                      <a:r>
                        <a:rPr kumimoji="0" lang="en-US" sz="1200" b="0" i="0" u="none" strike="noStrike" kern="1200" cap="none" spc="0" normalizeH="0" baseline="0" noProof="0" dirty="0">
                          <a:ln>
                            <a:noFill/>
                          </a:ln>
                          <a:solidFill>
                            <a:prstClr val="black"/>
                          </a:solidFill>
                          <a:effectLst/>
                          <a:uLnTx/>
                          <a:uFillTx/>
                          <a:latin typeface="Cambria"/>
                          <a:ea typeface="+mn-ea"/>
                          <a:cs typeface="+mn-cs"/>
                        </a:rPr>
                        <a:t>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kiến</a:t>
                      </a:r>
                      <a:r>
                        <a:rPr kumimoji="0" lang="en-US" sz="1200" b="0" i="0" u="none" strike="noStrike" kern="1200" cap="none" spc="0" normalizeH="0" baseline="0" noProof="0" dirty="0">
                          <a:ln>
                            <a:noFill/>
                          </a:ln>
                          <a:solidFill>
                            <a:prstClr val="black"/>
                          </a:solidFill>
                          <a:effectLst/>
                          <a:uLnTx/>
                          <a:uFillTx/>
                          <a:latin typeface="Cambria"/>
                          <a:ea typeface="+mn-ea"/>
                          <a:cs typeface="+mn-cs"/>
                        </a:rPr>
                        <a:t>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thay</a:t>
                      </a:r>
                      <a:r>
                        <a:rPr kumimoji="0" lang="en-US" sz="1200" b="0" i="0" u="none" strike="noStrike" kern="1200" cap="none" spc="0" normalizeH="0" baseline="0" noProof="0" dirty="0">
                          <a:ln>
                            <a:noFill/>
                          </a:ln>
                          <a:solidFill>
                            <a:prstClr val="black"/>
                          </a:solidFill>
                          <a:effectLst/>
                          <a:uLnTx/>
                          <a:uFillTx/>
                          <a:latin typeface="Cambria"/>
                          <a:ea typeface="+mn-ea"/>
                          <a:cs typeface="+mn-cs"/>
                        </a:rPr>
                        <a:t>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cuối</a:t>
                      </a:r>
                      <a:r>
                        <a:rPr kumimoji="0" lang="en-US" sz="1200" b="0" i="0" u="none" strike="noStrike" kern="1200" cap="none" spc="0" normalizeH="0" baseline="0" noProof="0" dirty="0">
                          <a:ln>
                            <a:noFill/>
                          </a:ln>
                          <a:solidFill>
                            <a:prstClr val="black"/>
                          </a:solidFill>
                          <a:effectLst/>
                          <a:uLnTx/>
                          <a:uFillTx/>
                          <a:latin typeface="Cambria"/>
                          <a:ea typeface="+mn-ea"/>
                          <a:cs typeface="+mn-cs"/>
                        </a:rPr>
                        <a:t> T9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để</a:t>
                      </a:r>
                      <a:r>
                        <a:rPr kumimoji="0" lang="en-US" sz="1200" b="0" i="0" u="none" strike="noStrike" kern="1200" cap="none" spc="0" normalizeH="0" baseline="0" noProof="0" dirty="0">
                          <a:ln>
                            <a:noFill/>
                          </a:ln>
                          <a:solidFill>
                            <a:prstClr val="black"/>
                          </a:solidFill>
                          <a:effectLst/>
                          <a:uLnTx/>
                          <a:uFillTx/>
                          <a:latin typeface="Cambria"/>
                          <a:ea typeface="+mn-ea"/>
                          <a:cs typeface="+mn-cs"/>
                        </a:rPr>
                        <a:t>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đi</a:t>
                      </a:r>
                      <a:r>
                        <a:rPr kumimoji="0" lang="en-US" sz="1200" b="0" i="0" u="none" strike="noStrike" kern="1200" cap="none" spc="0" normalizeH="0" baseline="0" noProof="0" dirty="0">
                          <a:ln>
                            <a:noFill/>
                          </a:ln>
                          <a:solidFill>
                            <a:prstClr val="black"/>
                          </a:solidFill>
                          <a:effectLst/>
                          <a:uLnTx/>
                          <a:uFillTx/>
                          <a:latin typeface="Cambria"/>
                          <a:ea typeface="+mn-ea"/>
                          <a:cs typeface="+mn-cs"/>
                        </a:rPr>
                        <a:t> SV</a:t>
                      </a:r>
                    </a:p>
                  </a:txBody>
                  <a:tcPr/>
                </a:tc>
                <a:extLst>
                  <a:ext uri="{0D108BD9-81ED-4DB2-BD59-A6C34878D82A}">
                    <a16:rowId xmlns="" xmlns:a16="http://schemas.microsoft.com/office/drawing/2014/main" val="3676968406"/>
                  </a:ext>
                </a:extLst>
              </a:tr>
              <a:tr h="318224">
                <a:tc>
                  <a:txBody>
                    <a:bodyPr/>
                    <a:lstStyle/>
                    <a:p>
                      <a:r>
                        <a:rPr lang="en-US" sz="1200"/>
                        <a:t>5</a:t>
                      </a:r>
                    </a:p>
                  </a:txBody>
                  <a:tcPr/>
                </a:tc>
                <a:tc>
                  <a:txBody>
                    <a:bodyPr/>
                    <a:lstStyle/>
                    <a:p>
                      <a:r>
                        <a:rPr lang="en-US" sz="1200"/>
                        <a:t>956639</a:t>
                      </a:r>
                    </a:p>
                  </a:txBody>
                  <a:tcPr/>
                </a:tc>
                <a:tc>
                  <a:txBody>
                    <a:bodyPr/>
                    <a:lstStyle/>
                    <a:p>
                      <a:r>
                        <a:rPr lang="en-US" sz="1200"/>
                        <a:t>A865</a:t>
                      </a:r>
                    </a:p>
                  </a:txBody>
                  <a:tcPr/>
                </a:tc>
                <a:tc>
                  <a:txBody>
                    <a:bodyPr/>
                    <a:lstStyle/>
                    <a:p>
                      <a:r>
                        <a:rPr lang="en-US" sz="1200"/>
                        <a:t>250FC</a:t>
                      </a:r>
                    </a:p>
                  </a:txBody>
                  <a:tcPr/>
                </a:tc>
                <a:tc>
                  <a:txBody>
                    <a:bodyPr/>
                    <a:lstStyle/>
                    <a:p>
                      <a:r>
                        <a:rPr lang="en-US" sz="1200"/>
                        <a:t>TBD, phụ thuộc tình trạng soi và spare</a:t>
                      </a:r>
                      <a:endParaRPr lang="en-US" sz="1200" dirty="0"/>
                    </a:p>
                  </a:txBody>
                  <a:tcPr/>
                </a:tc>
                <a:extLst>
                  <a:ext uri="{0D108BD9-81ED-4DB2-BD59-A6C34878D82A}">
                    <a16:rowId xmlns="" xmlns:a16="http://schemas.microsoft.com/office/drawing/2014/main" val="1805137390"/>
                  </a:ext>
                </a:extLst>
              </a:tr>
              <a:tr h="318224">
                <a:tc>
                  <a:txBody>
                    <a:bodyPr/>
                    <a:lstStyle/>
                    <a:p>
                      <a:r>
                        <a:rPr lang="en-US" sz="1200"/>
                        <a:t>6</a:t>
                      </a:r>
                    </a:p>
                  </a:txBody>
                  <a:tcPr/>
                </a:tc>
                <a:tc>
                  <a:txBody>
                    <a:bodyPr/>
                    <a:lstStyle/>
                    <a:p>
                      <a:r>
                        <a:rPr lang="en-US" sz="1200" dirty="0"/>
                        <a:t>956555</a:t>
                      </a:r>
                    </a:p>
                  </a:txBody>
                  <a:tcPr/>
                </a:tc>
                <a:tc>
                  <a:txBody>
                    <a:bodyPr/>
                    <a:lstStyle/>
                    <a:p>
                      <a:r>
                        <a:rPr lang="en-US" sz="1200" dirty="0"/>
                        <a:t>A862</a:t>
                      </a:r>
                    </a:p>
                  </a:txBody>
                  <a:tcPr/>
                </a:tc>
                <a:tc>
                  <a:txBody>
                    <a:bodyPr/>
                    <a:lstStyle/>
                    <a:p>
                      <a:r>
                        <a:rPr lang="en-US" sz="1200" dirty="0"/>
                        <a:t>250FC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mbria"/>
                          <a:ea typeface="+mn-ea"/>
                          <a:cs typeface="+mn-cs"/>
                        </a:rPr>
                        <a:t>TBD,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phụ</a:t>
                      </a:r>
                      <a:r>
                        <a:rPr kumimoji="0" lang="en-US" sz="1200" b="0" i="0" u="none" strike="noStrike" kern="1200" cap="none" spc="0" normalizeH="0" baseline="0" noProof="0" dirty="0">
                          <a:ln>
                            <a:noFill/>
                          </a:ln>
                          <a:solidFill>
                            <a:prstClr val="black"/>
                          </a:solidFill>
                          <a:effectLst/>
                          <a:uLnTx/>
                          <a:uFillTx/>
                          <a:latin typeface="Cambria"/>
                          <a:ea typeface="+mn-ea"/>
                          <a:cs typeface="+mn-cs"/>
                        </a:rPr>
                        <a:t>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thuộc</a:t>
                      </a:r>
                      <a:r>
                        <a:rPr kumimoji="0" lang="en-US" sz="1200" b="0" i="0" u="none" strike="noStrike" kern="1200" cap="none" spc="0" normalizeH="0" baseline="0" noProof="0" dirty="0">
                          <a:ln>
                            <a:noFill/>
                          </a:ln>
                          <a:solidFill>
                            <a:prstClr val="black"/>
                          </a:solidFill>
                          <a:effectLst/>
                          <a:uLnTx/>
                          <a:uFillTx/>
                          <a:latin typeface="Cambria"/>
                          <a:ea typeface="+mn-ea"/>
                          <a:cs typeface="+mn-cs"/>
                        </a:rPr>
                        <a:t>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tình</a:t>
                      </a:r>
                      <a:r>
                        <a:rPr kumimoji="0" lang="en-US" sz="1200" b="0" i="0" u="none" strike="noStrike" kern="1200" cap="none" spc="0" normalizeH="0" baseline="0" noProof="0" dirty="0">
                          <a:ln>
                            <a:noFill/>
                          </a:ln>
                          <a:solidFill>
                            <a:prstClr val="black"/>
                          </a:solidFill>
                          <a:effectLst/>
                          <a:uLnTx/>
                          <a:uFillTx/>
                          <a:latin typeface="Cambria"/>
                          <a:ea typeface="+mn-ea"/>
                          <a:cs typeface="+mn-cs"/>
                        </a:rPr>
                        <a:t>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trạng</a:t>
                      </a:r>
                      <a:r>
                        <a:rPr kumimoji="0" lang="en-US" sz="1200" b="0" i="0" u="none" strike="noStrike" kern="1200" cap="none" spc="0" normalizeH="0" baseline="0" noProof="0" dirty="0">
                          <a:ln>
                            <a:noFill/>
                          </a:ln>
                          <a:solidFill>
                            <a:prstClr val="black"/>
                          </a:solidFill>
                          <a:effectLst/>
                          <a:uLnTx/>
                          <a:uFillTx/>
                          <a:latin typeface="Cambria"/>
                          <a:ea typeface="+mn-ea"/>
                          <a:cs typeface="+mn-cs"/>
                        </a:rPr>
                        <a:t> soi </a:t>
                      </a:r>
                      <a:r>
                        <a:rPr kumimoji="0" lang="en-US" sz="1200" b="0" i="0" u="none" strike="noStrike" kern="1200" cap="none" spc="0" normalizeH="0" baseline="0" noProof="0" dirty="0" err="1">
                          <a:ln>
                            <a:noFill/>
                          </a:ln>
                          <a:solidFill>
                            <a:prstClr val="black"/>
                          </a:solidFill>
                          <a:effectLst/>
                          <a:uLnTx/>
                          <a:uFillTx/>
                          <a:latin typeface="Cambria"/>
                          <a:ea typeface="+mn-ea"/>
                          <a:cs typeface="+mn-cs"/>
                        </a:rPr>
                        <a:t>và</a:t>
                      </a:r>
                      <a:r>
                        <a:rPr kumimoji="0" lang="en-US" sz="1200" b="0" i="0" u="none" strike="noStrike" kern="1200" cap="none" spc="0" normalizeH="0" baseline="0" noProof="0" dirty="0">
                          <a:ln>
                            <a:noFill/>
                          </a:ln>
                          <a:solidFill>
                            <a:prstClr val="black"/>
                          </a:solidFill>
                          <a:effectLst/>
                          <a:uLnTx/>
                          <a:uFillTx/>
                          <a:latin typeface="Cambria"/>
                          <a:ea typeface="+mn-ea"/>
                          <a:cs typeface="+mn-cs"/>
                        </a:rPr>
                        <a:t> spare</a:t>
                      </a:r>
                    </a:p>
                  </a:txBody>
                  <a:tcPr/>
                </a:tc>
                <a:extLst>
                  <a:ext uri="{0D108BD9-81ED-4DB2-BD59-A6C34878D82A}">
                    <a16:rowId xmlns="" xmlns:a16="http://schemas.microsoft.com/office/drawing/2014/main" val="1886295833"/>
                  </a:ext>
                </a:extLst>
              </a:tr>
            </a:tbl>
          </a:graphicData>
        </a:graphic>
      </p:graphicFrame>
      <p:graphicFrame>
        <p:nvGraphicFramePr>
          <p:cNvPr id="9" name="Table 8">
            <a:extLst>
              <a:ext uri="{FF2B5EF4-FFF2-40B4-BE49-F238E27FC236}">
                <a16:creationId xmlns="" xmlns:a16="http://schemas.microsoft.com/office/drawing/2014/main" id="{483CB24C-784B-49EB-9EDF-12ACC4AD5110}"/>
              </a:ext>
            </a:extLst>
          </p:cNvPr>
          <p:cNvGraphicFramePr>
            <a:graphicFrameLocks noGrp="1"/>
          </p:cNvGraphicFramePr>
          <p:nvPr/>
        </p:nvGraphicFramePr>
        <p:xfrm>
          <a:off x="64957" y="4969745"/>
          <a:ext cx="6054135" cy="2068122"/>
        </p:xfrm>
        <a:graphic>
          <a:graphicData uri="http://schemas.openxmlformats.org/drawingml/2006/table">
            <a:tbl>
              <a:tblPr firstRow="1" bandRow="1">
                <a:tableStyleId>{21E4AEA4-8DFA-4A89-87EB-49C32662AFE0}</a:tableStyleId>
              </a:tblPr>
              <a:tblGrid>
                <a:gridCol w="773243">
                  <a:extLst>
                    <a:ext uri="{9D8B030D-6E8A-4147-A177-3AD203B41FA5}">
                      <a16:colId xmlns="" xmlns:a16="http://schemas.microsoft.com/office/drawing/2014/main" val="3587079032"/>
                    </a:ext>
                  </a:extLst>
                </a:gridCol>
                <a:gridCol w="736164">
                  <a:extLst>
                    <a:ext uri="{9D8B030D-6E8A-4147-A177-3AD203B41FA5}">
                      <a16:colId xmlns="" xmlns:a16="http://schemas.microsoft.com/office/drawing/2014/main" val="3691161886"/>
                    </a:ext>
                  </a:extLst>
                </a:gridCol>
                <a:gridCol w="4544728">
                  <a:extLst>
                    <a:ext uri="{9D8B030D-6E8A-4147-A177-3AD203B41FA5}">
                      <a16:colId xmlns="" xmlns:a16="http://schemas.microsoft.com/office/drawing/2014/main" val="1199058238"/>
                    </a:ext>
                  </a:extLst>
                </a:gridCol>
              </a:tblGrid>
              <a:tr h="295446">
                <a:tc>
                  <a:txBody>
                    <a:bodyPr/>
                    <a:lstStyle/>
                    <a:p>
                      <a:pPr algn="ctr"/>
                      <a:r>
                        <a:rPr lang="en-US" sz="1200"/>
                        <a:t>ESN</a:t>
                      </a:r>
                    </a:p>
                  </a:txBody>
                  <a:tcPr/>
                </a:tc>
                <a:tc>
                  <a:txBody>
                    <a:bodyPr/>
                    <a:lstStyle/>
                    <a:p>
                      <a:pPr algn="ctr"/>
                      <a:r>
                        <a:rPr lang="en-US" sz="1200"/>
                        <a:t>AC</a:t>
                      </a:r>
                    </a:p>
                  </a:txBody>
                  <a:tcPr/>
                </a:tc>
                <a:tc>
                  <a:txBody>
                    <a:bodyPr/>
                    <a:lstStyle/>
                    <a:p>
                      <a:pPr algn="ctr"/>
                      <a:r>
                        <a:rPr lang="en-US" sz="1200"/>
                        <a:t>Kế hoạch thay động c</a:t>
                      </a:r>
                      <a:r>
                        <a:rPr lang="vi-VN" sz="1200"/>
                        <a:t>ơ</a:t>
                      </a:r>
                      <a:r>
                        <a:rPr lang="en-US" sz="1200"/>
                        <a:t> sắp tới</a:t>
                      </a:r>
                    </a:p>
                  </a:txBody>
                  <a:tcPr/>
                </a:tc>
                <a:extLst>
                  <a:ext uri="{0D108BD9-81ED-4DB2-BD59-A6C34878D82A}">
                    <a16:rowId xmlns="" xmlns:a16="http://schemas.microsoft.com/office/drawing/2014/main" val="2389571425"/>
                  </a:ext>
                </a:extLst>
              </a:tr>
              <a:tr h="295446">
                <a:tc>
                  <a:txBody>
                    <a:bodyPr/>
                    <a:lstStyle/>
                    <a:p>
                      <a:r>
                        <a:rPr lang="en-US" sz="1200" dirty="0"/>
                        <a:t>958266</a:t>
                      </a:r>
                    </a:p>
                  </a:txBody>
                  <a:tcPr/>
                </a:tc>
                <a:tc>
                  <a:txBody>
                    <a:bodyPr/>
                    <a:lstStyle/>
                    <a:p>
                      <a:r>
                        <a:rPr lang="en-US" sz="1200"/>
                        <a:t>A874</a:t>
                      </a:r>
                    </a:p>
                  </a:txBody>
                  <a:tcPr/>
                </a:tc>
                <a:tc>
                  <a:txBody>
                    <a:bodyPr/>
                    <a:lstStyle/>
                    <a:p>
                      <a:r>
                        <a:rPr lang="en-US" sz="1200"/>
                        <a:t>17/08. Thay bằng động c</a:t>
                      </a:r>
                      <a:r>
                        <a:rPr lang="vi-VN" sz="1200"/>
                        <a:t>ơ</a:t>
                      </a:r>
                      <a:r>
                        <a:rPr lang="en-US" sz="1200"/>
                        <a:t> 956677 của Aercap để trả động c</a:t>
                      </a:r>
                      <a:r>
                        <a:rPr lang="vi-VN" sz="1200"/>
                        <a:t>ơ</a:t>
                      </a:r>
                      <a:r>
                        <a:rPr lang="en-US" sz="1200"/>
                        <a:t> thuê</a:t>
                      </a:r>
                    </a:p>
                  </a:txBody>
                  <a:tcPr/>
                </a:tc>
                <a:extLst>
                  <a:ext uri="{0D108BD9-81ED-4DB2-BD59-A6C34878D82A}">
                    <a16:rowId xmlns="" xmlns:a16="http://schemas.microsoft.com/office/drawing/2014/main" val="3899119871"/>
                  </a:ext>
                </a:extLst>
              </a:tr>
              <a:tr h="295446">
                <a:tc>
                  <a:txBody>
                    <a:bodyPr/>
                    <a:lstStyle/>
                    <a:p>
                      <a:r>
                        <a:rPr lang="en-US" sz="1200" dirty="0"/>
                        <a:t>958170</a:t>
                      </a:r>
                    </a:p>
                  </a:txBody>
                  <a:tcPr/>
                </a:tc>
                <a:tc>
                  <a:txBody>
                    <a:bodyPr/>
                    <a:lstStyle/>
                    <a:p>
                      <a:r>
                        <a:rPr lang="en-US" sz="1200" dirty="0"/>
                        <a:t>A863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T9: Thay </a:t>
                      </a:r>
                      <a:r>
                        <a:rPr lang="en-US" sz="1200" dirty="0" err="1"/>
                        <a:t>bằng</a:t>
                      </a:r>
                      <a:r>
                        <a:rPr lang="en-US" sz="1200" dirty="0"/>
                        <a:t> spare 956599 </a:t>
                      </a:r>
                      <a:r>
                        <a:rPr lang="en-US" sz="1200" dirty="0" err="1"/>
                        <a:t>đang</a:t>
                      </a:r>
                      <a:r>
                        <a:rPr lang="en-US" sz="1200" dirty="0"/>
                        <a:t> ở SGN</a:t>
                      </a:r>
                    </a:p>
                  </a:txBody>
                  <a:tcPr/>
                </a:tc>
                <a:extLst>
                  <a:ext uri="{0D108BD9-81ED-4DB2-BD59-A6C34878D82A}">
                    <a16:rowId xmlns="" xmlns:a16="http://schemas.microsoft.com/office/drawing/2014/main" val="3244585303"/>
                  </a:ext>
                </a:extLst>
              </a:tr>
              <a:tr h="295446">
                <a:tc>
                  <a:txBody>
                    <a:bodyPr/>
                    <a:lstStyle/>
                    <a:p>
                      <a:r>
                        <a:rPr lang="en-US" sz="1200" dirty="0"/>
                        <a:t>956600</a:t>
                      </a:r>
                    </a:p>
                  </a:txBody>
                  <a:tcPr/>
                </a:tc>
                <a:tc>
                  <a:txBody>
                    <a:bodyPr/>
                    <a:lstStyle/>
                    <a:p>
                      <a:r>
                        <a:rPr lang="en-US" sz="1200"/>
                        <a:t>A862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T8. Thay </a:t>
                      </a:r>
                      <a:r>
                        <a:rPr lang="en-US" sz="1200" dirty="0" err="1"/>
                        <a:t>bằng</a:t>
                      </a:r>
                      <a:r>
                        <a:rPr lang="en-US" sz="1200" dirty="0"/>
                        <a:t> </a:t>
                      </a:r>
                      <a:r>
                        <a:rPr lang="en-US" sz="1200" dirty="0" err="1"/>
                        <a:t>động</a:t>
                      </a:r>
                      <a:r>
                        <a:rPr lang="en-US" sz="1200" dirty="0"/>
                        <a:t> c</a:t>
                      </a:r>
                      <a:r>
                        <a:rPr lang="vi-VN" sz="1200" dirty="0"/>
                        <a:t>ơ</a:t>
                      </a:r>
                      <a:r>
                        <a:rPr lang="en-US" sz="1200" dirty="0"/>
                        <a:t> 958395 </a:t>
                      </a:r>
                      <a:r>
                        <a:rPr lang="en-US" sz="1200" dirty="0" err="1"/>
                        <a:t>đi</a:t>
                      </a:r>
                      <a:r>
                        <a:rPr lang="en-US" sz="1200" dirty="0"/>
                        <a:t> shop </a:t>
                      </a:r>
                      <a:r>
                        <a:rPr lang="en-US" sz="1200" dirty="0" err="1"/>
                        <a:t>về</a:t>
                      </a:r>
                      <a:r>
                        <a:rPr lang="en-US" sz="1200" dirty="0"/>
                        <a:t> </a:t>
                      </a:r>
                      <a:r>
                        <a:rPr lang="en-US" sz="1200" dirty="0" err="1"/>
                        <a:t>đầu</a:t>
                      </a:r>
                      <a:r>
                        <a:rPr lang="en-US" sz="1200" dirty="0"/>
                        <a:t> T9.</a:t>
                      </a:r>
                    </a:p>
                  </a:txBody>
                  <a:tcPr/>
                </a:tc>
                <a:extLst>
                  <a:ext uri="{0D108BD9-81ED-4DB2-BD59-A6C34878D82A}">
                    <a16:rowId xmlns="" xmlns:a16="http://schemas.microsoft.com/office/drawing/2014/main" val="2820853633"/>
                  </a:ext>
                </a:extLst>
              </a:tr>
              <a:tr h="295446">
                <a:tc>
                  <a:txBody>
                    <a:bodyPr/>
                    <a:lstStyle/>
                    <a:p>
                      <a:r>
                        <a:rPr lang="en-US" sz="1200"/>
                        <a:t>958374</a:t>
                      </a:r>
                    </a:p>
                  </a:txBody>
                  <a:tcPr/>
                </a:tc>
                <a:tc>
                  <a:txBody>
                    <a:bodyPr/>
                    <a:lstStyle/>
                    <a:p>
                      <a:r>
                        <a:rPr lang="en-US" sz="1200"/>
                        <a:t>A861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Cuối</a:t>
                      </a:r>
                      <a:r>
                        <a:rPr lang="en-US" sz="1200" dirty="0"/>
                        <a:t> T9: On-watch, </a:t>
                      </a:r>
                      <a:r>
                        <a:rPr lang="en-US" sz="1200" dirty="0" err="1"/>
                        <a:t>gửi</a:t>
                      </a:r>
                      <a:r>
                        <a:rPr lang="en-US" sz="1200" dirty="0"/>
                        <a:t> </a:t>
                      </a:r>
                      <a:r>
                        <a:rPr lang="en-US" sz="1200" dirty="0" err="1"/>
                        <a:t>đi</a:t>
                      </a:r>
                      <a:r>
                        <a:rPr lang="en-US" sz="1200" dirty="0"/>
                        <a:t> </a:t>
                      </a:r>
                      <a:r>
                        <a:rPr lang="en-US" sz="1200" dirty="0" err="1"/>
                        <a:t>sửa</a:t>
                      </a:r>
                      <a:r>
                        <a:rPr lang="en-US" sz="1200" dirty="0"/>
                        <a:t> </a:t>
                      </a:r>
                      <a:r>
                        <a:rPr lang="en-US" sz="1200" dirty="0" err="1"/>
                        <a:t>chữa</a:t>
                      </a:r>
                      <a:endParaRPr lang="en-US" sz="1200" dirty="0"/>
                    </a:p>
                  </a:txBody>
                  <a:tcPr/>
                </a:tc>
                <a:extLst>
                  <a:ext uri="{0D108BD9-81ED-4DB2-BD59-A6C34878D82A}">
                    <a16:rowId xmlns="" xmlns:a16="http://schemas.microsoft.com/office/drawing/2014/main" val="3229904371"/>
                  </a:ext>
                </a:extLst>
              </a:tr>
              <a:tr h="295446">
                <a:tc>
                  <a:txBody>
                    <a:bodyPr/>
                    <a:lstStyle/>
                    <a:p>
                      <a:r>
                        <a:rPr lang="en-US" sz="1200"/>
                        <a:t>956626</a:t>
                      </a:r>
                    </a:p>
                  </a:txBody>
                  <a:tcPr/>
                </a:tc>
                <a:tc>
                  <a:txBody>
                    <a:bodyPr/>
                    <a:lstStyle/>
                    <a:p>
                      <a:r>
                        <a:rPr lang="en-US" sz="1200"/>
                        <a:t>A871</a:t>
                      </a:r>
                    </a:p>
                  </a:txBody>
                  <a:tcPr/>
                </a:tc>
                <a:tc>
                  <a:txBody>
                    <a:bodyPr/>
                    <a:lstStyle/>
                    <a:p>
                      <a:r>
                        <a:rPr lang="en-US" sz="1200"/>
                        <a:t>T11: trả động c</a:t>
                      </a:r>
                      <a:r>
                        <a:rPr lang="vi-VN" sz="1200"/>
                        <a:t>ơ</a:t>
                      </a:r>
                      <a:r>
                        <a:rPr lang="en-US" sz="1200"/>
                        <a:t> thuê</a:t>
                      </a:r>
                      <a:endParaRPr lang="en-US" sz="1200" dirty="0"/>
                    </a:p>
                  </a:txBody>
                  <a:tcPr/>
                </a:tc>
                <a:extLst>
                  <a:ext uri="{0D108BD9-81ED-4DB2-BD59-A6C34878D82A}">
                    <a16:rowId xmlns="" xmlns:a16="http://schemas.microsoft.com/office/drawing/2014/main" val="3676968406"/>
                  </a:ext>
                </a:extLst>
              </a:tr>
              <a:tr h="295446">
                <a:tc>
                  <a:txBody>
                    <a:bodyPr/>
                    <a:lstStyle/>
                    <a:p>
                      <a:r>
                        <a:rPr lang="en-US" sz="1200"/>
                        <a:t>956933</a:t>
                      </a:r>
                      <a:endParaRPr lang="en-US" sz="1200" dirty="0"/>
                    </a:p>
                  </a:txBody>
                  <a:tcPr/>
                </a:tc>
                <a:tc>
                  <a:txBody>
                    <a:bodyPr/>
                    <a:lstStyle/>
                    <a:p>
                      <a:r>
                        <a:rPr lang="en-US" sz="1200"/>
                        <a:t>A872</a:t>
                      </a:r>
                      <a:endParaRPr lang="en-US" sz="1200" dirty="0"/>
                    </a:p>
                  </a:txBody>
                  <a:tcPr/>
                </a:tc>
                <a:tc>
                  <a:txBody>
                    <a:bodyPr/>
                    <a:lstStyle/>
                    <a:p>
                      <a:r>
                        <a:rPr lang="en-US" sz="1200" dirty="0"/>
                        <a:t>T11: </a:t>
                      </a:r>
                      <a:r>
                        <a:rPr lang="en-US" sz="1200" dirty="0" err="1"/>
                        <a:t>trả</a:t>
                      </a:r>
                      <a:r>
                        <a:rPr lang="en-US" sz="1200" dirty="0"/>
                        <a:t> </a:t>
                      </a:r>
                      <a:r>
                        <a:rPr lang="en-US" sz="1200" dirty="0" err="1"/>
                        <a:t>động</a:t>
                      </a:r>
                      <a:r>
                        <a:rPr lang="en-US" sz="1200" dirty="0"/>
                        <a:t> c</a:t>
                      </a:r>
                      <a:r>
                        <a:rPr lang="vi-VN" sz="1200" dirty="0"/>
                        <a:t>ơ</a:t>
                      </a:r>
                      <a:r>
                        <a:rPr lang="en-US" sz="1200" dirty="0"/>
                        <a:t> </a:t>
                      </a:r>
                      <a:r>
                        <a:rPr lang="en-US" sz="1200" dirty="0" err="1"/>
                        <a:t>thuê</a:t>
                      </a:r>
                      <a:endParaRPr lang="en-US" sz="1200" dirty="0"/>
                    </a:p>
                  </a:txBody>
                  <a:tcPr/>
                </a:tc>
                <a:extLst>
                  <a:ext uri="{0D108BD9-81ED-4DB2-BD59-A6C34878D82A}">
                    <a16:rowId xmlns="" xmlns:a16="http://schemas.microsoft.com/office/drawing/2014/main" val="1805137390"/>
                  </a:ext>
                </a:extLst>
              </a:tr>
            </a:tbl>
          </a:graphicData>
        </a:graphic>
      </p:graphicFrame>
    </p:spTree>
    <p:extLst>
      <p:ext uri="{BB962C8B-B14F-4D97-AF65-F5344CB8AC3E}">
        <p14:creationId xmlns:p14="http://schemas.microsoft.com/office/powerpoint/2010/main" val="105146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9BAFF210-6A48-BE4D-D3F6-9B8EEEA5040F}"/>
              </a:ext>
            </a:extLst>
          </p:cNvPr>
          <p:cNvGraphicFramePr>
            <a:graphicFrameLocks noGrp="1"/>
          </p:cNvGraphicFramePr>
          <p:nvPr/>
        </p:nvGraphicFramePr>
        <p:xfrm>
          <a:off x="151306" y="707662"/>
          <a:ext cx="5765456" cy="2394405"/>
        </p:xfrm>
        <a:graphic>
          <a:graphicData uri="http://schemas.openxmlformats.org/drawingml/2006/table">
            <a:tbl>
              <a:tblPr firstRow="1" bandRow="1">
                <a:tableStyleId>{5C22544A-7EE6-4342-B048-85BDC9FD1C3A}</a:tableStyleId>
              </a:tblPr>
              <a:tblGrid>
                <a:gridCol w="657752">
                  <a:extLst>
                    <a:ext uri="{9D8B030D-6E8A-4147-A177-3AD203B41FA5}">
                      <a16:colId xmlns="" xmlns:a16="http://schemas.microsoft.com/office/drawing/2014/main" val="1930757539"/>
                    </a:ext>
                  </a:extLst>
                </a:gridCol>
                <a:gridCol w="656705">
                  <a:extLst>
                    <a:ext uri="{9D8B030D-6E8A-4147-A177-3AD203B41FA5}">
                      <a16:colId xmlns="" xmlns:a16="http://schemas.microsoft.com/office/drawing/2014/main" val="1674463010"/>
                    </a:ext>
                  </a:extLst>
                </a:gridCol>
                <a:gridCol w="591637">
                  <a:extLst>
                    <a:ext uri="{9D8B030D-6E8A-4147-A177-3AD203B41FA5}">
                      <a16:colId xmlns="" xmlns:a16="http://schemas.microsoft.com/office/drawing/2014/main" val="1549944897"/>
                    </a:ext>
                  </a:extLst>
                </a:gridCol>
                <a:gridCol w="2057400">
                  <a:extLst>
                    <a:ext uri="{9D8B030D-6E8A-4147-A177-3AD203B41FA5}">
                      <a16:colId xmlns="" xmlns:a16="http://schemas.microsoft.com/office/drawing/2014/main" val="3687717734"/>
                    </a:ext>
                  </a:extLst>
                </a:gridCol>
                <a:gridCol w="1801962">
                  <a:extLst>
                    <a:ext uri="{9D8B030D-6E8A-4147-A177-3AD203B41FA5}">
                      <a16:colId xmlns="" xmlns:a16="http://schemas.microsoft.com/office/drawing/2014/main" val="2727922721"/>
                    </a:ext>
                  </a:extLst>
                </a:gridCol>
              </a:tblGrid>
              <a:tr h="455078">
                <a:tc>
                  <a:txBody>
                    <a:bodyPr/>
                    <a:lstStyle/>
                    <a:p>
                      <a:pPr algn="ct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GB" sz="1100" dirty="0">
                          <a:latin typeface="Times New Roman" panose="02020603050405020304" pitchFamily="18" charset="0"/>
                          <a:cs typeface="Times New Roman" panose="02020603050405020304" pitchFamily="18" charset="0"/>
                        </a:rPr>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a:latin typeface="Times New Roman" panose="02020603050405020304" pitchFamily="18" charset="0"/>
                          <a:cs typeface="Times New Roman" panose="02020603050405020304" pitchFamily="18" charset="0"/>
                        </a:rPr>
                        <a:t>TAT</a:t>
                      </a:r>
                    </a:p>
                  </a:txBody>
                  <a:tcPr marL="121920" marR="121920" marT="60960" marB="60960" anchor="ct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err="1">
                          <a:latin typeface="Times New Roman" panose="02020603050405020304" pitchFamily="18" charset="0"/>
                          <a:cs typeface="Times New Roman" panose="02020603050405020304" pitchFamily="18" charset="0"/>
                        </a:rPr>
                        <a:t>Kế</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hoạch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sử</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532058823"/>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21414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latin typeface="Times New Roman" panose="02020603050405020304" pitchFamily="18" charset="0"/>
                          <a:cs typeface="Times New Roman" panose="02020603050405020304" pitchFamily="18" charset="0"/>
                        </a:rPr>
                        <a:t>SAESL</a:t>
                      </a:r>
                      <a:endParaRPr lang="en-GB" sz="1100" b="0" i="0" u="none" strike="noStrike">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134</a:t>
                      </a:r>
                    </a:p>
                  </a:txBody>
                  <a:tcPr marL="0" marR="0" marT="0" marB="0" anchor="ctr"/>
                </a:tc>
                <a:tc>
                  <a:txBody>
                    <a:bodyPr/>
                    <a:lstStyle/>
                    <a:p>
                      <a:pPr algn="ctr" fontAlgn="ctr"/>
                      <a:r>
                        <a:rPr lang="en-GB" sz="1100" b="1" u="none" strike="noStrike" dirty="0">
                          <a:solidFill>
                            <a:srgbClr val="FF0000"/>
                          </a:solidFill>
                          <a:effectLst/>
                          <a:latin typeface="Times New Roman" panose="02020603050405020304" pitchFamily="18" charset="0"/>
                          <a:cs typeface="Times New Roman" panose="02020603050405020304" pitchFamily="18" charset="0"/>
                        </a:rPr>
                        <a:t>26/08/2025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a:solidFill>
                            <a:srgbClr val="FF0000"/>
                          </a:solidFill>
                          <a:effectLst/>
                          <a:latin typeface="Times New Roman" panose="02020603050405020304" pitchFamily="18" charset="0"/>
                          <a:cs typeface="Times New Roman" panose="02020603050405020304" pitchFamily="18" charset="0"/>
                        </a:rPr>
                        <a:t>TAT delay 26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A894 </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cs typeface="Times New Roman" panose="02020603050405020304" pitchFamily="18" charset="0"/>
                        </a:rPr>
                        <a:t>(21346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đến</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hạn</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kiểm</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tra</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LPT)</a:t>
                      </a:r>
                    </a:p>
                  </a:txBody>
                  <a:tcPr marL="0" marR="0" marT="0" marB="0" anchor="ctr"/>
                </a:tc>
                <a:extLst>
                  <a:ext uri="{0D108BD9-81ED-4DB2-BD59-A6C34878D82A}">
                    <a16:rowId xmlns="" xmlns:a16="http://schemas.microsoft.com/office/drawing/2014/main" val="587742417"/>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21137</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247</a:t>
                      </a:r>
                    </a:p>
                  </a:txBody>
                  <a:tcPr marL="0" marR="0" marT="0" marB="0" anchor="ctr"/>
                </a:tc>
                <a:tc>
                  <a:txBody>
                    <a:bodyPr/>
                    <a:lstStyle/>
                    <a:p>
                      <a:pPr algn="ctr" fontAlgn="ctr"/>
                      <a:r>
                        <a:rPr lang="en-GB" sz="1100" b="1" u="none" strike="noStrike" dirty="0">
                          <a:solidFill>
                            <a:srgbClr val="FF0000"/>
                          </a:solidFill>
                          <a:effectLst/>
                          <a:latin typeface="Times New Roman" panose="02020603050405020304" pitchFamily="18" charset="0"/>
                          <a:cs typeface="Times New Roman" panose="02020603050405020304" pitchFamily="18" charset="0"/>
                        </a:rPr>
                        <a:t>07/09/2025</a:t>
                      </a:r>
                    </a:p>
                    <a:p>
                      <a:pPr algn="ctr" fontAlgn="ct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TAT delay 68 </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A895 </a:t>
                      </a:r>
                    </a:p>
                    <a:p>
                      <a:pPr algn="ctr" fontAlgn="ctr"/>
                      <a:r>
                        <a:rPr lang="en-GB" sz="1100" b="0" i="0" u="none" strike="noStrike" dirty="0">
                          <a:solidFill>
                            <a:srgbClr val="FF0000"/>
                          </a:solidFill>
                          <a:effectLst/>
                          <a:latin typeface="Times New Roman" panose="02020603050405020304" pitchFamily="18" charset="0"/>
                          <a:cs typeface="Times New Roman" panose="02020603050405020304" pitchFamily="18" charset="0"/>
                        </a:rPr>
                        <a:t>(</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trống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02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cs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 xmlns:a16="http://schemas.microsoft.com/office/drawing/2014/main" val="4034618264"/>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21604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latin typeface="Times New Roman" panose="02020603050405020304" pitchFamily="18" charset="0"/>
                          <a:cs typeface="Times New Roman" panose="02020603050405020304" pitchFamily="18" charset="0"/>
                        </a:rPr>
                        <a:t>SAESL</a:t>
                      </a:r>
                      <a:endParaRPr lang="en-GB" sz="1100" b="0" i="0" u="none" strike="noStrike">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134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1" u="none" strike="noStrike" dirty="0">
                          <a:solidFill>
                            <a:srgbClr val="FF0000"/>
                          </a:solidFill>
                          <a:effectLst/>
                          <a:latin typeface="Times New Roman" panose="02020603050405020304" pitchFamily="18" charset="0"/>
                          <a:cs typeface="Times New Roman" panose="02020603050405020304" pitchFamily="18" charset="0"/>
                        </a:rPr>
                        <a:t>10/09/2025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TAT delay 33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cs typeface="Times New Roman" panose="02020603050405020304" pitchFamily="18" charset="0"/>
                        </a:rPr>
                        <a:t>(</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trống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02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cs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 xmlns:a16="http://schemas.microsoft.com/office/drawing/2014/main" val="4245775366"/>
                  </a:ext>
                </a:extLst>
              </a:tr>
              <a:tr h="186273">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21048</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190</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08/11/2025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 xmlns:a16="http://schemas.microsoft.com/office/drawing/2014/main" val="2430177177"/>
                  </a:ext>
                </a:extLst>
              </a:tr>
              <a:tr h="186273">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21024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190</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01/12/2025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 xmlns:a16="http://schemas.microsoft.com/office/drawing/2014/main" val="2287308911"/>
                  </a:ext>
                </a:extLst>
              </a:tr>
              <a:tr h="186273">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21035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HAESL</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120</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02/12/2025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 xmlns:a16="http://schemas.microsoft.com/office/drawing/2014/main" val="1533439476"/>
                  </a:ext>
                </a:extLst>
              </a:tr>
              <a:tr h="186273">
                <a:tc>
                  <a:txBody>
                    <a:bodyPr/>
                    <a:lstStyle/>
                    <a:p>
                      <a:pPr algn="ctr" fontAlgn="ctr"/>
                      <a:r>
                        <a:rPr lang="en-GB" sz="1100" b="0" i="0" u="none" strike="noStrike">
                          <a:solidFill>
                            <a:schemeClr val="tx1"/>
                          </a:solidFill>
                          <a:effectLst/>
                          <a:latin typeface="Times New Roman" panose="02020603050405020304" pitchFamily="18" charset="0"/>
                          <a:cs typeface="Times New Roman" panose="02020603050405020304" pitchFamily="18" charset="0"/>
                        </a:rPr>
                        <a:t>21425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2026</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 xmlns:a16="http://schemas.microsoft.com/office/drawing/2014/main" val="3223524369"/>
                  </a:ext>
                </a:extLst>
              </a:tr>
              <a:tr h="186273">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21418</a:t>
                      </a:r>
                    </a:p>
                  </a:txBody>
                  <a:tcPr marL="0" marR="0" marT="0" marB="0" anchor="ctr"/>
                </a:tc>
                <a:tc>
                  <a:txBody>
                    <a:bodyPr/>
                    <a:lstStyle/>
                    <a:p>
                      <a:pPr algn="ctr" fontAlgn="ct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SAESL</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2026</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 xmlns:a16="http://schemas.microsoft.com/office/drawing/2014/main" val="3946219434"/>
                  </a:ext>
                </a:extLst>
              </a:tr>
            </a:tbl>
          </a:graphicData>
        </a:graphic>
      </p:graphicFrame>
      <p:sp>
        <p:nvSpPr>
          <p:cNvPr id="7" name="TextBox 6">
            <a:extLst>
              <a:ext uri="{FF2B5EF4-FFF2-40B4-BE49-F238E27FC236}">
                <a16:creationId xmlns=""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chờ</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 xmlns:a16="http://schemas.microsoft.com/office/drawing/2014/main" id="{E1A7F173-F863-E486-EAEF-8B51EDF0DABA}"/>
              </a:ext>
            </a:extLst>
          </p:cNvPr>
          <p:cNvSpPr txBox="1"/>
          <p:nvPr/>
        </p:nvSpPr>
        <p:spPr>
          <a:xfrm>
            <a:off x="6495328" y="2740906"/>
            <a:ext cx="5167083" cy="553998"/>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do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thiếu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 xmlns:a16="http://schemas.microsoft.com/office/drawing/2014/main" id="{4BCF0C24-45DA-44DA-8EDA-2C6618ED53DE}"/>
              </a:ext>
            </a:extLst>
          </p:cNvPr>
          <p:cNvGraphicFramePr>
            <a:graphicFrameLocks noGrp="1"/>
          </p:cNvGraphicFramePr>
          <p:nvPr/>
        </p:nvGraphicFramePr>
        <p:xfrm>
          <a:off x="148809" y="6182077"/>
          <a:ext cx="5765457" cy="579120"/>
        </p:xfrm>
        <a:graphic>
          <a:graphicData uri="http://schemas.openxmlformats.org/drawingml/2006/table">
            <a:tbl>
              <a:tblPr firstRow="1" bandRow="1">
                <a:tableStyleId>{93296810-A885-4BE3-A3E7-6D5BEEA58F35}</a:tableStyleId>
              </a:tblPr>
              <a:tblGrid>
                <a:gridCol w="1029611">
                  <a:extLst>
                    <a:ext uri="{9D8B030D-6E8A-4147-A177-3AD203B41FA5}">
                      <a16:colId xmlns="" xmlns:a16="http://schemas.microsoft.com/office/drawing/2014/main" val="1930757539"/>
                    </a:ext>
                  </a:extLst>
                </a:gridCol>
                <a:gridCol w="4735846">
                  <a:extLst>
                    <a:ext uri="{9D8B030D-6E8A-4147-A177-3AD203B41FA5}">
                      <a16:colId xmlns=""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532058823"/>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đủ</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vào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giữa</a:t>
                      </a:r>
                      <a:r>
                        <a:rPr lang="en-US" sz="1100" dirty="0">
                          <a:latin typeface="Times New Roman" panose="02020603050405020304" pitchFamily="18" charset="0"/>
                          <a:cs typeface="Times New Roman" panose="02020603050405020304" pitchFamily="18" charset="0"/>
                        </a:rPr>
                        <a:t> T9)</a:t>
                      </a:r>
                    </a:p>
                  </a:txBody>
                  <a:tcPr marL="121920" marR="121920" marT="60960" marB="60960" anchor="ctr"/>
                </a:tc>
                <a:extLst>
                  <a:ext uri="{0D108BD9-81ED-4DB2-BD59-A6C34878D82A}">
                    <a16:rowId xmlns="" xmlns:a16="http://schemas.microsoft.com/office/drawing/2014/main" val="3218884716"/>
                  </a:ext>
                </a:extLst>
              </a:tr>
            </a:tbl>
          </a:graphicData>
        </a:graphic>
      </p:graphicFrame>
      <p:sp>
        <p:nvSpPr>
          <p:cNvPr id="13" name="TextBox 12">
            <a:extLst>
              <a:ext uri="{FF2B5EF4-FFF2-40B4-BE49-F238E27FC236}">
                <a16:creationId xmlns="" xmlns:a16="http://schemas.microsoft.com/office/drawing/2014/main" id="{90C76007-F5F9-4B91-90BD-15B1D817EC54}"/>
              </a:ext>
            </a:extLst>
          </p:cNvPr>
          <p:cNvSpPr txBox="1"/>
          <p:nvPr/>
        </p:nvSpPr>
        <p:spPr>
          <a:xfrm>
            <a:off x="126610" y="5812745"/>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(01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5" name="Chart 14">
            <a:extLst>
              <a:ext uri="{FF2B5EF4-FFF2-40B4-BE49-F238E27FC236}">
                <a16:creationId xmlns="" xmlns:a16="http://schemas.microsoft.com/office/drawing/2014/main" id="{CCB8BC50-9C48-4077-8FF9-51F8FD309974}"/>
              </a:ext>
            </a:extLst>
          </p:cNvPr>
          <p:cNvGraphicFramePr/>
          <p:nvPr/>
        </p:nvGraphicFramePr>
        <p:xfrm>
          <a:off x="6131180" y="3429000"/>
          <a:ext cx="5909514" cy="331342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 xmlns:a16="http://schemas.microsoft.com/office/drawing/2014/main" id="{3820863C-A0D5-40A0-8221-0CDAF77AC842}"/>
              </a:ext>
            </a:extLst>
          </p:cNvPr>
          <p:cNvSpPr txBox="1"/>
          <p:nvPr/>
        </p:nvSpPr>
        <p:spPr>
          <a:xfrm>
            <a:off x="6124112" y="842032"/>
            <a:ext cx="5909513"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200" dirty="0">
                <a:solidFill>
                  <a:prstClr val="black"/>
                </a:solidFill>
                <a:latin typeface="Times New Roman" panose="02020603050405020304" pitchFamily="18" charset="0"/>
                <a:cs typeface="Times New Roman" panose="02020603050405020304" pitchFamily="18" charset="0"/>
              </a:rPr>
              <a: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A894, A895)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gây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phải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giữ</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giờ</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tháo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ngoài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Blade (A889#1 21088 </a:t>
            </a:r>
            <a:r>
              <a:rPr lang="en-US" sz="1200" dirty="0">
                <a:solidFill>
                  <a:prstClr val="black"/>
                </a:solidFill>
                <a:latin typeface="Times New Roman" panose="02020603050405020304" pitchFamily="18" charset="0"/>
                <a:cs typeface="Times New Roman" panose="02020603050405020304" pitchFamily="18" charset="0"/>
              </a:rPr>
              <a:t>100</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FC);</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Crack IPC (A894#1 21317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crack soi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suất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100FC, A889#1 21088 interval 200FC);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High Oil Consumption (A887#2 21369); Oil Hiding (A889#2 21034, A888#1 21052)</a:t>
            </a:r>
          </a:p>
        </p:txBody>
      </p:sp>
      <p:sp>
        <p:nvSpPr>
          <p:cNvPr id="17" name="TextBox 16">
            <a:extLst>
              <a:ext uri="{FF2B5EF4-FFF2-40B4-BE49-F238E27FC236}">
                <a16:creationId xmlns="" xmlns:a16="http://schemas.microsoft.com/office/drawing/2014/main" id="{8C24F927-43FE-43A1-80E2-A11360025336}"/>
              </a:ext>
            </a:extLst>
          </p:cNvPr>
          <p:cNvSpPr txBox="1"/>
          <p:nvPr/>
        </p:nvSpPr>
        <p:spPr>
          <a:xfrm>
            <a:off x="5869870" y="335369"/>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 name="Rectangle 5">
            <a:extLst>
              <a:ext uri="{FF2B5EF4-FFF2-40B4-BE49-F238E27FC236}">
                <a16:creationId xmlns="" xmlns:a16="http://schemas.microsoft.com/office/drawing/2014/main" id="{2BA759F6-D850-4EB4-AD1E-1FF6AF20FC2A}"/>
              </a:ext>
            </a:extLst>
          </p:cNvPr>
          <p:cNvSpPr/>
          <p:nvPr/>
        </p:nvSpPr>
        <p:spPr>
          <a:xfrm>
            <a:off x="6934200" y="5743545"/>
            <a:ext cx="2971800" cy="400110"/>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T8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và</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T9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tăng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thành</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02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tàu</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AOG </a:t>
            </a:r>
            <a:r>
              <a:rPr lang="en-US" sz="1000" i="1" dirty="0" err="1">
                <a:solidFill>
                  <a:srgbClr val="FF0000"/>
                </a:solidFill>
                <a:latin typeface="Times New Roman" panose="02020603050405020304" pitchFamily="18" charset="0"/>
                <a:cs typeface="Times New Roman" panose="02020603050405020304" pitchFamily="18" charset="0"/>
              </a:rPr>
              <a:t>từ</a:t>
            </a:r>
            <a:r>
              <a:rPr lang="en-US" sz="1000" i="1" dirty="0">
                <a:solidFill>
                  <a:srgbClr val="FF0000"/>
                </a:solidFill>
                <a:latin typeface="Times New Roman" panose="02020603050405020304" pitchFamily="18" charset="0"/>
                <a:cs typeface="Times New Roman" panose="02020603050405020304" pitchFamily="18" charset="0"/>
              </a:rPr>
              <a:t> 07/08 </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do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21414, 21604, 21137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lang="en-US" sz="1000" i="1" dirty="0">
                <a:solidFill>
                  <a:srgbClr val="FF0000"/>
                </a:solidFill>
                <a:latin typeface="Times New Roman" panose="02020603050405020304" pitchFamily="18" charset="0"/>
                <a:cs typeface="Times New Roman" panose="02020603050405020304" pitchFamily="18" charset="0"/>
              </a:rPr>
              <a:t>.</a:t>
            </a:r>
            <a:endParaRPr kumimoji="0" lang="en-GB"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13">
            <a:extLst>
              <a:ext uri="{FF2B5EF4-FFF2-40B4-BE49-F238E27FC236}">
                <a16:creationId xmlns="" xmlns:a16="http://schemas.microsoft.com/office/drawing/2014/main" id="{77D4BF57-1C59-4961-BDE7-C3F8E37C5EBD}"/>
              </a:ext>
            </a:extLst>
          </p:cNvPr>
          <p:cNvGraphicFramePr>
            <a:graphicFrameLocks noGrp="1"/>
          </p:cNvGraphicFramePr>
          <p:nvPr/>
        </p:nvGraphicFramePr>
        <p:xfrm>
          <a:off x="148809" y="3845705"/>
          <a:ext cx="5765457" cy="1967040"/>
        </p:xfrm>
        <a:graphic>
          <a:graphicData uri="http://schemas.openxmlformats.org/drawingml/2006/table">
            <a:tbl>
              <a:tblPr firstRow="1" bandRow="1">
                <a:tableStyleId>{21E4AEA4-8DFA-4A89-87EB-49C32662AFE0}</a:tableStyleId>
              </a:tblPr>
              <a:tblGrid>
                <a:gridCol w="865200">
                  <a:extLst>
                    <a:ext uri="{9D8B030D-6E8A-4147-A177-3AD203B41FA5}">
                      <a16:colId xmlns="" xmlns:a16="http://schemas.microsoft.com/office/drawing/2014/main" val="1930757539"/>
                    </a:ext>
                  </a:extLst>
                </a:gridCol>
                <a:gridCol w="1377500">
                  <a:extLst>
                    <a:ext uri="{9D8B030D-6E8A-4147-A177-3AD203B41FA5}">
                      <a16:colId xmlns="" xmlns:a16="http://schemas.microsoft.com/office/drawing/2014/main" val="1674463010"/>
                    </a:ext>
                  </a:extLst>
                </a:gridCol>
                <a:gridCol w="3522757">
                  <a:extLst>
                    <a:ext uri="{9D8B030D-6E8A-4147-A177-3AD203B41FA5}">
                      <a16:colId xmlns="" xmlns:a16="http://schemas.microsoft.com/office/drawing/2014/main" val="3226218833"/>
                    </a:ext>
                  </a:extLst>
                </a:gridCol>
              </a:tblGrid>
              <a:tr h="236321">
                <a:tc>
                  <a:txBody>
                    <a:bodyPr/>
                    <a:lstStyle/>
                    <a:p>
                      <a:r>
                        <a:rPr lang="en-US" sz="1100">
                          <a:latin typeface="Times New Roman" panose="02020603050405020304" pitchFamily="18" charset="0"/>
                          <a:cs typeface="Times New Roman" panose="02020603050405020304" pitchFamily="18" charset="0"/>
                        </a:rPr>
                        <a:t>Động c</a:t>
                      </a:r>
                      <a:r>
                        <a:rPr lang="vi-VN" sz="110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t>Vị trí</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latin typeface="Times New Roman" panose="02020603050405020304" pitchFamily="18" charset="0"/>
                          <a:cs typeface="Times New Roman" panose="02020603050405020304" pitchFamily="18" charset="0"/>
                        </a:rPr>
                        <a:t>KH tháo</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 xmlns:a16="http://schemas.microsoft.com/office/drawing/2014/main" val="1532058823"/>
                  </a:ext>
                </a:extLst>
              </a:tr>
              <a:tr h="195579">
                <a:tc>
                  <a:txBody>
                    <a:bodyPr/>
                    <a:lstStyle/>
                    <a:p>
                      <a:r>
                        <a:rPr lang="en-US" sz="1100">
                          <a:latin typeface="Times New Roman" panose="02020603050405020304" pitchFamily="18" charset="0"/>
                          <a:cs typeface="Times New Roman" panose="02020603050405020304" pitchFamily="18" charset="0"/>
                        </a:rPr>
                        <a:t>21268</a:t>
                      </a:r>
                      <a:endParaRPr lang="en-US" sz="1100" b="1"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A898</a:t>
                      </a: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Đang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tháo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thay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bằng</a:t>
                      </a:r>
                      <a:r>
                        <a:rPr lang="en-US" sz="1100" dirty="0">
                          <a:latin typeface="Times New Roman" panose="02020603050405020304" pitchFamily="18" charset="0"/>
                          <a:cs typeface="Times New Roman" panose="02020603050405020304" pitchFamily="18" charset="0"/>
                        </a:rPr>
                        <a:t> 21043</a:t>
                      </a:r>
                    </a:p>
                  </a:txBody>
                  <a:tcPr marL="36000" marR="36000" marT="36000" marB="36000" anchor="ctr"/>
                </a:tc>
                <a:extLst>
                  <a:ext uri="{0D108BD9-81ED-4DB2-BD59-A6C34878D82A}">
                    <a16:rowId xmlns="" xmlns:a16="http://schemas.microsoft.com/office/drawing/2014/main" val="3218884716"/>
                  </a:ext>
                </a:extLst>
              </a:tr>
              <a:tr h="195579">
                <a:tc>
                  <a:txBody>
                    <a:bodyPr/>
                    <a:lstStyle/>
                    <a:p>
                      <a:r>
                        <a:rPr lang="en-US" sz="1100" b="0">
                          <a:latin typeface="Times New Roman" panose="02020603050405020304" pitchFamily="18" charset="0"/>
                          <a:cs typeface="Times New Roman" panose="02020603050405020304" pitchFamily="18" charset="0"/>
                        </a:rPr>
                        <a:t>21346</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A894</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Giữa</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T8</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~11FC. </a:t>
                      </a:r>
                      <a:r>
                        <a:rPr lang="en-US" sz="1100" dirty="0" err="1">
                          <a:latin typeface="Times New Roman" panose="02020603050405020304" pitchFamily="18" charset="0"/>
                          <a:cs typeface="Times New Roman" panose="02020603050405020304" pitchFamily="18" charset="0"/>
                        </a:rPr>
                        <a:t>Tàu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vào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làm</a:t>
                      </a:r>
                      <a:r>
                        <a:rPr lang="en-US" sz="1100" dirty="0">
                          <a:latin typeface="Times New Roman" panose="02020603050405020304" pitchFamily="18" charset="0"/>
                          <a:cs typeface="Times New Roman" panose="02020603050405020304" pitchFamily="18" charset="0"/>
                        </a:rPr>
                        <a:t> check </a:t>
                      </a:r>
                      <a:r>
                        <a:rPr lang="en-US" sz="1100" dirty="0" err="1">
                          <a:latin typeface="Times New Roman" panose="02020603050405020304" pitchFamily="18" charset="0"/>
                          <a:cs typeface="Times New Roman" panose="02020603050405020304" pitchFamily="18" charset="0"/>
                        </a:rPr>
                        <a:t>chờ</a:t>
                      </a:r>
                      <a:r>
                        <a:rPr lang="en-US" sz="1100" dirty="0">
                          <a:latin typeface="Times New Roman" panose="02020603050405020304" pitchFamily="18" charset="0"/>
                          <a:cs typeface="Times New Roman" panose="02020603050405020304" pitchFamily="18" charset="0"/>
                        </a:rPr>
                        <a:t> đ/c </a:t>
                      </a:r>
                      <a:r>
                        <a:rPr lang="en-US" sz="1100" dirty="0" err="1">
                          <a:latin typeface="Times New Roman" panose="02020603050405020304" pitchFamily="18" charset="0"/>
                          <a:cs typeface="Times New Roman" panose="02020603050405020304" pitchFamily="18" charset="0"/>
                        </a:rPr>
                        <a:t>cuối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tháng</a:t>
                      </a:r>
                      <a:r>
                        <a:rPr lang="en-US" sz="1100" dirty="0">
                          <a:latin typeface="Times New Roman" panose="02020603050405020304" pitchFamily="18" charset="0"/>
                          <a:cs typeface="Times New Roman" panose="02020603050405020304" pitchFamily="18" charset="0"/>
                        </a:rPr>
                        <a:t>.</a:t>
                      </a:r>
                    </a:p>
                  </a:txBody>
                  <a:tcPr marL="36000" marR="36000" marT="36000" marB="36000" anchor="ctr"/>
                </a:tc>
                <a:extLst>
                  <a:ext uri="{0D108BD9-81ED-4DB2-BD59-A6C34878D82A}">
                    <a16:rowId xmlns="" xmlns:a16="http://schemas.microsoft.com/office/drawing/2014/main" val="2115461348"/>
                  </a:ext>
                </a:extLst>
              </a:tr>
              <a:tr h="195579">
                <a:tc>
                  <a:txBody>
                    <a:bodyPr/>
                    <a:lstStyle/>
                    <a:p>
                      <a:r>
                        <a:rPr lang="en-US" sz="1100" b="0">
                          <a:latin typeface="Times New Roman" panose="02020603050405020304" pitchFamily="18" charset="0"/>
                          <a:cs typeface="Times New Roman" panose="02020603050405020304" pitchFamily="18" charset="0"/>
                        </a:rPr>
                        <a:t>21317</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A894</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Giữa</a:t>
                      </a:r>
                      <a:r>
                        <a:rPr lang="en-US" sz="1100" dirty="0">
                          <a:latin typeface="Times New Roman" panose="02020603050405020304" pitchFamily="18" charset="0"/>
                          <a:cs typeface="Times New Roman" panose="02020603050405020304" pitchFamily="18" charset="0"/>
                        </a:rPr>
                        <a:t> T9.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~71FC (+</a:t>
                      </a:r>
                      <a:r>
                        <a:rPr lang="en-US" sz="1100" dirty="0" err="1">
                          <a:latin typeface="Times New Roman" panose="02020603050405020304" pitchFamily="18" charset="0"/>
                          <a:cs typeface="Times New Roman" panose="02020603050405020304" pitchFamily="18" charset="0"/>
                        </a:rPr>
                        <a:t>thời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gian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tàu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chờ</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thay</a:t>
                      </a:r>
                      <a:r>
                        <a:rPr lang="en-US" sz="1100" dirty="0">
                          <a:latin typeface="Times New Roman" panose="02020603050405020304" pitchFamily="18" charset="0"/>
                          <a:cs typeface="Times New Roman" panose="02020603050405020304" pitchFamily="18" charset="0"/>
                        </a:rPr>
                        <a:t> 21346)</a:t>
                      </a:r>
                    </a:p>
                  </a:txBody>
                  <a:tcPr marL="36000" marR="36000" marT="36000" marB="36000" anchor="ctr"/>
                </a:tc>
                <a:extLst>
                  <a:ext uri="{0D108BD9-81ED-4DB2-BD59-A6C34878D82A}">
                    <a16:rowId xmlns="" xmlns:a16="http://schemas.microsoft.com/office/drawing/2014/main" val="3390329999"/>
                  </a:ext>
                </a:extLst>
              </a:tr>
              <a:tr h="195579">
                <a:tc>
                  <a:txBody>
                    <a:bodyPr/>
                    <a:lstStyle/>
                    <a:p>
                      <a:r>
                        <a:rPr lang="en-US" sz="1100" b="0" dirty="0">
                          <a:latin typeface="Times New Roman" panose="02020603050405020304" pitchFamily="18" charset="0"/>
                          <a:cs typeface="Times New Roman" panose="02020603050405020304" pitchFamily="18" charset="0"/>
                        </a:rPr>
                        <a:t>21214</a:t>
                      </a: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A897</a:t>
                      </a: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T9. </a:t>
                      </a:r>
                      <a:r>
                        <a:rPr lang="en-US" sz="1100" dirty="0" err="1">
                          <a:latin typeface="Times New Roman" panose="02020603050405020304" pitchFamily="18" charset="0"/>
                          <a:cs typeface="Times New Roman" panose="02020603050405020304" pitchFamily="18" charset="0"/>
                        </a:rPr>
                        <a:t>Tháo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trả</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thuê</a:t>
                      </a:r>
                      <a:r>
                        <a:rPr lang="en-US" sz="1100" dirty="0">
                          <a:latin typeface="Times New Roman" panose="02020603050405020304" pitchFamily="18" charset="0"/>
                          <a:cs typeface="Times New Roman" panose="02020603050405020304" pitchFamily="18" charset="0"/>
                        </a:rPr>
                        <a:t>.</a:t>
                      </a:r>
                    </a:p>
                  </a:txBody>
                  <a:tcPr marL="36000" marR="36000" marT="36000" marB="36000" anchor="ctr"/>
                </a:tc>
                <a:extLst>
                  <a:ext uri="{0D108BD9-81ED-4DB2-BD59-A6C34878D82A}">
                    <a16:rowId xmlns="" xmlns:a16="http://schemas.microsoft.com/office/drawing/2014/main" val="3834554541"/>
                  </a:ext>
                </a:extLst>
              </a:tr>
              <a:tr h="195579">
                <a:tc>
                  <a:txBody>
                    <a:bodyPr/>
                    <a:lstStyle/>
                    <a:p>
                      <a:r>
                        <a:rPr lang="en-US" sz="1100" b="0">
                          <a:latin typeface="Times New Roman" panose="02020603050405020304" pitchFamily="18" charset="0"/>
                          <a:cs typeface="Times New Roman" panose="02020603050405020304" pitchFamily="18" charset="0"/>
                        </a:rPr>
                        <a:t>21170</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A897</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T9.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~70FC</a:t>
                      </a:r>
                    </a:p>
                  </a:txBody>
                  <a:tcPr marL="36000" marR="36000" marT="36000" marB="36000" anchor="ctr"/>
                </a:tc>
                <a:extLst>
                  <a:ext uri="{0D108BD9-81ED-4DB2-BD59-A6C34878D82A}">
                    <a16:rowId xmlns="" xmlns:a16="http://schemas.microsoft.com/office/drawing/2014/main" val="1994482227"/>
                  </a:ext>
                </a:extLst>
              </a:tr>
              <a:tr h="195579">
                <a:tc>
                  <a:txBody>
                    <a:bodyPr/>
                    <a:lstStyle/>
                    <a:p>
                      <a:r>
                        <a:rPr lang="en-US" sz="1100" b="0">
                          <a:latin typeface="Times New Roman" panose="02020603050405020304" pitchFamily="18" charset="0"/>
                          <a:cs typeface="Times New Roman" panose="02020603050405020304" pitchFamily="18" charset="0"/>
                        </a:rPr>
                        <a:t>21368</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A892</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T10</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~164FC</a:t>
                      </a:r>
                    </a:p>
                  </a:txBody>
                  <a:tcPr marL="36000" marR="36000" marT="36000" marB="36000" anchor="ctr"/>
                </a:tc>
                <a:extLst>
                  <a:ext uri="{0D108BD9-81ED-4DB2-BD59-A6C34878D82A}">
                    <a16:rowId xmlns="" xmlns:a16="http://schemas.microsoft.com/office/drawing/2014/main" val="1605329921"/>
                  </a:ext>
                </a:extLst>
              </a:tr>
              <a:tr h="195579">
                <a:tc>
                  <a:txBody>
                    <a:bodyPr/>
                    <a:lstStyle/>
                    <a:p>
                      <a:r>
                        <a:rPr lang="en-US" sz="1100" b="0">
                          <a:latin typeface="Times New Roman" panose="02020603050405020304" pitchFamily="18" charset="0"/>
                          <a:cs typeface="Times New Roman" panose="02020603050405020304" pitchFamily="18" charset="0"/>
                        </a:rPr>
                        <a:t>21369</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A887</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T11.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~265FC</a:t>
                      </a:r>
                    </a:p>
                  </a:txBody>
                  <a:tcPr marL="36000" marR="36000" marT="36000" marB="36000" anchor="ctr"/>
                </a:tc>
                <a:extLst>
                  <a:ext uri="{0D108BD9-81ED-4DB2-BD59-A6C34878D82A}">
                    <a16:rowId xmlns="" xmlns:a16="http://schemas.microsoft.com/office/drawing/2014/main" val="1844911163"/>
                  </a:ext>
                </a:extLst>
              </a:tr>
            </a:tbl>
          </a:graphicData>
        </a:graphic>
      </p:graphicFrame>
      <p:sp>
        <p:nvSpPr>
          <p:cNvPr id="18" name="TextBox 17">
            <a:extLst>
              <a:ext uri="{FF2B5EF4-FFF2-40B4-BE49-F238E27FC236}">
                <a16:creationId xmlns="" xmlns:a16="http://schemas.microsoft.com/office/drawing/2014/main" id="{DD5D1154-5101-4974-B303-960D55C1C05F}"/>
              </a:ext>
            </a:extLst>
          </p:cNvPr>
          <p:cNvSpPr txBox="1"/>
          <p:nvPr/>
        </p:nvSpPr>
        <p:spPr>
          <a:xfrm>
            <a:off x="-79098" y="3437347"/>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đến</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lịch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tháo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080475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30</a:t>
            </a:fld>
            <a:endParaRPr lang="vi"/>
          </a:p>
        </p:txBody>
      </p:sp>
      <p:sp>
        <p:nvSpPr>
          <p:cNvPr id="4" name="TextBox 3">
            <a:extLst>
              <a:ext uri="{FF2B5EF4-FFF2-40B4-BE49-F238E27FC236}">
                <a16:creationId xmlns=""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Q3-Q4/2025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 xmlns:a16="http://schemas.microsoft.com/office/drawing/2014/main" id="{798A4453-6D37-A3D5-A532-1D65A56E72A5}"/>
              </a:ext>
            </a:extLst>
          </p:cNvPr>
          <p:cNvGraphicFramePr>
            <a:graphicFrameLocks noGrp="1"/>
          </p:cNvGraphicFramePr>
          <p:nvPr/>
        </p:nvGraphicFramePr>
        <p:xfrm>
          <a:off x="5638799" y="1028140"/>
          <a:ext cx="6207275" cy="2241642"/>
        </p:xfrm>
        <a:graphic>
          <a:graphicData uri="http://schemas.openxmlformats.org/drawingml/2006/table">
            <a:tbl>
              <a:tblPr firstRow="1" bandRow="1">
                <a:tableStyleId>{93296810-A885-4BE3-A3E7-6D5BEEA58F35}</a:tableStyleId>
              </a:tblPr>
              <a:tblGrid>
                <a:gridCol w="536402">
                  <a:extLst>
                    <a:ext uri="{9D8B030D-6E8A-4147-A177-3AD203B41FA5}">
                      <a16:colId xmlns="" xmlns:a16="http://schemas.microsoft.com/office/drawing/2014/main" val="4292553957"/>
                    </a:ext>
                  </a:extLst>
                </a:gridCol>
                <a:gridCol w="835915">
                  <a:extLst>
                    <a:ext uri="{9D8B030D-6E8A-4147-A177-3AD203B41FA5}">
                      <a16:colId xmlns="" xmlns:a16="http://schemas.microsoft.com/office/drawing/2014/main" val="4057841190"/>
                    </a:ext>
                  </a:extLst>
                </a:gridCol>
                <a:gridCol w="826627">
                  <a:extLst>
                    <a:ext uri="{9D8B030D-6E8A-4147-A177-3AD203B41FA5}">
                      <a16:colId xmlns="" xmlns:a16="http://schemas.microsoft.com/office/drawing/2014/main" val="4208667331"/>
                    </a:ext>
                  </a:extLst>
                </a:gridCol>
                <a:gridCol w="1263161">
                  <a:extLst>
                    <a:ext uri="{9D8B030D-6E8A-4147-A177-3AD203B41FA5}">
                      <a16:colId xmlns="" xmlns:a16="http://schemas.microsoft.com/office/drawing/2014/main" val="4243809776"/>
                    </a:ext>
                  </a:extLst>
                </a:gridCol>
                <a:gridCol w="2745170">
                  <a:extLst>
                    <a:ext uri="{9D8B030D-6E8A-4147-A177-3AD203B41FA5}">
                      <a16:colId xmlns="" xmlns:a16="http://schemas.microsoft.com/office/drawing/2014/main" val="1351526185"/>
                    </a:ext>
                  </a:extLst>
                </a:gridCol>
              </a:tblGrid>
              <a:tr h="448891">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 xmlns:a16="http://schemas.microsoft.com/office/drawing/2014/main" val="1286781906"/>
                  </a:ext>
                </a:extLst>
              </a:tr>
              <a:tr h="341061">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B218#2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15-17/07/2025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Oil Leak,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 xmlns:a16="http://schemas.microsoft.com/office/drawing/2014/main" val="2141498463"/>
                  </a:ext>
                </a:extLst>
              </a:tr>
              <a:tr h="378953">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22-23/09/2025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Lắp ED0238 từ shop về</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034303709"/>
                  </a:ext>
                </a:extLst>
              </a:tr>
              <a:tr h="357579">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20-22/10/2025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ED0214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170234962"/>
                  </a:ext>
                </a:extLst>
              </a:tr>
              <a:tr h="357579">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05-07/11/2025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OVH, lắp ED0233</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30173039"/>
                  </a:ext>
                </a:extLst>
              </a:tr>
              <a:tr h="357579">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20-25/12/2025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ED0217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723741233"/>
                  </a:ext>
                </a:extLst>
              </a:tr>
            </a:tbl>
          </a:graphicData>
        </a:graphic>
      </p:graphicFrame>
      <p:sp>
        <p:nvSpPr>
          <p:cNvPr id="3" name="TextBox 2">
            <a:extLst>
              <a:ext uri="{FF2B5EF4-FFF2-40B4-BE49-F238E27FC236}">
                <a16:creationId xmlns="" xmlns:a16="http://schemas.microsoft.com/office/drawing/2014/main" id="{4DE6CC1A-C4DC-6FC8-06CD-779939B6893C}"/>
              </a:ext>
            </a:extLst>
          </p:cNvPr>
          <p:cNvSpPr txBox="1"/>
          <p:nvPr/>
        </p:nvSpPr>
        <p:spPr>
          <a:xfrm>
            <a:off x="1394091" y="3368377"/>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 xmlns:a16="http://schemas.microsoft.com/office/drawing/2014/main" id="{8E7616FB-C309-B068-5BA6-2EC84567F23C}"/>
              </a:ext>
            </a:extLst>
          </p:cNvPr>
          <p:cNvGraphicFramePr>
            <a:graphicFrameLocks noGrp="1"/>
          </p:cNvGraphicFramePr>
          <p:nvPr/>
        </p:nvGraphicFramePr>
        <p:xfrm>
          <a:off x="113144" y="3793658"/>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 xmlns:a16="http://schemas.microsoft.com/office/drawing/2014/main" val="4292553957"/>
                    </a:ext>
                  </a:extLst>
                </a:gridCol>
                <a:gridCol w="692815">
                  <a:extLst>
                    <a:ext uri="{9D8B030D-6E8A-4147-A177-3AD203B41FA5}">
                      <a16:colId xmlns="" xmlns:a16="http://schemas.microsoft.com/office/drawing/2014/main" val="4057841190"/>
                    </a:ext>
                  </a:extLst>
                </a:gridCol>
                <a:gridCol w="685117">
                  <a:extLst>
                    <a:ext uri="{9D8B030D-6E8A-4147-A177-3AD203B41FA5}">
                      <a16:colId xmlns="" xmlns:a16="http://schemas.microsoft.com/office/drawing/2014/main" val="4208667331"/>
                    </a:ext>
                  </a:extLst>
                </a:gridCol>
                <a:gridCol w="1046921">
                  <a:extLst>
                    <a:ext uri="{9D8B030D-6E8A-4147-A177-3AD203B41FA5}">
                      <a16:colId xmlns="" xmlns:a16="http://schemas.microsoft.com/office/drawing/2014/main" val="4243809776"/>
                    </a:ext>
                  </a:extLst>
                </a:gridCol>
                <a:gridCol w="2275225">
                  <a:extLst>
                    <a:ext uri="{9D8B030D-6E8A-4147-A177-3AD203B41FA5}">
                      <a16:colId xmlns=""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T12/2025. Do động cơ sửa chữa về muộn.</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950710773"/>
                  </a:ext>
                </a:extLst>
              </a:tr>
            </a:tbl>
          </a:graphicData>
        </a:graphic>
      </p:graphicFrame>
      <p:graphicFrame>
        <p:nvGraphicFramePr>
          <p:cNvPr id="13" name="Table 2">
            <a:extLst>
              <a:ext uri="{FF2B5EF4-FFF2-40B4-BE49-F238E27FC236}">
                <a16:creationId xmlns="" xmlns:a16="http://schemas.microsoft.com/office/drawing/2014/main" id="{12E9DFFC-602F-448B-A136-90CCBFC742F5}"/>
              </a:ext>
            </a:extLst>
          </p:cNvPr>
          <p:cNvGraphicFramePr>
            <a:graphicFrameLocks noGrp="1"/>
          </p:cNvGraphicFramePr>
          <p:nvPr/>
        </p:nvGraphicFramePr>
        <p:xfrm>
          <a:off x="113146" y="1028140"/>
          <a:ext cx="5144652" cy="2283932"/>
        </p:xfrm>
        <a:graphic>
          <a:graphicData uri="http://schemas.openxmlformats.org/drawingml/2006/table">
            <a:tbl>
              <a:tblPr firstRow="1" bandRow="1">
                <a:tableStyleId>{5C22544A-7EE6-4342-B048-85BDC9FD1C3A}</a:tableStyleId>
              </a:tblPr>
              <a:tblGrid>
                <a:gridCol w="420254">
                  <a:extLst>
                    <a:ext uri="{9D8B030D-6E8A-4147-A177-3AD203B41FA5}">
                      <a16:colId xmlns="" xmlns:a16="http://schemas.microsoft.com/office/drawing/2014/main" val="1598605427"/>
                    </a:ext>
                  </a:extLst>
                </a:gridCol>
                <a:gridCol w="728215">
                  <a:extLst>
                    <a:ext uri="{9D8B030D-6E8A-4147-A177-3AD203B41FA5}">
                      <a16:colId xmlns="" xmlns:a16="http://schemas.microsoft.com/office/drawing/2014/main" val="3845954792"/>
                    </a:ext>
                  </a:extLst>
                </a:gridCol>
                <a:gridCol w="643385">
                  <a:extLst>
                    <a:ext uri="{9D8B030D-6E8A-4147-A177-3AD203B41FA5}">
                      <a16:colId xmlns="" xmlns:a16="http://schemas.microsoft.com/office/drawing/2014/main" val="2148822928"/>
                    </a:ext>
                  </a:extLst>
                </a:gridCol>
                <a:gridCol w="1042797">
                  <a:extLst>
                    <a:ext uri="{9D8B030D-6E8A-4147-A177-3AD203B41FA5}">
                      <a16:colId xmlns="" xmlns:a16="http://schemas.microsoft.com/office/drawing/2014/main" val="2136763095"/>
                    </a:ext>
                  </a:extLst>
                </a:gridCol>
                <a:gridCol w="1197778">
                  <a:extLst>
                    <a:ext uri="{9D8B030D-6E8A-4147-A177-3AD203B41FA5}">
                      <a16:colId xmlns="" xmlns:a16="http://schemas.microsoft.com/office/drawing/2014/main" val="1185879436"/>
                    </a:ext>
                  </a:extLst>
                </a:gridCol>
                <a:gridCol w="1112223">
                  <a:extLst>
                    <a:ext uri="{9D8B030D-6E8A-4147-A177-3AD203B41FA5}">
                      <a16:colId xmlns="" xmlns:a16="http://schemas.microsoft.com/office/drawing/2014/main" val="3807119371"/>
                    </a:ext>
                  </a:extLst>
                </a:gridCol>
              </a:tblGrid>
              <a:tr h="418134">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 xmlns:a16="http://schemas.microsoft.com/office/drawing/2014/main" val="1234812354"/>
                  </a:ext>
                </a:extLst>
              </a:tr>
              <a:tr h="420863">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rgbClr val="FF0000"/>
                          </a:solidFill>
                          <a:latin typeface="Times New Roman" panose="02020603050405020304" pitchFamily="18" charset="0"/>
                          <a:ea typeface="+mn-ea"/>
                          <a:cs typeface="Times New Roman" panose="02020603050405020304" pitchFamily="18" charset="0"/>
                        </a:rPr>
                        <a:t>22/09/2025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B221#1</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17893171"/>
                  </a:ext>
                </a:extLst>
              </a:tr>
              <a:tr h="424122">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T12/2025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B223#2</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434517888"/>
                  </a:ext>
                </a:extLst>
              </a:tr>
              <a:tr h="340271">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T11/2025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B220#1</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46132875"/>
                  </a:ext>
                </a:extLst>
              </a:tr>
              <a:tr h="340271">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T10/2025</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B219#2</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80655896"/>
                  </a:ext>
                </a:extLst>
              </a:tr>
              <a:tr h="340271">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Aug/2025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589592887"/>
                  </a:ext>
                </a:extLst>
              </a:tr>
            </a:tbl>
          </a:graphicData>
        </a:graphic>
      </p:graphicFrame>
      <p:graphicFrame>
        <p:nvGraphicFramePr>
          <p:cNvPr id="14" name="Chart 13">
            <a:extLst>
              <a:ext uri="{FF2B5EF4-FFF2-40B4-BE49-F238E27FC236}">
                <a16:creationId xmlns="" xmlns:a16="http://schemas.microsoft.com/office/drawing/2014/main" id="{12EC0F78-C4A2-42EE-A935-C574AFA9F1D2}"/>
              </a:ext>
            </a:extLst>
          </p:cNvPr>
          <p:cNvGraphicFramePr/>
          <p:nvPr/>
        </p:nvGraphicFramePr>
        <p:xfrm>
          <a:off x="5638799" y="3773237"/>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 xmlns:a16="http://schemas.microsoft.com/office/drawing/2014/main" id="{FBF3E88B-260D-4CB0-BF3A-953A10CF3EB4}"/>
              </a:ext>
            </a:extLst>
          </p:cNvPr>
          <p:cNvSpPr txBox="1"/>
          <p:nvPr/>
        </p:nvSpPr>
        <p:spPr>
          <a:xfrm>
            <a:off x="7835598" y="3336844"/>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 xmlns:a16="http://schemas.microsoft.com/office/drawing/2014/main" id="{53283F5F-6E60-4E6E-998E-F7759A36C7D1}"/>
              </a:ext>
            </a:extLst>
          </p:cNvPr>
          <p:cNvSpPr txBox="1"/>
          <p:nvPr/>
        </p:nvSpPr>
        <p:spPr>
          <a:xfrm>
            <a:off x="73885" y="5539374"/>
            <a:ext cx="11772189" cy="118256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spcBef>
                <a:spcPts val="1200"/>
              </a:spcBef>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Đã bàn giao cho K6 thuê khô tàu B225 từ 28/06/2025 – 25/10/2025 và gia hạn cho K6 thuê tàu B220 từ T7/2025 đến T11/2025. </a:t>
            </a:r>
          </a:p>
          <a:p>
            <a:pPr marL="380990" indent="-380990" defTabSz="1219170">
              <a:lnSpc>
                <a:spcPct val="125000"/>
              </a:lnSpc>
              <a:spcBef>
                <a:spcPts val="1200"/>
              </a:spcBef>
              <a:buFont typeface="Arial" panose="020B0604020202020204" pitchFamily="34" charset="0"/>
              <a:buChar char="•"/>
              <a:defRPr/>
            </a:pPr>
            <a:r>
              <a:rPr lang="en-US" sz="1400">
                <a:solidFill>
                  <a:srgbClr val="FF0000"/>
                </a:solidFill>
                <a:latin typeface="Times New Roman" panose="02020603050405020304" pitchFamily="18" charset="0"/>
                <a:cs typeface="Times New Roman" panose="02020603050405020304" pitchFamily="18" charset="0"/>
              </a:rPr>
              <a:t>Hiện tại B221 không có slot thực hiện check trong tháng 9, động cơ ED0238 delay đến khoảng 22/9.</a:t>
            </a:r>
          </a:p>
          <a:p>
            <a:pPr defTabSz="1219170">
              <a:lnSpc>
                <a:spcPct val="125000"/>
              </a:lnSpc>
              <a:spcBef>
                <a:spcPts val="1200"/>
              </a:spcBef>
              <a:defRPr/>
            </a:pPr>
            <a:r>
              <a:rPr lang="en-US" sz="140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 Tàu XU238 (B220) dự kiến dừng từ 5/9 do động cơ hết hạn LLP. Hiện tại đang trao đổi với K6 về P/A hạn chế khai thác chờ động cơ tránh dừng tàu</a:t>
            </a:r>
            <a:endParaRPr lang="en-US" sz="14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743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 xmlns:a16="http://schemas.microsoft.com/office/drawing/2014/main" id="{44E34AA5-0AD7-89EB-D556-85A4E3C161E2}"/>
              </a:ext>
            </a:extLst>
          </p:cNvPr>
          <p:cNvGraphicFramePr>
            <a:graphicFrameLocks noGrp="1"/>
          </p:cNvGraphicFramePr>
          <p:nvPr/>
        </p:nvGraphicFramePr>
        <p:xfrm>
          <a:off x="548320" y="609601"/>
          <a:ext cx="11169547" cy="4221865"/>
        </p:xfrm>
        <a:graphic>
          <a:graphicData uri="http://schemas.openxmlformats.org/drawingml/2006/table">
            <a:tbl>
              <a:tblPr firstRow="1" bandRow="1">
                <a:tableStyleId>{7DF18680-E054-41AD-8BC1-D1AEF772440D}</a:tableStyleId>
              </a:tblPr>
              <a:tblGrid>
                <a:gridCol w="1801539">
                  <a:extLst>
                    <a:ext uri="{9D8B030D-6E8A-4147-A177-3AD203B41FA5}">
                      <a16:colId xmlns="" xmlns:a16="http://schemas.microsoft.com/office/drawing/2014/main" val="1598605427"/>
                    </a:ext>
                  </a:extLst>
                </a:gridCol>
                <a:gridCol w="1692295">
                  <a:extLst>
                    <a:ext uri="{9D8B030D-6E8A-4147-A177-3AD203B41FA5}">
                      <a16:colId xmlns="" xmlns:a16="http://schemas.microsoft.com/office/drawing/2014/main" val="3845954792"/>
                    </a:ext>
                  </a:extLst>
                </a:gridCol>
                <a:gridCol w="3352017">
                  <a:extLst>
                    <a:ext uri="{9D8B030D-6E8A-4147-A177-3AD203B41FA5}">
                      <a16:colId xmlns="" xmlns:a16="http://schemas.microsoft.com/office/drawing/2014/main" val="2148822928"/>
                    </a:ext>
                  </a:extLst>
                </a:gridCol>
                <a:gridCol w="2161848">
                  <a:extLst>
                    <a:ext uri="{9D8B030D-6E8A-4147-A177-3AD203B41FA5}">
                      <a16:colId xmlns="" xmlns:a16="http://schemas.microsoft.com/office/drawing/2014/main" val="1106888684"/>
                    </a:ext>
                  </a:extLst>
                </a:gridCol>
                <a:gridCol w="2161848">
                  <a:extLst>
                    <a:ext uri="{9D8B030D-6E8A-4147-A177-3AD203B41FA5}">
                      <a16:colId xmlns="" xmlns:a16="http://schemas.microsoft.com/office/drawing/2014/main" val="571731565"/>
                    </a:ext>
                  </a:extLst>
                </a:gridCol>
              </a:tblGrid>
              <a:tr h="370325">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 xmlns:a16="http://schemas.microsoft.com/office/drawing/2014/main" val="1234812354"/>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3716492321"/>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31</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A327</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643634888"/>
                  </a:ext>
                </a:extLst>
              </a:tr>
              <a:tr h="350140">
                <a:tc>
                  <a:txBody>
                    <a:bodyPr/>
                    <a:lstStyle/>
                    <a:p>
                      <a:pPr algn="ctr" fontAlgn="ctr">
                        <a:buNone/>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P-4774</a:t>
                      </a:r>
                    </a:p>
                  </a:txBody>
                  <a:tcPr marL="4763" marR="4763" marT="4763"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18-Jul-25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Sep-25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mn-lt"/>
                          <a:cs typeface="Times New Roman" panose="02020603050405020304" pitchFamily="18" charset="0"/>
                        </a:rPr>
                        <a:t>A325</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1941714106"/>
                  </a:ext>
                </a:extLst>
              </a:tr>
              <a:tr h="350140">
                <a:tc>
                  <a:txBody>
                    <a:bodyPr/>
                    <a:lstStyle/>
                    <a:p>
                      <a:pPr algn="ctr" fontAlgn="ctr">
                        <a:buNone/>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P-5117</a:t>
                      </a:r>
                    </a:p>
                  </a:txBody>
                  <a:tcPr marL="4763" marR="4763" marT="4763"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28-Jul-25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Sep-25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A511</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661329750"/>
                  </a:ext>
                </a:extLst>
              </a:tr>
              <a:tr h="350140">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P-4752</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vi-VN"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rgbClr val="FF0000"/>
                          </a:solidFill>
                          <a:effectLst/>
                          <a:latin typeface="Times New Roman" panose="02020603050405020304" pitchFamily="18" charset="0"/>
                          <a:cs typeface="Times New Roman" panose="02020603050405020304" pitchFamily="18" charset="0"/>
                        </a:rPr>
                        <a:t>TBD</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rgbClr val="FF0000"/>
                          </a:solidFill>
                          <a:effectLst/>
                          <a:latin typeface="Times New Roman" panose="02020603050405020304" pitchFamily="18" charset="0"/>
                          <a:cs typeface="Times New Roman" panose="02020603050405020304" pitchFamily="18" charset="0"/>
                        </a:rPr>
                        <a:t>TBD</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2190498433"/>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17-Aug-25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A617</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1694765632"/>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P-6347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16</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A616</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2459025434"/>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P-4887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11-Jul-25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13</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A625</a:t>
                      </a:r>
                    </a:p>
                  </a:txBody>
                  <a:tcPr marL="12700" marR="12700" marT="12700" marB="0" anchor="ctr">
                    <a:solidFill>
                      <a:schemeClr val="accent1">
                        <a:lumMod val="20000"/>
                        <a:lumOff val="80000"/>
                      </a:schemeClr>
                    </a:solidFill>
                  </a:tcPr>
                </a:tc>
                <a:extLst>
                  <a:ext uri="{0D108BD9-81ED-4DB2-BD59-A6C34878D82A}">
                    <a16:rowId xmlns="" xmlns:a16="http://schemas.microsoft.com/office/drawing/2014/main" val="702039005"/>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Z925603</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23-Jun-25</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23-Sep-25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A862</a:t>
                      </a:r>
                    </a:p>
                  </a:txBody>
                  <a:tcPr marL="12700" marR="12700" marT="12700" marB="0" anchor="ctr">
                    <a:solidFill>
                      <a:schemeClr val="accent6">
                        <a:lumMod val="20000"/>
                        <a:lumOff val="80000"/>
                      </a:schemeClr>
                    </a:solidFill>
                  </a:tcPr>
                </a:tc>
                <a:extLst>
                  <a:ext uri="{0D108BD9-81ED-4DB2-BD59-A6C34878D82A}">
                    <a16:rowId xmlns="" xmlns:a16="http://schemas.microsoft.com/office/drawing/2014/main" val="2901684868"/>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11</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t>
                      </a:r>
                      <a:r>
                        <a:rPr lang="vi-VN" sz="1500" b="0" i="0" u="none" strike="noStrike" dirty="0">
                          <a:solidFill>
                            <a:schemeClr val="tx1"/>
                          </a:solidFill>
                          <a:effectLst/>
                          <a:latin typeface="Times New Roman" panose="02020603050405020304" pitchFamily="18" charset="0"/>
                          <a:cs typeface="Times New Roman" panose="02020603050405020304" pitchFamily="18" charset="0"/>
                        </a:rPr>
                        <a:t>Aug</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A898</a:t>
                      </a:r>
                    </a:p>
                  </a:txBody>
                  <a:tcPr marL="12700" marR="12700" marT="12700" marB="0" anchor="ctr">
                    <a:solidFill>
                      <a:schemeClr val="accent2">
                        <a:lumMod val="40000"/>
                        <a:lumOff val="60000"/>
                      </a:schemeClr>
                    </a:solidFill>
                  </a:tcPr>
                </a:tc>
                <a:extLst>
                  <a:ext uri="{0D108BD9-81ED-4DB2-BD59-A6C34878D82A}">
                    <a16:rowId xmlns="" xmlns:a16="http://schemas.microsoft.com/office/drawing/2014/main" val="2040546296"/>
                  </a:ext>
                </a:extLst>
              </a:tr>
              <a:tr h="3501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P-00116</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6-Aug-25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12-Oct-25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 xmlns:a16="http://schemas.microsoft.com/office/drawing/2014/main" val="2454625916"/>
                  </a:ext>
                </a:extLst>
              </a:tr>
            </a:tbl>
          </a:graphicData>
        </a:graphic>
      </p:graphicFrame>
      <p:sp>
        <p:nvSpPr>
          <p:cNvPr id="3" name="TextBox 2">
            <a:extLst>
              <a:ext uri="{FF2B5EF4-FFF2-40B4-BE49-F238E27FC236}">
                <a16:creationId xmlns="" xmlns:a16="http://schemas.microsoft.com/office/drawing/2014/main" id="{683815DC-3726-60C6-9F9A-C1A095C6A727}"/>
              </a:ext>
            </a:extLst>
          </p:cNvPr>
          <p:cNvSpPr txBox="1"/>
          <p:nvPr/>
        </p:nvSpPr>
        <p:spPr>
          <a:xfrm>
            <a:off x="531387" y="5245394"/>
            <a:ext cx="11567481" cy="120032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Hiện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QLVT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thuê</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01 APU spare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điểm</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hè</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335528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04</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08</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/2025 – </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/08/2025:</a:t>
            </a:r>
          </a:p>
          <a:p>
            <a:pPr marL="380990" lvl="0" indent="-380990" defTabSz="1219170">
              <a:buFont typeface="Times New Roman" panose="02020603050405020304" pitchFamily="18" charset="0"/>
              <a:buChar char="⁃"/>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cs typeface="Times New Roman" panose="02020603050405020304" pitchFamily="18" charset="0"/>
              </a:rPr>
              <a:t>A507 (APU Gen), A611, A612, A616 (APU Gen).</a:t>
            </a:r>
            <a:endParaRPr lang="vi-VN" sz="1600" dirty="0">
              <a:solidFill>
                <a:prstClr val="black"/>
              </a:solidFill>
              <a:latin typeface="Times New Roman" panose="02020603050405020304" pitchFamily="18" charset="0"/>
              <a:cs typeface="Times New Roman" panose="02020603050405020304" pitchFamily="18" charset="0"/>
            </a:endParaRPr>
          </a:p>
          <a:p>
            <a:pPr marL="380990" lvl="0" indent="-380990" defTabSz="1219170">
              <a:buFont typeface="Times New Roman" panose="02020603050405020304" pitchFamily="18" charset="0"/>
              <a:buChar char="⁃"/>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NIL.</a:t>
            </a: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APU c</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vi-VN" sz="1600" dirty="0">
                <a:solidFill>
                  <a:prstClr val="black"/>
                </a:solidFill>
                <a:latin typeface="Times New Roman" panose="02020603050405020304" pitchFamily="18" charset="0"/>
                <a:cs typeface="Times New Roman" panose="02020603050405020304" pitchFamily="18" charset="0"/>
              </a:rPr>
              <a:t>A507, A611, A612, A616.</a:t>
            </a:r>
            <a:endParaRPr lang="en-US" sz="1600" dirty="0">
              <a:solidFill>
                <a:prstClr val="black"/>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 xmlns:a16="http://schemas.microsoft.com/office/drawing/2014/main" id="{6684DBD8-A2D2-50A1-B1FB-698DABA16090}"/>
              </a:ext>
            </a:extLst>
          </p:cNvPr>
          <p:cNvGraphicFramePr>
            <a:graphicFrameLocks noGrp="1"/>
          </p:cNvGraphicFramePr>
          <p:nvPr/>
        </p:nvGraphicFramePr>
        <p:xfrm>
          <a:off x="152400" y="1787549"/>
          <a:ext cx="11963401" cy="3972793"/>
        </p:xfrm>
        <a:graphic>
          <a:graphicData uri="http://schemas.openxmlformats.org/drawingml/2006/table">
            <a:tbl>
              <a:tblPr firstRow="1" firstCol="1" bandRow="1">
                <a:tableStyleId>{5C22544A-7EE6-4342-B048-85BDC9FD1C3A}</a:tableStyleId>
              </a:tblPr>
              <a:tblGrid>
                <a:gridCol w="762000">
                  <a:extLst>
                    <a:ext uri="{9D8B030D-6E8A-4147-A177-3AD203B41FA5}">
                      <a16:colId xmlns="" xmlns:a16="http://schemas.microsoft.com/office/drawing/2014/main" val="1827702162"/>
                    </a:ext>
                  </a:extLst>
                </a:gridCol>
                <a:gridCol w="2590800">
                  <a:extLst>
                    <a:ext uri="{9D8B030D-6E8A-4147-A177-3AD203B41FA5}">
                      <a16:colId xmlns="" xmlns:a16="http://schemas.microsoft.com/office/drawing/2014/main" val="2395768341"/>
                    </a:ext>
                  </a:extLst>
                </a:gridCol>
                <a:gridCol w="2920810">
                  <a:extLst>
                    <a:ext uri="{9D8B030D-6E8A-4147-A177-3AD203B41FA5}">
                      <a16:colId xmlns="" xmlns:a16="http://schemas.microsoft.com/office/drawing/2014/main" val="4155011410"/>
                    </a:ext>
                  </a:extLst>
                </a:gridCol>
                <a:gridCol w="5689791">
                  <a:extLst>
                    <a:ext uri="{9D8B030D-6E8A-4147-A177-3AD203B41FA5}">
                      <a16:colId xmlns="" xmlns:a16="http://schemas.microsoft.com/office/drawing/2014/main" val="1412321077"/>
                    </a:ext>
                  </a:extLst>
                </a:gridCol>
              </a:tblGrid>
              <a:tr h="187010">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435328572"/>
                  </a:ext>
                </a:extLst>
              </a:tr>
              <a:tr h="8794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A507</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APU GEN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b="0" kern="1200" dirty="0">
                          <a:solidFill>
                            <a:schemeClr val="tx1"/>
                          </a:solidFill>
                          <a:effectLst/>
                          <a:latin typeface="Times New Roman" panose="02020603050405020304" pitchFamily="18" charset="0"/>
                          <a:ea typeface="+mn-ea"/>
                          <a:cs typeface="Times New Roman" panose="02020603050405020304" pitchFamily="18" charset="0"/>
                        </a:rPr>
                        <a:t>Req D/time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dụng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01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736034225"/>
                  </a:ext>
                </a:extLst>
              </a:tr>
              <a:tr h="9549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A611</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APU BLEED AIR SUPPLY SYS INOP DUE TO BAD SMELL WHEN USING</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b="0" kern="1200" dirty="0">
                          <a:solidFill>
                            <a:schemeClr val="tx1"/>
                          </a:solidFill>
                          <a:effectLst/>
                          <a:latin typeface="Times New Roman" panose="02020603050405020304" pitchFamily="18" charset="0"/>
                          <a:ea typeface="+mn-ea"/>
                          <a:cs typeface="Times New Roman" panose="02020603050405020304" pitchFamily="18" charset="0"/>
                        </a:rPr>
                        <a:t>TS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SGN 10/8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43979903"/>
                  </a:ext>
                </a:extLst>
              </a:tr>
              <a:tr h="9549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A612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APU BLEED CONSIDERED INOP DUE TO BAD SMELL </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b="0" kern="1200" dirty="0">
                          <a:solidFill>
                            <a:schemeClr val="tx1"/>
                          </a:solidFill>
                          <a:effectLst/>
                          <a:latin typeface="Times New Roman" panose="02020603050405020304" pitchFamily="18" charset="0"/>
                          <a:ea typeface="+mn-ea"/>
                          <a:cs typeface="Times New Roman" panose="02020603050405020304" pitchFamily="18" charset="0"/>
                        </a:rPr>
                        <a:t>RQ downtime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089144268"/>
                  </a:ext>
                </a:extLst>
              </a:tr>
              <a:tr h="9549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A616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APU AUTO SHUTDOWN (DUE TO APU GEN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FAULT)</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b="0" kern="1200" dirty="0">
                          <a:solidFill>
                            <a:schemeClr val="tx1"/>
                          </a:solidFill>
                          <a:effectLst/>
                          <a:latin typeface="Times New Roman" panose="02020603050405020304" pitchFamily="18" charset="0"/>
                          <a:ea typeface="+mn-ea"/>
                          <a:cs typeface="Times New Roman" panose="02020603050405020304" pitchFamily="18" charset="0"/>
                        </a:rPr>
                        <a:t>TS HAN 10/8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phase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chk</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079936109"/>
                  </a:ext>
                </a:extLst>
              </a:tr>
            </a:tbl>
          </a:graphicData>
        </a:graphic>
      </p:graphicFrame>
      <p:sp>
        <p:nvSpPr>
          <p:cNvPr id="5" name="TextBox 4">
            <a:extLst>
              <a:ext uri="{FF2B5EF4-FFF2-40B4-BE49-F238E27FC236}">
                <a16:creationId xmlns=""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86151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33</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 xmlns:a16="http://schemas.microsoft.com/office/drawing/2014/main" id="{637BC1EA-95C9-6D4F-9E46-CF744FAC7800}"/>
              </a:ext>
            </a:extLst>
          </p:cNvPr>
          <p:cNvSpPr txBox="1">
            <a:spLocks/>
          </p:cNvSpPr>
          <p:nvPr/>
        </p:nvSpPr>
        <p:spPr>
          <a:xfrm>
            <a:off x="781051" y="740535"/>
            <a:ext cx="11068012" cy="703186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300" b="1" dirty="0">
                <a:cs typeface="Times New Roman" panose="02020603050405020304" pitchFamily="18" charset="0"/>
              </a:rPr>
              <a:t>I. A321: </a:t>
            </a:r>
          </a:p>
          <a:p>
            <a:pPr marL="12700" indent="0" algn="just">
              <a:lnSpc>
                <a:spcPct val="150000"/>
              </a:lnSpc>
              <a:spcBef>
                <a:spcPts val="0"/>
              </a:spcBef>
              <a:buSzPts val="1100"/>
              <a:buNone/>
            </a:pPr>
            <a:r>
              <a:rPr lang="es-ES" sz="1300" b="1" dirty="0">
                <a:solidFill>
                  <a:srgbClr val="FF0000"/>
                </a:solidFill>
                <a:cs typeface="Times New Roman" panose="02020603050405020304" pitchFamily="18" charset="0"/>
                <a:sym typeface="Wingdings" panose="05000000000000000000" pitchFamily="2" charset="2"/>
              </a:rPr>
              <a:t> 1</a:t>
            </a:r>
            <a:r>
              <a:rPr lang="es-ES" sz="1300" b="1">
                <a:solidFill>
                  <a:srgbClr val="FF0000"/>
                </a:solidFill>
                <a:cs typeface="Times New Roman" panose="02020603050405020304" pitchFamily="18" charset="0"/>
                <a:sym typeface="Wingdings" panose="05000000000000000000" pitchFamily="2" charset="2"/>
              </a:rPr>
              <a:t>. </a:t>
            </a:r>
            <a:r>
              <a:rPr lang="es-ES" sz="1300" b="1" smtClean="0">
                <a:solidFill>
                  <a:srgbClr val="FF0000"/>
                </a:solidFill>
                <a:cs typeface="Times New Roman" panose="02020603050405020304" pitchFamily="18" charset="0"/>
                <a:sym typeface="Wingdings" panose="05000000000000000000" pitchFamily="2" charset="2"/>
              </a:rPr>
              <a:t>A323_SGN_C01+Y01+EA02_01-08/08</a:t>
            </a:r>
            <a:r>
              <a:rPr lang="es-ES" sz="1300" b="1" dirty="0">
                <a:solidFill>
                  <a:srgbClr val="FF0000"/>
                </a:solidFill>
                <a:cs typeface="Times New Roman" panose="02020603050405020304" pitchFamily="18" charset="0"/>
                <a:sym typeface="Wingdings" panose="05000000000000000000" pitchFamily="2" charset="2"/>
              </a:rPr>
              <a:t>: </a:t>
            </a:r>
            <a:r>
              <a:rPr lang="es-ES" sz="1300" b="1" dirty="0" err="1">
                <a:solidFill>
                  <a:srgbClr val="FF0000"/>
                </a:solidFill>
                <a:cs typeface="Times New Roman" panose="02020603050405020304" pitchFamily="18" charset="0"/>
                <a:sym typeface="Wingdings" panose="05000000000000000000" pitchFamily="2" charset="2"/>
              </a:rPr>
              <a:t>On</a:t>
            </a:r>
            <a:r>
              <a:rPr lang="es-ES" sz="1300" b="1" dirty="0">
                <a:solidFill>
                  <a:srgbClr val="FF0000"/>
                </a:solidFill>
                <a:cs typeface="Times New Roman" panose="02020603050405020304" pitchFamily="18" charset="0"/>
                <a:sym typeface="Wingdings" panose="05000000000000000000" pitchFamily="2" charset="2"/>
              </a:rPr>
              <a:t> </a:t>
            </a:r>
            <a:r>
              <a:rPr lang="es-ES" sz="1300" b="1" dirty="0" err="1">
                <a:solidFill>
                  <a:srgbClr val="FF0000"/>
                </a:solidFill>
                <a:cs typeface="Times New Roman" panose="02020603050405020304" pitchFamily="18" charset="0"/>
                <a:sym typeface="Wingdings" panose="05000000000000000000" pitchFamily="2" charset="2"/>
              </a:rPr>
              <a:t>sked</a:t>
            </a:r>
            <a:endParaRPr lang="en-US" sz="1300" b="1" dirty="0">
              <a:solidFill>
                <a:srgbClr val="FF0000"/>
              </a:solidFill>
              <a:cs typeface="Times New Roman" panose="02020603050405020304" pitchFamily="18" charset="0"/>
              <a:sym typeface="Wingdings" panose="05000000000000000000" pitchFamily="2" charset="2"/>
            </a:endParaRPr>
          </a:p>
          <a:p>
            <a:pPr marL="12700" indent="0">
              <a:lnSpc>
                <a:spcPct val="120000"/>
              </a:lnSpc>
              <a:buSzPts val="1100"/>
              <a:buNone/>
            </a:pPr>
            <a:r>
              <a:rPr lang="en-US" sz="1300" b="1">
                <a:cs typeface="Times New Roman" panose="02020603050405020304" pitchFamily="18" charset="0"/>
              </a:rPr>
              <a:t>II</a:t>
            </a:r>
            <a:r>
              <a:rPr lang="en-US" sz="1300" b="1" dirty="0">
                <a:cs typeface="Times New Roman" panose="02020603050405020304" pitchFamily="18" charset="0"/>
              </a:rPr>
              <a:t>. A350:</a:t>
            </a:r>
            <a:r>
              <a:rPr lang="es-ES" sz="1300" i="1" dirty="0">
                <a:cs typeface="Times New Roman" panose="02020603050405020304" pitchFamily="18" charset="0"/>
                <a:sym typeface="Wingdings" panose="05000000000000000000" pitchFamily="2" charset="2"/>
              </a:rPr>
              <a:t> </a:t>
            </a:r>
          </a:p>
          <a:p>
            <a:pPr marL="12700" indent="0" algn="just">
              <a:lnSpc>
                <a:spcPct val="150000"/>
              </a:lnSpc>
              <a:buSzPts val="1100"/>
              <a:buNone/>
            </a:pPr>
            <a:r>
              <a:rPr lang="es-ES" sz="1400" b="1" dirty="0">
                <a:solidFill>
                  <a:srgbClr val="FF0000"/>
                </a:solidFill>
                <a:cs typeface="Times New Roman" panose="02020603050405020304" pitchFamily="18" charset="0"/>
                <a:sym typeface="Wingdings" panose="05000000000000000000" pitchFamily="2" charset="2"/>
              </a:rPr>
              <a:t> 1. </a:t>
            </a:r>
            <a:r>
              <a:rPr lang="pt-BR" sz="1400" b="1" dirty="0">
                <a:solidFill>
                  <a:srgbClr val="FF0000"/>
                </a:solidFill>
                <a:cs typeface="Times New Roman" panose="02020603050405020304" pitchFamily="18" charset="0"/>
                <a:sym typeface="Wingdings" panose="05000000000000000000" pitchFamily="2" charset="2"/>
              </a:rPr>
              <a:t>A893_HAN_ A09+C01+C02+C04_01-09/08: On sked</a:t>
            </a:r>
          </a:p>
          <a:p>
            <a:pPr marL="12700" indent="0" algn="just">
              <a:lnSpc>
                <a:spcPct val="150000"/>
              </a:lnSpc>
              <a:buSzPts val="1100"/>
              <a:buNone/>
            </a:pPr>
            <a:endParaRPr lang="fr-FR"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s-ES" sz="1300" b="1" dirty="0">
                <a:solidFill>
                  <a:srgbClr val="FF0000"/>
                </a:solidFill>
                <a:cs typeface="Times New Roman" panose="02020603050405020304" pitchFamily="18" charset="0"/>
                <a:sym typeface="Wingdings" panose="05000000000000000000" pitchFamily="2" charset="2"/>
              </a:rPr>
              <a:t> 2. </a:t>
            </a:r>
            <a:r>
              <a:rPr lang="en-US" sz="1300" b="1" dirty="0">
                <a:solidFill>
                  <a:srgbClr val="FF0000"/>
                </a:solidFill>
                <a:cs typeface="Times New Roman" panose="02020603050405020304" pitchFamily="18" charset="0"/>
                <a:sym typeface="Wingdings" panose="05000000000000000000" pitchFamily="2" charset="2"/>
              </a:rPr>
              <a:t>A895_HAN_ENG1CHG+ENG2CHG+A04-A08+C01+C02+C04+RTS_27/07-15/09: On sked</a:t>
            </a:r>
          </a:p>
          <a:p>
            <a:pPr marL="12700" indent="0" algn="just">
              <a:lnSpc>
                <a:spcPct val="100000"/>
              </a:lnSpc>
              <a:spcBef>
                <a:spcPts val="600"/>
              </a:spcBef>
              <a:buSzPts val="1100"/>
              <a:buNone/>
            </a:pPr>
            <a:r>
              <a:rPr lang="en-US" sz="1300" b="1" dirty="0">
                <a:solidFill>
                  <a:srgbClr val="FF0000"/>
                </a:solidFill>
                <a:cs typeface="Times New Roman" panose="02020603050405020304" pitchFamily="18" charset="0"/>
                <a:sym typeface="Wingdings" panose="05000000000000000000" pitchFamily="2" charset="2"/>
              </a:rPr>
              <a:t>    </a:t>
            </a:r>
            <a:r>
              <a:rPr lang="en-US" sz="1300" dirty="0">
                <a:cs typeface="Times New Roman" panose="02020603050405020304" pitchFamily="18" charset="0"/>
                <a:sym typeface="Wingdings" panose="05000000000000000000" pitchFamily="2" charset="2"/>
              </a:rPr>
              <a:t>- ENG#1 Est Avail 28/8, </a:t>
            </a:r>
            <a:r>
              <a:rPr lang="en-US" sz="1300" dirty="0" err="1">
                <a:cs typeface="Times New Roman" panose="02020603050405020304" pitchFamily="18" charset="0"/>
                <a:sym typeface="Wingdings" panose="05000000000000000000" pitchFamily="2" charset="2"/>
              </a:rPr>
              <a:t>cần</a:t>
            </a:r>
            <a:r>
              <a:rPr lang="en-US" sz="1300" dirty="0">
                <a:cs typeface="Times New Roman" panose="02020603050405020304" pitchFamily="18" charset="0"/>
                <a:sym typeface="Wingdings" panose="05000000000000000000" pitchFamily="2" charset="2"/>
              </a:rPr>
              <a:t> build </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ENG #2 Est 10/9, </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&gt; ENG </a:t>
            </a:r>
            <a:r>
              <a:rPr lang="en-US" sz="1300" dirty="0" err="1">
                <a:cs typeface="Times New Roman" panose="02020603050405020304" pitchFamily="18" charset="0"/>
                <a:sym typeface="Wingdings" panose="05000000000000000000" pitchFamily="2" charset="2"/>
              </a:rPr>
              <a:t>thư</a:t>
            </a:r>
            <a:r>
              <a:rPr lang="en-US" sz="1300" dirty="0">
                <a:cs typeface="Times New Roman" panose="02020603050405020304" pitchFamily="18" charset="0"/>
                <a:sym typeface="Wingdings" panose="05000000000000000000" pitchFamily="2" charset="2"/>
              </a:rPr>
              <a:t>́ 2 </a:t>
            </a:r>
            <a:r>
              <a:rPr lang="en-US" sz="1300" dirty="0" err="1">
                <a:cs typeface="Times New Roman" panose="02020603050405020304" pitchFamily="18" charset="0"/>
                <a:sym typeface="Wingdings" panose="05000000000000000000" pitchFamily="2" charset="2"/>
              </a:rPr>
              <a:t>vê</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lệch</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nhiều</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ngày</a:t>
            </a:r>
            <a:r>
              <a:rPr lang="en-US" sz="1300" dirty="0">
                <a:cs typeface="Times New Roman" panose="02020603050405020304" pitchFamily="18" charset="0"/>
                <a:sym typeface="Wingdings" panose="05000000000000000000" pitchFamily="2" charset="2"/>
              </a:rPr>
              <a:t> so </a:t>
            </a:r>
            <a:r>
              <a:rPr lang="en-US" sz="1300" dirty="0" err="1">
                <a:cs typeface="Times New Roman" panose="02020603050405020304" pitchFamily="18" charset="0"/>
                <a:sym typeface="Wingdings" panose="05000000000000000000" pitchFamily="2" charset="2"/>
              </a:rPr>
              <a:t>với</a:t>
            </a:r>
            <a:r>
              <a:rPr lang="en-US" sz="1300" dirty="0">
                <a:cs typeface="Times New Roman" panose="02020603050405020304" pitchFamily="18" charset="0"/>
                <a:sym typeface="Wingdings" panose="05000000000000000000" pitchFamily="2" charset="2"/>
              </a:rPr>
              <a:t> ENG 1= &gt; Sẽ </a:t>
            </a:r>
            <a:r>
              <a:rPr lang="en-US" sz="1300" dirty="0" err="1">
                <a:cs typeface="Times New Roman" panose="02020603050405020304" pitchFamily="18" charset="0"/>
                <a:sym typeface="Wingdings" panose="05000000000000000000" pitchFamily="2" charset="2"/>
              </a:rPr>
              <a:t>triển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khai</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lắp</a:t>
            </a:r>
            <a:r>
              <a:rPr lang="en-US" sz="1300" dirty="0">
                <a:cs typeface="Times New Roman" panose="02020603050405020304" pitchFamily="18" charset="0"/>
                <a:sym typeface="Wingdings" panose="05000000000000000000" pitchFamily="2" charset="2"/>
              </a:rPr>
              <a:t> U/S ENG </a:t>
            </a:r>
            <a:r>
              <a:rPr lang="en-US" sz="1300" dirty="0" err="1">
                <a:cs typeface="Times New Roman" panose="02020603050405020304" pitchFamily="18" charset="0"/>
                <a:sym typeface="Wingdings" panose="05000000000000000000" pitchFamily="2" charset="2"/>
              </a:rPr>
              <a:t>lên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đê</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thực</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hiện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các</a:t>
            </a:r>
            <a:r>
              <a:rPr lang="en-US" sz="1300" dirty="0">
                <a:cs typeface="Times New Roman" panose="02020603050405020304" pitchFamily="18" charset="0"/>
                <a:sym typeface="Wingdings" panose="05000000000000000000" pitchFamily="2" charset="2"/>
              </a:rPr>
              <a:t> Task </a:t>
            </a:r>
            <a:r>
              <a:rPr lang="en-US" sz="1300" dirty="0" err="1">
                <a:cs typeface="Times New Roman" panose="02020603050405020304" pitchFamily="18" charset="0"/>
                <a:sym typeface="Wingdings" panose="05000000000000000000" pitchFamily="2" charset="2"/>
              </a:rPr>
              <a:t>cân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tàu</a:t>
            </a:r>
            <a:r>
              <a:rPr lang="en-US" sz="1300" dirty="0">
                <a:cs typeface="Times New Roman" panose="02020603050405020304" pitchFamily="18" charset="0"/>
                <a:sym typeface="Wingdings" panose="05000000000000000000" pitchFamily="2" charset="2"/>
              </a:rPr>
              <a:t>, Jacking, Test TM </a:t>
            </a:r>
            <a:r>
              <a:rPr lang="en-US" sz="1300" dirty="0" err="1">
                <a:cs typeface="Times New Roman" panose="02020603050405020304" pitchFamily="18" charset="0"/>
                <a:sym typeface="Wingdings" panose="05000000000000000000" pitchFamily="2" charset="2"/>
              </a:rPr>
              <a:t>theo</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yêu</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cầu</a:t>
            </a:r>
            <a:r>
              <a:rPr lang="en-US" sz="1300" dirty="0">
                <a:cs typeface="Times New Roman" panose="02020603050405020304" pitchFamily="18" charset="0"/>
                <a:sym typeface="Wingdings" panose="05000000000000000000" pitchFamily="2" charset="2"/>
              </a:rPr>
              <a:t> Airbus. Sẽ </a:t>
            </a:r>
            <a:r>
              <a:rPr lang="en-US" sz="1300" dirty="0" err="1">
                <a:cs typeface="Times New Roman" panose="02020603050405020304" pitchFamily="18" charset="0"/>
                <a:sym typeface="Wingdings" panose="05000000000000000000" pitchFamily="2" charset="2"/>
              </a:rPr>
              <a:t>giảm</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được</a:t>
            </a:r>
            <a:r>
              <a:rPr lang="en-US" sz="1300" dirty="0">
                <a:cs typeface="Times New Roman" panose="02020603050405020304" pitchFamily="18" charset="0"/>
                <a:sym typeface="Wingdings" panose="05000000000000000000" pitchFamily="2" charset="2"/>
              </a:rPr>
              <a:t> TAT </a:t>
            </a:r>
            <a:r>
              <a:rPr lang="en-US" sz="1300" dirty="0" err="1">
                <a:cs typeface="Times New Roman" panose="02020603050405020304" pitchFamily="18" charset="0"/>
                <a:sym typeface="Wingdings" panose="05000000000000000000" pitchFamily="2" charset="2"/>
              </a:rPr>
              <a:t>khoảng</a:t>
            </a:r>
            <a:r>
              <a:rPr lang="en-US" sz="1300" dirty="0">
                <a:cs typeface="Times New Roman" panose="02020603050405020304" pitchFamily="18" charset="0"/>
                <a:sym typeface="Wingdings" panose="05000000000000000000" pitchFamily="2" charset="2"/>
              </a:rPr>
              <a:t> 7 </a:t>
            </a:r>
            <a:r>
              <a:rPr lang="en-US" sz="1300" dirty="0" err="1">
                <a:cs typeface="Times New Roman" panose="02020603050405020304" pitchFamily="18" charset="0"/>
                <a:sym typeface="Wingdings" panose="05000000000000000000" pitchFamily="2" charset="2"/>
              </a:rPr>
              <a:t>ngày</a:t>
            </a:r>
            <a:r>
              <a:rPr lang="en-US" sz="1300" dirty="0">
                <a:cs typeface="Times New Roman" panose="02020603050405020304" pitchFamily="18" charset="0"/>
                <a:sym typeface="Wingdings" panose="05000000000000000000" pitchFamily="2" charset="2"/>
              </a:rPr>
              <a:t> so </a:t>
            </a:r>
            <a:r>
              <a:rPr lang="en-US" sz="1300" dirty="0" err="1">
                <a:cs typeface="Times New Roman" panose="02020603050405020304" pitchFamily="18" charset="0"/>
                <a:sym typeface="Wingdings" panose="05000000000000000000" pitchFamily="2" charset="2"/>
              </a:rPr>
              <a:t>với</a:t>
            </a:r>
            <a:r>
              <a:rPr lang="en-US" sz="1300" dirty="0">
                <a:cs typeface="Times New Roman" panose="02020603050405020304" pitchFamily="18" charset="0"/>
                <a:sym typeface="Wingdings" panose="05000000000000000000" pitchFamily="2" charset="2"/>
              </a:rPr>
              <a:t> KH.</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&gt; Đ/n Ban QLVT, CƯVT </a:t>
            </a:r>
            <a:r>
              <a:rPr lang="en-US" sz="1300" dirty="0" err="1">
                <a:cs typeface="Times New Roman" panose="02020603050405020304" pitchFamily="18" charset="0"/>
                <a:sym typeface="Wingdings" panose="05000000000000000000" pitchFamily="2" charset="2"/>
              </a:rPr>
              <a:t>cung</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ứng</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vật</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tư</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đảm</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bảo</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tàu</a:t>
            </a:r>
            <a:r>
              <a:rPr lang="en-US" sz="1300" dirty="0">
                <a:cs typeface="Times New Roman" panose="02020603050405020304" pitchFamily="18" charset="0"/>
                <a:sym typeface="Wingdings" panose="05000000000000000000" pitchFamily="2" charset="2"/>
              </a:rPr>
              <a:t> có </a:t>
            </a:r>
            <a:r>
              <a:rPr lang="en-US" sz="1300" dirty="0" err="1">
                <a:cs typeface="Times New Roman" panose="02020603050405020304" pitchFamily="18" charset="0"/>
                <a:sym typeface="Wingdings" panose="05000000000000000000" pitchFamily="2" charset="2"/>
              </a:rPr>
              <a:t>thê</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ra</a:t>
            </a:r>
            <a:r>
              <a:rPr lang="en-US" sz="1300" dirty="0">
                <a:cs typeface="Times New Roman" panose="02020603050405020304" pitchFamily="18" charset="0"/>
                <a:sym typeface="Wingdings" panose="05000000000000000000" pitchFamily="2" charset="2"/>
              </a:rPr>
              <a:t> check </a:t>
            </a:r>
            <a:r>
              <a:rPr lang="en-US" sz="1300" dirty="0" err="1">
                <a:cs typeface="Times New Roman" panose="02020603050405020304" pitchFamily="18" charset="0"/>
                <a:sym typeface="Wingdings" panose="05000000000000000000" pitchFamily="2" charset="2"/>
              </a:rPr>
              <a:t>theo</a:t>
            </a:r>
            <a:r>
              <a:rPr lang="en-US" sz="1300" dirty="0">
                <a:cs typeface="Times New Roman" panose="02020603050405020304" pitchFamily="18" charset="0"/>
                <a:sym typeface="Wingdings" panose="05000000000000000000" pitchFamily="2" charset="2"/>
              </a:rPr>
              <a:t> KH </a:t>
            </a:r>
            <a:r>
              <a:rPr lang="en-US" sz="1300" dirty="0" err="1">
                <a:cs typeface="Times New Roman" panose="02020603050405020304" pitchFamily="18" charset="0"/>
                <a:sym typeface="Wingdings" panose="05000000000000000000" pitchFamily="2" charset="2"/>
              </a:rPr>
              <a:t>vào</a:t>
            </a:r>
            <a:r>
              <a:rPr lang="en-US" sz="1300" dirty="0">
                <a:cs typeface="Times New Roman" panose="02020603050405020304" pitchFamily="18" charset="0"/>
                <a:sym typeface="Wingdings" panose="05000000000000000000" pitchFamily="2" charset="2"/>
              </a:rPr>
              <a:t> 15/9.</a:t>
            </a:r>
          </a:p>
          <a:p>
            <a:pPr marL="12700" indent="0" algn="just">
              <a:lnSpc>
                <a:spcPct val="100000"/>
              </a:lnSpc>
              <a:spcBef>
                <a:spcPts val="600"/>
              </a:spcBef>
              <a:buSzPts val="1100"/>
              <a:buNone/>
            </a:pP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s-ES" sz="1300" b="1" dirty="0">
                <a:cs typeface="Times New Roman" panose="02020603050405020304" pitchFamily="18" charset="0"/>
                <a:sym typeface="Wingdings" panose="05000000000000000000" pitchFamily="2" charset="2"/>
              </a:rPr>
              <a:t>III. B787:</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300" b="1" dirty="0">
                <a:solidFill>
                  <a:srgbClr val="FF0000"/>
                </a:solidFill>
                <a:sym typeface="Wingdings" panose="05000000000000000000" pitchFamily="2" charset="2"/>
              </a:rPr>
              <a:t>Nil</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endParaRPr lang="en-US" sz="1500" dirty="0">
              <a:cs typeface="Times New Roman" panose="02020603050405020304" pitchFamily="18" charset="0"/>
              <a:sym typeface="Wingdings" panose="05000000000000000000" pitchFamily="2" charset="2"/>
            </a:endParaRPr>
          </a:p>
          <a:p>
            <a:pPr marL="12700" indent="0">
              <a:lnSpc>
                <a:spcPct val="120000"/>
              </a:lnSpc>
              <a:buSzPts val="1100"/>
              <a:buNone/>
            </a:pPr>
            <a:r>
              <a:rPr lang="es-ES" sz="1300" b="1" dirty="0">
                <a:sym typeface="Wingdings" panose="05000000000000000000" pitchFamily="2" charset="2"/>
              </a:rPr>
              <a:t>IV. ATR72:</a:t>
            </a:r>
          </a:p>
          <a:p>
            <a:pPr marL="12700" indent="0">
              <a:lnSpc>
                <a:spcPct val="120000"/>
              </a:lnSpc>
              <a:buSzPts val="1100"/>
              <a:buNone/>
            </a:pPr>
            <a:r>
              <a:rPr lang="en-US" sz="1300" b="1" dirty="0">
                <a:solidFill>
                  <a:srgbClr val="FF0000"/>
                </a:solidFill>
                <a:sym typeface="Wingdings" panose="05000000000000000000" pitchFamily="2" charset="2"/>
              </a:rPr>
              <a:t>Nil</a:t>
            </a:r>
            <a:endParaRPr lang="en-US" sz="1300" dirty="0">
              <a:cs typeface="Times New Roman" panose="02020603050405020304" pitchFamily="18" charset="0"/>
              <a:sym typeface="Wingdings" panose="05000000000000000000" pitchFamily="2" charset="2"/>
            </a:endParaRPr>
          </a:p>
          <a:p>
            <a:pPr marL="12700" indent="0">
              <a:lnSpc>
                <a:spcPct val="120000"/>
              </a:lnSpc>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9426175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xmlns=""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4" name="Table 3">
            <a:extLst>
              <a:ext uri="{FF2B5EF4-FFF2-40B4-BE49-F238E27FC236}">
                <a16:creationId xmlns:a16="http://schemas.microsoft.com/office/drawing/2014/main" xmlns="" id="{689A0542-BFC8-997D-44A9-7089DC87B5C0}"/>
              </a:ext>
            </a:extLst>
          </p:cNvPr>
          <p:cNvGraphicFramePr>
            <a:graphicFrameLocks noGrp="1"/>
          </p:cNvGraphicFramePr>
          <p:nvPr>
            <p:extLst/>
          </p:nvPr>
        </p:nvGraphicFramePr>
        <p:xfrm>
          <a:off x="187291" y="673597"/>
          <a:ext cx="11817418" cy="6011566"/>
        </p:xfrm>
        <a:graphic>
          <a:graphicData uri="http://schemas.openxmlformats.org/drawingml/2006/table">
            <a:tbl>
              <a:tblPr/>
              <a:tblGrid>
                <a:gridCol w="336929">
                  <a:extLst>
                    <a:ext uri="{9D8B030D-6E8A-4147-A177-3AD203B41FA5}">
                      <a16:colId xmlns:a16="http://schemas.microsoft.com/office/drawing/2014/main" xmlns="" val="42697597"/>
                    </a:ext>
                  </a:extLst>
                </a:gridCol>
                <a:gridCol w="2763910">
                  <a:extLst>
                    <a:ext uri="{9D8B030D-6E8A-4147-A177-3AD203B41FA5}">
                      <a16:colId xmlns:a16="http://schemas.microsoft.com/office/drawing/2014/main" xmlns="" val="1489229778"/>
                    </a:ext>
                  </a:extLst>
                </a:gridCol>
                <a:gridCol w="522667">
                  <a:extLst>
                    <a:ext uri="{9D8B030D-6E8A-4147-A177-3AD203B41FA5}">
                      <a16:colId xmlns:a16="http://schemas.microsoft.com/office/drawing/2014/main" xmlns="" val="1302068955"/>
                    </a:ext>
                  </a:extLst>
                </a:gridCol>
                <a:gridCol w="517398">
                  <a:extLst>
                    <a:ext uri="{9D8B030D-6E8A-4147-A177-3AD203B41FA5}">
                      <a16:colId xmlns:a16="http://schemas.microsoft.com/office/drawing/2014/main" xmlns="" val="2685389187"/>
                    </a:ext>
                  </a:extLst>
                </a:gridCol>
                <a:gridCol w="591314">
                  <a:extLst>
                    <a:ext uri="{9D8B030D-6E8A-4147-A177-3AD203B41FA5}">
                      <a16:colId xmlns:a16="http://schemas.microsoft.com/office/drawing/2014/main" xmlns="" val="1731634130"/>
                    </a:ext>
                  </a:extLst>
                </a:gridCol>
                <a:gridCol w="591314">
                  <a:extLst>
                    <a:ext uri="{9D8B030D-6E8A-4147-A177-3AD203B41FA5}">
                      <a16:colId xmlns:a16="http://schemas.microsoft.com/office/drawing/2014/main" xmlns="" val="3288049783"/>
                    </a:ext>
                  </a:extLst>
                </a:gridCol>
                <a:gridCol w="591314">
                  <a:extLst>
                    <a:ext uri="{9D8B030D-6E8A-4147-A177-3AD203B41FA5}">
                      <a16:colId xmlns:a16="http://schemas.microsoft.com/office/drawing/2014/main" xmlns="" val="3051246340"/>
                    </a:ext>
                  </a:extLst>
                </a:gridCol>
                <a:gridCol w="517398">
                  <a:extLst>
                    <a:ext uri="{9D8B030D-6E8A-4147-A177-3AD203B41FA5}">
                      <a16:colId xmlns:a16="http://schemas.microsoft.com/office/drawing/2014/main" xmlns="" val="2387957037"/>
                    </a:ext>
                  </a:extLst>
                </a:gridCol>
                <a:gridCol w="517398">
                  <a:extLst>
                    <a:ext uri="{9D8B030D-6E8A-4147-A177-3AD203B41FA5}">
                      <a16:colId xmlns:a16="http://schemas.microsoft.com/office/drawing/2014/main" xmlns="" val="4201248899"/>
                    </a:ext>
                  </a:extLst>
                </a:gridCol>
                <a:gridCol w="517398">
                  <a:extLst>
                    <a:ext uri="{9D8B030D-6E8A-4147-A177-3AD203B41FA5}">
                      <a16:colId xmlns:a16="http://schemas.microsoft.com/office/drawing/2014/main" xmlns="" val="4198819116"/>
                    </a:ext>
                  </a:extLst>
                </a:gridCol>
                <a:gridCol w="4350378">
                  <a:extLst>
                    <a:ext uri="{9D8B030D-6E8A-4147-A177-3AD203B41FA5}">
                      <a16:colId xmlns:a16="http://schemas.microsoft.com/office/drawing/2014/main" xmlns="" val="2145796330"/>
                    </a:ext>
                  </a:extLst>
                </a:gridCol>
              </a:tblGrid>
              <a:tr h="457200">
                <a:tc gridSpan="11">
                  <a:txBody>
                    <a:bodyPr/>
                    <a:lstStyle/>
                    <a:p>
                      <a:pPr algn="ctr" fontAlgn="ctr">
                        <a:buNone/>
                      </a:pPr>
                      <a:r>
                        <a:rPr lang="en-US" sz="1400" b="1" i="0" u="none" strike="noStrike" dirty="0">
                          <a:solidFill>
                            <a:srgbClr val="000000"/>
                          </a:solidFill>
                          <a:effectLst/>
                          <a:latin typeface="Times New Roman" panose="02020603050405020304" pitchFamily="18" charset="0"/>
                        </a:rPr>
                        <a:t>NGUỒN LỰC KỸ THUÂT FLEET A321 (CẬP NHẬT 09/08)</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850415779"/>
                  </a:ext>
                </a:extLst>
              </a:tr>
              <a:tr h="298406">
                <a:tc>
                  <a:txBody>
                    <a:bodyPr/>
                    <a:lstStyle/>
                    <a:p>
                      <a:pPr algn="ctr" fontAlgn="ctr">
                        <a:buNone/>
                      </a:pPr>
                      <a:r>
                        <a:rPr lang="en-US" sz="1200" b="1" i="0" u="none" strike="noStrike">
                          <a:solidFill>
                            <a:srgbClr val="000000"/>
                          </a:solidFill>
                          <a:effectLst/>
                          <a:latin typeface="Times New Roman" panose="02020603050405020304" pitchFamily="18" charset="0"/>
                        </a:rPr>
                        <a:t>STT</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A/C</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Aug-25</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Sep-25</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Oct-25</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Nov-25</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Dec-25</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Jan-26</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Feb-26</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Mar-26</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Note</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xmlns="" val="569561074"/>
                  </a:ext>
                </a:extLst>
              </a:tr>
              <a:tr h="1884168">
                <a:tc>
                  <a:txBody>
                    <a:bodyPr/>
                    <a:lstStyle/>
                    <a:p>
                      <a:pPr algn="ctr" fontAlgn="ctr">
                        <a:buNone/>
                      </a:pPr>
                      <a:r>
                        <a:rPr lang="en-US" sz="1200" b="1" i="0" u="none" strike="noStrike">
                          <a:solidFill>
                            <a:srgbClr val="000000"/>
                          </a:solidFill>
                          <a:effectLst/>
                          <a:latin typeface="Times New Roman" panose="02020603050405020304" pitchFamily="18" charset="0"/>
                        </a:rPr>
                        <a:t>1</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Times New Roman" panose="02020603050405020304" pitchFamily="18" charset="0"/>
                        </a:rPr>
                        <a:t>11.00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12.00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9.00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9.00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200" b="0" i="0" u="none" strike="noStrike" dirty="0">
                          <a:solidFill>
                            <a:schemeClr val="tx1"/>
                          </a:solidFill>
                          <a:effectLst/>
                          <a:latin typeface="Times New Roman" panose="02020603050405020304" pitchFamily="18" charset="0"/>
                        </a:rPr>
                        <a:t>- 2025 có 16 induction slot, 2026: 6 tháng đầu năm mỗi tháng có 2 induction slot</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Thuê thêm 1 đông cơ PWEL về đầu tháng 9 thay cho A507</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Swap ENG A621 &amp; A625 từ cuối tháng 7 để giữ giờ ENG A621 khoảng 70CY khai thác cao điểm tết. </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Swap A618 vs A619 cuối tháng 9. Dừng đến cuối T1/26</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Swap A512 vs A616 =&gt; dừng A512 giữ giờ 2 tháng 19/10-18/12, A616 khai thác</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+ 09/2025: giảm 0.5 tàu dừng</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+ 10/2025 - 01/2026:giảm 1 tàu dừng</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+ 03/2026: giảm 1 tàu do A512 giữ giờ thêm 1 tháng</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264594721"/>
                  </a:ext>
                </a:extLst>
              </a:tr>
              <a:tr h="430393">
                <a:tc>
                  <a:txBody>
                    <a:bodyPr/>
                    <a:lstStyle/>
                    <a:p>
                      <a:pPr algn="ctr" fontAlgn="ctr">
                        <a:buNone/>
                      </a:pPr>
                      <a:r>
                        <a:rPr lang="en-US" sz="1200" b="1" i="0" u="none" strike="noStrike">
                          <a:solidFill>
                            <a:srgbClr val="000000"/>
                          </a:solidFill>
                          <a:effectLst/>
                          <a:latin typeface="Times New Roman" panose="02020603050405020304" pitchFamily="18" charset="0"/>
                        </a:rPr>
                        <a:t>2</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pt-BR" sz="1200" b="1" i="0" u="none" strike="noStrike">
                          <a:solidFill>
                            <a:srgbClr val="000000"/>
                          </a:solidFill>
                          <a:effectLst/>
                          <a:latin typeface="Times New Roman" panose="02020603050405020304" pitchFamily="18" charset="0"/>
                        </a:rPr>
                        <a:t>A321 CEO AOG do thiếu ENG</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207294971"/>
                  </a:ext>
                </a:extLst>
              </a:tr>
              <a:tr h="746015">
                <a:tc>
                  <a:txBody>
                    <a:bodyPr/>
                    <a:lstStyle/>
                    <a:p>
                      <a:pPr algn="ctr" fontAlgn="ctr">
                        <a:buNone/>
                      </a:pPr>
                      <a:r>
                        <a:rPr lang="en-US" sz="1200" b="1" i="0" u="none" strike="noStrike">
                          <a:solidFill>
                            <a:srgbClr val="000000"/>
                          </a:solidFill>
                          <a:effectLst/>
                          <a:latin typeface="Times New Roman" panose="02020603050405020304" pitchFamily="18" charset="0"/>
                        </a:rPr>
                        <a:t>3</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A321 dừng thực hiện BD</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dirty="0">
                          <a:solidFill>
                            <a:srgbClr val="FF0000"/>
                          </a:solidFill>
                          <a:effectLst/>
                          <a:latin typeface="Times New Roman" panose="02020603050405020304" pitchFamily="18" charset="0"/>
                        </a:rPr>
                        <a:t>4.00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4.80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Times New Roman" panose="02020603050405020304" pitchFamily="18" charset="0"/>
                        </a:rPr>
                        <a:t>3.00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0.30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FF0000"/>
                          </a:solidFill>
                          <a:effectLst/>
                          <a:latin typeface="Times New Roman" panose="02020603050405020304" pitchFamily="18" charset="0"/>
                        </a:rPr>
                        <a:t>- 08/2025: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0.5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A359 AOG do ENG </a:t>
                      </a:r>
                      <a:r>
                        <a:rPr lang="en-US" sz="1200" b="0" i="0" u="none" strike="noStrike" dirty="0" err="1">
                          <a:solidFill>
                            <a:srgbClr val="FF0000"/>
                          </a:solidFill>
                          <a:effectLst/>
                          <a:latin typeface="Times New Roman" panose="02020603050405020304" pitchFamily="18" charset="0"/>
                        </a:rPr>
                        <a:t>hỏng</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dự</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kiến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lấy</a:t>
                      </a:r>
                      <a:r>
                        <a:rPr lang="en-US" sz="1200" b="0" i="0" u="none" strike="noStrike" dirty="0">
                          <a:solidFill>
                            <a:srgbClr val="FF0000"/>
                          </a:solidFill>
                          <a:effectLst/>
                          <a:latin typeface="Times New Roman" panose="02020603050405020304" pitchFamily="18" charset="0"/>
                        </a:rPr>
                        <a:t> ENG </a:t>
                      </a:r>
                      <a:r>
                        <a:rPr lang="en-US" sz="1200" b="0" i="0" u="none" strike="noStrike" dirty="0" err="1">
                          <a:solidFill>
                            <a:srgbClr val="FF0000"/>
                          </a:solidFill>
                          <a:effectLst/>
                          <a:latin typeface="Times New Roman" panose="02020603050405020304" pitchFamily="18" charset="0"/>
                        </a:rPr>
                        <a:t>từ</a:t>
                      </a:r>
                      <a:r>
                        <a:rPr lang="en-US" sz="1200" b="0" i="0" u="none" strike="noStrike" dirty="0">
                          <a:solidFill>
                            <a:srgbClr val="FF0000"/>
                          </a:solidFill>
                          <a:effectLst/>
                          <a:latin typeface="Times New Roman" panose="02020603050405020304" pitchFamily="18" charset="0"/>
                        </a:rPr>
                        <a:t> A605 Y6 </a:t>
                      </a:r>
                      <a:r>
                        <a:rPr lang="en-US" sz="1200" b="0" i="0" u="none" strike="noStrike" dirty="0" err="1">
                          <a:solidFill>
                            <a:srgbClr val="FF0000"/>
                          </a:solidFill>
                          <a:effectLst/>
                          <a:latin typeface="Times New Roman" panose="02020603050405020304" pitchFamily="18" charset="0"/>
                        </a:rPr>
                        <a:t>từ</a:t>
                      </a:r>
                      <a:r>
                        <a:rPr lang="en-US" sz="1200" b="0" i="0" u="none" strike="noStrike" dirty="0">
                          <a:solidFill>
                            <a:srgbClr val="FF0000"/>
                          </a:solidFill>
                          <a:effectLst/>
                          <a:latin typeface="Times New Roman" panose="02020603050405020304" pitchFamily="18" charset="0"/>
                        </a:rPr>
                        <a:t> 13/08-12/09 </a:t>
                      </a:r>
                      <a:r>
                        <a:rPr lang="en-US" sz="1200" b="0" i="0" u="none" strike="noStrike" dirty="0" err="1">
                          <a:solidFill>
                            <a:srgbClr val="FF0000"/>
                          </a:solidFill>
                          <a:effectLst/>
                          <a:latin typeface="Times New Roman" panose="02020603050405020304" pitchFamily="18" charset="0"/>
                        </a:rPr>
                        <a:t>tại</a:t>
                      </a:r>
                      <a:r>
                        <a:rPr lang="en-US" sz="1200" b="0" i="0" u="none" strike="noStrike" dirty="0">
                          <a:solidFill>
                            <a:srgbClr val="FF0000"/>
                          </a:solidFill>
                          <a:effectLst/>
                          <a:latin typeface="Times New Roman" panose="02020603050405020304" pitchFamily="18" charset="0"/>
                        </a:rPr>
                        <a:t> SGN)</a:t>
                      </a:r>
                      <a:r>
                        <a:rPr lang="en-US" sz="1200" b="0" i="0" u="none" strike="noStrike" dirty="0">
                          <a:solidFill>
                            <a:srgbClr val="000000"/>
                          </a:solidFill>
                          <a:effectLst/>
                          <a:latin typeface="Times New Roman" panose="02020603050405020304" pitchFamily="18" charset="0"/>
                        </a:rPr>
                        <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000000"/>
                          </a:solidFill>
                          <a:effectLst/>
                          <a:latin typeface="Times New Roman" panose="02020603050405020304" pitchFamily="18" charset="0"/>
                        </a:rPr>
                        <a:t>- 01/2026: </a:t>
                      </a:r>
                      <a:r>
                        <a:rPr lang="en-US" sz="1200" b="0" i="0" u="none" strike="noStrike" dirty="0" err="1">
                          <a:solidFill>
                            <a:srgbClr val="000000"/>
                          </a:solidFill>
                          <a:effectLst/>
                          <a:latin typeface="Times New Roman" panose="02020603050405020304" pitchFamily="18" charset="0"/>
                        </a:rPr>
                        <a:t>tăng</a:t>
                      </a:r>
                      <a:r>
                        <a:rPr lang="en-US" sz="1200" b="0" i="0" u="none" strike="noStrike" dirty="0">
                          <a:solidFill>
                            <a:srgbClr val="000000"/>
                          </a:solidFill>
                          <a:effectLst/>
                          <a:latin typeface="Times New Roman" panose="02020603050405020304" pitchFamily="18" charset="0"/>
                        </a:rPr>
                        <a:t> 1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do </a:t>
                      </a:r>
                      <a:r>
                        <a:rPr lang="en-US" sz="1200" b="0" i="0" u="none" strike="noStrike" dirty="0" err="1">
                          <a:solidFill>
                            <a:srgbClr val="000000"/>
                          </a:solidFill>
                          <a:effectLst/>
                          <a:latin typeface="Times New Roman" panose="02020603050405020304" pitchFamily="18" charset="0"/>
                        </a:rPr>
                        <a:t>bổ</a:t>
                      </a:r>
                      <a:r>
                        <a:rPr lang="en-US" sz="1200" b="0" i="0" u="none" strike="noStrike" dirty="0">
                          <a:solidFill>
                            <a:srgbClr val="000000"/>
                          </a:solidFill>
                          <a:effectLst/>
                          <a:latin typeface="Times New Roman" panose="02020603050405020304" pitchFamily="18" charset="0"/>
                        </a:rPr>
                        <a:t> sung </a:t>
                      </a:r>
                      <a:r>
                        <a:rPr lang="en-US" sz="1200" b="0" i="0" u="none" strike="noStrike" dirty="0" err="1">
                          <a:solidFill>
                            <a:srgbClr val="000000"/>
                          </a:solidFill>
                          <a:effectLst/>
                          <a:latin typeface="Times New Roman" panose="02020603050405020304" pitchFamily="18" charset="0"/>
                        </a:rPr>
                        <a:t>thêm</a:t>
                      </a:r>
                      <a:r>
                        <a:rPr lang="en-US" sz="1200" b="0" i="0" u="none" strike="noStrike" dirty="0">
                          <a:solidFill>
                            <a:srgbClr val="000000"/>
                          </a:solidFill>
                          <a:effectLst/>
                          <a:latin typeface="Times New Roman" panose="02020603050405020304" pitchFamily="18" charset="0"/>
                        </a:rPr>
                        <a:t> 3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làm</a:t>
                      </a:r>
                      <a:r>
                        <a:rPr lang="en-US" sz="1200" b="0" i="0" u="none" strike="noStrike" dirty="0">
                          <a:solidFill>
                            <a:srgbClr val="000000"/>
                          </a:solidFill>
                          <a:effectLst/>
                          <a:latin typeface="Times New Roman" panose="02020603050405020304" pitchFamily="18" charset="0"/>
                        </a:rPr>
                        <a:t> Seat </a:t>
                      </a:r>
                      <a:r>
                        <a:rPr lang="en-US" sz="1200" b="0" i="0" u="none" strike="noStrike" dirty="0" err="1">
                          <a:solidFill>
                            <a:srgbClr val="000000"/>
                          </a:solidFill>
                          <a:effectLst/>
                          <a:latin typeface="Times New Roman" panose="02020603050405020304" pitchFamily="18" charset="0"/>
                        </a:rPr>
                        <a:t>Reconfig</a:t>
                      </a:r>
                      <a:r>
                        <a:rPr lang="en-US" sz="1200" b="0" i="0" u="none" strike="noStrike" dirty="0">
                          <a:solidFill>
                            <a:srgbClr val="000000"/>
                          </a:solidFill>
                          <a:effectLst/>
                          <a:latin typeface="Times New Roman" panose="02020603050405020304" pitchFamily="18" charset="0"/>
                        </a:rPr>
                        <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000000"/>
                          </a:solidFill>
                          <a:effectLst/>
                          <a:latin typeface="Times New Roman" panose="02020603050405020304" pitchFamily="18" charset="0"/>
                        </a:rPr>
                        <a:t>- 03/2026: </a:t>
                      </a:r>
                      <a:r>
                        <a:rPr lang="en-US" sz="1200" b="0" i="0" u="none" strike="noStrike" dirty="0" err="1">
                          <a:solidFill>
                            <a:srgbClr val="000000"/>
                          </a:solidFill>
                          <a:effectLst/>
                          <a:latin typeface="Times New Roman" panose="02020603050405020304" pitchFamily="18" charset="0"/>
                        </a:rPr>
                        <a:t>tăng</a:t>
                      </a:r>
                      <a:r>
                        <a:rPr lang="en-US" sz="1200" b="0" i="0" u="none" strike="noStrike" dirty="0">
                          <a:solidFill>
                            <a:srgbClr val="000000"/>
                          </a:solidFill>
                          <a:effectLst/>
                          <a:latin typeface="Times New Roman" panose="02020603050405020304" pitchFamily="18" charset="0"/>
                        </a:rPr>
                        <a:t> 3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do </a:t>
                      </a:r>
                      <a:r>
                        <a:rPr lang="en-US" sz="1200" b="0" i="0" u="none" strike="noStrike" dirty="0" err="1">
                          <a:solidFill>
                            <a:srgbClr val="000000"/>
                          </a:solidFill>
                          <a:effectLst/>
                          <a:latin typeface="Times New Roman" panose="02020603050405020304" pitchFamily="18" charset="0"/>
                        </a:rPr>
                        <a:t>bổ</a:t>
                      </a:r>
                      <a:r>
                        <a:rPr lang="en-US" sz="1200" b="0" i="0" u="none" strike="noStrike" dirty="0">
                          <a:solidFill>
                            <a:srgbClr val="000000"/>
                          </a:solidFill>
                          <a:effectLst/>
                          <a:latin typeface="Times New Roman" panose="02020603050405020304" pitchFamily="18" charset="0"/>
                        </a:rPr>
                        <a:t> sung </a:t>
                      </a:r>
                      <a:r>
                        <a:rPr lang="en-US" sz="1200" b="0" i="0" u="none" strike="noStrike" dirty="0" err="1">
                          <a:solidFill>
                            <a:srgbClr val="000000"/>
                          </a:solidFill>
                          <a:effectLst/>
                          <a:latin typeface="Times New Roman" panose="02020603050405020304" pitchFamily="18" charset="0"/>
                        </a:rPr>
                        <a:t>thêm</a:t>
                      </a:r>
                      <a:r>
                        <a:rPr lang="en-US" sz="1200" b="0" i="0" u="none" strike="noStrike" dirty="0">
                          <a:solidFill>
                            <a:srgbClr val="000000"/>
                          </a:solidFill>
                          <a:effectLst/>
                          <a:latin typeface="Times New Roman" panose="02020603050405020304" pitchFamily="18" charset="0"/>
                        </a:rPr>
                        <a:t> 9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làm</a:t>
                      </a:r>
                      <a:r>
                        <a:rPr lang="en-US" sz="1200" b="0" i="0" u="none" strike="noStrike" dirty="0">
                          <a:solidFill>
                            <a:srgbClr val="000000"/>
                          </a:solidFill>
                          <a:effectLst/>
                          <a:latin typeface="Times New Roman" panose="02020603050405020304" pitchFamily="18" charset="0"/>
                        </a:rPr>
                        <a:t> Seat </a:t>
                      </a:r>
                      <a:r>
                        <a:rPr lang="en-US" sz="1200" b="0" i="0" u="none" strike="noStrike" dirty="0" err="1">
                          <a:solidFill>
                            <a:srgbClr val="000000"/>
                          </a:solidFill>
                          <a:effectLst/>
                          <a:latin typeface="Times New Roman" panose="02020603050405020304" pitchFamily="18" charset="0"/>
                        </a:rPr>
                        <a:t>Reconfig</a:t>
                      </a:r>
                      <a:r>
                        <a:rPr lang="en-US" sz="1200" b="0" i="0" u="none" strike="noStrike" dirty="0">
                          <a:solidFill>
                            <a:srgbClr val="000000"/>
                          </a:solidFill>
                          <a:effectLst/>
                          <a:latin typeface="Times New Roman" panose="02020603050405020304" pitchFamily="18" charset="0"/>
                        </a:rPr>
                        <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000000"/>
                          </a:solidFill>
                          <a:effectLst/>
                          <a:latin typeface="Times New Roman" panose="02020603050405020304" pitchFamily="18" charset="0"/>
                        </a:rPr>
                        <a:t>- 04/2026: </a:t>
                      </a:r>
                      <a:r>
                        <a:rPr lang="en-US" sz="1200" b="0" i="0" u="none" strike="noStrike" dirty="0" err="1">
                          <a:solidFill>
                            <a:srgbClr val="000000"/>
                          </a:solidFill>
                          <a:effectLst/>
                          <a:latin typeface="Times New Roman" panose="02020603050405020304" pitchFamily="18" charset="0"/>
                        </a:rPr>
                        <a:t>tăng</a:t>
                      </a:r>
                      <a:r>
                        <a:rPr lang="en-US" sz="1200" b="0" i="0" u="none" strike="noStrike" dirty="0">
                          <a:solidFill>
                            <a:srgbClr val="000000"/>
                          </a:solidFill>
                          <a:effectLst/>
                          <a:latin typeface="Times New Roman" panose="02020603050405020304" pitchFamily="18" charset="0"/>
                        </a:rPr>
                        <a:t> 1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do </a:t>
                      </a:r>
                      <a:r>
                        <a:rPr lang="en-US" sz="1200" b="0" i="0" u="none" strike="noStrike" dirty="0" err="1">
                          <a:solidFill>
                            <a:srgbClr val="000000"/>
                          </a:solidFill>
                          <a:effectLst/>
                          <a:latin typeface="Times New Roman" panose="02020603050405020304" pitchFamily="18" charset="0"/>
                        </a:rPr>
                        <a:t>bổ</a:t>
                      </a:r>
                      <a:r>
                        <a:rPr lang="en-US" sz="1200" b="0" i="0" u="none" strike="noStrike" dirty="0">
                          <a:solidFill>
                            <a:srgbClr val="000000"/>
                          </a:solidFill>
                          <a:effectLst/>
                          <a:latin typeface="Times New Roman" panose="02020603050405020304" pitchFamily="18" charset="0"/>
                        </a:rPr>
                        <a:t> sung </a:t>
                      </a:r>
                      <a:r>
                        <a:rPr lang="en-US" sz="1200" b="0" i="0" u="none" strike="noStrike" dirty="0" err="1">
                          <a:solidFill>
                            <a:srgbClr val="000000"/>
                          </a:solidFill>
                          <a:effectLst/>
                          <a:latin typeface="Times New Roman" panose="02020603050405020304" pitchFamily="18" charset="0"/>
                        </a:rPr>
                        <a:t>thêm</a:t>
                      </a:r>
                      <a:r>
                        <a:rPr lang="en-US" sz="1200" b="0" i="0" u="none" strike="noStrike" dirty="0">
                          <a:solidFill>
                            <a:srgbClr val="000000"/>
                          </a:solidFill>
                          <a:effectLst/>
                          <a:latin typeface="Times New Roman" panose="02020603050405020304" pitchFamily="18" charset="0"/>
                        </a:rPr>
                        <a:t> 3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làm</a:t>
                      </a:r>
                      <a:r>
                        <a:rPr lang="en-US" sz="1200" b="0" i="0" u="none" strike="noStrike" dirty="0">
                          <a:solidFill>
                            <a:srgbClr val="000000"/>
                          </a:solidFill>
                          <a:effectLst/>
                          <a:latin typeface="Times New Roman" panose="02020603050405020304" pitchFamily="18" charset="0"/>
                        </a:rPr>
                        <a:t> Seat </a:t>
                      </a:r>
                      <a:r>
                        <a:rPr lang="en-US" sz="1200" b="0" i="0" u="none" strike="noStrike" dirty="0" err="1">
                          <a:solidFill>
                            <a:srgbClr val="000000"/>
                          </a:solidFill>
                          <a:effectLst/>
                          <a:latin typeface="Times New Roman" panose="02020603050405020304" pitchFamily="18" charset="0"/>
                        </a:rPr>
                        <a:t>Reconfig</a:t>
                      </a:r>
                      <a:endParaRPr lang="en-US" sz="1200" b="0" i="0" u="none" strike="noStrike" dirty="0">
                        <a:solidFill>
                          <a:srgbClr val="000000"/>
                        </a:solidFill>
                        <a:effectLst/>
                        <a:latin typeface="Times New Roman" panose="02020603050405020304" pitchFamily="18" charset="0"/>
                      </a:endParaRP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65477334"/>
                  </a:ext>
                </a:extLst>
              </a:tr>
              <a:tr h="439958">
                <a:tc>
                  <a:txBody>
                    <a:bodyPr/>
                    <a:lstStyle/>
                    <a:p>
                      <a:pPr algn="ctr" fontAlgn="ctr">
                        <a:buNone/>
                      </a:pPr>
                      <a:r>
                        <a:rPr lang="en-US" sz="1200" b="1" i="0" u="none" strike="noStrike">
                          <a:solidFill>
                            <a:srgbClr val="000000"/>
                          </a:solidFill>
                          <a:effectLst/>
                          <a:latin typeface="Times New Roman" panose="02020603050405020304" pitchFamily="18" charset="0"/>
                        </a:rPr>
                        <a:t>4</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15.80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14.00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9.30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14.00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432300345"/>
                  </a:ext>
                </a:extLst>
              </a:tr>
              <a:tr h="596813">
                <a:tc>
                  <a:txBody>
                    <a:bodyPr/>
                    <a:lstStyle/>
                    <a:p>
                      <a:pPr algn="ctr" fontAlgn="ctr">
                        <a:buNone/>
                      </a:pPr>
                      <a:r>
                        <a:rPr lang="en-US" sz="1200" b="1" i="0" u="none" strike="noStrike">
                          <a:solidFill>
                            <a:srgbClr val="000000"/>
                          </a:solidFill>
                          <a:effectLst/>
                          <a:latin typeface="Times New Roman" panose="02020603050405020304" pitchFamily="18" charset="0"/>
                        </a:rPr>
                        <a:t>5</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số tàu A321 thực tế có thể khai thác (bao gồm tàu thuê)</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52.00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51.20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52.00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52.00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52.40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55.70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200" b="0" i="0" u="none" strike="noStrike">
                          <a:solidFill>
                            <a:srgbClr val="000000"/>
                          </a:solidFill>
                          <a:effectLst/>
                          <a:latin typeface="Times New Roman" panose="02020603050405020304" pitchFamily="18" charset="0"/>
                        </a:rPr>
                        <a:t>Kịch bản:</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- 2 tàu thuê ướt từ 21/07/25-21/01/26</a:t>
                      </a:r>
                      <a:br>
                        <a:rPr lang="vi-VN" sz="1200" b="0" i="0" u="none" strike="noStrike">
                          <a:solidFill>
                            <a:srgbClr val="000000"/>
                          </a:solidFill>
                          <a:effectLst/>
                          <a:latin typeface="Times New Roman" panose="02020603050405020304" pitchFamily="18" charset="0"/>
                        </a:rPr>
                      </a:br>
                      <a:r>
                        <a:rPr lang="vi-VN" sz="1200" b="0" i="0" u="none" strike="sngStrike">
                          <a:solidFill>
                            <a:srgbClr val="000000"/>
                          </a:solidFill>
                          <a:effectLst/>
                          <a:latin typeface="Times New Roman" panose="02020603050405020304" pitchFamily="18" charset="0"/>
                        </a:rPr>
                        <a:t>- 5 tàu thuê khô  (12/2025: 2, 01/2026: 1, 02/2026: 1, 05/2026: 1)</a:t>
                      </a:r>
                      <a:endParaRPr lang="vi-VN" sz="1200" b="0" i="0" u="none" strike="noStrike">
                        <a:solidFill>
                          <a:srgbClr val="000000"/>
                        </a:solidFill>
                        <a:effectLst/>
                        <a:latin typeface="Times New Roman" panose="02020603050405020304" pitchFamily="18" charset="0"/>
                      </a:endParaRP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348496583"/>
                  </a:ext>
                </a:extLst>
              </a:tr>
              <a:tr h="439958">
                <a:tc>
                  <a:txBody>
                    <a:bodyPr/>
                    <a:lstStyle/>
                    <a:p>
                      <a:pPr algn="ctr" fontAlgn="ctr">
                        <a:buNone/>
                      </a:pPr>
                      <a:r>
                        <a:rPr lang="en-US" sz="1200" b="1" i="0" u="none" strike="noStrike">
                          <a:solidFill>
                            <a:srgbClr val="000000"/>
                          </a:solidFill>
                          <a:effectLst/>
                          <a:latin typeface="Times New Roman" panose="02020603050405020304" pitchFamily="18" charset="0"/>
                        </a:rPr>
                        <a:t>6</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nhu cầu A321 yêu cầu từ KHPT</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50.20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50.10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56.00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2166380863"/>
                  </a:ext>
                </a:extLst>
              </a:tr>
              <a:tr h="411266">
                <a:tc>
                  <a:txBody>
                    <a:bodyPr/>
                    <a:lstStyle/>
                    <a:p>
                      <a:pPr algn="ctr" fontAlgn="ctr">
                        <a:buNone/>
                      </a:pPr>
                      <a:r>
                        <a:rPr lang="en-US" sz="1200" b="1" i="0" u="none" strike="noStrike">
                          <a:solidFill>
                            <a:srgbClr val="000000"/>
                          </a:solidFill>
                          <a:effectLst/>
                          <a:latin typeface="Times New Roman" panose="02020603050405020304" pitchFamily="18" charset="0"/>
                        </a:rPr>
                        <a:t>7</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số A321 so với nhu cầu của KHPT</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(7) = (5) - (6)</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dirty="0">
                          <a:solidFill>
                            <a:srgbClr val="FF0000"/>
                          </a:solidFill>
                          <a:effectLst/>
                          <a:latin typeface="Times New Roman" panose="02020603050405020304" pitchFamily="18" charset="0"/>
                        </a:rPr>
                        <a:t>1.80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F7F"/>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3D17F"/>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3D17F"/>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3D17F"/>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1.40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87D"/>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-0.30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3"/>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5746" marR="5746" marT="5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030145346"/>
                  </a:ext>
                </a:extLst>
              </a:tr>
            </a:tbl>
          </a:graphicData>
        </a:graphic>
      </p:graphicFrame>
    </p:spTree>
    <p:extLst>
      <p:ext uri="{BB962C8B-B14F-4D97-AF65-F5344CB8AC3E}">
        <p14:creationId xmlns:p14="http://schemas.microsoft.com/office/powerpoint/2010/main" val="11826354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xmlns=""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a:extLst>
              <a:ext uri="{FF2B5EF4-FFF2-40B4-BE49-F238E27FC236}">
                <a16:creationId xmlns:a16="http://schemas.microsoft.com/office/drawing/2014/main" xmlns="" id="{9C3DA039-01B5-162E-6085-D036EB183ECE}"/>
              </a:ext>
            </a:extLst>
          </p:cNvPr>
          <p:cNvGraphicFramePr>
            <a:graphicFrameLocks noGrp="1"/>
          </p:cNvGraphicFramePr>
          <p:nvPr>
            <p:extLst/>
          </p:nvPr>
        </p:nvGraphicFramePr>
        <p:xfrm>
          <a:off x="160370" y="609600"/>
          <a:ext cx="11991899" cy="6084679"/>
        </p:xfrm>
        <a:graphic>
          <a:graphicData uri="http://schemas.openxmlformats.org/drawingml/2006/table">
            <a:tbl>
              <a:tblPr/>
              <a:tblGrid>
                <a:gridCol w="318191">
                  <a:extLst>
                    <a:ext uri="{9D8B030D-6E8A-4147-A177-3AD203B41FA5}">
                      <a16:colId xmlns:a16="http://schemas.microsoft.com/office/drawing/2014/main" xmlns="" val="1823133873"/>
                    </a:ext>
                  </a:extLst>
                </a:gridCol>
                <a:gridCol w="2501209">
                  <a:extLst>
                    <a:ext uri="{9D8B030D-6E8A-4147-A177-3AD203B41FA5}">
                      <a16:colId xmlns:a16="http://schemas.microsoft.com/office/drawing/2014/main" xmlns="" val="2667967455"/>
                    </a:ext>
                  </a:extLst>
                </a:gridCol>
                <a:gridCol w="522285">
                  <a:extLst>
                    <a:ext uri="{9D8B030D-6E8A-4147-A177-3AD203B41FA5}">
                      <a16:colId xmlns:a16="http://schemas.microsoft.com/office/drawing/2014/main" xmlns="" val="35901639"/>
                    </a:ext>
                  </a:extLst>
                </a:gridCol>
                <a:gridCol w="482419">
                  <a:extLst>
                    <a:ext uri="{9D8B030D-6E8A-4147-A177-3AD203B41FA5}">
                      <a16:colId xmlns:a16="http://schemas.microsoft.com/office/drawing/2014/main" xmlns="" val="3657777463"/>
                    </a:ext>
                  </a:extLst>
                </a:gridCol>
                <a:gridCol w="544004">
                  <a:extLst>
                    <a:ext uri="{9D8B030D-6E8A-4147-A177-3AD203B41FA5}">
                      <a16:colId xmlns:a16="http://schemas.microsoft.com/office/drawing/2014/main" xmlns="" val="123696087"/>
                    </a:ext>
                  </a:extLst>
                </a:gridCol>
                <a:gridCol w="544004">
                  <a:extLst>
                    <a:ext uri="{9D8B030D-6E8A-4147-A177-3AD203B41FA5}">
                      <a16:colId xmlns:a16="http://schemas.microsoft.com/office/drawing/2014/main" xmlns="" val="1639988722"/>
                    </a:ext>
                  </a:extLst>
                </a:gridCol>
                <a:gridCol w="544004">
                  <a:extLst>
                    <a:ext uri="{9D8B030D-6E8A-4147-A177-3AD203B41FA5}">
                      <a16:colId xmlns:a16="http://schemas.microsoft.com/office/drawing/2014/main" xmlns="" val="2242822487"/>
                    </a:ext>
                  </a:extLst>
                </a:gridCol>
                <a:gridCol w="482419">
                  <a:extLst>
                    <a:ext uri="{9D8B030D-6E8A-4147-A177-3AD203B41FA5}">
                      <a16:colId xmlns:a16="http://schemas.microsoft.com/office/drawing/2014/main" xmlns="" val="2028585368"/>
                    </a:ext>
                  </a:extLst>
                </a:gridCol>
                <a:gridCol w="498472">
                  <a:extLst>
                    <a:ext uri="{9D8B030D-6E8A-4147-A177-3AD203B41FA5}">
                      <a16:colId xmlns:a16="http://schemas.microsoft.com/office/drawing/2014/main" xmlns="" val="2388297353"/>
                    </a:ext>
                  </a:extLst>
                </a:gridCol>
                <a:gridCol w="535684">
                  <a:extLst>
                    <a:ext uri="{9D8B030D-6E8A-4147-A177-3AD203B41FA5}">
                      <a16:colId xmlns:a16="http://schemas.microsoft.com/office/drawing/2014/main" xmlns="" val="1159246940"/>
                    </a:ext>
                  </a:extLst>
                </a:gridCol>
                <a:gridCol w="5019208">
                  <a:extLst>
                    <a:ext uri="{9D8B030D-6E8A-4147-A177-3AD203B41FA5}">
                      <a16:colId xmlns:a16="http://schemas.microsoft.com/office/drawing/2014/main" xmlns="" val="527891409"/>
                    </a:ext>
                  </a:extLst>
                </a:gridCol>
              </a:tblGrid>
              <a:tr h="381000">
                <a:tc gridSpan="11">
                  <a:txBody>
                    <a:bodyPr/>
                    <a:lstStyle/>
                    <a:p>
                      <a:pPr algn="ctr" fontAlgn="ctr">
                        <a:buNone/>
                      </a:pPr>
                      <a:r>
                        <a:rPr lang="en-US" sz="1400" b="1" i="0" u="none" strike="noStrike" dirty="0">
                          <a:solidFill>
                            <a:srgbClr val="000000"/>
                          </a:solidFill>
                          <a:effectLst/>
                          <a:latin typeface="Times New Roman" panose="02020603050405020304" pitchFamily="18" charset="0"/>
                        </a:rPr>
                        <a:t>NGUỒN LỰC KỸ THUÂT A350/B787 (CẬP NHẬT 09/08)</a:t>
                      </a:r>
                    </a:p>
                  </a:txBody>
                  <a:tcPr marL="5555" marR="5555" marT="555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577307221"/>
                  </a:ext>
                </a:extLst>
              </a:tr>
              <a:tr h="298875">
                <a:tc>
                  <a:txBody>
                    <a:bodyPr/>
                    <a:lstStyle/>
                    <a:p>
                      <a:pPr algn="ctr" fontAlgn="ctr">
                        <a:buNone/>
                      </a:pPr>
                      <a:r>
                        <a:rPr lang="en-US" sz="1200" b="1" i="0" u="none" strike="noStrike">
                          <a:solidFill>
                            <a:srgbClr val="000000"/>
                          </a:solidFill>
                          <a:effectLst/>
                          <a:latin typeface="Times New Roman" panose="02020603050405020304" pitchFamily="18" charset="0"/>
                        </a:rPr>
                        <a:t>STT</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A/C</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Aug-25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Sep-25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Oct-25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Nov-25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Dec-25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Jan-26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Feb-26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Mar-26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Note</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xmlns="" val="4000960563"/>
                  </a:ext>
                </a:extLst>
              </a:tr>
              <a:tr h="605414">
                <a:tc>
                  <a:txBody>
                    <a:bodyPr/>
                    <a:lstStyle/>
                    <a:p>
                      <a:pPr algn="ctr" fontAlgn="ctr">
                        <a:buNone/>
                      </a:pPr>
                      <a:r>
                        <a:rPr lang="en-US" sz="1200" b="0" i="0" u="none" strike="noStrike">
                          <a:solidFill>
                            <a:srgbClr val="000000"/>
                          </a:solidFill>
                          <a:effectLst/>
                          <a:latin typeface="Times New Roman" panose="02020603050405020304" pitchFamily="18" charset="0"/>
                        </a:rPr>
                        <a:t>1</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200" b="1" i="0" u="none" strike="noStrike">
                          <a:solidFill>
                            <a:srgbClr val="000000"/>
                          </a:solidFill>
                          <a:effectLst/>
                          <a:latin typeface="Times New Roman" panose="02020603050405020304" pitchFamily="18" charset="0"/>
                        </a:rPr>
                        <a:t>A350 AOG do thiếu ENG</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dirty="0">
                          <a:solidFill>
                            <a:schemeClr val="tx1"/>
                          </a:solidFill>
                          <a:effectLst/>
                          <a:latin typeface="Times New Roman" panose="02020603050405020304" pitchFamily="18" charset="0"/>
                        </a:rPr>
                        <a:t>0.5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Times New Roman" panose="02020603050405020304" pitchFamily="18" charset="0"/>
                        </a:rPr>
                        <a:t>- 08/2025: tăng 0.5 tàu do ENG về muộn, trong đó giai doạn từ 11-25/08 có 3 tàu A350 dừng (KH cũ 2 tàu dừng)</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- 09/2025: tăng 0.5 tàu do ENG về muộn</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215007857"/>
                  </a:ext>
                </a:extLst>
              </a:tr>
              <a:tr h="521115">
                <a:tc>
                  <a:txBody>
                    <a:bodyPr/>
                    <a:lstStyle/>
                    <a:p>
                      <a:pPr algn="ctr" fontAlgn="ctr">
                        <a:buNone/>
                      </a:pPr>
                      <a:r>
                        <a:rPr lang="en-US" sz="1200" b="0" i="0" u="none" strike="noStrike">
                          <a:solidFill>
                            <a:srgbClr val="000000"/>
                          </a:solidFill>
                          <a:effectLst/>
                          <a:latin typeface="Times New Roman" panose="02020603050405020304" pitchFamily="18" charset="0"/>
                        </a:rPr>
                        <a:t>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 dừng BD</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FF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FF0000"/>
                          </a:solidFill>
                          <a:effectLst/>
                          <a:latin typeface="Times New Roman" panose="02020603050405020304" pitchFamily="18" charset="0"/>
                        </a:rPr>
                        <a:t>0.8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dirty="0">
                          <a:solidFill>
                            <a:srgbClr val="000000"/>
                          </a:solidFill>
                          <a:effectLst/>
                          <a:latin typeface="Times New Roman" panose="02020603050405020304" pitchFamily="18" charset="0"/>
                        </a:rPr>
                        <a:t>1.2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- 09/2025: xin NN Y3 A890 (TAT 10 ngày) để giữ nguồn lực do A895 RTS muộn, dự kiến 2609 (thay KH cũ cuối tháng 15/09)</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322469357"/>
                  </a:ext>
                </a:extLst>
              </a:tr>
              <a:tr h="386071">
                <a:tc>
                  <a:txBody>
                    <a:bodyPr/>
                    <a:lstStyle/>
                    <a:p>
                      <a:pPr algn="ctr" fontAlgn="ctr">
                        <a:buNone/>
                      </a:pPr>
                      <a:r>
                        <a:rPr lang="en-US" sz="1200" b="0" i="0" u="none" strike="noStrike">
                          <a:solidFill>
                            <a:srgbClr val="000000"/>
                          </a:solidFill>
                          <a:effectLst/>
                          <a:latin typeface="Times New Roman" panose="02020603050405020304" pitchFamily="18" charset="0"/>
                        </a:rPr>
                        <a:t>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1.7</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955749598"/>
                  </a:ext>
                </a:extLst>
              </a:tr>
              <a:tr h="386071">
                <a:tc>
                  <a:txBody>
                    <a:bodyPr/>
                    <a:lstStyle/>
                    <a:p>
                      <a:pPr algn="ctr" fontAlgn="ctr">
                        <a:buNone/>
                      </a:pPr>
                      <a:r>
                        <a:rPr lang="en-US" sz="1200" b="0" i="0" u="none" strike="noStrike">
                          <a:solidFill>
                            <a:srgbClr val="000000"/>
                          </a:solidFill>
                          <a:effectLst/>
                          <a:latin typeface="Times New Roman" panose="02020603050405020304" pitchFamily="18" charset="0"/>
                        </a:rPr>
                        <a:t>4</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12.5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13.8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12.3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4092763321"/>
                  </a:ext>
                </a:extLst>
              </a:tr>
              <a:tr h="383174">
                <a:tc>
                  <a:txBody>
                    <a:bodyPr/>
                    <a:lstStyle/>
                    <a:p>
                      <a:pPr algn="ctr" fontAlgn="ctr">
                        <a:buNone/>
                      </a:pPr>
                      <a:r>
                        <a:rPr lang="en-US" sz="1200" b="0" i="0" u="none" strike="noStrike">
                          <a:solidFill>
                            <a:srgbClr val="000000"/>
                          </a:solidFill>
                          <a:effectLst/>
                          <a:latin typeface="Times New Roman" panose="02020603050405020304" pitchFamily="18" charset="0"/>
                        </a:rPr>
                        <a:t>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200" b="1" i="0" u="none" strike="noStrike">
                          <a:solidFill>
                            <a:srgbClr val="000000"/>
                          </a:solidFill>
                          <a:effectLst/>
                          <a:latin typeface="Times New Roman" panose="02020603050405020304" pitchFamily="18" charset="0"/>
                        </a:rPr>
                        <a:t>B787 rủi ro AOG do ENG</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Times New Roman" panose="02020603050405020304" pitchFamily="18" charset="0"/>
                        </a:rPr>
                        <a:t>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Times New Roman" panose="02020603050405020304" pitchFamily="18" charset="0"/>
                        </a:rPr>
                        <a:t> 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Times New Roman" panose="02020603050405020304" pitchFamily="18" charset="0"/>
                        </a:rPr>
                        <a:t> 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Times New Roman" panose="02020603050405020304" pitchFamily="18" charset="0"/>
                        </a:rPr>
                        <a:t> 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200" b="0" i="0" u="none" strike="noStrike">
                          <a:solidFill>
                            <a:srgbClr val="000000"/>
                          </a:solidFill>
                          <a:effectLst/>
                          <a:latin typeface="Times New Roman" panose="02020603050405020304" pitchFamily="18" charset="0"/>
                        </a:rPr>
                        <a:t>- Rủi ro phát sinh tàu AOG do ENG A863/</a:t>
                      </a:r>
                      <a:r>
                        <a:rPr lang="pt-BR" sz="1200" b="0" i="0" u="none" strike="noStrike">
                          <a:solidFill>
                            <a:srgbClr val="FF0000"/>
                          </a:solidFill>
                          <a:effectLst/>
                          <a:latin typeface="Times New Roman" panose="02020603050405020304" pitchFamily="18" charset="0"/>
                        </a:rPr>
                        <a:t>A862</a:t>
                      </a:r>
                      <a:r>
                        <a:rPr lang="pt-BR" sz="1200" b="0" i="0" u="none" strike="noStrike">
                          <a:solidFill>
                            <a:srgbClr val="000000"/>
                          </a:solidFill>
                          <a:effectLst/>
                          <a:latin typeface="Times New Roman" panose="02020603050405020304" pitchFamily="18" charset="0"/>
                        </a:rPr>
                        <a:t> BSI 50CY.</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373951949"/>
                  </a:ext>
                </a:extLst>
              </a:tr>
              <a:tr h="812327">
                <a:tc>
                  <a:txBody>
                    <a:bodyPr/>
                    <a:lstStyle/>
                    <a:p>
                      <a:pPr algn="ctr" fontAlgn="ctr">
                        <a:buNone/>
                      </a:pPr>
                      <a:r>
                        <a:rPr lang="en-US" sz="1200" b="0" i="0" u="none" strike="noStrike">
                          <a:solidFill>
                            <a:srgbClr val="000000"/>
                          </a:solidFill>
                          <a:effectLst/>
                          <a:latin typeface="Times New Roman" panose="02020603050405020304" pitchFamily="18" charset="0"/>
                        </a:rPr>
                        <a:t>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B787 dừng BD</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1.4</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vi-VN" sz="1200" b="0" i="0" u="none" strike="noStrike" dirty="0">
                          <a:solidFill>
                            <a:srgbClr val="000000"/>
                          </a:solidFill>
                          <a:effectLst/>
                          <a:latin typeface="Times New Roman" panose="02020603050405020304" pitchFamily="18" charset="0"/>
                        </a:rPr>
                        <a:t>- 09/2025: tăng 0.3 tàu do bổ sung sơn cánh A871</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- 10-11/2025: tăng 1.3-1.4 tàu do dồn dịch lịch từ tháng 07/2025 và thực hiện AD US-2025-06-13 “Floor Beam Fiting Inspection” deadline: 08/12/2027 trong check Y6 A872/A873/A879, Y3 A871</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2660485079"/>
                  </a:ext>
                </a:extLst>
              </a:tr>
              <a:tr h="386071">
                <a:tc>
                  <a:txBody>
                    <a:bodyPr/>
                    <a:lstStyle/>
                    <a:p>
                      <a:pPr algn="ctr" fontAlgn="ctr">
                        <a:buNone/>
                      </a:pPr>
                      <a:r>
                        <a:rPr lang="en-US" sz="1200" b="0" i="0" u="none" strike="noStrike">
                          <a:solidFill>
                            <a:srgbClr val="000000"/>
                          </a:solidFill>
                          <a:effectLst/>
                          <a:latin typeface="Times New Roman" panose="02020603050405020304" pitchFamily="18" charset="0"/>
                        </a:rPr>
                        <a:t>7</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1.4</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178720928"/>
                  </a:ext>
                </a:extLst>
              </a:tr>
              <a:tr h="383174">
                <a:tc>
                  <a:txBody>
                    <a:bodyPr/>
                    <a:lstStyle/>
                    <a:p>
                      <a:pPr algn="ctr" fontAlgn="ctr">
                        <a:buNone/>
                      </a:pPr>
                      <a:r>
                        <a:rPr lang="en-US" sz="1200" b="0" i="0" u="none" strike="noStrike">
                          <a:solidFill>
                            <a:srgbClr val="000000"/>
                          </a:solidFill>
                          <a:effectLst/>
                          <a:latin typeface="Times New Roman" panose="02020603050405020304" pitchFamily="18" charset="0"/>
                        </a:rPr>
                        <a:t>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B787 thực tế có thể khai thác</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15.7</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15.7</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2113205052"/>
                  </a:ext>
                </a:extLst>
              </a:tr>
              <a:tr h="383174">
                <a:tc>
                  <a:txBody>
                    <a:bodyPr/>
                    <a:lstStyle/>
                    <a:p>
                      <a:pPr algn="ctr" fontAlgn="ctr">
                        <a:buNone/>
                      </a:pPr>
                      <a:r>
                        <a:rPr lang="en-US" sz="1200" b="0" i="0" u="none" strike="noStrike">
                          <a:solidFill>
                            <a:srgbClr val="000000"/>
                          </a:solidFill>
                          <a:effectLst/>
                          <a:latin typeface="Times New Roman" panose="02020603050405020304" pitchFamily="18" charset="0"/>
                        </a:rPr>
                        <a:t>9</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A350/B787 dừng ( ENG + BD)</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4.1</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4.4</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0.4</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08586264"/>
                  </a:ext>
                </a:extLst>
              </a:tr>
              <a:tr h="386071">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27.2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26.7</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26.9</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26.6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27.5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28.5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30.6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28.3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771194323"/>
                  </a:ext>
                </a:extLst>
              </a:tr>
              <a:tr h="386071">
                <a:tc>
                  <a:txBody>
                    <a:bodyPr/>
                    <a:lstStyle/>
                    <a:p>
                      <a:pPr algn="ctr" fontAlgn="ctr">
                        <a:buNone/>
                      </a:pPr>
                      <a:r>
                        <a:rPr lang="en-US" sz="1200" b="0" i="0" u="none" strike="noStrike">
                          <a:solidFill>
                            <a:srgbClr val="000000"/>
                          </a:solidFill>
                          <a:effectLst/>
                          <a:latin typeface="Times New Roman" panose="02020603050405020304" pitchFamily="18" charset="0"/>
                        </a:rPr>
                        <a:t>11</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nhu cầu A350/B787 yêu cầu từ KHPT</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29.0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28.0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28.0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567225195"/>
                  </a:ext>
                </a:extLst>
              </a:tr>
              <a:tr h="386071">
                <a:tc>
                  <a:txBody>
                    <a:bodyPr/>
                    <a:lstStyle/>
                    <a:p>
                      <a:pPr algn="ctr" fontAlgn="ctr">
                        <a:buNone/>
                      </a:pPr>
                      <a:r>
                        <a:rPr lang="en-US" sz="1200" b="0" i="0" u="none" strike="noStrike">
                          <a:solidFill>
                            <a:srgbClr val="000000"/>
                          </a:solidFill>
                          <a:effectLst/>
                          <a:latin typeface="Times New Roman" panose="02020603050405020304" pitchFamily="18" charset="0"/>
                        </a:rPr>
                        <a:t>12</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A350/B787 so với nhu cầu của KHPT</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(12) = (11) - (10)</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dirty="0">
                          <a:solidFill>
                            <a:schemeClr val="tx1"/>
                          </a:solidFill>
                          <a:effectLst/>
                          <a:latin typeface="Times New Roman" panose="02020603050405020304" pitchFamily="18" charset="0"/>
                        </a:rPr>
                        <a:t>-1.8</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B6E"/>
                    </a:solidFill>
                  </a:tcPr>
                </a:tc>
                <a:tc>
                  <a:txBody>
                    <a:bodyPr/>
                    <a:lstStyle/>
                    <a:p>
                      <a:pPr algn="ctr" fontAlgn="ctr">
                        <a:buNone/>
                      </a:pPr>
                      <a:r>
                        <a:rPr lang="en-US" sz="1200" b="0" i="0" u="none" strike="noStrike">
                          <a:solidFill>
                            <a:srgbClr val="FF0000"/>
                          </a:solidFill>
                          <a:effectLst/>
                          <a:latin typeface="Times New Roman" panose="02020603050405020304" pitchFamily="18" charset="0"/>
                        </a:rPr>
                        <a:t>-0.3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880"/>
                    </a:solidFill>
                  </a:tcPr>
                </a:tc>
                <a:tc>
                  <a:txBody>
                    <a:bodyPr/>
                    <a:lstStyle/>
                    <a:p>
                      <a:pPr algn="ctr" fontAlgn="ctr">
                        <a:buNone/>
                      </a:pPr>
                      <a:r>
                        <a:rPr lang="en-US" sz="1200" b="0" i="0" u="none" strike="noStrike" dirty="0">
                          <a:solidFill>
                            <a:srgbClr val="FF0000"/>
                          </a:solidFill>
                          <a:effectLst/>
                          <a:latin typeface="Times New Roman" panose="02020603050405020304" pitchFamily="18" charset="0"/>
                        </a:rPr>
                        <a:t>-0.1</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482"/>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-0.4</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27F"/>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182"/>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0.5</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182"/>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0.6</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DF82"/>
                    </a:solidFill>
                  </a:tcPr>
                </a:tc>
                <a:tc>
                  <a:txBody>
                    <a:bodyPr/>
                    <a:lstStyle/>
                    <a:p>
                      <a:pPr algn="ctr" fontAlgn="ctr">
                        <a:buNone/>
                      </a:pPr>
                      <a:r>
                        <a:rPr lang="en-US" sz="1200" b="0" i="0" u="none" strike="noStrike" dirty="0">
                          <a:solidFill>
                            <a:srgbClr val="000000"/>
                          </a:solidFill>
                          <a:effectLst/>
                          <a:latin typeface="Times New Roman" panose="02020603050405020304" pitchFamily="18" charset="0"/>
                        </a:rPr>
                        <a:t>0.3</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AE583"/>
                    </a:solid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5555" marR="5555" marT="55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2356859428"/>
                  </a:ext>
                </a:extLst>
              </a:tr>
            </a:tbl>
          </a:graphicData>
        </a:graphic>
      </p:graphicFrame>
    </p:spTree>
    <p:extLst>
      <p:ext uri="{BB962C8B-B14F-4D97-AF65-F5344CB8AC3E}">
        <p14:creationId xmlns:p14="http://schemas.microsoft.com/office/powerpoint/2010/main" val="1916421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Slide Number Placeholder 3"/>
          <p:cNvSpPr>
            <a:spLocks noGrp="1"/>
          </p:cNvSpPr>
          <p:nvPr>
            <p:ph type="sldNum" sz="quarter" idx="12"/>
          </p:nvPr>
        </p:nvSpPr>
        <p:spPr>
          <a:xfrm>
            <a:off x="8581061" y="5670778"/>
            <a:ext cx="2743200" cy="365125"/>
          </a:xfrm>
        </p:spPr>
        <p:txBody>
          <a:bodyPr>
            <a:normAutofit/>
          </a:bodyPr>
          <a:lstStyle/>
          <a:p>
            <a:fld id="{6C6B6B8D-D74E-47CD-B5EE-156060B7CD17}" type="slidenum">
              <a:rPr lang="en-US" sz="1100" smtClean="0"/>
              <a:t>36</a:t>
            </a:fld>
            <a:endParaRPr lang="en-US" sz="1100" dirty="0"/>
          </a:p>
        </p:txBody>
      </p:sp>
      <p:sp>
        <p:nvSpPr>
          <p:cNvPr id="1048593" name="TextBox 20"/>
          <p:cNvSpPr txBox="1"/>
          <p:nvPr/>
        </p:nvSpPr>
        <p:spPr>
          <a:xfrm>
            <a:off x="685800" y="59329"/>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32</a:t>
            </a:r>
            <a:endParaRPr lang="vi-VN" sz="2700" dirty="0"/>
          </a:p>
        </p:txBody>
      </p:sp>
      <p:sp>
        <p:nvSpPr>
          <p:cNvPr id="1048594" name="TextBox 21"/>
          <p:cNvSpPr txBox="1"/>
          <p:nvPr/>
        </p:nvSpPr>
        <p:spPr>
          <a:xfrm>
            <a:off x="381000" y="3429000"/>
            <a:ext cx="11674151" cy="326135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2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2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endParaRPr lang="en-US" sz="1400" b="1" dirty="0">
              <a:latin typeface="Times New Roman" panose="02020603050405020304" pitchFamily="18" charset="0"/>
              <a:cs typeface="Times New Roman" panose="02020603050405020304" pitchFamily="18" charset="0"/>
            </a:endParaRPr>
          </a:p>
          <a:p>
            <a:pPr marL="285750" indent="-285750">
              <a:lnSpc>
                <a:spcPct val="120000"/>
              </a:lnSpc>
              <a:buFontTx/>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16a,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15ea.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2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08</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2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07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panose="02020603050405020304" pitchFamily="18" charset="0"/>
              <a:cs typeface="Times New Roman" panose="02020603050405020304" pitchFamily="18" charset="0"/>
            </a:endParaRPr>
          </a:p>
          <a:p>
            <a:pPr lvl="1">
              <a:lnSpc>
                <a:spcPct val="120000"/>
              </a:lnSpc>
              <a:buClr>
                <a:srgbClr val="000000"/>
              </a:buClr>
              <a:buSzPts val="1300"/>
            </a:pPr>
            <a:r>
              <a:rPr lang="en-US" sz="1400" dirty="0">
                <a:latin typeface="Times New Roman" panose="02020603050405020304" pitchFamily="18" charset="0"/>
                <a:cs typeface="Times New Roman" panose="02020603050405020304" pitchFamily="18" charset="0"/>
              </a:rPr>
              <a:t>=&gt; KT </a:t>
            </a:r>
            <a:r>
              <a:rPr lang="en-US" sz="1400" dirty="0" err="1">
                <a:latin typeface="Times New Roman" panose="02020603050405020304" pitchFamily="18" charset="0"/>
                <a:cs typeface="Times New Roman" panose="02020603050405020304" pitchFamily="18" charset="0"/>
              </a:rPr>
              <a:t>tiếp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tục</a:t>
            </a:r>
            <a:r>
              <a:rPr lang="en-US" sz="1400" dirty="0">
                <a:latin typeface="Times New Roman" panose="02020603050405020304" pitchFamily="18" charset="0"/>
                <a:cs typeface="Times New Roman" panose="02020603050405020304" pitchFamily="18" charset="0"/>
              </a:rPr>
              <a:t> claim Collins support FOC loan chiller </a:t>
            </a:r>
            <a:r>
              <a:rPr lang="en-US" sz="1400" dirty="0" err="1">
                <a:latin typeface="Times New Roman" panose="02020603050405020304" pitchFamily="18" charset="0"/>
                <a:cs typeface="Times New Roman" panose="02020603050405020304" pitchFamily="18" charset="0"/>
              </a:rPr>
              <a:t>khắc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hóc</a:t>
            </a:r>
            <a:r>
              <a:rPr lang="en-US" sz="1400" dirty="0">
                <a:latin typeface="Times New Roman" panose="02020603050405020304" pitchFamily="18" charset="0"/>
                <a:cs typeface="Times New Roman" panose="02020603050405020304" pitchFamily="18" charset="0"/>
              </a:rPr>
              <a:t> on-wing  </a:t>
            </a:r>
          </a:p>
          <a:p>
            <a:pPr marL="285750" indent="-285750">
              <a:lnSpc>
                <a:spcPct val="120000"/>
              </a:lnSpc>
              <a:buClr>
                <a:srgbClr val="000000"/>
              </a:buClr>
              <a:buSzPts val="1300"/>
              <a:buFont typeface="Times New Roman" panose="02020603050405020304" pitchFamily="18" charset="0"/>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oven: </a:t>
            </a:r>
            <a:r>
              <a:rPr lang="en-US" sz="1400" b="1" dirty="0">
                <a:solidFill>
                  <a:srgbClr val="FF0000"/>
                </a:solidFill>
                <a:latin typeface="Times New Roman" panose="02020603050405020304" pitchFamily="18" charset="0"/>
                <a:cs typeface="Times New Roman" panose="02020603050405020304" pitchFamily="18" charset="0"/>
              </a:rPr>
              <a:t>hỏng </a:t>
            </a:r>
            <a:r>
              <a:rPr lang="en-US" sz="1400" b="1" dirty="0" err="1">
                <a:solidFill>
                  <a:srgbClr val="FF0000"/>
                </a:solidFill>
                <a:latin typeface="Times New Roman" panose="02020603050405020304" pitchFamily="18" charset="0"/>
                <a:cs typeface="Times New Roman" panose="02020603050405020304" pitchFamily="18" charset="0"/>
              </a:rPr>
              <a:t>hóc</a:t>
            </a:r>
            <a:r>
              <a:rPr lang="en-US" sz="1400" b="1" dirty="0">
                <a:solidFill>
                  <a:srgbClr val="FF0000"/>
                </a:solidFill>
                <a:latin typeface="Times New Roman" panose="02020603050405020304" pitchFamily="18" charset="0"/>
                <a:cs typeface="Times New Roman" panose="02020603050405020304" pitchFamily="18" charset="0"/>
              </a:rPr>
              <a:t> 18ea, khắc </a:t>
            </a:r>
            <a:r>
              <a:rPr lang="en-US" sz="1400" b="1" dirty="0" err="1">
                <a:solidFill>
                  <a:srgbClr val="FF0000"/>
                </a:solidFill>
                <a:latin typeface="Times New Roman" panose="02020603050405020304" pitchFamily="18" charset="0"/>
                <a:cs typeface="Times New Roman" panose="02020603050405020304" pitchFamily="18" charset="0"/>
              </a:rPr>
              <a:t>phục</a:t>
            </a:r>
            <a:r>
              <a:rPr lang="en-US" sz="1400" b="1" dirty="0">
                <a:solidFill>
                  <a:srgbClr val="FF0000"/>
                </a:solidFill>
                <a:latin typeface="Times New Roman" panose="02020603050405020304" pitchFamily="18" charset="0"/>
                <a:cs typeface="Times New Roman" panose="02020603050405020304" pitchFamily="18" charset="0"/>
              </a:rPr>
              <a:t> 03ea, </a:t>
            </a:r>
            <a:r>
              <a:rPr lang="en-US" sz="1400" b="1" dirty="0" err="1">
                <a:solidFill>
                  <a:srgbClr val="FF0000"/>
                </a:solidFill>
                <a:latin typeface="Times New Roman" panose="02020603050405020304" pitchFamily="18" charset="0"/>
                <a:cs typeface="Times New Roman" panose="02020603050405020304" pitchFamily="18" charset="0"/>
              </a:rPr>
              <a:t>tồn</a:t>
            </a:r>
            <a:r>
              <a:rPr lang="en-US" sz="1400" b="1" dirty="0">
                <a:solidFill>
                  <a:srgbClr val="FF0000"/>
                </a:solidFill>
                <a:latin typeface="Times New Roman" panose="02020603050405020304" pitchFamily="18" charset="0"/>
                <a:cs typeface="Times New Roman" panose="02020603050405020304" pitchFamily="18" charset="0"/>
              </a:rPr>
              <a:t> 15ea </a:t>
            </a:r>
          </a:p>
          <a:p>
            <a:pPr marL="742950" lvl="1" indent="-285750">
              <a:lnSpc>
                <a:spcPct val="12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Safran A350A: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13ea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 oven). Oven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A350A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nhiều</a:t>
            </a:r>
            <a:r>
              <a:rPr lang="en-US" sz="1400" dirty="0">
                <a:solidFill>
                  <a:schemeClr val="tx1"/>
                </a:solidFill>
                <a:latin typeface="Times New Roman" panose="02020603050405020304" pitchFamily="18" charset="0"/>
                <a:cs typeface="Times New Roman" panose="02020603050405020304" pitchFamily="18" charset="0"/>
              </a:rPr>
              <a:t>, obsolete .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33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02 oven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về</a:t>
            </a:r>
            <a:endParaRPr lang="en-US" sz="1400" dirty="0">
              <a:solidFill>
                <a:schemeClr val="tx1"/>
              </a:solidFill>
              <a:latin typeface="Times New Roman" panose="02020603050405020304" pitchFamily="18" charset="0"/>
              <a:cs typeface="Times New Roman" panose="02020603050405020304" pitchFamily="18" charset="0"/>
            </a:endParaRPr>
          </a:p>
          <a:p>
            <a:pPr lvl="1">
              <a:lnSpc>
                <a:spcPct val="120000"/>
              </a:lnSpc>
              <a:buClr>
                <a:srgbClr val="000000"/>
              </a:buClr>
              <a:buSzPts val="1300"/>
            </a:pPr>
            <a:r>
              <a:rPr lang="en-US" sz="1400" dirty="0">
                <a:solidFill>
                  <a:schemeClr val="tx1"/>
                </a:solidFill>
                <a:latin typeface="Times New Roman" panose="02020603050405020304" pitchFamily="18" charset="0"/>
                <a:cs typeface="Times New Roman" panose="02020603050405020304" pitchFamily="18" charset="0"/>
              </a:rPr>
              <a:t>     + </a:t>
            </a:r>
            <a:r>
              <a:rPr lang="en-US" sz="1400" dirty="0" err="1">
                <a:solidFill>
                  <a:schemeClr val="tx1"/>
                </a:solidFill>
                <a:latin typeface="Times New Roman" panose="02020603050405020304" pitchFamily="18" charset="0"/>
                <a:cs typeface="Times New Roman" panose="02020603050405020304" pitchFamily="18" charset="0"/>
              </a:rPr>
              <a:t>Giải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pháp</a:t>
            </a:r>
            <a:r>
              <a:rPr lang="en-US" sz="1400" dirty="0">
                <a:solidFill>
                  <a:schemeClr val="tx1"/>
                </a:solidFill>
                <a:latin typeface="Times New Roman" panose="02020603050405020304" pitchFamily="18" charset="0"/>
                <a:cs typeface="Times New Roman" panose="02020603050405020304" pitchFamily="18" charset="0"/>
              </a:rPr>
              <a:t> KT: Safran </a:t>
            </a:r>
            <a:r>
              <a:rPr lang="en-US" sz="1400" dirty="0" err="1">
                <a:solidFill>
                  <a:schemeClr val="tx1"/>
                </a:solidFill>
                <a:latin typeface="Times New Roman" panose="02020603050405020304" pitchFamily="18" charset="0"/>
                <a:cs typeface="Times New Roman" panose="02020603050405020304" pitchFamily="18" charset="0"/>
              </a:rPr>
              <a:t>phương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án</a:t>
            </a:r>
            <a:r>
              <a:rPr lang="en-US" sz="1400" dirty="0">
                <a:solidFill>
                  <a:schemeClr val="tx1"/>
                </a:solidFill>
                <a:latin typeface="Times New Roman" panose="02020603050405020304" pitchFamily="18" charset="0"/>
                <a:cs typeface="Times New Roman" panose="02020603050405020304" pitchFamily="18" charset="0"/>
              </a:rPr>
              <a:t> retrofit – T10/2025. KT </a:t>
            </a:r>
            <a:r>
              <a:rPr lang="en-US" sz="1400" dirty="0" err="1">
                <a:solidFill>
                  <a:schemeClr val="tx1"/>
                </a:solidFill>
                <a:latin typeface="Times New Roman" panose="02020603050405020304" pitchFamily="18" charset="0"/>
                <a:cs typeface="Times New Roman" panose="02020603050405020304" pitchFamily="18" charset="0"/>
              </a:rPr>
              <a:t>viết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cap claim Safran </a:t>
            </a:r>
            <a:r>
              <a:rPr lang="en-US" sz="1400" dirty="0" err="1">
                <a:solidFill>
                  <a:schemeClr val="tx1"/>
                </a:solidFill>
                <a:latin typeface="Times New Roman" panose="02020603050405020304" pitchFamily="18" charset="0"/>
                <a:cs typeface="Times New Roman" panose="02020603050405020304" pitchFamily="18" charset="0"/>
              </a:rPr>
              <a:t>tìm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sớm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retrofit. </a:t>
            </a:r>
          </a:p>
          <a:p>
            <a:pPr lvl="1">
              <a:lnSpc>
                <a:spcPct val="120000"/>
              </a:lnSpc>
              <a:buClr>
                <a:srgbClr val="000000"/>
              </a:buClr>
              <a:buSzPts val="1300"/>
            </a:pP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 Quy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ĐTV </a:t>
            </a:r>
            <a:r>
              <a:rPr lang="en-US" sz="1400" dirty="0" err="1">
                <a:solidFill>
                  <a:schemeClr val="tx1"/>
                </a:solidFill>
                <a:latin typeface="Times New Roman" panose="02020603050405020304" pitchFamily="18" charset="0"/>
                <a:cs typeface="Times New Roman" panose="02020603050405020304" pitchFamily="18" charset="0"/>
              </a:rPr>
              <a:t>thực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hiện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quy</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warm up 5 </a:t>
            </a:r>
            <a:r>
              <a:rPr lang="en-US" sz="1400" dirty="0" err="1">
                <a:solidFill>
                  <a:schemeClr val="tx1"/>
                </a:solidFill>
                <a:latin typeface="Times New Roman" panose="02020603050405020304" pitchFamily="18" charset="0"/>
                <a:cs typeface="Times New Roman" panose="02020603050405020304" pitchFamily="18" charset="0"/>
              </a:rPr>
              <a:t>phút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trước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dirty="0">
                <a:solidFill>
                  <a:schemeClr val="tx1"/>
                </a:solidFill>
                <a:latin typeface="Times New Roman" panose="02020603050405020304" pitchFamily="18" charset="0"/>
                <a:cs typeface="Times New Roman" panose="02020603050405020304" pitchFamily="18" charset="0"/>
              </a:rPr>
              <a:t> Oven (</a:t>
            </a:r>
            <a:r>
              <a:rPr lang="en-US" sz="1400" dirty="0" err="1">
                <a:solidFill>
                  <a:schemeClr val="tx1"/>
                </a:solidFill>
                <a:latin typeface="Times New Roman" panose="02020603050405020304" pitchFamily="18" charset="0"/>
                <a:cs typeface="Times New Roman" panose="02020603050405020304" pitchFamily="18" charset="0"/>
              </a:rPr>
              <a:t>khuyến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từ</a:t>
            </a:r>
            <a:r>
              <a:rPr lang="en-US" sz="1400" dirty="0">
                <a:solidFill>
                  <a:schemeClr val="tx1"/>
                </a:solidFill>
                <a:latin typeface="Times New Roman" panose="02020603050405020304" pitchFamily="18" charset="0"/>
                <a:cs typeface="Times New Roman" panose="02020603050405020304" pitchFamily="18" charset="0"/>
              </a:rPr>
              <a:t> Safran)</a:t>
            </a:r>
          </a:p>
          <a:p>
            <a:pPr marL="742950" lvl="1" indent="-285750">
              <a:lnSpc>
                <a:spcPct val="12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A321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A35X: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2 oven =&gt;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được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kiểm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soát</a:t>
            </a:r>
            <a:r>
              <a:rPr lang="en-US" sz="1400" dirty="0">
                <a:solidFill>
                  <a:schemeClr val="tx1"/>
                </a:solidFill>
                <a:latin typeface="Times New Roman" panose="02020603050405020304" pitchFamily="18" charset="0"/>
                <a:cs typeface="Times New Roman" panose="02020603050405020304" pitchFamily="18" charset="0"/>
              </a:rPr>
              <a:t>; QLVT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mua</a:t>
            </a:r>
            <a:r>
              <a:rPr lang="en-US" sz="1400" dirty="0">
                <a:solidFill>
                  <a:schemeClr val="tx1"/>
                </a:solidFill>
                <a:latin typeface="Times New Roman" panose="02020603050405020304" pitchFamily="18" charset="0"/>
                <a:cs typeface="Times New Roman" panose="02020603050405020304" pitchFamily="18" charset="0"/>
              </a:rPr>
              <a:t> used part/new part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SB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1048595" name="TextBox 22"/>
          <p:cNvSpPr txBox="1"/>
          <p:nvPr/>
        </p:nvSpPr>
        <p:spPr>
          <a:xfrm>
            <a:off x="386231" y="1777651"/>
            <a:ext cx="11674150" cy="70104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3372/3483 SVDU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119 INOP SVDU). </a:t>
            </a:r>
            <a:r>
              <a:rPr lang="en-US" sz="1400" dirty="0">
                <a:solidFill>
                  <a:schemeClr val="tx1"/>
                </a:solidFill>
                <a:latin typeface="Times New Roman" panose="02020603050405020304" pitchFamily="18" charset="0"/>
                <a:cs typeface="Times New Roman" panose="02020603050405020304" pitchFamily="18" charset="0"/>
              </a:rPr>
              <a:t>Trong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30:  hỏng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5 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24ea. </a:t>
            </a:r>
            <a:endParaRPr lang="en-GB" sz="1400" dirty="0">
              <a:solidFill>
                <a:schemeClr val="tx1"/>
              </a:solidFill>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=&gt; </a:t>
            </a:r>
            <a:r>
              <a:rPr lang="vi-VN" sz="1400" dirty="0"/>
              <a:t>Hỏng hóc</a:t>
            </a:r>
            <a:r>
              <a:rPr lang="en-US" sz="1400" dirty="0"/>
              <a:t> </a:t>
            </a:r>
            <a:r>
              <a:rPr lang="en-US" sz="1400" dirty="0" err="1"/>
              <a:t>tăng</a:t>
            </a:r>
            <a:r>
              <a:rPr lang="en-US" sz="1400" dirty="0"/>
              <a:t> </a:t>
            </a:r>
            <a:r>
              <a:rPr lang="en-US" sz="1400" dirty="0" err="1"/>
              <a:t>trở</a:t>
            </a:r>
            <a:r>
              <a:rPr lang="en-US" sz="1400" dirty="0"/>
              <a:t> </a:t>
            </a:r>
            <a:r>
              <a:rPr lang="en-US" sz="1400" dirty="0" err="1"/>
              <a:t>lại</a:t>
            </a:r>
            <a:r>
              <a:rPr lang="en-US" sz="1400" dirty="0"/>
              <a:t> </a:t>
            </a:r>
            <a:r>
              <a:rPr lang="en-US" sz="1400" dirty="0" err="1"/>
              <a:t>các</a:t>
            </a:r>
            <a:r>
              <a:rPr lang="en-US" sz="1400" dirty="0"/>
              <a:t> </a:t>
            </a:r>
            <a:r>
              <a:rPr lang="en-US" sz="1400" dirty="0" err="1"/>
              <a:t>khối</a:t>
            </a:r>
            <a:r>
              <a:rPr lang="en-US" sz="1400" dirty="0"/>
              <a:t> pre-mod intermittent</a:t>
            </a:r>
            <a:br>
              <a:rPr lang="en-US" sz="1400" dirty="0"/>
            </a:br>
            <a:r>
              <a:rPr lang="en-US" sz="1400" dirty="0"/>
              <a:t>=&gt; </a:t>
            </a:r>
            <a:r>
              <a:rPr lang="en-US" sz="1400" dirty="0" err="1"/>
              <a:t>Vật</a:t>
            </a:r>
            <a:r>
              <a:rPr lang="en-US" sz="1400" dirty="0"/>
              <a:t> </a:t>
            </a:r>
            <a:r>
              <a:rPr lang="en-US" sz="1400" dirty="0" err="1"/>
              <a:t>tư</a:t>
            </a:r>
            <a:r>
              <a:rPr lang="en-US" sz="1400" dirty="0"/>
              <a:t> quay </a:t>
            </a:r>
            <a:r>
              <a:rPr lang="en-US" sz="1400" dirty="0" err="1"/>
              <a:t>vòng</a:t>
            </a:r>
            <a:r>
              <a:rPr lang="en-US" sz="1400" dirty="0"/>
              <a:t> it (130 </a:t>
            </a:r>
            <a:r>
              <a:rPr lang="en-US" sz="1400" dirty="0" err="1"/>
              <a:t>ea</a:t>
            </a:r>
            <a:r>
              <a:rPr lang="en-US" sz="1400" dirty="0"/>
              <a:t>) =&gt; </a:t>
            </a:r>
            <a:r>
              <a:rPr lang="en-US" sz="1400" dirty="0" err="1"/>
              <a:t>cần</a:t>
            </a:r>
            <a:r>
              <a:rPr lang="en-US" sz="1400" dirty="0"/>
              <a:t> </a:t>
            </a:r>
            <a:r>
              <a:rPr lang="en-US" sz="1400" dirty="0" err="1"/>
              <a:t>cân</a:t>
            </a:r>
            <a:r>
              <a:rPr lang="en-US" sz="1400" dirty="0"/>
              <a:t> </a:t>
            </a:r>
            <a:r>
              <a:rPr lang="en-US" sz="1400" dirty="0" err="1"/>
              <a:t>đối</a:t>
            </a:r>
            <a:r>
              <a:rPr lang="en-US" sz="1400" dirty="0"/>
              <a:t> </a:t>
            </a:r>
            <a:r>
              <a:rPr lang="en-US" sz="1400" dirty="0" err="1"/>
              <a:t>vật</a:t>
            </a:r>
            <a:r>
              <a:rPr lang="en-US" sz="1400" dirty="0"/>
              <a:t> </a:t>
            </a:r>
            <a:r>
              <a:rPr lang="en-US" sz="1400" dirty="0" err="1"/>
              <a:t>tư</a:t>
            </a:r>
            <a:r>
              <a:rPr lang="en-US" sz="1400" dirty="0"/>
              <a:t> </a:t>
            </a:r>
            <a:r>
              <a:rPr lang="en-US" sz="1400" dirty="0" err="1"/>
              <a:t>khắc</a:t>
            </a:r>
            <a:r>
              <a:rPr lang="en-US" sz="1400" dirty="0"/>
              <a:t> </a:t>
            </a:r>
            <a:r>
              <a:rPr lang="en-US" sz="1400" dirty="0" err="1"/>
              <a:t>phục</a:t>
            </a:r>
            <a:r>
              <a:rPr lang="en-US" sz="1400" dirty="0"/>
              <a:t> </a:t>
            </a:r>
            <a:r>
              <a:rPr lang="en-US" sz="1400" dirty="0" err="1"/>
              <a:t>hỏng</a:t>
            </a:r>
            <a:r>
              <a:rPr lang="en-US" sz="1400" dirty="0"/>
              <a:t> </a:t>
            </a:r>
            <a:r>
              <a:rPr lang="en-US" sz="1400" dirty="0" err="1"/>
              <a:t>hóc</a:t>
            </a:r>
            <a:r>
              <a:rPr lang="en-US" sz="1400" dirty="0"/>
              <a:t> </a:t>
            </a:r>
            <a:r>
              <a:rPr lang="en-US" sz="1400" dirty="0" err="1"/>
              <a:t>và</a:t>
            </a:r>
            <a:r>
              <a:rPr lang="en-US" sz="1400" dirty="0"/>
              <a:t> </a:t>
            </a:r>
            <a:r>
              <a:rPr lang="en-US" sz="1400" dirty="0" err="1"/>
              <a:t>chuẩn</a:t>
            </a:r>
            <a:r>
              <a:rPr lang="en-US" sz="1400" dirty="0"/>
              <a:t> </a:t>
            </a:r>
            <a:r>
              <a:rPr lang="en-US" sz="1400" dirty="0" err="1"/>
              <a:t>bị</a:t>
            </a:r>
            <a:r>
              <a:rPr lang="en-US" sz="1400" dirty="0"/>
              <a:t> RTS A895 (</a:t>
            </a:r>
            <a:r>
              <a:rPr lang="en-US" sz="1400" dirty="0" err="1"/>
              <a:t>đang</a:t>
            </a:r>
            <a:r>
              <a:rPr lang="en-US" sz="1400" dirty="0"/>
              <a:t> </a:t>
            </a:r>
            <a:r>
              <a:rPr lang="en-US" sz="1400" dirty="0" err="1"/>
              <a:t>thiếu</a:t>
            </a:r>
            <a:r>
              <a:rPr lang="en-US" sz="1400" dirty="0"/>
              <a:t> 150 SVDU).</a:t>
            </a:r>
            <a:endParaRPr lang="en-US" sz="1400" dirty="0">
              <a:latin typeface="Times New Roman" panose="02020603050405020304" pitchFamily="18" charset="0"/>
              <a:cs typeface="Times New Roman" panose="02020603050405020304" pitchFamily="18" charset="0"/>
            </a:endParaRPr>
          </a:p>
        </p:txBody>
      </p:sp>
      <p:sp>
        <p:nvSpPr>
          <p:cNvPr id="1048596" name="TextBox 24"/>
          <p:cNvSpPr txBox="1"/>
          <p:nvPr/>
        </p:nvSpPr>
        <p:spPr>
          <a:xfrm>
            <a:off x="383638" y="2514600"/>
            <a:ext cx="11673030" cy="90424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LAV:</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1048597" name="TextBox 25"/>
          <p:cNvSpPr txBox="1"/>
          <p:nvPr/>
        </p:nvSpPr>
        <p:spPr>
          <a:xfrm>
            <a:off x="365449" y="533400"/>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32: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239 (</a:t>
            </a:r>
            <a:r>
              <a:rPr lang="en-US" sz="1400" dirty="0" err="1">
                <a:latin typeface="Times New Roman" panose="02020603050405020304" pitchFamily="18" charset="0"/>
                <a:cs typeface="Times New Roman" panose="02020603050405020304" pitchFamily="18" charset="0"/>
              </a:rPr>
              <a:t>giảm</a:t>
            </a:r>
            <a:r>
              <a:rPr lang="en-US" sz="1400" dirty="0">
                <a:latin typeface="Times New Roman" panose="02020603050405020304" pitchFamily="18" charset="0"/>
                <a:cs typeface="Times New Roman" panose="02020603050405020304" pitchFamily="18" charset="0"/>
              </a:rPr>
              <a:t> 15%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31),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93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146 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13 %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31).</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1048598" name="TextBox 26"/>
          <p:cNvSpPr txBox="1"/>
          <p:nvPr/>
        </p:nvSpPr>
        <p:spPr>
          <a:xfrm>
            <a:off x="375591" y="937736"/>
            <a:ext cx="11674150" cy="70104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32</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06,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02,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04.</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08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04</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5194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822544"/>
        </p:xfrm>
        <a:graphic>
          <a:graphicData uri="http://schemas.openxmlformats.org/drawingml/2006/table">
            <a:tbl>
              <a:tblPr/>
              <a:tblGrid>
                <a:gridCol w="792709">
                  <a:extLst>
                    <a:ext uri="{9D8B030D-6E8A-4147-A177-3AD203B41FA5}">
                      <a16:colId xmlns:a16="http://schemas.microsoft.com/office/drawing/2014/main" xmlns="" val="4293334556"/>
                    </a:ext>
                  </a:extLst>
                </a:gridCol>
                <a:gridCol w="1118287">
                  <a:extLst>
                    <a:ext uri="{9D8B030D-6E8A-4147-A177-3AD203B41FA5}">
                      <a16:colId xmlns:a16="http://schemas.microsoft.com/office/drawing/2014/main" xmlns="" val="3593396119"/>
                    </a:ext>
                  </a:extLst>
                </a:gridCol>
                <a:gridCol w="948420">
                  <a:extLst>
                    <a:ext uri="{9D8B030D-6E8A-4147-A177-3AD203B41FA5}">
                      <a16:colId xmlns:a16="http://schemas.microsoft.com/office/drawing/2014/main" xmlns="" val="1444269426"/>
                    </a:ext>
                  </a:extLst>
                </a:gridCol>
                <a:gridCol w="990886">
                  <a:extLst>
                    <a:ext uri="{9D8B030D-6E8A-4147-A177-3AD203B41FA5}">
                      <a16:colId xmlns:a16="http://schemas.microsoft.com/office/drawing/2014/main" xmlns="" val="2696731085"/>
                    </a:ext>
                  </a:extLst>
                </a:gridCol>
                <a:gridCol w="1104130">
                  <a:extLst>
                    <a:ext uri="{9D8B030D-6E8A-4147-A177-3AD203B41FA5}">
                      <a16:colId xmlns:a16="http://schemas.microsoft.com/office/drawing/2014/main" xmlns="" val="2360079028"/>
                    </a:ext>
                  </a:extLst>
                </a:gridCol>
              </a:tblGrid>
              <a:tr h="252193">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75929344"/>
                  </a:ext>
                </a:extLst>
              </a:tr>
              <a:tr h="300614">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32964238"/>
                  </a:ext>
                </a:extLst>
              </a:tr>
              <a:tr h="252193">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235:55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7896335"/>
                  </a:ext>
                </a:extLst>
              </a:tr>
              <a:tr h="252193">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1775603"/>
                  </a:ext>
                </a:extLst>
              </a:tr>
              <a:tr h="252193">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24455108"/>
                  </a:ext>
                </a:extLst>
              </a:tr>
              <a:tr h="252193">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4274135"/>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829:10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5172352"/>
                  </a:ext>
                </a:extLst>
              </a:tr>
              <a:tr h="252193">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798:30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341854"/>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93120"/>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505:05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4780528"/>
                  </a:ext>
                </a:extLst>
              </a:tr>
              <a:tr h="252193">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3284901"/>
                  </a:ext>
                </a:extLst>
              </a:tr>
            </a:tbl>
          </a:graphicData>
        </a:graphic>
      </p:graphicFrame>
      <p:graphicFrame>
        <p:nvGraphicFramePr>
          <p:cNvPr id="9" name="Table 8"/>
          <p:cNvGraphicFramePr>
            <a:graphicFrameLocks noGrp="1"/>
          </p:cNvGraphicFramePr>
          <p:nvPr>
            <p:extLst/>
          </p:nvPr>
        </p:nvGraphicFramePr>
        <p:xfrm>
          <a:off x="6312510" y="3904053"/>
          <a:ext cx="5117489" cy="2822545"/>
        </p:xfrm>
        <a:graphic>
          <a:graphicData uri="http://schemas.openxmlformats.org/drawingml/2006/table">
            <a:tbl>
              <a:tblPr/>
              <a:tblGrid>
                <a:gridCol w="818798">
                  <a:extLst>
                    <a:ext uri="{9D8B030D-6E8A-4147-A177-3AD203B41FA5}">
                      <a16:colId xmlns:a16="http://schemas.microsoft.com/office/drawing/2014/main" xmlns="" val="4293334556"/>
                    </a:ext>
                  </a:extLst>
                </a:gridCol>
                <a:gridCol w="1155092">
                  <a:extLst>
                    <a:ext uri="{9D8B030D-6E8A-4147-A177-3AD203B41FA5}">
                      <a16:colId xmlns:a16="http://schemas.microsoft.com/office/drawing/2014/main" xmlns="" val="3593396119"/>
                    </a:ext>
                  </a:extLst>
                </a:gridCol>
                <a:gridCol w="979634">
                  <a:extLst>
                    <a:ext uri="{9D8B030D-6E8A-4147-A177-3AD203B41FA5}">
                      <a16:colId xmlns:a16="http://schemas.microsoft.com/office/drawing/2014/main" xmlns="" val="1444269426"/>
                    </a:ext>
                  </a:extLst>
                </a:gridCol>
                <a:gridCol w="1023497">
                  <a:extLst>
                    <a:ext uri="{9D8B030D-6E8A-4147-A177-3AD203B41FA5}">
                      <a16:colId xmlns:a16="http://schemas.microsoft.com/office/drawing/2014/main" xmlns="" val="2696731085"/>
                    </a:ext>
                  </a:extLst>
                </a:gridCol>
                <a:gridCol w="1140468">
                  <a:extLst>
                    <a:ext uri="{9D8B030D-6E8A-4147-A177-3AD203B41FA5}">
                      <a16:colId xmlns:a16="http://schemas.microsoft.com/office/drawing/2014/main" xmlns=""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244:05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863:55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868:15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897:35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286:00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93120"/>
                  </a:ext>
                </a:extLst>
              </a:tr>
              <a:tr h="278642">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456:55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242:45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3284901"/>
                  </a:ext>
                </a:extLst>
              </a:tr>
            </a:tbl>
          </a:graphicData>
        </a:graphic>
      </p:graphicFrame>
      <p:graphicFrame>
        <p:nvGraphicFramePr>
          <p:cNvPr id="11" name="Chart 10"/>
          <p:cNvGraphicFramePr>
            <a:graphicFrameLocks/>
          </p:cNvGraphicFramePr>
          <p:nvPr>
            <p:extLst/>
          </p:nvPr>
        </p:nvGraphicFramePr>
        <p:xfrm>
          <a:off x="1059507" y="996110"/>
          <a:ext cx="10370492" cy="266149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56650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7"/>
        </p:xfrm>
        <a:graphic>
          <a:graphicData uri="http://schemas.openxmlformats.org/drawingml/2006/table">
            <a:tbl>
              <a:tblPr/>
              <a:tblGrid>
                <a:gridCol w="598583">
                  <a:extLst>
                    <a:ext uri="{9D8B030D-6E8A-4147-A177-3AD203B41FA5}">
                      <a16:colId xmlns:a16="http://schemas.microsoft.com/office/drawing/2014/main" xmlns="" val="4007203340"/>
                    </a:ext>
                  </a:extLst>
                </a:gridCol>
                <a:gridCol w="574752">
                  <a:extLst>
                    <a:ext uri="{9D8B030D-6E8A-4147-A177-3AD203B41FA5}">
                      <a16:colId xmlns:a16="http://schemas.microsoft.com/office/drawing/2014/main" xmlns="" val="426832351"/>
                    </a:ext>
                  </a:extLst>
                </a:gridCol>
                <a:gridCol w="558394">
                  <a:extLst>
                    <a:ext uri="{9D8B030D-6E8A-4147-A177-3AD203B41FA5}">
                      <a16:colId xmlns:a16="http://schemas.microsoft.com/office/drawing/2014/main" xmlns="" val="1721542108"/>
                    </a:ext>
                  </a:extLst>
                </a:gridCol>
                <a:gridCol w="558394">
                  <a:extLst>
                    <a:ext uri="{9D8B030D-6E8A-4147-A177-3AD203B41FA5}">
                      <a16:colId xmlns:a16="http://schemas.microsoft.com/office/drawing/2014/main" xmlns="" val="1471932876"/>
                    </a:ext>
                  </a:extLst>
                </a:gridCol>
                <a:gridCol w="558394">
                  <a:extLst>
                    <a:ext uri="{9D8B030D-6E8A-4147-A177-3AD203B41FA5}">
                      <a16:colId xmlns:a16="http://schemas.microsoft.com/office/drawing/2014/main" xmlns="" val="4014421323"/>
                    </a:ext>
                  </a:extLst>
                </a:gridCol>
                <a:gridCol w="558394">
                  <a:extLst>
                    <a:ext uri="{9D8B030D-6E8A-4147-A177-3AD203B41FA5}">
                      <a16:colId xmlns:a16="http://schemas.microsoft.com/office/drawing/2014/main" xmlns="" val="3056975398"/>
                    </a:ext>
                  </a:extLst>
                </a:gridCol>
                <a:gridCol w="558394">
                  <a:extLst>
                    <a:ext uri="{9D8B030D-6E8A-4147-A177-3AD203B41FA5}">
                      <a16:colId xmlns:a16="http://schemas.microsoft.com/office/drawing/2014/main" xmlns="" val="3963358169"/>
                    </a:ext>
                  </a:extLst>
                </a:gridCol>
                <a:gridCol w="748078">
                  <a:extLst>
                    <a:ext uri="{9D8B030D-6E8A-4147-A177-3AD203B41FA5}">
                      <a16:colId xmlns:a16="http://schemas.microsoft.com/office/drawing/2014/main" xmlns="" val="2287965264"/>
                    </a:ext>
                  </a:extLst>
                </a:gridCol>
                <a:gridCol w="453530">
                  <a:extLst>
                    <a:ext uri="{9D8B030D-6E8A-4147-A177-3AD203B41FA5}">
                      <a16:colId xmlns:a16="http://schemas.microsoft.com/office/drawing/2014/main" xmlns="" val="280549794"/>
                    </a:ext>
                  </a:extLst>
                </a:gridCol>
              </a:tblGrid>
              <a:tr h="304181">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151903382"/>
                  </a:ext>
                </a:extLst>
              </a:tr>
              <a:tr h="419836">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5160127"/>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801804899"/>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85196478"/>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55283256"/>
                  </a:ext>
                </a:extLst>
              </a:tr>
              <a:tr h="304181">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92940620"/>
                  </a:ext>
                </a:extLst>
              </a:tr>
              <a:tr h="304181">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3001083"/>
                  </a:ext>
                </a:extLst>
              </a:tr>
              <a:tr h="304181">
                <a:tc>
                  <a:txBody>
                    <a:bodyPr/>
                    <a:lstStyle/>
                    <a:p>
                      <a:pPr algn="ctr" fontAlgn="ctr"/>
                      <a:r>
                        <a:rPr lang="en-US" sz="1400" b="0" i="0" u="none" strike="noStrike" smtClean="0">
                          <a:solidFill>
                            <a:srgbClr val="000000"/>
                          </a:solidFill>
                          <a:effectLst/>
                          <a:latin typeface="Times New Roman" panose="02020603050405020304" pitchFamily="18" charset="0"/>
                        </a:rPr>
                        <a:t>ATR72</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xmlns="" val="3551115474"/>
                    </a:ext>
                  </a:extLst>
                </a:gridCol>
                <a:gridCol w="566020">
                  <a:extLst>
                    <a:ext uri="{9D8B030D-6E8A-4147-A177-3AD203B41FA5}">
                      <a16:colId xmlns:a16="http://schemas.microsoft.com/office/drawing/2014/main" xmlns="" val="1314180557"/>
                    </a:ext>
                  </a:extLst>
                </a:gridCol>
                <a:gridCol w="566020">
                  <a:extLst>
                    <a:ext uri="{9D8B030D-6E8A-4147-A177-3AD203B41FA5}">
                      <a16:colId xmlns:a16="http://schemas.microsoft.com/office/drawing/2014/main" xmlns="" val="2680264810"/>
                    </a:ext>
                  </a:extLst>
                </a:gridCol>
                <a:gridCol w="566020">
                  <a:extLst>
                    <a:ext uri="{9D8B030D-6E8A-4147-A177-3AD203B41FA5}">
                      <a16:colId xmlns:a16="http://schemas.microsoft.com/office/drawing/2014/main" xmlns="" val="184617242"/>
                    </a:ext>
                  </a:extLst>
                </a:gridCol>
                <a:gridCol w="566020">
                  <a:extLst>
                    <a:ext uri="{9D8B030D-6E8A-4147-A177-3AD203B41FA5}">
                      <a16:colId xmlns:a16="http://schemas.microsoft.com/office/drawing/2014/main" xmlns="" val="3552461699"/>
                    </a:ext>
                  </a:extLst>
                </a:gridCol>
                <a:gridCol w="566020">
                  <a:extLst>
                    <a:ext uri="{9D8B030D-6E8A-4147-A177-3AD203B41FA5}">
                      <a16:colId xmlns:a16="http://schemas.microsoft.com/office/drawing/2014/main" xmlns="" val="3621213656"/>
                    </a:ext>
                  </a:extLst>
                </a:gridCol>
                <a:gridCol w="566020">
                  <a:extLst>
                    <a:ext uri="{9D8B030D-6E8A-4147-A177-3AD203B41FA5}">
                      <a16:colId xmlns:a16="http://schemas.microsoft.com/office/drawing/2014/main" xmlns="" val="4002416887"/>
                    </a:ext>
                  </a:extLst>
                </a:gridCol>
                <a:gridCol w="566020">
                  <a:extLst>
                    <a:ext uri="{9D8B030D-6E8A-4147-A177-3AD203B41FA5}">
                      <a16:colId xmlns:a16="http://schemas.microsoft.com/office/drawing/2014/main" xmlns="" val="2192548362"/>
                    </a:ext>
                  </a:extLst>
                </a:gridCol>
                <a:gridCol w="566020">
                  <a:extLst>
                    <a:ext uri="{9D8B030D-6E8A-4147-A177-3AD203B41FA5}">
                      <a16:colId xmlns:a16="http://schemas.microsoft.com/office/drawing/2014/main" xmlns=""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573633610"/>
                  </a:ext>
                </a:extLst>
              </a:tr>
              <a:tr h="338389">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14169036"/>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13065108"/>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57632801"/>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38142930"/>
                  </a:ext>
                </a:extLst>
              </a:tr>
              <a:tr h="339912">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29221019"/>
                  </a:ext>
                </a:extLst>
              </a:tr>
              <a:tr h="344439">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152154933"/>
                  </a:ext>
                </a:extLst>
              </a:tr>
              <a:tr h="273744">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55859539"/>
                  </a:ext>
                </a:extLst>
              </a:tr>
            </a:tbl>
          </a:graphicData>
        </a:graphic>
      </p:graphicFrame>
      <p:graphicFrame>
        <p:nvGraphicFramePr>
          <p:cNvPr id="8" name="Chart 7"/>
          <p:cNvGraphicFramePr>
            <a:graphicFrameLocks/>
          </p:cNvGraphicFramePr>
          <p:nvPr>
            <p:extLst/>
          </p:nvPr>
        </p:nvGraphicFramePr>
        <p:xfrm>
          <a:off x="925417" y="1219201"/>
          <a:ext cx="10521107" cy="2057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85572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685799" y="322721"/>
            <a:ext cx="1119187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extLst/>
          </p:nvPr>
        </p:nvGraphicFramePr>
        <p:xfrm>
          <a:off x="685799" y="1066800"/>
          <a:ext cx="11191875" cy="5334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341244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
        <p:nvSpPr>
          <p:cNvPr id="158" name="Google Shape;158;g31ccdae391d_0_248"/>
          <p:cNvSpPr/>
          <p:nvPr/>
        </p:nvSpPr>
        <p:spPr>
          <a:xfrm>
            <a:off x="266075" y="680940"/>
            <a:ext cx="117552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NIL</a:t>
            </a:r>
            <a:endParaRPr sz="1500" b="1">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A327 - HAN: EA12, C01, Y01 REMAIN TASK (04/08-11/08): hỏng APU Door, đã rob tàu NEO bảo quản (không có dự phòng)</a:t>
            </a:r>
            <a:endParaRPr sz="1500">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A356 - SGN: LIVERY PAINTING (04/08-13/08): chưa phát sinh</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NIL</a:t>
            </a:r>
            <a:endParaRPr sz="15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chưa có vật tư trong kho:</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328600" y="2850538"/>
            <a:ext cx="11534775" cy="1781175"/>
          </a:xfrm>
          <a:prstGeom prst="rect">
            <a:avLst/>
          </a:prstGeom>
          <a:noFill/>
          <a:ln>
            <a:noFill/>
          </a:ln>
        </p:spPr>
      </p:pic>
    </p:spTree>
    <p:extLst>
      <p:ext uri="{BB962C8B-B14F-4D97-AF65-F5344CB8AC3E}">
        <p14:creationId xmlns:p14="http://schemas.microsoft.com/office/powerpoint/2010/main" val="23413731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68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125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34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a:t>
            </a:r>
            <a:r>
              <a:rPr lang="en-US" sz="1500">
                <a:solidFill>
                  <a:schemeClr val="dk1"/>
                </a:solidFill>
                <a:latin typeface="Times New Roman"/>
                <a:ea typeface="Times New Roman"/>
                <a:cs typeface="Times New Roman"/>
                <a:sym typeface="Times New Roman"/>
              </a:rPr>
              <a:t> 58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16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34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18 overdue orders / total 33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770700" y="2134449"/>
            <a:ext cx="8722476" cy="4299175"/>
          </a:xfrm>
          <a:prstGeom prst="rect">
            <a:avLst/>
          </a:prstGeom>
          <a:noFill/>
          <a:ln>
            <a:noFill/>
          </a:ln>
        </p:spPr>
      </p:pic>
    </p:spTree>
    <p:extLst>
      <p:ext uri="{BB962C8B-B14F-4D97-AF65-F5344CB8AC3E}">
        <p14:creationId xmlns:p14="http://schemas.microsoft.com/office/powerpoint/2010/main" val="250457405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a:t>
            </a:r>
            <a:endParaRPr sz="2800">
              <a:solidFill>
                <a:srgbClr val="FFC000"/>
              </a:solidFill>
              <a:latin typeface="Times New Roman"/>
              <a:ea typeface="Times New Roman"/>
              <a:cs typeface="Times New Roman"/>
              <a:sym typeface="Times New Roman"/>
            </a:endParaRPr>
          </a:p>
        </p:txBody>
      </p:sp>
      <p:sp>
        <p:nvSpPr>
          <p:cNvPr id="176" name="Google Shape;176;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
        <p:nvSpPr>
          <p:cNvPr id="177" name="Google Shape;177;g31ccdae391d_0_285"/>
          <p:cNvSpPr txBox="1"/>
          <p:nvPr/>
        </p:nvSpPr>
        <p:spPr>
          <a:xfrm>
            <a:off x="469725" y="1005200"/>
            <a:ext cx="108840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2000" b="1">
                <a:solidFill>
                  <a:schemeClr val="dk1"/>
                </a:solidFill>
                <a:latin typeface="Times New Roman"/>
                <a:ea typeface="Times New Roman"/>
                <a:cs typeface="Times New Roman"/>
                <a:sym typeface="Times New Roman"/>
              </a:rPr>
              <a:t>1. Danh mục ngoài pool:  </a:t>
            </a:r>
            <a:r>
              <a:rPr lang="en-US" sz="2000">
                <a:solidFill>
                  <a:schemeClr val="dk1"/>
                </a:solidFill>
                <a:latin typeface="Times New Roman"/>
                <a:ea typeface="Times New Roman"/>
                <a:cs typeface="Times New Roman"/>
                <a:sym typeface="Times New Roman"/>
              </a:rPr>
              <a:t>có 01 mục thiếu dự phòng so với yêu cầu: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Starter Duct NEO: hiện đã dùng các thiết bị dự phòng cho tàu NEO bảo quản, có thể rob từ engine dự phòng hoặc tàu bảo quản khi cần gấp</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b="1">
                <a:solidFill>
                  <a:schemeClr val="dk1"/>
                </a:solidFill>
                <a:latin typeface="Times New Roman"/>
                <a:ea typeface="Times New Roman"/>
                <a:cs typeface="Times New Roman"/>
                <a:sym typeface="Times New Roman"/>
              </a:rPr>
              <a:t>2. Danh mục pool: </a:t>
            </a:r>
            <a:r>
              <a:rPr lang="en-US" sz="2000">
                <a:solidFill>
                  <a:schemeClr val="dk1"/>
                </a:solidFill>
                <a:latin typeface="Times New Roman"/>
                <a:ea typeface="Times New Roman"/>
                <a:cs typeface="Times New Roman"/>
                <a:sym typeface="Times New Roman"/>
              </a:rPr>
              <a:t>có 21 mục thiếu dự phòng so với yêu cầu như sau: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- 02 mục có stock alternate (EEC NEO, Primary heat exchanger)</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- 10 mới bị dùng cho tàu khai thác: sẽ về trước 30/07 (ACC VALVE NEO, SSTU, Sensor Delta Pressure, PRV và HPV CEO...)</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- 04 mục không có mức kho MBK (SSU captain, IPCV NEO, Valve Surge control, EIU NEO)</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- 05 mục khó khăn trong việc cung ứng như sau: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Motor Converter: OEM Safran không có stock, leadtime dài (tháng 8/25)</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IFPC PUMP NEO: OEM Collins thiếu PTVT sửa chữa</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Skin Outlet Valve: VSTEA thiếu PTVT sửa chữa</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Travel limitation unit: mới dùng cho tàu bị sự cố A338, đang làm việc với ST</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000" b="1">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1312433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4" name="Google Shape;18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graphicFrame>
        <p:nvGraphicFramePr>
          <p:cNvPr id="185" name="Google Shape;185;g31ccdae391d_0_278"/>
          <p:cNvGraphicFramePr/>
          <p:nvPr/>
        </p:nvGraphicFramePr>
        <p:xfrm>
          <a:off x="558675" y="462325"/>
          <a:ext cx="10287000" cy="6141469"/>
        </p:xfrm>
        <a:graphic>
          <a:graphicData uri="http://schemas.openxmlformats.org/drawingml/2006/table">
            <a:tbl>
              <a:tblPr>
                <a:noFill/>
              </a:tblPr>
              <a:tblGrid>
                <a:gridCol w="382850"/>
                <a:gridCol w="2130900"/>
                <a:gridCol w="2382725"/>
                <a:gridCol w="1051825"/>
                <a:gridCol w="4338700"/>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a:t>
                      </a:r>
                      <a:r>
                        <a:rPr lang="en-US" sz="1300">
                          <a:latin typeface="Times New Roman"/>
                          <a:ea typeface="Times New Roman"/>
                          <a:cs typeface="Times New Roman"/>
                          <a:sym typeface="Times New Roman"/>
                        </a:rPr>
                        <a:t> 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20/08 có 1ea </a:t>
                      </a:r>
                      <a:r>
                        <a:rPr lang="en-US" sz="1300">
                          <a:solidFill>
                            <a:schemeClr val="dk1"/>
                          </a:solidFill>
                          <a:latin typeface="Times New Roman"/>
                          <a:ea typeface="Times New Roman"/>
                          <a:cs typeface="Times New Roman"/>
                          <a:sym typeface="Times New Roman"/>
                        </a:rPr>
                        <a:t>(Vật tư có nguồn cung ứng khó khăn)</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không có mức kho dự phòng</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904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15/8 có 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bl>
          </a:graphicData>
        </a:graphic>
      </p:graphicFrame>
    </p:spTree>
    <p:extLst>
      <p:ext uri="{BB962C8B-B14F-4D97-AF65-F5344CB8AC3E}">
        <p14:creationId xmlns:p14="http://schemas.microsoft.com/office/powerpoint/2010/main" val="159251963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2" name="Google Shape;192;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sp>
        <p:nvSpPr>
          <p:cNvPr id="193" name="Google Shape;193;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18</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25</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16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19</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2</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6</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94" name="Google Shape;194;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95" name="Google Shape;195;g31ccdae391d_0_299"/>
          <p:cNvPicPr preferRelativeResize="0"/>
          <p:nvPr/>
        </p:nvPicPr>
        <p:blipFill>
          <a:blip r:embed="rId3">
            <a:alphaModFix/>
          </a:blip>
          <a:stretch>
            <a:fillRect/>
          </a:stretch>
        </p:blipFill>
        <p:spPr>
          <a:xfrm>
            <a:off x="2105025" y="1695374"/>
            <a:ext cx="7546751" cy="4586374"/>
          </a:xfrm>
          <a:prstGeom prst="rect">
            <a:avLst/>
          </a:prstGeom>
          <a:noFill/>
          <a:ln>
            <a:noFill/>
          </a:ln>
        </p:spPr>
      </p:pic>
    </p:spTree>
    <p:extLst>
      <p:ext uri="{BB962C8B-B14F-4D97-AF65-F5344CB8AC3E}">
        <p14:creationId xmlns:p14="http://schemas.microsoft.com/office/powerpoint/2010/main" val="6854522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2" name="Google Shape;202;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graphicFrame>
        <p:nvGraphicFramePr>
          <p:cNvPr id="203" name="Google Shape;203;g31ccdae391d_0_308"/>
          <p:cNvGraphicFramePr/>
          <p:nvPr/>
        </p:nvGraphicFramePr>
        <p:xfrm>
          <a:off x="607288" y="787650"/>
          <a:ext cx="11227800" cy="4360600"/>
        </p:xfrm>
        <a:graphic>
          <a:graphicData uri="http://schemas.openxmlformats.org/drawingml/2006/table">
            <a:tbl>
              <a:tblPr>
                <a:noFill/>
              </a:tblPr>
              <a:tblGrid>
                <a:gridCol w="756400"/>
                <a:gridCol w="1531850"/>
                <a:gridCol w="1753750"/>
                <a:gridCol w="3592900"/>
                <a:gridCol w="3592900"/>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 + 01 in Vip Kit.</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a:t>
                      </a:r>
                      <a:r>
                        <a:rPr lang="en-US" sz="1300">
                          <a:latin typeface="Times New Roman"/>
                          <a:ea typeface="Times New Roman"/>
                          <a:cs typeface="Times New Roman"/>
                          <a:sym typeface="Times New Roman"/>
                        </a:rPr>
                        <a:t>05</a:t>
                      </a:r>
                      <a:r>
                        <a:rPr lang="en-US" sz="1300" u="none" strike="noStrike" cap="none">
                          <a:latin typeface="Times New Roman"/>
                          <a:ea typeface="Times New Roman"/>
                          <a:cs typeface="Times New Roman"/>
                          <a:sym typeface="Times New Roman"/>
                        </a:rPr>
                        <a:t> hỏng hóc.</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- 05ea RO mới vào shop chưa có EDD.</a:t>
                      </a:r>
                      <a:endParaRPr sz="130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 + 01ea lấp đầy chưa có EDD..</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CMSC</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7000045H03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Hỏng hóc nhiều tại vị trí CAC chưa được làm nâng cấp lên H04 (dự kiến SB có trong tháng 9)</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01ea in stock.</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416106297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
        <p:nvSpPr>
          <p:cNvPr id="211" name="Google Shape;211;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a:t>
            </a:r>
            <a:r>
              <a:rPr lang="en-US" sz="1600">
                <a:solidFill>
                  <a:schemeClr val="dk1"/>
                </a:solidFill>
                <a:latin typeface="Times New Roman"/>
                <a:ea typeface="Times New Roman"/>
                <a:cs typeface="Times New Roman"/>
                <a:sym typeface="Times New Roman"/>
              </a:rPr>
              <a:t> CMSC</a:t>
            </a:r>
            <a:r>
              <a:rPr lang="en-US" sz="1600" b="0" i="0" u="none" strike="noStrike" cap="none">
                <a:solidFill>
                  <a:schemeClr val="dk1"/>
                </a:solidFill>
                <a:latin typeface="Times New Roman"/>
                <a:ea typeface="Times New Roman"/>
                <a:cs typeface="Times New Roman"/>
                <a:sym typeface="Times New Roman"/>
              </a:rPr>
              <a:t>, NSG, CAC, GWIV.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A864 - ANTI –ICE CAC R: đặt hàng CAC inlet, chờ KLM cập nhật.</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A868 - .</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12" name="Google Shape;212;g31ccdae391d_0_315"/>
          <p:cNvPicPr preferRelativeResize="0"/>
          <p:nvPr/>
        </p:nvPicPr>
        <p:blipFill>
          <a:blip r:embed="rId3">
            <a:alphaModFix/>
          </a:blip>
          <a:stretch>
            <a:fillRect/>
          </a:stretch>
        </p:blipFill>
        <p:spPr>
          <a:xfrm>
            <a:off x="795338" y="3257550"/>
            <a:ext cx="10601325" cy="2171700"/>
          </a:xfrm>
          <a:prstGeom prst="rect">
            <a:avLst/>
          </a:prstGeom>
          <a:noFill/>
          <a:ln>
            <a:noFill/>
          </a:ln>
        </p:spPr>
      </p:pic>
    </p:spTree>
    <p:extLst>
      <p:ext uri="{BB962C8B-B14F-4D97-AF65-F5344CB8AC3E}">
        <p14:creationId xmlns:p14="http://schemas.microsoft.com/office/powerpoint/2010/main" val="87252847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19" name="Google Shape;219;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220" name="Google Shape;220;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47</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98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15 </a:t>
            </a:r>
            <a:r>
              <a:rPr lang="en-US" sz="1500" b="0" i="0" u="none" strike="noStrike" cap="none">
                <a:solidFill>
                  <a:schemeClr val="dk1"/>
                </a:solidFill>
                <a:latin typeface="Times New Roman"/>
                <a:ea typeface="Times New Roman"/>
                <a:cs typeface="Times New Roman"/>
                <a:sym typeface="Times New Roman"/>
              </a:rPr>
              <a:t>overdue LO / total </a:t>
            </a:r>
            <a:r>
              <a:rPr lang="en-US" sz="1500">
                <a:solidFill>
                  <a:schemeClr val="dk1"/>
                </a:solidFill>
                <a:latin typeface="Times New Roman"/>
                <a:ea typeface="Times New Roman"/>
                <a:cs typeface="Times New Roman"/>
                <a:sym typeface="Times New Roman"/>
              </a:rPr>
              <a:t>18</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32 </a:t>
            </a:r>
            <a:r>
              <a:rPr lang="en-US" sz="1500" b="0" i="0" u="none" strike="noStrike" cap="none">
                <a:solidFill>
                  <a:schemeClr val="dk1"/>
                </a:solidFill>
                <a:latin typeface="Times New Roman"/>
                <a:ea typeface="Times New Roman"/>
                <a:cs typeface="Times New Roman"/>
                <a:sym typeface="Times New Roman"/>
              </a:rPr>
              <a:t>overdue EO / total </a:t>
            </a:r>
            <a:r>
              <a:rPr lang="en-US" sz="1500">
                <a:solidFill>
                  <a:schemeClr val="dk1"/>
                </a:solidFill>
                <a:latin typeface="Times New Roman"/>
                <a:ea typeface="Times New Roman"/>
                <a:cs typeface="Times New Roman"/>
                <a:sym typeface="Times New Roman"/>
              </a:rPr>
              <a:t>80</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1" name="Google Shape;221;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22" name="Google Shape;222;g31ccdae391d_0_323"/>
          <p:cNvPicPr preferRelativeResize="0"/>
          <p:nvPr/>
        </p:nvPicPr>
        <p:blipFill>
          <a:blip r:embed="rId3">
            <a:alphaModFix/>
          </a:blip>
          <a:stretch>
            <a:fillRect/>
          </a:stretch>
        </p:blipFill>
        <p:spPr>
          <a:xfrm>
            <a:off x="2509848" y="2025623"/>
            <a:ext cx="6640550" cy="4551399"/>
          </a:xfrm>
          <a:prstGeom prst="rect">
            <a:avLst/>
          </a:prstGeom>
          <a:noFill/>
          <a:ln>
            <a:noFill/>
          </a:ln>
        </p:spPr>
      </p:pic>
    </p:spTree>
    <p:extLst>
      <p:ext uri="{BB962C8B-B14F-4D97-AF65-F5344CB8AC3E}">
        <p14:creationId xmlns:p14="http://schemas.microsoft.com/office/powerpoint/2010/main" val="42013770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9" name="Google Shape;229;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graphicFrame>
        <p:nvGraphicFramePr>
          <p:cNvPr id="230" name="Google Shape;230;g31ccdae391d_0_332"/>
          <p:cNvGraphicFramePr/>
          <p:nvPr>
            <p:extLst/>
          </p:nvPr>
        </p:nvGraphicFramePr>
        <p:xfrm>
          <a:off x="474783" y="301869"/>
          <a:ext cx="11561850" cy="6052359"/>
        </p:xfrm>
        <a:graphic>
          <a:graphicData uri="http://schemas.openxmlformats.org/drawingml/2006/table">
            <a:tbl>
              <a:tblPr>
                <a:noFill/>
              </a:tblPr>
              <a:tblGrid>
                <a:gridCol w="778900"/>
                <a:gridCol w="1783525"/>
                <a:gridCol w="1599825"/>
                <a:gridCol w="3699800"/>
                <a:gridCol w="3699800"/>
              </a:tblGrid>
              <a:tr h="266627">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66627">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7082">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Spoiler Servo control</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FCRM</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ín stock (của tàu BQ A895), 01 lấp đầy chưa có EDD</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a:solidFill>
                            <a:schemeClr val="dk1"/>
                          </a:solidFill>
                          <a:latin typeface="Times New Roman"/>
                          <a:ea typeface="Times New Roman"/>
                          <a:cs typeface="Times New Roman"/>
                          <a:sym typeface="Times New Roman"/>
                        </a:rPr>
                        <a:t>01ea in stock</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r>
              <a:tr h="103369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12</a:t>
                      </a:r>
                      <a:r>
                        <a:rPr lang="en-US" sz="1300" u="none" strike="noStrike" cap="none">
                          <a:latin typeface="Times New Roman"/>
                          <a:ea typeface="Times New Roman"/>
                          <a:cs typeface="Times New Roman"/>
                          <a:sym typeface="Times New Roman"/>
                        </a:rPr>
                        <a:t> hỏng hóc + 0</a:t>
                      </a:r>
                      <a:r>
                        <a:rPr lang="en-US" sz="1300">
                          <a:latin typeface="Times New Roman"/>
                          <a:ea typeface="Times New Roman"/>
                          <a:cs typeface="Times New Roman"/>
                          <a:sym typeface="Times New Roman"/>
                        </a:rPr>
                        <a:t>2</a:t>
                      </a:r>
                      <a:r>
                        <a:rPr lang="en-US" sz="1300" u="none" strike="noStrike" cap="none">
                          <a:latin typeface="Times New Roman"/>
                          <a:ea typeface="Times New Roman"/>
                          <a:cs typeface="Times New Roman"/>
                          <a:sym typeface="Times New Roman"/>
                        </a:rPr>
                        <a:t>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- 07</a:t>
                      </a:r>
                      <a:r>
                        <a:rPr lang="en-US" sz="1300" u="none" strike="noStrike" cap="none">
                          <a:solidFill>
                            <a:schemeClr val="dk1"/>
                          </a:solidFill>
                          <a:latin typeface="Times New Roman"/>
                          <a:ea typeface="Times New Roman"/>
                          <a:cs typeface="Times New Roman"/>
                          <a:sym typeface="Times New Roman"/>
                        </a:rPr>
                        <a:t>RO</a:t>
                      </a:r>
                      <a:r>
                        <a:rPr lang="en-US" sz="1300">
                          <a:solidFill>
                            <a:schemeClr val="dk1"/>
                          </a:solidFill>
                          <a:latin typeface="Times New Roman"/>
                          <a:ea typeface="Times New Roman"/>
                          <a:cs typeface="Times New Roman"/>
                          <a:sym typeface="Times New Roman"/>
                        </a:rPr>
                        <a:t>:</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EDD tuần 33.</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+ 03ea EDD 22/09.</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chưa có EDD.</a:t>
                      </a:r>
                      <a:endParaRPr sz="1300">
                        <a:solidFill>
                          <a:schemeClr val="dk1"/>
                        </a:solidFill>
                        <a:latin typeface="Times New Roman"/>
                        <a:ea typeface="Times New Roman"/>
                        <a:cs typeface="Times New Roman"/>
                        <a:sym typeface="Times New Roman"/>
                      </a:endParaRPr>
                    </a:p>
                  </a:txBody>
                  <a:tcPr marL="9525" marR="9525" marT="9525" marB="0" anchor="ctr"/>
                </a:tc>
              </a:tr>
              <a:tr h="897082">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05</a:t>
                      </a:r>
                      <a:r>
                        <a:rPr lang="en-US" sz="1300" u="none" strike="noStrike" cap="none">
                          <a:solidFill>
                            <a:schemeClr val="dk1"/>
                          </a:solidFill>
                          <a:latin typeface="Times New Roman"/>
                          <a:ea typeface="Times New Roman"/>
                          <a:cs typeface="Times New Roman"/>
                          <a:sym typeface="Times New Roman"/>
                        </a:rPr>
                        <a:t>ea in stock</a:t>
                      </a:r>
                      <a:r>
                        <a:rPr lang="en-US" sz="1300">
                          <a:solidFill>
                            <a:schemeClr val="dk1"/>
                          </a:solidFill>
                          <a:latin typeface="Times New Roman"/>
                          <a:ea typeface="Times New Roman"/>
                          <a:cs typeface="Times New Roman"/>
                          <a:sym typeface="Times New Roman"/>
                        </a:rPr>
                        <a:t> (trong đó 04ea là của tàu BQ A895).</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tr>
              <a:tr h="897082">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hệ</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thống</a:t>
                      </a:r>
                      <a:r>
                        <a:rPr lang="en-US" sz="1300" u="none" strike="noStrike" cap="none" dirty="0">
                          <a:latin typeface="Times New Roman"/>
                          <a:ea typeface="Times New Roman"/>
                          <a:cs typeface="Times New Roman"/>
                          <a:sym typeface="Times New Roman"/>
                        </a:rPr>
                        <a:t> chiller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bay.</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TAT </a:t>
                      </a:r>
                      <a:r>
                        <a:rPr lang="en-US" sz="1300" u="none" strike="noStrike" cap="none" dirty="0" err="1">
                          <a:latin typeface="Times New Roman"/>
                          <a:ea typeface="Times New Roman"/>
                          <a:cs typeface="Times New Roman"/>
                          <a:sym typeface="Times New Roman"/>
                        </a:rPr>
                        <a:t>sửa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chữa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tại</a:t>
                      </a:r>
                      <a:r>
                        <a:rPr lang="en-US" sz="1300" u="none" strike="noStrike" cap="none" dirty="0">
                          <a:latin typeface="Times New Roman"/>
                          <a:ea typeface="Times New Roman"/>
                          <a:cs typeface="Times New Roman"/>
                          <a:sym typeface="Times New Roman"/>
                        </a:rPr>
                        <a:t> shop Honeywell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dài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chưa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được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việc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cung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ứng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hàng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Airbus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chậm</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02ea VCRU in stock</a:t>
                      </a:r>
                      <a:endParaRPr sz="1300" dirty="0">
                        <a:solidFill>
                          <a:schemeClr val="dk1"/>
                        </a:solidFill>
                        <a:latin typeface="Times New Roman"/>
                        <a:ea typeface="Times New Roman"/>
                        <a:cs typeface="Times New Roman"/>
                        <a:sym typeface="Times New Roman"/>
                      </a:endParaRPr>
                    </a:p>
                  </a:txBody>
                  <a:tcPr marL="9525" marR="9525" marT="9525" marB="0" anchor="ctr"/>
                </a:tc>
              </a:tr>
              <a:tr h="897082">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X200100</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Độ tin cậy kém nên hỏng hóc rất nhiều.</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15ea </a:t>
                      </a:r>
                      <a:r>
                        <a:rPr lang="en-US" sz="1300" dirty="0" err="1">
                          <a:solidFill>
                            <a:schemeClr val="dk1"/>
                          </a:solidFill>
                          <a:latin typeface="Times New Roman"/>
                          <a:ea typeface="Times New Roman"/>
                          <a:cs typeface="Times New Roman"/>
                          <a:sym typeface="Times New Roman"/>
                        </a:rPr>
                        <a:t>hỏng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hóc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dự</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kiến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cuối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33 release 02ea.</a:t>
                      </a:r>
                      <a:endParaRPr sz="1300" dirty="0">
                        <a:solidFill>
                          <a:schemeClr val="dk1"/>
                        </a:solidFill>
                        <a:latin typeface="Times New Roman"/>
                        <a:ea typeface="Times New Roman"/>
                        <a:cs typeface="Times New Roman"/>
                        <a:sym typeface="Times New Roman"/>
                      </a:endParaRPr>
                    </a:p>
                  </a:txBody>
                  <a:tcPr marL="9525" marR="9525" marT="9525" marB="0" anchor="ctr"/>
                </a:tc>
              </a:tr>
              <a:tr h="897082">
                <a:tc>
                  <a:txBody>
                    <a:bodyPr/>
                    <a:lstStyle/>
                    <a:p>
                      <a:pPr marL="0" marR="0" lvl="0" indent="0" algn="ctr" rtl="0">
                        <a:lnSpc>
                          <a:spcPct val="100000"/>
                        </a:lnSpc>
                        <a:spcBef>
                          <a:spcPts val="0"/>
                        </a:spcBef>
                        <a:spcAft>
                          <a:spcPts val="0"/>
                        </a:spcAft>
                        <a:buNone/>
                      </a:pPr>
                      <a:r>
                        <a:rPr lang="en-US" sz="1300">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latin typeface="Times New Roman"/>
                          <a:ea typeface="Times New Roman"/>
                          <a:cs typeface="Times New Roman"/>
                          <a:sym typeface="Times New Roman"/>
                        </a:rPr>
                        <a:t>Starter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solidFill>
                            <a:schemeClr val="dk1"/>
                          </a:solidFill>
                          <a:latin typeface="Times New Roman"/>
                          <a:ea typeface="Times New Roman"/>
                          <a:cs typeface="Times New Roman"/>
                          <a:sym typeface="Times New Roman"/>
                        </a:rPr>
                        <a:t>1714214A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latin typeface="Times New Roman"/>
                          <a:ea typeface="Times New Roman"/>
                          <a:cs typeface="Times New Roman"/>
                          <a:sym typeface="Times New Roman"/>
                        </a:rPr>
                        <a:t>+ Hỏng nhiều trên fleet A350 và rất nhiều quote BER repair, nguồn hàng từ OEM Collins không có sẵn, tàu BQ đã bị rob hết nhưng cũng không đủ.</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cần</a:t>
                      </a:r>
                      <a:r>
                        <a:rPr lang="en-US" sz="1300" dirty="0">
                          <a:solidFill>
                            <a:schemeClr val="dk1"/>
                          </a:solidFill>
                          <a:latin typeface="Times New Roman"/>
                          <a:ea typeface="Times New Roman"/>
                          <a:cs typeface="Times New Roman"/>
                          <a:sym typeface="Times New Roman"/>
                        </a:rPr>
                        <a:t> 02ea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A895.</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300" dirty="0">
                          <a:solidFill>
                            <a:schemeClr val="dk1"/>
                          </a:solidFill>
                          <a:latin typeface="Times New Roman"/>
                          <a:ea typeface="Times New Roman"/>
                          <a:cs typeface="Times New Roman"/>
                          <a:sym typeface="Times New Roman"/>
                        </a:rPr>
                        <a:t>+ 03ea PO EDD 2026.</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300" dirty="0">
                          <a:solidFill>
                            <a:schemeClr val="dk1"/>
                          </a:solidFill>
                          <a:latin typeface="Times New Roman"/>
                          <a:ea typeface="Times New Roman"/>
                          <a:cs typeface="Times New Roman"/>
                          <a:sym typeface="Times New Roman"/>
                        </a:rPr>
                        <a:t>+ 03 RO: 01ea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HAN </a:t>
                      </a:r>
                      <a:r>
                        <a:rPr lang="en-US" sz="1300" dirty="0" smtClean="0">
                          <a:solidFill>
                            <a:schemeClr val="dk1"/>
                          </a:solidFill>
                          <a:latin typeface="Times New Roman"/>
                          <a:ea typeface="Times New Roman"/>
                          <a:cs typeface="Times New Roman"/>
                          <a:sym typeface="Times New Roman"/>
                        </a:rPr>
                        <a:t>13/08</a:t>
                      </a:r>
                      <a:r>
                        <a:rPr lang="en-US" sz="1300" dirty="0">
                          <a:solidFill>
                            <a:schemeClr val="dk1"/>
                          </a:solidFill>
                          <a:latin typeface="Times New Roman"/>
                          <a:ea typeface="Times New Roman"/>
                          <a:cs typeface="Times New Roman"/>
                          <a:sym typeface="Times New Roman"/>
                        </a:rPr>
                        <a:t>, </a:t>
                      </a:r>
                      <a:r>
                        <a:rPr lang="en-US" sz="1300" dirty="0" smtClean="0">
                          <a:solidFill>
                            <a:schemeClr val="dk1"/>
                          </a:solidFill>
                          <a:latin typeface="Times New Roman"/>
                          <a:ea typeface="Times New Roman"/>
                          <a:cs typeface="Times New Roman"/>
                          <a:sym typeface="Times New Roman"/>
                        </a:rPr>
                        <a:t>01ea release </a:t>
                      </a:r>
                      <a:r>
                        <a:rPr lang="en-US" sz="1300" dirty="0" err="1" smtClean="0">
                          <a:solidFill>
                            <a:schemeClr val="dk1"/>
                          </a:solidFill>
                          <a:latin typeface="Times New Roman"/>
                          <a:ea typeface="Times New Roman"/>
                          <a:cs typeface="Times New Roman"/>
                          <a:sym typeface="Times New Roman"/>
                        </a:rPr>
                        <a:t>tuần</a:t>
                      </a:r>
                      <a:r>
                        <a:rPr lang="en-US" sz="1300" baseline="0" dirty="0" smtClean="0">
                          <a:solidFill>
                            <a:schemeClr val="dk1"/>
                          </a:solidFill>
                          <a:latin typeface="Times New Roman"/>
                          <a:ea typeface="Times New Roman"/>
                          <a:cs typeface="Times New Roman"/>
                          <a:sym typeface="Times New Roman"/>
                        </a:rPr>
                        <a:t> 33, </a:t>
                      </a:r>
                      <a:r>
                        <a:rPr lang="en-US" sz="1300" dirty="0" smtClean="0">
                          <a:solidFill>
                            <a:schemeClr val="dk1"/>
                          </a:solidFill>
                          <a:latin typeface="Times New Roman"/>
                          <a:ea typeface="Times New Roman"/>
                          <a:cs typeface="Times New Roman"/>
                          <a:sym typeface="Times New Roman"/>
                        </a:rPr>
                        <a:t>01ea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đến</a:t>
                      </a:r>
                      <a:r>
                        <a:rPr lang="en-US" sz="1300" dirty="0">
                          <a:solidFill>
                            <a:schemeClr val="dk1"/>
                          </a:solidFill>
                          <a:latin typeface="Times New Roman"/>
                          <a:ea typeface="Times New Roman"/>
                          <a:cs typeface="Times New Roman"/>
                          <a:sym typeface="Times New Roman"/>
                        </a:rPr>
                        <a:t> shop</a:t>
                      </a:r>
                      <a:r>
                        <a:rPr lang="en-US" sz="1300" dirty="0" smtClean="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txBody>
                  <a:tcPr marL="9525" marR="9525" marT="9525" marB="0" anchor="ctr"/>
                </a:tc>
              </a:tr>
            </a:tbl>
          </a:graphicData>
        </a:graphic>
      </p:graphicFrame>
    </p:spTree>
    <p:extLst>
      <p:ext uri="{BB962C8B-B14F-4D97-AF65-F5344CB8AC3E}">
        <p14:creationId xmlns:p14="http://schemas.microsoft.com/office/powerpoint/2010/main" val="243420890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238" name="Google Shape;238;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Hỏng hóc hệ thống flight control vẫn nhiều.</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A886, A887, A888, A890, A892, A896 - CHILLER SYS INOP: đặt hàng VCRU đã có 02ea in stock, chưa có lịch về thêm.</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39" name="Google Shape;239;g31ccdae391d_0_339"/>
          <p:cNvPicPr preferRelativeResize="0"/>
          <p:nvPr/>
        </p:nvPicPr>
        <p:blipFill>
          <a:blip r:embed="rId3">
            <a:alphaModFix/>
          </a:blip>
          <a:stretch>
            <a:fillRect/>
          </a:stretch>
        </p:blipFill>
        <p:spPr>
          <a:xfrm>
            <a:off x="800100" y="3133725"/>
            <a:ext cx="10591800" cy="1962150"/>
          </a:xfrm>
          <a:prstGeom prst="rect">
            <a:avLst/>
          </a:prstGeom>
          <a:noFill/>
          <a:ln>
            <a:noFill/>
          </a:ln>
        </p:spPr>
      </p:pic>
    </p:spTree>
    <p:extLst>
      <p:ext uri="{BB962C8B-B14F-4D97-AF65-F5344CB8AC3E}">
        <p14:creationId xmlns:p14="http://schemas.microsoft.com/office/powerpoint/2010/main" val="296886521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46" name="Google Shape;246;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graphicFrame>
        <p:nvGraphicFramePr>
          <p:cNvPr id="247" name="Google Shape;247;g31ccdae391d_0_347"/>
          <p:cNvGraphicFramePr/>
          <p:nvPr/>
        </p:nvGraphicFramePr>
        <p:xfrm>
          <a:off x="439614" y="221847"/>
          <a:ext cx="11611325" cy="6311045"/>
        </p:xfrm>
        <a:graphic>
          <a:graphicData uri="http://schemas.openxmlformats.org/drawingml/2006/table">
            <a:tbl>
              <a:tblPr>
                <a:noFill/>
              </a:tblPr>
              <a:tblGrid>
                <a:gridCol w="548675"/>
                <a:gridCol w="1774900"/>
                <a:gridCol w="1550950"/>
                <a:gridCol w="2501400"/>
                <a:gridCol w="5235400"/>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06EA: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02RO: SCRAP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EST 30/09</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ACM</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2205120-4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Cabin Hot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05RO: chưa có EDD do thiếu PTVT thay thế. Trong đó có 4 warranty order bị từ chối bảo hành do bị oil and carbon contamination</a:t>
                      </a:r>
                      <a:endParaRPr sz="1100">
                        <a:solidFill>
                          <a:srgbClr val="1F497D"/>
                        </a:solidFill>
                        <a:latin typeface="Calibri"/>
                        <a:ea typeface="Calibri"/>
                        <a:cs typeface="Calibri"/>
                        <a:sym typeface="Calibri"/>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01LO: thuê từ ngày 30/6 (min. 3 tháng)</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69774015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54" name="Google Shape;254;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graphicFrame>
        <p:nvGraphicFramePr>
          <p:cNvPr id="255" name="Google Shape;255;g31ccdae391d_0_354"/>
          <p:cNvGraphicFramePr/>
          <p:nvPr>
            <p:extLst/>
          </p:nvPr>
        </p:nvGraphicFramePr>
        <p:xfrm>
          <a:off x="392714" y="718223"/>
          <a:ext cx="11570675" cy="5310995"/>
        </p:xfrm>
        <a:graphic>
          <a:graphicData uri="http://schemas.openxmlformats.org/drawingml/2006/table">
            <a:tbl>
              <a:tblPr>
                <a:noFill/>
              </a:tblPr>
              <a:tblGrid>
                <a:gridCol w="741275"/>
                <a:gridCol w="1235450"/>
                <a:gridCol w="1470950"/>
                <a:gridCol w="4061500"/>
                <a:gridCol w="4061500"/>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C20648000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05ea in stock</a:t>
                      </a:r>
                      <a:endParaRPr>
                        <a:latin typeface="Times New Roman"/>
                        <a:ea typeface="Times New Roman"/>
                        <a:cs typeface="Times New Roman"/>
                        <a:sym typeface="Times New Roman"/>
                      </a:endParaRPr>
                    </a:p>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01ea Vip kit + 01ea FAK Nga.</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2-1756-1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dirty="0">
                          <a:solidFill>
                            <a:schemeClr val="dk1"/>
                          </a:solidFill>
                          <a:latin typeface="Times New Roman"/>
                          <a:ea typeface="Times New Roman"/>
                          <a:cs typeface="Times New Roman"/>
                          <a:sym typeface="Times New Roman"/>
                        </a:rPr>
                        <a:t>03ea in stock. </a:t>
                      </a:r>
                      <a:r>
                        <a:rPr lang="en-US" dirty="0" err="1">
                          <a:solidFill>
                            <a:schemeClr val="dk1"/>
                          </a:solidFill>
                          <a:latin typeface="Times New Roman"/>
                          <a:ea typeface="Times New Roman"/>
                          <a:cs typeface="Times New Roman"/>
                          <a:sym typeface="Times New Roman"/>
                        </a:rPr>
                        <a:t>Dự</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kiến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tuần</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33 </a:t>
                      </a:r>
                      <a:r>
                        <a:rPr lang="en-US" dirty="0">
                          <a:solidFill>
                            <a:schemeClr val="dk1"/>
                          </a:solidFill>
                          <a:latin typeface="Times New Roman"/>
                          <a:ea typeface="Times New Roman"/>
                          <a:cs typeface="Times New Roman"/>
                          <a:sym typeface="Times New Roman"/>
                        </a:rPr>
                        <a:t>VSTEA </a:t>
                      </a:r>
                      <a:r>
                        <a:rPr lang="en-US" dirty="0" err="1">
                          <a:solidFill>
                            <a:schemeClr val="dk1"/>
                          </a:solidFill>
                          <a:latin typeface="Times New Roman"/>
                          <a:ea typeface="Times New Roman"/>
                          <a:cs typeface="Times New Roman"/>
                          <a:sym typeface="Times New Roman"/>
                        </a:rPr>
                        <a:t>xuất</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xưởng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thêm</a:t>
                      </a:r>
                      <a:r>
                        <a:rPr lang="en-US" dirty="0">
                          <a:solidFill>
                            <a:schemeClr val="dk1"/>
                          </a:solidFill>
                          <a:latin typeface="Times New Roman"/>
                          <a:ea typeface="Times New Roman"/>
                          <a:cs typeface="Times New Roman"/>
                          <a:sym typeface="Times New Roman"/>
                        </a:rPr>
                        <a:t> 03 ea.</a:t>
                      </a:r>
                      <a:endParaRPr sz="1400" u="none" strike="noStrike" cap="none"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C20534100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smtClean="0">
                          <a:solidFill>
                            <a:schemeClr val="dk1"/>
                          </a:solidFill>
                          <a:latin typeface="Times New Roman"/>
                          <a:ea typeface="Times New Roman"/>
                          <a:cs typeface="Times New Roman"/>
                          <a:sym typeface="Times New Roman"/>
                        </a:rPr>
                        <a:t>09ea </a:t>
                      </a:r>
                      <a:r>
                        <a:rPr lang="en-US" dirty="0">
                          <a:solidFill>
                            <a:schemeClr val="dk1"/>
                          </a:solidFill>
                          <a:latin typeface="Times New Roman"/>
                          <a:ea typeface="Times New Roman"/>
                          <a:cs typeface="Times New Roman"/>
                          <a:sym typeface="Times New Roman"/>
                        </a:rPr>
                        <a:t>in stock. trong </a:t>
                      </a:r>
                      <a:r>
                        <a:rPr lang="en-US" dirty="0" err="1">
                          <a:solidFill>
                            <a:schemeClr val="dk1"/>
                          </a:solidFill>
                          <a:latin typeface="Times New Roman"/>
                          <a:ea typeface="Times New Roman"/>
                          <a:cs typeface="Times New Roman"/>
                          <a:sym typeface="Times New Roman"/>
                        </a:rPr>
                        <a:t>tuần</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33 </a:t>
                      </a:r>
                      <a:r>
                        <a:rPr lang="en-US" dirty="0" err="1">
                          <a:solidFill>
                            <a:schemeClr val="dk1"/>
                          </a:solidFill>
                          <a:latin typeface="Times New Roman"/>
                          <a:ea typeface="Times New Roman"/>
                          <a:cs typeface="Times New Roman"/>
                          <a:sym typeface="Times New Roman"/>
                        </a:rPr>
                        <a:t>dự</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kiến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sẽ</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thêm</a:t>
                      </a:r>
                      <a:r>
                        <a:rPr lang="en-US" dirty="0">
                          <a:solidFill>
                            <a:schemeClr val="dk1"/>
                          </a:solidFill>
                          <a:latin typeface="Times New Roman"/>
                          <a:ea typeface="Times New Roman"/>
                          <a:cs typeface="Times New Roman"/>
                          <a:sym typeface="Times New Roman"/>
                        </a:rPr>
                        <a:t> 05ea. </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32706136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2" name="Google Shape;262;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263" name="Google Shape;263;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22/01).</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01ea (ENG </a:t>
            </a:r>
            <a:r>
              <a:rPr lang="en-US" sz="1500" dirty="0">
                <a:solidFill>
                  <a:schemeClr val="dk1"/>
                </a:solidFill>
                <a:latin typeface="Times New Roman"/>
                <a:ea typeface="Times New Roman"/>
                <a:cs typeface="Times New Roman"/>
                <a:sym typeface="Times New Roman"/>
              </a:rPr>
              <a:t>21043</a:t>
            </a:r>
            <a:r>
              <a:rPr lang="en-US" sz="1500" dirty="0">
                <a:solidFill>
                  <a:schemeClr val="dk1"/>
                </a:solidFill>
                <a:highlight>
                  <a:schemeClr val="lt1"/>
                </a:highlight>
                <a:latin typeface="Times New Roman"/>
                <a:ea typeface="Times New Roman"/>
                <a:cs typeface="Times New Roman"/>
                <a:sym typeface="Times New Roman"/>
              </a:rPr>
              <a:t>).</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7</a:t>
            </a:r>
            <a:r>
              <a:rPr lang="en-US" sz="1500" b="0" i="0" u="none" strike="noStrike" cap="none" dirty="0">
                <a:solidFill>
                  <a:schemeClr val="dk1"/>
                </a:solidFill>
                <a:highlight>
                  <a:schemeClr val="lt1"/>
                </a:highlight>
                <a:latin typeface="Times New Roman"/>
                <a:ea typeface="Times New Roman"/>
                <a:cs typeface="Times New Roman"/>
                <a:sym typeface="Times New Roman"/>
              </a:rPr>
              <a:t>ea (0</a:t>
            </a:r>
            <a:r>
              <a:rPr lang="en-US" sz="1500" dirty="0">
                <a:solidFill>
                  <a:schemeClr val="dk1"/>
                </a:solidFill>
                <a:highlight>
                  <a:schemeClr val="lt1"/>
                </a:highlight>
                <a:latin typeface="Times New Roman"/>
                <a:ea typeface="Times New Roman"/>
                <a:cs typeface="Times New Roman"/>
                <a:sym typeface="Times New Roman"/>
              </a:rPr>
              <a:t>4</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21137</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21048</a:t>
            </a:r>
            <a:r>
              <a:rPr lang="en-US" sz="1500" dirty="0">
                <a:solidFill>
                  <a:schemeClr val="dk1"/>
                </a:solidFill>
                <a:highlight>
                  <a:schemeClr val="lt1"/>
                </a:highlight>
                <a:latin typeface="Times New Roman"/>
                <a:ea typeface="Times New Roman"/>
                <a:cs typeface="Times New Roman"/>
                <a:sym typeface="Times New Roman"/>
              </a:rPr>
              <a:t>, 21024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21425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03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HAESL 21414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21604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a:t>
            </a:r>
            <a:r>
              <a:rPr lang="en-US" sz="1500" dirty="0" smtClean="0">
                <a:solidFill>
                  <a:schemeClr val="dk1"/>
                </a:solidFill>
                <a:highlight>
                  <a:schemeClr val="lt1"/>
                </a:highlight>
                <a:latin typeface="Times New Roman"/>
                <a:ea typeface="Times New Roman"/>
                <a:cs typeface="Times New Roman"/>
                <a:sym typeface="Times New Roman"/>
              </a:rPr>
              <a:t>21035</a:t>
            </a:r>
            <a:r>
              <a:rPr lang="en-US" sz="1500" b="0" i="0" u="none" strike="noStrike" cap="none" dirty="0" smtClean="0">
                <a:solidFill>
                  <a:schemeClr val="dk1"/>
                </a:solidFill>
                <a:highlight>
                  <a:schemeClr val="lt1"/>
                </a:highlight>
                <a:latin typeface="Times New Roman"/>
                <a:ea typeface="Times New Roman"/>
                <a:cs typeface="Times New Roman"/>
                <a:sym typeface="Times New Roman"/>
              </a:rPr>
              <a:t>)</a:t>
            </a:r>
            <a:r>
              <a:rPr lang="en-US" sz="1500" dirty="0" smtClean="0">
                <a:solidFill>
                  <a:schemeClr val="dk1"/>
                </a:solidFill>
                <a:highlight>
                  <a:schemeClr val="lt1"/>
                </a:highlight>
                <a:latin typeface="Times New Roman"/>
                <a:ea typeface="Times New Roman"/>
                <a:cs typeface="Times New Roman"/>
                <a:sym typeface="Times New Roman"/>
              </a:rPr>
              <a:t>.</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dirty="0">
                <a:solidFill>
                  <a:schemeClr val="dk1"/>
                </a:solidFill>
                <a:latin typeface="Times New Roman"/>
                <a:ea typeface="Times New Roman"/>
                <a:cs typeface="Times New Roman"/>
                <a:sym typeface="Times New Roman"/>
              </a:rPr>
              <a:t>01 </a:t>
            </a:r>
            <a:r>
              <a:rPr lang="en-US" sz="1500" dirty="0">
                <a:solidFill>
                  <a:schemeClr val="dk1"/>
                </a:solidFill>
                <a:highlight>
                  <a:schemeClr val="lt1"/>
                </a:highlight>
                <a:latin typeface="Times New Roman"/>
                <a:ea typeface="Times New Roman"/>
                <a:cs typeface="Times New Roman"/>
                <a:sym typeface="Times New Roman"/>
              </a:rPr>
              <a:t>ENG </a:t>
            </a:r>
            <a:r>
              <a:rPr lang="en-US" sz="1500" dirty="0">
                <a:solidFill>
                  <a:schemeClr val="dk1"/>
                </a:solidFill>
                <a:latin typeface="Times New Roman"/>
                <a:ea typeface="Times New Roman"/>
                <a:cs typeface="Times New Roman"/>
                <a:sym typeface="Times New Roman"/>
              </a:rPr>
              <a:t>21137 pickup 01Sep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N3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giao</a:t>
            </a:r>
            <a:r>
              <a:rPr lang="en-US" sz="1500" dirty="0">
                <a:solidFill>
                  <a:schemeClr val="dk1"/>
                </a:solidFill>
                <a:latin typeface="Times New Roman"/>
                <a:ea typeface="Times New Roman"/>
                <a:cs typeface="Times New Roman"/>
                <a:sym typeface="Times New Roman"/>
              </a:rPr>
              <a:t> Vaeco 10Sep.</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dirty="0">
                <a:solidFill>
                  <a:schemeClr val="dk1"/>
                </a:solidFill>
                <a:latin typeface="Times New Roman"/>
                <a:ea typeface="Times New Roman"/>
                <a:cs typeface="Times New Roman"/>
                <a:sym typeface="Times New Roman"/>
              </a:rPr>
              <a:t>01 ENG 21414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giao</a:t>
            </a:r>
            <a:r>
              <a:rPr lang="en-US" sz="1500" dirty="0">
                <a:solidFill>
                  <a:schemeClr val="dk1"/>
                </a:solidFill>
                <a:latin typeface="Times New Roman"/>
                <a:ea typeface="Times New Roman"/>
                <a:cs typeface="Times New Roman"/>
                <a:sym typeface="Times New Roman"/>
              </a:rPr>
              <a:t> Vaeco 30Aug.</a:t>
            </a:r>
            <a:endParaRPr sz="15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10</a:t>
            </a:r>
            <a:r>
              <a:rPr lang="en-US" sz="1500" b="0" i="0" u="none" strike="noStrike" cap="none" dirty="0">
                <a:solidFill>
                  <a:schemeClr val="dk1"/>
                </a:solidFill>
                <a:highlight>
                  <a:schemeClr val="lt1"/>
                </a:highlight>
                <a:latin typeface="Times New Roman"/>
                <a:ea typeface="Times New Roman"/>
                <a:cs typeface="Times New Roman"/>
                <a:sym typeface="Times New Roman"/>
              </a:rPr>
              <a:t>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6</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M</a:t>
            </a:r>
            <a:r>
              <a:rPr lang="en-US" sz="1500" dirty="0">
                <a:solidFill>
                  <a:schemeClr val="dk1"/>
                </a:solidFill>
                <a:highlight>
                  <a:schemeClr val="lt1"/>
                </a:highlight>
                <a:latin typeface="Times New Roman"/>
                <a:ea typeface="Times New Roman"/>
                <a:cs typeface="Times New Roman"/>
                <a:sym typeface="Times New Roman"/>
              </a:rPr>
              <a:t>ar/2025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02ea in stock (ENG 956599, 956677).</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a:t>
            </a:r>
            <a:r>
              <a:rPr lang="en-US" sz="1500"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a:solidFill>
                  <a:schemeClr val="dk1"/>
                </a:solidFill>
                <a:highlight>
                  <a:schemeClr val="lt1"/>
                </a:highlight>
                <a:latin typeface="Times New Roman"/>
                <a:ea typeface="Times New Roman"/>
                <a:cs typeface="Times New Roman"/>
                <a:sym typeface="Times New Roman"/>
              </a:rPr>
              <a:t>956947, 956534</a:t>
            </a:r>
            <a:r>
              <a:rPr lang="en-US" sz="1500" dirty="0">
                <a:solidFill>
                  <a:schemeClr val="dk1"/>
                </a:solidFill>
                <a:highlight>
                  <a:schemeClr val="lt1"/>
                </a:highlight>
                <a:latin typeface="Times New Roman"/>
                <a:ea typeface="Times New Roman"/>
                <a:cs typeface="Times New Roman"/>
                <a:sym typeface="Times New Roman"/>
              </a:rPr>
              <a:t>, 956913, 956638, 956577.</a:t>
            </a:r>
            <a:endParaRPr sz="1500"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a:solidFill>
                  <a:schemeClr val="dk1"/>
                </a:solidFill>
                <a:highlight>
                  <a:schemeClr val="lt1"/>
                </a:highlight>
                <a:latin typeface="Times New Roman"/>
                <a:ea typeface="Times New Roman"/>
                <a:cs typeface="Times New Roman"/>
                <a:sym typeface="Times New Roman"/>
              </a:rPr>
              <a:t>02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ở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GE shop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959395 </a:t>
            </a:r>
            <a:r>
              <a:rPr lang="en-US" sz="1500" dirty="0" err="1">
                <a:solidFill>
                  <a:schemeClr val="dk1"/>
                </a:solidFill>
                <a:highlight>
                  <a:schemeClr val="lt1"/>
                </a:highlight>
                <a:latin typeface="Times New Roman"/>
                <a:ea typeface="Times New Roman"/>
                <a:cs typeface="Times New Roman"/>
                <a:sym typeface="Times New Roman"/>
              </a:rPr>
              <a:t>đang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sửa</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GE shop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xong</a:t>
            </a:r>
            <a:r>
              <a:rPr lang="en-US" sz="1500" dirty="0">
                <a:solidFill>
                  <a:schemeClr val="dk1"/>
                </a:solidFill>
                <a:highlight>
                  <a:schemeClr val="lt1"/>
                </a:highlight>
                <a:latin typeface="Times New Roman"/>
                <a:ea typeface="Times New Roman"/>
                <a:cs typeface="Times New Roman"/>
                <a:sym typeface="Times New Roman"/>
              </a:rPr>
              <a:t> 20Aug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Vaeco </a:t>
            </a:r>
            <a:r>
              <a:rPr lang="en-US" sz="1500" dirty="0" err="1">
                <a:solidFill>
                  <a:schemeClr val="dk1"/>
                </a:solidFill>
                <a:highlight>
                  <a:schemeClr val="lt1"/>
                </a:highlight>
                <a:latin typeface="Times New Roman"/>
                <a:ea typeface="Times New Roman"/>
                <a:cs typeface="Times New Roman"/>
                <a:sym typeface="Times New Roman"/>
              </a:rPr>
              <a:t>cuối</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tháng</a:t>
            </a:r>
            <a:r>
              <a:rPr lang="en-US" sz="1500" dirty="0">
                <a:solidFill>
                  <a:schemeClr val="dk1"/>
                </a:solidFill>
                <a:highlight>
                  <a:schemeClr val="lt1"/>
                </a:highlight>
                <a:latin typeface="Times New Roman"/>
                <a:ea typeface="Times New Roman"/>
                <a:cs typeface="Times New Roman"/>
                <a:sym typeface="Times New Roman"/>
              </a:rPr>
              <a:t> 8/2025.</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a:t>
            </a:r>
            <a:r>
              <a:rPr lang="en-US" sz="1500" dirty="0">
                <a:highlight>
                  <a:schemeClr val="lt1"/>
                </a:highlight>
                <a:latin typeface="Times New Roman"/>
                <a:ea typeface="Times New Roman"/>
                <a:cs typeface="Times New Roman"/>
                <a:sym typeface="Times New Roman"/>
              </a:rPr>
              <a:t>6</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956626, 956980)</a:t>
            </a:r>
            <a:r>
              <a:rPr lang="en-US" sz="1500" dirty="0">
                <a:highlight>
                  <a:schemeClr val="lt1"/>
                </a:highlight>
                <a:latin typeface="Times New Roman"/>
                <a:ea typeface="Times New Roman"/>
                <a:cs typeface="Times New Roman"/>
                <a:sym typeface="Times New Roman"/>
              </a:rPr>
              <a:t> trong </a:t>
            </a:r>
            <a:r>
              <a:rPr lang="en-US" sz="1500" dirty="0" err="1">
                <a:highlight>
                  <a:schemeClr val="lt1"/>
                </a:highlight>
                <a:latin typeface="Times New Roman"/>
                <a:ea typeface="Times New Roman"/>
                <a:cs typeface="Times New Roman"/>
                <a:sym typeface="Times New Roman"/>
              </a:rPr>
              <a:t>đó</a:t>
            </a:r>
            <a:r>
              <a:rPr lang="en-US" sz="1500" dirty="0">
                <a:highlight>
                  <a:schemeClr val="lt1"/>
                </a:highlight>
                <a:latin typeface="Times New Roman"/>
                <a:ea typeface="Times New Roman"/>
                <a:cs typeface="Times New Roman"/>
                <a:sym typeface="Times New Roman"/>
              </a:rPr>
              <a:t> 956980 </a:t>
            </a:r>
            <a:r>
              <a:rPr lang="en-US" sz="1500" dirty="0" err="1">
                <a:highlight>
                  <a:schemeClr val="lt1"/>
                </a:highlight>
                <a:latin typeface="Times New Roman"/>
                <a:ea typeface="Times New Roman"/>
                <a:cs typeface="Times New Roman"/>
                <a:sym typeface="Times New Roman"/>
              </a:rPr>
              <a:t>mới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do 01 </a:t>
            </a:r>
            <a:r>
              <a:rPr lang="en-US" sz="1500" dirty="0" err="1">
                <a:highlight>
                  <a:schemeClr val="lt1"/>
                </a:highlight>
                <a:latin typeface="Times New Roman"/>
                <a:ea typeface="Times New Roman"/>
                <a:cs typeface="Times New Roman"/>
                <a:sym typeface="Times New Roman"/>
              </a:rPr>
              <a:t>đc</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trên</a:t>
            </a:r>
            <a:r>
              <a:rPr lang="en-US" sz="1500" dirty="0">
                <a:highlight>
                  <a:schemeClr val="lt1"/>
                </a:highlight>
                <a:latin typeface="Times New Roman"/>
                <a:ea typeface="Times New Roman"/>
                <a:cs typeface="Times New Roman"/>
                <a:sym typeface="Times New Roman"/>
              </a:rPr>
              <a:t> A868 </a:t>
            </a:r>
            <a:r>
              <a:rPr lang="en-US" sz="1500" dirty="0" err="1">
                <a:highlight>
                  <a:schemeClr val="lt1"/>
                </a:highlight>
                <a:latin typeface="Times New Roman"/>
                <a:ea typeface="Times New Roman"/>
                <a:cs typeface="Times New Roman"/>
                <a:sym typeface="Times New Roman"/>
              </a:rPr>
              <a:t>phải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tháo</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đầu</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tháng</a:t>
            </a:r>
            <a:r>
              <a:rPr lang="en-US" sz="1500" dirty="0">
                <a:highlight>
                  <a:schemeClr val="lt1"/>
                </a:highlight>
                <a:latin typeface="Times New Roman"/>
                <a:ea typeface="Times New Roman"/>
                <a:cs typeface="Times New Roman"/>
                <a:sym typeface="Times New Roman"/>
              </a:rPr>
              <a:t> 4/2025</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endParaRPr sz="15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8263207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sp>
        <p:nvSpPr>
          <p:cNvPr id="271" name="Google Shape;271;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a:t>
            </a:r>
            <a:r>
              <a:rPr lang="en-US" sz="1600">
                <a:solidFill>
                  <a:schemeClr val="dk1"/>
                </a:solidFill>
                <a:latin typeface="Times New Roman"/>
                <a:ea typeface="Times New Roman"/>
                <a:cs typeface="Times New Roman"/>
                <a:sym typeface="Times New Roman"/>
              </a:rPr>
              <a:t> NIL</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a:t>
            </a:r>
            <a:r>
              <a:rPr lang="en-US" sz="1600">
                <a:solidFill>
                  <a:schemeClr val="dk1"/>
                </a:solidFill>
                <a:latin typeface="Times New Roman"/>
                <a:ea typeface="Times New Roman"/>
                <a:cs typeface="Times New Roman"/>
                <a:sym typeface="Times New Roman"/>
              </a:rPr>
              <a:t>09ea</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chờ chuyển đi shop: V16570</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động cơ đang cho K6 thuê: 01ea (V12505) - dự kiến trả cuối tháng 8/2025</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thuê tháo trả : V10533 (đã tháo 29/6, đã hoàn thiện tại VAECO, Willis đã nhận, đang hoàn thiện thủ tục)</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258554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78" name="Google Shape;278;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6</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4 t</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1</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Đang làm việc với shop, không có indution slot vào tháng 7</a:t>
            </a:r>
            <a:endParaRPr sz="1500" b="0" i="0" u="none" strike="noStrike" cap="none">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Đã kí HĐ thuê thêm 2 động cơ </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AerCap đã có engine GTF PW1127G-JM sẽ ready vào tháng 9</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ELFC có 02 engine GTF PW1127G-JM sẽ ready vào tháng 9 -10</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ALC có 02 engine GTF PW11333GA-JM sẽ ready vào tháng 10</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PTVT thiếu hụt, đặc biệt là khác khối AP51</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970920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
        <p:nvSpPr>
          <p:cNvPr id="285" name="Google Shape;285;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a:t>
            </a:r>
            <a:r>
              <a:rPr lang="en-US" sz="1500">
                <a:solidFill>
                  <a:schemeClr val="dk1"/>
                </a:solidFill>
                <a:latin typeface="Times New Roman"/>
                <a:ea typeface="Times New Roman"/>
                <a:cs typeface="Times New Roman"/>
                <a:sym typeface="Times New Roman"/>
              </a:rPr>
              <a:t> -</a:t>
            </a:r>
            <a:r>
              <a:rPr lang="en-US" sz="1500" b="0" i="0" u="none" strike="noStrike" cap="none">
                <a:solidFill>
                  <a:schemeClr val="dk1"/>
                </a:solidFill>
                <a:latin typeface="Times New Roman"/>
                <a:ea typeface="Times New Roman"/>
                <a:cs typeface="Times New Roman"/>
                <a:sym typeface="Times New Roman"/>
              </a:rPr>
              <a:t> 06</a:t>
            </a:r>
            <a:r>
              <a:rPr lang="en-US" sz="1500">
                <a:solidFill>
                  <a:schemeClr val="dk1"/>
                </a:solidFill>
                <a:latin typeface="Times New Roman"/>
                <a:ea typeface="Times New Roman"/>
                <a:cs typeface="Times New Roman"/>
                <a:sym typeface="Times New Roman"/>
              </a:rPr>
              <a:t> gồm </a:t>
            </a:r>
            <a:r>
              <a:rPr lang="en-US" sz="1500" b="0" i="0" u="none" strike="noStrike" cap="none">
                <a:solidFill>
                  <a:schemeClr val="dk1"/>
                </a:solidFill>
                <a:latin typeface="Times New Roman"/>
                <a:ea typeface="Times New Roman"/>
                <a:cs typeface="Times New Roman"/>
                <a:sym typeface="Times New Roman"/>
              </a:rPr>
              <a:t>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ED0237, ED0217, ED0</a:t>
            </a:r>
            <a:r>
              <a:rPr lang="en-US" sz="1500">
                <a:solidFill>
                  <a:schemeClr val="dk1"/>
                </a:solidFill>
                <a:latin typeface="Times New Roman"/>
                <a:ea typeface="Times New Roman"/>
                <a:cs typeface="Times New Roman"/>
                <a:sym typeface="Times New Roman"/>
              </a:rPr>
              <a:t>233, ED0214</a:t>
            </a:r>
            <a:r>
              <a:rPr lang="en-US" sz="1500" b="0" i="0" u="none" strike="noStrike" cap="none">
                <a:solidFill>
                  <a:schemeClr val="dk1"/>
                </a:solidFill>
                <a:latin typeface="Times New Roman"/>
                <a:ea typeface="Times New Roman"/>
                <a:cs typeface="Times New Roman"/>
                <a:sym typeface="Times New Roman"/>
              </a:rPr>
              <a:t> đang sửa tại SA.</a:t>
            </a:r>
            <a:r>
              <a:rPr lang="en-US"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Lịch release ED0238 tại PWC dự kiến giữa tháng 09/2025 (đang sửa AOG)</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Lịch release ED0214 tại SA dự kiến  01/10/2025. (đang sửa AOG).</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TAT StandardAero: 250 ngày</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TAT PWC: 240 ngày</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286" name="Google Shape;286;g31ccdae391d_0_389"/>
          <p:cNvPicPr preferRelativeResize="0"/>
          <p:nvPr/>
        </p:nvPicPr>
        <p:blipFill>
          <a:blip r:embed="rId3">
            <a:alphaModFix/>
          </a:blip>
          <a:stretch>
            <a:fillRect/>
          </a:stretch>
        </p:blipFill>
        <p:spPr>
          <a:xfrm>
            <a:off x="0" y="3428990"/>
            <a:ext cx="12192000" cy="2538770"/>
          </a:xfrm>
          <a:prstGeom prst="rect">
            <a:avLst/>
          </a:prstGeom>
          <a:noFill/>
          <a:ln>
            <a:noFill/>
          </a:ln>
        </p:spPr>
      </p:pic>
    </p:spTree>
    <p:extLst>
      <p:ext uri="{BB962C8B-B14F-4D97-AF65-F5344CB8AC3E}">
        <p14:creationId xmlns:p14="http://schemas.microsoft.com/office/powerpoint/2010/main" val="244725830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293" name="Google Shape;293;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
        <p:nvSpPr>
          <p:cNvPr id="294" name="Google Shape;294;g31ccdae391d_0_396"/>
          <p:cNvSpPr/>
          <p:nvPr/>
        </p:nvSpPr>
        <p:spPr>
          <a:xfrm>
            <a:off x="609900" y="3074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smtClean="0">
                <a:solidFill>
                  <a:schemeClr val="dk1"/>
                </a:solidFill>
                <a:latin typeface="Times New Roman"/>
                <a:ea typeface="Times New Roman"/>
                <a:cs typeface="Times New Roman"/>
                <a:sym typeface="Times New Roman"/>
              </a:rPr>
              <a:t>01ea </a:t>
            </a:r>
            <a:r>
              <a:rPr lang="en-US" sz="1600" dirty="0">
                <a:solidFill>
                  <a:schemeClr val="dk1"/>
                </a:solidFill>
                <a:latin typeface="Times New Roman"/>
                <a:ea typeface="Times New Roman"/>
                <a:cs typeface="Times New Roman"/>
                <a:sym typeface="Times New Roman"/>
              </a:rPr>
              <a:t>(ENG 21043)</a:t>
            </a:r>
            <a:r>
              <a:rPr lang="en-US" sz="160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21414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HAESL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30/08.</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ENG 21137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N3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10Sep.</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02ea in stock (ENG 956599, 956677).</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958395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a:t>
            </a:r>
            <a:r>
              <a:rPr lang="en-US" sz="1600" dirty="0" err="1">
                <a:solidFill>
                  <a:schemeClr val="dk1"/>
                </a:solidFill>
                <a:latin typeface="Times New Roman"/>
                <a:ea typeface="Times New Roman"/>
                <a:cs typeface="Times New Roman"/>
                <a:sym typeface="Times New Roman"/>
              </a:rPr>
              <a:t>cuối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8/2025.</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tháng</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8: V16517 (27/8), V16694 (21/8).</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mới</a:t>
            </a:r>
            <a:r>
              <a:rPr lang="en-US" sz="1600" dirty="0">
                <a:solidFill>
                  <a:schemeClr val="dk1"/>
                </a:solidFill>
                <a:latin typeface="Times New Roman"/>
                <a:ea typeface="Times New Roman"/>
                <a:cs typeface="Times New Roman"/>
                <a:sym typeface="Times New Roman"/>
              </a:rPr>
              <a:t> P771185 (AERCAP) ETA VAECO Han 28-30/09</a:t>
            </a:r>
            <a:endParaRPr sz="1600" dirty="0">
              <a:solidFill>
                <a:schemeClr val="dk1"/>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mới</a:t>
            </a:r>
            <a:r>
              <a:rPr lang="en-US" sz="1600" dirty="0">
                <a:solidFill>
                  <a:schemeClr val="dk1"/>
                </a:solidFill>
                <a:latin typeface="Times New Roman"/>
                <a:ea typeface="Times New Roman"/>
                <a:cs typeface="Times New Roman"/>
                <a:sym typeface="Times New Roman"/>
              </a:rPr>
              <a:t> P771346 (PWEL) ETA VAECO Han trong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đầu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9</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 P771373 ETA VAECO Han 23/9</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 P771119 ETA VAECO Han 11/11</a:t>
            </a:r>
            <a:endParaRPr sz="1600" dirty="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r>
              <a:rPr lang="en-US" sz="1600" dirty="0">
                <a:solidFill>
                  <a:schemeClr val="dk1"/>
                </a:solidFill>
                <a:latin typeface="Times New Roman"/>
                <a:ea typeface="Times New Roman"/>
                <a:cs typeface="Times New Roman"/>
                <a:sym typeface="Times New Roman"/>
              </a:rPr>
              <a:t>+ P771079 ETA VAECO Han 12/11</a:t>
            </a:r>
            <a:endParaRPr sz="1600" dirty="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r>
              <a:rPr lang="en-US" sz="1600" dirty="0">
                <a:solidFill>
                  <a:schemeClr val="dk1"/>
                </a:solidFill>
                <a:latin typeface="Times New Roman"/>
                <a:ea typeface="Times New Roman"/>
                <a:cs typeface="Times New Roman"/>
                <a:sym typeface="Times New Roman"/>
              </a:rPr>
              <a:t>+ P771463 ETA VAECO Han 29/12</a:t>
            </a:r>
            <a:endParaRPr sz="1600" dirty="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NIL stock</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ED0238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PWC: </a:t>
            </a:r>
            <a:r>
              <a:rPr lang="en-US" sz="1600" dirty="0" err="1">
                <a:solidFill>
                  <a:schemeClr val="dk1"/>
                </a:solidFill>
                <a:latin typeface="Times New Roman"/>
                <a:ea typeface="Times New Roman"/>
                <a:cs typeface="Times New Roman"/>
                <a:sym typeface="Times New Roman"/>
              </a:rPr>
              <a:t>dk</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giữa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9/2025.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AOG)</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ED0214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dk</a:t>
            </a:r>
            <a:r>
              <a:rPr lang="en-US" sz="1600" dirty="0">
                <a:solidFill>
                  <a:schemeClr val="dk1"/>
                </a:solidFill>
                <a:latin typeface="Times New Roman"/>
                <a:ea typeface="Times New Roman"/>
                <a:cs typeface="Times New Roman"/>
                <a:sym typeface="Times New Roman"/>
              </a:rPr>
              <a:t> release 01/10/2025.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AOG)</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20415513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1" name="Google Shape;301;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302" name="Google Shape;302;g31ccdae391d_0_403"/>
          <p:cNvSpPr txBox="1"/>
          <p:nvPr/>
        </p:nvSpPr>
        <p:spPr>
          <a:xfrm>
            <a:off x="7807000" y="495300"/>
            <a:ext cx="3783300" cy="3462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dirty="0">
                <a:solidFill>
                  <a:schemeClr val="dk1"/>
                </a:solidFill>
                <a:latin typeface="Times New Roman"/>
                <a:ea typeface="Times New Roman"/>
                <a:cs typeface="Times New Roman"/>
                <a:sym typeface="Times New Roman"/>
              </a:rPr>
              <a:t>APU A321 </a:t>
            </a:r>
            <a:endParaRPr sz="16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STK: </a:t>
            </a:r>
            <a:r>
              <a:rPr lang="en-US" dirty="0">
                <a:solidFill>
                  <a:schemeClr val="dk1"/>
                </a:solidFill>
                <a:latin typeface="Times New Roman"/>
                <a:ea typeface="Times New Roman"/>
                <a:cs typeface="Times New Roman"/>
                <a:sym typeface="Times New Roman"/>
              </a:rPr>
              <a:t>01 in stock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dirty="0">
                <a:solidFill>
                  <a:schemeClr val="dk1"/>
                </a:solidFill>
                <a:latin typeface="Times New Roman"/>
                <a:ea typeface="Times New Roman"/>
                <a:cs typeface="Times New Roman"/>
                <a:sym typeface="Times New Roman"/>
              </a:rPr>
              <a:t>+ DK </a:t>
            </a:r>
            <a:r>
              <a:rPr lang="en-US" dirty="0" err="1">
                <a:solidFill>
                  <a:schemeClr val="dk1"/>
                </a:solidFill>
                <a:latin typeface="Times New Roman"/>
                <a:ea typeface="Times New Roman"/>
                <a:cs typeface="Times New Roman"/>
                <a:sym typeface="Times New Roman"/>
              </a:rPr>
              <a:t>tháng</a:t>
            </a:r>
            <a:r>
              <a:rPr lang="en-US" dirty="0">
                <a:solidFill>
                  <a:schemeClr val="dk1"/>
                </a:solidFill>
                <a:latin typeface="Times New Roman"/>
                <a:ea typeface="Times New Roman"/>
                <a:cs typeface="Times New Roman"/>
                <a:sym typeface="Times New Roman"/>
              </a:rPr>
              <a:t> 8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 04 APU</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endParaRPr sz="1500" b="1"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500" b="1" i="0" u="none" strike="noStrike" cap="none" dirty="0">
                <a:solidFill>
                  <a:schemeClr val="dk1"/>
                </a:solidFill>
                <a:latin typeface="Times New Roman"/>
                <a:ea typeface="Times New Roman"/>
                <a:cs typeface="Times New Roman"/>
                <a:sym typeface="Times New Roman"/>
              </a:rPr>
              <a:t>APU A350</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01 (P-00113)</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(P-00116)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dirty="0">
                <a:solidFill>
                  <a:schemeClr val="dk1"/>
                </a:solidFill>
                <a:latin typeface="Times New Roman"/>
                <a:ea typeface="Times New Roman"/>
                <a:cs typeface="Times New Roman"/>
                <a:sym typeface="Times New Roman"/>
              </a:rPr>
              <a:t> </a:t>
            </a:r>
            <a:endParaRPr sz="1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B787 </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01ea stock SGN.</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tại</a:t>
            </a:r>
            <a:r>
              <a:rPr lang="en-US" dirty="0">
                <a:solidFill>
                  <a:schemeClr val="dk1"/>
                </a:solidFill>
                <a:latin typeface="Times New Roman"/>
                <a:ea typeface="Times New Roman"/>
                <a:cs typeface="Times New Roman"/>
                <a:sym typeface="Times New Roman"/>
              </a:rPr>
              <a:t> shop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ngày</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dirty="0">
              <a:solidFill>
                <a:schemeClr val="dk1"/>
              </a:solidFill>
              <a:latin typeface="Times New Roman"/>
              <a:ea typeface="Times New Roman"/>
              <a:cs typeface="Times New Roman"/>
              <a:sym typeface="Times New Roman"/>
            </a:endParaRPr>
          </a:p>
        </p:txBody>
      </p:sp>
      <p:pic>
        <p:nvPicPr>
          <p:cNvPr id="303" name="Google Shape;303;g31ccdae391d_0_403"/>
          <p:cNvPicPr preferRelativeResize="0"/>
          <p:nvPr/>
        </p:nvPicPr>
        <p:blipFill>
          <a:blip r:embed="rId3">
            <a:alphaModFix/>
          </a:blip>
          <a:stretch>
            <a:fillRect/>
          </a:stretch>
        </p:blipFill>
        <p:spPr>
          <a:xfrm>
            <a:off x="219800" y="476250"/>
            <a:ext cx="7387175" cy="5905500"/>
          </a:xfrm>
          <a:prstGeom prst="rect">
            <a:avLst/>
          </a:prstGeom>
          <a:noFill/>
          <a:ln>
            <a:noFill/>
          </a:ln>
        </p:spPr>
      </p:pic>
    </p:spTree>
    <p:extLst>
      <p:ext uri="{BB962C8B-B14F-4D97-AF65-F5344CB8AC3E}">
        <p14:creationId xmlns:p14="http://schemas.microsoft.com/office/powerpoint/2010/main" val="11740888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7CE18D4A-261A-4850-B6EF-E8D1177C057C}">
  <ds:schemaRefs>
    <ds:schemaRef ds:uri="http://purl.org/dc/terms/"/>
    <ds:schemaRef ds:uri="http://schemas.openxmlformats.org/package/2006/metadata/core-properties"/>
    <ds:schemaRef ds:uri="e189f61e-1295-4779-a752-040c7fad5177"/>
    <ds:schemaRef ds:uri="http://purl.org/dc/dcmitype/"/>
    <ds:schemaRef ds:uri="b6015720-aa74-4be3-ba0d-eab08776cb9b"/>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78149</TotalTime>
  <Words>10944</Words>
  <Application>Microsoft Office PowerPoint</Application>
  <PresentationFormat>Widescreen</PresentationFormat>
  <Paragraphs>2218</Paragraphs>
  <Slides>59</Slides>
  <Notes>53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59</vt:i4>
      </vt:variant>
    </vt:vector>
  </HeadingPairs>
  <TitlesOfParts>
    <vt:vector size="69" baseType="lpstr">
      <vt:lpstr>MS PGothic</vt:lpstr>
      <vt:lpstr>Arial</vt:lpstr>
      <vt:lpstr>Calibri</vt:lpstr>
      <vt:lpstr>Cambria</vt:lpstr>
      <vt:lpstr>Montserrat</vt:lpstr>
      <vt:lpstr>Montserrat SemiBold</vt:lpstr>
      <vt:lpstr>Tahoma</vt:lpstr>
      <vt:lpstr>Times New Roman</vt:lpstr>
      <vt:lpstr>Wingdings</vt:lpstr>
      <vt:lpstr>16-9 MASTER TEMPLATE</vt:lpstr>
      <vt:lpstr>BÁO CÁO KỸ THUẬT (Tuần 32: 04/08/2025 – 10/08/2025)</vt:lpstr>
      <vt:lpstr>TỔNG HỢP AOG, DELAY VÀ GTB/ATB/DIV</vt:lpstr>
      <vt:lpstr>ATB/GTB COMPARISON</vt:lpstr>
      <vt:lpstr>CÁC SỰ KIỆN ATB/GTB/DIV</vt:lpstr>
      <vt:lpstr>CÁC SỰ KIỆN ATB/GTB/DIV</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A350</vt:lpstr>
      <vt:lpstr>PowerPoint Presentation</vt:lpstr>
      <vt:lpstr>PowerPoint Presentation</vt:lpstr>
      <vt:lpstr>TÌNH TRẠNG KỸ THUẬT ĐỘI BAY – B787</vt:lpstr>
      <vt:lpstr>TÌNH TRẠNG KỸ THUẬT ĐỘI BAY – B787</vt:lpstr>
      <vt:lpstr>TÌNH TRẠNG KỸ THUẬT ĐỘI BAY – B787</vt:lpstr>
      <vt:lpstr>TÌNH TRẠNG KỸ THUẬT ĐỘI BAY – B787</vt:lpstr>
      <vt:lpstr>PowerPoint Presentation</vt:lpstr>
      <vt:lpstr>PowerPoint Presentation</vt:lpstr>
      <vt:lpstr>TÌNH TRẠNG KỸ THUẬT ĐỘI BAY – ATR72</vt:lpstr>
      <vt:lpstr>TÌNH TRẠNG KỸ THUẬT ĐỘI BAY – ATR72</vt:lpstr>
      <vt:lpstr>DISPATCH RELIABILITY W32 (04/08/2025-10/08/2025)</vt:lpstr>
      <vt:lpstr>CÁC CÔNG VIỆC TRỌNG ĐIỂM TRONG TUẦN</vt:lpstr>
      <vt:lpstr>CÁC CÔNG VIỆC TRỌNG ĐIỂM TRONG TUẦN</vt:lpstr>
      <vt:lpstr>CÁC CÔNG VIỆC, DỰ ÁN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BẢO DƯỠNG</vt:lpstr>
      <vt:lpstr>PowerPoint Presentation</vt:lpstr>
      <vt:lpstr>PowerPoint Presentation</vt:lpstr>
      <vt:lpstr>PowerPoint Presentation</vt:lpstr>
      <vt:lpstr>Giờ bay trung bình trong tuần các đội tàu</vt:lpstr>
      <vt:lpstr>Số chuyến bay theo ngày trong tuần các đội tàu</vt:lpstr>
      <vt:lpstr>Số chuyến bay khai thác theo ngày</vt:lpstr>
      <vt:lpstr>A321</vt:lpstr>
      <vt:lpstr>A321</vt:lpstr>
      <vt:lpstr>A321 CÁC VẬT TƯ VƯỚNG MẮC </vt:lpstr>
      <vt:lpstr>TÌNH TRẠNG APU LRU A321 </vt:lpstr>
      <vt:lpstr>B787</vt:lpstr>
      <vt:lpstr>B787</vt:lpstr>
      <vt:lpstr>B787</vt:lpstr>
      <vt:lpstr>A350</vt:lpstr>
      <vt:lpstr>A350</vt:lpstr>
      <vt:lpstr>A350</vt:lpstr>
      <vt:lpstr>ATR</vt:lpstr>
      <vt:lpstr>Phanh, bánh lốp cho các đội bay</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Microsoft account</cp:lastModifiedBy>
  <cp:revision>12177</cp:revision>
  <cp:lastPrinted>2019-03-27T09:25:07Z</cp:lastPrinted>
  <dcterms:created xsi:type="dcterms:W3CDTF">2018-12-27T04:50:36Z</dcterms:created>
  <dcterms:modified xsi:type="dcterms:W3CDTF">2025-08-10T13:03:14Z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