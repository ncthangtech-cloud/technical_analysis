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3.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xml" ContentType="application/vnd.openxmlformats-officedocument.themeOverride+xml"/>
  <Override PartName="/ppt/notesSlides/notesSlide4.xml" ContentType="application/vnd.openxmlformats-officedocument.presentationml.notesSlide+xml"/>
  <Override PartName="/ppt/charts/chart3.xml" ContentType="application/vnd.openxmlformats-officedocument.drawingml.chart+xml"/>
  <Override PartName="/ppt/theme/themeOverride3.xml" ContentType="application/vnd.openxmlformats-officedocument.themeOverr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5.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690" r:id="rId5"/>
    <p:sldMasterId id="2147483714" r:id="rId6"/>
  </p:sldMasterIdLst>
  <p:notesMasterIdLst>
    <p:notesMasterId r:id="rId23"/>
  </p:notesMasterIdLst>
  <p:sldIdLst>
    <p:sldId id="11485" r:id="rId7"/>
    <p:sldId id="11509" r:id="rId8"/>
    <p:sldId id="11547" r:id="rId9"/>
    <p:sldId id="11523" r:id="rId10"/>
    <p:sldId id="11567" r:id="rId11"/>
    <p:sldId id="11571" r:id="rId12"/>
    <p:sldId id="11570" r:id="rId13"/>
    <p:sldId id="11565" r:id="rId14"/>
    <p:sldId id="11564" r:id="rId15"/>
    <p:sldId id="11493" r:id="rId16"/>
    <p:sldId id="11403" r:id="rId17"/>
    <p:sldId id="11404" r:id="rId18"/>
    <p:sldId id="11983" r:id="rId19"/>
    <p:sldId id="11964" r:id="rId20"/>
    <p:sldId id="11984" r:id="rId21"/>
    <p:sldId id="11507" r:id="rId22"/>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499" autoAdjust="0"/>
    <p:restoredTop sz="95461" autoAdjust="0"/>
  </p:normalViewPr>
  <p:slideViewPr>
    <p:cSldViewPr>
      <p:cViewPr varScale="1">
        <p:scale>
          <a:sx n="80" d="100"/>
          <a:sy n="80" d="100"/>
        </p:scale>
        <p:origin x="57" y="408"/>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2" Type="http://schemas.openxmlformats.org/officeDocument/2006/relationships/oleObject" Target="file:///D:\thanh_ggdrive\work\B&#193;O%20C&#193;O\B&#225;o%20c&#225;o%20th&#225;ng\2025\SLIDE%20GIAO%20BAN%20TH&#193;NG\03\KPI%202025%20UPDATE%202025.04.01%20R00.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THANHND\work\B&#193;O%20C&#193;O\B&#225;o%20c&#225;o%20th&#225;ng\2025\SLIDE%20GIAO%20BAN%20TH&#193;NG\03\KPI%20T3-25%20on%2001-04-25.xlsx" TargetMode="External"/></Relationships>
</file>

<file path=ppt/charts/_rels/chart3.xml.rels><?xml version="1.0" encoding="UTF-8" standalone="yes"?>
<Relationships xmlns="http://schemas.openxmlformats.org/package/2006/relationships"><Relationship Id="rId2" Type="http://schemas.openxmlformats.org/officeDocument/2006/relationships/oleObject" Target="file:///D:\P.MOC\SAG2\Bao%20cao%20SAG2-2025\Th&#225;ng%203\&#272;o%20l&#432;&#7901;ng%20th&#7921;c%20hi&#7879;n%20an%20to&#224;n%20b&#7897;%20ch&#7881;%20s&#7889;%20KPI%20n&#259;m%202025.xlsx" TargetMode="External"/><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P.MOC\SAG2\Bao%20cao%20SAG2-2025\Th&#225;ng%203\&#272;o%20l&#432;&#7901;ng%20th&#7921;c%20hi&#7879;n%20an%20to&#224;n%20b&#7897;%20ch&#7881;%20s&#7889;%20KPI%20n&#259;m%202025.xlsx" TargetMode="Externa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file:///D:\P.MOC\SAG2\Bao%20cao%20SAG2-2025\Th&#225;ng%203\&#272;o%20l&#432;&#7901;ng%20th&#7921;c%20hi&#7879;n%20an%20to&#224;n%20b&#7897;%20ch&#7881;%20s&#7889;%20KPI%20n&#259;m%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b="1"/>
            </a:pPr>
            <a:r>
              <a:rPr lang="en-US" sz="1600" b="1"/>
              <a:t>ARL</a:t>
            </a:r>
          </a:p>
        </c:rich>
      </c:tx>
      <c:overlay val="0"/>
      <c:spPr>
        <a:noFill/>
        <a:ln>
          <a:noFill/>
        </a:ln>
        <a:effectLst/>
      </c:spPr>
    </c:title>
    <c:autoTitleDeleted val="0"/>
    <c:plotArea>
      <c:layout/>
      <c:lineChart>
        <c:grouping val="standard"/>
        <c:varyColors val="0"/>
        <c:ser>
          <c:idx val="0"/>
          <c:order val="0"/>
          <c:spPr>
            <a:ln w="28575" cap="rnd">
              <a:solidFill>
                <a:srgbClr val="00B0F0"/>
              </a:solidFill>
              <a:round/>
            </a:ln>
            <a:effectLst/>
          </c:spPr>
          <c:marker>
            <c:symbol val="circle"/>
            <c:size val="6"/>
            <c:spPr>
              <a:solidFill>
                <a:srgbClr val="FFFF00"/>
              </a:solidFill>
              <a:ln w="9525">
                <a:solidFill>
                  <a:srgbClr val="00B0F0"/>
                </a:solidFill>
              </a:ln>
              <a:effectLst/>
            </c:spPr>
          </c:marker>
          <c:dPt>
            <c:idx val="0"/>
            <c:marker>
              <c:spPr>
                <a:solidFill>
                  <a:srgbClr val="FFFF00"/>
                </a:solidFill>
                <a:ln w="9525">
                  <a:solidFill>
                    <a:srgbClr val="00B0F0">
                      <a:alpha val="92000"/>
                    </a:srgbClr>
                  </a:solidFill>
                </a:ln>
                <a:effectLst/>
              </c:spPr>
            </c:marker>
            <c:bubble3D val="0"/>
            <c:extLst>
              <c:ext xmlns:c16="http://schemas.microsoft.com/office/drawing/2014/chart" uri="{C3380CC4-5D6E-409C-BE32-E72D297353CC}">
                <c16:uniqueId val="{00000000-E061-47F6-920F-73E04CEC7446}"/>
              </c:ext>
            </c:extLst>
          </c:dPt>
          <c:dLbls>
            <c:dLbl>
              <c:idx val="0"/>
              <c:layout>
                <c:manualLayout>
                  <c:x val="-2.7840574510264889E-2"/>
                  <c:y val="3.0038759689922482E-2"/>
                </c:manualLayout>
              </c:layout>
              <c:numFmt formatCode="#,##0.00" sourceLinked="0"/>
              <c:spPr>
                <a:noFill/>
                <a:ln>
                  <a:noFill/>
                </a:ln>
                <a:effectLst/>
              </c:spPr>
              <c:txPr>
                <a:bodyPr rot="0" vert="horz"/>
                <a:lstStyle/>
                <a:p>
                  <a:pPr>
                    <a:defRPr sz="1100"/>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061-47F6-920F-73E04CEC7446}"/>
                </c:ext>
              </c:extLst>
            </c:dLbl>
            <c:dLbl>
              <c:idx val="1"/>
              <c:layout>
                <c:manualLayout>
                  <c:x val="-3.0783695570585294E-2"/>
                  <c:y val="5.691124629288767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061-47F6-920F-73E04CEC7446}"/>
                </c:ext>
              </c:extLst>
            </c:dLbl>
            <c:dLbl>
              <c:idx val="2"/>
              <c:layout>
                <c:manualLayout>
                  <c:x val="-1.8271692174691944E-2"/>
                  <c:y val="4.120187242554313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061-47F6-920F-73E04CEC7446}"/>
                </c:ext>
              </c:extLst>
            </c:dLbl>
            <c:dLbl>
              <c:idx val="6"/>
              <c:layout>
                <c:manualLayout>
                  <c:x val="-5.9361484046807418E-2"/>
                  <c:y val="1.82054785136120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061-47F6-920F-73E04CEC7446}"/>
                </c:ext>
              </c:extLst>
            </c:dLbl>
            <c:dLbl>
              <c:idx val="12"/>
              <c:layout>
                <c:manualLayout>
                  <c:x val="-2.1519582779425298E-2"/>
                  <c:y val="-3.762695393512762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061-47F6-920F-73E04CEC7446}"/>
                </c:ext>
              </c:extLst>
            </c:dLbl>
            <c:spPr>
              <a:noFill/>
              <a:ln>
                <a:noFill/>
              </a:ln>
              <a:effectLst/>
            </c:spPr>
            <c:txPr>
              <a:bodyPr rot="0" vert="horz"/>
              <a:lstStyle/>
              <a:p>
                <a:pPr>
                  <a:defRPr sz="1100"/>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'KPI 2025'!$E$80:$E$92</c:f>
              <c:numCache>
                <c:formatCode>mmm\-yy</c:formatCode>
                <c:ptCount val="13"/>
                <c:pt idx="0">
                  <c:v>45717</c:v>
                </c:pt>
                <c:pt idx="1">
                  <c:v>45689</c:v>
                </c:pt>
                <c:pt idx="2">
                  <c:v>45658</c:v>
                </c:pt>
                <c:pt idx="3">
                  <c:v>45627</c:v>
                </c:pt>
                <c:pt idx="4">
                  <c:v>45597</c:v>
                </c:pt>
                <c:pt idx="5">
                  <c:v>45566</c:v>
                </c:pt>
                <c:pt idx="6">
                  <c:v>45536</c:v>
                </c:pt>
                <c:pt idx="7">
                  <c:v>45505</c:v>
                </c:pt>
                <c:pt idx="8">
                  <c:v>45474</c:v>
                </c:pt>
                <c:pt idx="9">
                  <c:v>45444</c:v>
                </c:pt>
                <c:pt idx="10">
                  <c:v>45413</c:v>
                </c:pt>
                <c:pt idx="11">
                  <c:v>45383</c:v>
                </c:pt>
                <c:pt idx="12">
                  <c:v>45352</c:v>
                </c:pt>
              </c:numCache>
            </c:numRef>
          </c:cat>
          <c:val>
            <c:numRef>
              <c:f>'KPI 2025'!$F$80:$F$92</c:f>
              <c:numCache>
                <c:formatCode>0.00</c:formatCode>
                <c:ptCount val="13"/>
                <c:pt idx="0">
                  <c:v>95.33</c:v>
                </c:pt>
                <c:pt idx="1">
                  <c:v>97.34</c:v>
                </c:pt>
                <c:pt idx="2">
                  <c:v>97.36</c:v>
                </c:pt>
                <c:pt idx="3">
                  <c:v>96.72</c:v>
                </c:pt>
                <c:pt idx="4">
                  <c:v>95.02</c:v>
                </c:pt>
                <c:pt idx="5">
                  <c:v>91.8</c:v>
                </c:pt>
                <c:pt idx="6">
                  <c:v>93.86</c:v>
                </c:pt>
                <c:pt idx="7">
                  <c:v>96.78</c:v>
                </c:pt>
                <c:pt idx="8">
                  <c:v>97.98</c:v>
                </c:pt>
                <c:pt idx="9">
                  <c:v>96.29</c:v>
                </c:pt>
                <c:pt idx="10">
                  <c:v>93.55</c:v>
                </c:pt>
                <c:pt idx="11">
                  <c:v>93.59</c:v>
                </c:pt>
                <c:pt idx="12">
                  <c:v>93.781143456595856</c:v>
                </c:pt>
              </c:numCache>
            </c:numRef>
          </c:val>
          <c:smooth val="0"/>
          <c:extLst>
            <c:ext xmlns:c16="http://schemas.microsoft.com/office/drawing/2014/chart" uri="{C3380CC4-5D6E-409C-BE32-E72D297353CC}">
              <c16:uniqueId val="{00000004-E061-47F6-920F-73E04CEC7446}"/>
            </c:ext>
          </c:extLst>
        </c:ser>
        <c:ser>
          <c:idx val="1"/>
          <c:order val="1"/>
          <c:spPr>
            <a:ln>
              <a:solidFill>
                <a:srgbClr val="FF0000"/>
              </a:solidFill>
            </a:ln>
          </c:spPr>
          <c:marker>
            <c:symbol val="none"/>
          </c:marker>
          <c:dLbls>
            <c:dLbl>
              <c:idx val="12"/>
              <c:layout>
                <c:manualLayout>
                  <c:x val="-2.9806912535725416E-3"/>
                  <c:y val="2.7534944759811931E-2"/>
                </c:manualLayout>
              </c:layout>
              <c:spPr>
                <a:noFill/>
                <a:ln>
                  <a:noFill/>
                </a:ln>
                <a:effectLst/>
              </c:spPr>
              <c:txPr>
                <a:bodyPr wrap="square" lIns="38100" tIns="19050" rIns="38100" bIns="19050" anchor="ctr">
                  <a:spAutoFit/>
                </a:bodyPr>
                <a:lstStyle/>
                <a:p>
                  <a:pPr>
                    <a:defRPr b="1">
                      <a:solidFill>
                        <a:srgbClr val="FF0000"/>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061-47F6-920F-73E04CEC744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'KPI 2025'!$E$80:$E$92</c:f>
              <c:numCache>
                <c:formatCode>mmm\-yy</c:formatCode>
                <c:ptCount val="13"/>
                <c:pt idx="0">
                  <c:v>45717</c:v>
                </c:pt>
                <c:pt idx="1">
                  <c:v>45689</c:v>
                </c:pt>
                <c:pt idx="2">
                  <c:v>45658</c:v>
                </c:pt>
                <c:pt idx="3">
                  <c:v>45627</c:v>
                </c:pt>
                <c:pt idx="4">
                  <c:v>45597</c:v>
                </c:pt>
                <c:pt idx="5">
                  <c:v>45566</c:v>
                </c:pt>
                <c:pt idx="6">
                  <c:v>45536</c:v>
                </c:pt>
                <c:pt idx="7">
                  <c:v>45505</c:v>
                </c:pt>
                <c:pt idx="8">
                  <c:v>45474</c:v>
                </c:pt>
                <c:pt idx="9">
                  <c:v>45444</c:v>
                </c:pt>
                <c:pt idx="10">
                  <c:v>45413</c:v>
                </c:pt>
                <c:pt idx="11">
                  <c:v>45383</c:v>
                </c:pt>
                <c:pt idx="12">
                  <c:v>45352</c:v>
                </c:pt>
              </c:numCache>
            </c:numRef>
          </c:cat>
          <c:val>
            <c:numRef>
              <c:f>'KPI 2025'!$U$73:$AG$73</c:f>
              <c:numCache>
                <c:formatCode>General</c:formatCode>
                <c:ptCount val="13"/>
                <c:pt idx="0">
                  <c:v>94.39</c:v>
                </c:pt>
                <c:pt idx="1">
                  <c:v>94.39</c:v>
                </c:pt>
                <c:pt idx="2">
                  <c:v>94.39</c:v>
                </c:pt>
                <c:pt idx="3">
                  <c:v>94.39</c:v>
                </c:pt>
                <c:pt idx="4">
                  <c:v>94.39</c:v>
                </c:pt>
                <c:pt idx="5">
                  <c:v>94.39</c:v>
                </c:pt>
                <c:pt idx="6">
                  <c:v>94.39</c:v>
                </c:pt>
                <c:pt idx="7">
                  <c:v>94.39</c:v>
                </c:pt>
                <c:pt idx="8">
                  <c:v>94.39</c:v>
                </c:pt>
                <c:pt idx="9">
                  <c:v>94.39</c:v>
                </c:pt>
                <c:pt idx="10">
                  <c:v>94.39</c:v>
                </c:pt>
                <c:pt idx="11">
                  <c:v>94.39</c:v>
                </c:pt>
                <c:pt idx="12">
                  <c:v>94.39</c:v>
                </c:pt>
              </c:numCache>
            </c:numRef>
          </c:val>
          <c:smooth val="0"/>
          <c:extLst>
            <c:ext xmlns:c16="http://schemas.microsoft.com/office/drawing/2014/chart" uri="{C3380CC4-5D6E-409C-BE32-E72D297353CC}">
              <c16:uniqueId val="{00000006-E061-47F6-920F-73E04CEC7446}"/>
            </c:ext>
          </c:extLst>
        </c:ser>
        <c:dLbls>
          <c:showLegendKey val="0"/>
          <c:showVal val="0"/>
          <c:showCatName val="0"/>
          <c:showSerName val="0"/>
          <c:showPercent val="0"/>
          <c:showBubbleSize val="0"/>
        </c:dLbls>
        <c:marker val="1"/>
        <c:smooth val="0"/>
        <c:axId val="1798462960"/>
        <c:axId val="1580332656"/>
      </c:lineChart>
      <c:dateAx>
        <c:axId val="1798462960"/>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en-US"/>
          </a:p>
        </c:txPr>
        <c:crossAx val="1580332656"/>
        <c:crosses val="autoZero"/>
        <c:auto val="1"/>
        <c:lblOffset val="100"/>
        <c:baseTimeUnit val="months"/>
      </c:dateAx>
      <c:valAx>
        <c:axId val="1580332656"/>
        <c:scaling>
          <c:orientation val="minMax"/>
          <c:min val="84"/>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vert="horz"/>
          <a:lstStyle/>
          <a:p>
            <a:pPr>
              <a:defRPr/>
            </a:pPr>
            <a:endParaRPr lang="en-US"/>
          </a:p>
        </c:txPr>
        <c:crossAx val="1798462960"/>
        <c:crosses val="autoZero"/>
        <c:crossBetween val="between"/>
        <c:majorUnit val="4"/>
      </c:valAx>
    </c:plotArea>
    <c:plotVisOnly val="1"/>
    <c:dispBlanksAs val="gap"/>
    <c:showDLblsOverMax val="0"/>
    <c:extLst/>
  </c:chart>
  <c:spPr>
    <a:ln>
      <a:solidFill>
        <a:srgbClr val="0070C0"/>
      </a:solidFill>
    </a:ln>
  </c:spPr>
  <c:txPr>
    <a:bodyPr/>
    <a:lstStyle/>
    <a:p>
      <a:pPr>
        <a:defRPr>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5096234605278125"/>
          <c:y val="2.6394725728465237E-2"/>
          <c:w val="0.85885040232039955"/>
          <c:h val="0.78934980585164194"/>
        </c:manualLayout>
      </c:layout>
      <c:lineChart>
        <c:grouping val="standard"/>
        <c:varyColors val="0"/>
        <c:ser>
          <c:idx val="0"/>
          <c:order val="0"/>
          <c:tx>
            <c:v>Chung (%)</c:v>
          </c:tx>
          <c:spPr>
            <a:ln w="28575" cap="rnd">
              <a:solidFill>
                <a:srgbClr val="00B0F0"/>
              </a:solidFill>
              <a:round/>
            </a:ln>
            <a:effectLst/>
          </c:spPr>
          <c:marker>
            <c:symbol val="triangle"/>
            <c:size val="5"/>
            <c:spPr>
              <a:solidFill>
                <a:srgbClr val="00B0F0"/>
              </a:solidFill>
              <a:ln w="9525">
                <a:solidFill>
                  <a:schemeClr val="accent6"/>
                </a:solidFill>
              </a:ln>
              <a:effectLst/>
            </c:spPr>
          </c:marker>
          <c:dLbls>
            <c:dLbl>
              <c:idx val="10"/>
              <c:layout>
                <c:manualLayout>
                  <c:x val="-3.4387629476516392E-2"/>
                  <c:y val="-7.879066229706402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576-49EA-8785-B64BB469912D}"/>
                </c:ext>
              </c:extLst>
            </c:dLbl>
            <c:dLbl>
              <c:idx val="11"/>
              <c:layout>
                <c:manualLayout>
                  <c:x val="-3.4387629476516392E-2"/>
                  <c:y val="-7.879066229706402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576-49EA-8785-B64BB469912D}"/>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ysClr val="windowText" lastClr="000000"/>
                    </a:solidFill>
                    <a:latin typeface="Cambria" panose="02040503050406030204" pitchFamily="18" charset="0"/>
                    <a:ea typeface="Cambria" panose="02040503050406030204" pitchFamily="18" charset="0"/>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'New Total Report'!$B$55:$N$55</c:f>
              <c:strCache>
                <c:ptCount val="13"/>
                <c:pt idx="0">
                  <c:v>Tháng
03-24</c:v>
                </c:pt>
                <c:pt idx="1">
                  <c:v>Tháng
04-24</c:v>
                </c:pt>
                <c:pt idx="2">
                  <c:v>Tháng
05-24</c:v>
                </c:pt>
                <c:pt idx="3">
                  <c:v>Tháng
06-24</c:v>
                </c:pt>
                <c:pt idx="4">
                  <c:v>Tháng
07-24</c:v>
                </c:pt>
                <c:pt idx="5">
                  <c:v>Tháng
08-24</c:v>
                </c:pt>
                <c:pt idx="6">
                  <c:v>Tháng
09-24</c:v>
                </c:pt>
                <c:pt idx="7">
                  <c:v>Tháng
10-24</c:v>
                </c:pt>
                <c:pt idx="8">
                  <c:v>Tháng
11-24</c:v>
                </c:pt>
                <c:pt idx="9">
                  <c:v>Tháng
12-24</c:v>
                </c:pt>
                <c:pt idx="10">
                  <c:v>Tháng
01-25</c:v>
                </c:pt>
                <c:pt idx="11">
                  <c:v>Tháng
02-25</c:v>
                </c:pt>
                <c:pt idx="12">
                  <c:v>Tháng
03-25</c:v>
                </c:pt>
              </c:strCache>
            </c:strRef>
          </c:cat>
          <c:val>
            <c:numRef>
              <c:f>'New Total Report'!$B$56:$N$56</c:f>
              <c:numCache>
                <c:formatCode>0.00</c:formatCode>
                <c:ptCount val="13"/>
                <c:pt idx="0">
                  <c:v>2.5484643867600814</c:v>
                </c:pt>
                <c:pt idx="1">
                  <c:v>-4.3925568079740867</c:v>
                </c:pt>
                <c:pt idx="2">
                  <c:v>3.1332217074648421</c:v>
                </c:pt>
                <c:pt idx="3">
                  <c:v>8.9967093235829889</c:v>
                </c:pt>
                <c:pt idx="4">
                  <c:v>-4.219842392402307</c:v>
                </c:pt>
                <c:pt idx="5">
                  <c:v>-4.6385228203400377</c:v>
                </c:pt>
                <c:pt idx="6">
                  <c:v>2.9197820777752432</c:v>
                </c:pt>
                <c:pt idx="7">
                  <c:v>7.8584571832973005</c:v>
                </c:pt>
                <c:pt idx="8">
                  <c:v>-0.6814244465828333</c:v>
                </c:pt>
                <c:pt idx="9">
                  <c:v>-3.7637901210818843</c:v>
                </c:pt>
                <c:pt idx="10">
                  <c:v>-2.4668169296252285</c:v>
                </c:pt>
                <c:pt idx="11">
                  <c:v>-2.4179864253380132</c:v>
                </c:pt>
                <c:pt idx="12">
                  <c:v>-1.5242646452989859</c:v>
                </c:pt>
              </c:numCache>
            </c:numRef>
          </c:val>
          <c:smooth val="0"/>
          <c:extLst>
            <c:ext xmlns:c16="http://schemas.microsoft.com/office/drawing/2014/chart" uri="{C3380CC4-5D6E-409C-BE32-E72D297353CC}">
              <c16:uniqueId val="{00000002-4576-49EA-8785-B64BB469912D}"/>
            </c:ext>
          </c:extLst>
        </c:ser>
        <c:dLbls>
          <c:showLegendKey val="0"/>
          <c:showVal val="0"/>
          <c:showCatName val="0"/>
          <c:showSerName val="0"/>
          <c:showPercent val="0"/>
          <c:showBubbleSize val="0"/>
        </c:dLbls>
        <c:marker val="1"/>
        <c:smooth val="0"/>
        <c:axId val="577175240"/>
        <c:axId val="577169008"/>
      </c:lineChart>
      <c:catAx>
        <c:axId val="577175240"/>
        <c:scaling>
          <c:orientation val="minMax"/>
        </c:scaling>
        <c:delete val="0"/>
        <c:axPos val="b"/>
        <c:numFmt formatCode="General" sourceLinked="1"/>
        <c:majorTickMark val="none"/>
        <c:minorTickMark val="none"/>
        <c:tickLblPos val="low"/>
        <c:spPr>
          <a:noFill/>
          <a:ln w="12700"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Cambria" panose="02040503050406030204" pitchFamily="18" charset="0"/>
                <a:ea typeface="Cambria" panose="02040503050406030204" pitchFamily="18" charset="0"/>
                <a:cs typeface="+mn-cs"/>
              </a:defRPr>
            </a:pPr>
            <a:endParaRPr lang="en-US"/>
          </a:p>
        </c:txPr>
        <c:crossAx val="577169008"/>
        <c:crosses val="autoZero"/>
        <c:auto val="1"/>
        <c:lblAlgn val="ctr"/>
        <c:lblOffset val="100"/>
        <c:noMultiLvlLbl val="0"/>
      </c:catAx>
      <c:valAx>
        <c:axId val="577169008"/>
        <c:scaling>
          <c:orientation val="minMax"/>
          <c:max val="20"/>
          <c:min val="-16"/>
        </c:scaling>
        <c:delete val="0"/>
        <c:axPos val="l"/>
        <c:majorGridlines>
          <c:spPr>
            <a:ln w="6350" cap="rnd" cmpd="dbl" algn="ctr">
              <a:solidFill>
                <a:schemeClr val="tx1"/>
              </a:solidFill>
              <a:prstDash val="sysDot"/>
              <a:round/>
            </a:ln>
            <a:effectLst/>
          </c:spPr>
        </c:majorGridlines>
        <c:title>
          <c:tx>
            <c:rich>
              <a:bodyPr rot="-5400000" spcFirstLastPara="1" vertOverflow="ellipsis" vert="horz" wrap="square" anchor="ctr" anchorCtr="1"/>
              <a:lstStyle/>
              <a:p>
                <a:pPr>
                  <a:defRPr sz="2000" b="1" i="0" u="none" strike="noStrike" kern="1200" baseline="0">
                    <a:solidFill>
                      <a:sysClr val="windowText" lastClr="000000"/>
                    </a:solidFill>
                    <a:latin typeface="Cambria" panose="02040503050406030204" pitchFamily="18" charset="0"/>
                    <a:ea typeface="Cambria" panose="02040503050406030204" pitchFamily="18" charset="0"/>
                    <a:cs typeface="+mn-cs"/>
                  </a:defRPr>
                </a:pPr>
                <a:r>
                  <a:rPr lang="en-US" sz="2000" b="1">
                    <a:solidFill>
                      <a:sysClr val="windowText" lastClr="000000"/>
                    </a:solidFill>
                  </a:rPr>
                  <a:t>CHỈ SỐ OCR</a:t>
                </a:r>
              </a:p>
            </c:rich>
          </c:tx>
          <c:layout>
            <c:manualLayout>
              <c:xMode val="edge"/>
              <c:yMode val="edge"/>
              <c:x val="3.8564082701569441E-2"/>
              <c:y val="0.17089216934446741"/>
            </c:manualLayout>
          </c:layout>
          <c:overlay val="0"/>
          <c:spPr>
            <a:noFill/>
            <a:ln>
              <a:noFill/>
            </a:ln>
            <a:effectLst/>
          </c:spPr>
          <c:txPr>
            <a:bodyPr rot="-5400000" spcFirstLastPara="1" vertOverflow="ellipsis" vert="horz" wrap="square" anchor="ctr" anchorCtr="1"/>
            <a:lstStyle/>
            <a:p>
              <a:pPr>
                <a:defRPr sz="2000" b="1" i="0" u="none" strike="noStrike" kern="1200" baseline="0">
                  <a:solidFill>
                    <a:sysClr val="windowText" lastClr="000000"/>
                  </a:solidFill>
                  <a:latin typeface="Cambria" panose="02040503050406030204" pitchFamily="18" charset="0"/>
                  <a:ea typeface="Cambria" panose="02040503050406030204" pitchFamily="18" charset="0"/>
                  <a:cs typeface="+mn-cs"/>
                </a:defRPr>
              </a:pPr>
              <a:endParaRPr lang="en-US"/>
            </a:p>
          </c:txPr>
        </c:title>
        <c:numFmt formatCode="0" sourceLinked="0"/>
        <c:majorTickMark val="none"/>
        <c:minorTickMark val="none"/>
        <c:tickLblPos val="nextTo"/>
        <c:spPr>
          <a:noFill/>
          <a:ln>
            <a:solidFill>
              <a:schemeClr val="tx1">
                <a:lumMod val="50000"/>
                <a:lumOff val="50000"/>
              </a:schemeClr>
            </a:solidFill>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Cambria" panose="02040503050406030204" pitchFamily="18" charset="0"/>
                <a:ea typeface="Cambria" panose="02040503050406030204" pitchFamily="18" charset="0"/>
                <a:cs typeface="+mn-cs"/>
              </a:defRPr>
            </a:pPr>
            <a:endParaRPr lang="en-US"/>
          </a:p>
        </c:txPr>
        <c:crossAx val="577175240"/>
        <c:crosses val="autoZero"/>
        <c:crossBetween val="between"/>
        <c:majorUnit val="4"/>
        <c:minorUnit val="2"/>
      </c:valAx>
      <c:spPr>
        <a:noFill/>
        <a:ln>
          <a:noFill/>
        </a:ln>
        <a:effectLst/>
      </c:spPr>
    </c:plotArea>
    <c:plotVisOnly val="1"/>
    <c:dispBlanksAs val="gap"/>
    <c:showDLblsOverMax val="0"/>
  </c:chart>
  <c:spPr>
    <a:solidFill>
      <a:schemeClr val="bg1"/>
    </a:solidFill>
    <a:ln w="9525" cap="rnd" cmpd="sng" algn="ctr">
      <a:solidFill>
        <a:schemeClr val="tx1"/>
      </a:solidFill>
      <a:round/>
    </a:ln>
    <a:effectLst/>
  </c:spPr>
  <c:txPr>
    <a:bodyPr/>
    <a:lstStyle/>
    <a:p>
      <a:pPr>
        <a:defRPr sz="1200" b="0">
          <a:solidFill>
            <a:sysClr val="windowText" lastClr="000000"/>
          </a:solidFill>
          <a:latin typeface="Cambria" panose="02040503050406030204" pitchFamily="18" charset="0"/>
          <a:ea typeface="Cambria" panose="02040503050406030204" pitchFamily="18" charset="0"/>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0833336181285019E-2"/>
          <c:y val="2.0887728459530026E-2"/>
          <c:w val="0.96180555033431081"/>
          <c:h val="0.87260659621078529"/>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GTB_ATB_RTO_DIV!$B$3:$B$26</c:f>
              <c:strCache>
                <c:ptCount val="13"/>
                <c:pt idx="0">
                  <c:v>Mar.24</c:v>
                </c:pt>
                <c:pt idx="1">
                  <c:v>Apr.24</c:v>
                </c:pt>
                <c:pt idx="2">
                  <c:v>May.24</c:v>
                </c:pt>
                <c:pt idx="3">
                  <c:v>Jun.24</c:v>
                </c:pt>
                <c:pt idx="4">
                  <c:v>Jul.24</c:v>
                </c:pt>
                <c:pt idx="5">
                  <c:v>Aug.24</c:v>
                </c:pt>
                <c:pt idx="6">
                  <c:v>Sep.24</c:v>
                </c:pt>
                <c:pt idx="7">
                  <c:v>Oct.24</c:v>
                </c:pt>
                <c:pt idx="8">
                  <c:v>Nov.24</c:v>
                </c:pt>
                <c:pt idx="9">
                  <c:v>Dec.24</c:v>
                </c:pt>
                <c:pt idx="10">
                  <c:v>Jan.25</c:v>
                </c:pt>
                <c:pt idx="11">
                  <c:v>Feb.25</c:v>
                </c:pt>
                <c:pt idx="12">
                  <c:v>Mar.25</c:v>
                </c:pt>
              </c:strCache>
            </c:strRef>
          </c:cat>
          <c:val>
            <c:numRef>
              <c:f>GTB_ATB_RTO_DIV!$D$3:$D$26</c:f>
              <c:numCache>
                <c:formatCode>0</c:formatCode>
                <c:ptCount val="13"/>
                <c:pt idx="0">
                  <c:v>5</c:v>
                </c:pt>
                <c:pt idx="1">
                  <c:v>9</c:v>
                </c:pt>
                <c:pt idx="2">
                  <c:v>10</c:v>
                </c:pt>
                <c:pt idx="3">
                  <c:v>9</c:v>
                </c:pt>
                <c:pt idx="4">
                  <c:v>9</c:v>
                </c:pt>
                <c:pt idx="5">
                  <c:v>7</c:v>
                </c:pt>
                <c:pt idx="6">
                  <c:v>7</c:v>
                </c:pt>
                <c:pt idx="7">
                  <c:v>3</c:v>
                </c:pt>
                <c:pt idx="8">
                  <c:v>9</c:v>
                </c:pt>
                <c:pt idx="9">
                  <c:v>13</c:v>
                </c:pt>
                <c:pt idx="10">
                  <c:v>9</c:v>
                </c:pt>
                <c:pt idx="11">
                  <c:v>12</c:v>
                </c:pt>
                <c:pt idx="12">
                  <c:v>5</c:v>
                </c:pt>
              </c:numCache>
            </c:numRef>
          </c:val>
          <c:extLst>
            <c:ext xmlns:c16="http://schemas.microsoft.com/office/drawing/2014/chart" uri="{C3380CC4-5D6E-409C-BE32-E72D297353CC}">
              <c16:uniqueId val="{00000000-4AAC-490F-90BE-D1EF718DB0C7}"/>
            </c:ext>
          </c:extLst>
        </c:ser>
        <c:dLbls>
          <c:showLegendKey val="0"/>
          <c:showVal val="0"/>
          <c:showCatName val="0"/>
          <c:showSerName val="0"/>
          <c:showPercent val="0"/>
          <c:showBubbleSize val="0"/>
        </c:dLbls>
        <c:gapWidth val="150"/>
        <c:axId val="327493648"/>
        <c:axId val="327487768"/>
      </c:barChart>
      <c:lineChart>
        <c:grouping val="standard"/>
        <c:varyColors val="0"/>
        <c:ser>
          <c:idx val="1"/>
          <c:order val="1"/>
          <c:spPr>
            <a:ln w="28575">
              <a:solidFill>
                <a:srgbClr val="7030A0"/>
              </a:solidFill>
            </a:ln>
          </c:spPr>
          <c:marker>
            <c:symbol val="none"/>
          </c:marker>
          <c:dLbls>
            <c:dLbl>
              <c:idx val="0"/>
              <c:layout>
                <c:manualLayout>
                  <c:x val="-3.1845733895926549E-2"/>
                  <c:y val="-0.142283056090016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AAC-490F-90BE-D1EF718DB0C7}"/>
                </c:ext>
              </c:extLst>
            </c:dLbl>
            <c:dLbl>
              <c:idx val="2"/>
              <c:layout>
                <c:manualLayout>
                  <c:x val="-3.5949749014734037E-2"/>
                  <c:y val="-4.82552223274835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AAC-490F-90BE-D1EF718DB0C7}"/>
                </c:ext>
              </c:extLst>
            </c:dLbl>
            <c:dLbl>
              <c:idx val="3"/>
              <c:layout>
                <c:manualLayout>
                  <c:x val="-3.3719012360392819E-2"/>
                  <c:y val="-0.1073174657465344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AAC-490F-90BE-D1EF718DB0C7}"/>
                </c:ext>
              </c:extLst>
            </c:dLbl>
            <c:dLbl>
              <c:idx val="4"/>
              <c:layout>
                <c:manualLayout>
                  <c:x val="-2.9972455431460286E-2"/>
                  <c:y val="-0.1539551034765011"/>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4-4AAC-490F-90BE-D1EF718DB0C7}"/>
                </c:ext>
              </c:extLst>
            </c:dLbl>
            <c:dLbl>
              <c:idx val="5"/>
              <c:layout>
                <c:manualLayout>
                  <c:x val="-3.1845733895926549E-2"/>
                  <c:y val="-0.11878082675955015"/>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5-4AAC-490F-90BE-D1EF718DB0C7}"/>
                </c:ext>
              </c:extLst>
            </c:dLbl>
            <c:dLbl>
              <c:idx val="7"/>
              <c:layout>
                <c:manualLayout>
                  <c:x val="-4.3085404682724156E-2"/>
                  <c:y val="-0.1288347521117544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AAC-490F-90BE-D1EF718DB0C7}"/>
                </c:ext>
              </c:extLst>
            </c:dLbl>
            <c:dLbl>
              <c:idx val="9"/>
              <c:layout>
                <c:manualLayout>
                  <c:x val="-6.6819842827511758E-2"/>
                  <c:y val="-0.13421407370305938"/>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AAC-490F-90BE-D1EF718DB0C7}"/>
                </c:ext>
              </c:extLst>
            </c:dLbl>
            <c:dLbl>
              <c:idx val="10"/>
              <c:layout>
                <c:manualLayout>
                  <c:x val="-2.6432823953349054E-2"/>
                  <c:y val="-0.27663719882792781"/>
                </c:manualLayout>
              </c:layout>
              <c:spPr>
                <a:noFill/>
              </c:spPr>
              <c:txPr>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AAC-490F-90BE-D1EF718DB0C7}"/>
                </c:ext>
              </c:extLst>
            </c:dLbl>
            <c:dLbl>
              <c:idx val="11"/>
              <c:layout>
                <c:manualLayout>
                  <c:x val="-3.5761582694777236E-2"/>
                  <c:y val="-0.10249756616533984"/>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9-4AAC-490F-90BE-D1EF718DB0C7}"/>
                </c:ext>
              </c:extLst>
            </c:dLbl>
            <c:dLbl>
              <c:idx val="12"/>
              <c:layout>
                <c:manualLayout>
                  <c:x val="-1.3088211566284231E-3"/>
                  <c:y val="-5.929009616879781E-2"/>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A-4AAC-490F-90BE-D1EF718DB0C7}"/>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GTB_ATB_RTO_DIV!$B$3:$B$26</c:f>
              <c:strCache>
                <c:ptCount val="13"/>
                <c:pt idx="0">
                  <c:v>Mar.24</c:v>
                </c:pt>
                <c:pt idx="1">
                  <c:v>Apr.24</c:v>
                </c:pt>
                <c:pt idx="2">
                  <c:v>May.24</c:v>
                </c:pt>
                <c:pt idx="3">
                  <c:v>Jun.24</c:v>
                </c:pt>
                <c:pt idx="4">
                  <c:v>Jul.24</c:v>
                </c:pt>
                <c:pt idx="5">
                  <c:v>Aug.24</c:v>
                </c:pt>
                <c:pt idx="6">
                  <c:v>Sep.24</c:v>
                </c:pt>
                <c:pt idx="7">
                  <c:v>Oct.24</c:v>
                </c:pt>
                <c:pt idx="8">
                  <c:v>Nov.24</c:v>
                </c:pt>
                <c:pt idx="9">
                  <c:v>Dec.24</c:v>
                </c:pt>
                <c:pt idx="10">
                  <c:v>Jan.25</c:v>
                </c:pt>
                <c:pt idx="11">
                  <c:v>Feb.25</c:v>
                </c:pt>
                <c:pt idx="12">
                  <c:v>Mar.25</c:v>
                </c:pt>
              </c:strCache>
            </c:strRef>
          </c:cat>
          <c:val>
            <c:numRef>
              <c:f>GTB_ATB_RTO_DIV!$E$3:$E$26</c:f>
              <c:numCache>
                <c:formatCode>0.00</c:formatCode>
                <c:ptCount val="13"/>
                <c:pt idx="0">
                  <c:v>4.5587162654996352</c:v>
                </c:pt>
                <c:pt idx="1">
                  <c:v>8.7506076810889653</c:v>
                </c:pt>
                <c:pt idx="2">
                  <c:v>9.8473658296405713</c:v>
                </c:pt>
                <c:pt idx="3">
                  <c:v>7.7639751552795033</c:v>
                </c:pt>
                <c:pt idx="4">
                  <c:v>6.9380203515263643</c:v>
                </c:pt>
                <c:pt idx="5">
                  <c:v>5.9609980413863575</c:v>
                </c:pt>
                <c:pt idx="6">
                  <c:v>7.4922401798137646</c:v>
                </c:pt>
                <c:pt idx="7">
                  <c:v>3.1446540880503147</c:v>
                </c:pt>
                <c:pt idx="8">
                  <c:v>9.079903147699758</c:v>
                </c:pt>
                <c:pt idx="9">
                  <c:v>11.301399634877859</c:v>
                </c:pt>
                <c:pt idx="10">
                  <c:v>7.5012502083680612</c:v>
                </c:pt>
                <c:pt idx="11">
                  <c:v>10.924981791697014</c:v>
                </c:pt>
                <c:pt idx="12">
                  <c:v>4.45275625612254</c:v>
                </c:pt>
              </c:numCache>
            </c:numRef>
          </c:val>
          <c:smooth val="0"/>
          <c:extLst>
            <c:ext xmlns:c16="http://schemas.microsoft.com/office/drawing/2014/chart" uri="{C3380CC4-5D6E-409C-BE32-E72D297353CC}">
              <c16:uniqueId val="{0000000B-4AAC-490F-90BE-D1EF718DB0C7}"/>
            </c:ext>
          </c:extLst>
        </c:ser>
        <c:ser>
          <c:idx val="2"/>
          <c:order val="2"/>
          <c:spPr>
            <a:ln w="25400">
              <a:solidFill>
                <a:srgbClr val="00B0F0"/>
              </a:solidFill>
            </a:ln>
          </c:spPr>
          <c:marker>
            <c:symbol val="none"/>
          </c:marker>
          <c:dLbls>
            <c:dLbl>
              <c:idx val="0"/>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0C-4AAC-490F-90BE-D1EF718DB0C7}"/>
                </c:ext>
              </c:extLst>
            </c:dLbl>
            <c:dLbl>
              <c:idx val="1"/>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0D-4AAC-490F-90BE-D1EF718DB0C7}"/>
                </c:ext>
              </c:extLst>
            </c:dLbl>
            <c:dLbl>
              <c:idx val="2"/>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0E-4AAC-490F-90BE-D1EF718DB0C7}"/>
                </c:ext>
              </c:extLst>
            </c:dLbl>
            <c:dLbl>
              <c:idx val="3"/>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0F-4AAC-490F-90BE-D1EF718DB0C7}"/>
                </c:ext>
              </c:extLst>
            </c:dLbl>
            <c:dLbl>
              <c:idx val="4"/>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0-4AAC-490F-90BE-D1EF718DB0C7}"/>
                </c:ext>
              </c:extLst>
            </c:dLbl>
            <c:dLbl>
              <c:idx val="5"/>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1-4AAC-490F-90BE-D1EF718DB0C7}"/>
                </c:ext>
              </c:extLst>
            </c:dLbl>
            <c:dLbl>
              <c:idx val="6"/>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2-4AAC-490F-90BE-D1EF718DB0C7}"/>
                </c:ext>
              </c:extLst>
            </c:dLbl>
            <c:dLbl>
              <c:idx val="7"/>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3-4AAC-490F-90BE-D1EF718DB0C7}"/>
                </c:ext>
              </c:extLst>
            </c:dLbl>
            <c:dLbl>
              <c:idx val="8"/>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4-4AAC-490F-90BE-D1EF718DB0C7}"/>
                </c:ext>
              </c:extLst>
            </c:dLbl>
            <c:dLbl>
              <c:idx val="9"/>
              <c:delete val="1"/>
              <c:extLst>
                <c:ext xmlns:c15="http://schemas.microsoft.com/office/drawing/2012/chart" uri="{CE6537A1-D6FC-4f65-9D91-7224C49458BB}"/>
                <c:ext xmlns:c16="http://schemas.microsoft.com/office/drawing/2014/chart" uri="{C3380CC4-5D6E-409C-BE32-E72D297353CC}">
                  <c16:uniqueId val="{00000015-4AAC-490F-90BE-D1EF718DB0C7}"/>
                </c:ext>
              </c:extLst>
            </c:dLbl>
            <c:dLbl>
              <c:idx val="10"/>
              <c:layout>
                <c:manualLayout>
                  <c:x val="0.11988982172584113"/>
                  <c:y val="-1.893999515528133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4AAC-490F-90BE-D1EF718DB0C7}"/>
                </c:ext>
              </c:extLst>
            </c:dLbl>
            <c:dLbl>
              <c:idx val="11"/>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7-4AAC-490F-90BE-D1EF718DB0C7}"/>
                </c:ext>
              </c:extLst>
            </c:dLbl>
            <c:dLbl>
              <c:idx val="12"/>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8-4AAC-490F-90BE-D1EF718DB0C7}"/>
                </c:ext>
              </c:extLst>
            </c:dLbl>
            <c:spPr>
              <a:solidFill>
                <a:srgbClr val="00B0F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GTB_ATB_RTO_DIV!$B$3:$B$26</c:f>
              <c:strCache>
                <c:ptCount val="13"/>
                <c:pt idx="0">
                  <c:v>Mar.24</c:v>
                </c:pt>
                <c:pt idx="1">
                  <c:v>Apr.24</c:v>
                </c:pt>
                <c:pt idx="2">
                  <c:v>May.24</c:v>
                </c:pt>
                <c:pt idx="3">
                  <c:v>Jun.24</c:v>
                </c:pt>
                <c:pt idx="4">
                  <c:v>Jul.24</c:v>
                </c:pt>
                <c:pt idx="5">
                  <c:v>Aug.24</c:v>
                </c:pt>
                <c:pt idx="6">
                  <c:v>Sep.24</c:v>
                </c:pt>
                <c:pt idx="7">
                  <c:v>Oct.24</c:v>
                </c:pt>
                <c:pt idx="8">
                  <c:v>Nov.24</c:v>
                </c:pt>
                <c:pt idx="9">
                  <c:v>Dec.24</c:v>
                </c:pt>
                <c:pt idx="10">
                  <c:v>Jan.25</c:v>
                </c:pt>
                <c:pt idx="11">
                  <c:v>Feb.25</c:v>
                </c:pt>
                <c:pt idx="12">
                  <c:v>Mar.25</c:v>
                </c:pt>
              </c:strCache>
            </c:strRef>
          </c:cat>
          <c:val>
            <c:numRef>
              <c:f>GTB_ATB_RTO_DIV!$F$3:$F$26</c:f>
              <c:numCache>
                <c:formatCode>0.00</c:formatCode>
                <c:ptCount val="13"/>
                <c:pt idx="0">
                  <c:v>13.300190648287957</c:v>
                </c:pt>
                <c:pt idx="1">
                  <c:v>13.300190648287957</c:v>
                </c:pt>
                <c:pt idx="2">
                  <c:v>13.300190648287957</c:v>
                </c:pt>
                <c:pt idx="3">
                  <c:v>13.300190648287957</c:v>
                </c:pt>
                <c:pt idx="4">
                  <c:v>13.300190648287957</c:v>
                </c:pt>
                <c:pt idx="5">
                  <c:v>13.300190648287957</c:v>
                </c:pt>
                <c:pt idx="6">
                  <c:v>13.300190648287957</c:v>
                </c:pt>
                <c:pt idx="7">
                  <c:v>13.300190648287957</c:v>
                </c:pt>
                <c:pt idx="8">
                  <c:v>13.300190648287957</c:v>
                </c:pt>
                <c:pt idx="9">
                  <c:v>13.300190648287957</c:v>
                </c:pt>
                <c:pt idx="10">
                  <c:v>8.9700000000000006</c:v>
                </c:pt>
                <c:pt idx="11">
                  <c:v>8.9700000000000006</c:v>
                </c:pt>
                <c:pt idx="12">
                  <c:v>8.9700000000000006</c:v>
                </c:pt>
              </c:numCache>
            </c:numRef>
          </c:val>
          <c:smooth val="0"/>
          <c:extLst>
            <c:ext xmlns:c16="http://schemas.microsoft.com/office/drawing/2014/chart" uri="{C3380CC4-5D6E-409C-BE32-E72D297353CC}">
              <c16:uniqueId val="{00000019-4AAC-490F-90BE-D1EF718DB0C7}"/>
            </c:ext>
          </c:extLst>
        </c:ser>
        <c:ser>
          <c:idx val="3"/>
          <c:order val="3"/>
          <c:spPr>
            <a:ln w="25400">
              <a:solidFill>
                <a:srgbClr val="FFC000"/>
              </a:solidFill>
            </a:ln>
          </c:spPr>
          <c:marker>
            <c:symbol val="none"/>
          </c:marker>
          <c:dLbls>
            <c:dLbl>
              <c:idx val="0"/>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A-4AAC-490F-90BE-D1EF718DB0C7}"/>
                </c:ext>
              </c:extLst>
            </c:dLbl>
            <c:dLbl>
              <c:idx val="1"/>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B-4AAC-490F-90BE-D1EF718DB0C7}"/>
                </c:ext>
              </c:extLst>
            </c:dLbl>
            <c:dLbl>
              <c:idx val="2"/>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C-4AAC-490F-90BE-D1EF718DB0C7}"/>
                </c:ext>
              </c:extLst>
            </c:dLbl>
            <c:dLbl>
              <c:idx val="3"/>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D-4AAC-490F-90BE-D1EF718DB0C7}"/>
                </c:ext>
              </c:extLst>
            </c:dLbl>
            <c:dLbl>
              <c:idx val="4"/>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E-4AAC-490F-90BE-D1EF718DB0C7}"/>
                </c:ext>
              </c:extLst>
            </c:dLbl>
            <c:dLbl>
              <c:idx val="5"/>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F-4AAC-490F-90BE-D1EF718DB0C7}"/>
                </c:ext>
              </c:extLst>
            </c:dLbl>
            <c:dLbl>
              <c:idx val="6"/>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20-4AAC-490F-90BE-D1EF718DB0C7}"/>
                </c:ext>
              </c:extLst>
            </c:dLbl>
            <c:dLbl>
              <c:idx val="7"/>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1-4AAC-490F-90BE-D1EF718DB0C7}"/>
                </c:ext>
              </c:extLst>
            </c:dLbl>
            <c:dLbl>
              <c:idx val="8"/>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2-4AAC-490F-90BE-D1EF718DB0C7}"/>
                </c:ext>
              </c:extLst>
            </c:dLbl>
            <c:dLbl>
              <c:idx val="9"/>
              <c:delete val="1"/>
              <c:extLst>
                <c:ext xmlns:c15="http://schemas.microsoft.com/office/drawing/2012/chart" uri="{CE6537A1-D6FC-4f65-9D91-7224C49458BB}"/>
                <c:ext xmlns:c16="http://schemas.microsoft.com/office/drawing/2014/chart" uri="{C3380CC4-5D6E-409C-BE32-E72D297353CC}">
                  <c16:uniqueId val="{00000023-4AAC-490F-90BE-D1EF718DB0C7}"/>
                </c:ext>
              </c:extLst>
            </c:dLbl>
            <c:dLbl>
              <c:idx val="10"/>
              <c:layout>
                <c:manualLayout>
                  <c:x val="0.12176310019030739"/>
                  <c:y val="-1.08228543744465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4AAC-490F-90BE-D1EF718DB0C7}"/>
                </c:ext>
              </c:extLst>
            </c:dLbl>
            <c:dLbl>
              <c:idx val="11"/>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5-4AAC-490F-90BE-D1EF718DB0C7}"/>
                </c:ext>
              </c:extLst>
            </c:dLbl>
            <c:dLbl>
              <c:idx val="12"/>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6-4AAC-490F-90BE-D1EF718DB0C7}"/>
                </c:ext>
              </c:extLst>
            </c:dLbl>
            <c:spPr>
              <a:solidFill>
                <a:srgbClr val="FFC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GTB_ATB_RTO_DIV!$B$3:$B$26</c:f>
              <c:strCache>
                <c:ptCount val="13"/>
                <c:pt idx="0">
                  <c:v>Mar.24</c:v>
                </c:pt>
                <c:pt idx="1">
                  <c:v>Apr.24</c:v>
                </c:pt>
                <c:pt idx="2">
                  <c:v>May.24</c:v>
                </c:pt>
                <c:pt idx="3">
                  <c:v>Jun.24</c:v>
                </c:pt>
                <c:pt idx="4">
                  <c:v>Jul.24</c:v>
                </c:pt>
                <c:pt idx="5">
                  <c:v>Aug.24</c:v>
                </c:pt>
                <c:pt idx="6">
                  <c:v>Sep.24</c:v>
                </c:pt>
                <c:pt idx="7">
                  <c:v>Oct.24</c:v>
                </c:pt>
                <c:pt idx="8">
                  <c:v>Nov.24</c:v>
                </c:pt>
                <c:pt idx="9">
                  <c:v>Dec.24</c:v>
                </c:pt>
                <c:pt idx="10">
                  <c:v>Jan.25</c:v>
                </c:pt>
                <c:pt idx="11">
                  <c:v>Feb.25</c:v>
                </c:pt>
                <c:pt idx="12">
                  <c:v>Mar.25</c:v>
                </c:pt>
              </c:strCache>
            </c:strRef>
          </c:cat>
          <c:val>
            <c:numRef>
              <c:f>GTB_ATB_RTO_DIV!$G$3:$G$26</c:f>
              <c:numCache>
                <c:formatCode>0.00</c:formatCode>
                <c:ptCount val="13"/>
                <c:pt idx="0">
                  <c:v>15.209632431802575</c:v>
                </c:pt>
                <c:pt idx="1">
                  <c:v>15.209632431802575</c:v>
                </c:pt>
                <c:pt idx="2">
                  <c:v>15.209632431802575</c:v>
                </c:pt>
                <c:pt idx="3">
                  <c:v>15.209632431802575</c:v>
                </c:pt>
                <c:pt idx="4">
                  <c:v>15.209632431802575</c:v>
                </c:pt>
                <c:pt idx="5">
                  <c:v>15.209632431802575</c:v>
                </c:pt>
                <c:pt idx="6">
                  <c:v>15.209632431802575</c:v>
                </c:pt>
                <c:pt idx="7">
                  <c:v>15.209632431802575</c:v>
                </c:pt>
                <c:pt idx="8">
                  <c:v>15.209632431802575</c:v>
                </c:pt>
                <c:pt idx="9">
                  <c:v>15.209632431802575</c:v>
                </c:pt>
                <c:pt idx="10">
                  <c:v>10.27</c:v>
                </c:pt>
                <c:pt idx="11">
                  <c:v>10.27</c:v>
                </c:pt>
                <c:pt idx="12">
                  <c:v>10.27</c:v>
                </c:pt>
              </c:numCache>
            </c:numRef>
          </c:val>
          <c:smooth val="0"/>
          <c:extLst>
            <c:ext xmlns:c16="http://schemas.microsoft.com/office/drawing/2014/chart" uri="{C3380CC4-5D6E-409C-BE32-E72D297353CC}">
              <c16:uniqueId val="{00000027-4AAC-490F-90BE-D1EF718DB0C7}"/>
            </c:ext>
          </c:extLst>
        </c:ser>
        <c:ser>
          <c:idx val="4"/>
          <c:order val="4"/>
          <c:spPr>
            <a:ln w="25400">
              <a:solidFill>
                <a:srgbClr val="FF0000"/>
              </a:solidFill>
            </a:ln>
          </c:spPr>
          <c:marker>
            <c:symbol val="none"/>
          </c:marker>
          <c:dLbls>
            <c:dLbl>
              <c:idx val="0"/>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28-4AAC-490F-90BE-D1EF718DB0C7}"/>
                </c:ext>
              </c:extLst>
            </c:dLbl>
            <c:dLbl>
              <c:idx val="1"/>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9-4AAC-490F-90BE-D1EF718DB0C7}"/>
                </c:ext>
              </c:extLst>
            </c:dLbl>
            <c:dLbl>
              <c:idx val="2"/>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A-4AAC-490F-90BE-D1EF718DB0C7}"/>
                </c:ext>
              </c:extLst>
            </c:dLbl>
            <c:dLbl>
              <c:idx val="3"/>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2B-4AAC-490F-90BE-D1EF718DB0C7}"/>
                </c:ext>
              </c:extLst>
            </c:dLbl>
            <c:dLbl>
              <c:idx val="4"/>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2C-4AAC-490F-90BE-D1EF718DB0C7}"/>
                </c:ext>
              </c:extLst>
            </c:dLbl>
            <c:dLbl>
              <c:idx val="5"/>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2D-4AAC-490F-90BE-D1EF718DB0C7}"/>
                </c:ext>
              </c:extLst>
            </c:dLbl>
            <c:dLbl>
              <c:idx val="6"/>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2E-4AAC-490F-90BE-D1EF718DB0C7}"/>
                </c:ext>
              </c:extLst>
            </c:dLbl>
            <c:dLbl>
              <c:idx val="7"/>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F-4AAC-490F-90BE-D1EF718DB0C7}"/>
                </c:ext>
              </c:extLst>
            </c:dLbl>
            <c:dLbl>
              <c:idx val="8"/>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30-4AAC-490F-90BE-D1EF718DB0C7}"/>
                </c:ext>
              </c:extLst>
            </c:dLbl>
            <c:dLbl>
              <c:idx val="9"/>
              <c:delete val="1"/>
              <c:extLst>
                <c:ext xmlns:c15="http://schemas.microsoft.com/office/drawing/2012/chart" uri="{CE6537A1-D6FC-4f65-9D91-7224C49458BB}"/>
                <c:ext xmlns:c16="http://schemas.microsoft.com/office/drawing/2014/chart" uri="{C3380CC4-5D6E-409C-BE32-E72D297353CC}">
                  <c16:uniqueId val="{00000031-4AAC-490F-90BE-D1EF718DB0C7}"/>
                </c:ext>
              </c:extLst>
            </c:dLbl>
            <c:dLbl>
              <c:idx val="10"/>
              <c:delete val="1"/>
              <c:extLst>
                <c:ext xmlns:c15="http://schemas.microsoft.com/office/drawing/2012/chart" uri="{CE6537A1-D6FC-4f65-9D91-7224C49458BB}"/>
                <c:ext xmlns:c16="http://schemas.microsoft.com/office/drawing/2014/chart" uri="{C3380CC4-5D6E-409C-BE32-E72D297353CC}">
                  <c16:uniqueId val="{00000032-4AAC-490F-90BE-D1EF718DB0C7}"/>
                </c:ext>
              </c:extLst>
            </c:dLbl>
            <c:dLbl>
              <c:idx val="11"/>
              <c:layout>
                <c:manualLayout>
                  <c:x val="5.2978577495397382E-2"/>
                  <c:y val="-4.0550606997885675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3-4AAC-490F-90BE-D1EF718DB0C7}"/>
                </c:ext>
              </c:extLst>
            </c:dLbl>
            <c:dLbl>
              <c:idx val="12"/>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34-4AAC-490F-90BE-D1EF718DB0C7}"/>
                </c:ext>
              </c:extLst>
            </c:dLbl>
            <c:spPr>
              <a:solidFill>
                <a:srgbClr val="FF0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GTB_ATB_RTO_DIV!$B$3:$B$26</c:f>
              <c:strCache>
                <c:ptCount val="13"/>
                <c:pt idx="0">
                  <c:v>Mar.24</c:v>
                </c:pt>
                <c:pt idx="1">
                  <c:v>Apr.24</c:v>
                </c:pt>
                <c:pt idx="2">
                  <c:v>May.24</c:v>
                </c:pt>
                <c:pt idx="3">
                  <c:v>Jun.24</c:v>
                </c:pt>
                <c:pt idx="4">
                  <c:v>Jul.24</c:v>
                </c:pt>
                <c:pt idx="5">
                  <c:v>Aug.24</c:v>
                </c:pt>
                <c:pt idx="6">
                  <c:v>Sep.24</c:v>
                </c:pt>
                <c:pt idx="7">
                  <c:v>Oct.24</c:v>
                </c:pt>
                <c:pt idx="8">
                  <c:v>Nov.24</c:v>
                </c:pt>
                <c:pt idx="9">
                  <c:v>Dec.24</c:v>
                </c:pt>
                <c:pt idx="10">
                  <c:v>Jan.25</c:v>
                </c:pt>
                <c:pt idx="11">
                  <c:v>Feb.25</c:v>
                </c:pt>
                <c:pt idx="12">
                  <c:v>Mar.25</c:v>
                </c:pt>
              </c:strCache>
            </c:strRef>
          </c:cat>
          <c:val>
            <c:numRef>
              <c:f>GTB_ATB_RTO_DIV!$H$3:$H$26</c:f>
              <c:numCache>
                <c:formatCode>0.00</c:formatCode>
                <c:ptCount val="13"/>
                <c:pt idx="0">
                  <c:v>17.119074215317191</c:v>
                </c:pt>
                <c:pt idx="1">
                  <c:v>17.119074215317191</c:v>
                </c:pt>
                <c:pt idx="2">
                  <c:v>17.119074215317191</c:v>
                </c:pt>
                <c:pt idx="3">
                  <c:v>17.119074215317191</c:v>
                </c:pt>
                <c:pt idx="4">
                  <c:v>17.119074215317191</c:v>
                </c:pt>
                <c:pt idx="5">
                  <c:v>17.119074215317191</c:v>
                </c:pt>
                <c:pt idx="6">
                  <c:v>17.119074215317191</c:v>
                </c:pt>
                <c:pt idx="7">
                  <c:v>17.119074215317191</c:v>
                </c:pt>
                <c:pt idx="8">
                  <c:v>17.119074215317191</c:v>
                </c:pt>
                <c:pt idx="9">
                  <c:v>17.119074215317191</c:v>
                </c:pt>
                <c:pt idx="10">
                  <c:v>11.57</c:v>
                </c:pt>
                <c:pt idx="11">
                  <c:v>11.57</c:v>
                </c:pt>
                <c:pt idx="12">
                  <c:v>11.57</c:v>
                </c:pt>
              </c:numCache>
            </c:numRef>
          </c:val>
          <c:smooth val="0"/>
          <c:extLst>
            <c:ext xmlns:c16="http://schemas.microsoft.com/office/drawing/2014/chart" uri="{C3380CC4-5D6E-409C-BE32-E72D297353CC}">
              <c16:uniqueId val="{00000035-4AAC-490F-90BE-D1EF718DB0C7}"/>
            </c:ext>
          </c:extLst>
        </c:ser>
        <c:ser>
          <c:idx val="5"/>
          <c:order val="5"/>
          <c:spPr>
            <a:ln w="25400">
              <a:solidFill>
                <a:srgbClr val="339933"/>
              </a:solidFill>
            </a:ln>
          </c:spPr>
          <c:marker>
            <c:symbol val="none"/>
          </c:marker>
          <c:dLbls>
            <c:dLbl>
              <c:idx val="10"/>
              <c:layout>
                <c:manualLayout>
                  <c:x val="0.12363637865477366"/>
                  <c:y val="-1.62342815616698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6-4AAC-490F-90BE-D1EF718DB0C7}"/>
                </c:ext>
              </c:extLst>
            </c:dLbl>
            <c:spPr>
              <a:solidFill>
                <a:srgbClr val="92D05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GTB_ATB_RTO_DIV!$B$3:$B$26</c:f>
              <c:strCache>
                <c:ptCount val="13"/>
                <c:pt idx="0">
                  <c:v>Mar.24</c:v>
                </c:pt>
                <c:pt idx="1">
                  <c:v>Apr.24</c:v>
                </c:pt>
                <c:pt idx="2">
                  <c:v>May.24</c:v>
                </c:pt>
                <c:pt idx="3">
                  <c:v>Jun.24</c:v>
                </c:pt>
                <c:pt idx="4">
                  <c:v>Jul.24</c:v>
                </c:pt>
                <c:pt idx="5">
                  <c:v>Aug.24</c:v>
                </c:pt>
                <c:pt idx="6">
                  <c:v>Sep.24</c:v>
                </c:pt>
                <c:pt idx="7">
                  <c:v>Oct.24</c:v>
                </c:pt>
                <c:pt idx="8">
                  <c:v>Nov.24</c:v>
                </c:pt>
                <c:pt idx="9">
                  <c:v>Dec.24</c:v>
                </c:pt>
                <c:pt idx="10">
                  <c:v>Jan.25</c:v>
                </c:pt>
                <c:pt idx="11">
                  <c:v>Feb.25</c:v>
                </c:pt>
                <c:pt idx="12">
                  <c:v>Mar.25</c:v>
                </c:pt>
              </c:strCache>
            </c:strRef>
          </c:cat>
          <c:val>
            <c:numRef>
              <c:f>GTB_ATB_RTO_DIV!$I$3:$I$26</c:f>
              <c:numCache>
                <c:formatCode>0.00</c:formatCode>
                <c:ptCount val="13"/>
                <c:pt idx="0">
                  <c:v>11.390748864773339</c:v>
                </c:pt>
                <c:pt idx="1">
                  <c:v>11.390748864773339</c:v>
                </c:pt>
                <c:pt idx="2">
                  <c:v>11.390748864773339</c:v>
                </c:pt>
                <c:pt idx="3">
                  <c:v>11.390748864773339</c:v>
                </c:pt>
                <c:pt idx="4">
                  <c:v>11.390748864773339</c:v>
                </c:pt>
                <c:pt idx="5">
                  <c:v>11.390748864773339</c:v>
                </c:pt>
                <c:pt idx="6">
                  <c:v>11.390748864773339</c:v>
                </c:pt>
                <c:pt idx="7">
                  <c:v>11.390748864773339</c:v>
                </c:pt>
                <c:pt idx="8">
                  <c:v>11.390748864773339</c:v>
                </c:pt>
                <c:pt idx="9">
                  <c:v>11.390748864773339</c:v>
                </c:pt>
                <c:pt idx="10">
                  <c:v>7.28</c:v>
                </c:pt>
                <c:pt idx="11">
                  <c:v>7.28</c:v>
                </c:pt>
                <c:pt idx="12">
                  <c:v>7.28</c:v>
                </c:pt>
              </c:numCache>
            </c:numRef>
          </c:val>
          <c:smooth val="0"/>
          <c:extLst>
            <c:ext xmlns:c16="http://schemas.microsoft.com/office/drawing/2014/chart" uri="{C3380CC4-5D6E-409C-BE32-E72D297353CC}">
              <c16:uniqueId val="{00000037-4AAC-490F-90BE-D1EF718DB0C7}"/>
            </c:ext>
          </c:extLst>
        </c:ser>
        <c:dLbls>
          <c:showLegendKey val="0"/>
          <c:showVal val="1"/>
          <c:showCatName val="0"/>
          <c:showSerName val="0"/>
          <c:showPercent val="0"/>
          <c:showBubbleSize val="0"/>
        </c:dLbls>
        <c:marker val="1"/>
        <c:smooth val="0"/>
        <c:axId val="327493648"/>
        <c:axId val="327487768"/>
      </c:lineChart>
      <c:catAx>
        <c:axId val="327493648"/>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327487768"/>
        <c:crosses val="autoZero"/>
        <c:auto val="1"/>
        <c:lblAlgn val="ctr"/>
        <c:lblOffset val="100"/>
        <c:noMultiLvlLbl val="0"/>
      </c:catAx>
      <c:valAx>
        <c:axId val="327487768"/>
        <c:scaling>
          <c:orientation val="minMax"/>
        </c:scaling>
        <c:delete val="1"/>
        <c:axPos val="l"/>
        <c:numFmt formatCode="0" sourceLinked="1"/>
        <c:majorTickMark val="out"/>
        <c:minorTickMark val="none"/>
        <c:tickLblPos val="nextTo"/>
        <c:crossAx val="327493648"/>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8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800"/>
              <a:t>GIÁN ĐOẠN KHAI THÁC</a:t>
            </a:r>
          </a:p>
        </c:rich>
      </c:tx>
      <c:overlay val="0"/>
      <c:spPr>
        <a:noFill/>
        <a:ln>
          <a:noFill/>
        </a:ln>
        <a:effectLst/>
      </c:spPr>
      <c:txPr>
        <a:bodyPr rot="0" spcFirstLastPara="1" vertOverflow="ellipsis" vert="horz" wrap="square" anchor="ctr" anchorCtr="1"/>
        <a:lstStyle/>
        <a:p>
          <a:pPr>
            <a:defRPr sz="8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GTB_ATB_RTO_DIV!$AA$3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GTB_ATB_RTO_DIV!$Z$4:$Z$5</c:f>
              <c:strCache>
                <c:ptCount val="2"/>
                <c:pt idx="0">
                  <c:v>Số vụ</c:v>
                </c:pt>
                <c:pt idx="1">
                  <c:v>Tỷ lệ/10000CB</c:v>
                </c:pt>
              </c:strCache>
            </c:strRef>
          </c:cat>
          <c:val>
            <c:numRef>
              <c:f>GTB_ATB_RTO_DIV!$AA$4:$AA$5</c:f>
              <c:numCache>
                <c:formatCode>0.00</c:formatCode>
                <c:ptCount val="2"/>
                <c:pt idx="0" formatCode="0">
                  <c:v>28</c:v>
                </c:pt>
                <c:pt idx="1">
                  <c:v>8.3764621413827154</c:v>
                </c:pt>
              </c:numCache>
            </c:numRef>
          </c:val>
          <c:extLst>
            <c:ext xmlns:c16="http://schemas.microsoft.com/office/drawing/2014/chart" uri="{C3380CC4-5D6E-409C-BE32-E72D297353CC}">
              <c16:uniqueId val="{00000000-529E-45C1-9928-6B0899E420B8}"/>
            </c:ext>
          </c:extLst>
        </c:ser>
        <c:ser>
          <c:idx val="1"/>
          <c:order val="1"/>
          <c:tx>
            <c:strRef>
              <c:f>GTB_ATB_RTO_DIV!$AB$3</c:f>
              <c:strCache>
                <c:ptCount val="1"/>
                <c:pt idx="0">
                  <c:v>Năm 2025</c:v>
                </c:pt>
              </c:strCache>
            </c:strRef>
          </c:tx>
          <c:spPr>
            <a:solidFill>
              <a:schemeClr val="accent2"/>
            </a:solidFill>
            <a:ln>
              <a:noFill/>
            </a:ln>
            <a:effectLst/>
          </c:spPr>
          <c:invertIfNegative val="0"/>
          <c:dLbls>
            <c:dLbl>
              <c:idx val="1"/>
              <c:layout>
                <c:manualLayout>
                  <c:x val="5.3000742248865015E-2"/>
                  <c:y val="-7.4532804732424557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29E-45C1-9928-6B0899E420B8}"/>
                </c:ext>
              </c:extLst>
            </c:dLbl>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GTB_ATB_RTO_DIV!$Z$4:$Z$5</c:f>
              <c:strCache>
                <c:ptCount val="2"/>
                <c:pt idx="0">
                  <c:v>Số vụ</c:v>
                </c:pt>
                <c:pt idx="1">
                  <c:v>Tỷ lệ/10000CB</c:v>
                </c:pt>
              </c:strCache>
            </c:strRef>
          </c:cat>
          <c:val>
            <c:numRef>
              <c:f>GTB_ATB_RTO_DIV!$AB$4:$AB$5</c:f>
              <c:numCache>
                <c:formatCode>0.00</c:formatCode>
                <c:ptCount val="2"/>
                <c:pt idx="0" formatCode="0">
                  <c:v>26</c:v>
                </c:pt>
                <c:pt idx="1">
                  <c:v>7.5998947706877908</c:v>
                </c:pt>
              </c:numCache>
            </c:numRef>
          </c:val>
          <c:extLst>
            <c:ext xmlns:c16="http://schemas.microsoft.com/office/drawing/2014/chart" uri="{C3380CC4-5D6E-409C-BE32-E72D297353CC}">
              <c16:uniqueId val="{00000002-529E-45C1-9928-6B0899E420B8}"/>
            </c:ext>
          </c:extLst>
        </c:ser>
        <c:dLbls>
          <c:showLegendKey val="0"/>
          <c:showVal val="0"/>
          <c:showCatName val="0"/>
          <c:showSerName val="0"/>
          <c:showPercent val="0"/>
          <c:showBubbleSize val="0"/>
        </c:dLbls>
        <c:gapWidth val="219"/>
        <c:overlap val="-27"/>
        <c:axId val="327494432"/>
        <c:axId val="327485416"/>
      </c:barChart>
      <c:catAx>
        <c:axId val="327494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7485416"/>
        <c:crosses val="autoZero"/>
        <c:auto val="1"/>
        <c:lblAlgn val="ctr"/>
        <c:lblOffset val="100"/>
        <c:noMultiLvlLbl val="0"/>
      </c:catAx>
      <c:valAx>
        <c:axId val="32748541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7494432"/>
        <c:crosses val="autoZero"/>
        <c:crossBetween val="between"/>
      </c:valAx>
      <c:spPr>
        <a:noFill/>
        <a:ln>
          <a:noFill/>
        </a:ln>
        <a:effectLst/>
      </c:spPr>
    </c:plotArea>
    <c:legend>
      <c:legendPos val="b"/>
      <c:layout>
        <c:manualLayout>
          <c:xMode val="edge"/>
          <c:yMode val="edge"/>
          <c:x val="0"/>
          <c:y val="0.92822092140665291"/>
          <c:w val="1"/>
          <c:h val="5.3024888434719177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800" b="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8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800"/>
              <a:t>GIÁN ĐOẠN KHAI THÁC</a:t>
            </a:r>
          </a:p>
        </c:rich>
      </c:tx>
      <c:overlay val="0"/>
      <c:spPr>
        <a:noFill/>
        <a:ln>
          <a:noFill/>
        </a:ln>
        <a:effectLst/>
      </c:spPr>
      <c:txPr>
        <a:bodyPr rot="0" spcFirstLastPara="1" vertOverflow="ellipsis" vert="horz" wrap="square" anchor="ctr" anchorCtr="1"/>
        <a:lstStyle/>
        <a:p>
          <a:pPr>
            <a:defRPr sz="8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GTB_ATB_RTO_DIV!$AC$3</c:f>
              <c:strCache>
                <c:ptCount val="1"/>
                <c:pt idx="0">
                  <c:v>Quý I.2024</c:v>
                </c:pt>
              </c:strCache>
            </c:strRef>
          </c:tx>
          <c:spPr>
            <a:solidFill>
              <a:schemeClr val="accent1"/>
            </a:solidFill>
            <a:ln>
              <a:noFill/>
            </a:ln>
            <a:effectLst/>
          </c:spPr>
          <c:invertIfNegative val="0"/>
          <c:dLbls>
            <c:dLbl>
              <c:idx val="1"/>
              <c:layout>
                <c:manualLayout>
                  <c:x val="-7.1342630515648459E-2"/>
                  <c:y val="-7.434192069191138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29B-40E1-9025-D2DA988A83E7}"/>
                </c:ext>
              </c:extLst>
            </c:dLbl>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GTB_ATB_RTO_DIV!$Z$4:$Z$5</c:f>
              <c:strCache>
                <c:ptCount val="2"/>
                <c:pt idx="0">
                  <c:v>Số vụ</c:v>
                </c:pt>
                <c:pt idx="1">
                  <c:v>Tỷ lệ/10000CB</c:v>
                </c:pt>
              </c:strCache>
            </c:strRef>
          </c:cat>
          <c:val>
            <c:numRef>
              <c:f>GTB_ATB_RTO_DIV!$AC$4:$AC$5</c:f>
              <c:numCache>
                <c:formatCode>0.00</c:formatCode>
                <c:ptCount val="2"/>
                <c:pt idx="0" formatCode="0">
                  <c:v>28</c:v>
                </c:pt>
                <c:pt idx="1">
                  <c:v>8.3764621413827154</c:v>
                </c:pt>
              </c:numCache>
            </c:numRef>
          </c:val>
          <c:extLst xmlns:c15="http://schemas.microsoft.com/office/drawing/2012/chart">
            <c:ext xmlns:c16="http://schemas.microsoft.com/office/drawing/2014/chart" uri="{C3380CC4-5D6E-409C-BE32-E72D297353CC}">
              <c16:uniqueId val="{00000001-C29B-40E1-9025-D2DA988A83E7}"/>
            </c:ext>
          </c:extLst>
        </c:ser>
        <c:ser>
          <c:idx val="1"/>
          <c:order val="1"/>
          <c:tx>
            <c:strRef>
              <c:f>GTB_ATB_RTO_DIV!$AD$3</c:f>
              <c:strCache>
                <c:ptCount val="1"/>
                <c:pt idx="0">
                  <c:v>Quý IV.2024</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GTB_ATB_RTO_DIV!$Z$4:$Z$5</c:f>
              <c:strCache>
                <c:ptCount val="2"/>
                <c:pt idx="0">
                  <c:v>Số vụ</c:v>
                </c:pt>
                <c:pt idx="1">
                  <c:v>Tỷ lệ/10000CB</c:v>
                </c:pt>
              </c:strCache>
            </c:strRef>
          </c:cat>
          <c:val>
            <c:numRef>
              <c:f>GTB_ATB_RTO_DIV!$AD$4:$AD$5</c:f>
              <c:numCache>
                <c:formatCode>0.00</c:formatCode>
                <c:ptCount val="2"/>
                <c:pt idx="0" formatCode="0">
                  <c:v>25</c:v>
                </c:pt>
                <c:pt idx="1">
                  <c:v>8.0762397027943784</c:v>
                </c:pt>
              </c:numCache>
            </c:numRef>
          </c:val>
          <c:extLst>
            <c:ext xmlns:c16="http://schemas.microsoft.com/office/drawing/2014/chart" uri="{C3380CC4-5D6E-409C-BE32-E72D297353CC}">
              <c16:uniqueId val="{00000002-C29B-40E1-9025-D2DA988A83E7}"/>
            </c:ext>
          </c:extLst>
        </c:ser>
        <c:ser>
          <c:idx val="2"/>
          <c:order val="2"/>
          <c:tx>
            <c:strRef>
              <c:f>GTB_ATB_RTO_DIV!$AE$3</c:f>
              <c:strCache>
                <c:ptCount val="1"/>
                <c:pt idx="0">
                  <c:v>Quý I.2025</c:v>
                </c:pt>
              </c:strCache>
            </c:strRef>
          </c:tx>
          <c:spPr>
            <a:solidFill>
              <a:schemeClr val="accent3"/>
            </a:solidFill>
            <a:ln>
              <a:noFill/>
            </a:ln>
            <a:effectLst/>
          </c:spPr>
          <c:invertIfNegative val="0"/>
          <c:dLbls>
            <c:dLbl>
              <c:idx val="1"/>
              <c:layout>
                <c:manualLayout>
                  <c:x val="3.2428468416203816E-2"/>
                  <c:y val="4.055060699788530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29B-40E1-9025-D2DA988A83E7}"/>
                </c:ext>
              </c:extLst>
            </c:dLbl>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GTB_ATB_RTO_DIV!$Z$4:$Z$5</c:f>
              <c:strCache>
                <c:ptCount val="2"/>
                <c:pt idx="0">
                  <c:v>Số vụ</c:v>
                </c:pt>
                <c:pt idx="1">
                  <c:v>Tỷ lệ/10000CB</c:v>
                </c:pt>
              </c:strCache>
            </c:strRef>
          </c:cat>
          <c:val>
            <c:numRef>
              <c:f>GTB_ATB_RTO_DIV!$AE$4:$AE$5</c:f>
              <c:numCache>
                <c:formatCode>0.00</c:formatCode>
                <c:ptCount val="2"/>
                <c:pt idx="0" formatCode="0">
                  <c:v>26</c:v>
                </c:pt>
                <c:pt idx="1">
                  <c:v>7.5998947706877908</c:v>
                </c:pt>
              </c:numCache>
            </c:numRef>
          </c:val>
          <c:extLst>
            <c:ext xmlns:c16="http://schemas.microsoft.com/office/drawing/2014/chart" uri="{C3380CC4-5D6E-409C-BE32-E72D297353CC}">
              <c16:uniqueId val="{00000004-C29B-40E1-9025-D2DA988A83E7}"/>
            </c:ext>
          </c:extLst>
        </c:ser>
        <c:dLbls>
          <c:showLegendKey val="0"/>
          <c:showVal val="0"/>
          <c:showCatName val="0"/>
          <c:showSerName val="0"/>
          <c:showPercent val="0"/>
          <c:showBubbleSize val="0"/>
        </c:dLbls>
        <c:gapWidth val="219"/>
        <c:overlap val="-27"/>
        <c:axId val="327486592"/>
        <c:axId val="327488160"/>
        <c:extLst/>
      </c:barChart>
      <c:catAx>
        <c:axId val="327486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7488160"/>
        <c:crosses val="autoZero"/>
        <c:auto val="1"/>
        <c:lblAlgn val="ctr"/>
        <c:lblOffset val="100"/>
        <c:noMultiLvlLbl val="0"/>
      </c:catAx>
      <c:valAx>
        <c:axId val="32748816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7486592"/>
        <c:crosses val="autoZero"/>
        <c:crossBetween val="between"/>
      </c:valAx>
      <c:spPr>
        <a:noFill/>
        <a:ln>
          <a:noFill/>
        </a:ln>
        <a:effectLst/>
      </c:spPr>
    </c:plotArea>
    <c:legend>
      <c:legendPos val="b"/>
      <c:layout>
        <c:manualLayout>
          <c:xMode val="edge"/>
          <c:yMode val="edge"/>
          <c:x val="3.277654551334979E-3"/>
          <c:y val="0.92822092140665291"/>
          <c:w val="0.96994059717407599"/>
          <c:h val="6.2046832677445984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800" b="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4/8/2025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0594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06711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bf661c5817_1_196: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g2bf661c5817_1_196: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83" name="Google Shape;183;g2bf661c5817_1_196: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2</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95659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57157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94345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56802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441414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15805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94550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420491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10</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91880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11</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3123175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985512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13</a:t>
            </a:fld>
            <a:endParaRPr/>
          </a:p>
        </p:txBody>
      </p:sp>
    </p:spTree>
    <p:extLst>
      <p:ext uri="{BB962C8B-B14F-4D97-AF65-F5344CB8AC3E}">
        <p14:creationId xmlns:p14="http://schemas.microsoft.com/office/powerpoint/2010/main" val="34975847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14</a:t>
            </a:fld>
            <a:endParaRPr/>
          </a:p>
        </p:txBody>
      </p:sp>
    </p:spTree>
    <p:extLst>
      <p:ext uri="{BB962C8B-B14F-4D97-AF65-F5344CB8AC3E}">
        <p14:creationId xmlns:p14="http://schemas.microsoft.com/office/powerpoint/2010/main" val="37763374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7781550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0AC98E-3FEB-4E50-8334-7A70AE8B47B8}" type="datetimeFigureOut">
              <a:rPr lang="en-US" smtClean="0"/>
              <a:t>4/8/2025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76793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6221119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F0AC98E-3FEB-4E50-8334-7A70AE8B47B8}" type="datetimeFigureOut">
              <a:rPr lang="en-US" smtClean="0"/>
              <a:t>4/8/2025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0304546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F0AC98E-3FEB-4E50-8334-7A70AE8B47B8}" type="datetimeFigureOut">
              <a:rPr lang="en-US" smtClean="0"/>
              <a:t>4/8/2025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305767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F0AC98E-3FEB-4E50-8334-7A70AE8B47B8}" type="datetimeFigureOut">
              <a:rPr lang="en-US" smtClean="0"/>
              <a:t>4/8/2025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622062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0AC98E-3FEB-4E50-8334-7A70AE8B47B8}" type="datetimeFigureOut">
              <a:rPr lang="en-US" smtClean="0"/>
              <a:t>4/8/2025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495211-54F8-4BE7-BA6E-BF7D21A5D47B}" type="slidenum">
              <a:rPr lang="en-US" smtClean="0"/>
              <a:t>‹#›</a:t>
            </a:fld>
            <a:endParaRPr lang="en-US"/>
          </a:p>
        </p:txBody>
      </p:sp>
    </p:spTree>
    <p:extLst>
      <p:ext uri="{BB962C8B-B14F-4D97-AF65-F5344CB8AC3E}">
        <p14:creationId xmlns:p14="http://schemas.microsoft.com/office/powerpoint/2010/main" val="2961057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F0AC98E-3FEB-4E50-8334-7A70AE8B47B8}" type="datetimeFigureOut">
              <a:rPr lang="en-US" smtClean="0"/>
              <a:t>4/8/2025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7358649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F0AC98E-3FEB-4E50-8334-7A70AE8B47B8}" type="datetimeFigureOut">
              <a:rPr lang="en-US" smtClean="0"/>
              <a:t>4/8/2025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8" name="Picture 7">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0726540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47027907"/>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348967157"/>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22867457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41569884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7840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26326881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7975774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08/04/2025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D1930F"/>
                </a:solidFill>
                <a:effectLst/>
                <a:uLnTx/>
                <a:uFillTx/>
                <a:latin typeface="Times New Roman" panose="02020603050405020304" pitchFamily="18" charset="0"/>
                <a:ea typeface="+mn-ea"/>
                <a:cs typeface="+mn-cs"/>
              </a:rPr>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22447439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08/04/2025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D1930F"/>
                </a:solidFill>
                <a:effectLst/>
                <a:uLnTx/>
                <a:uFillTx/>
                <a:latin typeface="Times New Roman" panose="02020603050405020304" pitchFamily="18" charset="0"/>
                <a:ea typeface="+mn-ea"/>
                <a:cs typeface="+mn-cs"/>
              </a:rPr>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40430758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5_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3192161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08/04/2025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a:defRPr/>
            </a:pPr>
            <a:r>
              <a:rPr lang="en-GB" dirty="0"/>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30912661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2181028979"/>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Content">
  <p:cSld name="2_Title and Content">
    <p:bg>
      <p:bgPr>
        <a:solidFill>
          <a:schemeClr val="lt1"/>
        </a:solidFill>
        <a:effectLst/>
      </p:bgPr>
    </p:bg>
    <p:spTree>
      <p:nvGrpSpPr>
        <p:cNvPr id="1" name="Shape 15"/>
        <p:cNvGrpSpPr/>
        <p:nvPr/>
      </p:nvGrpSpPr>
      <p:grpSpPr>
        <a:xfrm>
          <a:off x="0" y="0"/>
          <a:ext cx="0" cy="0"/>
          <a:chOff x="0" y="0"/>
          <a:chExt cx="0" cy="0"/>
        </a:xfrm>
      </p:grpSpPr>
      <p:pic>
        <p:nvPicPr>
          <p:cNvPr id="16" name="Google Shape;16;p8"/>
          <p:cNvPicPr preferRelativeResize="0"/>
          <p:nvPr/>
        </p:nvPicPr>
        <p:blipFill rotWithShape="1">
          <a:blip r:embed="rId2">
            <a:alphaModFix/>
          </a:blip>
          <a:srcRect/>
          <a:stretch/>
        </p:blipFill>
        <p:spPr>
          <a:xfrm>
            <a:off x="0" y="428"/>
            <a:ext cx="12192000" cy="6857143"/>
          </a:xfrm>
          <a:prstGeom prst="rect">
            <a:avLst/>
          </a:prstGeom>
          <a:noFill/>
          <a:ln>
            <a:noFill/>
          </a:ln>
        </p:spPr>
      </p:pic>
      <p:sp>
        <p:nvSpPr>
          <p:cNvPr id="17" name="Google Shape;17;p8"/>
          <p:cNvSpPr txBox="1">
            <a:spLocks noGrp="1"/>
          </p:cNvSpPr>
          <p:nvPr>
            <p:ph type="body" idx="1"/>
          </p:nvPr>
        </p:nvSpPr>
        <p:spPr>
          <a:xfrm>
            <a:off x="838200" y="1378039"/>
            <a:ext cx="10515600" cy="4291916"/>
          </a:xfrm>
          <a:prstGeom prst="rect">
            <a:avLst/>
          </a:prstGeom>
          <a:noFill/>
          <a:ln>
            <a:noFill/>
          </a:ln>
        </p:spPr>
        <p:txBody>
          <a:bodyPr spcFirstLastPara="1" wrap="square" lIns="91425" tIns="45700" rIns="91425" bIns="45700" anchor="t" anchorCtr="0">
            <a:normAutofit/>
          </a:bodyPr>
          <a:lstStyle>
            <a:lvl1pPr marL="457200" lvl="0" indent="-355600" algn="l">
              <a:lnSpc>
                <a:spcPct val="150000"/>
              </a:lnSpc>
              <a:spcBef>
                <a:spcPts val="1000"/>
              </a:spcBef>
              <a:spcAft>
                <a:spcPts val="0"/>
              </a:spcAft>
              <a:buClr>
                <a:schemeClr val="dk1"/>
              </a:buClr>
              <a:buSzPts val="2000"/>
              <a:buFont typeface="Noto Sans Symbols"/>
              <a:buChar char="✔"/>
              <a:defRPr sz="2000">
                <a:latin typeface="Times New Roman" panose="02020603050405020304" pitchFamily="18" charset="0"/>
                <a:ea typeface="Tahoma"/>
                <a:cs typeface="Times New Roman" panose="02020603050405020304" pitchFamily="18" charset="0"/>
                <a:sym typeface="Tahoma"/>
              </a:defRPr>
            </a:lvl1pPr>
            <a:lvl2pPr marL="914400" lvl="1" indent="-355600" algn="l">
              <a:lnSpc>
                <a:spcPct val="150000"/>
              </a:lnSpc>
              <a:spcBef>
                <a:spcPts val="500"/>
              </a:spcBef>
              <a:spcAft>
                <a:spcPts val="0"/>
              </a:spcAft>
              <a:buClr>
                <a:schemeClr val="dk1"/>
              </a:buClr>
              <a:buSzPts val="2000"/>
              <a:buFont typeface="Noto Sans Symbols"/>
              <a:buChar char="✔"/>
              <a:defRPr sz="2000">
                <a:latin typeface="Tahoma"/>
                <a:ea typeface="Tahoma"/>
                <a:cs typeface="Tahoma"/>
                <a:sym typeface="Tahoma"/>
              </a:defRPr>
            </a:lvl2pPr>
            <a:lvl3pPr marL="1371600" lvl="2" indent="-355600" algn="l">
              <a:lnSpc>
                <a:spcPct val="150000"/>
              </a:lnSpc>
              <a:spcBef>
                <a:spcPts val="500"/>
              </a:spcBef>
              <a:spcAft>
                <a:spcPts val="0"/>
              </a:spcAft>
              <a:buClr>
                <a:schemeClr val="dk1"/>
              </a:buClr>
              <a:buSzPts val="2000"/>
              <a:buFont typeface="Noto Sans Symbols"/>
              <a:buChar char="✔"/>
              <a:defRPr sz="2000">
                <a:latin typeface="Tahoma"/>
                <a:ea typeface="Tahoma"/>
                <a:cs typeface="Tahoma"/>
                <a:sym typeface="Tahoma"/>
              </a:defRPr>
            </a:lvl3pPr>
            <a:lvl4pPr marL="1828800" lvl="3" indent="-355600" algn="l">
              <a:lnSpc>
                <a:spcPct val="150000"/>
              </a:lnSpc>
              <a:spcBef>
                <a:spcPts val="500"/>
              </a:spcBef>
              <a:spcAft>
                <a:spcPts val="0"/>
              </a:spcAft>
              <a:buClr>
                <a:schemeClr val="dk1"/>
              </a:buClr>
              <a:buSzPts val="2000"/>
              <a:buFont typeface="Noto Sans Symbols"/>
              <a:buChar char="✔"/>
              <a:defRPr sz="2000">
                <a:latin typeface="Tahoma"/>
                <a:ea typeface="Tahoma"/>
                <a:cs typeface="Tahoma"/>
                <a:sym typeface="Tahoma"/>
              </a:defRPr>
            </a:lvl4pPr>
            <a:lvl5pPr marL="2286000" lvl="4" indent="-355600" algn="l">
              <a:lnSpc>
                <a:spcPct val="150000"/>
              </a:lnSpc>
              <a:spcBef>
                <a:spcPts val="500"/>
              </a:spcBef>
              <a:spcAft>
                <a:spcPts val="0"/>
              </a:spcAft>
              <a:buClr>
                <a:schemeClr val="dk1"/>
              </a:buClr>
              <a:buSzPts val="2000"/>
              <a:buFont typeface="Noto Sans Symbols"/>
              <a:buChar char="✔"/>
              <a:defRPr sz="2000">
                <a:latin typeface="Tahoma"/>
                <a:ea typeface="Tahoma"/>
                <a:cs typeface="Tahoma"/>
                <a:sym typeface="Tahoma"/>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8" name="Google Shape;18;p8"/>
          <p:cNvSpPr txBox="1">
            <a:spLocks noGrp="1"/>
          </p:cNvSpPr>
          <p:nvPr>
            <p:ph type="title"/>
          </p:nvPr>
        </p:nvSpPr>
        <p:spPr>
          <a:xfrm>
            <a:off x="838200" y="365126"/>
            <a:ext cx="10515600" cy="79397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BF9000"/>
              </a:buClr>
              <a:buSzPts val="2400"/>
              <a:buFont typeface="Tahoma"/>
              <a:buNone/>
              <a:defRPr sz="2400" b="1" i="0">
                <a:solidFill>
                  <a:srgbClr val="BF9000"/>
                </a:solidFill>
                <a:latin typeface="Times New Roman" panose="02020603050405020304" pitchFamily="18" charset="0"/>
                <a:ea typeface="Tahoma"/>
                <a:cs typeface="Times New Roman" panose="02020603050405020304" pitchFamily="18" charset="0"/>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9" name="Google Shape;19;p8"/>
          <p:cNvSpPr txBox="1">
            <a:spLocks noGrp="1"/>
          </p:cNvSpPr>
          <p:nvPr>
            <p:ph type="sldNum" idx="12"/>
          </p:nvPr>
        </p:nvSpPr>
        <p:spPr>
          <a:xfrm>
            <a:off x="8610600" y="5809416"/>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D2A43B"/>
                </a:solidFill>
                <a:latin typeface="Times New Roman" panose="02020603050405020304" pitchFamily="18" charset="0"/>
                <a:ea typeface="Times New Roman" panose="02020603050405020304" pitchFamily="18" charset="0"/>
                <a:cs typeface="Times New Roman" panose="02020603050405020304" pitchFamily="18" charset="0"/>
                <a:sym typeface="Montserrat"/>
              </a:defRPr>
            </a:lvl1pPr>
            <a:lvl2pPr marL="0" lvl="1" indent="0" algn="r">
              <a:spcBef>
                <a:spcPts val="0"/>
              </a:spcBef>
              <a:buNone/>
              <a:defRPr sz="1200" b="0" i="0" u="none" strike="noStrike" cap="none">
                <a:solidFill>
                  <a:srgbClr val="D2A43B"/>
                </a:solidFill>
                <a:latin typeface="Montserrat"/>
                <a:ea typeface="Montserrat"/>
                <a:cs typeface="Montserrat"/>
                <a:sym typeface="Montserrat"/>
              </a:defRPr>
            </a:lvl2pPr>
            <a:lvl3pPr marL="0" lvl="2" indent="0" algn="r">
              <a:spcBef>
                <a:spcPts val="0"/>
              </a:spcBef>
              <a:buNone/>
              <a:defRPr sz="1200" b="0" i="0" u="none" strike="noStrike" cap="none">
                <a:solidFill>
                  <a:srgbClr val="D2A43B"/>
                </a:solidFill>
                <a:latin typeface="Montserrat"/>
                <a:ea typeface="Montserrat"/>
                <a:cs typeface="Montserrat"/>
                <a:sym typeface="Montserrat"/>
              </a:defRPr>
            </a:lvl3pPr>
            <a:lvl4pPr marL="0" lvl="3" indent="0" algn="r">
              <a:spcBef>
                <a:spcPts val="0"/>
              </a:spcBef>
              <a:buNone/>
              <a:defRPr sz="1200" b="0" i="0" u="none" strike="noStrike" cap="none">
                <a:solidFill>
                  <a:srgbClr val="D2A43B"/>
                </a:solidFill>
                <a:latin typeface="Montserrat"/>
                <a:ea typeface="Montserrat"/>
                <a:cs typeface="Montserrat"/>
                <a:sym typeface="Montserrat"/>
              </a:defRPr>
            </a:lvl4pPr>
            <a:lvl5pPr marL="0" lvl="4" indent="0" algn="r">
              <a:spcBef>
                <a:spcPts val="0"/>
              </a:spcBef>
              <a:buNone/>
              <a:defRPr sz="1200" b="0" i="0" u="none" strike="noStrike" cap="none">
                <a:solidFill>
                  <a:srgbClr val="D2A43B"/>
                </a:solidFill>
                <a:latin typeface="Montserrat"/>
                <a:ea typeface="Montserrat"/>
                <a:cs typeface="Montserrat"/>
                <a:sym typeface="Montserrat"/>
              </a:defRPr>
            </a:lvl5pPr>
            <a:lvl6pPr marL="0" lvl="5" indent="0" algn="r">
              <a:spcBef>
                <a:spcPts val="0"/>
              </a:spcBef>
              <a:buNone/>
              <a:defRPr sz="1200" b="0" i="0" u="none" strike="noStrike" cap="none">
                <a:solidFill>
                  <a:srgbClr val="D2A43B"/>
                </a:solidFill>
                <a:latin typeface="Montserrat"/>
                <a:ea typeface="Montserrat"/>
                <a:cs typeface="Montserrat"/>
                <a:sym typeface="Montserrat"/>
              </a:defRPr>
            </a:lvl6pPr>
            <a:lvl7pPr marL="0" lvl="6" indent="0" algn="r">
              <a:spcBef>
                <a:spcPts val="0"/>
              </a:spcBef>
              <a:buNone/>
              <a:defRPr sz="1200" b="0" i="0" u="none" strike="noStrike" cap="none">
                <a:solidFill>
                  <a:srgbClr val="D2A43B"/>
                </a:solidFill>
                <a:latin typeface="Montserrat"/>
                <a:ea typeface="Montserrat"/>
                <a:cs typeface="Montserrat"/>
                <a:sym typeface="Montserrat"/>
              </a:defRPr>
            </a:lvl7pPr>
            <a:lvl8pPr marL="0" lvl="7" indent="0" algn="r">
              <a:spcBef>
                <a:spcPts val="0"/>
              </a:spcBef>
              <a:buNone/>
              <a:defRPr sz="1200" b="0" i="0" u="none" strike="noStrike" cap="none">
                <a:solidFill>
                  <a:srgbClr val="D2A43B"/>
                </a:solidFill>
                <a:latin typeface="Montserrat"/>
                <a:ea typeface="Montserrat"/>
                <a:cs typeface="Montserrat"/>
                <a:sym typeface="Montserrat"/>
              </a:defRPr>
            </a:lvl8pPr>
            <a:lvl9pPr marL="0" lvl="8" indent="0" algn="r">
              <a:spcBef>
                <a:spcPts val="0"/>
              </a:spcBef>
              <a:buNone/>
              <a:defRPr sz="1200" b="0" i="0" u="none" strike="noStrike" cap="none">
                <a:solidFill>
                  <a:srgbClr val="D2A43B"/>
                </a:solidFill>
                <a:latin typeface="Montserrat"/>
                <a:ea typeface="Montserrat"/>
                <a:cs typeface="Montserrat"/>
                <a:sym typeface="Montserrat"/>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3945665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40"/>
            <a:ext cx="10363200" cy="1470025"/>
          </a:xfrm>
        </p:spPr>
        <p:txBody>
          <a:bodyPr/>
          <a:lstStyle>
            <a:lvl1pPr>
              <a:defRPr b="1">
                <a:solidFill>
                  <a:srgbClr val="D1930F"/>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27566663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fontAlgn="base">
              <a:spcBef>
                <a:spcPct val="0"/>
              </a:spcBef>
              <a:spcAft>
                <a:spcPct val="0"/>
              </a:spcAft>
              <a:defRPr/>
            </a:pPr>
            <a:fld id="{83B3A2B3-42B6-4DFB-B469-DAF824AB628B}" type="datetime1">
              <a:rPr lang="vi-VN" altLang="en-US" smtClean="0">
                <a:ea typeface="MS PGothic" pitchFamily="34" charset="-128"/>
              </a:rPr>
              <a:pPr fontAlgn="base">
                <a:spcBef>
                  <a:spcPct val="0"/>
                </a:spcBef>
                <a:spcAft>
                  <a:spcPct val="0"/>
                </a:spcAft>
                <a:defRPr/>
              </a:pPr>
              <a:t>08/04/2025</a:t>
            </a:fld>
            <a:endParaRPr lang="en-GB" altLang="en-US">
              <a:ea typeface="MS PGothic" pitchFamily="34" charset="-128"/>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defRPr>
            </a:lvl1pPr>
          </a:lstStyle>
          <a:p>
            <a:pPr>
              <a:defRPr/>
            </a:pPr>
            <a:r>
              <a:rPr lang="en-GB"/>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fontAlgn="base">
              <a:spcBef>
                <a:spcPct val="0"/>
              </a:spcBef>
              <a:spcAft>
                <a:spcPct val="0"/>
              </a:spcAft>
              <a:defRPr/>
            </a:pPr>
            <a:fld id="{F58535EE-03B8-4F0C-A452-C8FAADC6AC8A}" type="slidenum">
              <a:rPr lang="en-GB" altLang="en-US">
                <a:ea typeface="MS PGothic" pitchFamily="34" charset="-128"/>
              </a:rPr>
              <a:pPr fontAlgn="base">
                <a:spcBef>
                  <a:spcPct val="0"/>
                </a:spcBef>
                <a:spcAft>
                  <a:spcPct val="0"/>
                </a:spcAft>
                <a:defRPr/>
              </a:pPr>
              <a:t>‹#›</a:t>
            </a:fld>
            <a:endParaRPr lang="en-GB" altLang="en-US">
              <a:ea typeface="MS PGothic" pitchFamily="34" charset="-128"/>
            </a:endParaRPr>
          </a:p>
        </p:txBody>
      </p:sp>
    </p:spTree>
    <p:extLst>
      <p:ext uri="{BB962C8B-B14F-4D97-AF65-F5344CB8AC3E}">
        <p14:creationId xmlns:p14="http://schemas.microsoft.com/office/powerpoint/2010/main" val="22247179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Tree>
    <p:extLst>
      <p:ext uri="{BB962C8B-B14F-4D97-AF65-F5344CB8AC3E}">
        <p14:creationId xmlns:p14="http://schemas.microsoft.com/office/powerpoint/2010/main" val="38768945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87670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Montserrat" pitchFamily="2" charset="77"/>
              </a:defRPr>
            </a:lvl1pPr>
            <a:lvl2pPr>
              <a:defRPr sz="2800">
                <a:latin typeface="Montserrat" pitchFamily="2" charset="77"/>
              </a:defRPr>
            </a:lvl2pPr>
            <a:lvl3pPr>
              <a:defRPr sz="2400">
                <a:latin typeface="Montserrat" pitchFamily="2" charset="77"/>
              </a:defRPr>
            </a:lvl3pPr>
            <a:lvl4pPr>
              <a:defRPr sz="2000">
                <a:latin typeface="Montserrat" pitchFamily="2" charset="77"/>
              </a:defRPr>
            </a:lvl4pPr>
            <a:lvl5pPr>
              <a:defRPr sz="2000">
                <a:latin typeface="Montserrat" pitchFamily="2" charset="77"/>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Tree>
    <p:extLst>
      <p:ext uri="{BB962C8B-B14F-4D97-AF65-F5344CB8AC3E}">
        <p14:creationId xmlns:p14="http://schemas.microsoft.com/office/powerpoint/2010/main" val="36599622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Montserrat"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7213914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Content 1">
  <p:cSld name="Title and Content 1">
    <p:bg>
      <p:bgPr>
        <a:solidFill>
          <a:schemeClr val="lt1"/>
        </a:solidFill>
        <a:effectLst/>
      </p:bgPr>
    </p:bg>
    <p:spTree>
      <p:nvGrpSpPr>
        <p:cNvPr id="1" name="Shape 78"/>
        <p:cNvGrpSpPr/>
        <p:nvPr/>
      </p:nvGrpSpPr>
      <p:grpSpPr>
        <a:xfrm>
          <a:off x="0" y="0"/>
          <a:ext cx="0" cy="0"/>
          <a:chOff x="0" y="0"/>
          <a:chExt cx="0" cy="0"/>
        </a:xfrm>
      </p:grpSpPr>
      <p:pic>
        <p:nvPicPr>
          <p:cNvPr id="79" name="Google Shape;79;p15"/>
          <p:cNvPicPr preferRelativeResize="0"/>
          <p:nvPr/>
        </p:nvPicPr>
        <p:blipFill rotWithShape="1">
          <a:blip r:embed="rId2">
            <a:alphaModFix/>
          </a:blip>
          <a:srcRect/>
          <a:stretch/>
        </p:blipFill>
        <p:spPr>
          <a:xfrm>
            <a:off x="0" y="428"/>
            <a:ext cx="12192000" cy="6857143"/>
          </a:xfrm>
          <a:prstGeom prst="rect">
            <a:avLst/>
          </a:prstGeom>
          <a:noFill/>
          <a:ln>
            <a:noFill/>
          </a:ln>
        </p:spPr>
      </p:pic>
      <p:sp>
        <p:nvSpPr>
          <p:cNvPr id="80" name="Google Shape;80;p15"/>
          <p:cNvSpPr txBox="1">
            <a:spLocks noGrp="1"/>
          </p:cNvSpPr>
          <p:nvPr>
            <p:ph type="body" idx="1"/>
          </p:nvPr>
        </p:nvSpPr>
        <p:spPr>
          <a:xfrm>
            <a:off x="838200" y="1378039"/>
            <a:ext cx="10515600" cy="4291800"/>
          </a:xfrm>
          <a:prstGeom prst="rect">
            <a:avLst/>
          </a:prstGeom>
          <a:noFill/>
          <a:ln>
            <a:noFill/>
          </a:ln>
        </p:spPr>
        <p:txBody>
          <a:bodyPr spcFirstLastPara="1" wrap="square" lIns="91425" tIns="45700" rIns="91425" bIns="45700" anchor="t" anchorCtr="0">
            <a:normAutofit/>
          </a:bodyPr>
          <a:lstStyle>
            <a:lvl1pPr marL="457200" lvl="0" indent="-355600" algn="l">
              <a:lnSpc>
                <a:spcPct val="150000"/>
              </a:lnSpc>
              <a:spcBef>
                <a:spcPts val="1000"/>
              </a:spcBef>
              <a:spcAft>
                <a:spcPts val="0"/>
              </a:spcAft>
              <a:buClr>
                <a:schemeClr val="dk1"/>
              </a:buClr>
              <a:buSzPts val="2000"/>
              <a:buFont typeface="Noto Sans Symbols"/>
              <a:buChar char="✔"/>
              <a:defRPr sz="2000">
                <a:latin typeface="Times New Roman"/>
                <a:ea typeface="Times New Roman"/>
                <a:cs typeface="Times New Roman"/>
                <a:sym typeface="Times New Roman"/>
              </a:defRPr>
            </a:lvl1pPr>
            <a:lvl2pPr marL="914400" lvl="1" indent="-355600" algn="l">
              <a:lnSpc>
                <a:spcPct val="150000"/>
              </a:lnSpc>
              <a:spcBef>
                <a:spcPts val="500"/>
              </a:spcBef>
              <a:spcAft>
                <a:spcPts val="0"/>
              </a:spcAft>
              <a:buClr>
                <a:schemeClr val="dk1"/>
              </a:buClr>
              <a:buSzPts val="2000"/>
              <a:buFont typeface="Noto Sans Symbols"/>
              <a:buChar char="✔"/>
              <a:defRPr sz="2000">
                <a:latin typeface="Tahoma"/>
                <a:ea typeface="Tahoma"/>
                <a:cs typeface="Tahoma"/>
                <a:sym typeface="Tahoma"/>
              </a:defRPr>
            </a:lvl2pPr>
            <a:lvl3pPr marL="1371600" lvl="2" indent="-355600" algn="l">
              <a:lnSpc>
                <a:spcPct val="150000"/>
              </a:lnSpc>
              <a:spcBef>
                <a:spcPts val="500"/>
              </a:spcBef>
              <a:spcAft>
                <a:spcPts val="0"/>
              </a:spcAft>
              <a:buClr>
                <a:schemeClr val="dk1"/>
              </a:buClr>
              <a:buSzPts val="2000"/>
              <a:buFont typeface="Noto Sans Symbols"/>
              <a:buChar char="✔"/>
              <a:defRPr sz="2000">
                <a:latin typeface="Tahoma"/>
                <a:ea typeface="Tahoma"/>
                <a:cs typeface="Tahoma"/>
                <a:sym typeface="Tahoma"/>
              </a:defRPr>
            </a:lvl3pPr>
            <a:lvl4pPr marL="1828800" lvl="3" indent="-355600" algn="l">
              <a:lnSpc>
                <a:spcPct val="150000"/>
              </a:lnSpc>
              <a:spcBef>
                <a:spcPts val="500"/>
              </a:spcBef>
              <a:spcAft>
                <a:spcPts val="0"/>
              </a:spcAft>
              <a:buClr>
                <a:schemeClr val="dk1"/>
              </a:buClr>
              <a:buSzPts val="2000"/>
              <a:buFont typeface="Noto Sans Symbols"/>
              <a:buChar char="✔"/>
              <a:defRPr sz="2000">
                <a:latin typeface="Tahoma"/>
                <a:ea typeface="Tahoma"/>
                <a:cs typeface="Tahoma"/>
                <a:sym typeface="Tahoma"/>
              </a:defRPr>
            </a:lvl4pPr>
            <a:lvl5pPr marL="2286000" lvl="4" indent="-355600" algn="l">
              <a:lnSpc>
                <a:spcPct val="150000"/>
              </a:lnSpc>
              <a:spcBef>
                <a:spcPts val="500"/>
              </a:spcBef>
              <a:spcAft>
                <a:spcPts val="0"/>
              </a:spcAft>
              <a:buClr>
                <a:schemeClr val="dk1"/>
              </a:buClr>
              <a:buSzPts val="2000"/>
              <a:buFont typeface="Noto Sans Symbols"/>
              <a:buChar char="✔"/>
              <a:defRPr sz="2000">
                <a:latin typeface="Tahoma"/>
                <a:ea typeface="Tahoma"/>
                <a:cs typeface="Tahoma"/>
                <a:sym typeface="Tahoma"/>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5"/>
          <p:cNvSpPr txBox="1">
            <a:spLocks noGrp="1"/>
          </p:cNvSpPr>
          <p:nvPr>
            <p:ph type="title"/>
          </p:nvPr>
        </p:nvSpPr>
        <p:spPr>
          <a:xfrm>
            <a:off x="838200" y="365126"/>
            <a:ext cx="10515600" cy="794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BF9000"/>
              </a:buClr>
              <a:buSzPts val="2400"/>
              <a:buFont typeface="Tahoma"/>
              <a:buNone/>
              <a:defRPr sz="2400" b="1" i="0">
                <a:solidFill>
                  <a:srgbClr val="BF9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D2A43B"/>
              </a:buClr>
              <a:buSzPts val="1200"/>
              <a:buFont typeface="Times New Roman"/>
              <a:buNone/>
              <a:defRPr sz="1200" b="0" i="0" u="none" strike="noStrike" cap="none">
                <a:solidFill>
                  <a:srgbClr val="D2A43B"/>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D2A43B"/>
              </a:buClr>
              <a:buSzPts val="1200"/>
              <a:buFont typeface="Times New Roman"/>
              <a:buNone/>
              <a:defRPr sz="1200" b="0" i="0" u="none" strike="noStrike" cap="none">
                <a:solidFill>
                  <a:srgbClr val="D2A43B"/>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D2A43B"/>
              </a:buClr>
              <a:buSzPts val="1200"/>
              <a:buFont typeface="Times New Roman"/>
              <a:buNone/>
              <a:defRPr sz="1200" b="0" i="0" u="none" strike="noStrike" cap="none">
                <a:solidFill>
                  <a:srgbClr val="D2A43B"/>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D2A43B"/>
              </a:buClr>
              <a:buSzPts val="1200"/>
              <a:buFont typeface="Times New Roman"/>
              <a:buNone/>
              <a:defRPr sz="1200" b="0" i="0" u="none" strike="noStrike" cap="none">
                <a:solidFill>
                  <a:srgbClr val="D2A43B"/>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D2A43B"/>
              </a:buClr>
              <a:buSzPts val="1200"/>
              <a:buFont typeface="Times New Roman"/>
              <a:buNone/>
              <a:defRPr sz="1200" b="0" i="0" u="none" strike="noStrike" cap="none">
                <a:solidFill>
                  <a:srgbClr val="D2A43B"/>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D2A43B"/>
              </a:buClr>
              <a:buSzPts val="1200"/>
              <a:buFont typeface="Times New Roman"/>
              <a:buNone/>
              <a:defRPr sz="1200" b="0" i="0" u="none" strike="noStrike" cap="none">
                <a:solidFill>
                  <a:srgbClr val="D2A43B"/>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D2A43B"/>
              </a:buClr>
              <a:buSzPts val="1200"/>
              <a:buFont typeface="Times New Roman"/>
              <a:buNone/>
              <a:defRPr sz="1200" b="0" i="0" u="none" strike="noStrike" cap="none">
                <a:solidFill>
                  <a:srgbClr val="D2A43B"/>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D2A43B"/>
              </a:buClr>
              <a:buSzPts val="1200"/>
              <a:buFont typeface="Times New Roman"/>
              <a:buNone/>
              <a:defRPr sz="1200" b="0" i="0" u="none" strike="noStrike" cap="none">
                <a:solidFill>
                  <a:srgbClr val="D2A43B"/>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D2A43B"/>
              </a:buClr>
              <a:buSzPts val="1200"/>
              <a:buFont typeface="Times New Roman"/>
              <a:buNone/>
              <a:defRPr sz="1200" b="0" i="0" u="none" strike="noStrike" cap="none">
                <a:solidFill>
                  <a:srgbClr val="D2A43B"/>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84491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theme" Target="../theme/theme2.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image" Target="../media/image8.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4/8/2025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6F0AC98E-3FEB-4E50-8334-7A70AE8B47B8}" type="datetimeFigureOut">
              <a:rPr lang="en-US" smtClean="0"/>
              <a:pPr/>
              <a:t>4/8/2025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FF495211-54F8-4BE7-BA6E-BF7D21A5D47B}" type="slidenum">
              <a:rPr lang="en-US" smtClean="0"/>
              <a:pPr/>
              <a:t>‹#›</a:t>
            </a:fld>
            <a:endParaRPr lang="en-US" dirty="0"/>
          </a:p>
        </p:txBody>
      </p:sp>
    </p:spTree>
    <p:extLst>
      <p:ext uri="{BB962C8B-B14F-4D97-AF65-F5344CB8AC3E}">
        <p14:creationId xmlns:p14="http://schemas.microsoft.com/office/powerpoint/2010/main" val="90884847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2" r:id="rId2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9"/>
          <a:srcRect/>
          <a:stretch>
            <a:fillRect/>
          </a:stretch>
        </a:blipFill>
        <a:effectLst/>
      </p:bgPr>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4099" name="Text Placeholder 2"/>
          <p:cNvSpPr>
            <a:spLocks noGrp="1"/>
          </p:cNvSpPr>
          <p:nvPr>
            <p:ph type="body" idx="1"/>
          </p:nvPr>
        </p:nvSpPr>
        <p:spPr bwMode="auto">
          <a:xfrm>
            <a:off x="609600" y="1600204"/>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609600" y="6356361"/>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prstClr val="white"/>
                </a:solidFill>
                <a:latin typeface="Times New Roman" panose="02020603050405020304" pitchFamily="18" charset="0"/>
                <a:cs typeface="+mn-cs"/>
              </a:defRPr>
            </a:lvl1pPr>
          </a:lstStyle>
          <a:p>
            <a:pPr>
              <a:defRPr/>
            </a:pPr>
            <a:fld id="{62F6FCD1-7885-4E09-98D9-02FC4FA4F49F}" type="datetime1">
              <a:rPr lang="vi-VN" altLang="en-US" smtClean="0"/>
              <a:pPr>
                <a:defRPr/>
              </a:pPr>
              <a:t>08/04/2025</a:t>
            </a:fld>
            <a:endParaRPr lang="en-GB" altLang="en-US"/>
          </a:p>
        </p:txBody>
      </p:sp>
      <p:sp>
        <p:nvSpPr>
          <p:cNvPr id="5" name="Footer Placeholder 4"/>
          <p:cNvSpPr>
            <a:spLocks noGrp="1"/>
          </p:cNvSpPr>
          <p:nvPr>
            <p:ph type="ftr" sz="quarter" idx="3"/>
          </p:nvPr>
        </p:nvSpPr>
        <p:spPr>
          <a:xfrm>
            <a:off x="4165600" y="635636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prstClr val="white"/>
                </a:solidFill>
                <a:latin typeface="Times New Roman" panose="02020603050405020304" pitchFamily="18" charset="0"/>
                <a:ea typeface="+mn-ea"/>
                <a:cs typeface="+mn-cs"/>
              </a:defRPr>
            </a:lvl1pPr>
          </a:lstStyle>
          <a:p>
            <a:pPr>
              <a:defRPr/>
            </a:pPr>
            <a:r>
              <a:rPr lang="en-GB" dirty="0"/>
              <a:t>Technical Department</a:t>
            </a:r>
          </a:p>
        </p:txBody>
      </p:sp>
      <p:sp>
        <p:nvSpPr>
          <p:cNvPr id="6" name="Slide Number Placeholder 5"/>
          <p:cNvSpPr>
            <a:spLocks noGrp="1"/>
          </p:cNvSpPr>
          <p:nvPr>
            <p:ph type="sldNum" sz="quarter" idx="4"/>
          </p:nvPr>
        </p:nvSpPr>
        <p:spPr>
          <a:xfrm>
            <a:off x="8737600" y="635636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prstClr val="white"/>
                </a:solidFill>
                <a:latin typeface="Times New Roman" panose="02020603050405020304" pitchFamily="18" charset="0"/>
                <a:cs typeface="+mn-cs"/>
              </a:defRPr>
            </a:lvl1pPr>
          </a:lstStyle>
          <a:p>
            <a:pPr>
              <a:defRPr/>
            </a:pPr>
            <a:fld id="{310EDF98-D0F8-4E1C-9B79-F4868842A262}" type="slidenum">
              <a:rPr lang="en-GB" altLang="en-US"/>
              <a:pPr>
                <a:defRPr/>
              </a:pPr>
              <a:t>‹#›</a:t>
            </a:fld>
            <a:endParaRPr lang="en-GB" altLang="en-US"/>
          </a:p>
        </p:txBody>
      </p:sp>
    </p:spTree>
    <p:extLst>
      <p:ext uri="{BB962C8B-B14F-4D97-AF65-F5344CB8AC3E}">
        <p14:creationId xmlns:p14="http://schemas.microsoft.com/office/powerpoint/2010/main" val="66151541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Lst>
  <p:hf hdr="0"/>
  <p:txStyles>
    <p:titleStyle>
      <a:lvl1pPr algn="ctr" rtl="0" eaLnBrk="0" fontAlgn="base" hangingPunct="0">
        <a:spcBef>
          <a:spcPct val="0"/>
        </a:spcBef>
        <a:spcAft>
          <a:spcPct val="0"/>
        </a:spcAft>
        <a:defRPr sz="4400" kern="1200">
          <a:solidFill>
            <a:srgbClr val="404040"/>
          </a:solidFill>
          <a:latin typeface="Times New Roman" panose="02020603050405020304" pitchFamily="18" charset="0"/>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rgbClr val="404040"/>
          </a:solidFill>
          <a:latin typeface="Times New Roman" panose="02020603050405020304" pitchFamily="18" charset="0"/>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Font typeface="Arial" charset="0"/>
        <a:buChar char="–"/>
        <a:defRPr sz="2800" kern="1200">
          <a:solidFill>
            <a:srgbClr val="404040"/>
          </a:solidFill>
          <a:latin typeface="Times New Roman" panose="02020603050405020304" pitchFamily="18" charset="0"/>
          <a:ea typeface="MS PGothic" panose="020B0600070205080204"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rgbClr val="404040"/>
          </a:solidFill>
          <a:latin typeface="Times New Roman" panose="02020603050405020304" pitchFamily="18" charset="0"/>
          <a:ea typeface="MS PGothic" panose="020B0600070205080204"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rgbClr val="404040"/>
          </a:solidFill>
          <a:latin typeface="Times New Roman" panose="02020603050405020304" pitchFamily="18" charset="0"/>
          <a:ea typeface="MS PGothic" panose="020B0600070205080204"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rgbClr val="404040"/>
          </a:solidFill>
          <a:latin typeface="Times New Roman" panose="02020603050405020304" pitchFamily="18" charset="0"/>
          <a:ea typeface="MS PGothic" panose="020B0600070205080204"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0.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a:solidFill>
                  <a:srgbClr val="D1930F"/>
                </a:solidFill>
                <a:latin typeface="Times New Roman" panose="02020603050405020304" pitchFamily="18" charset="0"/>
                <a:ea typeface="+mj-ea"/>
                <a:cs typeface="Times New Roman" panose="02020603050405020304" pitchFamily="18" charset="0"/>
              </a:rPr>
              <a:t>GIAO BAN GIÁM ĐỐC QUÝ I NĂM 2025</a:t>
            </a:r>
            <a:r>
              <a:rPr lang="vi-VN" sz="4000">
                <a:solidFill>
                  <a:schemeClr val="accent2"/>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a:solidFill>
                  <a:schemeClr val="accent2"/>
                </a:solidFill>
                <a:latin typeface="Times New Roman" panose="02020603050405020304" pitchFamily="18" charset="0"/>
                <a:ea typeface="MS PGothic" panose="020B0600070205080204" pitchFamily="34" charset="-128"/>
                <a:cs typeface="Times New Roman" panose="02020603050405020304" pitchFamily="18" charset="0"/>
              </a:rPr>
            </a:br>
            <a:r>
              <a:rPr lang="en-US" sz="4000">
                <a:solidFill>
                  <a:schemeClr val="bg1"/>
                </a:solidFill>
                <a:latin typeface="Times New Roman" panose="02020603050405020304" pitchFamily="18" charset="0"/>
                <a:ea typeface="MS PGothic" panose="020B0600070205080204" pitchFamily="34" charset="-128"/>
                <a:cs typeface="Times New Roman" panose="02020603050405020304" pitchFamily="18" charset="0"/>
              </a:rPr>
              <a:t>BAN KỸ THUẬT</a:t>
            </a:r>
            <a:endParaRPr lang="en-US" sz="4000" dirty="0">
              <a:solidFill>
                <a:schemeClr val="bg1"/>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6" name="TextBox 5"/>
          <p:cNvSpPr txBox="1"/>
          <p:nvPr/>
        </p:nvSpPr>
        <p:spPr>
          <a:xfrm>
            <a:off x="8757139" y="6128239"/>
            <a:ext cx="2760784" cy="400110"/>
          </a:xfrm>
          <a:prstGeom prst="rect">
            <a:avLst/>
          </a:prstGeom>
          <a:noFill/>
        </p:spPr>
        <p:txBody>
          <a:bodyPr wrap="square" rtlCol="0">
            <a:spAutoFit/>
          </a:bodyPr>
          <a:lstStyle/>
          <a:p>
            <a:r>
              <a:rPr lang="vi-VN" sz="2000" b="1" dirty="0">
                <a:solidFill>
                  <a:schemeClr val="bg1"/>
                </a:solidFill>
                <a:latin typeface="Times New Roman" panose="02020603050405020304" pitchFamily="18" charset="0"/>
                <a:cs typeface="Times New Roman" panose="02020603050405020304" pitchFamily="18" charset="0"/>
              </a:rPr>
              <a:t>Hà Nội, </a:t>
            </a:r>
            <a:r>
              <a:rPr lang="vi-VN" sz="2000" b="1">
                <a:solidFill>
                  <a:schemeClr val="bg1"/>
                </a:solidFill>
                <a:latin typeface="Times New Roman" panose="02020603050405020304" pitchFamily="18" charset="0"/>
                <a:cs typeface="Times New Roman" panose="02020603050405020304" pitchFamily="18" charset="0"/>
              </a:rPr>
              <a:t>Tháng </a:t>
            </a:r>
            <a:r>
              <a:rPr lang="en-US" sz="2000" b="1">
                <a:solidFill>
                  <a:schemeClr val="bg1"/>
                </a:solidFill>
                <a:latin typeface="Times New Roman" panose="02020603050405020304" pitchFamily="18" charset="0"/>
                <a:cs typeface="Times New Roman" panose="02020603050405020304" pitchFamily="18" charset="0"/>
              </a:rPr>
              <a:t>04/2025</a:t>
            </a:r>
            <a:endParaRPr lang="vi-VN" sz="2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3371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9" name="Slide Number Placeholder 3"/>
          <p:cNvSpPr>
            <a:spLocks noGrp="1"/>
          </p:cNvSpPr>
          <p:nvPr>
            <p:ph type="sldNum" sz="quarter" idx="12"/>
          </p:nvPr>
        </p:nvSpPr>
        <p:spPr>
          <a:xfrm>
            <a:off x="8610600" y="6356350"/>
            <a:ext cx="2743200" cy="365125"/>
          </a:xfrm>
        </p:spPr>
        <p:txBody>
          <a:bodyPr>
            <a:normAutofit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8" name="Title 1">
            <a:extLst>
              <a:ext uri="{FF2B5EF4-FFF2-40B4-BE49-F238E27FC236}">
                <a16:creationId xmlns:a16="http://schemas.microsoft.com/office/drawing/2014/main" id="{EAD8128C-5F78-3726-E14B-046EB8C47341}"/>
              </a:ext>
            </a:extLst>
          </p:cNvPr>
          <p:cNvSpPr txBox="1">
            <a:spLocks/>
          </p:cNvSpPr>
          <p:nvPr/>
        </p:nvSpPr>
        <p:spPr>
          <a:xfrm>
            <a:off x="412423" y="190512"/>
            <a:ext cx="978660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CÁC CHỈ SỐ KPI</a:t>
            </a:r>
          </a:p>
        </p:txBody>
      </p:sp>
      <p:sp>
        <p:nvSpPr>
          <p:cNvPr id="8" name="TextBox 7">
            <a:extLst>
              <a:ext uri="{FF2B5EF4-FFF2-40B4-BE49-F238E27FC236}">
                <a16:creationId xmlns:a16="http://schemas.microsoft.com/office/drawing/2014/main" id="{93CC41FA-847F-986E-C97C-EB2313502C0F}"/>
              </a:ext>
            </a:extLst>
          </p:cNvPr>
          <p:cNvSpPr txBox="1"/>
          <p:nvPr/>
        </p:nvSpPr>
        <p:spPr>
          <a:xfrm>
            <a:off x="381000" y="5406652"/>
            <a:ext cx="11592040" cy="1169551"/>
          </a:xfrm>
          <a:prstGeom prst="rect">
            <a:avLst/>
          </a:prstGeom>
          <a:solidFill>
            <a:schemeClr val="accent1">
              <a:lumMod val="60000"/>
              <a:lumOff val="40000"/>
            </a:schemeClr>
          </a:solidFill>
        </p:spPr>
        <p:txBody>
          <a:bodyPr wrap="square" rtlCol="0">
            <a:spAutoFit/>
          </a:bodyPr>
          <a:lstStyle/>
          <a:p>
            <a:pPr algn="just"/>
            <a:r>
              <a:rPr lang="en-US" sz="1400" b="1" dirty="0" err="1">
                <a:latin typeface="Times New Roman" panose="02020603050405020304" pitchFamily="18" charset="0"/>
                <a:cs typeface="Times New Roman" panose="02020603050405020304" pitchFamily="18" charset="0"/>
              </a:rPr>
              <a:t>Đánh</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giá</a:t>
            </a:r>
            <a:r>
              <a:rPr lang="en-US" sz="1400" b="1" dirty="0">
                <a:latin typeface="Times New Roman" panose="02020603050405020304" pitchFamily="18" charset="0"/>
                <a:cs typeface="Times New Roman" panose="02020603050405020304" pitchFamily="18" charset="0"/>
              </a:rPr>
              <a:t>:</a:t>
            </a:r>
          </a:p>
          <a:p>
            <a:pPr marL="285750" indent="-285750" algn="just">
              <a:buFontTx/>
              <a:buChar char="-"/>
            </a:pPr>
            <a:r>
              <a:rPr lang="vi-VN" sz="1400" dirty="0">
                <a:latin typeface="Times New Roman" panose="02020603050405020304" pitchFamily="18" charset="0"/>
                <a:cs typeface="Times New Roman" panose="02020603050405020304" pitchFamily="18" charset="0"/>
              </a:rPr>
              <a:t>ARL</a:t>
            </a:r>
            <a:r>
              <a:rPr lang="en-US" sz="1400">
                <a:latin typeface="Times New Roman" panose="02020603050405020304" pitchFamily="18" charset="0"/>
                <a:cs typeface="Times New Roman" panose="02020603050405020304" pitchFamily="18" charset="0"/>
              </a:rPr>
              <a:t>: </a:t>
            </a:r>
            <a:r>
              <a:rPr lang="vi-VN" sz="1400">
                <a:latin typeface="Times New Roman" panose="02020603050405020304" pitchFamily="18" charset="0"/>
                <a:cs typeface="Times New Roman" panose="02020603050405020304" pitchFamily="18" charset="0"/>
              </a:rPr>
              <a:t>QI/202</a:t>
            </a:r>
            <a:r>
              <a:rPr lang="en-US" sz="1400">
                <a:latin typeface="Times New Roman" panose="02020603050405020304" pitchFamily="18" charset="0"/>
                <a:cs typeface="Times New Roman" panose="02020603050405020304" pitchFamily="18" charset="0"/>
              </a:rPr>
              <a:t>5</a:t>
            </a:r>
            <a:r>
              <a:rPr lang="vi-VN" sz="1400">
                <a:latin typeface="Times New Roman" panose="02020603050405020304" pitchFamily="18" charset="0"/>
                <a:cs typeface="Times New Roman" panose="02020603050405020304" pitchFamily="18" charset="0"/>
              </a:rPr>
              <a:t>: 9</a:t>
            </a:r>
            <a:r>
              <a:rPr lang="en-US" sz="1400">
                <a:latin typeface="Times New Roman" panose="02020603050405020304" pitchFamily="18" charset="0"/>
                <a:cs typeface="Times New Roman" panose="02020603050405020304" pitchFamily="18" charset="0"/>
              </a:rPr>
              <a:t>6</a:t>
            </a:r>
            <a:r>
              <a:rPr lang="vi-VN" sz="1400">
                <a:latin typeface="Times New Roman" panose="02020603050405020304" pitchFamily="18" charset="0"/>
                <a:cs typeface="Times New Roman" panose="02020603050405020304" pitchFamily="18" charset="0"/>
              </a:rPr>
              <a:t>.</a:t>
            </a:r>
            <a:r>
              <a:rPr lang="en-US" sz="1400">
                <a:latin typeface="Times New Roman" panose="02020603050405020304" pitchFamily="18" charset="0"/>
                <a:cs typeface="Times New Roman" panose="02020603050405020304" pitchFamily="18" charset="0"/>
              </a:rPr>
              <a:t>66</a:t>
            </a:r>
            <a:r>
              <a:rPr lang="vi-VN" sz="1400">
                <a:latin typeface="Times New Roman" panose="02020603050405020304" pitchFamily="18" charset="0"/>
                <a:cs typeface="Times New Roman" panose="02020603050405020304" pitchFamily="18" charset="0"/>
              </a:rPr>
              <a:t> </a:t>
            </a:r>
            <a:r>
              <a:rPr lang="vi-VN" sz="1400" dirty="0">
                <a:latin typeface="Times New Roman" panose="02020603050405020304" pitchFamily="18" charset="0"/>
                <a:cs typeface="Times New Roman" panose="02020603050405020304" pitchFamily="18" charset="0"/>
              </a:rPr>
              <a:t>(Đạt MT</a:t>
            </a:r>
            <a:r>
              <a:rPr lang="en-US" sz="1400" dirty="0">
                <a:latin typeface="Times New Roman" panose="02020603050405020304" pitchFamily="18" charset="0"/>
                <a:cs typeface="Times New Roman" panose="02020603050405020304" pitchFamily="18" charset="0"/>
              </a:rPr>
              <a:t>, </a:t>
            </a:r>
            <a:r>
              <a:rPr lang="vi-VN" sz="1400" dirty="0">
                <a:latin typeface="Times New Roman" panose="02020603050405020304" pitchFamily="18" charset="0"/>
                <a:cs typeface="Times New Roman" panose="02020603050405020304" pitchFamily="18" charset="0"/>
              </a:rPr>
              <a:t>cao hơn cùng </a:t>
            </a:r>
            <a:r>
              <a:rPr lang="vi-VN" sz="1400">
                <a:latin typeface="Times New Roman" panose="02020603050405020304" pitchFamily="18" charset="0"/>
                <a:cs typeface="Times New Roman" panose="02020603050405020304" pitchFamily="18" charset="0"/>
              </a:rPr>
              <a:t>kỳ 202</a:t>
            </a:r>
            <a:r>
              <a:rPr lang="en-US" sz="1400">
                <a:latin typeface="Times New Roman" panose="02020603050405020304" pitchFamily="18" charset="0"/>
                <a:cs typeface="Times New Roman" panose="02020603050405020304" pitchFamily="18" charset="0"/>
              </a:rPr>
              <a:t>4: 94</a:t>
            </a:r>
            <a:r>
              <a:rPr lang="vi-VN" sz="1400">
                <a:latin typeface="Times New Roman" panose="02020603050405020304" pitchFamily="18" charset="0"/>
                <a:cs typeface="Times New Roman" panose="02020603050405020304" pitchFamily="18" charset="0"/>
              </a:rPr>
              <a:t>.</a:t>
            </a:r>
            <a:r>
              <a:rPr lang="en-US" sz="1400">
                <a:latin typeface="Times New Roman" panose="02020603050405020304" pitchFamily="18" charset="0"/>
                <a:cs typeface="Times New Roman" panose="02020603050405020304" pitchFamily="18" charset="0"/>
              </a:rPr>
              <a:t>24</a:t>
            </a:r>
            <a:r>
              <a:rPr lang="vi-VN" sz="1400">
                <a:latin typeface="Times New Roman" panose="02020603050405020304" pitchFamily="18" charset="0"/>
                <a:cs typeface="Times New Roman" panose="02020603050405020304" pitchFamily="18" charset="0"/>
              </a:rPr>
              <a:t>)</a:t>
            </a:r>
            <a:r>
              <a:rPr lang="en-US" sz="1400">
                <a:latin typeface="Times New Roman" panose="02020603050405020304" pitchFamily="18" charset="0"/>
                <a:cs typeface="Times New Roman" panose="02020603050405020304" pitchFamily="18" charset="0"/>
              </a:rPr>
              <a:t>	</a:t>
            </a:r>
          </a:p>
          <a:p>
            <a:pPr marL="285750" indent="-285750" algn="just">
              <a:buFontTx/>
              <a:buChar char="-"/>
            </a:pPr>
            <a:r>
              <a:rPr lang="vi-VN" sz="1400">
                <a:latin typeface="Times New Roman" panose="02020603050405020304" pitchFamily="18" charset="0"/>
                <a:cs typeface="Times New Roman" panose="02020603050405020304" pitchFamily="18" charset="0"/>
              </a:rPr>
              <a:t>Chỉ số độ tin cậy cất cánh trong quý 1/2025: đội bay A321, B787 đạt mục tiêu; đội A350 do tháng 1/2025 có tỉ lệ DR bị giảm mạnh dẫn tới cả quý 1 không đạt, nguyên nhân chủ yếu do hệ thống thủy lực, hệ thống fuel và hệ thống điều khiển động cơ; đội ATR72 có tỉ lệ DR thấp hơn mục tiêu, nguyên nhân đây là đội tàu cao tuổi, các tàu đều trên 15 năm, hỏng hóc tập trung ở hệ thống điện, hệ thống navigation và ATPCS.</a:t>
            </a:r>
            <a:endParaRPr lang="vi-VN" sz="14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233F49B-A71B-B921-C55F-B72F084E4FF4}"/>
              </a:ext>
            </a:extLst>
          </p:cNvPr>
          <p:cNvPicPr>
            <a:picLocks noChangeAspect="1"/>
          </p:cNvPicPr>
          <p:nvPr/>
        </p:nvPicPr>
        <p:blipFill>
          <a:blip r:embed="rId3"/>
          <a:stretch>
            <a:fillRect/>
          </a:stretch>
        </p:blipFill>
        <p:spPr>
          <a:xfrm>
            <a:off x="6248400" y="808774"/>
            <a:ext cx="5724640" cy="4493141"/>
          </a:xfrm>
          <a:prstGeom prst="rect">
            <a:avLst/>
          </a:prstGeom>
        </p:spPr>
      </p:pic>
      <p:graphicFrame>
        <p:nvGraphicFramePr>
          <p:cNvPr id="3" name="Chart 2">
            <a:extLst>
              <a:ext uri="{FF2B5EF4-FFF2-40B4-BE49-F238E27FC236}">
                <a16:creationId xmlns:a16="http://schemas.microsoft.com/office/drawing/2014/main" id="{8F2C4435-C15C-4E73-8692-576A601741C8}"/>
              </a:ext>
            </a:extLst>
          </p:cNvPr>
          <p:cNvGraphicFramePr>
            <a:graphicFrameLocks/>
          </p:cNvGraphicFramePr>
          <p:nvPr>
            <p:extLst>
              <p:ext uri="{D42A27DB-BD31-4B8C-83A1-F6EECF244321}">
                <p14:modId xmlns:p14="http://schemas.microsoft.com/office/powerpoint/2010/main" val="2856401947"/>
              </p:ext>
            </p:extLst>
          </p:nvPr>
        </p:nvGraphicFramePr>
        <p:xfrm>
          <a:off x="381000" y="829722"/>
          <a:ext cx="5867400" cy="447219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09421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base" latinLnBrk="0" hangingPunct="1">
              <a:lnSpc>
                <a:spcPct val="100000"/>
              </a:lnSpc>
              <a:spcBef>
                <a:spcPts val="0"/>
              </a:spcBef>
              <a:spcAft>
                <a:spcPts val="0"/>
              </a:spcAft>
              <a:buClr>
                <a:srgbClr val="D2A43B"/>
              </a:buClr>
              <a:buSzPts val="1200"/>
              <a:buFont typeface="Times New Roman"/>
              <a:buNone/>
              <a:tabLst/>
              <a:defRPr/>
            </a:pPr>
            <a:fld id="{00000000-1234-1234-1234-123412341234}" type="slidenum">
              <a:rPr kumimoji="0" lang="en-US" sz="1200" b="0" i="0" u="none" strike="noStrike" kern="1200" cap="none" spc="0" normalizeH="0" baseline="0" noProof="0">
                <a:ln>
                  <a:noFill/>
                </a:ln>
                <a:solidFill>
                  <a:srgbClr val="D2A43B"/>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D2A43B"/>
                </a:buClr>
                <a:buSzPts val="1200"/>
                <a:buFont typeface="Times New Roman"/>
                <a:buNone/>
                <a:tabLst/>
                <a:defRPr/>
              </a:pPr>
              <a:t>2</a:t>
            </a:fld>
            <a:endParaRPr kumimoji="0" sz="1200" b="0" i="0" u="none" strike="noStrike" kern="1200" cap="none" spc="0" normalizeH="0" baseline="0" noProof="0">
              <a:ln>
                <a:noFill/>
              </a:ln>
              <a:solidFill>
                <a:srgbClr val="D2A43B"/>
              </a:solidFill>
              <a:effectLst/>
              <a:uLnTx/>
              <a:uFillTx/>
              <a:latin typeface="Times New Roman"/>
              <a:ea typeface="Times New Roman"/>
              <a:cs typeface="Times New Roman"/>
              <a:sym typeface="Times New Roman"/>
            </a:endParaRPr>
          </a:p>
        </p:txBody>
      </p:sp>
      <p:sp>
        <p:nvSpPr>
          <p:cNvPr id="186" name="Google Shape;186;p3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1200" cap="none" spc="0" normalizeH="0" baseline="0" noProof="0">
                <a:ln>
                  <a:noFill/>
                </a:ln>
                <a:solidFill>
                  <a:srgbClr val="D2A43B"/>
                </a:solidFill>
                <a:effectLst/>
                <a:uLnTx/>
                <a:uFillTx/>
                <a:latin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200"/>
                <a:buFont typeface="Arial"/>
                <a:buNone/>
                <a:tabLst/>
                <a:defRPr/>
              </a:pPr>
              <a:t>2</a:t>
            </a:fld>
            <a:endParaRPr kumimoji="0" sz="1200" b="0" i="0" u="none" strike="noStrike" kern="1200" cap="none" spc="0" normalizeH="0" baseline="0" noProof="0">
              <a:ln>
                <a:noFill/>
              </a:ln>
              <a:solidFill>
                <a:srgbClr val="D2A43B"/>
              </a:solidFill>
              <a:effectLst/>
              <a:uLnTx/>
              <a:uFillTx/>
              <a:latin typeface="Times New Roman"/>
              <a:cs typeface="Times New Roman"/>
              <a:sym typeface="Times New Roman"/>
            </a:endParaRPr>
          </a:p>
        </p:txBody>
      </p:sp>
      <p:sp>
        <p:nvSpPr>
          <p:cNvPr id="187" name="Google Shape;187;p31"/>
          <p:cNvSpPr txBox="1"/>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1200" cap="none" spc="0" normalizeH="0" baseline="0" noProof="0">
                <a:ln>
                  <a:noFill/>
                </a:ln>
                <a:solidFill>
                  <a:srgbClr val="D2A43B"/>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200"/>
                <a:buFont typeface="Arial"/>
                <a:buNone/>
                <a:tabLst/>
                <a:defRPr/>
              </a:pPr>
              <a:t>2</a:t>
            </a:fld>
            <a:endParaRPr kumimoji="0" sz="1200" b="0" i="0" u="none" strike="noStrike" kern="1200" cap="none" spc="0" normalizeH="0" baseline="0" noProof="0">
              <a:ln>
                <a:noFill/>
              </a:ln>
              <a:solidFill>
                <a:srgbClr val="D2A43B"/>
              </a:solidFill>
              <a:effectLst/>
              <a:uLnTx/>
              <a:uFillTx/>
              <a:latin typeface="Times New Roman"/>
              <a:ea typeface="Times New Roman"/>
              <a:cs typeface="Times New Roman"/>
              <a:sym typeface="Times New Roman"/>
            </a:endParaRPr>
          </a:p>
        </p:txBody>
      </p:sp>
      <p:graphicFrame>
        <p:nvGraphicFramePr>
          <p:cNvPr id="189" name="Google Shape;189;p31"/>
          <p:cNvGraphicFramePr/>
          <p:nvPr>
            <p:extLst>
              <p:ext uri="{D42A27DB-BD31-4B8C-83A1-F6EECF244321}">
                <p14:modId xmlns:p14="http://schemas.microsoft.com/office/powerpoint/2010/main" val="2096520344"/>
              </p:ext>
            </p:extLst>
          </p:nvPr>
        </p:nvGraphicFramePr>
        <p:xfrm>
          <a:off x="304800" y="782965"/>
          <a:ext cx="3657600" cy="4017636"/>
        </p:xfrm>
        <a:graphic>
          <a:graphicData uri="http://schemas.openxmlformats.org/drawingml/2006/table">
            <a:tbl>
              <a:tblPr>
                <a:noFill/>
              </a:tblPr>
              <a:tblGrid>
                <a:gridCol w="2743199">
                  <a:extLst>
                    <a:ext uri="{9D8B030D-6E8A-4147-A177-3AD203B41FA5}">
                      <a16:colId xmlns:a16="http://schemas.microsoft.com/office/drawing/2014/main" val="20000"/>
                    </a:ext>
                  </a:extLst>
                </a:gridCol>
                <a:gridCol w="914401">
                  <a:extLst>
                    <a:ext uri="{9D8B030D-6E8A-4147-A177-3AD203B41FA5}">
                      <a16:colId xmlns:a16="http://schemas.microsoft.com/office/drawing/2014/main" val="20001"/>
                    </a:ext>
                  </a:extLst>
                </a:gridCol>
              </a:tblGrid>
              <a:tr h="774778">
                <a:tc gridSpan="2">
                  <a:txBody>
                    <a:bodyPr/>
                    <a:lstStyle/>
                    <a:p>
                      <a:pPr marL="0" marR="0" lvl="0" indent="0" algn="ctr" rtl="0">
                        <a:lnSpc>
                          <a:spcPct val="100000"/>
                        </a:lnSpc>
                        <a:spcBef>
                          <a:spcPts val="0"/>
                        </a:spcBef>
                        <a:spcAft>
                          <a:spcPts val="0"/>
                        </a:spcAft>
                        <a:buClr>
                          <a:srgbClr val="000000"/>
                        </a:buClr>
                        <a:buSzPts val="1400"/>
                        <a:buFont typeface="Arial"/>
                        <a:buNone/>
                      </a:pPr>
                      <a:r>
                        <a:rPr lang="en-US" sz="1600" b="1" u="none" strike="noStrike" cap="none">
                          <a:latin typeface="Times New Roman"/>
                          <a:ea typeface="Times New Roman"/>
                          <a:cs typeface="Times New Roman"/>
                          <a:sym typeface="Times New Roman"/>
                        </a:rPr>
                        <a:t>OCR QI/2025</a:t>
                      </a:r>
                      <a:endParaRPr sz="1600" b="1" i="0" u="none" strike="noStrike" cap="none" dirty="0">
                        <a:solidFill>
                          <a:srgbClr val="000000"/>
                        </a:solidFill>
                        <a:latin typeface="Times New Roman"/>
                        <a:ea typeface="Times New Roman"/>
                        <a:cs typeface="Times New Roman"/>
                        <a:sym typeface="Times New Roman"/>
                      </a:endParaRPr>
                    </a:p>
                  </a:txBody>
                  <a:tcPr marL="7625" marR="7625" marT="7625" marB="0" anchor="ctr">
                    <a:solidFill>
                      <a:srgbClr val="5B9BD5"/>
                    </a:solidFill>
                  </a:tcPr>
                </a:tc>
                <a:tc hMerge="1">
                  <a:txBody>
                    <a:bodyPr/>
                    <a:lstStyle/>
                    <a:p>
                      <a:endParaRPr lang="en-US"/>
                    </a:p>
                  </a:txBody>
                  <a:tcPr/>
                </a:tc>
                <a:extLst>
                  <a:ext uri="{0D108BD9-81ED-4DB2-BD59-A6C34878D82A}">
                    <a16:rowId xmlns:a16="http://schemas.microsoft.com/office/drawing/2014/main" val="10000"/>
                  </a:ext>
                </a:extLst>
              </a:tr>
              <a:tr h="477554">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dirty="0" err="1">
                          <a:latin typeface="Times New Roman"/>
                          <a:ea typeface="Times New Roman"/>
                          <a:cs typeface="Times New Roman"/>
                          <a:sym typeface="Times New Roman"/>
                        </a:rPr>
                        <a:t>Số</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tàu</a:t>
                      </a:r>
                      <a:r>
                        <a:rPr lang="en-US" sz="1600" u="none" strike="noStrike" cap="none" dirty="0">
                          <a:latin typeface="Times New Roman"/>
                          <a:ea typeface="Times New Roman"/>
                          <a:cs typeface="Times New Roman"/>
                          <a:sym typeface="Times New Roman"/>
                        </a:rPr>
                        <a:t> làm </a:t>
                      </a:r>
                      <a:r>
                        <a:rPr lang="en-US" sz="1600" u="none" strike="noStrike" cap="none" dirty="0" err="1">
                          <a:latin typeface="Times New Roman"/>
                          <a:ea typeface="Times New Roman"/>
                          <a:cs typeface="Times New Roman"/>
                          <a:sym typeface="Times New Roman"/>
                        </a:rPr>
                        <a:t>định</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kỳ</a:t>
                      </a:r>
                      <a:endParaRPr sz="1600" b="0" i="0" u="none" strike="noStrike" cap="none" dirty="0">
                        <a:solidFill>
                          <a:srgbClr val="000000"/>
                        </a:solidFill>
                        <a:latin typeface="Times New Roman"/>
                        <a:ea typeface="Times New Roman"/>
                        <a:cs typeface="Times New Roman"/>
                        <a:sym typeface="Times New Roman"/>
                      </a:endParaRPr>
                    </a:p>
                  </a:txBody>
                  <a:tcPr marL="7625" marR="7625" marT="7625" marB="0" anchor="ctr"/>
                </a:tc>
                <a:tc>
                  <a:txBody>
                    <a:bodyPr/>
                    <a:lstStyle/>
                    <a:p>
                      <a:pPr algn="ctr" rtl="0" fontAlgn="ctr"/>
                      <a:r>
                        <a:rPr lang="en-US" sz="1600" b="0" i="0" u="none" strike="noStrike">
                          <a:solidFill>
                            <a:srgbClr val="000000"/>
                          </a:solidFill>
                          <a:effectLst/>
                          <a:latin typeface="Times New Roman" panose="02020603050405020304" pitchFamily="18" charset="0"/>
                        </a:rPr>
                        <a:t>81</a:t>
                      </a:r>
                      <a:endParaRPr lang="en-VN" sz="1600" b="0" i="0" u="none" strike="noStrike" dirty="0">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0001"/>
                  </a:ext>
                </a:extLst>
              </a:tr>
              <a:tr h="506850">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dirty="0" err="1">
                          <a:latin typeface="Times New Roman"/>
                          <a:ea typeface="Times New Roman"/>
                          <a:cs typeface="Times New Roman"/>
                          <a:sym typeface="Times New Roman"/>
                        </a:rPr>
                        <a:t>Số</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tàu</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định</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kỳ</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kéo</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dài</a:t>
                      </a:r>
                      <a:endParaRPr sz="1600" b="0" i="0" u="none" strike="noStrike" cap="none" dirty="0">
                        <a:solidFill>
                          <a:srgbClr val="000000"/>
                        </a:solidFill>
                        <a:latin typeface="Times New Roman"/>
                        <a:ea typeface="Times New Roman"/>
                        <a:cs typeface="Times New Roman"/>
                        <a:sym typeface="Times New Roman"/>
                      </a:endParaRPr>
                    </a:p>
                  </a:txBody>
                  <a:tcPr marL="7625" marR="7625" marT="7625" marB="0" anchor="ctr"/>
                </a:tc>
                <a:tc>
                  <a:txBody>
                    <a:bodyPr/>
                    <a:lstStyle/>
                    <a:p>
                      <a:pPr algn="ctr" rtl="0" fontAlgn="ctr"/>
                      <a:r>
                        <a:rPr lang="en-US" sz="1600" b="0" i="0" u="none" strike="noStrike">
                          <a:solidFill>
                            <a:srgbClr val="000000"/>
                          </a:solidFill>
                          <a:effectLst/>
                          <a:latin typeface="Times New Roman" panose="02020603050405020304" pitchFamily="18" charset="0"/>
                        </a:rPr>
                        <a:t>3</a:t>
                      </a:r>
                      <a:endParaRPr lang="en-VN" sz="1600" b="0" i="0" u="none" strike="noStrike">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0002"/>
                  </a:ext>
                </a:extLst>
              </a:tr>
              <a:tr h="506850">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dirty="0" err="1">
                          <a:latin typeface="Times New Roman"/>
                          <a:ea typeface="Times New Roman"/>
                          <a:cs typeface="Times New Roman"/>
                          <a:sym typeface="Times New Roman"/>
                        </a:rPr>
                        <a:t>Giờ</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định</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kỳ</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kế</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hoạch</a:t>
                      </a:r>
                      <a:endParaRPr sz="1600" b="0" i="0" u="none" strike="noStrike" cap="none" dirty="0">
                        <a:solidFill>
                          <a:srgbClr val="000000"/>
                        </a:solidFill>
                        <a:latin typeface="Times New Roman"/>
                        <a:ea typeface="Times New Roman"/>
                        <a:cs typeface="Times New Roman"/>
                        <a:sym typeface="Times New Roman"/>
                      </a:endParaRPr>
                    </a:p>
                  </a:txBody>
                  <a:tcPr marL="7625" marR="7625" marT="7625" marB="0" anchor="ctr"/>
                </a:tc>
                <a:tc>
                  <a:txBody>
                    <a:bodyPr/>
                    <a:lstStyle/>
                    <a:p>
                      <a:pPr algn="ctr" rtl="0" fontAlgn="ctr"/>
                      <a:r>
                        <a:rPr lang="en-US" sz="1600" b="0" i="0" u="none" strike="noStrike">
                          <a:solidFill>
                            <a:srgbClr val="000000"/>
                          </a:solidFill>
                          <a:effectLst/>
                          <a:latin typeface="Times New Roman" panose="02020603050405020304" pitchFamily="18" charset="0"/>
                        </a:rPr>
                        <a:t>13598</a:t>
                      </a:r>
                      <a:endParaRPr lang="en-VN" sz="1600" b="0" i="0" u="none" strike="noStrike">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0003"/>
                  </a:ext>
                </a:extLst>
              </a:tr>
              <a:tr h="506850">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dirty="0" err="1">
                          <a:latin typeface="Times New Roman"/>
                          <a:ea typeface="Times New Roman"/>
                          <a:cs typeface="Times New Roman"/>
                          <a:sym typeface="Times New Roman"/>
                        </a:rPr>
                        <a:t>Thời</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gian</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định</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kỳ</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kéo</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dài</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giờ</a:t>
                      </a:r>
                      <a:r>
                        <a:rPr lang="en-US" sz="1600" u="none" strike="noStrike" cap="none" dirty="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a:txBody>
                  <a:tcPr marL="7625" marR="7625" marT="7625" marB="0" anchor="ctr"/>
                </a:tc>
                <a:tc>
                  <a:txBody>
                    <a:bodyPr/>
                    <a:lstStyle/>
                    <a:p>
                      <a:pPr algn="ctr" rtl="0" fontAlgn="ctr"/>
                      <a:r>
                        <a:rPr lang="en-US" sz="1600" b="0" i="0" u="none" strike="noStrike">
                          <a:solidFill>
                            <a:srgbClr val="000000"/>
                          </a:solidFill>
                          <a:effectLst/>
                          <a:latin typeface="Times New Roman" panose="02020603050405020304" pitchFamily="18" charset="0"/>
                        </a:rPr>
                        <a:t>70</a:t>
                      </a:r>
                      <a:endParaRPr lang="en-VN" sz="1600" b="0" i="0" u="none" strike="noStrike">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0004"/>
                  </a:ext>
                </a:extLst>
              </a:tr>
              <a:tr h="606779">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dirty="0" err="1">
                          <a:latin typeface="Times New Roman"/>
                          <a:ea typeface="Times New Roman"/>
                          <a:cs typeface="Times New Roman"/>
                          <a:sym typeface="Times New Roman"/>
                        </a:rPr>
                        <a:t>Thời</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gian</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định</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kỳ</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ra</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sớm</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giờ</a:t>
                      </a:r>
                      <a:r>
                        <a:rPr lang="en-US" sz="1600" u="none" strike="noStrike" cap="none" dirty="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a:txBody>
                  <a:tcPr marL="7625" marR="7625" marT="7625" marB="0" anchor="ctr"/>
                </a:tc>
                <a:tc>
                  <a:txBody>
                    <a:bodyPr/>
                    <a:lstStyle/>
                    <a:p>
                      <a:pPr algn="ctr" rtl="0" fontAlgn="ctr"/>
                      <a:r>
                        <a:rPr lang="en-US" sz="1600" b="0" i="0" u="none" strike="noStrike">
                          <a:solidFill>
                            <a:srgbClr val="000000"/>
                          </a:solidFill>
                          <a:effectLst/>
                          <a:latin typeface="Times New Roman" panose="02020603050405020304" pitchFamily="18" charset="0"/>
                        </a:rPr>
                        <a:t>346</a:t>
                      </a:r>
                      <a:endParaRPr lang="en-VN" sz="1600" b="0" i="0" u="none" strike="noStrike">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0005"/>
                  </a:ext>
                </a:extLst>
              </a:tr>
              <a:tr h="637975">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a:solidFill>
                            <a:srgbClr val="00B050"/>
                          </a:solidFill>
                          <a:latin typeface="Times New Roman"/>
                          <a:ea typeface="Times New Roman"/>
                          <a:cs typeface="Times New Roman"/>
                          <a:sym typeface="Times New Roman"/>
                        </a:rPr>
                        <a:t>OCR QI/2025</a:t>
                      </a:r>
                      <a:endParaRPr sz="1600" b="1" i="0" u="none" strike="noStrike" cap="none" dirty="0">
                        <a:solidFill>
                          <a:srgbClr val="00B050"/>
                        </a:solidFill>
                        <a:latin typeface="Times New Roman"/>
                        <a:ea typeface="Times New Roman"/>
                        <a:cs typeface="Times New Roman"/>
                        <a:sym typeface="Times New Roman"/>
                      </a:endParaRPr>
                    </a:p>
                  </a:txBody>
                  <a:tcPr marL="7625" marR="7625" marT="7625" marB="0"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Pts val="1400"/>
                        <a:buFont typeface="Arial"/>
                        <a:buNone/>
                      </a:pPr>
                      <a:r>
                        <a:rPr lang="en-US" sz="1600" b="1" u="none" strike="noStrike" kern="1200" cap="none">
                          <a:solidFill>
                            <a:srgbClr val="00B050"/>
                          </a:solidFill>
                          <a:latin typeface="Times New Roman"/>
                          <a:cs typeface="Times New Roman"/>
                        </a:rPr>
                        <a:t>-2.03%</a:t>
                      </a:r>
                      <a:endParaRPr lang="en-VN" sz="1600" b="1" u="none" strike="noStrike" kern="1200" cap="none" dirty="0">
                        <a:solidFill>
                          <a:srgbClr val="00B050"/>
                        </a:solidFill>
                        <a:latin typeface="Times New Roman"/>
                        <a:cs typeface="Times New Roman"/>
                      </a:endParaRPr>
                    </a:p>
                  </a:txBody>
                  <a:tcPr marL="9525" marR="9525" marT="9525" marB="0" anchor="ctr"/>
                </a:tc>
                <a:extLst>
                  <a:ext uri="{0D108BD9-81ED-4DB2-BD59-A6C34878D82A}">
                    <a16:rowId xmlns:a16="http://schemas.microsoft.com/office/drawing/2014/main" val="10006"/>
                  </a:ext>
                </a:extLst>
              </a:tr>
            </a:tbl>
          </a:graphicData>
        </a:graphic>
      </p:graphicFrame>
      <p:graphicFrame>
        <p:nvGraphicFramePr>
          <p:cNvPr id="2" name="Google Shape;176;p30">
            <a:extLst>
              <a:ext uri="{FF2B5EF4-FFF2-40B4-BE49-F238E27FC236}">
                <a16:creationId xmlns:a16="http://schemas.microsoft.com/office/drawing/2014/main" id="{1ABBBF90-A8AC-7B5A-79A8-B707800393B1}"/>
              </a:ext>
            </a:extLst>
          </p:cNvPr>
          <p:cNvGraphicFramePr/>
          <p:nvPr>
            <p:extLst>
              <p:ext uri="{D42A27DB-BD31-4B8C-83A1-F6EECF244321}">
                <p14:modId xmlns:p14="http://schemas.microsoft.com/office/powerpoint/2010/main" val="1564213740"/>
              </p:ext>
            </p:extLst>
          </p:nvPr>
        </p:nvGraphicFramePr>
        <p:xfrm>
          <a:off x="4038600" y="782965"/>
          <a:ext cx="8109441" cy="2779384"/>
        </p:xfrm>
        <a:graphic>
          <a:graphicData uri="http://schemas.openxmlformats.org/drawingml/2006/table">
            <a:tbl>
              <a:tblPr>
                <a:noFill/>
              </a:tblPr>
              <a:tblGrid>
                <a:gridCol w="492840">
                  <a:extLst>
                    <a:ext uri="{9D8B030D-6E8A-4147-A177-3AD203B41FA5}">
                      <a16:colId xmlns:a16="http://schemas.microsoft.com/office/drawing/2014/main" val="20000"/>
                    </a:ext>
                  </a:extLst>
                </a:gridCol>
                <a:gridCol w="484019">
                  <a:extLst>
                    <a:ext uri="{9D8B030D-6E8A-4147-A177-3AD203B41FA5}">
                      <a16:colId xmlns:a16="http://schemas.microsoft.com/office/drawing/2014/main" val="20001"/>
                    </a:ext>
                  </a:extLst>
                </a:gridCol>
                <a:gridCol w="800744">
                  <a:extLst>
                    <a:ext uri="{9D8B030D-6E8A-4147-A177-3AD203B41FA5}">
                      <a16:colId xmlns:a16="http://schemas.microsoft.com/office/drawing/2014/main" val="20002"/>
                    </a:ext>
                  </a:extLst>
                </a:gridCol>
                <a:gridCol w="948059">
                  <a:extLst>
                    <a:ext uri="{9D8B030D-6E8A-4147-A177-3AD203B41FA5}">
                      <a16:colId xmlns:a16="http://schemas.microsoft.com/office/drawing/2014/main" val="20003"/>
                    </a:ext>
                  </a:extLst>
                </a:gridCol>
                <a:gridCol w="993278">
                  <a:extLst>
                    <a:ext uri="{9D8B030D-6E8A-4147-A177-3AD203B41FA5}">
                      <a16:colId xmlns:a16="http://schemas.microsoft.com/office/drawing/2014/main" val="20004"/>
                    </a:ext>
                  </a:extLst>
                </a:gridCol>
                <a:gridCol w="775718">
                  <a:extLst>
                    <a:ext uri="{9D8B030D-6E8A-4147-A177-3AD203B41FA5}">
                      <a16:colId xmlns:a16="http://schemas.microsoft.com/office/drawing/2014/main" val="20005"/>
                    </a:ext>
                  </a:extLst>
                </a:gridCol>
                <a:gridCol w="760333">
                  <a:extLst>
                    <a:ext uri="{9D8B030D-6E8A-4147-A177-3AD203B41FA5}">
                      <a16:colId xmlns:a16="http://schemas.microsoft.com/office/drawing/2014/main" val="20006"/>
                    </a:ext>
                  </a:extLst>
                </a:gridCol>
                <a:gridCol w="2854450">
                  <a:extLst>
                    <a:ext uri="{9D8B030D-6E8A-4147-A177-3AD203B41FA5}">
                      <a16:colId xmlns:a16="http://schemas.microsoft.com/office/drawing/2014/main" val="20007"/>
                    </a:ext>
                  </a:extLst>
                </a:gridCol>
              </a:tblGrid>
              <a:tr h="326340">
                <a:tc rowSpan="2">
                  <a:txBody>
                    <a:bodyPr/>
                    <a:lstStyle/>
                    <a:p>
                      <a:pPr marL="0" marR="0" lvl="0" indent="0" algn="ctr" rtl="0">
                        <a:lnSpc>
                          <a:spcPct val="100000"/>
                        </a:lnSpc>
                        <a:spcBef>
                          <a:spcPts val="0"/>
                        </a:spcBef>
                        <a:spcAft>
                          <a:spcPts val="0"/>
                        </a:spcAft>
                        <a:buClr>
                          <a:srgbClr val="000000"/>
                        </a:buClr>
                        <a:buSzPts val="1200"/>
                        <a:buFont typeface="Arial"/>
                        <a:buNone/>
                      </a:pPr>
                      <a:r>
                        <a:rPr lang="en-US" sz="1400" b="1" u="none" strike="noStrike" cap="none" dirty="0">
                          <a:latin typeface="Times New Roman"/>
                          <a:ea typeface="Times New Roman"/>
                          <a:cs typeface="Times New Roman"/>
                          <a:sym typeface="Times New Roman"/>
                        </a:rPr>
                        <a:t>A/C</a:t>
                      </a:r>
                      <a:endParaRPr sz="1400" b="1" i="0" u="none" strike="noStrike" cap="none" dirty="0">
                        <a:solidFill>
                          <a:srgbClr val="333333"/>
                        </a:solidFill>
                        <a:latin typeface="Times New Roman"/>
                        <a:ea typeface="Times New Roman"/>
                        <a:cs typeface="Times New Roman"/>
                        <a:sym typeface="Times New Roman"/>
                      </a:endParaRPr>
                    </a:p>
                  </a:txBody>
                  <a:tcPr marL="6800" marR="6800" marT="50292" marB="50292"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FFFF00"/>
                    </a:solidFill>
                  </a:tcPr>
                </a:tc>
                <a:tc rowSpan="2">
                  <a:txBody>
                    <a:bodyPr/>
                    <a:lstStyle/>
                    <a:p>
                      <a:pPr marL="0" marR="0" lvl="0" indent="0" algn="ctr" rtl="0">
                        <a:lnSpc>
                          <a:spcPct val="100000"/>
                        </a:lnSpc>
                        <a:spcBef>
                          <a:spcPts val="0"/>
                        </a:spcBef>
                        <a:spcAft>
                          <a:spcPts val="0"/>
                        </a:spcAft>
                        <a:buClr>
                          <a:srgbClr val="000000"/>
                        </a:buClr>
                        <a:buSzPts val="1200"/>
                        <a:buFont typeface="Arial"/>
                        <a:buNone/>
                      </a:pPr>
                      <a:r>
                        <a:rPr lang="en-US" sz="1400" b="1" u="none" strike="noStrike" cap="none" dirty="0">
                          <a:latin typeface="Times New Roman"/>
                          <a:ea typeface="Times New Roman"/>
                          <a:cs typeface="Times New Roman"/>
                          <a:sym typeface="Times New Roman"/>
                        </a:rPr>
                        <a:t>Fleet</a:t>
                      </a:r>
                      <a:endParaRPr sz="1400" b="1" i="0" u="none" strike="noStrike" cap="none" dirty="0">
                        <a:solidFill>
                          <a:srgbClr val="333333"/>
                        </a:solidFill>
                        <a:latin typeface="Times New Roman"/>
                        <a:ea typeface="Times New Roman"/>
                        <a:cs typeface="Times New Roman"/>
                        <a:sym typeface="Times New Roman"/>
                      </a:endParaRPr>
                    </a:p>
                  </a:txBody>
                  <a:tcPr marL="6800" marR="6800" marT="50292" marB="50292"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FFFF00"/>
                    </a:solidFill>
                  </a:tcPr>
                </a:tc>
                <a:tc rowSpan="2">
                  <a:txBody>
                    <a:bodyPr/>
                    <a:lstStyle/>
                    <a:p>
                      <a:pPr marL="0" marR="0" lvl="0" indent="0" algn="ctr" rtl="0">
                        <a:lnSpc>
                          <a:spcPct val="100000"/>
                        </a:lnSpc>
                        <a:spcBef>
                          <a:spcPts val="0"/>
                        </a:spcBef>
                        <a:spcAft>
                          <a:spcPts val="0"/>
                        </a:spcAft>
                        <a:buClr>
                          <a:srgbClr val="000000"/>
                        </a:buClr>
                        <a:buSzPts val="1200"/>
                        <a:buFont typeface="Arial"/>
                        <a:buNone/>
                      </a:pPr>
                      <a:r>
                        <a:rPr lang="en-US" sz="1400" b="1" u="none" strike="noStrike" cap="none" dirty="0">
                          <a:latin typeface="Times New Roman"/>
                          <a:ea typeface="Times New Roman"/>
                          <a:cs typeface="Times New Roman"/>
                          <a:sym typeface="Times New Roman"/>
                        </a:rPr>
                        <a:t>Check Type</a:t>
                      </a:r>
                      <a:endParaRPr sz="1400" b="1" i="0" u="none" strike="noStrike" cap="none" dirty="0">
                        <a:solidFill>
                          <a:srgbClr val="333333"/>
                        </a:solidFill>
                        <a:latin typeface="Times New Roman"/>
                        <a:ea typeface="Times New Roman"/>
                        <a:cs typeface="Times New Roman"/>
                        <a:sym typeface="Times New Roman"/>
                      </a:endParaRPr>
                    </a:p>
                  </a:txBody>
                  <a:tcPr marL="6800" marR="6800" marT="50292" marB="50292"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FFFF00"/>
                    </a:solidFill>
                  </a:tcPr>
                </a:tc>
                <a:tc gridSpan="2">
                  <a:txBody>
                    <a:bodyPr/>
                    <a:lstStyle/>
                    <a:p>
                      <a:pPr marL="0" marR="0" lvl="0" indent="0" algn="ctr" rtl="0">
                        <a:lnSpc>
                          <a:spcPct val="100000"/>
                        </a:lnSpc>
                        <a:spcBef>
                          <a:spcPts val="0"/>
                        </a:spcBef>
                        <a:spcAft>
                          <a:spcPts val="0"/>
                        </a:spcAft>
                        <a:buClr>
                          <a:srgbClr val="000000"/>
                        </a:buClr>
                        <a:buSzPts val="1200"/>
                        <a:buFont typeface="Arial"/>
                        <a:buNone/>
                      </a:pPr>
                      <a:r>
                        <a:rPr lang="en-US" sz="1400" b="1" u="none" strike="noStrike" cap="none" dirty="0">
                          <a:latin typeface="Times New Roman"/>
                          <a:ea typeface="Times New Roman"/>
                          <a:cs typeface="Times New Roman"/>
                          <a:sym typeface="Times New Roman"/>
                        </a:rPr>
                        <a:t>Schedule</a:t>
                      </a:r>
                      <a:endParaRPr sz="1400" b="1" i="0" u="none" strike="noStrike" cap="none" dirty="0">
                        <a:solidFill>
                          <a:srgbClr val="000000"/>
                        </a:solidFill>
                        <a:latin typeface="Times New Roman"/>
                        <a:ea typeface="Times New Roman"/>
                        <a:cs typeface="Times New Roman"/>
                        <a:sym typeface="Times New Roman"/>
                      </a:endParaRPr>
                    </a:p>
                  </a:txBody>
                  <a:tcPr marL="6800" marR="6800" marT="50292" marB="50292"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00"/>
                    </a:solidFill>
                  </a:tcPr>
                </a:tc>
                <a:tc hMerge="1">
                  <a:txBody>
                    <a:bodyPr/>
                    <a:lstStyle/>
                    <a:p>
                      <a:endParaRPr lang="en-US"/>
                    </a:p>
                  </a:txBody>
                  <a:tcPr/>
                </a:tc>
                <a:tc rowSpan="2">
                  <a:txBody>
                    <a:bodyPr/>
                    <a:lstStyle/>
                    <a:p>
                      <a:pPr marL="0" marR="0" lvl="0" indent="0" algn="ctr" rtl="0">
                        <a:lnSpc>
                          <a:spcPct val="100000"/>
                        </a:lnSpc>
                        <a:spcBef>
                          <a:spcPts val="0"/>
                        </a:spcBef>
                        <a:spcAft>
                          <a:spcPts val="0"/>
                        </a:spcAft>
                        <a:buClr>
                          <a:srgbClr val="000000"/>
                        </a:buClr>
                        <a:buSzPts val="1200"/>
                        <a:buFont typeface="Arial"/>
                        <a:buNone/>
                      </a:pPr>
                      <a:r>
                        <a:rPr lang="en-US" sz="1400" b="1" u="none" strike="noStrike" cap="none" dirty="0">
                          <a:latin typeface="Times New Roman"/>
                          <a:ea typeface="Times New Roman"/>
                          <a:cs typeface="Times New Roman"/>
                          <a:sym typeface="Times New Roman"/>
                        </a:rPr>
                        <a:t>Release</a:t>
                      </a:r>
                      <a:endParaRPr sz="1400" b="1" i="0" u="none" strike="noStrike" cap="none" dirty="0">
                        <a:solidFill>
                          <a:srgbClr val="333333"/>
                        </a:solidFill>
                        <a:latin typeface="Times New Roman"/>
                        <a:ea typeface="Times New Roman"/>
                        <a:cs typeface="Times New Roman"/>
                        <a:sym typeface="Times New Roman"/>
                      </a:endParaRPr>
                    </a:p>
                  </a:txBody>
                  <a:tcPr marL="6800" marR="6800" marT="50292" marB="50292"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FFFF00"/>
                    </a:solidFill>
                  </a:tcPr>
                </a:tc>
                <a:tc rowSpan="2">
                  <a:txBody>
                    <a:bodyPr/>
                    <a:lstStyle/>
                    <a:p>
                      <a:pPr marL="0" marR="0" lvl="0" indent="0" algn="ctr" rtl="0">
                        <a:lnSpc>
                          <a:spcPct val="100000"/>
                        </a:lnSpc>
                        <a:spcBef>
                          <a:spcPts val="0"/>
                        </a:spcBef>
                        <a:spcAft>
                          <a:spcPts val="0"/>
                        </a:spcAft>
                        <a:buClr>
                          <a:srgbClr val="000000"/>
                        </a:buClr>
                        <a:buSzPts val="1200"/>
                        <a:buFont typeface="Arial"/>
                        <a:buNone/>
                      </a:pPr>
                      <a:r>
                        <a:rPr lang="en-US" sz="1400" b="1" u="none" strike="noStrike" cap="none" dirty="0">
                          <a:latin typeface="Times New Roman"/>
                          <a:ea typeface="Times New Roman"/>
                          <a:cs typeface="Times New Roman"/>
                          <a:sym typeface="Times New Roman"/>
                        </a:rPr>
                        <a:t>Extended (Hours)</a:t>
                      </a:r>
                      <a:endParaRPr sz="1400" b="1" i="0" u="none" strike="noStrike" cap="none" dirty="0">
                        <a:solidFill>
                          <a:srgbClr val="333333"/>
                        </a:solidFill>
                        <a:latin typeface="Times New Roman"/>
                        <a:ea typeface="Times New Roman"/>
                        <a:cs typeface="Times New Roman"/>
                        <a:sym typeface="Times New Roman"/>
                      </a:endParaRPr>
                    </a:p>
                  </a:txBody>
                  <a:tcPr marL="6800" marR="6800" marT="50292" marB="50292"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FFFF00"/>
                    </a:solidFill>
                  </a:tcPr>
                </a:tc>
                <a:tc rowSpan="2">
                  <a:txBody>
                    <a:bodyPr/>
                    <a:lstStyle/>
                    <a:p>
                      <a:pPr marL="0" marR="0" lvl="0" indent="0" algn="ctr" rtl="0">
                        <a:lnSpc>
                          <a:spcPct val="100000"/>
                        </a:lnSpc>
                        <a:spcBef>
                          <a:spcPts val="0"/>
                        </a:spcBef>
                        <a:spcAft>
                          <a:spcPts val="0"/>
                        </a:spcAft>
                        <a:buClr>
                          <a:srgbClr val="000000"/>
                        </a:buClr>
                        <a:buSzPts val="1200"/>
                        <a:buFont typeface="Arial"/>
                        <a:buNone/>
                      </a:pPr>
                      <a:r>
                        <a:rPr lang="en-US" sz="1400" b="1" u="none" strike="noStrike" cap="none" dirty="0" err="1">
                          <a:latin typeface="Times New Roman"/>
                          <a:ea typeface="Times New Roman"/>
                          <a:cs typeface="Times New Roman"/>
                          <a:sym typeface="Times New Roman"/>
                        </a:rPr>
                        <a:t>Nguyên</a:t>
                      </a:r>
                      <a:r>
                        <a:rPr lang="en-US" sz="1400" b="1" u="none" strike="noStrike" cap="none" dirty="0">
                          <a:latin typeface="Times New Roman"/>
                          <a:ea typeface="Times New Roman"/>
                          <a:cs typeface="Times New Roman"/>
                          <a:sym typeface="Times New Roman"/>
                        </a:rPr>
                        <a:t> </a:t>
                      </a:r>
                      <a:r>
                        <a:rPr lang="en-US" sz="1400" b="1" u="none" strike="noStrike" cap="none" dirty="0" err="1">
                          <a:latin typeface="Times New Roman"/>
                          <a:ea typeface="Times New Roman"/>
                          <a:cs typeface="Times New Roman"/>
                          <a:sym typeface="Times New Roman"/>
                        </a:rPr>
                        <a:t>nhân</a:t>
                      </a:r>
                      <a:endParaRPr sz="1400" b="1" i="0" u="none" strike="noStrike" cap="none" dirty="0">
                        <a:solidFill>
                          <a:srgbClr val="333333"/>
                        </a:solidFill>
                        <a:latin typeface="Times New Roman"/>
                        <a:ea typeface="Times New Roman"/>
                        <a:cs typeface="Times New Roman"/>
                        <a:sym typeface="Times New Roman"/>
                      </a:endParaRPr>
                    </a:p>
                  </a:txBody>
                  <a:tcPr marL="6800" marR="6800" marT="50292" marB="50292"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FFFF00"/>
                    </a:solidFill>
                  </a:tcPr>
                </a:tc>
                <a:extLst>
                  <a:ext uri="{0D108BD9-81ED-4DB2-BD59-A6C34878D82A}">
                    <a16:rowId xmlns:a16="http://schemas.microsoft.com/office/drawing/2014/main" val="10000"/>
                  </a:ext>
                </a:extLst>
              </a:tr>
              <a:tr h="22885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400" b="1" u="none" strike="noStrike" cap="none" dirty="0">
                          <a:latin typeface="Times New Roman"/>
                          <a:ea typeface="Times New Roman"/>
                          <a:cs typeface="Times New Roman"/>
                          <a:sym typeface="Times New Roman"/>
                        </a:rPr>
                        <a:t>From</a:t>
                      </a:r>
                      <a:endParaRPr sz="1400" b="1" i="0" u="none" strike="noStrike" cap="none" dirty="0">
                        <a:solidFill>
                          <a:srgbClr val="333333"/>
                        </a:solidFill>
                        <a:latin typeface="Times New Roman"/>
                        <a:ea typeface="Times New Roman"/>
                        <a:cs typeface="Times New Roman"/>
                        <a:sym typeface="Times New Roman"/>
                      </a:endParaRPr>
                    </a:p>
                  </a:txBody>
                  <a:tcPr marL="6800" marR="6800" marT="6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FFFF00"/>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400" b="1" u="none" strike="noStrike" cap="none" dirty="0">
                          <a:latin typeface="Times New Roman"/>
                          <a:ea typeface="Times New Roman"/>
                          <a:cs typeface="Times New Roman"/>
                          <a:sym typeface="Times New Roman"/>
                        </a:rPr>
                        <a:t>To</a:t>
                      </a:r>
                      <a:endParaRPr sz="1400" b="1" i="0" u="none" strike="noStrike" cap="none" dirty="0">
                        <a:solidFill>
                          <a:srgbClr val="333333"/>
                        </a:solidFill>
                        <a:latin typeface="Times New Roman"/>
                        <a:ea typeface="Times New Roman"/>
                        <a:cs typeface="Times New Roman"/>
                        <a:sym typeface="Times New Roman"/>
                      </a:endParaRPr>
                    </a:p>
                  </a:txBody>
                  <a:tcPr marL="6800" marR="6800" marT="6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FFFF00"/>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r h="770306">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panose="02020603050405020304" pitchFamily="18" charset="0"/>
                          <a:cs typeface="Times New Roman" panose="02020603050405020304" pitchFamily="18" charset="0"/>
                        </a:rPr>
                        <a:t>A873</a:t>
                      </a:r>
                      <a:endParaRPr sz="1200" u="none" strike="noStrike" cap="none" dirty="0">
                        <a:latin typeface="Times New Roman" panose="02020603050405020304" pitchFamily="18" charset="0"/>
                        <a:cs typeface="Times New Roman" panose="02020603050405020304" pitchFamily="18" charset="0"/>
                      </a:endParaRPr>
                    </a:p>
                  </a:txBody>
                  <a:tcPr marL="9525" marR="9525" marT="9525" marB="0"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panose="02020603050405020304" pitchFamily="18" charset="0"/>
                          <a:cs typeface="Times New Roman" panose="02020603050405020304" pitchFamily="18" charset="0"/>
                        </a:rPr>
                        <a:t>B787</a:t>
                      </a:r>
                      <a:endParaRPr sz="1200" u="none" strike="noStrike" cap="none" dirty="0">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panose="02020603050405020304" pitchFamily="18" charset="0"/>
                          <a:cs typeface="Times New Roman" panose="02020603050405020304" pitchFamily="18" charset="0"/>
                        </a:rPr>
                        <a:t>A12</a:t>
                      </a:r>
                      <a:endParaRPr sz="1200" u="none" strike="noStrike" cap="none" dirty="0">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rPr>
                        <a:t>06-01-25 </a:t>
                      </a:r>
                      <a:r>
                        <a:rPr lang="en-US" sz="1200" b="0" i="0" u="none" strike="noStrike" dirty="0">
                          <a:solidFill>
                            <a:srgbClr val="000000"/>
                          </a:solidFill>
                          <a:effectLst/>
                          <a:latin typeface="Times New Roman" panose="02020603050405020304" pitchFamily="18" charset="0"/>
                        </a:rPr>
                        <a:t>08:00</a:t>
                      </a: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rPr>
                        <a:t>09-01-25 </a:t>
                      </a:r>
                      <a:endParaRPr lang="en-US" sz="1200" b="0" i="0" u="none" strike="noStrike" dirty="0">
                        <a:solidFill>
                          <a:srgbClr val="000000"/>
                        </a:solidFill>
                        <a:effectLst/>
                        <a:latin typeface="Times New Roman" panose="02020603050405020304" pitchFamily="18" charset="0"/>
                      </a:endParaRPr>
                    </a:p>
                    <a:p>
                      <a:pPr algn="ctr" fontAlgn="ctr"/>
                      <a:r>
                        <a:rPr lang="en-US" sz="1200" b="0" i="0" u="none" strike="noStrike">
                          <a:solidFill>
                            <a:srgbClr val="000000"/>
                          </a:solidFill>
                          <a:effectLst/>
                          <a:latin typeface="Times New Roman" panose="02020603050405020304" pitchFamily="18" charset="0"/>
                        </a:rPr>
                        <a:t>21:00</a:t>
                      </a:r>
                      <a:endParaRPr lang="en-US" sz="12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rPr>
                        <a:t>11-01-25 21:30</a:t>
                      </a:r>
                      <a:endParaRPr lang="en-US" sz="12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rPr>
                        <a:t>48.5</a:t>
                      </a:r>
                      <a:endParaRPr lang="en-US" sz="12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l" rtl="0" fontAlgn="ctr"/>
                      <a:r>
                        <a:rPr lang="en-US" sz="1200" b="0" i="0" u="none" strike="noStrike">
                          <a:solidFill>
                            <a:srgbClr val="000000"/>
                          </a:solidFill>
                          <a:effectLst/>
                          <a:latin typeface="Times New Roman" panose="02020603050405020304" pitchFamily="18" charset="0"/>
                        </a:rPr>
                        <a:t>Tàu vào check 05/01 phải rob 02 VFSG cho A862 ra check đúng hạn và 01 ADD </a:t>
                      </a:r>
                      <a:r>
                        <a:rPr lang="pt-BR" sz="1200" b="0" i="0" u="none" strike="noStrike">
                          <a:solidFill>
                            <a:srgbClr val="000000"/>
                          </a:solidFill>
                          <a:effectLst/>
                          <a:latin typeface="Times New Roman" panose="02020603050405020304" pitchFamily="18" charset="0"/>
                        </a:rPr>
                        <a:t>B486 ELEC GEN SYS R1 cần VFSG -&gt; Kéo dài ch</a:t>
                      </a:r>
                      <a:r>
                        <a:rPr lang="en-US" sz="1200" b="0" i="0" u="none" strike="noStrike">
                          <a:solidFill>
                            <a:srgbClr val="000000"/>
                          </a:solidFill>
                          <a:effectLst/>
                          <a:latin typeface="Times New Roman" panose="02020603050405020304" pitchFamily="18" charset="0"/>
                        </a:rPr>
                        <a:t>ờ cung ứng đủ 03 ea VFSG.</a:t>
                      </a:r>
                      <a:endParaRPr lang="vi-VN" sz="12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2176600221"/>
                  </a:ext>
                </a:extLst>
              </a:tr>
              <a:tr h="686387">
                <a:tc>
                  <a:txBody>
                    <a:bodyPr/>
                    <a:lstStyle/>
                    <a:p>
                      <a:pPr algn="ctr" fontAlgn="ctr"/>
                      <a:r>
                        <a:rPr lang="en-US" sz="1200" b="0" i="0" u="none" strike="noStrike">
                          <a:solidFill>
                            <a:srgbClr val="000000"/>
                          </a:solidFill>
                          <a:effectLst/>
                          <a:latin typeface="Times New Roman" panose="02020603050405020304" pitchFamily="18" charset="0"/>
                        </a:rPr>
                        <a:t>A390</a:t>
                      </a:r>
                    </a:p>
                  </a:txBody>
                  <a:tcPr marL="6824" marR="6824" marT="6824" marB="0"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panose="02020603050405020304" pitchFamily="18" charset="0"/>
                          <a:cs typeface="Times New Roman" panose="02020603050405020304" pitchFamily="18" charset="0"/>
                        </a:rPr>
                        <a:t>A321</a:t>
                      </a:r>
                      <a:endParaRPr sz="1200" u="none" strike="noStrike" cap="none" dirty="0">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rPr>
                        <a:t>EA21</a:t>
                      </a:r>
                    </a:p>
                  </a:txBody>
                  <a:tcPr marL="6824" marR="6824" marT="6824"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rPr>
                        <a:t>31/01/2025 23:00</a:t>
                      </a:r>
                    </a:p>
                  </a:txBody>
                  <a:tcPr marL="6824" marR="6824" marT="6824"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rPr>
                        <a:t>01/02/2025 09:00</a:t>
                      </a:r>
                    </a:p>
                  </a:txBody>
                  <a:tcPr marL="6824" marR="6824" marT="6824"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rPr>
                        <a:t>01/02/2025 10:00</a:t>
                      </a:r>
                    </a:p>
                  </a:txBody>
                  <a:tcPr marL="6824" marR="6824" marT="6824"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rPr>
                        <a:t>1</a:t>
                      </a:r>
                      <a:endParaRPr lang="en-US" sz="12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l" fontAlgn="ctr"/>
                      <a:r>
                        <a:rPr lang="vi-VN" sz="1200" b="0" i="0" u="none" strike="noStrike">
                          <a:solidFill>
                            <a:srgbClr val="000000"/>
                          </a:solidFill>
                          <a:effectLst/>
                          <a:latin typeface="Times New Roman" panose="02020603050405020304" pitchFamily="18" charset="0"/>
                        </a:rPr>
                        <a:t>Phát sinh leak đường ống thủy lực ở khu vực RH WING REAR. Cần thời gian để tìm và khắc phục leak.</a:t>
                      </a:r>
                    </a:p>
                  </a:txBody>
                  <a:tcPr marL="6824" marR="6824" marT="6824" marB="0"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311263536"/>
                  </a:ext>
                </a:extLst>
              </a:tr>
              <a:tr h="767498">
                <a:tc>
                  <a:txBody>
                    <a:bodyPr/>
                    <a:lstStyle/>
                    <a:p>
                      <a:pPr algn="ctr" fontAlgn="ctr"/>
                      <a:r>
                        <a:rPr lang="en-US" sz="1200" b="0" i="0" u="none" strike="noStrike">
                          <a:solidFill>
                            <a:srgbClr val="000000"/>
                          </a:solidFill>
                          <a:effectLst/>
                          <a:latin typeface="Times New Roman" panose="02020603050405020304" pitchFamily="18" charset="0"/>
                        </a:rPr>
                        <a:t>A897</a:t>
                      </a:r>
                    </a:p>
                  </a:txBody>
                  <a:tcPr marL="6824" marR="6824" marT="6824" marB="0"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a:latin typeface="Times New Roman" panose="02020603050405020304" pitchFamily="18" charset="0"/>
                          <a:cs typeface="Times New Roman" panose="02020603050405020304" pitchFamily="18" charset="0"/>
                        </a:rPr>
                        <a:t>A350</a:t>
                      </a:r>
                      <a:endParaRPr sz="1200" u="none" strike="noStrike" cap="none" dirty="0">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rPr>
                        <a:t>A04</a:t>
                      </a:r>
                    </a:p>
                  </a:txBody>
                  <a:tcPr marL="6824" marR="6824" marT="6824"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rPr>
                        <a:t>15/02/2025 8:00</a:t>
                      </a:r>
                    </a:p>
                  </a:txBody>
                  <a:tcPr marL="6824" marR="6824" marT="6824"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rPr>
                        <a:t>17/02/2025 21:00</a:t>
                      </a:r>
                    </a:p>
                  </a:txBody>
                  <a:tcPr marL="6824" marR="6824" marT="6824"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rPr>
                        <a:t>18/02/2025 17:00</a:t>
                      </a:r>
                    </a:p>
                  </a:txBody>
                  <a:tcPr marL="6824" marR="6824" marT="6824"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rPr>
                        <a:t>20</a:t>
                      </a:r>
                      <a:endParaRPr lang="en-US" sz="12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tc>
                  <a:txBody>
                    <a:bodyPr/>
                    <a:lstStyle/>
                    <a:p>
                      <a:pPr algn="l" fontAlgn="ctr"/>
                      <a:r>
                        <a:rPr lang="vi-VN" sz="1200" b="0" i="0" u="none" strike="noStrike">
                          <a:solidFill>
                            <a:srgbClr val="000000"/>
                          </a:solidFill>
                          <a:effectLst/>
                          <a:latin typeface="Times New Roman" panose="02020603050405020304" pitchFamily="18" charset="0"/>
                        </a:rPr>
                        <a:t>Phát sinh leak ở Main Heat Exchanger Pack #1</a:t>
                      </a:r>
                      <a:r>
                        <a:rPr lang="en-US" sz="1200" b="0" i="0" u="none" strike="noStrike">
                          <a:solidFill>
                            <a:srgbClr val="000000"/>
                          </a:solidFill>
                          <a:effectLst/>
                          <a:latin typeface="Times New Roman" panose="02020603050405020304" pitchFamily="18" charset="0"/>
                        </a:rPr>
                        <a:t>, </a:t>
                      </a:r>
                      <a:r>
                        <a:rPr lang="vi-VN" sz="1200" b="0" i="0" u="none" strike="noStrike">
                          <a:solidFill>
                            <a:srgbClr val="000000"/>
                          </a:solidFill>
                          <a:effectLst/>
                          <a:latin typeface="Times New Roman" panose="02020603050405020304" pitchFamily="18" charset="0"/>
                        </a:rPr>
                        <a:t>vật tư </a:t>
                      </a:r>
                      <a:r>
                        <a:rPr lang="en-US" sz="1200" b="0" i="0" u="none" strike="noStrike">
                          <a:solidFill>
                            <a:srgbClr val="000000"/>
                          </a:solidFill>
                          <a:effectLst/>
                          <a:latin typeface="Times New Roman" panose="02020603050405020304" pitchFamily="18" charset="0"/>
                        </a:rPr>
                        <a:t>dự kiến không cung ứng </a:t>
                      </a:r>
                      <a:r>
                        <a:rPr lang="vi-VN" sz="1200" b="0" i="0" u="none" strike="noStrike">
                          <a:solidFill>
                            <a:srgbClr val="000000"/>
                          </a:solidFill>
                          <a:effectLst/>
                          <a:latin typeface="Times New Roman" panose="02020603050405020304" pitchFamily="18" charset="0"/>
                        </a:rPr>
                        <a:t>kịp tiến độ</a:t>
                      </a:r>
                      <a:r>
                        <a:rPr lang="en-US" sz="1200" b="0" i="0" u="none" strike="noStrike">
                          <a:solidFill>
                            <a:srgbClr val="000000"/>
                          </a:solidFill>
                          <a:effectLst/>
                          <a:latin typeface="Times New Roman" panose="02020603050405020304" pitchFamily="18" charset="0"/>
                        </a:rPr>
                        <a:t> nên </a:t>
                      </a:r>
                      <a:r>
                        <a:rPr lang="vi-VN" sz="1200" b="0" i="0" u="none" strike="noStrike">
                          <a:solidFill>
                            <a:srgbClr val="000000"/>
                          </a:solidFill>
                          <a:effectLst/>
                          <a:latin typeface="Times New Roman" panose="02020603050405020304" pitchFamily="18" charset="0"/>
                        </a:rPr>
                        <a:t>cần nhiều thời gian để rob Main Heat Exchanger của tàu A898 BQDB cho A897.</a:t>
                      </a:r>
                    </a:p>
                  </a:txBody>
                  <a:tcPr marL="6824" marR="6824" marT="6824" marB="0"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551728343"/>
                  </a:ext>
                </a:extLst>
              </a:tr>
            </a:tbl>
          </a:graphicData>
        </a:graphic>
      </p:graphicFrame>
      <p:graphicFrame>
        <p:nvGraphicFramePr>
          <p:cNvPr id="3" name="Chart 2">
            <a:extLst>
              <a:ext uri="{FF2B5EF4-FFF2-40B4-BE49-F238E27FC236}">
                <a16:creationId xmlns:a16="http://schemas.microsoft.com/office/drawing/2014/main" id="{7C36D52C-9937-E448-0D1D-7821C8643F07}"/>
              </a:ext>
            </a:extLst>
          </p:cNvPr>
          <p:cNvGraphicFramePr>
            <a:graphicFrameLocks/>
          </p:cNvGraphicFramePr>
          <p:nvPr>
            <p:extLst>
              <p:ext uri="{D42A27DB-BD31-4B8C-83A1-F6EECF244321}">
                <p14:modId xmlns:p14="http://schemas.microsoft.com/office/powerpoint/2010/main" val="3640602272"/>
              </p:ext>
            </p:extLst>
          </p:nvPr>
        </p:nvGraphicFramePr>
        <p:xfrm>
          <a:off x="4038600" y="3562349"/>
          <a:ext cx="8109441" cy="3095425"/>
        </p:xfrm>
        <a:graphic>
          <a:graphicData uri="http://schemas.openxmlformats.org/drawingml/2006/chart">
            <c:chart xmlns:c="http://schemas.openxmlformats.org/drawingml/2006/chart" xmlns:r="http://schemas.openxmlformats.org/officeDocument/2006/relationships" r:id="rId3"/>
          </a:graphicData>
        </a:graphic>
      </p:graphicFrame>
      <p:sp>
        <p:nvSpPr>
          <p:cNvPr id="4" name="Title 1">
            <a:extLst>
              <a:ext uri="{FF2B5EF4-FFF2-40B4-BE49-F238E27FC236}">
                <a16:creationId xmlns:a16="http://schemas.microsoft.com/office/drawing/2014/main" id="{E71FE697-4C59-850A-B150-DFCACCEE2F27}"/>
              </a:ext>
            </a:extLst>
          </p:cNvPr>
          <p:cNvSpPr txBox="1">
            <a:spLocks/>
          </p:cNvSpPr>
          <p:nvPr/>
        </p:nvSpPr>
        <p:spPr>
          <a:xfrm>
            <a:off x="412423" y="190512"/>
            <a:ext cx="978660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CÁC CHỈ SỐ KPI</a:t>
            </a:r>
          </a:p>
        </p:txBody>
      </p:sp>
    </p:spTree>
    <p:extLst>
      <p:ext uri="{BB962C8B-B14F-4D97-AF65-F5344CB8AC3E}">
        <p14:creationId xmlns:p14="http://schemas.microsoft.com/office/powerpoint/2010/main" val="50252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11" name="TextBox 10"/>
          <p:cNvSpPr txBox="1"/>
          <p:nvPr/>
        </p:nvSpPr>
        <p:spPr>
          <a:xfrm>
            <a:off x="272395" y="115577"/>
            <a:ext cx="11647210" cy="480131"/>
          </a:xfrm>
          <a:prstGeom prst="rect">
            <a:avLst/>
          </a:prstGeom>
          <a:noFill/>
        </p:spPr>
        <p:txBody>
          <a:bodyPr wrap="square" rtlCol="0">
            <a:spAutoFit/>
          </a:bodyPr>
          <a:lstStyle/>
          <a:p>
            <a:pPr>
              <a:lnSpc>
                <a:spcPct val="90000"/>
              </a:lnSpc>
              <a:spcBef>
                <a:spcPct val="0"/>
              </a:spcBef>
              <a:defRPr/>
            </a:pPr>
            <a:r>
              <a:rPr lang="en-US" sz="2800" b="1">
                <a:solidFill>
                  <a:srgbClr val="D2A43B"/>
                </a:solidFill>
                <a:latin typeface="Times New Roman" panose="02020603050405020304" pitchFamily="18" charset="0"/>
                <a:ea typeface="Tahoma" pitchFamily="34" charset="0"/>
                <a:cs typeface="Times New Roman" panose="02020603050405020304" pitchFamily="18" charset="0"/>
              </a:rPr>
              <a:t>TỶ LỆ SỰ CỐ, VỤ VIỆC GĐKT VÌ LÝ DO KỸ THUẬT QUÝ I</a:t>
            </a:r>
            <a:endParaRPr lang="en-US" sz="2800" b="1" dirty="0">
              <a:solidFill>
                <a:srgbClr val="D2A43B"/>
              </a:solidFill>
              <a:latin typeface="Times New Roman" panose="02020603050405020304" pitchFamily="18" charset="0"/>
              <a:ea typeface="Tahoma"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5EF0DE18-B5CC-C444-1C55-EF637D7F8D2E}"/>
              </a:ext>
            </a:extLst>
          </p:cNvPr>
          <p:cNvSpPr/>
          <p:nvPr/>
        </p:nvSpPr>
        <p:spPr>
          <a:xfrm>
            <a:off x="575876" y="4518615"/>
            <a:ext cx="10596578" cy="830997"/>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Quý I năm 2025 có 26 sự kiện GĐKT, tăng 01 vụ việc tương ứng giảm 1.10 điểm so với quý IV năm 2024; giảm 02 vụ tương ứng giảm 0.78 điểm so với cùng kỳ năm 2024. KPI quý I năm 2025 là 7.60, không đạt mục tiêu.</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3" name="Chart 2">
            <a:extLst>
              <a:ext uri="{FF2B5EF4-FFF2-40B4-BE49-F238E27FC236}">
                <a16:creationId xmlns:a16="http://schemas.microsoft.com/office/drawing/2014/main" id="{ABE7DEFF-F976-6D04-7535-3E786F08D738}"/>
              </a:ext>
            </a:extLst>
          </p:cNvPr>
          <p:cNvGraphicFramePr>
            <a:graphicFrameLocks/>
          </p:cNvGraphicFramePr>
          <p:nvPr>
            <p:extLst>
              <p:ext uri="{D42A27DB-BD31-4B8C-83A1-F6EECF244321}">
                <p14:modId xmlns:p14="http://schemas.microsoft.com/office/powerpoint/2010/main" val="3984788599"/>
              </p:ext>
            </p:extLst>
          </p:nvPr>
        </p:nvGraphicFramePr>
        <p:xfrm>
          <a:off x="659565" y="1118032"/>
          <a:ext cx="6712147" cy="326353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FA0A8072-6A3F-5DB9-A2C9-426340EB5BE1}"/>
              </a:ext>
            </a:extLst>
          </p:cNvPr>
          <p:cNvGraphicFramePr>
            <a:graphicFrameLocks/>
          </p:cNvGraphicFramePr>
          <p:nvPr>
            <p:extLst>
              <p:ext uri="{D42A27DB-BD31-4B8C-83A1-F6EECF244321}">
                <p14:modId xmlns:p14="http://schemas.microsoft.com/office/powerpoint/2010/main" val="4284390095"/>
              </p:ext>
            </p:extLst>
          </p:nvPr>
        </p:nvGraphicFramePr>
        <p:xfrm>
          <a:off x="7454337" y="1118032"/>
          <a:ext cx="1677335" cy="325551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Chart 4">
            <a:extLst>
              <a:ext uri="{FF2B5EF4-FFF2-40B4-BE49-F238E27FC236}">
                <a16:creationId xmlns:a16="http://schemas.microsoft.com/office/drawing/2014/main" id="{04F19887-AE49-F6C8-339C-58811B793AA5}"/>
              </a:ext>
            </a:extLst>
          </p:cNvPr>
          <p:cNvGraphicFramePr>
            <a:graphicFrameLocks/>
          </p:cNvGraphicFramePr>
          <p:nvPr>
            <p:extLst>
              <p:ext uri="{D42A27DB-BD31-4B8C-83A1-F6EECF244321}">
                <p14:modId xmlns:p14="http://schemas.microsoft.com/office/powerpoint/2010/main" val="3222663410"/>
              </p:ext>
            </p:extLst>
          </p:nvPr>
        </p:nvGraphicFramePr>
        <p:xfrm>
          <a:off x="9214298" y="1118032"/>
          <a:ext cx="1958156" cy="3263533"/>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096557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3" name="Title 1">
            <a:extLst>
              <a:ext uri="{FF2B5EF4-FFF2-40B4-BE49-F238E27FC236}">
                <a16:creationId xmlns:a16="http://schemas.microsoft.com/office/drawing/2014/main" id="{E3337893-D05B-3DAC-097B-00B5036B5415}"/>
              </a:ext>
            </a:extLst>
          </p:cNvPr>
          <p:cNvSpPr txBox="1">
            <a:spLocks/>
          </p:cNvSpPr>
          <p:nvPr/>
        </p:nvSpPr>
        <p:spPr>
          <a:xfrm>
            <a:off x="871239" y="203760"/>
            <a:ext cx="11060239"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a:defRPr/>
            </a:pPr>
            <a:r>
              <a:rPr lang="en-US" sz="2800" b="1">
                <a:solidFill>
                  <a:srgbClr val="D2A43B"/>
                </a:solidFill>
                <a:ea typeface="Tahoma" pitchFamily="34" charset="0"/>
                <a:cs typeface="Times New Roman" panose="02020603050405020304" pitchFamily="18" charset="0"/>
              </a:rPr>
              <a:t>A321 (10 GTB + 01 ATB)</a:t>
            </a:r>
            <a:endParaRPr lang="en-US" sz="2800" b="1" dirty="0">
              <a:solidFill>
                <a:srgbClr val="D2A43B"/>
              </a:solidFill>
              <a:ea typeface="Tahoma" pitchFamily="34" charset="0"/>
              <a:cs typeface="Times New Roman" panose="02020603050405020304" pitchFamily="18" charset="0"/>
            </a:endParaRPr>
          </a:p>
        </p:txBody>
      </p:sp>
      <p:sp>
        <p:nvSpPr>
          <p:cNvPr id="12" name="Text 4">
            <a:extLst>
              <a:ext uri="{FF2B5EF4-FFF2-40B4-BE49-F238E27FC236}">
                <a16:creationId xmlns:a16="http://schemas.microsoft.com/office/drawing/2014/main" id="{68D4981B-30E1-8454-5D0A-A944BAC9EB82}"/>
              </a:ext>
            </a:extLst>
          </p:cNvPr>
          <p:cNvSpPr/>
          <p:nvPr/>
        </p:nvSpPr>
        <p:spPr>
          <a:xfrm>
            <a:off x="609600" y="1073843"/>
            <a:ext cx="4644377" cy="254230"/>
          </a:xfrm>
          <a:prstGeom prst="rect">
            <a:avLst/>
          </a:prstGeom>
          <a:noFill/>
          <a:ln/>
        </p:spPr>
        <p:txBody>
          <a:bodyPr wrap="none" lIns="0" tIns="0" rIns="0" bIns="0" rtlCol="0" anchor="t"/>
          <a:lstStyle/>
          <a:p>
            <a:pPr algn="r">
              <a:lnSpc>
                <a:spcPts val="2083"/>
              </a:lnSpc>
            </a:pPr>
            <a:r>
              <a:rPr lang="fr-FR" b="1">
                <a:solidFill>
                  <a:srgbClr val="15213F"/>
                </a:solidFill>
                <a:latin typeface="Times New Roman" panose="02020603050405020304" pitchFamily="18" charset="0"/>
                <a:ea typeface="Roboto Slab" pitchFamily="34" charset="-122"/>
                <a:cs typeface="Times New Roman" panose="02020603050405020304" pitchFamily="18" charset="0"/>
              </a:rPr>
              <a:t>ATA 21 VENT EXTRACT FAN/SAV</a:t>
            </a:r>
          </a:p>
        </p:txBody>
      </p:sp>
      <p:sp>
        <p:nvSpPr>
          <p:cNvPr id="13" name="Text 5">
            <a:extLst>
              <a:ext uri="{FF2B5EF4-FFF2-40B4-BE49-F238E27FC236}">
                <a16:creationId xmlns:a16="http://schemas.microsoft.com/office/drawing/2014/main" id="{03E46991-CE7B-B611-684F-9436D5F17EB0}"/>
              </a:ext>
            </a:extLst>
          </p:cNvPr>
          <p:cNvSpPr/>
          <p:nvPr/>
        </p:nvSpPr>
        <p:spPr>
          <a:xfrm>
            <a:off x="381001" y="1443236"/>
            <a:ext cx="4872978" cy="1958282"/>
          </a:xfrm>
          <a:prstGeom prst="rect">
            <a:avLst/>
          </a:prstGeom>
          <a:noFill/>
          <a:ln/>
        </p:spPr>
        <p:txBody>
          <a:bodyPr wrap="square" lIns="0" tIns="0" rIns="0" bIns="0" rtlCol="0" anchor="t"/>
          <a:lstStyle/>
          <a:p>
            <a:pPr algn="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 </a:t>
            </a:r>
            <a:r>
              <a:rPr lang="vi-VN" sz="1400">
                <a:solidFill>
                  <a:srgbClr val="15213F"/>
                </a:solidFill>
                <a:latin typeface="Times New Roman" panose="02020603050405020304" pitchFamily="18" charset="0"/>
                <a:ea typeface="Roboto" pitchFamily="34" charset="-122"/>
                <a:cs typeface="Times New Roman" panose="02020603050405020304" pitchFamily="18" charset="0"/>
              </a:rPr>
              <a:t>A358 GTB ngày 06/03 do VENT EXTRACT FAN FAULT</a:t>
            </a:r>
          </a:p>
          <a:p>
            <a:pPr algn="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 </a:t>
            </a:r>
            <a:r>
              <a:rPr lang="vi-VN" sz="1400">
                <a:solidFill>
                  <a:srgbClr val="15213F"/>
                </a:solidFill>
                <a:latin typeface="Times New Roman" panose="02020603050405020304" pitchFamily="18" charset="0"/>
                <a:ea typeface="Roboto" pitchFamily="34" charset="-122"/>
                <a:cs typeface="Times New Roman" panose="02020603050405020304" pitchFamily="18" charset="0"/>
              </a:rPr>
              <a:t>A334 ATB ngày 09/03 do VENT SKIN</a:t>
            </a:r>
            <a:r>
              <a:rPr lang="en-US" sz="1400">
                <a:solidFill>
                  <a:srgbClr val="15213F"/>
                </a:solidFill>
                <a:latin typeface="Times New Roman" panose="02020603050405020304" pitchFamily="18" charset="0"/>
                <a:ea typeface="Roboto" pitchFamily="34" charset="-122"/>
                <a:cs typeface="Times New Roman" panose="02020603050405020304" pitchFamily="18" charset="0"/>
              </a:rPr>
              <a:t> AIR</a:t>
            </a:r>
            <a:r>
              <a:rPr lang="vi-VN" sz="1400">
                <a:solidFill>
                  <a:srgbClr val="15213F"/>
                </a:solidFill>
                <a:latin typeface="Times New Roman" panose="02020603050405020304" pitchFamily="18" charset="0"/>
                <a:ea typeface="Roboto" pitchFamily="34" charset="-122"/>
                <a:cs typeface="Times New Roman" panose="02020603050405020304" pitchFamily="18" charset="0"/>
              </a:rPr>
              <a:t> VLV FAULT</a:t>
            </a:r>
          </a:p>
          <a:p>
            <a:pPr algn="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Các hỏng hóc đều thực hiện thế thấy FAN để khắc phục</a:t>
            </a:r>
          </a:p>
          <a:p>
            <a:pPr algn="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Nguyên nhân do các khối cao giờ. Tiếp tục triển khai chương trình tháo khối softime.</a:t>
            </a:r>
          </a:p>
          <a:p>
            <a:pPr algn="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Riêng với SAV để hạn chế sự vụ tương tự có thể khuyến cáo nếu phát sinh msg skin air valv dưới đất thì nên quay lại để kiểm tra.</a:t>
            </a:r>
          </a:p>
          <a:p>
            <a:pPr algn="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a:t>
            </a:r>
          </a:p>
          <a:p>
            <a:pPr algn="r">
              <a:lnSpc>
                <a:spcPts val="2125"/>
              </a:lnSpc>
            </a:pPr>
            <a:endParaRPr lang="en-US" sz="1400" dirty="0">
              <a:latin typeface="Times New Roman" panose="02020603050405020304" pitchFamily="18" charset="0"/>
              <a:cs typeface="Times New Roman" panose="02020603050405020304" pitchFamily="18" charset="0"/>
            </a:endParaRPr>
          </a:p>
        </p:txBody>
      </p:sp>
      <p:sp>
        <p:nvSpPr>
          <p:cNvPr id="17" name="Text 8">
            <a:extLst>
              <a:ext uri="{FF2B5EF4-FFF2-40B4-BE49-F238E27FC236}">
                <a16:creationId xmlns:a16="http://schemas.microsoft.com/office/drawing/2014/main" id="{0C4209F5-8EA0-1408-3A72-4A32E254F67F}"/>
              </a:ext>
            </a:extLst>
          </p:cNvPr>
          <p:cNvSpPr/>
          <p:nvPr/>
        </p:nvSpPr>
        <p:spPr>
          <a:xfrm>
            <a:off x="6967830" y="2285224"/>
            <a:ext cx="2135386" cy="266898"/>
          </a:xfrm>
          <a:prstGeom prst="rect">
            <a:avLst/>
          </a:prstGeom>
          <a:noFill/>
          <a:ln/>
        </p:spPr>
        <p:txBody>
          <a:bodyPr wrap="none" lIns="0" tIns="0" rIns="0" bIns="0" rtlCol="0" anchor="t"/>
          <a:lstStyle/>
          <a:p>
            <a:pPr>
              <a:lnSpc>
                <a:spcPts val="2083"/>
              </a:lnSpc>
            </a:pPr>
            <a:r>
              <a:rPr lang="en-US" b="1">
                <a:solidFill>
                  <a:srgbClr val="15213F"/>
                </a:solidFill>
                <a:latin typeface="Times New Roman" panose="02020603050405020304" pitchFamily="18" charset="0"/>
                <a:ea typeface="Roboto Slab" pitchFamily="34" charset="-122"/>
                <a:cs typeface="Times New Roman" panose="02020603050405020304" pitchFamily="18" charset="0"/>
              </a:rPr>
              <a:t>ATA 22 MCDU</a:t>
            </a:r>
          </a:p>
        </p:txBody>
      </p:sp>
      <p:sp>
        <p:nvSpPr>
          <p:cNvPr id="18" name="Text 9">
            <a:extLst>
              <a:ext uri="{FF2B5EF4-FFF2-40B4-BE49-F238E27FC236}">
                <a16:creationId xmlns:a16="http://schemas.microsoft.com/office/drawing/2014/main" id="{424A7524-3CD0-064F-9A20-F47A2CC319A7}"/>
              </a:ext>
            </a:extLst>
          </p:cNvPr>
          <p:cNvSpPr/>
          <p:nvPr/>
        </p:nvSpPr>
        <p:spPr>
          <a:xfrm>
            <a:off x="6967830" y="2616169"/>
            <a:ext cx="5090187" cy="584231"/>
          </a:xfrm>
          <a:prstGeom prst="rect">
            <a:avLst/>
          </a:prstGeom>
          <a:noFill/>
          <a:ln/>
        </p:spPr>
        <p:txBody>
          <a:bodyPr wrap="square" lIns="0" tIns="0" rIns="0" bIns="0" rtlCol="0" anchor="t"/>
          <a:lstStyle/>
          <a:p>
            <a:pP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A358 GTB ngày 27/01</a:t>
            </a:r>
          </a:p>
          <a:p>
            <a:pP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Hỏng hóc liên quan MCDU ít gặp, không có Issue liên quan.</a:t>
            </a:r>
          </a:p>
        </p:txBody>
      </p:sp>
      <p:sp>
        <p:nvSpPr>
          <p:cNvPr id="27" name="Text 16">
            <a:extLst>
              <a:ext uri="{FF2B5EF4-FFF2-40B4-BE49-F238E27FC236}">
                <a16:creationId xmlns:a16="http://schemas.microsoft.com/office/drawing/2014/main" id="{BFC4BAF0-DF56-0850-35D1-C5B05E3616BC}"/>
              </a:ext>
            </a:extLst>
          </p:cNvPr>
          <p:cNvSpPr/>
          <p:nvPr/>
        </p:nvSpPr>
        <p:spPr>
          <a:xfrm>
            <a:off x="7041276" y="4372396"/>
            <a:ext cx="2135386" cy="266898"/>
          </a:xfrm>
          <a:prstGeom prst="rect">
            <a:avLst/>
          </a:prstGeom>
          <a:noFill/>
          <a:ln/>
        </p:spPr>
        <p:txBody>
          <a:bodyPr wrap="none" lIns="0" tIns="0" rIns="0" bIns="0" rtlCol="0" anchor="t"/>
          <a:lstStyle/>
          <a:p>
            <a:pPr>
              <a:lnSpc>
                <a:spcPts val="2083"/>
              </a:lnSpc>
            </a:pPr>
            <a:r>
              <a:rPr lang="en-SG" b="1">
                <a:solidFill>
                  <a:srgbClr val="15213F"/>
                </a:solidFill>
                <a:latin typeface="Times New Roman" panose="02020603050405020304" pitchFamily="18" charset="0"/>
                <a:ea typeface="Roboto Slab" pitchFamily="34" charset="-122"/>
                <a:cs typeface="Times New Roman" panose="02020603050405020304" pitchFamily="18" charset="0"/>
              </a:rPr>
              <a:t>ATA 30 STBY PITOT HEATER</a:t>
            </a:r>
          </a:p>
        </p:txBody>
      </p:sp>
      <p:sp>
        <p:nvSpPr>
          <p:cNvPr id="28" name="Text 17">
            <a:extLst>
              <a:ext uri="{FF2B5EF4-FFF2-40B4-BE49-F238E27FC236}">
                <a16:creationId xmlns:a16="http://schemas.microsoft.com/office/drawing/2014/main" id="{6DBB0EFA-AED9-8DA1-9E61-2F1D9ED4919D}"/>
              </a:ext>
            </a:extLst>
          </p:cNvPr>
          <p:cNvSpPr/>
          <p:nvPr/>
        </p:nvSpPr>
        <p:spPr>
          <a:xfrm>
            <a:off x="7059345" y="4684379"/>
            <a:ext cx="3974420" cy="812566"/>
          </a:xfrm>
          <a:prstGeom prst="rect">
            <a:avLst/>
          </a:prstGeom>
          <a:noFill/>
          <a:ln/>
        </p:spPr>
        <p:txBody>
          <a:bodyPr wrap="square" lIns="0" tIns="0" rIns="0" bIns="0" rtlCol="0" anchor="t"/>
          <a:lstStyle/>
          <a:p>
            <a:pP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A606 GTB ngày 17/02. </a:t>
            </a:r>
          </a:p>
          <a:p>
            <a:pP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Hỏng hóc liên quan đến Pitot probe PN 0851MC.Part 0851MC là part mới nhất, được cải thiện khả năng chống đóng băng và đã có ĐTC cao hơn part cũ. </a:t>
            </a:r>
          </a:p>
        </p:txBody>
      </p:sp>
      <p:sp>
        <p:nvSpPr>
          <p:cNvPr id="33" name="Shape 1">
            <a:extLst>
              <a:ext uri="{FF2B5EF4-FFF2-40B4-BE49-F238E27FC236}">
                <a16:creationId xmlns:a16="http://schemas.microsoft.com/office/drawing/2014/main" id="{13CA6F8F-2795-0EB8-822B-2059F7192A51}"/>
              </a:ext>
            </a:extLst>
          </p:cNvPr>
          <p:cNvSpPr/>
          <p:nvPr/>
        </p:nvSpPr>
        <p:spPr>
          <a:xfrm>
            <a:off x="6086473" y="796227"/>
            <a:ext cx="45719" cy="5421395"/>
          </a:xfrm>
          <a:prstGeom prst="roundRect">
            <a:avLst>
              <a:gd name="adj" fmla="val 134514"/>
            </a:avLst>
          </a:prstGeom>
          <a:solidFill>
            <a:srgbClr val="CFD2D8"/>
          </a:solidFill>
          <a:ln/>
        </p:spPr>
        <p:txBody>
          <a:bodyPr/>
          <a:lstStyle/>
          <a:p>
            <a:endParaRPr lang="en-US"/>
          </a:p>
        </p:txBody>
      </p:sp>
      <p:sp>
        <p:nvSpPr>
          <p:cNvPr id="34" name="Shape 2">
            <a:extLst>
              <a:ext uri="{FF2B5EF4-FFF2-40B4-BE49-F238E27FC236}">
                <a16:creationId xmlns:a16="http://schemas.microsoft.com/office/drawing/2014/main" id="{92017DDE-13F0-1325-7682-4375B9C0A0D5}"/>
              </a:ext>
            </a:extLst>
          </p:cNvPr>
          <p:cNvSpPr/>
          <p:nvPr/>
        </p:nvSpPr>
        <p:spPr>
          <a:xfrm>
            <a:off x="5410397" y="1171076"/>
            <a:ext cx="512465" cy="19050"/>
          </a:xfrm>
          <a:prstGeom prst="roundRect">
            <a:avLst>
              <a:gd name="adj" fmla="val 134514"/>
            </a:avLst>
          </a:prstGeom>
          <a:solidFill>
            <a:srgbClr val="CFD2D8"/>
          </a:solidFill>
          <a:ln/>
        </p:spPr>
        <p:txBody>
          <a:bodyPr/>
          <a:lstStyle/>
          <a:p>
            <a:endParaRPr lang="en-US"/>
          </a:p>
        </p:txBody>
      </p:sp>
      <p:sp>
        <p:nvSpPr>
          <p:cNvPr id="35" name="Shape 3">
            <a:extLst>
              <a:ext uri="{FF2B5EF4-FFF2-40B4-BE49-F238E27FC236}">
                <a16:creationId xmlns:a16="http://schemas.microsoft.com/office/drawing/2014/main" id="{F5ACD91B-D397-15CF-B6D5-784D92EFD5CD}"/>
              </a:ext>
            </a:extLst>
          </p:cNvPr>
          <p:cNvSpPr/>
          <p:nvPr/>
        </p:nvSpPr>
        <p:spPr>
          <a:xfrm>
            <a:off x="5903813" y="988415"/>
            <a:ext cx="384373" cy="384373"/>
          </a:xfrm>
          <a:prstGeom prst="roundRect">
            <a:avLst>
              <a:gd name="adj" fmla="val 6667"/>
            </a:avLst>
          </a:prstGeom>
          <a:solidFill>
            <a:srgbClr val="E9ECF2"/>
          </a:solidFill>
          <a:ln/>
        </p:spPr>
        <p:txBody>
          <a:bodyPr/>
          <a:lstStyle/>
          <a:p>
            <a:endParaRPr lang="en-US"/>
          </a:p>
        </p:txBody>
      </p:sp>
      <p:pic>
        <p:nvPicPr>
          <p:cNvPr id="36" name="Image 0" descr="preencoded.png">
            <a:extLst>
              <a:ext uri="{FF2B5EF4-FFF2-40B4-BE49-F238E27FC236}">
                <a16:creationId xmlns:a16="http://schemas.microsoft.com/office/drawing/2014/main" id="{138D8C90-1ECE-FF34-D181-422EB60EFB58}"/>
              </a:ext>
            </a:extLst>
          </p:cNvPr>
          <p:cNvPicPr>
            <a:picLocks noChangeAspect="1"/>
          </p:cNvPicPr>
          <p:nvPr/>
        </p:nvPicPr>
        <p:blipFill>
          <a:blip r:embed="rId3"/>
          <a:stretch>
            <a:fillRect/>
          </a:stretch>
        </p:blipFill>
        <p:spPr>
          <a:xfrm>
            <a:off x="5967908" y="1020463"/>
            <a:ext cx="256183" cy="320278"/>
          </a:xfrm>
          <a:prstGeom prst="rect">
            <a:avLst/>
          </a:prstGeom>
        </p:spPr>
      </p:pic>
      <p:sp>
        <p:nvSpPr>
          <p:cNvPr id="37" name="Shape 6">
            <a:extLst>
              <a:ext uri="{FF2B5EF4-FFF2-40B4-BE49-F238E27FC236}">
                <a16:creationId xmlns:a16="http://schemas.microsoft.com/office/drawing/2014/main" id="{9817122F-9D95-141D-E9AD-BC5428B90B80}"/>
              </a:ext>
            </a:extLst>
          </p:cNvPr>
          <p:cNvSpPr/>
          <p:nvPr/>
        </p:nvSpPr>
        <p:spPr>
          <a:xfrm>
            <a:off x="6289561" y="2440390"/>
            <a:ext cx="512465" cy="19050"/>
          </a:xfrm>
          <a:prstGeom prst="roundRect">
            <a:avLst>
              <a:gd name="adj" fmla="val 134514"/>
            </a:avLst>
          </a:prstGeom>
          <a:solidFill>
            <a:srgbClr val="CFD2D8"/>
          </a:solidFill>
          <a:ln/>
        </p:spPr>
        <p:txBody>
          <a:bodyPr/>
          <a:lstStyle/>
          <a:p>
            <a:endParaRPr lang="en-US"/>
          </a:p>
        </p:txBody>
      </p:sp>
      <p:sp>
        <p:nvSpPr>
          <p:cNvPr id="38" name="Shape 7">
            <a:extLst>
              <a:ext uri="{FF2B5EF4-FFF2-40B4-BE49-F238E27FC236}">
                <a16:creationId xmlns:a16="http://schemas.microsoft.com/office/drawing/2014/main" id="{CB42FD6A-F5DE-ED15-9C1E-B1ABE06FA2CA}"/>
              </a:ext>
            </a:extLst>
          </p:cNvPr>
          <p:cNvSpPr/>
          <p:nvPr/>
        </p:nvSpPr>
        <p:spPr>
          <a:xfrm>
            <a:off x="5903813" y="2238443"/>
            <a:ext cx="384373" cy="384373"/>
          </a:xfrm>
          <a:prstGeom prst="roundRect">
            <a:avLst>
              <a:gd name="adj" fmla="val 11572"/>
            </a:avLst>
          </a:prstGeom>
          <a:solidFill>
            <a:srgbClr val="E9ECF2"/>
          </a:solidFill>
          <a:ln/>
        </p:spPr>
        <p:txBody>
          <a:bodyPr/>
          <a:lstStyle/>
          <a:p>
            <a:endParaRPr lang="en-US"/>
          </a:p>
        </p:txBody>
      </p:sp>
      <p:pic>
        <p:nvPicPr>
          <p:cNvPr id="39" name="Image 1" descr="preencoded.png">
            <a:extLst>
              <a:ext uri="{FF2B5EF4-FFF2-40B4-BE49-F238E27FC236}">
                <a16:creationId xmlns:a16="http://schemas.microsoft.com/office/drawing/2014/main" id="{454E5217-A0F8-8900-BB1F-BBDA0495A99D}"/>
              </a:ext>
            </a:extLst>
          </p:cNvPr>
          <p:cNvPicPr>
            <a:picLocks noChangeAspect="1"/>
          </p:cNvPicPr>
          <p:nvPr/>
        </p:nvPicPr>
        <p:blipFill>
          <a:blip r:embed="rId4"/>
          <a:stretch>
            <a:fillRect/>
          </a:stretch>
        </p:blipFill>
        <p:spPr>
          <a:xfrm>
            <a:off x="5988333" y="2289777"/>
            <a:ext cx="256183" cy="320278"/>
          </a:xfrm>
          <a:prstGeom prst="rect">
            <a:avLst/>
          </a:prstGeom>
        </p:spPr>
      </p:pic>
      <p:sp>
        <p:nvSpPr>
          <p:cNvPr id="40" name="Shape 10">
            <a:extLst>
              <a:ext uri="{FF2B5EF4-FFF2-40B4-BE49-F238E27FC236}">
                <a16:creationId xmlns:a16="http://schemas.microsoft.com/office/drawing/2014/main" id="{31A6D51D-7DE1-54A7-8D8A-B5C9CC91F969}"/>
              </a:ext>
            </a:extLst>
          </p:cNvPr>
          <p:cNvSpPr/>
          <p:nvPr/>
        </p:nvSpPr>
        <p:spPr>
          <a:xfrm>
            <a:off x="5395823" y="3703719"/>
            <a:ext cx="512465" cy="19050"/>
          </a:xfrm>
          <a:prstGeom prst="roundRect">
            <a:avLst>
              <a:gd name="adj" fmla="val 134514"/>
            </a:avLst>
          </a:prstGeom>
          <a:solidFill>
            <a:srgbClr val="CFD2D8"/>
          </a:solidFill>
          <a:ln/>
        </p:spPr>
        <p:txBody>
          <a:bodyPr/>
          <a:lstStyle/>
          <a:p>
            <a:endParaRPr lang="en-US"/>
          </a:p>
        </p:txBody>
      </p:sp>
      <p:sp>
        <p:nvSpPr>
          <p:cNvPr id="41" name="Shape 11">
            <a:extLst>
              <a:ext uri="{FF2B5EF4-FFF2-40B4-BE49-F238E27FC236}">
                <a16:creationId xmlns:a16="http://schemas.microsoft.com/office/drawing/2014/main" id="{2DA5D879-A3BF-391D-2F4C-3DB5CAF52AC9}"/>
              </a:ext>
            </a:extLst>
          </p:cNvPr>
          <p:cNvSpPr/>
          <p:nvPr/>
        </p:nvSpPr>
        <p:spPr>
          <a:xfrm>
            <a:off x="5886686" y="3516752"/>
            <a:ext cx="384373" cy="384373"/>
          </a:xfrm>
          <a:prstGeom prst="roundRect">
            <a:avLst>
              <a:gd name="adj" fmla="val 4214"/>
            </a:avLst>
          </a:prstGeom>
          <a:solidFill>
            <a:srgbClr val="E9ECF2"/>
          </a:solidFill>
          <a:ln/>
        </p:spPr>
        <p:txBody>
          <a:bodyPr/>
          <a:lstStyle/>
          <a:p>
            <a:endParaRPr lang="en-US"/>
          </a:p>
        </p:txBody>
      </p:sp>
      <p:pic>
        <p:nvPicPr>
          <p:cNvPr id="42" name="Image 2" descr="preencoded.png">
            <a:extLst>
              <a:ext uri="{FF2B5EF4-FFF2-40B4-BE49-F238E27FC236}">
                <a16:creationId xmlns:a16="http://schemas.microsoft.com/office/drawing/2014/main" id="{5DDC77D3-13D1-99FA-D283-448A37F7C9EE}"/>
              </a:ext>
            </a:extLst>
          </p:cNvPr>
          <p:cNvPicPr>
            <a:picLocks noChangeAspect="1"/>
          </p:cNvPicPr>
          <p:nvPr/>
        </p:nvPicPr>
        <p:blipFill>
          <a:blip r:embed="rId5"/>
          <a:stretch>
            <a:fillRect/>
          </a:stretch>
        </p:blipFill>
        <p:spPr>
          <a:xfrm>
            <a:off x="5953334" y="3553105"/>
            <a:ext cx="256183" cy="320278"/>
          </a:xfrm>
          <a:prstGeom prst="rect">
            <a:avLst/>
          </a:prstGeom>
        </p:spPr>
      </p:pic>
      <p:sp>
        <p:nvSpPr>
          <p:cNvPr id="43" name="Shape 14">
            <a:extLst>
              <a:ext uri="{FF2B5EF4-FFF2-40B4-BE49-F238E27FC236}">
                <a16:creationId xmlns:a16="http://schemas.microsoft.com/office/drawing/2014/main" id="{2370A653-EAD2-E830-AD4C-07FE9B8533F8}"/>
              </a:ext>
            </a:extLst>
          </p:cNvPr>
          <p:cNvSpPr/>
          <p:nvPr/>
        </p:nvSpPr>
        <p:spPr>
          <a:xfrm>
            <a:off x="6289561" y="4546371"/>
            <a:ext cx="512465" cy="19050"/>
          </a:xfrm>
          <a:prstGeom prst="roundRect">
            <a:avLst>
              <a:gd name="adj" fmla="val 134514"/>
            </a:avLst>
          </a:prstGeom>
          <a:solidFill>
            <a:srgbClr val="CFD2D8"/>
          </a:solidFill>
          <a:ln/>
        </p:spPr>
        <p:txBody>
          <a:bodyPr/>
          <a:lstStyle/>
          <a:p>
            <a:endParaRPr lang="en-US"/>
          </a:p>
        </p:txBody>
      </p:sp>
      <p:sp>
        <p:nvSpPr>
          <p:cNvPr id="44" name="Shape 15">
            <a:extLst>
              <a:ext uri="{FF2B5EF4-FFF2-40B4-BE49-F238E27FC236}">
                <a16:creationId xmlns:a16="http://schemas.microsoft.com/office/drawing/2014/main" id="{85152C6F-0A02-4FF1-71B8-EDA84FEE3B17}"/>
              </a:ext>
            </a:extLst>
          </p:cNvPr>
          <p:cNvSpPr/>
          <p:nvPr/>
        </p:nvSpPr>
        <p:spPr>
          <a:xfrm>
            <a:off x="5938490" y="4335889"/>
            <a:ext cx="384373" cy="384373"/>
          </a:xfrm>
          <a:prstGeom prst="roundRect">
            <a:avLst>
              <a:gd name="adj" fmla="val 6667"/>
            </a:avLst>
          </a:prstGeom>
          <a:solidFill>
            <a:srgbClr val="E9ECF2"/>
          </a:solidFill>
          <a:ln/>
        </p:spPr>
        <p:txBody>
          <a:bodyPr/>
          <a:lstStyle/>
          <a:p>
            <a:endParaRPr lang="en-US"/>
          </a:p>
        </p:txBody>
      </p:sp>
      <p:pic>
        <p:nvPicPr>
          <p:cNvPr id="45" name="Image 3" descr="preencoded.png">
            <a:extLst>
              <a:ext uri="{FF2B5EF4-FFF2-40B4-BE49-F238E27FC236}">
                <a16:creationId xmlns:a16="http://schemas.microsoft.com/office/drawing/2014/main" id="{837E7DED-BAEA-B469-F25D-D9854F41AABA}"/>
              </a:ext>
            </a:extLst>
          </p:cNvPr>
          <p:cNvPicPr>
            <a:picLocks noChangeAspect="1"/>
          </p:cNvPicPr>
          <p:nvPr/>
        </p:nvPicPr>
        <p:blipFill>
          <a:blip r:embed="rId6"/>
          <a:stretch>
            <a:fillRect/>
          </a:stretch>
        </p:blipFill>
        <p:spPr>
          <a:xfrm>
            <a:off x="5988333" y="4395757"/>
            <a:ext cx="256183" cy="320278"/>
          </a:xfrm>
          <a:prstGeom prst="rect">
            <a:avLst/>
          </a:prstGeom>
        </p:spPr>
      </p:pic>
      <p:sp>
        <p:nvSpPr>
          <p:cNvPr id="46" name="Text 4">
            <a:extLst>
              <a:ext uri="{FF2B5EF4-FFF2-40B4-BE49-F238E27FC236}">
                <a16:creationId xmlns:a16="http://schemas.microsoft.com/office/drawing/2014/main" id="{60282487-1ECF-632F-2244-D22E71866452}"/>
              </a:ext>
            </a:extLst>
          </p:cNvPr>
          <p:cNvSpPr/>
          <p:nvPr/>
        </p:nvSpPr>
        <p:spPr>
          <a:xfrm>
            <a:off x="1512103" y="3570270"/>
            <a:ext cx="3838674" cy="266898"/>
          </a:xfrm>
          <a:prstGeom prst="rect">
            <a:avLst/>
          </a:prstGeom>
          <a:noFill/>
          <a:ln/>
        </p:spPr>
        <p:txBody>
          <a:bodyPr wrap="none" lIns="0" tIns="0" rIns="0" bIns="0" rtlCol="0" anchor="t"/>
          <a:lstStyle/>
          <a:p>
            <a:pPr algn="r">
              <a:lnSpc>
                <a:spcPts val="2083"/>
              </a:lnSpc>
            </a:pPr>
            <a:r>
              <a:rPr lang="en-US" b="1">
                <a:solidFill>
                  <a:srgbClr val="15213F"/>
                </a:solidFill>
                <a:latin typeface="Times New Roman" panose="02020603050405020304" pitchFamily="18" charset="0"/>
                <a:ea typeface="Roboto Slab" pitchFamily="34" charset="-122"/>
                <a:cs typeface="Times New Roman" panose="02020603050405020304" pitchFamily="18" charset="0"/>
              </a:rPr>
              <a:t>ATA 27 ELAC FAULT</a:t>
            </a:r>
          </a:p>
        </p:txBody>
      </p:sp>
      <p:sp>
        <p:nvSpPr>
          <p:cNvPr id="47" name="Text 5">
            <a:extLst>
              <a:ext uri="{FF2B5EF4-FFF2-40B4-BE49-F238E27FC236}">
                <a16:creationId xmlns:a16="http://schemas.microsoft.com/office/drawing/2014/main" id="{5B74E35A-9589-7C37-D234-3C9FDA9AE788}"/>
              </a:ext>
            </a:extLst>
          </p:cNvPr>
          <p:cNvSpPr/>
          <p:nvPr/>
        </p:nvSpPr>
        <p:spPr>
          <a:xfrm>
            <a:off x="706745" y="3939662"/>
            <a:ext cx="4644033" cy="1093391"/>
          </a:xfrm>
          <a:prstGeom prst="rect">
            <a:avLst/>
          </a:prstGeom>
          <a:noFill/>
          <a:ln/>
        </p:spPr>
        <p:txBody>
          <a:bodyPr wrap="square" lIns="0" tIns="0" rIns="0" bIns="0" rtlCol="0" anchor="t"/>
          <a:lstStyle/>
          <a:p>
            <a:pPr algn="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A339 GTB ngày 14/02. </a:t>
            </a:r>
          </a:p>
          <a:p>
            <a:pPr algn="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Khối cao giờ (độ tin cậy của relay thấp)</a:t>
            </a:r>
          </a:p>
          <a:p>
            <a:pPr algn="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Hiện ban KT đang triển khai chương trình thay thế relay cho các khối ELAC cao giờ khi gửi đi shop</a:t>
            </a:r>
          </a:p>
        </p:txBody>
      </p:sp>
      <p:sp>
        <p:nvSpPr>
          <p:cNvPr id="2" name="Shape 10">
            <a:extLst>
              <a:ext uri="{FF2B5EF4-FFF2-40B4-BE49-F238E27FC236}">
                <a16:creationId xmlns:a16="http://schemas.microsoft.com/office/drawing/2014/main" id="{770D3E5C-F0C9-91A3-9C07-67D751684823}"/>
              </a:ext>
            </a:extLst>
          </p:cNvPr>
          <p:cNvSpPr/>
          <p:nvPr/>
        </p:nvSpPr>
        <p:spPr>
          <a:xfrm>
            <a:off x="5432416" y="5473343"/>
            <a:ext cx="512465" cy="19050"/>
          </a:xfrm>
          <a:prstGeom prst="roundRect">
            <a:avLst>
              <a:gd name="adj" fmla="val 134514"/>
            </a:avLst>
          </a:prstGeom>
          <a:solidFill>
            <a:srgbClr val="CFD2D8"/>
          </a:solidFill>
          <a:ln/>
        </p:spPr>
        <p:txBody>
          <a:bodyPr/>
          <a:lstStyle/>
          <a:p>
            <a:endParaRPr lang="en-US"/>
          </a:p>
        </p:txBody>
      </p:sp>
      <p:sp>
        <p:nvSpPr>
          <p:cNvPr id="5" name="Shape 11">
            <a:extLst>
              <a:ext uri="{FF2B5EF4-FFF2-40B4-BE49-F238E27FC236}">
                <a16:creationId xmlns:a16="http://schemas.microsoft.com/office/drawing/2014/main" id="{CCACD836-8339-BB13-FC88-B413EFB793A4}"/>
              </a:ext>
            </a:extLst>
          </p:cNvPr>
          <p:cNvSpPr/>
          <p:nvPr/>
        </p:nvSpPr>
        <p:spPr>
          <a:xfrm>
            <a:off x="5923279" y="5286376"/>
            <a:ext cx="384373" cy="384373"/>
          </a:xfrm>
          <a:prstGeom prst="roundRect">
            <a:avLst>
              <a:gd name="adj" fmla="val 4214"/>
            </a:avLst>
          </a:prstGeom>
          <a:solidFill>
            <a:srgbClr val="E9ECF2"/>
          </a:solidFill>
          <a:ln/>
        </p:spPr>
        <p:txBody>
          <a:bodyPr/>
          <a:lstStyle/>
          <a:p>
            <a:endParaRPr lang="en-US"/>
          </a:p>
        </p:txBody>
      </p:sp>
      <p:pic>
        <p:nvPicPr>
          <p:cNvPr id="6" name="Image 2" descr="preencoded.png">
            <a:extLst>
              <a:ext uri="{FF2B5EF4-FFF2-40B4-BE49-F238E27FC236}">
                <a16:creationId xmlns:a16="http://schemas.microsoft.com/office/drawing/2014/main" id="{1E555A1D-CAAF-7CE4-EF79-C972EE82B698}"/>
              </a:ext>
            </a:extLst>
          </p:cNvPr>
          <p:cNvPicPr>
            <a:picLocks noChangeAspect="1"/>
          </p:cNvPicPr>
          <p:nvPr/>
        </p:nvPicPr>
        <p:blipFill>
          <a:blip r:embed="rId5"/>
          <a:stretch>
            <a:fillRect/>
          </a:stretch>
        </p:blipFill>
        <p:spPr>
          <a:xfrm>
            <a:off x="5989927" y="5322729"/>
            <a:ext cx="256183" cy="320278"/>
          </a:xfrm>
          <a:prstGeom prst="rect">
            <a:avLst/>
          </a:prstGeom>
        </p:spPr>
      </p:pic>
      <p:sp>
        <p:nvSpPr>
          <p:cNvPr id="7" name="Text 4">
            <a:extLst>
              <a:ext uri="{FF2B5EF4-FFF2-40B4-BE49-F238E27FC236}">
                <a16:creationId xmlns:a16="http://schemas.microsoft.com/office/drawing/2014/main" id="{67CFA3A7-D2E4-9635-8B6B-A1B3B0F480B9}"/>
              </a:ext>
            </a:extLst>
          </p:cNvPr>
          <p:cNvSpPr/>
          <p:nvPr/>
        </p:nvSpPr>
        <p:spPr>
          <a:xfrm>
            <a:off x="1548696" y="5339894"/>
            <a:ext cx="3838674" cy="266898"/>
          </a:xfrm>
          <a:prstGeom prst="rect">
            <a:avLst/>
          </a:prstGeom>
          <a:noFill/>
          <a:ln/>
        </p:spPr>
        <p:txBody>
          <a:bodyPr wrap="none" lIns="0" tIns="0" rIns="0" bIns="0" rtlCol="0" anchor="t"/>
          <a:lstStyle/>
          <a:p>
            <a:pPr algn="r">
              <a:lnSpc>
                <a:spcPts val="2083"/>
              </a:lnSpc>
            </a:pPr>
            <a:r>
              <a:rPr lang="en-US" b="1">
                <a:solidFill>
                  <a:srgbClr val="15213F"/>
                </a:solidFill>
                <a:latin typeface="Times New Roman" panose="02020603050405020304" pitchFamily="18" charset="0"/>
                <a:ea typeface="Roboto Slab" pitchFamily="34" charset="-122"/>
                <a:cs typeface="Times New Roman" panose="02020603050405020304" pitchFamily="18" charset="0"/>
              </a:rPr>
              <a:t>ATA 29 BLUE PUMP</a:t>
            </a:r>
          </a:p>
        </p:txBody>
      </p:sp>
      <p:sp>
        <p:nvSpPr>
          <p:cNvPr id="8" name="Text 5">
            <a:extLst>
              <a:ext uri="{FF2B5EF4-FFF2-40B4-BE49-F238E27FC236}">
                <a16:creationId xmlns:a16="http://schemas.microsoft.com/office/drawing/2014/main" id="{7F1ECAA8-7917-0191-3D63-3537E943EA24}"/>
              </a:ext>
            </a:extLst>
          </p:cNvPr>
          <p:cNvSpPr/>
          <p:nvPr/>
        </p:nvSpPr>
        <p:spPr>
          <a:xfrm>
            <a:off x="743338" y="5709286"/>
            <a:ext cx="4644033" cy="1093391"/>
          </a:xfrm>
          <a:prstGeom prst="rect">
            <a:avLst/>
          </a:prstGeom>
          <a:noFill/>
          <a:ln/>
        </p:spPr>
        <p:txBody>
          <a:bodyPr wrap="square" lIns="0" tIns="0" rIns="0" bIns="0" rtlCol="0" anchor="t"/>
          <a:lstStyle/>
          <a:p>
            <a:pPr algn="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A332 GTB ngày 22/02 do BLUE PUMP LOW PRESS.</a:t>
            </a:r>
          </a:p>
          <a:p>
            <a:pPr algn="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Bơm EMP trên tàu A332 là bơm của Eaton. Từ 2020 đến nay có 04 trường hợp tháo ngoài KH.</a:t>
            </a:r>
            <a:r>
              <a:rPr lang="en-US" sz="1400">
                <a:solidFill>
                  <a:srgbClr val="15213F"/>
                </a:solidFill>
                <a:latin typeface="Times New Roman" panose="02020603050405020304" pitchFamily="18" charset="0"/>
                <a:ea typeface="Roboto" pitchFamily="34" charset="-122"/>
                <a:cs typeface="Times New Roman" panose="02020603050405020304" pitchFamily="18" charset="0"/>
              </a:rPr>
              <a:t> Hiện không có issue liên quan</a:t>
            </a:r>
            <a:endParaRPr lang="vi-VN" sz="1400">
              <a:solidFill>
                <a:srgbClr val="15213F"/>
              </a:solidFill>
              <a:latin typeface="Times New Roman" panose="02020603050405020304" pitchFamily="18" charset="0"/>
              <a:ea typeface="Roboto" pitchFamily="34" charset="-122"/>
              <a:cs typeface="Times New Roman" panose="02020603050405020304" pitchFamily="18" charset="0"/>
            </a:endParaRPr>
          </a:p>
        </p:txBody>
      </p:sp>
    </p:spTree>
    <p:extLst>
      <p:ext uri="{BB962C8B-B14F-4D97-AF65-F5344CB8AC3E}">
        <p14:creationId xmlns:p14="http://schemas.microsoft.com/office/powerpoint/2010/main" val="2019517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3" name="Title 1">
            <a:extLst>
              <a:ext uri="{FF2B5EF4-FFF2-40B4-BE49-F238E27FC236}">
                <a16:creationId xmlns:a16="http://schemas.microsoft.com/office/drawing/2014/main" id="{E3337893-D05B-3DAC-097B-00B5036B5415}"/>
              </a:ext>
            </a:extLst>
          </p:cNvPr>
          <p:cNvSpPr txBox="1">
            <a:spLocks/>
          </p:cNvSpPr>
          <p:nvPr/>
        </p:nvSpPr>
        <p:spPr>
          <a:xfrm>
            <a:off x="871239" y="203760"/>
            <a:ext cx="11060239"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a:defRPr/>
            </a:pPr>
            <a:r>
              <a:rPr lang="en-US" sz="2800" b="1">
                <a:solidFill>
                  <a:srgbClr val="D2A43B"/>
                </a:solidFill>
                <a:ea typeface="Tahoma" pitchFamily="34" charset="0"/>
                <a:cs typeface="Times New Roman" panose="02020603050405020304" pitchFamily="18" charset="0"/>
              </a:rPr>
              <a:t>A321 (10 GTB + 01 ATB)</a:t>
            </a:r>
            <a:endParaRPr lang="en-US" sz="2800" b="1" dirty="0">
              <a:solidFill>
                <a:srgbClr val="D2A43B"/>
              </a:solidFill>
              <a:ea typeface="Tahoma" pitchFamily="34" charset="0"/>
              <a:cs typeface="Times New Roman" panose="02020603050405020304" pitchFamily="18" charset="0"/>
            </a:endParaRPr>
          </a:p>
        </p:txBody>
      </p:sp>
      <p:sp>
        <p:nvSpPr>
          <p:cNvPr id="12" name="Text 4">
            <a:extLst>
              <a:ext uri="{FF2B5EF4-FFF2-40B4-BE49-F238E27FC236}">
                <a16:creationId xmlns:a16="http://schemas.microsoft.com/office/drawing/2014/main" id="{68D4981B-30E1-8454-5D0A-A944BAC9EB82}"/>
              </a:ext>
            </a:extLst>
          </p:cNvPr>
          <p:cNvSpPr/>
          <p:nvPr/>
        </p:nvSpPr>
        <p:spPr>
          <a:xfrm>
            <a:off x="609600" y="1073843"/>
            <a:ext cx="4644377" cy="254230"/>
          </a:xfrm>
          <a:prstGeom prst="rect">
            <a:avLst/>
          </a:prstGeom>
          <a:noFill/>
          <a:ln/>
        </p:spPr>
        <p:txBody>
          <a:bodyPr wrap="none" lIns="0" tIns="0" rIns="0" bIns="0" rtlCol="0" anchor="t"/>
          <a:lstStyle/>
          <a:p>
            <a:pPr algn="r">
              <a:lnSpc>
                <a:spcPts val="2083"/>
              </a:lnSpc>
            </a:pPr>
            <a:r>
              <a:rPr lang="fr-FR" b="1">
                <a:solidFill>
                  <a:srgbClr val="15213F"/>
                </a:solidFill>
                <a:latin typeface="Times New Roman" panose="02020603050405020304" pitchFamily="18" charset="0"/>
                <a:ea typeface="Roboto Slab" pitchFamily="34" charset="-122"/>
                <a:cs typeface="Times New Roman" panose="02020603050405020304" pitchFamily="18" charset="0"/>
              </a:rPr>
              <a:t>ATA 32 BRAKE TEMP SENSOR</a:t>
            </a:r>
          </a:p>
        </p:txBody>
      </p:sp>
      <p:sp>
        <p:nvSpPr>
          <p:cNvPr id="13" name="Text 5">
            <a:extLst>
              <a:ext uri="{FF2B5EF4-FFF2-40B4-BE49-F238E27FC236}">
                <a16:creationId xmlns:a16="http://schemas.microsoft.com/office/drawing/2014/main" id="{03E46991-CE7B-B611-684F-9436D5F17EB0}"/>
              </a:ext>
            </a:extLst>
          </p:cNvPr>
          <p:cNvSpPr/>
          <p:nvPr/>
        </p:nvSpPr>
        <p:spPr>
          <a:xfrm>
            <a:off x="381001" y="1443236"/>
            <a:ext cx="4872978" cy="1387563"/>
          </a:xfrm>
          <a:prstGeom prst="rect">
            <a:avLst/>
          </a:prstGeom>
          <a:noFill/>
          <a:ln/>
        </p:spPr>
        <p:txBody>
          <a:bodyPr wrap="square" lIns="0" tIns="0" rIns="0" bIns="0" rtlCol="0" anchor="t"/>
          <a:lstStyle/>
          <a:p>
            <a:pPr algn="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 A339 GTB ngày 16/01 do BRAKE #2 HOT </a:t>
            </a:r>
          </a:p>
          <a:p>
            <a:pPr algn="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Nguyên nhân là do brake temp sensor bị hỏng, đây là worldwide issue và hiện AIB vẫn đang nghiên cứu giải pháp, dự kiến cuối 2026 mới ban hành. Biện pháp bọc đầu cắm để hạn chế bụi bẩn xâm nhập và lỏng đầu cắm do rung lắc trong quá trình hoạt động</a:t>
            </a:r>
          </a:p>
          <a:p>
            <a:pPr algn="r">
              <a:lnSpc>
                <a:spcPts val="2125"/>
              </a:lnSpc>
            </a:pPr>
            <a:endParaRPr lang="en-US" sz="1400">
              <a:solidFill>
                <a:srgbClr val="15213F"/>
              </a:solidFill>
              <a:latin typeface="Times New Roman" panose="02020603050405020304" pitchFamily="18" charset="0"/>
              <a:ea typeface="Roboto" pitchFamily="34" charset="-122"/>
              <a:cs typeface="Times New Roman" panose="02020603050405020304" pitchFamily="18" charset="0"/>
            </a:endParaRPr>
          </a:p>
          <a:p>
            <a:pPr algn="r">
              <a:lnSpc>
                <a:spcPts val="2125"/>
              </a:lnSpc>
            </a:pPr>
            <a:endParaRPr lang="en-US" sz="1400" dirty="0">
              <a:latin typeface="Times New Roman" panose="02020603050405020304" pitchFamily="18" charset="0"/>
              <a:cs typeface="Times New Roman" panose="02020603050405020304" pitchFamily="18" charset="0"/>
            </a:endParaRPr>
          </a:p>
        </p:txBody>
      </p:sp>
      <p:sp>
        <p:nvSpPr>
          <p:cNvPr id="17" name="Text 8">
            <a:extLst>
              <a:ext uri="{FF2B5EF4-FFF2-40B4-BE49-F238E27FC236}">
                <a16:creationId xmlns:a16="http://schemas.microsoft.com/office/drawing/2014/main" id="{0C4209F5-8EA0-1408-3A72-4A32E254F67F}"/>
              </a:ext>
            </a:extLst>
          </p:cNvPr>
          <p:cNvSpPr/>
          <p:nvPr/>
        </p:nvSpPr>
        <p:spPr>
          <a:xfrm>
            <a:off x="6975798" y="1925536"/>
            <a:ext cx="2135386" cy="266898"/>
          </a:xfrm>
          <a:prstGeom prst="rect">
            <a:avLst/>
          </a:prstGeom>
          <a:noFill/>
          <a:ln/>
        </p:spPr>
        <p:txBody>
          <a:bodyPr wrap="none" lIns="0" tIns="0" rIns="0" bIns="0" rtlCol="0" anchor="t"/>
          <a:lstStyle/>
          <a:p>
            <a:pPr>
              <a:lnSpc>
                <a:spcPts val="2083"/>
              </a:lnSpc>
            </a:pPr>
            <a:r>
              <a:rPr lang="en-US" b="1">
                <a:solidFill>
                  <a:srgbClr val="15213F"/>
                </a:solidFill>
                <a:latin typeface="Times New Roman" panose="02020603050405020304" pitchFamily="18" charset="0"/>
                <a:ea typeface="Roboto Slab" pitchFamily="34" charset="-122"/>
                <a:cs typeface="Times New Roman" panose="02020603050405020304" pitchFamily="18" charset="0"/>
              </a:rPr>
              <a:t>ATA 36 WING LEAK</a:t>
            </a:r>
          </a:p>
        </p:txBody>
      </p:sp>
      <p:sp>
        <p:nvSpPr>
          <p:cNvPr id="18" name="Text 9">
            <a:extLst>
              <a:ext uri="{FF2B5EF4-FFF2-40B4-BE49-F238E27FC236}">
                <a16:creationId xmlns:a16="http://schemas.microsoft.com/office/drawing/2014/main" id="{424A7524-3CD0-064F-9A20-F47A2CC319A7}"/>
              </a:ext>
            </a:extLst>
          </p:cNvPr>
          <p:cNvSpPr/>
          <p:nvPr/>
        </p:nvSpPr>
        <p:spPr>
          <a:xfrm>
            <a:off x="6975798" y="2256481"/>
            <a:ext cx="5090187" cy="584231"/>
          </a:xfrm>
          <a:prstGeom prst="rect">
            <a:avLst/>
          </a:prstGeom>
          <a:noFill/>
          <a:ln/>
        </p:spPr>
        <p:txBody>
          <a:bodyPr wrap="square" lIns="0" tIns="0" rIns="0" bIns="0" rtlCol="0" anchor="t"/>
          <a:lstStyle/>
          <a:p>
            <a:pP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A335 GTB ngày 24/02/2025, phát hiện đứt cable</a:t>
            </a:r>
          </a:p>
          <a:p>
            <a:pP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Nguyên nhân là do độ bền của dây cáp bị xuống cấp sau một thời gian dài khai thác</a:t>
            </a:r>
            <a:r>
              <a:rPr lang="en-US" sz="1400">
                <a:solidFill>
                  <a:srgbClr val="15213F"/>
                </a:solidFill>
                <a:latin typeface="Times New Roman" panose="02020603050405020304" pitchFamily="18" charset="0"/>
                <a:ea typeface="Roboto" pitchFamily="34" charset="-122"/>
                <a:cs typeface="Times New Roman" panose="02020603050405020304" pitchFamily="18" charset="0"/>
              </a:rPr>
              <a:t>. Khi t</a:t>
            </a:r>
            <a:r>
              <a:rPr lang="vi-VN" sz="1400">
                <a:solidFill>
                  <a:srgbClr val="15213F"/>
                </a:solidFill>
                <a:latin typeface="Times New Roman" panose="02020603050405020304" pitchFamily="18" charset="0"/>
                <a:ea typeface="Roboto" pitchFamily="34" charset="-122"/>
                <a:cs typeface="Times New Roman" panose="02020603050405020304" pitchFamily="18" charset="0"/>
              </a:rPr>
              <a:t>hực hiện kiểm tra check leak sẽ kiểm tra lại cả chất lượng dây cáp ở các vị trí đã có lịch sử bị đứt và torque lại, nếu chất lượng không đảm bảo sẽ cho thay mới</a:t>
            </a:r>
          </a:p>
        </p:txBody>
      </p:sp>
      <p:sp>
        <p:nvSpPr>
          <p:cNvPr id="27" name="Text 16">
            <a:extLst>
              <a:ext uri="{FF2B5EF4-FFF2-40B4-BE49-F238E27FC236}">
                <a16:creationId xmlns:a16="http://schemas.microsoft.com/office/drawing/2014/main" id="{BFC4BAF0-DF56-0850-35D1-C5B05E3616BC}"/>
              </a:ext>
            </a:extLst>
          </p:cNvPr>
          <p:cNvSpPr/>
          <p:nvPr/>
        </p:nvSpPr>
        <p:spPr>
          <a:xfrm>
            <a:off x="7023320" y="3979981"/>
            <a:ext cx="2940924" cy="193025"/>
          </a:xfrm>
          <a:prstGeom prst="rect">
            <a:avLst/>
          </a:prstGeom>
          <a:noFill/>
          <a:ln/>
        </p:spPr>
        <p:txBody>
          <a:bodyPr wrap="none" lIns="0" tIns="0" rIns="0" bIns="0" rtlCol="0" anchor="t"/>
          <a:lstStyle/>
          <a:p>
            <a:pPr>
              <a:lnSpc>
                <a:spcPts val="2083"/>
              </a:lnSpc>
            </a:pPr>
            <a:r>
              <a:rPr lang="en-SG" b="1">
                <a:solidFill>
                  <a:srgbClr val="15213F"/>
                </a:solidFill>
                <a:latin typeface="Times New Roman" panose="02020603050405020304" pitchFamily="18" charset="0"/>
                <a:ea typeface="Roboto Slab" pitchFamily="34" charset="-122"/>
                <a:cs typeface="Times New Roman" panose="02020603050405020304" pitchFamily="18" charset="0"/>
              </a:rPr>
              <a:t>ATA 72-80 ENGINE</a:t>
            </a:r>
          </a:p>
        </p:txBody>
      </p:sp>
      <p:sp>
        <p:nvSpPr>
          <p:cNvPr id="28" name="Text 17">
            <a:extLst>
              <a:ext uri="{FF2B5EF4-FFF2-40B4-BE49-F238E27FC236}">
                <a16:creationId xmlns:a16="http://schemas.microsoft.com/office/drawing/2014/main" id="{6DBB0EFA-AED9-8DA1-9E61-2F1D9ED4919D}"/>
              </a:ext>
            </a:extLst>
          </p:cNvPr>
          <p:cNvSpPr/>
          <p:nvPr/>
        </p:nvSpPr>
        <p:spPr>
          <a:xfrm>
            <a:off x="7041388" y="4291964"/>
            <a:ext cx="4237267" cy="812566"/>
          </a:xfrm>
          <a:prstGeom prst="rect">
            <a:avLst/>
          </a:prstGeom>
          <a:noFill/>
          <a:ln/>
        </p:spPr>
        <p:txBody>
          <a:bodyPr wrap="square" lIns="0" tIns="0" rIns="0" bIns="0" rtlCol="0" anchor="t"/>
          <a:lstStyle/>
          <a:p>
            <a:pP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 A608 GTB ENG#2 START FAULT ngày 24/02, hỏng hóc có thể do Starter không mở, sau đó tổ bay nổ máy lại OK</a:t>
            </a:r>
          </a:p>
          <a:p>
            <a:pP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 A390 GTB ENG 2 REVERSER FAULT + LOSS ENG 2 OIL QTY ON ENG PAGE ngày 24/02.</a:t>
            </a:r>
          </a:p>
          <a:p>
            <a:pP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Hiện trượng TR Fault đã được Airbus nhận diện, liên quan Terminal Block (TM817). Nguyên nhân phổ biến là do lỏng hoặc damage dây Linear Variable Differential Transducer (LVDT)</a:t>
            </a:r>
          </a:p>
        </p:txBody>
      </p:sp>
      <p:sp>
        <p:nvSpPr>
          <p:cNvPr id="33" name="Shape 1">
            <a:extLst>
              <a:ext uri="{FF2B5EF4-FFF2-40B4-BE49-F238E27FC236}">
                <a16:creationId xmlns:a16="http://schemas.microsoft.com/office/drawing/2014/main" id="{13CA6F8F-2795-0EB8-822B-2059F7192A51}"/>
              </a:ext>
            </a:extLst>
          </p:cNvPr>
          <p:cNvSpPr/>
          <p:nvPr/>
        </p:nvSpPr>
        <p:spPr>
          <a:xfrm>
            <a:off x="6086473" y="796228"/>
            <a:ext cx="45719" cy="3928172"/>
          </a:xfrm>
          <a:prstGeom prst="roundRect">
            <a:avLst>
              <a:gd name="adj" fmla="val 134514"/>
            </a:avLst>
          </a:prstGeom>
          <a:solidFill>
            <a:srgbClr val="CFD2D8"/>
          </a:solidFill>
          <a:ln/>
        </p:spPr>
        <p:txBody>
          <a:bodyPr/>
          <a:lstStyle/>
          <a:p>
            <a:endParaRPr lang="en-US"/>
          </a:p>
        </p:txBody>
      </p:sp>
      <p:sp>
        <p:nvSpPr>
          <p:cNvPr id="34" name="Shape 2">
            <a:extLst>
              <a:ext uri="{FF2B5EF4-FFF2-40B4-BE49-F238E27FC236}">
                <a16:creationId xmlns:a16="http://schemas.microsoft.com/office/drawing/2014/main" id="{92017DDE-13F0-1325-7682-4375B9C0A0D5}"/>
              </a:ext>
            </a:extLst>
          </p:cNvPr>
          <p:cNvSpPr/>
          <p:nvPr/>
        </p:nvSpPr>
        <p:spPr>
          <a:xfrm>
            <a:off x="5410397" y="1171076"/>
            <a:ext cx="512465" cy="19050"/>
          </a:xfrm>
          <a:prstGeom prst="roundRect">
            <a:avLst>
              <a:gd name="adj" fmla="val 134514"/>
            </a:avLst>
          </a:prstGeom>
          <a:solidFill>
            <a:srgbClr val="CFD2D8"/>
          </a:solidFill>
          <a:ln/>
        </p:spPr>
        <p:txBody>
          <a:bodyPr/>
          <a:lstStyle/>
          <a:p>
            <a:endParaRPr lang="en-US"/>
          </a:p>
        </p:txBody>
      </p:sp>
      <p:sp>
        <p:nvSpPr>
          <p:cNvPr id="35" name="Shape 3">
            <a:extLst>
              <a:ext uri="{FF2B5EF4-FFF2-40B4-BE49-F238E27FC236}">
                <a16:creationId xmlns:a16="http://schemas.microsoft.com/office/drawing/2014/main" id="{F5ACD91B-D397-15CF-B6D5-784D92EFD5CD}"/>
              </a:ext>
            </a:extLst>
          </p:cNvPr>
          <p:cNvSpPr/>
          <p:nvPr/>
        </p:nvSpPr>
        <p:spPr>
          <a:xfrm>
            <a:off x="5903813" y="988415"/>
            <a:ext cx="384373" cy="384373"/>
          </a:xfrm>
          <a:prstGeom prst="roundRect">
            <a:avLst>
              <a:gd name="adj" fmla="val 6667"/>
            </a:avLst>
          </a:prstGeom>
          <a:solidFill>
            <a:srgbClr val="E9ECF2"/>
          </a:solidFill>
          <a:ln/>
        </p:spPr>
        <p:txBody>
          <a:bodyPr/>
          <a:lstStyle/>
          <a:p>
            <a:endParaRPr lang="en-US"/>
          </a:p>
        </p:txBody>
      </p:sp>
      <p:pic>
        <p:nvPicPr>
          <p:cNvPr id="36" name="Image 0" descr="preencoded.png">
            <a:extLst>
              <a:ext uri="{FF2B5EF4-FFF2-40B4-BE49-F238E27FC236}">
                <a16:creationId xmlns:a16="http://schemas.microsoft.com/office/drawing/2014/main" id="{138D8C90-1ECE-FF34-D181-422EB60EFB58}"/>
              </a:ext>
            </a:extLst>
          </p:cNvPr>
          <p:cNvPicPr>
            <a:picLocks noChangeAspect="1"/>
          </p:cNvPicPr>
          <p:nvPr/>
        </p:nvPicPr>
        <p:blipFill>
          <a:blip r:embed="rId3"/>
          <a:stretch>
            <a:fillRect/>
          </a:stretch>
        </p:blipFill>
        <p:spPr>
          <a:xfrm>
            <a:off x="5967908" y="1020463"/>
            <a:ext cx="256183" cy="320278"/>
          </a:xfrm>
          <a:prstGeom prst="rect">
            <a:avLst/>
          </a:prstGeom>
        </p:spPr>
      </p:pic>
      <p:sp>
        <p:nvSpPr>
          <p:cNvPr id="37" name="Shape 6">
            <a:extLst>
              <a:ext uri="{FF2B5EF4-FFF2-40B4-BE49-F238E27FC236}">
                <a16:creationId xmlns:a16="http://schemas.microsoft.com/office/drawing/2014/main" id="{9817122F-9D95-141D-E9AD-BC5428B90B80}"/>
              </a:ext>
            </a:extLst>
          </p:cNvPr>
          <p:cNvSpPr/>
          <p:nvPr/>
        </p:nvSpPr>
        <p:spPr>
          <a:xfrm>
            <a:off x="6297529" y="2080702"/>
            <a:ext cx="512465" cy="19050"/>
          </a:xfrm>
          <a:prstGeom prst="roundRect">
            <a:avLst>
              <a:gd name="adj" fmla="val 134514"/>
            </a:avLst>
          </a:prstGeom>
          <a:solidFill>
            <a:srgbClr val="CFD2D8"/>
          </a:solidFill>
          <a:ln/>
        </p:spPr>
        <p:txBody>
          <a:bodyPr/>
          <a:lstStyle/>
          <a:p>
            <a:endParaRPr lang="en-US"/>
          </a:p>
        </p:txBody>
      </p:sp>
      <p:sp>
        <p:nvSpPr>
          <p:cNvPr id="38" name="Shape 7">
            <a:extLst>
              <a:ext uri="{FF2B5EF4-FFF2-40B4-BE49-F238E27FC236}">
                <a16:creationId xmlns:a16="http://schemas.microsoft.com/office/drawing/2014/main" id="{CB42FD6A-F5DE-ED15-9C1E-B1ABE06FA2CA}"/>
              </a:ext>
            </a:extLst>
          </p:cNvPr>
          <p:cNvSpPr/>
          <p:nvPr/>
        </p:nvSpPr>
        <p:spPr>
          <a:xfrm>
            <a:off x="5911781" y="1878755"/>
            <a:ext cx="384373" cy="384373"/>
          </a:xfrm>
          <a:prstGeom prst="roundRect">
            <a:avLst>
              <a:gd name="adj" fmla="val 11572"/>
            </a:avLst>
          </a:prstGeom>
          <a:solidFill>
            <a:srgbClr val="E9ECF2"/>
          </a:solidFill>
          <a:ln/>
        </p:spPr>
        <p:txBody>
          <a:bodyPr/>
          <a:lstStyle/>
          <a:p>
            <a:endParaRPr lang="en-US"/>
          </a:p>
        </p:txBody>
      </p:sp>
      <p:pic>
        <p:nvPicPr>
          <p:cNvPr id="39" name="Image 1" descr="preencoded.png">
            <a:extLst>
              <a:ext uri="{FF2B5EF4-FFF2-40B4-BE49-F238E27FC236}">
                <a16:creationId xmlns:a16="http://schemas.microsoft.com/office/drawing/2014/main" id="{454E5217-A0F8-8900-BB1F-BBDA0495A99D}"/>
              </a:ext>
            </a:extLst>
          </p:cNvPr>
          <p:cNvPicPr>
            <a:picLocks noChangeAspect="1"/>
          </p:cNvPicPr>
          <p:nvPr/>
        </p:nvPicPr>
        <p:blipFill>
          <a:blip r:embed="rId4"/>
          <a:stretch>
            <a:fillRect/>
          </a:stretch>
        </p:blipFill>
        <p:spPr>
          <a:xfrm>
            <a:off x="5996301" y="1930089"/>
            <a:ext cx="256183" cy="320278"/>
          </a:xfrm>
          <a:prstGeom prst="rect">
            <a:avLst/>
          </a:prstGeom>
        </p:spPr>
      </p:pic>
      <p:sp>
        <p:nvSpPr>
          <p:cNvPr id="40" name="Shape 10">
            <a:extLst>
              <a:ext uri="{FF2B5EF4-FFF2-40B4-BE49-F238E27FC236}">
                <a16:creationId xmlns:a16="http://schemas.microsoft.com/office/drawing/2014/main" id="{31A6D51D-7DE1-54A7-8D8A-B5C9CC91F969}"/>
              </a:ext>
            </a:extLst>
          </p:cNvPr>
          <p:cNvSpPr/>
          <p:nvPr/>
        </p:nvSpPr>
        <p:spPr>
          <a:xfrm>
            <a:off x="5382933" y="3304952"/>
            <a:ext cx="512465" cy="19050"/>
          </a:xfrm>
          <a:prstGeom prst="roundRect">
            <a:avLst>
              <a:gd name="adj" fmla="val 134514"/>
            </a:avLst>
          </a:prstGeom>
          <a:solidFill>
            <a:srgbClr val="CFD2D8"/>
          </a:solidFill>
          <a:ln/>
        </p:spPr>
        <p:txBody>
          <a:bodyPr/>
          <a:lstStyle/>
          <a:p>
            <a:endParaRPr lang="en-US"/>
          </a:p>
        </p:txBody>
      </p:sp>
      <p:sp>
        <p:nvSpPr>
          <p:cNvPr id="41" name="Shape 11">
            <a:extLst>
              <a:ext uri="{FF2B5EF4-FFF2-40B4-BE49-F238E27FC236}">
                <a16:creationId xmlns:a16="http://schemas.microsoft.com/office/drawing/2014/main" id="{2DA5D879-A3BF-391D-2F4C-3DB5CAF52AC9}"/>
              </a:ext>
            </a:extLst>
          </p:cNvPr>
          <p:cNvSpPr/>
          <p:nvPr/>
        </p:nvSpPr>
        <p:spPr>
          <a:xfrm>
            <a:off x="5876348" y="3112765"/>
            <a:ext cx="384373" cy="384373"/>
          </a:xfrm>
          <a:prstGeom prst="roundRect">
            <a:avLst>
              <a:gd name="adj" fmla="val 4214"/>
            </a:avLst>
          </a:prstGeom>
          <a:solidFill>
            <a:srgbClr val="E9ECF2"/>
          </a:solidFill>
          <a:ln/>
        </p:spPr>
        <p:txBody>
          <a:bodyPr/>
          <a:lstStyle/>
          <a:p>
            <a:endParaRPr lang="en-US"/>
          </a:p>
        </p:txBody>
      </p:sp>
      <p:pic>
        <p:nvPicPr>
          <p:cNvPr id="42" name="Image 2" descr="preencoded.png">
            <a:extLst>
              <a:ext uri="{FF2B5EF4-FFF2-40B4-BE49-F238E27FC236}">
                <a16:creationId xmlns:a16="http://schemas.microsoft.com/office/drawing/2014/main" id="{5DDC77D3-13D1-99FA-D283-448A37F7C9EE}"/>
              </a:ext>
            </a:extLst>
          </p:cNvPr>
          <p:cNvPicPr>
            <a:picLocks noChangeAspect="1"/>
          </p:cNvPicPr>
          <p:nvPr/>
        </p:nvPicPr>
        <p:blipFill>
          <a:blip r:embed="rId5"/>
          <a:stretch>
            <a:fillRect/>
          </a:stretch>
        </p:blipFill>
        <p:spPr>
          <a:xfrm>
            <a:off x="5940444" y="3154338"/>
            <a:ext cx="256183" cy="320278"/>
          </a:xfrm>
          <a:prstGeom prst="rect">
            <a:avLst/>
          </a:prstGeom>
        </p:spPr>
      </p:pic>
      <p:sp>
        <p:nvSpPr>
          <p:cNvPr id="43" name="Shape 14">
            <a:extLst>
              <a:ext uri="{FF2B5EF4-FFF2-40B4-BE49-F238E27FC236}">
                <a16:creationId xmlns:a16="http://schemas.microsoft.com/office/drawing/2014/main" id="{2370A653-EAD2-E830-AD4C-07FE9B8533F8}"/>
              </a:ext>
            </a:extLst>
          </p:cNvPr>
          <p:cNvSpPr/>
          <p:nvPr/>
        </p:nvSpPr>
        <p:spPr>
          <a:xfrm>
            <a:off x="6271605" y="4153956"/>
            <a:ext cx="512465" cy="19050"/>
          </a:xfrm>
          <a:prstGeom prst="roundRect">
            <a:avLst>
              <a:gd name="adj" fmla="val 134514"/>
            </a:avLst>
          </a:prstGeom>
          <a:solidFill>
            <a:srgbClr val="CFD2D8"/>
          </a:solidFill>
          <a:ln/>
        </p:spPr>
        <p:txBody>
          <a:bodyPr/>
          <a:lstStyle/>
          <a:p>
            <a:endParaRPr lang="en-US"/>
          </a:p>
        </p:txBody>
      </p:sp>
      <p:sp>
        <p:nvSpPr>
          <p:cNvPr id="44" name="Shape 15">
            <a:extLst>
              <a:ext uri="{FF2B5EF4-FFF2-40B4-BE49-F238E27FC236}">
                <a16:creationId xmlns:a16="http://schemas.microsoft.com/office/drawing/2014/main" id="{85152C6F-0A02-4FF1-71B8-EDA84FEE3B17}"/>
              </a:ext>
            </a:extLst>
          </p:cNvPr>
          <p:cNvSpPr/>
          <p:nvPr/>
        </p:nvSpPr>
        <p:spPr>
          <a:xfrm>
            <a:off x="5920396" y="4004556"/>
            <a:ext cx="384373" cy="384373"/>
          </a:xfrm>
          <a:prstGeom prst="roundRect">
            <a:avLst>
              <a:gd name="adj" fmla="val 6667"/>
            </a:avLst>
          </a:prstGeom>
          <a:solidFill>
            <a:srgbClr val="E9ECF2"/>
          </a:solidFill>
          <a:ln/>
        </p:spPr>
        <p:txBody>
          <a:bodyPr/>
          <a:lstStyle/>
          <a:p>
            <a:endParaRPr lang="en-US"/>
          </a:p>
        </p:txBody>
      </p:sp>
      <p:pic>
        <p:nvPicPr>
          <p:cNvPr id="45" name="Image 3" descr="preencoded.png">
            <a:extLst>
              <a:ext uri="{FF2B5EF4-FFF2-40B4-BE49-F238E27FC236}">
                <a16:creationId xmlns:a16="http://schemas.microsoft.com/office/drawing/2014/main" id="{837E7DED-BAEA-B469-F25D-D9854F41AABA}"/>
              </a:ext>
            </a:extLst>
          </p:cNvPr>
          <p:cNvPicPr>
            <a:picLocks noChangeAspect="1"/>
          </p:cNvPicPr>
          <p:nvPr/>
        </p:nvPicPr>
        <p:blipFill>
          <a:blip r:embed="rId6"/>
          <a:stretch>
            <a:fillRect/>
          </a:stretch>
        </p:blipFill>
        <p:spPr>
          <a:xfrm>
            <a:off x="5970377" y="4003342"/>
            <a:ext cx="256183" cy="320278"/>
          </a:xfrm>
          <a:prstGeom prst="rect">
            <a:avLst/>
          </a:prstGeom>
        </p:spPr>
      </p:pic>
      <p:sp>
        <p:nvSpPr>
          <p:cNvPr id="46" name="Text 4">
            <a:extLst>
              <a:ext uri="{FF2B5EF4-FFF2-40B4-BE49-F238E27FC236}">
                <a16:creationId xmlns:a16="http://schemas.microsoft.com/office/drawing/2014/main" id="{60282487-1ECF-632F-2244-D22E71866452}"/>
              </a:ext>
            </a:extLst>
          </p:cNvPr>
          <p:cNvSpPr/>
          <p:nvPr/>
        </p:nvSpPr>
        <p:spPr>
          <a:xfrm>
            <a:off x="1499213" y="3171503"/>
            <a:ext cx="3838674" cy="266898"/>
          </a:xfrm>
          <a:prstGeom prst="rect">
            <a:avLst/>
          </a:prstGeom>
          <a:noFill/>
          <a:ln/>
        </p:spPr>
        <p:txBody>
          <a:bodyPr wrap="none" lIns="0" tIns="0" rIns="0" bIns="0" rtlCol="0" anchor="t"/>
          <a:lstStyle/>
          <a:p>
            <a:pPr algn="r">
              <a:lnSpc>
                <a:spcPts val="2083"/>
              </a:lnSpc>
            </a:pPr>
            <a:r>
              <a:rPr lang="pt-BR" b="1">
                <a:solidFill>
                  <a:srgbClr val="15213F"/>
                </a:solidFill>
                <a:latin typeface="Times New Roman" panose="02020603050405020304" pitchFamily="18" charset="0"/>
                <a:ea typeface="Roboto Slab" pitchFamily="34" charset="-122"/>
                <a:cs typeface="Times New Roman" panose="02020603050405020304" pitchFamily="18" charset="0"/>
              </a:rPr>
              <a:t>ATA 49 APU OIL COOLER</a:t>
            </a:r>
          </a:p>
        </p:txBody>
      </p:sp>
      <p:sp>
        <p:nvSpPr>
          <p:cNvPr id="47" name="Text 5">
            <a:extLst>
              <a:ext uri="{FF2B5EF4-FFF2-40B4-BE49-F238E27FC236}">
                <a16:creationId xmlns:a16="http://schemas.microsoft.com/office/drawing/2014/main" id="{5B74E35A-9589-7C37-D234-3C9FDA9AE788}"/>
              </a:ext>
            </a:extLst>
          </p:cNvPr>
          <p:cNvSpPr/>
          <p:nvPr/>
        </p:nvSpPr>
        <p:spPr>
          <a:xfrm>
            <a:off x="693855" y="3540895"/>
            <a:ext cx="4644033" cy="1093391"/>
          </a:xfrm>
          <a:prstGeom prst="rect">
            <a:avLst/>
          </a:prstGeom>
          <a:noFill/>
          <a:ln/>
        </p:spPr>
        <p:txBody>
          <a:bodyPr wrap="square" lIns="0" tIns="0" rIns="0" bIns="0" rtlCol="0" anchor="t"/>
          <a:lstStyle/>
          <a:p>
            <a:pPr algn="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A356 GTB ngày 26/02 APU AUTO SHUTDOWN</a:t>
            </a:r>
          </a:p>
          <a:p>
            <a:pPr algn="r">
              <a:lnSpc>
                <a:spcPts val="2125"/>
              </a:lnSpc>
            </a:pPr>
            <a:r>
              <a:rPr lang="vi-VN" sz="1400">
                <a:solidFill>
                  <a:srgbClr val="15213F"/>
                </a:solidFill>
                <a:latin typeface="Times New Roman" panose="02020603050405020304" pitchFamily="18" charset="0"/>
                <a:ea typeface="Roboto" pitchFamily="34" charset="-122"/>
                <a:cs typeface="Times New Roman" panose="02020603050405020304" pitchFamily="18" charset="0"/>
              </a:rPr>
              <a:t>Khối Oil Cooler tháo xuống đã khá cao giờ. Oil Cooler có hiện tượng bụi bẩn làm tắc hoặc hỏng các lá tản nhiệt, giảm hiệu quả làm mát dầu và có thể dẫn đến auto shutdown do high oil temp.</a:t>
            </a:r>
          </a:p>
        </p:txBody>
      </p:sp>
    </p:spTree>
    <p:extLst>
      <p:ext uri="{BB962C8B-B14F-4D97-AF65-F5344CB8AC3E}">
        <p14:creationId xmlns:p14="http://schemas.microsoft.com/office/powerpoint/2010/main" val="1463071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3" name="Title 1">
            <a:extLst>
              <a:ext uri="{FF2B5EF4-FFF2-40B4-BE49-F238E27FC236}">
                <a16:creationId xmlns:a16="http://schemas.microsoft.com/office/drawing/2014/main" id="{E3337893-D05B-3DAC-097B-00B5036B5415}"/>
              </a:ext>
            </a:extLst>
          </p:cNvPr>
          <p:cNvSpPr txBox="1">
            <a:spLocks/>
          </p:cNvSpPr>
          <p:nvPr/>
        </p:nvSpPr>
        <p:spPr>
          <a:xfrm>
            <a:off x="871239" y="203760"/>
            <a:ext cx="11060239"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a:defRPr/>
            </a:pPr>
            <a:r>
              <a:rPr lang="en-US" sz="2800" b="1">
                <a:solidFill>
                  <a:srgbClr val="D2A43B"/>
                </a:solidFill>
                <a:ea typeface="Tahoma" pitchFamily="34" charset="0"/>
                <a:cs typeface="Times New Roman" panose="02020603050405020304" pitchFamily="18" charset="0"/>
              </a:rPr>
              <a:t>A350 (05 GTB + 01 DIV)</a:t>
            </a:r>
            <a:endParaRPr lang="en-US" sz="2800" b="1" dirty="0">
              <a:solidFill>
                <a:srgbClr val="D2A43B"/>
              </a:solidFill>
              <a:ea typeface="Tahoma" pitchFamily="34" charset="0"/>
              <a:cs typeface="Times New Roman" panose="02020603050405020304" pitchFamily="18" charset="0"/>
            </a:endParaRPr>
          </a:p>
        </p:txBody>
      </p:sp>
      <p:sp>
        <p:nvSpPr>
          <p:cNvPr id="12" name="Text 4">
            <a:extLst>
              <a:ext uri="{FF2B5EF4-FFF2-40B4-BE49-F238E27FC236}">
                <a16:creationId xmlns:a16="http://schemas.microsoft.com/office/drawing/2014/main" id="{68D4981B-30E1-8454-5D0A-A944BAC9EB82}"/>
              </a:ext>
            </a:extLst>
          </p:cNvPr>
          <p:cNvSpPr/>
          <p:nvPr/>
        </p:nvSpPr>
        <p:spPr>
          <a:xfrm>
            <a:off x="1415303" y="1073843"/>
            <a:ext cx="3838674" cy="266898"/>
          </a:xfrm>
          <a:prstGeom prst="rect">
            <a:avLst/>
          </a:prstGeom>
          <a:noFill/>
          <a:ln/>
        </p:spPr>
        <p:txBody>
          <a:bodyPr wrap="none" lIns="0" tIns="0" rIns="0" bIns="0" rtlCol="0" anchor="t"/>
          <a:lstStyle/>
          <a:p>
            <a:pPr algn="r">
              <a:lnSpc>
                <a:spcPts val="2083"/>
              </a:lnSpc>
            </a:pPr>
            <a:r>
              <a:rPr lang="en-US" b="1">
                <a:solidFill>
                  <a:srgbClr val="15213F"/>
                </a:solidFill>
                <a:latin typeface="Times New Roman" panose="02020603050405020304" pitchFamily="18" charset="0"/>
                <a:ea typeface="Roboto Slab" pitchFamily="34" charset="-122"/>
                <a:cs typeface="Times New Roman" panose="02020603050405020304" pitchFamily="18" charset="0"/>
              </a:rPr>
              <a:t>HỎNG HÓC HỆ THỐNG NHIÊN LIỆU</a:t>
            </a:r>
            <a:endParaRPr lang="en-US" b="1" dirty="0">
              <a:solidFill>
                <a:srgbClr val="15213F"/>
              </a:solidFill>
              <a:latin typeface="Times New Roman" panose="02020603050405020304" pitchFamily="18" charset="0"/>
              <a:ea typeface="Roboto Slab" pitchFamily="34" charset="-122"/>
              <a:cs typeface="Times New Roman" panose="02020603050405020304" pitchFamily="18" charset="0"/>
            </a:endParaRPr>
          </a:p>
        </p:txBody>
      </p:sp>
      <p:sp>
        <p:nvSpPr>
          <p:cNvPr id="13" name="Text 5">
            <a:extLst>
              <a:ext uri="{FF2B5EF4-FFF2-40B4-BE49-F238E27FC236}">
                <a16:creationId xmlns:a16="http://schemas.microsoft.com/office/drawing/2014/main" id="{03E46991-CE7B-B611-684F-9436D5F17EB0}"/>
              </a:ext>
            </a:extLst>
          </p:cNvPr>
          <p:cNvSpPr/>
          <p:nvPr/>
        </p:nvSpPr>
        <p:spPr>
          <a:xfrm>
            <a:off x="381001" y="1443235"/>
            <a:ext cx="4872978" cy="1093391"/>
          </a:xfrm>
          <a:prstGeom prst="rect">
            <a:avLst/>
          </a:prstGeom>
          <a:noFill/>
          <a:ln/>
        </p:spPr>
        <p:txBody>
          <a:bodyPr wrap="square" lIns="0" tIns="0" rIns="0" bIns="0" rtlCol="0" anchor="t"/>
          <a:lstStyle/>
          <a:p>
            <a:pPr algn="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 A893 GTB ngày 06/01/2025 do </a:t>
            </a:r>
            <a:r>
              <a:rPr lang="en-SG" sz="1400">
                <a:solidFill>
                  <a:srgbClr val="15213F"/>
                </a:solidFill>
                <a:latin typeface="Times New Roman" panose="02020603050405020304" pitchFamily="18" charset="0"/>
                <a:ea typeface="Roboto" pitchFamily="34" charset="-122"/>
                <a:cs typeface="Times New Roman" panose="02020603050405020304" pitchFamily="18" charset="0"/>
              </a:rPr>
              <a:t>FUEL CTR TK L PMP RUN CONTINOUSLY</a:t>
            </a:r>
            <a:r>
              <a:rPr lang="en-US" sz="1400">
                <a:solidFill>
                  <a:srgbClr val="15213F"/>
                </a:solidFill>
                <a:latin typeface="Times New Roman" panose="02020603050405020304" pitchFamily="18" charset="0"/>
                <a:ea typeface="Roboto" pitchFamily="34" charset="-122"/>
                <a:cs typeface="Times New Roman" panose="02020603050405020304" pitchFamily="18" charset="0"/>
              </a:rPr>
              <a:t>. </a:t>
            </a: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Nguyên nhân do Pressure </a:t>
            </a:r>
            <a:r>
              <a:rPr lang="en-US" sz="1400">
                <a:solidFill>
                  <a:srgbClr val="15213F"/>
                </a:solidFill>
                <a:latin typeface="Times New Roman" panose="02020603050405020304" pitchFamily="18" charset="0"/>
                <a:ea typeface="Roboto" pitchFamily="34" charset="-122"/>
                <a:cs typeface="Times New Roman" panose="02020603050405020304" pitchFamily="18" charset="0"/>
              </a:rPr>
              <a:t>switch Airbus </a:t>
            </a: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nghi ngờ do đóng băng gây ra lỗi do các yếu tố </a:t>
            </a:r>
            <a:r>
              <a:rPr lang="en-US" sz="1400">
                <a:solidFill>
                  <a:srgbClr val="15213F"/>
                </a:solidFill>
                <a:latin typeface="Times New Roman" panose="02020603050405020304" pitchFamily="18" charset="0"/>
                <a:ea typeface="Roboto" pitchFamily="34" charset="-122"/>
                <a:cs typeface="Times New Roman" panose="02020603050405020304" pitchFamily="18" charset="0"/>
              </a:rPr>
              <a:t>môi trường.</a:t>
            </a:r>
          </a:p>
          <a:p>
            <a:pPr algn="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 A890 GTB ngày 23/01/2025. Nguyên nhân do Fuel Valve Actuator failures (SPSA) gây cảnh báo, cầu chì bị cháy do quá dòng.</a:t>
            </a:r>
          </a:p>
          <a:p>
            <a:pPr algn="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 A889 GTB ngày 25/01/2025 do FUEL ENG 1 LP VLV FAUL. Nghi ngờ do Fuel LP valve bị intermittent. Đã thực hiện thay valve này khi tàu bay về main-base.</a:t>
            </a:r>
          </a:p>
          <a:p>
            <a:pPr algn="r">
              <a:lnSpc>
                <a:spcPts val="2125"/>
              </a:lnSpc>
            </a:pPr>
            <a:endParaRPr lang="en-US" sz="1400" dirty="0">
              <a:latin typeface="Times New Roman" panose="02020603050405020304" pitchFamily="18" charset="0"/>
              <a:cs typeface="Times New Roman" panose="02020603050405020304" pitchFamily="18" charset="0"/>
            </a:endParaRPr>
          </a:p>
        </p:txBody>
      </p:sp>
      <p:sp>
        <p:nvSpPr>
          <p:cNvPr id="17" name="Text 8">
            <a:extLst>
              <a:ext uri="{FF2B5EF4-FFF2-40B4-BE49-F238E27FC236}">
                <a16:creationId xmlns:a16="http://schemas.microsoft.com/office/drawing/2014/main" id="{0C4209F5-8EA0-1408-3A72-4A32E254F67F}"/>
              </a:ext>
            </a:extLst>
          </p:cNvPr>
          <p:cNvSpPr/>
          <p:nvPr/>
        </p:nvSpPr>
        <p:spPr>
          <a:xfrm>
            <a:off x="6967830" y="2285224"/>
            <a:ext cx="2135386" cy="266898"/>
          </a:xfrm>
          <a:prstGeom prst="rect">
            <a:avLst/>
          </a:prstGeom>
          <a:noFill/>
          <a:ln/>
        </p:spPr>
        <p:txBody>
          <a:bodyPr wrap="none" lIns="0" tIns="0" rIns="0" bIns="0" rtlCol="0" anchor="t"/>
          <a:lstStyle/>
          <a:p>
            <a:pPr>
              <a:lnSpc>
                <a:spcPts val="2083"/>
              </a:lnSpc>
            </a:pPr>
            <a:r>
              <a:rPr lang="en-US" b="1">
                <a:solidFill>
                  <a:srgbClr val="15213F"/>
                </a:solidFill>
                <a:latin typeface="Times New Roman" panose="02020603050405020304" pitchFamily="18" charset="0"/>
                <a:ea typeface="Roboto Slab" pitchFamily="34" charset="-122"/>
                <a:cs typeface="Times New Roman" panose="02020603050405020304" pitchFamily="18" charset="0"/>
              </a:rPr>
              <a:t>HỎNG HÓC F/CTL</a:t>
            </a:r>
            <a:endParaRPr lang="en-US" b="1" dirty="0">
              <a:latin typeface="Times New Roman" panose="02020603050405020304" pitchFamily="18" charset="0"/>
              <a:cs typeface="Times New Roman" panose="02020603050405020304" pitchFamily="18" charset="0"/>
            </a:endParaRPr>
          </a:p>
        </p:txBody>
      </p:sp>
      <p:sp>
        <p:nvSpPr>
          <p:cNvPr id="18" name="Text 9">
            <a:extLst>
              <a:ext uri="{FF2B5EF4-FFF2-40B4-BE49-F238E27FC236}">
                <a16:creationId xmlns:a16="http://schemas.microsoft.com/office/drawing/2014/main" id="{424A7524-3CD0-064F-9A20-F47A2CC319A7}"/>
              </a:ext>
            </a:extLst>
          </p:cNvPr>
          <p:cNvSpPr/>
          <p:nvPr/>
        </p:nvSpPr>
        <p:spPr>
          <a:xfrm>
            <a:off x="6967830" y="2616169"/>
            <a:ext cx="5090187" cy="1093391"/>
          </a:xfrm>
          <a:prstGeom prst="rect">
            <a:avLst/>
          </a:prstGeom>
          <a:noFill/>
          <a:ln/>
        </p:spPr>
        <p:txBody>
          <a:bodyPr wrap="square" lIns="0" tIns="0" rIns="0" bIns="0" rtlCol="0" anchor="t"/>
          <a:lstStyle/>
          <a:p>
            <a:pP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A899 GTB ngày 09/01/2025 do F/CTL Stabilizer. </a:t>
            </a: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Hỏng hóc xuất hiện lặp lại, đã thực hiện thay MOTOR/BRAKE ASSY-THS ACTR,3 (</a:t>
            </a:r>
            <a:r>
              <a:rPr lang="en-US" sz="1400">
                <a:solidFill>
                  <a:srgbClr val="15213F"/>
                </a:solidFill>
                <a:latin typeface="Times New Roman" panose="02020603050405020304" pitchFamily="18" charset="0"/>
                <a:ea typeface="Roboto" pitchFamily="34" charset="-122"/>
                <a:cs typeface="Times New Roman" panose="02020603050405020304" pitchFamily="18" charset="0"/>
              </a:rPr>
              <a:t>201CH3). Hỏng hóc liên quan THSA temperature sensors do lỗi trong quy trình sản xuất, sẽ kiểm tra tăng cường đối với các khối đi shop</a:t>
            </a:r>
            <a:endParaRPr lang="en-US" sz="1400" dirty="0">
              <a:latin typeface="Times New Roman" panose="02020603050405020304" pitchFamily="18" charset="0"/>
              <a:cs typeface="Times New Roman" panose="02020603050405020304" pitchFamily="18" charset="0"/>
            </a:endParaRPr>
          </a:p>
        </p:txBody>
      </p:sp>
      <p:sp>
        <p:nvSpPr>
          <p:cNvPr id="27" name="Text 16">
            <a:extLst>
              <a:ext uri="{FF2B5EF4-FFF2-40B4-BE49-F238E27FC236}">
                <a16:creationId xmlns:a16="http://schemas.microsoft.com/office/drawing/2014/main" id="{BFC4BAF0-DF56-0850-35D1-C5B05E3616BC}"/>
              </a:ext>
            </a:extLst>
          </p:cNvPr>
          <p:cNvSpPr/>
          <p:nvPr/>
        </p:nvSpPr>
        <p:spPr>
          <a:xfrm>
            <a:off x="6984326" y="4971452"/>
            <a:ext cx="2135386" cy="266898"/>
          </a:xfrm>
          <a:prstGeom prst="rect">
            <a:avLst/>
          </a:prstGeom>
          <a:noFill/>
          <a:ln/>
        </p:spPr>
        <p:txBody>
          <a:bodyPr wrap="none" lIns="0" tIns="0" rIns="0" bIns="0" rtlCol="0" anchor="t"/>
          <a:lstStyle/>
          <a:p>
            <a:pPr>
              <a:lnSpc>
                <a:spcPts val="2083"/>
              </a:lnSpc>
            </a:pPr>
            <a:r>
              <a:rPr lang="en-US" b="1">
                <a:solidFill>
                  <a:srgbClr val="15213F"/>
                </a:solidFill>
                <a:latin typeface="Times New Roman" panose="02020603050405020304" pitchFamily="18" charset="0"/>
                <a:ea typeface="Roboto Slab" pitchFamily="34" charset="-122"/>
                <a:cs typeface="Times New Roman" panose="02020603050405020304" pitchFamily="18" charset="0"/>
              </a:rPr>
              <a:t>SATCOM FAULT</a:t>
            </a:r>
            <a:endParaRPr lang="en-US" b="1" dirty="0">
              <a:latin typeface="Times New Roman" panose="02020603050405020304" pitchFamily="18" charset="0"/>
              <a:cs typeface="Times New Roman" panose="02020603050405020304" pitchFamily="18" charset="0"/>
            </a:endParaRPr>
          </a:p>
        </p:txBody>
      </p:sp>
      <p:sp>
        <p:nvSpPr>
          <p:cNvPr id="28" name="Text 17">
            <a:extLst>
              <a:ext uri="{FF2B5EF4-FFF2-40B4-BE49-F238E27FC236}">
                <a16:creationId xmlns:a16="http://schemas.microsoft.com/office/drawing/2014/main" id="{6DBB0EFA-AED9-8DA1-9E61-2F1D9ED4919D}"/>
              </a:ext>
            </a:extLst>
          </p:cNvPr>
          <p:cNvSpPr/>
          <p:nvPr/>
        </p:nvSpPr>
        <p:spPr>
          <a:xfrm>
            <a:off x="7002394" y="5283434"/>
            <a:ext cx="5090187" cy="1093391"/>
          </a:xfrm>
          <a:prstGeom prst="rect">
            <a:avLst/>
          </a:prstGeom>
          <a:noFill/>
          <a:ln/>
        </p:spPr>
        <p:txBody>
          <a:bodyPr wrap="square" lIns="0" tIns="0" rIns="0" bIns="0" rtlCol="0" anchor="t"/>
          <a:lstStyle/>
          <a:p>
            <a:pP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A891  </a:t>
            </a: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DIV ngày 23/02/2025. Hỏng hóc liên quan đến thiết bị SDU PN 822-2909-050. Theo Collins, hỏng hóc là do linh kiện lỗi thời và không đáng tin cậy, lỗi hàn trên </a:t>
            </a:r>
            <a:r>
              <a:rPr lang="en-US" sz="1400">
                <a:solidFill>
                  <a:srgbClr val="15213F"/>
                </a:solidFill>
                <a:latin typeface="Times New Roman" panose="02020603050405020304" pitchFamily="18" charset="0"/>
                <a:ea typeface="Roboto" pitchFamily="34" charset="-122"/>
                <a:cs typeface="Times New Roman" panose="02020603050405020304" pitchFamily="18" charset="0"/>
              </a:rPr>
              <a:t>PCB. Hỏng hóc do linh kiện lỗi thời và không đáng tin cậy, lỗi hàn trên PCB, kết nối hàn không đủ bền </a:t>
            </a:r>
            <a:endParaRPr lang="en-US" sz="1400" dirty="0">
              <a:latin typeface="Times New Roman" panose="02020603050405020304" pitchFamily="18" charset="0"/>
              <a:cs typeface="Times New Roman" panose="02020603050405020304" pitchFamily="18" charset="0"/>
            </a:endParaRPr>
          </a:p>
        </p:txBody>
      </p:sp>
      <p:sp>
        <p:nvSpPr>
          <p:cNvPr id="33" name="Shape 1">
            <a:extLst>
              <a:ext uri="{FF2B5EF4-FFF2-40B4-BE49-F238E27FC236}">
                <a16:creationId xmlns:a16="http://schemas.microsoft.com/office/drawing/2014/main" id="{13CA6F8F-2795-0EB8-822B-2059F7192A51}"/>
              </a:ext>
            </a:extLst>
          </p:cNvPr>
          <p:cNvSpPr/>
          <p:nvPr/>
        </p:nvSpPr>
        <p:spPr>
          <a:xfrm>
            <a:off x="6086473" y="796227"/>
            <a:ext cx="45719" cy="5421395"/>
          </a:xfrm>
          <a:prstGeom prst="roundRect">
            <a:avLst>
              <a:gd name="adj" fmla="val 134514"/>
            </a:avLst>
          </a:prstGeom>
          <a:solidFill>
            <a:srgbClr val="CFD2D8"/>
          </a:solidFill>
          <a:ln/>
        </p:spPr>
        <p:txBody>
          <a:bodyPr/>
          <a:lstStyle/>
          <a:p>
            <a:endParaRPr lang="en-US"/>
          </a:p>
        </p:txBody>
      </p:sp>
      <p:sp>
        <p:nvSpPr>
          <p:cNvPr id="34" name="Shape 2">
            <a:extLst>
              <a:ext uri="{FF2B5EF4-FFF2-40B4-BE49-F238E27FC236}">
                <a16:creationId xmlns:a16="http://schemas.microsoft.com/office/drawing/2014/main" id="{92017DDE-13F0-1325-7682-4375B9C0A0D5}"/>
              </a:ext>
            </a:extLst>
          </p:cNvPr>
          <p:cNvSpPr/>
          <p:nvPr/>
        </p:nvSpPr>
        <p:spPr>
          <a:xfrm>
            <a:off x="5410397" y="1171076"/>
            <a:ext cx="512465" cy="19050"/>
          </a:xfrm>
          <a:prstGeom prst="roundRect">
            <a:avLst>
              <a:gd name="adj" fmla="val 134514"/>
            </a:avLst>
          </a:prstGeom>
          <a:solidFill>
            <a:srgbClr val="CFD2D8"/>
          </a:solidFill>
          <a:ln/>
        </p:spPr>
        <p:txBody>
          <a:bodyPr/>
          <a:lstStyle/>
          <a:p>
            <a:endParaRPr lang="en-US"/>
          </a:p>
        </p:txBody>
      </p:sp>
      <p:sp>
        <p:nvSpPr>
          <p:cNvPr id="35" name="Shape 3">
            <a:extLst>
              <a:ext uri="{FF2B5EF4-FFF2-40B4-BE49-F238E27FC236}">
                <a16:creationId xmlns:a16="http://schemas.microsoft.com/office/drawing/2014/main" id="{F5ACD91B-D397-15CF-B6D5-784D92EFD5CD}"/>
              </a:ext>
            </a:extLst>
          </p:cNvPr>
          <p:cNvSpPr/>
          <p:nvPr/>
        </p:nvSpPr>
        <p:spPr>
          <a:xfrm>
            <a:off x="5903813" y="988415"/>
            <a:ext cx="384373" cy="384373"/>
          </a:xfrm>
          <a:prstGeom prst="roundRect">
            <a:avLst>
              <a:gd name="adj" fmla="val 6667"/>
            </a:avLst>
          </a:prstGeom>
          <a:solidFill>
            <a:srgbClr val="E9ECF2"/>
          </a:solidFill>
          <a:ln/>
        </p:spPr>
        <p:txBody>
          <a:bodyPr/>
          <a:lstStyle/>
          <a:p>
            <a:endParaRPr lang="en-US"/>
          </a:p>
        </p:txBody>
      </p:sp>
      <p:pic>
        <p:nvPicPr>
          <p:cNvPr id="36" name="Image 0" descr="preencoded.png">
            <a:extLst>
              <a:ext uri="{FF2B5EF4-FFF2-40B4-BE49-F238E27FC236}">
                <a16:creationId xmlns:a16="http://schemas.microsoft.com/office/drawing/2014/main" id="{138D8C90-1ECE-FF34-D181-422EB60EFB58}"/>
              </a:ext>
            </a:extLst>
          </p:cNvPr>
          <p:cNvPicPr>
            <a:picLocks noChangeAspect="1"/>
          </p:cNvPicPr>
          <p:nvPr/>
        </p:nvPicPr>
        <p:blipFill>
          <a:blip r:embed="rId3"/>
          <a:stretch>
            <a:fillRect/>
          </a:stretch>
        </p:blipFill>
        <p:spPr>
          <a:xfrm>
            <a:off x="5967908" y="1020463"/>
            <a:ext cx="256183" cy="320278"/>
          </a:xfrm>
          <a:prstGeom prst="rect">
            <a:avLst/>
          </a:prstGeom>
        </p:spPr>
      </p:pic>
      <p:sp>
        <p:nvSpPr>
          <p:cNvPr id="37" name="Shape 6">
            <a:extLst>
              <a:ext uri="{FF2B5EF4-FFF2-40B4-BE49-F238E27FC236}">
                <a16:creationId xmlns:a16="http://schemas.microsoft.com/office/drawing/2014/main" id="{9817122F-9D95-141D-E9AD-BC5428B90B80}"/>
              </a:ext>
            </a:extLst>
          </p:cNvPr>
          <p:cNvSpPr/>
          <p:nvPr/>
        </p:nvSpPr>
        <p:spPr>
          <a:xfrm>
            <a:off x="6289561" y="2440390"/>
            <a:ext cx="512465" cy="19050"/>
          </a:xfrm>
          <a:prstGeom prst="roundRect">
            <a:avLst>
              <a:gd name="adj" fmla="val 134514"/>
            </a:avLst>
          </a:prstGeom>
          <a:solidFill>
            <a:srgbClr val="CFD2D8"/>
          </a:solidFill>
          <a:ln/>
        </p:spPr>
        <p:txBody>
          <a:bodyPr/>
          <a:lstStyle/>
          <a:p>
            <a:endParaRPr lang="en-US"/>
          </a:p>
        </p:txBody>
      </p:sp>
      <p:sp>
        <p:nvSpPr>
          <p:cNvPr id="38" name="Shape 7">
            <a:extLst>
              <a:ext uri="{FF2B5EF4-FFF2-40B4-BE49-F238E27FC236}">
                <a16:creationId xmlns:a16="http://schemas.microsoft.com/office/drawing/2014/main" id="{CB42FD6A-F5DE-ED15-9C1E-B1ABE06FA2CA}"/>
              </a:ext>
            </a:extLst>
          </p:cNvPr>
          <p:cNvSpPr/>
          <p:nvPr/>
        </p:nvSpPr>
        <p:spPr>
          <a:xfrm>
            <a:off x="5903813" y="2238443"/>
            <a:ext cx="384373" cy="384373"/>
          </a:xfrm>
          <a:prstGeom prst="roundRect">
            <a:avLst>
              <a:gd name="adj" fmla="val 11572"/>
            </a:avLst>
          </a:prstGeom>
          <a:solidFill>
            <a:srgbClr val="E9ECF2"/>
          </a:solidFill>
          <a:ln/>
        </p:spPr>
        <p:txBody>
          <a:bodyPr/>
          <a:lstStyle/>
          <a:p>
            <a:endParaRPr lang="en-US"/>
          </a:p>
        </p:txBody>
      </p:sp>
      <p:pic>
        <p:nvPicPr>
          <p:cNvPr id="39" name="Image 1" descr="preencoded.png">
            <a:extLst>
              <a:ext uri="{FF2B5EF4-FFF2-40B4-BE49-F238E27FC236}">
                <a16:creationId xmlns:a16="http://schemas.microsoft.com/office/drawing/2014/main" id="{454E5217-A0F8-8900-BB1F-BBDA0495A99D}"/>
              </a:ext>
            </a:extLst>
          </p:cNvPr>
          <p:cNvPicPr>
            <a:picLocks noChangeAspect="1"/>
          </p:cNvPicPr>
          <p:nvPr/>
        </p:nvPicPr>
        <p:blipFill>
          <a:blip r:embed="rId4"/>
          <a:stretch>
            <a:fillRect/>
          </a:stretch>
        </p:blipFill>
        <p:spPr>
          <a:xfrm>
            <a:off x="5988333" y="2289777"/>
            <a:ext cx="256183" cy="320278"/>
          </a:xfrm>
          <a:prstGeom prst="rect">
            <a:avLst/>
          </a:prstGeom>
        </p:spPr>
      </p:pic>
      <p:sp>
        <p:nvSpPr>
          <p:cNvPr id="40" name="Shape 10">
            <a:extLst>
              <a:ext uri="{FF2B5EF4-FFF2-40B4-BE49-F238E27FC236}">
                <a16:creationId xmlns:a16="http://schemas.microsoft.com/office/drawing/2014/main" id="{31A6D51D-7DE1-54A7-8D8A-B5C9CC91F969}"/>
              </a:ext>
            </a:extLst>
          </p:cNvPr>
          <p:cNvSpPr/>
          <p:nvPr/>
        </p:nvSpPr>
        <p:spPr>
          <a:xfrm>
            <a:off x="5390758" y="4200593"/>
            <a:ext cx="512465" cy="19050"/>
          </a:xfrm>
          <a:prstGeom prst="roundRect">
            <a:avLst>
              <a:gd name="adj" fmla="val 134514"/>
            </a:avLst>
          </a:prstGeom>
          <a:solidFill>
            <a:srgbClr val="CFD2D8"/>
          </a:solidFill>
          <a:ln/>
        </p:spPr>
        <p:txBody>
          <a:bodyPr/>
          <a:lstStyle/>
          <a:p>
            <a:endParaRPr lang="en-US"/>
          </a:p>
        </p:txBody>
      </p:sp>
      <p:sp>
        <p:nvSpPr>
          <p:cNvPr id="41" name="Shape 11">
            <a:extLst>
              <a:ext uri="{FF2B5EF4-FFF2-40B4-BE49-F238E27FC236}">
                <a16:creationId xmlns:a16="http://schemas.microsoft.com/office/drawing/2014/main" id="{2DA5D879-A3BF-391D-2F4C-3DB5CAF52AC9}"/>
              </a:ext>
            </a:extLst>
          </p:cNvPr>
          <p:cNvSpPr/>
          <p:nvPr/>
        </p:nvSpPr>
        <p:spPr>
          <a:xfrm>
            <a:off x="5881621" y="4013626"/>
            <a:ext cx="384373" cy="384373"/>
          </a:xfrm>
          <a:prstGeom prst="roundRect">
            <a:avLst>
              <a:gd name="adj" fmla="val 4214"/>
            </a:avLst>
          </a:prstGeom>
          <a:solidFill>
            <a:srgbClr val="E9ECF2"/>
          </a:solidFill>
          <a:ln/>
        </p:spPr>
        <p:txBody>
          <a:bodyPr/>
          <a:lstStyle/>
          <a:p>
            <a:endParaRPr lang="en-US"/>
          </a:p>
        </p:txBody>
      </p:sp>
      <p:pic>
        <p:nvPicPr>
          <p:cNvPr id="42" name="Image 2" descr="preencoded.png">
            <a:extLst>
              <a:ext uri="{FF2B5EF4-FFF2-40B4-BE49-F238E27FC236}">
                <a16:creationId xmlns:a16="http://schemas.microsoft.com/office/drawing/2014/main" id="{5DDC77D3-13D1-99FA-D283-448A37F7C9EE}"/>
              </a:ext>
            </a:extLst>
          </p:cNvPr>
          <p:cNvPicPr>
            <a:picLocks noChangeAspect="1"/>
          </p:cNvPicPr>
          <p:nvPr/>
        </p:nvPicPr>
        <p:blipFill>
          <a:blip r:embed="rId5"/>
          <a:stretch>
            <a:fillRect/>
          </a:stretch>
        </p:blipFill>
        <p:spPr>
          <a:xfrm>
            <a:off x="5948269" y="4049979"/>
            <a:ext cx="256183" cy="320278"/>
          </a:xfrm>
          <a:prstGeom prst="rect">
            <a:avLst/>
          </a:prstGeom>
        </p:spPr>
      </p:pic>
      <p:sp>
        <p:nvSpPr>
          <p:cNvPr id="43" name="Shape 14">
            <a:extLst>
              <a:ext uri="{FF2B5EF4-FFF2-40B4-BE49-F238E27FC236}">
                <a16:creationId xmlns:a16="http://schemas.microsoft.com/office/drawing/2014/main" id="{2370A653-EAD2-E830-AD4C-07FE9B8533F8}"/>
              </a:ext>
            </a:extLst>
          </p:cNvPr>
          <p:cNvSpPr/>
          <p:nvPr/>
        </p:nvSpPr>
        <p:spPr>
          <a:xfrm>
            <a:off x="6271536" y="5123197"/>
            <a:ext cx="512465" cy="19050"/>
          </a:xfrm>
          <a:prstGeom prst="roundRect">
            <a:avLst>
              <a:gd name="adj" fmla="val 134514"/>
            </a:avLst>
          </a:prstGeom>
          <a:solidFill>
            <a:srgbClr val="CFD2D8"/>
          </a:solidFill>
          <a:ln/>
        </p:spPr>
        <p:txBody>
          <a:bodyPr/>
          <a:lstStyle/>
          <a:p>
            <a:endParaRPr lang="en-US"/>
          </a:p>
        </p:txBody>
      </p:sp>
      <p:sp>
        <p:nvSpPr>
          <p:cNvPr id="44" name="Shape 15">
            <a:extLst>
              <a:ext uri="{FF2B5EF4-FFF2-40B4-BE49-F238E27FC236}">
                <a16:creationId xmlns:a16="http://schemas.microsoft.com/office/drawing/2014/main" id="{85152C6F-0A02-4FF1-71B8-EDA84FEE3B17}"/>
              </a:ext>
            </a:extLst>
          </p:cNvPr>
          <p:cNvSpPr/>
          <p:nvPr/>
        </p:nvSpPr>
        <p:spPr>
          <a:xfrm>
            <a:off x="5920465" y="4912715"/>
            <a:ext cx="384373" cy="384373"/>
          </a:xfrm>
          <a:prstGeom prst="roundRect">
            <a:avLst>
              <a:gd name="adj" fmla="val 6667"/>
            </a:avLst>
          </a:prstGeom>
          <a:solidFill>
            <a:srgbClr val="E9ECF2"/>
          </a:solidFill>
          <a:ln/>
        </p:spPr>
        <p:txBody>
          <a:bodyPr/>
          <a:lstStyle/>
          <a:p>
            <a:endParaRPr lang="en-US"/>
          </a:p>
        </p:txBody>
      </p:sp>
      <p:pic>
        <p:nvPicPr>
          <p:cNvPr id="45" name="Image 3" descr="preencoded.png">
            <a:extLst>
              <a:ext uri="{FF2B5EF4-FFF2-40B4-BE49-F238E27FC236}">
                <a16:creationId xmlns:a16="http://schemas.microsoft.com/office/drawing/2014/main" id="{837E7DED-BAEA-B469-F25D-D9854F41AABA}"/>
              </a:ext>
            </a:extLst>
          </p:cNvPr>
          <p:cNvPicPr>
            <a:picLocks noChangeAspect="1"/>
          </p:cNvPicPr>
          <p:nvPr/>
        </p:nvPicPr>
        <p:blipFill>
          <a:blip r:embed="rId6"/>
          <a:stretch>
            <a:fillRect/>
          </a:stretch>
        </p:blipFill>
        <p:spPr>
          <a:xfrm>
            <a:off x="5970308" y="4972583"/>
            <a:ext cx="256183" cy="320278"/>
          </a:xfrm>
          <a:prstGeom prst="rect">
            <a:avLst/>
          </a:prstGeom>
        </p:spPr>
      </p:pic>
      <p:sp>
        <p:nvSpPr>
          <p:cNvPr id="46" name="Text 4">
            <a:extLst>
              <a:ext uri="{FF2B5EF4-FFF2-40B4-BE49-F238E27FC236}">
                <a16:creationId xmlns:a16="http://schemas.microsoft.com/office/drawing/2014/main" id="{60282487-1ECF-632F-2244-D22E71866452}"/>
              </a:ext>
            </a:extLst>
          </p:cNvPr>
          <p:cNvSpPr/>
          <p:nvPr/>
        </p:nvSpPr>
        <p:spPr>
          <a:xfrm>
            <a:off x="1507038" y="4067144"/>
            <a:ext cx="3838674" cy="266898"/>
          </a:xfrm>
          <a:prstGeom prst="rect">
            <a:avLst/>
          </a:prstGeom>
          <a:noFill/>
          <a:ln/>
        </p:spPr>
        <p:txBody>
          <a:bodyPr wrap="none" lIns="0" tIns="0" rIns="0" bIns="0" rtlCol="0" anchor="t"/>
          <a:lstStyle/>
          <a:p>
            <a:pPr algn="r">
              <a:lnSpc>
                <a:spcPts val="2083"/>
              </a:lnSpc>
            </a:pPr>
            <a:r>
              <a:rPr lang="en-US" b="1">
                <a:solidFill>
                  <a:srgbClr val="15213F"/>
                </a:solidFill>
                <a:latin typeface="Times New Roman" panose="02020603050405020304" pitchFamily="18" charset="0"/>
                <a:ea typeface="Roboto Slab" pitchFamily="34" charset="-122"/>
                <a:cs typeface="Times New Roman" panose="02020603050405020304" pitchFamily="18" charset="0"/>
              </a:rPr>
              <a:t>HỎNG HÓC FADEC FAULT</a:t>
            </a:r>
            <a:endParaRPr lang="en-US" b="1" dirty="0">
              <a:solidFill>
                <a:srgbClr val="15213F"/>
              </a:solidFill>
              <a:latin typeface="Times New Roman" panose="02020603050405020304" pitchFamily="18" charset="0"/>
              <a:ea typeface="Roboto Slab" pitchFamily="34" charset="-122"/>
              <a:cs typeface="Times New Roman" panose="02020603050405020304" pitchFamily="18" charset="0"/>
            </a:endParaRPr>
          </a:p>
        </p:txBody>
      </p:sp>
      <p:sp>
        <p:nvSpPr>
          <p:cNvPr id="47" name="Text 5">
            <a:extLst>
              <a:ext uri="{FF2B5EF4-FFF2-40B4-BE49-F238E27FC236}">
                <a16:creationId xmlns:a16="http://schemas.microsoft.com/office/drawing/2014/main" id="{5B74E35A-9589-7C37-D234-3C9FDA9AE788}"/>
              </a:ext>
            </a:extLst>
          </p:cNvPr>
          <p:cNvSpPr/>
          <p:nvPr/>
        </p:nvSpPr>
        <p:spPr>
          <a:xfrm>
            <a:off x="701680" y="4436536"/>
            <a:ext cx="4644033" cy="1093391"/>
          </a:xfrm>
          <a:prstGeom prst="rect">
            <a:avLst/>
          </a:prstGeom>
          <a:noFill/>
          <a:ln/>
        </p:spPr>
        <p:txBody>
          <a:bodyPr wrap="square" lIns="0" tIns="0" rIns="0" bIns="0" rtlCol="0" anchor="t"/>
          <a:lstStyle/>
          <a:p>
            <a:pPr algn="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A892 GTB ngày 28/01/2025 do ENG1 FADEC FAULT, RESET OK. N</a:t>
            </a:r>
            <a:r>
              <a:rPr lang="vi-VN" sz="1400">
                <a:solidFill>
                  <a:srgbClr val="15213F"/>
                </a:solidFill>
                <a:latin typeface="Times New Roman" panose="02020603050405020304" pitchFamily="18" charset="0"/>
                <a:ea typeface="Roboto" pitchFamily="34" charset="-122"/>
                <a:cs typeface="Times New Roman" panose="02020603050405020304" pitchFamily="18" charset="0"/>
              </a:rPr>
              <a:t>ghi ngờ nguyên nhân hỏng hóc do lỗi liên quan EEC và </a:t>
            </a:r>
            <a:r>
              <a:rPr lang="en-US" sz="1400">
                <a:solidFill>
                  <a:srgbClr val="15213F"/>
                </a:solidFill>
                <a:latin typeface="Times New Roman" panose="02020603050405020304" pitchFamily="18" charset="0"/>
                <a:ea typeface="Roboto" pitchFamily="34" charset="-122"/>
                <a:cs typeface="Times New Roman" panose="02020603050405020304" pitchFamily="18" charset="0"/>
              </a:rPr>
              <a:t>chờ </a:t>
            </a:r>
            <a:r>
              <a:rPr lang="vi-VN" sz="1400">
                <a:solidFill>
                  <a:srgbClr val="15213F"/>
                </a:solidFill>
                <a:latin typeface="Times New Roman" panose="02020603050405020304" pitchFamily="18" charset="0"/>
                <a:ea typeface="Roboto" pitchFamily="34" charset="-122"/>
                <a:cs typeface="Times New Roman" panose="02020603050405020304" pitchFamily="18" charset="0"/>
              </a:rPr>
              <a:t>giải pháp triệt để từ NSX. VNA liên tục làm việc và yêu cầu Ban KT đã gửi TR đề nghị Airbus nghiên cứu và đưa hướng dẫn thực hiện quy trình reset cho tổ bay để tránh GTB và giảm thời gian delay, hiện đang đợi phản hồi.</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715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a:xfrm>
            <a:off x="11175726" y="6104667"/>
            <a:ext cx="731600" cy="5248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3" name="Title 1">
            <a:extLst>
              <a:ext uri="{FF2B5EF4-FFF2-40B4-BE49-F238E27FC236}">
                <a16:creationId xmlns:a16="http://schemas.microsoft.com/office/drawing/2014/main" id="{D7045F90-8463-621C-48EC-E73AB40852FD}"/>
              </a:ext>
            </a:extLst>
          </p:cNvPr>
          <p:cNvSpPr txBox="1">
            <a:spLocks/>
          </p:cNvSpPr>
          <p:nvPr/>
        </p:nvSpPr>
        <p:spPr>
          <a:xfrm>
            <a:off x="685800" y="164033"/>
            <a:ext cx="11060239"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a:defRPr/>
            </a:pPr>
            <a:r>
              <a:rPr lang="en-US" sz="2800" b="1">
                <a:solidFill>
                  <a:srgbClr val="D2A43B"/>
                </a:solidFill>
                <a:ea typeface="Tahoma" pitchFamily="34" charset="0"/>
                <a:cs typeface="Times New Roman" panose="02020603050405020304" pitchFamily="18" charset="0"/>
              </a:rPr>
              <a:t>B787 (02 GTB + 01 RTO)</a:t>
            </a:r>
            <a:endParaRPr lang="en-US" sz="2800" b="1" dirty="0">
              <a:solidFill>
                <a:srgbClr val="D2A43B"/>
              </a:solidFill>
              <a:ea typeface="Tahoma" pitchFamily="34" charset="0"/>
              <a:cs typeface="Times New Roman" panose="02020603050405020304" pitchFamily="18" charset="0"/>
            </a:endParaRPr>
          </a:p>
        </p:txBody>
      </p:sp>
      <p:sp>
        <p:nvSpPr>
          <p:cNvPr id="2" name="Text 1">
            <a:extLst>
              <a:ext uri="{FF2B5EF4-FFF2-40B4-BE49-F238E27FC236}">
                <a16:creationId xmlns:a16="http://schemas.microsoft.com/office/drawing/2014/main" id="{3D0348F6-86C2-4AA1-EEDD-8F221EDD05BF}"/>
              </a:ext>
            </a:extLst>
          </p:cNvPr>
          <p:cNvSpPr/>
          <p:nvPr/>
        </p:nvSpPr>
        <p:spPr>
          <a:xfrm>
            <a:off x="3930297" y="91596"/>
            <a:ext cx="3433961" cy="623689"/>
          </a:xfrm>
          <a:prstGeom prst="rect">
            <a:avLst/>
          </a:prstGeom>
          <a:noFill/>
          <a:ln/>
        </p:spPr>
        <p:txBody>
          <a:bodyPr wrap="none" lIns="0" tIns="0" rIns="0" bIns="0" rtlCol="0" anchor="t"/>
          <a:lstStyle/>
          <a:p>
            <a:pPr algn="ctr">
              <a:lnSpc>
                <a:spcPts val="4875"/>
              </a:lnSpc>
            </a:pPr>
            <a:r>
              <a:rPr lang="en-US" sz="3600" dirty="0">
                <a:solidFill>
                  <a:srgbClr val="15213F"/>
                </a:solidFill>
                <a:latin typeface="Times New Roman" panose="02020603050405020304" pitchFamily="18" charset="0"/>
                <a:ea typeface="Roboto Slab" pitchFamily="34" charset="-122"/>
                <a:cs typeface="Times New Roman" panose="02020603050405020304" pitchFamily="18" charset="0"/>
              </a:rPr>
              <a:t>3</a:t>
            </a:r>
            <a:endParaRPr lang="en-US" sz="3600" dirty="0">
              <a:latin typeface="Times New Roman" panose="02020603050405020304" pitchFamily="18" charset="0"/>
              <a:cs typeface="Times New Roman" panose="02020603050405020304" pitchFamily="18" charset="0"/>
            </a:endParaRPr>
          </a:p>
        </p:txBody>
      </p:sp>
      <p:sp>
        <p:nvSpPr>
          <p:cNvPr id="9" name="Text 2">
            <a:extLst>
              <a:ext uri="{FF2B5EF4-FFF2-40B4-BE49-F238E27FC236}">
                <a16:creationId xmlns:a16="http://schemas.microsoft.com/office/drawing/2014/main" id="{1A803BB8-17B6-846A-6216-E3B335394E2A}"/>
              </a:ext>
            </a:extLst>
          </p:cNvPr>
          <p:cNvSpPr/>
          <p:nvPr/>
        </p:nvSpPr>
        <p:spPr>
          <a:xfrm>
            <a:off x="4490234" y="690877"/>
            <a:ext cx="2362696" cy="295275"/>
          </a:xfrm>
          <a:prstGeom prst="rect">
            <a:avLst/>
          </a:prstGeom>
          <a:noFill/>
          <a:ln/>
        </p:spPr>
        <p:txBody>
          <a:bodyPr wrap="none" lIns="0" tIns="0" rIns="0" bIns="0" rtlCol="0" anchor="t"/>
          <a:lstStyle/>
          <a:p>
            <a:pPr algn="ctr">
              <a:lnSpc>
                <a:spcPts val="2292"/>
              </a:lnSpc>
            </a:pPr>
            <a:r>
              <a:rPr lang="en-US" sz="1833">
                <a:solidFill>
                  <a:srgbClr val="15213F"/>
                </a:solidFill>
                <a:latin typeface="Times New Roman" panose="02020603050405020304" pitchFamily="18" charset="0"/>
                <a:ea typeface="Roboto Slab" pitchFamily="34" charset="-122"/>
                <a:cs typeface="Times New Roman" panose="02020603050405020304" pitchFamily="18" charset="0"/>
              </a:rPr>
              <a:t>Sự cố GTB/RTO</a:t>
            </a:r>
            <a:endParaRPr lang="en-US" sz="1833" dirty="0">
              <a:latin typeface="Times New Roman" panose="02020603050405020304" pitchFamily="18" charset="0"/>
              <a:cs typeface="Times New Roman" panose="02020603050405020304" pitchFamily="18" charset="0"/>
            </a:endParaRPr>
          </a:p>
        </p:txBody>
      </p:sp>
      <p:sp>
        <p:nvSpPr>
          <p:cNvPr id="11" name="Text 4">
            <a:extLst>
              <a:ext uri="{FF2B5EF4-FFF2-40B4-BE49-F238E27FC236}">
                <a16:creationId xmlns:a16="http://schemas.microsoft.com/office/drawing/2014/main" id="{D13E2DDD-48DC-0D89-CE8D-A0E6D29E23C5}"/>
              </a:ext>
            </a:extLst>
          </p:cNvPr>
          <p:cNvSpPr/>
          <p:nvPr/>
        </p:nvSpPr>
        <p:spPr>
          <a:xfrm>
            <a:off x="203175" y="863707"/>
            <a:ext cx="3434060" cy="623689"/>
          </a:xfrm>
          <a:prstGeom prst="rect">
            <a:avLst/>
          </a:prstGeom>
          <a:noFill/>
          <a:ln/>
        </p:spPr>
        <p:txBody>
          <a:bodyPr wrap="none" lIns="0" tIns="0" rIns="0" bIns="0" rtlCol="0" anchor="t"/>
          <a:lstStyle/>
          <a:p>
            <a:pPr algn="ctr">
              <a:lnSpc>
                <a:spcPts val="4875"/>
              </a:lnSpc>
            </a:pPr>
            <a:r>
              <a:rPr lang="en-US" sz="3600" dirty="0">
                <a:solidFill>
                  <a:srgbClr val="15213F"/>
                </a:solidFill>
                <a:latin typeface="Times New Roman" panose="02020603050405020304" pitchFamily="18" charset="0"/>
                <a:ea typeface="Roboto Slab" pitchFamily="34" charset="-122"/>
                <a:cs typeface="Times New Roman" panose="02020603050405020304" pitchFamily="18" charset="0"/>
              </a:rPr>
              <a:t>1</a:t>
            </a:r>
            <a:endParaRPr lang="en-US" sz="3600" dirty="0">
              <a:latin typeface="Times New Roman" panose="02020603050405020304" pitchFamily="18" charset="0"/>
              <a:cs typeface="Times New Roman" panose="02020603050405020304" pitchFamily="18" charset="0"/>
            </a:endParaRPr>
          </a:p>
        </p:txBody>
      </p:sp>
      <p:sp>
        <p:nvSpPr>
          <p:cNvPr id="12" name="Text 5">
            <a:extLst>
              <a:ext uri="{FF2B5EF4-FFF2-40B4-BE49-F238E27FC236}">
                <a16:creationId xmlns:a16="http://schemas.microsoft.com/office/drawing/2014/main" id="{24414A62-5BA4-2BBE-56C7-FD666483E041}"/>
              </a:ext>
            </a:extLst>
          </p:cNvPr>
          <p:cNvSpPr/>
          <p:nvPr/>
        </p:nvSpPr>
        <p:spPr>
          <a:xfrm>
            <a:off x="752274" y="1463964"/>
            <a:ext cx="2362696" cy="295275"/>
          </a:xfrm>
          <a:prstGeom prst="rect">
            <a:avLst/>
          </a:prstGeom>
          <a:noFill/>
          <a:ln/>
        </p:spPr>
        <p:txBody>
          <a:bodyPr wrap="none" lIns="0" tIns="0" rIns="0" bIns="0" rtlCol="0" anchor="t"/>
          <a:lstStyle/>
          <a:p>
            <a:pPr algn="ctr">
              <a:lnSpc>
                <a:spcPts val="2292"/>
              </a:lnSpc>
            </a:pPr>
            <a:r>
              <a:rPr lang="en-US" sz="1833" dirty="0">
                <a:solidFill>
                  <a:srgbClr val="15213F"/>
                </a:solidFill>
                <a:latin typeface="Times New Roman" panose="02020603050405020304" pitchFamily="18" charset="0"/>
                <a:ea typeface="Roboto Slab" pitchFamily="34" charset="-122"/>
                <a:cs typeface="Times New Roman" panose="02020603050405020304" pitchFamily="18" charset="0"/>
              </a:rPr>
              <a:t>Hệ thống điện</a:t>
            </a:r>
            <a:endParaRPr lang="en-US" sz="1833" dirty="0">
              <a:latin typeface="Times New Roman" panose="02020603050405020304" pitchFamily="18" charset="0"/>
              <a:cs typeface="Times New Roman" panose="02020603050405020304" pitchFamily="18" charset="0"/>
            </a:endParaRPr>
          </a:p>
        </p:txBody>
      </p:sp>
      <p:sp>
        <p:nvSpPr>
          <p:cNvPr id="13" name="Text 6">
            <a:extLst>
              <a:ext uri="{FF2B5EF4-FFF2-40B4-BE49-F238E27FC236}">
                <a16:creationId xmlns:a16="http://schemas.microsoft.com/office/drawing/2014/main" id="{873BB026-FE4F-A28D-09D1-A0E7F4FC32C8}"/>
              </a:ext>
            </a:extLst>
          </p:cNvPr>
          <p:cNvSpPr/>
          <p:nvPr/>
        </p:nvSpPr>
        <p:spPr>
          <a:xfrm>
            <a:off x="104146" y="1818966"/>
            <a:ext cx="3533089" cy="1841028"/>
          </a:xfrm>
          <a:prstGeom prst="rect">
            <a:avLst/>
          </a:prstGeom>
          <a:noFill/>
          <a:ln/>
        </p:spPr>
        <p:txBody>
          <a:bodyPr wrap="square" lIns="0" tIns="0" rIns="0" bIns="0" rtlCol="0" anchor="t"/>
          <a:lstStyle/>
          <a:p>
            <a:pPr algn="ctr">
              <a:lnSpc>
                <a:spcPts val="2375"/>
              </a:lnSpc>
            </a:pPr>
            <a:r>
              <a:rPr lang="vi-VN" sz="1458">
                <a:solidFill>
                  <a:srgbClr val="15213F"/>
                </a:solidFill>
                <a:latin typeface="Times New Roman" panose="02020603050405020304" pitchFamily="18" charset="0"/>
                <a:ea typeface="Roboto" pitchFamily="34" charset="-122"/>
                <a:cs typeface="Times New Roman" panose="02020603050405020304" pitchFamily="18" charset="0"/>
              </a:rPr>
              <a:t>A879 RTO ngày 28/01/2025 </a:t>
            </a:r>
            <a:r>
              <a:rPr lang="en-US" sz="1458">
                <a:solidFill>
                  <a:srgbClr val="15213F"/>
                </a:solidFill>
                <a:latin typeface="Times New Roman" panose="02020603050405020304" pitchFamily="18" charset="0"/>
                <a:ea typeface="Roboto" pitchFamily="34" charset="-122"/>
                <a:cs typeface="Times New Roman" panose="02020603050405020304" pitchFamily="18" charset="0"/>
              </a:rPr>
              <a:t>ELEC GEN R </a:t>
            </a:r>
            <a:r>
              <a:rPr lang="vi-VN" sz="1458">
                <a:solidFill>
                  <a:srgbClr val="15213F"/>
                </a:solidFill>
                <a:latin typeface="Times New Roman" panose="02020603050405020304" pitchFamily="18" charset="0"/>
                <a:ea typeface="Roboto" pitchFamily="34" charset="-122"/>
                <a:cs typeface="Times New Roman" panose="02020603050405020304" pitchFamily="18" charset="0"/>
              </a:rPr>
              <a:t>phải thay VFSG. </a:t>
            </a:r>
            <a:endParaRPr lang="en-US" sz="1458">
              <a:solidFill>
                <a:srgbClr val="15213F"/>
              </a:solidFill>
              <a:latin typeface="Times New Roman" panose="02020603050405020304" pitchFamily="18" charset="0"/>
              <a:ea typeface="Roboto" pitchFamily="34" charset="-122"/>
              <a:cs typeface="Times New Roman" panose="02020603050405020304" pitchFamily="18" charset="0"/>
            </a:endParaRPr>
          </a:p>
          <a:p>
            <a:pPr algn="ctr">
              <a:lnSpc>
                <a:spcPts val="2375"/>
              </a:lnSpc>
            </a:pPr>
            <a:r>
              <a:rPr lang="vi-VN" sz="1458">
                <a:solidFill>
                  <a:srgbClr val="15213F"/>
                </a:solidFill>
                <a:latin typeface="Times New Roman" panose="02020603050405020304" pitchFamily="18" charset="0"/>
                <a:ea typeface="Roboto" pitchFamily="34" charset="-122"/>
                <a:cs typeface="Times New Roman" panose="02020603050405020304" pitchFamily="18" charset="0"/>
              </a:rPr>
              <a:t>VFSG R1 on wing trên A879 từ 2019 chưa thực hiện thay thế lần nào. Nguyên nhân do lỗi tháo/lắp hoặc do lỗi Low oil pressure (LOP) trên VFSG.</a:t>
            </a:r>
          </a:p>
          <a:p>
            <a:pPr algn="ctr">
              <a:lnSpc>
                <a:spcPts val="2375"/>
              </a:lnSpc>
            </a:pPr>
            <a:endParaRPr lang="en-US" sz="1458" dirty="0">
              <a:solidFill>
                <a:srgbClr val="15213F"/>
              </a:solidFill>
              <a:latin typeface="Times New Roman" panose="02020603050405020304" pitchFamily="18" charset="0"/>
              <a:ea typeface="Roboto" pitchFamily="34" charset="-122"/>
              <a:cs typeface="Times New Roman" panose="02020603050405020304" pitchFamily="18" charset="0"/>
            </a:endParaRPr>
          </a:p>
        </p:txBody>
      </p:sp>
      <p:sp>
        <p:nvSpPr>
          <p:cNvPr id="17" name="Text 7">
            <a:extLst>
              <a:ext uri="{FF2B5EF4-FFF2-40B4-BE49-F238E27FC236}">
                <a16:creationId xmlns:a16="http://schemas.microsoft.com/office/drawing/2014/main" id="{45F4A193-89AA-05A4-E817-0D715C223754}"/>
              </a:ext>
            </a:extLst>
          </p:cNvPr>
          <p:cNvSpPr/>
          <p:nvPr/>
        </p:nvSpPr>
        <p:spPr>
          <a:xfrm>
            <a:off x="4112583" y="964714"/>
            <a:ext cx="3131378" cy="1526233"/>
          </a:xfrm>
          <a:prstGeom prst="rect">
            <a:avLst/>
          </a:prstGeom>
          <a:noFill/>
          <a:ln/>
        </p:spPr>
        <p:txBody>
          <a:bodyPr wrap="none" lIns="0" tIns="0" rIns="0" bIns="0" rtlCol="0" anchor="t"/>
          <a:lstStyle/>
          <a:p>
            <a:pPr algn="ctr">
              <a:lnSpc>
                <a:spcPts val="4875"/>
              </a:lnSpc>
            </a:pPr>
            <a:r>
              <a:rPr lang="en-US" sz="3600" dirty="0">
                <a:solidFill>
                  <a:srgbClr val="15213F"/>
                </a:solidFill>
                <a:latin typeface="Times New Roman" panose="02020603050405020304" pitchFamily="18" charset="0"/>
                <a:ea typeface="Roboto Slab" pitchFamily="34" charset="-122"/>
                <a:cs typeface="Times New Roman" panose="02020603050405020304" pitchFamily="18" charset="0"/>
              </a:rPr>
              <a:t>1</a:t>
            </a:r>
            <a:endParaRPr lang="en-US" sz="3600" dirty="0">
              <a:latin typeface="Times New Roman" panose="02020603050405020304" pitchFamily="18" charset="0"/>
              <a:cs typeface="Times New Roman" panose="02020603050405020304" pitchFamily="18" charset="0"/>
            </a:endParaRPr>
          </a:p>
        </p:txBody>
      </p:sp>
      <p:sp>
        <p:nvSpPr>
          <p:cNvPr id="18" name="Text 8">
            <a:extLst>
              <a:ext uri="{FF2B5EF4-FFF2-40B4-BE49-F238E27FC236}">
                <a16:creationId xmlns:a16="http://schemas.microsoft.com/office/drawing/2014/main" id="{85D5A467-BB6F-CB28-47D5-3594818F6362}"/>
              </a:ext>
            </a:extLst>
          </p:cNvPr>
          <p:cNvSpPr/>
          <p:nvPr/>
        </p:nvSpPr>
        <p:spPr>
          <a:xfrm>
            <a:off x="4672518" y="1540616"/>
            <a:ext cx="2154507" cy="722569"/>
          </a:xfrm>
          <a:prstGeom prst="rect">
            <a:avLst/>
          </a:prstGeom>
          <a:noFill/>
          <a:ln/>
        </p:spPr>
        <p:txBody>
          <a:bodyPr wrap="none" lIns="0" tIns="0" rIns="0" bIns="0" rtlCol="0" anchor="t"/>
          <a:lstStyle/>
          <a:p>
            <a:pPr algn="ctr">
              <a:lnSpc>
                <a:spcPts val="2292"/>
              </a:lnSpc>
            </a:pPr>
            <a:r>
              <a:rPr lang="en-US" sz="1833" dirty="0">
                <a:solidFill>
                  <a:srgbClr val="15213F"/>
                </a:solidFill>
                <a:latin typeface="Times New Roman" panose="02020603050405020304" pitchFamily="18" charset="0"/>
                <a:ea typeface="Roboto Slab" pitchFamily="34" charset="-122"/>
                <a:cs typeface="Times New Roman" panose="02020603050405020304" pitchFamily="18" charset="0"/>
              </a:rPr>
              <a:t>Hệ thống nhiên liệu</a:t>
            </a:r>
            <a:endParaRPr lang="en-US" sz="1833" dirty="0">
              <a:latin typeface="Times New Roman" panose="02020603050405020304" pitchFamily="18" charset="0"/>
              <a:cs typeface="Times New Roman" panose="02020603050405020304" pitchFamily="18" charset="0"/>
            </a:endParaRPr>
          </a:p>
        </p:txBody>
      </p:sp>
      <p:sp>
        <p:nvSpPr>
          <p:cNvPr id="19" name="Text 9">
            <a:extLst>
              <a:ext uri="{FF2B5EF4-FFF2-40B4-BE49-F238E27FC236}">
                <a16:creationId xmlns:a16="http://schemas.microsoft.com/office/drawing/2014/main" id="{EFC045A4-CD6F-6A31-F714-20A328933FDC}"/>
              </a:ext>
            </a:extLst>
          </p:cNvPr>
          <p:cNvSpPr/>
          <p:nvPr/>
        </p:nvSpPr>
        <p:spPr>
          <a:xfrm>
            <a:off x="3807332" y="1875847"/>
            <a:ext cx="3769672" cy="1645911"/>
          </a:xfrm>
          <a:prstGeom prst="rect">
            <a:avLst/>
          </a:prstGeom>
          <a:noFill/>
          <a:ln/>
        </p:spPr>
        <p:txBody>
          <a:bodyPr wrap="square" lIns="0" tIns="0" rIns="0" bIns="0" rtlCol="0" anchor="t"/>
          <a:lstStyle/>
          <a:p>
            <a:pPr algn="ctr">
              <a:lnSpc>
                <a:spcPts val="2375"/>
              </a:lnSpc>
            </a:pPr>
            <a:r>
              <a:rPr lang="en-US" sz="1458">
                <a:solidFill>
                  <a:srgbClr val="15213F"/>
                </a:solidFill>
                <a:latin typeface="Times New Roman" panose="02020603050405020304" pitchFamily="18" charset="0"/>
                <a:ea typeface="Roboto" pitchFamily="34" charset="-122"/>
                <a:cs typeface="Times New Roman" panose="02020603050405020304" pitchFamily="18" charset="0"/>
              </a:rPr>
              <a:t>A861 GTB ngày 08/02/2025 do MSG R CENTER FUEL PUMP LOW PRESS. Hỏng hóc có thể do Wiring, Pressure switch, Pump, Pump controller tuy nhiên các khối không có issue về ĐTC. Ngày 13/02 đã thay Pump Controller để khắc phục.</a:t>
            </a:r>
            <a:endParaRPr lang="en-US" sz="1458" dirty="0">
              <a:solidFill>
                <a:srgbClr val="15213F"/>
              </a:solidFill>
              <a:latin typeface="Times New Roman" panose="02020603050405020304" pitchFamily="18" charset="0"/>
              <a:ea typeface="Roboto" pitchFamily="34" charset="-122"/>
              <a:cs typeface="Times New Roman" panose="02020603050405020304" pitchFamily="18" charset="0"/>
            </a:endParaRPr>
          </a:p>
        </p:txBody>
      </p:sp>
      <p:sp>
        <p:nvSpPr>
          <p:cNvPr id="5" name="Title 1">
            <a:extLst>
              <a:ext uri="{FF2B5EF4-FFF2-40B4-BE49-F238E27FC236}">
                <a16:creationId xmlns:a16="http://schemas.microsoft.com/office/drawing/2014/main" id="{EC03322C-C195-6C26-3128-4350F4834C74}"/>
              </a:ext>
            </a:extLst>
          </p:cNvPr>
          <p:cNvSpPr txBox="1">
            <a:spLocks/>
          </p:cNvSpPr>
          <p:nvPr/>
        </p:nvSpPr>
        <p:spPr>
          <a:xfrm>
            <a:off x="219651" y="3847214"/>
            <a:ext cx="11060239"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HỎNG HÓC NỔI CỘM KHÁC</a:t>
            </a:r>
            <a:endParaRPr kumimoji="0" lang="en-US" sz="1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endParaRPr>
          </a:p>
        </p:txBody>
      </p:sp>
      <p:pic>
        <p:nvPicPr>
          <p:cNvPr id="6" name="Image 0" descr="preencoded.png">
            <a:extLst>
              <a:ext uri="{FF2B5EF4-FFF2-40B4-BE49-F238E27FC236}">
                <a16:creationId xmlns:a16="http://schemas.microsoft.com/office/drawing/2014/main" id="{F7031476-33BF-EACC-3C8F-6BF06B99EA7D}"/>
              </a:ext>
            </a:extLst>
          </p:cNvPr>
          <p:cNvPicPr>
            <a:picLocks noChangeAspect="1"/>
          </p:cNvPicPr>
          <p:nvPr/>
        </p:nvPicPr>
        <p:blipFill>
          <a:blip r:embed="rId3"/>
          <a:stretch>
            <a:fillRect/>
          </a:stretch>
        </p:blipFill>
        <p:spPr>
          <a:xfrm>
            <a:off x="229227" y="4222740"/>
            <a:ext cx="855563" cy="776541"/>
          </a:xfrm>
          <a:prstGeom prst="rect">
            <a:avLst/>
          </a:prstGeom>
        </p:spPr>
      </p:pic>
      <p:sp>
        <p:nvSpPr>
          <p:cNvPr id="7" name="Text 1">
            <a:extLst>
              <a:ext uri="{FF2B5EF4-FFF2-40B4-BE49-F238E27FC236}">
                <a16:creationId xmlns:a16="http://schemas.microsoft.com/office/drawing/2014/main" id="{74941DD6-399A-D189-46DC-0ACDA617875E}"/>
              </a:ext>
            </a:extLst>
          </p:cNvPr>
          <p:cNvSpPr/>
          <p:nvPr/>
        </p:nvSpPr>
        <p:spPr>
          <a:xfrm>
            <a:off x="1213473" y="4199729"/>
            <a:ext cx="2300486" cy="267394"/>
          </a:xfrm>
          <a:prstGeom prst="rect">
            <a:avLst/>
          </a:prstGeom>
          <a:noFill/>
          <a:ln/>
        </p:spPr>
        <p:txBody>
          <a:bodyPr wrap="none" lIns="0" tIns="0" rIns="0" bIns="0" rtlCol="0" anchor="t"/>
          <a:lstStyle/>
          <a:p>
            <a:pPr>
              <a:lnSpc>
                <a:spcPts val="2083"/>
              </a:lnSpc>
            </a:pPr>
            <a:r>
              <a:rPr lang="en-US" sz="1600" b="1">
                <a:solidFill>
                  <a:srgbClr val="15213F"/>
                </a:solidFill>
                <a:latin typeface="Times New Roman" panose="02020603050405020304" pitchFamily="18" charset="0"/>
                <a:ea typeface="Roboto Slab" pitchFamily="34" charset="-122"/>
                <a:cs typeface="Times New Roman" panose="02020603050405020304" pitchFamily="18" charset="0"/>
              </a:rPr>
              <a:t>HỎNG HÓC EDP</a:t>
            </a:r>
            <a:endParaRPr lang="en-US" sz="1600" b="1" dirty="0">
              <a:latin typeface="Times New Roman" panose="02020603050405020304" pitchFamily="18" charset="0"/>
              <a:cs typeface="Times New Roman" panose="02020603050405020304" pitchFamily="18" charset="0"/>
            </a:endParaRPr>
          </a:p>
        </p:txBody>
      </p:sp>
      <p:sp>
        <p:nvSpPr>
          <p:cNvPr id="8" name="Text 2">
            <a:extLst>
              <a:ext uri="{FF2B5EF4-FFF2-40B4-BE49-F238E27FC236}">
                <a16:creationId xmlns:a16="http://schemas.microsoft.com/office/drawing/2014/main" id="{25EC8C44-D759-C018-661F-17D1DD3369E1}"/>
              </a:ext>
            </a:extLst>
          </p:cNvPr>
          <p:cNvSpPr/>
          <p:nvPr/>
        </p:nvSpPr>
        <p:spPr>
          <a:xfrm>
            <a:off x="1219762" y="4451735"/>
            <a:ext cx="10687564" cy="547688"/>
          </a:xfrm>
          <a:prstGeom prst="rect">
            <a:avLst/>
          </a:prstGeom>
          <a:noFill/>
          <a:ln/>
        </p:spPr>
        <p:txBody>
          <a:bodyPr wrap="square" lIns="0" tIns="0" rIns="0" bIns="0" rtlCol="0" anchor="t"/>
          <a:lstStyle/>
          <a:p>
            <a:pP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A868 AOG tại LHR ngày 14/03, khắc phục bằng cách thay EDP. </a:t>
            </a:r>
            <a:r>
              <a:rPr lang="vi-VN" sz="1400">
                <a:solidFill>
                  <a:srgbClr val="15213F"/>
                </a:solidFill>
                <a:latin typeface="Times New Roman" panose="02020603050405020304" pitchFamily="18" charset="0"/>
                <a:ea typeface="Roboto" pitchFamily="34" charset="-122"/>
                <a:cs typeface="Times New Roman" panose="02020603050405020304" pitchFamily="18" charset="0"/>
              </a:rPr>
              <a:t>Nguyên nhân có thể do khối EDP cao giờ nên mòn cơ khí gây hỏng tạo mạt làm tắc lọc</a:t>
            </a:r>
            <a:r>
              <a:rPr lang="en-US" sz="1400">
                <a:solidFill>
                  <a:srgbClr val="15213F"/>
                </a:solidFill>
                <a:latin typeface="Times New Roman" panose="02020603050405020304" pitchFamily="18" charset="0"/>
                <a:ea typeface="Roboto" pitchFamily="34" charset="-122"/>
                <a:cs typeface="Times New Roman" panose="02020603050405020304" pitchFamily="18" charset="0"/>
              </a:rPr>
              <a:t>, Ban KT sẽ nghiên cứu them SFR để đánh giá hỏng hóc và làm việc với NSX về giải pháp</a:t>
            </a:r>
            <a:endParaRPr lang="vi-VN" sz="1400">
              <a:solidFill>
                <a:srgbClr val="15213F"/>
              </a:solidFill>
              <a:latin typeface="Times New Roman" panose="02020603050405020304" pitchFamily="18" charset="0"/>
              <a:ea typeface="Roboto" pitchFamily="34" charset="-122"/>
              <a:cs typeface="Times New Roman" panose="02020603050405020304" pitchFamily="18" charset="0"/>
            </a:endParaRPr>
          </a:p>
          <a:p>
            <a:pPr>
              <a:lnSpc>
                <a:spcPts val="2125"/>
              </a:lnSpc>
            </a:pPr>
            <a:endParaRPr lang="en-US" sz="1400" dirty="0">
              <a:latin typeface="Times New Roman" panose="02020603050405020304" pitchFamily="18" charset="0"/>
              <a:cs typeface="Times New Roman" panose="02020603050405020304" pitchFamily="18" charset="0"/>
            </a:endParaRPr>
          </a:p>
        </p:txBody>
      </p:sp>
      <p:pic>
        <p:nvPicPr>
          <p:cNvPr id="14" name="Image 1" descr="preencoded.png">
            <a:extLst>
              <a:ext uri="{FF2B5EF4-FFF2-40B4-BE49-F238E27FC236}">
                <a16:creationId xmlns:a16="http://schemas.microsoft.com/office/drawing/2014/main" id="{F1582368-6F9C-8F58-D199-437DE90106FB}"/>
              </a:ext>
            </a:extLst>
          </p:cNvPr>
          <p:cNvPicPr>
            <a:picLocks noChangeAspect="1"/>
          </p:cNvPicPr>
          <p:nvPr/>
        </p:nvPicPr>
        <p:blipFill>
          <a:blip r:embed="rId4"/>
          <a:stretch>
            <a:fillRect/>
          </a:stretch>
        </p:blipFill>
        <p:spPr>
          <a:xfrm>
            <a:off x="229227" y="5018173"/>
            <a:ext cx="855563" cy="776541"/>
          </a:xfrm>
          <a:prstGeom prst="rect">
            <a:avLst/>
          </a:prstGeom>
        </p:spPr>
      </p:pic>
      <p:sp>
        <p:nvSpPr>
          <p:cNvPr id="15" name="Text 3">
            <a:extLst>
              <a:ext uri="{FF2B5EF4-FFF2-40B4-BE49-F238E27FC236}">
                <a16:creationId xmlns:a16="http://schemas.microsoft.com/office/drawing/2014/main" id="{4D0AC685-835C-ECCA-D422-A347F07B0CC5}"/>
              </a:ext>
            </a:extLst>
          </p:cNvPr>
          <p:cNvSpPr/>
          <p:nvPr/>
        </p:nvSpPr>
        <p:spPr>
          <a:xfrm>
            <a:off x="1250394" y="5040657"/>
            <a:ext cx="2145804" cy="267394"/>
          </a:xfrm>
          <a:prstGeom prst="rect">
            <a:avLst/>
          </a:prstGeom>
          <a:noFill/>
          <a:ln/>
        </p:spPr>
        <p:txBody>
          <a:bodyPr wrap="none" lIns="0" tIns="0" rIns="0" bIns="0" rtlCol="0" anchor="t"/>
          <a:lstStyle/>
          <a:p>
            <a:pPr>
              <a:lnSpc>
                <a:spcPts val="2083"/>
              </a:lnSpc>
            </a:pPr>
            <a:r>
              <a:rPr lang="en-US" sz="1600" b="1">
                <a:solidFill>
                  <a:srgbClr val="15213F"/>
                </a:solidFill>
                <a:latin typeface="Times New Roman" panose="02020603050405020304" pitchFamily="18" charset="0"/>
                <a:ea typeface="Roboto Slab" pitchFamily="34" charset="-122"/>
                <a:cs typeface="Times New Roman" panose="02020603050405020304" pitchFamily="18" charset="0"/>
              </a:rPr>
              <a:t>FLUID LEAK AT THSA</a:t>
            </a:r>
          </a:p>
        </p:txBody>
      </p:sp>
      <p:sp>
        <p:nvSpPr>
          <p:cNvPr id="16" name="Text 4">
            <a:extLst>
              <a:ext uri="{FF2B5EF4-FFF2-40B4-BE49-F238E27FC236}">
                <a16:creationId xmlns:a16="http://schemas.microsoft.com/office/drawing/2014/main" id="{C59DA713-329A-4CD7-3AE9-187D7B756A0C}"/>
              </a:ext>
            </a:extLst>
          </p:cNvPr>
          <p:cNvSpPr/>
          <p:nvPr/>
        </p:nvSpPr>
        <p:spPr>
          <a:xfrm>
            <a:off x="1213473" y="5255844"/>
            <a:ext cx="10494960" cy="547688"/>
          </a:xfrm>
          <a:prstGeom prst="rect">
            <a:avLst/>
          </a:prstGeom>
          <a:noFill/>
          <a:ln/>
        </p:spPr>
        <p:txBody>
          <a:bodyPr wrap="square" lIns="0" tIns="0" rIns="0" bIns="0" rtlCol="0" anchor="t"/>
          <a:lstStyle/>
          <a:p>
            <a:pPr>
              <a:lnSpc>
                <a:spcPts val="2125"/>
              </a:lnSpc>
            </a:pPr>
            <a:r>
              <a:rPr lang="en-US" sz="1400">
                <a:solidFill>
                  <a:srgbClr val="15213F"/>
                </a:solidFill>
                <a:latin typeface="Times New Roman" panose="02020603050405020304" pitchFamily="18" charset="0"/>
                <a:ea typeface="Roboto" pitchFamily="34" charset="-122"/>
                <a:cs typeface="Times New Roman" panose="02020603050405020304" pitchFamily="18" charset="0"/>
              </a:rPr>
              <a:t>A863 AOG ngày 28/01 và A872 AOG ngày 15/03, khắc phục bằng thay THSA. </a:t>
            </a:r>
            <a:r>
              <a:rPr lang="vi-VN" sz="1400">
                <a:solidFill>
                  <a:srgbClr val="15213F"/>
                </a:solidFill>
                <a:latin typeface="Times New Roman" panose="02020603050405020304" pitchFamily="18" charset="0"/>
                <a:ea typeface="Roboto" pitchFamily="34" charset="-122"/>
                <a:cs typeface="Times New Roman" panose="02020603050405020304" pitchFamily="18" charset="0"/>
              </a:rPr>
              <a:t>Hỏng hóc đã được nhận diện liên quan đến seal của THSA tuy nhiên chưa có giải pháp triệt để</a:t>
            </a:r>
            <a:r>
              <a:rPr lang="en-US" sz="1400">
                <a:solidFill>
                  <a:srgbClr val="15213F"/>
                </a:solidFill>
                <a:latin typeface="Times New Roman" panose="02020603050405020304" pitchFamily="18" charset="0"/>
                <a:ea typeface="Roboto" pitchFamily="34" charset="-122"/>
                <a:cs typeface="Times New Roman" panose="02020603050405020304" pitchFamily="18" charset="0"/>
              </a:rPr>
              <a:t>, giải pháp tạm thời là kiểm tra tần suất 2000FH để bổ sung oil trì hoãn thay thế.</a:t>
            </a:r>
            <a:endParaRPr lang="vi-VN" sz="1400">
              <a:solidFill>
                <a:srgbClr val="15213F"/>
              </a:solidFill>
              <a:latin typeface="Times New Roman" panose="02020603050405020304" pitchFamily="18" charset="0"/>
              <a:ea typeface="Roboto" pitchFamily="34" charset="-122"/>
              <a:cs typeface="Times New Roman" panose="02020603050405020304" pitchFamily="18" charset="0"/>
            </a:endParaRPr>
          </a:p>
          <a:p>
            <a:pPr>
              <a:lnSpc>
                <a:spcPts val="2125"/>
              </a:lnSpc>
            </a:pPr>
            <a:endParaRPr lang="en-US" sz="1400" dirty="0">
              <a:latin typeface="Times New Roman" panose="02020603050405020304" pitchFamily="18" charset="0"/>
              <a:cs typeface="Times New Roman" panose="02020603050405020304" pitchFamily="18" charset="0"/>
            </a:endParaRPr>
          </a:p>
        </p:txBody>
      </p:sp>
      <p:pic>
        <p:nvPicPr>
          <p:cNvPr id="23" name="Image 2" descr="preencoded.png">
            <a:extLst>
              <a:ext uri="{FF2B5EF4-FFF2-40B4-BE49-F238E27FC236}">
                <a16:creationId xmlns:a16="http://schemas.microsoft.com/office/drawing/2014/main" id="{338C53E5-9003-E44E-1C48-607168727387}"/>
              </a:ext>
            </a:extLst>
          </p:cNvPr>
          <p:cNvPicPr>
            <a:picLocks noChangeAspect="1"/>
          </p:cNvPicPr>
          <p:nvPr/>
        </p:nvPicPr>
        <p:blipFill>
          <a:blip r:embed="rId5"/>
          <a:stretch>
            <a:fillRect/>
          </a:stretch>
        </p:blipFill>
        <p:spPr>
          <a:xfrm>
            <a:off x="229227" y="5794406"/>
            <a:ext cx="855563" cy="946957"/>
          </a:xfrm>
          <a:prstGeom prst="rect">
            <a:avLst/>
          </a:prstGeom>
        </p:spPr>
      </p:pic>
      <p:sp>
        <p:nvSpPr>
          <p:cNvPr id="24" name="Text 5">
            <a:extLst>
              <a:ext uri="{FF2B5EF4-FFF2-40B4-BE49-F238E27FC236}">
                <a16:creationId xmlns:a16="http://schemas.microsoft.com/office/drawing/2014/main" id="{16C8D87E-5E4F-F2B6-68E9-E5FA4D52917A}"/>
              </a:ext>
            </a:extLst>
          </p:cNvPr>
          <p:cNvSpPr/>
          <p:nvPr/>
        </p:nvSpPr>
        <p:spPr>
          <a:xfrm>
            <a:off x="1212688" y="5859832"/>
            <a:ext cx="2138958" cy="267394"/>
          </a:xfrm>
          <a:prstGeom prst="rect">
            <a:avLst/>
          </a:prstGeom>
          <a:noFill/>
          <a:ln/>
        </p:spPr>
        <p:txBody>
          <a:bodyPr wrap="none" lIns="0" tIns="0" rIns="0" bIns="0" rtlCol="0" anchor="t"/>
          <a:lstStyle/>
          <a:p>
            <a:pPr>
              <a:lnSpc>
                <a:spcPts val="2083"/>
              </a:lnSpc>
            </a:pPr>
            <a:r>
              <a:rPr lang="en-US" sz="1600" b="1">
                <a:solidFill>
                  <a:srgbClr val="15213F"/>
                </a:solidFill>
                <a:latin typeface="Times New Roman" panose="02020603050405020304" pitchFamily="18" charset="0"/>
                <a:ea typeface="Roboto Slab" pitchFamily="34" charset="-122"/>
                <a:cs typeface="Times New Roman" panose="02020603050405020304" pitchFamily="18" charset="0"/>
              </a:rPr>
              <a:t>HỎNG HÓC CRACK HPT STG 1 CỦA ĐỘNG CƠ</a:t>
            </a:r>
            <a:endParaRPr lang="en-US" sz="1600" b="1" dirty="0">
              <a:latin typeface="Times New Roman" panose="02020603050405020304" pitchFamily="18" charset="0"/>
              <a:cs typeface="Times New Roman" panose="02020603050405020304" pitchFamily="18" charset="0"/>
            </a:endParaRPr>
          </a:p>
        </p:txBody>
      </p:sp>
      <p:sp>
        <p:nvSpPr>
          <p:cNvPr id="25" name="Text 6">
            <a:extLst>
              <a:ext uri="{FF2B5EF4-FFF2-40B4-BE49-F238E27FC236}">
                <a16:creationId xmlns:a16="http://schemas.microsoft.com/office/drawing/2014/main" id="{B4AA4B9D-03EA-0A17-7D0D-BE96FCFF9ECB}"/>
              </a:ext>
            </a:extLst>
          </p:cNvPr>
          <p:cNvSpPr/>
          <p:nvPr/>
        </p:nvSpPr>
        <p:spPr>
          <a:xfrm>
            <a:off x="1212687" y="6096773"/>
            <a:ext cx="9949685" cy="524801"/>
          </a:xfrm>
          <a:prstGeom prst="rect">
            <a:avLst/>
          </a:prstGeom>
          <a:noFill/>
          <a:ln/>
        </p:spPr>
        <p:txBody>
          <a:bodyPr wrap="square" lIns="0" tIns="0" rIns="0" bIns="0" rtlCol="0" anchor="t"/>
          <a:lstStyle/>
          <a:p>
            <a:pPr>
              <a:lnSpc>
                <a:spcPts val="2125"/>
              </a:lnSpc>
            </a:pPr>
            <a:r>
              <a:rPr lang="en-SG" sz="1400">
                <a:solidFill>
                  <a:srgbClr val="15213F"/>
                </a:solidFill>
                <a:latin typeface="Times New Roman" panose="02020603050405020304" pitchFamily="18" charset="0"/>
                <a:ea typeface="Roboto" pitchFamily="34" charset="-122"/>
                <a:cs typeface="Times New Roman" panose="02020603050405020304" pitchFamily="18" charset="0"/>
              </a:rPr>
              <a:t>Trong quý I phát sinh 03 động cơ trên các tàu A864, A870, A868 phải tháo trong 25FC. Nguyên nhân có thể do các Blade cao giờ, </a:t>
            </a:r>
            <a:r>
              <a:rPr lang="vi-VN" sz="1400">
                <a:solidFill>
                  <a:srgbClr val="15213F"/>
                </a:solidFill>
                <a:latin typeface="Times New Roman" panose="02020603050405020304" pitchFamily="18" charset="0"/>
                <a:ea typeface="Roboto" pitchFamily="34" charset="-122"/>
                <a:cs typeface="Times New Roman" panose="02020603050405020304" pitchFamily="18" charset="0"/>
              </a:rPr>
              <a:t>Ban KT đã </a:t>
            </a:r>
            <a:r>
              <a:rPr lang="en-US" sz="1400">
                <a:solidFill>
                  <a:srgbClr val="15213F"/>
                </a:solidFill>
                <a:latin typeface="Times New Roman" panose="02020603050405020304" pitchFamily="18" charset="0"/>
                <a:ea typeface="Roboto" pitchFamily="34" charset="-122"/>
                <a:cs typeface="Times New Roman" panose="02020603050405020304" pitchFamily="18" charset="0"/>
              </a:rPr>
              <a:t>triển khai đánh giá kỹ ở lần soi tiếp theo đối với các động cơ bị ảnh hưởng</a:t>
            </a:r>
            <a:r>
              <a:rPr lang="vi-VN" sz="1400">
                <a:solidFill>
                  <a:srgbClr val="15213F"/>
                </a:solidFill>
                <a:latin typeface="Times New Roman" panose="02020603050405020304" pitchFamily="18" charset="0"/>
                <a:ea typeface="Roboto" pitchFamily="34" charset="-122"/>
                <a:cs typeface="Times New Roman" panose="02020603050405020304" pitchFamily="18" charset="0"/>
              </a:rPr>
              <a:t>.</a:t>
            </a:r>
            <a:r>
              <a:rPr lang="en-US" sz="1400">
                <a:solidFill>
                  <a:srgbClr val="15213F"/>
                </a:solidFill>
                <a:latin typeface="Times New Roman" panose="02020603050405020304" pitchFamily="18" charset="0"/>
                <a:ea typeface="Roboto" pitchFamily="34" charset="-122"/>
                <a:cs typeface="Times New Roman" panose="02020603050405020304" pitchFamily="18" charset="0"/>
              </a:rPr>
              <a:t> Đ</a:t>
            </a:r>
            <a:r>
              <a:rPr lang="vi-VN" sz="1400">
                <a:solidFill>
                  <a:srgbClr val="15213F"/>
                </a:solidFill>
                <a:latin typeface="Times New Roman" panose="02020603050405020304" pitchFamily="18" charset="0"/>
                <a:ea typeface="Roboto" pitchFamily="34" charset="-122"/>
                <a:cs typeface="Times New Roman" panose="02020603050405020304" pitchFamily="18" charset="0"/>
              </a:rPr>
              <a:t>ội bay còn các động cơ trên A863, A871 soi ở tần suất 50FC</a:t>
            </a:r>
            <a:r>
              <a:rPr lang="en-US" sz="1400">
                <a:solidFill>
                  <a:srgbClr val="15213F"/>
                </a:solidFill>
                <a:latin typeface="Times New Roman" panose="02020603050405020304" pitchFamily="18" charset="0"/>
                <a:ea typeface="Roboto"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26" name="Text 7">
            <a:extLst>
              <a:ext uri="{FF2B5EF4-FFF2-40B4-BE49-F238E27FC236}">
                <a16:creationId xmlns:a16="http://schemas.microsoft.com/office/drawing/2014/main" id="{518504CB-71CE-CD16-0519-26B462B9AE72}"/>
              </a:ext>
            </a:extLst>
          </p:cNvPr>
          <p:cNvSpPr/>
          <p:nvPr/>
        </p:nvSpPr>
        <p:spPr>
          <a:xfrm>
            <a:off x="8430003" y="832475"/>
            <a:ext cx="3131378" cy="1526233"/>
          </a:xfrm>
          <a:prstGeom prst="rect">
            <a:avLst/>
          </a:prstGeom>
          <a:noFill/>
          <a:ln/>
        </p:spPr>
        <p:txBody>
          <a:bodyPr wrap="none" lIns="0" tIns="0" rIns="0" bIns="0" rtlCol="0" anchor="t"/>
          <a:lstStyle/>
          <a:p>
            <a:pPr algn="ctr">
              <a:lnSpc>
                <a:spcPts val="4875"/>
              </a:lnSpc>
            </a:pPr>
            <a:r>
              <a:rPr lang="en-US" sz="3600" dirty="0">
                <a:solidFill>
                  <a:srgbClr val="15213F"/>
                </a:solidFill>
                <a:latin typeface="Times New Roman" panose="02020603050405020304" pitchFamily="18" charset="0"/>
                <a:ea typeface="Roboto Slab" pitchFamily="34" charset="-122"/>
                <a:cs typeface="Times New Roman" panose="02020603050405020304" pitchFamily="18" charset="0"/>
              </a:rPr>
              <a:t>1</a:t>
            </a:r>
            <a:endParaRPr lang="en-US" sz="3600" dirty="0">
              <a:latin typeface="Times New Roman" panose="02020603050405020304" pitchFamily="18" charset="0"/>
              <a:cs typeface="Times New Roman" panose="02020603050405020304" pitchFamily="18" charset="0"/>
            </a:endParaRPr>
          </a:p>
        </p:txBody>
      </p:sp>
      <p:sp>
        <p:nvSpPr>
          <p:cNvPr id="27" name="Text 8">
            <a:extLst>
              <a:ext uri="{FF2B5EF4-FFF2-40B4-BE49-F238E27FC236}">
                <a16:creationId xmlns:a16="http://schemas.microsoft.com/office/drawing/2014/main" id="{09F8A440-1AFC-BFF5-C435-8852E65A1D2D}"/>
              </a:ext>
            </a:extLst>
          </p:cNvPr>
          <p:cNvSpPr/>
          <p:nvPr/>
        </p:nvSpPr>
        <p:spPr>
          <a:xfrm>
            <a:off x="8989938" y="1408377"/>
            <a:ext cx="2154507" cy="722569"/>
          </a:xfrm>
          <a:prstGeom prst="rect">
            <a:avLst/>
          </a:prstGeom>
          <a:noFill/>
          <a:ln/>
        </p:spPr>
        <p:txBody>
          <a:bodyPr wrap="none" lIns="0" tIns="0" rIns="0" bIns="0" rtlCol="0" anchor="t"/>
          <a:lstStyle/>
          <a:p>
            <a:pPr algn="ctr">
              <a:lnSpc>
                <a:spcPts val="2292"/>
              </a:lnSpc>
            </a:pPr>
            <a:r>
              <a:rPr lang="en-US" sz="1833" dirty="0">
                <a:solidFill>
                  <a:srgbClr val="15213F"/>
                </a:solidFill>
                <a:latin typeface="Times New Roman" panose="02020603050405020304" pitchFamily="18" charset="0"/>
                <a:ea typeface="Roboto Slab" pitchFamily="34" charset="-122"/>
                <a:cs typeface="Times New Roman" panose="02020603050405020304" pitchFamily="18" charset="0"/>
              </a:rPr>
              <a:t>Hệ </a:t>
            </a:r>
            <a:r>
              <a:rPr lang="en-US" sz="1833">
                <a:solidFill>
                  <a:srgbClr val="15213F"/>
                </a:solidFill>
                <a:latin typeface="Times New Roman" panose="02020603050405020304" pitchFamily="18" charset="0"/>
                <a:ea typeface="Roboto Slab" pitchFamily="34" charset="-122"/>
                <a:cs typeface="Times New Roman" panose="02020603050405020304" pitchFamily="18" charset="0"/>
              </a:rPr>
              <a:t>thống phanh</a:t>
            </a:r>
            <a:endParaRPr lang="en-US" sz="1833" dirty="0">
              <a:latin typeface="Times New Roman" panose="02020603050405020304" pitchFamily="18" charset="0"/>
              <a:cs typeface="Times New Roman" panose="02020603050405020304" pitchFamily="18" charset="0"/>
            </a:endParaRPr>
          </a:p>
        </p:txBody>
      </p:sp>
      <p:sp>
        <p:nvSpPr>
          <p:cNvPr id="28" name="Text 9">
            <a:extLst>
              <a:ext uri="{FF2B5EF4-FFF2-40B4-BE49-F238E27FC236}">
                <a16:creationId xmlns:a16="http://schemas.microsoft.com/office/drawing/2014/main" id="{55F995DD-3355-7928-0A97-D8A91D478C78}"/>
              </a:ext>
            </a:extLst>
          </p:cNvPr>
          <p:cNvSpPr/>
          <p:nvPr/>
        </p:nvSpPr>
        <p:spPr>
          <a:xfrm>
            <a:off x="7822677" y="1784089"/>
            <a:ext cx="4195321" cy="1645911"/>
          </a:xfrm>
          <a:prstGeom prst="rect">
            <a:avLst/>
          </a:prstGeom>
          <a:noFill/>
          <a:ln/>
        </p:spPr>
        <p:txBody>
          <a:bodyPr wrap="square" lIns="0" tIns="0" rIns="0" bIns="0" rtlCol="0" anchor="t"/>
          <a:lstStyle/>
          <a:p>
            <a:pPr algn="ctr">
              <a:lnSpc>
                <a:spcPts val="2375"/>
              </a:lnSpc>
            </a:pPr>
            <a:r>
              <a:rPr lang="vi-VN" sz="1458">
                <a:solidFill>
                  <a:srgbClr val="15213F"/>
                </a:solidFill>
                <a:latin typeface="Times New Roman" panose="02020603050405020304" pitchFamily="18" charset="0"/>
                <a:ea typeface="Roboto" pitchFamily="34" charset="-122"/>
                <a:cs typeface="Times New Roman" panose="02020603050405020304" pitchFamily="18" charset="0"/>
              </a:rPr>
              <a:t>A865 GTB ngày 21/02/2025 do MSG "ANTISKID" và MSG "AUTO BRAKE". Kiểm tra phát hiện harness PN 668Z701158-17 (W701158) bị trà sát gây ra lỗi FDE Antiskid 4, nguyên nhân có thể do FOD hoặc hoạt động bảo dưỡng.</a:t>
            </a:r>
            <a:endParaRPr lang="vi-VN" sz="1458" dirty="0">
              <a:solidFill>
                <a:srgbClr val="15213F"/>
              </a:solidFill>
              <a:latin typeface="Times New Roman" panose="02020603050405020304" pitchFamily="18" charset="0"/>
              <a:ea typeface="Roboto" pitchFamily="34" charset="-122"/>
              <a:cs typeface="Times New Roman" panose="02020603050405020304" pitchFamily="18" charset="0"/>
            </a:endParaRPr>
          </a:p>
        </p:txBody>
      </p:sp>
    </p:spTree>
    <p:extLst>
      <p:ext uri="{BB962C8B-B14F-4D97-AF65-F5344CB8AC3E}">
        <p14:creationId xmlns:p14="http://schemas.microsoft.com/office/powerpoint/2010/main" val="3892799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2" name="Title 1">
            <a:extLst>
              <a:ext uri="{FF2B5EF4-FFF2-40B4-BE49-F238E27FC236}">
                <a16:creationId xmlns:a16="http://schemas.microsoft.com/office/drawing/2014/main" id="{16F61D48-E7A0-8111-F432-F024AF03A1B9}"/>
              </a:ext>
            </a:extLst>
          </p:cNvPr>
          <p:cNvSpPr txBox="1">
            <a:spLocks/>
          </p:cNvSpPr>
          <p:nvPr/>
        </p:nvSpPr>
        <p:spPr>
          <a:xfrm>
            <a:off x="602172" y="280370"/>
            <a:ext cx="11060239"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a:defRPr/>
            </a:pPr>
            <a:r>
              <a:rPr lang="en-US" sz="2800" b="1">
                <a:solidFill>
                  <a:srgbClr val="D2A43B"/>
                </a:solidFill>
                <a:ea typeface="Tahoma" pitchFamily="34" charset="0"/>
                <a:cs typeface="Times New Roman" panose="02020603050405020304" pitchFamily="18" charset="0"/>
              </a:rPr>
              <a:t>ATR72 (04 RTO + 02 GTB)</a:t>
            </a:r>
            <a:endParaRPr lang="en-US" sz="2800" b="1" dirty="0">
              <a:solidFill>
                <a:srgbClr val="D2A43B"/>
              </a:solidFill>
              <a:ea typeface="Tahoma" pitchFamily="34" charset="0"/>
              <a:cs typeface="Times New Roman" panose="02020603050405020304" pitchFamily="18" charset="0"/>
            </a:endParaRPr>
          </a:p>
        </p:txBody>
      </p:sp>
      <p:pic>
        <p:nvPicPr>
          <p:cNvPr id="3" name="Image 0" descr="preencoded.png">
            <a:extLst>
              <a:ext uri="{FF2B5EF4-FFF2-40B4-BE49-F238E27FC236}">
                <a16:creationId xmlns:a16="http://schemas.microsoft.com/office/drawing/2014/main" id="{476C8754-37C6-1349-7251-61C8A35DAE67}"/>
              </a:ext>
            </a:extLst>
          </p:cNvPr>
          <p:cNvPicPr>
            <a:picLocks noChangeAspect="1"/>
          </p:cNvPicPr>
          <p:nvPr/>
        </p:nvPicPr>
        <p:blipFill>
          <a:blip r:embed="rId3"/>
          <a:stretch>
            <a:fillRect/>
          </a:stretch>
        </p:blipFill>
        <p:spPr>
          <a:xfrm>
            <a:off x="396236" y="833326"/>
            <a:ext cx="855563" cy="1259781"/>
          </a:xfrm>
          <a:prstGeom prst="rect">
            <a:avLst/>
          </a:prstGeom>
        </p:spPr>
      </p:pic>
      <p:sp>
        <p:nvSpPr>
          <p:cNvPr id="5" name="Text 1">
            <a:extLst>
              <a:ext uri="{FF2B5EF4-FFF2-40B4-BE49-F238E27FC236}">
                <a16:creationId xmlns:a16="http://schemas.microsoft.com/office/drawing/2014/main" id="{C55B3F76-259A-5269-C3FF-EA5869BC85EF}"/>
              </a:ext>
            </a:extLst>
          </p:cNvPr>
          <p:cNvSpPr/>
          <p:nvPr/>
        </p:nvSpPr>
        <p:spPr>
          <a:xfrm>
            <a:off x="1500977" y="873555"/>
            <a:ext cx="2300486" cy="267394"/>
          </a:xfrm>
          <a:prstGeom prst="rect">
            <a:avLst/>
          </a:prstGeom>
          <a:noFill/>
          <a:ln/>
        </p:spPr>
        <p:txBody>
          <a:bodyPr wrap="none" lIns="0" tIns="0" rIns="0" bIns="0" rtlCol="0" anchor="t"/>
          <a:lstStyle/>
          <a:p>
            <a:pPr>
              <a:lnSpc>
                <a:spcPts val="2083"/>
              </a:lnSpc>
            </a:pPr>
            <a:r>
              <a:rPr lang="en-US" sz="2000" b="1">
                <a:solidFill>
                  <a:srgbClr val="15213F"/>
                </a:solidFill>
                <a:latin typeface="Times New Roman" panose="02020603050405020304" pitchFamily="18" charset="0"/>
                <a:ea typeface="Roboto Slab" pitchFamily="34" charset="-122"/>
                <a:cs typeface="Times New Roman" panose="02020603050405020304" pitchFamily="18" charset="0"/>
              </a:rPr>
              <a:t>TO CONFIG</a:t>
            </a:r>
            <a:endParaRPr lang="en-US" sz="2000" b="1" dirty="0">
              <a:latin typeface="Times New Roman" panose="02020603050405020304" pitchFamily="18" charset="0"/>
              <a:cs typeface="Times New Roman" panose="02020603050405020304" pitchFamily="18" charset="0"/>
            </a:endParaRPr>
          </a:p>
        </p:txBody>
      </p:sp>
      <p:sp>
        <p:nvSpPr>
          <p:cNvPr id="6" name="Text 2">
            <a:extLst>
              <a:ext uri="{FF2B5EF4-FFF2-40B4-BE49-F238E27FC236}">
                <a16:creationId xmlns:a16="http://schemas.microsoft.com/office/drawing/2014/main" id="{9B62D621-6B42-B350-0D8A-46B665A6CA4C}"/>
              </a:ext>
            </a:extLst>
          </p:cNvPr>
          <p:cNvSpPr/>
          <p:nvPr/>
        </p:nvSpPr>
        <p:spPr>
          <a:xfrm>
            <a:off x="1450618" y="1204162"/>
            <a:ext cx="10345146" cy="547688"/>
          </a:xfrm>
          <a:prstGeom prst="rect">
            <a:avLst/>
          </a:prstGeom>
          <a:noFill/>
          <a:ln/>
        </p:spPr>
        <p:txBody>
          <a:bodyPr wrap="square" lIns="0" tIns="0" rIns="0" bIns="0" rtlCol="0" anchor="t"/>
          <a:lstStyle/>
          <a:p>
            <a:pPr>
              <a:lnSpc>
                <a:spcPts val="2125"/>
              </a:lnSpc>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Tàu </a:t>
            </a:r>
            <a:r>
              <a:rPr lang="en-US" sz="1600">
                <a:solidFill>
                  <a:srgbClr val="15213F"/>
                </a:solidFill>
                <a:latin typeface="Times New Roman" panose="02020603050405020304" pitchFamily="18" charset="0"/>
                <a:ea typeface="Roboto" pitchFamily="34" charset="-122"/>
                <a:cs typeface="Times New Roman" panose="02020603050405020304" pitchFamily="18" charset="0"/>
              </a:rPr>
              <a:t>B223 lặp </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lại nhiều </a:t>
            </a:r>
            <a:r>
              <a:rPr lang="en-US" sz="1600">
                <a:solidFill>
                  <a:srgbClr val="15213F"/>
                </a:solidFill>
                <a:latin typeface="Times New Roman" panose="02020603050405020304" pitchFamily="18" charset="0"/>
                <a:ea typeface="Roboto" pitchFamily="34" charset="-122"/>
                <a:cs typeface="Times New Roman" panose="02020603050405020304" pitchFamily="18" charset="0"/>
              </a:rPr>
              <a:t>lần với 02 RTO các ngày 04/01 và 16/02. </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Nguyên nhân có thể do Pitch Trim, Flap position, TLU hoặc Aileron tab lock.</a:t>
            </a:r>
            <a:endParaRPr lang="en-US" sz="1600" dirty="0">
              <a:latin typeface="Times New Roman" panose="02020603050405020304" pitchFamily="18" charset="0"/>
              <a:cs typeface="Times New Roman" panose="02020603050405020304" pitchFamily="18" charset="0"/>
            </a:endParaRPr>
          </a:p>
        </p:txBody>
      </p:sp>
      <p:pic>
        <p:nvPicPr>
          <p:cNvPr id="7" name="Image 1" descr="preencoded.png">
            <a:extLst>
              <a:ext uri="{FF2B5EF4-FFF2-40B4-BE49-F238E27FC236}">
                <a16:creationId xmlns:a16="http://schemas.microsoft.com/office/drawing/2014/main" id="{1D37EA6A-F033-97BA-E864-918A88111194}"/>
              </a:ext>
            </a:extLst>
          </p:cNvPr>
          <p:cNvPicPr>
            <a:picLocks noChangeAspect="1"/>
          </p:cNvPicPr>
          <p:nvPr/>
        </p:nvPicPr>
        <p:blipFill>
          <a:blip r:embed="rId4"/>
          <a:stretch>
            <a:fillRect/>
          </a:stretch>
        </p:blipFill>
        <p:spPr>
          <a:xfrm>
            <a:off x="396235" y="1976520"/>
            <a:ext cx="855563" cy="1259781"/>
          </a:xfrm>
          <a:prstGeom prst="rect">
            <a:avLst/>
          </a:prstGeom>
        </p:spPr>
      </p:pic>
      <p:sp>
        <p:nvSpPr>
          <p:cNvPr id="8" name="Text 3">
            <a:extLst>
              <a:ext uri="{FF2B5EF4-FFF2-40B4-BE49-F238E27FC236}">
                <a16:creationId xmlns:a16="http://schemas.microsoft.com/office/drawing/2014/main" id="{0773C864-E382-5C86-ECE3-340596A8B606}"/>
              </a:ext>
            </a:extLst>
          </p:cNvPr>
          <p:cNvSpPr/>
          <p:nvPr/>
        </p:nvSpPr>
        <p:spPr>
          <a:xfrm>
            <a:off x="1488700" y="1881046"/>
            <a:ext cx="2145804" cy="267394"/>
          </a:xfrm>
          <a:prstGeom prst="rect">
            <a:avLst/>
          </a:prstGeom>
          <a:noFill/>
          <a:ln/>
        </p:spPr>
        <p:txBody>
          <a:bodyPr wrap="none" lIns="0" tIns="0" rIns="0" bIns="0" rtlCol="0" anchor="t"/>
          <a:lstStyle/>
          <a:p>
            <a:pPr>
              <a:lnSpc>
                <a:spcPts val="2083"/>
              </a:lnSpc>
            </a:pPr>
            <a:r>
              <a:rPr lang="en-US" sz="2000" b="1" dirty="0">
                <a:solidFill>
                  <a:srgbClr val="15213F"/>
                </a:solidFill>
                <a:latin typeface="Times New Roman" panose="02020603050405020304" pitchFamily="18" charset="0"/>
                <a:ea typeface="Roboto Slab" pitchFamily="34" charset="-122"/>
                <a:cs typeface="Times New Roman" panose="02020603050405020304" pitchFamily="18" charset="0"/>
              </a:rPr>
              <a:t>AHRS 1 LOSS SIGNAL</a:t>
            </a:r>
            <a:endParaRPr lang="en-US" sz="2000" b="1" dirty="0">
              <a:latin typeface="Times New Roman" panose="02020603050405020304" pitchFamily="18" charset="0"/>
              <a:cs typeface="Times New Roman" panose="02020603050405020304" pitchFamily="18" charset="0"/>
            </a:endParaRPr>
          </a:p>
        </p:txBody>
      </p:sp>
      <p:sp>
        <p:nvSpPr>
          <p:cNvPr id="13" name="Text 4">
            <a:extLst>
              <a:ext uri="{FF2B5EF4-FFF2-40B4-BE49-F238E27FC236}">
                <a16:creationId xmlns:a16="http://schemas.microsoft.com/office/drawing/2014/main" id="{F9197F64-761E-3C23-B6FE-A37D208BECD3}"/>
              </a:ext>
            </a:extLst>
          </p:cNvPr>
          <p:cNvSpPr/>
          <p:nvPr/>
        </p:nvSpPr>
        <p:spPr>
          <a:xfrm>
            <a:off x="1488699" y="2163813"/>
            <a:ext cx="10405227" cy="752874"/>
          </a:xfrm>
          <a:prstGeom prst="rect">
            <a:avLst/>
          </a:prstGeom>
          <a:noFill/>
          <a:ln/>
        </p:spPr>
        <p:txBody>
          <a:bodyPr wrap="square" lIns="0" tIns="0" rIns="0" bIns="0" rtlCol="0" anchor="t"/>
          <a:lstStyle/>
          <a:p>
            <a:pPr>
              <a:lnSpc>
                <a:spcPts val="2125"/>
              </a:lnSpc>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Tàu </a:t>
            </a:r>
            <a:r>
              <a:rPr lang="en-US" sz="1600">
                <a:solidFill>
                  <a:srgbClr val="15213F"/>
                </a:solidFill>
                <a:latin typeface="Times New Roman" panose="02020603050405020304" pitchFamily="18" charset="0"/>
                <a:ea typeface="Roboto" pitchFamily="34" charset="-122"/>
                <a:cs typeface="Times New Roman" panose="02020603050405020304" pitchFamily="18" charset="0"/>
              </a:rPr>
              <a:t>B223 GTB ngày </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15/02/2025, khắc phục bằng cách thay AHRU#1. Thiết bị đã khai thác từ 2009 với TSN 24519, chưa gửi đi sửa lần </a:t>
            </a:r>
            <a:r>
              <a:rPr lang="en-US" sz="1600">
                <a:solidFill>
                  <a:srgbClr val="15213F"/>
                </a:solidFill>
                <a:latin typeface="Times New Roman" panose="02020603050405020304" pitchFamily="18" charset="0"/>
                <a:ea typeface="Roboto" pitchFamily="34" charset="-122"/>
                <a:cs typeface="Times New Roman" panose="02020603050405020304" pitchFamily="18" charset="0"/>
              </a:rPr>
              <a:t>nào. Hỏng hóc còn có thể liên quan đến wiring hoặc connector liên quan đến AHRU #1 (rung lắc khi taxi hoặc lúc cất hạ cánh có thể sẽ xuất hiện hỏng hóc).</a:t>
            </a:r>
            <a:endParaRPr lang="en-US" sz="1600" dirty="0">
              <a:latin typeface="Times New Roman" panose="02020603050405020304" pitchFamily="18" charset="0"/>
              <a:cs typeface="Times New Roman" panose="02020603050405020304" pitchFamily="18" charset="0"/>
            </a:endParaRPr>
          </a:p>
        </p:txBody>
      </p:sp>
      <p:pic>
        <p:nvPicPr>
          <p:cNvPr id="14" name="Image 2" descr="preencoded.png">
            <a:extLst>
              <a:ext uri="{FF2B5EF4-FFF2-40B4-BE49-F238E27FC236}">
                <a16:creationId xmlns:a16="http://schemas.microsoft.com/office/drawing/2014/main" id="{DA29267A-0FF6-1503-84D6-E4670CAFC465}"/>
              </a:ext>
            </a:extLst>
          </p:cNvPr>
          <p:cNvPicPr>
            <a:picLocks noChangeAspect="1"/>
          </p:cNvPicPr>
          <p:nvPr/>
        </p:nvPicPr>
        <p:blipFill>
          <a:blip r:embed="rId5"/>
          <a:stretch>
            <a:fillRect/>
          </a:stretch>
        </p:blipFill>
        <p:spPr>
          <a:xfrm>
            <a:off x="396235" y="3138303"/>
            <a:ext cx="855563" cy="1259781"/>
          </a:xfrm>
          <a:prstGeom prst="rect">
            <a:avLst/>
          </a:prstGeom>
        </p:spPr>
      </p:pic>
      <p:sp>
        <p:nvSpPr>
          <p:cNvPr id="15" name="Text 5">
            <a:extLst>
              <a:ext uri="{FF2B5EF4-FFF2-40B4-BE49-F238E27FC236}">
                <a16:creationId xmlns:a16="http://schemas.microsoft.com/office/drawing/2014/main" id="{A18514A5-076A-47D9-F105-7D93EE7CFFF2}"/>
              </a:ext>
            </a:extLst>
          </p:cNvPr>
          <p:cNvSpPr/>
          <p:nvPr/>
        </p:nvSpPr>
        <p:spPr>
          <a:xfrm>
            <a:off x="1495546" y="3102604"/>
            <a:ext cx="2138958" cy="267394"/>
          </a:xfrm>
          <a:prstGeom prst="rect">
            <a:avLst/>
          </a:prstGeom>
          <a:noFill/>
          <a:ln/>
        </p:spPr>
        <p:txBody>
          <a:bodyPr wrap="none" lIns="0" tIns="0" rIns="0" bIns="0" rtlCol="0" anchor="t"/>
          <a:lstStyle/>
          <a:p>
            <a:pPr>
              <a:lnSpc>
                <a:spcPts val="2083"/>
              </a:lnSpc>
            </a:pPr>
            <a:r>
              <a:rPr lang="en-US" sz="2000" b="1" dirty="0">
                <a:solidFill>
                  <a:srgbClr val="15213F"/>
                </a:solidFill>
                <a:latin typeface="Times New Roman" panose="02020603050405020304" pitchFamily="18" charset="0"/>
                <a:ea typeface="Roboto Slab" pitchFamily="34" charset="-122"/>
                <a:cs typeface="Times New Roman" panose="02020603050405020304" pitchFamily="18" charset="0"/>
              </a:rPr>
              <a:t>ATPCS NOT ARM</a:t>
            </a:r>
            <a:endParaRPr lang="en-US" sz="2000" b="1" dirty="0">
              <a:latin typeface="Times New Roman" panose="02020603050405020304" pitchFamily="18" charset="0"/>
              <a:cs typeface="Times New Roman" panose="02020603050405020304" pitchFamily="18" charset="0"/>
            </a:endParaRPr>
          </a:p>
        </p:txBody>
      </p:sp>
      <p:sp>
        <p:nvSpPr>
          <p:cNvPr id="16" name="Text 6">
            <a:extLst>
              <a:ext uri="{FF2B5EF4-FFF2-40B4-BE49-F238E27FC236}">
                <a16:creationId xmlns:a16="http://schemas.microsoft.com/office/drawing/2014/main" id="{868222FC-9DA9-86DE-6EB7-5C4DEC7FDCC9}"/>
              </a:ext>
            </a:extLst>
          </p:cNvPr>
          <p:cNvSpPr/>
          <p:nvPr/>
        </p:nvSpPr>
        <p:spPr>
          <a:xfrm>
            <a:off x="1479877" y="3358968"/>
            <a:ext cx="10494966" cy="1065118"/>
          </a:xfrm>
          <a:prstGeom prst="rect">
            <a:avLst/>
          </a:prstGeom>
          <a:noFill/>
          <a:ln/>
        </p:spPr>
        <p:txBody>
          <a:bodyPr wrap="square" lIns="0" tIns="0" rIns="0" bIns="0" rtlCol="0" anchor="t"/>
          <a:lstStyle/>
          <a:p>
            <a:pPr>
              <a:lnSpc>
                <a:spcPts val="2125"/>
              </a:lnSpc>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Tàu </a:t>
            </a:r>
            <a:r>
              <a:rPr lang="en-US" sz="1600">
                <a:solidFill>
                  <a:srgbClr val="15213F"/>
                </a:solidFill>
                <a:latin typeface="Times New Roman" panose="02020603050405020304" pitchFamily="18" charset="0"/>
                <a:ea typeface="Roboto" pitchFamily="34" charset="-122"/>
                <a:cs typeface="Times New Roman" panose="02020603050405020304" pitchFamily="18" charset="0"/>
              </a:rPr>
              <a:t>B223 RTO ngày 08 + 23/03/2025. </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Sau khi test lại, hệ thống hoạt động bình thường. </a:t>
            </a:r>
            <a:r>
              <a:rPr lang="en-US" sz="1600">
                <a:solidFill>
                  <a:srgbClr val="15213F"/>
                </a:solidFill>
                <a:latin typeface="Times New Roman" panose="02020603050405020304" pitchFamily="18" charset="0"/>
                <a:ea typeface="Roboto" pitchFamily="34" charset="-122"/>
                <a:cs typeface="Times New Roman" panose="02020603050405020304" pitchFamily="18" charset="0"/>
              </a:rPr>
              <a:t>Đã chủ động  thay AFU </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#1 để theo </a:t>
            </a:r>
            <a:r>
              <a:rPr lang="en-US" sz="1600">
                <a:solidFill>
                  <a:srgbClr val="15213F"/>
                </a:solidFill>
                <a:latin typeface="Times New Roman" panose="02020603050405020304" pitchFamily="18" charset="0"/>
                <a:ea typeface="Roboto" pitchFamily="34" charset="-122"/>
                <a:cs typeface="Times New Roman" panose="02020603050405020304" pitchFamily="18" charset="0"/>
              </a:rPr>
              <a:t>dõi.</a:t>
            </a:r>
          </a:p>
          <a:p>
            <a:pPr>
              <a:lnSpc>
                <a:spcPts val="2125"/>
              </a:lnSpc>
            </a:pPr>
            <a:r>
              <a:rPr lang="en-US" sz="1600">
                <a:solidFill>
                  <a:srgbClr val="15213F"/>
                </a:solidFill>
                <a:latin typeface="Times New Roman" panose="02020603050405020304" pitchFamily="18" charset="0"/>
                <a:ea typeface="Roboto" pitchFamily="34" charset="-122"/>
                <a:cs typeface="Times New Roman" panose="02020603050405020304" pitchFamily="18" charset="0"/>
              </a:rPr>
              <a:t>Có 5 nguyên nhân có khả năng gây ra hỏng hóc: Khối AFU, ATPCS Test Switch, Torque Sensor, Wiring, Microswith box</a:t>
            </a:r>
          </a:p>
          <a:p>
            <a:pPr>
              <a:lnSpc>
                <a:spcPts val="2125"/>
              </a:lnSpc>
            </a:pPr>
            <a:r>
              <a:rPr lang="en-US" sz="1600">
                <a:solidFill>
                  <a:srgbClr val="15213F"/>
                </a:solidFill>
                <a:latin typeface="Times New Roman" panose="02020603050405020304" pitchFamily="18" charset="0"/>
                <a:ea typeface="Roboto" pitchFamily="34" charset="-122"/>
                <a:cs typeface="Times New Roman" panose="02020603050405020304" pitchFamily="18" charset="0"/>
              </a:rPr>
              <a:t>Giải pháp: Tổ bay thực hiện ATPCS dynamic test sau chuyến bay cuối ngày để phát hiện sớm hỏng hóc; </a:t>
            </a:r>
          </a:p>
          <a:p>
            <a:pPr>
              <a:lnSpc>
                <a:spcPts val="2125"/>
              </a:lnSpc>
            </a:pPr>
            <a:r>
              <a:rPr lang="en-US" sz="1600">
                <a:solidFill>
                  <a:srgbClr val="15213F"/>
                </a:solidFill>
                <a:latin typeface="Times New Roman" panose="02020603050405020304" pitchFamily="18" charset="0"/>
                <a:ea typeface="Roboto" pitchFamily="34" charset="-122"/>
                <a:cs typeface="Times New Roman" panose="02020603050405020304" pitchFamily="18" charset="0"/>
              </a:rPr>
              <a:t>                  Nghiên cứu kiểm tra chủ động Wiring và Microswith box với tần suất phù hợp</a:t>
            </a:r>
          </a:p>
          <a:p>
            <a:pPr>
              <a:lnSpc>
                <a:spcPts val="2125"/>
              </a:lnSpc>
            </a:pPr>
            <a:endParaRPr lang="en-US" sz="1600">
              <a:latin typeface="Times New Roman" panose="02020603050405020304" pitchFamily="18" charset="0"/>
              <a:cs typeface="Times New Roman" panose="02020603050405020304" pitchFamily="18" charset="0"/>
            </a:endParaRPr>
          </a:p>
          <a:p>
            <a:pPr>
              <a:lnSpc>
                <a:spcPts val="2125"/>
              </a:lnSpc>
            </a:pPr>
            <a:endParaRPr lang="en-US" sz="1600" dirty="0">
              <a:latin typeface="Times New Roman" panose="02020603050405020304" pitchFamily="18" charset="0"/>
              <a:cs typeface="Times New Roman" panose="02020603050405020304" pitchFamily="18" charset="0"/>
            </a:endParaRPr>
          </a:p>
        </p:txBody>
      </p:sp>
      <p:pic>
        <p:nvPicPr>
          <p:cNvPr id="17" name="Image 3" descr="preencoded.png">
            <a:extLst>
              <a:ext uri="{FF2B5EF4-FFF2-40B4-BE49-F238E27FC236}">
                <a16:creationId xmlns:a16="http://schemas.microsoft.com/office/drawing/2014/main" id="{B2A78D67-A98B-C550-6ABB-4D93DEABF8F5}"/>
              </a:ext>
            </a:extLst>
          </p:cNvPr>
          <p:cNvPicPr>
            <a:picLocks noChangeAspect="1"/>
          </p:cNvPicPr>
          <p:nvPr/>
        </p:nvPicPr>
        <p:blipFill>
          <a:blip r:embed="rId6"/>
          <a:stretch>
            <a:fillRect/>
          </a:stretch>
        </p:blipFill>
        <p:spPr>
          <a:xfrm>
            <a:off x="373750" y="4328532"/>
            <a:ext cx="855563" cy="1259781"/>
          </a:xfrm>
          <a:prstGeom prst="rect">
            <a:avLst/>
          </a:prstGeom>
        </p:spPr>
      </p:pic>
      <p:sp>
        <p:nvSpPr>
          <p:cNvPr id="18" name="Text 7">
            <a:extLst>
              <a:ext uri="{FF2B5EF4-FFF2-40B4-BE49-F238E27FC236}">
                <a16:creationId xmlns:a16="http://schemas.microsoft.com/office/drawing/2014/main" id="{33405495-B040-369B-7E3E-1438F8A107BF}"/>
              </a:ext>
            </a:extLst>
          </p:cNvPr>
          <p:cNvSpPr/>
          <p:nvPr/>
        </p:nvSpPr>
        <p:spPr>
          <a:xfrm>
            <a:off x="1466261" y="4507902"/>
            <a:ext cx="2138958" cy="267394"/>
          </a:xfrm>
          <a:prstGeom prst="rect">
            <a:avLst/>
          </a:prstGeom>
          <a:noFill/>
          <a:ln/>
        </p:spPr>
        <p:txBody>
          <a:bodyPr wrap="none" lIns="0" tIns="0" rIns="0" bIns="0" rtlCol="0" anchor="t"/>
          <a:lstStyle/>
          <a:p>
            <a:pPr>
              <a:lnSpc>
                <a:spcPts val="2083"/>
              </a:lnSpc>
            </a:pPr>
            <a:r>
              <a:rPr lang="en-US" sz="2000" b="1" dirty="0">
                <a:solidFill>
                  <a:srgbClr val="15213F"/>
                </a:solidFill>
                <a:latin typeface="Times New Roman" panose="02020603050405020304" pitchFamily="18" charset="0"/>
                <a:ea typeface="Roboto Slab" pitchFamily="34" charset="-122"/>
                <a:cs typeface="Times New Roman" panose="02020603050405020304" pitchFamily="18" charset="0"/>
              </a:rPr>
              <a:t>ENG#1 BLEED LEAK</a:t>
            </a:r>
            <a:endParaRPr lang="en-US" sz="2000" b="1" dirty="0">
              <a:latin typeface="Times New Roman" panose="02020603050405020304" pitchFamily="18" charset="0"/>
              <a:cs typeface="Times New Roman" panose="02020603050405020304" pitchFamily="18" charset="0"/>
            </a:endParaRPr>
          </a:p>
        </p:txBody>
      </p:sp>
      <p:sp>
        <p:nvSpPr>
          <p:cNvPr id="19" name="Text 8">
            <a:extLst>
              <a:ext uri="{FF2B5EF4-FFF2-40B4-BE49-F238E27FC236}">
                <a16:creationId xmlns:a16="http://schemas.microsoft.com/office/drawing/2014/main" id="{85997D3F-83CD-7071-1127-29DF4F47FF58}"/>
              </a:ext>
            </a:extLst>
          </p:cNvPr>
          <p:cNvSpPr/>
          <p:nvPr/>
        </p:nvSpPr>
        <p:spPr>
          <a:xfrm>
            <a:off x="1462595" y="4791348"/>
            <a:ext cx="10192188" cy="547688"/>
          </a:xfrm>
          <a:prstGeom prst="rect">
            <a:avLst/>
          </a:prstGeom>
          <a:noFill/>
          <a:ln/>
        </p:spPr>
        <p:txBody>
          <a:bodyPr wrap="square" lIns="0" tIns="0" rIns="0" bIns="0" rtlCol="0" anchor="t"/>
          <a:lstStyle/>
          <a:p>
            <a:pPr>
              <a:lnSpc>
                <a:spcPts val="2125"/>
              </a:lnSpc>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Tàu </a:t>
            </a:r>
            <a:r>
              <a:rPr lang="en-US" sz="1600">
                <a:solidFill>
                  <a:srgbClr val="15213F"/>
                </a:solidFill>
                <a:latin typeface="Times New Roman" panose="02020603050405020304" pitchFamily="18" charset="0"/>
                <a:ea typeface="Roboto" pitchFamily="34" charset="-122"/>
                <a:cs typeface="Times New Roman" panose="02020603050405020304" pitchFamily="18" charset="0"/>
              </a:rPr>
              <a:t>B218 GTB </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ngày 15/03/2025. Nguyên nhân do O-ring P/N ASNA2141-40-07 bị hỏng</a:t>
            </a:r>
            <a:r>
              <a:rPr lang="en-US" sz="1600">
                <a:solidFill>
                  <a:srgbClr val="15213F"/>
                </a:solidFill>
                <a:latin typeface="Times New Roman" panose="02020603050405020304" pitchFamily="18" charset="0"/>
                <a:ea typeface="Roboto" pitchFamily="34" charset="-122"/>
                <a:cs typeface="Times New Roman" panose="02020603050405020304" pitchFamily="18" charset="0"/>
              </a:rPr>
              <a:t>. Hỏng hóc đã có chương trình đánh chặn kiểm tra theo AMP tần suất 3000 FH/ 4A và thay thế ở 2Y, Ban KT sẽ xem xét đánh giá để thay thế ở tần suất 4A.</a:t>
            </a:r>
            <a:endParaRPr lang="en-US" sz="1600" dirty="0">
              <a:latin typeface="Times New Roman" panose="02020603050405020304" pitchFamily="18" charset="0"/>
              <a:cs typeface="Times New Roman" panose="02020603050405020304" pitchFamily="18" charset="0"/>
            </a:endParaRPr>
          </a:p>
        </p:txBody>
      </p:sp>
      <p:sp>
        <p:nvSpPr>
          <p:cNvPr id="26" name="Slide Number Placeholder 3">
            <a:extLst>
              <a:ext uri="{FF2B5EF4-FFF2-40B4-BE49-F238E27FC236}">
                <a16:creationId xmlns:a16="http://schemas.microsoft.com/office/drawing/2014/main" id="{C8EDEB0D-669A-89B8-F612-60842D9CFB8B}"/>
              </a:ext>
            </a:extLst>
          </p:cNvPr>
          <p:cNvSpPr txBox="1">
            <a:spLocks/>
          </p:cNvSpPr>
          <p:nvPr/>
        </p:nvSpPr>
        <p:spPr>
          <a:xfrm>
            <a:off x="11352311" y="8028609"/>
            <a:ext cx="731600" cy="524800"/>
          </a:xfrm>
          <a:prstGeom prst="rect">
            <a:avLst/>
          </a:prstGeom>
        </p:spPr>
        <p:txBody>
          <a:bodyPr spcFirstLastPara="1" vert="horz" wrap="square" lIns="91425" tIns="91425" rIns="91425" bIns="91425" rtlCol="0" anchor="ctr" anchorCtr="0">
            <a:normAutofit/>
          </a:bodyPr>
          <a:lstStyle>
            <a:defPPr>
              <a:defRPr lang="en-US"/>
            </a:defPPr>
            <a:lvl1pPr marL="0" lvl="0" algn="r" defTabSz="914400" rtl="0" eaLnBrk="1" latinLnBrk="0" hangingPunct="1">
              <a:buNone/>
              <a:defRPr sz="1200" kern="1200">
                <a:solidFill>
                  <a:schemeClr val="tx1">
                    <a:tint val="75000"/>
                  </a:schemeClr>
                </a:solidFill>
                <a:latin typeface="Times New Roman" panose="02020603050405020304" pitchFamily="18" charset="0"/>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pPr>
              <a:defRPr/>
            </a:pPr>
            <a:fld id="{6C6B6B8D-D74E-47CD-B5EE-156060B7CD17}" type="slidenum">
              <a:rPr lang="en-US" smtClean="0">
                <a:solidFill>
                  <a:prstClr val="black">
                    <a:tint val="75000"/>
                  </a:prstClr>
                </a:solidFill>
              </a:rPr>
              <a:pPr>
                <a:defRPr/>
              </a:pPr>
              <a:t>8</a:t>
            </a:fld>
            <a:endParaRPr lang="en-US">
              <a:solidFill>
                <a:prstClr val="black">
                  <a:tint val="75000"/>
                </a:prstClr>
              </a:solidFill>
            </a:endParaRPr>
          </a:p>
        </p:txBody>
      </p:sp>
      <p:sp>
        <p:nvSpPr>
          <p:cNvPr id="34" name="Text 5">
            <a:extLst>
              <a:ext uri="{FF2B5EF4-FFF2-40B4-BE49-F238E27FC236}">
                <a16:creationId xmlns:a16="http://schemas.microsoft.com/office/drawing/2014/main" id="{15C93E0F-4ED6-051F-DE77-D7891B61026B}"/>
              </a:ext>
            </a:extLst>
          </p:cNvPr>
          <p:cNvSpPr/>
          <p:nvPr/>
        </p:nvSpPr>
        <p:spPr>
          <a:xfrm>
            <a:off x="1402627" y="7834602"/>
            <a:ext cx="2138958" cy="267394"/>
          </a:xfrm>
          <a:prstGeom prst="rect">
            <a:avLst/>
          </a:prstGeom>
          <a:noFill/>
          <a:ln/>
        </p:spPr>
        <p:txBody>
          <a:bodyPr wrap="none" lIns="0" tIns="0" rIns="0" bIns="0" rtlCol="0" anchor="t"/>
          <a:lstStyle/>
          <a:p>
            <a:pPr>
              <a:lnSpc>
                <a:spcPts val="2083"/>
              </a:lnSpc>
            </a:pPr>
            <a:r>
              <a:rPr lang="en-US" sz="1600" b="1">
                <a:solidFill>
                  <a:srgbClr val="15213F"/>
                </a:solidFill>
                <a:latin typeface="Times New Roman" panose="02020603050405020304" pitchFamily="18" charset="0"/>
                <a:ea typeface="Roboto Slab" pitchFamily="34" charset="-122"/>
                <a:cs typeface="Times New Roman" panose="02020603050405020304" pitchFamily="18" charset="0"/>
              </a:rPr>
              <a:t>HỎNG HÓC CRACK HPT STG 1 CỦA ĐỘNG CƠ</a:t>
            </a:r>
            <a:endParaRPr lang="en-US" sz="1600" b="1" dirty="0">
              <a:latin typeface="Times New Roman" panose="02020603050405020304" pitchFamily="18" charset="0"/>
              <a:cs typeface="Times New Roman" panose="02020603050405020304" pitchFamily="18" charset="0"/>
            </a:endParaRPr>
          </a:p>
        </p:txBody>
      </p:sp>
      <p:pic>
        <p:nvPicPr>
          <p:cNvPr id="35" name="Image 2" descr="preencoded.png">
            <a:extLst>
              <a:ext uri="{FF2B5EF4-FFF2-40B4-BE49-F238E27FC236}">
                <a16:creationId xmlns:a16="http://schemas.microsoft.com/office/drawing/2014/main" id="{B466CDCE-88EC-C0C8-6726-38423572F434}"/>
              </a:ext>
            </a:extLst>
          </p:cNvPr>
          <p:cNvPicPr>
            <a:picLocks noChangeAspect="1"/>
          </p:cNvPicPr>
          <p:nvPr/>
        </p:nvPicPr>
        <p:blipFill>
          <a:blip r:embed="rId5"/>
          <a:stretch>
            <a:fillRect/>
          </a:stretch>
        </p:blipFill>
        <p:spPr>
          <a:xfrm>
            <a:off x="396235" y="5490315"/>
            <a:ext cx="855563" cy="1259781"/>
          </a:xfrm>
          <a:prstGeom prst="rect">
            <a:avLst/>
          </a:prstGeom>
        </p:spPr>
      </p:pic>
      <p:sp>
        <p:nvSpPr>
          <p:cNvPr id="36" name="Text 7">
            <a:extLst>
              <a:ext uri="{FF2B5EF4-FFF2-40B4-BE49-F238E27FC236}">
                <a16:creationId xmlns:a16="http://schemas.microsoft.com/office/drawing/2014/main" id="{F5304857-E79A-D0DE-4916-8A107A6BBC1C}"/>
              </a:ext>
            </a:extLst>
          </p:cNvPr>
          <p:cNvSpPr/>
          <p:nvPr/>
        </p:nvSpPr>
        <p:spPr>
          <a:xfrm>
            <a:off x="1402627" y="5634614"/>
            <a:ext cx="2138958" cy="267394"/>
          </a:xfrm>
          <a:prstGeom prst="rect">
            <a:avLst/>
          </a:prstGeom>
          <a:noFill/>
          <a:ln/>
        </p:spPr>
        <p:txBody>
          <a:bodyPr wrap="none" lIns="0" tIns="0" rIns="0" bIns="0" rtlCol="0" anchor="t"/>
          <a:lstStyle/>
          <a:p>
            <a:pPr>
              <a:lnSpc>
                <a:spcPts val="2083"/>
              </a:lnSpc>
            </a:pPr>
            <a:r>
              <a:rPr lang="en-US" sz="2000" b="1">
                <a:solidFill>
                  <a:srgbClr val="15213F"/>
                </a:solidFill>
                <a:latin typeface="Times New Roman" panose="02020603050405020304" pitchFamily="18" charset="0"/>
                <a:ea typeface="Roboto Slab" pitchFamily="34" charset="-122"/>
                <a:cs typeface="Times New Roman" panose="02020603050405020304" pitchFamily="18" charset="0"/>
              </a:rPr>
              <a:t>HỎNG HÓC NỔI CỘM KHÁC</a:t>
            </a:r>
            <a:endParaRPr lang="en-US" sz="2000" b="1" dirty="0">
              <a:latin typeface="Times New Roman" panose="02020603050405020304" pitchFamily="18" charset="0"/>
              <a:cs typeface="Times New Roman" panose="02020603050405020304" pitchFamily="18" charset="0"/>
            </a:endParaRPr>
          </a:p>
        </p:txBody>
      </p:sp>
      <p:sp>
        <p:nvSpPr>
          <p:cNvPr id="37" name="Text 8">
            <a:extLst>
              <a:ext uri="{FF2B5EF4-FFF2-40B4-BE49-F238E27FC236}">
                <a16:creationId xmlns:a16="http://schemas.microsoft.com/office/drawing/2014/main" id="{F0869783-26C1-1C88-DF71-5D9939628014}"/>
              </a:ext>
            </a:extLst>
          </p:cNvPr>
          <p:cNvSpPr/>
          <p:nvPr/>
        </p:nvSpPr>
        <p:spPr>
          <a:xfrm>
            <a:off x="1398961" y="5918059"/>
            <a:ext cx="10107239" cy="824363"/>
          </a:xfrm>
          <a:prstGeom prst="rect">
            <a:avLst/>
          </a:prstGeom>
          <a:noFill/>
          <a:ln/>
        </p:spPr>
        <p:txBody>
          <a:bodyPr wrap="square" lIns="0" tIns="0" rIns="0" bIns="0" rtlCol="0" anchor="t"/>
          <a:lstStyle/>
          <a:p>
            <a:pPr>
              <a:lnSpc>
                <a:spcPts val="2125"/>
              </a:lnSpc>
            </a:pPr>
            <a:r>
              <a:rPr lang="en-US" sz="1600">
                <a:solidFill>
                  <a:srgbClr val="15213F"/>
                </a:solidFill>
                <a:latin typeface="Times New Roman" panose="02020603050405020304" pitchFamily="18" charset="0"/>
                <a:ea typeface="Roboto" pitchFamily="34" charset="-122"/>
                <a:cs typeface="Times New Roman" panose="02020603050405020304" pitchFamily="18" charset="0"/>
              </a:rPr>
              <a:t>Tàu B223 hardlanding VN8055 ngày 19/03 và AOG từ 23/03 để kiểm tra xác định phải thay càng trái. Tàu đã phải swap càng trái với tàu B218 (đẩy sớm vào định kỳ Y08 từ 03/04) để B223 trở lại khai thác ngày 04/04, còn B218 tiếp tục chờ cung ứng càng thay thế.</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198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200"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9</a:t>
            </a:fld>
            <a:endParaRPr kumimoji="0" sz="1200"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6" name="Title 1"/>
          <p:cNvSpPr>
            <a:spLocks noGrp="1"/>
          </p:cNvSpPr>
          <p:nvPr>
            <p:ph type="title"/>
          </p:nvPr>
        </p:nvSpPr>
        <p:spPr>
          <a:xfrm>
            <a:off x="533400" y="137482"/>
            <a:ext cx="9759821" cy="847593"/>
          </a:xfrm>
        </p:spPr>
        <p:txBody>
          <a:bodyPr>
            <a:noAutofit/>
          </a:bodyPr>
          <a:lstStyle/>
          <a:p>
            <a:pPr>
              <a:spcBef>
                <a:spcPct val="0"/>
              </a:spcBef>
              <a:buClrTx/>
              <a:buSzTx/>
              <a:defRPr/>
            </a:pPr>
            <a:r>
              <a:rPr lang="en-US" altLang="en-US" dirty="0">
                <a:solidFill>
                  <a:srgbClr val="D2A43B"/>
                </a:solidFill>
                <a:latin typeface="Times New Roman" panose="02020603050405020304" pitchFamily="18" charset="0"/>
                <a:ea typeface="Tahoma" pitchFamily="34" charset="0"/>
                <a:cs typeface="Times New Roman" panose="02020603050405020304" pitchFamily="18" charset="0"/>
              </a:rPr>
              <a:t>CÁC CHỈ </a:t>
            </a:r>
            <a:r>
              <a:rPr lang="en-US" altLang="en-US">
                <a:solidFill>
                  <a:srgbClr val="D2A43B"/>
                </a:solidFill>
                <a:latin typeface="Times New Roman" panose="02020603050405020304" pitchFamily="18" charset="0"/>
                <a:ea typeface="Tahoma" pitchFamily="34" charset="0"/>
                <a:cs typeface="Times New Roman" panose="02020603050405020304" pitchFamily="18" charset="0"/>
              </a:rPr>
              <a:t>SỐ KPI TỔ SAG#2 QI/2025</a:t>
            </a:r>
            <a:endParaRPr lang="en-US" dirty="0">
              <a:solidFill>
                <a:srgbClr val="D2A43B"/>
              </a:solidFill>
              <a:latin typeface="Times New Roman" panose="02020603050405020304" pitchFamily="18" charset="0"/>
              <a:ea typeface="Tahoma" pitchFamily="34"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1245E702-1FFE-4652-837D-706E42A77700}"/>
              </a:ext>
            </a:extLst>
          </p:cNvPr>
          <p:cNvGraphicFramePr>
            <a:graphicFrameLocks noGrp="1"/>
          </p:cNvGraphicFramePr>
          <p:nvPr>
            <p:extLst>
              <p:ext uri="{D42A27DB-BD31-4B8C-83A1-F6EECF244321}">
                <p14:modId xmlns:p14="http://schemas.microsoft.com/office/powerpoint/2010/main" val="399997030"/>
              </p:ext>
            </p:extLst>
          </p:nvPr>
        </p:nvGraphicFramePr>
        <p:xfrm>
          <a:off x="419412" y="665471"/>
          <a:ext cx="11239188" cy="6086379"/>
        </p:xfrm>
        <a:graphic>
          <a:graphicData uri="http://schemas.openxmlformats.org/drawingml/2006/table">
            <a:tbl>
              <a:tblPr firstRow="1" bandRow="1">
                <a:tableStyleId>{5C22544A-7EE6-4342-B048-85BDC9FD1C3A}</a:tableStyleId>
              </a:tblPr>
              <a:tblGrid>
                <a:gridCol w="475709">
                  <a:extLst>
                    <a:ext uri="{9D8B030D-6E8A-4147-A177-3AD203B41FA5}">
                      <a16:colId xmlns:a16="http://schemas.microsoft.com/office/drawing/2014/main" val="20000"/>
                    </a:ext>
                  </a:extLst>
                </a:gridCol>
                <a:gridCol w="2331505">
                  <a:extLst>
                    <a:ext uri="{9D8B030D-6E8A-4147-A177-3AD203B41FA5}">
                      <a16:colId xmlns:a16="http://schemas.microsoft.com/office/drawing/2014/main" val="20001"/>
                    </a:ext>
                  </a:extLst>
                </a:gridCol>
                <a:gridCol w="1600121">
                  <a:extLst>
                    <a:ext uri="{9D8B030D-6E8A-4147-A177-3AD203B41FA5}">
                      <a16:colId xmlns:a16="http://schemas.microsoft.com/office/drawing/2014/main" val="20002"/>
                    </a:ext>
                  </a:extLst>
                </a:gridCol>
                <a:gridCol w="904069">
                  <a:extLst>
                    <a:ext uri="{9D8B030D-6E8A-4147-A177-3AD203B41FA5}">
                      <a16:colId xmlns:a16="http://schemas.microsoft.com/office/drawing/2014/main" val="968021620"/>
                    </a:ext>
                  </a:extLst>
                </a:gridCol>
                <a:gridCol w="1664257">
                  <a:extLst>
                    <a:ext uri="{9D8B030D-6E8A-4147-A177-3AD203B41FA5}">
                      <a16:colId xmlns:a16="http://schemas.microsoft.com/office/drawing/2014/main" val="20003"/>
                    </a:ext>
                  </a:extLst>
                </a:gridCol>
                <a:gridCol w="4263527">
                  <a:extLst>
                    <a:ext uri="{9D8B030D-6E8A-4147-A177-3AD203B41FA5}">
                      <a16:colId xmlns:a16="http://schemas.microsoft.com/office/drawing/2014/main" val="20004"/>
                    </a:ext>
                  </a:extLst>
                </a:gridCol>
              </a:tblGrid>
              <a:tr h="309061">
                <a:tc rowSpan="2">
                  <a:txBody>
                    <a:bodyPr/>
                    <a:lstStyle/>
                    <a:p>
                      <a:pPr algn="ctr">
                        <a:lnSpc>
                          <a:spcPct val="100000"/>
                        </a:lnSpc>
                      </a:pPr>
                      <a:r>
                        <a:rPr lang="en-US" sz="1250" dirty="0">
                          <a:solidFill>
                            <a:srgbClr val="002060"/>
                          </a:solidFill>
                          <a:latin typeface="Times New Roman" panose="02020603050405020304" pitchFamily="18" charset="0"/>
                          <a:cs typeface="Times New Roman" panose="02020603050405020304" pitchFamily="18" charset="0"/>
                        </a:rPr>
                        <a:t>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rowSpan="2">
                  <a:txBody>
                    <a:bodyPr/>
                    <a:lstStyle/>
                    <a:p>
                      <a:pPr algn="ctr">
                        <a:lnSpc>
                          <a:spcPct val="100000"/>
                        </a:lnSpc>
                      </a:pPr>
                      <a:r>
                        <a:rPr lang="en-US" sz="1250" baseline="0">
                          <a:solidFill>
                            <a:srgbClr val="002060"/>
                          </a:solidFill>
                          <a:latin typeface="Times New Roman" panose="02020603050405020304" pitchFamily="18" charset="0"/>
                          <a:cs typeface="Times New Roman" panose="02020603050405020304" pitchFamily="18" charset="0"/>
                        </a:rPr>
                        <a:t>Chỉ </a:t>
                      </a:r>
                      <a:r>
                        <a:rPr lang="en-US" sz="1250" baseline="0" dirty="0" err="1">
                          <a:solidFill>
                            <a:srgbClr val="002060"/>
                          </a:solidFill>
                          <a:latin typeface="Times New Roman" panose="02020603050405020304" pitchFamily="18" charset="0"/>
                          <a:cs typeface="Times New Roman" panose="02020603050405020304" pitchFamily="18" charset="0"/>
                        </a:rPr>
                        <a:t>số</a:t>
                      </a:r>
                      <a:endParaRPr lang="en-US" sz="125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rowSpan="2">
                  <a:txBody>
                    <a:bodyPr/>
                    <a:lstStyle/>
                    <a:p>
                      <a:pPr algn="ctr">
                        <a:lnSpc>
                          <a:spcPct val="100000"/>
                        </a:lnSpc>
                      </a:pPr>
                      <a:r>
                        <a:rPr lang="en-US" sz="1250" dirty="0" err="1">
                          <a:solidFill>
                            <a:srgbClr val="002060"/>
                          </a:solidFill>
                          <a:latin typeface="Times New Roman" panose="02020603050405020304" pitchFamily="18" charset="0"/>
                          <a:cs typeface="Times New Roman" panose="02020603050405020304" pitchFamily="18" charset="0"/>
                        </a:rPr>
                        <a:t>Mục</a:t>
                      </a:r>
                      <a:r>
                        <a:rPr lang="en-US" sz="1250" dirty="0">
                          <a:solidFill>
                            <a:srgbClr val="002060"/>
                          </a:solidFill>
                          <a:latin typeface="Times New Roman" panose="02020603050405020304" pitchFamily="18" charset="0"/>
                          <a:cs typeface="Times New Roman" panose="02020603050405020304" pitchFamily="18" charset="0"/>
                        </a:rPr>
                        <a:t> </a:t>
                      </a:r>
                      <a:r>
                        <a:rPr lang="en-US" sz="1250" err="1">
                          <a:solidFill>
                            <a:srgbClr val="002060"/>
                          </a:solidFill>
                          <a:latin typeface="Times New Roman" panose="02020603050405020304" pitchFamily="18" charset="0"/>
                          <a:cs typeface="Times New Roman" panose="02020603050405020304" pitchFamily="18" charset="0"/>
                        </a:rPr>
                        <a:t>tiêu</a:t>
                      </a:r>
                      <a:r>
                        <a:rPr lang="en-US" sz="1250">
                          <a:solidFill>
                            <a:srgbClr val="002060"/>
                          </a:solidFill>
                          <a:latin typeface="Times New Roman" panose="02020603050405020304" pitchFamily="18" charset="0"/>
                          <a:cs typeface="Times New Roman" panose="02020603050405020304" pitchFamily="18" charset="0"/>
                        </a:rPr>
                        <a:t> 2025</a:t>
                      </a:r>
                      <a:endParaRPr lang="en-US" sz="125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gridSpan="2">
                  <a:txBody>
                    <a:bodyPr/>
                    <a:lstStyle/>
                    <a:p>
                      <a:pPr algn="ctr"/>
                      <a:r>
                        <a:rPr lang="en-US" sz="1200">
                          <a:solidFill>
                            <a:srgbClr val="002060"/>
                          </a:solidFill>
                          <a:latin typeface="Times New Roman" panose="02020603050405020304" pitchFamily="18" charset="0"/>
                          <a:cs typeface="Times New Roman" panose="02020603050405020304" pitchFamily="18" charset="0"/>
                        </a:rPr>
                        <a:t>Thực hiện  Quý</a:t>
                      </a:r>
                      <a:r>
                        <a:rPr lang="en-US" sz="1200" baseline="0">
                          <a:solidFill>
                            <a:srgbClr val="002060"/>
                          </a:solidFill>
                          <a:latin typeface="Times New Roman" panose="02020603050405020304" pitchFamily="18" charset="0"/>
                          <a:cs typeface="Times New Roman" panose="02020603050405020304" pitchFamily="18" charset="0"/>
                        </a:rPr>
                        <a:t> I </a:t>
                      </a:r>
                      <a:r>
                        <a:rPr lang="en-US" sz="1200">
                          <a:solidFill>
                            <a:srgbClr val="002060"/>
                          </a:solidFill>
                          <a:latin typeface="Times New Roman" panose="02020603050405020304" pitchFamily="18" charset="0"/>
                          <a:cs typeface="Times New Roman" panose="02020603050405020304" pitchFamily="18" charset="0"/>
                        </a:rPr>
                        <a:t>tháng 2025</a:t>
                      </a:r>
                      <a:endParaRPr lang="en-US" sz="12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hMerge="1">
                  <a:txBody>
                    <a:bodyPr/>
                    <a:lstStyle/>
                    <a:p>
                      <a:pPr algn="ctr"/>
                      <a:endParaRPr lang="en-US" sz="14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rowSpan="2">
                  <a:txBody>
                    <a:bodyPr/>
                    <a:lstStyle/>
                    <a:p>
                      <a:pPr algn="ctr">
                        <a:lnSpc>
                          <a:spcPct val="100000"/>
                        </a:lnSpc>
                      </a:pPr>
                      <a:r>
                        <a:rPr lang="en-US" sz="1250">
                          <a:solidFill>
                            <a:srgbClr val="002060"/>
                          </a:solidFill>
                          <a:latin typeface="Times New Roman" panose="02020603050405020304" pitchFamily="18" charset="0"/>
                          <a:cs typeface="Times New Roman" panose="02020603050405020304" pitchFamily="18" charset="0"/>
                        </a:rPr>
                        <a:t>Đánh</a:t>
                      </a:r>
                      <a:r>
                        <a:rPr lang="en-US" sz="1250" baseline="0">
                          <a:solidFill>
                            <a:srgbClr val="002060"/>
                          </a:solidFill>
                          <a:latin typeface="Times New Roman" panose="02020603050405020304" pitchFamily="18" charset="0"/>
                          <a:cs typeface="Times New Roman" panose="02020603050405020304" pitchFamily="18" charset="0"/>
                        </a:rPr>
                        <a:t> giá</a:t>
                      </a:r>
                      <a:endParaRPr lang="en-US" sz="125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548520338"/>
                  </a:ext>
                </a:extLst>
              </a:tr>
              <a:tr h="183633">
                <a:tc vMerge="1">
                  <a:txBody>
                    <a:bodyPr/>
                    <a:lstStyle/>
                    <a:p>
                      <a:pPr algn="ctr"/>
                      <a:endParaRPr lang="en-US" sz="14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vMerge="1">
                  <a:txBody>
                    <a:bodyPr/>
                    <a:lstStyle/>
                    <a:p>
                      <a:pPr algn="ctr"/>
                      <a:endParaRPr lang="en-US" sz="14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vMerge="1">
                  <a:txBody>
                    <a:bodyPr/>
                    <a:lstStyle/>
                    <a:p>
                      <a:pPr algn="ctr"/>
                      <a:endParaRPr lang="en-US" sz="14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100000"/>
                        </a:lnSpc>
                      </a:pPr>
                      <a:r>
                        <a:rPr lang="en-US" sz="1250">
                          <a:solidFill>
                            <a:srgbClr val="002060"/>
                          </a:solidFill>
                          <a:latin typeface="Times New Roman" panose="02020603050405020304" pitchFamily="18" charset="0"/>
                          <a:cs typeface="Times New Roman" panose="02020603050405020304" pitchFamily="18" charset="0"/>
                        </a:rPr>
                        <a:t>Số vụ việc</a:t>
                      </a:r>
                      <a:endParaRPr lang="en-US" sz="125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00000"/>
                        </a:lnSpc>
                      </a:pPr>
                      <a:r>
                        <a:rPr lang="en-US" sz="1250">
                          <a:solidFill>
                            <a:srgbClr val="002060"/>
                          </a:solidFill>
                          <a:latin typeface="Times New Roman" panose="02020603050405020304" pitchFamily="18" charset="0"/>
                          <a:cs typeface="Times New Roman" panose="02020603050405020304" pitchFamily="18" charset="0"/>
                        </a:rPr>
                        <a:t>Tỷ lệ</a:t>
                      </a:r>
                      <a:endParaRPr lang="en-US" sz="125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vMerge="1">
                  <a:txBody>
                    <a:bodyPr/>
                    <a:lstStyle/>
                    <a:p>
                      <a:pPr algn="ctr"/>
                      <a:endParaRPr lang="en-US" sz="1400"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427072">
                <a:tc>
                  <a:txBody>
                    <a:bodyPr/>
                    <a:lstStyle/>
                    <a:p>
                      <a:pPr marL="58420" algn="ctr">
                        <a:lnSpc>
                          <a:spcPct val="100000"/>
                        </a:lnSpc>
                        <a:spcAft>
                          <a:spcPts val="600"/>
                        </a:spcAft>
                      </a:pPr>
                      <a:r>
                        <a:rPr lang="en-US" sz="1100" dirty="0">
                          <a:solidFill>
                            <a:schemeClr val="tx1"/>
                          </a:solidFill>
                          <a:effectLst/>
                          <a:latin typeface="Times New Roman" panose="02020603050405020304" pitchFamily="18" charset="0"/>
                          <a:ea typeface="Times New Roman"/>
                          <a:cs typeface="Times New Roman" panose="02020603050405020304" pitchFamily="18" charset="0"/>
                        </a:rPr>
                        <a:t>1.</a:t>
                      </a: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rgbClr val="000000"/>
                          </a:solidFill>
                          <a:effectLst/>
                          <a:latin typeface="Times New Roman" panose="02020603050405020304" pitchFamily="18" charset="0"/>
                        </a:rPr>
                        <a:t>Sự cố A, B, C, D lĩnh vực kỹ thuật (vv/10000CB)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algn="ctr">
                        <a:lnSpc>
                          <a:spcPct val="100000"/>
                        </a:lnSpc>
                        <a:spcAft>
                          <a:spcPts val="600"/>
                        </a:spcAft>
                      </a:pPr>
                      <a:r>
                        <a:rPr lang="en-US" sz="1100" b="1">
                          <a:solidFill>
                            <a:schemeClr val="tx1"/>
                          </a:solidFill>
                          <a:effectLst/>
                          <a:latin typeface="Times New Roman" panose="02020603050405020304" pitchFamily="18" charset="0"/>
                          <a:ea typeface="Times New Roman"/>
                          <a:cs typeface="Times New Roman" panose="02020603050405020304" pitchFamily="18" charset="0"/>
                        </a:rPr>
                        <a:t>0.15</a:t>
                      </a:r>
                      <a:r>
                        <a:rPr lang="en-US" sz="1100">
                          <a:solidFill>
                            <a:schemeClr val="tx1"/>
                          </a:solidFill>
                          <a:effectLst/>
                          <a:latin typeface="Times New Roman" panose="02020603050405020304" pitchFamily="18" charset="0"/>
                          <a:ea typeface="Times New Roman"/>
                          <a:cs typeface="Times New Roman" panose="02020603050405020304" pitchFamily="18" charset="0"/>
                        </a:rPr>
                        <a:t> vụ/</a:t>
                      </a:r>
                      <a:r>
                        <a:rPr lang="en-US" sz="1100" dirty="0">
                          <a:solidFill>
                            <a:schemeClr val="tx1"/>
                          </a:solidFill>
                          <a:effectLst/>
                          <a:latin typeface="Times New Roman" panose="02020603050405020304" pitchFamily="18" charset="0"/>
                          <a:ea typeface="Times New Roman"/>
                          <a:cs typeface="Times New Roman" panose="02020603050405020304" pitchFamily="18" charset="0"/>
                        </a:rPr>
                        <a:t>10,000 </a:t>
                      </a:r>
                      <a:r>
                        <a:rPr lang="en-US" sz="1100" dirty="0" err="1">
                          <a:solidFill>
                            <a:schemeClr val="tx1"/>
                          </a:solidFill>
                          <a:effectLst/>
                          <a:latin typeface="Times New Roman" panose="02020603050405020304" pitchFamily="18" charset="0"/>
                          <a:ea typeface="Times New Roman"/>
                          <a:cs typeface="Times New Roman" panose="02020603050405020304" pitchFamily="18" charset="0"/>
                        </a:rPr>
                        <a:t>cb</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a:solidFill>
                            <a:schemeClr val="tx1"/>
                          </a:solidFill>
                          <a:latin typeface="Times New Roman" panose="02020603050405020304" pitchFamily="18" charset="0"/>
                          <a:cs typeface="Times New Roman" panose="02020603050405020304" pitchFamily="18" charset="0"/>
                        </a:rPr>
                        <a:t>01 vụ</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b="1">
                          <a:solidFill>
                            <a:schemeClr val="tx1"/>
                          </a:solidFill>
                          <a:latin typeface="Times New Roman" panose="02020603050405020304" pitchFamily="18" charset="0"/>
                          <a:cs typeface="Times New Roman" panose="02020603050405020304" pitchFamily="18" charset="0"/>
                        </a:rPr>
                        <a:t>0.29</a:t>
                      </a:r>
                      <a:r>
                        <a:rPr lang="en-US" sz="1100">
                          <a:solidFill>
                            <a:schemeClr val="tx1"/>
                          </a:solidFill>
                          <a:latin typeface="Times New Roman" panose="02020603050405020304" pitchFamily="18" charset="0"/>
                          <a:cs typeface="Times New Roman" panose="02020603050405020304" pitchFamily="18" charset="0"/>
                        </a:rPr>
                        <a:t> vụ /10,000 </a:t>
                      </a:r>
                      <a:r>
                        <a:rPr lang="en-US" sz="1100" dirty="0" err="1">
                          <a:solidFill>
                            <a:schemeClr val="tx1"/>
                          </a:solidFill>
                          <a:latin typeface="Times New Roman" panose="02020603050405020304" pitchFamily="18" charset="0"/>
                          <a:cs typeface="Times New Roman" panose="02020603050405020304" pitchFamily="18" charset="0"/>
                        </a:rPr>
                        <a:t>cb</a:t>
                      </a:r>
                      <a:r>
                        <a:rPr lang="en-US" sz="1100" dirty="0">
                          <a:solidFill>
                            <a:schemeClr val="tx1"/>
                          </a:solidFill>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0" kern="1200">
                          <a:solidFill>
                            <a:schemeClr val="tx1"/>
                          </a:solidFill>
                          <a:effectLst/>
                          <a:latin typeface="Times New Roman" panose="02020603050405020304" pitchFamily="18" charset="0"/>
                          <a:ea typeface="Times New Roman"/>
                          <a:cs typeface="Times New Roman" panose="02020603050405020304" pitchFamily="18" charset="0"/>
                        </a:rPr>
                        <a:t>Không</a:t>
                      </a:r>
                      <a:r>
                        <a:rPr lang="en-US" sz="1100" b="0" kern="1200" baseline="0">
                          <a:solidFill>
                            <a:schemeClr val="tx1"/>
                          </a:solidFill>
                          <a:effectLst/>
                          <a:latin typeface="Times New Roman" panose="02020603050405020304" pitchFamily="18" charset="0"/>
                          <a:ea typeface="Times New Roman"/>
                          <a:cs typeface="Times New Roman" panose="02020603050405020304" pitchFamily="18" charset="0"/>
                        </a:rPr>
                        <a:t> đ</a:t>
                      </a:r>
                      <a:r>
                        <a:rPr lang="en-US" sz="1100" b="0" kern="1200">
                          <a:solidFill>
                            <a:schemeClr val="tx1"/>
                          </a:solidFill>
                          <a:effectLst/>
                          <a:latin typeface="Times New Roman" panose="02020603050405020304" pitchFamily="18" charset="0"/>
                          <a:ea typeface="Times New Roman"/>
                          <a:cs typeface="Times New Roman" panose="02020603050405020304" pitchFamily="18" charset="0"/>
                        </a:rPr>
                        <a:t>ạt</a:t>
                      </a:r>
                      <a:r>
                        <a:rPr lang="en-US" sz="1100" b="0" kern="1200" baseline="0">
                          <a:solidFill>
                            <a:schemeClr val="tx1"/>
                          </a:solidFill>
                          <a:effectLst/>
                          <a:latin typeface="Times New Roman" panose="02020603050405020304" pitchFamily="18" charset="0"/>
                          <a:ea typeface="Times New Roman"/>
                          <a:cs typeface="Times New Roman" panose="02020603050405020304" pitchFamily="18" charset="0"/>
                        </a:rPr>
                        <a:t> mục tiêu.  </a:t>
                      </a:r>
                      <a:r>
                        <a:rPr lang="en-US" sz="1100" b="0" kern="1200" baseline="0">
                          <a:solidFill>
                            <a:srgbClr val="FF0000"/>
                          </a:solidFill>
                          <a:effectLst/>
                          <a:latin typeface="Times New Roman" panose="02020603050405020304" pitchFamily="18" charset="0"/>
                          <a:ea typeface="Times New Roman"/>
                          <a:cs typeface="Times New Roman" panose="02020603050405020304" pitchFamily="18" charset="0"/>
                        </a:rPr>
                        <a:t>B225 </a:t>
                      </a:r>
                      <a:r>
                        <a:rPr lang="vi-VN" sz="1100" b="0" kern="1200" baseline="0">
                          <a:solidFill>
                            <a:srgbClr val="FF0000"/>
                          </a:solidFill>
                          <a:effectLst/>
                          <a:latin typeface="Times New Roman" panose="02020603050405020304" pitchFamily="18" charset="0"/>
                          <a:ea typeface="Times New Roman"/>
                          <a:cs typeface="Times New Roman" panose="02020603050405020304" pitchFamily="18" charset="0"/>
                        </a:rPr>
                        <a:t> NVKT ngắt headset với tổ bay đã quên không rút chèn bánh mũi</a:t>
                      </a:r>
                      <a:r>
                        <a:rPr lang="en-US" sz="1100" b="0" kern="1200" baseline="0">
                          <a:solidFill>
                            <a:srgbClr val="FF0000"/>
                          </a:solidFill>
                          <a:effectLst/>
                          <a:latin typeface="Times New Roman" panose="02020603050405020304" pitchFamily="18" charset="0"/>
                          <a:ea typeface="Times New Roman"/>
                          <a:cs typeface="Times New Roman" panose="02020603050405020304" pitchFamily="18" charset="0"/>
                        </a:rPr>
                        <a:t>,</a:t>
                      </a:r>
                      <a:r>
                        <a:rPr lang="vi-VN" sz="1100" b="0" kern="1200" baseline="0">
                          <a:solidFill>
                            <a:srgbClr val="FF0000"/>
                          </a:solidFill>
                          <a:effectLst/>
                          <a:latin typeface="Times New Roman" panose="02020603050405020304" pitchFamily="18" charset="0"/>
                          <a:ea typeface="Times New Roman"/>
                          <a:cs typeface="Times New Roman" panose="02020603050405020304" pitchFamily="18" charset="0"/>
                        </a:rPr>
                        <a:t> tàu bay đã lăn bánh và lốp bánh mũi va vào chèn trước và đẩy chèn ra  0.5m.</a:t>
                      </a:r>
                      <a:endParaRPr lang="en-US" sz="1100" kern="1200" dirty="0">
                        <a:solidFill>
                          <a:srgbClr val="FF0000"/>
                        </a:solidFill>
                        <a:effectLst/>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7034">
                <a:tc>
                  <a:txBody>
                    <a:bodyPr/>
                    <a:lstStyle/>
                    <a:p>
                      <a:pPr marL="58420" algn="ctr">
                        <a:lnSpc>
                          <a:spcPct val="100000"/>
                        </a:lnSpc>
                        <a:spcAft>
                          <a:spcPts val="600"/>
                        </a:spcAft>
                      </a:pPr>
                      <a:r>
                        <a:rPr lang="en-US" sz="1100" dirty="0">
                          <a:solidFill>
                            <a:schemeClr val="tx1"/>
                          </a:solidFill>
                          <a:effectLst/>
                          <a:latin typeface="Times New Roman" panose="02020603050405020304" pitchFamily="18" charset="0"/>
                          <a:ea typeface="Times New Roman"/>
                          <a:cs typeface="Times New Roman" panose="02020603050405020304" pitchFamily="18" charset="0"/>
                        </a:rPr>
                        <a:t>2.</a:t>
                      </a: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rgbClr val="000000"/>
                          </a:solidFill>
                          <a:effectLst/>
                          <a:latin typeface="Times New Roman" panose="02020603050405020304" pitchFamily="18" charset="0"/>
                        </a:rPr>
                        <a:t>Vụ việc mức E (vv/10000CB)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algn="ctr">
                        <a:lnSpc>
                          <a:spcPct val="100000"/>
                        </a:lnSpc>
                        <a:spcAft>
                          <a:spcPts val="600"/>
                        </a:spcAft>
                      </a:pPr>
                      <a:r>
                        <a:rPr lang="en-US" sz="1100" b="1">
                          <a:solidFill>
                            <a:schemeClr val="tx1"/>
                          </a:solidFill>
                          <a:effectLst/>
                          <a:latin typeface="Times New Roman" panose="02020603050405020304" pitchFamily="18" charset="0"/>
                          <a:ea typeface="Times New Roman"/>
                          <a:cs typeface="Times New Roman" panose="02020603050405020304" pitchFamily="18" charset="0"/>
                        </a:rPr>
                        <a:t>4.10</a:t>
                      </a:r>
                      <a:r>
                        <a:rPr lang="en-US" sz="1100">
                          <a:solidFill>
                            <a:schemeClr val="tx1"/>
                          </a:solidFill>
                          <a:effectLst/>
                          <a:latin typeface="Times New Roman" panose="02020603050405020304" pitchFamily="18" charset="0"/>
                          <a:ea typeface="Times New Roman"/>
                          <a:cs typeface="Times New Roman" panose="02020603050405020304" pitchFamily="18" charset="0"/>
                        </a:rPr>
                        <a:t> vụ/10,000 </a:t>
                      </a:r>
                      <a:r>
                        <a:rPr lang="en-US" sz="1100" dirty="0" err="1">
                          <a:solidFill>
                            <a:schemeClr val="tx1"/>
                          </a:solidFill>
                          <a:effectLst/>
                          <a:latin typeface="Times New Roman" panose="02020603050405020304" pitchFamily="18" charset="0"/>
                          <a:ea typeface="Times New Roman"/>
                          <a:cs typeface="Times New Roman" panose="02020603050405020304" pitchFamily="18" charset="0"/>
                        </a:rPr>
                        <a:t>cb</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a:solidFill>
                            <a:schemeClr val="tx1"/>
                          </a:solidFill>
                          <a:latin typeface="Times New Roman" panose="02020603050405020304" pitchFamily="18" charset="0"/>
                          <a:cs typeface="Times New Roman" panose="02020603050405020304" pitchFamily="18" charset="0"/>
                        </a:rPr>
                        <a:t>07 vụ</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b="1">
                          <a:solidFill>
                            <a:schemeClr val="tx1"/>
                          </a:solidFill>
                          <a:latin typeface="Times New Roman" panose="02020603050405020304" pitchFamily="18" charset="0"/>
                          <a:cs typeface="Times New Roman" panose="02020603050405020304" pitchFamily="18" charset="0"/>
                        </a:rPr>
                        <a:t>2.05 vụ</a:t>
                      </a:r>
                      <a:r>
                        <a:rPr lang="en-US" sz="1100">
                          <a:solidFill>
                            <a:schemeClr val="tx1"/>
                          </a:solidFill>
                          <a:latin typeface="Times New Roman" panose="02020603050405020304" pitchFamily="18" charset="0"/>
                          <a:cs typeface="Times New Roman" panose="02020603050405020304" pitchFamily="18" charset="0"/>
                        </a:rPr>
                        <a:t>/10,000 </a:t>
                      </a:r>
                      <a:r>
                        <a:rPr lang="en-US" sz="1100" dirty="0" err="1">
                          <a:solidFill>
                            <a:schemeClr val="tx1"/>
                          </a:solidFill>
                          <a:latin typeface="Times New Roman" panose="02020603050405020304" pitchFamily="18" charset="0"/>
                          <a:cs typeface="Times New Roman" panose="02020603050405020304" pitchFamily="18" charset="0"/>
                        </a:rPr>
                        <a:t>cb</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Times New Roman"/>
                          <a:cs typeface="Times New Roman" panose="02020603050405020304" pitchFamily="18" charset="0"/>
                        </a:rPr>
                        <a:t>Đạt mục tiêu </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1000">
                <a:tc>
                  <a:txBody>
                    <a:bodyPr/>
                    <a:lstStyle/>
                    <a:p>
                      <a:pPr marL="58420" algn="ctr">
                        <a:lnSpc>
                          <a:spcPct val="100000"/>
                        </a:lnSpc>
                        <a:spcAft>
                          <a:spcPts val="600"/>
                        </a:spcAft>
                      </a:pPr>
                      <a:r>
                        <a:rPr lang="en-US" sz="1100">
                          <a:solidFill>
                            <a:schemeClr val="tx1"/>
                          </a:solidFill>
                          <a:effectLst/>
                          <a:latin typeface="Times New Roman" panose="02020603050405020304" pitchFamily="18" charset="0"/>
                          <a:ea typeface="Times New Roman"/>
                          <a:cs typeface="Times New Roman" panose="02020603050405020304" pitchFamily="18" charset="0"/>
                        </a:rPr>
                        <a:t>3</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vi-VN" sz="1100" b="0" i="0" u="none" strike="noStrike">
                          <a:solidFill>
                            <a:srgbClr val="000000"/>
                          </a:solidFill>
                          <a:effectLst/>
                          <a:latin typeface="Times New Roman" panose="02020603050405020304" pitchFamily="18" charset="0"/>
                        </a:rPr>
                        <a:t>Sự cố vụ việc trong bảo dưỡng tàu bay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marR="0" indent="0" algn="ctr" defTabSz="914400" rtl="0" eaLnBrk="1" fontAlgn="auto" latinLnBrk="0" hangingPunct="1">
                        <a:lnSpc>
                          <a:spcPct val="100000"/>
                        </a:lnSpc>
                        <a:spcBef>
                          <a:spcPts val="0"/>
                        </a:spcBef>
                        <a:spcAft>
                          <a:spcPts val="600"/>
                        </a:spcAft>
                        <a:buClrTx/>
                        <a:buSzTx/>
                        <a:buFontTx/>
                        <a:buNone/>
                        <a:tabLst/>
                        <a:defRPr/>
                      </a:pPr>
                      <a:r>
                        <a:rPr lang="en-US" sz="1100" b="1">
                          <a:solidFill>
                            <a:schemeClr val="tx1"/>
                          </a:solidFill>
                          <a:effectLst/>
                          <a:latin typeface="Times New Roman" panose="02020603050405020304" pitchFamily="18" charset="0"/>
                          <a:ea typeface="Times New Roman"/>
                          <a:cs typeface="Times New Roman" panose="02020603050405020304" pitchFamily="18" charset="0"/>
                        </a:rPr>
                        <a:t>4.10</a:t>
                      </a:r>
                      <a:r>
                        <a:rPr lang="en-US" sz="1100">
                          <a:solidFill>
                            <a:schemeClr val="tx1"/>
                          </a:solidFill>
                          <a:effectLst/>
                          <a:latin typeface="Times New Roman" panose="02020603050405020304" pitchFamily="18" charset="0"/>
                          <a:ea typeface="Times New Roman"/>
                          <a:cs typeface="Times New Roman" panose="02020603050405020304" pitchFamily="18" charset="0"/>
                        </a:rPr>
                        <a:t> vụ/10,000 cb</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a:solidFill>
                            <a:schemeClr val="tx1"/>
                          </a:solidFill>
                          <a:latin typeface="Times New Roman" panose="02020603050405020304" pitchFamily="18" charset="0"/>
                          <a:cs typeface="Times New Roman" panose="02020603050405020304" pitchFamily="18" charset="0"/>
                        </a:rPr>
                        <a:t>00 vụ</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a:solidFill>
                            <a:schemeClr val="tx1"/>
                          </a:solidFill>
                          <a:latin typeface="Times New Roman" panose="02020603050405020304" pitchFamily="18" charset="0"/>
                          <a:cs typeface="Times New Roman" panose="02020603050405020304" pitchFamily="18" charset="0"/>
                        </a:rPr>
                        <a:t>0.00</a:t>
                      </a:r>
                      <a:r>
                        <a:rPr lang="en-US" sz="1100">
                          <a:solidFill>
                            <a:schemeClr val="tx1"/>
                          </a:solidFill>
                          <a:latin typeface="Times New Roman" panose="02020603050405020304" pitchFamily="18" charset="0"/>
                          <a:cs typeface="Times New Roman" panose="02020603050405020304" pitchFamily="18" charset="0"/>
                        </a:rPr>
                        <a:t>/10,000 cb</a:t>
                      </a:r>
                    </a:p>
                    <a:p>
                      <a:pPr algn="ctr">
                        <a:lnSpc>
                          <a:spcPct val="100000"/>
                        </a:lnSpc>
                      </a:pP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Times New Roman"/>
                          <a:cs typeface="Times New Roman" panose="02020603050405020304" pitchFamily="18" charset="0"/>
                        </a:rPr>
                        <a:t>Đạt mục tiêu </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6590847"/>
                  </a:ext>
                </a:extLst>
              </a:tr>
              <a:tr h="394418">
                <a:tc>
                  <a:txBody>
                    <a:bodyPr/>
                    <a:lstStyle/>
                    <a:p>
                      <a:pPr marL="58420" algn="ctr">
                        <a:lnSpc>
                          <a:spcPct val="100000"/>
                        </a:lnSpc>
                        <a:spcAft>
                          <a:spcPts val="600"/>
                        </a:spcAft>
                      </a:pPr>
                      <a:r>
                        <a:rPr lang="en-US" sz="1100">
                          <a:solidFill>
                            <a:schemeClr val="tx1"/>
                          </a:solidFill>
                          <a:effectLst/>
                          <a:latin typeface="Times New Roman" panose="02020603050405020304" pitchFamily="18" charset="0"/>
                          <a:ea typeface="Times New Roman"/>
                          <a:cs typeface="Times New Roman" panose="02020603050405020304" pitchFamily="18" charset="0"/>
                        </a:rPr>
                        <a:t>4</a:t>
                      </a: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vi-VN" sz="1100" b="0" i="0" u="none" strike="noStrike">
                          <a:solidFill>
                            <a:srgbClr val="000000"/>
                          </a:solidFill>
                          <a:effectLst/>
                          <a:latin typeface="Times New Roman" panose="02020603050405020304" pitchFamily="18" charset="0"/>
                        </a:rPr>
                        <a:t>Sự cố, vụ việc do sai lỗi con người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algn="ctr">
                        <a:lnSpc>
                          <a:spcPct val="100000"/>
                        </a:lnSpc>
                        <a:spcAft>
                          <a:spcPts val="600"/>
                        </a:spcAft>
                      </a:pPr>
                      <a:r>
                        <a:rPr lang="en-US" sz="1100" b="1">
                          <a:solidFill>
                            <a:schemeClr val="tx1"/>
                          </a:solidFill>
                          <a:effectLst/>
                          <a:latin typeface="Times New Roman" panose="02020603050405020304" pitchFamily="18" charset="0"/>
                          <a:ea typeface="Times New Roman"/>
                          <a:cs typeface="Times New Roman" panose="02020603050405020304" pitchFamily="18" charset="0"/>
                        </a:rPr>
                        <a:t>1.02</a:t>
                      </a:r>
                      <a:r>
                        <a:rPr lang="en-US" sz="1100">
                          <a:solidFill>
                            <a:schemeClr val="tx1"/>
                          </a:solidFill>
                          <a:effectLst/>
                          <a:latin typeface="Times New Roman" panose="02020603050405020304" pitchFamily="18" charset="0"/>
                          <a:ea typeface="Times New Roman"/>
                          <a:cs typeface="Times New Roman" panose="02020603050405020304" pitchFamily="18" charset="0"/>
                        </a:rPr>
                        <a:t> </a:t>
                      </a:r>
                      <a:r>
                        <a:rPr lang="en-US" sz="1100" dirty="0" err="1">
                          <a:solidFill>
                            <a:schemeClr val="tx1"/>
                          </a:solidFill>
                          <a:effectLst/>
                          <a:latin typeface="Times New Roman" panose="02020603050405020304" pitchFamily="18" charset="0"/>
                          <a:ea typeface="Times New Roman"/>
                          <a:cs typeface="Times New Roman" panose="02020603050405020304" pitchFamily="18" charset="0"/>
                        </a:rPr>
                        <a:t>vụ</a:t>
                      </a:r>
                      <a:r>
                        <a:rPr lang="en-US" sz="1100" dirty="0">
                          <a:solidFill>
                            <a:schemeClr val="tx1"/>
                          </a:solidFill>
                          <a:effectLst/>
                          <a:latin typeface="Times New Roman" panose="02020603050405020304" pitchFamily="18" charset="0"/>
                          <a:ea typeface="Times New Roman"/>
                          <a:cs typeface="Times New Roman" panose="02020603050405020304" pitchFamily="18" charset="0"/>
                        </a:rPr>
                        <a:t>/10,000 </a:t>
                      </a:r>
                      <a:r>
                        <a:rPr lang="en-US" sz="1100" dirty="0" err="1">
                          <a:solidFill>
                            <a:schemeClr val="tx1"/>
                          </a:solidFill>
                          <a:effectLst/>
                          <a:latin typeface="Times New Roman" panose="02020603050405020304" pitchFamily="18" charset="0"/>
                          <a:ea typeface="Times New Roman"/>
                          <a:cs typeface="Times New Roman" panose="02020603050405020304" pitchFamily="18" charset="0"/>
                        </a:rPr>
                        <a:t>cb</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a:solidFill>
                            <a:schemeClr val="tx1"/>
                          </a:solidFill>
                          <a:latin typeface="Times New Roman" panose="02020603050405020304" pitchFamily="18" charset="0"/>
                          <a:cs typeface="Times New Roman" panose="02020603050405020304" pitchFamily="18" charset="0"/>
                        </a:rPr>
                        <a:t>02 vụ</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b="1">
                          <a:solidFill>
                            <a:schemeClr val="tx1"/>
                          </a:solidFill>
                          <a:latin typeface="Times New Roman" panose="02020603050405020304" pitchFamily="18" charset="0"/>
                          <a:cs typeface="Times New Roman" panose="02020603050405020304" pitchFamily="18" charset="0"/>
                        </a:rPr>
                        <a:t>0.58 </a:t>
                      </a:r>
                      <a:r>
                        <a:rPr lang="en-US" sz="1100">
                          <a:solidFill>
                            <a:schemeClr val="tx1"/>
                          </a:solidFill>
                          <a:latin typeface="Times New Roman" panose="02020603050405020304" pitchFamily="18" charset="0"/>
                          <a:cs typeface="Times New Roman" panose="02020603050405020304" pitchFamily="18" charset="0"/>
                        </a:rPr>
                        <a:t>vụ/10,000 </a:t>
                      </a:r>
                      <a:r>
                        <a:rPr lang="en-US" sz="1100" dirty="0" err="1">
                          <a:solidFill>
                            <a:schemeClr val="tx1"/>
                          </a:solidFill>
                          <a:latin typeface="Times New Roman" panose="02020603050405020304" pitchFamily="18" charset="0"/>
                          <a:cs typeface="Times New Roman" panose="02020603050405020304" pitchFamily="18" charset="0"/>
                        </a:rPr>
                        <a:t>cb</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kern="1200">
                          <a:solidFill>
                            <a:schemeClr val="tx1"/>
                          </a:solidFill>
                          <a:effectLst/>
                          <a:latin typeface="Times New Roman" panose="02020603050405020304" pitchFamily="18" charset="0"/>
                          <a:ea typeface="Times New Roman"/>
                          <a:cs typeface="Times New Roman" panose="02020603050405020304" pitchFamily="18" charset="0"/>
                        </a:rPr>
                        <a:t>Đạt</a:t>
                      </a:r>
                      <a:r>
                        <a:rPr lang="en-US" sz="1100" kern="1200" baseline="0">
                          <a:solidFill>
                            <a:schemeClr val="tx1"/>
                          </a:solidFill>
                          <a:effectLst/>
                          <a:latin typeface="Times New Roman" panose="02020603050405020304" pitchFamily="18" charset="0"/>
                          <a:ea typeface="Times New Roman"/>
                          <a:cs typeface="Times New Roman" panose="02020603050405020304" pitchFamily="18" charset="0"/>
                        </a:rPr>
                        <a:t> mục tiêu </a:t>
                      </a:r>
                      <a:endParaRPr lang="en-US" sz="1100" kern="1200" dirty="0">
                        <a:solidFill>
                          <a:schemeClr val="tx1"/>
                        </a:solidFill>
                        <a:effectLst/>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7171">
                <a:tc>
                  <a:txBody>
                    <a:bodyPr/>
                    <a:lstStyle/>
                    <a:p>
                      <a:pPr marL="58420" algn="ctr">
                        <a:lnSpc>
                          <a:spcPct val="100000"/>
                        </a:lnSpc>
                        <a:spcAft>
                          <a:spcPts val="600"/>
                        </a:spcAft>
                      </a:pPr>
                      <a:r>
                        <a:rPr lang="en-US" sz="1100">
                          <a:solidFill>
                            <a:schemeClr val="tx1"/>
                          </a:solidFill>
                          <a:effectLst/>
                          <a:latin typeface="Times New Roman" panose="02020603050405020304" pitchFamily="18" charset="0"/>
                          <a:ea typeface="Times New Roman"/>
                          <a:cs typeface="Times New Roman" panose="02020603050405020304" pitchFamily="18" charset="0"/>
                        </a:rPr>
                        <a:t>5</a:t>
                      </a: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vi-VN" sz="1100" b="0" i="0" u="none" strike="noStrike">
                          <a:solidFill>
                            <a:srgbClr val="000000"/>
                          </a:solidFill>
                          <a:effectLst/>
                          <a:latin typeface="Times New Roman" panose="02020603050405020304" pitchFamily="18" charset="0"/>
                        </a:rPr>
                        <a:t>Nhân nhượng loại 1 (MEL, CDL, AMM, SRM)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algn="ctr">
                        <a:lnSpc>
                          <a:spcPct val="100000"/>
                        </a:lnSpc>
                        <a:spcAft>
                          <a:spcPts val="600"/>
                        </a:spcAft>
                      </a:pPr>
                      <a:r>
                        <a:rPr lang="en-US" sz="1100" b="1">
                          <a:solidFill>
                            <a:schemeClr val="tx1"/>
                          </a:solidFill>
                          <a:effectLst/>
                          <a:latin typeface="Times New Roman" panose="02020603050405020304" pitchFamily="18" charset="0"/>
                          <a:ea typeface="Times New Roman"/>
                          <a:cs typeface="Times New Roman" panose="02020603050405020304" pitchFamily="18" charset="0"/>
                        </a:rPr>
                        <a:t>25.21NN</a:t>
                      </a:r>
                      <a:r>
                        <a:rPr lang="en-US" sz="1100">
                          <a:solidFill>
                            <a:schemeClr val="tx1"/>
                          </a:solidFill>
                          <a:effectLst/>
                          <a:latin typeface="Times New Roman" panose="02020603050405020304" pitchFamily="18" charset="0"/>
                          <a:ea typeface="Times New Roman"/>
                          <a:cs typeface="Times New Roman" panose="02020603050405020304" pitchFamily="18" charset="0"/>
                        </a:rPr>
                        <a:t>/10,000 </a:t>
                      </a:r>
                      <a:r>
                        <a:rPr lang="en-US" sz="1100" dirty="0" err="1">
                          <a:solidFill>
                            <a:schemeClr val="tx1"/>
                          </a:solidFill>
                          <a:effectLst/>
                          <a:latin typeface="Times New Roman" panose="02020603050405020304" pitchFamily="18" charset="0"/>
                          <a:ea typeface="Times New Roman"/>
                          <a:cs typeface="Times New Roman" panose="02020603050405020304" pitchFamily="18" charset="0"/>
                        </a:rPr>
                        <a:t>cb</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a:solidFill>
                            <a:schemeClr val="tx1"/>
                          </a:solidFill>
                          <a:latin typeface="Times New Roman" panose="02020603050405020304" pitchFamily="18" charset="0"/>
                          <a:cs typeface="Times New Roman" panose="02020603050405020304" pitchFamily="18" charset="0"/>
                        </a:rPr>
                        <a:t>41NN</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b="1">
                          <a:solidFill>
                            <a:schemeClr val="tx1"/>
                          </a:solidFill>
                          <a:latin typeface="Times New Roman" panose="02020603050405020304" pitchFamily="18" charset="0"/>
                          <a:cs typeface="Times New Roman" panose="02020603050405020304" pitchFamily="18" charset="0"/>
                        </a:rPr>
                        <a:t>11.98 NN</a:t>
                      </a:r>
                      <a:r>
                        <a:rPr lang="en-US" sz="1100">
                          <a:solidFill>
                            <a:schemeClr val="tx1"/>
                          </a:solidFill>
                          <a:latin typeface="Times New Roman" panose="02020603050405020304" pitchFamily="18" charset="0"/>
                          <a:cs typeface="Times New Roman" panose="02020603050405020304" pitchFamily="18" charset="0"/>
                        </a:rPr>
                        <a:t>/10,000 </a:t>
                      </a:r>
                      <a:r>
                        <a:rPr lang="en-US" sz="1100" dirty="0" err="1">
                          <a:solidFill>
                            <a:schemeClr val="tx1"/>
                          </a:solidFill>
                          <a:latin typeface="Times New Roman" panose="02020603050405020304" pitchFamily="18" charset="0"/>
                          <a:cs typeface="Times New Roman" panose="02020603050405020304" pitchFamily="18" charset="0"/>
                        </a:rPr>
                        <a:t>cb</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kern="1200">
                          <a:solidFill>
                            <a:schemeClr val="tx1"/>
                          </a:solidFill>
                          <a:effectLst/>
                          <a:latin typeface="Times New Roman" panose="02020603050405020304" pitchFamily="18" charset="0"/>
                          <a:ea typeface="Times New Roman"/>
                          <a:cs typeface="Times New Roman" panose="02020603050405020304" pitchFamily="18" charset="0"/>
                        </a:rPr>
                        <a:t>Đạt</a:t>
                      </a:r>
                      <a:r>
                        <a:rPr lang="en-US" sz="1100" kern="1200" baseline="0">
                          <a:solidFill>
                            <a:schemeClr val="tx1"/>
                          </a:solidFill>
                          <a:effectLst/>
                          <a:latin typeface="Times New Roman" panose="02020603050405020304" pitchFamily="18" charset="0"/>
                          <a:ea typeface="Times New Roman"/>
                          <a:cs typeface="Times New Roman" panose="02020603050405020304" pitchFamily="18" charset="0"/>
                        </a:rPr>
                        <a:t> mục tiêu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52346">
                <a:tc>
                  <a:txBody>
                    <a:bodyPr/>
                    <a:lstStyle/>
                    <a:p>
                      <a:pPr marL="58420" algn="ctr">
                        <a:lnSpc>
                          <a:spcPct val="100000"/>
                        </a:lnSpc>
                        <a:spcAft>
                          <a:spcPts val="600"/>
                        </a:spcAft>
                      </a:pPr>
                      <a:r>
                        <a:rPr lang="en-US" sz="1100">
                          <a:solidFill>
                            <a:schemeClr val="tx1"/>
                          </a:solidFill>
                          <a:effectLst/>
                          <a:latin typeface="Times New Roman" panose="02020603050405020304" pitchFamily="18" charset="0"/>
                          <a:ea typeface="Times New Roman"/>
                          <a:cs typeface="Times New Roman" panose="02020603050405020304" pitchFamily="18" charset="0"/>
                        </a:rPr>
                        <a:t>6</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vi-VN" sz="1100" b="0" i="0" u="none" strike="noStrike">
                          <a:solidFill>
                            <a:srgbClr val="000000"/>
                          </a:solidFill>
                          <a:effectLst/>
                          <a:latin typeface="Times New Roman" panose="02020603050405020304" pitchFamily="18" charset="0"/>
                        </a:rPr>
                        <a:t>Nhân nhượng loại 2,3,4,5,6,7 (AMS, CMS, MME, AMP)</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kern="1200" baseline="0">
                          <a:solidFill>
                            <a:schemeClr val="tx1"/>
                          </a:solidFill>
                          <a:effectLst/>
                          <a:latin typeface="Times New Roman" panose="02020603050405020304" pitchFamily="18" charset="0"/>
                          <a:ea typeface="Times New Roman"/>
                          <a:cs typeface="Times New Roman" panose="02020603050405020304" pitchFamily="18" charset="0"/>
                        </a:rPr>
                        <a:t>   </a:t>
                      </a:r>
                      <a:r>
                        <a:rPr lang="en-US" sz="1100" b="1">
                          <a:solidFill>
                            <a:schemeClr val="tx1"/>
                          </a:solidFill>
                          <a:effectLst/>
                          <a:latin typeface="Times New Roman" panose="02020603050405020304" pitchFamily="18" charset="0"/>
                          <a:ea typeface="Times New Roman"/>
                          <a:cs typeface="Times New Roman" panose="02020603050405020304" pitchFamily="18" charset="0"/>
                        </a:rPr>
                        <a:t>24.20 NN</a:t>
                      </a:r>
                      <a:r>
                        <a:rPr lang="en-US" sz="1100">
                          <a:solidFill>
                            <a:schemeClr val="tx1"/>
                          </a:solidFill>
                          <a:effectLst/>
                          <a:latin typeface="Times New Roman" panose="02020603050405020304" pitchFamily="18" charset="0"/>
                          <a:ea typeface="Times New Roman"/>
                          <a:cs typeface="Times New Roman" panose="02020603050405020304" pitchFamily="18" charset="0"/>
                        </a:rPr>
                        <a:t>/10,000 cb</a:t>
                      </a:r>
                    </a:p>
                    <a:p>
                      <a:pPr algn="ctr">
                        <a:lnSpc>
                          <a:spcPct val="100000"/>
                        </a:lnSpc>
                      </a:pPr>
                      <a:endParaRPr lang="en-US" sz="1100" b="1" kern="1200" dirty="0">
                        <a:solidFill>
                          <a:schemeClr val="tx1"/>
                        </a:solidFill>
                        <a:effectLst/>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0" kern="1200">
                          <a:solidFill>
                            <a:schemeClr val="tx1"/>
                          </a:solidFill>
                          <a:effectLst/>
                          <a:latin typeface="Times New Roman" panose="02020603050405020304" pitchFamily="18" charset="0"/>
                          <a:ea typeface="Times New Roman"/>
                          <a:cs typeface="Times New Roman" panose="02020603050405020304" pitchFamily="18" charset="0"/>
                        </a:rPr>
                        <a:t>92 NN</a:t>
                      </a:r>
                      <a:endParaRPr lang="en-US" sz="1100" b="0" kern="1200" dirty="0">
                        <a:solidFill>
                          <a:schemeClr val="tx1"/>
                        </a:solidFill>
                        <a:effectLst/>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b="1">
                          <a:solidFill>
                            <a:schemeClr val="tx1"/>
                          </a:solidFill>
                          <a:latin typeface="Times New Roman" panose="02020603050405020304" pitchFamily="18" charset="0"/>
                          <a:cs typeface="Times New Roman" panose="02020603050405020304" pitchFamily="18" charset="0"/>
                        </a:rPr>
                        <a:t>26.89 NN</a:t>
                      </a:r>
                      <a:r>
                        <a:rPr lang="en-US" sz="1100">
                          <a:solidFill>
                            <a:schemeClr val="tx1"/>
                          </a:solidFill>
                          <a:latin typeface="Times New Roman" panose="02020603050405020304" pitchFamily="18" charset="0"/>
                          <a:cs typeface="Times New Roman" panose="02020603050405020304" pitchFamily="18" charset="0"/>
                        </a:rPr>
                        <a:t>/10,000 cb</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a:solidFill>
                            <a:srgbClr val="FF0000"/>
                          </a:solidFill>
                          <a:latin typeface="Times New Roman" panose="02020603050405020304" pitchFamily="18" charset="0"/>
                          <a:ea typeface="+mn-ea"/>
                          <a:cs typeface="Times New Roman" panose="02020603050405020304" pitchFamily="18" charset="0"/>
                        </a:rPr>
                        <a:t>Không đạt mục tiêu. Các</a:t>
                      </a:r>
                      <a:r>
                        <a:rPr lang="en-US" sz="1100" kern="1200" baseline="0">
                          <a:solidFill>
                            <a:srgbClr val="FF0000"/>
                          </a:solidFill>
                          <a:latin typeface="Times New Roman" panose="02020603050405020304" pitchFamily="18" charset="0"/>
                          <a:ea typeface="+mn-ea"/>
                          <a:cs typeface="Times New Roman" panose="02020603050405020304" pitchFamily="18" charset="0"/>
                        </a:rPr>
                        <a:t> chương trình bảo dưỡng phát sinh phục vụ cao điểm Tết</a:t>
                      </a:r>
                      <a:endParaRPr lang="en-US" sz="1100" b="0" kern="1200" dirty="0">
                        <a:solidFill>
                          <a:schemeClr val="tx1"/>
                        </a:solidFill>
                        <a:effectLst/>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33768">
                <a:tc>
                  <a:txBody>
                    <a:bodyPr/>
                    <a:lstStyle/>
                    <a:p>
                      <a:pPr marL="58420" algn="ctr">
                        <a:lnSpc>
                          <a:spcPct val="100000"/>
                        </a:lnSpc>
                        <a:spcAft>
                          <a:spcPts val="600"/>
                        </a:spcAft>
                      </a:pPr>
                      <a:r>
                        <a:rPr lang="en-US" sz="1100">
                          <a:solidFill>
                            <a:schemeClr val="tx1"/>
                          </a:solidFill>
                          <a:effectLst/>
                          <a:latin typeface="Times New Roman" panose="02020603050405020304" pitchFamily="18" charset="0"/>
                          <a:ea typeface="Times New Roman"/>
                          <a:cs typeface="Times New Roman" panose="02020603050405020304" pitchFamily="18" charset="0"/>
                        </a:rPr>
                        <a:t>7</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rgbClr val="000000"/>
                          </a:solidFill>
                          <a:effectLst/>
                          <a:latin typeface="Times New Roman" panose="02020603050405020304" pitchFamily="18" charset="0"/>
                        </a:rPr>
                        <a:t>Gián đoạn khai thác vì lý do kỹ thuật (vv/10000CB)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algn="ctr">
                        <a:lnSpc>
                          <a:spcPct val="100000"/>
                        </a:lnSpc>
                        <a:spcAft>
                          <a:spcPts val="600"/>
                        </a:spcAft>
                      </a:pPr>
                      <a:r>
                        <a:rPr lang="en-US" sz="1100" b="1">
                          <a:solidFill>
                            <a:schemeClr val="tx1"/>
                          </a:solidFill>
                          <a:effectLst/>
                          <a:latin typeface="Times New Roman" panose="02020603050405020304" pitchFamily="18" charset="0"/>
                          <a:ea typeface="Times New Roman"/>
                          <a:cs typeface="Times New Roman" panose="02020603050405020304" pitchFamily="18" charset="0"/>
                        </a:rPr>
                        <a:t>7.28</a:t>
                      </a:r>
                      <a:r>
                        <a:rPr lang="en-US" sz="1100">
                          <a:solidFill>
                            <a:schemeClr val="tx1"/>
                          </a:solidFill>
                          <a:effectLst/>
                          <a:latin typeface="Times New Roman" panose="02020603050405020304" pitchFamily="18" charset="0"/>
                          <a:ea typeface="Times New Roman"/>
                          <a:cs typeface="Times New Roman" panose="02020603050405020304" pitchFamily="18" charset="0"/>
                        </a:rPr>
                        <a:t> </a:t>
                      </a:r>
                      <a:r>
                        <a:rPr lang="en-US" sz="1100" dirty="0" err="1">
                          <a:solidFill>
                            <a:schemeClr val="tx1"/>
                          </a:solidFill>
                          <a:effectLst/>
                          <a:latin typeface="Times New Roman" panose="02020603050405020304" pitchFamily="18" charset="0"/>
                          <a:ea typeface="Times New Roman"/>
                          <a:cs typeface="Times New Roman" panose="02020603050405020304" pitchFamily="18" charset="0"/>
                        </a:rPr>
                        <a:t>vụ</a:t>
                      </a:r>
                      <a:r>
                        <a:rPr lang="en-US" sz="1100" dirty="0">
                          <a:solidFill>
                            <a:schemeClr val="tx1"/>
                          </a:solidFill>
                          <a:effectLst/>
                          <a:latin typeface="Times New Roman" panose="02020603050405020304" pitchFamily="18" charset="0"/>
                          <a:ea typeface="Times New Roman"/>
                          <a:cs typeface="Times New Roman" panose="02020603050405020304" pitchFamily="18" charset="0"/>
                        </a:rPr>
                        <a:t>/10,000 </a:t>
                      </a:r>
                      <a:r>
                        <a:rPr lang="en-US" sz="1100" dirty="0" err="1">
                          <a:solidFill>
                            <a:schemeClr val="tx1"/>
                          </a:solidFill>
                          <a:effectLst/>
                          <a:latin typeface="Times New Roman" panose="02020603050405020304" pitchFamily="18" charset="0"/>
                          <a:ea typeface="Times New Roman"/>
                          <a:cs typeface="Times New Roman" panose="02020603050405020304" pitchFamily="18" charset="0"/>
                        </a:rPr>
                        <a:t>cb</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a:solidFill>
                            <a:schemeClr val="tx1"/>
                          </a:solidFill>
                          <a:latin typeface="Times New Roman" panose="02020603050405020304" pitchFamily="18" charset="0"/>
                          <a:cs typeface="Times New Roman" panose="02020603050405020304" pitchFamily="18" charset="0"/>
                        </a:rPr>
                        <a:t>26 vụ</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b="1">
                          <a:solidFill>
                            <a:schemeClr val="tx1"/>
                          </a:solidFill>
                          <a:latin typeface="Times New Roman" panose="02020603050405020304" pitchFamily="18" charset="0"/>
                          <a:cs typeface="Times New Roman" panose="02020603050405020304" pitchFamily="18" charset="0"/>
                        </a:rPr>
                        <a:t>7.60</a:t>
                      </a:r>
                      <a:r>
                        <a:rPr lang="en-US" sz="110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vụ</a:t>
                      </a:r>
                      <a:r>
                        <a:rPr lang="en-US" sz="1100" dirty="0">
                          <a:solidFill>
                            <a:schemeClr val="tx1"/>
                          </a:solidFill>
                          <a:latin typeface="Times New Roman" panose="02020603050405020304" pitchFamily="18" charset="0"/>
                          <a:cs typeface="Times New Roman" panose="02020603050405020304" pitchFamily="18" charset="0"/>
                        </a:rPr>
                        <a:t>/10,000 </a:t>
                      </a:r>
                      <a:r>
                        <a:rPr lang="en-US" sz="1100" dirty="0" err="1">
                          <a:solidFill>
                            <a:schemeClr val="tx1"/>
                          </a:solidFill>
                          <a:latin typeface="Times New Roman" panose="02020603050405020304" pitchFamily="18" charset="0"/>
                          <a:cs typeface="Times New Roman" panose="02020603050405020304" pitchFamily="18" charset="0"/>
                        </a:rPr>
                        <a:t>cb</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a:solidFill>
                            <a:schemeClr val="tx1"/>
                          </a:solidFill>
                          <a:effectLst/>
                          <a:latin typeface="Times New Roman" panose="02020603050405020304" pitchFamily="18" charset="0"/>
                          <a:ea typeface="Times New Roman"/>
                          <a:cs typeface="Times New Roman" panose="02020603050405020304" pitchFamily="18" charset="0"/>
                        </a:rPr>
                        <a:t>Không</a:t>
                      </a:r>
                      <a:r>
                        <a:rPr lang="en-US" sz="1100" kern="1200" baseline="0">
                          <a:solidFill>
                            <a:schemeClr val="tx1"/>
                          </a:solidFill>
                          <a:effectLst/>
                          <a:latin typeface="Times New Roman" panose="02020603050405020304" pitchFamily="18" charset="0"/>
                          <a:ea typeface="Times New Roman"/>
                          <a:cs typeface="Times New Roman" panose="02020603050405020304" pitchFamily="18" charset="0"/>
                        </a:rPr>
                        <a:t> đ</a:t>
                      </a:r>
                      <a:r>
                        <a:rPr lang="en-US" sz="1100" kern="1200">
                          <a:solidFill>
                            <a:schemeClr val="tx1"/>
                          </a:solidFill>
                          <a:effectLst/>
                          <a:latin typeface="Times New Roman" panose="02020603050405020304" pitchFamily="18" charset="0"/>
                          <a:ea typeface="Times New Roman"/>
                          <a:cs typeface="Times New Roman" panose="02020603050405020304" pitchFamily="18" charset="0"/>
                        </a:rPr>
                        <a:t>ạt</a:t>
                      </a:r>
                      <a:r>
                        <a:rPr lang="en-US" sz="1100" kern="1200" baseline="0">
                          <a:solidFill>
                            <a:schemeClr val="tx1"/>
                          </a:solidFill>
                          <a:effectLst/>
                          <a:latin typeface="Times New Roman" panose="02020603050405020304" pitchFamily="18" charset="0"/>
                          <a:ea typeface="Times New Roman"/>
                          <a:cs typeface="Times New Roman" panose="02020603050405020304" pitchFamily="18" charset="0"/>
                        </a:rPr>
                        <a:t> mục tiêu (Các sự kiện 01ATB+01 DIV+05 R.TO+19GTB). </a:t>
                      </a:r>
                      <a:r>
                        <a:rPr lang="en-US" sz="1100" kern="1200">
                          <a:solidFill>
                            <a:srgbClr val="FF0000"/>
                          </a:solidFill>
                          <a:effectLst/>
                          <a:latin typeface="Times New Roman" panose="02020603050405020304" pitchFamily="18" charset="0"/>
                          <a:ea typeface="Times New Roman"/>
                          <a:cs typeface="Times New Roman" panose="02020603050405020304" pitchFamily="18" charset="0"/>
                        </a:rPr>
                        <a:t>Một số vấn đề kỹ thuật trên đội tàu bay A350, B787, A321, ATR72 chưa có giải pháp khắc phục triệt để (Starter, F/CTL, Hydraulic, Skin Vlv. T.O Config…).</a:t>
                      </a:r>
                      <a:endParaRPr lang="en-US" sz="1100" kern="1200" dirty="0">
                        <a:solidFill>
                          <a:schemeClr val="tx1"/>
                        </a:solidFill>
                        <a:effectLst/>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35686">
                <a:tc>
                  <a:txBody>
                    <a:bodyPr/>
                    <a:lstStyle/>
                    <a:p>
                      <a:pPr marL="58420" algn="ctr">
                        <a:lnSpc>
                          <a:spcPct val="100000"/>
                        </a:lnSpc>
                        <a:spcAft>
                          <a:spcPts val="600"/>
                        </a:spcAft>
                      </a:pPr>
                      <a:r>
                        <a:rPr lang="en-US" sz="1100">
                          <a:solidFill>
                            <a:schemeClr val="tx1"/>
                          </a:solidFill>
                          <a:effectLst/>
                          <a:latin typeface="Times New Roman" panose="02020603050405020304" pitchFamily="18" charset="0"/>
                          <a:ea typeface="Times New Roman"/>
                          <a:cs typeface="Times New Roman" panose="02020603050405020304" pitchFamily="18" charset="0"/>
                        </a:rPr>
                        <a:t>8</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rgbClr val="000000"/>
                          </a:solidFill>
                          <a:effectLst/>
                          <a:latin typeface="Times New Roman" panose="02020603050405020304" pitchFamily="18" charset="0"/>
                        </a:rPr>
                        <a:t>Vụ việc cắt lốp (vv/10000CB)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algn="ctr">
                        <a:lnSpc>
                          <a:spcPct val="100000"/>
                        </a:lnSpc>
                        <a:spcAft>
                          <a:spcPts val="600"/>
                        </a:spcAft>
                      </a:pPr>
                      <a:r>
                        <a:rPr lang="en-US" sz="1100" b="1">
                          <a:solidFill>
                            <a:schemeClr val="tx1"/>
                          </a:solidFill>
                          <a:effectLst/>
                          <a:latin typeface="Times New Roman" panose="02020603050405020304" pitchFamily="18" charset="0"/>
                          <a:ea typeface="Times New Roman"/>
                          <a:cs typeface="Times New Roman" panose="02020603050405020304" pitchFamily="18" charset="0"/>
                        </a:rPr>
                        <a:t>5.67</a:t>
                      </a:r>
                      <a:r>
                        <a:rPr lang="en-US" sz="1100">
                          <a:solidFill>
                            <a:schemeClr val="tx1"/>
                          </a:solidFill>
                          <a:effectLst/>
                          <a:latin typeface="Times New Roman" panose="02020603050405020304" pitchFamily="18" charset="0"/>
                          <a:ea typeface="Times New Roman"/>
                          <a:cs typeface="Times New Roman" panose="02020603050405020304" pitchFamily="18" charset="0"/>
                        </a:rPr>
                        <a:t> vụ/10,000 cb</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a:solidFill>
                            <a:schemeClr val="tx1"/>
                          </a:solidFill>
                          <a:latin typeface="Times New Roman" panose="02020603050405020304" pitchFamily="18" charset="0"/>
                          <a:cs typeface="Times New Roman" panose="02020603050405020304" pitchFamily="18" charset="0"/>
                        </a:rPr>
                        <a:t>13 vụ</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b="1">
                          <a:solidFill>
                            <a:schemeClr val="tx1"/>
                          </a:solidFill>
                          <a:latin typeface="Times New Roman" panose="02020603050405020304" pitchFamily="18" charset="0"/>
                          <a:cs typeface="Times New Roman" panose="02020603050405020304" pitchFamily="18" charset="0"/>
                        </a:rPr>
                        <a:t>3.80</a:t>
                      </a:r>
                      <a:r>
                        <a:rPr lang="en-US" sz="110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vụ</a:t>
                      </a:r>
                      <a:r>
                        <a:rPr lang="en-US" sz="1100" dirty="0">
                          <a:solidFill>
                            <a:schemeClr val="tx1"/>
                          </a:solidFill>
                          <a:latin typeface="Times New Roman" panose="02020603050405020304" pitchFamily="18" charset="0"/>
                          <a:cs typeface="Times New Roman" panose="02020603050405020304" pitchFamily="18" charset="0"/>
                        </a:rPr>
                        <a:t>/10000 </a:t>
                      </a:r>
                      <a:r>
                        <a:rPr lang="en-US" sz="1100" dirty="0" err="1">
                          <a:solidFill>
                            <a:schemeClr val="tx1"/>
                          </a:solidFill>
                          <a:latin typeface="Times New Roman" panose="02020603050405020304" pitchFamily="18" charset="0"/>
                          <a:cs typeface="Times New Roman" panose="02020603050405020304" pitchFamily="18" charset="0"/>
                        </a:rPr>
                        <a:t>cb</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Times New Roman"/>
                          <a:cs typeface="Times New Roman" panose="02020603050405020304" pitchFamily="18" charset="0"/>
                        </a:rPr>
                        <a:t>Đạt mục tiêu </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0799239"/>
                  </a:ext>
                </a:extLst>
              </a:tr>
              <a:tr h="381000">
                <a:tc>
                  <a:txBody>
                    <a:bodyPr/>
                    <a:lstStyle/>
                    <a:p>
                      <a:pPr marL="58420" algn="ctr">
                        <a:lnSpc>
                          <a:spcPct val="100000"/>
                        </a:lnSpc>
                        <a:spcAft>
                          <a:spcPts val="600"/>
                        </a:spcAft>
                      </a:pPr>
                      <a:r>
                        <a:rPr lang="en-US" sz="1100">
                          <a:solidFill>
                            <a:schemeClr val="tx1"/>
                          </a:solidFill>
                          <a:effectLst/>
                          <a:latin typeface="Times New Roman" panose="02020603050405020304" pitchFamily="18" charset="0"/>
                          <a:ea typeface="Times New Roman"/>
                          <a:cs typeface="Times New Roman" panose="02020603050405020304" pitchFamily="18" charset="0"/>
                        </a:rPr>
                        <a:t>9</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rgbClr val="000000"/>
                          </a:solidFill>
                          <a:effectLst/>
                          <a:latin typeface="Times New Roman" panose="02020603050405020304" pitchFamily="18" charset="0"/>
                        </a:rPr>
                        <a:t>Vụ việc PDA (vv/10000CB)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Times New Roman"/>
                          <a:cs typeface="Times New Roman" panose="02020603050405020304" pitchFamily="18" charset="0"/>
                        </a:rPr>
                        <a:t>1.69</a:t>
                      </a: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Times New Roman"/>
                          <a:cs typeface="Times New Roman" panose="02020603050405020304" pitchFamily="18" charset="0"/>
                        </a:rPr>
                        <a:t> vụ/10,000 cb</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a:solidFill>
                            <a:schemeClr val="tx1"/>
                          </a:solidFill>
                          <a:latin typeface="Times New Roman" panose="02020603050405020304" pitchFamily="18" charset="0"/>
                          <a:cs typeface="Times New Roman" panose="02020603050405020304" pitchFamily="18" charset="0"/>
                        </a:rPr>
                        <a:t>03 vụ</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0.88</a:t>
                      </a: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vụ/10000 cb</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Times New Roman"/>
                          <a:cs typeface="Times New Roman" panose="02020603050405020304" pitchFamily="18" charset="0"/>
                        </a:rPr>
                        <a:t>Đạt mục tiêu </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28073803"/>
                  </a:ext>
                </a:extLst>
              </a:tr>
              <a:tr h="480491">
                <a:tc>
                  <a:txBody>
                    <a:bodyPr/>
                    <a:lstStyle/>
                    <a:p>
                      <a:pPr marL="58420" algn="ctr">
                        <a:lnSpc>
                          <a:spcPct val="100000"/>
                        </a:lnSpc>
                        <a:spcAft>
                          <a:spcPts val="600"/>
                        </a:spcAft>
                      </a:pPr>
                      <a:r>
                        <a:rPr lang="en-US" sz="1100">
                          <a:solidFill>
                            <a:schemeClr val="tx1"/>
                          </a:solidFill>
                          <a:effectLst/>
                          <a:latin typeface="Times New Roman" panose="02020603050405020304" pitchFamily="18" charset="0"/>
                          <a:ea typeface="Times New Roman"/>
                          <a:cs typeface="Times New Roman" panose="02020603050405020304" pitchFamily="18" charset="0"/>
                        </a:rPr>
                        <a:t>10</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rgbClr val="000000"/>
                          </a:solidFill>
                          <a:effectLst/>
                          <a:latin typeface="Times New Roman" panose="02020603050405020304" pitchFamily="18" charset="0"/>
                        </a:rPr>
                        <a:t>Vụ việc tàu bay bị FOD (không bao gồm vụ việc cắt lốp)</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Times New Roman"/>
                          <a:cs typeface="Times New Roman" panose="02020603050405020304" pitchFamily="18" charset="0"/>
                        </a:rPr>
                        <a:t>7.70</a:t>
                      </a: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Times New Roman"/>
                          <a:cs typeface="Times New Roman" panose="02020603050405020304" pitchFamily="18" charset="0"/>
                        </a:rPr>
                        <a:t> vụ/10,000 cb</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a:solidFill>
                            <a:schemeClr val="tx1"/>
                          </a:solidFill>
                          <a:latin typeface="Times New Roman" panose="02020603050405020304" pitchFamily="18" charset="0"/>
                          <a:cs typeface="Times New Roman" panose="02020603050405020304" pitchFamily="18" charset="0"/>
                        </a:rPr>
                        <a:t>10 vụ</a:t>
                      </a:r>
                      <a:r>
                        <a:rPr lang="en-US" sz="1100" baseline="0">
                          <a:solidFill>
                            <a:schemeClr val="tx1"/>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2.92</a:t>
                      </a: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vụ/10000 cb</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Times New Roman"/>
                          <a:cs typeface="Times New Roman" panose="02020603050405020304" pitchFamily="18" charset="0"/>
                        </a:rPr>
                        <a:t>Đạt mục tiêu </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8150480"/>
                  </a:ext>
                </a:extLst>
              </a:tr>
              <a:tr h="357709">
                <a:tc>
                  <a:txBody>
                    <a:bodyPr/>
                    <a:lstStyle/>
                    <a:p>
                      <a:pPr marL="58420" algn="ctr">
                        <a:lnSpc>
                          <a:spcPct val="100000"/>
                        </a:lnSpc>
                        <a:spcAft>
                          <a:spcPts val="600"/>
                        </a:spcAft>
                      </a:pPr>
                      <a:r>
                        <a:rPr lang="en-US" sz="1100">
                          <a:solidFill>
                            <a:schemeClr val="tx1"/>
                          </a:solidFill>
                          <a:effectLst/>
                          <a:latin typeface="Times New Roman" panose="02020603050405020304" pitchFamily="18" charset="0"/>
                          <a:ea typeface="Times New Roman"/>
                          <a:cs typeface="Times New Roman" panose="02020603050405020304" pitchFamily="18" charset="0"/>
                        </a:rPr>
                        <a:t>12</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vi-VN" sz="1100" b="0" i="0" u="none" strike="noStrike">
                          <a:solidFill>
                            <a:srgbClr val="000000"/>
                          </a:solidFill>
                          <a:effectLst/>
                          <a:latin typeface="Times New Roman" panose="02020603050405020304" pitchFamily="18" charset="0"/>
                        </a:rPr>
                        <a:t>Sự cố tắt động cơ trên không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dirty="0" smtClean="0">
                          <a:ln>
                            <a:noFill/>
                          </a:ln>
                          <a:solidFill>
                            <a:prstClr val="black"/>
                          </a:solidFill>
                          <a:effectLst/>
                          <a:uLnTx/>
                          <a:uFillTx/>
                          <a:latin typeface="Times New Roman" panose="02020603050405020304" pitchFamily="18" charset="0"/>
                          <a:ea typeface="Times New Roman"/>
                          <a:cs typeface="Times New Roman" panose="02020603050405020304" pitchFamily="18" charset="0"/>
                        </a:rPr>
                        <a:t>0</a:t>
                      </a:r>
                      <a:r>
                        <a:rPr kumimoji="0" lang="en-US" sz="1100" b="0" i="0" u="none" strike="noStrike" kern="1200" cap="none" spc="0" normalizeH="0" baseline="0" noProof="0" dirty="0" smtClean="0">
                          <a:ln>
                            <a:noFill/>
                          </a:ln>
                          <a:solidFill>
                            <a:prstClr val="black"/>
                          </a:solidFill>
                          <a:effectLst/>
                          <a:uLnTx/>
                          <a:uFillTx/>
                          <a:latin typeface="Times New Roman" panose="02020603050405020304" pitchFamily="18" charset="0"/>
                          <a:ea typeface="Times New Roman"/>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Times New Roman"/>
                          <a:cs typeface="Times New Roman" panose="02020603050405020304" pitchFamily="18" charset="0"/>
                        </a:rPr>
                        <a:t>vụ</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rPr>
                        <a:t>/10,000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Times New Roman"/>
                          <a:cs typeface="Times New Roman" panose="02020603050405020304" pitchFamily="18" charset="0"/>
                        </a:rPr>
                        <a:t>cb</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a:solidFill>
                            <a:schemeClr val="tx1"/>
                          </a:solidFill>
                          <a:latin typeface="Times New Roman" panose="02020603050405020304" pitchFamily="18" charset="0"/>
                          <a:cs typeface="Times New Roman" panose="02020603050405020304" pitchFamily="18" charset="0"/>
                        </a:rPr>
                        <a:t>00 vụ</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0.00</a:t>
                      </a: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vụ/10000 cb</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Times New Roman"/>
                          <a:cs typeface="Times New Roman" panose="02020603050405020304" pitchFamily="18" charset="0"/>
                        </a:rPr>
                        <a:t>Đạt mục tiêu </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1545323"/>
                  </a:ext>
                </a:extLst>
              </a:tr>
              <a:tr h="381000">
                <a:tc>
                  <a:txBody>
                    <a:bodyPr/>
                    <a:lstStyle/>
                    <a:p>
                      <a:pPr marL="58420" algn="ctr">
                        <a:lnSpc>
                          <a:spcPct val="100000"/>
                        </a:lnSpc>
                        <a:spcAft>
                          <a:spcPts val="600"/>
                        </a:spcAft>
                      </a:pPr>
                      <a:r>
                        <a:rPr lang="en-US" sz="1100">
                          <a:solidFill>
                            <a:schemeClr val="tx1"/>
                          </a:solidFill>
                          <a:effectLst/>
                          <a:latin typeface="Times New Roman" panose="02020603050405020304" pitchFamily="18" charset="0"/>
                          <a:ea typeface="Times New Roman"/>
                          <a:cs typeface="Times New Roman" panose="02020603050405020304" pitchFamily="18" charset="0"/>
                        </a:rPr>
                        <a:t>13</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100" b="0" i="0" u="none" strike="noStrike">
                          <a:solidFill>
                            <a:srgbClr val="000000"/>
                          </a:solidFill>
                          <a:effectLst/>
                          <a:latin typeface="Times New Roman" panose="02020603050405020304" pitchFamily="18" charset="0"/>
                        </a:rPr>
                        <a:t>Báo cáo tự nguyện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rPr>
                        <a:t>53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Times New Roman"/>
                          <a:cs typeface="Times New Roman" panose="02020603050405020304" pitchFamily="18" charset="0"/>
                        </a:rPr>
                        <a:t>Báo</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Times New Roman"/>
                          <a:cs typeface="Times New Roman" panose="02020603050405020304" pitchFamily="18" charset="0"/>
                        </a:rPr>
                        <a:t>cáo</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rPr>
                        <a:t>/ </a:t>
                      </a:r>
                      <a:r>
                        <a:rPr kumimoji="0" lang="en-US" sz="1100" b="0" i="0" u="none" strike="noStrike" kern="1200" cap="none" spc="0" normalizeH="0" baseline="0" noProof="0" dirty="0" err="1">
                          <a:ln>
                            <a:noFill/>
                          </a:ln>
                          <a:solidFill>
                            <a:prstClr val="black"/>
                          </a:solidFill>
                          <a:effectLst/>
                          <a:uLnTx/>
                          <a:uFillTx/>
                          <a:latin typeface="Times New Roman" panose="02020603050405020304" pitchFamily="18" charset="0"/>
                          <a:ea typeface="Times New Roman"/>
                          <a:cs typeface="Times New Roman" panose="02020603050405020304" pitchFamily="18" charset="0"/>
                        </a:rPr>
                        <a:t>tháng</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a:solidFill>
                            <a:schemeClr val="tx1"/>
                          </a:solidFill>
                          <a:latin typeface="Times New Roman" panose="02020603050405020304" pitchFamily="18" charset="0"/>
                          <a:cs typeface="Times New Roman" panose="02020603050405020304" pitchFamily="18" charset="0"/>
                        </a:rPr>
                        <a:t>165 BC</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a:solidFill>
                            <a:schemeClr val="tx1"/>
                          </a:solidFill>
                          <a:latin typeface="Times New Roman" panose="02020603050405020304" pitchFamily="18" charset="0"/>
                          <a:cs typeface="Times New Roman" panose="02020603050405020304" pitchFamily="18" charset="0"/>
                        </a:rPr>
                        <a:t>55 BC/ tháng</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Times New Roman"/>
                          <a:cs typeface="Times New Roman" panose="02020603050405020304" pitchFamily="18" charset="0"/>
                        </a:rPr>
                        <a:t>Đạt mục tiêu </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7545756"/>
                  </a:ext>
                </a:extLst>
              </a:tr>
              <a:tr h="297809">
                <a:tc>
                  <a:txBody>
                    <a:bodyPr/>
                    <a:lstStyle/>
                    <a:p>
                      <a:pPr marL="58420" algn="ctr">
                        <a:lnSpc>
                          <a:spcPct val="100000"/>
                        </a:lnSpc>
                        <a:spcAft>
                          <a:spcPts val="600"/>
                        </a:spcAft>
                      </a:pPr>
                      <a:r>
                        <a:rPr lang="en-US" sz="1100">
                          <a:solidFill>
                            <a:schemeClr val="tx1"/>
                          </a:solidFill>
                          <a:effectLst/>
                          <a:latin typeface="Times New Roman" panose="02020603050405020304" pitchFamily="18" charset="0"/>
                          <a:ea typeface="Times New Roman"/>
                          <a:cs typeface="Times New Roman" panose="02020603050405020304" pitchFamily="18" charset="0"/>
                        </a:rPr>
                        <a:t>14</a:t>
                      </a:r>
                      <a:endParaRPr lang="en-US" sz="1100" dirty="0">
                        <a:solidFill>
                          <a:schemeClr val="tx1"/>
                        </a:solidFill>
                        <a:effectLst/>
                        <a:latin typeface="Times New Roman" panose="02020603050405020304" pitchFamily="18" charset="0"/>
                        <a:ea typeface="Times New Roman"/>
                        <a:cs typeface="Times New Roman" panose="02020603050405020304" pitchFamily="18" charset="0"/>
                      </a:endParaRPr>
                    </a:p>
                  </a:txBody>
                  <a:tcPr marL="27305" marR="27305" marT="508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rgbClr val="000000"/>
                          </a:solidFill>
                          <a:effectLst/>
                          <a:latin typeface="Times New Roman" panose="02020603050405020304" pitchFamily="18" charset="0"/>
                        </a:rPr>
                        <a:t>AGS/LOM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b="1" kern="1200">
                          <a:solidFill>
                            <a:schemeClr val="tx1"/>
                          </a:solidFill>
                          <a:effectLst/>
                          <a:latin typeface="Times New Roman" panose="02020603050405020304" pitchFamily="18" charset="0"/>
                          <a:ea typeface="Times New Roman"/>
                          <a:cs typeface="Times New Roman" panose="02020603050405020304" pitchFamily="18" charset="0"/>
                        </a:rPr>
                        <a:t>   Total: 94%</a:t>
                      </a:r>
                      <a:endParaRPr lang="en-US" sz="1100" b="1" kern="1200" dirty="0">
                        <a:solidFill>
                          <a:schemeClr val="tx1"/>
                        </a:solidFill>
                        <a:effectLst/>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r>
                        <a:rPr lang="en-US" sz="1100" b="1">
                          <a:solidFill>
                            <a:schemeClr val="tx1"/>
                          </a:solidFill>
                          <a:latin typeface="Times New Roman" panose="02020603050405020304" pitchFamily="18" charset="0"/>
                          <a:cs typeface="Times New Roman" panose="02020603050405020304" pitchFamily="18" charset="0"/>
                        </a:rPr>
                        <a:t>94 %</a:t>
                      </a:r>
                      <a:endParaRPr lang="en-US"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err="1">
                          <a:solidFill>
                            <a:schemeClr val="tx1"/>
                          </a:solidFill>
                          <a:effectLst/>
                          <a:latin typeface="Times New Roman" panose="02020603050405020304" pitchFamily="18" charset="0"/>
                          <a:ea typeface="Times New Roman"/>
                          <a:cs typeface="Times New Roman" panose="02020603050405020304" pitchFamily="18" charset="0"/>
                        </a:rPr>
                        <a:t>Đạt</a:t>
                      </a:r>
                      <a:r>
                        <a:rPr lang="en-US" sz="1100" kern="1200" dirty="0">
                          <a:solidFill>
                            <a:schemeClr val="tx1"/>
                          </a:solidFill>
                          <a:effectLst/>
                          <a:latin typeface="Times New Roman" panose="02020603050405020304" pitchFamily="18" charset="0"/>
                          <a:ea typeface="Times New Roman"/>
                          <a:cs typeface="Times New Roman" panose="02020603050405020304" pitchFamily="18" charset="0"/>
                        </a:rPr>
                        <a:t> </a:t>
                      </a:r>
                      <a:r>
                        <a:rPr lang="en-US" sz="1100" kern="1200" dirty="0" err="1">
                          <a:solidFill>
                            <a:schemeClr val="tx1"/>
                          </a:solidFill>
                          <a:effectLst/>
                          <a:latin typeface="Times New Roman" panose="02020603050405020304" pitchFamily="18" charset="0"/>
                          <a:ea typeface="Times New Roman"/>
                          <a:cs typeface="Times New Roman" panose="02020603050405020304" pitchFamily="18" charset="0"/>
                        </a:rPr>
                        <a:t>mục</a:t>
                      </a:r>
                      <a:r>
                        <a:rPr lang="en-US" sz="1100" kern="1200" dirty="0">
                          <a:solidFill>
                            <a:schemeClr val="tx1"/>
                          </a:solidFill>
                          <a:effectLst/>
                          <a:latin typeface="Times New Roman" panose="02020603050405020304" pitchFamily="18" charset="0"/>
                          <a:ea typeface="Times New Roman"/>
                          <a:cs typeface="Times New Roman" panose="02020603050405020304" pitchFamily="18" charset="0"/>
                        </a:rPr>
                        <a:t> </a:t>
                      </a:r>
                      <a:r>
                        <a:rPr lang="en-US" sz="1100" kern="1200" dirty="0" err="1">
                          <a:solidFill>
                            <a:schemeClr val="tx1"/>
                          </a:solidFill>
                          <a:effectLst/>
                          <a:latin typeface="Times New Roman" panose="02020603050405020304" pitchFamily="18" charset="0"/>
                          <a:ea typeface="Times New Roman"/>
                          <a:cs typeface="Times New Roman" panose="02020603050405020304" pitchFamily="18" charset="0"/>
                        </a:rPr>
                        <a:t>tiêu</a:t>
                      </a:r>
                      <a:endParaRPr lang="en-US" sz="1100" kern="1200" dirty="0">
                        <a:solidFill>
                          <a:schemeClr val="tx1"/>
                        </a:solidFill>
                        <a:effectLst/>
                        <a:latin typeface="Times New Roman" panose="02020603050405020304" pitchFamily="18" charset="0"/>
                        <a:ea typeface="Times New Roman"/>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148329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a:defRPr/>
            </a:pPr>
            <a:r>
              <a:rPr lang="en-US" sz="2800" b="1" dirty="0">
                <a:solidFill>
                  <a:srgbClr val="D2A43B"/>
                </a:solidFill>
                <a:ea typeface="Tahoma" pitchFamily="34" charset="0"/>
                <a:cs typeface="Times New Roman" panose="02020603050405020304" pitchFamily="18" charset="0"/>
              </a:rPr>
              <a:t>NGUỒN LỰC TÀU BAY – A321</a:t>
            </a:r>
          </a:p>
        </p:txBody>
      </p:sp>
      <p:graphicFrame>
        <p:nvGraphicFramePr>
          <p:cNvPr id="2" name="Table 1">
            <a:extLst>
              <a:ext uri="{FF2B5EF4-FFF2-40B4-BE49-F238E27FC236}">
                <a16:creationId xmlns:a16="http://schemas.microsoft.com/office/drawing/2014/main" id="{BA944809-9208-B9AB-C1C3-7FEEEAC0DE8C}"/>
              </a:ext>
            </a:extLst>
          </p:cNvPr>
          <p:cNvGraphicFramePr>
            <a:graphicFrameLocks noGrp="1"/>
          </p:cNvGraphicFramePr>
          <p:nvPr/>
        </p:nvGraphicFramePr>
        <p:xfrm>
          <a:off x="369434" y="1295400"/>
          <a:ext cx="11517767" cy="5181598"/>
        </p:xfrm>
        <a:graphic>
          <a:graphicData uri="http://schemas.openxmlformats.org/drawingml/2006/table">
            <a:tbl>
              <a:tblPr/>
              <a:tblGrid>
                <a:gridCol w="385408">
                  <a:extLst>
                    <a:ext uri="{9D8B030D-6E8A-4147-A177-3AD203B41FA5}">
                      <a16:colId xmlns:a16="http://schemas.microsoft.com/office/drawing/2014/main" val="4129878116"/>
                    </a:ext>
                  </a:extLst>
                </a:gridCol>
                <a:gridCol w="2608914">
                  <a:extLst>
                    <a:ext uri="{9D8B030D-6E8A-4147-A177-3AD203B41FA5}">
                      <a16:colId xmlns:a16="http://schemas.microsoft.com/office/drawing/2014/main" val="3661173833"/>
                    </a:ext>
                  </a:extLst>
                </a:gridCol>
                <a:gridCol w="607759">
                  <a:extLst>
                    <a:ext uri="{9D8B030D-6E8A-4147-A177-3AD203B41FA5}">
                      <a16:colId xmlns:a16="http://schemas.microsoft.com/office/drawing/2014/main" val="4064084773"/>
                    </a:ext>
                  </a:extLst>
                </a:gridCol>
                <a:gridCol w="667052">
                  <a:extLst>
                    <a:ext uri="{9D8B030D-6E8A-4147-A177-3AD203B41FA5}">
                      <a16:colId xmlns:a16="http://schemas.microsoft.com/office/drawing/2014/main" val="3209647350"/>
                    </a:ext>
                  </a:extLst>
                </a:gridCol>
                <a:gridCol w="592935">
                  <a:extLst>
                    <a:ext uri="{9D8B030D-6E8A-4147-A177-3AD203B41FA5}">
                      <a16:colId xmlns:a16="http://schemas.microsoft.com/office/drawing/2014/main" val="135708276"/>
                    </a:ext>
                  </a:extLst>
                </a:gridCol>
                <a:gridCol w="563289">
                  <a:extLst>
                    <a:ext uri="{9D8B030D-6E8A-4147-A177-3AD203B41FA5}">
                      <a16:colId xmlns:a16="http://schemas.microsoft.com/office/drawing/2014/main" val="1952683704"/>
                    </a:ext>
                  </a:extLst>
                </a:gridCol>
                <a:gridCol w="607759">
                  <a:extLst>
                    <a:ext uri="{9D8B030D-6E8A-4147-A177-3AD203B41FA5}">
                      <a16:colId xmlns:a16="http://schemas.microsoft.com/office/drawing/2014/main" val="3748714421"/>
                    </a:ext>
                  </a:extLst>
                </a:gridCol>
                <a:gridCol w="592935">
                  <a:extLst>
                    <a:ext uri="{9D8B030D-6E8A-4147-A177-3AD203B41FA5}">
                      <a16:colId xmlns:a16="http://schemas.microsoft.com/office/drawing/2014/main" val="268413980"/>
                    </a:ext>
                  </a:extLst>
                </a:gridCol>
                <a:gridCol w="607759">
                  <a:extLst>
                    <a:ext uri="{9D8B030D-6E8A-4147-A177-3AD203B41FA5}">
                      <a16:colId xmlns:a16="http://schemas.microsoft.com/office/drawing/2014/main" val="1087461461"/>
                    </a:ext>
                  </a:extLst>
                </a:gridCol>
                <a:gridCol w="607759">
                  <a:extLst>
                    <a:ext uri="{9D8B030D-6E8A-4147-A177-3AD203B41FA5}">
                      <a16:colId xmlns:a16="http://schemas.microsoft.com/office/drawing/2014/main" val="1890291675"/>
                    </a:ext>
                  </a:extLst>
                </a:gridCol>
                <a:gridCol w="607759">
                  <a:extLst>
                    <a:ext uri="{9D8B030D-6E8A-4147-A177-3AD203B41FA5}">
                      <a16:colId xmlns:a16="http://schemas.microsoft.com/office/drawing/2014/main" val="3381782568"/>
                    </a:ext>
                  </a:extLst>
                </a:gridCol>
                <a:gridCol w="3068439">
                  <a:extLst>
                    <a:ext uri="{9D8B030D-6E8A-4147-A177-3AD203B41FA5}">
                      <a16:colId xmlns:a16="http://schemas.microsoft.com/office/drawing/2014/main" val="1905121216"/>
                    </a:ext>
                  </a:extLst>
                </a:gridCol>
              </a:tblGrid>
              <a:tr h="454285">
                <a:tc gridSpan="12">
                  <a:txBody>
                    <a:bodyPr/>
                    <a:lstStyle/>
                    <a:p>
                      <a:pPr algn="ctr" fontAlgn="ctr"/>
                      <a:r>
                        <a:rPr lang="en-US" sz="1600" b="1" i="0" u="none" strike="noStrike" dirty="0">
                          <a:solidFill>
                            <a:srgbClr val="000000"/>
                          </a:solidFill>
                          <a:effectLst/>
                          <a:latin typeface="Times New Roman" panose="02020603050405020304" pitchFamily="18" charset="0"/>
                        </a:rPr>
                        <a:t>NGUỒN LỰC KỸ THUÂT FLEET A321 (CẬP NHẬT 07/04)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24934069"/>
                  </a:ext>
                </a:extLst>
              </a:tr>
              <a:tr h="550648">
                <a:tc>
                  <a:txBody>
                    <a:bodyPr/>
                    <a:lstStyle/>
                    <a:p>
                      <a:pPr algn="ctr" fontAlgn="ctr"/>
                      <a:r>
                        <a:rPr lang="en-US" sz="1300" b="1" i="0" u="none" strike="noStrike">
                          <a:solidFill>
                            <a:srgbClr val="000000"/>
                          </a:solidFill>
                          <a:effectLst/>
                          <a:latin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dirty="0">
                          <a:solidFill>
                            <a:srgbClr val="000000"/>
                          </a:solidFill>
                          <a:effectLst/>
                          <a:latin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322931991"/>
                  </a:ext>
                </a:extLst>
              </a:tr>
              <a:tr h="847998">
                <a:tc>
                  <a:txBody>
                    <a:bodyPr/>
                    <a:lstStyle/>
                    <a:p>
                      <a:pPr algn="ctr" fontAlgn="ctr"/>
                      <a:r>
                        <a:rPr lang="en-US" sz="1300" b="1" i="0" u="none" strike="noStrike">
                          <a:solidFill>
                            <a:srgbClr val="000000"/>
                          </a:solidFill>
                          <a:effectLst/>
                          <a:latin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300" b="1" i="0" u="none" strike="noStrike">
                          <a:solidFill>
                            <a:srgbClr val="000000"/>
                          </a:solidFill>
                          <a:effectLst/>
                          <a:latin typeface="Times New Roman" panose="02020603050405020304" pitchFamily="18" charset="0"/>
                        </a:rPr>
                        <a:t>A321 NEO AOG</a:t>
                      </a:r>
                      <a:br>
                        <a:rPr lang="pt-BR" sz="1300" b="1" i="0" u="none" strike="noStrike">
                          <a:solidFill>
                            <a:srgbClr val="000000"/>
                          </a:solidFill>
                          <a:effectLst/>
                          <a:latin typeface="Times New Roman" panose="02020603050405020304" pitchFamily="18" charset="0"/>
                        </a:rPr>
                      </a:br>
                      <a:r>
                        <a:rPr lang="pt-BR" sz="1300" b="1" i="0" u="none" strike="noStrike">
                          <a:solidFill>
                            <a:srgbClr val="000000"/>
                          </a:solidFill>
                          <a:effectLst/>
                          <a:latin typeface="Times New Roman" panose="02020603050405020304" pitchFamily="18" charset="0"/>
                        </a:rPr>
                        <a:t>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FF0000"/>
                          </a:solidFill>
                          <a:effectLst/>
                          <a:latin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13.25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300" b="0" i="0" u="none" strike="noStrike" dirty="0">
                          <a:solidFill>
                            <a:srgbClr val="FF0000"/>
                          </a:solidFill>
                          <a:effectLst/>
                          <a:latin typeface="Times New Roman" panose="02020603050405020304" pitchFamily="18" charset="0"/>
                        </a:rPr>
                        <a:t>- 0/2025: </a:t>
                      </a:r>
                      <a:r>
                        <a:rPr lang="en-US" sz="1300" b="0" i="0" u="none" strike="noStrike" dirty="0" err="1">
                          <a:solidFill>
                            <a:srgbClr val="FF0000"/>
                          </a:solidFill>
                          <a:effectLst/>
                          <a:latin typeface="Times New Roman" panose="02020603050405020304" pitchFamily="18" charset="0"/>
                        </a:rPr>
                        <a:t>tăng</a:t>
                      </a:r>
                      <a:r>
                        <a:rPr lang="en-US" sz="1300" b="0" i="0" u="none" strike="noStrike" dirty="0">
                          <a:solidFill>
                            <a:srgbClr val="FF0000"/>
                          </a:solidFill>
                          <a:effectLst/>
                          <a:latin typeface="Times New Roman" panose="02020603050405020304" pitchFamily="18" charset="0"/>
                        </a:rPr>
                        <a:t> 0.5 </a:t>
                      </a:r>
                      <a:r>
                        <a:rPr lang="en-US" sz="1300" b="0" i="0" u="none" strike="noStrike" dirty="0" err="1">
                          <a:solidFill>
                            <a:srgbClr val="FF0000"/>
                          </a:solidFill>
                          <a:effectLst/>
                          <a:latin typeface="Times New Roman" panose="02020603050405020304" pitchFamily="18" charset="0"/>
                        </a:rPr>
                        <a:t>tàu</a:t>
                      </a:r>
                      <a:r>
                        <a:rPr lang="en-US" sz="1300" b="0" i="0" u="none" strike="noStrike" dirty="0">
                          <a:solidFill>
                            <a:srgbClr val="FF0000"/>
                          </a:solidFill>
                          <a:effectLst/>
                          <a:latin typeface="Times New Roman" panose="02020603050405020304" pitchFamily="18" charset="0"/>
                        </a:rPr>
                        <a:t> do ENG </a:t>
                      </a:r>
                      <a:r>
                        <a:rPr lang="en-US" sz="1300" b="0" i="0" u="none" strike="noStrike" dirty="0" err="1">
                          <a:solidFill>
                            <a:srgbClr val="FF0000"/>
                          </a:solidFill>
                          <a:effectLst/>
                          <a:latin typeface="Times New Roman" panose="02020603050405020304" pitchFamily="18" charset="0"/>
                        </a:rPr>
                        <a:t>về</a:t>
                      </a:r>
                      <a:r>
                        <a:rPr lang="en-US" sz="1300" b="0" i="0" u="none" strike="noStrike" dirty="0">
                          <a:solidFill>
                            <a:srgbClr val="FF0000"/>
                          </a:solidFill>
                          <a:effectLst/>
                          <a:latin typeface="Times New Roman" panose="02020603050405020304" pitchFamily="18" charset="0"/>
                        </a:rPr>
                        <a:t> </a:t>
                      </a:r>
                      <a:r>
                        <a:rPr lang="en-US" sz="1300" b="0" i="0" u="none" strike="noStrike" dirty="0" err="1">
                          <a:solidFill>
                            <a:srgbClr val="FF0000"/>
                          </a:solidFill>
                          <a:effectLst/>
                          <a:latin typeface="Times New Roman" panose="02020603050405020304" pitchFamily="18" charset="0"/>
                        </a:rPr>
                        <a:t>muộn</a:t>
                      </a:r>
                      <a:r>
                        <a:rPr lang="en-US" sz="1300" b="0" i="0" u="none" strike="noStrike" dirty="0">
                          <a:solidFill>
                            <a:srgbClr val="FF0000"/>
                          </a:solidFill>
                          <a:effectLst/>
                          <a:latin typeface="Times New Roman" panose="02020603050405020304" pitchFamily="18" charset="0"/>
                        </a:rPr>
                        <a:t/>
                      </a:r>
                      <a:br>
                        <a:rPr lang="en-US" sz="1300" b="0" i="0" u="none" strike="noStrike" dirty="0">
                          <a:solidFill>
                            <a:srgbClr val="FF0000"/>
                          </a:solidFill>
                          <a:effectLst/>
                          <a:latin typeface="Times New Roman" panose="02020603050405020304" pitchFamily="18" charset="0"/>
                        </a:rPr>
                      </a:br>
                      <a:r>
                        <a:rPr lang="en-US" sz="1300" b="0" i="0" u="none" strike="noStrike" dirty="0">
                          <a:solidFill>
                            <a:schemeClr val="tx1"/>
                          </a:solidFill>
                          <a:effectLst/>
                          <a:latin typeface="Times New Roman" panose="02020603050405020304" pitchFamily="18" charset="0"/>
                        </a:rPr>
                        <a:t>- 05/2025: </a:t>
                      </a:r>
                      <a:r>
                        <a:rPr lang="en-US" sz="1300" b="0" i="0" u="none" strike="noStrike" dirty="0" err="1">
                          <a:solidFill>
                            <a:schemeClr val="tx1"/>
                          </a:solidFill>
                          <a:effectLst/>
                          <a:latin typeface="Times New Roman" panose="02020603050405020304" pitchFamily="18" charset="0"/>
                        </a:rPr>
                        <a:t>tăng</a:t>
                      </a:r>
                      <a:r>
                        <a:rPr lang="en-US" sz="1300" b="0" i="0" u="none" strike="noStrike" dirty="0">
                          <a:solidFill>
                            <a:schemeClr val="tx1"/>
                          </a:solidFill>
                          <a:effectLst/>
                          <a:latin typeface="Times New Roman" panose="02020603050405020304" pitchFamily="18" charset="0"/>
                        </a:rPr>
                        <a:t> 0.25 </a:t>
                      </a:r>
                      <a:r>
                        <a:rPr lang="en-US" sz="1300" b="0" i="0" u="none" strike="noStrike" dirty="0" err="1">
                          <a:solidFill>
                            <a:schemeClr val="tx1"/>
                          </a:solidFill>
                          <a:effectLst/>
                          <a:latin typeface="Times New Roman" panose="02020603050405020304" pitchFamily="18" charset="0"/>
                        </a:rPr>
                        <a:t>tàu</a:t>
                      </a:r>
                      <a:r>
                        <a:rPr lang="en-US" sz="1300" b="0" i="0" u="none" strike="noStrike" dirty="0">
                          <a:solidFill>
                            <a:schemeClr val="tx1"/>
                          </a:solidFill>
                          <a:effectLst/>
                          <a:latin typeface="Times New Roman" panose="02020603050405020304" pitchFamily="18" charset="0"/>
                        </a:rPr>
                        <a:t> do ENG </a:t>
                      </a:r>
                      <a:r>
                        <a:rPr lang="en-US" sz="1300" b="0" i="0" u="none" strike="noStrike" dirty="0" err="1">
                          <a:solidFill>
                            <a:schemeClr val="tx1"/>
                          </a:solidFill>
                          <a:effectLst/>
                          <a:latin typeface="Times New Roman" panose="02020603050405020304" pitchFamily="18" charset="0"/>
                        </a:rPr>
                        <a:t>về</a:t>
                      </a:r>
                      <a:r>
                        <a:rPr lang="en-US" sz="1300" b="0" i="0" u="none" strike="noStrike" dirty="0">
                          <a:solidFill>
                            <a:schemeClr val="tx1"/>
                          </a:solidFill>
                          <a:effectLst/>
                          <a:latin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rPr>
                        <a:t>muộn</a:t>
                      </a:r>
                      <a:endParaRPr lang="en-US" sz="1300" b="0" i="0" u="none" strike="noStrike" dirty="0">
                        <a:solidFill>
                          <a:schemeClr val="tx1"/>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0958090"/>
                  </a:ext>
                </a:extLst>
              </a:tr>
              <a:tr h="770907">
                <a:tc>
                  <a:txBody>
                    <a:bodyPr/>
                    <a:lstStyle/>
                    <a:p>
                      <a:pPr algn="ctr" fontAlgn="ctr"/>
                      <a:r>
                        <a:rPr lang="en-US" sz="1300" b="1" i="0" u="none" strike="noStrike">
                          <a:solidFill>
                            <a:srgbClr val="000000"/>
                          </a:solidFill>
                          <a:effectLst/>
                          <a:latin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300" b="1" i="0" u="none" strike="noStrike">
                          <a:solidFill>
                            <a:srgbClr val="000000"/>
                          </a:solidFill>
                          <a:effectLst/>
                          <a:latin typeface="Times New Roman" panose="02020603050405020304" pitchFamily="18" charset="0"/>
                        </a:rPr>
                        <a:t>A321 CEO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3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340573388"/>
                  </a:ext>
                </a:extLst>
              </a:tr>
              <a:tr h="839738">
                <a:tc>
                  <a:txBody>
                    <a:bodyPr/>
                    <a:lstStyle/>
                    <a:p>
                      <a:pPr algn="ctr" fontAlgn="ctr"/>
                      <a:r>
                        <a:rPr lang="en-US" sz="1300" b="1" i="0" u="none" strike="noStrike">
                          <a:solidFill>
                            <a:srgbClr val="000000"/>
                          </a:solidFill>
                          <a:effectLst/>
                          <a:latin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1" i="0" u="none" strike="noStrike">
                          <a:solidFill>
                            <a:srgbClr val="000000"/>
                          </a:solidFill>
                          <a:effectLst/>
                          <a:latin typeface="Times New Roman" panose="02020603050405020304" pitchFamily="18" charset="0"/>
                        </a:rPr>
                        <a:t>A321 dừng thực hiện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FF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0.30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300" b="0" i="0" u="none" strike="noStrike" dirty="0">
                          <a:solidFill>
                            <a:srgbClr val="FF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5647381"/>
                  </a:ext>
                </a:extLst>
              </a:tr>
              <a:tr h="859011">
                <a:tc>
                  <a:txBody>
                    <a:bodyPr/>
                    <a:lstStyle/>
                    <a:p>
                      <a:pPr algn="ctr" fontAlgn="ctr"/>
                      <a:r>
                        <a:rPr lang="en-US" sz="1300" b="1" i="0" u="none" strike="noStrike">
                          <a:solidFill>
                            <a:srgbClr val="000000"/>
                          </a:solidFill>
                          <a:effectLst/>
                          <a:latin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1" i="0" u="none" strike="noStrike">
                          <a:solidFill>
                            <a:srgbClr val="000000"/>
                          </a:solidFill>
                          <a:effectLst/>
                          <a:latin typeface="Times New Roman" panose="02020603050405020304" pitchFamily="18" charset="0"/>
                        </a:rPr>
                        <a:t>Tổng số tàu A321 Dừng</a:t>
                      </a:r>
                      <a:br>
                        <a:rPr lang="en-US" sz="1300" b="1" i="0" u="none" strike="noStrike">
                          <a:solidFill>
                            <a:srgbClr val="000000"/>
                          </a:solidFill>
                          <a:effectLst/>
                          <a:latin typeface="Times New Roman" panose="02020603050405020304" pitchFamily="18" charset="0"/>
                        </a:rPr>
                      </a:br>
                      <a:r>
                        <a:rPr lang="en-US" sz="1300" b="1" i="0" u="none" strike="noStrike">
                          <a:solidFill>
                            <a:srgbClr val="000000"/>
                          </a:solidFill>
                          <a:effectLst/>
                          <a:latin typeface="Times New Roman" panose="02020603050405020304" pitchFamily="18" charset="0"/>
                        </a:rPr>
                        <a:t>(Do thiếu ENG + BD)</a:t>
                      </a:r>
                      <a:br>
                        <a:rPr lang="en-US" sz="1300" b="1" i="0" u="none" strike="noStrike">
                          <a:solidFill>
                            <a:srgbClr val="000000"/>
                          </a:solidFill>
                          <a:effectLst/>
                          <a:latin typeface="Times New Roman" panose="02020603050405020304" pitchFamily="18" charset="0"/>
                        </a:rPr>
                      </a:br>
                      <a:r>
                        <a:rPr lang="en-US" sz="1300" b="1" i="0" u="none" strike="noStrike">
                          <a:solidFill>
                            <a:srgbClr val="000000"/>
                          </a:solidFill>
                          <a:effectLst/>
                          <a:latin typeface="Times New Roman" panose="02020603050405020304" pitchFamily="18" charset="0"/>
                        </a:rPr>
                        <a:t>(4) = (1) + (2)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16.60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16.35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12.60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14.70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3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892876371"/>
                  </a:ext>
                </a:extLst>
              </a:tr>
              <a:tr h="859011">
                <a:tc>
                  <a:txBody>
                    <a:bodyPr/>
                    <a:lstStyle/>
                    <a:p>
                      <a:pPr algn="ctr" fontAlgn="ctr"/>
                      <a:r>
                        <a:rPr lang="en-US" sz="1300" b="1" i="0" u="none" strike="noStrike">
                          <a:solidFill>
                            <a:srgbClr val="000000"/>
                          </a:solidFill>
                          <a:effectLst/>
                          <a:latin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1" i="0" u="none" strike="noStrike">
                          <a:solidFill>
                            <a:srgbClr val="000000"/>
                          </a:solidFill>
                          <a:effectLst/>
                          <a:latin typeface="Times New Roman" panose="02020603050405020304" pitchFamily="18" charset="0"/>
                        </a:rPr>
                        <a:t>Tổng số tàu A321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48.4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48.7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49.8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3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5040394"/>
                  </a:ext>
                </a:extLst>
              </a:tr>
            </a:tbl>
          </a:graphicData>
        </a:graphic>
      </p:graphicFrame>
    </p:spTree>
    <p:extLst>
      <p:ext uri="{BB962C8B-B14F-4D97-AF65-F5344CB8AC3E}">
        <p14:creationId xmlns:p14="http://schemas.microsoft.com/office/powerpoint/2010/main" val="818876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a:defRPr/>
            </a:pPr>
            <a:r>
              <a:rPr lang="en-US" sz="2800" b="1" dirty="0">
                <a:solidFill>
                  <a:srgbClr val="D2A43B"/>
                </a:solidFill>
                <a:ea typeface="Tahoma" pitchFamily="34" charset="0"/>
                <a:cs typeface="Times New Roman" panose="02020603050405020304" pitchFamily="18" charset="0"/>
              </a:rPr>
              <a:t>NGUỒN LỰC TÀU BAY – A350</a:t>
            </a:r>
            <a:r>
              <a:rPr lang="en-US" sz="2800" b="1">
                <a:solidFill>
                  <a:srgbClr val="D2A43B"/>
                </a:solidFill>
                <a:ea typeface="Tahoma" pitchFamily="34" charset="0"/>
                <a:cs typeface="Times New Roman" panose="02020603050405020304" pitchFamily="18" charset="0"/>
              </a:rPr>
              <a:t>/B787</a:t>
            </a:r>
            <a:endParaRPr lang="en-US" sz="2800" b="1" dirty="0">
              <a:solidFill>
                <a:srgbClr val="D2A43B"/>
              </a:solidFill>
              <a:ea typeface="Tahoma"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92B9A58F-EBFE-5D3D-70A5-09FB32C66EF2}"/>
              </a:ext>
            </a:extLst>
          </p:cNvPr>
          <p:cNvGraphicFramePr>
            <a:graphicFrameLocks noGrp="1"/>
          </p:cNvGraphicFramePr>
          <p:nvPr/>
        </p:nvGraphicFramePr>
        <p:xfrm>
          <a:off x="152400" y="685800"/>
          <a:ext cx="11887197" cy="5642425"/>
        </p:xfrm>
        <a:graphic>
          <a:graphicData uri="http://schemas.openxmlformats.org/drawingml/2006/table">
            <a:tbl>
              <a:tblPr/>
              <a:tblGrid>
                <a:gridCol w="375640">
                  <a:extLst>
                    <a:ext uri="{9D8B030D-6E8A-4147-A177-3AD203B41FA5}">
                      <a16:colId xmlns:a16="http://schemas.microsoft.com/office/drawing/2014/main" val="1903307640"/>
                    </a:ext>
                  </a:extLst>
                </a:gridCol>
                <a:gridCol w="2568895">
                  <a:extLst>
                    <a:ext uri="{9D8B030D-6E8A-4147-A177-3AD203B41FA5}">
                      <a16:colId xmlns:a16="http://schemas.microsoft.com/office/drawing/2014/main" val="2248339607"/>
                    </a:ext>
                  </a:extLst>
                </a:gridCol>
                <a:gridCol w="496815">
                  <a:extLst>
                    <a:ext uri="{9D8B030D-6E8A-4147-A177-3AD203B41FA5}">
                      <a16:colId xmlns:a16="http://schemas.microsoft.com/office/drawing/2014/main" val="1058090152"/>
                    </a:ext>
                  </a:extLst>
                </a:gridCol>
                <a:gridCol w="545283">
                  <a:extLst>
                    <a:ext uri="{9D8B030D-6E8A-4147-A177-3AD203B41FA5}">
                      <a16:colId xmlns:a16="http://schemas.microsoft.com/office/drawing/2014/main" val="1014846744"/>
                    </a:ext>
                  </a:extLst>
                </a:gridCol>
                <a:gridCol w="496815">
                  <a:extLst>
                    <a:ext uri="{9D8B030D-6E8A-4147-A177-3AD203B41FA5}">
                      <a16:colId xmlns:a16="http://schemas.microsoft.com/office/drawing/2014/main" val="4267629727"/>
                    </a:ext>
                  </a:extLst>
                </a:gridCol>
                <a:gridCol w="460462">
                  <a:extLst>
                    <a:ext uri="{9D8B030D-6E8A-4147-A177-3AD203B41FA5}">
                      <a16:colId xmlns:a16="http://schemas.microsoft.com/office/drawing/2014/main" val="1785292468"/>
                    </a:ext>
                  </a:extLst>
                </a:gridCol>
                <a:gridCol w="521049">
                  <a:extLst>
                    <a:ext uri="{9D8B030D-6E8A-4147-A177-3AD203B41FA5}">
                      <a16:colId xmlns:a16="http://schemas.microsoft.com/office/drawing/2014/main" val="3212664607"/>
                    </a:ext>
                  </a:extLst>
                </a:gridCol>
                <a:gridCol w="496815">
                  <a:extLst>
                    <a:ext uri="{9D8B030D-6E8A-4147-A177-3AD203B41FA5}">
                      <a16:colId xmlns:a16="http://schemas.microsoft.com/office/drawing/2014/main" val="1948791772"/>
                    </a:ext>
                  </a:extLst>
                </a:gridCol>
                <a:gridCol w="496815">
                  <a:extLst>
                    <a:ext uri="{9D8B030D-6E8A-4147-A177-3AD203B41FA5}">
                      <a16:colId xmlns:a16="http://schemas.microsoft.com/office/drawing/2014/main" val="3822502996"/>
                    </a:ext>
                  </a:extLst>
                </a:gridCol>
                <a:gridCol w="521049">
                  <a:extLst>
                    <a:ext uri="{9D8B030D-6E8A-4147-A177-3AD203B41FA5}">
                      <a16:colId xmlns:a16="http://schemas.microsoft.com/office/drawing/2014/main" val="3083738210"/>
                    </a:ext>
                  </a:extLst>
                </a:gridCol>
                <a:gridCol w="496815">
                  <a:extLst>
                    <a:ext uri="{9D8B030D-6E8A-4147-A177-3AD203B41FA5}">
                      <a16:colId xmlns:a16="http://schemas.microsoft.com/office/drawing/2014/main" val="1840828774"/>
                    </a:ext>
                  </a:extLst>
                </a:gridCol>
                <a:gridCol w="4410744">
                  <a:extLst>
                    <a:ext uri="{9D8B030D-6E8A-4147-A177-3AD203B41FA5}">
                      <a16:colId xmlns:a16="http://schemas.microsoft.com/office/drawing/2014/main" val="1292110500"/>
                    </a:ext>
                  </a:extLst>
                </a:gridCol>
              </a:tblGrid>
              <a:tr h="400503">
                <a:tc gridSpan="12">
                  <a:txBody>
                    <a:bodyPr/>
                    <a:lstStyle/>
                    <a:p>
                      <a:pPr algn="ctr" fontAlgn="ctr"/>
                      <a:r>
                        <a:rPr lang="en-US" sz="1600" b="1" i="0" u="none" strike="noStrike" dirty="0">
                          <a:solidFill>
                            <a:srgbClr val="000000"/>
                          </a:solidFill>
                          <a:effectLst/>
                          <a:latin typeface="Times New Roman" panose="02020603050405020304" pitchFamily="18" charset="0"/>
                        </a:rPr>
                        <a:t>NGUỒN LỰC KỸ THUÂT A350/B787 (CẬP NHẬT 07/04)</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39926967"/>
                  </a:ext>
                </a:extLst>
              </a:tr>
              <a:tr h="306615">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962234859"/>
                  </a:ext>
                </a:extLst>
              </a:tr>
              <a:tr h="1273628">
                <a:tc>
                  <a:txBody>
                    <a:bodyPr/>
                    <a:lstStyle/>
                    <a:p>
                      <a:pPr algn="ctr" fontAlgn="ctr"/>
                      <a:r>
                        <a:rPr lang="en-US" sz="1200" b="0" i="0" u="none" strike="noStrike">
                          <a:solidFill>
                            <a:srgbClr val="000000"/>
                          </a:solidFill>
                          <a:effectLst/>
                          <a:latin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Times New Roman" panose="02020603050405020304" pitchFamily="18" charset="0"/>
                        </a:rPr>
                        <a:t>KB tốt giữ giờ 03 động cơ tháo trong cao điểm hè:  - 21346 (A891): Cần giữ giờ 63 ngày (đã lên phương án giữ giờ 50 ngày bao gồm offwing 23 ngày và 27 ngày swap ENG với A899 Y6);</a:t>
                      </a:r>
                      <a:br>
                        <a:rPr lang="vi-VN" sz="1200" b="0" i="0" u="none" strike="noStrike" dirty="0">
                          <a:solidFill>
                            <a:srgbClr val="000000"/>
                          </a:solidFill>
                          <a:effectLst/>
                          <a:latin typeface="Times New Roman" panose="02020603050405020304" pitchFamily="18" charset="0"/>
                        </a:rPr>
                      </a:br>
                      <a:r>
                        <a:rPr lang="vi-VN" sz="1200" b="0" i="0" u="none" strike="noStrike" dirty="0">
                          <a:solidFill>
                            <a:srgbClr val="000000"/>
                          </a:solidFill>
                          <a:effectLst/>
                          <a:latin typeface="Times New Roman" panose="02020603050405020304" pitchFamily="18" charset="0"/>
                        </a:rPr>
                        <a:t>- 21418 (A890): Cần giữ giờ 38 ngày (đã lên phương án giữ giờ 30 ngày bao bồm dừng Đkỳ 10 ngày và 20 ngày swap ENG với A899 Y6) </a:t>
                      </a:r>
                      <a:br>
                        <a:rPr lang="vi-VN" sz="1200" b="0" i="0" u="none" strike="noStrike" dirty="0">
                          <a:solidFill>
                            <a:srgbClr val="000000"/>
                          </a:solidFill>
                          <a:effectLst/>
                          <a:latin typeface="Times New Roman" panose="02020603050405020304" pitchFamily="18" charset="0"/>
                        </a:rPr>
                      </a:br>
                      <a:r>
                        <a:rPr lang="vi-VN" sz="1200" b="0" i="0" u="none" strike="noStrike" dirty="0">
                          <a:solidFill>
                            <a:srgbClr val="000000"/>
                          </a:solidFill>
                          <a:effectLst/>
                          <a:latin typeface="Times New Roman" panose="02020603050405020304" pitchFamily="18" charset="0"/>
                        </a:rPr>
                        <a:t>- 21317 (A897): Cần giữ giờ 12 ngày.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6136671"/>
                  </a:ext>
                </a:extLst>
              </a:tr>
              <a:tr h="422576">
                <a:tc>
                  <a:txBody>
                    <a:bodyPr/>
                    <a:lstStyle/>
                    <a:p>
                      <a:pPr algn="ctr" fontAlgn="ctr"/>
                      <a:r>
                        <a:rPr lang="en-US" sz="1200" b="0" i="0" u="none" strike="noStrike">
                          <a:solidFill>
                            <a:srgbClr val="000000"/>
                          </a:solidFill>
                          <a:effectLst/>
                          <a:latin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FF0000"/>
                          </a:solidFill>
                          <a:effectLst/>
                          <a:latin typeface="Times New Roman" panose="02020603050405020304" pitchFamily="18" charset="0"/>
                        </a:rPr>
                        <a:t>05/2025: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0.2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do A899 Y6 </a:t>
                      </a:r>
                      <a:r>
                        <a:rPr lang="en-US" sz="1200" b="0" i="0" u="none" strike="noStrike" dirty="0" err="1">
                          <a:solidFill>
                            <a:srgbClr val="FF0000"/>
                          </a:solidFill>
                          <a:effectLst/>
                          <a:latin typeface="Times New Roman" panose="02020603050405020304" pitchFamily="18" charset="0"/>
                        </a:rPr>
                        <a:t>lùi</a:t>
                      </a:r>
                      <a:r>
                        <a:rPr lang="en-US" sz="1200" b="0" i="0" u="none" strike="noStrike" dirty="0">
                          <a:solidFill>
                            <a:srgbClr val="FF0000"/>
                          </a:solidFill>
                          <a:effectLst/>
                          <a:latin typeface="Times New Roman" panose="02020603050405020304" pitchFamily="18" charset="0"/>
                        </a:rPr>
                        <a:t> 3 </a:t>
                      </a:r>
                      <a:r>
                        <a:rPr lang="en-US" sz="1200" b="0" i="0" u="none" strike="noStrike" dirty="0" err="1">
                          <a:solidFill>
                            <a:srgbClr val="FF0000"/>
                          </a:solidFill>
                          <a:effectLst/>
                          <a:latin typeface="Times New Roman" panose="02020603050405020304" pitchFamily="18" charset="0"/>
                        </a:rPr>
                        <a:t>ngày</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lùi</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dây</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chuyền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từ</a:t>
                      </a:r>
                      <a:r>
                        <a:rPr lang="en-US" sz="1200" b="0" i="0" u="none" strike="noStrike" dirty="0">
                          <a:solidFill>
                            <a:srgbClr val="FF0000"/>
                          </a:solidFill>
                          <a:effectLst/>
                          <a:latin typeface="Times New Roman" panose="02020603050405020304" pitchFamily="18" charset="0"/>
                        </a:rPr>
                        <a:t> A892 C4 do VIP), A891 &amp; A896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1 </a:t>
                      </a:r>
                      <a:r>
                        <a:rPr lang="en-US" sz="1200" b="0" i="0" u="none" strike="noStrike" dirty="0" err="1">
                          <a:solidFill>
                            <a:srgbClr val="FF0000"/>
                          </a:solidFill>
                          <a:effectLst/>
                          <a:latin typeface="Times New Roman" panose="02020603050405020304" pitchFamily="18" charset="0"/>
                        </a:rPr>
                        <a:t>ngày</a:t>
                      </a:r>
                      <a:r>
                        <a:rPr lang="en-US" sz="1200" b="0" i="0" u="none" strike="noStrike" dirty="0">
                          <a:solidFill>
                            <a:srgbClr val="FF0000"/>
                          </a:solidFill>
                          <a:effectLst/>
                          <a:latin typeface="Times New Roman" panose="02020603050405020304" pitchFamily="18" charset="0"/>
                        </a:rPr>
                        <a:t> do </a:t>
                      </a:r>
                      <a:r>
                        <a:rPr lang="en-US" sz="1200" b="0" i="0" u="none" strike="noStrike" dirty="0" err="1">
                          <a:solidFill>
                            <a:srgbClr val="FF0000"/>
                          </a:solidFill>
                          <a:effectLst/>
                          <a:latin typeface="Times New Roman" panose="02020603050405020304" pitchFamily="18" charset="0"/>
                        </a:rPr>
                        <a:t>kết</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hợp</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làm</a:t>
                      </a:r>
                      <a:r>
                        <a:rPr lang="en-US" sz="1200" b="0" i="0" u="none" strike="noStrike" dirty="0">
                          <a:solidFill>
                            <a:srgbClr val="FF0000"/>
                          </a:solidFill>
                          <a:effectLst/>
                          <a:latin typeface="Times New Roman" panose="02020603050405020304" pitchFamily="18" charset="0"/>
                        </a:rPr>
                        <a:t> MOD IFC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19707572"/>
                  </a:ext>
                </a:extLst>
              </a:tr>
              <a:tr h="393095">
                <a:tc>
                  <a:txBody>
                    <a:bodyPr/>
                    <a:lstStyle/>
                    <a:p>
                      <a:pPr algn="ctr" fontAlgn="ctr"/>
                      <a:r>
                        <a:rPr lang="en-US" sz="1200" b="0" i="0" u="none" strike="noStrike">
                          <a:solidFill>
                            <a:srgbClr val="000000"/>
                          </a:solidFill>
                          <a:effectLst/>
                          <a:latin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8601997"/>
                  </a:ext>
                </a:extLst>
              </a:tr>
              <a:tr h="393095">
                <a:tc>
                  <a:txBody>
                    <a:bodyPr/>
                    <a:lstStyle/>
                    <a:p>
                      <a:pPr algn="ctr" fontAlgn="ctr"/>
                      <a:r>
                        <a:rPr lang="en-US" sz="1200" b="0" i="0" u="none" strike="noStrike">
                          <a:solidFill>
                            <a:srgbClr val="000000"/>
                          </a:solidFill>
                          <a:effectLst/>
                          <a:latin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507965469"/>
                  </a:ext>
                </a:extLst>
              </a:tr>
              <a:tr h="393095">
                <a:tc>
                  <a:txBody>
                    <a:bodyPr/>
                    <a:lstStyle/>
                    <a:p>
                      <a:pPr algn="ctr" fontAlgn="ctr"/>
                      <a:r>
                        <a:rPr lang="en-US" sz="1200" b="0" i="0" u="none" strike="noStrike">
                          <a:solidFill>
                            <a:srgbClr val="000000"/>
                          </a:solidFill>
                          <a:effectLst/>
                          <a:latin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FF0000"/>
                          </a:solidFill>
                          <a:effectLst/>
                          <a:latin typeface="Times New Roman" panose="02020603050405020304" pitchFamily="18" charset="0"/>
                        </a:rPr>
                        <a:t>- Rủi ro phát sinh tàu AOG do ENG (A863/A861 có giới hạn BSI 50CY).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1849099"/>
                  </a:ext>
                </a:extLst>
              </a:tr>
              <a:tr h="487438">
                <a:tc>
                  <a:txBody>
                    <a:bodyPr/>
                    <a:lstStyle/>
                    <a:p>
                      <a:pPr algn="ctr" fontAlgn="ctr"/>
                      <a:r>
                        <a:rPr lang="en-US" sz="1200" b="0" i="0" u="none" strike="noStrike">
                          <a:solidFill>
                            <a:srgbClr val="000000"/>
                          </a:solidFill>
                          <a:effectLst/>
                          <a:latin typeface="Times New Roman" panose="02020603050405020304" pitchFamily="18"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FF0000"/>
                          </a:solidFill>
                          <a:effectLst/>
                          <a:latin typeface="Times New Roman" panose="02020603050405020304" pitchFamily="18" charset="0"/>
                        </a:rPr>
                        <a:t>- 04/2025: tăng 0.2 tàu A871 hết hạn NN A01 ngày 11/04 =&gt; overlap với A868 thay ENG + A08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527880717"/>
                  </a:ext>
                </a:extLst>
              </a:tr>
              <a:tr h="393095">
                <a:tc>
                  <a:txBody>
                    <a:bodyPr/>
                    <a:lstStyle/>
                    <a:p>
                      <a:pPr algn="ctr" fontAlgn="ctr"/>
                      <a:r>
                        <a:rPr lang="en-US" sz="1200" b="0" i="0" u="none" strike="noStrike">
                          <a:solidFill>
                            <a:srgbClr val="000000"/>
                          </a:solidFill>
                          <a:effectLst/>
                          <a:latin typeface="Times New Roman" panose="02020603050405020304" pitchFamily="18"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4633735"/>
                  </a:ext>
                </a:extLst>
              </a:tr>
              <a:tr h="393095">
                <a:tc>
                  <a:txBody>
                    <a:bodyPr/>
                    <a:lstStyle/>
                    <a:p>
                      <a:pPr algn="ctr" fontAlgn="ctr"/>
                      <a:r>
                        <a:rPr lang="en-US" sz="1200" b="0" i="0" u="none" strike="noStrike">
                          <a:solidFill>
                            <a:srgbClr val="000000"/>
                          </a:solidFill>
                          <a:effectLst/>
                          <a:latin typeface="Times New Roman" panose="02020603050405020304" pitchFamily="18"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20160847"/>
                  </a:ext>
                </a:extLst>
              </a:tr>
              <a:tr h="393095">
                <a:tc>
                  <a:txBody>
                    <a:bodyPr/>
                    <a:lstStyle/>
                    <a:p>
                      <a:pPr algn="ctr" fontAlgn="ctr"/>
                      <a:r>
                        <a:rPr lang="en-US" sz="1200" b="0" i="0" u="none" strike="noStrike">
                          <a:solidFill>
                            <a:srgbClr val="000000"/>
                          </a:solidFill>
                          <a:effectLst/>
                          <a:latin typeface="Times New Roman" panose="02020603050405020304" pitchFamily="18"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1872893"/>
                  </a:ext>
                </a:extLst>
              </a:tr>
              <a:tr h="393095">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(10) = (8) +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888228785"/>
                  </a:ext>
                </a:extLst>
              </a:tr>
            </a:tbl>
          </a:graphicData>
        </a:graphic>
      </p:graphicFrame>
    </p:spTree>
    <p:extLst>
      <p:ext uri="{BB962C8B-B14F-4D97-AF65-F5344CB8AC3E}">
        <p14:creationId xmlns:p14="http://schemas.microsoft.com/office/powerpoint/2010/main" val="1479125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35573" y="0"/>
            <a:ext cx="9312664" cy="508000"/>
          </a:xfrm>
        </p:spPr>
        <p:txBody>
          <a:bodyPr>
            <a:noAutofit/>
          </a:bodyPr>
          <a:lstStyle/>
          <a:p>
            <a:pPr>
              <a:spcBef>
                <a:spcPct val="0"/>
              </a:spcBef>
              <a:defRPr/>
            </a:pPr>
            <a:r>
              <a:rPr lang="en-US" altLang="en-US" dirty="0">
                <a:solidFill>
                  <a:srgbClr val="D2A43B"/>
                </a:solidFill>
                <a:latin typeface="Times New Roman" panose="02020603050405020304" pitchFamily="18" charset="0"/>
                <a:ea typeface="Tahoma" pitchFamily="34" charset="0"/>
                <a:cs typeface="Times New Roman" panose="02020603050405020304" pitchFamily="18" charset="0"/>
              </a:rPr>
              <a:t>CÁC CÔNG </a:t>
            </a:r>
            <a:r>
              <a:rPr lang="en-US" altLang="en-US">
                <a:solidFill>
                  <a:srgbClr val="D2A43B"/>
                </a:solidFill>
                <a:latin typeface="Times New Roman" panose="02020603050405020304" pitchFamily="18" charset="0"/>
                <a:ea typeface="Tahoma" pitchFamily="34" charset="0"/>
                <a:cs typeface="Times New Roman" panose="02020603050405020304" pitchFamily="18" charset="0"/>
              </a:rPr>
              <a:t>VIỆC TRỌNG ĐIỂM</a:t>
            </a:r>
            <a:endParaRPr lang="en-US" altLang="en-US" dirty="0">
              <a:solidFill>
                <a:srgbClr val="D2A43B"/>
              </a:solidFill>
              <a:latin typeface="Times New Roman" panose="02020603050405020304" pitchFamily="18" charset="0"/>
              <a:ea typeface="Tahoma" pitchFamily="34"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606959"/>
          <a:ext cx="11878434" cy="5609617"/>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03416">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84087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29/12: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PW &amp;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GTF.</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33870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lưu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Week 10 Engine.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xử</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on-watch, induction slot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Ngày 11/02</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Đ</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ã họp telecon giữa VNA và GE dưới sự chị đạo của EVP về tình trạng động cơ GEnx hiện tại</a:t>
                      </a:r>
                      <a:endPar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10 – 14/03: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Technical Review GE – Working Level (12/03)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Giới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thiệu</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GE9X (B777X)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13/03.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triển</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khai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action items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cáo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Giới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thiệu</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GE9X</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26 - 28/03/2025: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KLM (QLVT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chủ</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tin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92661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04/03 VP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tìm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kiếm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quyết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CRC, Day in service.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1651928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13</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688562110"/>
              </p:ext>
            </p:extLst>
          </p:nvPr>
        </p:nvGraphicFramePr>
        <p:xfrm>
          <a:off x="156783" y="606960"/>
          <a:ext cx="11878434" cy="6188038"/>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7229147">
                  <a:extLst>
                    <a:ext uri="{9D8B030D-6E8A-4147-A177-3AD203B41FA5}">
                      <a16:colId xmlns:a16="http://schemas.microsoft.com/office/drawing/2014/main" val="426833219"/>
                    </a:ext>
                  </a:extLst>
                </a:gridCol>
                <a:gridCol w="3043617">
                  <a:extLst>
                    <a:ext uri="{9D8B030D-6E8A-4147-A177-3AD203B41FA5}">
                      <a16:colId xmlns:a16="http://schemas.microsoft.com/office/drawing/2014/main" val="3649942957"/>
                    </a:ext>
                  </a:extLst>
                </a:gridCol>
              </a:tblGrid>
              <a:tr h="40078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474926">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4</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11-Mar: Đã có phê duyệt KQLCNCC (AMOSeTL của SwissAS). Đang đàm phán ký kết hợp đồng</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Kiện toàn Tổ triển khai; Đề nghị CAAV triển khai phase 1 trong quy trình 5 phase</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690677">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5</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indent="0" algn="l" fontAlgn="ct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Nâng MTOW A350/B787</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 họp nhiều phiên với Boeing và Airbus. Hiện chờ OCC xác nhận payload tăng đ</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 theo từng tháng để KHPT tính toán hiệu quả.. </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 A350 (2 tàu cuối thuộc standard 2018  là A898, A899): đánh giá là khó thực hiện khi bay đi Mỹ do hiện nay đã phải nạp full tank dầu</a:t>
                      </a: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832254">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6</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Decal 30 </a:t>
                      </a:r>
                      <a:r>
                        <a:rPr lang="en-US" sz="1400" b="0" dirty="0" err="1">
                          <a:solidFill>
                            <a:schemeClr val="tx1"/>
                          </a:solidFill>
                          <a:latin typeface="Times New Roman" panose="02020603050405020304" pitchFamily="18" charset="0"/>
                          <a:cs typeface="Times New Roman" panose="02020603050405020304" pitchFamily="18" charset="0"/>
                        </a:rPr>
                        <a:t>năm</a:t>
                      </a:r>
                      <a:r>
                        <a:rPr lang="en-US" sz="1400" b="0" dirty="0">
                          <a:solidFill>
                            <a:schemeClr val="tx1"/>
                          </a:solidFill>
                          <a:latin typeface="Times New Roman" panose="02020603050405020304" pitchFamily="18" charset="0"/>
                          <a:cs typeface="Times New Roman" panose="02020603050405020304" pitchFamily="18" charset="0"/>
                        </a:rPr>
                        <a:t> 787-9</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có</a:t>
                      </a:r>
                      <a:r>
                        <a:rPr lang="en-US" sz="1400" kern="1200" dirty="0">
                          <a:solidFill>
                            <a:schemeClr val="tx1"/>
                          </a:solidFill>
                          <a:latin typeface="Times New Roman" panose="02020603050405020304" pitchFamily="18" charset="0"/>
                          <a:ea typeface="+mn-ea"/>
                          <a:cs typeface="Times New Roman" panose="02020603050405020304" pitchFamily="18" charset="0"/>
                        </a:rPr>
                        <a:t> SB, mod kit </a:t>
                      </a: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về</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ngày</a:t>
                      </a:r>
                      <a:r>
                        <a:rPr lang="en-US" sz="1400" kern="1200" dirty="0">
                          <a:solidFill>
                            <a:schemeClr val="tx1"/>
                          </a:solidFill>
                          <a:latin typeface="Times New Roman" panose="02020603050405020304" pitchFamily="18" charset="0"/>
                          <a:ea typeface="+mn-ea"/>
                          <a:cs typeface="Times New Roman" panose="02020603050405020304" pitchFamily="18" charset="0"/>
                        </a:rPr>
                        <a:t> 5/4/2025. </a:t>
                      </a: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triển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khai</a:t>
                      </a:r>
                      <a:r>
                        <a:rPr lang="en-US" sz="1400" kern="1200" dirty="0">
                          <a:solidFill>
                            <a:schemeClr val="tx1"/>
                          </a:solidFill>
                          <a:latin typeface="Times New Roman" panose="02020603050405020304" pitchFamily="18" charset="0"/>
                          <a:ea typeface="+mn-ea"/>
                          <a:cs typeface="Times New Roman" panose="02020603050405020304" pitchFamily="18" charset="0"/>
                        </a:rPr>
                        <a:t> SO VAECO </a:t>
                      </a:r>
                      <a:r>
                        <a:rPr lang="en-US" sz="1400" kern="1200" dirty="0" err="1">
                          <a:solidFill>
                            <a:schemeClr val="tx1"/>
                          </a:solidFill>
                          <a:latin typeface="Times New Roman" panose="02020603050405020304" pitchFamily="18" charset="0"/>
                          <a:ea typeface="+mn-ea"/>
                          <a:cs typeface="Times New Roman" panose="02020603050405020304" pitchFamily="18" charset="0"/>
                        </a:rPr>
                        <a:t>chuẩn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bị</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vật</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tư</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dụng</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cụ</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để</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hỗ</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trợ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đối</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tác</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vào</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rgbClr val="FF0000"/>
                          </a:solidFill>
                          <a:latin typeface="Times New Roman" panose="02020603050405020304" pitchFamily="18" charset="0"/>
                          <a:ea typeface="+mn-ea"/>
                          <a:cs typeface="Times New Roman" panose="02020603050405020304" pitchFamily="18" charset="0"/>
                        </a:rPr>
                        <a:t>thực</a:t>
                      </a:r>
                      <a:r>
                        <a:rPr lang="en-US" sz="1400" kern="1200" dirty="0">
                          <a:solidFill>
                            <a:srgbClr val="FF0000"/>
                          </a:solidFill>
                          <a:latin typeface="Times New Roman" panose="02020603050405020304" pitchFamily="18" charset="0"/>
                          <a:ea typeface="+mn-ea"/>
                          <a:cs typeface="Times New Roman" panose="02020603050405020304" pitchFamily="18" charset="0"/>
                        </a:rPr>
                        <a:t> </a:t>
                      </a:r>
                      <a:r>
                        <a:rPr lang="en-US" sz="1400" kern="1200" dirty="0" err="1">
                          <a:solidFill>
                            <a:srgbClr val="FF0000"/>
                          </a:solidFill>
                          <a:latin typeface="Times New Roman" panose="02020603050405020304" pitchFamily="18" charset="0"/>
                          <a:ea typeface="+mn-ea"/>
                          <a:cs typeface="Times New Roman" panose="02020603050405020304" pitchFamily="18" charset="0"/>
                        </a:rPr>
                        <a:t>hiện</a:t>
                      </a:r>
                      <a:r>
                        <a:rPr lang="en-US" sz="1400" kern="1200" dirty="0">
                          <a:solidFill>
                            <a:srgbClr val="FF0000"/>
                          </a:solidFill>
                          <a:latin typeface="Times New Roman" panose="02020603050405020304" pitchFamily="18" charset="0"/>
                          <a:ea typeface="+mn-ea"/>
                          <a:cs typeface="Times New Roman" panose="02020603050405020304" pitchFamily="18" charset="0"/>
                        </a:rPr>
                        <a:t> </a:t>
                      </a:r>
                      <a:r>
                        <a:rPr lang="en-US" sz="1400" kern="1200" dirty="0" err="1">
                          <a:solidFill>
                            <a:srgbClr val="FF0000"/>
                          </a:solidFill>
                          <a:latin typeface="Times New Roman" panose="02020603050405020304" pitchFamily="18" charset="0"/>
                          <a:ea typeface="+mn-ea"/>
                          <a:cs typeface="Times New Roman" panose="02020603050405020304" pitchFamily="18" charset="0"/>
                        </a:rPr>
                        <a:t>ngày</a:t>
                      </a:r>
                      <a:r>
                        <a:rPr lang="en-US" sz="1400" kern="1200" dirty="0">
                          <a:solidFill>
                            <a:srgbClr val="FF0000"/>
                          </a:solidFill>
                          <a:latin typeface="Times New Roman" panose="02020603050405020304" pitchFamily="18" charset="0"/>
                          <a:ea typeface="+mn-ea"/>
                          <a:cs typeface="Times New Roman" panose="02020603050405020304" pitchFamily="18" charset="0"/>
                        </a:rPr>
                        <a:t> 8-13/4/2025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2379764">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7</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IFC 10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A350</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Tài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liệu</a:t>
                      </a:r>
                      <a:r>
                        <a:rPr lang="en-US" sz="1400" dirty="0">
                          <a:solidFill>
                            <a:schemeClr val="tx1"/>
                          </a:solidFill>
                          <a:latin typeface="Times New Roman" panose="02020603050405020304" pitchFamily="18" charset="0"/>
                          <a:cs typeface="Times New Roman" panose="02020603050405020304" pitchFamily="18" charset="0"/>
                        </a:rPr>
                        <a:t> TSM </a:t>
                      </a:r>
                      <a:r>
                        <a:rPr lang="en-US" sz="1400" dirty="0" err="1">
                          <a:solidFill>
                            <a:schemeClr val="tx1"/>
                          </a:solidFill>
                          <a:latin typeface="Times New Roman" panose="02020603050405020304" pitchFamily="18" charset="0"/>
                          <a:cs typeface="Times New Roman" panose="02020603050405020304" pitchFamily="18" charset="0"/>
                        </a:rPr>
                        <a:t>hệ</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thống</a:t>
                      </a:r>
                      <a:r>
                        <a:rPr lang="en-US" sz="1400" dirty="0">
                          <a:solidFill>
                            <a:schemeClr val="tx1"/>
                          </a:solidFill>
                          <a:latin typeface="Times New Roman" panose="02020603050405020304" pitchFamily="18" charset="0"/>
                          <a:cs typeface="Times New Roman" panose="02020603050405020304" pitchFamily="18" charset="0"/>
                        </a:rPr>
                        <a:t> IFC: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6/3/2025 </a:t>
                      </a:r>
                      <a:r>
                        <a:rPr lang="en-US" sz="1400" b="1" dirty="0" err="1">
                          <a:solidFill>
                            <a:schemeClr val="tx1"/>
                          </a:solidFill>
                          <a:latin typeface="Times New Roman" panose="02020603050405020304" pitchFamily="18" charset="0"/>
                          <a:cs typeface="Times New Roman" panose="02020603050405020304" pitchFamily="18" charset="0"/>
                        </a:rPr>
                        <a:t>và</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triển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khai</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cho</a:t>
                      </a:r>
                      <a:r>
                        <a:rPr lang="en-US" sz="1400" b="1" dirty="0">
                          <a:solidFill>
                            <a:schemeClr val="tx1"/>
                          </a:solidFill>
                          <a:latin typeface="Times New Roman" panose="02020603050405020304" pitchFamily="18" charset="0"/>
                          <a:cs typeface="Times New Roman" panose="02020603050405020304" pitchFamily="18" charset="0"/>
                        </a:rPr>
                        <a:t> VAECO</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Vật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tư</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phòng</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KFRU, MODMAN, KANDU,  FMA 01ea; 03 WAP </a:t>
                      </a:r>
                      <a:r>
                        <a:rPr lang="en-US" sz="1400" b="1" dirty="0" err="1">
                          <a:solidFill>
                            <a:schemeClr val="tx1"/>
                          </a:solidFill>
                          <a:latin typeface="Times New Roman" panose="02020603050405020304" pitchFamily="18" charset="0"/>
                          <a:cs typeface="Times New Roman" panose="02020603050405020304" pitchFamily="18" charset="0"/>
                        </a:rPr>
                        <a:t>dự</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kiến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cuối</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tháng</a:t>
                      </a:r>
                      <a:r>
                        <a:rPr lang="en-US" sz="1400" b="1" dirty="0">
                          <a:solidFill>
                            <a:schemeClr val="tx1"/>
                          </a:solidFill>
                          <a:latin typeface="Times New Roman" panose="02020603050405020304" pitchFamily="18" charset="0"/>
                          <a:cs typeface="Times New Roman" panose="02020603050405020304" pitchFamily="18" charset="0"/>
                        </a:rPr>
                        <a:t> 4/2024</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 MPS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FSAT: </a:t>
                      </a:r>
                      <a:r>
                        <a:rPr lang="en-US" sz="1400" b="1" dirty="0">
                          <a:solidFill>
                            <a:schemeClr val="tx1"/>
                          </a:solidFill>
                          <a:latin typeface="Times New Roman" panose="02020603050405020304" pitchFamily="18" charset="0"/>
                          <a:cs typeface="Times New Roman" panose="02020603050405020304" pitchFamily="18" charset="0"/>
                        </a:rPr>
                        <a:t>MPS </a:t>
                      </a:r>
                      <a:r>
                        <a:rPr lang="en-US" sz="1400" b="1" dirty="0" err="1">
                          <a:solidFill>
                            <a:schemeClr val="tx1"/>
                          </a:solidFill>
                          <a:latin typeface="Times New Roman" panose="02020603050405020304" pitchFamily="18" charset="0"/>
                          <a:cs typeface="Times New Roman" panose="02020603050405020304" pitchFamily="18" charset="0"/>
                        </a:rPr>
                        <a:t>và</a:t>
                      </a:r>
                      <a:r>
                        <a:rPr lang="en-US" sz="1400" b="1" dirty="0">
                          <a:solidFill>
                            <a:schemeClr val="tx1"/>
                          </a:solidFill>
                          <a:latin typeface="Times New Roman" panose="02020603050405020304" pitchFamily="18" charset="0"/>
                          <a:cs typeface="Times New Roman" panose="02020603050405020304" pitchFamily="18" charset="0"/>
                        </a:rPr>
                        <a:t> mod kit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SB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ban </a:t>
                      </a:r>
                      <a:r>
                        <a:rPr lang="en-US" sz="1400" b="1" dirty="0" err="1">
                          <a:solidFill>
                            <a:schemeClr val="tx1"/>
                          </a:solidFill>
                          <a:latin typeface="Times New Roman" panose="02020603050405020304" pitchFamily="18" charset="0"/>
                          <a:cs typeface="Times New Roman" panose="02020603050405020304" pitchFamily="18" charset="0"/>
                        </a:rPr>
                        <a:t>hành</a:t>
                      </a:r>
                      <a:r>
                        <a:rPr lang="en-US" sz="1400" b="1" dirty="0">
                          <a:solidFill>
                            <a:schemeClr val="tx1"/>
                          </a:solidFill>
                          <a:latin typeface="Times New Roman" panose="02020603050405020304" pitchFamily="18" charset="0"/>
                          <a:cs typeface="Times New Roman" panose="02020603050405020304" pitchFamily="18" charset="0"/>
                        </a:rPr>
                        <a:t> – </a:t>
                      </a:r>
                      <a:r>
                        <a:rPr lang="en-US" sz="1400" b="1" dirty="0" err="1">
                          <a:solidFill>
                            <a:schemeClr val="tx1"/>
                          </a:solidFill>
                          <a:latin typeface="Times New Roman" panose="02020603050405020304" pitchFamily="18" charset="0"/>
                          <a:cs typeface="Times New Roman" panose="02020603050405020304" pitchFamily="18" charset="0"/>
                        </a:rPr>
                        <a:t>làm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việc</a:t>
                      </a:r>
                      <a:r>
                        <a:rPr lang="en-US" sz="1400" b="1" dirty="0">
                          <a:solidFill>
                            <a:schemeClr val="tx1"/>
                          </a:solidFill>
                          <a:latin typeface="Times New Roman" panose="02020603050405020304" pitchFamily="18" charset="0"/>
                          <a:cs typeface="Times New Roman" panose="02020603050405020304" pitchFamily="18" charset="0"/>
                        </a:rPr>
                        <a:t> MOC </a:t>
                      </a:r>
                      <a:r>
                        <a:rPr lang="en-US" sz="1400" b="1" dirty="0" err="1">
                          <a:solidFill>
                            <a:schemeClr val="tx1"/>
                          </a:solidFill>
                          <a:latin typeface="Times New Roman" panose="02020603050405020304" pitchFamily="18" charset="0"/>
                          <a:cs typeface="Times New Roman" panose="02020603050405020304" pitchFamily="18" charset="0"/>
                        </a:rPr>
                        <a:t>xếp</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lịch</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thực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hiện</a:t>
                      </a:r>
                      <a:r>
                        <a:rPr lang="en-US" sz="1400" b="1" dirty="0">
                          <a:solidFill>
                            <a:schemeClr val="tx1"/>
                          </a:solidFill>
                          <a:latin typeface="Times New Roman" panose="02020603050405020304" pitchFamily="18" charset="0"/>
                          <a:cs typeface="Times New Roman" panose="02020603050405020304" pitchFamily="18" charset="0"/>
                        </a:rPr>
                        <a:t>. </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gửi</a:t>
                      </a:r>
                      <a:r>
                        <a:rPr lang="en-US" sz="1400" dirty="0">
                          <a:solidFill>
                            <a:schemeClr val="tx1"/>
                          </a:solidFill>
                          <a:latin typeface="Times New Roman" panose="02020603050405020304" pitchFamily="18" charset="0"/>
                          <a:cs typeface="Times New Roman" panose="02020603050405020304" pitchFamily="18" charset="0"/>
                        </a:rPr>
                        <a:t> 02 shipset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firmwarre</a:t>
                      </a:r>
                      <a:r>
                        <a:rPr lang="en-US" sz="1400" dirty="0">
                          <a:solidFill>
                            <a:schemeClr val="tx1"/>
                          </a:solidFill>
                          <a:latin typeface="Times New Roman" panose="02020603050405020304" pitchFamily="18" charset="0"/>
                          <a:cs typeface="Times New Roman" panose="02020603050405020304" pitchFamily="18" charset="0"/>
                        </a:rPr>
                        <a:t>, TAT 60-70 </a:t>
                      </a:r>
                      <a:r>
                        <a:rPr lang="en-US" sz="1400" dirty="0" err="1">
                          <a:solidFill>
                            <a:schemeClr val="tx1"/>
                          </a:solidFill>
                          <a:latin typeface="Times New Roman" panose="02020603050405020304" pitchFamily="18" charset="0"/>
                          <a:cs typeface="Times New Roman" panose="02020603050405020304" pitchFamily="18" charset="0"/>
                        </a:rPr>
                        <a:t>ngày</a:t>
                      </a:r>
                      <a:r>
                        <a:rPr lang="en-US" sz="1400" dirty="0">
                          <a:solidFill>
                            <a:schemeClr val="tx1"/>
                          </a:solidFill>
                          <a:latin typeface="Times New Roman" panose="02020603050405020304" pitchFamily="18" charset="0"/>
                          <a:cs typeface="Times New Roman" panose="02020603050405020304" pitchFamily="18" charset="0"/>
                        </a:rPr>
                        <a:t> =&gt;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về</a:t>
                      </a:r>
                      <a:r>
                        <a:rPr lang="en-US" sz="1400" b="1" dirty="0">
                          <a:solidFill>
                            <a:schemeClr val="tx1"/>
                          </a:solidFill>
                          <a:latin typeface="Times New Roman" panose="02020603050405020304" pitchFamily="18" charset="0"/>
                          <a:cs typeface="Times New Roman" panose="02020603050405020304" pitchFamily="18" charset="0"/>
                        </a:rPr>
                        <a:t> 02 KANDU, 02 FMA, 01 MODMAN; </a:t>
                      </a:r>
                      <a:r>
                        <a:rPr lang="en-US" sz="1400" b="1" dirty="0" err="1">
                          <a:solidFill>
                            <a:schemeClr val="tx1"/>
                          </a:solidFill>
                          <a:latin typeface="Times New Roman" panose="02020603050405020304" pitchFamily="18" charset="0"/>
                          <a:cs typeface="Times New Roman" panose="02020603050405020304" pitchFamily="18" charset="0"/>
                        </a:rPr>
                        <a:t>tiếp</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tục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giục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về</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sớm</a:t>
                      </a:r>
                      <a:r>
                        <a:rPr lang="en-US" sz="1400" b="1" dirty="0">
                          <a:solidFill>
                            <a:schemeClr val="tx1"/>
                          </a:solidFill>
                          <a:latin typeface="Times New Roman" panose="02020603050405020304" pitchFamily="18" charset="0"/>
                          <a:cs typeface="Times New Roman" panose="02020603050405020304" pitchFamily="18" charset="0"/>
                        </a:rPr>
                        <a:t> 02 KRFU + 01 MODMAN</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Đào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tạo</a:t>
                      </a:r>
                      <a:r>
                        <a:rPr lang="en-US" sz="1400" dirty="0">
                          <a:solidFill>
                            <a:schemeClr val="tx1"/>
                          </a:solidFill>
                          <a:latin typeface="Times New Roman" panose="02020603050405020304" pitchFamily="18" charset="0"/>
                          <a:cs typeface="Times New Roman" panose="02020603050405020304" pitchFamily="18" charset="0"/>
                        </a:rPr>
                        <a:t> IFC VAECO 19-20/2/2025: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thực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hiện</a:t>
                      </a:r>
                      <a:endParaRPr lang="en-US" sz="1400" b="1" dirty="0">
                        <a:solidFill>
                          <a:schemeClr val="tx1"/>
                        </a:solidFill>
                        <a:latin typeface="Times New Roman" panose="02020603050405020304" pitchFamily="18" charset="0"/>
                        <a:cs typeface="Times New Roman" panose="02020603050405020304" pitchFamily="18" charset="0"/>
                      </a:endParaRP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FSAT </a:t>
                      </a:r>
                      <a:r>
                        <a:rPr lang="en-US" sz="1400" dirty="0" err="1">
                          <a:solidFill>
                            <a:schemeClr val="tx1"/>
                          </a:solidFill>
                          <a:latin typeface="Times New Roman" panose="02020603050405020304" pitchFamily="18" charset="0"/>
                          <a:cs typeface="Times New Roman" panose="02020603050405020304" pitchFamily="18" charset="0"/>
                        </a:rPr>
                        <a:t>từ</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ngày</a:t>
                      </a:r>
                      <a:r>
                        <a:rPr lang="en-US" sz="1400" dirty="0">
                          <a:solidFill>
                            <a:schemeClr val="tx1"/>
                          </a:solidFill>
                          <a:latin typeface="Times New Roman" panose="02020603050405020304" pitchFamily="18" charset="0"/>
                          <a:cs typeface="Times New Roman" panose="02020603050405020304" pitchFamily="18" charset="0"/>
                        </a:rPr>
                        <a:t> 4-7/3/2025: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thực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hiện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kiểm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tra</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tại</a:t>
                      </a:r>
                      <a:r>
                        <a:rPr lang="en-US" sz="1400" b="1" dirty="0">
                          <a:solidFill>
                            <a:schemeClr val="tx1"/>
                          </a:solidFill>
                          <a:latin typeface="Times New Roman" panose="02020603050405020304" pitchFamily="18" charset="0"/>
                          <a:cs typeface="Times New Roman" panose="02020603050405020304" pitchFamily="18" charset="0"/>
                        </a:rPr>
                        <a:t> LAB =&gt; Thales </a:t>
                      </a:r>
                      <a:r>
                        <a:rPr lang="en-US" sz="1400" b="1" dirty="0" err="1">
                          <a:solidFill>
                            <a:schemeClr val="tx1"/>
                          </a:solidFill>
                          <a:latin typeface="Times New Roman" panose="02020603050405020304" pitchFamily="18" charset="0"/>
                          <a:cs typeface="Times New Roman" panose="02020603050405020304" pitchFamily="18" charset="0"/>
                        </a:rPr>
                        <a:t>thông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báo</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ngày</a:t>
                      </a:r>
                      <a:r>
                        <a:rPr lang="en-US" sz="1400" b="1" dirty="0">
                          <a:solidFill>
                            <a:schemeClr val="tx1"/>
                          </a:solidFill>
                          <a:latin typeface="Times New Roman" panose="02020603050405020304" pitchFamily="18" charset="0"/>
                          <a:cs typeface="Times New Roman" panose="02020603050405020304" pitchFamily="18" charset="0"/>
                        </a:rPr>
                        <a:t> 14/3 SW delay </a:t>
                      </a:r>
                      <a:r>
                        <a:rPr lang="en-US" sz="1400" b="1" dirty="0" err="1">
                          <a:solidFill>
                            <a:schemeClr val="tx1"/>
                          </a:solidFill>
                          <a:latin typeface="Times New Roman" panose="02020603050405020304" pitchFamily="18" charset="0"/>
                          <a:cs typeface="Times New Roman" panose="02020603050405020304" pitchFamily="18" charset="0"/>
                        </a:rPr>
                        <a:t>giữa</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tháng</a:t>
                      </a:r>
                      <a:r>
                        <a:rPr lang="en-US" sz="1400" b="1" dirty="0">
                          <a:solidFill>
                            <a:schemeClr val="tx1"/>
                          </a:solidFill>
                          <a:latin typeface="Times New Roman" panose="02020603050405020304" pitchFamily="18" charset="0"/>
                          <a:cs typeface="Times New Roman" panose="02020603050405020304" pitchFamily="18" charset="0"/>
                        </a:rPr>
                        <a:t> 4/2025 (</a:t>
                      </a:r>
                      <a:r>
                        <a:rPr lang="en-US" sz="1400" b="1" dirty="0" err="1">
                          <a:solidFill>
                            <a:schemeClr val="tx1"/>
                          </a:solidFill>
                          <a:latin typeface="Times New Roman" panose="02020603050405020304" pitchFamily="18" charset="0"/>
                          <a:cs typeface="Times New Roman" panose="02020603050405020304" pitchFamily="18" charset="0"/>
                        </a:rPr>
                        <a:t>phát</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sinh</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khắc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phục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lỗi</a:t>
                      </a:r>
                      <a:r>
                        <a:rPr lang="en-US" sz="1400" b="1" dirty="0">
                          <a:solidFill>
                            <a:schemeClr val="tx1"/>
                          </a:solidFill>
                          <a:latin typeface="Times New Roman" panose="02020603050405020304" pitchFamily="18" charset="0"/>
                          <a:cs typeface="Times New Roman" panose="02020603050405020304" pitchFamily="18" charset="0"/>
                        </a:rPr>
                        <a:t> IFE)</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SW on-wing 02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a:solidFill>
                            <a:schemeClr val="tx1"/>
                          </a:solidFill>
                          <a:latin typeface="Times New Roman" panose="02020603050405020304" pitchFamily="18" charset="0"/>
                          <a:cs typeface="Times New Roman" panose="02020603050405020304" pitchFamily="18" charset="0"/>
                        </a:rPr>
                        <a:t>A892 &amp; A899 </a:t>
                      </a:r>
                      <a:r>
                        <a:rPr lang="en-US" sz="1400" b="1" dirty="0" err="1">
                          <a:solidFill>
                            <a:schemeClr val="tx1"/>
                          </a:solidFill>
                          <a:latin typeface="Times New Roman" panose="02020603050405020304" pitchFamily="18" charset="0"/>
                          <a:cs typeface="Times New Roman" panose="02020603050405020304" pitchFamily="18" charset="0"/>
                        </a:rPr>
                        <a:t>ngày</a:t>
                      </a:r>
                      <a:r>
                        <a:rPr lang="en-US" sz="1400" b="1" dirty="0">
                          <a:solidFill>
                            <a:schemeClr val="tx1"/>
                          </a:solidFill>
                          <a:latin typeface="Times New Roman" panose="02020603050405020304" pitchFamily="18" charset="0"/>
                          <a:cs typeface="Times New Roman" panose="02020603050405020304" pitchFamily="18" charset="0"/>
                        </a:rPr>
                        <a:t> 7-11/4/2025</a:t>
                      </a:r>
                      <a:endParaRPr lang="en-US" sz="14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9772953"/>
                  </a:ext>
                </a:extLst>
              </a:tr>
              <a:tr h="832254">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8</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CĐCH </a:t>
                      </a:r>
                      <a:r>
                        <a:rPr lang="en-US" sz="1400" b="0" dirty="0" err="1">
                          <a:solidFill>
                            <a:schemeClr val="tx1"/>
                          </a:solidFill>
                          <a:latin typeface="Times New Roman" panose="02020603050405020304" pitchFamily="18" charset="0"/>
                          <a:cs typeface="Times New Roman" panose="02020603050405020304" pitchFamily="18" charset="0"/>
                        </a:rPr>
                        <a:t>ghế</a:t>
                      </a:r>
                      <a:r>
                        <a:rPr lang="en-US" sz="1400" b="0" dirty="0">
                          <a:solidFill>
                            <a:schemeClr val="tx1"/>
                          </a:solidFill>
                          <a:latin typeface="Times New Roman" panose="02020603050405020304" pitchFamily="18" charset="0"/>
                          <a:cs typeface="Times New Roman" panose="02020603050405020304" pitchFamily="18" charset="0"/>
                        </a:rPr>
                        <a:t> 23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A321CEO</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HSYC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1,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nhận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hoàn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thành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đánh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giá</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 =&gt; </a:t>
                      </a: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lựa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chọn</a:t>
                      </a:r>
                      <a:r>
                        <a:rPr lang="en-US" sz="1400" dirty="0">
                          <a:solidFill>
                            <a:schemeClr val="tx1"/>
                          </a:solidFill>
                          <a:latin typeface="Times New Roman" panose="02020603050405020304" pitchFamily="18" charset="0"/>
                          <a:cs typeface="Times New Roman" panose="02020603050405020304" pitchFamily="18" charset="0"/>
                        </a:rPr>
                        <a:t> NCC </a:t>
                      </a:r>
                      <a:r>
                        <a:rPr lang="en-US" sz="1400" dirty="0" err="1">
                          <a:solidFill>
                            <a:schemeClr val="tx1"/>
                          </a:solidFill>
                          <a:latin typeface="Times New Roman" panose="02020603050405020304" pitchFamily="18" charset="0"/>
                          <a:cs typeface="Times New Roman" panose="02020603050405020304" pitchFamily="18" charset="0"/>
                        </a:rPr>
                        <a:t>ghế</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STC;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làm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việc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với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tác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họp</a:t>
                      </a:r>
                      <a:r>
                        <a:rPr lang="en-US" sz="1400" dirty="0">
                          <a:solidFill>
                            <a:schemeClr val="tx1"/>
                          </a:solidFill>
                          <a:latin typeface="Times New Roman" panose="02020603050405020304" pitchFamily="18" charset="0"/>
                          <a:cs typeface="Times New Roman" panose="02020603050405020304" pitchFamily="18" charset="0"/>
                        </a:rPr>
                        <a:t> pre-ICTM,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thông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báo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chính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thức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PO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15</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797684"/>
                  </a:ext>
                </a:extLst>
              </a:tr>
            </a:tbl>
          </a:graphicData>
        </a:graphic>
      </p:graphicFrame>
      <p:sp>
        <p:nvSpPr>
          <p:cNvPr id="4" name="Title 2">
            <a:extLst>
              <a:ext uri="{FF2B5EF4-FFF2-40B4-BE49-F238E27FC236}">
                <a16:creationId xmlns:a16="http://schemas.microsoft.com/office/drawing/2014/main" id="{CAAB8563-2E25-F9E3-A86A-938A82C20087}"/>
              </a:ext>
            </a:extLst>
          </p:cNvPr>
          <p:cNvSpPr txBox="1">
            <a:spLocks/>
          </p:cNvSpPr>
          <p:nvPr/>
        </p:nvSpPr>
        <p:spPr>
          <a:xfrm>
            <a:off x="171709" y="0"/>
            <a:ext cx="9312664" cy="508000"/>
          </a:xfrm>
          <a:prstGeom prst="rect">
            <a:avLst/>
          </a:prstGeom>
        </p:spPr>
        <p:txBody>
          <a:bodyPr spcFirstLastPara="1" vert="horz" wrap="square" lIns="91425" tIns="91425" rIns="91425" bIns="91425" rtlCol="0" anchor="t" anchorCtr="0">
            <a:noAutofit/>
          </a:bodyPr>
          <a:lstStyle>
            <a:lvl1pPr lvl="0" algn="l" defTabSz="914400" rtl="0" eaLnBrk="1" latinLnBrk="0" hangingPunct="1">
              <a:lnSpc>
                <a:spcPct val="90000"/>
              </a:lnSpc>
              <a:spcBef>
                <a:spcPts val="0"/>
              </a:spcBef>
              <a:spcAft>
                <a:spcPts val="0"/>
              </a:spcAft>
              <a:buClr>
                <a:srgbClr val="DEA610"/>
              </a:buClr>
              <a:buSzPts val="2100"/>
              <a:buFont typeface="Montserrat"/>
              <a:buNone/>
              <a:defRPr sz="2800" b="1" kern="1200">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pPr>
              <a:spcBef>
                <a:spcPct val="0"/>
              </a:spcBef>
              <a:defRPr/>
            </a:pPr>
            <a:r>
              <a:rPr lang="en-US" altLang="en-US">
                <a:solidFill>
                  <a:srgbClr val="D2A43B"/>
                </a:solidFill>
                <a:latin typeface="Times New Roman" panose="02020603050405020304" pitchFamily="18" charset="0"/>
                <a:ea typeface="Tahoma" pitchFamily="34" charset="0"/>
                <a:cs typeface="Times New Roman" panose="02020603050405020304" pitchFamily="18" charset="0"/>
              </a:rPr>
              <a:t>CÁC CÔNG VIỆC TRỌNG ĐIỂM</a:t>
            </a:r>
            <a:endParaRPr lang="en-US" altLang="en-US" dirty="0">
              <a:solidFill>
                <a:srgbClr val="D2A43B"/>
              </a:solidFill>
              <a:latin typeface="Times New Roman" panose="02020603050405020304" pitchFamily="18" charset="0"/>
              <a:ea typeface="Tahoma" pitchFamily="34" charset="0"/>
              <a:cs typeface="Times New Roman" panose="02020603050405020304" pitchFamily="18" charset="0"/>
            </a:endParaRPr>
          </a:p>
        </p:txBody>
      </p:sp>
    </p:spTree>
    <p:extLst>
      <p:ext uri="{BB962C8B-B14F-4D97-AF65-F5344CB8AC3E}">
        <p14:creationId xmlns:p14="http://schemas.microsoft.com/office/powerpoint/2010/main" val="2048913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14</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1628896700"/>
              </p:ext>
            </p:extLst>
          </p:nvPr>
        </p:nvGraphicFramePr>
        <p:xfrm>
          <a:off x="156783" y="606960"/>
          <a:ext cx="11878434" cy="6038845"/>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753147">
                  <a:extLst>
                    <a:ext uri="{9D8B030D-6E8A-4147-A177-3AD203B41FA5}">
                      <a16:colId xmlns:a16="http://schemas.microsoft.com/office/drawing/2014/main" val="426833219"/>
                    </a:ext>
                  </a:extLst>
                </a:gridCol>
                <a:gridCol w="1519617">
                  <a:extLst>
                    <a:ext uri="{9D8B030D-6E8A-4147-A177-3AD203B41FA5}">
                      <a16:colId xmlns:a16="http://schemas.microsoft.com/office/drawing/2014/main" val="3649942957"/>
                    </a:ext>
                  </a:extLst>
                </a:gridCol>
              </a:tblGrid>
              <a:tr h="40078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474926">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9</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300" b="0" dirty="0">
                          <a:ln w="0"/>
                          <a:solidFill>
                            <a:schemeClr val="tx1"/>
                          </a:solidFill>
                          <a:latin typeface="Times New Roman" panose="02020603050405020304" pitchFamily="18" charset="0"/>
                          <a:cs typeface="Times New Roman" panose="02020603050405020304" pitchFamily="18" charset="0"/>
                        </a:rPr>
                        <a:t>CÔNG TÁC BÁN TRẢ/ TIẾP NHẬN/BÀN GIAO TÀU BAY</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2" indent="0" algn="just" defTabSz="914400" rtl="0" eaLnBrk="1" latinLnBrk="0" hangingPunct="1">
                        <a:lnSpc>
                          <a:spcPct val="150000"/>
                        </a:lnSpc>
                        <a:spcBef>
                          <a:spcPts val="600"/>
                        </a:spcBef>
                        <a:spcAft>
                          <a:spcPts val="600"/>
                        </a:spcAft>
                        <a:buClr>
                          <a:srgbClr val="000000"/>
                        </a:buClr>
                        <a:buFontTx/>
                        <a:buNone/>
                      </a:pPr>
                      <a:r>
                        <a:rPr lang="en-US" sz="1300" kern="1200" dirty="0">
                          <a:solidFill>
                            <a:schemeClr val="dk1"/>
                          </a:solidFill>
                          <a:latin typeface="Times New Roman" panose="02020603050405020304" pitchFamily="18" charset="0"/>
                          <a:ea typeface="+mn-ea"/>
                          <a:cs typeface="Times New Roman" panose="02020603050405020304" pitchFamily="18" charset="0"/>
                          <a:sym typeface="Arial"/>
                        </a:rPr>
                        <a:t>VNA và VALC đã ký kết </a:t>
                      </a:r>
                      <a:r>
                        <a:rPr lang="en-US" sz="1300" kern="1200" dirty="0" err="1">
                          <a:solidFill>
                            <a:schemeClr val="dk1"/>
                          </a:solidFill>
                          <a:latin typeface="Times New Roman" panose="02020603050405020304" pitchFamily="18" charset="0"/>
                          <a:ea typeface="+mn-ea"/>
                          <a:cs typeface="Times New Roman" panose="02020603050405020304" pitchFamily="18" charset="0"/>
                          <a:sym typeface="Arial"/>
                        </a:rPr>
                        <a:t>gia</a:t>
                      </a:r>
                      <a:r>
                        <a:rPr lang="en-US" sz="1300" kern="1200" dirty="0">
                          <a:solidFill>
                            <a:schemeClr val="dk1"/>
                          </a:solidFill>
                          <a:latin typeface="Times New Roman" panose="02020603050405020304" pitchFamily="18" charset="0"/>
                          <a:ea typeface="+mn-ea"/>
                          <a:cs typeface="Times New Roman" panose="02020603050405020304" pitchFamily="18" charset="0"/>
                          <a:sym typeface="Arial"/>
                        </a:rPr>
                        <a:t> </a:t>
                      </a:r>
                      <a:r>
                        <a:rPr lang="en-US" sz="1300" kern="1200" dirty="0" err="1">
                          <a:solidFill>
                            <a:schemeClr val="dk1"/>
                          </a:solidFill>
                          <a:latin typeface="Times New Roman" panose="02020603050405020304" pitchFamily="18" charset="0"/>
                          <a:ea typeface="+mn-ea"/>
                          <a:cs typeface="Times New Roman" panose="02020603050405020304" pitchFamily="18" charset="0"/>
                          <a:sym typeface="Arial"/>
                        </a:rPr>
                        <a:t>hạn</a:t>
                      </a:r>
                      <a:r>
                        <a:rPr lang="en-US" sz="1300" kern="1200" dirty="0">
                          <a:solidFill>
                            <a:schemeClr val="dk1"/>
                          </a:solidFill>
                          <a:latin typeface="Times New Roman" panose="02020603050405020304" pitchFamily="18" charset="0"/>
                          <a:ea typeface="+mn-ea"/>
                          <a:cs typeface="Times New Roman" panose="02020603050405020304" pitchFamily="18" charset="0"/>
                          <a:sym typeface="Arial"/>
                        </a:rPr>
                        <a:t> tạm thời thuê 10 </a:t>
                      </a:r>
                      <a:r>
                        <a:rPr lang="en-US" sz="1300" kern="1200" dirty="0" err="1">
                          <a:solidFill>
                            <a:schemeClr val="dk1"/>
                          </a:solidFill>
                          <a:latin typeface="Times New Roman" panose="02020603050405020304" pitchFamily="18" charset="0"/>
                          <a:ea typeface="+mn-ea"/>
                          <a:cs typeface="Times New Roman" panose="02020603050405020304" pitchFamily="18" charset="0"/>
                          <a:sym typeface="Arial"/>
                        </a:rPr>
                        <a:t>tàu</a:t>
                      </a:r>
                      <a:r>
                        <a:rPr lang="en-US" sz="1300" kern="1200" dirty="0">
                          <a:solidFill>
                            <a:schemeClr val="dk1"/>
                          </a:solidFill>
                          <a:latin typeface="Times New Roman" panose="02020603050405020304" pitchFamily="18" charset="0"/>
                          <a:ea typeface="+mn-ea"/>
                          <a:cs typeface="Times New Roman" panose="02020603050405020304" pitchFamily="18" charset="0"/>
                          <a:sym typeface="Arial"/>
                        </a:rPr>
                        <a:t> A321 CEO sở </a:t>
                      </a:r>
                      <a:r>
                        <a:rPr lang="en-US" sz="1300" kern="1200" dirty="0" err="1">
                          <a:solidFill>
                            <a:schemeClr val="dk1"/>
                          </a:solidFill>
                          <a:latin typeface="Times New Roman" panose="02020603050405020304" pitchFamily="18" charset="0"/>
                          <a:ea typeface="+mn-ea"/>
                          <a:cs typeface="Times New Roman" panose="02020603050405020304" pitchFamily="18" charset="0"/>
                          <a:sym typeface="Arial"/>
                        </a:rPr>
                        <a:t>hữu</a:t>
                      </a:r>
                      <a:r>
                        <a:rPr lang="en-US" sz="1300" kern="1200" dirty="0">
                          <a:solidFill>
                            <a:schemeClr val="dk1"/>
                          </a:solidFill>
                          <a:latin typeface="Times New Roman" panose="02020603050405020304" pitchFamily="18" charset="0"/>
                          <a:ea typeface="+mn-ea"/>
                          <a:cs typeface="Times New Roman" panose="02020603050405020304" pitchFamily="18" charset="0"/>
                          <a:sym typeface="Arial"/>
                        </a:rPr>
                        <a:t> của VALC đến hết 31/06/2025 để VALC có thời </a:t>
                      </a:r>
                      <a:r>
                        <a:rPr lang="en-US" sz="1300" kern="1200" dirty="0" err="1">
                          <a:solidFill>
                            <a:schemeClr val="dk1"/>
                          </a:solidFill>
                          <a:latin typeface="Times New Roman" panose="02020603050405020304" pitchFamily="18" charset="0"/>
                          <a:ea typeface="+mn-ea"/>
                          <a:cs typeface="Times New Roman" panose="02020603050405020304" pitchFamily="18" charset="0"/>
                          <a:sym typeface="Arial"/>
                        </a:rPr>
                        <a:t>gian</a:t>
                      </a:r>
                      <a:r>
                        <a:rPr lang="en-US" sz="1300" kern="1200" dirty="0">
                          <a:solidFill>
                            <a:schemeClr val="dk1"/>
                          </a:solidFill>
                          <a:latin typeface="Times New Roman" panose="02020603050405020304" pitchFamily="18" charset="0"/>
                          <a:ea typeface="+mn-ea"/>
                          <a:cs typeface="Times New Roman" panose="02020603050405020304" pitchFamily="18" charset="0"/>
                          <a:sym typeface="Arial"/>
                        </a:rPr>
                        <a:t> </a:t>
                      </a:r>
                      <a:r>
                        <a:rPr lang="en-US" sz="1300" kern="1200" dirty="0" err="1">
                          <a:solidFill>
                            <a:schemeClr val="dk1"/>
                          </a:solidFill>
                          <a:latin typeface="Times New Roman" panose="02020603050405020304" pitchFamily="18" charset="0"/>
                          <a:ea typeface="+mn-ea"/>
                          <a:cs typeface="Times New Roman" panose="02020603050405020304" pitchFamily="18" charset="0"/>
                          <a:sym typeface="Arial"/>
                        </a:rPr>
                        <a:t>thực</a:t>
                      </a:r>
                      <a:r>
                        <a:rPr lang="en-US" sz="1300" kern="1200" dirty="0">
                          <a:solidFill>
                            <a:schemeClr val="dk1"/>
                          </a:solidFill>
                          <a:latin typeface="Times New Roman" panose="02020603050405020304" pitchFamily="18" charset="0"/>
                          <a:ea typeface="+mn-ea"/>
                          <a:cs typeface="Times New Roman" panose="02020603050405020304" pitchFamily="18" charset="0"/>
                          <a:sym typeface="Arial"/>
                        </a:rPr>
                        <a:t> hiện các thủ tục bán.</a:t>
                      </a:r>
                    </a:p>
                    <a:p>
                      <a:pPr algn="just">
                        <a:lnSpc>
                          <a:spcPct val="150000"/>
                        </a:lnSpc>
                      </a:pPr>
                      <a:r>
                        <a:rPr lang="vi-VN" sz="1300" dirty="0">
                          <a:latin typeface="Times New Roman" panose="02020603050405020304" pitchFamily="18" charset="0"/>
                          <a:cs typeface="Times New Roman" panose="02020603050405020304" pitchFamily="18" charset="0"/>
                        </a:rPr>
                        <a:t>1,  Arena: Bản chào gia hạn thuê 10 tàu A321 với thời gian trung bình 5 năm, hiện đang trong quá trình đàm phán gia hạn. Cơ bản đã đàm phán thống nhất các nội dung liên quan tới KT</a:t>
                      </a:r>
                    </a:p>
                    <a:p>
                      <a:pPr algn="just">
                        <a:lnSpc>
                          <a:spcPct val="150000"/>
                        </a:lnSpc>
                      </a:pPr>
                      <a:r>
                        <a:rPr lang="vi-VN" sz="1300" dirty="0">
                          <a:latin typeface="Times New Roman" panose="02020603050405020304" pitchFamily="18" charset="0"/>
                          <a:cs typeface="Times New Roman" panose="02020603050405020304" pitchFamily="18" charset="0"/>
                        </a:rPr>
                        <a:t>Các vấn đề lớn / cơ bản Arena đang đề xuất:</a:t>
                      </a:r>
                    </a:p>
                    <a:p>
                      <a:pPr algn="just">
                        <a:lnSpc>
                          <a:spcPct val="150000"/>
                        </a:lnSpc>
                      </a:pPr>
                      <a:r>
                        <a:rPr lang="en-US" sz="1300">
                          <a:latin typeface="Times New Roman" panose="02020603050405020304" pitchFamily="18" charset="0"/>
                          <a:cs typeface="Times New Roman" panose="02020603050405020304" pitchFamily="18" charset="0"/>
                        </a:rPr>
                        <a:t>    </a:t>
                      </a:r>
                      <a:r>
                        <a:rPr lang="vi-VN" sz="1300">
                          <a:latin typeface="Times New Roman" panose="02020603050405020304" pitchFamily="18" charset="0"/>
                          <a:cs typeface="Times New Roman" panose="02020603050405020304" pitchFamily="18" charset="0"/>
                        </a:rPr>
                        <a:t>a</a:t>
                      </a:r>
                      <a:r>
                        <a:rPr lang="vi-VN" sz="1300" dirty="0">
                          <a:latin typeface="Times New Roman" panose="02020603050405020304" pitchFamily="18" charset="0"/>
                          <a:cs typeface="Times New Roman" panose="02020603050405020304" pitchFamily="18" charset="0"/>
                        </a:rPr>
                        <a:t>.  10 tàu bay cần được duy trì khả năng khai thác sau khi hết hợp đồng gia hạn với Arena.</a:t>
                      </a:r>
                    </a:p>
                    <a:p>
                      <a:pPr algn="just">
                        <a:lnSpc>
                          <a:spcPct val="150000"/>
                        </a:lnSpc>
                      </a:pPr>
                      <a:r>
                        <a:rPr lang="en-US" sz="1300">
                          <a:latin typeface="Times New Roman" panose="02020603050405020304" pitchFamily="18" charset="0"/>
                          <a:cs typeface="Times New Roman" panose="02020603050405020304" pitchFamily="18" charset="0"/>
                        </a:rPr>
                        <a:t>    </a:t>
                      </a:r>
                      <a:r>
                        <a:rPr lang="vi-VN" sz="1300">
                          <a:latin typeface="Times New Roman" panose="02020603050405020304" pitchFamily="18" charset="0"/>
                          <a:cs typeface="Times New Roman" panose="02020603050405020304" pitchFamily="18" charset="0"/>
                        </a:rPr>
                        <a:t>b</a:t>
                      </a:r>
                      <a:r>
                        <a:rPr lang="vi-VN" sz="1300" dirty="0">
                          <a:latin typeface="Times New Roman" panose="02020603050405020304" pitchFamily="18" charset="0"/>
                          <a:cs typeface="Times New Roman" panose="02020603050405020304" pitchFamily="18" charset="0"/>
                        </a:rPr>
                        <a:t>.  Thực hiện balancing quỹ bảo dưỡng sau khi kết thúc gia hạn thuê.</a:t>
                      </a:r>
                    </a:p>
                    <a:p>
                      <a:pPr algn="just">
                        <a:lnSpc>
                          <a:spcPct val="150000"/>
                        </a:lnSpc>
                      </a:pPr>
                      <a:r>
                        <a:rPr lang="en-US" sz="1300">
                          <a:latin typeface="Times New Roman" panose="02020603050405020304" pitchFamily="18" charset="0"/>
                          <a:cs typeface="Times New Roman" panose="02020603050405020304" pitchFamily="18" charset="0"/>
                        </a:rPr>
                        <a:t>    </a:t>
                      </a:r>
                      <a:r>
                        <a:rPr lang="vi-VN" sz="1300">
                          <a:latin typeface="Times New Roman" panose="02020603050405020304" pitchFamily="18" charset="0"/>
                          <a:cs typeface="Times New Roman" panose="02020603050405020304" pitchFamily="18" charset="0"/>
                        </a:rPr>
                        <a:t>c</a:t>
                      </a:r>
                      <a:r>
                        <a:rPr lang="vi-VN" sz="1300" dirty="0">
                          <a:latin typeface="Times New Roman" panose="02020603050405020304" pitchFamily="18" charset="0"/>
                          <a:cs typeface="Times New Roman" panose="02020603050405020304" pitchFamily="18" charset="0"/>
                        </a:rPr>
                        <a:t>.  Đồng ý giảm MR và đề xuất phương án buy-out cho một số điều kiện trả.</a:t>
                      </a:r>
                    </a:p>
                    <a:p>
                      <a:pPr algn="just">
                        <a:lnSpc>
                          <a:spcPct val="150000"/>
                        </a:lnSpc>
                      </a:pPr>
                      <a:r>
                        <a:rPr lang="vi-VN" sz="1300" dirty="0">
                          <a:latin typeface="Times New Roman" panose="02020603050405020304" pitchFamily="18" charset="0"/>
                          <a:cs typeface="Times New Roman" panose="02020603050405020304" pitchFamily="18" charset="0"/>
                        </a:rPr>
                        <a:t>2,  FTAI: Bản chào thuê 10 tàu A321 với điều kiện trả là As-is, có đảm bảo hỗ trợ động cơ khai thác đến hết run-out. Không phải thực hiện đóng quỹ ngoại trừ động cơ. Bản chào có nhiều thuận lợi cho VNA trong quá trình khai thác và trả tàu bay. </a:t>
                      </a:r>
                    </a:p>
                    <a:p>
                      <a:pPr algn="just">
                        <a:lnSpc>
                          <a:spcPct val="150000"/>
                        </a:lnSpc>
                      </a:pPr>
                      <a:r>
                        <a:rPr lang="vi-VN" sz="1300" dirty="0">
                          <a:latin typeface="Times New Roman" panose="02020603050405020304" pitchFamily="18" charset="0"/>
                          <a:cs typeface="Times New Roman" panose="02020603050405020304" pitchFamily="18" charset="0"/>
                        </a:rPr>
                        <a:t>Đã có 2 đối tác thực hiện kiểm tra tàu bay và tài liệu phục vụ công tác bán tàu của VALC là Arena và XAero. Các đối tác này đã kiểm tra xong tàu bay và tài liệu (kiểm tra 05 tàu bay VN-A397(VAECO-HCM) và VN-A338/A392/A395/A604(VAECO-HAN)).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690677">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10</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300" b="0" dirty="0">
                          <a:solidFill>
                            <a:schemeClr val="tx1"/>
                          </a:solidFill>
                          <a:latin typeface="Times New Roman" panose="02020603050405020304" pitchFamily="18" charset="0"/>
                          <a:cs typeface="Times New Roman" panose="02020603050405020304" pitchFamily="18" charset="0"/>
                        </a:rPr>
                        <a:t>Dự</a:t>
                      </a:r>
                      <a:r>
                        <a:rPr lang="en-US" sz="1300" b="0" baseline="0" dirty="0">
                          <a:solidFill>
                            <a:schemeClr val="tx1"/>
                          </a:solidFill>
                          <a:latin typeface="Times New Roman" panose="02020603050405020304" pitchFamily="18" charset="0"/>
                          <a:cs typeface="Times New Roman" panose="02020603050405020304" pitchFamily="18" charset="0"/>
                        </a:rPr>
                        <a:t> án 50 </a:t>
                      </a:r>
                      <a:r>
                        <a:rPr lang="en-US" sz="1300" b="0" baseline="0" dirty="0" err="1">
                          <a:solidFill>
                            <a:schemeClr val="tx1"/>
                          </a:solidFill>
                          <a:latin typeface="Times New Roman" panose="02020603050405020304" pitchFamily="18" charset="0"/>
                          <a:cs typeface="Times New Roman" panose="02020603050405020304" pitchFamily="18" charset="0"/>
                        </a:rPr>
                        <a:t>tàu</a:t>
                      </a:r>
                      <a:r>
                        <a:rPr lang="en-US" sz="1300" b="0" baseline="0" dirty="0">
                          <a:solidFill>
                            <a:schemeClr val="tx1"/>
                          </a:solidFill>
                          <a:latin typeface="Times New Roman" panose="02020603050405020304" pitchFamily="18" charset="0"/>
                          <a:cs typeface="Times New Roman" panose="02020603050405020304" pitchFamily="18" charset="0"/>
                        </a:rPr>
                        <a:t> thân </a:t>
                      </a:r>
                      <a:r>
                        <a:rPr lang="en-US" sz="1300" b="0" baseline="0" dirty="0" err="1">
                          <a:solidFill>
                            <a:schemeClr val="tx1"/>
                          </a:solidFill>
                          <a:latin typeface="Times New Roman" panose="02020603050405020304" pitchFamily="18" charset="0"/>
                          <a:cs typeface="Times New Roman" panose="02020603050405020304" pitchFamily="18" charset="0"/>
                        </a:rPr>
                        <a:t>hẹp</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sz="1400">
                          <a:latin typeface="Times New Roman" panose="02020603050405020304" pitchFamily="18" charset="0"/>
                          <a:cs typeface="Times New Roman" panose="02020603050405020304" pitchFamily="18" charset="0"/>
                        </a:rPr>
                        <a:t>- Hiện </a:t>
                      </a:r>
                      <a:r>
                        <a:rPr lang="vi-VN" sz="1400" dirty="0">
                          <a:latin typeface="+mn-lt"/>
                          <a:cs typeface="Times New Roman" panose="02020603050405020304" pitchFamily="18" charset="0"/>
                        </a:rPr>
                        <a:t>Tổ thuê mua tàu bay vẫn tiếp tục chủ trì phối hợp với các CQĐV chuyên môn làm việc với Boeing để có số liệu cuối cùng tính toán hiệu quả khả thi dự án đầu tư báo cáo cấp có thẩm quyền. </a:t>
                      </a:r>
                      <a:r>
                        <a:rPr lang="en-US" sz="1400" dirty="0">
                          <a:latin typeface="Times New Roman" panose="02020603050405020304" pitchFamily="18" charset="0"/>
                          <a:cs typeface="Times New Roman" panose="02020603050405020304" pitchFamily="18" charset="0"/>
                        </a:rPr>
                        <a:t>Ban KT</a:t>
                      </a:r>
                      <a:r>
                        <a:rPr lang="vi-VN" sz="1400" dirty="0">
                          <a:latin typeface="+mn-lt"/>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đã tổ chức</a:t>
                      </a:r>
                      <a:r>
                        <a:rPr lang="vi-VN" sz="1400" dirty="0">
                          <a:latin typeface="+mn-lt"/>
                          <a:cs typeface="Times New Roman" panose="02020603050405020304" pitchFamily="18" charset="0"/>
                        </a:rPr>
                        <a:t> hội thảo với Boeing vào 1/4 để đánh giá các vấn đề khi khai thác 737 Max.</a:t>
                      </a:r>
                      <a:r>
                        <a:rPr lang="en-US" sz="1400" dirty="0">
                          <a:latin typeface="Times New Roman" panose="02020603050405020304" pitchFamily="18" charset="0"/>
                          <a:cs typeface="Times New Roman" panose="02020603050405020304" pitchFamily="18" charset="0"/>
                        </a:rPr>
                        <a:t> </a:t>
                      </a:r>
                    </a:p>
                    <a:p>
                      <a:pPr marL="0" marR="0" indent="0" algn="just" defTabSz="914400" rtl="0" eaLnBrk="1" fontAlgn="auto" latinLnBrk="0" hangingPunct="1">
                        <a:lnSpc>
                          <a:spcPct val="150000"/>
                        </a:lnSpc>
                        <a:spcBef>
                          <a:spcPts val="0"/>
                        </a:spcBef>
                        <a:spcAft>
                          <a:spcPts val="0"/>
                        </a:spcAft>
                        <a:buClrTx/>
                        <a:buSzTx/>
                        <a:buFontTx/>
                        <a:buNone/>
                        <a:tabLst/>
                        <a:defRPr/>
                      </a:pPr>
                      <a:r>
                        <a:rPr lang="en-US" sz="1400">
                          <a:latin typeface="Times New Roman" panose="02020603050405020304" pitchFamily="18" charset="0"/>
                          <a:cs typeface="Times New Roman" panose="02020603050405020304" pitchFamily="18" charset="0"/>
                        </a:rPr>
                        <a:t>- Dự </a:t>
                      </a:r>
                      <a:r>
                        <a:rPr lang="en-US" sz="1400" dirty="0">
                          <a:latin typeface="Times New Roman" panose="02020603050405020304" pitchFamily="18" charset="0"/>
                          <a:cs typeface="Times New Roman" panose="02020603050405020304" pitchFamily="18" charset="0"/>
                        </a:rPr>
                        <a:t>kiến số liệu CPBD cập </a:t>
                      </a:r>
                      <a:r>
                        <a:rPr lang="en-US" sz="1400" dirty="0" err="1">
                          <a:latin typeface="Times New Roman" panose="02020603050405020304" pitchFamily="18" charset="0"/>
                          <a:cs typeface="Times New Roman" panose="02020603050405020304" pitchFamily="18" charset="0"/>
                        </a:rPr>
                        <a:t>nhật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sẽ</a:t>
                      </a:r>
                      <a:r>
                        <a:rPr lang="en-US" sz="1400" dirty="0">
                          <a:latin typeface="Times New Roman" panose="02020603050405020304" pitchFamily="18" charset="0"/>
                          <a:cs typeface="Times New Roman" panose="02020603050405020304" pitchFamily="18" charset="0"/>
                        </a:rPr>
                        <a:t> được Boeing gửi </a:t>
                      </a:r>
                      <a:r>
                        <a:rPr lang="en-US" sz="1400" dirty="0" err="1">
                          <a:latin typeface="Times New Roman" panose="02020603050405020304" pitchFamily="18" charset="0"/>
                          <a:cs typeface="Times New Roman" panose="02020603050405020304" pitchFamily="18" charset="0"/>
                        </a:rPr>
                        <a:t>lại</a:t>
                      </a:r>
                      <a:r>
                        <a:rPr lang="en-US" sz="1400" dirty="0">
                          <a:latin typeface="Times New Roman" panose="02020603050405020304" pitchFamily="18" charset="0"/>
                          <a:cs typeface="Times New Roman" panose="02020603050405020304" pitchFamily="18" charset="0"/>
                        </a:rPr>
                        <a:t> vào 8/4/2025 để </a:t>
                      </a:r>
                      <a:r>
                        <a:rPr lang="en-US" sz="1400" dirty="0" err="1">
                          <a:latin typeface="Times New Roman" panose="02020603050405020304" pitchFamily="18" charset="0"/>
                          <a:cs typeface="Times New Roman" panose="02020603050405020304" pitchFamily="18" charset="0"/>
                        </a:rPr>
                        <a:t>dùng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làm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căn</a:t>
                      </a:r>
                      <a:r>
                        <a:rPr lang="en-US" sz="1400" dirty="0">
                          <a:latin typeface="Times New Roman" panose="02020603050405020304" pitchFamily="18" charset="0"/>
                          <a:cs typeface="Times New Roman" panose="02020603050405020304" pitchFamily="18" charset="0"/>
                        </a:rPr>
                        <a:t> cứ tính toán </a:t>
                      </a:r>
                      <a:r>
                        <a:rPr lang="en-US" sz="1400" dirty="0" err="1">
                          <a:latin typeface="Times New Roman" panose="02020603050405020304" pitchFamily="18" charset="0"/>
                          <a:cs typeface="Times New Roman" panose="02020603050405020304" pitchFamily="18" charset="0"/>
                        </a:rPr>
                        <a:t>hiệu</a:t>
                      </a:r>
                      <a:r>
                        <a:rPr lang="en-US" sz="1400" dirty="0">
                          <a:latin typeface="Times New Roman" panose="02020603050405020304" pitchFamily="18" charset="0"/>
                          <a:cs typeface="Times New Roman" panose="02020603050405020304" pitchFamily="18" charset="0"/>
                        </a:rPr>
                        <a:t> quả khả </a:t>
                      </a:r>
                      <a:r>
                        <a:rPr lang="en-US" sz="1400" dirty="0" err="1">
                          <a:latin typeface="Times New Roman" panose="02020603050405020304" pitchFamily="18" charset="0"/>
                          <a:cs typeface="Times New Roman" panose="02020603050405020304" pitchFamily="18" charset="0"/>
                        </a:rPr>
                        <a:t>thi</a:t>
                      </a:r>
                      <a:r>
                        <a:rPr lang="en-US" sz="1400" baseline="0" dirty="0">
                          <a:latin typeface="Times New Roman" panose="02020603050405020304" pitchFamily="18" charset="0"/>
                          <a:cs typeface="Times New Roman" panose="02020603050405020304" pitchFamily="18" charset="0"/>
                        </a:rPr>
                        <a:t> (Yêu cầu Boeing cập </a:t>
                      </a:r>
                      <a:r>
                        <a:rPr lang="en-US" sz="1400" baseline="0" dirty="0" err="1">
                          <a:latin typeface="Times New Roman" panose="02020603050405020304" pitchFamily="18" charset="0"/>
                          <a:cs typeface="Times New Roman" panose="02020603050405020304" pitchFamily="18" charset="0"/>
                        </a:rPr>
                        <a:t>nhật</a:t>
                      </a:r>
                      <a:r>
                        <a:rPr lang="en-US" sz="1400" baseline="0" dirty="0">
                          <a:latin typeface="Times New Roman" panose="02020603050405020304" pitchFamily="18" charset="0"/>
                          <a:cs typeface="Times New Roman" panose="02020603050405020304" pitchFamily="18" charset="0"/>
                        </a:rPr>
                        <a:t> </a:t>
                      </a:r>
                      <a:r>
                        <a:rPr lang="en-US" sz="1400" baseline="0" dirty="0" err="1">
                          <a:latin typeface="Times New Roman" panose="02020603050405020304" pitchFamily="18" charset="0"/>
                          <a:cs typeface="Times New Roman" panose="02020603050405020304" pitchFamily="18" charset="0"/>
                        </a:rPr>
                        <a:t>lại</a:t>
                      </a:r>
                      <a:r>
                        <a:rPr lang="en-US" sz="1400" baseline="0" dirty="0">
                          <a:latin typeface="Times New Roman" panose="02020603050405020304" pitchFamily="18" charset="0"/>
                          <a:cs typeface="Times New Roman" panose="02020603050405020304" pitchFamily="18" charset="0"/>
                        </a:rPr>
                        <a:t> CPBD động cơ Max 10 dựa </a:t>
                      </a:r>
                      <a:r>
                        <a:rPr lang="en-US" sz="1400" baseline="0" dirty="0" err="1">
                          <a:latin typeface="Times New Roman" panose="02020603050405020304" pitchFamily="18" charset="0"/>
                          <a:cs typeface="Times New Roman" panose="02020603050405020304" pitchFamily="18" charset="0"/>
                        </a:rPr>
                        <a:t>trên</a:t>
                      </a:r>
                      <a:r>
                        <a:rPr lang="en-US" sz="1400" baseline="0" dirty="0">
                          <a:latin typeface="Times New Roman" panose="02020603050405020304" pitchFamily="18" charset="0"/>
                          <a:cs typeface="Times New Roman" panose="02020603050405020304" pitchFamily="18" charset="0"/>
                        </a:rPr>
                        <a:t> Time on wing của động cơ là 13.800 cycles (CFM guarantee), và 15.000 cycles (</a:t>
                      </a:r>
                      <a:r>
                        <a:rPr lang="en-US" sz="1400" baseline="0" dirty="0" err="1">
                          <a:latin typeface="Times New Roman" panose="02020603050405020304" pitchFamily="18" charset="0"/>
                          <a:cs typeface="Times New Roman" panose="02020603050405020304" pitchFamily="18" charset="0"/>
                        </a:rPr>
                        <a:t>Ước</a:t>
                      </a:r>
                      <a:r>
                        <a:rPr lang="en-US" sz="1400" baseline="0" dirty="0">
                          <a:latin typeface="Times New Roman" panose="02020603050405020304" pitchFamily="18" charset="0"/>
                          <a:cs typeface="Times New Roman" panose="02020603050405020304" pitchFamily="18" charset="0"/>
                        </a:rPr>
                        <a:t> tính trung bình giữa </a:t>
                      </a:r>
                      <a:r>
                        <a:rPr lang="en-US" sz="1400" baseline="0">
                          <a:latin typeface="Times New Roman" panose="02020603050405020304" pitchFamily="18" charset="0"/>
                          <a:cs typeface="Times New Roman" panose="02020603050405020304" pitchFamily="18" charset="0"/>
                        </a:rPr>
                        <a:t>số Boeing và CFM).</a:t>
                      </a:r>
                      <a:endParaRPr lang="en-US" sz="14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bl>
          </a:graphicData>
        </a:graphic>
      </p:graphicFrame>
      <p:sp>
        <p:nvSpPr>
          <p:cNvPr id="4" name="Title 2">
            <a:extLst>
              <a:ext uri="{FF2B5EF4-FFF2-40B4-BE49-F238E27FC236}">
                <a16:creationId xmlns:a16="http://schemas.microsoft.com/office/drawing/2014/main" id="{CAAB8563-2E25-F9E3-A86A-938A82C20087}"/>
              </a:ext>
            </a:extLst>
          </p:cNvPr>
          <p:cNvSpPr txBox="1">
            <a:spLocks/>
          </p:cNvSpPr>
          <p:nvPr/>
        </p:nvSpPr>
        <p:spPr>
          <a:xfrm>
            <a:off x="156783" y="0"/>
            <a:ext cx="9312664" cy="508000"/>
          </a:xfrm>
          <a:prstGeom prst="rect">
            <a:avLst/>
          </a:prstGeom>
        </p:spPr>
        <p:txBody>
          <a:bodyPr spcFirstLastPara="1" vert="horz" wrap="square" lIns="91425" tIns="91425" rIns="91425" bIns="91425" rtlCol="0" anchor="t" anchorCtr="0">
            <a:noAutofit/>
          </a:bodyPr>
          <a:lstStyle>
            <a:lvl1pPr lvl="0" algn="l" defTabSz="914400" rtl="0" eaLnBrk="1" latinLnBrk="0" hangingPunct="1">
              <a:lnSpc>
                <a:spcPct val="90000"/>
              </a:lnSpc>
              <a:spcBef>
                <a:spcPts val="0"/>
              </a:spcBef>
              <a:spcAft>
                <a:spcPts val="0"/>
              </a:spcAft>
              <a:buClr>
                <a:srgbClr val="DEA610"/>
              </a:buClr>
              <a:buSzPts val="2100"/>
              <a:buFont typeface="Montserrat"/>
              <a:buNone/>
              <a:defRPr sz="2800" b="1" kern="1200">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pPr>
              <a:spcBef>
                <a:spcPct val="0"/>
              </a:spcBef>
              <a:defRPr/>
            </a:pPr>
            <a:r>
              <a:rPr lang="en-US" altLang="en-US">
                <a:solidFill>
                  <a:srgbClr val="D2A43B"/>
                </a:solidFill>
                <a:latin typeface="Times New Roman" panose="02020603050405020304" pitchFamily="18" charset="0"/>
                <a:ea typeface="Tahoma" pitchFamily="34" charset="0"/>
                <a:cs typeface="Times New Roman" panose="02020603050405020304" pitchFamily="18" charset="0"/>
              </a:rPr>
              <a:t>CÁC CÔNG VIỆC TRỌNG ĐIỂM</a:t>
            </a:r>
            <a:endParaRPr lang="en-US" altLang="en-US" dirty="0">
              <a:solidFill>
                <a:srgbClr val="D2A43B"/>
              </a:solidFill>
              <a:latin typeface="Times New Roman" panose="02020603050405020304" pitchFamily="18" charset="0"/>
              <a:ea typeface="Tahoma" pitchFamily="34" charset="0"/>
              <a:cs typeface="Times New Roman" panose="02020603050405020304" pitchFamily="18" charset="0"/>
            </a:endParaRPr>
          </a:p>
        </p:txBody>
      </p:sp>
    </p:spTree>
    <p:extLst>
      <p:ext uri="{BB962C8B-B14F-4D97-AF65-F5344CB8AC3E}">
        <p14:creationId xmlns:p14="http://schemas.microsoft.com/office/powerpoint/2010/main" val="2353263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20262" y="2825261"/>
            <a:ext cx="10515600" cy="785446"/>
          </a:xfrm>
        </p:spPr>
        <p:txBody>
          <a:bodyPr>
            <a:normAutofit/>
          </a:bodyPr>
          <a:lstStyle/>
          <a:p>
            <a:pPr algn="ctr"/>
            <a:r>
              <a:rPr lang="en-US" dirty="0">
                <a:ln w="0"/>
                <a:solidFill>
                  <a:srgbClr val="0099FF"/>
                </a:solidFill>
                <a:latin typeface="Times New Roman" panose="02020603050405020304" pitchFamily="18" charset="0"/>
                <a:cs typeface="Times New Roman" panose="02020603050405020304" pitchFamily="18" charset="0"/>
              </a:rPr>
              <a:t>TRÂN TRỌNG CẢM ƠN!</a:t>
            </a:r>
            <a:endParaRPr lang="vi-VN" dirty="0">
              <a:ln w="0"/>
              <a:solidFill>
                <a:srgbClr val="0099FF"/>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6B6B8D-D74E-47CD-B5EE-156060B7CD17}" type="slidenum">
              <a:rPr lang="en-US" smtClean="0"/>
              <a:pPr/>
              <a:t>15</a:t>
            </a:fld>
            <a:endParaRPr lang="en-US"/>
          </a:p>
        </p:txBody>
      </p:sp>
    </p:spTree>
    <p:extLst>
      <p:ext uri="{BB962C8B-B14F-4D97-AF65-F5344CB8AC3E}">
        <p14:creationId xmlns:p14="http://schemas.microsoft.com/office/powerpoint/2010/main" val="676332803"/>
      </p:ext>
    </p:extLst>
  </p:cSld>
  <p:clrMapOvr>
    <a:masterClrMapping/>
  </p:clrMapOvr>
</p:sld>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1_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062C4D0B-4776-4B9F-BFF4-14AD9C064BEC}" vid="{EA26718F-40DF-485E-8FDB-B96BA292128A}"/>
    </a:ext>
  </a:extLst>
</a:theme>
</file>

<file path=ppt/theme/theme3.xml><?xml version="1.0" encoding="utf-8"?>
<a:theme xmlns:a="http://schemas.openxmlformats.org/drawingml/2006/main" name="3_PowerPoint Master Template 2015 final_1672015_1028_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werPoint Master Template 2015 final.potx" id="{5EFD6593-F448-4BAC-916E-A23054C3F549}" vid="{39D11665-5681-4729-BA29-5E99D4B28A2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E18D4A-261A-4850-B6EF-E8D1177C057C}">
  <ds:schemaRefs>
    <ds:schemaRef ds:uri="e189f61e-1295-4779-a752-040c7fad5177"/>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http://www.w3.org/XML/1998/namespace"/>
    <ds:schemaRef ds:uri="http://purl.org/dc/elements/1.1/"/>
    <ds:schemaRef ds:uri="b6015720-aa74-4be3-ba0d-eab08776cb9b"/>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911D9C-B9DB-42A8-B756-3CC928D524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72301</TotalTime>
  <Words>4192</Words>
  <Application>Microsoft Office PowerPoint</Application>
  <PresentationFormat>Widescreen</PresentationFormat>
  <Paragraphs>543</Paragraphs>
  <Slides>16</Slides>
  <Notes>15</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16</vt:i4>
      </vt:variant>
    </vt:vector>
  </HeadingPairs>
  <TitlesOfParts>
    <vt:vector size="31" baseType="lpstr">
      <vt:lpstr>MS PGothic</vt:lpstr>
      <vt:lpstr>MS PGothic</vt:lpstr>
      <vt:lpstr>Arial</vt:lpstr>
      <vt:lpstr>Calibri</vt:lpstr>
      <vt:lpstr>Cambria</vt:lpstr>
      <vt:lpstr>Montserrat</vt:lpstr>
      <vt:lpstr>Noto Sans Symbols</vt:lpstr>
      <vt:lpstr>Roboto</vt:lpstr>
      <vt:lpstr>Roboto Slab</vt:lpstr>
      <vt:lpstr>Tahoma</vt:lpstr>
      <vt:lpstr>Times New Roman</vt:lpstr>
      <vt:lpstr>Wingdings</vt:lpstr>
      <vt:lpstr>16-9 MASTER TEMPLATE</vt:lpstr>
      <vt:lpstr>1_Theme1</vt:lpstr>
      <vt:lpstr>3_PowerPoint Master Template 2015 final_1672015_1028_15</vt:lpstr>
      <vt:lpstr>GIAO BAN GIÁM ĐỐC QUÝ I NĂM 2025 BAN KỸ THUẬT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CHỈ SỐ KPI TỔ SAG#2 QI/2025</vt:lpstr>
      <vt:lpstr>PowerPoint Presentation</vt:lpstr>
      <vt:lpstr>PowerPoint Presentation</vt:lpstr>
      <vt:lpstr>CÁC CÔNG VIỆC TRỌNG ĐIỂM</vt:lpstr>
      <vt:lpstr>PowerPoint Presentation</vt:lpstr>
      <vt:lpstr>PowerPoint Presentation</vt:lpstr>
      <vt:lpstr>TRÂN TRỌNG CẢM ƠN!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Thang Nguyen Chien</cp:lastModifiedBy>
  <cp:revision>11488</cp:revision>
  <cp:lastPrinted>2019-03-27T09:25:07Z</cp:lastPrinted>
  <dcterms:created xsi:type="dcterms:W3CDTF">2018-12-27T04:50:36Z</dcterms:created>
  <dcterms:modified xsi:type="dcterms:W3CDTF">2025-04-08T01:48:03Z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