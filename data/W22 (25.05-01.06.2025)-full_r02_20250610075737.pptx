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theme/themeOverride1.xml" ContentType="application/vnd.openxmlformats-officedocument.themeOverride+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3.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4.xml" ContentType="application/vnd.openxmlformats-officedocument.presentationml.tags+xml"/>
  <Override PartName="/ppt/notesSlides/notesSlide27.xml" ContentType="application/vnd.openxmlformats-officedocument.presentationml.notesSlide+xml"/>
  <Override PartName="/ppt/charts/chart7.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3.xml" ContentType="application/vnd.openxmlformats-officedocument.drawingml.chart+xml"/>
  <Override PartName="/ppt/notesSlides/notesSlide41.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42.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43.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25" r:id="rId5"/>
  </p:sldMasterIdLst>
  <p:notesMasterIdLst>
    <p:notesMasterId r:id="rId78"/>
  </p:notesMasterIdLst>
  <p:sldIdLst>
    <p:sldId id="11486" r:id="rId6"/>
    <p:sldId id="11487" r:id="rId7"/>
    <p:sldId id="11488" r:id="rId8"/>
    <p:sldId id="12469" r:id="rId9"/>
    <p:sldId id="12470" r:id="rId10"/>
    <p:sldId id="11493" r:id="rId11"/>
    <p:sldId id="12471" r:id="rId12"/>
    <p:sldId id="12472" r:id="rId13"/>
    <p:sldId id="12473" r:id="rId14"/>
    <p:sldId id="12360" r:id="rId15"/>
    <p:sldId id="12474" r:id="rId16"/>
    <p:sldId id="12496" r:id="rId17"/>
    <p:sldId id="12497" r:id="rId18"/>
    <p:sldId id="12476" r:id="rId19"/>
    <p:sldId id="12477" r:id="rId20"/>
    <p:sldId id="12478" r:id="rId21"/>
    <p:sldId id="12479" r:id="rId22"/>
    <p:sldId id="12480" r:id="rId23"/>
    <p:sldId id="12481" r:id="rId24"/>
    <p:sldId id="12482" r:id="rId25"/>
    <p:sldId id="12498" r:id="rId26"/>
    <p:sldId id="12499" r:id="rId27"/>
    <p:sldId id="12483" r:id="rId28"/>
    <p:sldId id="12485" r:id="rId29"/>
    <p:sldId id="12484" r:id="rId30"/>
    <p:sldId id="12327" r:id="rId31"/>
    <p:sldId id="12486" r:id="rId32"/>
    <p:sldId id="12393" r:id="rId33"/>
    <p:sldId id="12284" r:id="rId34"/>
    <p:sldId id="12285" r:id="rId35"/>
    <p:sldId id="12092" r:id="rId36"/>
    <p:sldId id="12463" r:id="rId37"/>
    <p:sldId id="12487" r:id="rId38"/>
    <p:sldId id="12488" r:id="rId39"/>
    <p:sldId id="12489" r:id="rId40"/>
    <p:sldId id="12490" r:id="rId41"/>
    <p:sldId id="12491" r:id="rId42"/>
    <p:sldId id="12492" r:id="rId43"/>
    <p:sldId id="12493" r:id="rId44"/>
    <p:sldId id="12494" r:id="rId45"/>
    <p:sldId id="12495" r:id="rId46"/>
    <p:sldId id="12464" r:id="rId47"/>
    <p:sldId id="12465" r:id="rId48"/>
    <p:sldId id="12467" r:id="rId49"/>
    <p:sldId id="12468" r:id="rId50"/>
    <p:sldId id="12466" r:id="rId51"/>
    <p:sldId id="11545" r:id="rId52"/>
    <p:sldId id="12437" r:id="rId53"/>
    <p:sldId id="12438" r:id="rId54"/>
    <p:sldId id="12439" r:id="rId55"/>
    <p:sldId id="12440" r:id="rId56"/>
    <p:sldId id="12441" r:id="rId57"/>
    <p:sldId id="12442" r:id="rId58"/>
    <p:sldId id="12443" r:id="rId59"/>
    <p:sldId id="12444" r:id="rId60"/>
    <p:sldId id="12445" r:id="rId61"/>
    <p:sldId id="12446" r:id="rId62"/>
    <p:sldId id="12447" r:id="rId63"/>
    <p:sldId id="12448" r:id="rId64"/>
    <p:sldId id="12449" r:id="rId65"/>
    <p:sldId id="12450" r:id="rId66"/>
    <p:sldId id="12451" r:id="rId67"/>
    <p:sldId id="12452" r:id="rId68"/>
    <p:sldId id="12453" r:id="rId69"/>
    <p:sldId id="12454" r:id="rId70"/>
    <p:sldId id="12455" r:id="rId71"/>
    <p:sldId id="12456" r:id="rId72"/>
    <p:sldId id="12457" r:id="rId73"/>
    <p:sldId id="12458" r:id="rId74"/>
    <p:sldId id="12459" r:id="rId75"/>
    <p:sldId id="12460" r:id="rId76"/>
    <p:sldId id="11888" r:id="rId7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autoAdjust="0"/>
    <p:restoredTop sz="94374" autoAdjust="0"/>
  </p:normalViewPr>
  <p:slideViewPr>
    <p:cSldViewPr>
      <p:cViewPr varScale="1">
        <p:scale>
          <a:sx n="88" d="100"/>
          <a:sy n="88" d="100"/>
        </p:scale>
        <p:origin x="403" y="53"/>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22\W22%20(26.05-01.06.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22\W22%20(26.05-01.06.202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2" Type="http://schemas.openxmlformats.org/officeDocument/2006/relationships/oleObject" Target="file:///C:\Users\admin\OneDrive\Desktop\TAI%20LIEU%20LAM%20VIEC\MOC\BC_Tu&#226;n\2025\W22\W22%20(26.05-01.06.2025).xlsx" TargetMode="External"/><Relationship Id="rId1" Type="http://schemas.openxmlformats.org/officeDocument/2006/relationships/themeOverride" Target="../theme/themeOverride1.xml"/></Relationships>
</file>

<file path=ppt/charts/_rels/chart4.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22\W22%20(26.05-01.06.2025).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22\W22%20(26.05-01.06.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22\W22%20(26.05-01.06.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2\DR\DR-W22.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22\W22%20(26.05-01.06.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6r2="http://schemas.microsoft.com/office/drawing/2015/06/chart" xmlns:c15="http://schemas.microsoft.com/office/drawing/2012/chart">
            <c:ext xmlns:c16="http://schemas.microsoft.com/office/drawing/2014/chart" uri="{C3380CC4-5D6E-409C-BE32-E72D297353CC}">
              <c16:uniqueId val="{00000000-E57D-4D3B-8A6E-CDD58F39DF69}"/>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xmlns:c16r2="http://schemas.microsoft.com/office/drawing/2015/06/chart">
            <c:ext xmlns:c16="http://schemas.microsoft.com/office/drawing/2014/chart" uri="{C3380CC4-5D6E-409C-BE32-E72D297353CC}">
              <c16:uniqueId val="{00000001-E57D-4D3B-8A6E-CDD58F39DF69}"/>
            </c:ext>
          </c:extLst>
        </c:ser>
        <c:dLbls>
          <c:showLegendKey val="0"/>
          <c:showVal val="0"/>
          <c:showCatName val="0"/>
          <c:showSerName val="0"/>
          <c:showPercent val="0"/>
          <c:showBubbleSize val="0"/>
        </c:dLbls>
        <c:gapWidth val="219"/>
        <c:overlap val="-27"/>
        <c:axId val="643386584"/>
        <c:axId val="643396776"/>
        <c:extLst xmlns:c16r2="http://schemas.microsoft.com/office/drawing/2015/06/chart"/>
      </c:barChart>
      <c:catAx>
        <c:axId val="643386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6776"/>
        <c:crosses val="autoZero"/>
        <c:auto val="1"/>
        <c:lblAlgn val="ctr"/>
        <c:lblOffset val="100"/>
        <c:noMultiLvlLbl val="0"/>
      </c:catAx>
      <c:valAx>
        <c:axId val="6433967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8658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1</c:v>
                </c:pt>
                <c:pt idx="2">
                  <c:v>0</c:v>
                </c:pt>
                <c:pt idx="3">
                  <c:v>0</c:v>
                </c:pt>
                <c:pt idx="4">
                  <c:v>2</c:v>
                </c:pt>
                <c:pt idx="5">
                  <c:v>3</c:v>
                </c:pt>
              </c:numCache>
            </c:numRef>
          </c:val>
          <c:extLst xmlns:c16r2="http://schemas.microsoft.com/office/drawing/2015/06/chart" xmlns:c15="http://schemas.microsoft.com/office/drawing/2012/chart">
            <c:ext xmlns:c16="http://schemas.microsoft.com/office/drawing/2014/chart" uri="{C3380CC4-5D6E-409C-BE32-E72D297353CC}">
              <c16:uniqueId val="{00000000-5AD3-4017-ABAE-F359BA419A3B}"/>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3</c:v>
                </c:pt>
                <c:pt idx="2">
                  <c:v>0</c:v>
                </c:pt>
                <c:pt idx="3">
                  <c:v>1</c:v>
                </c:pt>
                <c:pt idx="4">
                  <c:v>3</c:v>
                </c:pt>
                <c:pt idx="5">
                  <c:v>7</c:v>
                </c:pt>
              </c:numCache>
            </c:numRef>
          </c:val>
          <c:extLst xmlns:c16r2="http://schemas.microsoft.com/office/drawing/2015/06/chart">
            <c:ext xmlns:c16="http://schemas.microsoft.com/office/drawing/2014/chart" uri="{C3380CC4-5D6E-409C-BE32-E72D297353CC}">
              <c16:uniqueId val="{00000001-5AD3-4017-ABAE-F359BA419A3B}"/>
            </c:ext>
          </c:extLst>
        </c:ser>
        <c:dLbls>
          <c:dLblPos val="outEnd"/>
          <c:showLegendKey val="0"/>
          <c:showVal val="1"/>
          <c:showCatName val="0"/>
          <c:showSerName val="0"/>
          <c:showPercent val="0"/>
          <c:showBubbleSize val="0"/>
        </c:dLbls>
        <c:gapWidth val="219"/>
        <c:overlap val="-27"/>
        <c:axId val="643388936"/>
        <c:axId val="643386976"/>
        <c:extLst xmlns:c16r2="http://schemas.microsoft.com/office/drawing/2015/06/chart"/>
      </c:barChart>
      <c:catAx>
        <c:axId val="643388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86976"/>
        <c:crosses val="autoZero"/>
        <c:auto val="1"/>
        <c:lblAlgn val="ctr"/>
        <c:lblOffset val="100"/>
        <c:noMultiLvlLbl val="0"/>
      </c:catAx>
      <c:valAx>
        <c:axId val="643386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88936"/>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7</c:v>
                </c:pt>
                <c:pt idx="2">
                  <c:v>1</c:v>
                </c:pt>
                <c:pt idx="3">
                  <c:v>1</c:v>
                </c:pt>
                <c:pt idx="4">
                  <c:v>0</c:v>
                </c:pt>
                <c:pt idx="5">
                  <c:v>9</c:v>
                </c:pt>
              </c:numCache>
            </c:numRef>
          </c:val>
          <c:extLst xmlns:c16r2="http://schemas.microsoft.com/office/drawing/2015/06/chart" xmlns:c15="http://schemas.microsoft.com/office/drawing/2012/chart">
            <c:ext xmlns:c16="http://schemas.microsoft.com/office/drawing/2014/chart" uri="{C3380CC4-5D6E-409C-BE32-E72D297353CC}">
              <c16:uniqueId val="{00000000-A60C-41D3-AC1B-B621C14E2F1A}"/>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9</c:v>
                </c:pt>
                <c:pt idx="2">
                  <c:v>0</c:v>
                </c:pt>
                <c:pt idx="3">
                  <c:v>3</c:v>
                </c:pt>
                <c:pt idx="4">
                  <c:v>1</c:v>
                </c:pt>
                <c:pt idx="5">
                  <c:v>13</c:v>
                </c:pt>
              </c:numCache>
            </c:numRef>
          </c:val>
          <c:extLst xmlns:c16r2="http://schemas.microsoft.com/office/drawing/2015/06/chart">
            <c:ext xmlns:c16="http://schemas.microsoft.com/office/drawing/2014/chart" uri="{C3380CC4-5D6E-409C-BE32-E72D297353CC}">
              <c16:uniqueId val="{00000001-A60C-41D3-AC1B-B621C14E2F1A}"/>
            </c:ext>
          </c:extLst>
        </c:ser>
        <c:dLbls>
          <c:dLblPos val="outEnd"/>
          <c:showLegendKey val="0"/>
          <c:showVal val="1"/>
          <c:showCatName val="0"/>
          <c:showSerName val="0"/>
          <c:showPercent val="0"/>
          <c:showBubbleSize val="0"/>
        </c:dLbls>
        <c:gapWidth val="219"/>
        <c:overlap val="-27"/>
        <c:axId val="643389720"/>
        <c:axId val="643396384"/>
        <c:extLst xmlns:c16r2="http://schemas.microsoft.com/office/drawing/2015/06/chart"/>
      </c:barChart>
      <c:catAx>
        <c:axId val="643389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643396384"/>
        <c:crosses val="autoZero"/>
        <c:auto val="1"/>
        <c:lblAlgn val="ctr"/>
        <c:lblOffset val="100"/>
        <c:noMultiLvlLbl val="0"/>
      </c:catAx>
      <c:valAx>
        <c:axId val="643396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64338972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1</c:v>
                </c:pt>
                <c:pt idx="2">
                  <c:v>0</c:v>
                </c:pt>
                <c:pt idx="3">
                  <c:v>1</c:v>
                </c:pt>
                <c:pt idx="4">
                  <c:v>0</c:v>
                </c:pt>
                <c:pt idx="5">
                  <c:v>2</c:v>
                </c:pt>
              </c:numCache>
            </c:numRef>
          </c:val>
          <c:extLst xmlns:c16r2="http://schemas.microsoft.com/office/drawing/2015/06/chart" xmlns:c15="http://schemas.microsoft.com/office/drawing/2012/chart">
            <c:ext xmlns:c16="http://schemas.microsoft.com/office/drawing/2014/chart" uri="{C3380CC4-5D6E-409C-BE32-E72D297353CC}">
              <c16:uniqueId val="{00000000-52E7-4D58-A2BF-9F39FD26E5FC}"/>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2</c:v>
                </c:pt>
                <c:pt idx="4">
                  <c:v>0</c:v>
                </c:pt>
                <c:pt idx="5">
                  <c:v>2</c:v>
                </c:pt>
              </c:numCache>
            </c:numRef>
          </c:val>
          <c:extLst xmlns:c16r2="http://schemas.microsoft.com/office/drawing/2015/06/chart">
            <c:ext xmlns:c16="http://schemas.microsoft.com/office/drawing/2014/chart" uri="{C3380CC4-5D6E-409C-BE32-E72D297353CC}">
              <c16:uniqueId val="{00000001-52E7-4D58-A2BF-9F39FD26E5FC}"/>
            </c:ext>
          </c:extLst>
        </c:ser>
        <c:dLbls>
          <c:showLegendKey val="0"/>
          <c:showVal val="0"/>
          <c:showCatName val="0"/>
          <c:showSerName val="0"/>
          <c:showPercent val="0"/>
          <c:showBubbleSize val="0"/>
        </c:dLbls>
        <c:gapWidth val="219"/>
        <c:overlap val="-27"/>
        <c:axId val="643387368"/>
        <c:axId val="643390112"/>
        <c:extLst xmlns:c16r2="http://schemas.microsoft.com/office/drawing/2015/06/chart"/>
      </c:barChart>
      <c:catAx>
        <c:axId val="643387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0112"/>
        <c:crosses val="autoZero"/>
        <c:auto val="1"/>
        <c:lblAlgn val="ctr"/>
        <c:lblOffset val="100"/>
        <c:noMultiLvlLbl val="0"/>
      </c:catAx>
      <c:valAx>
        <c:axId val="643390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8736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xmlns:c16r2="http://schemas.microsoft.com/office/drawing/2015/06/char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numCache>
            </c:numRef>
          </c:val>
          <c:smooth val="0"/>
          <c:extLst xmlns:c16r2="http://schemas.microsoft.com/office/drawing/2015/06/char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643397168"/>
        <c:axId val="643390896"/>
      </c:lineChart>
      <c:catAx>
        <c:axId val="64339716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0896"/>
        <c:crosses val="autoZero"/>
        <c:auto val="1"/>
        <c:lblAlgn val="ctr"/>
        <c:lblOffset val="100"/>
        <c:noMultiLvlLbl val="0"/>
      </c:catAx>
      <c:valAx>
        <c:axId val="64339089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716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xmlns:c16r2="http://schemas.microsoft.com/office/drawing/2015/06/char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numCache>
            </c:numRef>
          </c:val>
          <c:smooth val="0"/>
          <c:extLst xmlns:c16r2="http://schemas.microsoft.com/office/drawing/2015/06/char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643392856"/>
        <c:axId val="643391288"/>
      </c:lineChart>
      <c:catAx>
        <c:axId val="64339285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1288"/>
        <c:crosses val="autoZero"/>
        <c:auto val="1"/>
        <c:lblAlgn val="ctr"/>
        <c:lblOffset val="100"/>
        <c:noMultiLvlLbl val="0"/>
      </c:catAx>
      <c:valAx>
        <c:axId val="64339128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28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W21</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E74E-4B66-891B-487548F81C1D}"/>
                </c:ext>
                <c:ext xmlns:c15="http://schemas.microsoft.com/office/drawing/2012/chart" uri="{CE6537A1-D6FC-4f65-9D91-7224C49458BB}">
                  <c15:layout>
                    <c:manualLayout>
                      <c:w val="4.8703937780973254E-2"/>
                      <c:h val="6.3644067796610151E-2"/>
                    </c:manualLayout>
                  </c15:layout>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99.724391364262743</c:v>
                </c:pt>
                <c:pt idx="1">
                  <c:v>99.462365591397855</c:v>
                </c:pt>
                <c:pt idx="2">
                  <c:v>99.721448467966567</c:v>
                </c:pt>
                <c:pt idx="3">
                  <c:v>99.082568807339456</c:v>
                </c:pt>
              </c:numCache>
            </c:numRef>
          </c:val>
          <c:extLst xmlns:c16r2="http://schemas.microsoft.com/office/drawing/2015/06/chart">
            <c:ext xmlns:c16="http://schemas.microsoft.com/office/drawing/2014/chart" uri="{C3380CC4-5D6E-409C-BE32-E72D297353CC}">
              <c16:uniqueId val="{00000001-E74E-4B66-891B-487548F81C1D}"/>
            </c:ext>
          </c:extLst>
        </c:ser>
        <c:ser>
          <c:idx val="1"/>
          <c:order val="1"/>
          <c:tx>
            <c:strRef>
              <c:f>DR!$D$3</c:f>
              <c:strCache>
                <c:ptCount val="1"/>
                <c:pt idx="0">
                  <c:v>W22</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99.695387293298523</c:v>
                </c:pt>
                <c:pt idx="1">
                  <c:v>99.52153110047847</c:v>
                </c:pt>
                <c:pt idx="2">
                  <c:v>99.445983379501385</c:v>
                </c:pt>
                <c:pt idx="3">
                  <c:v>99.504950495049499</c:v>
                </c:pt>
              </c:numCache>
            </c:numRef>
          </c:val>
          <c:extLst xmlns:c16r2="http://schemas.microsoft.com/office/drawing/2015/06/chart">
            <c:ext xmlns:c16="http://schemas.microsoft.com/office/drawing/2014/chart" uri="{C3380CC4-5D6E-409C-BE32-E72D297353CC}">
              <c16:uniqueId val="{00000002-E74E-4B66-891B-487548F81C1D}"/>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E74E-4B66-891B-487548F81C1D}"/>
                </c:ext>
                <c:ext xmlns:c15="http://schemas.microsoft.com/office/drawing/2012/chart" uri="{CE6537A1-D6FC-4f65-9D91-7224C49458BB}">
                  <c15:spPr xmlns:c15="http://schemas.microsoft.com/office/drawing/2012/chart">
                    <a:prstGeom prst="rect">
                      <a:avLst/>
                    </a:prstGeom>
                  </c15:spPr>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xmlns:c16r2="http://schemas.microsoft.com/office/drawing/2015/06/chart">
            <c:ext xmlns:c16="http://schemas.microsoft.com/office/drawing/2014/chart" uri="{C3380CC4-5D6E-409C-BE32-E72D297353CC}">
              <c16:uniqueId val="{00000004-E74E-4B66-891B-487548F81C1D}"/>
            </c:ext>
          </c:extLst>
        </c:ser>
        <c:dLbls>
          <c:showLegendKey val="0"/>
          <c:showVal val="0"/>
          <c:showCatName val="0"/>
          <c:showSerName val="0"/>
          <c:showPercent val="0"/>
          <c:showBubbleSize val="0"/>
        </c:dLbls>
        <c:gapWidth val="219"/>
        <c:overlap val="-27"/>
        <c:axId val="643394032"/>
        <c:axId val="643395600"/>
        <c:extLst xmlns:c16r2="http://schemas.microsoft.com/office/drawing/2015/06/chart">
          <c:ext xmlns:c15="http://schemas.microsoft.com/office/drawing/2012/chart" uri="{02D57815-91ED-43cb-92C2-25804820EDAC}">
            <c15:filteredBarSeries>
              <c15:ser>
                <c:idx val="3"/>
                <c:order val="2"/>
                <c:tx>
                  <c:strRef>
                    <c:extLst xmlns:c16r2="http://schemas.microsoft.com/office/drawing/2015/06/char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uri="{CE6537A1-D6FC-4f65-9D91-7224C49458BB}">
                      <c15:showLeaderLines val="1"/>
                    </c:ext>
                  </c:extLst>
                </c:dLbls>
                <c:cat>
                  <c:strRef>
                    <c:extLst xmlns:c16r2="http://schemas.microsoft.com/office/drawing/2015/06/chart">
                      <c:ext uri="{02D57815-91ED-43cb-92C2-25804820EDAC}">
                        <c15:formulaRef>
                          <c15:sqref>DR!$B$5:$B$8</c15:sqref>
                        </c15:formulaRef>
                      </c:ext>
                    </c:extLst>
                    <c:strCache>
                      <c:ptCount val="4"/>
                      <c:pt idx="0">
                        <c:v>A321</c:v>
                      </c:pt>
                      <c:pt idx="1">
                        <c:v>A350</c:v>
                      </c:pt>
                      <c:pt idx="2">
                        <c:v>B787</c:v>
                      </c:pt>
                      <c:pt idx="3">
                        <c:v>ATR72</c:v>
                      </c:pt>
                    </c:strCache>
                  </c:strRef>
                </c:cat>
                <c:val>
                  <c:numRef>
                    <c:extLst xmlns:c16r2="http://schemas.microsoft.com/office/drawing/2015/06/chart">
                      <c:ext uri="{02D57815-91ED-43cb-92C2-25804820EDAC}">
                        <c15:formulaRef>
                          <c15:sqref>DR!$E$5:$E$8</c15:sqref>
                        </c15:formulaRef>
                      </c:ext>
                    </c:extLst>
                    <c:numCache>
                      <c:formatCode>General</c:formatCode>
                      <c:ptCount val="4"/>
                    </c:numCache>
                  </c:numRef>
                </c:val>
                <c:extLst xmlns:c16r2="http://schemas.microsoft.com/office/drawing/2015/06/chart">
                  <c:ext xmlns:c16="http://schemas.microsoft.com/office/drawing/2014/chart" uri="{C3380CC4-5D6E-409C-BE32-E72D297353CC}">
                    <c16:uniqueId val="{00000005-E74E-4B66-891B-487548F81C1D}"/>
                  </c:ext>
                </c:extLst>
              </c15:ser>
            </c15:filteredBarSeries>
          </c:ext>
        </c:extLst>
      </c:barChart>
      <c:catAx>
        <c:axId val="64339403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643395600"/>
        <c:crosses val="autoZero"/>
        <c:auto val="1"/>
        <c:lblAlgn val="ctr"/>
        <c:lblOffset val="100"/>
        <c:noMultiLvlLbl val="0"/>
      </c:catAx>
      <c:valAx>
        <c:axId val="643395600"/>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64339403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Sheet1!$D$8:$BC$8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Sheet1!$D$9:$BC$9</c:f>
              <c:numCache>
                <c:formatCode>General</c:formatCode>
                <c:ptCount val="12"/>
                <c:pt idx="0">
                  <c:v>25</c:v>
                </c:pt>
                <c:pt idx="1">
                  <c:v>24</c:v>
                </c:pt>
                <c:pt idx="2">
                  <c:v>24</c:v>
                </c:pt>
                <c:pt idx="3">
                  <c:v>24</c:v>
                </c:pt>
                <c:pt idx="4">
                  <c:v>23</c:v>
                </c:pt>
                <c:pt idx="5">
                  <c:v>22</c:v>
                </c:pt>
                <c:pt idx="6">
                  <c:v>22</c:v>
                </c:pt>
                <c:pt idx="7">
                  <c:v>22</c:v>
                </c:pt>
                <c:pt idx="8">
                  <c:v>22</c:v>
                </c:pt>
                <c:pt idx="9">
                  <c:v>22</c:v>
                </c:pt>
                <c:pt idx="10">
                  <c:v>23</c:v>
                </c:pt>
                <c:pt idx="11">
                  <c:v>24</c:v>
                </c:pt>
              </c:numCache>
            </c:numRef>
          </c:val>
          <c:smooth val="0"/>
          <c:extLst xmlns:c16r2="http://schemas.microsoft.com/office/drawing/2015/06/char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Sheet1!$D$10:$BC$10</c:f>
              <c:numCache>
                <c:formatCode>General</c:formatCode>
                <c:ptCount val="12"/>
                <c:pt idx="0">
                  <c:v>4</c:v>
                </c:pt>
                <c:pt idx="1">
                  <c:v>4</c:v>
                </c:pt>
                <c:pt idx="2">
                  <c:v>3</c:v>
                </c:pt>
                <c:pt idx="3">
                  <c:v>2</c:v>
                </c:pt>
                <c:pt idx="4">
                  <c:v>2</c:v>
                </c:pt>
                <c:pt idx="5">
                  <c:v>2</c:v>
                </c:pt>
                <c:pt idx="6">
                  <c:v>2</c:v>
                </c:pt>
                <c:pt idx="7">
                  <c:v>1</c:v>
                </c:pt>
                <c:pt idx="8">
                  <c:v>0</c:v>
                </c:pt>
                <c:pt idx="9">
                  <c:v>1</c:v>
                </c:pt>
                <c:pt idx="10">
                  <c:v>1</c:v>
                </c:pt>
                <c:pt idx="11">
                  <c:v>1</c:v>
                </c:pt>
              </c:numCache>
            </c:numRef>
          </c:val>
          <c:smooth val="0"/>
          <c:extLst xmlns:c16r2="http://schemas.microsoft.com/office/drawing/2015/06/char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Sheet1!$D$11:$BC$11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Sheet1!$D$12:$BC$12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643422648"/>
        <c:axId val="643421472"/>
      </c:lineChart>
      <c:catAx>
        <c:axId val="6434226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43421472"/>
        <c:crosses val="autoZero"/>
        <c:auto val="1"/>
        <c:lblAlgn val="ctr"/>
        <c:lblOffset val="100"/>
        <c:tickMarkSkip val="1"/>
        <c:noMultiLvlLbl val="0"/>
      </c:catAx>
      <c:valAx>
        <c:axId val="6434214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43422648"/>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14.25</c:v>
                </c:pt>
                <c:pt idx="1">
                  <c:v>13.75</c:v>
                </c:pt>
                <c:pt idx="2">
                  <c:v>15.25</c:v>
                </c:pt>
                <c:pt idx="3">
                  <c:v>15</c:v>
                </c:pt>
                <c:pt idx="4">
                  <c:v>14.5</c:v>
                </c:pt>
                <c:pt idx="5">
                  <c:v>12</c:v>
                </c:pt>
                <c:pt idx="6">
                  <c:v>11.5</c:v>
                </c:pt>
                <c:pt idx="7">
                  <c:v>11.5</c:v>
                </c:pt>
                <c:pt idx="8">
                  <c:v>11.5</c:v>
                </c:pt>
                <c:pt idx="9">
                  <c:v>11.5</c:v>
                </c:pt>
                <c:pt idx="10">
                  <c:v>12</c:v>
                </c:pt>
                <c:pt idx="11">
                  <c:v>12</c:v>
                </c:pt>
              </c:numCache>
            </c:numRef>
          </c:val>
          <c:smooth val="0"/>
          <c:extLst xmlns:c16r2="http://schemas.microsoft.com/office/drawing/2015/06/char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643412848"/>
        <c:axId val="643420296"/>
      </c:lineChart>
      <c:catAx>
        <c:axId val="643412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43420296"/>
        <c:crosses val="autoZero"/>
        <c:auto val="1"/>
        <c:lblAlgn val="ctr"/>
        <c:lblOffset val="100"/>
        <c:noMultiLvlLbl val="0"/>
      </c:catAx>
      <c:valAx>
        <c:axId val="643420296"/>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43412848"/>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Sheet1!$A$10:$A$25</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Sheet1!$B$10:$B$25</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xmlns:c16r2="http://schemas.microsoft.com/office/drawing/2015/06/char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643403048"/>
        <c:axId val="643403832"/>
      </c:lineChart>
      <c:catAx>
        <c:axId val="643403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643403832"/>
        <c:crosses val="autoZero"/>
        <c:auto val="1"/>
        <c:lblAlgn val="ctr"/>
        <c:lblOffset val="100"/>
        <c:noMultiLvlLbl val="0"/>
      </c:catAx>
      <c:valAx>
        <c:axId val="643403832"/>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4340304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0.75</c:v>
                </c:pt>
                <c:pt idx="8">
                  <c:v>1.5</c:v>
                </c:pt>
                <c:pt idx="9">
                  <c:v>2</c:v>
                </c:pt>
                <c:pt idx="10">
                  <c:v>2</c:v>
                </c:pt>
                <c:pt idx="11">
                  <c:v>2</c:v>
                </c:pt>
              </c:numCache>
            </c:numRef>
          </c:val>
          <c:smooth val="0"/>
          <c:extLst xmlns:c16r2="http://schemas.microsoft.com/office/drawing/2015/06/char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643404616"/>
        <c:axId val="643408144"/>
      </c:lineChart>
      <c:catAx>
        <c:axId val="643404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43408144"/>
        <c:crosses val="autoZero"/>
        <c:auto val="1"/>
        <c:lblAlgn val="ctr"/>
        <c:lblOffset val="100"/>
        <c:noMultiLvlLbl val="0"/>
      </c:catAx>
      <c:valAx>
        <c:axId val="643408144"/>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43404616"/>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xmlns:c16r2="http://schemas.microsoft.com/office/drawing/2015/06/char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643409712"/>
        <c:axId val="643405400"/>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xmlns:c16r2="http://schemas.microsoft.com/office/drawing/2015/06/char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643409712"/>
        <c:axId val="643405400"/>
      </c:lineChart>
      <c:catAx>
        <c:axId val="643409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43405400"/>
        <c:crosses val="autoZero"/>
        <c:auto val="1"/>
        <c:lblAlgn val="ctr"/>
        <c:lblOffset val="100"/>
        <c:noMultiLvlLbl val="0"/>
      </c:catAx>
      <c:valAx>
        <c:axId val="643405400"/>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43409712"/>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0</c:v>
                </c:pt>
                <c:pt idx="3">
                  <c:v>2</c:v>
                </c:pt>
                <c:pt idx="4">
                  <c:v>0</c:v>
                </c:pt>
                <c:pt idx="5" formatCode="0">
                  <c:v>4</c:v>
                </c:pt>
              </c:numCache>
            </c:numRef>
          </c:val>
          <c:extLst xmlns:c16r2="http://schemas.microsoft.com/office/drawing/2015/06/chart">
            <c:ext xmlns:c16="http://schemas.microsoft.com/office/drawing/2014/chart" uri="{C3380CC4-5D6E-409C-BE32-E72D297353CC}">
              <c16:uniqueId val="{00000000-2E4B-42A5-9C2A-71CC50CDA1D5}"/>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2</c:v>
                </c:pt>
                <c:pt idx="2">
                  <c:v>0</c:v>
                </c:pt>
                <c:pt idx="3">
                  <c:v>0</c:v>
                </c:pt>
                <c:pt idx="4">
                  <c:v>0</c:v>
                </c:pt>
                <c:pt idx="5" formatCode="0">
                  <c:v>2</c:v>
                </c:pt>
              </c:numCache>
            </c:numRef>
          </c:val>
          <c:extLst xmlns:c16r2="http://schemas.microsoft.com/office/drawing/2015/06/chart">
            <c:ext xmlns:c16="http://schemas.microsoft.com/office/drawing/2014/chart" uri="{C3380CC4-5D6E-409C-BE32-E72D297353CC}">
              <c16:uniqueId val="{00000001-2E4B-42A5-9C2A-71CC50CDA1D5}"/>
            </c:ext>
          </c:extLst>
        </c:ser>
        <c:dLbls>
          <c:showLegendKey val="0"/>
          <c:showVal val="0"/>
          <c:showCatName val="0"/>
          <c:showSerName val="0"/>
          <c:showPercent val="0"/>
          <c:showBubbleSize val="0"/>
        </c:dLbls>
        <c:gapWidth val="150"/>
        <c:axId val="643410496"/>
        <c:axId val="643399128"/>
      </c:barChart>
      <c:catAx>
        <c:axId val="64341049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643399128"/>
        <c:crosses val="autoZero"/>
        <c:auto val="1"/>
        <c:lblAlgn val="ctr"/>
        <c:lblOffset val="100"/>
        <c:noMultiLvlLbl val="0"/>
      </c:catAx>
      <c:valAx>
        <c:axId val="64339912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643410496"/>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6.2231316137566169E-2</c:v>
                </c:pt>
                <c:pt idx="1">
                  <c:v>7.9973819919007816E-2</c:v>
                </c:pt>
                <c:pt idx="2">
                  <c:v>7.954097714736022E-2</c:v>
                </c:pt>
                <c:pt idx="3">
                  <c:v>0.14016203703703695</c:v>
                </c:pt>
                <c:pt idx="4">
                  <c:v>0.23731481481481514</c:v>
                </c:pt>
                <c:pt idx="5">
                  <c:v>0.25846193415637891</c:v>
                </c:pt>
                <c:pt idx="6">
                  <c:v>0.14196802935010475</c:v>
                </c:pt>
                <c:pt idx="7">
                  <c:v>0.13308847141939656</c:v>
                </c:pt>
                <c:pt idx="8">
                  <c:v>4.2495854063018257E-2</c:v>
                </c:pt>
              </c:numCache>
            </c:numRef>
          </c:val>
          <c:extLst xmlns:c16r2="http://schemas.microsoft.com/office/drawing/2015/06/chart">
            <c:ext xmlns:c16="http://schemas.microsoft.com/office/drawing/2014/chart" uri="{C3380CC4-5D6E-409C-BE32-E72D297353CC}">
              <c16:uniqueId val="{00000000-E550-46A1-A104-C1D85CA47512}"/>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6.4256779100529099E-2</c:v>
                </c:pt>
                <c:pt idx="1">
                  <c:v>7.6993967828418275E-2</c:v>
                </c:pt>
                <c:pt idx="2">
                  <c:v>8.6571233810497666E-2</c:v>
                </c:pt>
                <c:pt idx="3">
                  <c:v>0.15944989106753807</c:v>
                </c:pt>
                <c:pt idx="4">
                  <c:v>0.26252815315315359</c:v>
                </c:pt>
                <c:pt idx="5">
                  <c:v>0.23266441993464076</c:v>
                </c:pt>
                <c:pt idx="6">
                  <c:v>0.15295433145009413</c:v>
                </c:pt>
                <c:pt idx="7">
                  <c:v>0.12952327327327354</c:v>
                </c:pt>
                <c:pt idx="8">
                  <c:v>4.4782366071428617E-2</c:v>
                </c:pt>
              </c:numCache>
            </c:numRef>
          </c:val>
          <c:extLst xmlns:c16r2="http://schemas.microsoft.com/office/drawing/2015/06/chart">
            <c:ext xmlns:c16="http://schemas.microsoft.com/office/drawing/2014/chart" uri="{C3380CC4-5D6E-409C-BE32-E72D297353CC}">
              <c16:uniqueId val="{00000001-E550-46A1-A104-C1D85CA47512}"/>
            </c:ext>
          </c:extLst>
        </c:ser>
        <c:dLbls>
          <c:showLegendKey val="0"/>
          <c:showVal val="0"/>
          <c:showCatName val="0"/>
          <c:showSerName val="0"/>
          <c:showPercent val="0"/>
          <c:showBubbleSize val="0"/>
        </c:dLbls>
        <c:gapWidth val="75"/>
        <c:axId val="643407360"/>
        <c:axId val="643401480"/>
      </c:barChart>
      <c:catAx>
        <c:axId val="64340736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401480"/>
        <c:crosses val="autoZero"/>
        <c:auto val="1"/>
        <c:lblAlgn val="ctr"/>
        <c:lblOffset val="100"/>
        <c:noMultiLvlLbl val="0"/>
      </c:catAx>
      <c:valAx>
        <c:axId val="64340148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407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8</c:v>
                </c:pt>
                <c:pt idx="1">
                  <c:v>6.6015037593984962</c:v>
                </c:pt>
                <c:pt idx="2">
                  <c:v>6.7142857142857135</c:v>
                </c:pt>
                <c:pt idx="3">
                  <c:v>2.7272727272727271</c:v>
                </c:pt>
                <c:pt idx="4">
                  <c:v>3.0336134453781511</c:v>
                </c:pt>
                <c:pt idx="5">
                  <c:v>7.1785714285714288</c:v>
                </c:pt>
              </c:numCache>
            </c:numRef>
          </c:val>
          <c:extLst xmlns:c16r2="http://schemas.microsoft.com/office/drawing/2015/06/chart">
            <c:ext xmlns:c16="http://schemas.microsoft.com/office/drawing/2014/chart" uri="{C3380CC4-5D6E-409C-BE32-E72D297353CC}">
              <c16:uniqueId val="{00000000-2E73-4731-B4C7-92BACFF655C5}"/>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7.9999999999999991</c:v>
                </c:pt>
                <c:pt idx="1">
                  <c:v>7.011278195488722</c:v>
                </c:pt>
                <c:pt idx="2">
                  <c:v>6.6530612244897958</c:v>
                </c:pt>
                <c:pt idx="3">
                  <c:v>2.5844155844155843</c:v>
                </c:pt>
                <c:pt idx="4">
                  <c:v>3.1932773109243695</c:v>
                </c:pt>
                <c:pt idx="5">
                  <c:v>8</c:v>
                </c:pt>
              </c:numCache>
            </c:numRef>
          </c:val>
          <c:extLst xmlns:c16r2="http://schemas.microsoft.com/office/drawing/2015/06/chart">
            <c:ext xmlns:c16="http://schemas.microsoft.com/office/drawing/2014/chart" uri="{C3380CC4-5D6E-409C-BE32-E72D297353CC}">
              <c16:uniqueId val="{00000001-2E73-4731-B4C7-92BACFF655C5}"/>
            </c:ext>
          </c:extLst>
        </c:ser>
        <c:dLbls>
          <c:showLegendKey val="0"/>
          <c:showVal val="1"/>
          <c:showCatName val="0"/>
          <c:showSerName val="0"/>
          <c:showPercent val="0"/>
          <c:showBubbleSize val="0"/>
        </c:dLbls>
        <c:gapWidth val="150"/>
        <c:axId val="643400304"/>
        <c:axId val="643410104"/>
      </c:barChart>
      <c:catAx>
        <c:axId val="6434003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410104"/>
        <c:crosses val="autoZero"/>
        <c:auto val="1"/>
        <c:lblAlgn val="ctr"/>
        <c:lblOffset val="100"/>
        <c:noMultiLvlLbl val="0"/>
      </c:catAx>
      <c:valAx>
        <c:axId val="64341010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400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1-CA74-492C-9D8A-988C16AED7E3}"/>
              </c:ext>
            </c:extLst>
          </c:dPt>
          <c:dPt>
            <c:idx val="1"/>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3-CA74-492C-9D8A-988C16AED7E3}"/>
              </c:ext>
            </c:extLst>
          </c:dPt>
          <c:dPt>
            <c:idx val="2"/>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5-CA74-492C-9D8A-988C16AED7E3}"/>
              </c:ext>
            </c:extLst>
          </c:dPt>
          <c:dPt>
            <c:idx val="3"/>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7-CA74-492C-9D8A-988C16AED7E3}"/>
              </c:ext>
            </c:extLst>
          </c:dPt>
          <c:dPt>
            <c:idx val="4"/>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9-CA74-492C-9D8A-988C16AED7E3}"/>
              </c:ext>
            </c:extLst>
          </c:dPt>
          <c:dPt>
            <c:idx val="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B-CA74-492C-9D8A-988C16AED7E3}"/>
              </c:ext>
            </c:extLst>
          </c:dPt>
          <c:dPt>
            <c:idx val="6"/>
            <c:invertIfNegative val="0"/>
            <c:bubble3D val="0"/>
            <c:spPr>
              <a:solidFill>
                <a:srgbClr val="ED7D31"/>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D-CA74-492C-9D8A-988C16AED7E3}"/>
              </c:ext>
            </c:extLst>
          </c:dPt>
          <c:dPt>
            <c:idx val="1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F-CA74-492C-9D8A-988C16AED7E3}"/>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Week!$B$35:$BP$35</c:f>
              <c:numCache>
                <c:formatCode>d\-mmm</c:formatCode>
                <c:ptCount val="67"/>
                <c:pt idx="0">
                  <c:v>45803</c:v>
                </c:pt>
                <c:pt idx="1">
                  <c:v>45804</c:v>
                </c:pt>
                <c:pt idx="2">
                  <c:v>45805</c:v>
                </c:pt>
                <c:pt idx="3">
                  <c:v>45806</c:v>
                </c:pt>
                <c:pt idx="4">
                  <c:v>45807</c:v>
                </c:pt>
                <c:pt idx="5">
                  <c:v>45808</c:v>
                </c:pt>
                <c:pt idx="6">
                  <c:v>45809</c:v>
                </c:pt>
                <c:pt idx="7">
                  <c:v>45810</c:v>
                </c:pt>
                <c:pt idx="8">
                  <c:v>45811</c:v>
                </c:pt>
                <c:pt idx="9">
                  <c:v>45812</c:v>
                </c:pt>
                <c:pt idx="10">
                  <c:v>45813</c:v>
                </c:pt>
                <c:pt idx="11">
                  <c:v>45814</c:v>
                </c:pt>
                <c:pt idx="12">
                  <c:v>45815</c:v>
                </c:pt>
                <c:pt idx="13">
                  <c:v>45816</c:v>
                </c:pt>
                <c:pt idx="14">
                  <c:v>45817</c:v>
                </c:pt>
                <c:pt idx="15">
                  <c:v>45818</c:v>
                </c:pt>
                <c:pt idx="16">
                  <c:v>45819</c:v>
                </c:pt>
                <c:pt idx="17">
                  <c:v>45820</c:v>
                </c:pt>
                <c:pt idx="18">
                  <c:v>45821</c:v>
                </c:pt>
                <c:pt idx="19">
                  <c:v>45822</c:v>
                </c:pt>
                <c:pt idx="20">
                  <c:v>45823</c:v>
                </c:pt>
                <c:pt idx="21">
                  <c:v>45824</c:v>
                </c:pt>
                <c:pt idx="22">
                  <c:v>45825</c:v>
                </c:pt>
                <c:pt idx="23">
                  <c:v>45826</c:v>
                </c:pt>
                <c:pt idx="24">
                  <c:v>45827</c:v>
                </c:pt>
                <c:pt idx="25">
                  <c:v>45828</c:v>
                </c:pt>
                <c:pt idx="26">
                  <c:v>45829</c:v>
                </c:pt>
                <c:pt idx="27">
                  <c:v>45830</c:v>
                </c:pt>
                <c:pt idx="28">
                  <c:v>45831</c:v>
                </c:pt>
                <c:pt idx="29">
                  <c:v>45832</c:v>
                </c:pt>
                <c:pt idx="30">
                  <c:v>45833</c:v>
                </c:pt>
                <c:pt idx="31">
                  <c:v>45834</c:v>
                </c:pt>
                <c:pt idx="32">
                  <c:v>45835</c:v>
                </c:pt>
                <c:pt idx="33">
                  <c:v>45836</c:v>
                </c:pt>
                <c:pt idx="34">
                  <c:v>45837</c:v>
                </c:pt>
                <c:pt idx="35">
                  <c:v>45838</c:v>
                </c:pt>
                <c:pt idx="36">
                  <c:v>45839</c:v>
                </c:pt>
                <c:pt idx="37">
                  <c:v>45840</c:v>
                </c:pt>
                <c:pt idx="38">
                  <c:v>45841</c:v>
                </c:pt>
                <c:pt idx="39">
                  <c:v>45842</c:v>
                </c:pt>
                <c:pt idx="40">
                  <c:v>45843</c:v>
                </c:pt>
                <c:pt idx="41">
                  <c:v>45844</c:v>
                </c:pt>
                <c:pt idx="42">
                  <c:v>45845</c:v>
                </c:pt>
                <c:pt idx="43">
                  <c:v>45846</c:v>
                </c:pt>
                <c:pt idx="44">
                  <c:v>45847</c:v>
                </c:pt>
                <c:pt idx="45">
                  <c:v>45848</c:v>
                </c:pt>
                <c:pt idx="46">
                  <c:v>45849</c:v>
                </c:pt>
                <c:pt idx="47">
                  <c:v>45850</c:v>
                </c:pt>
                <c:pt idx="48">
                  <c:v>45851</c:v>
                </c:pt>
                <c:pt idx="49">
                  <c:v>45852</c:v>
                </c:pt>
                <c:pt idx="50">
                  <c:v>45853</c:v>
                </c:pt>
                <c:pt idx="51">
                  <c:v>45854</c:v>
                </c:pt>
                <c:pt idx="52">
                  <c:v>45855</c:v>
                </c:pt>
                <c:pt idx="53">
                  <c:v>45856</c:v>
                </c:pt>
                <c:pt idx="54">
                  <c:v>45857</c:v>
                </c:pt>
                <c:pt idx="55">
                  <c:v>45858</c:v>
                </c:pt>
                <c:pt idx="56">
                  <c:v>45859</c:v>
                </c:pt>
                <c:pt idx="57">
                  <c:v>45860</c:v>
                </c:pt>
                <c:pt idx="58">
                  <c:v>45861</c:v>
                </c:pt>
                <c:pt idx="59">
                  <c:v>45862</c:v>
                </c:pt>
                <c:pt idx="60">
                  <c:v>45863</c:v>
                </c:pt>
                <c:pt idx="61">
                  <c:v>45864</c:v>
                </c:pt>
                <c:pt idx="62">
                  <c:v>45865</c:v>
                </c:pt>
                <c:pt idx="63">
                  <c:v>45866</c:v>
                </c:pt>
                <c:pt idx="64">
                  <c:v>45867</c:v>
                </c:pt>
                <c:pt idx="65">
                  <c:v>45868</c:v>
                </c:pt>
                <c:pt idx="66">
                  <c:v>45869</c:v>
                </c:pt>
              </c:numCache>
            </c:numRef>
          </c:cat>
          <c:val>
            <c:numRef>
              <c:f>Week!$B$36:$BP$36</c:f>
              <c:numCache>
                <c:formatCode>General</c:formatCode>
                <c:ptCount val="67"/>
                <c:pt idx="0">
                  <c:v>432</c:v>
                </c:pt>
                <c:pt idx="1">
                  <c:v>413</c:v>
                </c:pt>
                <c:pt idx="2">
                  <c:v>425</c:v>
                </c:pt>
                <c:pt idx="3">
                  <c:v>430</c:v>
                </c:pt>
                <c:pt idx="4">
                  <c:v>449</c:v>
                </c:pt>
                <c:pt idx="5">
                  <c:v>444</c:v>
                </c:pt>
                <c:pt idx="6">
                  <c:v>481</c:v>
                </c:pt>
                <c:pt idx="7">
                  <c:v>464</c:v>
                </c:pt>
                <c:pt idx="8">
                  <c:v>444</c:v>
                </c:pt>
                <c:pt idx="9">
                  <c:v>466</c:v>
                </c:pt>
                <c:pt idx="10">
                  <c:v>482</c:v>
                </c:pt>
                <c:pt idx="11">
                  <c:v>492</c:v>
                </c:pt>
                <c:pt idx="12">
                  <c:v>486</c:v>
                </c:pt>
                <c:pt idx="13">
                  <c:v>494</c:v>
                </c:pt>
                <c:pt idx="14">
                  <c:v>483</c:v>
                </c:pt>
                <c:pt idx="15">
                  <c:v>479</c:v>
                </c:pt>
                <c:pt idx="16">
                  <c:v>484</c:v>
                </c:pt>
                <c:pt idx="17">
                  <c:v>475</c:v>
                </c:pt>
                <c:pt idx="18">
                  <c:v>485</c:v>
                </c:pt>
                <c:pt idx="19">
                  <c:v>485</c:v>
                </c:pt>
                <c:pt idx="20">
                  <c:v>488</c:v>
                </c:pt>
                <c:pt idx="21">
                  <c:v>486</c:v>
                </c:pt>
                <c:pt idx="22">
                  <c:v>480</c:v>
                </c:pt>
                <c:pt idx="23">
                  <c:v>482</c:v>
                </c:pt>
                <c:pt idx="24">
                  <c:v>487</c:v>
                </c:pt>
                <c:pt idx="25">
                  <c:v>498</c:v>
                </c:pt>
                <c:pt idx="26">
                  <c:v>503</c:v>
                </c:pt>
                <c:pt idx="27">
                  <c:v>510</c:v>
                </c:pt>
                <c:pt idx="28">
                  <c:v>504</c:v>
                </c:pt>
                <c:pt idx="29">
                  <c:v>485</c:v>
                </c:pt>
                <c:pt idx="30">
                  <c:v>506</c:v>
                </c:pt>
                <c:pt idx="31">
                  <c:v>508</c:v>
                </c:pt>
                <c:pt idx="32">
                  <c:v>517</c:v>
                </c:pt>
                <c:pt idx="33">
                  <c:v>509</c:v>
                </c:pt>
                <c:pt idx="34">
                  <c:v>523</c:v>
                </c:pt>
                <c:pt idx="35">
                  <c:v>517</c:v>
                </c:pt>
                <c:pt idx="36">
                  <c:v>524</c:v>
                </c:pt>
                <c:pt idx="37">
                  <c:v>520</c:v>
                </c:pt>
                <c:pt idx="38">
                  <c:v>521</c:v>
                </c:pt>
                <c:pt idx="39">
                  <c:v>544</c:v>
                </c:pt>
                <c:pt idx="40">
                  <c:v>544</c:v>
                </c:pt>
                <c:pt idx="41">
                  <c:v>548</c:v>
                </c:pt>
                <c:pt idx="42">
                  <c:v>533</c:v>
                </c:pt>
                <c:pt idx="43">
                  <c:v>530</c:v>
                </c:pt>
                <c:pt idx="44">
                  <c:v>537</c:v>
                </c:pt>
                <c:pt idx="45">
                  <c:v>534</c:v>
                </c:pt>
                <c:pt idx="46">
                  <c:v>545</c:v>
                </c:pt>
                <c:pt idx="47">
                  <c:v>540</c:v>
                </c:pt>
                <c:pt idx="48">
                  <c:v>552</c:v>
                </c:pt>
                <c:pt idx="49">
                  <c:v>533</c:v>
                </c:pt>
                <c:pt idx="50">
                  <c:v>516</c:v>
                </c:pt>
                <c:pt idx="51">
                  <c:v>527</c:v>
                </c:pt>
                <c:pt idx="52">
                  <c:v>533</c:v>
                </c:pt>
                <c:pt idx="53">
                  <c:v>543</c:v>
                </c:pt>
                <c:pt idx="54">
                  <c:v>540</c:v>
                </c:pt>
                <c:pt idx="55">
                  <c:v>548</c:v>
                </c:pt>
                <c:pt idx="56">
                  <c:v>531</c:v>
                </c:pt>
                <c:pt idx="57">
                  <c:v>523</c:v>
                </c:pt>
                <c:pt idx="58">
                  <c:v>534</c:v>
                </c:pt>
                <c:pt idx="59">
                  <c:v>534</c:v>
                </c:pt>
                <c:pt idx="60">
                  <c:v>544</c:v>
                </c:pt>
                <c:pt idx="61">
                  <c:v>540</c:v>
                </c:pt>
                <c:pt idx="62">
                  <c:v>546</c:v>
                </c:pt>
                <c:pt idx="63">
                  <c:v>532</c:v>
                </c:pt>
                <c:pt idx="64">
                  <c:v>527</c:v>
                </c:pt>
                <c:pt idx="65">
                  <c:v>535</c:v>
                </c:pt>
                <c:pt idx="66">
                  <c:v>535</c:v>
                </c:pt>
              </c:numCache>
            </c:numRef>
          </c:val>
          <c:extLst xmlns:c16r2="http://schemas.microsoft.com/office/drawing/2015/06/chart">
            <c:ext xmlns:c16="http://schemas.microsoft.com/office/drawing/2014/chart" uri="{C3380CC4-5D6E-409C-BE32-E72D297353CC}">
              <c16:uniqueId val="{00000010-CA74-492C-9D8A-988C16AED7E3}"/>
            </c:ext>
          </c:extLst>
        </c:ser>
        <c:dLbls>
          <c:showLegendKey val="0"/>
          <c:showVal val="1"/>
          <c:showCatName val="0"/>
          <c:showSerName val="0"/>
          <c:showPercent val="0"/>
          <c:showBubbleSize val="0"/>
        </c:dLbls>
        <c:gapWidth val="75"/>
        <c:axId val="643399520"/>
        <c:axId val="643409320"/>
      </c:barChart>
      <c:dateAx>
        <c:axId val="643399520"/>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409320"/>
        <c:crosses val="autoZero"/>
        <c:auto val="1"/>
        <c:lblOffset val="100"/>
        <c:baseTimeUnit val="days"/>
      </c:dateAx>
      <c:valAx>
        <c:axId val="643409320"/>
        <c:scaling>
          <c:orientation val="minMax"/>
          <c:max val="56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43399520"/>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01-Jun-25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47200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758300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2562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50997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78653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2763928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B73323C-DF21-49BE-A89C-D45EDA8FEF01}"/>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3A3E02E0-C56A-1235-369A-2424B4F63E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DCBDDF29-DC35-138A-12C6-7893157AF9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AC22D819-C620-D97A-A726-315268F65DB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93347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2621061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2607446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A0720E9-0DB4-5D46-1796-D8C243C8DA8B}"/>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21B4200-7896-3846-5157-EFAF2C2C6F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0836876-6A0B-8613-1880-85974DBC97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2AFE5461-7FF1-598B-ACC3-508156CC34E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8572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5356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A0720E9-0DB4-5D46-1796-D8C243C8DA8B}"/>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21B4200-7896-3846-5157-EFAF2C2C6F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0836876-6A0B-8613-1880-85974DBC97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2AFE5461-7FF1-598B-ACC3-508156CC34E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47045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A0720E9-0DB4-5D46-1796-D8C243C8DA8B}"/>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21B4200-7896-3846-5157-EFAF2C2C6F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0836876-6A0B-8613-1880-85974DBC97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2AFE5461-7FF1-598B-ACC3-508156CC34E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316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EFB34ACA-E3A7-1FD3-E101-BA2BE5DF5D59}"/>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542F52AD-85CA-FFFC-037F-51318B5879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291FD83C-DF76-0073-DC41-DB3EA41744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AD0235EB-32E3-B9EA-2428-D22D57BA0A5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75135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EFB34ACA-E3A7-1FD3-E101-BA2BE5DF5D59}"/>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542F52AD-85CA-FFFC-037F-51318B5879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291FD83C-DF76-0073-DC41-DB3EA41744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AD0235EB-32E3-B9EA-2428-D22D57BA0A5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1576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D2E70FC-27AD-EF60-4972-3038A35B968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0D10600-CA8C-1AF2-25E3-DD9E7A6CA55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12C142C-AB51-5E5D-E784-FA81472BAEEA}"/>
              </a:ext>
            </a:extLst>
          </p:cNvPr>
          <p:cNvSpPr>
            <a:spLocks noGrp="1"/>
          </p:cNvSpPr>
          <p:nvPr>
            <p:ph type="body" idx="1"/>
          </p:nvPr>
        </p:nvSpPr>
        <p:spPr/>
        <p:txBody>
          <a:bodyPr/>
          <a:lstStyle/>
          <a:p>
            <a:endParaRPr lang="en-US" sz="1000" baseline="0" dirty="0">
              <a:solidFill>
                <a:srgbClr val="FF0000"/>
              </a:solidFill>
              <a:latin typeface="Aharoni" panose="02010803020104030203" pitchFamily="2" charset="-79"/>
              <a:cs typeface="Aharoni" panose="02010803020104030203" pitchFamily="2" charset="-79"/>
            </a:endParaRPr>
          </a:p>
        </p:txBody>
      </p:sp>
      <p:sp>
        <p:nvSpPr>
          <p:cNvPr id="4" name="Slide Number Placeholder 3">
            <a:extLst>
              <a:ext uri="{FF2B5EF4-FFF2-40B4-BE49-F238E27FC236}">
                <a16:creationId xmlns="" xmlns:a16="http://schemas.microsoft.com/office/drawing/2014/main" id="{55623ED9-F5F4-574A-EDB7-CAB54C71FBF7}"/>
              </a:ext>
            </a:extLst>
          </p:cNvPr>
          <p:cNvSpPr>
            <a:spLocks noGrp="1"/>
          </p:cNvSpPr>
          <p:nvPr>
            <p:ph type="sldNum" sz="quarter" idx="10"/>
          </p:nvPr>
        </p:nvSpPr>
        <p:spPr/>
        <p:txBody>
          <a:bodyPr/>
          <a:lstStyle/>
          <a:p>
            <a:fld id="{D27FAC9D-6C4D-45A1-835A-6091318B370B}" type="slidenum">
              <a:rPr lang="en-US" smtClean="0"/>
              <a:pPr/>
              <a:t>19</a:t>
            </a:fld>
            <a:endParaRPr lang="en-US" dirty="0"/>
          </a:p>
        </p:txBody>
      </p:sp>
    </p:spTree>
    <p:extLst>
      <p:ext uri="{BB962C8B-B14F-4D97-AF65-F5344CB8AC3E}">
        <p14:creationId xmlns:p14="http://schemas.microsoft.com/office/powerpoint/2010/main" val="350663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3479924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2917561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E4C37AC-0831-38E1-534C-323C23BC196F}"/>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1F628CB4-9CD3-AD95-8A1A-6D97796249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F082B314-BEB5-F8A1-7D77-458846CA76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15BACCCF-83CF-3229-D1AC-C582F2A05B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07682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E4C37AC-0831-38E1-534C-323C23BC196F}"/>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1F628CB4-9CD3-AD95-8A1A-6D97796249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F082B314-BEB5-F8A1-7D77-458846CA76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15BACCCF-83CF-3229-D1AC-C582F2A05B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8384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E4C37AC-0831-38E1-534C-323C23BC196F}"/>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1F628CB4-9CD3-AD95-8A1A-6D97796249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F082B314-BEB5-F8A1-7D77-458846CA76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15BACCCF-83CF-3229-D1AC-C582F2A05B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54983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357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81420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4022391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1990159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28025538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3827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32</a:t>
            </a:fld>
            <a:endParaRPr/>
          </a:p>
        </p:txBody>
      </p:sp>
    </p:spTree>
    <p:extLst>
      <p:ext uri="{BB962C8B-B14F-4D97-AF65-F5344CB8AC3E}">
        <p14:creationId xmlns:p14="http://schemas.microsoft.com/office/powerpoint/2010/main" val="1830928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33</a:t>
            </a:fld>
            <a:endParaRPr/>
          </a:p>
        </p:txBody>
      </p:sp>
    </p:spTree>
    <p:extLst>
      <p:ext uri="{BB962C8B-B14F-4D97-AF65-F5344CB8AC3E}">
        <p14:creationId xmlns:p14="http://schemas.microsoft.com/office/powerpoint/2010/main" val="9915483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39</a:t>
            </a:fld>
            <a:endParaRPr lang="en-US"/>
          </a:p>
        </p:txBody>
      </p:sp>
    </p:spTree>
    <p:extLst>
      <p:ext uri="{BB962C8B-B14F-4D97-AF65-F5344CB8AC3E}">
        <p14:creationId xmlns:p14="http://schemas.microsoft.com/office/powerpoint/2010/main" val="1790477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41</a:t>
            </a:fld>
            <a:endParaRPr/>
          </a:p>
        </p:txBody>
      </p:sp>
    </p:spTree>
    <p:extLst>
      <p:ext uri="{BB962C8B-B14F-4D97-AF65-F5344CB8AC3E}">
        <p14:creationId xmlns:p14="http://schemas.microsoft.com/office/powerpoint/2010/main" val="21158166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42</a:t>
            </a:fld>
            <a:endParaRPr/>
          </a:p>
        </p:txBody>
      </p:sp>
    </p:spTree>
    <p:extLst>
      <p:ext uri="{BB962C8B-B14F-4D97-AF65-F5344CB8AC3E}">
        <p14:creationId xmlns:p14="http://schemas.microsoft.com/office/powerpoint/2010/main" val="4589922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43</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530252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44</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20210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46</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13986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64738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5951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50</a:t>
            </a:fld>
            <a:endParaRPr/>
          </a:p>
        </p:txBody>
      </p:sp>
    </p:spTree>
    <p:extLst>
      <p:ext uri="{BB962C8B-B14F-4D97-AF65-F5344CB8AC3E}">
        <p14:creationId xmlns:p14="http://schemas.microsoft.com/office/powerpoint/2010/main" val="29327224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51</a:t>
            </a:fld>
            <a:endParaRPr/>
          </a:p>
        </p:txBody>
      </p:sp>
    </p:spTree>
    <p:extLst>
      <p:ext uri="{BB962C8B-B14F-4D97-AF65-F5344CB8AC3E}">
        <p14:creationId xmlns:p14="http://schemas.microsoft.com/office/powerpoint/2010/main" val="36108655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52</a:t>
            </a:fld>
            <a:endParaRPr sz="1200">
              <a:latin typeface="Calibri"/>
              <a:ea typeface="Calibri"/>
              <a:cs typeface="Calibri"/>
              <a:sym typeface="Calibri"/>
            </a:endParaRPr>
          </a:p>
        </p:txBody>
      </p:sp>
    </p:spTree>
    <p:extLst>
      <p:ext uri="{BB962C8B-B14F-4D97-AF65-F5344CB8AC3E}">
        <p14:creationId xmlns:p14="http://schemas.microsoft.com/office/powerpoint/2010/main" val="24737006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f1b08c610_0_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5f1b08c610_0_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5f1b08c610_0_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53</a:t>
            </a:fld>
            <a:endParaRPr sz="1200">
              <a:latin typeface="Calibri"/>
              <a:ea typeface="Calibri"/>
              <a:cs typeface="Calibri"/>
              <a:sym typeface="Calibri"/>
            </a:endParaRPr>
          </a:p>
        </p:txBody>
      </p:sp>
    </p:spTree>
    <p:extLst>
      <p:ext uri="{BB962C8B-B14F-4D97-AF65-F5344CB8AC3E}">
        <p14:creationId xmlns:p14="http://schemas.microsoft.com/office/powerpoint/2010/main" val="39221064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54</a:t>
            </a:fld>
            <a:endParaRPr sz="1200">
              <a:latin typeface="Calibri"/>
              <a:ea typeface="Calibri"/>
              <a:cs typeface="Calibri"/>
              <a:sym typeface="Calibri"/>
            </a:endParaRPr>
          </a:p>
        </p:txBody>
      </p:sp>
    </p:spTree>
    <p:extLst>
      <p:ext uri="{BB962C8B-B14F-4D97-AF65-F5344CB8AC3E}">
        <p14:creationId xmlns:p14="http://schemas.microsoft.com/office/powerpoint/2010/main" val="10701700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55</a:t>
            </a:fld>
            <a:endParaRPr/>
          </a:p>
        </p:txBody>
      </p:sp>
    </p:spTree>
    <p:extLst>
      <p:ext uri="{BB962C8B-B14F-4D97-AF65-F5344CB8AC3E}">
        <p14:creationId xmlns:p14="http://schemas.microsoft.com/office/powerpoint/2010/main" val="23423872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56</a:t>
            </a:fld>
            <a:endParaRPr sz="1200">
              <a:latin typeface="Calibri"/>
              <a:ea typeface="Calibri"/>
              <a:cs typeface="Calibri"/>
              <a:sym typeface="Calibri"/>
            </a:endParaRPr>
          </a:p>
        </p:txBody>
      </p:sp>
    </p:spTree>
    <p:extLst>
      <p:ext uri="{BB962C8B-B14F-4D97-AF65-F5344CB8AC3E}">
        <p14:creationId xmlns:p14="http://schemas.microsoft.com/office/powerpoint/2010/main" val="10415360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57</a:t>
            </a:fld>
            <a:endParaRPr/>
          </a:p>
        </p:txBody>
      </p:sp>
    </p:spTree>
    <p:extLst>
      <p:ext uri="{BB962C8B-B14F-4D97-AF65-F5344CB8AC3E}">
        <p14:creationId xmlns:p14="http://schemas.microsoft.com/office/powerpoint/2010/main" val="18477690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58</a:t>
            </a:fld>
            <a:endParaRPr/>
          </a:p>
        </p:txBody>
      </p:sp>
    </p:spTree>
    <p:extLst>
      <p:ext uri="{BB962C8B-B14F-4D97-AF65-F5344CB8AC3E}">
        <p14:creationId xmlns:p14="http://schemas.microsoft.com/office/powerpoint/2010/main" val="23032833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59</a:t>
            </a:fld>
            <a:endParaRPr sz="1200">
              <a:latin typeface="Calibri"/>
              <a:ea typeface="Calibri"/>
              <a:cs typeface="Calibri"/>
              <a:sym typeface="Calibri"/>
            </a:endParaRPr>
          </a:p>
        </p:txBody>
      </p:sp>
    </p:spTree>
    <p:extLst>
      <p:ext uri="{BB962C8B-B14F-4D97-AF65-F5344CB8AC3E}">
        <p14:creationId xmlns:p14="http://schemas.microsoft.com/office/powerpoint/2010/main" val="27691418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60</a:t>
            </a:fld>
            <a:endParaRPr/>
          </a:p>
        </p:txBody>
      </p:sp>
    </p:spTree>
    <p:extLst>
      <p:ext uri="{BB962C8B-B14F-4D97-AF65-F5344CB8AC3E}">
        <p14:creationId xmlns:p14="http://schemas.microsoft.com/office/powerpoint/2010/main" val="11496660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61</a:t>
            </a:fld>
            <a:endParaRPr sz="1200">
              <a:latin typeface="Calibri"/>
              <a:ea typeface="Calibri"/>
              <a:cs typeface="Calibri"/>
              <a:sym typeface="Calibri"/>
            </a:endParaRPr>
          </a:p>
        </p:txBody>
      </p:sp>
    </p:spTree>
    <p:extLst>
      <p:ext uri="{BB962C8B-B14F-4D97-AF65-F5344CB8AC3E}">
        <p14:creationId xmlns:p14="http://schemas.microsoft.com/office/powerpoint/2010/main" val="39566029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62</a:t>
            </a:fld>
            <a:endParaRPr sz="1200">
              <a:latin typeface="Calibri"/>
              <a:ea typeface="Calibri"/>
              <a:cs typeface="Calibri"/>
              <a:sym typeface="Calibri"/>
            </a:endParaRPr>
          </a:p>
        </p:txBody>
      </p:sp>
    </p:spTree>
    <p:extLst>
      <p:ext uri="{BB962C8B-B14F-4D97-AF65-F5344CB8AC3E}">
        <p14:creationId xmlns:p14="http://schemas.microsoft.com/office/powerpoint/2010/main" val="31219503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63</a:t>
            </a:fld>
            <a:endParaRPr sz="1200">
              <a:latin typeface="Calibri"/>
              <a:ea typeface="Calibri"/>
              <a:cs typeface="Calibri"/>
              <a:sym typeface="Calibri"/>
            </a:endParaRPr>
          </a:p>
        </p:txBody>
      </p:sp>
    </p:spTree>
    <p:extLst>
      <p:ext uri="{BB962C8B-B14F-4D97-AF65-F5344CB8AC3E}">
        <p14:creationId xmlns:p14="http://schemas.microsoft.com/office/powerpoint/2010/main" val="121919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64</a:t>
            </a:fld>
            <a:endParaRPr sz="1200">
              <a:latin typeface="Calibri"/>
              <a:ea typeface="Calibri"/>
              <a:cs typeface="Calibri"/>
              <a:sym typeface="Calibri"/>
            </a:endParaRPr>
          </a:p>
        </p:txBody>
      </p:sp>
    </p:spTree>
    <p:extLst>
      <p:ext uri="{BB962C8B-B14F-4D97-AF65-F5344CB8AC3E}">
        <p14:creationId xmlns:p14="http://schemas.microsoft.com/office/powerpoint/2010/main" val="20098602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65</a:t>
            </a:fld>
            <a:endParaRPr sz="1200">
              <a:latin typeface="Calibri"/>
              <a:ea typeface="Calibri"/>
              <a:cs typeface="Calibri"/>
              <a:sym typeface="Calibri"/>
            </a:endParaRPr>
          </a:p>
        </p:txBody>
      </p:sp>
    </p:spTree>
    <p:extLst>
      <p:ext uri="{BB962C8B-B14F-4D97-AF65-F5344CB8AC3E}">
        <p14:creationId xmlns:p14="http://schemas.microsoft.com/office/powerpoint/2010/main" val="36173818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66</a:t>
            </a:fld>
            <a:endParaRPr sz="1200">
              <a:latin typeface="Calibri"/>
              <a:ea typeface="Calibri"/>
              <a:cs typeface="Calibri"/>
              <a:sym typeface="Calibri"/>
            </a:endParaRPr>
          </a:p>
        </p:txBody>
      </p:sp>
    </p:spTree>
    <p:extLst>
      <p:ext uri="{BB962C8B-B14F-4D97-AF65-F5344CB8AC3E}">
        <p14:creationId xmlns:p14="http://schemas.microsoft.com/office/powerpoint/2010/main" val="35121445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67</a:t>
            </a:fld>
            <a:endParaRPr sz="1200">
              <a:latin typeface="Calibri"/>
              <a:ea typeface="Calibri"/>
              <a:cs typeface="Calibri"/>
              <a:sym typeface="Calibri"/>
            </a:endParaRPr>
          </a:p>
        </p:txBody>
      </p:sp>
    </p:spTree>
    <p:extLst>
      <p:ext uri="{BB962C8B-B14F-4D97-AF65-F5344CB8AC3E}">
        <p14:creationId xmlns:p14="http://schemas.microsoft.com/office/powerpoint/2010/main" val="17240126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68</a:t>
            </a:fld>
            <a:endParaRPr sz="1200">
              <a:latin typeface="Calibri"/>
              <a:ea typeface="Calibri"/>
              <a:cs typeface="Calibri"/>
              <a:sym typeface="Calibri"/>
            </a:endParaRPr>
          </a:p>
        </p:txBody>
      </p:sp>
    </p:spTree>
    <p:extLst>
      <p:ext uri="{BB962C8B-B14F-4D97-AF65-F5344CB8AC3E}">
        <p14:creationId xmlns:p14="http://schemas.microsoft.com/office/powerpoint/2010/main" val="28927428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69</a:t>
            </a:fld>
            <a:endParaRPr sz="1200">
              <a:latin typeface="Calibri"/>
              <a:ea typeface="Calibri"/>
              <a:cs typeface="Calibri"/>
              <a:sym typeface="Calibri"/>
            </a:endParaRPr>
          </a:p>
        </p:txBody>
      </p:sp>
    </p:spTree>
    <p:extLst>
      <p:ext uri="{BB962C8B-B14F-4D97-AF65-F5344CB8AC3E}">
        <p14:creationId xmlns:p14="http://schemas.microsoft.com/office/powerpoint/2010/main" val="5035671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70</a:t>
            </a:fld>
            <a:endParaRPr sz="1200">
              <a:latin typeface="Calibri"/>
              <a:ea typeface="Calibri"/>
              <a:cs typeface="Calibri"/>
              <a:sym typeface="Calibri"/>
            </a:endParaRPr>
          </a:p>
        </p:txBody>
      </p:sp>
    </p:spTree>
    <p:extLst>
      <p:ext uri="{BB962C8B-B14F-4D97-AF65-F5344CB8AC3E}">
        <p14:creationId xmlns:p14="http://schemas.microsoft.com/office/powerpoint/2010/main" val="4024536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x-none"/>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x-none" sz="1200" smtClean="0">
                <a:solidFill>
                  <a:schemeClr val="bg1"/>
                </a:solidFill>
                <a:latin typeface="Exo"/>
              </a:rPr>
              <a:t>‹#›</a:t>
            </a:fld>
            <a:endParaRPr lang="x-none" sz="1200" dirty="0">
              <a:solidFill>
                <a:schemeClr val="bg1"/>
              </a:solidFill>
              <a:latin typeface="Exo"/>
            </a:endParaRPr>
          </a:p>
        </p:txBody>
      </p:sp>
      <p:pic>
        <p:nvPicPr>
          <p:cNvPr id="11" name="Picture 10">
            <a:extLst>
              <a:ext uri="{FF2B5EF4-FFF2-40B4-BE49-F238E27FC236}">
                <a16:creationId xmlns=""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2080462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fld id="{00000000-1234-1234-1234-123412341234}" type="slidenum">
              <a:rPr lang="en-US"/>
              <a:pPr/>
              <a:t>‹#›</a:t>
            </a:fld>
            <a:endParaRPr/>
          </a:p>
        </p:txBody>
      </p:sp>
    </p:spTree>
    <p:extLst>
      <p:ext uri="{BB962C8B-B14F-4D97-AF65-F5344CB8AC3E}">
        <p14:creationId xmlns:p14="http://schemas.microsoft.com/office/powerpoint/2010/main" val="2210629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25247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51964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181156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973151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715464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679947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1319688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020515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075197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3694972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2054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01-Jun-25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3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kern="0"/>
              <a:pPr/>
              <a:t>‹#›</a:t>
            </a:fld>
            <a:endParaRPr kern="0"/>
          </a:p>
        </p:txBody>
      </p:sp>
    </p:spTree>
    <p:extLst>
      <p:ext uri="{BB962C8B-B14F-4D97-AF65-F5344CB8AC3E}">
        <p14:creationId xmlns:p14="http://schemas.microsoft.com/office/powerpoint/2010/main" val="1844831515"/>
      </p:ext>
    </p:extLst>
  </p:cSld>
  <p:clrMap bg1="lt1" tx1="dk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tags" Target="../tags/tag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chart" Target="../charts/char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22</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26/05/2025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01</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06</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lc="http://schemas.openxmlformats.org/drawingml/2006/lockedCanvas" xmlns:a16="http://schemas.microsoft.com/office/drawing/2014/main" xmlns="" xmlns:xdr="http://schemas.openxmlformats.org/drawingml/2006/spreadsheetDrawing" id="{8347F7AA-5E77-475C-B68E-49E6EF5DA0A7}"/>
              </a:ext>
            </a:extLst>
          </p:cNvPr>
          <p:cNvGraphicFramePr>
            <a:graphicFrameLocks/>
          </p:cNvGraphicFramePr>
          <p:nvPr>
            <p:extLst>
              <p:ext uri="{D42A27DB-BD31-4B8C-83A1-F6EECF244321}">
                <p14:modId xmlns:p14="http://schemas.microsoft.com/office/powerpoint/2010/main" val="647759625"/>
              </p:ext>
            </p:extLst>
          </p:nvPr>
        </p:nvGraphicFramePr>
        <p:xfrm>
          <a:off x="6335550" y="3625537"/>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lc="http://schemas.openxmlformats.org/drawingml/2006/lockedCanvas" xmlns:a16="http://schemas.microsoft.com/office/drawing/2014/main" xmlns="" xmlns:xdr="http://schemas.openxmlformats.org/drawingml/2006/spreadsheetDrawing" id="{00000000-0008-0000-0900-00000F000000}"/>
              </a:ext>
            </a:extLst>
          </p:cNvPr>
          <p:cNvGraphicFramePr>
            <a:graphicFrameLocks/>
          </p:cNvGraphicFramePr>
          <p:nvPr>
            <p:extLst>
              <p:ext uri="{D42A27DB-BD31-4B8C-83A1-F6EECF244321}">
                <p14:modId xmlns:p14="http://schemas.microsoft.com/office/powerpoint/2010/main" val="2190126353"/>
              </p:ext>
            </p:extLst>
          </p:nvPr>
        </p:nvGraphicFramePr>
        <p:xfrm>
          <a:off x="1676400" y="914400"/>
          <a:ext cx="411670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lc="http://schemas.openxmlformats.org/drawingml/2006/lockedCanvas" xmlns:a16="http://schemas.microsoft.com/office/drawing/2014/main" xmlns="" xmlns:xdr="http://schemas.openxmlformats.org/drawingml/2006/spreadsheetDrawing" id="{00000000-0008-0000-0900-000004000000}"/>
              </a:ext>
            </a:extLst>
          </p:cNvPr>
          <p:cNvGraphicFramePr>
            <a:graphicFrameLocks/>
          </p:cNvGraphicFramePr>
          <p:nvPr>
            <p:extLst>
              <p:ext uri="{D42A27DB-BD31-4B8C-83A1-F6EECF244321}">
                <p14:modId xmlns:p14="http://schemas.microsoft.com/office/powerpoint/2010/main" val="3495989931"/>
              </p:ext>
            </p:extLst>
          </p:nvPr>
        </p:nvGraphicFramePr>
        <p:xfrm>
          <a:off x="6324600" y="914400"/>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lc="http://schemas.openxmlformats.org/drawingml/2006/lockedCanvas" xmlns:a16="http://schemas.microsoft.com/office/drawing/2014/main" xmlns="" xmlns:xdr="http://schemas.openxmlformats.org/drawingml/2006/spreadsheetDrawing" id="{00000000-0008-0000-0900-000005000000}"/>
              </a:ext>
            </a:extLst>
          </p:cNvPr>
          <p:cNvGraphicFramePr>
            <a:graphicFrameLocks/>
          </p:cNvGraphicFramePr>
          <p:nvPr>
            <p:extLst>
              <p:ext uri="{D42A27DB-BD31-4B8C-83A1-F6EECF244321}">
                <p14:modId xmlns:p14="http://schemas.microsoft.com/office/powerpoint/2010/main" val="17463303"/>
              </p:ext>
            </p:extLst>
          </p:nvPr>
        </p:nvGraphicFramePr>
        <p:xfrm>
          <a:off x="1676400" y="3657600"/>
          <a:ext cx="4097655"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lc="http://schemas.openxmlformats.org/drawingml/2006/lockedCanvas" xmlns:a16="http://schemas.microsoft.com/office/drawing/2014/main" xmlns="" xmlns:xdr="http://schemas.openxmlformats.org/drawingml/2006/spreadsheetDrawing" id="{00000000-0008-0000-0600-000004000000}"/>
              </a:ext>
            </a:extLst>
          </p:cNvPr>
          <p:cNvGraphicFramePr>
            <a:graphicFrameLocks/>
          </p:cNvGraphicFramePr>
          <p:nvPr>
            <p:extLst>
              <p:ext uri="{D42A27DB-BD31-4B8C-83A1-F6EECF244321}">
                <p14:modId xmlns:p14="http://schemas.microsoft.com/office/powerpoint/2010/main" val="2711851745"/>
              </p:ext>
            </p:extLst>
          </p:nvPr>
        </p:nvGraphicFramePr>
        <p:xfrm>
          <a:off x="1371600" y="914400"/>
          <a:ext cx="96202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lc="http://schemas.openxmlformats.org/drawingml/2006/lockedCanvas" xmlns:a16="http://schemas.microsoft.com/office/drawing/2014/main" xmlns="" xmlns:xdr="http://schemas.openxmlformats.org/drawingml/2006/spreadsheetDrawing" id="{00000000-0008-0000-0600-000005000000}"/>
              </a:ext>
            </a:extLst>
          </p:cNvPr>
          <p:cNvGraphicFramePr>
            <a:graphicFrameLocks/>
          </p:cNvGraphicFramePr>
          <p:nvPr>
            <p:extLst>
              <p:ext uri="{D42A27DB-BD31-4B8C-83A1-F6EECF244321}">
                <p14:modId xmlns:p14="http://schemas.microsoft.com/office/powerpoint/2010/main" val="741029189"/>
              </p:ext>
            </p:extLst>
          </p:nvPr>
        </p:nvGraphicFramePr>
        <p:xfrm>
          <a:off x="1369840" y="3830955"/>
          <a:ext cx="9609945" cy="2743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 xmlns:a16="http://schemas.microsoft.com/office/drawing/2014/main" id="{B2C9F51D-11B1-05AF-482E-4EB7458CBE88}"/>
              </a:ext>
            </a:extLst>
          </p:cNvPr>
          <p:cNvGraphicFramePr>
            <a:graphicFrameLocks noGrp="1"/>
          </p:cNvGraphicFramePr>
          <p:nvPr>
            <p:extLst/>
          </p:nvPr>
        </p:nvGraphicFramePr>
        <p:xfrm>
          <a:off x="333918" y="1317213"/>
          <a:ext cx="11496959" cy="4983543"/>
        </p:xfrm>
        <a:graphic>
          <a:graphicData uri="http://schemas.openxmlformats.org/drawingml/2006/table">
            <a:tbl>
              <a:tblPr/>
              <a:tblGrid>
                <a:gridCol w="447960">
                  <a:extLst>
                    <a:ext uri="{9D8B030D-6E8A-4147-A177-3AD203B41FA5}">
                      <a16:colId xmlns="" xmlns:a16="http://schemas.microsoft.com/office/drawing/2014/main" val="3177334110"/>
                    </a:ext>
                  </a:extLst>
                </a:gridCol>
                <a:gridCol w="361122">
                  <a:extLst>
                    <a:ext uri="{9D8B030D-6E8A-4147-A177-3AD203B41FA5}">
                      <a16:colId xmlns="" xmlns:a16="http://schemas.microsoft.com/office/drawing/2014/main" val="4176402646"/>
                    </a:ext>
                  </a:extLst>
                </a:gridCol>
                <a:gridCol w="629478">
                  <a:extLst>
                    <a:ext uri="{9D8B030D-6E8A-4147-A177-3AD203B41FA5}">
                      <a16:colId xmlns="" xmlns:a16="http://schemas.microsoft.com/office/drawing/2014/main" val="1997874898"/>
                    </a:ext>
                  </a:extLst>
                </a:gridCol>
                <a:gridCol w="609600">
                  <a:extLst>
                    <a:ext uri="{9D8B030D-6E8A-4147-A177-3AD203B41FA5}">
                      <a16:colId xmlns="" xmlns:a16="http://schemas.microsoft.com/office/drawing/2014/main" val="824987781"/>
                    </a:ext>
                  </a:extLst>
                </a:gridCol>
                <a:gridCol w="838200">
                  <a:extLst>
                    <a:ext uri="{9D8B030D-6E8A-4147-A177-3AD203B41FA5}">
                      <a16:colId xmlns="" xmlns:a16="http://schemas.microsoft.com/office/drawing/2014/main" val="1804810850"/>
                    </a:ext>
                  </a:extLst>
                </a:gridCol>
                <a:gridCol w="762000">
                  <a:extLst>
                    <a:ext uri="{9D8B030D-6E8A-4147-A177-3AD203B41FA5}">
                      <a16:colId xmlns="" xmlns:a16="http://schemas.microsoft.com/office/drawing/2014/main" val="4192528318"/>
                    </a:ext>
                  </a:extLst>
                </a:gridCol>
                <a:gridCol w="1524000">
                  <a:extLst>
                    <a:ext uri="{9D8B030D-6E8A-4147-A177-3AD203B41FA5}">
                      <a16:colId xmlns="" xmlns:a16="http://schemas.microsoft.com/office/drawing/2014/main" val="803048295"/>
                    </a:ext>
                  </a:extLst>
                </a:gridCol>
                <a:gridCol w="1808922">
                  <a:extLst>
                    <a:ext uri="{9D8B030D-6E8A-4147-A177-3AD203B41FA5}">
                      <a16:colId xmlns="" xmlns:a16="http://schemas.microsoft.com/office/drawing/2014/main" val="1895407870"/>
                    </a:ext>
                  </a:extLst>
                </a:gridCol>
                <a:gridCol w="762000">
                  <a:extLst>
                    <a:ext uri="{9D8B030D-6E8A-4147-A177-3AD203B41FA5}">
                      <a16:colId xmlns="" xmlns:a16="http://schemas.microsoft.com/office/drawing/2014/main" val="3943976445"/>
                    </a:ext>
                  </a:extLst>
                </a:gridCol>
                <a:gridCol w="3753677">
                  <a:extLst>
                    <a:ext uri="{9D8B030D-6E8A-4147-A177-3AD203B41FA5}">
                      <a16:colId xmlns="" xmlns:a16="http://schemas.microsoft.com/office/drawing/2014/main" val="3026404304"/>
                    </a:ext>
                  </a:extLst>
                </a:gridCol>
              </a:tblGrid>
              <a:tr h="115556">
                <a:tc>
                  <a:txBody>
                    <a:bodyPr/>
                    <a:lstStyle/>
                    <a:p>
                      <a:pPr algn="ctr" fontAlgn="ctr"/>
                      <a:r>
                        <a:rPr lang="en-US" sz="13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132619750"/>
                  </a:ext>
                </a:extLst>
              </a:tr>
              <a:tr h="1155560">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VN409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ICN-SGN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08:35 30/05/2025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dirty="0">
                          <a:solidFill>
                            <a:srgbClr val="000000"/>
                          </a:solidFill>
                          <a:effectLst/>
                          <a:latin typeface="Times New Roman" panose="02020603050405020304" pitchFamily="18" charset="0"/>
                          <a:cs typeface="Times New Roman" panose="02020603050405020304" pitchFamily="18" charset="0"/>
                        </a:rPr>
                        <a:t>AFTER ENG START, MESG ENG EEC MODE L/R </a:t>
                      </a: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CAPT </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REPORT: AFTER ENG START, MESG ENG EEC MODE L/R. A/C RETURN TO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TO</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GATE</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AT GATE, CRS CHECK FOUND NO MSG. TEST EEC L/R AND TAT PASS.</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RAISED ADD FOR EEC NORMAL MODE. A/C SERVICEABLE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300" b="0" i="0" u="none" strike="noStrike">
                          <a:solidFill>
                            <a:srgbClr val="000000"/>
                          </a:solidFill>
                          <a:effectLst/>
                          <a:latin typeface="Times New Roman" panose="02020603050405020304" pitchFamily="18" charset="0"/>
                          <a:cs typeface="Times New Roman" panose="02020603050405020304" pitchFamily="18" charset="0"/>
                        </a:rPr>
                        <a:t>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dirty="0" smtClean="0">
                          <a:solidFill>
                            <a:srgbClr val="000000"/>
                          </a:solidFill>
                          <a:effectLst/>
                          <a:latin typeface="+mn-lt"/>
                          <a:cs typeface="Times New Roman" panose="02020603050405020304" pitchFamily="18" charset="0"/>
                        </a:rPr>
                        <a:t>Chuyến VN408 có cảnh báo TAT do cảm biến TAT có dị vật bên trong, gây chế độ điều khiển động cơ của cả 2 động cơ hoạt động ở Alternate Mode. Tổ bay xác định refer MEL để tiếp tục khai thác. Sau đó hỏng hóc này đã được khắc phục. </a:t>
                      </a:r>
                    </a:p>
                    <a:p>
                      <a:pPr algn="l" fontAlgn="b"/>
                      <a:r>
                        <a:rPr lang="vi-VN" sz="1200" b="0" i="0" u="none" strike="noStrike" dirty="0" smtClean="0">
                          <a:solidFill>
                            <a:srgbClr val="000000"/>
                          </a:solidFill>
                          <a:effectLst/>
                          <a:latin typeface="+mn-lt"/>
                          <a:cs typeface="Times New Roman" panose="02020603050405020304" pitchFamily="18" charset="0"/>
                        </a:rPr>
                        <a:t>Theo Preflight procedure, tổ bay cần check và set lại EEC MODE về Normal. </a:t>
                      </a:r>
                    </a:p>
                    <a:p>
                      <a:pPr algn="l" fontAlgn="b"/>
                      <a:r>
                        <a:rPr lang="vi-VN" sz="1200" b="0" i="0" u="none" strike="noStrike" dirty="0" smtClean="0">
                          <a:solidFill>
                            <a:srgbClr val="000000"/>
                          </a:solidFill>
                          <a:effectLst/>
                          <a:latin typeface="+mn-lt"/>
                          <a:cs typeface="Times New Roman" panose="02020603050405020304" pitchFamily="18" charset="0"/>
                        </a:rPr>
                        <a:t>Nhận định ban đầu, Boeing cho rằng có khả năng xảy ra lỗi cấu hình (configuration error) trong quá trình chạy động cơ mặt đất, khi các công tắc EEC MODE trên bảng P5 đang để ở vị trí ALTN. Đây là nguyên nhân tiềm năng dẫn đến việc tạo ra các thông điệp, vì:</a:t>
                      </a:r>
                    </a:p>
                    <a:p>
                      <a:pPr algn="l" fontAlgn="b"/>
                      <a:r>
                        <a:rPr lang="vi-VN" sz="1200" b="0" i="0" u="none" strike="noStrike" dirty="0" smtClean="0">
                          <a:solidFill>
                            <a:srgbClr val="000000"/>
                          </a:solidFill>
                          <a:effectLst/>
                          <a:latin typeface="+mn-lt"/>
                          <a:cs typeface="Times New Roman" panose="02020603050405020304" pitchFamily="18" charset="0"/>
                        </a:rPr>
                        <a:t>Không thấy lỗi EEC nào được ghi nhận trong hệ thống trong hoặc sau chuyến bay.</a:t>
                      </a:r>
                    </a:p>
                    <a:p>
                      <a:pPr algn="l" fontAlgn="b"/>
                      <a:r>
                        <a:rPr lang="vi-VN" sz="1200" b="0" i="0" u="none" strike="noStrike" dirty="0" smtClean="0">
                          <a:solidFill>
                            <a:srgbClr val="000000"/>
                          </a:solidFill>
                          <a:effectLst/>
                          <a:latin typeface="+mn-lt"/>
                          <a:cs typeface="Times New Roman" panose="02020603050405020304" pitchFamily="18" charset="0"/>
                        </a:rPr>
                        <a:t>Xác suất cả hai kênh EEC (trái/phải) cùng gặp lỗi thực tế là rất thấp.</a:t>
                      </a:r>
                    </a:p>
                    <a:p>
                      <a:pPr algn="l" fontAlgn="b"/>
                      <a:r>
                        <a:rPr lang="vi-VN" sz="1200" b="0" i="0" u="none" strike="noStrike" dirty="0" smtClean="0">
                          <a:solidFill>
                            <a:srgbClr val="000000"/>
                          </a:solidFill>
                          <a:effectLst/>
                          <a:latin typeface="+mn-lt"/>
                          <a:cs typeface="Times New Roman" panose="02020603050405020304" pitchFamily="18" charset="0"/>
                        </a:rPr>
                        <a:t>VAECO đã gửi dữ liệu DFDR tới Boeing để xác nhận, hạn 03/06 trả lời. </a:t>
                      </a:r>
                    </a:p>
                    <a:p>
                      <a:pPr algn="l" fontAlgn="b"/>
                      <a:r>
                        <a:rPr lang="vi-VN" sz="1200" b="0" i="0" u="none" strike="noStrike" dirty="0" smtClean="0">
                          <a:solidFill>
                            <a:srgbClr val="000000"/>
                          </a:solidFill>
                          <a:effectLst/>
                          <a:latin typeface="+mn-lt"/>
                          <a:cs typeface="Times New Roman" panose="02020603050405020304" pitchFamily="18" charset="0"/>
                        </a:rPr>
                        <a:t>Hiện tiếp tục làm rõ thông tin với Boeing và tổ bay tuy nhiên, có thể xem xét đánh giá event xảy ra là Non-tech do:</a:t>
                      </a:r>
                    </a:p>
                    <a:p>
                      <a:pPr algn="l" fontAlgn="b"/>
                      <a:r>
                        <a:rPr lang="vi-VN" sz="1200" b="0" i="0" u="none" strike="noStrike" dirty="0" smtClean="0">
                          <a:solidFill>
                            <a:srgbClr val="000000"/>
                          </a:solidFill>
                          <a:effectLst/>
                          <a:latin typeface="+mn-lt"/>
                          <a:cs typeface="Times New Roman" panose="02020603050405020304" pitchFamily="18" charset="0"/>
                        </a:rPr>
                        <a:t>Hỏng hóc liên quan đến tàu bay tại chuyến VN408 gây hệ quả cảnh báo liên quan đến TAT và EEC MODE L/R do FOD;</a:t>
                      </a:r>
                    </a:p>
                    <a:p>
                      <a:pPr algn="l" fontAlgn="b"/>
                      <a:r>
                        <a:rPr lang="vi-VN" sz="1200" b="0" i="0" u="none" strike="noStrike" dirty="0" smtClean="0">
                          <a:solidFill>
                            <a:srgbClr val="000000"/>
                          </a:solidFill>
                          <a:effectLst/>
                          <a:latin typeface="+mn-lt"/>
                          <a:cs typeface="Times New Roman" panose="02020603050405020304" pitchFamily="18" charset="0"/>
                        </a:rPr>
                        <a:t>Cảnh báo tại chuyến VN409 khả năng cao do config error, không có hỏng hóc liên quan đến động cơ gây hoạt động ở chế độ Alternate.</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001404490"/>
                  </a:ext>
                </a:extLst>
              </a:tr>
            </a:tbl>
          </a:graphicData>
        </a:graphic>
      </p:graphicFrame>
    </p:spTree>
    <p:custDataLst>
      <p:tags r:id="rId1"/>
    </p:custDataLst>
    <p:extLst>
      <p:ext uri="{BB962C8B-B14F-4D97-AF65-F5344CB8AC3E}">
        <p14:creationId xmlns:p14="http://schemas.microsoft.com/office/powerpoint/2010/main" val="183669430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 xmlns:a16="http://schemas.microsoft.com/office/drawing/2014/main" id="{B2C9F51D-11B1-05AF-482E-4EB7458CBE88}"/>
              </a:ext>
            </a:extLst>
          </p:cNvPr>
          <p:cNvGraphicFramePr>
            <a:graphicFrameLocks noGrp="1"/>
          </p:cNvGraphicFramePr>
          <p:nvPr>
            <p:extLst>
              <p:ext uri="{D42A27DB-BD31-4B8C-83A1-F6EECF244321}">
                <p14:modId xmlns:p14="http://schemas.microsoft.com/office/powerpoint/2010/main" val="1350608978"/>
              </p:ext>
            </p:extLst>
          </p:nvPr>
        </p:nvGraphicFramePr>
        <p:xfrm>
          <a:off x="333918" y="1317213"/>
          <a:ext cx="11496959" cy="1920303"/>
        </p:xfrm>
        <a:graphic>
          <a:graphicData uri="http://schemas.openxmlformats.org/drawingml/2006/table">
            <a:tbl>
              <a:tblPr/>
              <a:tblGrid>
                <a:gridCol w="447960">
                  <a:extLst>
                    <a:ext uri="{9D8B030D-6E8A-4147-A177-3AD203B41FA5}">
                      <a16:colId xmlns="" xmlns:a16="http://schemas.microsoft.com/office/drawing/2014/main" val="3177334110"/>
                    </a:ext>
                  </a:extLst>
                </a:gridCol>
                <a:gridCol w="361122">
                  <a:extLst>
                    <a:ext uri="{9D8B030D-6E8A-4147-A177-3AD203B41FA5}">
                      <a16:colId xmlns="" xmlns:a16="http://schemas.microsoft.com/office/drawing/2014/main" val="4176402646"/>
                    </a:ext>
                  </a:extLst>
                </a:gridCol>
                <a:gridCol w="629478">
                  <a:extLst>
                    <a:ext uri="{9D8B030D-6E8A-4147-A177-3AD203B41FA5}">
                      <a16:colId xmlns="" xmlns:a16="http://schemas.microsoft.com/office/drawing/2014/main" val="1997874898"/>
                    </a:ext>
                  </a:extLst>
                </a:gridCol>
                <a:gridCol w="609600">
                  <a:extLst>
                    <a:ext uri="{9D8B030D-6E8A-4147-A177-3AD203B41FA5}">
                      <a16:colId xmlns="" xmlns:a16="http://schemas.microsoft.com/office/drawing/2014/main" val="824987781"/>
                    </a:ext>
                  </a:extLst>
                </a:gridCol>
                <a:gridCol w="838200">
                  <a:extLst>
                    <a:ext uri="{9D8B030D-6E8A-4147-A177-3AD203B41FA5}">
                      <a16:colId xmlns="" xmlns:a16="http://schemas.microsoft.com/office/drawing/2014/main" val="1804810850"/>
                    </a:ext>
                  </a:extLst>
                </a:gridCol>
                <a:gridCol w="762000">
                  <a:extLst>
                    <a:ext uri="{9D8B030D-6E8A-4147-A177-3AD203B41FA5}">
                      <a16:colId xmlns="" xmlns:a16="http://schemas.microsoft.com/office/drawing/2014/main" val="4192528318"/>
                    </a:ext>
                  </a:extLst>
                </a:gridCol>
                <a:gridCol w="1524000">
                  <a:extLst>
                    <a:ext uri="{9D8B030D-6E8A-4147-A177-3AD203B41FA5}">
                      <a16:colId xmlns="" xmlns:a16="http://schemas.microsoft.com/office/drawing/2014/main" val="803048295"/>
                    </a:ext>
                  </a:extLst>
                </a:gridCol>
                <a:gridCol w="1808922">
                  <a:extLst>
                    <a:ext uri="{9D8B030D-6E8A-4147-A177-3AD203B41FA5}">
                      <a16:colId xmlns="" xmlns:a16="http://schemas.microsoft.com/office/drawing/2014/main" val="1895407870"/>
                    </a:ext>
                  </a:extLst>
                </a:gridCol>
                <a:gridCol w="762000">
                  <a:extLst>
                    <a:ext uri="{9D8B030D-6E8A-4147-A177-3AD203B41FA5}">
                      <a16:colId xmlns="" xmlns:a16="http://schemas.microsoft.com/office/drawing/2014/main" val="3943976445"/>
                    </a:ext>
                  </a:extLst>
                </a:gridCol>
                <a:gridCol w="3753677">
                  <a:extLst>
                    <a:ext uri="{9D8B030D-6E8A-4147-A177-3AD203B41FA5}">
                      <a16:colId xmlns="" xmlns:a16="http://schemas.microsoft.com/office/drawing/2014/main" val="3026404304"/>
                    </a:ext>
                  </a:extLst>
                </a:gridCol>
              </a:tblGrid>
              <a:tr h="115556">
                <a:tc>
                  <a:txBody>
                    <a:bodyPr/>
                    <a:lstStyle/>
                    <a:p>
                      <a:pPr algn="ctr" fontAlgn="ctr"/>
                      <a:r>
                        <a:rPr lang="en-US" sz="13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3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132619750"/>
                  </a:ext>
                </a:extLst>
              </a:tr>
              <a:tr h="115556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HAN-SGN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01-06-25 15:21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GTB due to STS MSG: ELEC ENGINE STARTER L2, ELEC ENGINE STARTER R1+ PECS TEMP 59 độ.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RESET TEST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cs typeface="Times New Roman" panose="02020603050405020304" pitchFamily="18" charset="0"/>
                        </a:rPr>
                        <a:t>Nhiệt độ PECS và OAT ngoài trời có giá trị cao dẫn đến chưa đủ nhiệt độ để làm mát thiết bị CMSC dẫn đến tàu có cảnh báo ELEC ENGINE STARTER L2/R1 (CMSC cấp nguồn điện và torque power cho VFSG). Khả năng MSG đã reset được clear sau khi nhiệt độ PECS giảm xuống ngưỡng ổn định. Hiện đã có FON khuyến cáo thực hiện single engine start khi OAT &gt; 35 độ và PECS &gt; 61 độ khi có MEL về VFSG, CMSC hoặc RAF. Trường hợp này nhiệt độ PECS mới 59 độ tuy nhiên đã hiện cảnh báo. Sẽ trao đổi thêm với Boeing và cập nhật thông tin sau</a:t>
                      </a:r>
                      <a:r>
                        <a:rPr lang="en-US" sz="1100" b="0" i="0" u="none" strike="noStrike" smtClean="0">
                          <a:solidFill>
                            <a:srgbClr val="000000"/>
                          </a:solidFill>
                          <a:effectLst/>
                          <a:latin typeface="+mn-lt"/>
                          <a:cs typeface="Times New Roman" panose="02020603050405020304" pitchFamily="18" charset="0"/>
                        </a:rPr>
                        <a:t>.</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001404490"/>
                  </a:ext>
                </a:extLst>
              </a:tr>
            </a:tbl>
          </a:graphicData>
        </a:graphic>
      </p:graphicFrame>
    </p:spTree>
    <p:custDataLst>
      <p:tags r:id="rId1"/>
    </p:custDataLst>
    <p:extLst>
      <p:ext uri="{BB962C8B-B14F-4D97-AF65-F5344CB8AC3E}">
        <p14:creationId xmlns:p14="http://schemas.microsoft.com/office/powerpoint/2010/main" val="190721151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 xmlns:a16="http://schemas.microsoft.com/office/drawing/2014/main" id="{92DF34E4-5EAF-DD7F-DEE2-26E7FBD9CDA2}"/>
              </a:ext>
            </a:extLst>
          </p:cNvPr>
          <p:cNvSpPr txBox="1"/>
          <p:nvPr/>
        </p:nvSpPr>
        <p:spPr>
          <a:xfrm>
            <a:off x="247451" y="2971800"/>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1755496217"/>
              </p:ext>
            </p:extLst>
          </p:nvPr>
        </p:nvGraphicFramePr>
        <p:xfrm>
          <a:off x="368206" y="3473763"/>
          <a:ext cx="10604595" cy="3156063"/>
        </p:xfrm>
        <a:graphic>
          <a:graphicData uri="http://schemas.openxmlformats.org/drawingml/2006/table">
            <a:tbl>
              <a:tblPr/>
              <a:tblGrid>
                <a:gridCol w="232048"/>
                <a:gridCol w="440892"/>
                <a:gridCol w="417687"/>
                <a:gridCol w="1125433"/>
                <a:gridCol w="417687"/>
                <a:gridCol w="684542"/>
                <a:gridCol w="754156"/>
                <a:gridCol w="881782"/>
                <a:gridCol w="2935407"/>
                <a:gridCol w="2714961"/>
              </a:tblGrid>
              <a:tr h="305908">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151292">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A327</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01:58 30/05/2025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32</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VN647</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HAN-MNL</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MW1&amp;3 WORN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 RPLD MW1&amp;3 WORN  MW13 </a:t>
                      </a:r>
                      <a:r>
                        <a:rPr lang="en-US" sz="900" b="0" i="0" u="none" strike="noStrike" dirty="0" smtClean="0">
                          <a:solidFill>
                            <a:srgbClr val="000000"/>
                          </a:solidFill>
                          <a:effectLst/>
                          <a:latin typeface="Times New Roman" panose="02020603050405020304" pitchFamily="18" charset="0"/>
                          <a:cs typeface="Times New Roman" panose="02020603050405020304" pitchFamily="18" charset="0"/>
                        </a:rPr>
                        <a:t>WOR</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4800">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A614</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20:46 29/05/2025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VN7186</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SGN-HPH</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MCC REQUESTED REPLACING RH NW AFTER VN141 DAD-SGN DUE TO RH NW WORN &amp;</a:t>
                      </a:r>
                      <a:r>
                        <a:rPr lang="en-US" sz="900" b="0" i="0" u="none" strike="noStrike" dirty="0" err="1">
                          <a:solidFill>
                            <a:srgbClr val="000000"/>
                          </a:solidFill>
                          <a:effectLst/>
                          <a:latin typeface="Times New Roman" panose="02020603050405020304" pitchFamily="18" charset="0"/>
                          <a:cs typeface="Times New Roman" panose="02020603050405020304" pitchFamily="18" charset="0"/>
                        </a:rPr>
                        <a:t>lt</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1mm,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 EVENT CLOSED  TOTAL DELAY: 25 </a:t>
                      </a:r>
                      <a:r>
                        <a:rPr lang="en-US" sz="900" b="0" i="0" u="none" strike="noStrike" dirty="0" smtClean="0">
                          <a:solidFill>
                            <a:srgbClr val="000000"/>
                          </a:solidFill>
                          <a:effectLst/>
                          <a:latin typeface="Times New Roman" panose="02020603050405020304" pitchFamily="18" charset="0"/>
                          <a:cs typeface="Times New Roman" panose="02020603050405020304" pitchFamily="18" charset="0"/>
                        </a:rPr>
                        <a:t>MINS</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881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A609</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14:56 29/05/2025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VN837</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MW#02 OUTER SHOULDER WORN TO 0 MM T/X CHECK FOUND MW#02 OUTER SHOULDER WORN TO 0 mm</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C/O REPLACE NEW M/W #02 IAW AMM 32-41-1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881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A350</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A888</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14:30 28/05/2025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VN214</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MW#6 INNER SHOULDER WORN TO CORD EXPOSED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FINAL ACTION: C/O REPLACED NEW MW#6 SATIS MW#6 EVENT CLOSED  TOTAL DELAY 38 MINS, ;A/C ARRIVAL LATE 73 MINS</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208">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A613</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23:40 27/05/2025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7</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VN350</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SGN-FUK</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T/X CHECK FOUND MW#1 INNER SHOULDER WORN TO CORD EXPOSED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REPLACED NEW MW#1 SATIS EVENT CLOSED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881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6</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A611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09:39 26/05/2025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CGK</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120</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VN631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CGK-SGN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MW #3 CUT OUT OF LIMIT T/X FOUND MW # 3 CUT OUT OF LIMIT;</a:t>
                      </a:r>
                      <a:br>
                        <a:rPr lang="en-US" sz="900" b="0" i="0" u="none" strike="noStrike">
                          <a:solidFill>
                            <a:srgbClr val="000000"/>
                          </a:solidFill>
                          <a:effectLst/>
                          <a:latin typeface="Times New Roman" panose="02020603050405020304" pitchFamily="18" charset="0"/>
                          <a:cs typeface="Times New Roman" panose="02020603050405020304" pitchFamily="18" charset="0"/>
                        </a:rPr>
                      </a:b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REPLACED NEW MW#3 SATIS EVENT CLOSED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208">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7</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A331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02:31 26/05/2025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VN516</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SGN-PKX</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TRANSIT CHECK FOUND MW#2 INNER SHOULDER WORN TO CORD EXPOSED MW#2 INNER SHOULDER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C/O REPLACED NEW MW#2 SATIS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208">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8</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A602</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01:10 26/05/2025</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VN342</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SGN-NGO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TRANSIT CHECK FOUND MW#3 INNER SHOULDER WORN TO CORD EXPOSED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REPLACED NEW MW#3 SATIS </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616502275"/>
              </p:ext>
            </p:extLst>
          </p:nvPr>
        </p:nvGraphicFramePr>
        <p:xfrm>
          <a:off x="381000" y="1121945"/>
          <a:ext cx="10515599" cy="1695141"/>
        </p:xfrm>
        <a:graphic>
          <a:graphicData uri="http://schemas.openxmlformats.org/drawingml/2006/table">
            <a:tbl>
              <a:tblPr/>
              <a:tblGrid>
                <a:gridCol w="385225"/>
                <a:gridCol w="478928"/>
                <a:gridCol w="343579"/>
                <a:gridCol w="1041149"/>
                <a:gridCol w="353990"/>
                <a:gridCol w="864153"/>
                <a:gridCol w="593455"/>
                <a:gridCol w="697569"/>
                <a:gridCol w="2165589"/>
                <a:gridCol w="3591962"/>
              </a:tblGrid>
              <a:tr h="306098">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794658">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A862</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07:50 28/05/2025</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40</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VN32</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AFT VN32 MUC-SGN RECTIFY 3 ADD AFT VN32 MUC-SGN RECTIFY 3 ADDs:</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 B1362 RAM FAN BACK-UP RIGHT RAISED</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 B1363 RAM FAN PRIMARY L RAISED</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 B1364 C.A.C L2 INOP ;RAISED</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 EVENT CLOSED - REF FIM 24-10-F6-95A-421A REV132 APPLIED. SATIS. STS MSG GONE. ADD B1362 CLRD</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 REF FIM 24-10-F5-N14-421A REV132 APPLIED. SATIS. STS MSG GONE. ADD B1363 CLRD</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 TOTAL DELAY 80 MINS. TECH DELAY 40 MINS. RECTIFY 3 ADD ( </a:t>
                      </a:r>
                      <a:r>
                        <a:rPr lang="en-US" sz="900" b="0" i="0" u="none" strike="noStrike" dirty="0" err="1">
                          <a:solidFill>
                            <a:srgbClr val="000000"/>
                          </a:solidFill>
                          <a:effectLst/>
                          <a:latin typeface="Times New Roman" panose="02020603050405020304" pitchFamily="18" charset="0"/>
                          <a:cs typeface="Times New Roman" panose="02020603050405020304" pitchFamily="18" charset="0"/>
                        </a:rPr>
                        <a:t>dừng</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KT</a:t>
                      </a:r>
                      <a:r>
                        <a:rPr lang="en-US" sz="900" b="0" i="0" u="none" strike="noStrike" dirty="0"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9776">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A865</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08:29 30/05/2025</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VN207</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WIPER SYSTEM L INOP A865 VN972/VN207 BOM-HAN-SGN (TRANSIT): CAPT REPORT WIPER SYSTEM L INOP</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 EVENT CLOSED C/O RAISED ADD B920 LH WIPER SYS INOP VN207 DELAY 1H55; DUE </a:t>
                      </a:r>
                      <a:r>
                        <a:rPr lang="en-US" sz="900" b="0" i="0" u="none" strike="noStrike">
                          <a:solidFill>
                            <a:srgbClr val="000000"/>
                          </a:solidFill>
                          <a:effectLst/>
                          <a:latin typeface="Times New Roman" panose="02020603050405020304" pitchFamily="18" charset="0"/>
                          <a:cs typeface="Times New Roman" panose="02020603050405020304" pitchFamily="18" charset="0"/>
                        </a:rPr>
                        <a:t>TO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FLIGHT</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CREW</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CHANGE; TECH 10 MINS</a:t>
                      </a:r>
                    </a:p>
                  </a:txBody>
                  <a:tcPr marL="6247" marR="6247" marT="62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55088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 xmlns:a16="http://schemas.microsoft.com/office/drawing/2014/main" id="{D8A6B6E7-802B-28F6-5A71-3330ACB11301}"/>
              </a:ext>
            </a:extLst>
          </p:cNvPr>
          <p:cNvGraphicFramePr>
            <a:graphicFrameLocks noGrp="1"/>
          </p:cNvGraphicFramePr>
          <p:nvPr>
            <p:extLst>
              <p:ext uri="{D42A27DB-BD31-4B8C-83A1-F6EECF244321}">
                <p14:modId xmlns:p14="http://schemas.microsoft.com/office/powerpoint/2010/main" val="3490339107"/>
              </p:ext>
            </p:extLst>
          </p:nvPr>
        </p:nvGraphicFramePr>
        <p:xfrm>
          <a:off x="134289" y="1475953"/>
          <a:ext cx="11688716" cy="5165606"/>
        </p:xfrm>
        <a:graphic>
          <a:graphicData uri="http://schemas.openxmlformats.org/drawingml/2006/table">
            <a:tbl>
              <a:tblPr/>
              <a:tblGrid>
                <a:gridCol w="454931">
                  <a:extLst>
                    <a:ext uri="{9D8B030D-6E8A-4147-A177-3AD203B41FA5}">
                      <a16:colId xmlns="" xmlns:a16="http://schemas.microsoft.com/office/drawing/2014/main" val="2473118882"/>
                    </a:ext>
                  </a:extLst>
                </a:gridCol>
                <a:gridCol w="772651">
                  <a:extLst>
                    <a:ext uri="{9D8B030D-6E8A-4147-A177-3AD203B41FA5}">
                      <a16:colId xmlns="" xmlns:a16="http://schemas.microsoft.com/office/drawing/2014/main" val="3392135331"/>
                    </a:ext>
                  </a:extLst>
                </a:gridCol>
                <a:gridCol w="914157">
                  <a:extLst>
                    <a:ext uri="{9D8B030D-6E8A-4147-A177-3AD203B41FA5}">
                      <a16:colId xmlns="" xmlns:a16="http://schemas.microsoft.com/office/drawing/2014/main" val="2196282914"/>
                    </a:ext>
                  </a:extLst>
                </a:gridCol>
                <a:gridCol w="501176">
                  <a:extLst>
                    <a:ext uri="{9D8B030D-6E8A-4147-A177-3AD203B41FA5}">
                      <a16:colId xmlns="" xmlns:a16="http://schemas.microsoft.com/office/drawing/2014/main" val="3375762913"/>
                    </a:ext>
                  </a:extLst>
                </a:gridCol>
                <a:gridCol w="501176"/>
                <a:gridCol w="1458656">
                  <a:extLst>
                    <a:ext uri="{9D8B030D-6E8A-4147-A177-3AD203B41FA5}">
                      <a16:colId xmlns="" xmlns:a16="http://schemas.microsoft.com/office/drawing/2014/main" val="1905667060"/>
                    </a:ext>
                  </a:extLst>
                </a:gridCol>
                <a:gridCol w="2625580">
                  <a:extLst>
                    <a:ext uri="{9D8B030D-6E8A-4147-A177-3AD203B41FA5}">
                      <a16:colId xmlns="" xmlns:a16="http://schemas.microsoft.com/office/drawing/2014/main" val="59642537"/>
                    </a:ext>
                  </a:extLst>
                </a:gridCol>
                <a:gridCol w="437597">
                  <a:extLst>
                    <a:ext uri="{9D8B030D-6E8A-4147-A177-3AD203B41FA5}">
                      <a16:colId xmlns="" xmlns:a16="http://schemas.microsoft.com/office/drawing/2014/main" val="3935706781"/>
                    </a:ext>
                  </a:extLst>
                </a:gridCol>
                <a:gridCol w="4022792">
                  <a:extLst>
                    <a:ext uri="{9D8B030D-6E8A-4147-A177-3AD203B41FA5}">
                      <a16:colId xmlns="" xmlns:a16="http://schemas.microsoft.com/office/drawing/2014/main" val="63803871"/>
                    </a:ext>
                  </a:extLst>
                </a:gridCol>
              </a:tblGrid>
              <a:tr h="341419">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Status</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96725487"/>
                  </a:ext>
                </a:extLst>
              </a:tr>
              <a:tr h="1401491">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A621</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05:00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08:40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AOG&amp;</a:t>
                      </a:r>
                    </a:p>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delay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T/X CHECK FOUND LEAK HYD AT DRAIN MAST ENG#2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T/X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FOUND LEAK HYD AT DRAIN MAST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ENG#2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REPLACED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NEW PIPE, CHECK LEAK SATIS. A/C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71-00</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Nguyên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nhân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là</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ống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thuỷ</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lực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tại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trí</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pylon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cọ</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xát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với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clamp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gây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leak. Ban KT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đã</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yêu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Vaeco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cập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nhật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trí</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vào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nội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dung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check leak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hàng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năm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88298701"/>
                  </a:ext>
                </a:extLst>
              </a:tr>
              <a:tr h="140149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10:38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01/06/2025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AOG&amp;</a:t>
                      </a:r>
                    </a:p>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delay</a:t>
                      </a:r>
                    </a:p>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2 FIRE LOOP A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REPLACED </a:t>
                      </a:r>
                      <a:r>
                        <a:rPr lang="en-US" sz="1100" b="0" i="0" u="none" strike="noStrike" kern="1200">
                          <a:solidFill>
                            <a:srgbClr val="000000"/>
                          </a:solidFill>
                          <a:effectLst/>
                          <a:latin typeface="Times New Roman" panose="02020603050405020304" pitchFamily="18" charset="0"/>
                          <a:ea typeface="+mn-ea"/>
                          <a:cs typeface="Times New Roman" panose="02020603050405020304" pitchFamily="18" charset="0"/>
                        </a:rPr>
                        <a:t>AGB LOOP A (4002WD1), OPS TEST OK. EVENT CLOSED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26-12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eng fire loop trên động cơ NEO đã được nhận diện. Nguyên nhân là do chất lượng của loop và ảnh hưởng của rung động cơ. AIB đã ban hành SB 26-1224 để khắc phục chất lượng của loop tuy nhiên vẫn chưa khắc phục được ảnh hưởng của hiện tượng rung động cơ. Hiện AIB vẫn đang tiếp tục nghiên cứu giải pháp và chưa đưa ra kết luận cuối cùng.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523453148"/>
                  </a:ext>
                </a:extLst>
              </a:tr>
              <a:tr h="160032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12:48 31/05/2025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01:10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F/CTL FLAPS LOCKED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TX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CHK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WRN MSG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F/CTL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FLAPS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LOCKED,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FAILURE MSG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FLP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OVERSPEED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LH  FLP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2 OVERSPEED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LH</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REF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TSM 27-51-00-810-840-A, REV 5/25 C/O REPLACE FLAP ACTUATOR NO 3 (6221CM) ON LH WING REF AMM 27-54-49-000-003 AND REF AMM 27-54-49-400-003 REV MAY2025 DUE TO FOUND WATER ACCUMULATOR -&gt; CHECK SATIS. </a:t>
                      </a:r>
                      <a:endParaRPr lang="en-US" sz="1100" b="0"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WINGTIP BRAKE ON LH WING FOR EASY TURN AND FUNCTION TEST FLAP WING TIP BRAKE IAW AMM TASK 27-51-00-710-001 REV MAY 2025 -&gt; CHECK NORMAL. A/C SERVICEABLE</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thống kê hỏng hóc thì trong 10 năm qua chỉ tháo 1 lần khối actuator này, độ tin cậy rất cao. Ngoài ra hầu hết actuator trên đội bay đã lắp part post mod có khả năng chống nước và rò rỉ do đó đánh giá trường hợp này nguyên nhân có thể do khối cao giờ dùng lâu làm cho seal bên trong bị lão hoá.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861438188"/>
                  </a:ext>
                </a:extLst>
              </a:tr>
            </a:tbl>
          </a:graphicData>
        </a:graphic>
      </p:graphicFrame>
    </p:spTree>
    <p:extLst>
      <p:ext uri="{BB962C8B-B14F-4D97-AF65-F5344CB8AC3E}">
        <p14:creationId xmlns:p14="http://schemas.microsoft.com/office/powerpoint/2010/main" val="17775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09</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1511339627"/>
              </p:ext>
            </p:extLst>
          </p:nvPr>
        </p:nvGraphicFramePr>
        <p:xfrm>
          <a:off x="116182" y="1521019"/>
          <a:ext cx="11853157" cy="3291030"/>
        </p:xfrm>
        <a:graphic>
          <a:graphicData uri="http://schemas.openxmlformats.org/drawingml/2006/table">
            <a:tbl>
              <a:tblPr/>
              <a:tblGrid>
                <a:gridCol w="417218">
                  <a:extLst>
                    <a:ext uri="{9D8B030D-6E8A-4147-A177-3AD203B41FA5}">
                      <a16:colId xmlns="" xmlns:a16="http://schemas.microsoft.com/office/drawing/2014/main" val="3467514978"/>
                    </a:ext>
                  </a:extLst>
                </a:gridCol>
                <a:gridCol w="6858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755935">
                  <a:extLst>
                    <a:ext uri="{9D8B030D-6E8A-4147-A177-3AD203B41FA5}">
                      <a16:colId xmlns="" xmlns:a16="http://schemas.microsoft.com/office/drawing/2014/main" val="673348196"/>
                    </a:ext>
                  </a:extLst>
                </a:gridCol>
                <a:gridCol w="838200">
                  <a:extLst>
                    <a:ext uri="{9D8B030D-6E8A-4147-A177-3AD203B41FA5}">
                      <a16:colId xmlns="" xmlns:a16="http://schemas.microsoft.com/office/drawing/2014/main" val="422459560"/>
                    </a:ext>
                  </a:extLst>
                </a:gridCol>
                <a:gridCol w="1676400">
                  <a:extLst>
                    <a:ext uri="{9D8B030D-6E8A-4147-A177-3AD203B41FA5}">
                      <a16:colId xmlns="" xmlns:a16="http://schemas.microsoft.com/office/drawing/2014/main" val="2573721533"/>
                    </a:ext>
                  </a:extLst>
                </a:gridCol>
                <a:gridCol w="2667000">
                  <a:extLst>
                    <a:ext uri="{9D8B030D-6E8A-4147-A177-3AD203B41FA5}">
                      <a16:colId xmlns="" xmlns:a16="http://schemas.microsoft.com/office/drawing/2014/main" val="1326284677"/>
                    </a:ext>
                  </a:extLst>
                </a:gridCol>
                <a:gridCol w="452104">
                  <a:extLst>
                    <a:ext uri="{9D8B030D-6E8A-4147-A177-3AD203B41FA5}">
                      <a16:colId xmlns="" xmlns:a16="http://schemas.microsoft.com/office/drawing/2014/main" val="3053691605"/>
                    </a:ext>
                  </a:extLst>
                </a:gridCol>
                <a:gridCol w="3293700">
                  <a:extLst>
                    <a:ext uri="{9D8B030D-6E8A-4147-A177-3AD203B41FA5}">
                      <a16:colId xmlns=""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515354">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A397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12:28 31/05/2025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VN123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WHEN PAX BOARDING COMPLETED, MSG FCU 1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RESET NIL HELP, RAISED ADD B1549 FCU 1 INOP EVENT CLOSEDVN123 DAD-SGN DELAY 65 MINS (TD: 33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đã được khắc phục, hỏng hóc liên quan đến FCU PN C12850BC03. </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Part hiện không có vấn về ĐTC, part có TSN/CSN: 29722.01/21558. Part vừa đi shop về và được lắp lên vào 26/05/2025. </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có thể do chất lượng kém sau khi sửa chữa. Ban KT sẽ làm việc thêm với Ban QLVT về trường hợp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513223236"/>
                  </a:ext>
                </a:extLst>
              </a:tr>
              <a:tr h="515354">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A327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10:51 30/05/2025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33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VN7153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HAN-DAD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A/C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HAD ADD B2174 ‘VENT BLOWER FAULT”; A/C APPEAR MSG “VENT EXTRACT FAULT”.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 EVENT CLOSED C/O REPLACED BLOWER FAN 20HQ -&gt; TEST OK; MSG GONE; ADD B2174 CLR.  “VENT EXTRACT FAULT</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21-26</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b"/>
                      <a:r>
                        <a:rPr lang="vi-VN" sz="12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avionic fan. Hiện vẫn đang tiếp tục triển khai chương trình tháo soft-time quay vòng đối với các khối cao giờ. Hiện còn khoảng 25 khối đến hạn cần tháo. Ban KT vẫn đang phối hợp với Ban QLVT triển khai tháo khi có khối quay vòng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89151509"/>
                  </a:ext>
                </a:extLst>
              </a:tr>
              <a:tr h="515354">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A327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04:20 30/05/2025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MNL</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82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VN646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HAN-MNL</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MSG: VENT BLOWER FAULT MSG: VENT BLOWER FAULT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ENGINEER AT MNL C/O RAISE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ADD B2174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FOR BLOWER FAN FAULT </a:t>
                      </a:r>
                      <a:r>
                        <a:rPr lang="en-US" sz="1200" b="0" i="0" u="none" strike="noStrike" dirty="0" err="1" smtClean="0">
                          <a:solidFill>
                            <a:srgbClr val="000000"/>
                          </a:solidFill>
                          <a:effectLst/>
                          <a:latin typeface="Times New Roman" panose="02020603050405020304" pitchFamily="18" charset="0"/>
                          <a:cs typeface="Times New Roman" panose="02020603050405020304" pitchFamily="18" charset="0"/>
                        </a:rPr>
                        <a:t>FAULT</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26392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09</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1029815607"/>
              </p:ext>
            </p:extLst>
          </p:nvPr>
        </p:nvGraphicFramePr>
        <p:xfrm>
          <a:off x="116182" y="1521019"/>
          <a:ext cx="11853157" cy="4066365"/>
        </p:xfrm>
        <a:graphic>
          <a:graphicData uri="http://schemas.openxmlformats.org/drawingml/2006/table">
            <a:tbl>
              <a:tblPr/>
              <a:tblGrid>
                <a:gridCol w="417218">
                  <a:extLst>
                    <a:ext uri="{9D8B030D-6E8A-4147-A177-3AD203B41FA5}">
                      <a16:colId xmlns="" xmlns:a16="http://schemas.microsoft.com/office/drawing/2014/main" val="3467514978"/>
                    </a:ext>
                  </a:extLst>
                </a:gridCol>
                <a:gridCol w="6858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755935">
                  <a:extLst>
                    <a:ext uri="{9D8B030D-6E8A-4147-A177-3AD203B41FA5}">
                      <a16:colId xmlns="" xmlns:a16="http://schemas.microsoft.com/office/drawing/2014/main" val="673348196"/>
                    </a:ext>
                  </a:extLst>
                </a:gridCol>
                <a:gridCol w="838200">
                  <a:extLst>
                    <a:ext uri="{9D8B030D-6E8A-4147-A177-3AD203B41FA5}">
                      <a16:colId xmlns="" xmlns:a16="http://schemas.microsoft.com/office/drawing/2014/main" val="422459560"/>
                    </a:ext>
                  </a:extLst>
                </a:gridCol>
                <a:gridCol w="1676400">
                  <a:extLst>
                    <a:ext uri="{9D8B030D-6E8A-4147-A177-3AD203B41FA5}">
                      <a16:colId xmlns="" xmlns:a16="http://schemas.microsoft.com/office/drawing/2014/main" val="2573721533"/>
                    </a:ext>
                  </a:extLst>
                </a:gridCol>
                <a:gridCol w="2667000">
                  <a:extLst>
                    <a:ext uri="{9D8B030D-6E8A-4147-A177-3AD203B41FA5}">
                      <a16:colId xmlns="" xmlns:a16="http://schemas.microsoft.com/office/drawing/2014/main" val="1326284677"/>
                    </a:ext>
                  </a:extLst>
                </a:gridCol>
                <a:gridCol w="452104">
                  <a:extLst>
                    <a:ext uri="{9D8B030D-6E8A-4147-A177-3AD203B41FA5}">
                      <a16:colId xmlns="" xmlns:a16="http://schemas.microsoft.com/office/drawing/2014/main" val="3053691605"/>
                    </a:ext>
                  </a:extLst>
                </a:gridCol>
                <a:gridCol w="3293700">
                  <a:extLst>
                    <a:ext uri="{9D8B030D-6E8A-4147-A177-3AD203B41FA5}">
                      <a16:colId xmlns=""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88199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14:00 28/05/2025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VN503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DOOR PRESSURE MESSAGE ON THE FAPTRANSIT CHECK FOUND CHECK DOOR PRESSURE Message on the FAP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GAMECO RAISED ADD FOR L1 DOOR ASSIST BOTTLE PRESSURE REF MEL 52-10-06A APPLIED MEL 52-10-06A EVENT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CLOSEDCHECK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DOOR PRESSURE MESSAGE ON THE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FAP</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52-10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bình áp suất ở cửa. Ban KT đang dự kiến triển khai đưa nội dung kiểm tra áp suất của bình vào weekly check để phát hiện sớm bình bị thấp áp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754419669"/>
                  </a:ext>
                </a:extLst>
              </a:tr>
              <a:tr h="51535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13:53 28/05/2025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HAN-CXR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ENG1 BLEED ABNORM PR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Raised ADD B1890 ENG 1 BLEED AIR SUPPLY SYS FAULT RAISED ADD B1890 ENG 1 BLEED AIR SUPPLY SYS FAULT EVENT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CLOSEDENG1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BLEED ABNORM 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OPV. Theo đánh giá của AIB thì giải pháp hữu hiệu nhất là nâng cấp lên bmc std 12 tuy nhiên hiện tại Liebherr chưa có mod kit và chưa thống nhất được phương án chia sẻ chi phí với STA nên cần thêm thời gian để đàm phán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513223236"/>
                  </a:ext>
                </a:extLst>
              </a:tr>
              <a:tr h="51535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13:19 28/05/2025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TS WNG: AIR ENG 2 BLEED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REF TSM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36-11-00-810-A07-A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DO EPF TEST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AMM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36-11-00-740-806-A NO FAULT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FOUND</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2. RPL BMC#2 REF AMM 36-11-34-000-001-A AND 36-11-34-400-00A-A. DO BITE TEST EBAS 1 AND 2 FOUND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Sau khi thực hiện TS không phát hiện bất thường.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89151509"/>
                  </a:ext>
                </a:extLst>
              </a:tr>
              <a:tr h="51535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09:40 27/05/2025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SGN-CGK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MSG L/G SYS DISAGREE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l" fontAlgn="b">
                        <a:buFontTx/>
                        <a:buNone/>
                      </a:pP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CRS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BÁO TỔ BAY GHI SỔ L/G SYS DISAGREE</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FINAL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 C/O CLEANED R/H LG DOOR PROX SNSR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TEST SATIS. A/C SERVICEABLE. L/G SYS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DISAGREE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Nguyên nhân do sensor bị bẩn do hoạt động trong môi trường nhiệt độ nóng ẩm cao. Hiện vẫn đang tiếp tục triển khai chương trình clean sensor để hạn chế báo giả và nâng cấp MLG uplock theo SB 32-1496.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833932393"/>
                  </a:ext>
                </a:extLst>
              </a:tr>
            </a:tbl>
          </a:graphicData>
        </a:graphic>
      </p:graphicFrame>
    </p:spTree>
    <p:extLst>
      <p:ext uri="{BB962C8B-B14F-4D97-AF65-F5344CB8AC3E}">
        <p14:creationId xmlns:p14="http://schemas.microsoft.com/office/powerpoint/2010/main" val="398430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 xmlns:a16="http://schemas.microsoft.com/office/drawing/2014/main" id="{E8C503CE-18C5-4A3D-AD46-240DA1F966DC}"/>
              </a:ext>
            </a:extLst>
          </p:cNvPr>
          <p:cNvSpPr txBox="1"/>
          <p:nvPr/>
        </p:nvSpPr>
        <p:spPr>
          <a:xfrm>
            <a:off x="914400" y="625206"/>
            <a:ext cx="10134600"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A320/A321</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5914447B-A879-4C97-AD62-7AFABAF9410A}"/>
              </a:ext>
            </a:extLst>
          </p:cNvPr>
          <p:cNvSpPr/>
          <p:nvPr/>
        </p:nvSpPr>
        <p:spPr>
          <a:xfrm>
            <a:off x="990601" y="1295400"/>
            <a:ext cx="10515600" cy="2308324"/>
          </a:xfrm>
          <a:prstGeom prst="rect">
            <a:avLst/>
          </a:prstGeom>
        </p:spPr>
        <p:txBody>
          <a:bodyPr wrap="square">
            <a:spAutoFit/>
          </a:bodyPr>
          <a:lstStyle/>
          <a:p>
            <a:pPr algn="just">
              <a:buClrTx/>
            </a:pP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bay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nhiều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sự</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việc</a:t>
            </a:r>
            <a:r>
              <a:rPr lang="en-US" sz="1600" dirty="0">
                <a:solidFill>
                  <a:prstClr val="black"/>
                </a:solidFill>
                <a:latin typeface="Times New Roman" panose="02020603050405020304" pitchFamily="18" charset="0"/>
                <a:cs typeface="Times New Roman" panose="02020603050405020304" pitchFamily="18" charset="0"/>
              </a:rPr>
              <a:t> AOG, </a:t>
            </a:r>
            <a:r>
              <a:rPr lang="en-US" sz="1600" dirty="0" err="1">
                <a:solidFill>
                  <a:prstClr val="black"/>
                </a:solidFill>
                <a:latin typeface="Times New Roman" panose="02020603050405020304" pitchFamily="18" charset="0"/>
                <a:cs typeface="Times New Roman" panose="02020603050405020304" pitchFamily="18" charset="0"/>
              </a:rPr>
              <a:t>đặc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biệt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là</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eng</a:t>
            </a:r>
            <a:r>
              <a:rPr lang="en-US" sz="1600" dirty="0">
                <a:solidFill>
                  <a:prstClr val="black"/>
                </a:solidFill>
                <a:latin typeface="Times New Roman" panose="02020603050405020304" pitchFamily="18" charset="0"/>
                <a:cs typeface="Times New Roman" panose="02020603050405020304" pitchFamily="18" charset="0"/>
              </a:rPr>
              <a:t> stall </a:t>
            </a:r>
            <a:r>
              <a:rPr lang="en-US" sz="1600" dirty="0" err="1">
                <a:solidFill>
                  <a:prstClr val="black"/>
                </a:solidFill>
                <a:latin typeface="Times New Roman" panose="02020603050405020304" pitchFamily="18" charset="0"/>
                <a:cs typeface="Times New Roman" panose="02020603050405020304" pitchFamily="18" charset="0"/>
              </a:rPr>
              <a:t>trên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A621 </a:t>
            </a:r>
            <a:r>
              <a:rPr lang="en-US" sz="1600" dirty="0" err="1">
                <a:solidFill>
                  <a:prstClr val="black"/>
                </a:solidFill>
                <a:latin typeface="Times New Roman" panose="02020603050405020304" pitchFamily="18" charset="0"/>
                <a:cs typeface="Times New Roman" panose="02020603050405020304" pitchFamily="18" charset="0"/>
              </a:rPr>
              <a:t>xuất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nhiều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cụ</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thể</a:t>
            </a:r>
            <a:r>
              <a:rPr lang="en-US" sz="1600" dirty="0">
                <a:solidFill>
                  <a:prstClr val="black"/>
                </a:solidFill>
                <a:latin typeface="Times New Roman" panose="02020603050405020304" pitchFamily="18" charset="0"/>
                <a:cs typeface="Times New Roman" panose="02020603050405020304" pitchFamily="18" charset="0"/>
              </a:rPr>
              <a:t>:</a:t>
            </a: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A357 A</a:t>
            </a:r>
            <a:r>
              <a:rPr lang="en-US" sz="1600" dirty="0">
                <a:solidFill>
                  <a:prstClr val="black"/>
                </a:solidFill>
                <a:latin typeface="Times New Roman" panose="02020603050405020304" pitchFamily="18" charset="0"/>
                <a:cs typeface="Times New Roman" panose="02020603050405020304" pitchFamily="18" charset="0"/>
              </a:rPr>
              <a:t>OG</a:t>
            </a:r>
            <a:r>
              <a:rPr lang="vi-VN" sz="1600" dirty="0">
                <a:solidFill>
                  <a:prstClr val="black"/>
                </a:solidFill>
                <a:cs typeface="Times New Roman" panose="02020603050405020304" pitchFamily="18" charset="0"/>
              </a:rPr>
              <a:t> do đọng nước ở các flap actuator phả</a:t>
            </a:r>
            <a:r>
              <a:rPr lang="en-US" sz="1600" dirty="0" err="1">
                <a:solidFill>
                  <a:prstClr val="black"/>
                </a:solidFill>
                <a:latin typeface="Times New Roman" panose="02020603050405020304" pitchFamily="18" charset="0"/>
                <a:cs typeface="Times New Roman" panose="02020603050405020304" pitchFamily="18" charset="0"/>
              </a:rPr>
              <a:t>i</a:t>
            </a:r>
            <a:r>
              <a:rPr lang="vi-VN" sz="1600" dirty="0">
                <a:solidFill>
                  <a:prstClr val="black"/>
                </a:solidFill>
                <a:cs typeface="Times New Roman" panose="02020603050405020304" pitchFamily="18" charset="0"/>
              </a:rPr>
              <a:t> thực hiện thay actuator</a:t>
            </a:r>
            <a:endParaRPr lang="en-US" sz="1600" dirty="0">
              <a:solidFill>
                <a:prstClr val="black"/>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solidFill>
                  <a:prstClr val="black"/>
                </a:solidFill>
                <a:latin typeface="Times New Roman" panose="02020603050405020304" pitchFamily="18" charset="0"/>
                <a:cs typeface="Times New Roman" panose="02020603050405020304" pitchFamily="18" charset="0"/>
              </a:rPr>
              <a:t>A619 AOG </a:t>
            </a:r>
            <a:r>
              <a:rPr lang="en-US" sz="1600" dirty="0" err="1">
                <a:solidFill>
                  <a:prstClr val="black"/>
                </a:solidFill>
                <a:latin typeface="Times New Roman" panose="02020603050405020304" pitchFamily="18" charset="0"/>
                <a:cs typeface="Times New Roman" panose="02020603050405020304" pitchFamily="18" charset="0"/>
              </a:rPr>
              <a:t>eng</a:t>
            </a:r>
            <a:r>
              <a:rPr lang="en-US" sz="1600" dirty="0">
                <a:solidFill>
                  <a:prstClr val="black"/>
                </a:solidFill>
                <a:latin typeface="Times New Roman" panose="02020603050405020304" pitchFamily="18" charset="0"/>
                <a:cs typeface="Times New Roman" panose="02020603050405020304" pitchFamily="18" charset="0"/>
              </a:rPr>
              <a:t> 2 fire loop A fault </a:t>
            </a:r>
            <a:r>
              <a:rPr lang="en-US" sz="1600" dirty="0" err="1">
                <a:solidFill>
                  <a:prstClr val="black"/>
                </a:solidFill>
                <a:latin typeface="Times New Roman" panose="02020603050405020304" pitchFamily="18" charset="0"/>
                <a:cs typeface="Times New Roman" panose="02020603050405020304" pitchFamily="18" charset="0"/>
              </a:rPr>
              <a:t>phải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ABG Loop A.</a:t>
            </a: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A621 AOG do leak thủy lực ở Drain mast ENG2</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cũng</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phát sinh lại </a:t>
            </a:r>
            <a:r>
              <a:rPr lang="en-US" sz="1600" dirty="0">
                <a:solidFill>
                  <a:prstClr val="black"/>
                </a:solidFill>
                <a:latin typeface="Times New Roman" panose="02020603050405020304" pitchFamily="18" charset="0"/>
                <a:cs typeface="Times New Roman" panose="02020603050405020304" pitchFamily="18" charset="0"/>
              </a:rPr>
              <a:t>MSG </a:t>
            </a:r>
            <a:r>
              <a:rPr lang="vi-VN" sz="1600" dirty="0">
                <a:solidFill>
                  <a:prstClr val="black"/>
                </a:solidFill>
                <a:cs typeface="Times New Roman" panose="02020603050405020304" pitchFamily="18" charset="0"/>
              </a:rPr>
              <a:t>eng stall</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nhiều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smtClean="0">
                <a:solidFill>
                  <a:prstClr val="black"/>
                </a:solidFill>
                <a:latin typeface="Times New Roman" panose="02020603050405020304" pitchFamily="18" charset="0"/>
                <a:cs typeface="Times New Roman" panose="02020603050405020304" pitchFamily="18" charset="0"/>
              </a:rPr>
              <a:t>lần</a:t>
            </a:r>
            <a:r>
              <a:rPr lang="en-US" sz="1600" dirty="0" smtClean="0">
                <a:solidFill>
                  <a:prstClr val="black"/>
                </a:solidFill>
                <a:latin typeface="Times New Roman" panose="02020603050405020304" pitchFamily="18" charset="0"/>
                <a:cs typeface="Times New Roman" panose="02020603050405020304" pitchFamily="18" charset="0"/>
              </a:rPr>
              <a:t> (6 </a:t>
            </a:r>
            <a:r>
              <a:rPr lang="en-US" sz="1600" dirty="0" err="1" smtClean="0">
                <a:solidFill>
                  <a:prstClr val="black"/>
                </a:solidFill>
                <a:latin typeface="Times New Roman" panose="02020603050405020304" pitchFamily="18" charset="0"/>
                <a:cs typeface="Times New Roman" panose="02020603050405020304" pitchFamily="18" charset="0"/>
              </a:rPr>
              <a:t>lần</a:t>
            </a:r>
            <a:r>
              <a:rPr lang="en-US" sz="1600" dirty="0" smtClean="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mặc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dù</a:t>
            </a:r>
            <a:r>
              <a:rPr lang="en-US" sz="1600" dirty="0">
                <a:solidFill>
                  <a:prstClr val="black"/>
                </a:solidFill>
                <a:latin typeface="Times New Roman" panose="02020603050405020304" pitchFamily="18" charset="0"/>
                <a:cs typeface="Times New Roman" panose="02020603050405020304" pitchFamily="18" charset="0"/>
              </a:rPr>
              <a:t> Ban KT/VAECO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ban </a:t>
            </a:r>
            <a:r>
              <a:rPr lang="en-US" sz="1600" dirty="0" err="1">
                <a:solidFill>
                  <a:prstClr val="black"/>
                </a:solidFill>
                <a:latin typeface="Times New Roman" panose="02020603050405020304" pitchFamily="18" charset="0"/>
                <a:cs typeface="Times New Roman" panose="02020603050405020304" pitchFamily="18" charset="0"/>
              </a:rPr>
              <a:t>hành</a:t>
            </a:r>
            <a:r>
              <a:rPr lang="en-US" sz="1600" dirty="0">
                <a:solidFill>
                  <a:prstClr val="black"/>
                </a:solidFill>
                <a:latin typeface="Times New Roman" panose="02020603050405020304" pitchFamily="18" charset="0"/>
                <a:cs typeface="Times New Roman" panose="02020603050405020304" pitchFamily="18" charset="0"/>
              </a:rPr>
              <a:t> NTC </a:t>
            </a:r>
            <a:r>
              <a:rPr lang="en-US" sz="1600" dirty="0" err="1">
                <a:solidFill>
                  <a:prstClr val="black"/>
                </a:solidFill>
                <a:latin typeface="Times New Roman" panose="02020603050405020304" pitchFamily="18" charset="0"/>
                <a:cs typeface="Times New Roman" panose="02020603050405020304" pitchFamily="18" charset="0"/>
              </a:rPr>
              <a:t>nhưng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tổ</a:t>
            </a:r>
            <a:r>
              <a:rPr lang="en-US" sz="1600" dirty="0">
                <a:solidFill>
                  <a:prstClr val="black"/>
                </a:solidFill>
                <a:latin typeface="Times New Roman" panose="02020603050405020304" pitchFamily="18" charset="0"/>
                <a:cs typeface="Times New Roman" panose="02020603050405020304" pitchFamily="18" charset="0"/>
              </a:rPr>
              <a:t> bay </a:t>
            </a:r>
            <a:r>
              <a:rPr lang="en-US" sz="1600" dirty="0" err="1">
                <a:solidFill>
                  <a:prstClr val="black"/>
                </a:solidFill>
                <a:latin typeface="Times New Roman" panose="02020603050405020304" pitchFamily="18" charset="0"/>
                <a:cs typeface="Times New Roman" panose="02020603050405020304" pitchFamily="18" charset="0"/>
              </a:rPr>
              <a:t>vẫn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chưa</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thực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đúng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quy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trình</a:t>
            </a:r>
            <a:r>
              <a:rPr lang="en-US" sz="1600" dirty="0">
                <a:solidFill>
                  <a:prstClr val="black"/>
                </a:solidFill>
                <a:latin typeface="Times New Roman" panose="02020603050405020304" pitchFamily="18" charset="0"/>
                <a:cs typeface="Times New Roman" panose="02020603050405020304" pitchFamily="18" charset="0"/>
              </a:rPr>
              <a:t>.</a:t>
            </a:r>
          </a:p>
          <a:p>
            <a:pPr marL="285750" indent="-285750" algn="just">
              <a:buClrTx/>
              <a:buFont typeface="Arial" panose="020B0604020202020204" pitchFamily="34" charset="0"/>
              <a:buChar char="•"/>
            </a:pPr>
            <a:r>
              <a:rPr lang="en-US" sz="1600" dirty="0" err="1">
                <a:solidFill>
                  <a:prstClr val="black"/>
                </a:solidFill>
                <a:latin typeface="Times New Roman" panose="02020603050405020304" pitchFamily="18" charset="0"/>
                <a:cs typeface="Times New Roman" panose="02020603050405020304" pitchFamily="18" charset="0"/>
              </a:rPr>
              <a:t>Ngoài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ra</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trường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hợp</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A619 chờ nhân nhượng của SQD cho ADD ENG 2 FIRE DETECTOR LOOP A FAULT, ảnh hưởng </a:t>
            </a:r>
            <a:r>
              <a:rPr lang="en-US" sz="1600" dirty="0">
                <a:solidFill>
                  <a:prstClr val="black"/>
                </a:solidFill>
                <a:latin typeface="Times New Roman" panose="02020603050405020304" pitchFamily="18" charset="0"/>
                <a:cs typeface="Times New Roman" panose="02020603050405020304" pitchFamily="18" charset="0"/>
              </a:rPr>
              <a:t>delay </a:t>
            </a:r>
            <a:r>
              <a:rPr lang="en-US" sz="1600" dirty="0" err="1">
                <a:solidFill>
                  <a:prstClr val="black"/>
                </a:solidFill>
                <a:latin typeface="Times New Roman" panose="02020603050405020304" pitchFamily="18" charset="0"/>
                <a:cs typeface="Times New Roman" panose="02020603050405020304" pitchFamily="18" charset="0"/>
              </a:rPr>
              <a:t>một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số</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chuyến</a:t>
            </a:r>
            <a:r>
              <a:rPr lang="en-US" sz="1600" dirty="0">
                <a:solidFill>
                  <a:prstClr val="black"/>
                </a:solidFill>
                <a:latin typeface="Times New Roman" panose="02020603050405020304" pitchFamily="18" charset="0"/>
                <a:cs typeface="Times New Roman" panose="02020603050405020304" pitchFamily="18" charset="0"/>
              </a:rPr>
              <a:t> bay, </a:t>
            </a:r>
            <a:r>
              <a:rPr lang="en-US" sz="1600" dirty="0" err="1">
                <a:solidFill>
                  <a:prstClr val="black"/>
                </a:solidFill>
                <a:latin typeface="Times New Roman" panose="02020603050405020304" pitchFamily="18" charset="0"/>
                <a:cs typeface="Times New Roman" panose="02020603050405020304" pitchFamily="18" charset="0"/>
              </a:rPr>
              <a:t>các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đơn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vị</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lưu</a:t>
            </a:r>
            <a:r>
              <a:rPr lang="en-US" sz="1600" dirty="0">
                <a:solidFill>
                  <a:prstClr val="black"/>
                </a:solidFill>
                <a:latin typeface="Times New Roman" panose="02020603050405020304" pitchFamily="18" charset="0"/>
                <a:cs typeface="Times New Roman" panose="02020603050405020304" pitchFamily="18" charset="0"/>
              </a:rPr>
              <a:t> ý </a:t>
            </a:r>
            <a:r>
              <a:rPr lang="en-US" sz="1600" dirty="0" err="1">
                <a:solidFill>
                  <a:prstClr val="black"/>
                </a:solidFill>
                <a:latin typeface="Times New Roman" panose="02020603050405020304" pitchFamily="18" charset="0"/>
                <a:cs typeface="Times New Roman" panose="02020603050405020304" pitchFamily="18" charset="0"/>
              </a:rPr>
              <a:t>khi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triển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khai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tác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xin</a:t>
            </a:r>
            <a:r>
              <a:rPr lang="en-US" sz="1600" dirty="0">
                <a:solidFill>
                  <a:prstClr val="black"/>
                </a:solidFill>
                <a:latin typeface="Times New Roman" panose="02020603050405020304" pitchFamily="18" charset="0"/>
                <a:cs typeface="Times New Roman" panose="02020603050405020304" pitchFamily="18" charset="0"/>
              </a:rPr>
              <a:t> NN </a:t>
            </a:r>
            <a:r>
              <a:rPr lang="en-US" sz="1600" dirty="0" err="1">
                <a:solidFill>
                  <a:prstClr val="black"/>
                </a:solidFill>
                <a:latin typeface="Times New Roman" panose="02020603050405020304" pitchFamily="18" charset="0"/>
                <a:cs typeface="Times New Roman" panose="02020603050405020304" pitchFamily="18" charset="0"/>
              </a:rPr>
              <a:t>cho</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smtClean="0">
                <a:solidFill>
                  <a:prstClr val="black"/>
                </a:solidFill>
                <a:latin typeface="Times New Roman" panose="02020603050405020304" pitchFamily="18" charset="0"/>
                <a:cs typeface="Times New Roman" panose="02020603050405020304" pitchFamily="18" charset="0"/>
              </a:rPr>
              <a:t>tàu</a:t>
            </a:r>
            <a:endParaRPr lang="vi-VN" sz="1600" dirty="0">
              <a:solidFill>
                <a:prstClr val="black"/>
              </a:solidFill>
              <a:cs typeface="Times New Roman" panose="02020603050405020304" pitchFamily="18" charset="0"/>
            </a:endParaRPr>
          </a:p>
          <a:p>
            <a:pPr algn="just">
              <a:buClrTx/>
            </a:pPr>
            <a:endParaRPr lang="en-US" sz="1600" dirty="0" smtClean="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673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57FE84CF-C288-6575-9437-37C69E340019}"/>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CB3B0293-D5D6-94F6-6720-993BBE47187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1EDB21AA-251A-9193-C671-BD2ED264F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43110990-FED5-8581-6170-AE507F7C4B3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 (&lt;15p)</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02D71CCA-0284-05E3-87F4-DE2B64BFC2A0}"/>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(&lt;15p)</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 xmlns:a16="http://schemas.microsoft.com/office/drawing/2014/main" id="{6D2B3142-11A7-9399-028B-F78AA96FF504}"/>
              </a:ext>
            </a:extLst>
          </p:cNvPr>
          <p:cNvGraphicFramePr>
            <a:graphicFrameLocks noGrp="1"/>
          </p:cNvGraphicFramePr>
          <p:nvPr>
            <p:extLst>
              <p:ext uri="{D42A27DB-BD31-4B8C-83A1-F6EECF244321}">
                <p14:modId xmlns:p14="http://schemas.microsoft.com/office/powerpoint/2010/main" val="2478879935"/>
              </p:ext>
            </p:extLst>
          </p:nvPr>
        </p:nvGraphicFramePr>
        <p:xfrm>
          <a:off x="134290" y="1521020"/>
          <a:ext cx="11688715" cy="2718390"/>
        </p:xfrm>
        <a:graphic>
          <a:graphicData uri="http://schemas.openxmlformats.org/drawingml/2006/table">
            <a:tbl>
              <a:tblPr/>
              <a:tblGrid>
                <a:gridCol w="399110">
                  <a:extLst>
                    <a:ext uri="{9D8B030D-6E8A-4147-A177-3AD203B41FA5}">
                      <a16:colId xmlns="" xmlns:a16="http://schemas.microsoft.com/office/drawing/2014/main" val="3467514978"/>
                    </a:ext>
                  </a:extLst>
                </a:gridCol>
                <a:gridCol w="7620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685800">
                  <a:extLst>
                    <a:ext uri="{9D8B030D-6E8A-4147-A177-3AD203B41FA5}">
                      <a16:colId xmlns="" xmlns:a16="http://schemas.microsoft.com/office/drawing/2014/main" val="673348196"/>
                    </a:ext>
                  </a:extLst>
                </a:gridCol>
                <a:gridCol w="762000">
                  <a:extLst>
                    <a:ext uri="{9D8B030D-6E8A-4147-A177-3AD203B41FA5}">
                      <a16:colId xmlns="" xmlns:a16="http://schemas.microsoft.com/office/drawing/2014/main" val="422459560"/>
                    </a:ext>
                  </a:extLst>
                </a:gridCol>
                <a:gridCol w="1752600">
                  <a:extLst>
                    <a:ext uri="{9D8B030D-6E8A-4147-A177-3AD203B41FA5}">
                      <a16:colId xmlns="" xmlns:a16="http://schemas.microsoft.com/office/drawing/2014/main" val="2573721533"/>
                    </a:ext>
                  </a:extLst>
                </a:gridCol>
                <a:gridCol w="2514600">
                  <a:extLst>
                    <a:ext uri="{9D8B030D-6E8A-4147-A177-3AD203B41FA5}">
                      <a16:colId xmlns="" xmlns:a16="http://schemas.microsoft.com/office/drawing/2014/main" val="1326284677"/>
                    </a:ext>
                  </a:extLst>
                </a:gridCol>
                <a:gridCol w="533400">
                  <a:extLst>
                    <a:ext uri="{9D8B030D-6E8A-4147-A177-3AD203B41FA5}">
                      <a16:colId xmlns="" xmlns:a16="http://schemas.microsoft.com/office/drawing/2014/main" val="3053691605"/>
                    </a:ext>
                  </a:extLst>
                </a:gridCol>
                <a:gridCol w="3212405">
                  <a:extLst>
                    <a:ext uri="{9D8B030D-6E8A-4147-A177-3AD203B41FA5}">
                      <a16:colId xmlns="" xmlns:a16="http://schemas.microsoft.com/office/drawing/2014/main" val="3407010750"/>
                    </a:ext>
                  </a:extLst>
                </a:gridCol>
              </a:tblGrid>
              <a:tr h="118910">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2378205">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18:10 29/05/2025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10</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SGN-SFO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DURING TRANSIT CHECK FOUND SATCOM FAULTDURING TRANSIT CHECK FOUND SATCOM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RAISE</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ADD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B1227 SATCOM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liên quan đến Satcom Antenna do linh kiện lỗi thời và không tin cậy, lỗi hàn trên bảng mạch, kết nối hàn không đủ bền (lỗi này đã được cải thiện với các thiết bị mới bằng cách xử lý nhiệt khi hàn), hiện Collins đang nghiên cứu giải pháp.</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SATCOM có thể raise MEL, tuy nhiên chuyến bay Mỹ sẽ bị hạn chế do SATCOM là điều kiện cần cho EDTO 240 flight.</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Về hỏng hóc SATCOM chung trên đội A350, Ban KT đang làm việc thêm với Airbus và Collins để nâng cao thêm độ tin cậy của hệ thống.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327877463"/>
                  </a:ext>
                </a:extLst>
              </a:tr>
            </a:tbl>
          </a:graphicData>
        </a:graphic>
      </p:graphicFrame>
    </p:spTree>
    <p:extLst>
      <p:ext uri="{BB962C8B-B14F-4D97-AF65-F5344CB8AC3E}">
        <p14:creationId xmlns:p14="http://schemas.microsoft.com/office/powerpoint/2010/main" val="71672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11</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xmlns="" id="{08C2D8D4-8E84-DF72-94F3-63B6AEA651CF}"/>
              </a:ext>
            </a:extLst>
          </p:cNvPr>
          <p:cNvGraphicFramePr>
            <a:graphicFrameLocks noGrp="1"/>
          </p:cNvGraphicFramePr>
          <p:nvPr>
            <p:extLst/>
          </p:nvPr>
        </p:nvGraphicFramePr>
        <p:xfrm>
          <a:off x="174042" y="565156"/>
          <a:ext cx="11854170" cy="6222305"/>
        </p:xfrm>
        <a:graphic>
          <a:graphicData uri="http://schemas.openxmlformats.org/drawingml/2006/table">
            <a:tbl>
              <a:tblPr/>
              <a:tblGrid>
                <a:gridCol w="291832">
                  <a:extLst>
                    <a:ext uri="{9D8B030D-6E8A-4147-A177-3AD203B41FA5}">
                      <a16:colId xmlns:a16="http://schemas.microsoft.com/office/drawing/2014/main" xmlns="" val="2175484509"/>
                    </a:ext>
                  </a:extLst>
                </a:gridCol>
                <a:gridCol w="564995">
                  <a:extLst>
                    <a:ext uri="{9D8B030D-6E8A-4147-A177-3AD203B41FA5}">
                      <a16:colId xmlns:a16="http://schemas.microsoft.com/office/drawing/2014/main" xmlns="" val="1658786710"/>
                    </a:ext>
                  </a:extLst>
                </a:gridCol>
                <a:gridCol w="624468">
                  <a:extLst>
                    <a:ext uri="{9D8B030D-6E8A-4147-A177-3AD203B41FA5}">
                      <a16:colId xmlns:a16="http://schemas.microsoft.com/office/drawing/2014/main" xmlns="" val="2034761915"/>
                    </a:ext>
                  </a:extLst>
                </a:gridCol>
                <a:gridCol w="1298499">
                  <a:extLst>
                    <a:ext uri="{9D8B030D-6E8A-4147-A177-3AD203B41FA5}">
                      <a16:colId xmlns:a16="http://schemas.microsoft.com/office/drawing/2014/main" xmlns="" val="2789644297"/>
                    </a:ext>
                  </a:extLst>
                </a:gridCol>
                <a:gridCol w="1219200">
                  <a:extLst>
                    <a:ext uri="{9D8B030D-6E8A-4147-A177-3AD203B41FA5}">
                      <a16:colId xmlns:a16="http://schemas.microsoft.com/office/drawing/2014/main" xmlns="" val="2912559891"/>
                    </a:ext>
                  </a:extLst>
                </a:gridCol>
                <a:gridCol w="1605775">
                  <a:extLst>
                    <a:ext uri="{9D8B030D-6E8A-4147-A177-3AD203B41FA5}">
                      <a16:colId xmlns:a16="http://schemas.microsoft.com/office/drawing/2014/main" xmlns="" val="828516150"/>
                    </a:ext>
                  </a:extLst>
                </a:gridCol>
                <a:gridCol w="6249401">
                  <a:extLst>
                    <a:ext uri="{9D8B030D-6E8A-4147-A177-3AD203B41FA5}">
                      <a16:colId xmlns:a16="http://schemas.microsoft.com/office/drawing/2014/main" xmlns="" val="2078108257"/>
                    </a:ext>
                  </a:extLst>
                </a:gridCol>
              </a:tblGrid>
              <a:tr h="205980">
                <a:tc>
                  <a:txBody>
                    <a:bodyPr/>
                    <a:lstStyle/>
                    <a:p>
                      <a:pPr algn="ctr" fontAlgn="ctr"/>
                      <a:r>
                        <a:rPr lang="en-US" sz="1300" b="0" i="0" u="none" strike="noStrike">
                          <a:solidFill>
                            <a:srgbClr val="000000"/>
                          </a:solidFill>
                          <a:effectLst/>
                          <a:latin typeface="Calibri" panose="020F0502020204030204" pitchFamily="34" charset="0"/>
                        </a:rPr>
                        <a:t>No</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21166767"/>
                  </a:ext>
                </a:extLst>
              </a:tr>
              <a:tr h="205980">
                <a:tc>
                  <a:txBody>
                    <a:bodyPr/>
                    <a:lstStyle/>
                    <a:p>
                      <a:pPr algn="ctr" fontAlgn="ctr"/>
                      <a:r>
                        <a:rPr lang="en-US" sz="1300" b="0" i="0" u="none" strike="noStrike">
                          <a:solidFill>
                            <a:srgbClr val="000000"/>
                          </a:solidFill>
                          <a:effectLst/>
                          <a:latin typeface="Calibri" panose="020F0502020204030204" pitchFamily="34" charset="0"/>
                        </a:rPr>
                        <a:t>1</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72233864"/>
                  </a:ext>
                </a:extLst>
              </a:tr>
              <a:tr h="205980">
                <a:tc>
                  <a:txBody>
                    <a:bodyPr/>
                    <a:lstStyle/>
                    <a:p>
                      <a:pPr algn="ctr" fontAlgn="ctr"/>
                      <a:r>
                        <a:rPr lang="en-US" sz="1300" b="0" i="0" u="none" strike="noStrike">
                          <a:solidFill>
                            <a:srgbClr val="000000"/>
                          </a:solidFill>
                          <a:effectLst/>
                          <a:latin typeface="Calibri" panose="020F0502020204030204" pitchFamily="34" charset="0"/>
                        </a:rPr>
                        <a:t>2</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88962451"/>
                  </a:ext>
                </a:extLst>
              </a:tr>
              <a:tr h="815580">
                <a:tc>
                  <a:txBody>
                    <a:bodyPr/>
                    <a:lstStyle/>
                    <a:p>
                      <a:pPr algn="ctr" fontAlgn="ctr"/>
                      <a:r>
                        <a:rPr lang="en-US" sz="1300" b="0" i="0" u="none" strike="noStrike">
                          <a:solidFill>
                            <a:srgbClr val="000000"/>
                          </a:solidFill>
                          <a:effectLst/>
                          <a:latin typeface="Calibri" panose="020F0502020204030204" pitchFamily="34" charset="0"/>
                        </a:rPr>
                        <a:t>3</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 DURING CRUISE</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57345387"/>
                  </a:ext>
                </a:extLst>
              </a:tr>
              <a:tr h="409180">
                <a:tc>
                  <a:txBody>
                    <a:bodyPr/>
                    <a:lstStyle/>
                    <a:p>
                      <a:pPr algn="ctr" fontAlgn="ctr"/>
                      <a:r>
                        <a:rPr lang="en-US" sz="1300" b="0" i="0" u="none" strike="noStrike">
                          <a:solidFill>
                            <a:srgbClr val="000000"/>
                          </a:solidFill>
                          <a:effectLst/>
                          <a:latin typeface="Calibri" panose="020F0502020204030204" pitchFamily="34" charset="0"/>
                        </a:rPr>
                        <a:t>4</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10121670"/>
                  </a:ext>
                </a:extLst>
              </a:tr>
              <a:tr h="409180">
                <a:tc>
                  <a:txBody>
                    <a:bodyPr/>
                    <a:lstStyle/>
                    <a:p>
                      <a:pPr algn="ctr" fontAlgn="ctr"/>
                      <a:r>
                        <a:rPr lang="en-US" sz="1300" b="0" i="0" u="none" strike="noStrike">
                          <a:solidFill>
                            <a:srgbClr val="000000"/>
                          </a:solidFill>
                          <a:effectLst/>
                          <a:latin typeface="Calibri" panose="020F0502020204030204" pitchFamily="34" charset="0"/>
                        </a:rPr>
                        <a:t>5</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TR 81489576: PREVENTIVE RECOMMENDATION PACK 2 INTERNAL LEAKAGE</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LLP của ENG không đáp ứng tiêu chuẩn VIP đường dài (28/5)</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11261336"/>
                  </a:ext>
                </a:extLst>
              </a:tr>
              <a:tr h="205980">
                <a:tc>
                  <a:txBody>
                    <a:bodyPr/>
                    <a:lstStyle/>
                    <a:p>
                      <a:pPr algn="ctr" fontAlgn="ctr"/>
                      <a:r>
                        <a:rPr lang="en-US" sz="1300" b="0" i="0" u="none" strike="noStrike">
                          <a:solidFill>
                            <a:srgbClr val="000000"/>
                          </a:solidFill>
                          <a:effectLst/>
                          <a:latin typeface="Calibri" panose="020F0502020204030204" pitchFamily="34" charset="0"/>
                        </a:rPr>
                        <a:t>6</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81570626 PREVENTIVE RECOMMENDATION PACK 2 INTERNAL LEAKAGE</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04767829"/>
                  </a:ext>
                </a:extLst>
              </a:tr>
              <a:tr h="815580">
                <a:tc>
                  <a:txBody>
                    <a:bodyPr/>
                    <a:lstStyle/>
                    <a:p>
                      <a:pPr algn="ctr" fontAlgn="ctr"/>
                      <a:r>
                        <a:rPr lang="en-US" sz="1300" b="0" i="0" u="none" strike="noStrike">
                          <a:solidFill>
                            <a:srgbClr val="000000"/>
                          </a:solidFill>
                          <a:effectLst/>
                          <a:latin typeface="Calibri" panose="020F0502020204030204" pitchFamily="34" charset="0"/>
                        </a:rPr>
                        <a:t>7</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ENGINE: #2/21368 ON AIRCRAFT VN-A892: P25 MEASUREMENT ERROR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C1203 RAISED GALLEY CHILLER SYS INOP </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ADD B1566 RAISED AIR PACK 2 REGUL REDUNANCY</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4. LLP của ENG remain 150FC không đáp ứng tiêu chuẩn VIP đường dài (28/5)</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26132197"/>
                  </a:ext>
                </a:extLst>
              </a:tr>
              <a:tr h="205980">
                <a:tc>
                  <a:txBody>
                    <a:bodyPr/>
                    <a:lstStyle/>
                    <a:p>
                      <a:pPr algn="ctr" fontAlgn="ctr"/>
                      <a:r>
                        <a:rPr lang="en-US" sz="1300" b="0" i="0" u="none" strike="noStrike">
                          <a:solidFill>
                            <a:srgbClr val="000000"/>
                          </a:solidFill>
                          <a:effectLst/>
                          <a:latin typeface="Calibri" panose="020F0502020204030204" pitchFamily="34" charset="0"/>
                        </a:rPr>
                        <a:t>8</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15446291"/>
                  </a:ext>
                </a:extLst>
              </a:tr>
              <a:tr h="205980">
                <a:tc>
                  <a:txBody>
                    <a:bodyPr/>
                    <a:lstStyle/>
                    <a:p>
                      <a:pPr algn="ctr" fontAlgn="ctr"/>
                      <a:r>
                        <a:rPr lang="en-US" sz="1300" b="0" i="0" u="none" strike="noStrike">
                          <a:solidFill>
                            <a:srgbClr val="000000"/>
                          </a:solidFill>
                          <a:effectLst/>
                          <a:latin typeface="Calibri" panose="020F0502020204030204" pitchFamily="34" charset="0"/>
                        </a:rPr>
                        <a:t>9</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21724054"/>
                  </a:ext>
                </a:extLst>
              </a:tr>
              <a:tr h="205980">
                <a:tc>
                  <a:txBody>
                    <a:bodyPr/>
                    <a:lstStyle/>
                    <a:p>
                      <a:pPr algn="ctr" fontAlgn="ctr"/>
                      <a:r>
                        <a:rPr lang="en-US" sz="1300" b="0" i="0" u="none" strike="noStrike">
                          <a:solidFill>
                            <a:srgbClr val="000000"/>
                          </a:solidFill>
                          <a:effectLst/>
                          <a:latin typeface="Calibri" panose="020F0502020204030204" pitchFamily="34" charset="0"/>
                        </a:rPr>
                        <a:t>10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85052372"/>
                  </a:ext>
                </a:extLst>
              </a:tr>
              <a:tr h="205980">
                <a:tc>
                  <a:txBody>
                    <a:bodyPr/>
                    <a:lstStyle/>
                    <a:p>
                      <a:pPr algn="ctr" fontAlgn="ctr"/>
                      <a:r>
                        <a:rPr lang="en-US" sz="1300" b="0" i="0" u="none" strike="noStrike">
                          <a:solidFill>
                            <a:srgbClr val="000000"/>
                          </a:solidFill>
                          <a:effectLst/>
                          <a:latin typeface="Calibri" panose="020F0502020204030204" pitchFamily="34" charset="0"/>
                        </a:rPr>
                        <a:t>11</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76281683"/>
                  </a:ext>
                </a:extLst>
              </a:tr>
              <a:tr h="1221980">
                <a:tc>
                  <a:txBody>
                    <a:bodyPr/>
                    <a:lstStyle/>
                    <a:p>
                      <a:pPr algn="ctr" fontAlgn="ctr"/>
                      <a:r>
                        <a:rPr lang="en-US" sz="1300" b="0" i="0" u="none" strike="noStrike">
                          <a:solidFill>
                            <a:srgbClr val="000000"/>
                          </a:solidFill>
                          <a:effectLst/>
                          <a:latin typeface="Calibri" panose="020F0502020204030204" pitchFamily="34" charset="0"/>
                        </a:rPr>
                        <a:t>12</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FM: PROBE 3-N1 TURBINE SPEED,ENG2(4088KS32)</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AFT CARGO DOOR ACTUATOR LEAKAGES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5. TR 81592240: EDP Y2 Minimum Flow Orifice seems to be affected by contamination</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6. ADD B1227 "SATCOM FAULT"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06038968"/>
                  </a:ext>
                </a:extLst>
              </a:tr>
              <a:tr h="696985">
                <a:tc>
                  <a:txBody>
                    <a:bodyPr/>
                    <a:lstStyle/>
                    <a:p>
                      <a:pPr algn="ctr" fontAlgn="ctr"/>
                      <a:r>
                        <a:rPr lang="en-US" sz="1300" b="0" i="0" u="none" strike="noStrike">
                          <a:solidFill>
                            <a:srgbClr val="000000"/>
                          </a:solidFill>
                          <a:effectLst/>
                          <a:latin typeface="Calibri" panose="020F0502020204030204" pitchFamily="34" charset="0"/>
                        </a:rPr>
                        <a:t>13</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 giảm tần suất IPC blade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C552 RAISED AIR CHILLER SYS AT ALL GALLEY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ENGINE: #1/21422 ON AIRCRAFT VN-A898: P25 MEASUREMENT ERROR</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73645132"/>
                  </a:ext>
                </a:extLst>
              </a:tr>
              <a:tr h="205980">
                <a:tc>
                  <a:txBody>
                    <a:bodyPr/>
                    <a:lstStyle/>
                    <a:p>
                      <a:pPr algn="ctr" fontAlgn="ctr"/>
                      <a:r>
                        <a:rPr lang="en-US" sz="1300" b="0" i="0" u="none" strike="noStrike">
                          <a:solidFill>
                            <a:srgbClr val="000000"/>
                          </a:solidFill>
                          <a:effectLst/>
                          <a:latin typeface="Calibri" panose="020F0502020204030204" pitchFamily="34" charset="0"/>
                        </a:rPr>
                        <a:t>14</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Monitor ENGINE 2 OIL LEVEL OVERFULL</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62214224"/>
                  </a:ext>
                </a:extLst>
              </a:tr>
            </a:tbl>
          </a:graphicData>
        </a:graphic>
      </p:graphicFrame>
    </p:spTree>
    <p:extLst>
      <p:ext uri="{BB962C8B-B14F-4D97-AF65-F5344CB8AC3E}">
        <p14:creationId xmlns:p14="http://schemas.microsoft.com/office/powerpoint/2010/main" val="791439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xmlns=""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5914447B-A879-4C97-AD62-7AFABAF9410A}"/>
              </a:ext>
            </a:extLst>
          </p:cNvPr>
          <p:cNvSpPr/>
          <p:nvPr/>
        </p:nvSpPr>
        <p:spPr>
          <a:xfrm>
            <a:off x="210231" y="535899"/>
            <a:ext cx="11769687"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NIL</a:t>
            </a:r>
          </a:p>
        </p:txBody>
      </p:sp>
    </p:spTree>
    <p:extLst>
      <p:ext uri="{BB962C8B-B14F-4D97-AF65-F5344CB8AC3E}">
        <p14:creationId xmlns:p14="http://schemas.microsoft.com/office/powerpoint/2010/main" val="2209394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0FC424B-DC9D-62E1-A53D-83CE2CCCCFD5}"/>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8AF1EF19-7163-0783-FF8C-38BD4263E69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9ED29832-B4E5-CE18-C5B6-1FF1D092A3C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E9E82A5A-DEEC-A030-5520-D33586E9A540}"/>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a:t>
            </a:r>
            <a:r>
              <a:rPr lang="vi-VN" sz="1600" b="1">
                <a:solidFill>
                  <a:srgbClr val="FF0000"/>
                </a:solidFill>
                <a:ea typeface="MS PGothic" panose="020B0600070205080204" pitchFamily="34" charset="-128"/>
                <a:cs typeface="Times New Roman" panose="02020603050405020304" pitchFamily="18" charset="0"/>
              </a:rPr>
              <a:t>0</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3877AFC4-E60F-6712-1013-24289839523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7" name="Table 6">
            <a:extLst>
              <a:ext uri="{FF2B5EF4-FFF2-40B4-BE49-F238E27FC236}">
                <a16:creationId xmlns="" xmlns:a16="http://schemas.microsoft.com/office/drawing/2014/main" id="{D8A6B6E7-802B-28F6-5A71-3330ACB11301}"/>
              </a:ext>
            </a:extLst>
          </p:cNvPr>
          <p:cNvGraphicFramePr>
            <a:graphicFrameLocks noGrp="1"/>
          </p:cNvGraphicFramePr>
          <p:nvPr>
            <p:extLst/>
          </p:nvPr>
        </p:nvGraphicFramePr>
        <p:xfrm>
          <a:off x="134289" y="1676401"/>
          <a:ext cx="11688715" cy="2027343"/>
        </p:xfrm>
        <a:graphic>
          <a:graphicData uri="http://schemas.openxmlformats.org/drawingml/2006/table">
            <a:tbl>
              <a:tblPr/>
              <a:tblGrid>
                <a:gridCol w="475311">
                  <a:extLst>
                    <a:ext uri="{9D8B030D-6E8A-4147-A177-3AD203B41FA5}">
                      <a16:colId xmlns="" xmlns:a16="http://schemas.microsoft.com/office/drawing/2014/main" val="2473118882"/>
                    </a:ext>
                  </a:extLst>
                </a:gridCol>
                <a:gridCol w="807264">
                  <a:extLst>
                    <a:ext uri="{9D8B030D-6E8A-4147-A177-3AD203B41FA5}">
                      <a16:colId xmlns="" xmlns:a16="http://schemas.microsoft.com/office/drawing/2014/main" val="3392135331"/>
                    </a:ext>
                  </a:extLst>
                </a:gridCol>
                <a:gridCol w="955109">
                  <a:extLst>
                    <a:ext uri="{9D8B030D-6E8A-4147-A177-3AD203B41FA5}">
                      <a16:colId xmlns="" xmlns:a16="http://schemas.microsoft.com/office/drawing/2014/main" val="2196282914"/>
                    </a:ext>
                  </a:extLst>
                </a:gridCol>
                <a:gridCol w="523627">
                  <a:extLst>
                    <a:ext uri="{9D8B030D-6E8A-4147-A177-3AD203B41FA5}">
                      <a16:colId xmlns="" xmlns:a16="http://schemas.microsoft.com/office/drawing/2014/main" val="3375762913"/>
                    </a:ext>
                  </a:extLst>
                </a:gridCol>
                <a:gridCol w="1524000">
                  <a:extLst>
                    <a:ext uri="{9D8B030D-6E8A-4147-A177-3AD203B41FA5}">
                      <a16:colId xmlns="" xmlns:a16="http://schemas.microsoft.com/office/drawing/2014/main" val="1905667060"/>
                    </a:ext>
                  </a:extLst>
                </a:gridCol>
                <a:gridCol w="2743200">
                  <a:extLst>
                    <a:ext uri="{9D8B030D-6E8A-4147-A177-3AD203B41FA5}">
                      <a16:colId xmlns="" xmlns:a16="http://schemas.microsoft.com/office/drawing/2014/main" val="59642537"/>
                    </a:ext>
                  </a:extLst>
                </a:gridCol>
                <a:gridCol w="457200">
                  <a:extLst>
                    <a:ext uri="{9D8B030D-6E8A-4147-A177-3AD203B41FA5}">
                      <a16:colId xmlns="" xmlns:a16="http://schemas.microsoft.com/office/drawing/2014/main" val="3935706781"/>
                    </a:ext>
                  </a:extLst>
                </a:gridCol>
                <a:gridCol w="4203004">
                  <a:extLst>
                    <a:ext uri="{9D8B030D-6E8A-4147-A177-3AD203B41FA5}">
                      <a16:colId xmlns="" xmlns:a16="http://schemas.microsoft.com/office/drawing/2014/main" val="63803871"/>
                    </a:ext>
                  </a:extLst>
                </a:gridCol>
              </a:tblGrid>
              <a:tr h="321089">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96725487"/>
                  </a:ext>
                </a:extLst>
              </a:tr>
              <a:tr h="1401491">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16:45 28/05/2025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22:55 28/05/2025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02 NO GO MMSG : STAB CHANNEL AND STABILIZER SYS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T/X FOUND: </a:t>
                      </a:r>
                      <a:r>
                        <a:rPr lang="en-US" sz="1200" b="0" i="0" u="none" strike="noStrike">
                          <a:solidFill>
                            <a:srgbClr val="000000"/>
                          </a:solidFill>
                          <a:effectLst/>
                          <a:latin typeface="Times New Roman" panose="02020603050405020304" pitchFamily="18" charset="0"/>
                          <a:cs typeface="Times New Roman" panose="02020603050405020304" pitchFamily="18" charset="0"/>
                        </a:rPr>
                        <a:t>02 NO GO MMSG : STAB CHANNEL AND STABILIZER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SYS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200" b="0" i="0" u="none" strike="noStrike">
                          <a:solidFill>
                            <a:srgbClr val="000000"/>
                          </a:solidFill>
                          <a:effectLst/>
                          <a:latin typeface="Times New Roman" panose="02020603050405020304" pitchFamily="18" charset="0"/>
                          <a:cs typeface="Times New Roman" panose="02020603050405020304" pitchFamily="18" charset="0"/>
                        </a:rPr>
                        <a:t>REPLACED R/H EMCU, Ground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test-Satis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Thực </a:t>
                      </a:r>
                      <a:r>
                        <a:rPr lang="vi-VN" sz="1200" b="0" i="0" u="none" strike="noStrike">
                          <a:solidFill>
                            <a:srgbClr val="000000"/>
                          </a:solidFill>
                          <a:effectLst/>
                          <a:latin typeface="Times New Roman" panose="02020603050405020304" pitchFamily="18" charset="0"/>
                          <a:cs typeface="Times New Roman" panose="02020603050405020304" pitchFamily="18" charset="0"/>
                        </a:rPr>
                        <a:t>hiện thay EMCU Pn CA72711-005 SN 03858 (original on A864) để khắc phục hỏng hóc.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ĐTC: Đã tưng thay 38 khối (22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25 khối -005 và 77 khối -006. Từ 2021, BOE/OEM có thếm 6 nâng cấp cho các chi tiết điện tử của EMCU nhưng chỉ thực hiện trong Production</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88298701"/>
                  </a:ext>
                </a:extLst>
              </a:tr>
            </a:tbl>
          </a:graphicData>
        </a:graphic>
      </p:graphicFrame>
    </p:spTree>
    <p:extLst>
      <p:ext uri="{BB962C8B-B14F-4D97-AF65-F5344CB8AC3E}">
        <p14:creationId xmlns:p14="http://schemas.microsoft.com/office/powerpoint/2010/main" val="2454739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56280" y="606663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3" name="Rectangle 2"/>
          <p:cNvSpPr/>
          <p:nvPr/>
        </p:nvSpPr>
        <p:spPr>
          <a:xfrm>
            <a:off x="385676" y="147086"/>
            <a:ext cx="3258200"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A864 </a:t>
            </a:r>
            <a:r>
              <a:rPr lang="en-US" b="1" dirty="0">
                <a:latin typeface="Times New Roman" panose="02020603050405020304" pitchFamily="18" charset="0"/>
                <a:cs typeface="Times New Roman" panose="02020603050405020304" pitchFamily="18" charset="0"/>
              </a:rPr>
              <a:t>AOG </a:t>
            </a:r>
            <a:r>
              <a:rPr lang="en-US" altLang="en-US" b="1" dirty="0">
                <a:latin typeface="Times New Roman" panose="02020603050405020304" pitchFamily="18" charset="0"/>
                <a:cs typeface="Times New Roman" panose="02020603050405020304" pitchFamily="18" charset="0"/>
              </a:rPr>
              <a:t>STABILIZER SYS</a:t>
            </a:r>
            <a:r>
              <a:rPr lang="en-US" b="1" dirty="0">
                <a:latin typeface="Times New Roman" panose="02020603050405020304" pitchFamily="18" charset="0"/>
                <a:cs typeface="Times New Roman" panose="02020603050405020304" pitchFamily="18" charset="0"/>
              </a:rPr>
              <a:t> </a:t>
            </a:r>
          </a:p>
        </p:txBody>
      </p:sp>
      <p:sp>
        <p:nvSpPr>
          <p:cNvPr id="18" name="Rectangle 17"/>
          <p:cNvSpPr/>
          <p:nvPr/>
        </p:nvSpPr>
        <p:spPr>
          <a:xfrm>
            <a:off x="385675" y="686405"/>
            <a:ext cx="8067661" cy="307777"/>
          </a:xfrm>
          <a:prstGeom prst="rect">
            <a:avLst/>
          </a:prstGeom>
        </p:spPr>
        <p:txBody>
          <a:bodyPr wrap="square">
            <a:spAutoFit/>
          </a:bodyPr>
          <a:lstStyle/>
          <a:p>
            <a:pPr marL="285750" indent="-285750">
              <a:buFontTx/>
              <a:buChar char="-"/>
            </a:pPr>
            <a:endParaRPr lang="en-US" sz="1400" dirty="0">
              <a:latin typeface="Times New Roman" panose="02020603050405020304" pitchFamily="18" charset="0"/>
              <a:cs typeface="Times New Roman" panose="02020603050405020304" pitchFamily="18" charset="0"/>
            </a:endParaRPr>
          </a:p>
        </p:txBody>
      </p:sp>
      <p:sp>
        <p:nvSpPr>
          <p:cNvPr id="9" name="Rectangle 8"/>
          <p:cNvSpPr>
            <a:spLocks noChangeArrowheads="1"/>
          </p:cNvSpPr>
          <p:nvPr/>
        </p:nvSpPr>
        <p:spPr bwMode="auto">
          <a:xfrm>
            <a:off x="385675" y="522454"/>
            <a:ext cx="6081800" cy="6038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20000"/>
              </a:lnSpc>
              <a:spcBef>
                <a:spcPct val="0"/>
              </a:spcBef>
              <a:spcAft>
                <a:spcPct val="0"/>
              </a:spcAft>
              <a:buClrTx/>
              <a:buSzTx/>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tượng</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Tàu</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VN-A864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hạ</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cánh</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FRA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cảnh</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báo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STAB CHANNEL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STABILIZER SYS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kiểm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tra</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theo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FIM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bao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gồm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Cold DARD Test)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Vân</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h</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iển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thị</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FDE STABILIZER SYS (FDE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MEL)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Thay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RH EMCU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Tàu</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hoạt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động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bình</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thường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Cảnh</a:t>
            </a:r>
            <a:r>
              <a:rPr kumimoji="0" lang="en-US" altLang="en-US" sz="1400"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báo</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AHM: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MM 27-12742 – RH EMCU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nguồn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xảy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trên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cruise,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bởi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cả</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3 FCMs.</a:t>
            </a: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Phân</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tích</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Boeing:</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FDE STABILIZER SYS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xuất</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do 1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8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điều</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kiện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nghiêm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trọng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mất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kênh</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cảm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biến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test, v.v.)</a:t>
            </a: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Mất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 EMCU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mất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50%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điều</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khiển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stabilizer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còn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"redundancy",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rủi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=&gt;</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mở</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MEL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tình</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huống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này</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20000"/>
              </a:lnSpc>
              <a:spcBef>
                <a:spcPct val="0"/>
              </a:spcBef>
              <a:spcAft>
                <a:spcPct val="0"/>
              </a:spcAft>
              <a:buClrTx/>
              <a:buSzTx/>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Hành</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động</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tiếp</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theo</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Boeing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trao</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đổi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nội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xem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xét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khả</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cấp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hướng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dẫn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MEL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tương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hỏng</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bên</a:t>
            </a:r>
            <a:r>
              <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EMCU.</a:t>
            </a:r>
          </a:p>
          <a:p>
            <a:pPr marL="0" marR="0" lvl="0" indent="0" algn="just" defTabSz="914400" rtl="0" eaLnBrk="0" fontAlgn="base" latinLnBrk="0" hangingPunct="0">
              <a:lnSpc>
                <a:spcPct val="120000"/>
              </a:lnSpc>
              <a:spcBef>
                <a:spcPct val="0"/>
              </a:spcBef>
              <a:spcAft>
                <a:spcPct val="0"/>
              </a:spcAft>
              <a:buClrTx/>
              <a:buSzTx/>
              <a:tabLst/>
            </a:pPr>
            <a:endParaRPr kumimoji="0" lang="en-US" altLang="en-US" sz="1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20000"/>
              </a:lnSpc>
              <a:spcBef>
                <a:spcPct val="0"/>
              </a:spcBef>
              <a:spcAft>
                <a:spcPct val="0"/>
              </a:spcAft>
            </a:pPr>
            <a:r>
              <a:rPr lang="en-US" altLang="en-US" sz="1400" b="1" dirty="0" smtClean="0">
                <a:latin typeface="Times New Roman" panose="02020603050405020304" pitchFamily="18" charset="0"/>
                <a:cs typeface="Times New Roman" panose="02020603050405020304" pitchFamily="18" charset="0"/>
              </a:rPr>
              <a:t>ĐTC </a:t>
            </a:r>
            <a:r>
              <a:rPr lang="vi-VN" altLang="en-US" sz="1400" b="1" dirty="0">
                <a:latin typeface="Times New Roman" panose="02020603050405020304" pitchFamily="18" charset="0"/>
                <a:cs typeface="Times New Roman" panose="02020603050405020304" pitchFamily="18" charset="0"/>
              </a:rPr>
              <a:t>EMCU</a:t>
            </a:r>
            <a:r>
              <a:rPr lang="vi-VN" altLang="en-US" sz="1400" dirty="0">
                <a:latin typeface="Times New Roman" panose="02020603050405020304" pitchFamily="18" charset="0"/>
                <a:cs typeface="Times New Roman" panose="02020603050405020304" pitchFamily="18" charset="0"/>
              </a:rPr>
              <a:t>: Đã tưng thay 38 khối (22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a:t>
            </a:r>
            <a:endParaRPr lang="en-US" altLang="en-US" sz="1400" dirty="0" smtClean="0">
              <a:latin typeface="Times New Roman" panose="02020603050405020304" pitchFamily="18" charset="0"/>
              <a:cs typeface="Times New Roman" panose="02020603050405020304" pitchFamily="18" charset="0"/>
            </a:endParaRPr>
          </a:p>
          <a:p>
            <a:pPr lvl="0" algn="just" eaLnBrk="0" fontAlgn="base" hangingPunct="0">
              <a:lnSpc>
                <a:spcPct val="120000"/>
              </a:lnSpc>
              <a:spcBef>
                <a:spcPct val="0"/>
              </a:spcBef>
              <a:spcAft>
                <a:spcPct val="0"/>
              </a:spcAft>
            </a:pPr>
            <a:r>
              <a:rPr lang="vi-VN" altLang="en-US" sz="1400" dirty="0" smtClean="0">
                <a:latin typeface="Times New Roman" panose="02020603050405020304" pitchFamily="18" charset="0"/>
                <a:cs typeface="Times New Roman" panose="02020603050405020304" pitchFamily="18" charset="0"/>
              </a:rPr>
              <a:t>Đội </a:t>
            </a:r>
            <a:r>
              <a:rPr lang="en-US" altLang="en-US" sz="1400" dirty="0" smtClean="0">
                <a:latin typeface="Times New Roman" panose="02020603050405020304" pitchFamily="18" charset="0"/>
                <a:cs typeface="Times New Roman" panose="02020603050405020304" pitchFamily="18" charset="0"/>
              </a:rPr>
              <a:t>787 </a:t>
            </a:r>
            <a:r>
              <a:rPr lang="vi-VN" altLang="en-US" sz="1400" dirty="0" smtClean="0">
                <a:latin typeface="Times New Roman" panose="02020603050405020304" pitchFamily="18" charset="0"/>
                <a:cs typeface="Times New Roman" panose="02020603050405020304" pitchFamily="18" charset="0"/>
              </a:rPr>
              <a:t>đang </a:t>
            </a:r>
            <a:r>
              <a:rPr lang="vi-VN" altLang="en-US" sz="1400" dirty="0">
                <a:latin typeface="Times New Roman" panose="02020603050405020304" pitchFamily="18" charset="0"/>
                <a:cs typeface="Times New Roman" panose="02020603050405020304" pitchFamily="18" charset="0"/>
              </a:rPr>
              <a:t>khai thác 25 khối -005 và 77 khối -006. Từ 2021, BOE/OEM có </a:t>
            </a:r>
            <a:r>
              <a:rPr lang="vi-VN" altLang="en-US" sz="1400" dirty="0" smtClean="0">
                <a:latin typeface="Times New Roman" panose="02020603050405020304" pitchFamily="18" charset="0"/>
                <a:cs typeface="Times New Roman" panose="02020603050405020304" pitchFamily="18" charset="0"/>
              </a:rPr>
              <a:t>th</a:t>
            </a:r>
            <a:r>
              <a:rPr lang="en-US" altLang="en-US" sz="1400">
                <a:latin typeface="Times New Roman" panose="02020603050405020304" pitchFamily="18" charset="0"/>
                <a:cs typeface="Times New Roman" panose="02020603050405020304" pitchFamily="18" charset="0"/>
              </a:rPr>
              <a:t>ê</a:t>
            </a:r>
            <a:r>
              <a:rPr lang="vi-VN" altLang="en-US" sz="1400" smtClean="0">
                <a:latin typeface="Times New Roman" panose="02020603050405020304" pitchFamily="18" charset="0"/>
                <a:cs typeface="Times New Roman" panose="02020603050405020304" pitchFamily="18" charset="0"/>
              </a:rPr>
              <a:t>m </a:t>
            </a:r>
            <a:r>
              <a:rPr lang="vi-VN" altLang="en-US" sz="1400" dirty="0">
                <a:latin typeface="Times New Roman" panose="02020603050405020304" pitchFamily="18" charset="0"/>
                <a:cs typeface="Times New Roman" panose="02020603050405020304" pitchFamily="18" charset="0"/>
              </a:rPr>
              <a:t>6 nâng cấp cho các chi tiết điện tử của EMCU nhưng chỉ thực hiện trong Production</a:t>
            </a:r>
            <a:r>
              <a:rPr lang="vi-VN" altLang="en-US" sz="1400" dirty="0" smtClean="0">
                <a:latin typeface="Times New Roman" panose="02020603050405020304" pitchFamily="18" charset="0"/>
                <a:cs typeface="Times New Roman" panose="02020603050405020304" pitchFamily="18" charset="0"/>
              </a:rPr>
              <a:t>.</a:t>
            </a:r>
            <a:endParaRPr lang="en-US" altLang="en-US" sz="1400" dirty="0" smtClean="0">
              <a:latin typeface="Times New Roman" panose="02020603050405020304" pitchFamily="18" charset="0"/>
              <a:cs typeface="Times New Roman" panose="02020603050405020304" pitchFamily="18" charset="0"/>
            </a:endParaRPr>
          </a:p>
          <a:p>
            <a:pPr lvl="0" algn="just" eaLnBrk="0" fontAlgn="base" hangingPunct="0">
              <a:lnSpc>
                <a:spcPct val="120000"/>
              </a:lnSpc>
              <a:spcBef>
                <a:spcPct val="0"/>
              </a:spcBef>
              <a:spcAft>
                <a:spcPct val="0"/>
              </a:spcAft>
            </a:pPr>
            <a:r>
              <a:rPr lang="en-US" altLang="en-US" sz="1400" dirty="0" err="1" smtClean="0">
                <a:latin typeface="Times New Roman" panose="02020603050405020304" pitchFamily="18" charset="0"/>
                <a:cs typeface="Times New Roman" panose="02020603050405020304" pitchFamily="18" charset="0"/>
              </a:rPr>
              <a:t>Khối</a:t>
            </a:r>
            <a:r>
              <a:rPr lang="en-US" altLang="en-US" sz="1400" dirty="0" smtClean="0">
                <a:latin typeface="Times New Roman" panose="02020603050405020304" pitchFamily="18" charset="0"/>
                <a:cs typeface="Times New Roman" panose="02020603050405020304" pitchFamily="18" charset="0"/>
              </a:rPr>
              <a:t> </a:t>
            </a:r>
            <a:r>
              <a:rPr lang="en-US" altLang="en-US" sz="1400" dirty="0" err="1" smtClean="0">
                <a:latin typeface="Times New Roman" panose="02020603050405020304" pitchFamily="18" charset="0"/>
                <a:cs typeface="Times New Roman" panose="02020603050405020304" pitchFamily="18" charset="0"/>
              </a:rPr>
              <a:t>hỏng</a:t>
            </a:r>
            <a:r>
              <a:rPr lang="en-US" altLang="en-US" sz="1400" dirty="0" smtClean="0">
                <a:latin typeface="Times New Roman" panose="02020603050405020304" pitchFamily="18" charset="0"/>
                <a:cs typeface="Times New Roman" panose="02020603050405020304" pitchFamily="18" charset="0"/>
              </a:rPr>
              <a:t> EMCU SN </a:t>
            </a:r>
            <a:r>
              <a:rPr lang="en-US" altLang="en-US" sz="1400" dirty="0">
                <a:latin typeface="Times New Roman" panose="02020603050405020304" pitchFamily="18" charset="0"/>
                <a:cs typeface="Times New Roman" panose="02020603050405020304" pitchFamily="18" charset="0"/>
              </a:rPr>
              <a:t>03858 </a:t>
            </a:r>
            <a:r>
              <a:rPr lang="en-US" altLang="en-US" sz="1400" dirty="0" err="1" smtClean="0">
                <a:latin typeface="Times New Roman" panose="02020603050405020304" pitchFamily="18" charset="0"/>
                <a:cs typeface="Times New Roman" panose="02020603050405020304" pitchFamily="18" charset="0"/>
              </a:rPr>
              <a:t>là</a:t>
            </a:r>
            <a:r>
              <a:rPr lang="en-US" altLang="en-US" sz="1400" dirty="0" smtClean="0">
                <a:latin typeface="Times New Roman" panose="02020603050405020304" pitchFamily="18" charset="0"/>
                <a:cs typeface="Times New Roman" panose="02020603050405020304" pitchFamily="18" charset="0"/>
              </a:rPr>
              <a:t> </a:t>
            </a:r>
            <a:r>
              <a:rPr lang="en-US" altLang="en-US" sz="1400" dirty="0" err="1" smtClean="0">
                <a:latin typeface="Times New Roman" panose="02020603050405020304" pitchFamily="18" charset="0"/>
                <a:cs typeface="Times New Roman" panose="02020603050405020304" pitchFamily="18" charset="0"/>
              </a:rPr>
              <a:t>khối</a:t>
            </a:r>
            <a:r>
              <a:rPr lang="en-US" altLang="en-US" sz="1400" dirty="0" smtClean="0">
                <a:latin typeface="Times New Roman" panose="02020603050405020304" pitchFamily="18" charset="0"/>
                <a:cs typeface="Times New Roman" panose="02020603050405020304" pitchFamily="18" charset="0"/>
              </a:rPr>
              <a:t> original </a:t>
            </a:r>
            <a:r>
              <a:rPr lang="en-US" altLang="en-US" sz="1400" dirty="0" err="1" smtClean="0">
                <a:latin typeface="Times New Roman" panose="02020603050405020304" pitchFamily="18" charset="0"/>
                <a:cs typeface="Times New Roman" panose="02020603050405020304" pitchFamily="18" charset="0"/>
              </a:rPr>
              <a:t>trên</a:t>
            </a:r>
            <a:r>
              <a:rPr lang="en-US" altLang="en-US" sz="1400" dirty="0" smtClean="0">
                <a:latin typeface="Times New Roman" panose="02020603050405020304" pitchFamily="18" charset="0"/>
                <a:cs typeface="Times New Roman" panose="02020603050405020304" pitchFamily="18" charset="0"/>
              </a:rPr>
              <a:t> A864</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6606649" y="532906"/>
            <a:ext cx="5298228" cy="2888940"/>
          </a:xfrm>
          <a:prstGeom prst="rect">
            <a:avLst/>
          </a:prstGeom>
        </p:spPr>
      </p:pic>
      <p:pic>
        <p:nvPicPr>
          <p:cNvPr id="10" name="Picture 9"/>
          <p:cNvPicPr>
            <a:picLocks noChangeAspect="1"/>
          </p:cNvPicPr>
          <p:nvPr/>
        </p:nvPicPr>
        <p:blipFill>
          <a:blip r:embed="rId4"/>
          <a:stretch>
            <a:fillRect/>
          </a:stretch>
        </p:blipFill>
        <p:spPr>
          <a:xfrm>
            <a:off x="6606649" y="3638975"/>
            <a:ext cx="4900921" cy="1579565"/>
          </a:xfrm>
          <a:prstGeom prst="rect">
            <a:avLst/>
          </a:prstGeom>
        </p:spPr>
      </p:pic>
    </p:spTree>
    <p:extLst>
      <p:ext uri="{BB962C8B-B14F-4D97-AF65-F5344CB8AC3E}">
        <p14:creationId xmlns:p14="http://schemas.microsoft.com/office/powerpoint/2010/main" val="2083289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0FC424B-DC9D-62E1-A53D-83CE2CCCCFD5}"/>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8AF1EF19-7163-0783-FF8C-38BD4263E69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9ED29832-B4E5-CE18-C5B6-1FF1D092A3C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E9E82A5A-DEEC-A030-5520-D33586E9A540}"/>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3877AFC4-E60F-6712-1013-24289839523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4572220E-53F5-0F01-C2F3-99C268BDF13A}"/>
              </a:ext>
            </a:extLst>
          </p:cNvPr>
          <p:cNvGraphicFramePr>
            <a:graphicFrameLocks noGrp="1"/>
          </p:cNvGraphicFramePr>
          <p:nvPr>
            <p:extLst>
              <p:ext uri="{D42A27DB-BD31-4B8C-83A1-F6EECF244321}">
                <p14:modId xmlns:p14="http://schemas.microsoft.com/office/powerpoint/2010/main" val="2991059966"/>
              </p:ext>
            </p:extLst>
          </p:nvPr>
        </p:nvGraphicFramePr>
        <p:xfrm>
          <a:off x="134290" y="1514671"/>
          <a:ext cx="11688715" cy="4955313"/>
        </p:xfrm>
        <a:graphic>
          <a:graphicData uri="http://schemas.openxmlformats.org/drawingml/2006/table">
            <a:tbl>
              <a:tblPr/>
              <a:tblGrid>
                <a:gridCol w="399110">
                  <a:extLst>
                    <a:ext uri="{9D8B030D-6E8A-4147-A177-3AD203B41FA5}">
                      <a16:colId xmlns="" xmlns:a16="http://schemas.microsoft.com/office/drawing/2014/main" val="3467514978"/>
                    </a:ext>
                  </a:extLst>
                </a:gridCol>
                <a:gridCol w="6858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609600">
                  <a:extLst>
                    <a:ext uri="{9D8B030D-6E8A-4147-A177-3AD203B41FA5}">
                      <a16:colId xmlns="" xmlns:a16="http://schemas.microsoft.com/office/drawing/2014/main" val="673348196"/>
                    </a:ext>
                  </a:extLst>
                </a:gridCol>
                <a:gridCol w="762000">
                  <a:extLst>
                    <a:ext uri="{9D8B030D-6E8A-4147-A177-3AD203B41FA5}">
                      <a16:colId xmlns="" xmlns:a16="http://schemas.microsoft.com/office/drawing/2014/main" val="422459560"/>
                    </a:ext>
                  </a:extLst>
                </a:gridCol>
                <a:gridCol w="1143000">
                  <a:extLst>
                    <a:ext uri="{9D8B030D-6E8A-4147-A177-3AD203B41FA5}">
                      <a16:colId xmlns="" xmlns:a16="http://schemas.microsoft.com/office/drawing/2014/main" val="2573721533"/>
                    </a:ext>
                  </a:extLst>
                </a:gridCol>
                <a:gridCol w="2971800">
                  <a:extLst>
                    <a:ext uri="{9D8B030D-6E8A-4147-A177-3AD203B41FA5}">
                      <a16:colId xmlns="" xmlns:a16="http://schemas.microsoft.com/office/drawing/2014/main" val="1326284677"/>
                    </a:ext>
                  </a:extLst>
                </a:gridCol>
                <a:gridCol w="457200">
                  <a:extLst>
                    <a:ext uri="{9D8B030D-6E8A-4147-A177-3AD203B41FA5}">
                      <a16:colId xmlns="" xmlns:a16="http://schemas.microsoft.com/office/drawing/2014/main" val="3053691605"/>
                    </a:ext>
                  </a:extLst>
                </a:gridCol>
                <a:gridCol w="3593405">
                  <a:extLst>
                    <a:ext uri="{9D8B030D-6E8A-4147-A177-3AD203B41FA5}">
                      <a16:colId xmlns="" xmlns:a16="http://schemas.microsoft.com/office/drawing/2014/main" val="3407010750"/>
                    </a:ext>
                  </a:extLst>
                </a:gridCol>
              </a:tblGrid>
              <a:tr h="301183">
                <a:tc>
                  <a:txBody>
                    <a:bodyPr/>
                    <a:lstStyle/>
                    <a:p>
                      <a:pPr algn="ctr" fontAlgn="ctr"/>
                      <a:r>
                        <a:rPr lang="vi-VN" sz="12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166508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06:18 31/05/2025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MSG SHOW: PAX ADDRESS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REPLACED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SPEAKER DRIVE MODULE, LOAD SW OPS TEST SATIS. A/C SERVICEABLE</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Nguyên nhân &amp; Tình trạng: Theo SL-787-44-005, hỏng hóc SDM -01 đã được Boeing, Panasonic khắc phục bằng cách nâng cấp lên SDM -11 để cải thiện độ tin cậy. Hiện tại, đội tàu bay B787 của VNA có hai cấu hình SDM -01 (B787-9) và SDM -11 (B787-10); 2 Part Number này fully interchangeable theo IPD DMC-B787-A-11-32-06-11A-941A-D sau khi đã thực hiện SB 787-44-0071. Khối SDM thay thế là cấu hình -11. Hiện chưa có thêm thông tin về giải pháp khác để nâng cao độ tin cậy của thiết bị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754419669"/>
                  </a:ext>
                </a:extLst>
              </a:tr>
              <a:tr h="2736687">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13:40 30/05/2025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VN7214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VN211/HAN-SGN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1100" b="0" i="0" u="none" strike="noStrike">
                          <a:solidFill>
                            <a:srgbClr val="000000"/>
                          </a:solidFill>
                          <a:effectLst/>
                          <a:latin typeface="Times New Roman" panose="02020603050405020304" pitchFamily="18" charset="0"/>
                          <a:cs typeface="Times New Roman" panose="02020603050405020304" pitchFamily="18" charset="0"/>
                        </a:rPr>
                        <a:t>REPORT ON TECHLOG SPOILER#4 INOP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FINAL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 C/O DEACTIVED SPOILER #4 AND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ADD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B1588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RAISED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FOR “SPOILER #4 INOP ”. A/C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Tàu hiện đang khai thác với B1588 SPOILER#4 INOP. Hỏng hóc có thể do EMA, EMCU hoặc harness. Đợi kết quả TS để đánh giá thêm.</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ĐTC: Lịch sử đã từng nghi nhận hỏng hóc có thể do Harness nhưng không có tính hệ thống.</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EMA PN C99144-006 đang là PN mới nhất. Fleet từng thay 20 khối rải đều từ 2018- nay. MTBUR 80000FH</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EMCU: Đã tưng thay 38 khối (22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25 khối -005 và 77 khối -006. Từ 2021, BOE/OEM có thếm 6 nâng cấp cho các chi tiết điện tử của EMCU nhưng chỉ thực hiện trong Production.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242711912"/>
                  </a:ext>
                </a:extLst>
              </a:tr>
            </a:tbl>
          </a:graphicData>
        </a:graphic>
      </p:graphicFrame>
    </p:spTree>
    <p:extLst>
      <p:ext uri="{BB962C8B-B14F-4D97-AF65-F5344CB8AC3E}">
        <p14:creationId xmlns:p14="http://schemas.microsoft.com/office/powerpoint/2010/main" val="370017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0FC424B-DC9D-62E1-A53D-83CE2CCCCFD5}"/>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8AF1EF19-7163-0783-FF8C-38BD4263E69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9ED29832-B4E5-CE18-C5B6-1FF1D092A3C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E9E82A5A-DEEC-A030-5520-D33586E9A540}"/>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3877AFC4-E60F-6712-1013-24289839523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4572220E-53F5-0F01-C2F3-99C268BDF13A}"/>
              </a:ext>
            </a:extLst>
          </p:cNvPr>
          <p:cNvGraphicFramePr>
            <a:graphicFrameLocks noGrp="1"/>
          </p:cNvGraphicFramePr>
          <p:nvPr>
            <p:extLst>
              <p:ext uri="{D42A27DB-BD31-4B8C-83A1-F6EECF244321}">
                <p14:modId xmlns:p14="http://schemas.microsoft.com/office/powerpoint/2010/main" val="2747112780"/>
              </p:ext>
            </p:extLst>
          </p:nvPr>
        </p:nvGraphicFramePr>
        <p:xfrm>
          <a:off x="134290" y="1514671"/>
          <a:ext cx="11688715" cy="4601670"/>
        </p:xfrm>
        <a:graphic>
          <a:graphicData uri="http://schemas.openxmlformats.org/drawingml/2006/table">
            <a:tbl>
              <a:tblPr/>
              <a:tblGrid>
                <a:gridCol w="399110">
                  <a:extLst>
                    <a:ext uri="{9D8B030D-6E8A-4147-A177-3AD203B41FA5}">
                      <a16:colId xmlns="" xmlns:a16="http://schemas.microsoft.com/office/drawing/2014/main" val="3467514978"/>
                    </a:ext>
                  </a:extLst>
                </a:gridCol>
                <a:gridCol w="6858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609600">
                  <a:extLst>
                    <a:ext uri="{9D8B030D-6E8A-4147-A177-3AD203B41FA5}">
                      <a16:colId xmlns="" xmlns:a16="http://schemas.microsoft.com/office/drawing/2014/main" val="673348196"/>
                    </a:ext>
                  </a:extLst>
                </a:gridCol>
                <a:gridCol w="762000">
                  <a:extLst>
                    <a:ext uri="{9D8B030D-6E8A-4147-A177-3AD203B41FA5}">
                      <a16:colId xmlns="" xmlns:a16="http://schemas.microsoft.com/office/drawing/2014/main" val="422459560"/>
                    </a:ext>
                  </a:extLst>
                </a:gridCol>
                <a:gridCol w="1143000">
                  <a:extLst>
                    <a:ext uri="{9D8B030D-6E8A-4147-A177-3AD203B41FA5}">
                      <a16:colId xmlns="" xmlns:a16="http://schemas.microsoft.com/office/drawing/2014/main" val="2573721533"/>
                    </a:ext>
                  </a:extLst>
                </a:gridCol>
                <a:gridCol w="2971800">
                  <a:extLst>
                    <a:ext uri="{9D8B030D-6E8A-4147-A177-3AD203B41FA5}">
                      <a16:colId xmlns="" xmlns:a16="http://schemas.microsoft.com/office/drawing/2014/main" val="1326284677"/>
                    </a:ext>
                  </a:extLst>
                </a:gridCol>
                <a:gridCol w="457200">
                  <a:extLst>
                    <a:ext uri="{9D8B030D-6E8A-4147-A177-3AD203B41FA5}">
                      <a16:colId xmlns="" xmlns:a16="http://schemas.microsoft.com/office/drawing/2014/main" val="3053691605"/>
                    </a:ext>
                  </a:extLst>
                </a:gridCol>
                <a:gridCol w="3593405">
                  <a:extLst>
                    <a:ext uri="{9D8B030D-6E8A-4147-A177-3AD203B41FA5}">
                      <a16:colId xmlns="" xmlns:a16="http://schemas.microsoft.com/office/drawing/2014/main" val="3407010750"/>
                    </a:ext>
                  </a:extLst>
                </a:gridCol>
              </a:tblGrid>
              <a:tr h="301183">
                <a:tc>
                  <a:txBody>
                    <a:bodyPr/>
                    <a:lstStyle/>
                    <a:p>
                      <a:pPr algn="ctr" fontAlgn="ctr"/>
                      <a:r>
                        <a:rPr lang="vi-VN" sz="12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1665081">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08:35 30/05/2025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VN409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ICN-SGN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AFTER ENG START, MESG ENG EEC MODE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L/R</a:t>
                      </a:r>
                    </a:p>
                    <a:p>
                      <a:pPr algn="l" fontAlgn="b"/>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1200" b="0" i="0" u="none" strike="noStrike">
                          <a:solidFill>
                            <a:srgbClr val="000000"/>
                          </a:solidFill>
                          <a:effectLst/>
                          <a:latin typeface="Times New Roman" panose="02020603050405020304" pitchFamily="18" charset="0"/>
                          <a:cs typeface="Times New Roman" panose="02020603050405020304" pitchFamily="18" charset="0"/>
                        </a:rPr>
                        <a:t>REPORT: AFTER ENG START, MESG ENG EEC MODE L/R. A/C RETURN TO TO GATE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GATE, CRS CHECK FOUND NO MSG. TEST EEC L/R AND TAT PASS.</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RAISED ADD FOR EEC NORMAL MODE. A/C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SERVICEABLE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73</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r>
                        <a:rPr lang="vi-VN" sz="1100" b="0" i="0" u="none" strike="noStrike" smtClean="0">
                          <a:solidFill>
                            <a:srgbClr val="000000"/>
                          </a:solidFill>
                          <a:effectLst/>
                          <a:latin typeface="+mn-lt"/>
                          <a:cs typeface="Times New Roman" panose="02020603050405020304" pitchFamily="18" charset="0"/>
                        </a:rPr>
                        <a:t>Chuyến VN408 có cảnh báo TAT do cảm biến TAT có dị vật bên trong, gây chế độ điều khiển động cơ của cả 2 động cơ hoạt động ở Alternate Mode. Tổ bay xác định refer MEL để tiếp tục khai thác. Sau đó hỏng hóc này đã được khắc phục. </a:t>
                      </a:r>
                    </a:p>
                    <a:p>
                      <a:pPr algn="l" fontAlgn="b"/>
                      <a:r>
                        <a:rPr lang="vi-VN" sz="1100" b="0" i="0" u="none" strike="noStrike" smtClean="0">
                          <a:solidFill>
                            <a:srgbClr val="000000"/>
                          </a:solidFill>
                          <a:effectLst/>
                          <a:latin typeface="+mn-lt"/>
                          <a:cs typeface="Times New Roman" panose="02020603050405020304" pitchFamily="18" charset="0"/>
                        </a:rPr>
                        <a:t>Theo Preflight procedure, tổ bay cần check và set lại EEC MODE về Normal. </a:t>
                      </a:r>
                    </a:p>
                    <a:p>
                      <a:pPr algn="l" fontAlgn="b"/>
                      <a:r>
                        <a:rPr lang="vi-VN" sz="1100" b="0" i="0" u="none" strike="noStrike" smtClean="0">
                          <a:solidFill>
                            <a:srgbClr val="000000"/>
                          </a:solidFill>
                          <a:effectLst/>
                          <a:latin typeface="+mn-lt"/>
                          <a:cs typeface="Times New Roman" panose="02020603050405020304" pitchFamily="18" charset="0"/>
                        </a:rPr>
                        <a:t>Nhận định ban đầu, Boeing cho rằng có khả năng xảy ra lỗi cấu hình (configuration error) trong quá trình chạy động cơ mặt đất, khi các công tắc EEC MODE trên bảng P5 đang để ở vị trí ALTN. Đây là nguyên nhân tiềm năng dẫn đến việc tạo ra các thông điệp, vì:</a:t>
                      </a:r>
                    </a:p>
                    <a:p>
                      <a:pPr algn="l" fontAlgn="b"/>
                      <a:r>
                        <a:rPr lang="vi-VN" sz="1100" b="0" i="0" u="none" strike="noStrike" smtClean="0">
                          <a:solidFill>
                            <a:srgbClr val="000000"/>
                          </a:solidFill>
                          <a:effectLst/>
                          <a:latin typeface="+mn-lt"/>
                          <a:cs typeface="Times New Roman" panose="02020603050405020304" pitchFamily="18" charset="0"/>
                        </a:rPr>
                        <a:t>Không thấy lỗi EEC nào được ghi nhận trong hệ thống trong hoặc sau chuyến bay.</a:t>
                      </a:r>
                    </a:p>
                    <a:p>
                      <a:pPr algn="l" fontAlgn="b"/>
                      <a:r>
                        <a:rPr lang="vi-VN" sz="1100" b="0" i="0" u="none" strike="noStrike" smtClean="0">
                          <a:solidFill>
                            <a:srgbClr val="000000"/>
                          </a:solidFill>
                          <a:effectLst/>
                          <a:latin typeface="+mn-lt"/>
                          <a:cs typeface="Times New Roman" panose="02020603050405020304" pitchFamily="18" charset="0"/>
                        </a:rPr>
                        <a:t>Xác suất cả hai kênh EEC (trái/phải) cùng gặp lỗi thực tế là rất thấp.</a:t>
                      </a:r>
                    </a:p>
                    <a:p>
                      <a:pPr algn="l" fontAlgn="b"/>
                      <a:r>
                        <a:rPr lang="vi-VN" sz="1100" b="0" i="0" u="none" strike="noStrike" smtClean="0">
                          <a:solidFill>
                            <a:srgbClr val="000000"/>
                          </a:solidFill>
                          <a:effectLst/>
                          <a:latin typeface="+mn-lt"/>
                          <a:cs typeface="Times New Roman" panose="02020603050405020304" pitchFamily="18" charset="0"/>
                        </a:rPr>
                        <a:t>VAECO đã gửi dữ liệu DFDR tới Boeing để xác nhận, hạn 03/06 trả lời. </a:t>
                      </a:r>
                    </a:p>
                    <a:p>
                      <a:pPr algn="l" fontAlgn="b"/>
                      <a:r>
                        <a:rPr lang="vi-VN" sz="1100" b="0" i="0" u="none" strike="noStrike" smtClean="0">
                          <a:solidFill>
                            <a:srgbClr val="000000"/>
                          </a:solidFill>
                          <a:effectLst/>
                          <a:latin typeface="+mn-lt"/>
                          <a:cs typeface="Times New Roman" panose="02020603050405020304" pitchFamily="18" charset="0"/>
                        </a:rPr>
                        <a:t>Hiện tiếp tục làm rõ thông tin với Boeing và tổ bay tuy nhiên, có thể xem xét đánh giá event xảy ra là Non-tech do:</a:t>
                      </a:r>
                    </a:p>
                    <a:p>
                      <a:pPr algn="l" fontAlgn="b"/>
                      <a:r>
                        <a:rPr lang="vi-VN" sz="1100" b="0" i="0" u="none" strike="noStrike" smtClean="0">
                          <a:solidFill>
                            <a:srgbClr val="000000"/>
                          </a:solidFill>
                          <a:effectLst/>
                          <a:latin typeface="+mn-lt"/>
                          <a:cs typeface="Times New Roman" panose="02020603050405020304" pitchFamily="18" charset="0"/>
                        </a:rPr>
                        <a:t>Hỏng hóc liên quan đến tàu bay tại chuyến VN408 gây hệ quả cảnh báo liên quan đến TAT và EEC MODE L/R do FOD;</a:t>
                      </a:r>
                    </a:p>
                    <a:p>
                      <a:pPr algn="l" fontAlgn="b"/>
                      <a:r>
                        <a:rPr lang="vi-VN" sz="1100" b="0" i="0" u="none" strike="noStrike" smtClean="0">
                          <a:solidFill>
                            <a:srgbClr val="000000"/>
                          </a:solidFill>
                          <a:effectLst/>
                          <a:latin typeface="+mn-lt"/>
                          <a:cs typeface="Times New Roman" panose="02020603050405020304" pitchFamily="18" charset="0"/>
                        </a:rPr>
                        <a:t>Cảnh báo tại chuyến VN409 khả năng cao do config error, không có hỏng hóc liên quan đến động cơ gây hoạt động ở chế độ Alternate.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754419669"/>
                  </a:ext>
                </a:extLst>
              </a:tr>
            </a:tbl>
          </a:graphicData>
        </a:graphic>
      </p:graphicFrame>
    </p:spTree>
    <p:extLst>
      <p:ext uri="{BB962C8B-B14F-4D97-AF65-F5344CB8AC3E}">
        <p14:creationId xmlns:p14="http://schemas.microsoft.com/office/powerpoint/2010/main" val="11606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2D926EC-7A05-946C-A9D1-30CEDE4FBD3B}"/>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BBDEAA-04B9-9BA8-C491-20ECF5FA0C6D}"/>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585CBD0A-B1ED-4F49-B200-C3E998865B85}"/>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E08CF1CA-DD81-EB4A-1158-4CF48CE2403C}"/>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1600" b="1" smtClean="0">
                <a:solidFill>
                  <a:srgbClr val="FF0000"/>
                </a:solidFill>
                <a:ea typeface="MS PGothic" panose="020B0600070205080204" pitchFamily="34" charset="-128"/>
                <a:cs typeface="Times New Roman" panose="02020603050405020304" pitchFamily="18" charset="0"/>
              </a:rPr>
              <a:t>0</a:t>
            </a:r>
            <a:r>
              <a:rPr lang="en-US" sz="1600" b="1" smtClean="0">
                <a:solidFill>
                  <a:srgbClr val="FF0000"/>
                </a:solidFill>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820D51AC-A8DF-2D76-955A-9D0E5C9E52CF}"/>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 xmlns:a16="http://schemas.microsoft.com/office/drawing/2014/main" id="{BC29131E-8CD3-BEE3-E8FE-A6365AA5C649}"/>
              </a:ext>
            </a:extLst>
          </p:cNvPr>
          <p:cNvGraphicFramePr>
            <a:graphicFrameLocks noGrp="1"/>
          </p:cNvGraphicFramePr>
          <p:nvPr>
            <p:extLst/>
          </p:nvPr>
        </p:nvGraphicFramePr>
        <p:xfrm>
          <a:off x="190497" y="1522792"/>
          <a:ext cx="11650617" cy="4739703"/>
        </p:xfrm>
        <a:graphic>
          <a:graphicData uri="http://schemas.openxmlformats.org/drawingml/2006/table">
            <a:tbl>
              <a:tblPr/>
              <a:tblGrid>
                <a:gridCol w="513411">
                  <a:extLst>
                    <a:ext uri="{9D8B030D-6E8A-4147-A177-3AD203B41FA5}">
                      <a16:colId xmlns="" xmlns:a16="http://schemas.microsoft.com/office/drawing/2014/main" val="2251100886"/>
                    </a:ext>
                  </a:extLst>
                </a:gridCol>
                <a:gridCol w="457200">
                  <a:extLst>
                    <a:ext uri="{9D8B030D-6E8A-4147-A177-3AD203B41FA5}">
                      <a16:colId xmlns="" xmlns:a16="http://schemas.microsoft.com/office/drawing/2014/main" val="1883857885"/>
                    </a:ext>
                  </a:extLst>
                </a:gridCol>
                <a:gridCol w="762000">
                  <a:extLst>
                    <a:ext uri="{9D8B030D-6E8A-4147-A177-3AD203B41FA5}">
                      <a16:colId xmlns="" xmlns:a16="http://schemas.microsoft.com/office/drawing/2014/main" val="1848190858"/>
                    </a:ext>
                  </a:extLst>
                </a:gridCol>
                <a:gridCol w="762000">
                  <a:extLst>
                    <a:ext uri="{9D8B030D-6E8A-4147-A177-3AD203B41FA5}">
                      <a16:colId xmlns="" xmlns:a16="http://schemas.microsoft.com/office/drawing/2014/main" val="282346041"/>
                    </a:ext>
                  </a:extLst>
                </a:gridCol>
                <a:gridCol w="838200">
                  <a:extLst>
                    <a:ext uri="{9D8B030D-6E8A-4147-A177-3AD203B41FA5}">
                      <a16:colId xmlns="" xmlns:a16="http://schemas.microsoft.com/office/drawing/2014/main" val="346166724"/>
                    </a:ext>
                  </a:extLst>
                </a:gridCol>
                <a:gridCol w="685800">
                  <a:extLst>
                    <a:ext uri="{9D8B030D-6E8A-4147-A177-3AD203B41FA5}">
                      <a16:colId xmlns="" xmlns:a16="http://schemas.microsoft.com/office/drawing/2014/main" val="2863993377"/>
                    </a:ext>
                  </a:extLst>
                </a:gridCol>
                <a:gridCol w="1681893">
                  <a:extLst>
                    <a:ext uri="{9D8B030D-6E8A-4147-A177-3AD203B41FA5}">
                      <a16:colId xmlns="" xmlns:a16="http://schemas.microsoft.com/office/drawing/2014/main" val="3521644882"/>
                    </a:ext>
                  </a:extLst>
                </a:gridCol>
                <a:gridCol w="1670907">
                  <a:extLst>
                    <a:ext uri="{9D8B030D-6E8A-4147-A177-3AD203B41FA5}">
                      <a16:colId xmlns="" xmlns:a16="http://schemas.microsoft.com/office/drawing/2014/main" val="4192758081"/>
                    </a:ext>
                  </a:extLst>
                </a:gridCol>
                <a:gridCol w="457200">
                  <a:extLst>
                    <a:ext uri="{9D8B030D-6E8A-4147-A177-3AD203B41FA5}">
                      <a16:colId xmlns="" xmlns:a16="http://schemas.microsoft.com/office/drawing/2014/main" val="2937308369"/>
                    </a:ext>
                  </a:extLst>
                </a:gridCol>
                <a:gridCol w="3822006">
                  <a:extLst>
                    <a:ext uri="{9D8B030D-6E8A-4147-A177-3AD203B41FA5}">
                      <a16:colId xmlns="" xmlns:a16="http://schemas.microsoft.com/office/drawing/2014/main" val="109296435"/>
                    </a:ext>
                  </a:extLst>
                </a:gridCol>
              </a:tblGrid>
              <a:tr h="33074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254644570"/>
                  </a:ext>
                </a:extLst>
              </a:tr>
              <a:tr h="1984442">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ICN-SGN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08:35 30/05/2025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AFTER ENG START, MESG ENG EEC MODE L/R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CAPT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REPORT: AFTER ENG START, MESG ENG EEC MODE L/R. A/C RETURN TO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TO</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GATE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AT GATE, CRS CHECK FOUND NO MSG. TEST EEC L/R AND TAT PASS.</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RAISED ADD FOR EEC NORMAL MODE. A/C SERVICEABLE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smtClean="0">
                          <a:solidFill>
                            <a:srgbClr val="000000"/>
                          </a:solidFill>
                          <a:effectLst/>
                          <a:latin typeface="+mn-lt"/>
                          <a:cs typeface="Times New Roman" panose="02020603050405020304" pitchFamily="18" charset="0"/>
                        </a:rPr>
                        <a:t>Chuyến VN408 có cảnh báo TAT do cảm biến TAT có dị vật bên trong, gây chế độ điều khiển động cơ của cả 2 động cơ hoạt động ở Alternate Mode. Tổ bay xác định refer MEL để tiếp tục khai thác. Sau đó hỏng hóc này đã được khắc phục. </a:t>
                      </a:r>
                    </a:p>
                    <a:p>
                      <a:pPr algn="l" fontAlgn="b"/>
                      <a:r>
                        <a:rPr lang="vi-VN" sz="1200" b="0" i="0" u="none" strike="noStrike" smtClean="0">
                          <a:solidFill>
                            <a:srgbClr val="000000"/>
                          </a:solidFill>
                          <a:effectLst/>
                          <a:latin typeface="+mn-lt"/>
                          <a:cs typeface="Times New Roman" panose="02020603050405020304" pitchFamily="18" charset="0"/>
                        </a:rPr>
                        <a:t>Theo Preflight procedure, tổ bay cần check và set lại EEC MODE về Normal. </a:t>
                      </a:r>
                    </a:p>
                    <a:p>
                      <a:pPr algn="l" fontAlgn="b"/>
                      <a:r>
                        <a:rPr lang="vi-VN" sz="1200" b="0" i="0" u="none" strike="noStrike" smtClean="0">
                          <a:solidFill>
                            <a:srgbClr val="000000"/>
                          </a:solidFill>
                          <a:effectLst/>
                          <a:latin typeface="+mn-lt"/>
                          <a:cs typeface="Times New Roman" panose="02020603050405020304" pitchFamily="18" charset="0"/>
                        </a:rPr>
                        <a:t>Nhận định ban đầu, Boeing cho rằng có khả năng xảy ra lỗi cấu hình (configuration error) trong quá trình chạy động cơ mặt đất, khi các công tắc EEC MODE trên bảng P5 đang để ở vị trí ALTN. Đây là nguyên nhân tiềm năng dẫn đến việc tạo ra các thông điệp, vì:</a:t>
                      </a:r>
                    </a:p>
                    <a:p>
                      <a:pPr algn="l" fontAlgn="b"/>
                      <a:r>
                        <a:rPr lang="vi-VN" sz="1200" b="0" i="0" u="none" strike="noStrike" smtClean="0">
                          <a:solidFill>
                            <a:srgbClr val="000000"/>
                          </a:solidFill>
                          <a:effectLst/>
                          <a:latin typeface="+mn-lt"/>
                          <a:cs typeface="Times New Roman" panose="02020603050405020304" pitchFamily="18" charset="0"/>
                        </a:rPr>
                        <a:t>Không thấy lỗi EEC nào được ghi nhận trong hệ thống trong hoặc sau chuyến bay.</a:t>
                      </a:r>
                    </a:p>
                    <a:p>
                      <a:pPr algn="l" fontAlgn="b"/>
                      <a:r>
                        <a:rPr lang="vi-VN" sz="1200" b="0" i="0" u="none" strike="noStrike" smtClean="0">
                          <a:solidFill>
                            <a:srgbClr val="000000"/>
                          </a:solidFill>
                          <a:effectLst/>
                          <a:latin typeface="+mn-lt"/>
                          <a:cs typeface="Times New Roman" panose="02020603050405020304" pitchFamily="18" charset="0"/>
                        </a:rPr>
                        <a:t>Xác suất cả hai kênh EEC (trái/phải) cùng gặp lỗi thực tế là rất thấp.</a:t>
                      </a:r>
                    </a:p>
                    <a:p>
                      <a:pPr algn="l" fontAlgn="b"/>
                      <a:r>
                        <a:rPr lang="vi-VN" sz="1200" b="0" i="0" u="none" strike="noStrike" smtClean="0">
                          <a:solidFill>
                            <a:srgbClr val="000000"/>
                          </a:solidFill>
                          <a:effectLst/>
                          <a:latin typeface="+mn-lt"/>
                          <a:cs typeface="Times New Roman" panose="02020603050405020304" pitchFamily="18" charset="0"/>
                        </a:rPr>
                        <a:t>VAECO đã gửi dữ liệu DFDR tới Boeing để xác nhận, hạn 03/06 trả lời. </a:t>
                      </a:r>
                    </a:p>
                    <a:p>
                      <a:pPr algn="l" fontAlgn="b"/>
                      <a:r>
                        <a:rPr lang="vi-VN" sz="1200" b="0" i="0" u="none" strike="noStrike" smtClean="0">
                          <a:solidFill>
                            <a:srgbClr val="000000"/>
                          </a:solidFill>
                          <a:effectLst/>
                          <a:latin typeface="+mn-lt"/>
                          <a:cs typeface="Times New Roman" panose="02020603050405020304" pitchFamily="18" charset="0"/>
                        </a:rPr>
                        <a:t>Hiện tiếp tục làm rõ thông tin với Boeing và tổ bay tuy nhiên, có thể xem xét đánh giá event xảy ra là Non-tech do:</a:t>
                      </a:r>
                    </a:p>
                    <a:p>
                      <a:pPr algn="l" fontAlgn="b"/>
                      <a:r>
                        <a:rPr lang="vi-VN" sz="1200" b="0" i="0" u="none" strike="noStrike" smtClean="0">
                          <a:solidFill>
                            <a:srgbClr val="000000"/>
                          </a:solidFill>
                          <a:effectLst/>
                          <a:latin typeface="+mn-lt"/>
                          <a:cs typeface="Times New Roman" panose="02020603050405020304" pitchFamily="18" charset="0"/>
                        </a:rPr>
                        <a:t>Hỏng hóc liên quan đến tàu bay tại chuyến VN408 gây hệ quả cảnh báo liên quan đến TAT và EEC MODE L/R do FOD;</a:t>
                      </a:r>
                    </a:p>
                    <a:p>
                      <a:pPr algn="l" fontAlgn="b"/>
                      <a:r>
                        <a:rPr lang="vi-VN" sz="1200" b="0" i="0" u="none" strike="noStrike" smtClean="0">
                          <a:solidFill>
                            <a:srgbClr val="000000"/>
                          </a:solidFill>
                          <a:effectLst/>
                          <a:latin typeface="+mn-lt"/>
                          <a:cs typeface="Times New Roman" panose="02020603050405020304" pitchFamily="18" charset="0"/>
                        </a:rPr>
                        <a:t>Cảnh báo tại chuyến VN409 khả năng cao do config error, không có hỏng hóc liên quan đến động cơ gây hoạt động ở chế độ Alternate.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65604157"/>
                  </a:ext>
                </a:extLst>
              </a:tr>
            </a:tbl>
          </a:graphicData>
        </a:graphic>
      </p:graphicFrame>
    </p:spTree>
    <p:extLst>
      <p:ext uri="{BB962C8B-B14F-4D97-AF65-F5344CB8AC3E}">
        <p14:creationId xmlns:p14="http://schemas.microsoft.com/office/powerpoint/2010/main" val="1387952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2D926EC-7A05-946C-A9D1-30CEDE4FBD3B}"/>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BBDEAA-04B9-9BA8-C491-20ECF5FA0C6D}"/>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585CBD0A-B1ED-4F49-B200-C3E998865B85}"/>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E08CF1CA-DD81-EB4A-1158-4CF48CE2403C}"/>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1600" b="1" smtClean="0">
                <a:solidFill>
                  <a:srgbClr val="FF0000"/>
                </a:solidFill>
                <a:ea typeface="MS PGothic" panose="020B0600070205080204" pitchFamily="34" charset="-128"/>
                <a:cs typeface="Times New Roman" panose="02020603050405020304" pitchFamily="18" charset="0"/>
              </a:rPr>
              <a:t>0</a:t>
            </a:r>
            <a:r>
              <a:rPr lang="en-US" sz="1600" b="1" smtClean="0">
                <a:solidFill>
                  <a:srgbClr val="FF0000"/>
                </a:solidFill>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820D51AC-A8DF-2D76-955A-9D0E5C9E52CF}"/>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 xmlns:a16="http://schemas.microsoft.com/office/drawing/2014/main" id="{BC29131E-8CD3-BEE3-E8FE-A6365AA5C649}"/>
              </a:ext>
            </a:extLst>
          </p:cNvPr>
          <p:cNvGraphicFramePr>
            <a:graphicFrameLocks noGrp="1"/>
          </p:cNvGraphicFramePr>
          <p:nvPr>
            <p:extLst>
              <p:ext uri="{D42A27DB-BD31-4B8C-83A1-F6EECF244321}">
                <p14:modId xmlns:p14="http://schemas.microsoft.com/office/powerpoint/2010/main" val="647348502"/>
              </p:ext>
            </p:extLst>
          </p:nvPr>
        </p:nvGraphicFramePr>
        <p:xfrm>
          <a:off x="190497" y="1522792"/>
          <a:ext cx="11650617" cy="2325500"/>
        </p:xfrm>
        <a:graphic>
          <a:graphicData uri="http://schemas.openxmlformats.org/drawingml/2006/table">
            <a:tbl>
              <a:tblPr/>
              <a:tblGrid>
                <a:gridCol w="513411">
                  <a:extLst>
                    <a:ext uri="{9D8B030D-6E8A-4147-A177-3AD203B41FA5}">
                      <a16:colId xmlns="" xmlns:a16="http://schemas.microsoft.com/office/drawing/2014/main" val="2251100886"/>
                    </a:ext>
                  </a:extLst>
                </a:gridCol>
                <a:gridCol w="457200">
                  <a:extLst>
                    <a:ext uri="{9D8B030D-6E8A-4147-A177-3AD203B41FA5}">
                      <a16:colId xmlns="" xmlns:a16="http://schemas.microsoft.com/office/drawing/2014/main" val="1883857885"/>
                    </a:ext>
                  </a:extLst>
                </a:gridCol>
                <a:gridCol w="762000">
                  <a:extLst>
                    <a:ext uri="{9D8B030D-6E8A-4147-A177-3AD203B41FA5}">
                      <a16:colId xmlns="" xmlns:a16="http://schemas.microsoft.com/office/drawing/2014/main" val="1848190858"/>
                    </a:ext>
                  </a:extLst>
                </a:gridCol>
                <a:gridCol w="762000">
                  <a:extLst>
                    <a:ext uri="{9D8B030D-6E8A-4147-A177-3AD203B41FA5}">
                      <a16:colId xmlns="" xmlns:a16="http://schemas.microsoft.com/office/drawing/2014/main" val="282346041"/>
                    </a:ext>
                  </a:extLst>
                </a:gridCol>
                <a:gridCol w="838200">
                  <a:extLst>
                    <a:ext uri="{9D8B030D-6E8A-4147-A177-3AD203B41FA5}">
                      <a16:colId xmlns="" xmlns:a16="http://schemas.microsoft.com/office/drawing/2014/main" val="346166724"/>
                    </a:ext>
                  </a:extLst>
                </a:gridCol>
                <a:gridCol w="685800">
                  <a:extLst>
                    <a:ext uri="{9D8B030D-6E8A-4147-A177-3AD203B41FA5}">
                      <a16:colId xmlns="" xmlns:a16="http://schemas.microsoft.com/office/drawing/2014/main" val="2863993377"/>
                    </a:ext>
                  </a:extLst>
                </a:gridCol>
                <a:gridCol w="1681893">
                  <a:extLst>
                    <a:ext uri="{9D8B030D-6E8A-4147-A177-3AD203B41FA5}">
                      <a16:colId xmlns="" xmlns:a16="http://schemas.microsoft.com/office/drawing/2014/main" val="3521644882"/>
                    </a:ext>
                  </a:extLst>
                </a:gridCol>
                <a:gridCol w="1670907">
                  <a:extLst>
                    <a:ext uri="{9D8B030D-6E8A-4147-A177-3AD203B41FA5}">
                      <a16:colId xmlns="" xmlns:a16="http://schemas.microsoft.com/office/drawing/2014/main" val="4192758081"/>
                    </a:ext>
                  </a:extLst>
                </a:gridCol>
                <a:gridCol w="457200">
                  <a:extLst>
                    <a:ext uri="{9D8B030D-6E8A-4147-A177-3AD203B41FA5}">
                      <a16:colId xmlns="" xmlns:a16="http://schemas.microsoft.com/office/drawing/2014/main" val="2937308369"/>
                    </a:ext>
                  </a:extLst>
                </a:gridCol>
                <a:gridCol w="3822006">
                  <a:extLst>
                    <a:ext uri="{9D8B030D-6E8A-4147-A177-3AD203B41FA5}">
                      <a16:colId xmlns="" xmlns:a16="http://schemas.microsoft.com/office/drawing/2014/main" val="109296435"/>
                    </a:ext>
                  </a:extLst>
                </a:gridCol>
              </a:tblGrid>
              <a:tr h="33074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254644570"/>
                  </a:ext>
                </a:extLst>
              </a:tr>
              <a:tr h="1984442">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HAN-SGN</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01-06-25 15:21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GTB due to STS MSG: ELEC ENGINE STARTER L2, ELEC ENGINE STARTER R1+ PECS TEMP 59 độ.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RESET TEST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smtClean="0">
                          <a:solidFill>
                            <a:srgbClr val="000000"/>
                          </a:solidFill>
                          <a:effectLst/>
                          <a:latin typeface="+mn-lt"/>
                          <a:cs typeface="Times New Roman" panose="02020603050405020304" pitchFamily="18" charset="0"/>
                        </a:rPr>
                        <a:t>Nhiệt độ PECS và OAT ngoài trời có giá trị cao dẫn đến chưa đủ nhiệt độ để làm mát thiết bị CMSC dẫn đến tàu có cảnh báo ELEC ENGINE STARTER L2/R1 (CMSC cấp nguồn điện và torque power cho VFSG). Khả năng MSG đã reset được clear sau khi nhiệt độ PECS giảm xuống ngưỡng ổn định. Hiện đã có FON khuyến cáo thực hiện single engine start khi OAT &gt; 35 độ và PECS &gt; 61 độ khi có MEL về VFSG, CMSC hoặc RAF. Trường hợp này nhiệt độ PECS mới 59 độ tuy nhiên đã hiện cảnh báo. Sẽ trao đổi thêm với Boeing và cập nhật thông tin sau</a:t>
                      </a:r>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65604157"/>
                  </a:ext>
                </a:extLst>
              </a:tr>
            </a:tbl>
          </a:graphicData>
        </a:graphic>
      </p:graphicFrame>
    </p:spTree>
    <p:extLst>
      <p:ext uri="{BB962C8B-B14F-4D97-AF65-F5344CB8AC3E}">
        <p14:creationId xmlns:p14="http://schemas.microsoft.com/office/powerpoint/2010/main" val="544244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5D26F9-D571-5F02-87BA-5459997CD542}"/>
            </a:ext>
          </a:extLst>
        </p:cNvPr>
        <p:cNvGrpSpPr/>
        <p:nvPr/>
      </p:nvGrpSpPr>
      <p:grpSpPr>
        <a:xfrm>
          <a:off x="0" y="0"/>
          <a:ext cx="0" cy="0"/>
          <a:chOff x="0" y="0"/>
          <a:chExt cx="0" cy="0"/>
        </a:xfrm>
      </p:grpSpPr>
      <p:sp>
        <p:nvSpPr>
          <p:cNvPr id="25" name="TextBox 24">
            <a:extLst>
              <a:ext uri="{FF2B5EF4-FFF2-40B4-BE49-F238E27FC236}">
                <a16:creationId xmlns="" xmlns:a16="http://schemas.microsoft.com/office/drawing/2014/main" id="{E8FDC584-5190-EA34-67FE-BDE39DA4AC0F}"/>
              </a:ext>
            </a:extLst>
          </p:cNvPr>
          <p:cNvSpPr txBox="1"/>
          <p:nvPr/>
        </p:nvSpPr>
        <p:spPr>
          <a:xfrm>
            <a:off x="713984" y="137422"/>
            <a:ext cx="9941316"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HỎNG HÓC ẢNH HƯỞNG KHAI THÁC</a:t>
            </a:r>
          </a:p>
        </p:txBody>
      </p:sp>
      <p:sp>
        <p:nvSpPr>
          <p:cNvPr id="3" name="Footer Placeholder 2">
            <a:extLst>
              <a:ext uri="{FF2B5EF4-FFF2-40B4-BE49-F238E27FC236}">
                <a16:creationId xmlns="" xmlns:a16="http://schemas.microsoft.com/office/drawing/2014/main" id="{C629E0B9-FBF2-3DDB-8398-C6E4580730A6}"/>
              </a:ext>
            </a:extLst>
          </p:cNvPr>
          <p:cNvSpPr txBox="1">
            <a:spLocks/>
          </p:cNvSpPr>
          <p:nvPr/>
        </p:nvSpPr>
        <p:spPr>
          <a:xfrm>
            <a:off x="4165600" y="6465891"/>
            <a:ext cx="3860800" cy="365125"/>
          </a:xfrm>
          <a:prstGeom prst="rect">
            <a:avLst/>
          </a:prstGeom>
        </p:spPr>
        <p:txBody>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t>Technical Department</a:t>
            </a:r>
            <a:endParaRPr lang="en-GB"/>
          </a:p>
        </p:txBody>
      </p:sp>
      <p:sp>
        <p:nvSpPr>
          <p:cNvPr id="4" name="Slide Number Placeholder 5">
            <a:extLst>
              <a:ext uri="{FF2B5EF4-FFF2-40B4-BE49-F238E27FC236}">
                <a16:creationId xmlns="" xmlns:a16="http://schemas.microsoft.com/office/drawing/2014/main" id="{A033CA50-5897-E79F-688B-1CFE3977159D}"/>
              </a:ext>
            </a:extLst>
          </p:cNvPr>
          <p:cNvSpPr txBox="1">
            <a:spLocks/>
          </p:cNvSpPr>
          <p:nvPr/>
        </p:nvSpPr>
        <p:spPr>
          <a:xfrm>
            <a:off x="8839200" y="6465891"/>
            <a:ext cx="2032000" cy="365125"/>
          </a:xfrm>
          <a:prstGeom prst="rect">
            <a:avLst/>
          </a:prstGeom>
        </p:spPr>
        <p:txBody>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C660F4E-7A89-407D-9F0D-D302D330ECD1}" type="slidenum">
              <a:rPr lang="en-GB" altLang="en-US" smtClean="0"/>
              <a:pPr>
                <a:defRPr/>
              </a:pPr>
              <a:t>19</a:t>
            </a:fld>
            <a:endParaRPr lang="en-GB" altLang="en-US"/>
          </a:p>
        </p:txBody>
      </p:sp>
      <p:sp>
        <p:nvSpPr>
          <p:cNvPr id="5" name="Date Placeholder 1">
            <a:extLst>
              <a:ext uri="{FF2B5EF4-FFF2-40B4-BE49-F238E27FC236}">
                <a16:creationId xmlns="" xmlns:a16="http://schemas.microsoft.com/office/drawing/2014/main" id="{29D75E5F-FCAE-F8FA-61A8-94E140800E2E}"/>
              </a:ext>
            </a:extLst>
          </p:cNvPr>
          <p:cNvSpPr txBox="1">
            <a:spLocks/>
          </p:cNvSpPr>
          <p:nvPr/>
        </p:nvSpPr>
        <p:spPr>
          <a:xfrm>
            <a:off x="609600" y="6465891"/>
            <a:ext cx="2844800" cy="365125"/>
          </a:xfrm>
          <a:prstGeom prst="rect">
            <a:avLst/>
          </a:prstGeom>
        </p:spPr>
        <p:txBody>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E7CB9CC-F84A-44E7-ADF5-B2F1DD625EF7}" type="datetime1">
              <a:rPr lang="vi-VN" altLang="en-US" smtClean="0"/>
              <a:pPr>
                <a:defRPr/>
              </a:pPr>
              <a:t>01/06/2025</a:t>
            </a:fld>
            <a:endParaRPr lang="en-GB" altLang="en-US"/>
          </a:p>
        </p:txBody>
      </p:sp>
      <p:graphicFrame>
        <p:nvGraphicFramePr>
          <p:cNvPr id="6" name="Table 5">
            <a:extLst>
              <a:ext uri="{FF2B5EF4-FFF2-40B4-BE49-F238E27FC236}">
                <a16:creationId xmlns="" xmlns:a16="http://schemas.microsoft.com/office/drawing/2014/main" id="{133262D8-FCC8-8954-728C-5DAF469DFBEB}"/>
              </a:ext>
            </a:extLst>
          </p:cNvPr>
          <p:cNvGraphicFramePr>
            <a:graphicFrameLocks noGrp="1"/>
          </p:cNvGraphicFramePr>
          <p:nvPr>
            <p:extLst/>
          </p:nvPr>
        </p:nvGraphicFramePr>
        <p:xfrm>
          <a:off x="76200" y="582616"/>
          <a:ext cx="12039600" cy="624840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417676">
                  <a:extLst>
                    <a:ext uri="{9D8B030D-6E8A-4147-A177-3AD203B41FA5}">
                      <a16:colId xmlns="" xmlns:a16="http://schemas.microsoft.com/office/drawing/2014/main" val="20000"/>
                    </a:ext>
                  </a:extLst>
                </a:gridCol>
                <a:gridCol w="4621924">
                  <a:extLst>
                    <a:ext uri="{9D8B030D-6E8A-4147-A177-3AD203B41FA5}">
                      <a16:colId xmlns="" xmlns:a16="http://schemas.microsoft.com/office/drawing/2014/main" val="20001"/>
                    </a:ext>
                  </a:extLst>
                </a:gridCol>
              </a:tblGrid>
              <a:tr h="1321674">
                <a:tc>
                  <a:txBody>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lang="en-US" sz="1600" b="1" dirty="0">
                          <a:solidFill>
                            <a:srgbClr val="002060"/>
                          </a:solidFill>
                          <a:latin typeface="Times New Roman" panose="02020603050405020304" pitchFamily="18" charset="0"/>
                          <a:cs typeface="Times New Roman" panose="02020603050405020304" pitchFamily="18" charset="0"/>
                        </a:rPr>
                        <a:t>ATA 73: </a:t>
                      </a:r>
                      <a:r>
                        <a:rPr lang="en-US" sz="1800" b="1" i="0" kern="1200" dirty="0">
                          <a:solidFill>
                            <a:schemeClr val="tx1"/>
                          </a:solidFill>
                          <a:effectLst/>
                          <a:latin typeface="+mn-lt"/>
                          <a:ea typeface="+mn-ea"/>
                          <a:cs typeface="+mn-cs"/>
                        </a:rPr>
                        <a:t>ENG EEC MODE L/ENG EEC MODE R (both engines) </a:t>
                      </a:r>
                    </a:p>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sz="1400" b="0" dirty="0">
                          <a:solidFill>
                            <a:schemeClr val="tx1"/>
                          </a:solidFill>
                          <a:latin typeface="Times New Roman" panose="02020603050405020304" pitchFamily="18" charset="0"/>
                          <a:cs typeface="Times New Roman" panose="02020603050405020304" pitchFamily="18" charset="0"/>
                        </a:rPr>
                        <a:t>CAPT REPORT:  </a:t>
                      </a:r>
                      <a:r>
                        <a:rPr lang="en-US" sz="1400" b="0" i="1" dirty="0">
                          <a:solidFill>
                            <a:schemeClr val="tx1"/>
                          </a:solidFill>
                          <a:latin typeface="Times New Roman" panose="02020603050405020304" pitchFamily="18" charset="0"/>
                          <a:cs typeface="Times New Roman" panose="02020603050405020304" pitchFamily="18" charset="0"/>
                        </a:rPr>
                        <a:t>VN409 pushed back at 0145Z, but there was ENG EEC MODE L/R after the engines started. </a:t>
                      </a:r>
                    </a:p>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sz="1400" b="0" i="1" dirty="0">
                          <a:solidFill>
                            <a:schemeClr val="tx1"/>
                          </a:solidFill>
                          <a:latin typeface="Times New Roman" panose="02020603050405020304" pitchFamily="18" charset="0"/>
                          <a:cs typeface="Times New Roman" panose="02020603050405020304" pitchFamily="18" charset="0"/>
                        </a:rPr>
                        <a:t>It had already happened in the previous flight, it's cleared by the mechanic. So, I decided to return due to MEL and refuel based on MEL. </a:t>
                      </a:r>
                    </a:p>
                  </a:txBody>
                  <a:tcPr marL="72000" marR="72000">
                    <a:solidFill>
                      <a:schemeClr val="bg1"/>
                    </a:solidFill>
                  </a:tcPr>
                </a:tc>
                <a:tc rowSpan="3">
                  <a:txBody>
                    <a:bodyPr/>
                    <a:lstStyle/>
                    <a:p>
                      <a:endParaRPr lang="vi-VN" dirty="0">
                        <a:solidFill>
                          <a:srgbClr val="002060"/>
                        </a:solidFill>
                      </a:endParaRPr>
                    </a:p>
                  </a:txBody>
                  <a:tcPr>
                    <a:solidFill>
                      <a:schemeClr val="bg1"/>
                    </a:solidFill>
                  </a:tcPr>
                </a:tc>
                <a:extLst>
                  <a:ext uri="{0D108BD9-81ED-4DB2-BD59-A6C34878D82A}">
                    <a16:rowId xmlns="" xmlns:a16="http://schemas.microsoft.com/office/drawing/2014/main" val="10000"/>
                  </a:ext>
                </a:extLst>
              </a:tr>
              <a:tr h="2154621">
                <a:tc>
                  <a:txBody>
                    <a:bodyPr/>
                    <a:lstStyle/>
                    <a:p>
                      <a:pPr marL="285750" indent="-285750">
                        <a:buFont typeface="Wingdings" panose="05000000000000000000" pitchFamily="2" charset="2"/>
                        <a:buChar char="q"/>
                      </a:pPr>
                      <a:r>
                        <a:rPr lang="en-US" sz="1600" b="1" kern="1200" dirty="0" err="1">
                          <a:solidFill>
                            <a:srgbClr val="002060"/>
                          </a:solidFill>
                          <a:effectLst/>
                          <a:latin typeface="Times New Roman" panose="02020603050405020304" pitchFamily="18" charset="0"/>
                          <a:ea typeface="+mn-ea"/>
                          <a:cs typeface="Times New Roman" panose="02020603050405020304" pitchFamily="18" charset="0"/>
                        </a:rPr>
                        <a:t>Mô</a:t>
                      </a:r>
                      <a:r>
                        <a:rPr lang="en-US" sz="1600" b="1" kern="1200" dirty="0">
                          <a:solidFill>
                            <a:srgbClr val="002060"/>
                          </a:solidFill>
                          <a:effectLst/>
                          <a:latin typeface="Times New Roman" panose="02020603050405020304" pitchFamily="18" charset="0"/>
                          <a:ea typeface="+mn-ea"/>
                          <a:cs typeface="Times New Roman" panose="02020603050405020304" pitchFamily="18" charset="0"/>
                        </a:rPr>
                        <a:t> </a:t>
                      </a:r>
                      <a:r>
                        <a:rPr lang="en-US" sz="1600" b="1" kern="1200" dirty="0" err="1">
                          <a:solidFill>
                            <a:srgbClr val="002060"/>
                          </a:solidFill>
                          <a:effectLst/>
                          <a:latin typeface="Times New Roman" panose="02020603050405020304" pitchFamily="18" charset="0"/>
                          <a:ea typeface="+mn-ea"/>
                          <a:cs typeface="Times New Roman" panose="02020603050405020304" pitchFamily="18" charset="0"/>
                        </a:rPr>
                        <a:t>tả</a:t>
                      </a:r>
                      <a:r>
                        <a:rPr lang="vi-VN" sz="1600" b="1" kern="1200" dirty="0">
                          <a:solidFill>
                            <a:srgbClr val="002060"/>
                          </a:solidFill>
                          <a:effectLst/>
                          <a:latin typeface="Times New Roman" panose="02020603050405020304" pitchFamily="18" charset="0"/>
                          <a:ea typeface="+mn-ea"/>
                          <a:cs typeface="Times New Roman" panose="02020603050405020304" pitchFamily="18" charset="0"/>
                        </a:rPr>
                        <a:t>:</a:t>
                      </a:r>
                      <a:endParaRPr lang="en-US" sz="1600" b="1" kern="1200" dirty="0">
                        <a:solidFill>
                          <a:srgbClr val="002060"/>
                        </a:solidFill>
                        <a:effectLst/>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lang="en-US" sz="1400" b="0" i="0" kern="1200" dirty="0" err="1">
                          <a:solidFill>
                            <a:schemeClr val="tx1"/>
                          </a:solidFill>
                          <a:latin typeface="Times New Roman" panose="02020603050405020304" pitchFamily="18" charset="0"/>
                          <a:ea typeface="+mn-ea"/>
                          <a:cs typeface="Times New Roman" panose="02020603050405020304" pitchFamily="18" charset="0"/>
                        </a:rPr>
                        <a:t>Cảnh</a:t>
                      </a:r>
                      <a:r>
                        <a:rPr lang="en-US" sz="1400" b="0" i="0" kern="1200" dirty="0">
                          <a:solidFill>
                            <a:schemeClr val="tx1"/>
                          </a:solidFill>
                          <a:latin typeface="Times New Roman" panose="02020603050405020304" pitchFamily="18" charset="0"/>
                          <a:ea typeface="+mn-ea"/>
                          <a:cs typeface="Times New Roman" panose="02020603050405020304" pitchFamily="18" charset="0"/>
                        </a:rPr>
                        <a:t> </a:t>
                      </a:r>
                      <a:r>
                        <a:rPr lang="en-US" sz="1400" b="0" i="0" kern="1200" dirty="0" err="1">
                          <a:solidFill>
                            <a:schemeClr val="tx1"/>
                          </a:solidFill>
                          <a:latin typeface="Times New Roman" panose="02020603050405020304" pitchFamily="18" charset="0"/>
                          <a:ea typeface="+mn-ea"/>
                          <a:cs typeface="Times New Roman" panose="02020603050405020304" pitchFamily="18" charset="0"/>
                        </a:rPr>
                        <a:t>báo</a:t>
                      </a:r>
                      <a:r>
                        <a:rPr lang="en-US" sz="1400" b="0" i="0" kern="1200" dirty="0">
                          <a:solidFill>
                            <a:schemeClr val="tx1"/>
                          </a:solidFill>
                          <a:latin typeface="Times New Roman" panose="02020603050405020304" pitchFamily="18" charset="0"/>
                          <a:ea typeface="+mn-ea"/>
                          <a:cs typeface="Times New Roman" panose="02020603050405020304" pitchFamily="18" charset="0"/>
                        </a:rPr>
                        <a:t> </a:t>
                      </a:r>
                      <a:r>
                        <a:rPr lang="vi-VN" sz="1400" b="0" i="0" kern="1200" dirty="0">
                          <a:solidFill>
                            <a:schemeClr val="tx1"/>
                          </a:solidFill>
                          <a:latin typeface="Times New Roman" panose="02020603050405020304" pitchFamily="18" charset="0"/>
                          <a:ea typeface="+mn-ea"/>
                          <a:cs typeface="Times New Roman" panose="02020603050405020304" pitchFamily="18" charset="0"/>
                        </a:rPr>
                        <a:t>"ENG EEC MODE L/R (Advisory)" xuất hiện trong trường hợp EEC (Electronic Engine Control) chuyển sang chế độ điều khiển Alternate</a:t>
                      </a:r>
                      <a:r>
                        <a:rPr lang="en-US" sz="1400" b="0" i="0" kern="1200" dirty="0">
                          <a:solidFill>
                            <a:schemeClr val="tx1"/>
                          </a:solidFill>
                          <a:latin typeface="Times New Roman" panose="02020603050405020304" pitchFamily="18" charset="0"/>
                          <a:ea typeface="+mn-ea"/>
                          <a:cs typeface="Times New Roman" panose="02020603050405020304" pitchFamily="18" charset="0"/>
                        </a:rPr>
                        <a:t>.</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EEC có 02 MODE để điều khiển lực đẩy động cơ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Normal</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Alternate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Mode.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N1 rating control ở Alternate Mode kém chính xác hơn Normal Mode, cung cấp lực đẩy bằng hoặc lớn hơn Normal Mode tại cùng Thrust Lever Position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derate </a:t>
                      </a:r>
                      <a:endPar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Đối với Normal mode, thông tin đầu vào để tính toán N1 rating control: Thrust lever resolver angle; Mach number; Ambient pressure; Delta temperature at standard day.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Khi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airplane air data system  total pressure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hoặc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total air temp invalid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EEC sẽ chuyển sang Alternate Mode </a:t>
                      </a:r>
                      <a:endParaRPr lang="vi-VN" sz="1400" b="0" i="0" kern="1200" dirty="0">
                        <a:solidFill>
                          <a:schemeClr val="tx1"/>
                        </a:solidFill>
                        <a:latin typeface="Times New Roman" panose="02020603050405020304" pitchFamily="18" charset="0"/>
                        <a:ea typeface="+mn-ea"/>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chemeClr val="bg1"/>
                    </a:solidFill>
                  </a:tcPr>
                </a:tc>
                <a:tc vMerge="1">
                  <a:txBody>
                    <a:bodyPr/>
                    <a:lstStyle/>
                    <a:p>
                      <a:endParaRPr lang="vi-VN" dirty="0"/>
                    </a:p>
                  </a:txBody>
                  <a:tcPr/>
                </a:tc>
                <a:extLst>
                  <a:ext uri="{0D108BD9-81ED-4DB2-BD59-A6C34878D82A}">
                    <a16:rowId xmlns="" xmlns:a16="http://schemas.microsoft.com/office/drawing/2014/main" val="10001"/>
                  </a:ext>
                </a:extLst>
              </a:tr>
              <a:tr h="1904985">
                <a:tc>
                  <a:txBody>
                    <a:bodyPr/>
                    <a:lstStyle/>
                    <a:p>
                      <a:pPr marL="285750" indent="-285750">
                        <a:buFont typeface="Wingdings" panose="05000000000000000000" pitchFamily="2" charset="2"/>
                        <a:buChar char="v"/>
                      </a:pPr>
                      <a:r>
                        <a:rPr lang="en-US" sz="1600" b="1" kern="1200" baseline="0" dirty="0">
                          <a:solidFill>
                            <a:srgbClr val="002060"/>
                          </a:solidFill>
                          <a:effectLst/>
                          <a:latin typeface="Times New Roman" panose="02020603050405020304" pitchFamily="18" charset="0"/>
                          <a:ea typeface="+mn-ea"/>
                          <a:cs typeface="Times New Roman" panose="02020603050405020304" pitchFamily="18" charset="0"/>
                        </a:rPr>
                        <a:t>Thông tin </a:t>
                      </a:r>
                      <a:r>
                        <a:rPr lang="en-US" sz="1600" b="1" kern="1200" baseline="0">
                          <a:solidFill>
                            <a:srgbClr val="002060"/>
                          </a:solidFill>
                          <a:effectLst/>
                          <a:latin typeface="Times New Roman" panose="02020603050405020304" pitchFamily="18" charset="0"/>
                          <a:ea typeface="+mn-ea"/>
                          <a:cs typeface="Times New Roman" panose="02020603050405020304" pitchFamily="18" charset="0"/>
                        </a:rPr>
                        <a:t>chi </a:t>
                      </a:r>
                      <a:r>
                        <a:rPr lang="en-US" sz="1600" b="1" kern="1200" baseline="0" smtClean="0">
                          <a:solidFill>
                            <a:srgbClr val="002060"/>
                          </a:solidFill>
                          <a:effectLst/>
                          <a:latin typeface="Times New Roman" panose="02020603050405020304" pitchFamily="18" charset="0"/>
                          <a:ea typeface="+mn-ea"/>
                          <a:cs typeface="Times New Roman" panose="02020603050405020304" pitchFamily="18" charset="0"/>
                        </a:rPr>
                        <a:t>tiết</a:t>
                      </a:r>
                      <a:r>
                        <a:rPr lang="en-US" sz="1600" b="1" kern="1200" baseline="0" dirty="0">
                          <a:solidFill>
                            <a:srgbClr val="002060"/>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Chuyến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VN408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cảnh</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báo</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TAT do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cảm</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biến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TAT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dị</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bên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điều</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khiển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hoạt</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ở Alternate Mode.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xác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refer MEL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tiếp</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tục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Sau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này</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Theo Preflight procedure,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set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EEC MODE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Normal.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ban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Boeing cho rằng có khả năng xảy ra lỗi cấu hình (configuration error) trong quá trình chạy động cơ mặt đất, khi các công tắc EEC MODE trên bảng P5 đang để ở vị trí ALTN. Đây là nguyên nhân tiềm năng dẫn đến việc tạo ra các thông điệp, vì:</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vi-VN"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Không thấy lỗi EEC nào được ghi nhận trong hệ thống trong hoặc sau chuyến bay.</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vi-VN"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Xác suất cả hai kênh EEC (trái/phải) cùng gặp lỗi thực tế là rất thấp.</a:t>
                      </a:r>
                      <a:endPar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VAECO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gửi</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dữ</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DFDR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xác</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03/06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lời</a:t>
                      </a:r>
                      <a:r>
                        <a:rPr kumimoji="0" lang="en-US" sz="1400" b="0" i="0"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txBody>
                  <a:tcPr marL="108000" marR="108000">
                    <a:lnT w="12700" cap="flat" cmpd="sng" algn="ctr">
                      <a:solidFill>
                        <a:schemeClr val="tx1"/>
                      </a:solidFill>
                      <a:prstDash val="solid"/>
                      <a:round/>
                      <a:headEnd type="none" w="med" len="med"/>
                      <a:tailEnd type="none" w="med" len="med"/>
                    </a:lnT>
                    <a:solidFill>
                      <a:schemeClr val="bg1"/>
                    </a:solidFill>
                  </a:tcPr>
                </a:tc>
                <a:tc vMerge="1">
                  <a:txBody>
                    <a:bodyPr/>
                    <a:lstStyle/>
                    <a:p>
                      <a:endParaRPr lang="vi-VN"/>
                    </a:p>
                  </a:txBody>
                  <a:tcPr/>
                </a:tc>
                <a:extLst>
                  <a:ext uri="{0D108BD9-81ED-4DB2-BD59-A6C34878D82A}">
                    <a16:rowId xmlns="" xmlns:a16="http://schemas.microsoft.com/office/drawing/2014/main" val="10003"/>
                  </a:ext>
                </a:extLst>
              </a:tr>
            </a:tbl>
          </a:graphicData>
        </a:graphic>
      </p:graphicFrame>
      <p:pic>
        <p:nvPicPr>
          <p:cNvPr id="11" name="Picture 10">
            <a:extLst>
              <a:ext uri="{FF2B5EF4-FFF2-40B4-BE49-F238E27FC236}">
                <a16:creationId xmlns="" xmlns:a16="http://schemas.microsoft.com/office/drawing/2014/main" id="{0BBCFA33-C752-645D-4956-59465925095C}"/>
              </a:ext>
            </a:extLst>
          </p:cNvPr>
          <p:cNvPicPr>
            <a:picLocks noChangeAspect="1"/>
          </p:cNvPicPr>
          <p:nvPr/>
        </p:nvPicPr>
        <p:blipFill>
          <a:blip r:embed="rId4"/>
          <a:stretch>
            <a:fillRect/>
          </a:stretch>
        </p:blipFill>
        <p:spPr>
          <a:xfrm>
            <a:off x="8729848" y="2431926"/>
            <a:ext cx="3303311" cy="569278"/>
          </a:xfrm>
          <a:prstGeom prst="rect">
            <a:avLst/>
          </a:prstGeom>
          <a:ln>
            <a:solidFill>
              <a:schemeClr val="accent1"/>
            </a:solidFill>
          </a:ln>
        </p:spPr>
      </p:pic>
      <p:pic>
        <p:nvPicPr>
          <p:cNvPr id="15" name="Picture 14">
            <a:extLst>
              <a:ext uri="{FF2B5EF4-FFF2-40B4-BE49-F238E27FC236}">
                <a16:creationId xmlns="" xmlns:a16="http://schemas.microsoft.com/office/drawing/2014/main" id="{108E1FC7-5C1F-F58B-CF8E-F66EE717F3EA}"/>
              </a:ext>
            </a:extLst>
          </p:cNvPr>
          <p:cNvPicPr>
            <a:picLocks noChangeAspect="1"/>
          </p:cNvPicPr>
          <p:nvPr/>
        </p:nvPicPr>
        <p:blipFill>
          <a:blip r:embed="rId5"/>
          <a:stretch>
            <a:fillRect/>
          </a:stretch>
        </p:blipFill>
        <p:spPr>
          <a:xfrm>
            <a:off x="7655815" y="660642"/>
            <a:ext cx="4294706" cy="1747875"/>
          </a:xfrm>
          <a:prstGeom prst="rect">
            <a:avLst/>
          </a:prstGeom>
          <a:ln>
            <a:solidFill>
              <a:schemeClr val="accent1"/>
            </a:solidFill>
          </a:ln>
        </p:spPr>
      </p:pic>
      <p:sp>
        <p:nvSpPr>
          <p:cNvPr id="16" name="TextBox 15">
            <a:extLst>
              <a:ext uri="{FF2B5EF4-FFF2-40B4-BE49-F238E27FC236}">
                <a16:creationId xmlns="" xmlns:a16="http://schemas.microsoft.com/office/drawing/2014/main" id="{2ADE4485-9B42-EFC8-6729-C9909DE3E490}"/>
              </a:ext>
            </a:extLst>
          </p:cNvPr>
          <p:cNvSpPr txBox="1"/>
          <p:nvPr/>
        </p:nvSpPr>
        <p:spPr>
          <a:xfrm>
            <a:off x="7525788" y="2433662"/>
            <a:ext cx="1266381" cy="1223412"/>
          </a:xfrm>
          <a:prstGeom prst="rect">
            <a:avLst/>
          </a:prstGeom>
          <a:noFill/>
        </p:spPr>
        <p:txBody>
          <a:bodyPr wrap="square" rtlCol="0">
            <a:spAutoFit/>
          </a:bodyPr>
          <a:lstStyle/>
          <a:p>
            <a:pPr algn="ctr"/>
            <a:r>
              <a:rPr lang="en-US" sz="1050" dirty="0" err="1"/>
              <a:t>Chế</a:t>
            </a:r>
            <a:r>
              <a:rPr lang="en-US" sz="1050" dirty="0"/>
              <a:t> </a:t>
            </a:r>
            <a:r>
              <a:rPr lang="en-US" sz="1050" dirty="0" err="1"/>
              <a:t>độ</a:t>
            </a:r>
            <a:r>
              <a:rPr lang="en-US" sz="1050" dirty="0"/>
              <a:t> </a:t>
            </a:r>
            <a:r>
              <a:rPr lang="en-US" sz="1050" dirty="0" err="1"/>
              <a:t>điều</a:t>
            </a:r>
            <a:r>
              <a:rPr lang="en-US" sz="1050" dirty="0"/>
              <a:t> </a:t>
            </a:r>
            <a:r>
              <a:rPr lang="en-US" sz="1050" dirty="0" err="1"/>
              <a:t>khiển</a:t>
            </a:r>
            <a:r>
              <a:rPr lang="en-US" sz="1050" dirty="0"/>
              <a:t> 2 </a:t>
            </a:r>
            <a:r>
              <a:rPr lang="en-US" sz="1050" dirty="0" err="1"/>
              <a:t>động</a:t>
            </a:r>
            <a:r>
              <a:rPr lang="en-US" sz="1050" dirty="0"/>
              <a:t> </a:t>
            </a:r>
            <a:r>
              <a:rPr lang="en-US" sz="1050" dirty="0" err="1"/>
              <a:t>cơ</a:t>
            </a:r>
            <a:r>
              <a:rPr lang="en-US" sz="1050" dirty="0"/>
              <a:t> ở Alternate mode do </a:t>
            </a:r>
            <a:r>
              <a:rPr lang="en-US" sz="1050" dirty="0" err="1"/>
              <a:t>hỏng</a:t>
            </a:r>
            <a:r>
              <a:rPr lang="en-US" sz="1050" dirty="0"/>
              <a:t> </a:t>
            </a:r>
            <a:r>
              <a:rPr lang="en-US" sz="1050" dirty="0" err="1"/>
              <a:t>hóc</a:t>
            </a:r>
            <a:r>
              <a:rPr lang="en-US" sz="1050" dirty="0"/>
              <a:t> </a:t>
            </a:r>
            <a:r>
              <a:rPr lang="en-US" sz="1050" dirty="0" err="1"/>
              <a:t>liên</a:t>
            </a:r>
            <a:r>
              <a:rPr lang="en-US" sz="1050" dirty="0"/>
              <a:t> </a:t>
            </a:r>
            <a:r>
              <a:rPr lang="en-US" sz="1050" dirty="0" err="1"/>
              <a:t>quan</a:t>
            </a:r>
            <a:r>
              <a:rPr lang="en-US" sz="1050" dirty="0"/>
              <a:t> </a:t>
            </a:r>
            <a:r>
              <a:rPr lang="en-US" sz="1050" dirty="0" err="1"/>
              <a:t>đến</a:t>
            </a:r>
            <a:r>
              <a:rPr lang="en-US" sz="1050" dirty="0"/>
              <a:t> TAT</a:t>
            </a:r>
          </a:p>
        </p:txBody>
      </p:sp>
      <p:sp>
        <p:nvSpPr>
          <p:cNvPr id="17" name="TextBox 16">
            <a:extLst>
              <a:ext uri="{FF2B5EF4-FFF2-40B4-BE49-F238E27FC236}">
                <a16:creationId xmlns="" xmlns:a16="http://schemas.microsoft.com/office/drawing/2014/main" id="{B2C80A62-AF00-FE5E-E9EA-71155D1A8C6E}"/>
              </a:ext>
            </a:extLst>
          </p:cNvPr>
          <p:cNvSpPr txBox="1"/>
          <p:nvPr/>
        </p:nvSpPr>
        <p:spPr>
          <a:xfrm>
            <a:off x="7509534" y="4001575"/>
            <a:ext cx="4459985" cy="338554"/>
          </a:xfrm>
          <a:prstGeom prst="rect">
            <a:avLst/>
          </a:prstGeom>
          <a:noFill/>
        </p:spPr>
        <p:txBody>
          <a:bodyPr wrap="square" rtlCol="0">
            <a:spAutoFit/>
          </a:bodyPr>
          <a:lstStyle/>
          <a:p>
            <a:pPr algn="ctr"/>
            <a:r>
              <a:rPr lang="en-US" sz="1400" dirty="0" err="1"/>
              <a:t>Yêu</a:t>
            </a:r>
            <a:r>
              <a:rPr lang="en-US" sz="1600" dirty="0"/>
              <a:t> </a:t>
            </a:r>
            <a:r>
              <a:rPr lang="en-US" sz="1400" dirty="0" err="1"/>
              <a:t>cầu</a:t>
            </a:r>
            <a:r>
              <a:rPr lang="en-US" sz="1400" dirty="0"/>
              <a:t> check </a:t>
            </a:r>
            <a:r>
              <a:rPr lang="en-US" sz="1400" dirty="0" err="1"/>
              <a:t>và</a:t>
            </a:r>
            <a:r>
              <a:rPr lang="en-US" sz="1400" dirty="0"/>
              <a:t> set EEC MODE </a:t>
            </a:r>
            <a:r>
              <a:rPr lang="en-US" sz="1400" dirty="0" err="1"/>
              <a:t>về</a:t>
            </a:r>
            <a:r>
              <a:rPr lang="en-US" sz="1400" dirty="0"/>
              <a:t> NORM</a:t>
            </a:r>
          </a:p>
        </p:txBody>
      </p:sp>
      <p:sp>
        <p:nvSpPr>
          <p:cNvPr id="18" name="TextBox 17">
            <a:extLst>
              <a:ext uri="{FF2B5EF4-FFF2-40B4-BE49-F238E27FC236}">
                <a16:creationId xmlns="" xmlns:a16="http://schemas.microsoft.com/office/drawing/2014/main" id="{F67BCBFB-130B-094F-F9D2-61D0F07D0E52}"/>
              </a:ext>
            </a:extLst>
          </p:cNvPr>
          <p:cNvSpPr txBox="1"/>
          <p:nvPr/>
        </p:nvSpPr>
        <p:spPr>
          <a:xfrm>
            <a:off x="7573174" y="4340129"/>
            <a:ext cx="4459985" cy="2462213"/>
          </a:xfrm>
          <a:prstGeom prst="rect">
            <a:avLst/>
          </a:prstGeom>
          <a:solidFill>
            <a:schemeClr val="accent6">
              <a:lumMod val="40000"/>
              <a:lumOff val="60000"/>
            </a:schemeClr>
          </a:solidFill>
        </p:spPr>
        <p:txBody>
          <a:bodyPr wrap="square" rtlCol="0">
            <a:spAutoFit/>
          </a:bodyPr>
          <a:lstStyle/>
          <a:p>
            <a:pPr algn="just"/>
            <a:r>
              <a:rPr lang="en-US" sz="1400" dirty="0" err="1"/>
              <a:t>Hiện</a:t>
            </a:r>
            <a:r>
              <a:rPr lang="en-US" sz="1400" dirty="0"/>
              <a:t> </a:t>
            </a:r>
            <a:r>
              <a:rPr lang="en-US" sz="1400" dirty="0" err="1"/>
              <a:t>tiếp</a:t>
            </a:r>
            <a:r>
              <a:rPr lang="en-US" sz="1400" dirty="0"/>
              <a:t> </a:t>
            </a:r>
            <a:r>
              <a:rPr lang="en-US" sz="1400" dirty="0" err="1"/>
              <a:t>tục</a:t>
            </a:r>
            <a:r>
              <a:rPr lang="en-US" sz="1400" dirty="0"/>
              <a:t> </a:t>
            </a:r>
            <a:r>
              <a:rPr lang="en-US" sz="1400" dirty="0" err="1"/>
              <a:t>làm</a:t>
            </a:r>
            <a:r>
              <a:rPr lang="en-US" sz="1400" dirty="0"/>
              <a:t> </a:t>
            </a:r>
            <a:r>
              <a:rPr lang="en-US" sz="1400" dirty="0" err="1"/>
              <a:t>rõ</a:t>
            </a:r>
            <a:r>
              <a:rPr lang="en-US" sz="1400" dirty="0"/>
              <a:t> </a:t>
            </a:r>
            <a:r>
              <a:rPr lang="en-US" sz="1400" dirty="0" err="1"/>
              <a:t>thông</a:t>
            </a:r>
            <a:r>
              <a:rPr lang="en-US" sz="1400" dirty="0"/>
              <a:t> tin </a:t>
            </a:r>
            <a:r>
              <a:rPr lang="en-US" sz="1400" dirty="0" err="1"/>
              <a:t>với</a:t>
            </a:r>
            <a:r>
              <a:rPr lang="en-US" sz="1400" dirty="0"/>
              <a:t> Boeing </a:t>
            </a:r>
            <a:r>
              <a:rPr lang="en-US" sz="1400" dirty="0" err="1"/>
              <a:t>và</a:t>
            </a:r>
            <a:r>
              <a:rPr lang="en-US" sz="1400" dirty="0"/>
              <a:t> </a:t>
            </a:r>
            <a:r>
              <a:rPr lang="en-US" sz="1400" dirty="0" err="1"/>
              <a:t>tổ</a:t>
            </a:r>
            <a:r>
              <a:rPr lang="en-US" sz="1400" dirty="0"/>
              <a:t> bay </a:t>
            </a:r>
            <a:r>
              <a:rPr lang="en-US" sz="1400" dirty="0" err="1"/>
              <a:t>tuy</a:t>
            </a:r>
            <a:r>
              <a:rPr lang="en-US" sz="1400" dirty="0"/>
              <a:t> </a:t>
            </a:r>
            <a:r>
              <a:rPr lang="en-US" sz="1400" dirty="0" err="1"/>
              <a:t>nhiên</a:t>
            </a:r>
            <a:r>
              <a:rPr lang="en-US" sz="1400" dirty="0"/>
              <a:t>, </a:t>
            </a:r>
            <a:r>
              <a:rPr lang="en-US" sz="1400" dirty="0" err="1"/>
              <a:t>có</a:t>
            </a:r>
            <a:r>
              <a:rPr lang="en-US" sz="1400" dirty="0"/>
              <a:t> </a:t>
            </a:r>
            <a:r>
              <a:rPr lang="en-US" sz="1400" dirty="0" err="1"/>
              <a:t>thể</a:t>
            </a:r>
            <a:r>
              <a:rPr lang="en-US" sz="1400" dirty="0"/>
              <a:t> </a:t>
            </a:r>
            <a:r>
              <a:rPr lang="en-US" sz="1400" dirty="0" err="1"/>
              <a:t>xem</a:t>
            </a:r>
            <a:r>
              <a:rPr lang="en-US" sz="1400" dirty="0"/>
              <a:t> </a:t>
            </a:r>
            <a:r>
              <a:rPr lang="en-US" sz="1400" dirty="0" err="1"/>
              <a:t>xét</a:t>
            </a:r>
            <a:r>
              <a:rPr lang="en-US" sz="1400" dirty="0"/>
              <a:t> </a:t>
            </a:r>
            <a:r>
              <a:rPr lang="en-US" sz="1400" dirty="0" err="1"/>
              <a:t>đánh</a:t>
            </a:r>
            <a:r>
              <a:rPr lang="en-US" sz="1400" dirty="0"/>
              <a:t> </a:t>
            </a:r>
            <a:r>
              <a:rPr lang="en-US" sz="1400" dirty="0" err="1"/>
              <a:t>giá</a:t>
            </a:r>
            <a:r>
              <a:rPr lang="en-US" sz="1400" dirty="0"/>
              <a:t> event </a:t>
            </a:r>
            <a:r>
              <a:rPr lang="en-US" sz="1400" dirty="0" err="1"/>
              <a:t>xảy</a:t>
            </a:r>
            <a:r>
              <a:rPr lang="en-US" sz="1400" dirty="0"/>
              <a:t> </a:t>
            </a:r>
            <a:r>
              <a:rPr lang="en-US" sz="1400" dirty="0" err="1"/>
              <a:t>ra</a:t>
            </a:r>
            <a:r>
              <a:rPr lang="en-US" sz="1400" dirty="0"/>
              <a:t> </a:t>
            </a:r>
            <a:r>
              <a:rPr lang="en-US" sz="1400" dirty="0" err="1"/>
              <a:t>là</a:t>
            </a:r>
            <a:r>
              <a:rPr lang="en-US" sz="1400" dirty="0"/>
              <a:t> Non-tech do:</a:t>
            </a:r>
          </a:p>
          <a:p>
            <a:pPr marL="285750" indent="-285750" algn="just">
              <a:buFontTx/>
              <a:buChar char="-"/>
            </a:pPr>
            <a:r>
              <a:rPr lang="en-US" sz="1400" dirty="0" err="1"/>
              <a:t>Hỏng</a:t>
            </a:r>
            <a:r>
              <a:rPr lang="en-US" sz="1400" dirty="0"/>
              <a:t> </a:t>
            </a:r>
            <a:r>
              <a:rPr lang="en-US" sz="1400" dirty="0" err="1"/>
              <a:t>hóc</a:t>
            </a:r>
            <a:r>
              <a:rPr lang="en-US" sz="1400" dirty="0"/>
              <a:t> </a:t>
            </a:r>
            <a:r>
              <a:rPr lang="en-US" sz="1400" dirty="0" err="1"/>
              <a:t>liên</a:t>
            </a:r>
            <a:r>
              <a:rPr lang="en-US" sz="1400" dirty="0"/>
              <a:t> </a:t>
            </a:r>
            <a:r>
              <a:rPr lang="en-US" sz="1400" dirty="0" err="1"/>
              <a:t>quan</a:t>
            </a:r>
            <a:r>
              <a:rPr lang="en-US" sz="1400" dirty="0"/>
              <a:t> </a:t>
            </a:r>
            <a:r>
              <a:rPr lang="en-US" sz="1400" dirty="0" err="1"/>
              <a:t>đến</a:t>
            </a:r>
            <a:r>
              <a:rPr lang="en-US" sz="1400" dirty="0"/>
              <a:t> </a:t>
            </a:r>
            <a:r>
              <a:rPr lang="en-US" sz="1400" dirty="0" err="1"/>
              <a:t>tàu</a:t>
            </a:r>
            <a:r>
              <a:rPr lang="en-US" sz="1400" dirty="0"/>
              <a:t> bay </a:t>
            </a:r>
            <a:r>
              <a:rPr lang="en-US" sz="1400" dirty="0" err="1"/>
              <a:t>tại</a:t>
            </a:r>
            <a:r>
              <a:rPr lang="en-US" sz="1400" dirty="0"/>
              <a:t> </a:t>
            </a:r>
            <a:r>
              <a:rPr lang="en-US" sz="1400" dirty="0" err="1"/>
              <a:t>chuyến</a:t>
            </a:r>
            <a:r>
              <a:rPr lang="en-US" sz="1400" dirty="0"/>
              <a:t> VN408 </a:t>
            </a:r>
            <a:r>
              <a:rPr lang="en-US" sz="1400" dirty="0" err="1"/>
              <a:t>gây</a:t>
            </a:r>
            <a:r>
              <a:rPr lang="en-US" sz="1400" dirty="0"/>
              <a:t> </a:t>
            </a:r>
            <a:r>
              <a:rPr lang="en-US" sz="1400" dirty="0" err="1"/>
              <a:t>hệ</a:t>
            </a:r>
            <a:r>
              <a:rPr lang="en-US" sz="1400" dirty="0"/>
              <a:t> </a:t>
            </a:r>
            <a:r>
              <a:rPr lang="en-US" sz="1400" dirty="0" err="1"/>
              <a:t>quả</a:t>
            </a:r>
            <a:r>
              <a:rPr lang="en-US" sz="1400" dirty="0"/>
              <a:t> </a:t>
            </a:r>
            <a:r>
              <a:rPr lang="en-US" sz="1400" dirty="0" err="1"/>
              <a:t>cảnh</a:t>
            </a:r>
            <a:r>
              <a:rPr lang="en-US" sz="1400" dirty="0"/>
              <a:t> </a:t>
            </a:r>
            <a:r>
              <a:rPr lang="en-US" sz="1400" dirty="0" err="1"/>
              <a:t>báo</a:t>
            </a:r>
            <a:r>
              <a:rPr lang="en-US" sz="1400" dirty="0"/>
              <a:t> </a:t>
            </a:r>
            <a:r>
              <a:rPr lang="en-US" sz="1400" dirty="0" err="1"/>
              <a:t>liên</a:t>
            </a:r>
            <a:r>
              <a:rPr lang="en-US" sz="1400" dirty="0"/>
              <a:t> </a:t>
            </a:r>
            <a:r>
              <a:rPr lang="en-US" sz="1400" dirty="0" err="1"/>
              <a:t>quan</a:t>
            </a:r>
            <a:r>
              <a:rPr lang="en-US" sz="1400" dirty="0"/>
              <a:t> </a:t>
            </a:r>
            <a:r>
              <a:rPr lang="en-US" sz="1400" dirty="0" err="1"/>
              <a:t>đến</a:t>
            </a:r>
            <a:r>
              <a:rPr lang="en-US" sz="1400" dirty="0"/>
              <a:t> TAT </a:t>
            </a:r>
            <a:r>
              <a:rPr lang="en-US" sz="1400" dirty="0" err="1"/>
              <a:t>và</a:t>
            </a:r>
            <a:r>
              <a:rPr lang="en-US" sz="1400" dirty="0"/>
              <a:t> EEC MODE L/R do FOD;</a:t>
            </a:r>
          </a:p>
          <a:p>
            <a:pPr marL="285750" indent="-285750" algn="just">
              <a:buFontTx/>
              <a:buChar char="-"/>
            </a:pPr>
            <a:r>
              <a:rPr lang="en-US" sz="1400" dirty="0" err="1"/>
              <a:t>Cảnh</a:t>
            </a:r>
            <a:r>
              <a:rPr lang="en-US" sz="1400" dirty="0"/>
              <a:t> </a:t>
            </a:r>
            <a:r>
              <a:rPr lang="en-US" sz="1400" dirty="0" err="1"/>
              <a:t>báo</a:t>
            </a:r>
            <a:r>
              <a:rPr lang="en-US" sz="1400" dirty="0"/>
              <a:t> </a:t>
            </a:r>
            <a:r>
              <a:rPr lang="en-US" sz="1400" dirty="0" err="1"/>
              <a:t>tại</a:t>
            </a:r>
            <a:r>
              <a:rPr lang="en-US" sz="1400" dirty="0"/>
              <a:t> </a:t>
            </a:r>
            <a:r>
              <a:rPr lang="en-US" sz="1400" dirty="0" err="1"/>
              <a:t>chuyến</a:t>
            </a:r>
            <a:r>
              <a:rPr lang="en-US" sz="1400" dirty="0"/>
              <a:t> VN409 </a:t>
            </a:r>
            <a:r>
              <a:rPr lang="en-US" sz="1400" dirty="0" err="1"/>
              <a:t>khả</a:t>
            </a:r>
            <a:r>
              <a:rPr lang="en-US" sz="1400" dirty="0"/>
              <a:t> </a:t>
            </a:r>
            <a:r>
              <a:rPr lang="en-US" sz="1400" dirty="0" err="1"/>
              <a:t>năng</a:t>
            </a:r>
            <a:r>
              <a:rPr lang="en-US" sz="1400" dirty="0"/>
              <a:t> </a:t>
            </a:r>
            <a:r>
              <a:rPr lang="en-US" sz="1400" dirty="0" err="1"/>
              <a:t>cao</a:t>
            </a:r>
            <a:r>
              <a:rPr lang="en-US" sz="1400" dirty="0"/>
              <a:t> do config error, </a:t>
            </a:r>
            <a:r>
              <a:rPr lang="en-US" sz="1400" dirty="0" err="1"/>
              <a:t>không</a:t>
            </a:r>
            <a:r>
              <a:rPr lang="en-US" sz="1400" dirty="0"/>
              <a:t> </a:t>
            </a:r>
            <a:r>
              <a:rPr lang="en-US" sz="1400" dirty="0" err="1"/>
              <a:t>có</a:t>
            </a:r>
            <a:r>
              <a:rPr lang="en-US" sz="1400" dirty="0"/>
              <a:t> </a:t>
            </a:r>
            <a:r>
              <a:rPr lang="en-US" sz="1400" dirty="0" err="1"/>
              <a:t>hỏng</a:t>
            </a:r>
            <a:r>
              <a:rPr lang="en-US" sz="1400" dirty="0"/>
              <a:t> </a:t>
            </a:r>
            <a:r>
              <a:rPr lang="en-US" sz="1400" dirty="0" err="1"/>
              <a:t>hóc</a:t>
            </a:r>
            <a:r>
              <a:rPr lang="en-US" sz="1400" dirty="0"/>
              <a:t> </a:t>
            </a:r>
            <a:r>
              <a:rPr lang="en-US" sz="1400" dirty="0" err="1"/>
              <a:t>liên</a:t>
            </a:r>
            <a:r>
              <a:rPr lang="en-US" sz="1400" dirty="0"/>
              <a:t> </a:t>
            </a:r>
            <a:r>
              <a:rPr lang="en-US" sz="1400" dirty="0" err="1"/>
              <a:t>quan</a:t>
            </a:r>
            <a:r>
              <a:rPr lang="en-US" sz="1400" dirty="0"/>
              <a:t> </a:t>
            </a:r>
            <a:r>
              <a:rPr lang="en-US" sz="1400" dirty="0" err="1"/>
              <a:t>đến</a:t>
            </a:r>
            <a:r>
              <a:rPr lang="en-US" sz="1400" dirty="0"/>
              <a:t> </a:t>
            </a:r>
            <a:r>
              <a:rPr lang="en-US" sz="1400" dirty="0" err="1"/>
              <a:t>động</a:t>
            </a:r>
            <a:r>
              <a:rPr lang="en-US" sz="1400" dirty="0"/>
              <a:t> </a:t>
            </a:r>
            <a:r>
              <a:rPr lang="en-US" sz="1400" dirty="0" err="1"/>
              <a:t>cơ</a:t>
            </a:r>
            <a:r>
              <a:rPr lang="en-US" sz="1400" dirty="0"/>
              <a:t> </a:t>
            </a:r>
            <a:r>
              <a:rPr lang="en-US" sz="1400" dirty="0" err="1"/>
              <a:t>gây</a:t>
            </a:r>
            <a:r>
              <a:rPr lang="en-US" sz="1400" dirty="0"/>
              <a:t> </a:t>
            </a:r>
            <a:r>
              <a:rPr lang="en-US" sz="1400" dirty="0" err="1"/>
              <a:t>hoạt</a:t>
            </a:r>
            <a:r>
              <a:rPr lang="en-US" sz="1400" dirty="0"/>
              <a:t> </a:t>
            </a:r>
            <a:r>
              <a:rPr lang="en-US" sz="1400" dirty="0" err="1"/>
              <a:t>động</a:t>
            </a:r>
            <a:r>
              <a:rPr lang="en-US" sz="1400" dirty="0"/>
              <a:t> ở </a:t>
            </a:r>
            <a:r>
              <a:rPr lang="en-US" sz="1400" dirty="0" err="1"/>
              <a:t>chế</a:t>
            </a:r>
            <a:r>
              <a:rPr lang="en-US" sz="1400" dirty="0"/>
              <a:t> </a:t>
            </a:r>
            <a:r>
              <a:rPr lang="en-US" sz="1400" dirty="0" err="1"/>
              <a:t>độ</a:t>
            </a:r>
            <a:r>
              <a:rPr lang="en-US" sz="1400" dirty="0"/>
              <a:t> Alternate.</a:t>
            </a:r>
          </a:p>
        </p:txBody>
      </p:sp>
      <p:pic>
        <p:nvPicPr>
          <p:cNvPr id="2" name="Picture 1"/>
          <p:cNvPicPr>
            <a:picLocks noChangeAspect="1"/>
          </p:cNvPicPr>
          <p:nvPr/>
        </p:nvPicPr>
        <p:blipFill rotWithShape="1">
          <a:blip r:embed="rId6"/>
          <a:srcRect l="16420" r="15856"/>
          <a:stretch/>
        </p:blipFill>
        <p:spPr>
          <a:xfrm>
            <a:off x="9444506" y="3045974"/>
            <a:ext cx="1445780" cy="986107"/>
          </a:xfrm>
          <a:prstGeom prst="rect">
            <a:avLst/>
          </a:prstGeom>
        </p:spPr>
      </p:pic>
    </p:spTree>
    <p:custDataLst>
      <p:tags r:id="rId1"/>
    </p:custDataLst>
    <p:extLst>
      <p:ext uri="{BB962C8B-B14F-4D97-AF65-F5344CB8AC3E}">
        <p14:creationId xmlns:p14="http://schemas.microsoft.com/office/powerpoint/2010/main" val="1478162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xmlns="" id="{9FED421A-5D2E-ADB1-2A89-F546CBF76E6B}"/>
              </a:ext>
            </a:extLst>
          </p:cNvPr>
          <p:cNvGraphicFramePr>
            <a:graphicFrameLocks noGrp="1"/>
          </p:cNvGraphicFramePr>
          <p:nvPr>
            <p:extLst/>
          </p:nvPr>
        </p:nvGraphicFramePr>
        <p:xfrm>
          <a:off x="175690" y="501464"/>
          <a:ext cx="11840623" cy="6315483"/>
        </p:xfrm>
        <a:graphic>
          <a:graphicData uri="http://schemas.openxmlformats.org/drawingml/2006/table">
            <a:tbl>
              <a:tblPr/>
              <a:tblGrid>
                <a:gridCol w="448779">
                  <a:extLst>
                    <a:ext uri="{9D8B030D-6E8A-4147-A177-3AD203B41FA5}">
                      <a16:colId xmlns:a16="http://schemas.microsoft.com/office/drawing/2014/main" xmlns="" val="130164199"/>
                    </a:ext>
                  </a:extLst>
                </a:gridCol>
                <a:gridCol w="683941">
                  <a:extLst>
                    <a:ext uri="{9D8B030D-6E8A-4147-A177-3AD203B41FA5}">
                      <a16:colId xmlns:a16="http://schemas.microsoft.com/office/drawing/2014/main" xmlns="" val="2631461099"/>
                    </a:ext>
                  </a:extLst>
                </a:gridCol>
                <a:gridCol w="664117">
                  <a:extLst>
                    <a:ext uri="{9D8B030D-6E8A-4147-A177-3AD203B41FA5}">
                      <a16:colId xmlns:a16="http://schemas.microsoft.com/office/drawing/2014/main" xmlns="" val="1951098373"/>
                    </a:ext>
                  </a:extLst>
                </a:gridCol>
                <a:gridCol w="1387708">
                  <a:extLst>
                    <a:ext uri="{9D8B030D-6E8A-4147-A177-3AD203B41FA5}">
                      <a16:colId xmlns:a16="http://schemas.microsoft.com/office/drawing/2014/main" xmlns="" val="2401585990"/>
                    </a:ext>
                  </a:extLst>
                </a:gridCol>
                <a:gridCol w="1407531">
                  <a:extLst>
                    <a:ext uri="{9D8B030D-6E8A-4147-A177-3AD203B41FA5}">
                      <a16:colId xmlns:a16="http://schemas.microsoft.com/office/drawing/2014/main" xmlns="" val="1639859318"/>
                    </a:ext>
                  </a:extLst>
                </a:gridCol>
                <a:gridCol w="1516567">
                  <a:extLst>
                    <a:ext uri="{9D8B030D-6E8A-4147-A177-3AD203B41FA5}">
                      <a16:colId xmlns:a16="http://schemas.microsoft.com/office/drawing/2014/main" xmlns="" val="2011862986"/>
                    </a:ext>
                  </a:extLst>
                </a:gridCol>
                <a:gridCol w="5731980">
                  <a:extLst>
                    <a:ext uri="{9D8B030D-6E8A-4147-A177-3AD203B41FA5}">
                      <a16:colId xmlns:a16="http://schemas.microsoft.com/office/drawing/2014/main" xmlns="" val="4044497452"/>
                    </a:ext>
                  </a:extLst>
                </a:gridCol>
              </a:tblGrid>
              <a:tr h="207807">
                <a:tc>
                  <a:txBody>
                    <a:bodyPr/>
                    <a:lstStyle/>
                    <a:p>
                      <a:pPr algn="ctr" fontAlgn="ctr"/>
                      <a:r>
                        <a:rPr lang="en-US" sz="1300" b="0" i="0" u="none" strike="noStrike">
                          <a:solidFill>
                            <a:srgbClr val="000000"/>
                          </a:solidFill>
                          <a:effectLst/>
                          <a:latin typeface="Calibri" panose="020F0502020204030204" pitchFamily="34" charset="0"/>
                        </a:rPr>
                        <a:t>No</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62677446"/>
                  </a:ext>
                </a:extLst>
              </a:tr>
              <a:tr h="207807">
                <a:tc>
                  <a:txBody>
                    <a:bodyPr/>
                    <a:lstStyle/>
                    <a:p>
                      <a:pPr algn="ctr" fontAlgn="ctr"/>
                      <a:r>
                        <a:rPr lang="en-US" sz="1300" b="0" i="0" u="none" strike="noStrike">
                          <a:solidFill>
                            <a:srgbClr val="000000"/>
                          </a:solidFill>
                          <a:effectLst/>
                          <a:latin typeface="Calibri" panose="020F0502020204030204" pitchFamily="34" charset="0"/>
                        </a:rPr>
                        <a:t>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90005826"/>
                  </a:ext>
                </a:extLst>
              </a:tr>
              <a:tr h="411007">
                <a:tc>
                  <a:txBody>
                    <a:bodyPr/>
                    <a:lstStyle/>
                    <a:p>
                      <a:pPr algn="ctr" fontAlgn="ctr"/>
                      <a:r>
                        <a:rPr lang="en-US" sz="1300" b="0" i="0" u="none" strike="noStrike">
                          <a:solidFill>
                            <a:srgbClr val="000000"/>
                          </a:solidFill>
                          <a:effectLst/>
                          <a:latin typeface="Calibri" panose="020F0502020204030204" pitchFamily="34" charset="0"/>
                        </a:rPr>
                        <a:t>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B1369 “CABIN AIR CPRSR R1”</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B1370: “RAM FAN PRIMARY L</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32451184"/>
                  </a:ext>
                </a:extLst>
              </a:tr>
              <a:tr h="411007">
                <a:tc>
                  <a:txBody>
                    <a:bodyPr/>
                    <a:lstStyle/>
                    <a:p>
                      <a:pPr algn="ctr" fontAlgn="ctr"/>
                      <a:r>
                        <a:rPr lang="en-US" sz="1300" b="0" i="0" u="none" strike="noStrike">
                          <a:solidFill>
                            <a:srgbClr val="000000"/>
                          </a:solidFill>
                          <a:effectLst/>
                          <a:latin typeface="Calibri" panose="020F0502020204030204" pitchFamily="34" charset="0"/>
                        </a:rPr>
                        <a:t>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TAIL AIRFLOW SYS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45725611"/>
                  </a:ext>
                </a:extLst>
              </a:tr>
              <a:tr h="614207">
                <a:tc>
                  <a:txBody>
                    <a:bodyPr/>
                    <a:lstStyle/>
                    <a:p>
                      <a:pPr algn="ctr" fontAlgn="ctr"/>
                      <a:r>
                        <a:rPr lang="en-US" sz="1300" b="0" i="0" u="none" strike="noStrike">
                          <a:solidFill>
                            <a:srgbClr val="000000"/>
                          </a:solidFill>
                          <a:effectLst/>
                          <a:latin typeface="Calibri" panose="020F0502020204030204" pitchFamily="34" charset="0"/>
                        </a:rPr>
                        <a:t>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B1264 AFT CARGO HANDLING SYSTEM IN/OUT IN CENTER LOADING PDU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B1287: "INTEGRATED COOLING SYSTEM DEACTIVATED"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B1289 RAISED FOR FLIGHT DECK PRINTER INOP</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515519868"/>
                  </a:ext>
                </a:extLst>
              </a:tr>
              <a:tr h="207807">
                <a:tc>
                  <a:txBody>
                    <a:bodyPr/>
                    <a:lstStyle/>
                    <a:p>
                      <a:pPr algn="ctr" fontAlgn="ctr"/>
                      <a:r>
                        <a:rPr lang="en-US" sz="1300" b="0" i="0" u="none" strike="noStrike">
                          <a:solidFill>
                            <a:srgbClr val="000000"/>
                          </a:solidFill>
                          <a:effectLst/>
                          <a:latin typeface="Calibri" panose="020F0502020204030204" pitchFamily="34" charset="0"/>
                        </a:rPr>
                        <a:t>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39328638"/>
                  </a:ext>
                </a:extLst>
              </a:tr>
              <a:tr h="302827">
                <a:tc>
                  <a:txBody>
                    <a:bodyPr/>
                    <a:lstStyle/>
                    <a:p>
                      <a:pPr algn="ctr" fontAlgn="ctr"/>
                      <a:r>
                        <a:rPr lang="en-US" sz="1300" b="0" i="0" u="none" strike="noStrike">
                          <a:solidFill>
                            <a:srgbClr val="000000"/>
                          </a:solidFill>
                          <a:effectLst/>
                          <a:latin typeface="Calibri" panose="020F0502020204030204" pitchFamily="34" charset="0"/>
                        </a:rPr>
                        <a:t>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91318905"/>
                  </a:ext>
                </a:extLst>
              </a:tr>
              <a:tr h="452544">
                <a:tc>
                  <a:txBody>
                    <a:bodyPr/>
                    <a:lstStyle/>
                    <a:p>
                      <a:pPr algn="ctr" fontAlgn="ctr"/>
                      <a:r>
                        <a:rPr lang="en-US" sz="1300" b="0" i="0" u="none" strike="noStrike">
                          <a:solidFill>
                            <a:srgbClr val="000000"/>
                          </a:solidFill>
                          <a:effectLst/>
                          <a:latin typeface="Calibri" panose="020F0502020204030204" pitchFamily="34" charset="0"/>
                        </a:rPr>
                        <a:t>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B1588 SPOILER # 4 INOP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35751942"/>
                  </a:ext>
                </a:extLst>
              </a:tr>
              <a:tr h="207807">
                <a:tc>
                  <a:txBody>
                    <a:bodyPr/>
                    <a:lstStyle/>
                    <a:p>
                      <a:pPr algn="ctr" fontAlgn="ctr"/>
                      <a:r>
                        <a:rPr lang="en-US" sz="1300" b="0" i="0" u="none" strike="noStrike">
                          <a:solidFill>
                            <a:srgbClr val="000000"/>
                          </a:solidFill>
                          <a:effectLst/>
                          <a:latin typeface="Calibri" panose="020F0502020204030204" pitchFamily="34" charset="0"/>
                        </a:rPr>
                        <a:t>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48141404"/>
                  </a:ext>
                </a:extLst>
              </a:tr>
              <a:tr h="411007">
                <a:tc>
                  <a:txBody>
                    <a:bodyPr/>
                    <a:lstStyle/>
                    <a:p>
                      <a:pPr algn="ctr" fontAlgn="ctr"/>
                      <a:r>
                        <a:rPr lang="en-US" sz="1300" b="0" i="0" u="none" strike="noStrike">
                          <a:solidFill>
                            <a:srgbClr val="000000"/>
                          </a:solidFill>
                          <a:effectLst/>
                          <a:latin typeface="Calibri" panose="020F0502020204030204" pitchFamily="34" charset="0"/>
                        </a:rPr>
                        <a:t>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71106420"/>
                  </a:ext>
                </a:extLst>
              </a:tr>
              <a:tr h="207807">
                <a:tc>
                  <a:txBody>
                    <a:bodyPr/>
                    <a:lstStyle/>
                    <a:p>
                      <a:pPr algn="ctr" fontAlgn="ctr"/>
                      <a:r>
                        <a:rPr lang="en-US" sz="1300" b="0" i="0" u="none" strike="noStrike">
                          <a:solidFill>
                            <a:srgbClr val="000000"/>
                          </a:solidFill>
                          <a:effectLst/>
                          <a:latin typeface="Calibri" panose="020F0502020204030204" pitchFamily="34" charset="0"/>
                        </a:rPr>
                        <a:t>10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39028496"/>
                  </a:ext>
                </a:extLst>
              </a:tr>
              <a:tr h="817407">
                <a:tc>
                  <a:txBody>
                    <a:bodyPr/>
                    <a:lstStyle/>
                    <a:p>
                      <a:pPr algn="ctr" fontAlgn="ctr"/>
                      <a:r>
                        <a:rPr lang="en-US" sz="1300" b="0" i="0" u="none" strike="noStrike">
                          <a:solidFill>
                            <a:srgbClr val="000000"/>
                          </a:solidFill>
                          <a:effectLst/>
                          <a:latin typeface="Calibri" panose="020F0502020204030204" pitchFamily="34" charset="0"/>
                        </a:rPr>
                        <a:t>11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B2317 CABIN AIR CPRSR L2</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INTEGRATED COOLING LEAK</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STS INTEGRATED CLG RECIRC AIR</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B2318 PERFORMANCE FUNCTION ON BOTH EFB INOP</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29211553"/>
                  </a:ext>
                </a:extLst>
              </a:tr>
              <a:tr h="207807">
                <a:tc>
                  <a:txBody>
                    <a:bodyPr/>
                    <a:lstStyle/>
                    <a:p>
                      <a:pPr algn="ctr" fontAlgn="ctr"/>
                      <a:r>
                        <a:rPr lang="en-US" sz="1300" b="0" i="0" u="none" strike="noStrike">
                          <a:solidFill>
                            <a:srgbClr val="000000"/>
                          </a:solidFill>
                          <a:effectLst/>
                          <a:latin typeface="Calibri" panose="020F0502020204030204" pitchFamily="34" charset="0"/>
                        </a:rPr>
                        <a:t>12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60121641"/>
                  </a:ext>
                </a:extLst>
              </a:tr>
              <a:tr h="411007">
                <a:tc>
                  <a:txBody>
                    <a:bodyPr/>
                    <a:lstStyle/>
                    <a:p>
                      <a:pPr algn="ctr" fontAlgn="ctr"/>
                      <a:r>
                        <a:rPr lang="en-US" sz="1300" b="0" i="0" u="none" strike="noStrike">
                          <a:solidFill>
                            <a:srgbClr val="000000"/>
                          </a:solidFill>
                          <a:effectLst/>
                          <a:latin typeface="Calibri" panose="020F0502020204030204" pitchFamily="34" charset="0"/>
                        </a:rPr>
                        <a:t>13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B540 : 50 CYCS REPEATED INSPECTION INTERVAL ON ENG#1 S/N 958435 RF RDR# 01280724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14797652"/>
                  </a:ext>
                </a:extLst>
              </a:tr>
              <a:tr h="411007">
                <a:tc>
                  <a:txBody>
                    <a:bodyPr/>
                    <a:lstStyle/>
                    <a:p>
                      <a:pPr algn="ctr" fontAlgn="ctr"/>
                      <a:r>
                        <a:rPr lang="en-US" sz="1300" b="0" i="0" u="none" strike="noStrike">
                          <a:solidFill>
                            <a:srgbClr val="000000"/>
                          </a:solidFill>
                          <a:effectLst/>
                          <a:latin typeface="Calibri" panose="020F0502020204030204" pitchFamily="34" charset="0"/>
                        </a:rPr>
                        <a:t>14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B417 RAISED FOR STS MSG "ELEC APU STARTER R"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21447310"/>
                  </a:ext>
                </a:extLst>
              </a:tr>
              <a:tr h="207807">
                <a:tc>
                  <a:txBody>
                    <a:bodyPr/>
                    <a:lstStyle/>
                    <a:p>
                      <a:pPr algn="ctr" fontAlgn="ctr"/>
                      <a:r>
                        <a:rPr lang="en-US" sz="1300" b="0" i="0" u="none" strike="noStrike">
                          <a:solidFill>
                            <a:srgbClr val="000000"/>
                          </a:solidFill>
                          <a:effectLst/>
                          <a:latin typeface="Calibri" panose="020F0502020204030204" pitchFamily="34" charset="0"/>
                        </a:rPr>
                        <a:t>15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13440595"/>
                  </a:ext>
                </a:extLst>
              </a:tr>
              <a:tr h="207807">
                <a:tc>
                  <a:txBody>
                    <a:bodyPr/>
                    <a:lstStyle/>
                    <a:p>
                      <a:pPr algn="ctr" fontAlgn="ctr"/>
                      <a:r>
                        <a:rPr lang="en-US" sz="1300" b="0" i="0" u="none" strike="noStrike">
                          <a:solidFill>
                            <a:srgbClr val="000000"/>
                          </a:solidFill>
                          <a:effectLst/>
                          <a:latin typeface="Calibri" panose="020F0502020204030204" pitchFamily="34" charset="0"/>
                        </a:rPr>
                        <a:t>16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2038323"/>
                  </a:ext>
                </a:extLst>
              </a:tr>
              <a:tr h="411007">
                <a:tc>
                  <a:txBody>
                    <a:bodyPr/>
                    <a:lstStyle/>
                    <a:p>
                      <a:pPr algn="ctr" fontAlgn="ctr"/>
                      <a:r>
                        <a:rPr lang="en-US" sz="1300" b="0" i="0" u="none" strike="noStrike">
                          <a:solidFill>
                            <a:srgbClr val="000000"/>
                          </a:solidFill>
                          <a:effectLst/>
                          <a:latin typeface="Calibri" panose="020F0502020204030204" pitchFamily="34" charset="0"/>
                        </a:rPr>
                        <a:t>17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07193984"/>
                  </a:ext>
                </a:extLst>
              </a:tr>
            </a:tbl>
          </a:graphicData>
        </a:graphic>
      </p:graphicFrame>
    </p:spTree>
    <p:extLst>
      <p:ext uri="{BB962C8B-B14F-4D97-AF65-F5344CB8AC3E}">
        <p14:creationId xmlns:p14="http://schemas.microsoft.com/office/powerpoint/2010/main" val="1919783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795CC2F9-72E9-47BD-A040-3231760CEEDB}"/>
              </a:ext>
            </a:extLst>
          </p:cNvPr>
          <p:cNvSpPr/>
          <p:nvPr/>
        </p:nvSpPr>
        <p:spPr>
          <a:xfrm>
            <a:off x="250649" y="594263"/>
            <a:ext cx="11941351" cy="6247864"/>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t>
            </a:r>
            <a:r>
              <a:rPr lang="en-US" sz="1600" dirty="0">
                <a:solidFill>
                  <a:prstClr val="black"/>
                </a:solidFill>
                <a:latin typeface="Times New Roman" panose="02020603050405020304" pitchFamily="18" charset="0"/>
                <a:cs typeface="Times New Roman" panose="02020603050405020304" pitchFamily="18" charset="0"/>
              </a:rPr>
              <a:t>B787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tương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đối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smtClean="0">
                <a:solidFill>
                  <a:prstClr val="black"/>
                </a:solidFill>
                <a:latin typeface="Times New Roman" panose="02020603050405020304" pitchFamily="18" charset="0"/>
                <a:cs typeface="Times New Roman" panose="02020603050405020304" pitchFamily="18" charset="0"/>
              </a:rPr>
              <a:t>02 </a:t>
            </a:r>
            <a:r>
              <a:rPr lang="en-US" sz="1600" dirty="0">
                <a:solidFill>
                  <a:prstClr val="black"/>
                </a:solidFill>
                <a:latin typeface="Times New Roman" panose="02020603050405020304" pitchFamily="18" charset="0"/>
                <a:cs typeface="Times New Roman" panose="02020603050405020304" pitchFamily="18" charset="0"/>
              </a:rPr>
              <a:t>TH GTB. </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SG" sz="1600" dirty="0">
                <a:solidFill>
                  <a:prstClr val="black"/>
                </a:solidFill>
                <a:latin typeface="Times New Roman" panose="02020603050405020304" pitchFamily="18" charset="0"/>
                <a:cs typeface="Times New Roman" panose="02020603050405020304" pitchFamily="18" charset="0"/>
              </a:rPr>
              <a:t>+ A864 AOG </a:t>
            </a:r>
            <a:r>
              <a:rPr lang="en-SG" sz="1600" dirty="0" err="1">
                <a:solidFill>
                  <a:prstClr val="black"/>
                </a:solidFill>
                <a:latin typeface="Times New Roman" panose="02020603050405020304" pitchFamily="18" charset="0"/>
                <a:cs typeface="Times New Roman" panose="02020603050405020304" pitchFamily="18" charset="0"/>
              </a:rPr>
              <a:t>tại</a:t>
            </a:r>
            <a:r>
              <a:rPr lang="en-SG" sz="1600" dirty="0">
                <a:solidFill>
                  <a:prstClr val="black"/>
                </a:solidFill>
                <a:latin typeface="Times New Roman" panose="02020603050405020304" pitchFamily="18" charset="0"/>
                <a:cs typeface="Times New Roman" panose="02020603050405020304" pitchFamily="18" charset="0"/>
              </a:rPr>
              <a:t> FRA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28/05 do </a:t>
            </a:r>
            <a:r>
              <a:rPr lang="en-SG" sz="1600" dirty="0" err="1">
                <a:solidFill>
                  <a:prstClr val="black"/>
                </a:solidFill>
                <a:latin typeface="Times New Roman" panose="02020603050405020304" pitchFamily="18" charset="0"/>
                <a:cs typeface="Times New Roman" panose="02020603050405020304" pitchFamily="18" charset="0"/>
              </a:rPr>
              <a:t>hỏng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hóc</a:t>
            </a:r>
            <a:r>
              <a:rPr lang="en-SG" sz="1600" dirty="0">
                <a:solidFill>
                  <a:prstClr val="black"/>
                </a:solidFill>
                <a:latin typeface="Times New Roman" panose="02020603050405020304" pitchFamily="18" charset="0"/>
                <a:cs typeface="Times New Roman" panose="02020603050405020304" pitchFamily="18" charset="0"/>
              </a:rPr>
              <a:t> MMSG: STAB CHANNEL AND STABILIZER SYS -&gt;</a:t>
            </a:r>
            <a:r>
              <a:rPr lang="pt-BR" sz="1600" dirty="0">
                <a:solidFill>
                  <a:prstClr val="black"/>
                </a:solidFill>
                <a:latin typeface="Times New Roman" panose="02020603050405020304" pitchFamily="18" charset="0"/>
                <a:cs typeface="Times New Roman" panose="02020603050405020304" pitchFamily="18" charset="0"/>
              </a:rPr>
              <a:t> REPLACED R/H EMCU</a:t>
            </a:r>
            <a:endParaRPr lang="en-US" sz="1600" dirty="0">
              <a:solidFill>
                <a:prstClr val="black"/>
              </a:solidFill>
              <a:latin typeface="Times New Roman" panose="02020603050405020304" pitchFamily="18" charset="0"/>
              <a:cs typeface="Times New Roman" panose="02020603050405020304" pitchFamily="18" charset="0"/>
            </a:endParaRPr>
          </a:p>
          <a:p>
            <a:pPr marL="609585" lvl="1" algn="just"/>
            <a:r>
              <a:rPr lang="vi-VN" sz="1600" dirty="0">
                <a:solidFill>
                  <a:srgbClr val="FF0000"/>
                </a:solidFill>
                <a:latin typeface="Times New Roman" panose="02020603050405020304" pitchFamily="18" charset="0"/>
                <a:cs typeface="Times New Roman" panose="02020603050405020304" pitchFamily="18" charset="0"/>
              </a:rPr>
              <a:t>Thực hiện thay EMCU Pn CA72711-005 SN 03858 (original on A864) để khắc phục hỏng hóc.</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ĐTC: Đã tưng thay 38 khối (22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25 khối -005 và 77 khối -006. Từ 2021, BOE/OEM có thếm 6 nâng cấp cho các chi tiết điện tử của EMCU nhưng chỉ thực hiện trong Production.</a:t>
            </a:r>
            <a:endParaRPr lang="en-US" sz="1600" dirty="0">
              <a:solidFill>
                <a:srgbClr val="FF0000"/>
              </a:solidFill>
              <a:latin typeface="Times New Roman" panose="02020603050405020304" pitchFamily="18" charset="0"/>
              <a:cs typeface="Times New Roman" panose="02020603050405020304" pitchFamily="18" charset="0"/>
            </a:endParaRPr>
          </a:p>
          <a:p>
            <a:pPr marL="609585" lvl="1" algn="just"/>
            <a:endParaRPr lang="en-US" sz="1600" dirty="0">
              <a:solidFill>
                <a:srgbClr val="FF0000"/>
              </a:solidFill>
              <a:latin typeface="Times New Roman" panose="02020603050405020304" pitchFamily="18" charset="0"/>
              <a:cs typeface="Times New Roman" panose="02020603050405020304" pitchFamily="18" charset="0"/>
            </a:endParaRPr>
          </a:p>
          <a:p>
            <a:pPr marL="609585" lvl="1" algn="just"/>
            <a:r>
              <a:rPr lang="en-US" sz="1600" dirty="0">
                <a:latin typeface="Times New Roman" panose="02020603050405020304" pitchFamily="18" charset="0"/>
                <a:cs typeface="Times New Roman" panose="02020603050405020304" pitchFamily="18" charset="0"/>
              </a:rPr>
              <a:t>+ A873 GTB VN409 ICN-SGN </a:t>
            </a:r>
            <a:r>
              <a:rPr lang="en-US" sz="1600" dirty="0" err="1">
                <a:latin typeface="Times New Roman" panose="02020603050405020304" pitchFamily="18" charset="0"/>
                <a:cs typeface="Times New Roman" panose="02020603050405020304" pitchFamily="18" charset="0"/>
              </a:rPr>
              <a:t>ngày</a:t>
            </a:r>
            <a:r>
              <a:rPr lang="en-US" sz="1600" dirty="0">
                <a:latin typeface="Times New Roman" panose="02020603050405020304" pitchFamily="18" charset="0"/>
                <a:cs typeface="Times New Roman" panose="02020603050405020304" pitchFamily="18" charset="0"/>
              </a:rPr>
              <a:t> 30/05 do </a:t>
            </a:r>
            <a:r>
              <a:rPr lang="nn-NO" sz="1600" dirty="0">
                <a:latin typeface="Times New Roman" panose="02020603050405020304" pitchFamily="18" charset="0"/>
                <a:cs typeface="Times New Roman" panose="02020603050405020304" pitchFamily="18" charset="0"/>
              </a:rPr>
              <a:t>AFTER ENG START, MESG ENG EEC MODE L/R -&gt; </a:t>
            </a:r>
            <a:r>
              <a:rPr lang="en-SG" sz="1600" dirty="0">
                <a:latin typeface="Times New Roman" panose="02020603050405020304" pitchFamily="18" charset="0"/>
                <a:cs typeface="Times New Roman" panose="02020603050405020304" pitchFamily="18" charset="0"/>
              </a:rPr>
              <a:t>AT GATE, CRS CHECK FOUND NO MSG. TEST EEC L/R AND TAT PASS. RAISED ADD FOR EEC NORMAL MODE</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Cảnh báo "ENG EEC MODE L/R (Advisory)" xuất hiện trong trường hợp EEC (Electronic Engine Control) chuyển sang chế độ điều khiển Alternate.</a:t>
            </a:r>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EEC có 02 MODE để điều khiển lực đẩy động cơ là Normal Mode và Alternate Mode. </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Chuyến VN408 có cảnh báo TAT do cảm biến TAT có dị vật bên trong, gây chế độ điều khiển động cơ của cả 2 động cơ hoạt động ở Alternate Mode. Tổ bay xác định refer MEL để tiếp tục khai thác. Sau đó hỏng hóc này đã được khắc phục. </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Theo Preflight procedure, tổ bay cần check và set lại EEC MODE về Normal. </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Nhận định ban đầu, Boeing cho rằng có khả năng xảy ra lỗi cấu hình (configuration error) trong quá trình chạy động cơ mặt đất, khi các công tắc EEC MODE trên bảng P5 đang để ở vị trí ALTN. Đây là nguyên nhân tiềm năng dẫn đến việc tạo ra các thông điệp, vì:</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Không thấy lỗi EEC nào được ghi nhận trong hệ thống trong hoặc sau chuyến bay.</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Xác suất cả hai kênh EEC (trái/phải) cùng gặp lỗi thực tế là rất thấp.</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VAECO đã gửi dữ liệu DFDR tới Boeing để xác nhận, hạn 03/06 trả lời. </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Hiện tiếp tục làm rõ thông tin với Boeing và tổ bay tuy nhiên, có thể xem xét đánh giá event xảy ra là Non-tech do:</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Hỏng hóc liên quan đến tàu bay tại chuyến VN408 gây hệ quả cảnh báo liên quan đến TAT và EEC MODE L/R do FOD;</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Cảnh báo tại chuyến VN409 khả năng cao do config error, không có hỏng hóc liên quan đến động cơ gây hoạt động ở chế độ Alternate</a:t>
            </a:r>
            <a:endParaRPr lang="en-US"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736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BB4C195-856E-A9AF-DFB3-D34E82729C2B}"/>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C8E31888-4EBD-5752-52C7-0CAB95C5518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3715C7BC-5FEC-532F-53D3-EB4AF4E175B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4BA90E7E-E6E4-0A3C-38F8-41132ECC3C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6" name="Table 5">
            <a:extLst>
              <a:ext uri="{FF2B5EF4-FFF2-40B4-BE49-F238E27FC236}">
                <a16:creationId xmlns="" xmlns:a16="http://schemas.microsoft.com/office/drawing/2014/main" id="{1BCB0D66-4B2C-68AA-A851-777E2395608F}"/>
              </a:ext>
            </a:extLst>
          </p:cNvPr>
          <p:cNvGraphicFramePr>
            <a:graphicFrameLocks noGrp="1"/>
          </p:cNvGraphicFramePr>
          <p:nvPr>
            <p:extLst>
              <p:ext uri="{D42A27DB-BD31-4B8C-83A1-F6EECF244321}">
                <p14:modId xmlns:p14="http://schemas.microsoft.com/office/powerpoint/2010/main" val="1312768691"/>
              </p:ext>
            </p:extLst>
          </p:nvPr>
        </p:nvGraphicFramePr>
        <p:xfrm>
          <a:off x="134289" y="1521020"/>
          <a:ext cx="11688715" cy="4736905"/>
        </p:xfrm>
        <a:graphic>
          <a:graphicData uri="http://schemas.openxmlformats.org/drawingml/2006/table">
            <a:tbl>
              <a:tblPr/>
              <a:tblGrid>
                <a:gridCol w="475311">
                  <a:extLst>
                    <a:ext uri="{9D8B030D-6E8A-4147-A177-3AD203B41FA5}">
                      <a16:colId xmlns="" xmlns:a16="http://schemas.microsoft.com/office/drawing/2014/main" val="2473118882"/>
                    </a:ext>
                  </a:extLst>
                </a:gridCol>
                <a:gridCol w="807264">
                  <a:extLst>
                    <a:ext uri="{9D8B030D-6E8A-4147-A177-3AD203B41FA5}">
                      <a16:colId xmlns="" xmlns:a16="http://schemas.microsoft.com/office/drawing/2014/main" val="3392135331"/>
                    </a:ext>
                  </a:extLst>
                </a:gridCol>
                <a:gridCol w="955109">
                  <a:extLst>
                    <a:ext uri="{9D8B030D-6E8A-4147-A177-3AD203B41FA5}">
                      <a16:colId xmlns="" xmlns:a16="http://schemas.microsoft.com/office/drawing/2014/main" val="2196282914"/>
                    </a:ext>
                  </a:extLst>
                </a:gridCol>
                <a:gridCol w="447427">
                  <a:extLst>
                    <a:ext uri="{9D8B030D-6E8A-4147-A177-3AD203B41FA5}">
                      <a16:colId xmlns="" xmlns:a16="http://schemas.microsoft.com/office/drawing/2014/main" val="3375762913"/>
                    </a:ext>
                  </a:extLst>
                </a:gridCol>
                <a:gridCol w="1295400">
                  <a:extLst>
                    <a:ext uri="{9D8B030D-6E8A-4147-A177-3AD203B41FA5}">
                      <a16:colId xmlns="" xmlns:a16="http://schemas.microsoft.com/office/drawing/2014/main" val="1905667060"/>
                    </a:ext>
                  </a:extLst>
                </a:gridCol>
                <a:gridCol w="3200400">
                  <a:extLst>
                    <a:ext uri="{9D8B030D-6E8A-4147-A177-3AD203B41FA5}">
                      <a16:colId xmlns="" xmlns:a16="http://schemas.microsoft.com/office/drawing/2014/main" val="59642537"/>
                    </a:ext>
                  </a:extLst>
                </a:gridCol>
                <a:gridCol w="381000">
                  <a:extLst>
                    <a:ext uri="{9D8B030D-6E8A-4147-A177-3AD203B41FA5}">
                      <a16:colId xmlns="" xmlns:a16="http://schemas.microsoft.com/office/drawing/2014/main" val="3935706781"/>
                    </a:ext>
                  </a:extLst>
                </a:gridCol>
                <a:gridCol w="4126804">
                  <a:extLst>
                    <a:ext uri="{9D8B030D-6E8A-4147-A177-3AD203B41FA5}">
                      <a16:colId xmlns="" xmlns:a16="http://schemas.microsoft.com/office/drawing/2014/main" val="63803871"/>
                    </a:ext>
                  </a:extLst>
                </a:gridCol>
              </a:tblGrid>
              <a:tr h="35896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96725487"/>
                  </a:ext>
                </a:extLst>
              </a:tr>
              <a:tr h="1917082">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08:29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09:50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Times New Roman" panose="02020603050405020304" pitchFamily="18" charset="0"/>
                          <a:cs typeface="Times New Roman" panose="02020603050405020304" pitchFamily="18" charset="0"/>
                        </a:rPr>
                        <a:t>CAPT REPORT: LANDING GEAR LEVER STUCK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dirty="0" smtClean="0">
                          <a:solidFill>
                            <a:srgbClr val="000000"/>
                          </a:solidFill>
                          <a:effectLst/>
                          <a:latin typeface="Times New Roman" panose="02020603050405020304" pitchFamily="18" charset="0"/>
                          <a:cs typeface="Times New Roman" panose="02020603050405020304" pitchFamily="18" charset="0"/>
                        </a:rPr>
                        <a:t>FINAL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ACTION REPLACED NEW LDG SELECTOR LEVER, CHECK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được khắc phục sau khi thay khối LDG Control lever 4GA.</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Đối với khối pre-mod P/N F96GA0102, ATR có nêu vấn đề về độ tin cậy «the L/G control lever stuck in down position issue is due to the inability of the latch to be retracted because of debris between latch and electromagnet generated by the degradation of latch surface treatment”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Tuy nhiên, khối tháo xuống trên B225 P/N 727-1802-01, S/N S22270504, là khối POST-MOD, được mua mới (brand new) từ Mar/2024 và lắp lên B225 từ Dec/2024, đã khai thác được TSN = 845:38, CSN = 1118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Do khối này là khối POST-MOD nên cần chờ SFR để đánh giá nguyên nhân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88298701"/>
                  </a:ext>
                </a:extLst>
              </a:tr>
              <a:tr h="2446074">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B218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07:40 27/05/2025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12:00 29/05/2025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B218 ENG#2 U/S </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dirty="0" smtClean="0">
                          <a:solidFill>
                            <a:srgbClr val="000000"/>
                          </a:solidFill>
                          <a:effectLst/>
                          <a:latin typeface="Times New Roman" panose="02020603050405020304" pitchFamily="18" charset="0"/>
                          <a:cs typeface="Times New Roman" panose="02020603050405020304" pitchFamily="18" charset="0"/>
                        </a:rPr>
                        <a:t>C/O ENGINE CHANGE SATIS. </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72-00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Times New Roman" panose="02020603050405020304" pitchFamily="18" charset="0"/>
                          <a:cs typeface="Times New Roman" panose="02020603050405020304" pitchFamily="18" charset="0"/>
                        </a:rPr>
                        <a:t>Động cơ số #1 tàu B218 ED0237 có TSN/CSN = 21433.02 FH/ 25286 FC, TSO/CSO = TSHSI/CSHSI = 4925.02 FH/ 6469 FC (hạn kiểm tra phần nóng Hot Section Inspection Soft-Time khoảng 5000 FH) từ ngày 19/5 tổ bay có phản hồi high ITT chạm limit 765 độ C trong giai đoạn T/O một số chuyến bay, có chuyến bay vượt quá ngưỡng cảnh báo AMM 1-2 ⁰C trong vài giây. Theo kết quả phân tích dữ liệu QAR cho thấy thực tế các chuyến bay từ 16/5 đã phát sinh hiện tượng này trong phase T/O. Ngày 24/05 VAECO đã thực hiện T/S và nổ máy theo khuyến cáo của NSC PWC và thực hiện tính toán Margin các thông số động cơ (Torque, NH, ITT), kết quả nổ máy cho thấy ITT margin âm lớn (-14⁰C) so với ngưỡng giới hạn trong EMM do đó PWC xác nhận động cơ Unserviceable.  Động cơ này đã cao giờ có kế hoạch tháo gửi đi shop sửa chữa HSI vào đầu tháng 7/2025 do hết hạn LLP (tại thời điểm tháo động cơ còn khoảng 500 FC remaining). KTMB đã phối hợp VAECO/VASCO triển khai tháo động cơ gửi đi shop sửa chữa theo kế hoạch. Ngoài ra, KTMB sẽ tiếp tục theo dõi và phối hợp VAECO/QLVT xếp KH thay các động cơ cao giờ khi có động cơ dự phòng để đảm bảo khai thác.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72465424"/>
                  </a:ext>
                </a:extLst>
              </a:tr>
            </a:tbl>
          </a:graphicData>
        </a:graphic>
      </p:graphicFrame>
    </p:spTree>
    <p:extLst>
      <p:ext uri="{BB962C8B-B14F-4D97-AF65-F5344CB8AC3E}">
        <p14:creationId xmlns:p14="http://schemas.microsoft.com/office/powerpoint/2010/main" val="4139098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BB4C195-856E-A9AF-DFB3-D34E82729C2B}"/>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C8E31888-4EBD-5752-52C7-0CAB95C5518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3715C7BC-5FEC-532F-53D3-EB4AF4E175B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4BA90E7E-E6E4-0A3C-38F8-41132ECC3C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6" name="Table 5">
            <a:extLst>
              <a:ext uri="{FF2B5EF4-FFF2-40B4-BE49-F238E27FC236}">
                <a16:creationId xmlns="" xmlns:a16="http://schemas.microsoft.com/office/drawing/2014/main" id="{1BCB0D66-4B2C-68AA-A851-777E2395608F}"/>
              </a:ext>
            </a:extLst>
          </p:cNvPr>
          <p:cNvGraphicFramePr>
            <a:graphicFrameLocks noGrp="1"/>
          </p:cNvGraphicFramePr>
          <p:nvPr>
            <p:extLst>
              <p:ext uri="{D42A27DB-BD31-4B8C-83A1-F6EECF244321}">
                <p14:modId xmlns:p14="http://schemas.microsoft.com/office/powerpoint/2010/main" val="1507542272"/>
              </p:ext>
            </p:extLst>
          </p:nvPr>
        </p:nvGraphicFramePr>
        <p:xfrm>
          <a:off x="134289" y="1521020"/>
          <a:ext cx="11688715" cy="1105911"/>
        </p:xfrm>
        <a:graphic>
          <a:graphicData uri="http://schemas.openxmlformats.org/drawingml/2006/table">
            <a:tbl>
              <a:tblPr/>
              <a:tblGrid>
                <a:gridCol w="475311">
                  <a:extLst>
                    <a:ext uri="{9D8B030D-6E8A-4147-A177-3AD203B41FA5}">
                      <a16:colId xmlns="" xmlns:a16="http://schemas.microsoft.com/office/drawing/2014/main" val="2473118882"/>
                    </a:ext>
                  </a:extLst>
                </a:gridCol>
                <a:gridCol w="807264">
                  <a:extLst>
                    <a:ext uri="{9D8B030D-6E8A-4147-A177-3AD203B41FA5}">
                      <a16:colId xmlns="" xmlns:a16="http://schemas.microsoft.com/office/drawing/2014/main" val="3392135331"/>
                    </a:ext>
                  </a:extLst>
                </a:gridCol>
                <a:gridCol w="955109">
                  <a:extLst>
                    <a:ext uri="{9D8B030D-6E8A-4147-A177-3AD203B41FA5}">
                      <a16:colId xmlns="" xmlns:a16="http://schemas.microsoft.com/office/drawing/2014/main" val="2196282914"/>
                    </a:ext>
                  </a:extLst>
                </a:gridCol>
                <a:gridCol w="447427">
                  <a:extLst>
                    <a:ext uri="{9D8B030D-6E8A-4147-A177-3AD203B41FA5}">
                      <a16:colId xmlns="" xmlns:a16="http://schemas.microsoft.com/office/drawing/2014/main" val="3375762913"/>
                    </a:ext>
                  </a:extLst>
                </a:gridCol>
                <a:gridCol w="1295400">
                  <a:extLst>
                    <a:ext uri="{9D8B030D-6E8A-4147-A177-3AD203B41FA5}">
                      <a16:colId xmlns="" xmlns:a16="http://schemas.microsoft.com/office/drawing/2014/main" val="1905667060"/>
                    </a:ext>
                  </a:extLst>
                </a:gridCol>
                <a:gridCol w="3200400">
                  <a:extLst>
                    <a:ext uri="{9D8B030D-6E8A-4147-A177-3AD203B41FA5}">
                      <a16:colId xmlns="" xmlns:a16="http://schemas.microsoft.com/office/drawing/2014/main" val="59642537"/>
                    </a:ext>
                  </a:extLst>
                </a:gridCol>
                <a:gridCol w="381000">
                  <a:extLst>
                    <a:ext uri="{9D8B030D-6E8A-4147-A177-3AD203B41FA5}">
                      <a16:colId xmlns="" xmlns:a16="http://schemas.microsoft.com/office/drawing/2014/main" val="3935706781"/>
                    </a:ext>
                  </a:extLst>
                </a:gridCol>
                <a:gridCol w="4126804">
                  <a:extLst>
                    <a:ext uri="{9D8B030D-6E8A-4147-A177-3AD203B41FA5}">
                      <a16:colId xmlns="" xmlns:a16="http://schemas.microsoft.com/office/drawing/2014/main" val="63803871"/>
                    </a:ext>
                  </a:extLst>
                </a:gridCol>
              </a:tblGrid>
              <a:tr h="259567">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96725487"/>
                  </a:ext>
                </a:extLst>
              </a:tr>
              <a:tr h="734013">
                <a:tc>
                  <a:txBody>
                    <a:bodyPr/>
                    <a:lstStyle/>
                    <a:p>
                      <a:pPr algn="l" fontAlgn="b"/>
                      <a:r>
                        <a:rPr lang="en-US" sz="1100" b="0" i="0" u="none" strike="noStrike" dirty="0" smtClean="0">
                          <a:solidFill>
                            <a:srgbClr val="FF0000"/>
                          </a:solidFill>
                          <a:effectLst/>
                          <a:latin typeface="Times New Roman" panose="02020603050405020304" pitchFamily="18" charset="0"/>
                          <a:cs typeface="Times New Roman" panose="02020603050405020304" pitchFamily="18" charset="0"/>
                        </a:rPr>
                        <a:t>B221</a:t>
                      </a:r>
                      <a:endParaRPr lang="en-US"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FF0000"/>
                          </a:solidFill>
                          <a:effectLst/>
                          <a:latin typeface="Times New Roman" panose="02020603050405020304" pitchFamily="18" charset="0"/>
                          <a:cs typeface="Times New Roman" panose="02020603050405020304" pitchFamily="18" charset="0"/>
                        </a:rPr>
                        <a:t>01/06/2025</a:t>
                      </a:r>
                      <a:endParaRPr lang="en-US"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FF0000"/>
                          </a:solidFill>
                          <a:effectLst/>
                          <a:latin typeface="Times New Roman" panose="02020603050405020304" pitchFamily="18" charset="0"/>
                          <a:cs typeface="Times New Roman" panose="02020603050405020304" pitchFamily="18" charset="0"/>
                        </a:rPr>
                        <a:t>01/06/2025</a:t>
                      </a:r>
                      <a:endParaRPr lang="en-US"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dirty="0">
                          <a:solidFill>
                            <a:srgbClr val="FF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dirty="0">
                          <a:solidFill>
                            <a:srgbClr val="FF0000"/>
                          </a:solidFill>
                          <a:effectLst/>
                          <a:latin typeface="Times New Roman" panose="02020603050405020304" pitchFamily="18" charset="0"/>
                          <a:cs typeface="Times New Roman" panose="02020603050405020304" pitchFamily="18" charset="0"/>
                        </a:rPr>
                        <a:t>Fuel leak at drain mast.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dirty="0">
                          <a:solidFill>
                            <a:srgbClr val="FF0000"/>
                          </a:solidFill>
                          <a:effectLst/>
                          <a:latin typeface="Times New Roman" panose="02020603050405020304" pitchFamily="18" charset="0"/>
                          <a:cs typeface="Times New Roman" panose="02020603050405020304" pitchFamily="18" charset="0"/>
                        </a:rPr>
                        <a:t>T/S IN </a:t>
                      </a:r>
                      <a:r>
                        <a:rPr lang="en-US" sz="1100" b="0" i="0" u="none" strike="noStrike" dirty="0" smtClean="0">
                          <a:solidFill>
                            <a:srgbClr val="FF0000"/>
                          </a:solidFill>
                          <a:effectLst/>
                          <a:latin typeface="Times New Roman" panose="02020603050405020304" pitchFamily="18" charset="0"/>
                          <a:cs typeface="Times New Roman" panose="02020603050405020304" pitchFamily="18" charset="0"/>
                        </a:rPr>
                        <a:t>PROGESS, </a:t>
                      </a:r>
                      <a:r>
                        <a:rPr lang="en-US" sz="1100" b="0" i="0" u="none" strike="noStrike" dirty="0" err="1" smtClean="0">
                          <a:solidFill>
                            <a:srgbClr val="FF0000"/>
                          </a:solidFill>
                          <a:effectLst/>
                          <a:latin typeface="Times New Roman" panose="02020603050405020304" pitchFamily="18" charset="0"/>
                          <a:cs typeface="Times New Roman" panose="02020603050405020304" pitchFamily="18" charset="0"/>
                        </a:rPr>
                        <a:t>phát</a:t>
                      </a:r>
                      <a:r>
                        <a:rPr lang="en-US" sz="1100" b="0" i="0" u="none" strike="noStrike" baseline="0" dirty="0" smtClean="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smtClean="0">
                          <a:solidFill>
                            <a:srgbClr val="FF0000"/>
                          </a:solidFill>
                          <a:effectLst/>
                          <a:latin typeface="Times New Roman" panose="02020603050405020304" pitchFamily="18" charset="0"/>
                          <a:cs typeface="Times New Roman" panose="02020603050405020304" pitchFamily="18" charset="0"/>
                        </a:rPr>
                        <a:t>hiện</a:t>
                      </a:r>
                      <a:r>
                        <a:rPr lang="en-US" sz="1100" b="0" i="0" u="none" strike="noStrike" baseline="0" dirty="0" smtClean="0">
                          <a:solidFill>
                            <a:srgbClr val="FF0000"/>
                          </a:solidFill>
                          <a:effectLst/>
                          <a:latin typeface="Times New Roman" panose="02020603050405020304" pitchFamily="18" charset="0"/>
                          <a:cs typeface="Times New Roman" panose="02020603050405020304" pitchFamily="18" charset="0"/>
                        </a:rPr>
                        <a:t> leak </a:t>
                      </a:r>
                      <a:r>
                        <a:rPr lang="en-US" sz="1100" b="0" i="0" u="none" strike="noStrike" baseline="0" dirty="0" err="1" smtClean="0">
                          <a:solidFill>
                            <a:srgbClr val="FF0000"/>
                          </a:solidFill>
                          <a:effectLst/>
                          <a:latin typeface="Times New Roman" panose="02020603050405020304" pitchFamily="18" charset="0"/>
                          <a:cs typeface="Times New Roman" panose="02020603050405020304" pitchFamily="18" charset="0"/>
                        </a:rPr>
                        <a:t>tại</a:t>
                      </a:r>
                      <a:r>
                        <a:rPr lang="en-US" sz="1100" b="0" i="0" u="none" strike="noStrike" baseline="0" dirty="0" smtClean="0">
                          <a:solidFill>
                            <a:srgbClr val="FF0000"/>
                          </a:solidFill>
                          <a:effectLst/>
                          <a:latin typeface="Times New Roman" panose="02020603050405020304" pitchFamily="18" charset="0"/>
                          <a:cs typeface="Times New Roman" panose="02020603050405020304" pitchFamily="18" charset="0"/>
                        </a:rPr>
                        <a:t> HMU</a:t>
                      </a:r>
                      <a:endParaRPr lang="en-US"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FF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vi-VN"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88298701"/>
                  </a:ext>
                </a:extLst>
              </a:tr>
            </a:tbl>
          </a:graphicData>
        </a:graphic>
      </p:graphicFrame>
    </p:spTree>
    <p:extLst>
      <p:ext uri="{BB962C8B-B14F-4D97-AF65-F5344CB8AC3E}">
        <p14:creationId xmlns:p14="http://schemas.microsoft.com/office/powerpoint/2010/main" val="358764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BB4C195-856E-A9AF-DFB3-D34E82729C2B}"/>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C8E31888-4EBD-5752-52C7-0CAB95C5518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 xmlns:a16="http://schemas.microsoft.com/office/drawing/2014/main" id="{3715C7BC-5FEC-532F-53D3-EB4AF4E175B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 xmlns:a16="http://schemas.microsoft.com/office/drawing/2014/main" id="{4BA90E7E-E6E4-0A3C-38F8-41132ECC3C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7" name="Table 6">
            <a:extLst>
              <a:ext uri="{FF2B5EF4-FFF2-40B4-BE49-F238E27FC236}">
                <a16:creationId xmlns="" xmlns:a16="http://schemas.microsoft.com/office/drawing/2014/main" id="{4572220E-53F5-0F01-C2F3-99C268BDF13A}"/>
              </a:ext>
            </a:extLst>
          </p:cNvPr>
          <p:cNvGraphicFramePr>
            <a:graphicFrameLocks noGrp="1"/>
          </p:cNvGraphicFramePr>
          <p:nvPr>
            <p:extLst>
              <p:ext uri="{D42A27DB-BD31-4B8C-83A1-F6EECF244321}">
                <p14:modId xmlns:p14="http://schemas.microsoft.com/office/powerpoint/2010/main" val="26489018"/>
              </p:ext>
            </p:extLst>
          </p:nvPr>
        </p:nvGraphicFramePr>
        <p:xfrm>
          <a:off x="134290" y="1514671"/>
          <a:ext cx="11688715" cy="3123390"/>
        </p:xfrm>
        <a:graphic>
          <a:graphicData uri="http://schemas.openxmlformats.org/drawingml/2006/table">
            <a:tbl>
              <a:tblPr/>
              <a:tblGrid>
                <a:gridCol w="399110">
                  <a:extLst>
                    <a:ext uri="{9D8B030D-6E8A-4147-A177-3AD203B41FA5}">
                      <a16:colId xmlns="" xmlns:a16="http://schemas.microsoft.com/office/drawing/2014/main" val="3467514978"/>
                    </a:ext>
                  </a:extLst>
                </a:gridCol>
                <a:gridCol w="685800">
                  <a:extLst>
                    <a:ext uri="{9D8B030D-6E8A-4147-A177-3AD203B41FA5}">
                      <a16:colId xmlns="" xmlns:a16="http://schemas.microsoft.com/office/drawing/2014/main" val="3513956334"/>
                    </a:ext>
                  </a:extLst>
                </a:gridCol>
                <a:gridCol w="381000">
                  <a:extLst>
                    <a:ext uri="{9D8B030D-6E8A-4147-A177-3AD203B41FA5}">
                      <a16:colId xmlns="" xmlns:a16="http://schemas.microsoft.com/office/drawing/2014/main" val="524048857"/>
                    </a:ext>
                  </a:extLst>
                </a:gridCol>
                <a:gridCol w="685800">
                  <a:extLst>
                    <a:ext uri="{9D8B030D-6E8A-4147-A177-3AD203B41FA5}">
                      <a16:colId xmlns="" xmlns:a16="http://schemas.microsoft.com/office/drawing/2014/main" val="259133430"/>
                    </a:ext>
                  </a:extLst>
                </a:gridCol>
                <a:gridCol w="609600">
                  <a:extLst>
                    <a:ext uri="{9D8B030D-6E8A-4147-A177-3AD203B41FA5}">
                      <a16:colId xmlns="" xmlns:a16="http://schemas.microsoft.com/office/drawing/2014/main" val="673348196"/>
                    </a:ext>
                  </a:extLst>
                </a:gridCol>
                <a:gridCol w="762000">
                  <a:extLst>
                    <a:ext uri="{9D8B030D-6E8A-4147-A177-3AD203B41FA5}">
                      <a16:colId xmlns="" xmlns:a16="http://schemas.microsoft.com/office/drawing/2014/main" val="422459560"/>
                    </a:ext>
                  </a:extLst>
                </a:gridCol>
                <a:gridCol w="1143000">
                  <a:extLst>
                    <a:ext uri="{9D8B030D-6E8A-4147-A177-3AD203B41FA5}">
                      <a16:colId xmlns="" xmlns:a16="http://schemas.microsoft.com/office/drawing/2014/main" val="2573721533"/>
                    </a:ext>
                  </a:extLst>
                </a:gridCol>
                <a:gridCol w="2971800">
                  <a:extLst>
                    <a:ext uri="{9D8B030D-6E8A-4147-A177-3AD203B41FA5}">
                      <a16:colId xmlns="" xmlns:a16="http://schemas.microsoft.com/office/drawing/2014/main" val="1326284677"/>
                    </a:ext>
                  </a:extLst>
                </a:gridCol>
                <a:gridCol w="457200">
                  <a:extLst>
                    <a:ext uri="{9D8B030D-6E8A-4147-A177-3AD203B41FA5}">
                      <a16:colId xmlns="" xmlns:a16="http://schemas.microsoft.com/office/drawing/2014/main" val="3053691605"/>
                    </a:ext>
                  </a:extLst>
                </a:gridCol>
                <a:gridCol w="3593405">
                  <a:extLst>
                    <a:ext uri="{9D8B030D-6E8A-4147-A177-3AD203B41FA5}">
                      <a16:colId xmlns="" xmlns:a16="http://schemas.microsoft.com/office/drawing/2014/main" val="3407010750"/>
                    </a:ext>
                  </a:extLst>
                </a:gridCol>
              </a:tblGrid>
              <a:tr h="301183">
                <a:tc>
                  <a:txBody>
                    <a:bodyPr/>
                    <a:lstStyle/>
                    <a:p>
                      <a:pPr algn="ctr" fontAlgn="ctr"/>
                      <a:r>
                        <a:rPr lang="vi-VN" sz="12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2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568723607"/>
                  </a:ext>
                </a:extLst>
              </a:tr>
              <a:tr h="1665081">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08:29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VN1854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CAPT REPORT: LANDING GEAR LEVER STUCK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FINAL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ACTION REPLACED NEW LDG SELECTOR LEVER, CHECK SATIS. A/C SERVICEABLE</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được khắc phục sau khi thay khối LDG Control lever 4GA.</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Đối với khối pre-mod P/N F96GA0102, ATR có nêu vấn đề về độ tin cậy «the L/G control lever stuck in down position issue is due to the inability of the latch to be retracted because of debris between latch and electromagnet generated by the degradation of latch surface treatment”</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Tuy nhiên, khối tháo xuống trên B225 P/N 727-1802-01, S/N S22270504, là khối POST-MOD, được mua mới (brand new) từ Mar/2024 và lắp lên B225 từ Dec/2024, đã khai thác được TSN = 845:38, CSN = 1118 </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Do khối này là khối POST-MOD nên cần chờ SFR để đánh giá nguyên nhân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754419669"/>
                  </a:ext>
                </a:extLst>
              </a:tr>
            </a:tbl>
          </a:graphicData>
        </a:graphic>
      </p:graphicFrame>
    </p:spTree>
    <p:extLst>
      <p:ext uri="{BB962C8B-B14F-4D97-AF65-F5344CB8AC3E}">
        <p14:creationId xmlns:p14="http://schemas.microsoft.com/office/powerpoint/2010/main" val="938105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7" name="Rectangle 6">
            <a:extLst>
              <a:ext uri="{FF2B5EF4-FFF2-40B4-BE49-F238E27FC236}">
                <a16:creationId xmlns="" xmlns:a16="http://schemas.microsoft.com/office/drawing/2014/main" id="{795CC2F9-72E9-47BD-A040-3231760CEEDB}"/>
              </a:ext>
            </a:extLst>
          </p:cNvPr>
          <p:cNvSpPr/>
          <p:nvPr/>
        </p:nvSpPr>
        <p:spPr>
          <a:xfrm>
            <a:off x="588184" y="1182466"/>
            <a:ext cx="10668000" cy="1323439"/>
          </a:xfrm>
          <a:prstGeom prst="rect">
            <a:avLst/>
          </a:prstGeom>
        </p:spPr>
        <p:txBody>
          <a:bodyPr wrap="square">
            <a:spAutoFit/>
          </a:bodyPr>
          <a:lstStyle/>
          <a:p>
            <a:pPr algn="just">
              <a:buClrTx/>
              <a:buFontTx/>
              <a:buNone/>
              <a:defRPr/>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ATR72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smtClean="0">
                <a:solidFill>
                  <a:prstClr val="black"/>
                </a:solidFill>
                <a:latin typeface="Times New Roman" panose="02020603050405020304" pitchFamily="18" charset="0"/>
                <a:cs typeface="Times New Roman" panose="02020603050405020304" pitchFamily="18" charset="0"/>
              </a:rPr>
              <a:t>03 </a:t>
            </a:r>
            <a:r>
              <a:rPr lang="en-US" sz="1600" dirty="0">
                <a:solidFill>
                  <a:prstClr val="black"/>
                </a:solidFill>
                <a:latin typeface="Times New Roman" panose="02020603050405020304" pitchFamily="18" charset="0"/>
                <a:cs typeface="Times New Roman" panose="02020603050405020304" pitchFamily="18" charset="0"/>
              </a:rPr>
              <a:t>TH AOG:</a:t>
            </a:r>
          </a:p>
          <a:p>
            <a:pPr marL="228600" indent="-228600" algn="just">
              <a:buClrTx/>
              <a:buFontTx/>
              <a:buAutoNum type="arabicPeriod"/>
              <a:defRPr/>
            </a:pP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B218/AOG </a:t>
            </a: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ngày</a:t>
            </a:r>
            <a:r>
              <a:rPr lang="en-US" sz="1600" dirty="0">
                <a:solidFill>
                  <a:prstClr val="black"/>
                </a:solidFill>
                <a:latin typeface="Times New Roman" panose="02020603050405020304" pitchFamily="18" charset="0"/>
                <a:cs typeface="Times New Roman" panose="02020603050405020304" pitchFamily="18" charset="0"/>
              </a:rPr>
              <a:t> 27/05 do </a:t>
            </a:r>
            <a:r>
              <a:rPr lang="en-US" sz="1600" dirty="0" err="1">
                <a:solidFill>
                  <a:prstClr val="black"/>
                </a:solidFill>
                <a:latin typeface="Times New Roman" panose="02020603050405020304" pitchFamily="18" charset="0"/>
                <a:cs typeface="Times New Roman" panose="02020603050405020304" pitchFamily="18" charset="0"/>
              </a:rPr>
              <a:t>Eng</a:t>
            </a:r>
            <a:r>
              <a:rPr lang="en-US" sz="1600" dirty="0">
                <a:solidFill>
                  <a:prstClr val="black"/>
                </a:solidFill>
                <a:latin typeface="Times New Roman" panose="02020603050405020304" pitchFamily="18" charset="0"/>
                <a:cs typeface="Times New Roman" panose="02020603050405020304" pitchFamily="18" charset="0"/>
              </a:rPr>
              <a:t> #2 unserviceable.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cơ</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để</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a:p>
            <a:pPr marL="228600" indent="-228600" algn="just">
              <a:buClrTx/>
              <a:buFontTx/>
              <a:buAutoNum type="arabicPeriod"/>
              <a:defRPr/>
            </a:pP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B225/AOG </a:t>
            </a:r>
            <a:r>
              <a:rPr lang="en-US" sz="1600" dirty="0" err="1">
                <a:solidFill>
                  <a:prstClr val="black"/>
                </a:solidFill>
                <a:latin typeface="Times New Roman" panose="02020603050405020304" pitchFamily="18" charset="0"/>
                <a:cs typeface="Times New Roman" panose="02020603050405020304" pitchFamily="18" charset="0"/>
              </a:rPr>
              <a:t>ngày</a:t>
            </a:r>
            <a:r>
              <a:rPr lang="en-US" sz="1600" dirty="0">
                <a:solidFill>
                  <a:prstClr val="black"/>
                </a:solidFill>
                <a:latin typeface="Times New Roman" panose="02020603050405020304" pitchFamily="18" charset="0"/>
                <a:cs typeface="Times New Roman" panose="02020603050405020304" pitchFamily="18" charset="0"/>
              </a:rPr>
              <a:t> 01/06 do LANDING GEAR LEVER STUCK.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SELECTOR LEVER </a:t>
            </a:r>
            <a:r>
              <a:rPr lang="en-US" sz="1600" dirty="0" err="1">
                <a:solidFill>
                  <a:prstClr val="black"/>
                </a:solidFill>
                <a:latin typeface="Times New Roman" panose="02020603050405020304" pitchFamily="18" charset="0"/>
                <a:cs typeface="Times New Roman" panose="02020603050405020304" pitchFamily="18" charset="0"/>
              </a:rPr>
              <a:t>để</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smtClean="0">
                <a:solidFill>
                  <a:prstClr val="black"/>
                </a:solidFill>
                <a:latin typeface="Times New Roman" panose="02020603050405020304" pitchFamily="18" charset="0"/>
                <a:cs typeface="Times New Roman" panose="02020603050405020304" pitchFamily="18" charset="0"/>
              </a:rPr>
              <a:t>phục</a:t>
            </a:r>
            <a:endParaRPr lang="en-US" sz="1600" dirty="0" smtClean="0">
              <a:solidFill>
                <a:prstClr val="black"/>
              </a:solidFill>
              <a:latin typeface="Times New Roman" panose="02020603050405020304" pitchFamily="18" charset="0"/>
              <a:cs typeface="Times New Roman" panose="02020603050405020304" pitchFamily="18" charset="0"/>
            </a:endParaRPr>
          </a:p>
          <a:p>
            <a:pPr marL="228600" indent="-228600" algn="just">
              <a:buFontTx/>
              <a:buAutoNum type="arabicPeriod"/>
              <a:defRPr/>
            </a:pP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B221 AOG do Fuel leak at drain mast.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chô</a:t>
            </a:r>
            <a:r>
              <a:rPr lang="en-US" sz="1600" dirty="0">
                <a:solidFill>
                  <a:prstClr val="black"/>
                </a:solidFill>
                <a:latin typeface="Times New Roman" panose="02020603050405020304" pitchFamily="18" charset="0"/>
                <a:cs typeface="Times New Roman" panose="02020603050405020304" pitchFamily="18" charset="0"/>
              </a:rPr>
              <a:t> leak </a:t>
            </a:r>
            <a:r>
              <a:rPr lang="en-US" sz="1600" dirty="0" err="1">
                <a:solidFill>
                  <a:prstClr val="black"/>
                </a:solidFill>
                <a:latin typeface="Times New Roman" panose="02020603050405020304" pitchFamily="18" charset="0"/>
                <a:cs typeface="Times New Roman" panose="02020603050405020304" pitchFamily="18" charset="0"/>
              </a:rPr>
              <a:t>tại</a:t>
            </a:r>
            <a:r>
              <a:rPr lang="en-US" sz="1600" dirty="0">
                <a:solidFill>
                  <a:prstClr val="black"/>
                </a:solidFill>
                <a:latin typeface="Times New Roman" panose="02020603050405020304" pitchFamily="18" charset="0"/>
                <a:cs typeface="Times New Roman" panose="02020603050405020304" pitchFamily="18" charset="0"/>
              </a:rPr>
              <a:t> FMU </a:t>
            </a:r>
            <a:r>
              <a:rPr lang="en-US" sz="1600" dirty="0" err="1">
                <a:solidFill>
                  <a:prstClr val="black"/>
                </a:solidFill>
                <a:latin typeface="Times New Roman" panose="02020603050405020304" pitchFamily="18" charset="0"/>
                <a:cs typeface="Times New Roman" panose="02020603050405020304" pitchFamily="18" charset="0"/>
              </a:rPr>
              <a:t>và</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đang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endParaRPr lang="en-SG" sz="1600" dirty="0">
              <a:solidFill>
                <a:srgbClr val="FF0000"/>
              </a:solidFill>
              <a:latin typeface="Times New Roman" panose="02020603050405020304" pitchFamily="18" charset="0"/>
              <a:cs typeface="Times New Roman" panose="02020603050405020304" pitchFamily="18" charset="0"/>
            </a:endParaRPr>
          </a:p>
          <a:p>
            <a:pPr algn="just">
              <a:buClrTx/>
              <a:defRPr/>
            </a:pPr>
            <a:endParaRPr lang="en-SG" sz="1600" dirty="0">
              <a:solidFill>
                <a:srgbClr val="FF0000"/>
              </a:solidFill>
              <a:latin typeface="Times New Roman" panose="02020603050405020304" pitchFamily="18" charset="0"/>
              <a:cs typeface="Times New Roman" panose="02020603050405020304" pitchFamily="18" charset="0"/>
            </a:endParaRPr>
          </a:p>
        </p:txBody>
      </p:sp>
      <p:sp>
        <p:nvSpPr>
          <p:cNvPr id="8" name="Title 4">
            <a:extLst>
              <a:ext uri="{FF2B5EF4-FFF2-40B4-BE49-F238E27FC236}">
                <a16:creationId xmlns=""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77373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a:t>
            </a:r>
            <a:r>
              <a:rPr lang="en-US" smtClean="0">
                <a:ln w="0"/>
                <a:solidFill>
                  <a:schemeClr val="accent4"/>
                </a:solidFill>
                <a:latin typeface="Times New Roman" panose="02020603050405020304" pitchFamily="18" charset="0"/>
                <a:cs typeface="Times New Roman" panose="02020603050405020304" pitchFamily="18" charset="0"/>
              </a:rPr>
              <a:t>W22 (26/05/2025-01/06/20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22/2025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a:t>
            </a: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cậy</a:t>
            </a:r>
            <a:r>
              <a:rPr kumimoji="0" lang="en-US" sz="1400" b="0" i="0" u="none" strike="noStrike" kern="1200" cap="none" spc="0" normalizeH="0" noProof="0" smtClean="0">
                <a:ln>
                  <a:noFill/>
                </a:ln>
                <a:solidFill>
                  <a:prstClr val="black"/>
                </a:solidFill>
                <a:effectLst/>
                <a:uLnTx/>
                <a:uFillTx/>
                <a:latin typeface="Times New Roman" panose="02020603050405020304" pitchFamily="18" charset="0"/>
                <a:cs typeface="Times New Roman" panose="02020603050405020304" pitchFamily="18" charset="0"/>
              </a:rPr>
              <a:t> cất cánh đội </a:t>
            </a:r>
            <a:r>
              <a:rPr lang="en-US" sz="1400" noProof="0" smtClean="0">
                <a:solidFill>
                  <a:prstClr val="black"/>
                </a:solidFill>
                <a:latin typeface="Times New Roman" panose="02020603050405020304" pitchFamily="18" charset="0"/>
                <a:cs typeface="Times New Roman" panose="02020603050405020304" pitchFamily="18" charset="0"/>
              </a:rPr>
              <a:t>A321, A350 </a:t>
            </a:r>
            <a:r>
              <a:rPr lang="en-US" sz="1400" smtClean="0">
                <a:solidFill>
                  <a:prstClr val="black"/>
                </a:solidFill>
                <a:latin typeface="Times New Roman" panose="02020603050405020304" pitchFamily="18" charset="0"/>
                <a:cs typeface="Times New Roman" panose="02020603050405020304" pitchFamily="18" charset="0"/>
              </a:rPr>
              <a:t>đạt mục tiêu, đội B787 và ATR72 không đạt mục tiêu</a:t>
            </a:r>
            <a:r>
              <a:rPr kumimoji="0" lang="en-US" sz="1400" b="0" i="0" u="none" strike="noStrike" kern="1200" cap="none" spc="0" normalizeH="0" noProof="0" smtClean="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99,70% cao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0,07%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a:t>
            </a:r>
            <a:r>
              <a:rPr lang="en-US" sz="1400" smtClean="0">
                <a:solidFill>
                  <a:prstClr val="black"/>
                </a:solidFill>
                <a:latin typeface="Times New Roman" panose="02020603050405020304" pitchFamily="18" charset="0"/>
                <a:cs typeface="Times New Roman" panose="02020603050405020304" pitchFamily="18" charset="0"/>
              </a:rPr>
              <a:t>tiêu.</a:t>
            </a:r>
          </a:p>
          <a:p>
            <a:pPr marL="285750" indent="-285750">
              <a:buFont typeface="Wingdings" panose="05000000000000000000" pitchFamily="2" charset="2"/>
              <a:buChar char="v"/>
              <a:defRPr/>
            </a:pPr>
            <a:r>
              <a:rPr lang="en-US" sz="1400" smtClean="0">
                <a:solidFill>
                  <a:prstClr val="black"/>
                </a:solidFill>
                <a:latin typeface="Times New Roman" panose="02020603050405020304" pitchFamily="18" charset="0"/>
                <a:cs typeface="Times New Roman" panose="02020603050405020304" pitchFamily="18" charset="0"/>
              </a:rPr>
              <a:t>A350</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99,52% cao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0,08%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a:t>
            </a:r>
            <a:r>
              <a:rPr lang="en-US" sz="1400" smtClean="0">
                <a:solidFill>
                  <a:prstClr val="black"/>
                </a:solidFill>
                <a:latin typeface="Times New Roman" panose="02020603050405020304" pitchFamily="18" charset="0"/>
                <a:cs typeface="Times New Roman" panose="02020603050405020304" pitchFamily="18" charset="0"/>
              </a:rPr>
              <a:t>tiêu</a:t>
            </a:r>
            <a:r>
              <a:rPr lang="pt-BR" sz="1400" smtClean="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smtClean="0">
                <a:solidFill>
                  <a:prstClr val="black"/>
                </a:solidFill>
                <a:latin typeface="Times New Roman" panose="02020603050405020304" pitchFamily="18" charset="0"/>
                <a:cs typeface="Times New Roman" panose="02020603050405020304" pitchFamily="18" charset="0"/>
              </a:rPr>
              <a:t>B787</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99,45% </a:t>
            </a:r>
            <a:r>
              <a:rPr lang="en-US" sz="1400" smtClean="0">
                <a:latin typeface="Times New Roman" panose="02020603050405020304" pitchFamily="18" charset="0"/>
                <a:cs typeface="Times New Roman" panose="02020603050405020304" pitchFamily="18" charset="0"/>
              </a:rPr>
              <a:t>cao </a:t>
            </a:r>
            <a:r>
              <a:rPr lang="en-US" sz="1400">
                <a:latin typeface="Times New Roman" panose="02020603050405020304" pitchFamily="18" charset="0"/>
                <a:cs typeface="Times New Roman" panose="02020603050405020304" pitchFamily="18" charset="0"/>
              </a:rPr>
              <a:t>hơn </a:t>
            </a:r>
            <a:r>
              <a:rPr lang="en-US" sz="1400" smtClean="0">
                <a:latin typeface="Times New Roman" panose="02020603050405020304" pitchFamily="18" charset="0"/>
                <a:cs typeface="Times New Roman" panose="02020603050405020304" pitchFamily="18" charset="0"/>
              </a:rPr>
              <a:t>0,09% </a:t>
            </a:r>
            <a:r>
              <a:rPr lang="en-US" sz="1400">
                <a:latin typeface="Times New Roman" panose="02020603050405020304" pitchFamily="18" charset="0"/>
                <a:cs typeface="Times New Roman" panose="02020603050405020304" pitchFamily="18" charset="0"/>
              </a:rPr>
              <a:t>so với mục </a:t>
            </a:r>
            <a:r>
              <a:rPr lang="en-US" sz="1400" smtClean="0">
                <a:latin typeface="Times New Roman" panose="02020603050405020304" pitchFamily="18" charset="0"/>
                <a:cs typeface="Times New Roman" panose="02020603050405020304" pitchFamily="18" charset="0"/>
              </a:rPr>
              <a:t>tiêu.</a:t>
            </a:r>
            <a:endParaRPr lang="en-US" sz="1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a:t>
            </a:r>
            <a:r>
              <a:rPr lang="en-US" sz="1400" smtClean="0">
                <a:solidFill>
                  <a:prstClr val="black"/>
                </a:solidFill>
                <a:latin typeface="Times New Roman" panose="02020603050405020304" pitchFamily="18" charset="0"/>
                <a:cs typeface="Times New Roman" panose="02020603050405020304" pitchFamily="18" charset="0"/>
              </a:rPr>
              <a:t>99,50% thấp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0,15%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a:t>
            </a:r>
            <a:r>
              <a:rPr lang="en-US" sz="1400" smtClean="0">
                <a:solidFill>
                  <a:prstClr val="black"/>
                </a:solidFill>
                <a:latin typeface="Times New Roman" panose="02020603050405020304" pitchFamily="18" charset="0"/>
                <a:cs typeface="Times New Roman" panose="02020603050405020304" pitchFamily="18" charset="0"/>
              </a:rPr>
              <a:t>1 </a:t>
            </a:r>
            <a:r>
              <a:rPr lang="en-US" sz="1400">
                <a:solidFill>
                  <a:prstClr val="black"/>
                </a:solidFill>
                <a:latin typeface="Times New Roman" panose="02020603050405020304" pitchFamily="18" charset="0"/>
                <a:cs typeface="Times New Roman" panose="02020603050405020304" pitchFamily="18" charset="0"/>
              </a:rPr>
              <a:t>sự kiện liên quan LDG Control </a:t>
            </a:r>
            <a:r>
              <a:rPr lang="en-US" sz="1400" smtClean="0">
                <a:solidFill>
                  <a:prstClr val="black"/>
                </a:solidFill>
                <a:latin typeface="Times New Roman" panose="02020603050405020304" pitchFamily="18" charset="0"/>
                <a:cs typeface="Times New Roman" panose="02020603050405020304" pitchFamily="18" charset="0"/>
              </a:rPr>
              <a:t>lever tàu B225.</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 xmlns:a16="http://schemas.microsoft.com/office/drawing/2014/main"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 xmlns:a16="http://schemas.microsoft.com/office/drawing/2014/main" val="2169649306"/>
                    </a:ext>
                  </a:extLst>
                </a:gridCol>
                <a:gridCol w="1496650">
                  <a:extLst>
                    <a:ext uri="{9D8B030D-6E8A-4147-A177-3AD203B41FA5}">
                      <a16:colId xmlns="" xmlns:a16="http://schemas.microsoft.com/office/drawing/2014/main" val="3397981216"/>
                    </a:ext>
                  </a:extLst>
                </a:gridCol>
                <a:gridCol w="1330690">
                  <a:extLst>
                    <a:ext uri="{9D8B030D-6E8A-4147-A177-3AD203B41FA5}">
                      <a16:colId xmlns=""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7</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1</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804591176"/>
                  </a:ext>
                </a:extLst>
              </a:tr>
            </a:tbl>
          </a:graphicData>
        </a:graphic>
      </p:graphicFrame>
      <p:graphicFrame>
        <p:nvGraphicFramePr>
          <p:cNvPr id="7" name="Chart 6">
            <a:extLst>
              <a:ext uri="{FF2B5EF4-FFF2-40B4-BE49-F238E27FC236}">
                <a16:creationId xmlns="" xmlns:a16="http://schemas.microsoft.com/office/drawing/2014/main" id="{00000000-0008-0000-0000-000006000000}"/>
              </a:ext>
            </a:extLst>
          </p:cNvPr>
          <p:cNvGraphicFramePr>
            <a:graphicFrameLocks/>
          </p:cNvGraphicFramePr>
          <p:nvPr/>
        </p:nvGraphicFramePr>
        <p:xfrm>
          <a:off x="552666" y="843523"/>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2734665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 xmlns:a16="http://schemas.microsoft.com/office/drawing/2014/main" id="{B51B125A-92E0-55D4-355A-A287D3D9C84E}"/>
              </a:ext>
            </a:extLst>
          </p:cNvPr>
          <p:cNvGraphicFramePr>
            <a:graphicFrameLocks/>
          </p:cNvGraphicFramePr>
          <p:nvPr/>
        </p:nvGraphicFramePr>
        <p:xfrm>
          <a:off x="156783" y="606959"/>
          <a:ext cx="11878434" cy="5836641"/>
        </p:xfrm>
        <a:graphic>
          <a:graphicData uri="http://schemas.openxmlformats.org/drawingml/2006/table">
            <a:tbl>
              <a:tblPr>
                <a:tableStyleId>{5C22544A-7EE6-4342-B048-85BDC9FD1C3A}</a:tableStyleId>
              </a:tblPr>
              <a:tblGrid>
                <a:gridCol w="422727">
                  <a:extLst>
                    <a:ext uri="{9D8B030D-6E8A-4147-A177-3AD203B41FA5}">
                      <a16:colId xmlns="" xmlns:a16="http://schemas.microsoft.com/office/drawing/2014/main" val="2758273930"/>
                    </a:ext>
                  </a:extLst>
                </a:gridCol>
                <a:gridCol w="1182943">
                  <a:extLst>
                    <a:ext uri="{9D8B030D-6E8A-4147-A177-3AD203B41FA5}">
                      <a16:colId xmlns="" xmlns:a16="http://schemas.microsoft.com/office/drawing/2014/main" val="221963637"/>
                    </a:ext>
                  </a:extLst>
                </a:gridCol>
                <a:gridCol w="8899599">
                  <a:extLst>
                    <a:ext uri="{9D8B030D-6E8A-4147-A177-3AD203B41FA5}">
                      <a16:colId xmlns="" xmlns:a16="http://schemas.microsoft.com/office/drawing/2014/main" val="426833219"/>
                    </a:ext>
                  </a:extLst>
                </a:gridCol>
                <a:gridCol w="1373165">
                  <a:extLst>
                    <a:ext uri="{9D8B030D-6E8A-4147-A177-3AD203B41FA5}">
                      <a16:colId xmlns=""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134166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07/05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pending.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follow.</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lịch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 25/5: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chuẩn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ở IATA meeting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9920082"/>
                  </a:ext>
                </a:extLst>
              </a:tr>
            </a:tbl>
          </a:graphicData>
        </a:graphic>
      </p:graphicFrame>
    </p:spTree>
    <p:extLst>
      <p:ext uri="{BB962C8B-B14F-4D97-AF65-F5344CB8AC3E}">
        <p14:creationId xmlns:p14="http://schemas.microsoft.com/office/powerpoint/2010/main" val="2624905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598231938"/>
              </p:ext>
            </p:extLst>
          </p:nvPr>
        </p:nvGraphicFramePr>
        <p:xfrm>
          <a:off x="156782" y="536017"/>
          <a:ext cx="11878434" cy="5928459"/>
        </p:xfrm>
        <a:graphic>
          <a:graphicData uri="http://schemas.openxmlformats.org/drawingml/2006/table">
            <a:tbl>
              <a:tblPr>
                <a:tableStyleId>{5C22544A-7EE6-4342-B048-85BDC9FD1C3A}</a:tableStyleId>
              </a:tblPr>
              <a:tblGrid>
                <a:gridCol w="422727">
                  <a:extLst>
                    <a:ext uri="{9D8B030D-6E8A-4147-A177-3AD203B41FA5}">
                      <a16:colId xmlns="" xmlns:a16="http://schemas.microsoft.com/office/drawing/2014/main" val="2758273930"/>
                    </a:ext>
                  </a:extLst>
                </a:gridCol>
                <a:gridCol w="1182943">
                  <a:extLst>
                    <a:ext uri="{9D8B030D-6E8A-4147-A177-3AD203B41FA5}">
                      <a16:colId xmlns="" xmlns:a16="http://schemas.microsoft.com/office/drawing/2014/main" val="221963637"/>
                    </a:ext>
                  </a:extLst>
                </a:gridCol>
                <a:gridCol w="8899599">
                  <a:extLst>
                    <a:ext uri="{9D8B030D-6E8A-4147-A177-3AD203B41FA5}">
                      <a16:colId xmlns="" xmlns:a16="http://schemas.microsoft.com/office/drawing/2014/main" val="426833219"/>
                    </a:ext>
                  </a:extLst>
                </a:gridCol>
                <a:gridCol w="1373165">
                  <a:extLst>
                    <a:ext uri="{9D8B030D-6E8A-4147-A177-3AD203B41FA5}">
                      <a16:colId xmlns=""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chọn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AMOSeTL</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Swiss-AS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vướng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mắc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khâu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Swiss-As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smtClean="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625972957"/>
                  </a:ext>
                </a:extLst>
              </a:tr>
              <a:tr h="5334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defTabSz="457200">
                        <a:buFont typeface="Arial" panose="020B0604020202020204" pitchFamily="34" charset="0"/>
                        <a:buChar char="•"/>
                      </a:pP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nhà</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sản</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(Teledyne, Collins...)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STC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lắp</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WQAR. TAT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chi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40k</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60k USD/</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Đang</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chờ</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Ban PC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thẩm</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KHLCNCC,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đồng</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thời</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làm</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việc</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với</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Airbus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cập</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nhật</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PN WQAR 3G/4G </a:t>
                      </a:r>
                      <a:r>
                        <a:rPr lang="en-US" sz="14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vào</a:t>
                      </a:r>
                      <a:r>
                        <a:rPr lang="en-US" sz="14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IPC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smtClean="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5107005"/>
                  </a:ext>
                </a:extLst>
              </a:tr>
              <a:tr h="118570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smtClean="0">
                          <a:solidFill>
                            <a:schemeClr val="tx1"/>
                          </a:solidFill>
                          <a:latin typeface="Times New Roman" panose="02020603050405020304" pitchFamily="18" charset="0"/>
                          <a:cs typeface="Times New Roman" panose="02020603050405020304" pitchFamily="18" charset="0"/>
                        </a:rPr>
                        <a:t>04 </a:t>
                      </a:r>
                      <a:r>
                        <a:rPr lang="en-US" sz="1400" dirty="0" err="1" smtClean="0">
                          <a:solidFill>
                            <a:schemeClr val="tx1"/>
                          </a:solidFill>
                          <a:latin typeface="Times New Roman" panose="02020603050405020304" pitchFamily="18" charset="0"/>
                          <a:cs typeface="Times New Roman" panose="02020603050405020304" pitchFamily="18" charset="0"/>
                        </a:rPr>
                        <a:t>tàu</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nâng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cấp</a:t>
                      </a:r>
                      <a:r>
                        <a:rPr lang="en-US" sz="1400" dirty="0" smtClean="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smtClean="0">
                          <a:solidFill>
                            <a:schemeClr val="tx1"/>
                          </a:solidFill>
                          <a:latin typeface="Times New Roman" panose="02020603050405020304" pitchFamily="18" charset="0"/>
                          <a:cs typeface="Times New Roman" panose="02020603050405020304" pitchFamily="18" charset="0"/>
                        </a:rPr>
                        <a:t>và</a:t>
                      </a:r>
                      <a:r>
                        <a:rPr lang="en-US" sz="1400" dirty="0" smtClean="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smtClean="0">
                          <a:solidFill>
                            <a:schemeClr val="tx1"/>
                          </a:solidFill>
                          <a:latin typeface="Times New Roman" panose="02020603050405020304" pitchFamily="18" charset="0"/>
                          <a:cs typeface="Times New Roman" panose="02020603050405020304" pitchFamily="18" charset="0"/>
                        </a:rPr>
                        <a:t>KH </a:t>
                      </a:r>
                      <a:r>
                        <a:rPr lang="en-US" sz="1400" dirty="0" err="1" smtClean="0">
                          <a:solidFill>
                            <a:schemeClr val="tx1"/>
                          </a:solidFill>
                          <a:latin typeface="Times New Roman" panose="02020603050405020304" pitchFamily="18" charset="0"/>
                          <a:cs typeface="Times New Roman" panose="02020603050405020304" pitchFamily="18" charset="0"/>
                        </a:rPr>
                        <a:t>nâng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cấp</a:t>
                      </a:r>
                      <a:r>
                        <a:rPr lang="en-US" sz="1400" dirty="0" smtClean="0">
                          <a:solidFill>
                            <a:schemeClr val="tx1"/>
                          </a:solidFill>
                          <a:latin typeface="Times New Roman" panose="02020603050405020304" pitchFamily="18" charset="0"/>
                          <a:cs typeface="Times New Roman" panose="02020603050405020304" pitchFamily="18" charset="0"/>
                        </a:rPr>
                        <a:t> SW activation 04 </a:t>
                      </a:r>
                      <a:r>
                        <a:rPr lang="en-US" sz="1400" dirty="0" err="1" smtClean="0">
                          <a:solidFill>
                            <a:schemeClr val="tx1"/>
                          </a:solidFill>
                          <a:latin typeface="Times New Roman" panose="02020603050405020304" pitchFamily="18" charset="0"/>
                          <a:cs typeface="Times New Roman" panose="02020603050405020304" pitchFamily="18" charset="0"/>
                        </a:rPr>
                        <a:t>tàu</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rgbClr val="FF0000"/>
                          </a:solidFill>
                          <a:latin typeface="Times New Roman" panose="02020603050405020304" pitchFamily="18" charset="0"/>
                          <a:cs typeface="Times New Roman" panose="02020603050405020304" pitchFamily="18" charset="0"/>
                        </a:rPr>
                        <a:t>hoàn</a:t>
                      </a:r>
                      <a:r>
                        <a:rPr lang="en-US" sz="1400" b="1" dirty="0" smtClean="0">
                          <a:solidFill>
                            <a:srgbClr val="FF0000"/>
                          </a:solidFill>
                          <a:latin typeface="Times New Roman" panose="02020603050405020304" pitchFamily="18" charset="0"/>
                          <a:cs typeface="Times New Roman" panose="02020603050405020304" pitchFamily="18" charset="0"/>
                        </a:rPr>
                        <a:t> </a:t>
                      </a:r>
                      <a:r>
                        <a:rPr lang="en-US" sz="1400" b="1" dirty="0" err="1" smtClean="0">
                          <a:solidFill>
                            <a:srgbClr val="FF0000"/>
                          </a:solidFill>
                          <a:latin typeface="Times New Roman" panose="02020603050405020304" pitchFamily="18" charset="0"/>
                          <a:cs typeface="Times New Roman" panose="02020603050405020304" pitchFamily="18" charset="0"/>
                        </a:rPr>
                        <a:t>thành</a:t>
                      </a:r>
                      <a:r>
                        <a:rPr lang="en-US" sz="1400" b="1" dirty="0" smtClean="0">
                          <a:solidFill>
                            <a:srgbClr val="FF0000"/>
                          </a:solidFill>
                          <a:latin typeface="Times New Roman" panose="02020603050405020304" pitchFamily="18" charset="0"/>
                          <a:cs typeface="Times New Roman" panose="02020603050405020304" pitchFamily="18" charset="0"/>
                        </a:rPr>
                        <a:t> A893, A899, A891 – </a:t>
                      </a:r>
                      <a:r>
                        <a:rPr lang="en-US" sz="1400" b="1" dirty="0" err="1" smtClean="0">
                          <a:solidFill>
                            <a:srgbClr val="FF0000"/>
                          </a:solidFill>
                          <a:latin typeface="Times New Roman" panose="02020603050405020304" pitchFamily="18" charset="0"/>
                          <a:cs typeface="Times New Roman" panose="02020603050405020304" pitchFamily="18" charset="0"/>
                        </a:rPr>
                        <a:t>sẵn</a:t>
                      </a:r>
                      <a:r>
                        <a:rPr lang="en-US" sz="1400" b="1" dirty="0" smtClean="0">
                          <a:solidFill>
                            <a:srgbClr val="FF0000"/>
                          </a:solidFill>
                          <a:latin typeface="Times New Roman" panose="02020603050405020304" pitchFamily="18" charset="0"/>
                          <a:cs typeface="Times New Roman" panose="02020603050405020304" pitchFamily="18" charset="0"/>
                        </a:rPr>
                        <a:t> </a:t>
                      </a:r>
                      <a:r>
                        <a:rPr lang="en-US" sz="1400" b="1" dirty="0" err="1" smtClean="0">
                          <a:solidFill>
                            <a:srgbClr val="FF0000"/>
                          </a:solidFill>
                          <a:latin typeface="Times New Roman" panose="02020603050405020304" pitchFamily="18" charset="0"/>
                          <a:cs typeface="Times New Roman" panose="02020603050405020304" pitchFamily="18" charset="0"/>
                        </a:rPr>
                        <a:t>sàng</a:t>
                      </a:r>
                      <a:r>
                        <a:rPr lang="en-US" sz="1400" b="1" dirty="0" smtClean="0">
                          <a:solidFill>
                            <a:srgbClr val="FF0000"/>
                          </a:solidFill>
                          <a:latin typeface="Times New Roman" panose="02020603050405020304" pitchFamily="18" charset="0"/>
                          <a:cs typeface="Times New Roman" panose="02020603050405020304" pitchFamily="18" charset="0"/>
                        </a:rPr>
                        <a:t> test </a:t>
                      </a:r>
                      <a:r>
                        <a:rPr lang="en-US" sz="1400" b="1" dirty="0" err="1" smtClean="0">
                          <a:solidFill>
                            <a:srgbClr val="FF0000"/>
                          </a:solidFill>
                          <a:latin typeface="Times New Roman" panose="02020603050405020304" pitchFamily="18" charset="0"/>
                          <a:cs typeface="Times New Roman" panose="02020603050405020304" pitchFamily="18" charset="0"/>
                        </a:rPr>
                        <a:t>dịch</a:t>
                      </a:r>
                      <a:r>
                        <a:rPr lang="en-US" sz="1400" b="1" dirty="0" smtClean="0">
                          <a:solidFill>
                            <a:srgbClr val="FF0000"/>
                          </a:solidFill>
                          <a:latin typeface="Times New Roman" panose="02020603050405020304" pitchFamily="18" charset="0"/>
                          <a:cs typeface="Times New Roman" panose="02020603050405020304" pitchFamily="18" charset="0"/>
                        </a:rPr>
                        <a:t> </a:t>
                      </a:r>
                      <a:r>
                        <a:rPr lang="en-US" sz="1400" b="1" dirty="0" err="1" smtClean="0">
                          <a:solidFill>
                            <a:srgbClr val="FF0000"/>
                          </a:solidFill>
                          <a:latin typeface="Times New Roman" panose="02020603050405020304" pitchFamily="18" charset="0"/>
                          <a:cs typeface="Times New Roman" panose="02020603050405020304" pitchFamily="18" charset="0"/>
                        </a:rPr>
                        <a:t>vụ</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0" dirty="0" err="1" smtClean="0">
                          <a:solidFill>
                            <a:schemeClr val="tx1"/>
                          </a:solidFill>
                          <a:latin typeface="Times New Roman" panose="02020603050405020304" pitchFamily="18" charset="0"/>
                          <a:cs typeface="Times New Roman" panose="02020603050405020304" pitchFamily="18" charset="0"/>
                        </a:rPr>
                        <a:t>chờ</a:t>
                      </a:r>
                      <a:r>
                        <a:rPr lang="en-US" sz="1400" b="0" dirty="0" smtClean="0">
                          <a:solidFill>
                            <a:schemeClr val="tx1"/>
                          </a:solidFill>
                          <a:latin typeface="Times New Roman" panose="02020603050405020304" pitchFamily="18" charset="0"/>
                          <a:cs typeface="Times New Roman" panose="02020603050405020304" pitchFamily="18" charset="0"/>
                        </a:rPr>
                        <a:t> </a:t>
                      </a:r>
                      <a:r>
                        <a:rPr lang="en-US" sz="1400" b="0" dirty="0" err="1" smtClean="0">
                          <a:solidFill>
                            <a:schemeClr val="tx1"/>
                          </a:solidFill>
                          <a:latin typeface="Times New Roman" panose="02020603050405020304" pitchFamily="18" charset="0"/>
                          <a:cs typeface="Times New Roman" panose="02020603050405020304" pitchFamily="18" charset="0"/>
                        </a:rPr>
                        <a:t>xếp</a:t>
                      </a:r>
                      <a:r>
                        <a:rPr lang="en-US" sz="1400" b="0" dirty="0" smtClean="0">
                          <a:solidFill>
                            <a:schemeClr val="tx1"/>
                          </a:solidFill>
                          <a:latin typeface="Times New Roman" panose="02020603050405020304" pitchFamily="18" charset="0"/>
                          <a:cs typeface="Times New Roman" panose="02020603050405020304" pitchFamily="18" charset="0"/>
                        </a:rPr>
                        <a:t> </a:t>
                      </a:r>
                      <a:r>
                        <a:rPr lang="en-US" sz="1400" b="0" dirty="0" err="1" smtClean="0">
                          <a:solidFill>
                            <a:schemeClr val="tx1"/>
                          </a:solidFill>
                          <a:latin typeface="Times New Roman" panose="02020603050405020304" pitchFamily="18" charset="0"/>
                          <a:cs typeface="Times New Roman" panose="02020603050405020304" pitchFamily="18" charset="0"/>
                        </a:rPr>
                        <a:t>lịch</a:t>
                      </a:r>
                      <a:r>
                        <a:rPr lang="en-US" sz="1400" b="0" dirty="0" smtClean="0">
                          <a:solidFill>
                            <a:schemeClr val="tx1"/>
                          </a:solidFill>
                          <a:latin typeface="Times New Roman" panose="02020603050405020304" pitchFamily="18" charset="0"/>
                          <a:cs typeface="Times New Roman" panose="02020603050405020304" pitchFamily="18" charset="0"/>
                        </a:rPr>
                        <a:t> test  (</a:t>
                      </a:r>
                      <a:r>
                        <a:rPr lang="en-US" sz="1400" b="0" dirty="0" err="1" smtClean="0">
                          <a:solidFill>
                            <a:schemeClr val="tx1"/>
                          </a:solidFill>
                          <a:latin typeface="Times New Roman" panose="02020603050405020304" pitchFamily="18" charset="0"/>
                          <a:cs typeface="Times New Roman" panose="02020603050405020304" pitchFamily="18" charset="0"/>
                        </a:rPr>
                        <a:t>đầu</a:t>
                      </a:r>
                      <a:r>
                        <a:rPr lang="en-US" sz="1400" b="0" dirty="0" smtClean="0">
                          <a:solidFill>
                            <a:schemeClr val="tx1"/>
                          </a:solidFill>
                          <a:latin typeface="Times New Roman" panose="02020603050405020304" pitchFamily="18" charset="0"/>
                          <a:cs typeface="Times New Roman" panose="02020603050405020304" pitchFamily="18" charset="0"/>
                        </a:rPr>
                        <a:t> T6)</a:t>
                      </a:r>
                    </a:p>
                    <a:p>
                      <a:pPr marL="176213" lvl="1" indent="-176213">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Các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tàu</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lại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cần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gửi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khối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nâng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cấp</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tại</a:t>
                      </a:r>
                      <a:r>
                        <a:rPr lang="en-US" sz="1400" dirty="0" smtClean="0">
                          <a:solidFill>
                            <a:schemeClr val="tx1"/>
                          </a:solidFill>
                          <a:latin typeface="Times New Roman" panose="02020603050405020304" pitchFamily="18" charset="0"/>
                          <a:cs typeface="Times New Roman" panose="02020603050405020304" pitchFamily="18" charset="0"/>
                        </a:rPr>
                        <a:t> shop (TAT </a:t>
                      </a:r>
                      <a:r>
                        <a:rPr lang="en-US" sz="1400" dirty="0" err="1" smtClean="0">
                          <a:solidFill>
                            <a:schemeClr val="tx1"/>
                          </a:solidFill>
                          <a:latin typeface="Times New Roman" panose="02020603050405020304" pitchFamily="18" charset="0"/>
                          <a:cs typeface="Times New Roman" panose="02020603050405020304" pitchFamily="18" charset="0"/>
                        </a:rPr>
                        <a:t>tại</a:t>
                      </a:r>
                      <a:r>
                        <a:rPr lang="en-US" sz="1400" dirty="0" smtClean="0">
                          <a:solidFill>
                            <a:schemeClr val="tx1"/>
                          </a:solidFill>
                          <a:latin typeface="Times New Roman" panose="02020603050405020304" pitchFamily="18" charset="0"/>
                          <a:cs typeface="Times New Roman" panose="02020603050405020304" pitchFamily="18" charset="0"/>
                        </a:rPr>
                        <a:t> HON shop </a:t>
                      </a:r>
                      <a:r>
                        <a:rPr lang="en-US" sz="1400" dirty="0" err="1" smtClean="0">
                          <a:solidFill>
                            <a:schemeClr val="tx1"/>
                          </a:solidFill>
                          <a:latin typeface="Times New Roman" panose="02020603050405020304" pitchFamily="18" charset="0"/>
                          <a:cs typeface="Times New Roman" panose="02020603050405020304" pitchFamily="18" charset="0"/>
                        </a:rPr>
                        <a:t>đang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bị</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kéo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dài</a:t>
                      </a:r>
                      <a:r>
                        <a:rPr lang="en-US" sz="1400" dirty="0" smtClean="0">
                          <a:solidFill>
                            <a:schemeClr val="tx1"/>
                          </a:solidFill>
                          <a:latin typeface="Times New Roman" panose="02020603050405020304" pitchFamily="18" charset="0"/>
                          <a:cs typeface="Times New Roman" panose="02020603050405020304" pitchFamily="18" charset="0"/>
                        </a:rPr>
                        <a:t> 120 </a:t>
                      </a:r>
                      <a:r>
                        <a:rPr lang="en-US" sz="1400" dirty="0" err="1" smtClean="0">
                          <a:solidFill>
                            <a:schemeClr val="tx1"/>
                          </a:solidFill>
                          <a:latin typeface="Times New Roman" panose="02020603050405020304" pitchFamily="18" charset="0"/>
                          <a:cs typeface="Times New Roman" panose="02020603050405020304" pitchFamily="18" charset="0"/>
                        </a:rPr>
                        <a:t>ngày</a:t>
                      </a:r>
                      <a:r>
                        <a:rPr lang="en-US" sz="1400" dirty="0" smtClean="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Đào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tạo</a:t>
                      </a:r>
                      <a:r>
                        <a:rPr lang="en-US" sz="1400" dirty="0" smtClean="0">
                          <a:solidFill>
                            <a:schemeClr val="tx1"/>
                          </a:solidFill>
                          <a:latin typeface="Times New Roman" panose="02020603050405020304" pitchFamily="18" charset="0"/>
                          <a:cs typeface="Times New Roman" panose="02020603050405020304" pitchFamily="18" charset="0"/>
                        </a:rPr>
                        <a:t> IFC VAECO 19-20/2/2025: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thực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hiện</a:t>
                      </a:r>
                      <a:endParaRPr lang="en-US" sz="1400" b="1" dirty="0" smtClean="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smtClean="0">
                          <a:solidFill>
                            <a:schemeClr val="tx1"/>
                          </a:solidFill>
                          <a:latin typeface="Times New Roman" panose="02020603050405020304" pitchFamily="18" charset="0"/>
                          <a:cs typeface="Times New Roman" panose="02020603050405020304" pitchFamily="18" charset="0"/>
                        </a:rPr>
                        <a:t>Tài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liệu</a:t>
                      </a:r>
                      <a:r>
                        <a:rPr lang="en-US" sz="1400" dirty="0" smtClean="0">
                          <a:solidFill>
                            <a:schemeClr val="tx1"/>
                          </a:solidFill>
                          <a:latin typeface="Times New Roman" panose="02020603050405020304" pitchFamily="18" charset="0"/>
                          <a:cs typeface="Times New Roman" panose="02020603050405020304" pitchFamily="18" charset="0"/>
                        </a:rPr>
                        <a:t> TSM </a:t>
                      </a:r>
                      <a:r>
                        <a:rPr lang="en-US" sz="1400" dirty="0" err="1" smtClean="0">
                          <a:solidFill>
                            <a:schemeClr val="tx1"/>
                          </a:solidFill>
                          <a:latin typeface="Times New Roman" panose="02020603050405020304" pitchFamily="18" charset="0"/>
                          <a:cs typeface="Times New Roman" panose="02020603050405020304" pitchFamily="18" charset="0"/>
                        </a:rPr>
                        <a:t>hệ</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thống</a:t>
                      </a:r>
                      <a:r>
                        <a:rPr lang="en-US" sz="1400" dirty="0" smtClean="0">
                          <a:solidFill>
                            <a:schemeClr val="tx1"/>
                          </a:solidFill>
                          <a:latin typeface="Times New Roman" panose="02020603050405020304" pitchFamily="18" charset="0"/>
                          <a:cs typeface="Times New Roman" panose="02020603050405020304" pitchFamily="18" charset="0"/>
                        </a:rPr>
                        <a:t> IFC: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giao</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và</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triển</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khai</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cho</a:t>
                      </a:r>
                      <a:r>
                        <a:rPr lang="en-US" sz="1400" b="1" dirty="0" smtClean="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smtClean="0">
                          <a:solidFill>
                            <a:schemeClr val="tx1"/>
                          </a:solidFill>
                          <a:latin typeface="Times New Roman" panose="02020603050405020304" pitchFamily="18" charset="0"/>
                          <a:cs typeface="Times New Roman" panose="02020603050405020304" pitchFamily="18" charset="0"/>
                        </a:rPr>
                        <a:t>Vật</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tư</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dự</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phòng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9920082"/>
                  </a:ext>
                </a:extLst>
              </a:tr>
              <a:tr h="118570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094038974"/>
                  </a:ext>
                </a:extLst>
              </a:tr>
            </a:tbl>
          </a:graphicData>
        </a:graphic>
      </p:graphicFrame>
    </p:spTree>
    <p:extLst>
      <p:ext uri="{BB962C8B-B14F-4D97-AF65-F5344CB8AC3E}">
        <p14:creationId xmlns:p14="http://schemas.microsoft.com/office/powerpoint/2010/main" val="3876969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29</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 xmlns:a16="http://schemas.microsoft.com/office/drawing/2014/main" id="{A54B3B80-6D5D-62F3-88B2-C803136634FB}"/>
              </a:ext>
            </a:extLst>
          </p:cNvPr>
          <p:cNvSpPr>
            <a:spLocks noGrp="1"/>
          </p:cNvSpPr>
          <p:nvPr>
            <p:ph type="title"/>
          </p:nvPr>
        </p:nvSpPr>
        <p:spPr>
          <a:xfrm>
            <a:off x="228600" y="209484"/>
            <a:ext cx="11612516"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64691798"/>
              </p:ext>
            </p:extLst>
          </p:nvPr>
        </p:nvGraphicFramePr>
        <p:xfrm>
          <a:off x="228600" y="656502"/>
          <a:ext cx="11612515" cy="6236332"/>
        </p:xfrm>
        <a:graphic>
          <a:graphicData uri="http://schemas.openxmlformats.org/drawingml/2006/table">
            <a:tbl>
              <a:tblPr>
                <a:tableStyleId>{5C22544A-7EE6-4342-B048-85BDC9FD1C3A}</a:tableStyleId>
              </a:tblPr>
              <a:tblGrid>
                <a:gridCol w="413264">
                  <a:extLst>
                    <a:ext uri="{9D8B030D-6E8A-4147-A177-3AD203B41FA5}">
                      <a16:colId xmlns="" xmlns:a16="http://schemas.microsoft.com/office/drawing/2014/main" val="2758273930"/>
                    </a:ext>
                  </a:extLst>
                </a:gridCol>
                <a:gridCol w="1720336">
                  <a:extLst>
                    <a:ext uri="{9D8B030D-6E8A-4147-A177-3AD203B41FA5}">
                      <a16:colId xmlns="" xmlns:a16="http://schemas.microsoft.com/office/drawing/2014/main" val="221963637"/>
                    </a:ext>
                  </a:extLst>
                </a:gridCol>
                <a:gridCol w="8458200">
                  <a:extLst>
                    <a:ext uri="{9D8B030D-6E8A-4147-A177-3AD203B41FA5}">
                      <a16:colId xmlns="" xmlns:a16="http://schemas.microsoft.com/office/drawing/2014/main" val="426833219"/>
                    </a:ext>
                  </a:extLst>
                </a:gridCol>
                <a:gridCol w="1020715">
                  <a:extLst>
                    <a:ext uri="{9D8B030D-6E8A-4147-A177-3AD203B41FA5}">
                      <a16:colId xmlns=""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smtClean="0">
                          <a:solidFill>
                            <a:schemeClr val="tx1"/>
                          </a:solidFill>
                          <a:latin typeface="Times New Roman" panose="02020603050405020304" pitchFamily="18" charset="0"/>
                          <a:cs typeface="Times New Roman" panose="02020603050405020304" pitchFamily="18" charset="0"/>
                        </a:rPr>
                        <a:t>CĐCH </a:t>
                      </a:r>
                      <a:r>
                        <a:rPr lang="en-US" sz="1400" b="1" dirty="0" err="1" smtClean="0">
                          <a:solidFill>
                            <a:schemeClr val="tx1"/>
                          </a:solidFill>
                          <a:latin typeface="Times New Roman" panose="02020603050405020304" pitchFamily="18" charset="0"/>
                          <a:cs typeface="Times New Roman" panose="02020603050405020304" pitchFamily="18" charset="0"/>
                        </a:rPr>
                        <a:t>ghế</a:t>
                      </a:r>
                      <a:r>
                        <a:rPr lang="en-US" sz="1400" b="1" dirty="0" smtClean="0">
                          <a:solidFill>
                            <a:schemeClr val="tx1"/>
                          </a:solidFill>
                          <a:latin typeface="Times New Roman" panose="02020603050405020304" pitchFamily="18" charset="0"/>
                          <a:cs typeface="Times New Roman" panose="02020603050405020304" pitchFamily="18" charset="0"/>
                        </a:rPr>
                        <a:t> 23 </a:t>
                      </a:r>
                      <a:r>
                        <a:rPr lang="en-US" sz="1400" b="1" dirty="0" err="1" smtClean="0">
                          <a:solidFill>
                            <a:schemeClr val="tx1"/>
                          </a:solidFill>
                          <a:latin typeface="Times New Roman" panose="02020603050405020304" pitchFamily="18" charset="0"/>
                          <a:cs typeface="Times New Roman" panose="02020603050405020304" pitchFamily="18" charset="0"/>
                        </a:rPr>
                        <a:t>tàu</a:t>
                      </a:r>
                      <a:r>
                        <a:rPr lang="en-US" sz="1400" b="1" dirty="0" smtClean="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Đã phát HSYC lần 1, và lần 2 và nhận bản chào lần 2</a:t>
                      </a:r>
                    </a:p>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Tổ đã hoàn thành đánh giá bản chào lần 2 =&gt; tổ đã giải trình ban kiểm toàn nội bộ trình kết quả lựa chọn NCC ghế và STC =&gt; tiếp trình TGĐ và HĐQT vê duyệt kết quả lựa chọn; </a:t>
                      </a:r>
                    </a:p>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Ban KT đã làm việc với đối tác và họp pre-ICTM,  dự kiến thông báo kết quả chính thức và phát PO tháng 6/2025</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Decal </a:t>
                      </a:r>
                      <a:r>
                        <a:rPr lang="en-US" sz="1400" b="0" dirty="0" err="1">
                          <a:solidFill>
                            <a:schemeClr val="tx1"/>
                          </a:solidFill>
                          <a:latin typeface="Times New Roman" panose="02020603050405020304" pitchFamily="18" charset="0"/>
                          <a:cs typeface="Times New Roman" panose="02020603050405020304" pitchFamily="18" charset="0"/>
                        </a:rPr>
                        <a:t>báo</a:t>
                      </a:r>
                      <a:r>
                        <a:rPr lang="en-US" sz="1400" b="0" dirty="0">
                          <a:solidFill>
                            <a:schemeClr val="tx1"/>
                          </a:solidFill>
                          <a:latin typeface="Times New Roman" panose="02020603050405020304" pitchFamily="18" charset="0"/>
                          <a:cs typeface="Times New Roman" panose="02020603050405020304" pitchFamily="18" charset="0"/>
                        </a:rPr>
                        <a:t> ND</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bản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chào</a:t>
                      </a:r>
                      <a:r>
                        <a:rPr lang="en-US" sz="1400" kern="1200" dirty="0">
                          <a:solidFill>
                            <a:schemeClr val="tx1"/>
                          </a:solidFill>
                          <a:latin typeface="Times New Roman" panose="02020603050405020304" pitchFamily="18" charset="0"/>
                          <a:ea typeface="+mn-ea"/>
                          <a:cs typeface="Times New Roman" panose="02020603050405020304" pitchFamily="18" charset="0"/>
                        </a:rPr>
                        <a:t> chi </a:t>
                      </a:r>
                      <a:r>
                        <a:rPr lang="en-US" sz="1400" kern="1200" dirty="0" err="1">
                          <a:solidFill>
                            <a:schemeClr val="tx1"/>
                          </a:solidFill>
                          <a:latin typeface="Times New Roman" panose="02020603050405020304" pitchFamily="18" charset="0"/>
                          <a:ea typeface="+mn-ea"/>
                          <a:cs typeface="Times New Roman" panose="02020603050405020304" pitchFamily="18" charset="0"/>
                        </a:rPr>
                        <a:t>phí</a:t>
                      </a:r>
                      <a:r>
                        <a:rPr lang="en-US" sz="1400" kern="1200" dirty="0">
                          <a:solidFill>
                            <a:schemeClr val="tx1"/>
                          </a:solidFill>
                          <a:latin typeface="Times New Roman" panose="02020603050405020304" pitchFamily="18" charset="0"/>
                          <a:ea typeface="+mn-ea"/>
                          <a:cs typeface="Times New Roman" panose="02020603050405020304" pitchFamily="18" charset="0"/>
                        </a:rPr>
                        <a:t> SB &amp; </a:t>
                      </a:r>
                      <a:r>
                        <a:rPr lang="en-US" sz="1400" kern="1200" dirty="0" err="1">
                          <a:solidFill>
                            <a:schemeClr val="tx1"/>
                          </a:solidFill>
                          <a:latin typeface="Times New Roman" panose="02020603050405020304" pitchFamily="18" charset="0"/>
                          <a:ea typeface="+mn-ea"/>
                          <a:cs typeface="Times New Roman" panose="02020603050405020304" pitchFamily="18" charset="0"/>
                        </a:rPr>
                        <a:t>modkit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cho</a:t>
                      </a:r>
                      <a:r>
                        <a:rPr lang="en-US" sz="1400" kern="1200" dirty="0">
                          <a:solidFill>
                            <a:schemeClr val="tx1"/>
                          </a:solidFill>
                          <a:latin typeface="Times New Roman" panose="02020603050405020304" pitchFamily="18" charset="0"/>
                          <a:ea typeface="+mn-ea"/>
                          <a:cs typeface="Times New Roman" panose="02020603050405020304" pitchFamily="18" charset="0"/>
                        </a:rPr>
                        <a:t> B787 =&gt; </a:t>
                      </a:r>
                      <a:r>
                        <a:rPr lang="en-US" sz="1400" b="1" kern="1200" dirty="0">
                          <a:solidFill>
                            <a:schemeClr val="tx1"/>
                          </a:solidFill>
                          <a:latin typeface="Times New Roman" panose="02020603050405020304" pitchFamily="18" charset="0"/>
                          <a:ea typeface="+mn-ea"/>
                          <a:cs typeface="Times New Roman" panose="02020603050405020304" pitchFamily="18" charset="0"/>
                        </a:rPr>
                        <a:t>ban KT </a:t>
                      </a:r>
                      <a:r>
                        <a:rPr lang="en-US" sz="1400" b="1" kern="1200" dirty="0" err="1">
                          <a:solidFill>
                            <a:schemeClr val="tx1"/>
                          </a:solidFill>
                          <a:latin typeface="Times New Roman" panose="02020603050405020304" pitchFamily="18" charset="0"/>
                          <a:ea typeface="+mn-ea"/>
                          <a:cs typeface="Times New Roman" panose="02020603050405020304" pitchFamily="18" charset="0"/>
                        </a:rPr>
                        <a:t>đã</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phát</a:t>
                      </a:r>
                      <a:r>
                        <a:rPr lang="en-US" sz="1400" b="1" kern="1200" dirty="0">
                          <a:solidFill>
                            <a:schemeClr val="tx1"/>
                          </a:solidFill>
                          <a:latin typeface="Times New Roman" panose="02020603050405020304" pitchFamily="18" charset="0"/>
                          <a:ea typeface="+mn-ea"/>
                          <a:cs typeface="Times New Roman" panose="02020603050405020304" pitchFamily="18" charset="0"/>
                        </a:rPr>
                        <a:t> PO </a:t>
                      </a:r>
                      <a:r>
                        <a:rPr lang="en-US" sz="1400" b="1" kern="1200" dirty="0" err="1">
                          <a:solidFill>
                            <a:schemeClr val="tx1"/>
                          </a:solidFill>
                          <a:latin typeface="Times New Roman" panose="02020603050405020304" pitchFamily="18" charset="0"/>
                          <a:ea typeface="+mn-ea"/>
                          <a:cs typeface="Times New Roman" panose="02020603050405020304" pitchFamily="18" charset="0"/>
                        </a:rPr>
                        <a:t>triển</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khai</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dự</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kiến</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b="1" kern="1200" dirty="0">
                          <a:solidFill>
                            <a:schemeClr val="tx1"/>
                          </a:solidFill>
                          <a:latin typeface="Times New Roman" panose="02020603050405020304" pitchFamily="18" charset="0"/>
                          <a:ea typeface="+mn-ea"/>
                          <a:cs typeface="Times New Roman" panose="02020603050405020304" pitchFamily="18" charset="0"/>
                        </a:rPr>
                        <a:t> 15-19/5/2025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sẽ</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dán</a:t>
                      </a:r>
                      <a:r>
                        <a:rPr lang="en-US" sz="1400" kern="1200" dirty="0">
                          <a:solidFill>
                            <a:schemeClr val="tx1"/>
                          </a:solidFill>
                          <a:latin typeface="Times New Roman" panose="02020603050405020304" pitchFamily="18" charset="0"/>
                          <a:ea typeface="+mn-ea"/>
                          <a:cs typeface="Times New Roman" panose="02020603050405020304" pitchFamily="18" charset="0"/>
                        </a:rPr>
                        <a:t> decal,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SB</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Vật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dự</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giao</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trước</a:t>
                      </a:r>
                      <a:r>
                        <a:rPr lang="en-US" sz="1400" kern="1200" dirty="0">
                          <a:solidFill>
                            <a:schemeClr val="tx1"/>
                          </a:solidFill>
                          <a:latin typeface="Times New Roman" panose="02020603050405020304" pitchFamily="18" charset="0"/>
                          <a:ea typeface="+mn-ea"/>
                          <a:cs typeface="Times New Roman" panose="02020603050405020304" pitchFamily="18" charset="0"/>
                        </a:rPr>
                        <a:t> 10/6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mẫu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Boeing/Airbus)</a:t>
                      </a: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DVHK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mỹ</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750607578"/>
                  </a:ext>
                </a:extLst>
              </a:tr>
            </a:tbl>
          </a:graphicData>
        </a:graphic>
      </p:graphicFrame>
    </p:spTree>
    <p:extLst>
      <p:ext uri="{BB962C8B-B14F-4D97-AF65-F5344CB8AC3E}">
        <p14:creationId xmlns:p14="http://schemas.microsoft.com/office/powerpoint/2010/main" val="147003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1732479505"/>
              </p:ext>
            </p:extLst>
          </p:nvPr>
        </p:nvGraphicFramePr>
        <p:xfrm>
          <a:off x="2362200" y="3142104"/>
          <a:ext cx="8610600" cy="3276601"/>
        </p:xfrm>
        <a:graphic>
          <a:graphicData uri="http://schemas.openxmlformats.org/drawingml/2006/table">
            <a:tbl>
              <a:tblPr firstRow="1" firstCol="1" bandRow="1"/>
              <a:tblGrid>
                <a:gridCol w="608030">
                  <a:extLst>
                    <a:ext uri="{9D8B030D-6E8A-4147-A177-3AD203B41FA5}">
                      <a16:colId xmlns="" xmlns:a16="http://schemas.microsoft.com/office/drawing/2014/main" val="1531600724"/>
                    </a:ext>
                  </a:extLst>
                </a:gridCol>
                <a:gridCol w="1630726">
                  <a:extLst>
                    <a:ext uri="{9D8B030D-6E8A-4147-A177-3AD203B41FA5}">
                      <a16:colId xmlns="" xmlns:a16="http://schemas.microsoft.com/office/drawing/2014/main" val="2778344331"/>
                    </a:ext>
                  </a:extLst>
                </a:gridCol>
                <a:gridCol w="1377696">
                  <a:extLst>
                    <a:ext uri="{9D8B030D-6E8A-4147-A177-3AD203B41FA5}">
                      <a16:colId xmlns="" xmlns:a16="http://schemas.microsoft.com/office/drawing/2014/main" val="51065387"/>
                    </a:ext>
                  </a:extLst>
                </a:gridCol>
                <a:gridCol w="1205484">
                  <a:extLst>
                    <a:ext uri="{9D8B030D-6E8A-4147-A177-3AD203B41FA5}">
                      <a16:colId xmlns="" xmlns:a16="http://schemas.microsoft.com/office/drawing/2014/main" val="783667054"/>
                    </a:ext>
                  </a:extLst>
                </a:gridCol>
                <a:gridCol w="1291590">
                  <a:extLst>
                    <a:ext uri="{9D8B030D-6E8A-4147-A177-3AD203B41FA5}">
                      <a16:colId xmlns="" xmlns:a16="http://schemas.microsoft.com/office/drawing/2014/main" val="2213163783"/>
                    </a:ext>
                  </a:extLst>
                </a:gridCol>
                <a:gridCol w="2497074">
                  <a:extLst>
                    <a:ext uri="{9D8B030D-6E8A-4147-A177-3AD203B41FA5}">
                      <a16:colId xmlns="" xmlns:a16="http://schemas.microsoft.com/office/drawing/2014/main" val="3043656086"/>
                    </a:ext>
                  </a:extLst>
                </a:gridCol>
              </a:tblGrid>
              <a:tr h="85796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3242539848"/>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lnSpc>
                          <a:spcPct val="107000"/>
                        </a:lnSpc>
                        <a:spcAft>
                          <a:spcPts val="800"/>
                        </a:spcAft>
                      </a:pPr>
                      <a:r>
                        <a:rPr lang="en-GB" sz="1400" kern="100" smtClean="0">
                          <a:effectLst/>
                          <a:latin typeface="Times New Roman" panose="02020603050405020304" pitchFamily="18" charset="0"/>
                          <a:cs typeface="Times New Roman" panose="02020603050405020304" pitchFamily="18" charset="0"/>
                        </a:rPr>
                        <a:t>Đã hoàn thành 6Y Check + Engine change 29/04/2025</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892024124"/>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4135771852"/>
                  </a:ext>
                </a:extLst>
              </a:tr>
              <a:tr h="9733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101708291"/>
                  </a:ext>
                </a:extLst>
              </a:tr>
            </a:tbl>
          </a:graphicData>
        </a:graphic>
      </p:graphicFrame>
      <p:sp>
        <p:nvSpPr>
          <p:cNvPr id="6" name="Title 2">
            <a:extLst>
              <a:ext uri="{FF2B5EF4-FFF2-40B4-BE49-F238E27FC236}">
                <a16:creationId xmlns=""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2019439257"/>
              </p:ext>
            </p:extLst>
          </p:nvPr>
        </p:nvGraphicFramePr>
        <p:xfrm>
          <a:off x="166948" y="533400"/>
          <a:ext cx="11853749" cy="6173484"/>
        </p:xfrm>
        <a:graphic>
          <a:graphicData uri="http://schemas.openxmlformats.org/drawingml/2006/table">
            <a:tbl>
              <a:tblPr>
                <a:tableStyleId>{5C22544A-7EE6-4342-B048-85BDC9FD1C3A}</a:tableStyleId>
              </a:tblPr>
              <a:tblGrid>
                <a:gridCol w="421849">
                  <a:extLst>
                    <a:ext uri="{9D8B030D-6E8A-4147-A177-3AD203B41FA5}">
                      <a16:colId xmlns="" xmlns:a16="http://schemas.microsoft.com/office/drawing/2014/main" val="3304650821"/>
                    </a:ext>
                  </a:extLst>
                </a:gridCol>
                <a:gridCol w="1756074">
                  <a:extLst>
                    <a:ext uri="{9D8B030D-6E8A-4147-A177-3AD203B41FA5}">
                      <a16:colId xmlns="" xmlns:a16="http://schemas.microsoft.com/office/drawing/2014/main" val="1220325190"/>
                    </a:ext>
                  </a:extLst>
                </a:gridCol>
                <a:gridCol w="8633907">
                  <a:extLst>
                    <a:ext uri="{9D8B030D-6E8A-4147-A177-3AD203B41FA5}">
                      <a16:colId xmlns="" xmlns:a16="http://schemas.microsoft.com/office/drawing/2014/main" val="3909604654"/>
                    </a:ext>
                  </a:extLst>
                </a:gridCol>
                <a:gridCol w="1041919">
                  <a:extLst>
                    <a:ext uri="{9D8B030D-6E8A-4147-A177-3AD203B41FA5}">
                      <a16:colId xmlns="" xmlns:a16="http://schemas.microsoft.com/office/drawing/2014/main" val="1269662541"/>
                    </a:ext>
                  </a:extLst>
                </a:gridCol>
              </a:tblGrid>
              <a:tr h="53884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41327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01 TÀU ATR72 CHO K6 THUÊ KHÔ VN-B220 MSN 890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ATR72 MSN 890 VN-B220,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ngày</a:t>
                      </a:r>
                      <a:r>
                        <a:rPr lang="en-US" sz="1300" dirty="0" smtClean="0">
                          <a:latin typeface="Times New Roman" panose="02020603050405020304" pitchFamily="18" charset="0"/>
                          <a:cs typeface="Times New Roman" panose="02020603050405020304" pitchFamily="18" charset="0"/>
                        </a:rPr>
                        <a:t> </a:t>
                      </a:r>
                      <a:r>
                        <a:rPr lang="en-US" sz="1300" b="0" dirty="0" smtClean="0">
                          <a:latin typeface="Times New Roman" panose="02020603050405020304" pitchFamily="18" charset="0"/>
                          <a:cs typeface="Times New Roman" panose="02020603050405020304" pitchFamily="18" charset="0"/>
                        </a:rPr>
                        <a:t>25/06/2025</a:t>
                      </a:r>
                      <a:r>
                        <a:rPr lang="en-US" sz="1300" dirty="0" smtClean="0">
                          <a:latin typeface="Times New Roman" panose="02020603050405020304" pitchFamily="18" charset="0"/>
                          <a:cs typeface="Times New Roman" panose="02020603050405020304" pitchFamily="18" charset="0"/>
                        </a:rPr>
                        <a:t>. TGĐ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duyệt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30/11/2025,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phụ</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thêm</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ATR 72 B225 </a:t>
                      </a:r>
                      <a:r>
                        <a:rPr lang="en-US" sz="1300" dirty="0" err="1" smtClean="0">
                          <a:latin typeface="Times New Roman" panose="02020603050405020304" pitchFamily="18" charset="0"/>
                          <a:cs typeface="Times New Roman" panose="02020603050405020304" pitchFamily="18" charset="0"/>
                        </a:rPr>
                        <a:t>thời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15/06/2025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25/10/2025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TGĐ).</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ướt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K6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bay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với</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15/06/2025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25/10/2025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TGĐ).</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699968683"/>
                  </a:ext>
                </a:extLst>
              </a:tr>
              <a:tr h="422135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dirty="0" smtClean="0">
                          <a:latin typeface="Times New Roman" panose="02020603050405020304" pitchFamily="18" charset="0"/>
                          <a:cs typeface="Times New Roman" panose="02020603050405020304" pitchFamily="18" charset="0"/>
                        </a:rPr>
                        <a:t>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06,07,10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2025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duy</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thác</a:t>
                      </a:r>
                      <a:r>
                        <a:rPr lang="en-US" sz="1300" dirty="0" smtClean="0">
                          <a:latin typeface="Times New Roman" panose="02020603050405020304" pitchFamily="18" charset="0"/>
                          <a:cs typeface="Times New Roman" panose="02020603050405020304" pitchFamily="18" charset="0"/>
                        </a:rPr>
                        <a:t> AOC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PA. PA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có</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nghị</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A354, A359, A363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1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so </a:t>
                      </a:r>
                      <a:r>
                        <a:rPr lang="en-US" sz="1300" dirty="0" err="1" smtClean="0">
                          <a:latin typeface="Times New Roman" panose="02020603050405020304" pitchFamily="18" charset="0"/>
                          <a:cs typeface="Times New Roman" panose="02020603050405020304" pitchFamily="18" charset="0"/>
                        </a:rPr>
                        <a:t>với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TGĐ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thêm</a:t>
                      </a:r>
                      <a:r>
                        <a:rPr lang="en-US" sz="1300" dirty="0" smtClean="0">
                          <a:latin typeface="Times New Roman" panose="02020603050405020304" pitchFamily="18" charset="0"/>
                          <a:cs typeface="Times New Roman" panose="02020603050405020304" pitchFamily="18" charset="0"/>
                        </a:rPr>
                        <a:t> 1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thực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sửa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phụ</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endParaRPr lang="en-US" sz="1300" dirty="0" smtClean="0">
                        <a:latin typeface="Times New Roman" panose="02020603050405020304" pitchFamily="18" charset="0"/>
                        <a:cs typeface="Times New Roman" panose="02020603050405020304" pitchFamily="18" charset="0"/>
                      </a:endParaRPr>
                    </a:p>
                    <a:p>
                      <a:pPr marL="285750" lvl="0" indent="-285750" algn="just">
                        <a:buFontTx/>
                        <a:buChar char="-"/>
                      </a:pPr>
                      <a:endParaRPr lang="en-US" sz="1200" dirty="0">
                        <a:latin typeface="Times New Roman" panose="02020603050405020304" pitchFamily="18" charset="0"/>
                        <a:cs typeface="Times New Roman" panose="02020603050405020304" pitchFamily="18" charset="0"/>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2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76787746"/>
                  </a:ext>
                </a:extLst>
              </a:tr>
            </a:tbl>
          </a:graphicData>
        </a:graphic>
      </p:graphicFrame>
    </p:spTree>
    <p:extLst>
      <p:ext uri="{BB962C8B-B14F-4D97-AF65-F5344CB8AC3E}">
        <p14:creationId xmlns:p14="http://schemas.microsoft.com/office/powerpoint/2010/main" val="2840121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7" name="Content Placeholder 4">
            <a:extLst>
              <a:ext uri="{FF2B5EF4-FFF2-40B4-BE49-F238E27FC236}">
                <a16:creationId xmlns=""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381789481"/>
              </p:ext>
            </p:extLst>
          </p:nvPr>
        </p:nvGraphicFramePr>
        <p:xfrm>
          <a:off x="232954" y="762000"/>
          <a:ext cx="11612515" cy="4176107"/>
        </p:xfrm>
        <a:graphic>
          <a:graphicData uri="http://schemas.openxmlformats.org/drawingml/2006/table">
            <a:tbl>
              <a:tblPr>
                <a:tableStyleId>{5C22544A-7EE6-4342-B048-85BDC9FD1C3A}</a:tableStyleId>
              </a:tblPr>
              <a:tblGrid>
                <a:gridCol w="413264">
                  <a:extLst>
                    <a:ext uri="{9D8B030D-6E8A-4147-A177-3AD203B41FA5}">
                      <a16:colId xmlns="" xmlns:a16="http://schemas.microsoft.com/office/drawing/2014/main" val="2758273930"/>
                    </a:ext>
                  </a:extLst>
                </a:gridCol>
                <a:gridCol w="1720336">
                  <a:extLst>
                    <a:ext uri="{9D8B030D-6E8A-4147-A177-3AD203B41FA5}">
                      <a16:colId xmlns="" xmlns:a16="http://schemas.microsoft.com/office/drawing/2014/main" val="221963637"/>
                    </a:ext>
                  </a:extLst>
                </a:gridCol>
                <a:gridCol w="8458200">
                  <a:extLst>
                    <a:ext uri="{9D8B030D-6E8A-4147-A177-3AD203B41FA5}">
                      <a16:colId xmlns="" xmlns:a16="http://schemas.microsoft.com/office/drawing/2014/main" val="426833219"/>
                    </a:ext>
                  </a:extLst>
                </a:gridCol>
                <a:gridCol w="1020715">
                  <a:extLst>
                    <a:ext uri="{9D8B030D-6E8A-4147-A177-3AD203B41FA5}">
                      <a16:colId xmlns=""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GIA HẠN THUÊ 10 TÀU VALC </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chậm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nên</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10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A321CEO 3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30/06/2025.</a:t>
                      </a:r>
                      <a:r>
                        <a:rPr lang="en-US" sz="1300" baseline="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a:t>
                      </a:r>
                      <a:r>
                        <a:rPr lang="vi-VN" sz="1300" dirty="0" smtClean="0">
                          <a:latin typeface="+mn-lt"/>
                          <a:cs typeface="Times New Roman" panose="02020603050405020304" pitchFamily="18" charset="0"/>
                        </a:rPr>
                        <a:t>ư</a:t>
                      </a:r>
                      <a:r>
                        <a:rPr lang="en-US" sz="1300" dirty="0" err="1" smtClean="0">
                          <a:latin typeface="Times New Roman" panose="02020603050405020304" pitchFamily="18" charset="0"/>
                          <a:cs typeface="Times New Roman" panose="02020603050405020304" pitchFamily="18" charset="0"/>
                        </a:rPr>
                        <a:t>ờng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chuyển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sở</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hữu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DỰ ÁN TÀU BAY THÂN HẸP</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mua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mới</a:t>
                      </a:r>
                      <a:r>
                        <a:rPr lang="en-US" sz="1300" dirty="0" smtClean="0">
                          <a:latin typeface="Times New Roman" panose="02020603050405020304" pitchFamily="18" charset="0"/>
                          <a:cs typeface="Times New Roman" panose="02020603050405020304" pitchFamily="18" charset="0"/>
                        </a:rPr>
                        <a:t> 50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B737-8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31/05/2025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037914617"/>
                  </a:ext>
                </a:extLst>
              </a:tr>
              <a:tr h="818864">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err="1">
                          <a:solidFill>
                            <a:schemeClr val="tx1"/>
                          </a:solidFill>
                          <a:latin typeface="Times New Roman" panose="02020603050405020304" pitchFamily="18" charset="0"/>
                          <a:cs typeface="Times New Roman" panose="02020603050405020304" pitchFamily="18" charset="0"/>
                        </a:rPr>
                        <a:t>Chuẩn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bị</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các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bay </a:t>
                      </a:r>
                      <a:r>
                        <a:rPr lang="en-US" sz="1300" b="0" dirty="0" err="1">
                          <a:solidFill>
                            <a:schemeClr val="tx1"/>
                          </a:solidFill>
                          <a:latin typeface="Times New Roman" panose="02020603050405020304" pitchFamily="18" charset="0"/>
                          <a:cs typeface="Times New Roman" panose="02020603050405020304" pitchFamily="18" charset="0"/>
                        </a:rPr>
                        <a:t>thuê</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đặc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biêt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b="0" dirty="0" err="1" smtClean="0">
                          <a:solidFill>
                            <a:schemeClr val="tx1"/>
                          </a:solidFill>
                          <a:latin typeface="Times New Roman" panose="02020603050405020304" pitchFamily="18" charset="0"/>
                          <a:cs typeface="Times New Roman" panose="02020603050405020304" pitchFamily="18" charset="0"/>
                        </a:rPr>
                        <a:t>Thuê</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chuyến</a:t>
                      </a:r>
                      <a:r>
                        <a:rPr lang="en-US" sz="1300" b="0" dirty="0" smtClean="0">
                          <a:solidFill>
                            <a:schemeClr val="tx1"/>
                          </a:solidFill>
                          <a:latin typeface="Times New Roman" panose="02020603050405020304" pitchFamily="18" charset="0"/>
                          <a:cs typeface="Times New Roman" panose="02020603050405020304" pitchFamily="18" charset="0"/>
                        </a:rPr>
                        <a:t> A3 </a:t>
                      </a:r>
                      <a:r>
                        <a:rPr lang="en-US" sz="1300" b="0" dirty="0" err="1" smtClean="0">
                          <a:solidFill>
                            <a:schemeClr val="tx1"/>
                          </a:solidFill>
                          <a:latin typeface="Times New Roman" panose="02020603050405020304" pitchFamily="18" charset="0"/>
                          <a:cs typeface="Times New Roman" panose="02020603050405020304" pitchFamily="18" charset="0"/>
                        </a:rPr>
                        <a:t>đi</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Timo</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lesste</a:t>
                      </a:r>
                      <a:r>
                        <a:rPr lang="en-US" sz="1300" b="0" dirty="0" smtClean="0">
                          <a:solidFill>
                            <a:schemeClr val="tx1"/>
                          </a:solidFill>
                          <a:latin typeface="Times New Roman" panose="02020603050405020304" pitchFamily="18" charset="0"/>
                          <a:cs typeface="Times New Roman" panose="02020603050405020304" pitchFamily="18" charset="0"/>
                        </a:rPr>
                        <a:t>/ Philippine 20-24/6: </a:t>
                      </a:r>
                      <a:r>
                        <a:rPr lang="en-US" sz="1300" b="0" dirty="0" err="1" smtClean="0">
                          <a:solidFill>
                            <a:schemeClr val="tx1"/>
                          </a:solidFill>
                          <a:latin typeface="Times New Roman" panose="02020603050405020304" pitchFamily="18" charset="0"/>
                          <a:cs typeface="Times New Roman" panose="02020603050405020304" pitchFamily="18" charset="0"/>
                        </a:rPr>
                        <a:t>tàu</a:t>
                      </a:r>
                      <a:r>
                        <a:rPr lang="en-US" sz="1300" b="0" dirty="0" smtClean="0">
                          <a:solidFill>
                            <a:schemeClr val="tx1"/>
                          </a:solidFill>
                          <a:latin typeface="Times New Roman" panose="02020603050405020304" pitchFamily="18" charset="0"/>
                          <a:cs typeface="Times New Roman" panose="02020603050405020304" pitchFamily="18" charset="0"/>
                        </a:rPr>
                        <a:t> A350</a:t>
                      </a:r>
                    </a:p>
                    <a:p>
                      <a:pPr marL="176213" lvl="1" indent="-176213">
                        <a:lnSpc>
                          <a:spcPct val="130000"/>
                        </a:lnSpc>
                        <a:buFontTx/>
                        <a:buChar char="-"/>
                      </a:pPr>
                      <a:r>
                        <a:rPr lang="en-US" sz="1300" b="0" dirty="0" err="1" smtClean="0">
                          <a:solidFill>
                            <a:schemeClr val="tx1"/>
                          </a:solidFill>
                          <a:latin typeface="Times New Roman" panose="02020603050405020304" pitchFamily="18" charset="0"/>
                          <a:cs typeface="Times New Roman" panose="02020603050405020304" pitchFamily="18" charset="0"/>
                        </a:rPr>
                        <a:t>Thuê</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chuyến</a:t>
                      </a:r>
                      <a:r>
                        <a:rPr lang="en-US" sz="1300" b="0" dirty="0" smtClean="0">
                          <a:solidFill>
                            <a:schemeClr val="tx1"/>
                          </a:solidFill>
                          <a:latin typeface="Times New Roman" panose="02020603050405020304" pitchFamily="18" charset="0"/>
                          <a:cs typeface="Times New Roman" panose="02020603050405020304" pitchFamily="18" charset="0"/>
                        </a:rPr>
                        <a:t> A3 </a:t>
                      </a:r>
                      <a:r>
                        <a:rPr lang="en-US" sz="1300" b="0" dirty="0" err="1" smtClean="0">
                          <a:solidFill>
                            <a:schemeClr val="tx1"/>
                          </a:solidFill>
                          <a:latin typeface="Times New Roman" panose="02020603050405020304" pitchFamily="18" charset="0"/>
                          <a:cs typeface="Times New Roman" panose="02020603050405020304" pitchFamily="18" charset="0"/>
                        </a:rPr>
                        <a:t>đi</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Thiên</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Tân</a:t>
                      </a:r>
                      <a:r>
                        <a:rPr lang="en-US" sz="1300" b="0" dirty="0" smtClean="0">
                          <a:solidFill>
                            <a:schemeClr val="tx1"/>
                          </a:solidFill>
                          <a:latin typeface="Times New Roman" panose="02020603050405020304" pitchFamily="18" charset="0"/>
                          <a:cs typeface="Times New Roman" panose="02020603050405020304" pitchFamily="18" charset="0"/>
                        </a:rPr>
                        <a:t> 24-26/6: </a:t>
                      </a:r>
                      <a:r>
                        <a:rPr lang="en-US" sz="1300" b="0" dirty="0" err="1" smtClean="0">
                          <a:solidFill>
                            <a:schemeClr val="tx1"/>
                          </a:solidFill>
                          <a:latin typeface="Times New Roman" panose="02020603050405020304" pitchFamily="18" charset="0"/>
                          <a:cs typeface="Times New Roman" panose="02020603050405020304" pitchFamily="18" charset="0"/>
                        </a:rPr>
                        <a:t>tàu</a:t>
                      </a:r>
                      <a:r>
                        <a:rPr lang="en-US" sz="1300" b="0" dirty="0" smtClean="0">
                          <a:solidFill>
                            <a:schemeClr val="tx1"/>
                          </a:solidFill>
                          <a:latin typeface="Times New Roman" panose="02020603050405020304" pitchFamily="18" charset="0"/>
                          <a:cs typeface="Times New Roman" panose="02020603050405020304" pitchFamily="18" charset="0"/>
                        </a:rPr>
                        <a:t> A350</a:t>
                      </a:r>
                    </a:p>
                    <a:p>
                      <a:pPr marL="176213" lvl="1" indent="-176213">
                        <a:lnSpc>
                          <a:spcPct val="130000"/>
                        </a:lnSpc>
                        <a:buFontTx/>
                        <a:buChar char="-"/>
                      </a:pPr>
                      <a:r>
                        <a:rPr lang="en-US" sz="1300" b="0" dirty="0" err="1" smtClean="0">
                          <a:solidFill>
                            <a:schemeClr val="tx1"/>
                          </a:solidFill>
                          <a:latin typeface="Times New Roman" panose="02020603050405020304" pitchFamily="18" charset="0"/>
                          <a:cs typeface="Times New Roman" panose="02020603050405020304" pitchFamily="18" charset="0"/>
                        </a:rPr>
                        <a:t>Thuê</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chuyến</a:t>
                      </a:r>
                      <a:r>
                        <a:rPr lang="en-US" sz="1300" b="0" dirty="0" smtClean="0">
                          <a:solidFill>
                            <a:schemeClr val="tx1"/>
                          </a:solidFill>
                          <a:latin typeface="Times New Roman" panose="02020603050405020304" pitchFamily="18" charset="0"/>
                          <a:cs typeface="Times New Roman" panose="02020603050405020304" pitchFamily="18" charset="0"/>
                        </a:rPr>
                        <a:t> A2 </a:t>
                      </a:r>
                      <a:r>
                        <a:rPr lang="en-US" sz="1300" b="0" dirty="0" err="1" smtClean="0">
                          <a:solidFill>
                            <a:schemeClr val="tx1"/>
                          </a:solidFill>
                          <a:latin typeface="Times New Roman" panose="02020603050405020304" pitchFamily="18" charset="0"/>
                          <a:cs typeface="Times New Roman" panose="02020603050405020304" pitchFamily="18" charset="0"/>
                        </a:rPr>
                        <a:t>đi</a:t>
                      </a:r>
                      <a:r>
                        <a:rPr lang="en-US" sz="1300" b="0" dirty="0" smtClean="0">
                          <a:solidFill>
                            <a:schemeClr val="tx1"/>
                          </a:solidFill>
                          <a:latin typeface="Times New Roman" panose="02020603050405020304" pitchFamily="18" charset="0"/>
                          <a:cs typeface="Times New Roman" panose="02020603050405020304" pitchFamily="18" charset="0"/>
                        </a:rPr>
                        <a:t> Ai </a:t>
                      </a:r>
                      <a:r>
                        <a:rPr lang="en-US" sz="1300" b="0" dirty="0" err="1" smtClean="0">
                          <a:solidFill>
                            <a:schemeClr val="tx1"/>
                          </a:solidFill>
                          <a:latin typeface="Times New Roman" panose="02020603050405020304" pitchFamily="18" charset="0"/>
                          <a:cs typeface="Times New Roman" panose="02020603050405020304" pitchFamily="18" charset="0"/>
                        </a:rPr>
                        <a:t>Cập</a:t>
                      </a:r>
                      <a:r>
                        <a:rPr lang="en-US" sz="1300" b="0" dirty="0" smtClean="0">
                          <a:solidFill>
                            <a:schemeClr val="tx1"/>
                          </a:solidFill>
                          <a:latin typeface="Times New Roman" panose="02020603050405020304" pitchFamily="18" charset="0"/>
                          <a:cs typeface="Times New Roman" panose="02020603050405020304" pitchFamily="18" charset="0"/>
                        </a:rPr>
                        <a:t> / Angola  01-06/7: </a:t>
                      </a:r>
                      <a:r>
                        <a:rPr lang="en-US" sz="1300" b="0" dirty="0" err="1" smtClean="0">
                          <a:solidFill>
                            <a:schemeClr val="tx1"/>
                          </a:solidFill>
                          <a:latin typeface="Times New Roman" panose="02020603050405020304" pitchFamily="18" charset="0"/>
                          <a:cs typeface="Times New Roman" panose="02020603050405020304" pitchFamily="18" charset="0"/>
                        </a:rPr>
                        <a:t>tàu</a:t>
                      </a:r>
                      <a:r>
                        <a:rPr lang="en-US" sz="1300" b="0" dirty="0" smtClean="0">
                          <a:solidFill>
                            <a:schemeClr val="tx1"/>
                          </a:solidFill>
                          <a:latin typeface="Times New Roman" panose="02020603050405020304" pitchFamily="18" charset="0"/>
                          <a:cs typeface="Times New Roman" panose="02020603050405020304" pitchFamily="18" charset="0"/>
                        </a:rPr>
                        <a:t> A350</a:t>
                      </a:r>
                    </a:p>
                    <a:p>
                      <a:pPr marL="176213" lvl="1" indent="-176213">
                        <a:lnSpc>
                          <a:spcPct val="130000"/>
                        </a:lnSpc>
                        <a:buFontTx/>
                        <a:buChar char="-"/>
                      </a:pPr>
                      <a:r>
                        <a:rPr lang="en-US" sz="1300" b="0" dirty="0" err="1" smtClean="0">
                          <a:solidFill>
                            <a:schemeClr val="tx1"/>
                          </a:solidFill>
                          <a:latin typeface="Times New Roman" panose="02020603050405020304" pitchFamily="18" charset="0"/>
                          <a:cs typeface="Times New Roman" panose="02020603050405020304" pitchFamily="18" charset="0"/>
                        </a:rPr>
                        <a:t>Thuê</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chuyến</a:t>
                      </a:r>
                      <a:r>
                        <a:rPr lang="en-US" sz="1300" b="0" dirty="0" smtClean="0">
                          <a:solidFill>
                            <a:schemeClr val="tx1"/>
                          </a:solidFill>
                          <a:latin typeface="Times New Roman" panose="02020603050405020304" pitchFamily="18" charset="0"/>
                          <a:cs typeface="Times New Roman" panose="02020603050405020304" pitchFamily="18" charset="0"/>
                        </a:rPr>
                        <a:t> A3 </a:t>
                      </a:r>
                      <a:r>
                        <a:rPr lang="en-US" sz="1300" b="0" dirty="0" err="1" smtClean="0">
                          <a:solidFill>
                            <a:schemeClr val="tx1"/>
                          </a:solidFill>
                          <a:latin typeface="Times New Roman" panose="02020603050405020304" pitchFamily="18" charset="0"/>
                          <a:cs typeface="Times New Roman" panose="02020603050405020304" pitchFamily="18" charset="0"/>
                        </a:rPr>
                        <a:t>đi</a:t>
                      </a:r>
                      <a:r>
                        <a:rPr lang="en-US" sz="1300" b="0" dirty="0" smtClean="0">
                          <a:solidFill>
                            <a:schemeClr val="tx1"/>
                          </a:solidFill>
                          <a:latin typeface="Times New Roman" panose="02020603050405020304" pitchFamily="18" charset="0"/>
                          <a:cs typeface="Times New Roman" panose="02020603050405020304" pitchFamily="18" charset="0"/>
                        </a:rPr>
                        <a:t> Brazil/ Uruguay </a:t>
                      </a:r>
                      <a:r>
                        <a:rPr lang="en-US" sz="1300" b="0" dirty="0" err="1" smtClean="0">
                          <a:solidFill>
                            <a:schemeClr val="tx1"/>
                          </a:solidFill>
                          <a:latin typeface="Times New Roman" panose="02020603050405020304" pitchFamily="18" charset="0"/>
                          <a:cs typeface="Times New Roman" panose="02020603050405020304" pitchFamily="18" charset="0"/>
                        </a:rPr>
                        <a:t>dự</a:t>
                      </a:r>
                      <a:r>
                        <a:rPr lang="en-US" sz="1300" b="0" dirty="0" smtClean="0">
                          <a:solidFill>
                            <a:schemeClr val="tx1"/>
                          </a:solidFill>
                          <a:latin typeface="Times New Roman" panose="02020603050405020304" pitchFamily="18" charset="0"/>
                          <a:cs typeface="Times New Roman" panose="02020603050405020304" pitchFamily="18" charset="0"/>
                        </a:rPr>
                        <a:t> </a:t>
                      </a:r>
                      <a:r>
                        <a:rPr lang="en-US" sz="1300" b="0" dirty="0" err="1" smtClean="0">
                          <a:solidFill>
                            <a:schemeClr val="tx1"/>
                          </a:solidFill>
                          <a:latin typeface="Times New Roman" panose="02020603050405020304" pitchFamily="18" charset="0"/>
                          <a:cs typeface="Times New Roman" panose="02020603050405020304" pitchFamily="18" charset="0"/>
                        </a:rPr>
                        <a:t>kiến</a:t>
                      </a:r>
                      <a:r>
                        <a:rPr lang="en-US" sz="1300" b="0" dirty="0" smtClean="0">
                          <a:solidFill>
                            <a:schemeClr val="tx1"/>
                          </a:solidFill>
                          <a:latin typeface="Times New Roman" panose="02020603050405020304" pitchFamily="18" charset="0"/>
                          <a:cs typeface="Times New Roman" panose="02020603050405020304" pitchFamily="18" charset="0"/>
                        </a:rPr>
                        <a:t> 5/7: </a:t>
                      </a:r>
                      <a:r>
                        <a:rPr lang="en-US" sz="1300" b="0" dirty="0" err="1" smtClean="0">
                          <a:solidFill>
                            <a:schemeClr val="tx1"/>
                          </a:solidFill>
                          <a:latin typeface="Times New Roman" panose="02020603050405020304" pitchFamily="18" charset="0"/>
                          <a:cs typeface="Times New Roman" panose="02020603050405020304" pitchFamily="18" charset="0"/>
                        </a:rPr>
                        <a:t>tàu</a:t>
                      </a:r>
                      <a:r>
                        <a:rPr lang="en-US" sz="1300" b="0" dirty="0" smtClean="0">
                          <a:solidFill>
                            <a:schemeClr val="tx1"/>
                          </a:solidFill>
                          <a:latin typeface="Times New Roman" panose="02020603050405020304" pitchFamily="18" charset="0"/>
                          <a:cs typeface="Times New Roman" panose="02020603050405020304" pitchFamily="18" charset="0"/>
                        </a:rPr>
                        <a:t> B787</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18864">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err="1">
                          <a:solidFill>
                            <a:schemeClr val="tx1"/>
                          </a:solidFill>
                          <a:latin typeface="Times New Roman" panose="02020603050405020304" pitchFamily="18" charset="0"/>
                          <a:cs typeface="Times New Roman" panose="02020603050405020304" pitchFamily="18" charset="0"/>
                        </a:rPr>
                        <a:t>Chuẩn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bị</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khai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thác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cao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điểm</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hè</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Đã</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họp</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thống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nhất</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nội</a:t>
                      </a:r>
                      <a:r>
                        <a:rPr lang="en-US" sz="1300" b="0" kern="1200" dirty="0">
                          <a:solidFill>
                            <a:schemeClr val="tx1"/>
                          </a:solidFill>
                          <a:latin typeface="Times New Roman" panose="02020603050405020304" pitchFamily="18" charset="0"/>
                          <a:ea typeface="+mn-ea"/>
                          <a:cs typeface="Times New Roman" panose="02020603050405020304" pitchFamily="18" charset="0"/>
                        </a:rPr>
                        <a:t> dung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với</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đ</a:t>
                      </a:r>
                      <a:r>
                        <a:rPr lang="vi-VN" sz="1300" b="0" kern="1200" dirty="0">
                          <a:solidFill>
                            <a:schemeClr val="tx1"/>
                          </a:solidFill>
                          <a:latin typeface="Times New Roman" panose="02020603050405020304" pitchFamily="18" charset="0"/>
                          <a:ea typeface="+mn-ea"/>
                          <a:cs typeface="Times New Roman" panose="02020603050405020304" pitchFamily="18" charset="0"/>
                        </a:rPr>
                        <a:t>ơ</a:t>
                      </a:r>
                      <a:r>
                        <a:rPr lang="en-US" sz="1300" b="0" kern="1200" dirty="0">
                          <a:solidFill>
                            <a:schemeClr val="tx1"/>
                          </a:solidFill>
                          <a:latin typeface="Times New Roman" panose="02020603050405020304" pitchFamily="18" charset="0"/>
                          <a:ea typeface="+mn-ea"/>
                          <a:cs typeface="Times New Roman" panose="02020603050405020304" pitchFamily="18" charset="0"/>
                        </a:rPr>
                        <a:t>n </a:t>
                      </a:r>
                      <a:r>
                        <a:rPr lang="en-US" sz="1300" b="0" kern="1200" dirty="0" err="1">
                          <a:solidFill>
                            <a:schemeClr val="tx1"/>
                          </a:solidFill>
                          <a:latin typeface="Times New Roman" panose="02020603050405020304" pitchFamily="18" charset="0"/>
                          <a:ea typeface="+mn-ea"/>
                          <a:cs typeface="Times New Roman" panose="02020603050405020304" pitchFamily="18" charset="0"/>
                        </a:rPr>
                        <a:t>vị</a:t>
                      </a:r>
                      <a:r>
                        <a:rPr lang="en-US" sz="1300" b="0" kern="1200" dirty="0">
                          <a:solidFill>
                            <a:schemeClr val="tx1"/>
                          </a:solidFill>
                          <a:latin typeface="Times New Roman" panose="02020603050405020304" pitchFamily="18" charset="0"/>
                          <a:ea typeface="+mn-ea"/>
                          <a:cs typeface="Times New Roman" panose="02020603050405020304" pitchFamily="18" charset="0"/>
                        </a:rPr>
                        <a:t> VAECO, QLVT</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Lập</a:t>
                      </a:r>
                      <a:r>
                        <a:rPr lang="en-US" sz="1300" b="0" kern="1200" dirty="0">
                          <a:solidFill>
                            <a:schemeClr val="tx1"/>
                          </a:solidFill>
                          <a:latin typeface="Times New Roman" panose="02020603050405020304" pitchFamily="18" charset="0"/>
                          <a:ea typeface="+mn-ea"/>
                          <a:cs typeface="Times New Roman" panose="02020603050405020304" pitchFamily="18" charset="0"/>
                        </a:rPr>
                        <a:t> KH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định</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kỳ</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công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việc</a:t>
                      </a:r>
                      <a:r>
                        <a:rPr lang="en-US" sz="1300" b="0" kern="1200" dirty="0">
                          <a:solidFill>
                            <a:schemeClr val="tx1"/>
                          </a:solidFill>
                          <a:latin typeface="Times New Roman" panose="02020603050405020304" pitchFamily="18" charset="0"/>
                          <a:ea typeface="+mn-ea"/>
                          <a:cs typeface="Times New Roman" panose="02020603050405020304" pitchFamily="18" charset="0"/>
                        </a:rPr>
                        <a:t> KTCB,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đảm</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bảo</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nguồn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lực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cao</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điểm</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hè</a:t>
                      </a:r>
                      <a:r>
                        <a:rPr lang="en-US" sz="1300" b="0" kern="1200" dirty="0">
                          <a:solidFill>
                            <a:schemeClr val="tx1"/>
                          </a:solidFill>
                          <a:latin typeface="Times New Roman" panose="02020603050405020304" pitchFamily="18" charset="0"/>
                          <a:ea typeface="+mn-ea"/>
                          <a:cs typeface="Times New Roman" panose="02020603050405020304" pitchFamily="18" charset="0"/>
                        </a:rPr>
                        <a:t>.</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0" kern="1200" dirty="0">
                          <a:solidFill>
                            <a:schemeClr val="tx1"/>
                          </a:solidFill>
                          <a:latin typeface="Times New Roman" panose="02020603050405020304" pitchFamily="18" charset="0"/>
                          <a:ea typeface="+mn-ea"/>
                          <a:cs typeface="Times New Roman" panose="02020603050405020304" pitchFamily="18" charset="0"/>
                        </a:rPr>
                        <a:t> RTS 03 </a:t>
                      </a:r>
                      <a:r>
                        <a:rPr lang="en-US" sz="1300" b="0" kern="1200" dirty="0" err="1">
                          <a:solidFill>
                            <a:schemeClr val="tx1"/>
                          </a:solidFill>
                          <a:latin typeface="Times New Roman" panose="02020603050405020304" pitchFamily="18" charset="0"/>
                          <a:ea typeface="+mn-ea"/>
                          <a:cs typeface="Times New Roman" panose="02020603050405020304" pitchFamily="18" charset="0"/>
                        </a:rPr>
                        <a:t>tàu</a:t>
                      </a:r>
                      <a:r>
                        <a:rPr lang="en-US" sz="1300" b="0" kern="1200" dirty="0">
                          <a:solidFill>
                            <a:schemeClr val="tx1"/>
                          </a:solidFill>
                          <a:latin typeface="Times New Roman" panose="02020603050405020304" pitchFamily="18" charset="0"/>
                          <a:ea typeface="+mn-ea"/>
                          <a:cs typeface="Times New Roman" panose="02020603050405020304" pitchFamily="18" charset="0"/>
                        </a:rPr>
                        <a:t> A350 (</a:t>
                      </a:r>
                      <a:r>
                        <a:rPr lang="pt-BR" sz="1300" b="0" kern="1200" dirty="0">
                          <a:solidFill>
                            <a:schemeClr val="tx1"/>
                          </a:solidFill>
                          <a:latin typeface="Times New Roman" panose="02020603050405020304" pitchFamily="18" charset="0"/>
                          <a:ea typeface="+mn-ea"/>
                          <a:cs typeface="Times New Roman" panose="02020603050405020304" pitchFamily="18" charset="0"/>
                        </a:rPr>
                        <a:t>A887:10/6, A886: 30/06, A895: T7/25)</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03 </a:t>
                      </a:r>
                      <a:r>
                        <a:rPr lang="en-US" sz="1300" b="0" kern="1200" dirty="0" err="1">
                          <a:solidFill>
                            <a:schemeClr val="tx1"/>
                          </a:solidFill>
                          <a:latin typeface="Times New Roman" panose="02020603050405020304" pitchFamily="18" charset="0"/>
                          <a:ea typeface="+mn-ea"/>
                          <a:cs typeface="Times New Roman" panose="02020603050405020304" pitchFamily="18" charset="0"/>
                        </a:rPr>
                        <a:t>tàu</a:t>
                      </a:r>
                      <a:r>
                        <a:rPr lang="en-US" sz="1300" b="0" kern="1200" dirty="0">
                          <a:solidFill>
                            <a:schemeClr val="tx1"/>
                          </a:solidFill>
                          <a:latin typeface="Times New Roman" panose="02020603050405020304" pitchFamily="18" charset="0"/>
                          <a:ea typeface="+mn-ea"/>
                          <a:cs typeface="Times New Roman" panose="02020603050405020304" pitchFamily="18" charset="0"/>
                        </a:rPr>
                        <a:t> A321NEO (A625: </a:t>
                      </a:r>
                      <a:r>
                        <a:rPr lang="en-US" sz="1300" b="0" kern="1200" dirty="0" smtClean="0">
                          <a:solidFill>
                            <a:schemeClr val="tx1"/>
                          </a:solidFill>
                          <a:latin typeface="Times New Roman" panose="02020603050405020304" pitchFamily="18" charset="0"/>
                          <a:ea typeface="+mn-ea"/>
                          <a:cs typeface="Times New Roman" panose="02020603050405020304" pitchFamily="18" charset="0"/>
                        </a:rPr>
                        <a:t>01/06, </a:t>
                      </a:r>
                      <a:r>
                        <a:rPr lang="en-US" sz="1300" b="0" kern="1200" dirty="0">
                          <a:solidFill>
                            <a:schemeClr val="tx1"/>
                          </a:solidFill>
                          <a:latin typeface="Times New Roman" panose="02020603050405020304" pitchFamily="18" charset="0"/>
                          <a:ea typeface="+mn-ea"/>
                          <a:cs typeface="Times New Roman" panose="02020603050405020304" pitchFamily="18" charset="0"/>
                        </a:rPr>
                        <a:t>A501 </a:t>
                      </a:r>
                      <a:r>
                        <a:rPr lang="en-US" sz="1300" b="0" kern="1200" dirty="0" err="1">
                          <a:solidFill>
                            <a:schemeClr val="tx1"/>
                          </a:solidFill>
                          <a:latin typeface="Times New Roman" panose="02020603050405020304" pitchFamily="18" charset="0"/>
                          <a:ea typeface="+mn-ea"/>
                          <a:cs typeface="Times New Roman" panose="02020603050405020304" pitchFamily="18" charset="0"/>
                        </a:rPr>
                        <a:t>giữa</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tháng</a:t>
                      </a:r>
                      <a:r>
                        <a:rPr lang="en-US" sz="1300" b="0" kern="1200" dirty="0">
                          <a:solidFill>
                            <a:schemeClr val="tx1"/>
                          </a:solidFill>
                          <a:latin typeface="Times New Roman" panose="02020603050405020304" pitchFamily="18" charset="0"/>
                          <a:ea typeface="+mn-ea"/>
                          <a:cs typeface="Times New Roman" panose="02020603050405020304" pitchFamily="18" charset="0"/>
                        </a:rPr>
                        <a:t> 6, A508 </a:t>
                      </a:r>
                      <a:r>
                        <a:rPr lang="en-US" sz="1300" b="0" kern="1200" dirty="0" err="1">
                          <a:solidFill>
                            <a:schemeClr val="tx1"/>
                          </a:solidFill>
                          <a:latin typeface="Times New Roman" panose="02020603050405020304" pitchFamily="18" charset="0"/>
                          <a:ea typeface="+mn-ea"/>
                          <a:cs typeface="Times New Roman" panose="02020603050405020304" pitchFamily="18" charset="0"/>
                        </a:rPr>
                        <a:t>trong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tháng</a:t>
                      </a:r>
                      <a:r>
                        <a:rPr lang="en-US" sz="1300" b="0" kern="1200" dirty="0">
                          <a:solidFill>
                            <a:schemeClr val="tx1"/>
                          </a:solidFill>
                          <a:latin typeface="Times New Roman" panose="02020603050405020304" pitchFamily="18" charset="0"/>
                          <a:ea typeface="+mn-ea"/>
                          <a:cs typeface="Times New Roman" panose="02020603050405020304" pitchFamily="18" charset="0"/>
                        </a:rPr>
                        <a:t> 7)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đúng</a:t>
                      </a:r>
                      <a:r>
                        <a:rPr lang="en-US" sz="1300" b="0" kern="1200" dirty="0">
                          <a:solidFill>
                            <a:schemeClr val="tx1"/>
                          </a:solidFill>
                          <a:latin typeface="Times New Roman" panose="02020603050405020304" pitchFamily="18" charset="0"/>
                          <a:ea typeface="+mn-ea"/>
                          <a:cs typeface="Times New Roman" panose="02020603050405020304" pitchFamily="18" charset="0"/>
                        </a:rPr>
                        <a:t> KH.</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72438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43547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33</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 xmlns:a16="http://schemas.microsoft.com/office/drawing/2014/main" id="{3AE6B01F-84E3-881B-E0A6-2DB2CB883A49}"/>
              </a:ext>
            </a:extLst>
          </p:cNvPr>
          <p:cNvGraphicFramePr>
            <a:graphicFrameLocks/>
          </p:cNvGraphicFramePr>
          <p:nvPr>
            <p:extLst/>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 xmlns:a16="http://schemas.microsoft.com/office/drawing/2014/main" id="{6E40E499-B08B-C67F-623B-F023D733338B}"/>
              </a:ext>
            </a:extLst>
          </p:cNvPr>
          <p:cNvSpPr txBox="1"/>
          <p:nvPr/>
        </p:nvSpPr>
        <p:spPr>
          <a:xfrm>
            <a:off x="152400" y="592815"/>
            <a:ext cx="2133600" cy="5093702"/>
          </a:xfrm>
          <a:prstGeom prst="rect">
            <a:avLst/>
          </a:prstGeom>
          <a:noFill/>
          <a:ln>
            <a:solidFill>
              <a:schemeClr val="accent1"/>
            </a:solidFill>
          </a:ln>
        </p:spPr>
        <p:txBody>
          <a:bodyPr wrap="square" rtlCol="0">
            <a:spAutoFit/>
          </a:bodyPr>
          <a:lstStyle/>
          <a:p>
            <a:r>
              <a:rPr lang="en-US" sz="1300" b="1" dirty="0" err="1">
                <a:latin typeface="Times New Roman" panose="02020603050405020304" pitchFamily="18" charset="0"/>
                <a:cs typeface="Times New Roman" panose="02020603050405020304" pitchFamily="18" charset="0"/>
              </a:rPr>
              <a:t>Rủi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ro</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nhận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diện</a:t>
            </a:r>
            <a:r>
              <a:rPr lang="en-US" sz="13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A321CEO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kiến</a:t>
            </a:r>
            <a:r>
              <a:rPr lang="en-US" sz="1300" dirty="0">
                <a:solidFill>
                  <a:prstClr val="black"/>
                </a:solidFill>
                <a:latin typeface="Times New Roman" panose="02020603050405020304" pitchFamily="18" charset="0"/>
                <a:cs typeface="Times New Roman" panose="02020603050405020304" pitchFamily="18" charset="0"/>
              </a:rPr>
              <a:t> Q3-Q4/2025 </a:t>
            </a:r>
            <a:r>
              <a:rPr lang="en-US" sz="1300" dirty="0" err="1">
                <a:solidFill>
                  <a:prstClr val="black"/>
                </a:solidFill>
                <a:latin typeface="Times New Roman" panose="02020603050405020304" pitchFamily="18" charset="0"/>
                <a:cs typeface="Times New Roman" panose="02020603050405020304" pitchFamily="18" charset="0"/>
              </a:rPr>
              <a:t>trả</a:t>
            </a:r>
            <a:r>
              <a:rPr lang="en-US" sz="1300" dirty="0">
                <a:solidFill>
                  <a:prstClr val="black"/>
                </a:solidFill>
                <a:latin typeface="Times New Roman" panose="02020603050405020304" pitchFamily="18" charset="0"/>
                <a:cs typeface="Times New Roman" panose="02020603050405020304" pitchFamily="18" charset="0"/>
              </a:rPr>
              <a:t>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thuê</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duy</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trì</a:t>
            </a:r>
            <a:r>
              <a:rPr lang="en-US" sz="1300" dirty="0">
                <a:solidFill>
                  <a:prstClr val="black"/>
                </a:solidFill>
                <a:latin typeface="Times New Roman" panose="02020603050405020304" pitchFamily="18" charset="0"/>
                <a:cs typeface="Times New Roman" panose="02020603050405020304" pitchFamily="18" charset="0"/>
              </a:rPr>
              <a:t> 9-10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phòng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trong</a:t>
            </a:r>
            <a:r>
              <a:rPr lang="en-US" sz="1300" dirty="0">
                <a:solidFill>
                  <a:prstClr val="black"/>
                </a:solidFill>
                <a:latin typeface="Times New Roman" panose="02020603050405020304" pitchFamily="18" charset="0"/>
                <a:cs typeface="Times New Roman" panose="02020603050405020304" pitchFamily="18" charset="0"/>
              </a:rPr>
              <a:t> 2026.</a:t>
            </a:r>
          </a:p>
          <a:p>
            <a:pPr defTabSz="914377">
              <a:defRPr/>
            </a:pPr>
            <a:endParaRPr lang="en-US" sz="1300" dirty="0">
              <a:solidFill>
                <a:prstClr val="black"/>
              </a:solidFill>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A321NEO </a:t>
            </a:r>
            <a:r>
              <a:rPr lang="en-US" sz="1300" dirty="0">
                <a:latin typeface="Times New Roman" panose="02020603050405020304" pitchFamily="18" charset="0"/>
                <a:cs typeface="Times New Roman" panose="02020603050405020304" pitchFamily="18" charset="0"/>
              </a:rPr>
              <a:t>: </a:t>
            </a:r>
            <a:r>
              <a:rPr lang="vi-VN" sz="1300" dirty="0">
                <a:solidFill>
                  <a:prstClr val="black"/>
                </a:solidFill>
                <a:cs typeface="Times New Roman" panose="02020603050405020304" pitchFamily="18" charset="0"/>
              </a:rPr>
              <a:t>Rủi ro động cơ đi shop về muộn (thực tế đã bị shop delay nhiều lần) và rủi ro tháo động cơ </a:t>
            </a:r>
            <a:r>
              <a:rPr lang="vi-VN" sz="1300" dirty="0">
                <a:cs typeface="Times New Roman" panose="02020603050405020304" pitchFamily="18" charset="0"/>
              </a:rPr>
              <a:t>ngoài KH do Vibration, Oil Leak…</a:t>
            </a:r>
            <a:endParaRPr lang="en-US" sz="1300" dirty="0">
              <a:cs typeface="Times New Roman" panose="02020603050405020304" pitchFamily="18" charset="0"/>
            </a:endParaRPr>
          </a:p>
          <a:p>
            <a:pPr defTabSz="914377">
              <a:defRPr/>
            </a:pPr>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B787 </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ĐCDP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10 (ĐC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06)</a:t>
            </a:r>
          </a:p>
          <a:p>
            <a:endParaRPr lang="en-US" sz="1300" dirty="0">
              <a:latin typeface="Times New Roman" panose="02020603050405020304" pitchFamily="18" charset="0"/>
              <a:cs typeface="Times New Roman" panose="02020603050405020304" pitchFamily="18" charset="0"/>
            </a:endParaRPr>
          </a:p>
          <a:p>
            <a:pPr marL="0" lvl="1"/>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A350: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về</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muộn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do RR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xuyên</a:t>
            </a:r>
            <a:r>
              <a:rPr lang="en-US" sz="1300" dirty="0">
                <a:solidFill>
                  <a:prstClr val="black"/>
                </a:solidFill>
                <a:latin typeface="Times New Roman" panose="02020603050405020304" pitchFamily="18" charset="0"/>
                <a:cs typeface="Times New Roman" panose="02020603050405020304" pitchFamily="18" charset="0"/>
              </a:rPr>
              <a:t> extend TAT) </a:t>
            </a:r>
            <a:r>
              <a:rPr lang="en-US" sz="1300" dirty="0" err="1">
                <a:solidFill>
                  <a:prstClr val="black"/>
                </a:solidFill>
                <a:latin typeface="Times New Roman" panose="02020603050405020304" pitchFamily="18" charset="0"/>
                <a:cs typeface="Times New Roman" panose="02020603050405020304" pitchFamily="18" charset="0"/>
              </a:rPr>
              <a:t>tháo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c</a:t>
            </a:r>
            <a:r>
              <a:rPr lang="vi-VN" sz="1300" dirty="0">
                <a:solidFill>
                  <a:prstClr val="black"/>
                </a:solidFill>
                <a:cs typeface="Times New Roman" panose="02020603050405020304" pitchFamily="18" charset="0"/>
              </a:rPr>
              <a:t>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ngoài</a:t>
            </a:r>
            <a:r>
              <a:rPr lang="en-US" sz="1300" dirty="0">
                <a:solidFill>
                  <a:prstClr val="black"/>
                </a:solidFill>
                <a:latin typeface="Times New Roman" panose="02020603050405020304" pitchFamily="18" charset="0"/>
                <a:cs typeface="Times New Roman" panose="02020603050405020304" pitchFamily="18" charset="0"/>
              </a:rPr>
              <a:t> KH do High oil consumption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A893), HPT Blade (2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100FC), IPC Blade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soi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2025)/ </a:t>
            </a:r>
          </a:p>
        </p:txBody>
      </p:sp>
    </p:spTree>
    <p:extLst>
      <p:ext uri="{BB962C8B-B14F-4D97-AF65-F5344CB8AC3E}">
        <p14:creationId xmlns:p14="http://schemas.microsoft.com/office/powerpoint/2010/main" val="497055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34</a:t>
            </a:fld>
            <a:endParaRPr lang="vi"/>
          </a:p>
        </p:txBody>
      </p:sp>
      <p:sp>
        <p:nvSpPr>
          <p:cNvPr id="4" name="TextBox 3">
            <a:extLst>
              <a:ext uri="{FF2B5EF4-FFF2-40B4-BE49-F238E27FC236}">
                <a16:creationId xmlns=""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 xmlns:a16="http://schemas.microsoft.com/office/drawing/2014/main" id="{7BBB0B2C-0AB6-AE2A-F08B-65F49223079D}"/>
              </a:ext>
            </a:extLst>
          </p:cNvPr>
          <p:cNvGraphicFramePr>
            <a:graphicFrameLocks noGrp="1"/>
          </p:cNvGraphicFramePr>
          <p:nvPr/>
        </p:nvGraphicFramePr>
        <p:xfrm>
          <a:off x="185138" y="1041725"/>
          <a:ext cx="5339361" cy="3898070"/>
        </p:xfrm>
        <a:graphic>
          <a:graphicData uri="http://schemas.openxmlformats.org/drawingml/2006/table">
            <a:tbl>
              <a:tblPr firstRow="1" bandRow="1">
                <a:tableStyleId>{5C22544A-7EE6-4342-B048-85BDC9FD1C3A}</a:tableStyleId>
              </a:tblPr>
              <a:tblGrid>
                <a:gridCol w="430883">
                  <a:extLst>
                    <a:ext uri="{9D8B030D-6E8A-4147-A177-3AD203B41FA5}">
                      <a16:colId xmlns="" xmlns:a16="http://schemas.microsoft.com/office/drawing/2014/main" val="1598605427"/>
                    </a:ext>
                  </a:extLst>
                </a:gridCol>
                <a:gridCol w="701211">
                  <a:extLst>
                    <a:ext uri="{9D8B030D-6E8A-4147-A177-3AD203B41FA5}">
                      <a16:colId xmlns="" xmlns:a16="http://schemas.microsoft.com/office/drawing/2014/main" val="3845954792"/>
                    </a:ext>
                  </a:extLst>
                </a:gridCol>
                <a:gridCol w="1023768">
                  <a:extLst>
                    <a:ext uri="{9D8B030D-6E8A-4147-A177-3AD203B41FA5}">
                      <a16:colId xmlns="" xmlns:a16="http://schemas.microsoft.com/office/drawing/2014/main" val="2148822928"/>
                    </a:ext>
                  </a:extLst>
                </a:gridCol>
                <a:gridCol w="872619">
                  <a:extLst>
                    <a:ext uri="{9D8B030D-6E8A-4147-A177-3AD203B41FA5}">
                      <a16:colId xmlns="" xmlns:a16="http://schemas.microsoft.com/office/drawing/2014/main" val="1185879436"/>
                    </a:ext>
                  </a:extLst>
                </a:gridCol>
                <a:gridCol w="2310880">
                  <a:extLst>
                    <a:ext uri="{9D8B030D-6E8A-4147-A177-3AD203B41FA5}">
                      <a16:colId xmlns=""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28/06/2025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11/06)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16/06/2025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03/07/2025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T6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16/06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22"/>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02/07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08793508"/>
                  </a:ext>
                </a:extLst>
              </a:tr>
            </a:tbl>
          </a:graphicData>
        </a:graphic>
      </p:graphicFrame>
      <p:sp>
        <p:nvSpPr>
          <p:cNvPr id="10" name="TextBox 9">
            <a:extLst>
              <a:ext uri="{FF2B5EF4-FFF2-40B4-BE49-F238E27FC236}">
                <a16:creationId xmlns=""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798A4453-6D37-A3D5-A532-1D65A56E72A5}"/>
              </a:ext>
            </a:extLst>
          </p:cNvPr>
          <p:cNvGraphicFramePr>
            <a:graphicFrameLocks noGrp="1"/>
          </p:cNvGraphicFramePr>
          <p:nvPr/>
        </p:nvGraphicFramePr>
        <p:xfrm>
          <a:off x="5737199" y="1035392"/>
          <a:ext cx="6207275" cy="1847856"/>
        </p:xfrm>
        <a:graphic>
          <a:graphicData uri="http://schemas.openxmlformats.org/drawingml/2006/table">
            <a:tbl>
              <a:tblPr firstRow="1" bandRow="1">
                <a:tableStyleId>{93296810-A885-4BE3-A3E7-6D5BEEA58F35}</a:tableStyleId>
              </a:tblPr>
              <a:tblGrid>
                <a:gridCol w="536402">
                  <a:extLst>
                    <a:ext uri="{9D8B030D-6E8A-4147-A177-3AD203B41FA5}">
                      <a16:colId xmlns="" xmlns:a16="http://schemas.microsoft.com/office/drawing/2014/main" val="4292553957"/>
                    </a:ext>
                  </a:extLst>
                </a:gridCol>
                <a:gridCol w="835915">
                  <a:extLst>
                    <a:ext uri="{9D8B030D-6E8A-4147-A177-3AD203B41FA5}">
                      <a16:colId xmlns="" xmlns:a16="http://schemas.microsoft.com/office/drawing/2014/main" val="4057841190"/>
                    </a:ext>
                  </a:extLst>
                </a:gridCol>
                <a:gridCol w="826627">
                  <a:extLst>
                    <a:ext uri="{9D8B030D-6E8A-4147-A177-3AD203B41FA5}">
                      <a16:colId xmlns="" xmlns:a16="http://schemas.microsoft.com/office/drawing/2014/main" val="4208667331"/>
                    </a:ext>
                  </a:extLst>
                </a:gridCol>
                <a:gridCol w="1263161">
                  <a:extLst>
                    <a:ext uri="{9D8B030D-6E8A-4147-A177-3AD203B41FA5}">
                      <a16:colId xmlns="" xmlns:a16="http://schemas.microsoft.com/office/drawing/2014/main" val="4243809776"/>
                    </a:ext>
                  </a:extLst>
                </a:gridCol>
                <a:gridCol w="2745170">
                  <a:extLst>
                    <a:ext uri="{9D8B030D-6E8A-4147-A177-3AD203B41FA5}">
                      <a16:colId xmlns=""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V12483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A396#1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29/05-09/06/2025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Swap sang A392#2,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06-08/07/2025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16-18/08/2025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5269873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1467654"/>
                  </a:ext>
                </a:extLst>
              </a:tr>
            </a:tbl>
          </a:graphicData>
        </a:graphic>
      </p:graphicFrame>
      <p:sp>
        <p:nvSpPr>
          <p:cNvPr id="3" name="TextBox 2">
            <a:extLst>
              <a:ext uri="{FF2B5EF4-FFF2-40B4-BE49-F238E27FC236}">
                <a16:creationId xmlns="" xmlns:a16="http://schemas.microsoft.com/office/drawing/2014/main" id="{4DE6CC1A-C4DC-6FC8-06CD-779939B6893C}"/>
              </a:ext>
            </a:extLst>
          </p:cNvPr>
          <p:cNvSpPr txBox="1"/>
          <p:nvPr/>
        </p:nvSpPr>
        <p:spPr>
          <a:xfrm>
            <a:off x="7340536" y="323260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8E7616FB-C309-B068-5BA6-2EC84567F23C}"/>
              </a:ext>
            </a:extLst>
          </p:cNvPr>
          <p:cNvGraphicFramePr>
            <a:graphicFrameLocks noGrp="1"/>
          </p:cNvGraphicFramePr>
          <p:nvPr/>
        </p:nvGraphicFramePr>
        <p:xfrm>
          <a:off x="5760208" y="362128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 xmlns:a16="http://schemas.microsoft.com/office/drawing/2014/main" val="4292553957"/>
                    </a:ext>
                  </a:extLst>
                </a:gridCol>
                <a:gridCol w="835915">
                  <a:extLst>
                    <a:ext uri="{9D8B030D-6E8A-4147-A177-3AD203B41FA5}">
                      <a16:colId xmlns="" xmlns:a16="http://schemas.microsoft.com/office/drawing/2014/main" val="4057841190"/>
                    </a:ext>
                  </a:extLst>
                </a:gridCol>
                <a:gridCol w="826627">
                  <a:extLst>
                    <a:ext uri="{9D8B030D-6E8A-4147-A177-3AD203B41FA5}">
                      <a16:colId xmlns="" xmlns:a16="http://schemas.microsoft.com/office/drawing/2014/main" val="4208667331"/>
                    </a:ext>
                  </a:extLst>
                </a:gridCol>
                <a:gridCol w="1263161">
                  <a:extLst>
                    <a:ext uri="{9D8B030D-6E8A-4147-A177-3AD203B41FA5}">
                      <a16:colId xmlns="" xmlns:a16="http://schemas.microsoft.com/office/drawing/2014/main" val="4243809776"/>
                    </a:ext>
                  </a:extLst>
                </a:gridCol>
                <a:gridCol w="2745170">
                  <a:extLst>
                    <a:ext uri="{9D8B030D-6E8A-4147-A177-3AD203B41FA5}">
                      <a16:colId xmlns=""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55628123"/>
                  </a:ext>
                </a:extLst>
              </a:tr>
            </a:tbl>
          </a:graphicData>
        </a:graphic>
      </p:graphicFrame>
    </p:spTree>
    <p:extLst>
      <p:ext uri="{BB962C8B-B14F-4D97-AF65-F5344CB8AC3E}">
        <p14:creationId xmlns:p14="http://schemas.microsoft.com/office/powerpoint/2010/main" val="2230693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35</a:t>
            </a:fld>
            <a:endParaRPr lang="vi">
              <a:cs typeface="Times New Roman" panose="02020603050405020304" pitchFamily="18" charset="0"/>
            </a:endParaRPr>
          </a:p>
        </p:txBody>
      </p:sp>
      <p:sp>
        <p:nvSpPr>
          <p:cNvPr id="3" name="Slide Number Placeholder 3">
            <a:extLst>
              <a:ext uri="{FF2B5EF4-FFF2-40B4-BE49-F238E27FC236}">
                <a16:creationId xmlns=""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35</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A321NEO</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E1A7F173-F863-E486-EAEF-8B51EDF0DABA}"/>
              </a:ext>
            </a:extLst>
          </p:cNvPr>
          <p:cNvSpPr txBox="1"/>
          <p:nvPr/>
        </p:nvSpPr>
        <p:spPr>
          <a:xfrm>
            <a:off x="6476948" y="2404954"/>
            <a:ext cx="5167083" cy="538609"/>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tàu</a:t>
            </a:r>
            <a:r>
              <a:rPr lang="en-US" b="1">
                <a:solidFill>
                  <a:srgbClr val="002060"/>
                </a:solidFill>
                <a:latin typeface="Times New Roman" panose="02020603050405020304" pitchFamily="18" charset="0"/>
                <a:cs typeface="Times New Roman" panose="02020603050405020304" pitchFamily="18" charset="0"/>
              </a:rPr>
              <a:t> AOG do thiếu động c</a:t>
            </a:r>
            <a:r>
              <a:rPr lang="vi-VN" b="1">
                <a:solidFill>
                  <a:srgbClr val="002060"/>
                </a:solidFill>
                <a:latin typeface="Times New Roman" panose="02020603050405020304" pitchFamily="18" charset="0"/>
                <a:cs typeface="Times New Roman" panose="02020603050405020304" pitchFamily="18" charset="0"/>
              </a:rPr>
              <a:t>ơ</a:t>
            </a:r>
            <a:r>
              <a:rPr lang="en-US" b="1">
                <a:solidFill>
                  <a:srgbClr val="002060"/>
                </a:solidFill>
                <a:latin typeface="Times New Roman" panose="02020603050405020304" pitchFamily="18" charset="0"/>
                <a:cs typeface="Times New Roman" panose="02020603050405020304" pitchFamily="18" charset="0"/>
              </a:rPr>
              <a:t>*</a:t>
            </a:r>
          </a:p>
          <a:p>
            <a:pPr algn="ctr" defTabSz="1219170">
              <a:defRPr/>
            </a:pPr>
            <a:r>
              <a:rPr lang="en-US" sz="1100" i="1">
                <a:solidFill>
                  <a:srgbClr val="002060"/>
                </a:solidFill>
                <a:latin typeface="Times New Roman" panose="02020603050405020304" pitchFamily="18" charset="0"/>
                <a:cs typeface="Times New Roman" panose="02020603050405020304" pitchFamily="18" charset="0"/>
              </a:rPr>
              <a:t>*Không tính thời gian lắp + RTS + định kỳ</a:t>
            </a:r>
            <a:endParaRPr lang="en-GB" sz="1100" i="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4BCF0C24-45DA-44DA-8EDA-2C6618ED53DE}"/>
              </a:ext>
            </a:extLst>
          </p:cNvPr>
          <p:cNvGraphicFramePr>
            <a:graphicFrameLocks noGrp="1"/>
          </p:cNvGraphicFramePr>
          <p:nvPr>
            <p:extLst/>
          </p:nvPr>
        </p:nvGraphicFramePr>
        <p:xfrm>
          <a:off x="195702" y="5296383"/>
          <a:ext cx="5765457" cy="1584960"/>
        </p:xfrm>
        <a:graphic>
          <a:graphicData uri="http://schemas.openxmlformats.org/drawingml/2006/table">
            <a:tbl>
              <a:tblPr firstRow="1" bandRow="1">
                <a:tableStyleId>{93296810-A885-4BE3-A3E7-6D5BEEA58F35}</a:tableStyleId>
              </a:tblPr>
              <a:tblGrid>
                <a:gridCol w="740896">
                  <a:extLst>
                    <a:ext uri="{9D8B030D-6E8A-4147-A177-3AD203B41FA5}">
                      <a16:colId xmlns="" xmlns:a16="http://schemas.microsoft.com/office/drawing/2014/main" val="1930757539"/>
                    </a:ext>
                  </a:extLst>
                </a:gridCol>
                <a:gridCol w="5024561">
                  <a:extLst>
                    <a:ext uri="{9D8B030D-6E8A-4147-A177-3AD203B41FA5}">
                      <a16:colId xmlns="" xmlns:a16="http://schemas.microsoft.com/office/drawing/2014/main" val="1674463010"/>
                    </a:ext>
                  </a:extLst>
                </a:gridCol>
              </a:tblGrid>
              <a:tr h="0">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0">
                <a:tc>
                  <a:txBody>
                    <a:bodyPr/>
                    <a:lstStyle/>
                    <a:p>
                      <a:r>
                        <a:rPr lang="en-US" sz="1200" b="1">
                          <a:latin typeface="Times New Roman" panose="02020603050405020304" pitchFamily="18" charset="0"/>
                          <a:cs typeface="Times New Roman" panose="02020603050405020304" pitchFamily="18" charset="0"/>
                        </a:rPr>
                        <a:t>A625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28/05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(P771077 &amp; P772905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A619 </a:t>
                      </a:r>
                      <a:r>
                        <a:rPr lang="en-US" sz="1200" dirty="0" err="1">
                          <a:latin typeface="Times New Roman" panose="02020603050405020304" pitchFamily="18" charset="0"/>
                          <a:cs typeface="Times New Roman" panose="02020603050405020304" pitchFamily="18" charset="0"/>
                        </a:rPr>
                        <a:t>giữ</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giờ</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13 AOG</a:t>
                      </a:r>
                    </a:p>
                  </a:txBody>
                  <a:tcPr marL="121920" marR="121920" marT="60960" marB="60960" anchor="ctr"/>
                </a:tc>
                <a:extLst>
                  <a:ext uri="{0D108BD9-81ED-4DB2-BD59-A6C34878D82A}">
                    <a16:rowId xmlns="" xmlns:a16="http://schemas.microsoft.com/office/drawing/2014/main" val="83465224"/>
                  </a:ext>
                </a:extLst>
              </a:tr>
              <a:tr h="0">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03/06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(P771391 &amp;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đầu</a:t>
                      </a:r>
                      <a:r>
                        <a:rPr lang="en-US" sz="1200" dirty="0">
                          <a:latin typeface="Times New Roman" panose="02020603050405020304" pitchFamily="18" charset="0"/>
                          <a:cs typeface="Times New Roman" panose="02020603050405020304" pitchFamily="18" charset="0"/>
                        </a:rPr>
                        <a:t> T6),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12 AOG.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panose="02020603050405020304" pitchFamily="18" charset="0"/>
                          <a:cs typeface="Times New Roman" panose="02020603050405020304" pitchFamily="18" charset="0"/>
                        </a:rPr>
                        <a:t>*Note: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c</a:t>
                      </a:r>
                      <a:r>
                        <a:rPr lang="vi-VN" sz="1200" dirty="0">
                          <a:solidFill>
                            <a:srgbClr val="FF0000"/>
                          </a:solidFill>
                          <a:latin typeface="Times New Roman" panose="02020603050405020304" pitchFamily="18" charset="0"/>
                          <a:cs typeface="Times New Roman" panose="02020603050405020304" pitchFamily="18" charset="0"/>
                        </a:rPr>
                        <a:t>ơ</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thuê</a:t>
                      </a:r>
                      <a:r>
                        <a:rPr lang="en-US" sz="1200" dirty="0">
                          <a:solidFill>
                            <a:srgbClr val="FF0000"/>
                          </a:solidFill>
                          <a:latin typeface="Times New Roman" panose="02020603050405020304" pitchFamily="18" charset="0"/>
                          <a:cs typeface="Times New Roman" panose="02020603050405020304" pitchFamily="18" charset="0"/>
                        </a:rPr>
                        <a:t> PWEL v</a:t>
                      </a:r>
                      <a:r>
                        <a:rPr lang="vi-VN" sz="1200" dirty="0">
                          <a:solidFill>
                            <a:srgbClr val="FF0000"/>
                          </a:solidFill>
                          <a:latin typeface="Times New Roman" panose="02020603050405020304" pitchFamily="18" charset="0"/>
                          <a:cs typeface="Times New Roman" panose="02020603050405020304" pitchFamily="18" charset="0"/>
                        </a:rPr>
                        <a:t>ư</a:t>
                      </a:r>
                      <a:r>
                        <a:rPr lang="en-US" sz="1200" dirty="0" err="1">
                          <a:solidFill>
                            <a:srgbClr val="FF0000"/>
                          </a:solidFill>
                          <a:latin typeface="Times New Roman" panose="02020603050405020304" pitchFamily="18" charset="0"/>
                          <a:cs typeface="Times New Roman" panose="02020603050405020304" pitchFamily="18" charset="0"/>
                        </a:rPr>
                        <a:t>ớng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vấn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đề</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về</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chứng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chỉ</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có</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thể</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đến</a:t>
                      </a:r>
                      <a:r>
                        <a:rPr lang="en-US" sz="1200" dirty="0">
                          <a:solidFill>
                            <a:srgbClr val="FF0000"/>
                          </a:solidFill>
                          <a:latin typeface="Times New Roman" panose="02020603050405020304" pitchFamily="18" charset="0"/>
                          <a:cs typeface="Times New Roman" panose="02020603050405020304" pitchFamily="18" charset="0"/>
                        </a:rPr>
                        <a:t> 09/06 </a:t>
                      </a:r>
                      <a:r>
                        <a:rPr lang="en-US" sz="1200" dirty="0" err="1">
                          <a:solidFill>
                            <a:srgbClr val="FF0000"/>
                          </a:solidFill>
                          <a:latin typeface="Times New Roman" panose="02020603050405020304" pitchFamily="18" charset="0"/>
                          <a:cs typeface="Times New Roman" panose="02020603050405020304" pitchFamily="18" charset="0"/>
                        </a:rPr>
                        <a:t>mới</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khắc</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phục</a:t>
                      </a:r>
                      <a:r>
                        <a:rPr lang="en-US" sz="1200" dirty="0">
                          <a:solidFill>
                            <a:srgbClr val="FF0000"/>
                          </a:solidFill>
                          <a:latin typeface="Times New Roman" panose="02020603050405020304" pitchFamily="18" charset="0"/>
                          <a:cs typeface="Times New Roman" panose="02020603050405020304" pitchFamily="18" charset="0"/>
                        </a:rPr>
                        <a:t> đ</a:t>
                      </a:r>
                      <a:r>
                        <a:rPr lang="vi-VN" sz="1200" dirty="0">
                          <a:solidFill>
                            <a:srgbClr val="FF0000"/>
                          </a:solidFill>
                          <a:latin typeface="Times New Roman" panose="02020603050405020304" pitchFamily="18" charset="0"/>
                          <a:cs typeface="Times New Roman" panose="02020603050405020304" pitchFamily="18" charset="0"/>
                        </a:rPr>
                        <a:t>ư</a:t>
                      </a:r>
                      <a:r>
                        <a:rPr lang="en-US" sz="1200" dirty="0" err="1">
                          <a:solidFill>
                            <a:srgbClr val="FF0000"/>
                          </a:solidFill>
                          <a:latin typeface="Times New Roman" panose="02020603050405020304" pitchFamily="18" charset="0"/>
                          <a:cs typeface="Times New Roman" panose="02020603050405020304" pitchFamily="18" charset="0"/>
                        </a:rPr>
                        <a:t>ợc</a:t>
                      </a:r>
                      <a:r>
                        <a:rPr lang="en-US" sz="1200" dirty="0">
                          <a:solidFill>
                            <a:srgbClr val="FF0000"/>
                          </a:solidFill>
                          <a:latin typeface="Times New Roman" panose="02020603050405020304" pitchFamily="18" charset="0"/>
                          <a:cs typeface="Times New Roman" panose="02020603050405020304" pitchFamily="18" charset="0"/>
                        </a:rPr>
                        <a:t>.</a:t>
                      </a:r>
                    </a:p>
                  </a:txBody>
                  <a:tcPr marL="121920" marR="121920" marT="60960" marB="60960" anchor="ctr"/>
                </a:tc>
                <a:extLst>
                  <a:ext uri="{0D108BD9-81ED-4DB2-BD59-A6C34878D82A}">
                    <a16:rowId xmlns="" xmlns:a16="http://schemas.microsoft.com/office/drawing/2014/main" val="3218884716"/>
                  </a:ext>
                </a:extLst>
              </a:tr>
              <a:tr h="0">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10/07 </a:t>
                      </a:r>
                      <a:r>
                        <a:rPr lang="en-US" sz="1200" dirty="0" err="1">
                          <a:solidFill>
                            <a:srgbClr val="FF0000"/>
                          </a:solidFill>
                          <a:latin typeface="Times New Roman" panose="02020603050405020304" pitchFamily="18" charset="0"/>
                          <a:cs typeface="Times New Roman" panose="02020603050405020304" pitchFamily="18" charset="0"/>
                        </a:rPr>
                        <a:t>đủ</a:t>
                      </a:r>
                      <a:r>
                        <a:rPr lang="en-US" sz="1200" dirty="0">
                          <a:solidFill>
                            <a:srgbClr val="FF0000"/>
                          </a:solidFill>
                          <a:latin typeface="Times New Roman" panose="02020603050405020304" pitchFamily="18" charset="0"/>
                          <a:cs typeface="Times New Roman" panose="02020603050405020304" pitchFamily="18" charset="0"/>
                        </a:rPr>
                        <a:t> 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c</a:t>
                      </a:r>
                      <a:r>
                        <a:rPr lang="vi-VN" sz="1200" dirty="0">
                          <a:solidFill>
                            <a:srgbClr val="FF0000"/>
                          </a:solidFill>
                          <a:latin typeface="Times New Roman" panose="02020603050405020304" pitchFamily="18" charset="0"/>
                          <a:cs typeface="Times New Roman" panose="02020603050405020304" pitchFamily="18" charset="0"/>
                        </a:rPr>
                        <a:t>ơ</a:t>
                      </a:r>
                      <a:r>
                        <a:rPr lang="en-US" sz="1200" dirty="0">
                          <a:solidFill>
                            <a:srgbClr val="FF0000"/>
                          </a:solidFill>
                          <a:latin typeface="Times New Roman" panose="02020603050405020304" pitchFamily="18" charset="0"/>
                          <a:cs typeface="Times New Roman" panose="02020603050405020304" pitchFamily="18" charset="0"/>
                        </a:rPr>
                        <a:t> (P771387 &amp; P771041), </a:t>
                      </a: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 xmlns:a16="http://schemas.microsoft.com/office/drawing/2014/main" val="1764342503"/>
                  </a:ext>
                </a:extLst>
              </a:tr>
            </a:tbl>
          </a:graphicData>
        </a:graphic>
      </p:graphicFrame>
      <p:sp>
        <p:nvSpPr>
          <p:cNvPr id="13" name="TextBox 12">
            <a:extLst>
              <a:ext uri="{FF2B5EF4-FFF2-40B4-BE49-F238E27FC236}">
                <a16:creationId xmlns="" xmlns:a16="http://schemas.microsoft.com/office/drawing/2014/main" id="{90C76007-F5F9-4B91-90BD-15B1D817EC54}"/>
              </a:ext>
            </a:extLst>
          </p:cNvPr>
          <p:cNvSpPr txBox="1"/>
          <p:nvPr/>
        </p:nvSpPr>
        <p:spPr>
          <a:xfrm>
            <a:off x="-314175" y="4835863"/>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 xmlns:a16="http://schemas.microsoft.com/office/drawing/2014/main" id="{CCB8BC50-9C48-4077-8FF9-51F8FD309974}"/>
              </a:ext>
            </a:extLst>
          </p:cNvPr>
          <p:cNvGraphicFramePr/>
          <p:nvPr>
            <p:extLst/>
          </p:nvPr>
        </p:nvGraphicFramePr>
        <p:xfrm>
          <a:off x="6131180" y="306621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 xmlns:a16="http://schemas.microsoft.com/office/drawing/2014/main" id="{3820863C-A0D5-40A0-8221-0CDAF77AC842}"/>
              </a:ext>
            </a:extLst>
          </p:cNvPr>
          <p:cNvSpPr txBox="1"/>
          <p:nvPr/>
        </p:nvSpPr>
        <p:spPr>
          <a:xfrm>
            <a:off x="6131181" y="609600"/>
            <a:ext cx="5909513" cy="1672702"/>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1.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Hiện</a:t>
            </a:r>
            <a:r>
              <a:rPr lang="en-US" sz="1467">
                <a:solidFill>
                  <a:schemeClr val="tx1"/>
                </a:solidFill>
                <a:latin typeface="Times New Roman" panose="02020603050405020304" pitchFamily="18" charset="0"/>
                <a:cs typeface="Times New Roman" panose="02020603050405020304" pitchFamily="18" charset="0"/>
              </a:rPr>
              <a:t> còn 2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RTS trong </a:t>
            </a:r>
            <a:r>
              <a:rPr lang="en-US" sz="1467" dirty="0" err="1">
                <a:solidFill>
                  <a:schemeClr val="tx1"/>
                </a:solidFill>
                <a:latin typeface="Times New Roman" panose="02020603050405020304" pitchFamily="18" charset="0"/>
                <a:cs typeface="Times New Roman" panose="02020603050405020304" pitchFamily="18" charset="0"/>
              </a:rPr>
              <a:t>giai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đoạn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điểm</a:t>
            </a:r>
            <a:r>
              <a:rPr lang="en-US" sz="1467">
                <a:solidFill>
                  <a:schemeClr val="tx1"/>
                </a:solidFill>
                <a:latin typeface="Times New Roman" panose="02020603050405020304" pitchFamily="18" charset="0"/>
                <a:cs typeface="Times New Roman" panose="02020603050405020304" pitchFamily="18" charset="0"/>
              </a:rPr>
              <a:t> (A501, A508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thuộc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vào</a:t>
            </a:r>
            <a:r>
              <a:rPr lang="en-US" sz="1467" dirty="0">
                <a:solidFill>
                  <a:schemeClr val="tx1"/>
                </a:solidFill>
                <a:latin typeface="Times New Roman" panose="02020603050405020304" pitchFamily="18" charset="0"/>
                <a:cs typeface="Times New Roman" panose="02020603050405020304" pitchFamily="18" charset="0"/>
              </a:rPr>
              <a:t> 4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a:t>
            </a:r>
            <a:r>
              <a:rPr lang="en-US" sz="1467" dirty="0">
                <a:solidFill>
                  <a:schemeClr val="tx1"/>
                </a:solidFill>
                <a:latin typeface="Times New Roman" panose="02020603050405020304" pitchFamily="18" charset="0"/>
                <a:cs typeface="Times New Roman" panose="02020603050405020304" pitchFamily="18" charset="0"/>
              </a:rPr>
              <a:t> shop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(P771077, P771391, P771387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P771041),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ro</a:t>
            </a:r>
            <a:r>
              <a:rPr lang="en-US" sz="1467">
                <a:solidFill>
                  <a:schemeClr val="tx1"/>
                </a:solidFill>
                <a:latin typeface="Times New Roman" panose="02020603050405020304" pitchFamily="18" charset="0"/>
                <a:cs typeface="Times New Roman" panose="02020603050405020304" pitchFamily="18" charset="0"/>
              </a:rPr>
              <a:t> delay. </a:t>
            </a: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b="1" dirty="0">
                <a:solidFill>
                  <a:srgbClr val="FF0000"/>
                </a:solidFill>
                <a:latin typeface="Times New Roman" panose="02020603050405020304" pitchFamily="18" charset="0"/>
                <a:cs typeface="Times New Roman" panose="02020603050405020304" pitchFamily="18" charset="0"/>
              </a:rPr>
              <a:t>2.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a:t>
            </a: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t>
            </a:r>
            <a:r>
              <a:rPr lang="en-US" sz="1467">
                <a:solidFill>
                  <a:schemeClr val="tx1"/>
                </a:solidFill>
                <a:latin typeface="Times New Roman" panose="02020603050405020304" pitchFamily="18" charset="0"/>
                <a:cs typeface="Times New Roman" panose="02020603050405020304" pitchFamily="18" charset="0"/>
              </a:rPr>
              <a:t>(A625 S/N </a:t>
            </a:r>
            <a:r>
              <a:rPr lang="en-US" sz="1467" dirty="0">
                <a:solidFill>
                  <a:schemeClr val="tx1"/>
                </a:solidFill>
                <a:latin typeface="Times New Roman" panose="02020603050405020304" pitchFamily="18" charset="0"/>
                <a:cs typeface="Times New Roman" panose="02020603050405020304" pitchFamily="18" charset="0"/>
              </a:rPr>
              <a:t>P772905 675FH/337FC</a:t>
            </a:r>
            <a:r>
              <a:rPr lang="en-US" sz="1467">
                <a:solidFill>
                  <a:schemeClr val="tx1"/>
                </a:solidFill>
                <a:latin typeface="Times New Roman" panose="02020603050405020304" pitchFamily="18" charset="0"/>
                <a:cs typeface="Times New Roman" panose="02020603050405020304" pitchFamily="18" charset="0"/>
              </a:rPr>
              <a:t>); A621 S/N P771710 Ground Stall; Oil </a:t>
            </a:r>
            <a:r>
              <a:rPr lang="en-US" sz="1467" dirty="0">
                <a:solidFill>
                  <a:schemeClr val="tx1"/>
                </a:solidFill>
                <a:latin typeface="Times New Roman" panose="02020603050405020304" pitchFamily="18" charset="0"/>
                <a:cs typeface="Times New Roman" panose="02020603050405020304" pitchFamily="18" charset="0"/>
              </a:rPr>
              <a:t>leak #3DFS (all </a:t>
            </a:r>
            <a:r>
              <a:rPr lang="en-US" sz="1467">
                <a:solidFill>
                  <a:schemeClr val="tx1"/>
                </a:solidFill>
                <a:latin typeface="Times New Roman" panose="02020603050405020304" pitchFamily="18" charset="0"/>
                <a:cs typeface="Times New Roman" panose="02020603050405020304" pitchFamily="18" charset="0"/>
              </a:rPr>
              <a:t>fleet);</a:t>
            </a:r>
            <a:endParaRPr lang="en-US" sz="1467" dirty="0">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 xmlns:a16="http://schemas.microsoft.com/office/drawing/2014/main" id="{800D410E-4A58-4273-B625-070B85B3D830}"/>
              </a:ext>
            </a:extLst>
          </p:cNvPr>
          <p:cNvGraphicFramePr>
            <a:graphicFrameLocks noGrp="1"/>
          </p:cNvGraphicFramePr>
          <p:nvPr>
            <p:extLst/>
          </p:nvPr>
        </p:nvGraphicFramePr>
        <p:xfrm>
          <a:off x="173504" y="708743"/>
          <a:ext cx="5650067" cy="3888741"/>
        </p:xfrm>
        <a:graphic>
          <a:graphicData uri="http://schemas.openxmlformats.org/drawingml/2006/table">
            <a:tbl>
              <a:tblPr firstRow="1" bandRow="1">
                <a:tableStyleId>{5C22544A-7EE6-4342-B048-85BDC9FD1C3A}</a:tableStyleId>
              </a:tblPr>
              <a:tblGrid>
                <a:gridCol w="777205">
                  <a:extLst>
                    <a:ext uri="{9D8B030D-6E8A-4147-A177-3AD203B41FA5}">
                      <a16:colId xmlns="" xmlns:a16="http://schemas.microsoft.com/office/drawing/2014/main" val="3123040184"/>
                    </a:ext>
                  </a:extLst>
                </a:gridCol>
                <a:gridCol w="872790">
                  <a:extLst>
                    <a:ext uri="{9D8B030D-6E8A-4147-A177-3AD203B41FA5}">
                      <a16:colId xmlns="" xmlns:a16="http://schemas.microsoft.com/office/drawing/2014/main" val="2204338324"/>
                    </a:ext>
                  </a:extLst>
                </a:gridCol>
                <a:gridCol w="804312">
                  <a:extLst>
                    <a:ext uri="{9D8B030D-6E8A-4147-A177-3AD203B41FA5}">
                      <a16:colId xmlns="" xmlns:a16="http://schemas.microsoft.com/office/drawing/2014/main" val="1128924154"/>
                    </a:ext>
                  </a:extLst>
                </a:gridCol>
                <a:gridCol w="914400">
                  <a:extLst>
                    <a:ext uri="{9D8B030D-6E8A-4147-A177-3AD203B41FA5}">
                      <a16:colId xmlns="" xmlns:a16="http://schemas.microsoft.com/office/drawing/2014/main" val="2627377997"/>
                    </a:ext>
                  </a:extLst>
                </a:gridCol>
                <a:gridCol w="2281360">
                  <a:extLst>
                    <a:ext uri="{9D8B030D-6E8A-4147-A177-3AD203B41FA5}">
                      <a16:colId xmlns="" xmlns:a16="http://schemas.microsoft.com/office/drawing/2014/main" val="1687818387"/>
                    </a:ext>
                  </a:extLst>
                </a:gridCol>
              </a:tblGrid>
              <a:tr h="304791">
                <a:tc>
                  <a:txBody>
                    <a:bodyPr/>
                    <a:lstStyle/>
                    <a:p>
                      <a:pPr algn="l" rtl="0" fontAlgn="ctr"/>
                      <a:r>
                        <a:rPr lang="vi-VN" sz="1100" b="1" u="none" strike="noStrike">
                          <a:solidFill>
                            <a:srgbClr val="FFFFFF"/>
                          </a:solidFill>
                          <a:effectLst/>
                        </a:rPr>
                        <a:t>Động cơ</a:t>
                      </a:r>
                      <a:endParaRPr lang="vi-VN" sz="1100" b="1" i="0" u="none" strike="noStrike">
                        <a:solidFill>
                          <a:srgbClr val="FFFFFF"/>
                        </a:solidFill>
                        <a:effectLst/>
                        <a:latin typeface="Times New Roman" panose="02020603050405020304" pitchFamily="18" charset="0"/>
                      </a:endParaRPr>
                    </a:p>
                  </a:txBody>
                  <a:tcPr marL="47527" marR="5281" marT="5281" marB="0" anchor="ctr"/>
                </a:tc>
                <a:tc>
                  <a:txBody>
                    <a:bodyPr/>
                    <a:lstStyle/>
                    <a:p>
                      <a:pPr algn="ctr" rtl="0" fontAlgn="ctr"/>
                      <a:r>
                        <a:rPr lang="en-GB" sz="1100" b="1" u="none" strike="noStrike">
                          <a:solidFill>
                            <a:srgbClr val="FFFFFF"/>
                          </a:solidFill>
                          <a:effectLst/>
                        </a:rPr>
                        <a:t>Induction</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Dự kiến về</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KH Sử dụng</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Remark</a:t>
                      </a:r>
                      <a:endParaRPr lang="en-GB" sz="1100" b="1" i="0" u="none" strike="noStrike">
                        <a:solidFill>
                          <a:srgbClr val="FFFFFF"/>
                        </a:solidFill>
                        <a:effectLst/>
                        <a:latin typeface="Times New Roman" panose="02020603050405020304" pitchFamily="18" charset="0"/>
                      </a:endParaRPr>
                    </a:p>
                  </a:txBody>
                  <a:tcPr marL="5281" marR="5281" marT="5281" marB="0" anchor="ctr"/>
                </a:tc>
                <a:extLst>
                  <a:ext uri="{0D108BD9-81ED-4DB2-BD59-A6C34878D82A}">
                    <a16:rowId xmlns="" xmlns:a16="http://schemas.microsoft.com/office/drawing/2014/main" val="1673130687"/>
                  </a:ext>
                </a:extLst>
              </a:tr>
              <a:tr h="511053">
                <a:tc>
                  <a:txBody>
                    <a:bodyPr/>
                    <a:lstStyle/>
                    <a:p>
                      <a:pPr algn="ctr" rtl="0" fontAlgn="ctr"/>
                      <a:r>
                        <a:rPr lang="en-GB" sz="1100" b="0" u="none" strike="noStrike">
                          <a:solidFill>
                            <a:schemeClr val="tx1"/>
                          </a:solidFill>
                          <a:effectLst/>
                        </a:rPr>
                        <a:t>P771391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11/10/2024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01/06/2025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RTS A501</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US" sz="1100" b="0" u="none" strike="noStrike" dirty="0" err="1">
                          <a:solidFill>
                            <a:schemeClr val="tx1"/>
                          </a:solidFill>
                          <a:effectLst/>
                        </a:rPr>
                        <a:t>Kết</a:t>
                      </a:r>
                      <a:r>
                        <a:rPr lang="en-US" sz="1100" b="0" u="none" strike="noStrike" dirty="0">
                          <a:solidFill>
                            <a:schemeClr val="tx1"/>
                          </a:solidFill>
                          <a:effectLst/>
                        </a:rPr>
                        <a:t> </a:t>
                      </a:r>
                      <a:r>
                        <a:rPr lang="en-US" sz="1100" b="0" u="none" strike="noStrike" dirty="0" err="1">
                          <a:solidFill>
                            <a:schemeClr val="tx1"/>
                          </a:solidFill>
                          <a:effectLst/>
                        </a:rPr>
                        <a:t>hợp</a:t>
                      </a:r>
                      <a:r>
                        <a:rPr lang="en-US" sz="1100" b="0" u="none" strike="noStrike" dirty="0">
                          <a:solidFill>
                            <a:schemeClr val="tx1"/>
                          </a:solidFill>
                          <a:effectLst/>
                        </a:rPr>
                        <a:t> </a:t>
                      </a:r>
                      <a:r>
                        <a:rPr lang="en-US" sz="1100" b="0" u="none" strike="noStrike" dirty="0" err="1">
                          <a:solidFill>
                            <a:schemeClr val="tx1"/>
                          </a:solidFill>
                          <a:effectLst/>
                        </a:rPr>
                        <a:t>với</a:t>
                      </a:r>
                      <a:r>
                        <a:rPr lang="en-US" sz="1100" b="0" u="none" strike="noStrike" dirty="0">
                          <a:solidFill>
                            <a:schemeClr val="tx1"/>
                          </a:solidFill>
                          <a:effectLst/>
                        </a:rPr>
                        <a:t> </a:t>
                      </a:r>
                      <a:r>
                        <a:rPr lang="en-US" sz="1100" b="0" u="none" strike="noStrike" dirty="0" err="1">
                          <a:solidFill>
                            <a:schemeClr val="tx1"/>
                          </a:solidFill>
                          <a:effectLst/>
                        </a:rPr>
                        <a:t>động</a:t>
                      </a:r>
                      <a:r>
                        <a:rPr lang="en-US"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a:t>
                      </a:r>
                      <a:r>
                        <a:rPr lang="en-US" sz="1100" b="0" u="none" strike="noStrike" dirty="0" err="1">
                          <a:solidFill>
                            <a:schemeClr val="tx1"/>
                          </a:solidFill>
                          <a:effectLst/>
                        </a:rPr>
                        <a:t>thuê</a:t>
                      </a:r>
                      <a:r>
                        <a:rPr lang="en-US" sz="1100" b="0" u="none" strike="noStrike" dirty="0">
                          <a:solidFill>
                            <a:schemeClr val="tx1"/>
                          </a:solidFill>
                          <a:effectLst/>
                        </a:rPr>
                        <a:t> </a:t>
                      </a:r>
                      <a:r>
                        <a:rPr lang="en-US" sz="1100" b="0" u="none" strike="noStrike" dirty="0" err="1">
                          <a:solidFill>
                            <a:schemeClr val="tx1"/>
                          </a:solidFill>
                          <a:effectLst/>
                        </a:rPr>
                        <a:t>mới</a:t>
                      </a:r>
                      <a:r>
                        <a:rPr lang="en-US" sz="1100" b="0" u="none" strike="noStrike" dirty="0">
                          <a:solidFill>
                            <a:schemeClr val="tx1"/>
                          </a:solidFill>
                          <a:effectLst/>
                        </a:rPr>
                        <a:t> PWEL</a:t>
                      </a:r>
                      <a:endParaRPr lang="vi-VN"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 xmlns:a16="http://schemas.microsoft.com/office/drawing/2014/main" val="2417907554"/>
                  </a:ext>
                </a:extLst>
              </a:tr>
              <a:tr h="439087">
                <a:tc>
                  <a:txBody>
                    <a:bodyPr/>
                    <a:lstStyle/>
                    <a:p>
                      <a:pPr algn="ctr" rtl="0" fontAlgn="ctr"/>
                      <a:r>
                        <a:rPr lang="en-GB" sz="1100" b="0" u="none" strike="noStrike">
                          <a:solidFill>
                            <a:schemeClr val="tx1"/>
                          </a:solidFill>
                          <a:effectLst/>
                        </a:rPr>
                        <a:t>P771387</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05/11/2024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03/07/2025</a:t>
                      </a:r>
                      <a:endParaRPr lang="en-GB" sz="1100" b="0" u="none" strike="noStrike" dirty="0">
                        <a:solidFill>
                          <a:srgbClr val="FF0000"/>
                        </a:solidFill>
                        <a:effectLst/>
                      </a:endParaRP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GB" sz="1100" b="0" u="none" strike="noStrike">
                          <a:solidFill>
                            <a:srgbClr val="FF0000"/>
                          </a:solidFill>
                          <a:effectLst/>
                        </a:rPr>
                        <a:t>+ 10 ngày do thiếu PTVT:  IBR6 </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 xmlns:a16="http://schemas.microsoft.com/office/drawing/2014/main" val="135326823"/>
                  </a:ext>
                </a:extLst>
              </a:tr>
              <a:tr h="1253755">
                <a:tc>
                  <a:txBody>
                    <a:bodyPr/>
                    <a:lstStyle/>
                    <a:p>
                      <a:pPr algn="ctr" rtl="0" fontAlgn="ctr"/>
                      <a:r>
                        <a:rPr lang="en-GB" sz="1100" b="0" u="none" strike="noStrike">
                          <a:solidFill>
                            <a:schemeClr val="tx1"/>
                          </a:solidFill>
                          <a:effectLst/>
                        </a:rPr>
                        <a:t>P771041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19/03/2025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10/07/2025</a:t>
                      </a: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GB" sz="1100" b="0" u="none" strike="noStrike">
                          <a:solidFill>
                            <a:srgbClr val="FF0000"/>
                          </a:solidFill>
                          <a:effectLst/>
                        </a:rPr>
                        <a:t>+03 ngày, Do thiếu PTVT  </a:t>
                      </a:r>
                      <a:r>
                        <a:rPr lang="en-US" sz="1100" b="0" u="none" strike="noStrike">
                          <a:solidFill>
                            <a:srgbClr val="FF0000"/>
                          </a:solidFill>
                          <a:effectLst/>
                        </a:rPr>
                        <a:t>Pacing items include #4 BRG, T1 hub, T1 blades, T2 stator vanes, and T2 retaining plate</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 xmlns:a16="http://schemas.microsoft.com/office/drawing/2014/main" val="236595682"/>
                  </a:ext>
                </a:extLst>
              </a:tr>
              <a:tr h="866129">
                <a:tc>
                  <a:txBody>
                    <a:bodyPr/>
                    <a:lstStyle/>
                    <a:p>
                      <a:pPr algn="ctr" rtl="0" fontAlgn="ctr"/>
                      <a:r>
                        <a:rPr lang="en-GB" sz="1100" b="0" u="none" strike="noStrike">
                          <a:solidFill>
                            <a:schemeClr val="tx1"/>
                          </a:solidFill>
                          <a:effectLst/>
                        </a:rPr>
                        <a:t>P771423</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15/04/2025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30/07/2025</a:t>
                      </a:r>
                    </a:p>
                  </a:txBody>
                  <a:tcPr marL="5281" marR="5281" marT="5281" marB="0" anchor="ctr"/>
                </a:tc>
                <a:tc>
                  <a:txBody>
                    <a:bodyPr/>
                    <a:lstStyle/>
                    <a:p>
                      <a:pPr algn="ctr" rtl="0" fontAlgn="ctr"/>
                      <a:r>
                        <a:rPr lang="en-US" sz="1100" b="0" i="0" u="none" strike="noStrike">
                          <a:solidFill>
                            <a:schemeClr val="tx1"/>
                          </a:solidFill>
                          <a:effectLst/>
                          <a:latin typeface="Times New Roman" panose="02020603050405020304" pitchFamily="18" charset="0"/>
                        </a:rPr>
                        <a:t>ENG CHANGE</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vi-VN" sz="1100" b="0" u="none" strike="noStrike">
                          <a:solidFill>
                            <a:srgbClr val="FF0000"/>
                          </a:solidFill>
                          <a:effectLst/>
                        </a:rPr>
                        <a:t>+</a:t>
                      </a:r>
                      <a:r>
                        <a:rPr lang="en-US" sz="1100" b="0" u="none" strike="noStrike">
                          <a:solidFill>
                            <a:srgbClr val="FF0000"/>
                          </a:solidFill>
                          <a:effectLst/>
                        </a:rPr>
                        <a:t>07</a:t>
                      </a:r>
                      <a:r>
                        <a:rPr lang="vi-VN" sz="1100" b="0" u="none" strike="noStrike">
                          <a:solidFill>
                            <a:srgbClr val="FF0000"/>
                          </a:solidFill>
                          <a:effectLst/>
                        </a:rPr>
                        <a:t> </a:t>
                      </a:r>
                      <a:r>
                        <a:rPr lang="vi-VN" sz="1100" b="0" u="none" strike="noStrike" dirty="0">
                          <a:solidFill>
                            <a:srgbClr val="FF0000"/>
                          </a:solidFill>
                          <a:effectLst/>
                        </a:rPr>
                        <a:t>ngày so với KH, </a:t>
                      </a:r>
                      <a:r>
                        <a:rPr lang="en-US" sz="1100" b="0" u="none" strike="noStrike" dirty="0" err="1">
                          <a:solidFill>
                            <a:srgbClr val="FF0000"/>
                          </a:solidFill>
                          <a:effectLst/>
                        </a:rPr>
                        <a:t>không</a:t>
                      </a:r>
                      <a:r>
                        <a:rPr lang="en-US" sz="1100" b="0" u="none" strike="noStrike" dirty="0">
                          <a:solidFill>
                            <a:srgbClr val="FF0000"/>
                          </a:solidFill>
                          <a:effectLst/>
                        </a:rPr>
                        <a:t> </a:t>
                      </a:r>
                      <a:r>
                        <a:rPr lang="en-US" sz="1100" b="0" u="none" strike="noStrike" dirty="0" err="1">
                          <a:solidFill>
                            <a:srgbClr val="FF0000"/>
                          </a:solidFill>
                          <a:effectLst/>
                        </a:rPr>
                        <a:t>ảnh</a:t>
                      </a:r>
                      <a:r>
                        <a:rPr lang="en-US" sz="1100" b="0" u="none" strike="noStrike" dirty="0">
                          <a:solidFill>
                            <a:srgbClr val="FF0000"/>
                          </a:solidFill>
                          <a:effectLst/>
                        </a:rPr>
                        <a:t> h</a:t>
                      </a:r>
                      <a:r>
                        <a:rPr lang="vi-VN" sz="1100" b="0" u="none" strike="noStrike" dirty="0">
                          <a:solidFill>
                            <a:srgbClr val="FF0000"/>
                          </a:solidFill>
                          <a:effectLst/>
                        </a:rPr>
                        <a:t>ư</a:t>
                      </a:r>
                      <a:r>
                        <a:rPr lang="en-US" sz="1100" b="0" u="none" strike="noStrike" dirty="0" err="1">
                          <a:solidFill>
                            <a:srgbClr val="FF0000"/>
                          </a:solidFill>
                          <a:effectLst/>
                        </a:rPr>
                        <a:t>ởng</a:t>
                      </a:r>
                      <a:r>
                        <a:rPr lang="en-US" sz="1100" b="0" u="none" strike="noStrike" dirty="0">
                          <a:solidFill>
                            <a:srgbClr val="FF0000"/>
                          </a:solidFill>
                          <a:effectLst/>
                        </a:rPr>
                        <a:t> do </a:t>
                      </a:r>
                      <a:r>
                        <a:rPr lang="en-US" sz="1100" b="0" u="none" strike="noStrike" dirty="0" err="1">
                          <a:solidFill>
                            <a:srgbClr val="FF0000"/>
                          </a:solidFill>
                          <a:effectLst/>
                        </a:rPr>
                        <a:t>thiếu</a:t>
                      </a:r>
                      <a:r>
                        <a:rPr lang="en-US" sz="1100" b="0" u="none" strike="noStrike" dirty="0">
                          <a:solidFill>
                            <a:srgbClr val="FF0000"/>
                          </a:solidFill>
                          <a:effectLst/>
                        </a:rPr>
                        <a:t> 1 </a:t>
                      </a:r>
                      <a:r>
                        <a:rPr lang="en-US" sz="1100" b="0" u="none" strike="noStrike" dirty="0" err="1">
                          <a:solidFill>
                            <a:srgbClr val="FF0000"/>
                          </a:solidFill>
                          <a:effectLst/>
                        </a:rPr>
                        <a:t>động</a:t>
                      </a:r>
                      <a:r>
                        <a:rPr lang="en-US" sz="1100" b="0" u="none" strike="noStrike" dirty="0">
                          <a:solidFill>
                            <a:srgbClr val="FF0000"/>
                          </a:solidFill>
                          <a:effectLst/>
                        </a:rPr>
                        <a:t> </a:t>
                      </a:r>
                      <a:r>
                        <a:rPr lang="en-US" sz="1100" b="0" u="none" strike="noStrike">
                          <a:solidFill>
                            <a:srgbClr val="FF0000"/>
                          </a:solidFill>
                          <a:effectLst/>
                        </a:rPr>
                        <a:t>c</a:t>
                      </a:r>
                      <a:r>
                        <a:rPr lang="vi-VN" sz="1100" b="0" u="none" strike="noStrike">
                          <a:solidFill>
                            <a:srgbClr val="FF0000"/>
                          </a:solidFill>
                          <a:effectLst/>
                        </a:rPr>
                        <a:t>ơ</a:t>
                      </a:r>
                      <a:r>
                        <a:rPr lang="en-US" sz="1100" b="0" u="none" strike="noStrike">
                          <a:solidFill>
                            <a:srgbClr val="FF0000"/>
                          </a:solidFill>
                          <a:effectLst/>
                        </a:rPr>
                        <a:t>. Phát sinh TAT </a:t>
                      </a:r>
                      <a:r>
                        <a:rPr lang="en-US" sz="1100" b="0" u="none" strike="noStrike" dirty="0">
                          <a:solidFill>
                            <a:srgbClr val="FF0000"/>
                          </a:solidFill>
                          <a:effectLst/>
                        </a:rPr>
                        <a:t>do </a:t>
                      </a:r>
                      <a:r>
                        <a:rPr lang="en-US" sz="1100" b="0" u="none" strike="noStrike" dirty="0" err="1">
                          <a:solidFill>
                            <a:srgbClr val="FF0000"/>
                          </a:solidFill>
                          <a:effectLst/>
                        </a:rPr>
                        <a:t>trong</a:t>
                      </a:r>
                      <a:r>
                        <a:rPr lang="en-US" sz="1100" b="0" u="none" strike="noStrike" dirty="0">
                          <a:solidFill>
                            <a:srgbClr val="FF0000"/>
                          </a:solidFill>
                          <a:effectLst/>
                        </a:rPr>
                        <a:t> </a:t>
                      </a:r>
                      <a:r>
                        <a:rPr lang="en-US" sz="1100" b="0" u="none" strike="noStrike" dirty="0" err="1">
                          <a:solidFill>
                            <a:srgbClr val="FF0000"/>
                          </a:solidFill>
                          <a:effectLst/>
                        </a:rPr>
                        <a:t>quá</a:t>
                      </a:r>
                      <a:r>
                        <a:rPr lang="en-US" sz="1100" b="0" u="none" strike="noStrike" dirty="0">
                          <a:solidFill>
                            <a:srgbClr val="FF0000"/>
                          </a:solidFill>
                          <a:effectLst/>
                        </a:rPr>
                        <a:t> </a:t>
                      </a:r>
                      <a:r>
                        <a:rPr lang="en-US" sz="1100" b="0" u="none" strike="noStrike" dirty="0" err="1">
                          <a:solidFill>
                            <a:srgbClr val="FF0000"/>
                          </a:solidFill>
                          <a:effectLst/>
                        </a:rPr>
                        <a:t>trình</a:t>
                      </a:r>
                      <a:r>
                        <a:rPr lang="en-US" sz="1100" b="0" u="none" strike="noStrike" dirty="0">
                          <a:solidFill>
                            <a:srgbClr val="FF0000"/>
                          </a:solidFill>
                          <a:effectLst/>
                        </a:rPr>
                        <a:t> </a:t>
                      </a:r>
                      <a:r>
                        <a:rPr lang="en-US" sz="1100" b="0" u="none" strike="noStrike" dirty="0" err="1">
                          <a:solidFill>
                            <a:srgbClr val="FF0000"/>
                          </a:solidFill>
                          <a:effectLst/>
                        </a:rPr>
                        <a:t>kiểm</a:t>
                      </a:r>
                      <a:r>
                        <a:rPr lang="en-US" sz="1100" b="0" u="none" strike="noStrike" dirty="0">
                          <a:solidFill>
                            <a:srgbClr val="FF0000"/>
                          </a:solidFill>
                          <a:effectLst/>
                        </a:rPr>
                        <a:t> </a:t>
                      </a:r>
                      <a:r>
                        <a:rPr lang="en-US" sz="1100" b="0" u="none" strike="noStrike" dirty="0" err="1">
                          <a:solidFill>
                            <a:srgbClr val="FF0000"/>
                          </a:solidFill>
                          <a:effectLst/>
                        </a:rPr>
                        <a:t>tra</a:t>
                      </a:r>
                      <a:r>
                        <a:rPr lang="en-US" sz="1100" b="0" u="none" strike="noStrike" dirty="0">
                          <a:solidFill>
                            <a:srgbClr val="FF0000"/>
                          </a:solidFill>
                          <a:effectLst/>
                        </a:rPr>
                        <a:t> </a:t>
                      </a:r>
                      <a:r>
                        <a:rPr lang="en-US" sz="1100" b="0" u="none" strike="noStrike" dirty="0" err="1">
                          <a:solidFill>
                            <a:srgbClr val="FF0000"/>
                          </a:solidFill>
                          <a:effectLst/>
                        </a:rPr>
                        <a:t>phát</a:t>
                      </a:r>
                      <a:r>
                        <a:rPr lang="en-US" sz="1100" b="0" u="none" strike="noStrike" dirty="0">
                          <a:solidFill>
                            <a:srgbClr val="FF0000"/>
                          </a:solidFill>
                          <a:effectLst/>
                        </a:rPr>
                        <a:t> </a:t>
                      </a:r>
                      <a:r>
                        <a:rPr lang="en-US" sz="1100" b="0" u="none" strike="noStrike" dirty="0" err="1">
                          <a:solidFill>
                            <a:srgbClr val="FF0000"/>
                          </a:solidFill>
                          <a:effectLst/>
                        </a:rPr>
                        <a:t>sinh</a:t>
                      </a:r>
                      <a:r>
                        <a:rPr lang="en-US" sz="1100" b="0" u="none" strike="noStrike" dirty="0">
                          <a:solidFill>
                            <a:srgbClr val="FF0000"/>
                          </a:solidFill>
                          <a:effectLst/>
                        </a:rPr>
                        <a:t> </a:t>
                      </a:r>
                      <a:r>
                        <a:rPr lang="en-US" sz="1100" b="0" u="none" strike="noStrike" dirty="0" err="1">
                          <a:solidFill>
                            <a:srgbClr val="FF0000"/>
                          </a:solidFill>
                          <a:effectLst/>
                        </a:rPr>
                        <a:t>hỏng</a:t>
                      </a:r>
                      <a:r>
                        <a:rPr lang="en-US" sz="1100" b="0" u="none" strike="noStrike" dirty="0">
                          <a:solidFill>
                            <a:srgbClr val="FF0000"/>
                          </a:solidFill>
                          <a:effectLst/>
                        </a:rPr>
                        <a:t> </a:t>
                      </a:r>
                      <a:r>
                        <a:rPr lang="en-US" sz="1100" b="0" u="none" strike="noStrike" dirty="0" err="1">
                          <a:solidFill>
                            <a:srgbClr val="FF0000"/>
                          </a:solidFill>
                          <a:effectLst/>
                        </a:rPr>
                        <a:t>hóc</a:t>
                      </a:r>
                      <a:r>
                        <a:rPr lang="en-US" sz="1100" b="0" u="none" strike="noStrike" dirty="0">
                          <a:solidFill>
                            <a:srgbClr val="FF0000"/>
                          </a:solidFill>
                          <a:effectLst/>
                        </a:rPr>
                        <a:t>  HPT module </a:t>
                      </a:r>
                      <a:r>
                        <a:rPr lang="en-US" sz="1100" b="0" u="none" strike="noStrike" dirty="0">
                          <a:solidFill>
                            <a:srgbClr val="FF0000"/>
                          </a:solidFill>
                          <a:effectLst/>
                          <a:sym typeface="Wingdings" panose="05000000000000000000" pitchFamily="2" charset="2"/>
                        </a:rPr>
                        <a:t> </a:t>
                      </a:r>
                      <a:r>
                        <a:rPr lang="en-US" sz="1100" b="0" u="none" strike="noStrike" dirty="0" err="1">
                          <a:solidFill>
                            <a:srgbClr val="FF0000"/>
                          </a:solidFill>
                          <a:effectLst/>
                        </a:rPr>
                        <a:t>Tăng</a:t>
                      </a:r>
                      <a:r>
                        <a:rPr lang="en-US" sz="1100" b="0" u="none" strike="noStrike" dirty="0">
                          <a:solidFill>
                            <a:srgbClr val="FF0000"/>
                          </a:solidFill>
                          <a:effectLst/>
                        </a:rPr>
                        <a:t> </a:t>
                      </a:r>
                      <a:r>
                        <a:rPr lang="en-US" sz="1100" b="0" u="none" strike="noStrike" dirty="0" err="1">
                          <a:solidFill>
                            <a:srgbClr val="FF0000"/>
                          </a:solidFill>
                          <a:effectLst/>
                        </a:rPr>
                        <a:t>mức</a:t>
                      </a:r>
                      <a:r>
                        <a:rPr lang="en-US" sz="1100" b="0" u="none" strike="noStrike" dirty="0">
                          <a:solidFill>
                            <a:srgbClr val="FF0000"/>
                          </a:solidFill>
                          <a:effectLst/>
                        </a:rPr>
                        <a:t> </a:t>
                      </a:r>
                      <a:r>
                        <a:rPr lang="en-US" sz="1100" b="0" u="none" strike="noStrike" dirty="0" err="1">
                          <a:solidFill>
                            <a:srgbClr val="FF0000"/>
                          </a:solidFill>
                          <a:effectLst/>
                        </a:rPr>
                        <a:t>wsc</a:t>
                      </a:r>
                      <a:r>
                        <a:rPr lang="en-US" sz="1100" b="0" u="none" strike="noStrike" dirty="0">
                          <a:solidFill>
                            <a:srgbClr val="FF0000"/>
                          </a:solidFill>
                          <a:effectLst/>
                        </a:rPr>
                        <a:t> </a:t>
                      </a:r>
                      <a:r>
                        <a:rPr lang="en-US" sz="1100" b="0" u="none" strike="noStrike" dirty="0" err="1">
                          <a:solidFill>
                            <a:srgbClr val="FF0000"/>
                          </a:solidFill>
                          <a:effectLst/>
                        </a:rPr>
                        <a:t>cho</a:t>
                      </a:r>
                      <a:r>
                        <a:rPr lang="en-US" sz="1100" b="0" u="none" strike="noStrike" dirty="0">
                          <a:solidFill>
                            <a:srgbClr val="FF0000"/>
                          </a:solidFill>
                          <a:effectLst/>
                        </a:rPr>
                        <a:t> 1 </a:t>
                      </a:r>
                      <a:r>
                        <a:rPr lang="en-US" sz="1100" b="0" u="none" strike="noStrike" dirty="0" err="1">
                          <a:solidFill>
                            <a:srgbClr val="FF0000"/>
                          </a:solidFill>
                          <a:effectLst/>
                        </a:rPr>
                        <a:t>số</a:t>
                      </a:r>
                      <a:r>
                        <a:rPr lang="en-US" sz="1100" b="0" u="none" strike="noStrike" dirty="0">
                          <a:solidFill>
                            <a:srgbClr val="FF0000"/>
                          </a:solidFill>
                          <a:effectLst/>
                        </a:rPr>
                        <a:t> module so </a:t>
                      </a:r>
                      <a:r>
                        <a:rPr lang="en-US" sz="1100" b="0" u="none" strike="noStrike" dirty="0" err="1">
                          <a:solidFill>
                            <a:srgbClr val="FF0000"/>
                          </a:solidFill>
                          <a:effectLst/>
                        </a:rPr>
                        <a:t>với</a:t>
                      </a:r>
                      <a:r>
                        <a:rPr lang="en-US" sz="1100" b="0" u="none" strike="noStrike" dirty="0">
                          <a:solidFill>
                            <a:srgbClr val="FF0000"/>
                          </a:solidFill>
                          <a:effectLst/>
                        </a:rPr>
                        <a:t> ban </a:t>
                      </a:r>
                      <a:r>
                        <a:rPr lang="en-US" sz="1100" b="0" u="none" strike="noStrike" dirty="0" err="1">
                          <a:solidFill>
                            <a:srgbClr val="FF0000"/>
                          </a:solidFill>
                          <a:effectLst/>
                        </a:rPr>
                        <a:t>đầu</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 xmlns:a16="http://schemas.microsoft.com/office/drawing/2014/main" val="871960572"/>
                  </a:ext>
                </a:extLst>
              </a:tr>
              <a:tr h="513926">
                <a:tc>
                  <a:txBody>
                    <a:bodyPr/>
                    <a:lstStyle/>
                    <a:p>
                      <a:pPr algn="ctr" rtl="0" fontAlgn="ctr"/>
                      <a:r>
                        <a:rPr lang="en-GB" sz="1100" b="0" u="none" strike="noStrike">
                          <a:solidFill>
                            <a:srgbClr val="000000"/>
                          </a:solidFill>
                          <a:effectLst/>
                        </a:rPr>
                        <a:t>P771373</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20/02/2025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16/09/2025</a:t>
                      </a:r>
                    </a:p>
                  </a:txBody>
                  <a:tcPr marL="5281" marR="5281" marT="5281" marB="0" anchor="ctr"/>
                </a:tc>
                <a:tc>
                  <a:txBody>
                    <a:bodyPr/>
                    <a:lstStyle/>
                    <a:p>
                      <a:pPr algn="ctr" rtl="0" fontAlgn="ctr"/>
                      <a:r>
                        <a:rPr lang="en-GB" sz="1100" b="0" u="none" strike="noStrike" dirty="0">
                          <a:solidFill>
                            <a:srgbClr val="000000"/>
                          </a:solidFill>
                          <a:effectLst/>
                        </a:rPr>
                        <a:t>RTS</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l" fontAlgn="ctr"/>
                      <a:r>
                        <a:rPr lang="en-GB" sz="1100" b="0" u="none" strike="noStrike">
                          <a:solidFill>
                            <a:srgbClr val="000000"/>
                          </a:solidFill>
                          <a:effectLst/>
                        </a:rPr>
                        <a:t>Sau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endParaRPr lang="en-GB" sz="1100" b="0" i="0" u="none" strike="noStrike" dirty="0">
                        <a:solidFill>
                          <a:srgbClr val="000000"/>
                        </a:solidFill>
                        <a:effectLst/>
                        <a:latin typeface="Arial" panose="020B0604020202020204" pitchFamily="34" charset="0"/>
                      </a:endParaRPr>
                    </a:p>
                  </a:txBody>
                  <a:tcPr marL="5281" marR="5281" marT="5281" marB="0" anchor="ctr"/>
                </a:tc>
                <a:extLst>
                  <a:ext uri="{0D108BD9-81ED-4DB2-BD59-A6C34878D82A}">
                    <a16:rowId xmlns="" xmlns:a16="http://schemas.microsoft.com/office/drawing/2014/main" val="3042752024"/>
                  </a:ext>
                </a:extLst>
              </a:tr>
            </a:tbl>
          </a:graphicData>
        </a:graphic>
      </p:graphicFrame>
    </p:spTree>
    <p:extLst>
      <p:ext uri="{BB962C8B-B14F-4D97-AF65-F5344CB8AC3E}">
        <p14:creationId xmlns:p14="http://schemas.microsoft.com/office/powerpoint/2010/main" val="957597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36</a:t>
            </a:fld>
            <a:endParaRPr lang="vi"/>
          </a:p>
        </p:txBody>
      </p:sp>
      <p:sp>
        <p:nvSpPr>
          <p:cNvPr id="3" name="Slide Number Placeholder 3">
            <a:extLst>
              <a:ext uri="{FF2B5EF4-FFF2-40B4-BE49-F238E27FC236}">
                <a16:creationId xmlns=""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36</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 xmlns:a16="http://schemas.microsoft.com/office/drawing/2014/main" id="{C6B0DA9E-4175-8F90-5644-7AB7D854EA46}"/>
              </a:ext>
            </a:extLst>
          </p:cNvPr>
          <p:cNvGraphicFramePr/>
          <p:nvPr>
            <p:extLst/>
          </p:nvPr>
        </p:nvGraphicFramePr>
        <p:xfrm>
          <a:off x="6248401" y="502767"/>
          <a:ext cx="5855025" cy="346741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 xmlns:a16="http://schemas.microsoft.com/office/drawing/2014/main" id="{B830FD37-0C62-DD9A-7EAB-6CFC0D17CDB3}"/>
              </a:ext>
            </a:extLst>
          </p:cNvPr>
          <p:cNvSpPr txBox="1"/>
          <p:nvPr/>
        </p:nvSpPr>
        <p:spPr>
          <a:xfrm>
            <a:off x="88573" y="3970184"/>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Từ</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ngày</a:t>
            </a:r>
            <a:r>
              <a:rPr lang="en-US" sz="1467" dirty="0">
                <a:solidFill>
                  <a:srgbClr val="ED0000"/>
                </a:solidFill>
                <a:latin typeface="Times New Roman" panose="02020603050405020304" pitchFamily="18" charset="0"/>
                <a:cs typeface="Times New Roman" panose="02020603050405020304" pitchFamily="18" charset="0"/>
              </a:rPr>
              <a:t> 04/06 – 958398. </a:t>
            </a:r>
            <a:r>
              <a:rPr lang="en-US" sz="1467" dirty="0" err="1">
                <a:solidFill>
                  <a:srgbClr val="ED0000"/>
                </a:solidFill>
                <a:latin typeface="Times New Roman" panose="02020603050405020304" pitchFamily="18" charset="0"/>
                <a:cs typeface="Times New Roman" panose="02020603050405020304" pitchFamily="18" charset="0"/>
              </a:rPr>
              <a:t>Cuối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tháng</a:t>
            </a:r>
            <a:r>
              <a:rPr lang="en-US" sz="1467">
                <a:solidFill>
                  <a:srgbClr val="ED0000"/>
                </a:solidFill>
                <a:latin typeface="Times New Roman" panose="02020603050405020304" pitchFamily="18" charset="0"/>
                <a:cs typeface="Times New Roman" panose="02020603050405020304" pitchFamily="18" charset="0"/>
              </a:rPr>
              <a:t> 6 – 956569 </a:t>
            </a:r>
            <a:r>
              <a:rPr lang="en-US" sz="1467" dirty="0">
                <a:solidFill>
                  <a:srgbClr val="ED0000"/>
                </a:solidFill>
                <a:latin typeface="Times New Roman" panose="02020603050405020304" pitchFamily="18" charset="0"/>
                <a:cs typeface="Times New Roman" panose="02020603050405020304" pitchFamily="18" charset="0"/>
              </a:rPr>
              <a:t>(</a:t>
            </a:r>
            <a:r>
              <a:rPr lang="en-US" sz="1467" dirty="0" err="1">
                <a:solidFill>
                  <a:srgbClr val="ED0000"/>
                </a:solidFill>
                <a:latin typeface="Times New Roman" panose="02020603050405020304" pitchFamily="18" charset="0"/>
                <a:cs typeface="Times New Roman" panose="02020603050405020304" pitchFamily="18" charset="0"/>
              </a:rPr>
              <a:t>đang</a:t>
            </a:r>
            <a:r>
              <a:rPr lang="en-US" sz="1467" dirty="0">
                <a:solidFill>
                  <a:srgbClr val="ED0000"/>
                </a:solidFill>
                <a:latin typeface="Times New Roman" panose="02020603050405020304" pitchFamily="18" charset="0"/>
                <a:cs typeface="Times New Roman" panose="02020603050405020304" pitchFamily="18" charset="0"/>
              </a:rPr>
              <a:t> test – </a:t>
            </a:r>
            <a:r>
              <a:rPr lang="en-US" sz="1467" dirty="0" err="1">
                <a:solidFill>
                  <a:srgbClr val="ED0000"/>
                </a:solidFill>
                <a:latin typeface="Times New Roman" panose="02020603050405020304" pitchFamily="18" charset="0"/>
                <a:cs typeface="Times New Roman" panose="02020603050405020304" pitchFamily="18" charset="0"/>
              </a:rPr>
              <a:t>có</a:t>
            </a:r>
            <a:r>
              <a:rPr lang="en-US" sz="1467" dirty="0">
                <a:solidFill>
                  <a:srgbClr val="ED0000"/>
                </a:solidFill>
                <a:latin typeface="Times New Roman" panose="02020603050405020304" pitchFamily="18" charset="0"/>
                <a:cs typeface="Times New Roman" panose="02020603050405020304" pitchFamily="18" charset="0"/>
              </a:rPr>
              <a:t> delay </a:t>
            </a:r>
            <a:r>
              <a:rPr lang="en-US" sz="1467" dirty="0" err="1">
                <a:solidFill>
                  <a:srgbClr val="ED0000"/>
                </a:solidFill>
                <a:latin typeface="Times New Roman" panose="02020603050405020304" pitchFamily="18" charset="0"/>
                <a:cs typeface="Times New Roman" panose="02020603050405020304" pitchFamily="18" charset="0"/>
              </a:rPr>
              <a:t>về</a:t>
            </a:r>
            <a:r>
              <a:rPr lang="en-US" sz="1467" dirty="0">
                <a:solidFill>
                  <a:srgbClr val="ED0000"/>
                </a:solidFill>
                <a:latin typeface="Times New Roman" panose="02020603050405020304" pitchFamily="18" charset="0"/>
                <a:cs typeface="Times New Roman" panose="02020603050405020304" pitchFamily="18" charset="0"/>
              </a:rPr>
              <a:t> test engine </a:t>
            </a:r>
            <a:r>
              <a:rPr lang="en-US" sz="1467" dirty="0" err="1">
                <a:solidFill>
                  <a:srgbClr val="ED0000"/>
                </a:solidFill>
                <a:latin typeface="Times New Roman" panose="02020603050405020304" pitchFamily="18" charset="0"/>
                <a:cs typeface="Times New Roman" panose="02020603050405020304" pitchFamily="18" charset="0"/>
              </a:rPr>
              <a:t>tại</a:t>
            </a:r>
            <a:r>
              <a:rPr lang="en-US" sz="1467" dirty="0">
                <a:solidFill>
                  <a:srgbClr val="ED0000"/>
                </a:solidFill>
                <a:latin typeface="Times New Roman" panose="02020603050405020304" pitchFamily="18" charset="0"/>
                <a:cs typeface="Times New Roman" panose="02020603050405020304" pitchFamily="18" charset="0"/>
              </a:rPr>
              <a:t> AFI – KLM, </a:t>
            </a:r>
            <a:r>
              <a:rPr lang="en-US" sz="1467" dirty="0" err="1">
                <a:solidFill>
                  <a:srgbClr val="ED0000"/>
                </a:solidFill>
                <a:latin typeface="Times New Roman" panose="02020603050405020304" pitchFamily="18" charset="0"/>
                <a:cs typeface="Times New Roman" panose="02020603050405020304" pitchFamily="18" charset="0"/>
              </a:rPr>
              <a:t>hiện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vẫn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để</a:t>
            </a:r>
            <a:r>
              <a:rPr lang="en-US" sz="1467" dirty="0">
                <a:solidFill>
                  <a:srgbClr val="ED0000"/>
                </a:solidFill>
                <a:latin typeface="Times New Roman" panose="02020603050405020304" pitchFamily="18" charset="0"/>
                <a:cs typeface="Times New Roman" panose="02020603050405020304" pitchFamily="18" charset="0"/>
              </a:rPr>
              <a:t> KH 12/06 release). </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Repetitive inspection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958435 - </a:t>
            </a:r>
            <a:r>
              <a:rPr lang="en-US" sz="1467" dirty="0" err="1">
                <a:solidFill>
                  <a:srgbClr val="FF0000"/>
                </a:solidFill>
                <a:latin typeface="Times New Roman" panose="02020603050405020304" pitchFamily="18" charset="0"/>
                <a:cs typeface="Times New Roman" panose="02020603050405020304" pitchFamily="18" charset="0"/>
              </a:rPr>
              <a:t>đã</a:t>
            </a:r>
            <a:r>
              <a:rPr lang="en-US" sz="1467" dirty="0">
                <a:solidFill>
                  <a:srgbClr val="FF0000"/>
                </a:solidFill>
                <a:latin typeface="Times New Roman" panose="02020603050405020304" pitchFamily="18" charset="0"/>
                <a:cs typeface="Times New Roman" panose="02020603050405020304" pitchFamily="18" charset="0"/>
              </a:rPr>
              <a:t> soi </a:t>
            </a:r>
            <a:r>
              <a:rPr lang="en-US" sz="1467" dirty="0" err="1">
                <a:solidFill>
                  <a:srgbClr val="FF0000"/>
                </a:solidFill>
                <a:latin typeface="Times New Roman" panose="02020603050405020304" pitchFamily="18" charset="0"/>
                <a:cs typeface="Times New Roman" panose="02020603050405020304" pitchFamily="18" charset="0"/>
              </a:rPr>
              <a:t>lại</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ngày</a:t>
            </a:r>
            <a:r>
              <a:rPr lang="en-US" sz="1467" dirty="0">
                <a:solidFill>
                  <a:srgbClr val="FF0000"/>
                </a:solidFill>
                <a:latin typeface="Times New Roman" panose="02020603050405020304" pitchFamily="18" charset="0"/>
                <a:cs typeface="Times New Roman" panose="02020603050405020304" pitchFamily="18" charset="0"/>
              </a:rPr>
              <a:t> 23/05 </a:t>
            </a:r>
            <a:r>
              <a:rPr lang="en-US" sz="1467" dirty="0" err="1">
                <a:solidFill>
                  <a:srgbClr val="FF0000"/>
                </a:solidFill>
                <a:latin typeface="Times New Roman" panose="02020603050405020304" pitchFamily="18" charset="0"/>
                <a:cs typeface="Times New Roman" panose="02020603050405020304" pitchFamily="18" charset="0"/>
              </a:rPr>
              <a:t>vẫn</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giữ</a:t>
            </a:r>
            <a:r>
              <a:rPr lang="en-US" sz="1467" dirty="0">
                <a:solidFill>
                  <a:srgbClr val="FF0000"/>
                </a:solidFill>
                <a:latin typeface="Times New Roman" panose="02020603050405020304" pitchFamily="18" charset="0"/>
                <a:cs typeface="Times New Roman" panose="02020603050405020304" pitchFamily="18" charset="0"/>
              </a:rPr>
              <a:t> 50 </a:t>
            </a:r>
            <a:r>
              <a:rPr lang="en-US" sz="1467" dirty="0" err="1">
                <a:solidFill>
                  <a:srgbClr val="FF0000"/>
                </a:solidFill>
                <a:latin typeface="Times New Roman" panose="02020603050405020304" pitchFamily="18" charset="0"/>
                <a:cs typeface="Times New Roman" panose="02020603050405020304" pitchFamily="18" charset="0"/>
              </a:rPr>
              <a:t>cyc</a:t>
            </a:r>
            <a:r>
              <a:rPr lang="en-US" sz="1467" dirty="0">
                <a:solidFill>
                  <a:srgbClr val="FF0000"/>
                </a:solidFill>
                <a:latin typeface="Times New Roman" panose="02020603050405020304" pitchFamily="18" charset="0"/>
                <a:cs typeface="Times New Roman" panose="02020603050405020304" pitchFamily="18" charset="0"/>
              </a:rPr>
              <a:t> – </a:t>
            </a:r>
            <a:r>
              <a:rPr lang="en-US" sz="1467" dirty="0" err="1">
                <a:solidFill>
                  <a:srgbClr val="FF0000"/>
                </a:solidFill>
                <a:latin typeface="Times New Roman" panose="02020603050405020304" pitchFamily="18" charset="0"/>
                <a:cs typeface="Times New Roman" panose="02020603050405020304" pitchFamily="18" charset="0"/>
              </a:rPr>
              <a:t>chờ</a:t>
            </a:r>
            <a:r>
              <a:rPr lang="en-US" sz="1467" dirty="0">
                <a:solidFill>
                  <a:srgbClr val="FF0000"/>
                </a:solidFill>
                <a:latin typeface="Times New Roman" panose="02020603050405020304" pitchFamily="18" charset="0"/>
                <a:cs typeface="Times New Roman" panose="02020603050405020304" pitchFamily="18" charset="0"/>
              </a:rPr>
              <a:t> 958398 </a:t>
            </a:r>
            <a:r>
              <a:rPr lang="en-US" sz="1467" dirty="0" err="1">
                <a:solidFill>
                  <a:srgbClr val="FF0000"/>
                </a:solidFill>
                <a:latin typeface="Times New Roman" panose="02020603050405020304" pitchFamily="18" charset="0"/>
                <a:cs typeface="Times New Roman" panose="02020603050405020304" pitchFamily="18" charset="0"/>
              </a:rPr>
              <a:t>về</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để</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thay</a:t>
            </a:r>
            <a:r>
              <a:rPr lang="en-US" sz="1467" dirty="0">
                <a:solidFill>
                  <a:srgbClr val="FF00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Remove in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or </a:t>
            </a:r>
            <a:r>
              <a:rPr lang="en-US" sz="1467" dirty="0" err="1">
                <a:solidFill>
                  <a:srgbClr val="ED0000"/>
                </a:solidFill>
                <a:latin typeface="Times New Roman" panose="02020603050405020304" pitchFamily="18" charset="0"/>
                <a:cs typeface="Times New Roman" panose="02020603050405020304" pitchFamily="18" charset="0"/>
              </a:rPr>
              <a:t>reinspect</a:t>
            </a:r>
            <a:r>
              <a:rPr lang="en-US" sz="1467" dirty="0">
                <a:solidFill>
                  <a:srgbClr val="ED0000"/>
                </a:solidFill>
                <a:latin typeface="Times New Roman" panose="02020603050405020304" pitchFamily="18" charset="0"/>
                <a:cs typeface="Times New Roman" panose="02020603050405020304" pitchFamily="18" charset="0"/>
              </a:rPr>
              <a:t>: </a:t>
            </a:r>
            <a:r>
              <a:rPr lang="vi-VN" sz="1467" dirty="0">
                <a:solidFill>
                  <a:schemeClr val="tx1"/>
                </a:solidFill>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soi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18/05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và</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việc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 2H 2025:</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02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50 cycle A873 (958435)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A863 (958170); 01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100 cycle A862 (956600) </a:t>
            </a:r>
            <a:r>
              <a:rPr lang="en-US" sz="1467" dirty="0" err="1">
                <a:solidFill>
                  <a:schemeClr val="tx1"/>
                </a:solidFill>
                <a:latin typeface="Times New Roman" panose="02020603050405020304" pitchFamily="18" charset="0"/>
                <a:cs typeface="Times New Roman" panose="02020603050405020304" pitchFamily="18" charset="0"/>
              </a:rPr>
              <a:t>đều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6, 7.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958266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trả</a:t>
            </a:r>
            <a:r>
              <a:rPr lang="en-US" sz="1467" dirty="0">
                <a:solidFill>
                  <a:schemeClr val="tx1"/>
                </a:solidFill>
                <a:latin typeface="Times New Roman" panose="02020603050405020304" pitchFamily="18" charset="0"/>
                <a:cs typeface="Times New Roman" panose="02020603050405020304" pitchFamily="18" charset="0"/>
              </a:rPr>
              <a:t> T9/2025 –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dõi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 spare. </a:t>
            </a:r>
          </a:p>
          <a:p>
            <a:pPr marL="838190" lvl="1" indent="-380990" defTabSz="1219170">
              <a:buFont typeface="Wingdings" panose="05000000000000000000" pitchFamily="2" charset="2"/>
              <a:buChar char="§"/>
              <a:defRPr/>
            </a:pPr>
            <a:endParaRPr lang="en-US" sz="1467" b="1"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 xmlns:a16="http://schemas.microsoft.com/office/drawing/2014/main" id="{66BC6617-EF33-BB90-B1C0-6DFD65C9FC16}"/>
              </a:ext>
            </a:extLst>
          </p:cNvPr>
          <p:cNvGraphicFramePr>
            <a:graphicFrameLocks noGrp="1"/>
          </p:cNvGraphicFramePr>
          <p:nvPr>
            <p:extLst/>
          </p:nvPr>
        </p:nvGraphicFramePr>
        <p:xfrm>
          <a:off x="88573" y="502766"/>
          <a:ext cx="6159828" cy="3467418"/>
        </p:xfrm>
        <a:graphic>
          <a:graphicData uri="http://schemas.openxmlformats.org/drawingml/2006/table">
            <a:tbl>
              <a:tblPr firstRow="1" bandRow="1">
                <a:tableStyleId>{7DF18680-E054-41AD-8BC1-D1AEF772440D}</a:tableStyleId>
              </a:tblPr>
              <a:tblGrid>
                <a:gridCol w="691693">
                  <a:extLst>
                    <a:ext uri="{9D8B030D-6E8A-4147-A177-3AD203B41FA5}">
                      <a16:colId xmlns="" xmlns:a16="http://schemas.microsoft.com/office/drawing/2014/main" val="1598605427"/>
                    </a:ext>
                  </a:extLst>
                </a:gridCol>
                <a:gridCol w="680554">
                  <a:extLst>
                    <a:ext uri="{9D8B030D-6E8A-4147-A177-3AD203B41FA5}">
                      <a16:colId xmlns="" xmlns:a16="http://schemas.microsoft.com/office/drawing/2014/main" val="3845954792"/>
                    </a:ext>
                  </a:extLst>
                </a:gridCol>
                <a:gridCol w="939777">
                  <a:extLst>
                    <a:ext uri="{9D8B030D-6E8A-4147-A177-3AD203B41FA5}">
                      <a16:colId xmlns="" xmlns:a16="http://schemas.microsoft.com/office/drawing/2014/main" val="3803391337"/>
                    </a:ext>
                  </a:extLst>
                </a:gridCol>
                <a:gridCol w="1665007">
                  <a:extLst>
                    <a:ext uri="{9D8B030D-6E8A-4147-A177-3AD203B41FA5}">
                      <a16:colId xmlns="" xmlns:a16="http://schemas.microsoft.com/office/drawing/2014/main" val="2148822928"/>
                    </a:ext>
                  </a:extLst>
                </a:gridCol>
                <a:gridCol w="978496">
                  <a:extLst>
                    <a:ext uri="{9D8B030D-6E8A-4147-A177-3AD203B41FA5}">
                      <a16:colId xmlns="" xmlns:a16="http://schemas.microsoft.com/office/drawing/2014/main" val="1106888684"/>
                    </a:ext>
                  </a:extLst>
                </a:gridCol>
                <a:gridCol w="1204301">
                  <a:extLst>
                    <a:ext uri="{9D8B030D-6E8A-4147-A177-3AD203B41FA5}">
                      <a16:colId xmlns="" xmlns:a16="http://schemas.microsoft.com/office/drawing/2014/main" val="558551088"/>
                    </a:ext>
                  </a:extLst>
                </a:gridCol>
              </a:tblGrid>
              <a:tr h="44303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1234812354"/>
                  </a:ext>
                </a:extLst>
              </a:tr>
              <a:tr h="211977">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2610276437"/>
                  </a:ext>
                </a:extLst>
              </a:tr>
              <a:tr h="225139">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3393248472"/>
                  </a:ext>
                </a:extLst>
              </a:tr>
              <a:tr h="217283">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25/08/2025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880068930"/>
                  </a:ext>
                </a:extLst>
              </a:tr>
              <a:tr h="410189">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19/06/2025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A863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408617102"/>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04/06/2025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168631574"/>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10/07/2025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3167051134"/>
                  </a:ext>
                </a:extLst>
              </a:tr>
              <a:tr h="247915">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2980115374"/>
                  </a:ext>
                </a:extLst>
              </a:tr>
              <a:tr h="20394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rgbClr val="D80000"/>
                          </a:solidFill>
                          <a:effectLst/>
                          <a:latin typeface="+mn-lt"/>
                          <a:cs typeface="Times New Roman" panose="02020603050405020304" pitchFamily="18" charset="0"/>
                        </a:rPr>
                        <a:t>30/08/2025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90409908"/>
                  </a:ext>
                </a:extLst>
              </a:tr>
              <a:tr h="21839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764472465"/>
                  </a:ext>
                </a:extLst>
              </a:tr>
              <a:tr h="22895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49697906"/>
                  </a:ext>
                </a:extLst>
              </a:tr>
            </a:tbl>
          </a:graphicData>
        </a:graphic>
      </p:graphicFrame>
      <p:sp>
        <p:nvSpPr>
          <p:cNvPr id="7" name="TextBox 6">
            <a:extLst>
              <a:ext uri="{FF2B5EF4-FFF2-40B4-BE49-F238E27FC236}">
                <a16:creationId xmlns=""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106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37</a:t>
            </a:fld>
            <a:endParaRPr lang="vi">
              <a:cs typeface="Times New Roman" panose="02020603050405020304" pitchFamily="18" charset="0"/>
            </a:endParaRPr>
          </a:p>
        </p:txBody>
      </p:sp>
      <p:sp>
        <p:nvSpPr>
          <p:cNvPr id="3" name="Slide Number Placeholder 3">
            <a:extLst>
              <a:ext uri="{FF2B5EF4-FFF2-40B4-BE49-F238E27FC236}">
                <a16:creationId xmlns=""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37</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9BAFF210-6A48-BE4D-D3F6-9B8EEEA5040F}"/>
              </a:ext>
            </a:extLst>
          </p:cNvPr>
          <p:cNvGraphicFramePr>
            <a:graphicFrameLocks noGrp="1"/>
          </p:cNvGraphicFramePr>
          <p:nvPr>
            <p:extLst/>
          </p:nvPr>
        </p:nvGraphicFramePr>
        <p:xfrm>
          <a:off x="151306" y="707662"/>
          <a:ext cx="5787655" cy="4200813"/>
        </p:xfrm>
        <a:graphic>
          <a:graphicData uri="http://schemas.openxmlformats.org/drawingml/2006/table">
            <a:tbl>
              <a:tblPr firstRow="1" bandRow="1">
                <a:tableStyleId>{5C22544A-7EE6-4342-B048-85BDC9FD1C3A}</a:tableStyleId>
              </a:tblPr>
              <a:tblGrid>
                <a:gridCol w="914143">
                  <a:extLst>
                    <a:ext uri="{9D8B030D-6E8A-4147-A177-3AD203B41FA5}">
                      <a16:colId xmlns="" xmlns:a16="http://schemas.microsoft.com/office/drawing/2014/main" val="1930757539"/>
                    </a:ext>
                  </a:extLst>
                </a:gridCol>
                <a:gridCol w="806458">
                  <a:extLst>
                    <a:ext uri="{9D8B030D-6E8A-4147-A177-3AD203B41FA5}">
                      <a16:colId xmlns="" xmlns:a16="http://schemas.microsoft.com/office/drawing/2014/main" val="1674463010"/>
                    </a:ext>
                  </a:extLst>
                </a:gridCol>
                <a:gridCol w="680821">
                  <a:extLst>
                    <a:ext uri="{9D8B030D-6E8A-4147-A177-3AD203B41FA5}">
                      <a16:colId xmlns="" xmlns:a16="http://schemas.microsoft.com/office/drawing/2014/main" val="1549944897"/>
                    </a:ext>
                  </a:extLst>
                </a:gridCol>
                <a:gridCol w="1333472">
                  <a:extLst>
                    <a:ext uri="{9D8B030D-6E8A-4147-A177-3AD203B41FA5}">
                      <a16:colId xmlns="" xmlns:a16="http://schemas.microsoft.com/office/drawing/2014/main" val="3687717734"/>
                    </a:ext>
                  </a:extLst>
                </a:gridCol>
                <a:gridCol w="2052761">
                  <a:extLst>
                    <a:ext uri="{9D8B030D-6E8A-4147-A177-3AD203B41FA5}">
                      <a16:colId xmlns="" xmlns:a16="http://schemas.microsoft.com/office/drawing/2014/main" val="4100307886"/>
                    </a:ext>
                  </a:extLst>
                </a:gridCol>
              </a:tblGrid>
              <a:tr h="363427">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420810">
                <a:tc>
                  <a:txBody>
                    <a:bodyPr/>
                    <a:lstStyle/>
                    <a:p>
                      <a:pPr algn="ctr" fontAlgn="ctr"/>
                      <a:r>
                        <a:rPr lang="en-GB" sz="1100" b="0" u="none" strike="noStrike">
                          <a:solidFill>
                            <a:schemeClr val="tx1"/>
                          </a:solidFill>
                          <a:effectLst/>
                        </a:rPr>
                        <a:t>21040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HAESL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15/06/2025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A886#1 </a:t>
                      </a:r>
                      <a:r>
                        <a:rPr lang="en-US" sz="1100" b="0" dirty="0">
                          <a:solidFill>
                            <a:schemeClr val="tx1"/>
                          </a:solidFill>
                        </a:rPr>
                        <a:t>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733553736"/>
                  </a:ext>
                </a:extLst>
              </a:tr>
              <a:tr h="394394">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a:solidFill>
                            <a:srgbClr val="FF0000"/>
                          </a:solidFill>
                          <a:effectLst/>
                        </a:rPr>
                        <a:t>20/06/2025</a:t>
                      </a:r>
                      <a:endParaRPr lang="en-GB" sz="1100" b="1" u="none" strike="noStrike" dirty="0">
                        <a:solidFill>
                          <a:srgbClr val="FF0000"/>
                        </a:solidFill>
                        <a:effectLst/>
                      </a:endParaRPr>
                    </a:p>
                    <a:p>
                      <a:pPr algn="ctr" fontAlgn="ctr"/>
                      <a:r>
                        <a:rPr lang="en-GB" sz="1100" b="0" u="none" strike="noStrike">
                          <a:solidFill>
                            <a:srgbClr val="FF0000"/>
                          </a:solidFill>
                          <a:effectLst/>
                        </a:rPr>
                        <a:t>(+5 ngày)</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r>
                        <a:rPr lang="en-US" sz="1100" b="0">
                          <a:solidFill>
                            <a:schemeClr val="tx1"/>
                          </a:solidFill>
                        </a:rPr>
                        <a:t>A886#2 </a:t>
                      </a:r>
                      <a:r>
                        <a:rPr lang="en-US" sz="1100" b="0" dirty="0">
                          <a:solidFill>
                            <a:schemeClr val="tx1"/>
                          </a:solidFill>
                        </a:rPr>
                        <a:t>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727372545"/>
                  </a:ext>
                </a:extLst>
              </a:tr>
              <a:tr h="363427">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A890#2 21418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829074625"/>
                  </a:ext>
                </a:extLst>
              </a:tr>
              <a:tr h="420810">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228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23/07/2025</a:t>
                      </a:r>
                    </a:p>
                    <a:p>
                      <a:pPr algn="ctr" fontAlgn="ctr"/>
                      <a:r>
                        <a:rPr lang="en-GB" sz="1100" b="0" u="none" strike="noStrike" dirty="0">
                          <a:solidFill>
                            <a:schemeClr val="tx1"/>
                          </a:solidFill>
                          <a:effectLst/>
                        </a:rPr>
                        <a:t>+42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A895#1 RTS</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3135666374"/>
                  </a:ext>
                </a:extLst>
              </a:tr>
              <a:tr h="363427">
                <a:tc>
                  <a:txBody>
                    <a:bodyPr/>
                    <a:lstStyle/>
                    <a:p>
                      <a:pPr algn="ctr" fontAlgn="ctr"/>
                      <a:r>
                        <a:rPr lang="en-GB" sz="1100" b="0" u="none" strike="noStrike">
                          <a:solidFill>
                            <a:schemeClr val="tx1"/>
                          </a:solidFill>
                          <a:effectLst/>
                        </a:rPr>
                        <a:t>21414</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27/07/2025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A895#2 RTS</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587742417"/>
                  </a:ext>
                </a:extLst>
              </a:tr>
              <a:tr h="420810">
                <a:tc>
                  <a:txBody>
                    <a:bodyPr/>
                    <a:lstStyle/>
                    <a:p>
                      <a:pPr algn="ctr" fontAlgn="ctr"/>
                      <a:r>
                        <a:rPr lang="en-GB" sz="1100" b="0" u="none" strike="noStrike">
                          <a:solidFill>
                            <a:schemeClr val="tx1"/>
                          </a:solidFill>
                          <a:effectLst/>
                        </a:rPr>
                        <a:t>21137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N3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207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29/07/2025</a:t>
                      </a:r>
                    </a:p>
                    <a:p>
                      <a:pPr algn="ctr" fontAlgn="ctr"/>
                      <a:r>
                        <a:rPr lang="en-GB" sz="1100" b="0" u="none" strike="noStrike" dirty="0">
                          <a:solidFill>
                            <a:schemeClr val="tx1"/>
                          </a:solidFill>
                          <a:effectLst/>
                        </a:rPr>
                        <a:t>+28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A898#2 21268 LPT Expire</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4034618264"/>
                  </a:ext>
                </a:extLst>
              </a:tr>
              <a:tr h="363427">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08/08/2025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A894#2 21346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4245775366"/>
                  </a:ext>
                </a:extLst>
              </a:tr>
              <a:tr h="363427">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2430177177"/>
                  </a:ext>
                </a:extLst>
              </a:tr>
              <a:tr h="363427">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2287308911"/>
                  </a:ext>
                </a:extLst>
              </a:tr>
              <a:tr h="363427">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A887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10/04/2026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3439476"/>
                  </a:ext>
                </a:extLst>
              </a:tr>
            </a:tbl>
          </a:graphicData>
        </a:graphic>
      </p:graphicFrame>
      <p:sp>
        <p:nvSpPr>
          <p:cNvPr id="7" name="TextBox 6">
            <a:extLst>
              <a:ext uri="{FF2B5EF4-FFF2-40B4-BE49-F238E27FC236}">
                <a16:creationId xmlns=""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algn="ctr" defTabSz="1219170">
              <a:defRPr/>
            </a:pPr>
            <a:r>
              <a:rPr lang="en-US" b="1">
                <a:solidFill>
                  <a:srgbClr val="002060"/>
                </a:solidFill>
                <a:latin typeface="Times New Roman" panose="02020603050405020304" pitchFamily="18" charset="0"/>
                <a:cs typeface="Times New Roman" panose="02020603050405020304" pitchFamily="18" charset="0"/>
              </a:rPr>
              <a:t>Số tàu AOG do thiếu động c</a:t>
            </a:r>
            <a:r>
              <a:rPr lang="vi-VN" b="1">
                <a:solidFill>
                  <a:srgbClr val="002060"/>
                </a:solidFill>
                <a:cs typeface="Times New Roman" panose="02020603050405020304" pitchFamily="18" charset="0"/>
              </a:rPr>
              <a:t>ơ</a:t>
            </a:r>
            <a:r>
              <a:rPr lang="en-US" b="1">
                <a:solidFill>
                  <a:srgbClr val="002060"/>
                </a:solidFill>
                <a:latin typeface="Times New Roman" panose="02020603050405020304" pitchFamily="18" charset="0"/>
                <a:cs typeface="Times New Roman" panose="02020603050405020304" pitchFamily="18" charset="0"/>
              </a:rPr>
              <a:t>*</a:t>
            </a:r>
          </a:p>
          <a:p>
            <a:pPr algn="ctr" defTabSz="1219170">
              <a:defRPr/>
            </a:pPr>
            <a:r>
              <a:rPr lang="en-US" sz="1100" i="1">
                <a:solidFill>
                  <a:srgbClr val="002060"/>
                </a:solidFill>
                <a:latin typeface="Times New Roman" panose="02020603050405020304" pitchFamily="18" charset="0"/>
                <a:cs typeface="Times New Roman" panose="02020603050405020304" pitchFamily="18" charset="0"/>
              </a:rPr>
              <a:t>*Không tính thời gian lắp + RTS + định kỳ</a:t>
            </a:r>
            <a:endParaRPr lang="en-GB" sz="1100" i="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4BCF0C24-45DA-44DA-8EDA-2C6618ED53DE}"/>
              </a:ext>
            </a:extLst>
          </p:cNvPr>
          <p:cNvGraphicFramePr>
            <a:graphicFrameLocks noGrp="1"/>
          </p:cNvGraphicFramePr>
          <p:nvPr>
            <p:extLst/>
          </p:nvPr>
        </p:nvGraphicFramePr>
        <p:xfrm>
          <a:off x="269613" y="5562355"/>
          <a:ext cx="5765457" cy="1158240"/>
        </p:xfrm>
        <a:graphic>
          <a:graphicData uri="http://schemas.openxmlformats.org/drawingml/2006/table">
            <a:tbl>
              <a:tblPr firstRow="1" bandRow="1">
                <a:tableStyleId>{93296810-A885-4BE3-A3E7-6D5BEEA58F35}</a:tableStyleId>
              </a:tblPr>
              <a:tblGrid>
                <a:gridCol w="1029611">
                  <a:extLst>
                    <a:ext uri="{9D8B030D-6E8A-4147-A177-3AD203B41FA5}">
                      <a16:colId xmlns="" xmlns:a16="http://schemas.microsoft.com/office/drawing/2014/main" val="1930757539"/>
                    </a:ext>
                  </a:extLst>
                </a:gridCol>
                <a:gridCol w="4735846">
                  <a:extLst>
                    <a:ext uri="{9D8B030D-6E8A-4147-A177-3AD203B41FA5}">
                      <a16:colId xmlns=""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A887</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latin typeface="Times New Roman" panose="02020603050405020304" pitchFamily="18" charset="0"/>
                          <a:cs typeface="Times New Roman" panose="02020603050405020304" pitchFamily="18" charset="0"/>
                        </a:rPr>
                        <a:t>Đã có đủ 2 động c</a:t>
                      </a:r>
                      <a:r>
                        <a:rPr lang="vi-VN" sz="1100">
                          <a:latin typeface="Times New Roman" panose="02020603050405020304" pitchFamily="18" charset="0"/>
                          <a:cs typeface="Times New Roman" panose="02020603050405020304" pitchFamily="18" charset="0"/>
                        </a:rPr>
                        <a:t>ơ</a:t>
                      </a:r>
                      <a:r>
                        <a:rPr lang="en-US" sz="1100">
                          <a:latin typeface="Times New Roman" panose="02020603050405020304" pitchFamily="18" charset="0"/>
                          <a:cs typeface="Times New Roman" panose="02020603050405020304" pitchFamily="18" charset="0"/>
                        </a:rPr>
                        <a:t>, đang làm RTS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2082573017"/>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Trống 2 động c</a:t>
                      </a:r>
                      <a:r>
                        <a:rPr lang="vi-VN" sz="110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3218884716"/>
                  </a:ext>
                </a:extLst>
              </a:tr>
            </a:tbl>
          </a:graphicData>
        </a:graphic>
      </p:graphicFrame>
      <p:sp>
        <p:nvSpPr>
          <p:cNvPr id="13" name="TextBox 12">
            <a:extLst>
              <a:ext uri="{FF2B5EF4-FFF2-40B4-BE49-F238E27FC236}">
                <a16:creationId xmlns="" xmlns:a16="http://schemas.microsoft.com/office/drawing/2014/main" id="{90C76007-F5F9-4B91-90BD-15B1D817EC54}"/>
              </a:ext>
            </a:extLst>
          </p:cNvPr>
          <p:cNvSpPr txBox="1"/>
          <p:nvPr/>
        </p:nvSpPr>
        <p:spPr>
          <a:xfrm>
            <a:off x="151305" y="5085711"/>
            <a:ext cx="5787655"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a:t>
            </a:r>
            <a:r>
              <a:rPr lang="en-US" b="1">
                <a:solidFill>
                  <a:srgbClr val="002060"/>
                </a:solidFill>
                <a:latin typeface="Times New Roman" panose="02020603050405020304" pitchFamily="18" charset="0"/>
                <a:cs typeface="Times New Roman" panose="02020603050405020304" pitchFamily="18" charset="0"/>
              </a:rPr>
              <a:t>(03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 xmlns:a16="http://schemas.microsoft.com/office/drawing/2014/main" id="{CCB8BC50-9C48-4077-8FF9-51F8FD309974}"/>
              </a:ext>
            </a:extLst>
          </p:cNvPr>
          <p:cNvGraphicFramePr/>
          <p:nvPr>
            <p:extLst/>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 xmlns:a16="http://schemas.microsoft.com/office/drawing/2014/main" id="{3820863C-A0D5-40A0-8221-0CDAF77AC842}"/>
              </a:ext>
            </a:extLst>
          </p:cNvPr>
          <p:cNvSpPr txBox="1"/>
          <p:nvPr/>
        </p:nvSpPr>
        <p:spPr>
          <a:xfrm>
            <a:off x="6131181" y="609600"/>
            <a:ext cx="5909513" cy="2123658"/>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về</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muộn</a:t>
            </a:r>
            <a:r>
              <a:rPr lang="en-US" sz="1200" b="1" dirty="0">
                <a:solidFill>
                  <a:srgbClr val="FF0000"/>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Hiện</a:t>
            </a:r>
            <a:r>
              <a:rPr lang="en-US" sz="1200">
                <a:solidFill>
                  <a:schemeClr val="tx1"/>
                </a:solidFill>
                <a:latin typeface="Times New Roman" panose="02020603050405020304" pitchFamily="18" charset="0"/>
                <a:cs typeface="Times New Roman" panose="02020603050405020304" pitchFamily="18" charset="0"/>
              </a:rPr>
              <a:t> 2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thiếu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đang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thêm</a:t>
            </a:r>
            <a:r>
              <a:rPr lang="en-US" sz="1200">
                <a:solidFill>
                  <a:schemeClr val="tx1"/>
                </a:solidFill>
                <a:latin typeface="Times New Roman" panose="02020603050405020304" pitchFamily="18" charset="0"/>
                <a:cs typeface="Times New Roman" panose="02020603050405020304" pitchFamily="18" charset="0"/>
              </a:rPr>
              <a:t> 4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lịch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trong T5 – </a:t>
            </a:r>
            <a:r>
              <a:rPr lang="en-US" sz="1200">
                <a:solidFill>
                  <a:schemeClr val="tx1"/>
                </a:solidFill>
                <a:latin typeface="Times New Roman" panose="02020603050405020304" pitchFamily="18" charset="0"/>
                <a:cs typeface="Times New Roman" panose="02020603050405020304" pitchFamily="18" charset="0"/>
              </a:rPr>
              <a:t>T7 (21584</a:t>
            </a:r>
            <a:r>
              <a:rPr lang="en-US" sz="1200" dirty="0">
                <a:solidFill>
                  <a:schemeClr val="tx1"/>
                </a:solidFill>
                <a:latin typeface="Times New Roman" panose="02020603050405020304" pitchFamily="18" charset="0"/>
                <a:cs typeface="Times New Roman" panose="02020603050405020304" pitchFamily="18" charset="0"/>
              </a:rPr>
              <a:t>, 21040, 21136, 21137),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extend </a:t>
            </a:r>
            <a:r>
              <a:rPr lang="en-US" sz="1200">
                <a:solidFill>
                  <a:schemeClr val="tx1"/>
                </a:solidFill>
                <a:latin typeface="Times New Roman" panose="02020603050405020304" pitchFamily="18" charset="0"/>
                <a:cs typeface="Times New Roman" panose="02020603050405020304" pitchFamily="18" charset="0"/>
              </a:rPr>
              <a:t>TAT cao. </a:t>
            </a:r>
            <a:endParaRPr lang="en-US" sz="1200" dirty="0">
              <a:solidFill>
                <a:schemeClr val="tx1"/>
              </a:solidFill>
              <a:latin typeface="Times New Roman" panose="02020603050405020304" pitchFamily="18" charset="0"/>
              <a:cs typeface="Times New Roman" panose="02020603050405020304" pitchFamily="18" charset="0"/>
            </a:endParaRPr>
          </a:p>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tháo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ngoài</a:t>
            </a:r>
            <a:r>
              <a:rPr lang="en-US" sz="1200"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200" dirty="0" err="1">
                <a:solidFill>
                  <a:schemeClr val="tx1"/>
                </a:solidFill>
                <a:latin typeface="Times New Roman" panose="02020603050405020304" pitchFamily="18" charset="0"/>
                <a:cs typeface="Times New Roman" panose="02020603050405020304" pitchFamily="18" charset="0"/>
              </a:rPr>
              <a:t>Hỏng</a:t>
            </a:r>
            <a:r>
              <a:rPr lang="en-US" sz="1200" dirty="0">
                <a:solidFill>
                  <a:schemeClr val="tx1"/>
                </a:solidFill>
                <a:latin typeface="Times New Roman" panose="02020603050405020304" pitchFamily="18" charset="0"/>
                <a:cs typeface="Times New Roman" panose="02020603050405020304" pitchFamily="18" charset="0"/>
              </a:rPr>
              <a:t> HPT Blade (A889#1 21088 100FC); </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Crack IPC (A898#2 21268 100FC, A889#1 21088 </a:t>
            </a:r>
            <a:r>
              <a:rPr lang="en-US" sz="1200" dirty="0" err="1">
                <a:solidFill>
                  <a:schemeClr val="tx1"/>
                </a:solidFill>
                <a:latin typeface="Times New Roman" panose="02020603050405020304" pitchFamily="18" charset="0"/>
                <a:cs typeface="Times New Roman" panose="02020603050405020304" pitchFamily="18" charset="0"/>
              </a:rPr>
              <a:t>đến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2300FC trong </a:t>
            </a:r>
            <a:r>
              <a:rPr lang="en-US" sz="1200" dirty="0" err="1">
                <a:solidFill>
                  <a:schemeClr val="tx1"/>
                </a:solidFill>
                <a:latin typeface="Times New Roman" panose="02020603050405020304" pitchFamily="18" charset="0"/>
                <a:cs typeface="Times New Roman" panose="02020603050405020304" pitchFamily="18" charset="0"/>
              </a:rPr>
              <a:t>cao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điểm</a:t>
            </a:r>
            <a:r>
              <a:rPr lang="en-US" sz="1200" dirty="0">
                <a:solidFill>
                  <a:schemeClr val="tx1"/>
                </a:solidFill>
                <a:latin typeface="Times New Roman" panose="02020603050405020304" pitchFamily="18" charset="0"/>
                <a:cs typeface="Times New Roman" panose="02020603050405020304" pitchFamily="18" charset="0"/>
              </a:rPr>
              <a:t>); </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Oil leak (A893#2 21369); Oil Hiding (A889#2 21034, A888#1 21052)</a:t>
            </a:r>
          </a:p>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liên</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quan</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đến</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giữ</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giờ</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a:solidFill>
                  <a:srgbClr val="FF0000"/>
                </a:solidFill>
                <a:latin typeface="Times New Roman" panose="02020603050405020304" pitchFamily="18" charset="0"/>
                <a:cs typeface="Times New Roman" panose="02020603050405020304" pitchFamily="18" charset="0"/>
              </a:rPr>
              <a:t>: </a:t>
            </a:r>
            <a:r>
              <a:rPr lang="en-US" sz="1200">
                <a:solidFill>
                  <a:schemeClr val="tx1"/>
                </a:solidFill>
                <a:latin typeface="Times New Roman" panose="02020603050405020304" pitchFamily="18" charset="0"/>
                <a:cs typeface="Times New Roman" panose="02020603050405020304" pitchFamily="18" charset="0"/>
              </a:rPr>
              <a:t>có 3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A350 cần giữ giờ để đảm bảo kế hoạch trên A890, A898 và A894. Các tàu này có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đi shop về thay trong cao điểm Hè, tuy nhiên nếu các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về muộn h</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n so với KH sẽ ảnh h</a:t>
            </a:r>
            <a:r>
              <a:rPr lang="vi-VN" sz="1200">
                <a:solidFill>
                  <a:schemeClr val="tx1"/>
                </a:solidFill>
                <a:latin typeface="Times New Roman" panose="02020603050405020304" pitchFamily="18" charset="0"/>
                <a:cs typeface="Times New Roman" panose="02020603050405020304" pitchFamily="18" charset="0"/>
              </a:rPr>
              <a:t>ư</a:t>
            </a:r>
            <a:r>
              <a:rPr lang="en-US" sz="1200">
                <a:solidFill>
                  <a:schemeClr val="tx1"/>
                </a:solidFill>
                <a:latin typeface="Times New Roman" panose="02020603050405020304" pitchFamily="18" charset="0"/>
                <a:cs typeface="Times New Roman" panose="02020603050405020304" pitchFamily="18" charset="0"/>
              </a:rPr>
              <a:t>ởng đến nguồn lực. </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389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38</a:t>
            </a:fld>
            <a:endParaRPr lang="vi"/>
          </a:p>
        </p:txBody>
      </p:sp>
      <p:sp>
        <p:nvSpPr>
          <p:cNvPr id="4" name="TextBox 3">
            <a:extLst>
              <a:ext uri="{FF2B5EF4-FFF2-40B4-BE49-F238E27FC236}">
                <a16:creationId xmlns=""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798A4453-6D37-A3D5-A532-1D65A56E72A5}"/>
              </a:ext>
            </a:extLst>
          </p:cNvPr>
          <p:cNvGraphicFramePr>
            <a:graphicFrameLocks noGrp="1"/>
          </p:cNvGraphicFramePr>
          <p:nvPr>
            <p:extLst/>
          </p:nvPr>
        </p:nvGraphicFramePr>
        <p:xfrm>
          <a:off x="5638799" y="1028139"/>
          <a:ext cx="6207275" cy="2267231"/>
        </p:xfrm>
        <a:graphic>
          <a:graphicData uri="http://schemas.openxmlformats.org/drawingml/2006/table">
            <a:tbl>
              <a:tblPr firstRow="1" bandRow="1">
                <a:tableStyleId>{93296810-A885-4BE3-A3E7-6D5BEEA58F35}</a:tableStyleId>
              </a:tblPr>
              <a:tblGrid>
                <a:gridCol w="536402">
                  <a:extLst>
                    <a:ext uri="{9D8B030D-6E8A-4147-A177-3AD203B41FA5}">
                      <a16:colId xmlns="" xmlns:a16="http://schemas.microsoft.com/office/drawing/2014/main" val="4292553957"/>
                    </a:ext>
                  </a:extLst>
                </a:gridCol>
                <a:gridCol w="835915">
                  <a:extLst>
                    <a:ext uri="{9D8B030D-6E8A-4147-A177-3AD203B41FA5}">
                      <a16:colId xmlns="" xmlns:a16="http://schemas.microsoft.com/office/drawing/2014/main" val="4057841190"/>
                    </a:ext>
                  </a:extLst>
                </a:gridCol>
                <a:gridCol w="826627">
                  <a:extLst>
                    <a:ext uri="{9D8B030D-6E8A-4147-A177-3AD203B41FA5}">
                      <a16:colId xmlns="" xmlns:a16="http://schemas.microsoft.com/office/drawing/2014/main" val="4208667331"/>
                    </a:ext>
                  </a:extLst>
                </a:gridCol>
                <a:gridCol w="1263161">
                  <a:extLst>
                    <a:ext uri="{9D8B030D-6E8A-4147-A177-3AD203B41FA5}">
                      <a16:colId xmlns="" xmlns:a16="http://schemas.microsoft.com/office/drawing/2014/main" val="4243809776"/>
                    </a:ext>
                  </a:extLst>
                </a:gridCol>
                <a:gridCol w="2745170">
                  <a:extLst>
                    <a:ext uri="{9D8B030D-6E8A-4147-A177-3AD203B41FA5}">
                      <a16:colId xmlns="" xmlns:a16="http://schemas.microsoft.com/office/drawing/2014/main" val="1351526185"/>
                    </a:ext>
                  </a:extLst>
                </a:gridCol>
              </a:tblGrid>
              <a:tr h="455001">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 xmlns:a16="http://schemas.microsoft.com/office/drawing/2014/main" val="1286781906"/>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11-12/07/2025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41498463"/>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02-03/07/2025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170234962"/>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25-27/06/2025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2137730"/>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30173039"/>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91467654"/>
                  </a:ext>
                </a:extLst>
              </a:tr>
            </a:tbl>
          </a:graphicData>
        </a:graphic>
      </p:graphicFrame>
      <p:sp>
        <p:nvSpPr>
          <p:cNvPr id="3" name="TextBox 2">
            <a:extLst>
              <a:ext uri="{FF2B5EF4-FFF2-40B4-BE49-F238E27FC236}">
                <a16:creationId xmlns="" xmlns:a16="http://schemas.microsoft.com/office/drawing/2014/main" id="{4DE6CC1A-C4DC-6FC8-06CD-779939B6893C}"/>
              </a:ext>
            </a:extLst>
          </p:cNvPr>
          <p:cNvSpPr txBox="1"/>
          <p:nvPr/>
        </p:nvSpPr>
        <p:spPr>
          <a:xfrm>
            <a:off x="1394091" y="344209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8E7616FB-C309-B068-5BA6-2EC84567F23C}"/>
              </a:ext>
            </a:extLst>
          </p:cNvPr>
          <p:cNvGraphicFramePr>
            <a:graphicFrameLocks noGrp="1"/>
          </p:cNvGraphicFramePr>
          <p:nvPr>
            <p:extLst/>
          </p:nvPr>
        </p:nvGraphicFramePr>
        <p:xfrm>
          <a:off x="113145" y="3898910"/>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 xmlns:a16="http://schemas.microsoft.com/office/drawing/2014/main" val="4292553957"/>
                    </a:ext>
                  </a:extLst>
                </a:gridCol>
                <a:gridCol w="692815">
                  <a:extLst>
                    <a:ext uri="{9D8B030D-6E8A-4147-A177-3AD203B41FA5}">
                      <a16:colId xmlns="" xmlns:a16="http://schemas.microsoft.com/office/drawing/2014/main" val="4057841190"/>
                    </a:ext>
                  </a:extLst>
                </a:gridCol>
                <a:gridCol w="685117">
                  <a:extLst>
                    <a:ext uri="{9D8B030D-6E8A-4147-A177-3AD203B41FA5}">
                      <a16:colId xmlns="" xmlns:a16="http://schemas.microsoft.com/office/drawing/2014/main" val="4208667331"/>
                    </a:ext>
                  </a:extLst>
                </a:gridCol>
                <a:gridCol w="1046921">
                  <a:extLst>
                    <a:ext uri="{9D8B030D-6E8A-4147-A177-3AD203B41FA5}">
                      <a16:colId xmlns="" xmlns:a16="http://schemas.microsoft.com/office/drawing/2014/main" val="4243809776"/>
                    </a:ext>
                  </a:extLst>
                </a:gridCol>
                <a:gridCol w="2275225">
                  <a:extLst>
                    <a:ext uri="{9D8B030D-6E8A-4147-A177-3AD203B41FA5}">
                      <a16:colId xmlns=""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950710773"/>
                  </a:ext>
                </a:extLst>
              </a:tr>
            </a:tbl>
          </a:graphicData>
        </a:graphic>
      </p:graphicFrame>
      <p:graphicFrame>
        <p:nvGraphicFramePr>
          <p:cNvPr id="13" name="Table 2">
            <a:extLst>
              <a:ext uri="{FF2B5EF4-FFF2-40B4-BE49-F238E27FC236}">
                <a16:creationId xmlns="" xmlns:a16="http://schemas.microsoft.com/office/drawing/2014/main" id="{12E9DFFC-602F-448B-A136-90CCBFC742F5}"/>
              </a:ext>
            </a:extLst>
          </p:cNvPr>
          <p:cNvGraphicFramePr>
            <a:graphicFrameLocks noGrp="1"/>
          </p:cNvGraphicFramePr>
          <p:nvPr>
            <p:extLst/>
          </p:nvPr>
        </p:nvGraphicFramePr>
        <p:xfrm>
          <a:off x="113146" y="100056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 xmlns:a16="http://schemas.microsoft.com/office/drawing/2014/main" val="1598605427"/>
                    </a:ext>
                  </a:extLst>
                </a:gridCol>
                <a:gridCol w="728215">
                  <a:extLst>
                    <a:ext uri="{9D8B030D-6E8A-4147-A177-3AD203B41FA5}">
                      <a16:colId xmlns="" xmlns:a16="http://schemas.microsoft.com/office/drawing/2014/main" val="3845954792"/>
                    </a:ext>
                  </a:extLst>
                </a:gridCol>
                <a:gridCol w="643385">
                  <a:extLst>
                    <a:ext uri="{9D8B030D-6E8A-4147-A177-3AD203B41FA5}">
                      <a16:colId xmlns="" xmlns:a16="http://schemas.microsoft.com/office/drawing/2014/main" val="2148822928"/>
                    </a:ext>
                  </a:extLst>
                </a:gridCol>
                <a:gridCol w="1042797">
                  <a:extLst>
                    <a:ext uri="{9D8B030D-6E8A-4147-A177-3AD203B41FA5}">
                      <a16:colId xmlns="" xmlns:a16="http://schemas.microsoft.com/office/drawing/2014/main" val="2136763095"/>
                    </a:ext>
                  </a:extLst>
                </a:gridCol>
                <a:gridCol w="1197778">
                  <a:extLst>
                    <a:ext uri="{9D8B030D-6E8A-4147-A177-3AD203B41FA5}">
                      <a16:colId xmlns="" xmlns:a16="http://schemas.microsoft.com/office/drawing/2014/main" val="1185879436"/>
                    </a:ext>
                  </a:extLst>
                </a:gridCol>
                <a:gridCol w="1112223">
                  <a:extLst>
                    <a:ext uri="{9D8B030D-6E8A-4147-A177-3AD203B41FA5}">
                      <a16:colId xmlns=""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25/06/2025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80655896"/>
                  </a:ext>
                </a:extLst>
              </a:tr>
            </a:tbl>
          </a:graphicData>
        </a:graphic>
      </p:graphicFrame>
      <p:graphicFrame>
        <p:nvGraphicFramePr>
          <p:cNvPr id="14" name="Chart 13">
            <a:extLst>
              <a:ext uri="{FF2B5EF4-FFF2-40B4-BE49-F238E27FC236}">
                <a16:creationId xmlns="" xmlns:a16="http://schemas.microsoft.com/office/drawing/2014/main" id="{12EC0F78-C4A2-42EE-A935-C574AFA9F1D2}"/>
              </a:ext>
            </a:extLst>
          </p:cNvPr>
          <p:cNvGraphicFramePr/>
          <p:nvPr>
            <p:extLst/>
          </p:nvPr>
        </p:nvGraphicFramePr>
        <p:xfrm>
          <a:off x="5638800" y="3878489"/>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 xmlns:a16="http://schemas.microsoft.com/office/drawing/2014/main" id="{FBF3E88B-260D-4CB0-BF3A-953A10CF3EB4}"/>
              </a:ext>
            </a:extLst>
          </p:cNvPr>
          <p:cNvSpPr txBox="1"/>
          <p:nvPr/>
        </p:nvSpPr>
        <p:spPr>
          <a:xfrm>
            <a:off x="7835599" y="3442096"/>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 xmlns:a16="http://schemas.microsoft.com/office/drawing/2014/main" id="{53283F5F-6E60-4E6E-998E-F7759A36C7D1}"/>
              </a:ext>
            </a:extLst>
          </p:cNvPr>
          <p:cNvSpPr txBox="1"/>
          <p:nvPr/>
        </p:nvSpPr>
        <p:spPr>
          <a:xfrm>
            <a:off x="104451" y="5720368"/>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a:t>
            </a:r>
            <a:r>
              <a:rPr lang="en-US" sz="1600">
                <a:solidFill>
                  <a:schemeClr val="tx1"/>
                </a:solidFill>
                <a:latin typeface="Times New Roman" panose="02020603050405020304" pitchFamily="18" charset="0"/>
                <a:cs typeface="Times New Roman" panose="02020603050405020304" pitchFamily="18" charset="0"/>
              </a:rPr>
              <a:t>. </a:t>
            </a: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Ban ĐTMS đang triển khai thủ tục gia hạn cho K6 thuê tàu B220 từ T7/2025 đến T11/2025.</a:t>
            </a: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Dự kiến cho K6 thuê khô tàu B225 từ 15/06/2025 – 25/10/2025</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5220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44E34AA5-0AD7-89EB-D556-85A4E3C161E2}"/>
              </a:ext>
            </a:extLst>
          </p:cNvPr>
          <p:cNvGraphicFramePr>
            <a:graphicFrameLocks noGrp="1"/>
          </p:cNvGraphicFramePr>
          <p:nvPr>
            <p:extLst/>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 xmlns:a16="http://schemas.microsoft.com/office/drawing/2014/main" val="1598605427"/>
                    </a:ext>
                  </a:extLst>
                </a:gridCol>
                <a:gridCol w="1692295">
                  <a:extLst>
                    <a:ext uri="{9D8B030D-6E8A-4147-A177-3AD203B41FA5}">
                      <a16:colId xmlns="" xmlns:a16="http://schemas.microsoft.com/office/drawing/2014/main" val="3845954792"/>
                    </a:ext>
                  </a:extLst>
                </a:gridCol>
                <a:gridCol w="3352017">
                  <a:extLst>
                    <a:ext uri="{9D8B030D-6E8A-4147-A177-3AD203B41FA5}">
                      <a16:colId xmlns="" xmlns:a16="http://schemas.microsoft.com/office/drawing/2014/main" val="2148822928"/>
                    </a:ext>
                  </a:extLst>
                </a:gridCol>
                <a:gridCol w="2161848">
                  <a:extLst>
                    <a:ext uri="{9D8B030D-6E8A-4147-A177-3AD203B41FA5}">
                      <a16:colId xmlns="" xmlns:a16="http://schemas.microsoft.com/office/drawing/2014/main" val="1106888684"/>
                    </a:ext>
                  </a:extLst>
                </a:gridCol>
                <a:gridCol w="2161848">
                  <a:extLst>
                    <a:ext uri="{9D8B030D-6E8A-4147-A177-3AD203B41FA5}">
                      <a16:colId xmlns="" xmlns:a16="http://schemas.microsoft.com/office/drawing/2014/main" val="571731565"/>
                    </a:ext>
                  </a:extLst>
                </a:gridCol>
              </a:tblGrid>
              <a:tr h="306563">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 xmlns:a16="http://schemas.microsoft.com/office/drawing/2014/main" val="1234812354"/>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3716492321"/>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384158595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07-Jun-25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70287386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2851702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72815812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19-Jul-25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2408124847"/>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A613</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64363488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169476563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 xmlns:a16="http://schemas.microsoft.com/office/drawing/2014/main" val="290168486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A895</a:t>
                      </a:r>
                    </a:p>
                  </a:txBody>
                  <a:tcPr marL="12700" marR="12700" marT="12700" marB="0" anchor="ctr">
                    <a:solidFill>
                      <a:schemeClr val="accent2">
                        <a:lumMod val="40000"/>
                        <a:lumOff val="60000"/>
                      </a:schemeClr>
                    </a:solidFill>
                  </a:tcPr>
                </a:tc>
                <a:extLst>
                  <a:ext uri="{0D108BD9-81ED-4DB2-BD59-A6C34878D82A}">
                    <a16:rowId xmlns="" xmlns:a16="http://schemas.microsoft.com/office/drawing/2014/main" val="282826408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 xmlns:a16="http://schemas.microsoft.com/office/drawing/2014/main" val="323718210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01-Aug-25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 xmlns:a16="http://schemas.microsoft.com/office/drawing/2014/main" val="2040546296"/>
                  </a:ext>
                </a:extLst>
              </a:tr>
            </a:tbl>
          </a:graphicData>
        </a:graphic>
      </p:graphicFrame>
      <p:sp>
        <p:nvSpPr>
          <p:cNvPr id="3" name="TextBox 2">
            <a:extLst>
              <a:ext uri="{FF2B5EF4-FFF2-40B4-BE49-F238E27FC236}">
                <a16:creationId xmlns="" xmlns:a16="http://schemas.microsoft.com/office/drawing/2014/main" id="{683815DC-3726-60C6-9F9A-C1A095C6A727}"/>
              </a:ext>
            </a:extLst>
          </p:cNvPr>
          <p:cNvSpPr txBox="1"/>
          <p:nvPr/>
        </p:nvSpPr>
        <p:spPr>
          <a:xfrm>
            <a:off x="548319" y="4394409"/>
            <a:ext cx="11567481" cy="1754326"/>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a:t>
            </a:r>
          </a:p>
          <a:p>
            <a:pPr marL="152385" defTabSz="1219170">
              <a:defRPr/>
            </a:pP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Đối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với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03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 Shop Lufthansa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báo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P-00194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hoàn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thiện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vào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16/06,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A350 BQDB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phương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457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26/05/2025 – 01/06/2025: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A396, A397, A613.</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A331, A616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Ignition), A323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Starter Motor), A606 (wash APU).</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03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A396, A397, A613.</a:t>
            </a:r>
          </a:p>
        </p:txBody>
      </p:sp>
      <p:graphicFrame>
        <p:nvGraphicFramePr>
          <p:cNvPr id="3" name="Table 2">
            <a:extLst>
              <a:ext uri="{FF2B5EF4-FFF2-40B4-BE49-F238E27FC236}">
                <a16:creationId xmlns="" xmlns:a16="http://schemas.microsoft.com/office/drawing/2014/main" id="{6684DBD8-A2D2-50A1-B1FB-698DABA16090}"/>
              </a:ext>
            </a:extLst>
          </p:cNvPr>
          <p:cNvGraphicFramePr>
            <a:graphicFrameLocks noGrp="1"/>
          </p:cNvGraphicFramePr>
          <p:nvPr>
            <p:extLst/>
          </p:nvPr>
        </p:nvGraphicFramePr>
        <p:xfrm>
          <a:off x="61186" y="1787549"/>
          <a:ext cx="12054615" cy="4841854"/>
        </p:xfrm>
        <a:graphic>
          <a:graphicData uri="http://schemas.openxmlformats.org/drawingml/2006/table">
            <a:tbl>
              <a:tblPr firstRow="1" firstCol="1" bandRow="1">
                <a:tableStyleId>{5C22544A-7EE6-4342-B048-85BDC9FD1C3A}</a:tableStyleId>
              </a:tblPr>
              <a:tblGrid>
                <a:gridCol w="635792">
                  <a:extLst>
                    <a:ext uri="{9D8B030D-6E8A-4147-A177-3AD203B41FA5}">
                      <a16:colId xmlns="" xmlns:a16="http://schemas.microsoft.com/office/drawing/2014/main" val="1827702162"/>
                    </a:ext>
                  </a:extLst>
                </a:gridCol>
                <a:gridCol w="1715656">
                  <a:extLst>
                    <a:ext uri="{9D8B030D-6E8A-4147-A177-3AD203B41FA5}">
                      <a16:colId xmlns="" xmlns:a16="http://schemas.microsoft.com/office/drawing/2014/main" val="2395768341"/>
                    </a:ext>
                  </a:extLst>
                </a:gridCol>
                <a:gridCol w="4013376">
                  <a:extLst>
                    <a:ext uri="{9D8B030D-6E8A-4147-A177-3AD203B41FA5}">
                      <a16:colId xmlns="" xmlns:a16="http://schemas.microsoft.com/office/drawing/2014/main" val="4155011410"/>
                    </a:ext>
                  </a:extLst>
                </a:gridCol>
                <a:gridCol w="5689791">
                  <a:extLst>
                    <a:ext uri="{9D8B030D-6E8A-4147-A177-3AD203B41FA5}">
                      <a16:colId xmlns="" xmlns:a16="http://schemas.microsoft.com/office/drawing/2014/main" val="1412321077"/>
                    </a:ext>
                  </a:extLst>
                </a:gridCol>
              </a:tblGrid>
              <a:tr h="32093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435328572"/>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KH 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check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định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đàm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36034225"/>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1485791511"/>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A613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31/05. 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3636160297"/>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859427382"/>
                  </a:ext>
                </a:extLst>
              </a:tr>
            </a:tbl>
          </a:graphicData>
        </a:graphic>
      </p:graphicFrame>
      <p:sp>
        <p:nvSpPr>
          <p:cNvPr id="5" name="TextBox 4">
            <a:extLst>
              <a:ext uri="{FF2B5EF4-FFF2-40B4-BE49-F238E27FC236}">
                <a16:creationId xmlns=""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42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41</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xmlns=""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smtClean="0">
                <a:solidFill>
                  <a:srgbClr val="FF0000"/>
                </a:solidFill>
                <a:cs typeface="Times New Roman" panose="02020603050405020304" pitchFamily="18" charset="0"/>
                <a:sym typeface="Wingdings" panose="05000000000000000000" pitchFamily="2" charset="2"/>
              </a:rPr>
              <a:t>A625_ </a:t>
            </a:r>
            <a:r>
              <a:rPr lang="en-US" sz="1500" b="1" dirty="0">
                <a:solidFill>
                  <a:srgbClr val="FF0000"/>
                </a:solidFill>
                <a:cs typeface="Times New Roman" panose="02020603050405020304" pitchFamily="18" charset="0"/>
                <a:sym typeface="Wingdings" panose="05000000000000000000" pitchFamily="2" charset="2"/>
              </a:rPr>
              <a:t>INSTALL </a:t>
            </a:r>
            <a:r>
              <a:rPr lang="en-US" sz="1500" b="1" dirty="0" smtClean="0">
                <a:solidFill>
                  <a:srgbClr val="FF0000"/>
                </a:solidFill>
                <a:cs typeface="Times New Roman" panose="02020603050405020304" pitchFamily="18" charset="0"/>
                <a:sym typeface="Wingdings" panose="05000000000000000000" pitchFamily="2" charset="2"/>
              </a:rPr>
              <a:t>ENG1,2+EA04-EA05+RTS_19/05-28/05</a:t>
            </a:r>
            <a:r>
              <a:rPr lang="en-US" sz="1500" b="1" dirty="0">
                <a:solidFill>
                  <a:srgbClr val="FF0000"/>
                </a:solidFill>
                <a:cs typeface="Times New Roman" panose="02020603050405020304" pitchFamily="18" charset="0"/>
                <a:sym typeface="Wingdings" panose="05000000000000000000" pitchFamily="2" charset="2"/>
              </a:rPr>
              <a:t>, ADJ </a:t>
            </a:r>
            <a:r>
              <a:rPr lang="en-US" sz="1500" b="1" dirty="0" smtClean="0">
                <a:solidFill>
                  <a:srgbClr val="FF0000"/>
                </a:solidFill>
                <a:cs typeface="Times New Roman" panose="02020603050405020304" pitchFamily="18" charset="0"/>
                <a:sym typeface="Wingdings" panose="05000000000000000000" pitchFamily="2" charset="2"/>
              </a:rPr>
              <a:t>02/06: Est 01/6</a:t>
            </a:r>
          </a:p>
          <a:p>
            <a:pPr marL="12700" indent="0" algn="just">
              <a:lnSpc>
                <a:spcPct val="100000"/>
              </a:lnSpc>
              <a:spcBef>
                <a:spcPts val="600"/>
              </a:spcBef>
              <a:buSzPts val="1100"/>
              <a:buNone/>
            </a:pPr>
            <a:r>
              <a:rPr lang="es-E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khai</a:t>
            </a:r>
            <a:r>
              <a:rPr lang="en-US" sz="1500" dirty="0" smtClean="0">
                <a:cs typeface="Times New Roman" panose="02020603050405020304" pitchFamily="18" charset="0"/>
                <a:sym typeface="Wingdings" panose="05000000000000000000" pitchFamily="2" charset="2"/>
              </a:rPr>
              <a:t> bay </a:t>
            </a:r>
            <a:r>
              <a:rPr lang="en-US" sz="1500" dirty="0" err="1" smtClean="0">
                <a:cs typeface="Times New Roman" panose="02020603050405020304" pitchFamily="18" charset="0"/>
                <a:sym typeface="Wingdings" panose="05000000000000000000" pitchFamily="2" charset="2"/>
              </a:rPr>
              <a:t>thư</a:t>
            </a:r>
            <a:r>
              <a:rPr lang="en-US" sz="1500" dirty="0" smtClean="0">
                <a:cs typeface="Times New Roman" panose="02020603050405020304" pitchFamily="18" charset="0"/>
                <a:sym typeface="Wingdings" panose="05000000000000000000" pitchFamily="2" charset="2"/>
              </a:rPr>
              <a:t>̉ 10h </a:t>
            </a:r>
            <a:r>
              <a:rPr lang="en-US" sz="1500" dirty="0" err="1" smtClean="0">
                <a:cs typeface="Times New Roman" panose="02020603050405020304" pitchFamily="18" charset="0"/>
                <a:sym typeface="Wingdings" panose="05000000000000000000" pitchFamily="2" charset="2"/>
              </a:rPr>
              <a:t>sáng</a:t>
            </a:r>
            <a:r>
              <a:rPr lang="en-US" sz="1500" dirty="0" smtClean="0">
                <a:cs typeface="Times New Roman" panose="02020603050405020304" pitchFamily="18" charset="0"/>
                <a:sym typeface="Wingdings" panose="05000000000000000000" pitchFamily="2" charset="2"/>
              </a:rPr>
              <a:t> 02/6.</a:t>
            </a:r>
          </a:p>
          <a:p>
            <a:pPr marL="12700" indent="0" algn="just">
              <a:lnSpc>
                <a:spcPct val="100000"/>
              </a:lnSpc>
              <a:spcBef>
                <a:spcPts val="600"/>
              </a:spcBef>
              <a:buSzPts val="1100"/>
              <a:buNone/>
            </a:pPr>
            <a:r>
              <a:rPr lang="es-ES" sz="1500" b="1" dirty="0" smtClean="0">
                <a:solidFill>
                  <a:srgbClr val="FF0000"/>
                </a:solidFill>
                <a:cs typeface="Times New Roman" panose="02020603050405020304" pitchFamily="18" charset="0"/>
                <a:sym typeface="Wingdings" panose="05000000000000000000" pitchFamily="2" charset="2"/>
              </a:rPr>
              <a:t>    2. </a:t>
            </a:r>
            <a:r>
              <a:rPr lang="en-US" sz="1500" b="1" dirty="0" smtClean="0">
                <a:solidFill>
                  <a:srgbClr val="FF0000"/>
                </a:solidFill>
                <a:cs typeface="Times New Roman" panose="02020603050405020304" pitchFamily="18" charset="0"/>
                <a:sym typeface="Wingdings" panose="05000000000000000000" pitchFamily="2" charset="2"/>
              </a:rPr>
              <a:t>A358_SGN_PAINTING_21/5-01/6: Ext to 04/6</a:t>
            </a:r>
          </a:p>
          <a:p>
            <a:pPr marL="12700" indent="0" algn="just">
              <a:lnSpc>
                <a:spcPct val="100000"/>
              </a:lnSpc>
              <a:spcBef>
                <a:spcPts val="600"/>
              </a:spcBef>
              <a:buSzPts val="1100"/>
              <a:buNone/>
            </a:pPr>
            <a:r>
              <a:rPr lang="en-US" sz="1500" b="1" dirty="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Check </a:t>
            </a:r>
            <a:r>
              <a:rPr lang="en-US" sz="1500" dirty="0" err="1" smtClean="0">
                <a:cs typeface="Times New Roman" panose="02020603050405020304" pitchFamily="18" charset="0"/>
                <a:sym typeface="Wingdings" panose="05000000000000000000" pitchFamily="2" charset="2"/>
              </a:rPr>
              <a:t>kéo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dài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đến</a:t>
            </a:r>
            <a:r>
              <a:rPr lang="en-US" sz="1500" dirty="0" smtClean="0">
                <a:cs typeface="Times New Roman" panose="02020603050405020304" pitchFamily="18" charset="0"/>
                <a:sym typeface="Wingdings" panose="05000000000000000000" pitchFamily="2" charset="2"/>
              </a:rPr>
              <a:t> 04/6 do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chơ</a:t>
            </a:r>
            <a:r>
              <a:rPr lang="en-US" sz="1500" dirty="0" smtClean="0">
                <a:cs typeface="Times New Roman" panose="02020603050405020304" pitchFamily="18" charset="0"/>
                <a:sym typeface="Wingdings" panose="05000000000000000000" pitchFamily="2" charset="2"/>
              </a:rPr>
              <a:t>̀ Airbus </a:t>
            </a:r>
            <a:r>
              <a:rPr lang="en-US" sz="1500" dirty="0" err="1" smtClean="0">
                <a:cs typeface="Times New Roman" panose="02020603050405020304" pitchFamily="18" charset="0"/>
                <a:sym typeface="Wingdings" panose="05000000000000000000" pitchFamily="2" charset="2"/>
              </a:rPr>
              <a:t>đánh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gia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kha</a:t>
            </a:r>
            <a:r>
              <a:rPr lang="en-US" sz="1500" dirty="0" smtClean="0">
                <a:cs typeface="Times New Roman" panose="02020603050405020304" pitchFamily="18" charset="0"/>
                <a:sym typeface="Wingdings" panose="05000000000000000000" pitchFamily="2" charset="2"/>
              </a:rPr>
              <a:t>̉ thi </a:t>
            </a:r>
            <a:r>
              <a:rPr lang="en-US" sz="1500" dirty="0" err="1" smtClean="0">
                <a:cs typeface="Times New Roman" panose="02020603050405020304" pitchFamily="18" charset="0"/>
                <a:sym typeface="Wingdings" panose="05000000000000000000" pitchFamily="2" charset="2"/>
              </a:rPr>
              <a:t>việc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tiếp</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tục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dụng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sơn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vón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cục</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s-ES" sz="1500" b="1" dirty="0">
                <a:solidFill>
                  <a:srgbClr val="FF0000"/>
                </a:solidFill>
                <a:cs typeface="Times New Roman" panose="02020603050405020304" pitchFamily="18" charset="0"/>
                <a:sym typeface="Wingdings" panose="05000000000000000000" pitchFamily="2" charset="2"/>
              </a:rPr>
              <a:t>3</a:t>
            </a:r>
            <a:r>
              <a:rPr lang="es-ES" sz="1500" b="1" dirty="0" smtClean="0">
                <a:solidFill>
                  <a:srgbClr val="FF0000"/>
                </a:solidFill>
                <a:cs typeface="Times New Roman" panose="02020603050405020304" pitchFamily="18" charset="0"/>
                <a:sym typeface="Wingdings" panose="05000000000000000000" pitchFamily="2" charset="2"/>
              </a:rPr>
              <a:t>. </a:t>
            </a:r>
            <a:r>
              <a:rPr lang="en-US" sz="1500" b="1" dirty="0">
                <a:solidFill>
                  <a:srgbClr val="FF0000"/>
                </a:solidFill>
                <a:cs typeface="Times New Roman" panose="02020603050405020304" pitchFamily="18" charset="0"/>
                <a:sym typeface="Wingdings" panose="05000000000000000000" pitchFamily="2" charset="2"/>
              </a:rPr>
              <a:t>A508_HAN_ </a:t>
            </a:r>
            <a:r>
              <a:rPr lang="en-US" sz="1500" b="1" dirty="0" smtClean="0">
                <a:solidFill>
                  <a:srgbClr val="FF0000"/>
                </a:solidFill>
                <a:cs typeface="Times New Roman" panose="02020603050405020304" pitchFamily="18" charset="0"/>
                <a:sym typeface="Wingdings" panose="05000000000000000000" pitchFamily="2" charset="2"/>
              </a:rPr>
              <a:t>ENG</a:t>
            </a:r>
            <a:r>
              <a:rPr lang="en-US" sz="1500" b="1" dirty="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1, 2CHG, C01, C03, Y01, Y06, EA22-EA02 </a:t>
            </a:r>
            <a:r>
              <a:rPr lang="en-US" sz="1500" b="1" dirty="0">
                <a:solidFill>
                  <a:srgbClr val="FF0000"/>
                </a:solidFill>
                <a:cs typeface="Times New Roman" panose="02020603050405020304" pitchFamily="18" charset="0"/>
                <a:sym typeface="Wingdings" panose="05000000000000000000" pitchFamily="2" charset="2"/>
              </a:rPr>
              <a:t>_</a:t>
            </a:r>
            <a:r>
              <a:rPr lang="en-US" sz="1500" b="1" dirty="0" smtClean="0">
                <a:solidFill>
                  <a:srgbClr val="FF0000"/>
                </a:solidFill>
                <a:cs typeface="Times New Roman" panose="02020603050405020304" pitchFamily="18" charset="0"/>
                <a:sym typeface="Wingdings" panose="05000000000000000000" pitchFamily="2" charset="2"/>
              </a:rPr>
              <a:t>21/5-28/6: </a:t>
            </a:r>
            <a:r>
              <a:rPr lang="en-US" sz="1500" b="1" dirty="0" err="1" smtClean="0">
                <a:solidFill>
                  <a:srgbClr val="FF0000"/>
                </a:solidFill>
                <a:cs typeface="Times New Roman" panose="02020603050405020304" pitchFamily="18" charset="0"/>
                <a:sym typeface="Wingdings" panose="05000000000000000000" pitchFamily="2" charset="2"/>
              </a:rPr>
              <a:t>Chơ</a:t>
            </a:r>
            <a:r>
              <a:rPr lang="en-US" sz="1500" b="1" dirty="0" smtClean="0">
                <a:solidFill>
                  <a:srgbClr val="FF0000"/>
                </a:solidFill>
                <a:cs typeface="Times New Roman" panose="02020603050405020304" pitchFamily="18" charset="0"/>
                <a:sym typeface="Wingdings" panose="05000000000000000000" pitchFamily="2" charset="2"/>
              </a:rPr>
              <a:t>̀ KH ENG</a:t>
            </a: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Hiện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chưa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xác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định</a:t>
            </a:r>
            <a:r>
              <a:rPr lang="en-US" sz="1500" dirty="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ngày</a:t>
            </a:r>
            <a:r>
              <a:rPr lang="en-US" sz="1500" dirty="0" smtClean="0">
                <a:cs typeface="Times New Roman" panose="02020603050405020304" pitchFamily="18" charset="0"/>
                <a:sym typeface="Wingdings" panose="05000000000000000000" pitchFamily="2" charset="2"/>
              </a:rPr>
              <a:t> ODD </a:t>
            </a:r>
            <a:r>
              <a:rPr lang="en-US" sz="1500" dirty="0" err="1" smtClean="0">
                <a:cs typeface="Times New Roman" panose="02020603050405020304" pitchFamily="18" charset="0"/>
                <a:sym typeface="Wingdings" panose="05000000000000000000" pitchFamily="2" charset="2"/>
              </a:rPr>
              <a:t>của</a:t>
            </a:r>
            <a:r>
              <a:rPr lang="en-US" sz="1500" dirty="0" smtClean="0">
                <a:cs typeface="Times New Roman" panose="02020603050405020304" pitchFamily="18" charset="0"/>
                <a:sym typeface="Wingdings" panose="05000000000000000000" pitchFamily="2" charset="2"/>
              </a:rPr>
              <a:t> 2 ENG </a:t>
            </a:r>
            <a:r>
              <a:rPr lang="en-US" sz="1500" dirty="0" err="1" smtClean="0">
                <a:cs typeface="Times New Roman" panose="02020603050405020304" pitchFamily="18" charset="0"/>
                <a:sym typeface="Wingdings" panose="05000000000000000000" pitchFamily="2" charset="2"/>
              </a:rPr>
              <a:t>này</a:t>
            </a: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=&gt; Đ/n QLVT </a:t>
            </a:r>
            <a:r>
              <a:rPr lang="en-US" sz="1500" dirty="0" err="1" smtClean="0">
                <a:cs typeface="Times New Roman" panose="02020603050405020304" pitchFamily="18" charset="0"/>
                <a:sym typeface="Wingdings" panose="05000000000000000000" pitchFamily="2" charset="2"/>
              </a:rPr>
              <a:t>cập</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nhật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sớm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kê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hoạch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ra</a:t>
            </a:r>
            <a:r>
              <a:rPr lang="en-US" sz="1500" dirty="0" smtClean="0">
                <a:cs typeface="Times New Roman" panose="02020603050405020304" pitchFamily="18" charset="0"/>
                <a:sym typeface="Wingdings" panose="05000000000000000000" pitchFamily="2" charset="2"/>
              </a:rPr>
              <a:t> check cụ </a:t>
            </a:r>
            <a:r>
              <a:rPr lang="en-US" sz="1500" dirty="0" err="1" smtClean="0">
                <a:cs typeface="Times New Roman" panose="02020603050405020304" pitchFamily="18" charset="0"/>
                <a:sym typeface="Wingdings" panose="05000000000000000000" pitchFamily="2" charset="2"/>
              </a:rPr>
              <a:t>thê</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s-ES" sz="1500" b="1" dirty="0" smtClean="0">
                <a:solidFill>
                  <a:srgbClr val="FF0000"/>
                </a:solidFill>
                <a:cs typeface="Times New Roman" panose="02020603050405020304" pitchFamily="18" charset="0"/>
                <a:sym typeface="Wingdings" panose="05000000000000000000" pitchFamily="2" charset="2"/>
              </a:rPr>
              <a:t>4. </a:t>
            </a:r>
            <a:r>
              <a:rPr lang="en-US" sz="1500" b="1" dirty="0">
                <a:solidFill>
                  <a:srgbClr val="FF0000"/>
                </a:solidFill>
                <a:cs typeface="Times New Roman" panose="02020603050405020304" pitchFamily="18" charset="0"/>
                <a:sym typeface="Wingdings" panose="05000000000000000000" pitchFamily="2" charset="2"/>
              </a:rPr>
              <a:t>A396_HAN_ </a:t>
            </a:r>
            <a:r>
              <a:rPr lang="en-US" sz="1500" b="1" dirty="0" smtClean="0">
                <a:solidFill>
                  <a:srgbClr val="FF0000"/>
                </a:solidFill>
                <a:cs typeface="Times New Roman" panose="02020603050405020304" pitchFamily="18" charset="0"/>
                <a:sym typeface="Wingdings" panose="05000000000000000000" pitchFamily="2" charset="2"/>
              </a:rPr>
              <a:t>Y01, ENGCHG, EA05_29/5-09/6: On sked</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ENG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Avail 6/6</a:t>
            </a:r>
          </a:p>
          <a:p>
            <a:pPr marL="12700" indent="0" algn="just">
              <a:lnSpc>
                <a:spcPct val="100000"/>
              </a:lnSpc>
              <a:spcBef>
                <a:spcPts val="600"/>
              </a:spcBef>
              <a:buSzPts val="1100"/>
              <a:buNone/>
            </a:pPr>
            <a:r>
              <a:rPr lang="en-US" sz="1500" b="1" dirty="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   </a:t>
            </a:r>
            <a:endParaRPr lang="en-US" sz="1500" dirty="0" smtClean="0">
              <a:cs typeface="Times New Roman" panose="02020603050405020304" pitchFamily="18" charset="0"/>
              <a:sym typeface="Wingdings" panose="05000000000000000000" pitchFamily="2" charset="2"/>
            </a:endParaRPr>
          </a:p>
          <a:p>
            <a:pPr marL="12700" indent="0">
              <a:lnSpc>
                <a:spcPct val="120000"/>
              </a:lnSpc>
              <a:buSzPts val="1100"/>
              <a:buNone/>
            </a:pPr>
            <a:r>
              <a:rPr lang="en-US" sz="1500" b="1" dirty="0" smtClean="0">
                <a:cs typeface="Times New Roman" panose="02020603050405020304" pitchFamily="18" charset="0"/>
              </a:rPr>
              <a:t>II. A350:</a:t>
            </a:r>
            <a:r>
              <a:rPr lang="es-ES" sz="1500" i="1" dirty="0" smtClean="0">
                <a:cs typeface="Times New Roman" panose="02020603050405020304" pitchFamily="18" charset="0"/>
                <a:sym typeface="Wingdings" panose="05000000000000000000" pitchFamily="2" charset="2"/>
              </a:rPr>
              <a:t> </a:t>
            </a:r>
          </a:p>
          <a:p>
            <a:pPr marL="12700" indent="0" algn="just">
              <a:buSzPts val="1100"/>
              <a:buNone/>
            </a:pPr>
            <a:r>
              <a:rPr lang="en-US" sz="1500" b="1" dirty="0" smtClean="0">
                <a:solidFill>
                  <a:srgbClr val="FF0000"/>
                </a:solidFill>
                <a:cs typeface="Times New Roman" panose="02020603050405020304" pitchFamily="18" charset="0"/>
                <a:sym typeface="Wingdings" panose="05000000000000000000" pitchFamily="2" charset="2"/>
              </a:rPr>
              <a:t>1. A893_HAN_ ENG CHG_01-04/06: On sked</a:t>
            </a:r>
          </a:p>
          <a:p>
            <a:pPr marL="12700" indent="0" algn="just">
              <a:buSzPts val="1100"/>
              <a:buNone/>
            </a:pPr>
            <a:r>
              <a:rPr lang="en-US" sz="1500" dirty="0" smtClean="0">
                <a:cs typeface="Times New Roman" panose="02020603050405020304" pitchFamily="18" charset="0"/>
                <a:sym typeface="Wingdings" panose="05000000000000000000" pitchFamily="2" charset="2"/>
              </a:rPr>
              <a:t>    -</a:t>
            </a:r>
            <a:endParaRPr lang="en-US" sz="1500" dirty="0">
              <a:cs typeface="Times New Roman" panose="02020603050405020304" pitchFamily="18" charset="0"/>
              <a:sym typeface="Wingdings" panose="05000000000000000000" pitchFamily="2" charset="2"/>
            </a:endParaRPr>
          </a:p>
          <a:p>
            <a:pPr marL="12700" indent="0" algn="just">
              <a:buSzPts val="1100"/>
              <a:buNone/>
            </a:pPr>
            <a:r>
              <a:rPr lang="en-US" sz="1500" b="1" dirty="0">
                <a:solidFill>
                  <a:srgbClr val="FF0000"/>
                </a:solidFill>
                <a:cs typeface="Times New Roman" panose="02020603050405020304" pitchFamily="18" charset="0"/>
                <a:sym typeface="Wingdings" panose="05000000000000000000" pitchFamily="2" charset="2"/>
              </a:rPr>
              <a:t>2. A887_HAN_ A03-A06, C01, Y03, INSTALL ENG 1,2 +RTS_25/05-10/06: </a:t>
            </a:r>
            <a:r>
              <a:rPr lang="en-US" sz="1500" b="1" dirty="0" smtClean="0">
                <a:solidFill>
                  <a:srgbClr val="FF0000"/>
                </a:solidFill>
                <a:cs typeface="Times New Roman" panose="02020603050405020304" pitchFamily="18" charset="0"/>
                <a:sym typeface="Wingdings" panose="05000000000000000000" pitchFamily="2" charset="2"/>
              </a:rPr>
              <a:t>On sked</a:t>
            </a:r>
            <a:endParaRPr lang="en-US" sz="15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a:cs typeface="Times New Roman" panose="02020603050405020304" pitchFamily="18" charset="0"/>
                <a:sym typeface="Wingdings" panose="05000000000000000000" pitchFamily="2" charset="2"/>
              </a:rPr>
              <a:t>01 ENG </a:t>
            </a:r>
            <a:r>
              <a:rPr lang="es-ES" sz="1500" dirty="0" err="1">
                <a:cs typeface="Times New Roman" panose="02020603050405020304" pitchFamily="18" charset="0"/>
                <a:sym typeface="Wingdings" panose="05000000000000000000" pitchFamily="2" charset="2"/>
              </a:rPr>
              <a:t>được</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tháo</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sửa</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tư</a:t>
            </a:r>
            <a:r>
              <a:rPr lang="es-ES" sz="1500" dirty="0">
                <a:cs typeface="Times New Roman" panose="02020603050405020304" pitchFamily="18" charset="0"/>
                <a:sym typeface="Wingdings" panose="05000000000000000000" pitchFamily="2" charset="2"/>
              </a:rPr>
              <a:t>̀ A899 và 01 ENG </a:t>
            </a:r>
            <a:r>
              <a:rPr lang="es-ES" sz="1500" dirty="0" err="1">
                <a:cs typeface="Times New Roman" panose="02020603050405020304" pitchFamily="18" charset="0"/>
                <a:sym typeface="Wingdings" panose="05000000000000000000" pitchFamily="2" charset="2"/>
              </a:rPr>
              <a:t>tháo</a:t>
            </a:r>
            <a:r>
              <a:rPr lang="es-ES" sz="1500" dirty="0">
                <a:cs typeface="Times New Roman" panose="02020603050405020304" pitchFamily="18" charset="0"/>
                <a:sym typeface="Wingdings" panose="05000000000000000000" pitchFamily="2" charset="2"/>
              </a:rPr>
              <a:t> Full </a:t>
            </a:r>
            <a:r>
              <a:rPr lang="es-ES" sz="1500" dirty="0" err="1">
                <a:cs typeface="Times New Roman" panose="02020603050405020304" pitchFamily="18" charset="0"/>
                <a:sym typeface="Wingdings" panose="05000000000000000000" pitchFamily="2" charset="2"/>
              </a:rPr>
              <a:t>tư</a:t>
            </a: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A893 (</a:t>
            </a:r>
            <a:r>
              <a:rPr lang="es-ES" sz="1500" dirty="0" err="1" smtClean="0">
                <a:cs typeface="Times New Roman" panose="02020603050405020304" pitchFamily="18" charset="0"/>
                <a:sym typeface="Wingdings" panose="05000000000000000000" pitchFamily="2" charset="2"/>
              </a:rPr>
              <a:t>Est</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avail</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tư</a:t>
            </a:r>
            <a:r>
              <a:rPr lang="es-ES" sz="1500" dirty="0" smtClean="0">
                <a:cs typeface="Times New Roman" panose="02020603050405020304" pitchFamily="18" charset="0"/>
                <a:sym typeface="Wingdings" panose="05000000000000000000" pitchFamily="2" charset="2"/>
              </a:rPr>
              <a:t>̀ 03/6),</a:t>
            </a:r>
            <a:endParaRPr lang="es-ES" sz="1500" dirty="0">
              <a:cs typeface="Times New Roman" panose="02020603050405020304" pitchFamily="18" charset="0"/>
              <a:sym typeface="Wingdings" panose="05000000000000000000" pitchFamily="2" charset="2"/>
            </a:endParaRP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a:cs typeface="Times New Roman" panose="02020603050405020304" pitchFamily="18" charset="0"/>
                <a:sym typeface="Wingdings" panose="05000000000000000000" pitchFamily="2" charset="2"/>
              </a:rPr>
              <a:t>Tàu</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cần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được</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bay</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thư</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sau</a:t>
            </a:r>
            <a:r>
              <a:rPr lang="es-ES" sz="1500" dirty="0">
                <a:cs typeface="Times New Roman" panose="02020603050405020304" pitchFamily="18" charset="0"/>
                <a:sym typeface="Wingdings" panose="05000000000000000000" pitchFamily="2" charset="2"/>
              </a:rPr>
              <a:t> RTS và </a:t>
            </a:r>
            <a:r>
              <a:rPr lang="es-ES" sz="1500" dirty="0" err="1">
                <a:cs typeface="Times New Roman" panose="02020603050405020304" pitchFamily="18" charset="0"/>
                <a:sym typeface="Wingdings" panose="05000000000000000000" pitchFamily="2" charset="2"/>
              </a:rPr>
              <a:t>gia</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hạn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CofA</a:t>
            </a:r>
            <a:r>
              <a:rPr lang="es-ES" sz="1500" dirty="0">
                <a:cs typeface="Times New Roman" panose="02020603050405020304" pitchFamily="18" charset="0"/>
                <a:sym typeface="Wingdings" panose="05000000000000000000" pitchFamily="2" charset="2"/>
              </a:rPr>
              <a:t>.</a:t>
            </a: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smtClean="0">
                <a:cs typeface="Times New Roman" panose="02020603050405020304" pitchFamily="18" charset="0"/>
                <a:sym typeface="Wingdings" panose="05000000000000000000" pitchFamily="2" charset="2"/>
              </a:rPr>
              <a:t>Cần</a:t>
            </a:r>
            <a:r>
              <a:rPr lang="es-ES" sz="1500" dirty="0" smtClean="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co</a:t>
            </a:r>
            <a:r>
              <a:rPr lang="es-ES" sz="1500" dirty="0">
                <a:cs typeface="Times New Roman" panose="02020603050405020304" pitchFamily="18" charset="0"/>
                <a:sym typeface="Wingdings" panose="05000000000000000000" pitchFamily="2" charset="2"/>
              </a:rPr>
              <a:t>́ RDAF </a:t>
            </a:r>
            <a:r>
              <a:rPr lang="es-ES" sz="1500" dirty="0" err="1">
                <a:cs typeface="Times New Roman" panose="02020603050405020304" pitchFamily="18" charset="0"/>
                <a:sym typeface="Wingdings" panose="05000000000000000000" pitchFamily="2" charset="2"/>
              </a:rPr>
              <a:t>cho</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sai</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lệch</a:t>
            </a:r>
            <a:r>
              <a:rPr lang="es-ES" sz="1500" dirty="0">
                <a:cs typeface="Times New Roman" panose="02020603050405020304" pitchFamily="18" charset="0"/>
                <a:sym typeface="Wingdings" panose="05000000000000000000" pitchFamily="2" charset="2"/>
              </a:rPr>
              <a:t> BQDB.</a:t>
            </a:r>
            <a:endParaRPr lang="en-US" sz="1500" dirty="0" smtClean="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276257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42</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xmlns="" id="{312CF2C2-6EB0-B14C-95A4-C4BAAE6ACB25}"/>
              </a:ext>
            </a:extLst>
          </p:cNvPr>
          <p:cNvSpPr txBox="1">
            <a:spLocks/>
          </p:cNvSpPr>
          <p:nvPr/>
        </p:nvSpPr>
        <p:spPr>
          <a:xfrm>
            <a:off x="838200" y="609600"/>
            <a:ext cx="10591800" cy="62484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 B787:</a:t>
            </a:r>
          </a:p>
          <a:p>
            <a:pPr marL="12700" indent="0" algn="just">
              <a:spcBef>
                <a:spcPts val="0"/>
              </a:spcBef>
              <a:buSzPts val="1100"/>
              <a:buNone/>
            </a:pPr>
            <a:r>
              <a:rPr lang="en-US" sz="1400" b="1" dirty="0" smtClean="0">
                <a:solidFill>
                  <a:srgbClr val="FF0000"/>
                </a:solidFill>
                <a:cs typeface="Times New Roman" panose="02020603050405020304" pitchFamily="18" charset="0"/>
                <a:sym typeface="Wingdings" panose="05000000000000000000" pitchFamily="2" charset="2"/>
              </a:rPr>
              <a:t> 1. A869_SGN_A06+ Y03_17/5-07/6: Phụ </a:t>
            </a:r>
            <a:r>
              <a:rPr lang="en-US" sz="1400" b="1" dirty="0" err="1" smtClean="0">
                <a:solidFill>
                  <a:srgbClr val="FF0000"/>
                </a:solidFill>
                <a:cs typeface="Times New Roman" panose="02020603050405020304" pitchFamily="18" charset="0"/>
                <a:sym typeface="Wingdings" panose="05000000000000000000" pitchFamily="2" charset="2"/>
              </a:rPr>
              <a:t>thuộc</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việc</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cung</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ứng</a:t>
            </a:r>
            <a:r>
              <a:rPr lang="en-US" sz="1400" b="1" dirty="0" smtClean="0">
                <a:solidFill>
                  <a:srgbClr val="FF0000"/>
                </a:solidFill>
                <a:cs typeface="Times New Roman" panose="02020603050405020304" pitchFamily="18" charset="0"/>
                <a:sym typeface="Wingdings" panose="05000000000000000000" pitchFamily="2" charset="2"/>
              </a:rPr>
              <a:t> Tool NDT  </a:t>
            </a:r>
            <a:r>
              <a:rPr lang="en-US" sz="1400" b="1" dirty="0" err="1" smtClean="0">
                <a:solidFill>
                  <a:srgbClr val="FF0000"/>
                </a:solidFill>
                <a:cs typeface="Times New Roman" panose="02020603050405020304" pitchFamily="18" charset="0"/>
                <a:sym typeface="Wingdings" panose="05000000000000000000" pitchFamily="2" charset="2"/>
              </a:rPr>
              <a:t>va</a:t>
            </a:r>
            <a:r>
              <a:rPr lang="en-US" sz="1400" b="1" dirty="0" smtClean="0">
                <a:solidFill>
                  <a:srgbClr val="FF0000"/>
                </a:solidFill>
                <a:cs typeface="Times New Roman" panose="02020603050405020304" pitchFamily="18" charset="0"/>
                <a:sym typeface="Wingdings" panose="05000000000000000000" pitchFamily="2" charset="2"/>
              </a:rPr>
              <a:t>̀ Primer.</a:t>
            </a:r>
          </a:p>
          <a:p>
            <a:pPr marL="298450" indent="-285750" algn="just">
              <a:lnSpc>
                <a:spcPct val="150000"/>
              </a:lnSpc>
              <a:spcBef>
                <a:spcPts val="0"/>
              </a:spcBef>
              <a:buSzPts val="1100"/>
              <a:buFontTx/>
              <a:buChar char="-"/>
            </a:pPr>
            <a:r>
              <a:rPr lang="fr-FR" sz="1400" dirty="0" smtClean="0">
                <a:cs typeface="Times New Roman" panose="02020603050405020304" pitchFamily="18" charset="0"/>
                <a:sym typeface="Wingdings" panose="05000000000000000000" pitchFamily="2" charset="2"/>
              </a:rPr>
              <a:t>02 Dents at THS = &gt; Boeing </a:t>
            </a:r>
            <a:r>
              <a:rPr lang="fr-FR" sz="1400" dirty="0" err="1" smtClean="0">
                <a:cs typeface="Times New Roman" panose="02020603050405020304" pitchFamily="18" charset="0"/>
                <a:sym typeface="Wingdings" panose="05000000000000000000" pitchFamily="2" charset="2"/>
              </a:rPr>
              <a:t>yêu</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cầu</a:t>
            </a:r>
            <a:r>
              <a:rPr lang="fr-FR" sz="1400" dirty="0" smtClean="0">
                <a:cs typeface="Times New Roman" panose="02020603050405020304" pitchFamily="18" charset="0"/>
                <a:sym typeface="Wingdings" panose="05000000000000000000" pitchFamily="2" charset="2"/>
              </a:rPr>
              <a:t> Permanent </a:t>
            </a:r>
            <a:r>
              <a:rPr lang="fr-FR" sz="1400" dirty="0" err="1" smtClean="0">
                <a:cs typeface="Times New Roman" panose="02020603050405020304" pitchFamily="18" charset="0"/>
                <a:sym typeface="Wingdings" panose="05000000000000000000" pitchFamily="2" charset="2"/>
              </a:rPr>
              <a:t>Repair</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không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defer</a:t>
            </a:r>
            <a:r>
              <a:rPr lang="fr-FR" sz="1400" dirty="0" smtClean="0">
                <a:cs typeface="Times New Roman" panose="02020603050405020304" pitchFamily="18" charset="0"/>
                <a:sym typeface="Wingdings" panose="05000000000000000000" pitchFamily="2" charset="2"/>
              </a:rPr>
              <a:t> = &gt; </a:t>
            </a:r>
            <a:r>
              <a:rPr lang="fr-FR" sz="1400" dirty="0" err="1" smtClean="0">
                <a:cs typeface="Times New Roman" panose="02020603050405020304" pitchFamily="18" charset="0"/>
                <a:sym typeface="Wingdings" panose="05000000000000000000" pitchFamily="2" charset="2"/>
              </a:rPr>
              <a:t>Đa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co</a:t>
            </a:r>
            <a:r>
              <a:rPr lang="fr-FR" sz="1400" dirty="0">
                <a:cs typeface="Times New Roman" panose="02020603050405020304" pitchFamily="18" charset="0"/>
                <a:sym typeface="Wingdings" panose="05000000000000000000" pitchFamily="2" charset="2"/>
              </a:rPr>
              <a:t>́ EO: </a:t>
            </a:r>
            <a:r>
              <a:rPr lang="fr-FR" sz="1400" dirty="0" smtClean="0">
                <a:cs typeface="Times New Roman" panose="02020603050405020304" pitchFamily="18" charset="0"/>
                <a:sym typeface="Wingdings" panose="05000000000000000000" pitchFamily="2" charset="2"/>
              </a:rPr>
              <a:t>EOD-787-55-10-0001-R00. </a:t>
            </a:r>
            <a:r>
              <a:rPr lang="fr-FR" sz="1400" dirty="0" err="1">
                <a:cs typeface="Times New Roman" panose="02020603050405020304" pitchFamily="18" charset="0"/>
                <a:sym typeface="Wingdings" panose="05000000000000000000" pitchFamily="2" charset="2"/>
              </a:rPr>
              <a:t>T</a:t>
            </a:r>
            <a:r>
              <a:rPr lang="fr-FR" sz="1400" dirty="0" err="1" smtClean="0">
                <a:cs typeface="Times New Roman" panose="02020603050405020304" pitchFamily="18" charset="0"/>
                <a:sym typeface="Wingdings" panose="05000000000000000000" pitchFamily="2" charset="2"/>
              </a:rPr>
              <a:t>hiếu</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Tool</a:t>
            </a:r>
            <a:r>
              <a:rPr lang="fr-FR" sz="1400" dirty="0" smtClean="0">
                <a:cs typeface="Times New Roman" panose="02020603050405020304" pitchFamily="18" charset="0"/>
                <a:sym typeface="Wingdings" panose="05000000000000000000" pitchFamily="2" charset="2"/>
              </a:rPr>
              <a:t> NDT, PN</a:t>
            </a:r>
            <a:r>
              <a:rPr lang="fr-FR" sz="1400" dirty="0">
                <a:cs typeface="Times New Roman" panose="02020603050405020304" pitchFamily="18" charset="0"/>
                <a:sym typeface="Wingdings" panose="05000000000000000000" pitchFamily="2" charset="2"/>
              </a:rPr>
              <a:t>: </a:t>
            </a:r>
            <a:r>
              <a:rPr lang="fr-FR" sz="1400" dirty="0" smtClean="0">
                <a:cs typeface="Times New Roman" panose="02020603050405020304" pitchFamily="18" charset="0"/>
                <a:sym typeface="Wingdings" panose="05000000000000000000" pitchFamily="2" charset="2"/>
              </a:rPr>
              <a:t>S-PR-4, Est 06/6 và Primer, PN</a:t>
            </a:r>
            <a:r>
              <a:rPr lang="fr-FR" sz="1400" dirty="0">
                <a:cs typeface="Times New Roman" panose="02020603050405020304" pitchFamily="18" charset="0"/>
                <a:sym typeface="Wingdings" panose="05000000000000000000" pitchFamily="2" charset="2"/>
              </a:rPr>
              <a:t>: PN: BMS5-89 Type II, </a:t>
            </a:r>
            <a:r>
              <a:rPr lang="fr-FR" sz="1400" dirty="0" smtClean="0">
                <a:cs typeface="Times New Roman" panose="02020603050405020304" pitchFamily="18" charset="0"/>
                <a:sym typeface="Wingdings" panose="05000000000000000000" pitchFamily="2" charset="2"/>
              </a:rPr>
              <a:t>Est: Nil. Primer </a:t>
            </a:r>
            <a:r>
              <a:rPr lang="fr-FR" sz="1400" dirty="0" err="1" smtClean="0">
                <a:cs typeface="Times New Roman" panose="02020603050405020304" pitchFamily="18" charset="0"/>
                <a:sym typeface="Wingdings" panose="05000000000000000000" pitchFamily="2" charset="2"/>
              </a:rPr>
              <a:t>này</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trước</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đặt</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nhưng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chưa</a:t>
            </a:r>
            <a:r>
              <a:rPr lang="fr-FR" sz="1400" dirty="0" smtClean="0">
                <a:cs typeface="Times New Roman" panose="02020603050405020304" pitchFamily="18" charset="0"/>
                <a:sym typeface="Wingdings" panose="05000000000000000000" pitchFamily="2" charset="2"/>
              </a:rPr>
              <a:t> mua </a:t>
            </a:r>
            <a:r>
              <a:rPr lang="fr-FR" sz="1400" dirty="0" err="1" smtClean="0">
                <a:cs typeface="Times New Roman" panose="02020603050405020304" pitchFamily="18" charset="0"/>
                <a:sym typeface="Wingdings" panose="05000000000000000000" pitchFamily="2" charset="2"/>
              </a:rPr>
              <a:t>được</a:t>
            </a:r>
            <a:r>
              <a:rPr lang="fr-FR" sz="1400" dirty="0" smtClean="0">
                <a:cs typeface="Times New Roman" panose="02020603050405020304" pitchFamily="18" charset="0"/>
                <a:sym typeface="Wingdings" panose="05000000000000000000" pitchFamily="2" charset="2"/>
              </a:rPr>
              <a:t> = &gt; Đ/n BOE </a:t>
            </a:r>
            <a:r>
              <a:rPr lang="fr-FR" sz="1400" dirty="0" err="1" smtClean="0">
                <a:cs typeface="Times New Roman" panose="02020603050405020304" pitchFamily="18" charset="0"/>
                <a:sym typeface="Wingdings" panose="05000000000000000000" pitchFamily="2" charset="2"/>
              </a:rPr>
              <a:t>hô</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trơ</a:t>
            </a:r>
            <a:r>
              <a:rPr lang="fr-FR" sz="1400" dirty="0" smtClean="0">
                <a:cs typeface="Times New Roman" panose="02020603050405020304" pitchFamily="18" charset="0"/>
                <a:sym typeface="Wingdings" panose="05000000000000000000" pitchFamily="2" charset="2"/>
              </a:rPr>
              <a:t>̣ mua </a:t>
            </a:r>
            <a:r>
              <a:rPr lang="fr-FR" sz="1400" dirty="0" err="1" smtClean="0">
                <a:cs typeface="Times New Roman" panose="02020603050405020304" pitchFamily="18" charset="0"/>
                <a:sym typeface="Wingdings" panose="05000000000000000000" pitchFamily="2" charset="2"/>
              </a:rPr>
              <a:t>hoặc</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cho</a:t>
            </a:r>
            <a:r>
              <a:rPr lang="fr-FR" sz="1400" dirty="0" smtClean="0">
                <a:cs typeface="Times New Roman" panose="02020603050405020304" pitchFamily="18" charset="0"/>
                <a:sym typeface="Wingdings" panose="05000000000000000000" pitchFamily="2" charset="2"/>
              </a:rPr>
              <a:t> p/a </a:t>
            </a:r>
            <a:r>
              <a:rPr lang="fr-FR" sz="1400" dirty="0" err="1" smtClean="0">
                <a:cs typeface="Times New Roman" panose="02020603050405020304" pitchFamily="18" charset="0"/>
                <a:sym typeface="Wingdings" panose="05000000000000000000" pitchFamily="2" charset="2"/>
              </a:rPr>
              <a:t>khác</a:t>
            </a:r>
            <a:r>
              <a:rPr lang="fr-FR" sz="1400" dirty="0" smtClean="0">
                <a:cs typeface="Times New Roman" panose="02020603050405020304" pitchFamily="18" charset="0"/>
                <a:sym typeface="Wingdings" panose="05000000000000000000" pitchFamily="2" charset="2"/>
              </a:rPr>
              <a:t>.</a:t>
            </a:r>
          </a:p>
          <a:p>
            <a:pPr marL="298450" indent="-285750" algn="just">
              <a:lnSpc>
                <a:spcPct val="150000"/>
              </a:lnSpc>
              <a:spcBef>
                <a:spcPts val="0"/>
              </a:spcBef>
              <a:buSzPts val="1100"/>
              <a:buFontTx/>
              <a:buChar char="-"/>
            </a:pPr>
            <a:r>
              <a:rPr lang="en-US" sz="1400" dirty="0">
                <a:cs typeface="Times New Roman" panose="02020603050405020304" pitchFamily="18" charset="0"/>
                <a:sym typeface="Wingdings" panose="05000000000000000000" pitchFamily="2" charset="2"/>
              </a:rPr>
              <a:t>Missing </a:t>
            </a:r>
            <a:r>
              <a:rPr lang="en-US" sz="1400" dirty="0" smtClean="0">
                <a:cs typeface="Times New Roman" panose="02020603050405020304" pitchFamily="18" charset="0"/>
                <a:sym typeface="Wingdings" panose="05000000000000000000" pitchFamily="2" charset="2"/>
              </a:rPr>
              <a:t>On </a:t>
            </a:r>
            <a:r>
              <a:rPr lang="en-US" sz="1400" dirty="0">
                <a:cs typeface="Times New Roman" panose="02020603050405020304" pitchFamily="18" charset="0"/>
                <a:sym typeface="Wingdings" panose="05000000000000000000" pitchFamily="2" charset="2"/>
              </a:rPr>
              <a:t>Rudder Lightning Protection </a:t>
            </a:r>
            <a:r>
              <a:rPr lang="en-US" sz="1400" dirty="0" smtClean="0">
                <a:cs typeface="Times New Roman" panose="02020603050405020304" pitchFamily="18" charset="0"/>
                <a:sym typeface="Wingdings" panose="05000000000000000000" pitchFamily="2" charset="2"/>
              </a:rPr>
              <a:t>Strip =&gt;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ban </a:t>
            </a:r>
            <a:r>
              <a:rPr lang="en-US" sz="1400" dirty="0" err="1" smtClean="0">
                <a:cs typeface="Times New Roman" panose="02020603050405020304" pitchFamily="18" charset="0"/>
                <a:sym typeface="Wingdings" panose="05000000000000000000" pitchFamily="2" charset="2"/>
              </a:rPr>
              <a:t>hành</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EO Permanent Repair: EOD-787-55-40-0001-R00. </a:t>
            </a:r>
            <a:r>
              <a:rPr lang="en-US" sz="1400" dirty="0" err="1" smtClean="0">
                <a:cs typeface="Times New Roman" panose="02020603050405020304" pitchFamily="18" charset="0"/>
                <a:sym typeface="Wingdings" panose="05000000000000000000" pitchFamily="2" charset="2"/>
              </a:rPr>
              <a:t>Chơ</a:t>
            </a:r>
            <a:r>
              <a:rPr lang="en-US" sz="1400" dirty="0" smtClean="0">
                <a:cs typeface="Times New Roman" panose="02020603050405020304" pitchFamily="18" charset="0"/>
                <a:sym typeface="Wingdings" panose="05000000000000000000" pitchFamily="2" charset="2"/>
              </a:rPr>
              <a:t>̀ tool NDT, </a:t>
            </a:r>
            <a:r>
              <a:rPr lang="fr-FR" sz="1400" dirty="0">
                <a:cs typeface="Times New Roman" panose="02020603050405020304" pitchFamily="18" charset="0"/>
                <a:sym typeface="Wingdings" panose="05000000000000000000" pitchFamily="2" charset="2"/>
              </a:rPr>
              <a:t>PN: </a:t>
            </a:r>
            <a:r>
              <a:rPr lang="fr-FR" sz="1400" dirty="0" smtClean="0">
                <a:cs typeface="Times New Roman" panose="02020603050405020304" pitchFamily="18" charset="0"/>
                <a:sym typeface="Wingdings" panose="05000000000000000000" pitchFamily="2" charset="2"/>
              </a:rPr>
              <a:t>S-PR-4, Est 06/6 </a:t>
            </a:r>
            <a:r>
              <a:rPr lang="fr-FR" sz="1400" dirty="0" err="1" smtClean="0">
                <a:cs typeface="Times New Roman" panose="02020603050405020304" pitchFamily="18" charset="0"/>
                <a:sym typeface="Wingdings" panose="05000000000000000000" pitchFamily="2" charset="2"/>
              </a:rPr>
              <a:t>đê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kiểm</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tra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sau</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sửa</a:t>
            </a:r>
            <a:r>
              <a:rPr lang="fr-FR" sz="1400" dirty="0" smtClean="0">
                <a:cs typeface="Times New Roman" panose="02020603050405020304" pitchFamily="18" charset="0"/>
                <a:sym typeface="Wingdings" panose="05000000000000000000" pitchFamily="2" charset="2"/>
              </a:rPr>
              <a:t>.</a:t>
            </a:r>
          </a:p>
          <a:p>
            <a:pPr marL="12700" indent="0" algn="just">
              <a:lnSpc>
                <a:spcPct val="150000"/>
              </a:lnSpc>
              <a:spcBef>
                <a:spcPts val="0"/>
              </a:spcBef>
              <a:buSzPts val="1100"/>
              <a:buNone/>
            </a:pPr>
            <a:r>
              <a:rPr lang="fr-FR" sz="1400" dirty="0" smtClean="0">
                <a:cs typeface="Times New Roman" panose="02020603050405020304" pitchFamily="18" charset="0"/>
                <a:sym typeface="Wingdings" panose="05000000000000000000" pitchFamily="2" charset="2"/>
              </a:rPr>
              <a:t> = &gt; </a:t>
            </a:r>
            <a:r>
              <a:rPr lang="fr-FR" sz="1400" dirty="0" err="1" smtClean="0">
                <a:cs typeface="Times New Roman" panose="02020603050405020304" pitchFamily="18" charset="0"/>
                <a:sym typeface="Wingdings" panose="05000000000000000000" pitchFamily="2" charset="2"/>
              </a:rPr>
              <a:t>Việc</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cung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ứng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hiện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tại</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của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Tool</a:t>
            </a:r>
            <a:r>
              <a:rPr lang="fr-FR" sz="1400" dirty="0" smtClean="0">
                <a:cs typeface="Times New Roman" panose="02020603050405020304" pitchFamily="18" charset="0"/>
                <a:sym typeface="Wingdings" panose="05000000000000000000" pitchFamily="2" charset="2"/>
              </a:rPr>
              <a:t> NDT và Primer </a:t>
            </a:r>
            <a:r>
              <a:rPr lang="fr-FR" sz="1400" dirty="0" err="1" smtClean="0">
                <a:cs typeface="Times New Roman" panose="02020603050405020304" pitchFamily="18" charset="0"/>
                <a:sym typeface="Wingdings" panose="05000000000000000000" pitchFamily="2" charset="2"/>
              </a:rPr>
              <a:t>co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thê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ảnh</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hưởng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đô</a:t>
            </a:r>
            <a:r>
              <a:rPr lang="fr-FR" sz="1400" dirty="0" smtClean="0">
                <a:cs typeface="Times New Roman" panose="02020603050405020304" pitchFamily="18" charset="0"/>
                <a:sym typeface="Wingdings" panose="05000000000000000000" pitchFamily="2" charset="2"/>
              </a:rPr>
              <a:t>̣ Check = &gt; Đ/n CƯVT VAECO </a:t>
            </a:r>
            <a:r>
              <a:rPr lang="fr-FR" sz="1400" dirty="0" err="1" smtClean="0">
                <a:cs typeface="Times New Roman" panose="02020603050405020304" pitchFamily="18" charset="0"/>
                <a:sym typeface="Wingdings" panose="05000000000000000000" pitchFamily="2" charset="2"/>
              </a:rPr>
              <a:t>triển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khai</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các</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biện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pháp</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cho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Tool</a:t>
            </a:r>
            <a:r>
              <a:rPr lang="fr-FR" sz="1400" dirty="0" smtClean="0">
                <a:cs typeface="Times New Roman" panose="02020603050405020304" pitchFamily="18" charset="0"/>
                <a:sym typeface="Wingdings" panose="05000000000000000000" pitchFamily="2" charset="2"/>
              </a:rPr>
              <a:t> và </a:t>
            </a:r>
            <a:r>
              <a:rPr lang="fr-FR" sz="1400" dirty="0" err="1" smtClean="0">
                <a:cs typeface="Times New Roman" panose="02020603050405020304" pitchFamily="18" charset="0"/>
                <a:sym typeface="Wingdings" panose="05000000000000000000" pitchFamily="2" charset="2"/>
              </a:rPr>
              <a:t>vật</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tư</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vê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nhanh</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nhất</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thê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Ngoài</a:t>
            </a:r>
            <a:r>
              <a:rPr lang="fr-FR" sz="1400" dirty="0" smtClean="0">
                <a:cs typeface="Times New Roman" panose="02020603050405020304" pitchFamily="18" charset="0"/>
                <a:sym typeface="Wingdings" panose="05000000000000000000" pitchFamily="2" charset="2"/>
              </a:rPr>
              <a:t> ra đ/n KTMB </a:t>
            </a:r>
            <a:r>
              <a:rPr lang="fr-FR" sz="1400" dirty="0" err="1" smtClean="0">
                <a:cs typeface="Times New Roman" panose="02020603050405020304" pitchFamily="18" charset="0"/>
                <a:sym typeface="Wingdings" panose="05000000000000000000" pitchFamily="2" charset="2"/>
              </a:rPr>
              <a:t>hô</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trơ</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xin</a:t>
            </a:r>
            <a:r>
              <a:rPr lang="fr-FR" sz="1400" dirty="0" smtClean="0">
                <a:cs typeface="Times New Roman" panose="02020603050405020304" pitchFamily="18" charset="0"/>
                <a:sym typeface="Wingdings" panose="05000000000000000000" pitchFamily="2" charset="2"/>
              </a:rPr>
              <a:t> BOE </a:t>
            </a:r>
            <a:r>
              <a:rPr lang="fr-FR" sz="1400" dirty="0" err="1" smtClean="0">
                <a:cs typeface="Times New Roman" panose="02020603050405020304" pitchFamily="18" charset="0"/>
                <a:sym typeface="Wingdings" panose="05000000000000000000" pitchFamily="2" charset="2"/>
              </a:rPr>
              <a:t>xin</a:t>
            </a:r>
            <a:r>
              <a:rPr lang="fr-FR" sz="1400" dirty="0" smtClean="0">
                <a:cs typeface="Times New Roman" panose="02020603050405020304" pitchFamily="18" charset="0"/>
                <a:sym typeface="Wingdings" panose="05000000000000000000" pitchFamily="2" charset="2"/>
              </a:rPr>
              <a:t> p/a </a:t>
            </a:r>
            <a:r>
              <a:rPr lang="fr-FR" sz="1400" dirty="0" err="1" smtClean="0">
                <a:cs typeface="Times New Roman" panose="02020603050405020304" pitchFamily="18" charset="0"/>
                <a:sym typeface="Wingdings" panose="05000000000000000000" pitchFamily="2" charset="2"/>
              </a:rPr>
              <a:t>khác</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vê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Vật</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tư</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hoặc</a:t>
            </a:r>
            <a:r>
              <a:rPr lang="fr-FR" sz="1400" dirty="0" smtClean="0">
                <a:cs typeface="Times New Roman" panose="02020603050405020304" pitchFamily="18" charset="0"/>
                <a:sym typeface="Wingdings" panose="05000000000000000000" pitchFamily="2" charset="2"/>
              </a:rPr>
              <a:t> p/a </a:t>
            </a:r>
            <a:r>
              <a:rPr lang="fr-FR" sz="1400" dirty="0" err="1" smtClean="0">
                <a:cs typeface="Times New Roman" panose="02020603050405020304" pitchFamily="18" charset="0"/>
                <a:sym typeface="Wingdings" panose="05000000000000000000" pitchFamily="2" charset="2"/>
              </a:rPr>
              <a:t>sửa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khác</a:t>
            </a:r>
            <a:r>
              <a:rPr lang="fr-FR" sz="1400" dirty="0">
                <a:cs typeface="Times New Roman" panose="02020603050405020304" pitchFamily="18" charset="0"/>
                <a:sym typeface="Wingdings" panose="05000000000000000000" pitchFamily="2" charset="2"/>
              </a:rPr>
              <a:t>.</a:t>
            </a:r>
            <a:endParaRPr lang="fr-FR" sz="1400" dirty="0" smtClean="0">
              <a:cs typeface="Times New Roman" panose="02020603050405020304" pitchFamily="18" charset="0"/>
              <a:sym typeface="Wingdings" panose="05000000000000000000" pitchFamily="2" charset="2"/>
            </a:endParaRPr>
          </a:p>
          <a:p>
            <a:pPr marL="12700" indent="0" algn="just">
              <a:buSzPts val="1100"/>
              <a:buNone/>
            </a:pPr>
            <a:r>
              <a:rPr lang="es-ES" sz="1400" b="1" dirty="0">
                <a:sym typeface="Wingdings" panose="05000000000000000000" pitchFamily="2" charset="2"/>
              </a:rPr>
              <a:t>IV. ATR72:</a:t>
            </a:r>
          </a:p>
          <a:p>
            <a:pPr marL="12700" indent="0" algn="just">
              <a:buSzPts val="1100"/>
              <a:buNone/>
            </a:pPr>
            <a:r>
              <a:rPr lang="en-US" sz="1400" b="1" dirty="0">
                <a:solidFill>
                  <a:srgbClr val="FF0000"/>
                </a:solidFill>
                <a:sym typeface="Wingdings" panose="05000000000000000000" pitchFamily="2" charset="2"/>
              </a:rPr>
              <a:t>1. B219_SGN_Y01, Y02, Y04, Y08, RPL LH LDG_12/05-09/06: </a:t>
            </a:r>
            <a:r>
              <a:rPr lang="en-US" sz="1400" b="1" dirty="0" smtClean="0">
                <a:solidFill>
                  <a:srgbClr val="FF0000"/>
                </a:solidFill>
                <a:sym typeface="Wingdings" panose="05000000000000000000" pitchFamily="2" charset="2"/>
              </a:rPr>
              <a:t>Est 15/6.</a:t>
            </a:r>
            <a:endParaRPr lang="en-US" sz="1400" b="1" dirty="0">
              <a:solidFill>
                <a:srgbClr val="FF0000"/>
              </a:solidFill>
              <a:sym typeface="Wingdings" panose="05000000000000000000" pitchFamily="2" charset="2"/>
            </a:endParaRPr>
          </a:p>
          <a:p>
            <a:pPr marL="12700" indent="0" algn="just">
              <a:buSzPts val="1100"/>
              <a:buNone/>
            </a:pPr>
            <a:r>
              <a:rPr lang="en-US" sz="1400" dirty="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 Dự kiến LH MLG cho B219 </a:t>
            </a:r>
            <a:r>
              <a:rPr lang="en-US" sz="1400" dirty="0" smtClean="0">
                <a:cs typeface="Times New Roman" panose="02020603050405020304" pitchFamily="18" charset="0"/>
                <a:sym typeface="Wingdings" panose="05000000000000000000" pitchFamily="2" charset="2"/>
              </a:rPr>
              <a:t>Avail </a:t>
            </a:r>
            <a:r>
              <a:rPr lang="vi-VN" sz="1400" dirty="0">
                <a:cs typeface="Times New Roman" panose="02020603050405020304" pitchFamily="18" charset="0"/>
                <a:sym typeface="Wingdings" panose="05000000000000000000" pitchFamily="2" charset="2"/>
              </a:rPr>
              <a:t>13/6.</a:t>
            </a:r>
          </a:p>
          <a:p>
            <a:pPr marL="12700" indent="0" algn="just">
              <a:buSzPts val="1100"/>
              <a:buNone/>
            </a:pPr>
            <a:r>
              <a:rPr lang="vi-VN" sz="1400" dirty="0">
                <a:cs typeface="Times New Roman" panose="02020603050405020304" pitchFamily="18" charset="0"/>
                <a:sym typeface="Wingdings" panose="05000000000000000000" pitchFamily="2" charset="2"/>
              </a:rPr>
              <a:t>  - </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Một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leadtime</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a:t>
            </a:r>
            <a:r>
              <a:rPr lang="en-US" sz="1400" dirty="0" smtClean="0">
                <a:cs typeface="Times New Roman" panose="02020603050405020304" pitchFamily="18" charset="0"/>
                <a:sym typeface="Wingdings" panose="05000000000000000000" pitchFamily="2" charset="2"/>
              </a:rPr>
              <a:t>̣.= &gt; Đ/n KTMB VAECO </a:t>
            </a:r>
            <a:r>
              <a:rPr lang="en-US" sz="1400" dirty="0" err="1" smtClean="0">
                <a:cs typeface="Times New Roman" panose="02020603050405020304" pitchFamily="18" charset="0"/>
                <a:sym typeface="Wingdings" panose="05000000000000000000" pitchFamily="2" charset="2"/>
              </a:rPr>
              <a:t>hỏi</a:t>
            </a:r>
            <a:r>
              <a:rPr lang="en-US" sz="1400" dirty="0" smtClean="0">
                <a:cs typeface="Times New Roman" panose="02020603050405020304" pitchFamily="18" charset="0"/>
                <a:sym typeface="Wingdings" panose="05000000000000000000" pitchFamily="2" charset="2"/>
              </a:rPr>
              <a:t> ATR </a:t>
            </a:r>
            <a:r>
              <a:rPr lang="en-US" sz="1400" dirty="0" err="1" smtClean="0">
                <a:cs typeface="Times New Roman" panose="02020603050405020304" pitchFamily="18" charset="0"/>
                <a:sym typeface="Wingdings" panose="05000000000000000000" pitchFamily="2" charset="2"/>
              </a:rPr>
              <a:t>phương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ly</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sớm</a:t>
            </a:r>
            <a:r>
              <a:rPr lang="en-US" sz="1400" dirty="0" smtClean="0">
                <a:cs typeface="Times New Roman" panose="02020603050405020304" pitchFamily="18" charset="0"/>
                <a:sym typeface="Wingdings" panose="05000000000000000000" pitchFamily="2" charset="2"/>
              </a:rPr>
              <a:t>.</a:t>
            </a:r>
            <a:endParaRPr lang="vi-VN" sz="1400" dirty="0">
              <a:cs typeface="Times New Roman" panose="02020603050405020304" pitchFamily="18" charset="0"/>
              <a:sym typeface="Wingdings" panose="05000000000000000000" pitchFamily="2" charset="2"/>
            </a:endParaRPr>
          </a:p>
          <a:p>
            <a:pPr marL="12700" indent="0" algn="just">
              <a:buSzPts val="1100"/>
              <a:buNone/>
            </a:pPr>
            <a:r>
              <a:rPr lang="vi-VN" sz="1400" dirty="0">
                <a:cs typeface="Times New Roman" panose="02020603050405020304" pitchFamily="18" charset="0"/>
                <a:sym typeface="Wingdings" panose="05000000000000000000" pitchFamily="2" charset="2"/>
              </a:rPr>
              <a:t>  - Tàu có nhiều hỏng hóc lớn về cấu trúc: </a:t>
            </a:r>
          </a:p>
          <a:p>
            <a:pPr marL="12700" indent="0" algn="just">
              <a:buSzPts val="1100"/>
              <a:buNone/>
            </a:pPr>
            <a:r>
              <a:rPr lang="vi-VN" sz="1400" dirty="0">
                <a:cs typeface="Times New Roman" panose="02020603050405020304" pitchFamily="18" charset="0"/>
                <a:sym typeface="Wingdings" panose="05000000000000000000" pitchFamily="2" charset="2"/>
              </a:rPr>
              <a:t>       + Node 5-DOUBLER REPLACEMENT; </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FRAME 24, 28 UPPER SEGMENT REPLACEMENT; </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FRAME 44 LOWER SEGMENT </a:t>
            </a:r>
            <a:r>
              <a:rPr lang="vi-VN" sz="1400" dirty="0" smtClean="0">
                <a:cs typeface="Times New Roman" panose="02020603050405020304" pitchFamily="18" charset="0"/>
                <a:sym typeface="Wingdings" panose="05000000000000000000" pitchFamily="2" charset="2"/>
              </a:rPr>
              <a:t>REPLACEMENT; </a:t>
            </a: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SIGN OF CORROSION AT LOWER FR 45</a:t>
            </a:r>
            <a:r>
              <a:rPr lang="en-US" sz="1400" dirty="0" smtClean="0">
                <a:cs typeface="Times New Roman" panose="02020603050405020304" pitchFamily="18" charset="0"/>
                <a:sym typeface="Wingdings" panose="05000000000000000000" pitchFamily="2" charset="2"/>
              </a:rPr>
              <a:t>,</a:t>
            </a:r>
            <a:endParaRPr lang="vi-VN" sz="1400" dirty="0" smtClean="0">
              <a:cs typeface="Times New Roman" panose="02020603050405020304" pitchFamily="18" charset="0"/>
              <a:sym typeface="Wingdings" panose="05000000000000000000" pitchFamily="2" charset="2"/>
            </a:endParaRPr>
          </a:p>
          <a:p>
            <a:pPr marL="12700" indent="0" algn="just">
              <a:buSzPts val="1100"/>
              <a:buNone/>
            </a:pP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CORROSION </a:t>
            </a:r>
            <a:r>
              <a:rPr lang="vi-VN" sz="1400" dirty="0">
                <a:cs typeface="Times New Roman" panose="02020603050405020304" pitchFamily="18" charset="0"/>
                <a:sym typeface="Wingdings" panose="05000000000000000000" pitchFamily="2" charset="2"/>
              </a:rPr>
              <a:t>FITTING BTW RIB 21 - 22 RH WING TRAILING </a:t>
            </a:r>
            <a:r>
              <a:rPr lang="vi-VN" sz="1400" dirty="0" smtClean="0">
                <a:cs typeface="Times New Roman" panose="02020603050405020304" pitchFamily="18" charset="0"/>
                <a:sym typeface="Wingdings" panose="05000000000000000000" pitchFamily="2" charset="2"/>
              </a:rPr>
              <a:t>EDGE</a:t>
            </a:r>
            <a:r>
              <a:rPr lang="en-US" sz="1400" dirty="0" smtClean="0">
                <a:cs typeface="Times New Roman" panose="02020603050405020304" pitchFamily="18" charset="0"/>
                <a:sym typeface="Wingdings" panose="05000000000000000000" pitchFamily="2" charset="2"/>
              </a:rPr>
              <a:t> =&gt;  </a:t>
            </a:r>
            <a:r>
              <a:rPr lang="en-US" sz="1400" dirty="0" err="1" smtClean="0">
                <a:cs typeface="Times New Roman" panose="02020603050405020304" pitchFamily="18" charset="0"/>
                <a:sym typeface="Wingdings" panose="05000000000000000000" pitchFamily="2" charset="2"/>
              </a:rPr>
              <a:t>Cần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thay</a:t>
            </a:r>
            <a:r>
              <a:rPr lang="en-US" sz="1400" dirty="0" smtClean="0">
                <a:cs typeface="Times New Roman" panose="02020603050405020304" pitchFamily="18" charset="0"/>
                <a:sym typeface="Wingdings" panose="05000000000000000000" pitchFamily="2" charset="2"/>
              </a:rPr>
              <a:t> Fitting = &gt; </a:t>
            </a:r>
            <a:r>
              <a:rPr lang="en-US" sz="1400" dirty="0" err="1" smtClean="0">
                <a:cs typeface="Times New Roman" panose="02020603050405020304" pitchFamily="18" charset="0"/>
                <a:sym typeface="Wingdings" panose="05000000000000000000" pitchFamily="2" charset="2"/>
              </a:rPr>
              <a:t>Chơ</a:t>
            </a:r>
            <a:r>
              <a:rPr lang="en-US" sz="1400" dirty="0" smtClean="0">
                <a:cs typeface="Times New Roman" panose="02020603050405020304" pitchFamily="18" charset="0"/>
                <a:sym typeface="Wingdings" panose="05000000000000000000" pitchFamily="2" charset="2"/>
              </a:rPr>
              <a:t>̀ ATR </a:t>
            </a:r>
            <a:r>
              <a:rPr lang="en-US" sz="1400" dirty="0" err="1" smtClean="0">
                <a:cs typeface="Times New Roman" panose="02020603050405020304" pitchFamily="18" charset="0"/>
                <a:sym typeface="Wingdings" panose="05000000000000000000" pitchFamily="2" charset="2"/>
              </a:rPr>
              <a:t>cho</a:t>
            </a:r>
            <a:r>
              <a:rPr lang="en-US" sz="1400" dirty="0" smtClean="0">
                <a:cs typeface="Times New Roman" panose="02020603050405020304" pitchFamily="18" charset="0"/>
                <a:sym typeface="Wingdings" panose="05000000000000000000" pitchFamily="2" charset="2"/>
              </a:rPr>
              <a:t> p/a </a:t>
            </a:r>
            <a:r>
              <a:rPr lang="en-US" sz="1400" dirty="0" err="1" smtClean="0">
                <a:cs typeface="Times New Roman" panose="02020603050405020304" pitchFamily="18" charset="0"/>
                <a:sym typeface="Wingdings" panose="05000000000000000000" pitchFamily="2" charset="2"/>
              </a:rPr>
              <a:t>tháo</a:t>
            </a:r>
            <a:r>
              <a:rPr lang="en-US" sz="1400" dirty="0" smtClean="0">
                <a:cs typeface="Times New Roman" panose="02020603050405020304" pitchFamily="18" charset="0"/>
                <a:sym typeface="Wingdings" panose="05000000000000000000" pitchFamily="2" charset="2"/>
              </a:rPr>
              <a:t> Outer Wing panel. Est 6/6 ATR </a:t>
            </a:r>
            <a:r>
              <a:rPr lang="en-US" sz="1400" dirty="0" err="1" smtClean="0">
                <a:cs typeface="Times New Roman" panose="02020603050405020304" pitchFamily="18" charset="0"/>
                <a:sym typeface="Wingdings" panose="05000000000000000000" pitchFamily="2" charset="2"/>
              </a:rPr>
              <a:t>phản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hồi</a:t>
            </a:r>
            <a:r>
              <a:rPr lang="en-US" sz="1400" dirty="0" smtClean="0">
                <a:cs typeface="Times New Roman" panose="02020603050405020304" pitchFamily="18" charset="0"/>
                <a:sym typeface="Wingdings" panose="05000000000000000000" pitchFamily="2" charset="2"/>
              </a:rPr>
              <a:t>.</a:t>
            </a:r>
          </a:p>
          <a:p>
            <a:pPr marL="12700" indent="0" algn="just">
              <a:buSzPts val="1100"/>
              <a:buNone/>
            </a:pPr>
            <a:r>
              <a:rPr lang="en-US" sz="1400" dirty="0">
                <a:cs typeface="Times New Roman" panose="02020603050405020304" pitchFamily="18" charset="0"/>
                <a:sym typeface="Wingdings" panose="05000000000000000000" pitchFamily="2" charset="2"/>
              </a:rPr>
              <a:t>     + CORROSION ON LWR CHORD RH </a:t>
            </a:r>
            <a:r>
              <a:rPr lang="en-US" sz="1400" dirty="0" smtClean="0">
                <a:cs typeface="Times New Roman" panose="02020603050405020304" pitchFamily="18" charset="0"/>
                <a:sym typeface="Wingdings" panose="05000000000000000000" pitchFamily="2" charset="2"/>
              </a:rPr>
              <a:t>WING =&gt; </a:t>
            </a:r>
            <a:r>
              <a:rPr lang="en-US" sz="1400" dirty="0" err="1" smtClean="0">
                <a:cs typeface="Times New Roman" panose="02020603050405020304" pitchFamily="18" charset="0"/>
                <a:sym typeface="Wingdings" panose="05000000000000000000" pitchFamily="2" charset="2"/>
              </a:rPr>
              <a:t>Chơ</a:t>
            </a:r>
            <a:r>
              <a:rPr lang="en-US" sz="1400" dirty="0" smtClean="0">
                <a:cs typeface="Times New Roman" panose="02020603050405020304" pitchFamily="18" charset="0"/>
                <a:sym typeface="Wingdings" panose="05000000000000000000" pitchFamily="2" charset="2"/>
              </a:rPr>
              <a:t>̀ ATR approve p/a Final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sửa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chữa</a:t>
            </a:r>
            <a:r>
              <a:rPr lang="en-US" sz="1400" dirty="0" smtClean="0">
                <a:cs typeface="Times New Roman" panose="02020603050405020304" pitchFamily="18" charset="0"/>
                <a:sym typeface="Wingdings" panose="05000000000000000000" pitchFamily="2" charset="2"/>
              </a:rPr>
              <a:t>.</a:t>
            </a:r>
            <a:endParaRPr lang="vi-VN" sz="1400" dirty="0">
              <a:cs typeface="Times New Roman" panose="02020603050405020304" pitchFamily="18" charset="0"/>
              <a:sym typeface="Wingdings" panose="05000000000000000000" pitchFamily="2" charset="2"/>
            </a:endParaRPr>
          </a:p>
          <a:p>
            <a:pPr marL="12700" indent="0" algn="just">
              <a:buSzPts val="1100"/>
              <a:buNone/>
            </a:pPr>
            <a:r>
              <a:rPr lang="vi-VN" sz="1400" dirty="0">
                <a:cs typeface="Times New Roman" panose="02020603050405020304" pitchFamily="18" charset="0"/>
                <a:sym typeface="Wingdings" panose="05000000000000000000" pitchFamily="2" charset="2"/>
              </a:rPr>
              <a:t> = &gt; Đ/n CƯVT VAECO push vật tư về sớm để triển khai sửa chữa tránh kéo dài sâu, đồng thời các đơn vị đánh giá, phản hồi về thời gian dự kiến sữa chữa hỏng hóc.</a:t>
            </a:r>
            <a:endParaRPr lang="x-none" sz="1400" dirty="0">
              <a:cs typeface="Times New Roman" panose="02020603050405020304" pitchFamily="18" charset="0"/>
            </a:endParaRPr>
          </a:p>
          <a:p>
            <a:pPr marL="12700" indent="0" algn="just">
              <a:lnSpc>
                <a:spcPct val="150000"/>
              </a:lnSpc>
              <a:buSzPts val="1100"/>
              <a:buNone/>
            </a:pPr>
            <a:endParaRPr lang="fr-FR" sz="1400" dirty="0" smtClean="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fr-FR" sz="14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348017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xmlns=""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xmlns="" id="{C362A37E-90E9-21B9-6C93-61F1A16B2FDB}"/>
              </a:ext>
            </a:extLst>
          </p:cNvPr>
          <p:cNvGraphicFramePr>
            <a:graphicFrameLocks noGrp="1"/>
          </p:cNvGraphicFramePr>
          <p:nvPr/>
        </p:nvGraphicFramePr>
        <p:xfrm>
          <a:off x="369436" y="1143000"/>
          <a:ext cx="11517763" cy="4343400"/>
        </p:xfrm>
        <a:graphic>
          <a:graphicData uri="http://schemas.openxmlformats.org/drawingml/2006/table">
            <a:tbl>
              <a:tblPr/>
              <a:tblGrid>
                <a:gridCol w="337612">
                  <a:extLst>
                    <a:ext uri="{9D8B030D-6E8A-4147-A177-3AD203B41FA5}">
                      <a16:colId xmlns:a16="http://schemas.microsoft.com/office/drawing/2014/main" xmlns="" val="2993793235"/>
                    </a:ext>
                  </a:extLst>
                </a:gridCol>
                <a:gridCol w="2285374">
                  <a:extLst>
                    <a:ext uri="{9D8B030D-6E8A-4147-A177-3AD203B41FA5}">
                      <a16:colId xmlns:a16="http://schemas.microsoft.com/office/drawing/2014/main" xmlns="" val="203789857"/>
                    </a:ext>
                  </a:extLst>
                </a:gridCol>
                <a:gridCol w="584329">
                  <a:extLst>
                    <a:ext uri="{9D8B030D-6E8A-4147-A177-3AD203B41FA5}">
                      <a16:colId xmlns:a16="http://schemas.microsoft.com/office/drawing/2014/main" xmlns="" val="1329796524"/>
                    </a:ext>
                  </a:extLst>
                </a:gridCol>
                <a:gridCol w="519403">
                  <a:extLst>
                    <a:ext uri="{9D8B030D-6E8A-4147-A177-3AD203B41FA5}">
                      <a16:colId xmlns:a16="http://schemas.microsoft.com/office/drawing/2014/main" xmlns="" val="211155496"/>
                    </a:ext>
                  </a:extLst>
                </a:gridCol>
                <a:gridCol w="493432">
                  <a:extLst>
                    <a:ext uri="{9D8B030D-6E8A-4147-A177-3AD203B41FA5}">
                      <a16:colId xmlns:a16="http://schemas.microsoft.com/office/drawing/2014/main" xmlns="" val="2125035804"/>
                    </a:ext>
                  </a:extLst>
                </a:gridCol>
                <a:gridCol w="532388">
                  <a:extLst>
                    <a:ext uri="{9D8B030D-6E8A-4147-A177-3AD203B41FA5}">
                      <a16:colId xmlns:a16="http://schemas.microsoft.com/office/drawing/2014/main" xmlns="" val="3824387934"/>
                    </a:ext>
                  </a:extLst>
                </a:gridCol>
                <a:gridCol w="519403">
                  <a:extLst>
                    <a:ext uri="{9D8B030D-6E8A-4147-A177-3AD203B41FA5}">
                      <a16:colId xmlns:a16="http://schemas.microsoft.com/office/drawing/2014/main" xmlns="" val="520841072"/>
                    </a:ext>
                  </a:extLst>
                </a:gridCol>
                <a:gridCol w="532388">
                  <a:extLst>
                    <a:ext uri="{9D8B030D-6E8A-4147-A177-3AD203B41FA5}">
                      <a16:colId xmlns:a16="http://schemas.microsoft.com/office/drawing/2014/main" xmlns="" val="2726171524"/>
                    </a:ext>
                  </a:extLst>
                </a:gridCol>
                <a:gridCol w="532388">
                  <a:extLst>
                    <a:ext uri="{9D8B030D-6E8A-4147-A177-3AD203B41FA5}">
                      <a16:colId xmlns:a16="http://schemas.microsoft.com/office/drawing/2014/main" xmlns="" val="2397339520"/>
                    </a:ext>
                  </a:extLst>
                </a:gridCol>
                <a:gridCol w="532388">
                  <a:extLst>
                    <a:ext uri="{9D8B030D-6E8A-4147-A177-3AD203B41FA5}">
                      <a16:colId xmlns:a16="http://schemas.microsoft.com/office/drawing/2014/main" xmlns="" val="2868339263"/>
                    </a:ext>
                  </a:extLst>
                </a:gridCol>
                <a:gridCol w="4648658">
                  <a:extLst>
                    <a:ext uri="{9D8B030D-6E8A-4147-A177-3AD203B41FA5}">
                      <a16:colId xmlns:a16="http://schemas.microsoft.com/office/drawing/2014/main" xmlns="" val="2102207617"/>
                    </a:ext>
                  </a:extLst>
                </a:gridCol>
              </a:tblGrid>
              <a:tr h="487325">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01/06)</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223579083"/>
                  </a:ext>
                </a:extLst>
              </a:tr>
              <a:tr h="590697">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May-25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2151131629"/>
                  </a:ext>
                </a:extLst>
              </a:tr>
              <a:tr h="1207978">
                <a:tc>
                  <a:txBody>
                    <a:bodyPr/>
                    <a:lstStyle/>
                    <a:p>
                      <a:pPr algn="ctr" fontAlgn="ctr"/>
                      <a:r>
                        <a:rPr lang="en-US" sz="1200" b="1" i="0" u="none" strike="noStrike">
                          <a:solidFill>
                            <a:srgbClr val="000000"/>
                          </a:solidFill>
                          <a:effectLst/>
                          <a:latin typeface="Times New Roman" panose="02020603050405020304" pitchFamily="18" charset="0"/>
                        </a:rPr>
                        <a:t>1</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10.25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chemeClr val="tx1"/>
                          </a:solidFill>
                          <a:effectLst/>
                          <a:latin typeface="Times New Roman" panose="02020603050405020304" pitchFamily="18" charset="0"/>
                        </a:rPr>
                        <a:t>- 07/2025: </a:t>
                      </a:r>
                      <a:r>
                        <a:rPr lang="en-US" sz="1200" b="0" i="0" u="none" strike="noStrike" dirty="0" err="1">
                          <a:solidFill>
                            <a:schemeClr val="tx1"/>
                          </a:solidFill>
                          <a:effectLst/>
                          <a:latin typeface="Times New Roman" panose="02020603050405020304" pitchFamily="18" charset="0"/>
                        </a:rPr>
                        <a:t>tăng</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thêm</a:t>
                      </a:r>
                      <a:r>
                        <a:rPr lang="en-US" sz="1200" b="0" i="0" u="none" strike="noStrike" dirty="0">
                          <a:solidFill>
                            <a:schemeClr val="tx1"/>
                          </a:solidFill>
                          <a:effectLst/>
                          <a:latin typeface="Times New Roman" panose="02020603050405020304" pitchFamily="18" charset="0"/>
                        </a:rPr>
                        <a:t> 1 </a:t>
                      </a:r>
                      <a:r>
                        <a:rPr lang="en-US" sz="1200" b="0" i="0" u="none" strike="noStrike" dirty="0" err="1">
                          <a:solidFill>
                            <a:schemeClr val="tx1"/>
                          </a:solidFill>
                          <a:effectLst/>
                          <a:latin typeface="Times New Roman" panose="02020603050405020304" pitchFamily="18" charset="0"/>
                        </a:rPr>
                        <a:t>tàu</a:t>
                      </a:r>
                      <a:r>
                        <a:rPr lang="en-US" sz="1200" b="0" i="0" u="none" strike="noStrike" dirty="0">
                          <a:solidFill>
                            <a:schemeClr val="tx1"/>
                          </a:solidFill>
                          <a:effectLst/>
                          <a:latin typeface="Times New Roman" panose="02020603050405020304" pitchFamily="18" charset="0"/>
                        </a:rPr>
                        <a:t> do </a:t>
                      </a:r>
                      <a:r>
                        <a:rPr lang="en-US" sz="1200" b="0" i="0" u="none" strike="noStrike" dirty="0" err="1">
                          <a:solidFill>
                            <a:schemeClr val="tx1"/>
                          </a:solidFill>
                          <a:effectLst/>
                          <a:latin typeface="Times New Roman" panose="02020603050405020304" pitchFamily="18" charset="0"/>
                        </a:rPr>
                        <a:t>thuê</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thêm</a:t>
                      </a:r>
                      <a:r>
                        <a:rPr lang="en-US" sz="1200" b="0" i="0" u="none" strike="noStrike" dirty="0">
                          <a:solidFill>
                            <a:schemeClr val="tx1"/>
                          </a:solidFill>
                          <a:effectLst/>
                          <a:latin typeface="Times New Roman" panose="02020603050405020304" pitchFamily="18" charset="0"/>
                        </a:rPr>
                        <a:t> 2 ENG </a:t>
                      </a:r>
                      <a:r>
                        <a:rPr lang="en-US" sz="1200" b="0" i="0" u="none" strike="noStrike" dirty="0" err="1">
                          <a:solidFill>
                            <a:schemeClr val="tx1"/>
                          </a:solidFill>
                          <a:effectLst/>
                          <a:latin typeface="Times New Roman" panose="02020603050405020304" pitchFamily="18" charset="0"/>
                        </a:rPr>
                        <a:t>dự</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kiến</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về</a:t>
                      </a:r>
                      <a:r>
                        <a:rPr lang="en-US" sz="1200" b="0" i="0" u="none" strike="noStrike" dirty="0">
                          <a:solidFill>
                            <a:schemeClr val="tx1"/>
                          </a:solidFill>
                          <a:effectLst/>
                          <a:latin typeface="Times New Roman" panose="02020603050405020304" pitchFamily="18" charset="0"/>
                        </a:rPr>
                        <a:t> 20/06 .</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- 08-11/2025: </a:t>
                      </a:r>
                      <a:r>
                        <a:rPr lang="en-US" sz="1200" b="0" i="0" u="none" strike="noStrike" dirty="0" err="1">
                          <a:solidFill>
                            <a:schemeClr val="tx1"/>
                          </a:solidFill>
                          <a:effectLst/>
                          <a:latin typeface="Times New Roman" panose="02020603050405020304" pitchFamily="18" charset="0"/>
                        </a:rPr>
                        <a:t>giảm</a:t>
                      </a:r>
                      <a:r>
                        <a:rPr lang="en-US" sz="1200" b="0" i="0" u="none" strike="noStrike" dirty="0">
                          <a:solidFill>
                            <a:schemeClr val="tx1"/>
                          </a:solidFill>
                          <a:effectLst/>
                          <a:latin typeface="Times New Roman" panose="02020603050405020304" pitchFamily="18" charset="0"/>
                        </a:rPr>
                        <a:t> 1-1.5 </a:t>
                      </a:r>
                      <a:r>
                        <a:rPr lang="en-US" sz="1200" b="0" i="0" u="none" strike="noStrike" dirty="0" err="1">
                          <a:solidFill>
                            <a:schemeClr val="tx1"/>
                          </a:solidFill>
                          <a:effectLst/>
                          <a:latin typeface="Times New Roman" panose="02020603050405020304" pitchFamily="18" charset="0"/>
                        </a:rPr>
                        <a:t>tàu</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dừng</a:t>
                      </a:r>
                      <a:r>
                        <a:rPr lang="en-US" sz="1200" b="0" i="0" u="none" strike="noStrike" dirty="0">
                          <a:solidFill>
                            <a:schemeClr val="tx1"/>
                          </a:solidFill>
                          <a:effectLst/>
                          <a:latin typeface="Times New Roman" panose="02020603050405020304" pitchFamily="18" charset="0"/>
                        </a:rPr>
                        <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Thuê</a:t>
                      </a:r>
                      <a:r>
                        <a:rPr lang="en-US" sz="1200" b="0" i="0" u="none" strike="noStrike" dirty="0">
                          <a:solidFill>
                            <a:schemeClr val="tx1"/>
                          </a:solidFill>
                          <a:effectLst/>
                          <a:latin typeface="Times New Roman" panose="02020603050405020304" pitchFamily="18" charset="0"/>
                        </a:rPr>
                        <a:t> 3 ENG NEO:</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+ 1 PW ENG </a:t>
                      </a:r>
                      <a:r>
                        <a:rPr lang="en-US" sz="1200" b="0" i="0" u="none" strike="noStrike" dirty="0" err="1">
                          <a:solidFill>
                            <a:schemeClr val="tx1"/>
                          </a:solidFill>
                          <a:effectLst/>
                          <a:latin typeface="Times New Roman" panose="02020603050405020304" pitchFamily="18" charset="0"/>
                        </a:rPr>
                        <a:t>dự</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kiến</a:t>
                      </a:r>
                      <a:r>
                        <a:rPr lang="en-US" sz="1200" b="0" i="0" u="none" strike="noStrike" dirty="0">
                          <a:solidFill>
                            <a:schemeClr val="tx1"/>
                          </a:solidFill>
                          <a:effectLst/>
                          <a:latin typeface="Times New Roman" panose="02020603050405020304" pitchFamily="18" charset="0"/>
                        </a:rPr>
                        <a:t> 31/05</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+ 2 ENG BBAM, </a:t>
                      </a:r>
                      <a:r>
                        <a:rPr lang="en-US" sz="1200" b="0" i="0" u="none" strike="noStrike" dirty="0" err="1">
                          <a:solidFill>
                            <a:schemeClr val="tx1"/>
                          </a:solidFill>
                          <a:effectLst/>
                          <a:latin typeface="Times New Roman" panose="02020603050405020304" pitchFamily="18" charset="0"/>
                        </a:rPr>
                        <a:t>dự</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kiến</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về</a:t>
                      </a:r>
                      <a:r>
                        <a:rPr lang="en-US" sz="1200" b="0" i="0" u="none" strike="noStrike" dirty="0">
                          <a:solidFill>
                            <a:schemeClr val="tx1"/>
                          </a:solidFill>
                          <a:effectLst/>
                          <a:latin typeface="Times New Roman" panose="02020603050405020304" pitchFamily="18" charset="0"/>
                        </a:rPr>
                        <a:t> 20/06</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601600107"/>
                  </a:ext>
                </a:extLst>
              </a:tr>
              <a:tr h="685800">
                <a:tc>
                  <a:txBody>
                    <a:bodyPr/>
                    <a:lstStyle/>
                    <a:p>
                      <a:pPr algn="ctr" fontAlgn="ctr"/>
                      <a:r>
                        <a:rPr lang="en-US" sz="1200" b="1" i="0" u="none" strike="noStrike">
                          <a:solidFill>
                            <a:srgbClr val="000000"/>
                          </a:solidFill>
                          <a:effectLst/>
                          <a:latin typeface="Times New Roman" panose="02020603050405020304" pitchFamily="18" charset="0"/>
                        </a:rPr>
                        <a:t>2</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4205739962"/>
                  </a:ext>
                </a:extLst>
              </a:tr>
              <a:tr h="685800">
                <a:tc>
                  <a:txBody>
                    <a:bodyPr/>
                    <a:lstStyle/>
                    <a:p>
                      <a:pPr algn="ctr" fontAlgn="ctr"/>
                      <a:r>
                        <a:rPr lang="en-US" sz="1200" b="1" i="0" u="none" strike="noStrike">
                          <a:solidFill>
                            <a:srgbClr val="000000"/>
                          </a:solidFill>
                          <a:effectLst/>
                          <a:latin typeface="Times New Roman" panose="02020603050405020304" pitchFamily="18" charset="0"/>
                        </a:rPr>
                        <a:t>3</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3.10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786430605"/>
                  </a:ext>
                </a:extLst>
              </a:tr>
              <a:tr h="685800">
                <a:tc>
                  <a:txBody>
                    <a:bodyPr/>
                    <a:lstStyle/>
                    <a:p>
                      <a:pPr algn="ctr" fontAlgn="ctr"/>
                      <a:r>
                        <a:rPr lang="en-US" sz="1200" b="1" i="0" u="none" strike="noStrike">
                          <a:solidFill>
                            <a:srgbClr val="000000"/>
                          </a:solidFill>
                          <a:effectLst/>
                          <a:latin typeface="Times New Roman" panose="02020603050405020304" pitchFamily="18" charset="0"/>
                        </a:rPr>
                        <a:t>4</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17.10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12.80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11.15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13.70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425150478"/>
                  </a:ext>
                </a:extLst>
              </a:tr>
            </a:tbl>
          </a:graphicData>
        </a:graphic>
      </p:graphicFrame>
    </p:spTree>
    <p:extLst>
      <p:ext uri="{BB962C8B-B14F-4D97-AF65-F5344CB8AC3E}">
        <p14:creationId xmlns:p14="http://schemas.microsoft.com/office/powerpoint/2010/main" val="2319033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xmlns=""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xmlns="" id="{DDFF08A9-8AC8-8EF1-D698-3E3D5CF27C9F}"/>
              </a:ext>
            </a:extLst>
          </p:cNvPr>
          <p:cNvGraphicFramePr>
            <a:graphicFrameLocks noGrp="1"/>
          </p:cNvGraphicFramePr>
          <p:nvPr/>
        </p:nvGraphicFramePr>
        <p:xfrm>
          <a:off x="381000" y="838200"/>
          <a:ext cx="11506199" cy="5638799"/>
        </p:xfrm>
        <a:graphic>
          <a:graphicData uri="http://schemas.openxmlformats.org/drawingml/2006/table">
            <a:tbl>
              <a:tblPr/>
              <a:tblGrid>
                <a:gridCol w="365090">
                  <a:extLst>
                    <a:ext uri="{9D8B030D-6E8A-4147-A177-3AD203B41FA5}">
                      <a16:colId xmlns:a16="http://schemas.microsoft.com/office/drawing/2014/main" xmlns="" val="3089920004"/>
                    </a:ext>
                  </a:extLst>
                </a:gridCol>
                <a:gridCol w="2496740">
                  <a:extLst>
                    <a:ext uri="{9D8B030D-6E8A-4147-A177-3AD203B41FA5}">
                      <a16:colId xmlns:a16="http://schemas.microsoft.com/office/drawing/2014/main" xmlns="" val="4154312610"/>
                    </a:ext>
                  </a:extLst>
                </a:gridCol>
                <a:gridCol w="529968">
                  <a:extLst>
                    <a:ext uri="{9D8B030D-6E8A-4147-A177-3AD203B41FA5}">
                      <a16:colId xmlns:a16="http://schemas.microsoft.com/office/drawing/2014/main" xmlns="" val="444455375"/>
                    </a:ext>
                  </a:extLst>
                </a:gridCol>
                <a:gridCol w="482859">
                  <a:extLst>
                    <a:ext uri="{9D8B030D-6E8A-4147-A177-3AD203B41FA5}">
                      <a16:colId xmlns:a16="http://schemas.microsoft.com/office/drawing/2014/main" xmlns="" val="4122484993"/>
                    </a:ext>
                  </a:extLst>
                </a:gridCol>
                <a:gridCol w="447530">
                  <a:extLst>
                    <a:ext uri="{9D8B030D-6E8A-4147-A177-3AD203B41FA5}">
                      <a16:colId xmlns:a16="http://schemas.microsoft.com/office/drawing/2014/main" xmlns="" val="925175407"/>
                    </a:ext>
                  </a:extLst>
                </a:gridCol>
                <a:gridCol w="506414">
                  <a:extLst>
                    <a:ext uri="{9D8B030D-6E8A-4147-A177-3AD203B41FA5}">
                      <a16:colId xmlns:a16="http://schemas.microsoft.com/office/drawing/2014/main" xmlns="" val="1168475993"/>
                    </a:ext>
                  </a:extLst>
                </a:gridCol>
                <a:gridCol w="482859">
                  <a:extLst>
                    <a:ext uri="{9D8B030D-6E8A-4147-A177-3AD203B41FA5}">
                      <a16:colId xmlns:a16="http://schemas.microsoft.com/office/drawing/2014/main" xmlns="" val="1890326553"/>
                    </a:ext>
                  </a:extLst>
                </a:gridCol>
                <a:gridCol w="482859">
                  <a:extLst>
                    <a:ext uri="{9D8B030D-6E8A-4147-A177-3AD203B41FA5}">
                      <a16:colId xmlns:a16="http://schemas.microsoft.com/office/drawing/2014/main" xmlns="" val="1533364308"/>
                    </a:ext>
                  </a:extLst>
                </a:gridCol>
                <a:gridCol w="506414">
                  <a:extLst>
                    <a:ext uri="{9D8B030D-6E8A-4147-A177-3AD203B41FA5}">
                      <a16:colId xmlns:a16="http://schemas.microsoft.com/office/drawing/2014/main" xmlns="" val="433561530"/>
                    </a:ext>
                  </a:extLst>
                </a:gridCol>
                <a:gridCol w="482859">
                  <a:extLst>
                    <a:ext uri="{9D8B030D-6E8A-4147-A177-3AD203B41FA5}">
                      <a16:colId xmlns:a16="http://schemas.microsoft.com/office/drawing/2014/main" xmlns="" val="4039037600"/>
                    </a:ext>
                  </a:extLst>
                </a:gridCol>
                <a:gridCol w="4722607">
                  <a:extLst>
                    <a:ext uri="{9D8B030D-6E8A-4147-A177-3AD203B41FA5}">
                      <a16:colId xmlns:a16="http://schemas.microsoft.com/office/drawing/2014/main" xmlns="" val="1688789406"/>
                    </a:ext>
                  </a:extLst>
                </a:gridCol>
              </a:tblGrid>
              <a:tr h="377444">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01/06)</a:t>
                      </a:r>
                    </a:p>
                  </a:txBody>
                  <a:tcPr marL="6458" marR="6458" marT="645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1" i="0" u="none" strike="noStrike" dirty="0">
                        <a:solidFill>
                          <a:srgbClr val="000000"/>
                        </a:solidFill>
                        <a:effectLst/>
                        <a:latin typeface="Times New Roman" panose="02020603050405020304" pitchFamily="18" charset="0"/>
                      </a:endParaRPr>
                    </a:p>
                  </a:txBody>
                  <a:tcPr marL="6458" marR="6458" marT="6458" marB="0" anchor="ctr">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619005944"/>
                  </a:ext>
                </a:extLst>
              </a:tr>
              <a:tr h="356858">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May-25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Sep-25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1159272614"/>
                  </a:ext>
                </a:extLst>
              </a:tr>
              <a:tr h="448359">
                <a:tc>
                  <a:txBody>
                    <a:bodyPr/>
                    <a:lstStyle/>
                    <a:p>
                      <a:pPr algn="ctr" fontAlgn="ctr"/>
                      <a:r>
                        <a:rPr lang="en-US" sz="1200" b="0" i="0" u="none" strike="noStrike">
                          <a:solidFill>
                            <a:srgbClr val="000000"/>
                          </a:solidFill>
                          <a:effectLst/>
                          <a:latin typeface="Times New Roman" panose="02020603050405020304" pitchFamily="18" charset="0"/>
                        </a:rPr>
                        <a:t>1</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chemeClr val="tx1"/>
                          </a:solidFill>
                          <a:effectLst/>
                          <a:latin typeface="Times New Roman" panose="02020603050405020304" pitchFamily="18" charset="0"/>
                        </a:rPr>
                        <a:t>- 07/2025: </a:t>
                      </a:r>
                      <a:r>
                        <a:rPr lang="en-US" sz="1200" b="0" i="0" u="none" strike="noStrike" dirty="0" err="1">
                          <a:solidFill>
                            <a:schemeClr val="tx1"/>
                          </a:solidFill>
                          <a:effectLst/>
                          <a:latin typeface="Times New Roman" panose="02020603050405020304" pitchFamily="18" charset="0"/>
                        </a:rPr>
                        <a:t>tăng</a:t>
                      </a:r>
                      <a:r>
                        <a:rPr lang="en-US" sz="1200" b="0" i="0" u="none" strike="noStrike" dirty="0">
                          <a:solidFill>
                            <a:schemeClr val="tx1"/>
                          </a:solidFill>
                          <a:effectLst/>
                          <a:latin typeface="Times New Roman" panose="02020603050405020304" pitchFamily="18" charset="0"/>
                        </a:rPr>
                        <a:t> 0.5 </a:t>
                      </a:r>
                      <a:r>
                        <a:rPr lang="en-US" sz="1200" b="0" i="0" u="none" strike="noStrike" dirty="0" err="1">
                          <a:solidFill>
                            <a:schemeClr val="tx1"/>
                          </a:solidFill>
                          <a:effectLst/>
                          <a:latin typeface="Times New Roman" panose="02020603050405020304" pitchFamily="18" charset="0"/>
                        </a:rPr>
                        <a:t>tàu</a:t>
                      </a:r>
                      <a:r>
                        <a:rPr lang="en-US" sz="1200" b="0" i="0" u="none" strike="noStrike" dirty="0">
                          <a:solidFill>
                            <a:schemeClr val="tx1"/>
                          </a:solidFill>
                          <a:effectLst/>
                          <a:latin typeface="Times New Roman" panose="02020603050405020304" pitchFamily="18" charset="0"/>
                        </a:rPr>
                        <a:t> do ENG </a:t>
                      </a:r>
                      <a:r>
                        <a:rPr lang="en-US" sz="1200" b="0" i="0" u="none" strike="noStrike" dirty="0" err="1">
                          <a:solidFill>
                            <a:schemeClr val="tx1"/>
                          </a:solidFill>
                          <a:effectLst/>
                          <a:latin typeface="Times New Roman" panose="02020603050405020304" pitchFamily="18" charset="0"/>
                        </a:rPr>
                        <a:t>về</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muộn</a:t>
                      </a:r>
                      <a:r>
                        <a:rPr lang="en-US" sz="1200" b="0" i="0" u="none" strike="noStrike" dirty="0">
                          <a:solidFill>
                            <a:schemeClr val="tx1"/>
                          </a:solidFill>
                          <a:effectLst/>
                          <a:latin typeface="Times New Roman" panose="02020603050405020304" pitchFamily="18" charset="0"/>
                        </a:rPr>
                        <a:t>  =&gt; A895 RTS </a:t>
                      </a:r>
                      <a:r>
                        <a:rPr lang="en-US" sz="1200" b="0" i="0" u="none" strike="noStrike" dirty="0" err="1">
                          <a:solidFill>
                            <a:schemeClr val="tx1"/>
                          </a:solidFill>
                          <a:effectLst/>
                          <a:latin typeface="Times New Roman" panose="02020603050405020304" pitchFamily="18" charset="0"/>
                        </a:rPr>
                        <a:t>muộn</a:t>
                      </a:r>
                      <a:r>
                        <a:rPr lang="en-US" sz="1200" b="0" i="0" u="none" strike="noStrike" dirty="0">
                          <a:solidFill>
                            <a:schemeClr val="tx1"/>
                          </a:solidFill>
                          <a:effectLst/>
                          <a:latin typeface="Times New Roman" panose="02020603050405020304" pitchFamily="18" charset="0"/>
                        </a:rPr>
                        <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- 06/2025: </a:t>
                      </a:r>
                      <a:r>
                        <a:rPr lang="en-US" sz="1200" b="0" i="0" u="none" strike="noStrike" dirty="0" err="1">
                          <a:solidFill>
                            <a:schemeClr val="tx1"/>
                          </a:solidFill>
                          <a:effectLst/>
                          <a:latin typeface="Times New Roman" panose="02020603050405020304" pitchFamily="18" charset="0"/>
                        </a:rPr>
                        <a:t>tăng</a:t>
                      </a:r>
                      <a:r>
                        <a:rPr lang="en-US" sz="1200" b="0" i="0" u="none" strike="noStrike" dirty="0">
                          <a:solidFill>
                            <a:schemeClr val="tx1"/>
                          </a:solidFill>
                          <a:effectLst/>
                          <a:latin typeface="Times New Roman" panose="02020603050405020304" pitchFamily="18" charset="0"/>
                        </a:rPr>
                        <a:t> 0.5 </a:t>
                      </a:r>
                      <a:r>
                        <a:rPr lang="en-US" sz="1200" b="0" i="0" u="none" strike="noStrike" dirty="0" err="1">
                          <a:solidFill>
                            <a:schemeClr val="tx1"/>
                          </a:solidFill>
                          <a:effectLst/>
                          <a:latin typeface="Times New Roman" panose="02020603050405020304" pitchFamily="18" charset="0"/>
                        </a:rPr>
                        <a:t>tàu</a:t>
                      </a:r>
                      <a:r>
                        <a:rPr lang="en-US" sz="1200" b="0" i="0" u="none" strike="noStrike" dirty="0">
                          <a:solidFill>
                            <a:schemeClr val="tx1"/>
                          </a:solidFill>
                          <a:effectLst/>
                          <a:latin typeface="Times New Roman" panose="02020603050405020304" pitchFamily="18" charset="0"/>
                        </a:rPr>
                        <a:t> do ENG </a:t>
                      </a:r>
                      <a:r>
                        <a:rPr lang="en-US" sz="1200" b="0" i="0" u="none" strike="noStrike" dirty="0" err="1">
                          <a:solidFill>
                            <a:schemeClr val="tx1"/>
                          </a:solidFill>
                          <a:effectLst/>
                          <a:latin typeface="Times New Roman" panose="02020603050405020304" pitchFamily="18" charset="0"/>
                        </a:rPr>
                        <a:t>về</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muộn</a:t>
                      </a:r>
                      <a:endParaRPr lang="en-US" sz="1200" b="0" i="0" u="none" strike="noStrike" dirty="0">
                        <a:solidFill>
                          <a:schemeClr val="tx1"/>
                        </a:solidFill>
                        <a:effectLst/>
                        <a:latin typeface="Times New Roman" panose="02020603050405020304" pitchFamily="18" charset="0"/>
                      </a:endParaRP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02828091"/>
                  </a:ext>
                </a:extLst>
              </a:tr>
              <a:tr h="448359">
                <a:tc>
                  <a:txBody>
                    <a:bodyPr/>
                    <a:lstStyle/>
                    <a:p>
                      <a:pPr algn="ctr" fontAlgn="ctr"/>
                      <a:r>
                        <a:rPr lang="en-US" sz="1200" b="0" i="0" u="none" strike="noStrike">
                          <a:solidFill>
                            <a:srgbClr val="000000"/>
                          </a:solidFill>
                          <a:effectLst/>
                          <a:latin typeface="Times New Roman" panose="02020603050405020304" pitchFamily="18" charset="0"/>
                        </a:rPr>
                        <a:t>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07/2025: tăng 0.2 tàu do bổ sung thay ENG A890 (không giữ được giờ do ENG 21584 về 16/06 muộn 14 ngày so với KH cũ 02/06)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1781862648"/>
                  </a:ext>
                </a:extLst>
              </a:tr>
              <a:tr h="457509">
                <a:tc>
                  <a:txBody>
                    <a:bodyPr/>
                    <a:lstStyle/>
                    <a:p>
                      <a:pPr algn="ctr" fontAlgn="ctr"/>
                      <a:r>
                        <a:rPr lang="en-US" sz="1200" b="0" i="0" u="none" strike="noStrike">
                          <a:solidFill>
                            <a:srgbClr val="000000"/>
                          </a:solidFill>
                          <a:effectLst/>
                          <a:latin typeface="Times New Roman" panose="02020603050405020304" pitchFamily="18" charset="0"/>
                        </a:rPr>
                        <a:t>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4.8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801163080"/>
                  </a:ext>
                </a:extLst>
              </a:tr>
              <a:tr h="457509">
                <a:tc>
                  <a:txBody>
                    <a:bodyPr/>
                    <a:lstStyle/>
                    <a:p>
                      <a:pPr algn="ctr" fontAlgn="ctr"/>
                      <a:r>
                        <a:rPr lang="en-US" sz="1200" b="0" i="0" u="none" strike="noStrike">
                          <a:solidFill>
                            <a:srgbClr val="000000"/>
                          </a:solidFill>
                          <a:effectLst/>
                          <a:latin typeface="Times New Roman" panose="02020603050405020304" pitchFamily="18" charset="0"/>
                        </a:rPr>
                        <a:t>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9.2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1486448547"/>
                  </a:ext>
                </a:extLst>
              </a:tr>
              <a:tr h="457509">
                <a:tc>
                  <a:txBody>
                    <a:bodyPr/>
                    <a:lstStyle/>
                    <a:p>
                      <a:pPr algn="ctr" fontAlgn="ctr"/>
                      <a:r>
                        <a:rPr lang="en-US" sz="1200" b="0" i="0" u="none" strike="noStrike">
                          <a:solidFill>
                            <a:srgbClr val="000000"/>
                          </a:solidFill>
                          <a:effectLst/>
                          <a:latin typeface="Times New Roman" panose="02020603050405020304" pitchFamily="18" charset="0"/>
                        </a:rPr>
                        <a:t>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29331169"/>
                  </a:ext>
                </a:extLst>
              </a:tr>
              <a:tr h="1262725">
                <a:tc>
                  <a:txBody>
                    <a:bodyPr/>
                    <a:lstStyle/>
                    <a:p>
                      <a:pPr algn="ctr" fontAlgn="ctr"/>
                      <a:r>
                        <a:rPr lang="en-US" sz="1200" b="0" i="0" u="none" strike="noStrike">
                          <a:solidFill>
                            <a:srgbClr val="000000"/>
                          </a:solidFill>
                          <a:effectLst/>
                          <a:latin typeface="Times New Roman" panose="02020603050405020304" pitchFamily="18" charset="0"/>
                        </a:rPr>
                        <a:t>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0.4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chemeClr val="tx1"/>
                          </a:solidFill>
                          <a:effectLst/>
                          <a:latin typeface="Times New Roman" panose="02020603050405020304" pitchFamily="18" charset="0"/>
                        </a:rPr>
                        <a:t>- 06/2025: tăng 0.2 tàu do ảnh hưởng thay ENG A871 AOG và bổ sung thay ENG A863 &amp; A873</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- 07/2023: tăng 0.2 tàu do bổ sung thay ENG A873 (giới hạn CY để ko phát sinh tăng WS SV)</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- 08/2025: tăng 0.2 tàu do A870 Y3 (due: 04/06) xin NN lùi sau cao điểm hè</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96341254"/>
                  </a:ext>
                </a:extLst>
              </a:tr>
              <a:tr h="457509">
                <a:tc>
                  <a:txBody>
                    <a:bodyPr/>
                    <a:lstStyle/>
                    <a:p>
                      <a:pPr algn="ctr" fontAlgn="ctr"/>
                      <a:r>
                        <a:rPr lang="en-US" sz="1200" b="0" i="0" u="none" strike="noStrike">
                          <a:solidFill>
                            <a:srgbClr val="000000"/>
                          </a:solidFill>
                          <a:effectLst/>
                          <a:latin typeface="Times New Roman" panose="02020603050405020304" pitchFamily="18" charset="0"/>
                        </a:rPr>
                        <a:t>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548180723"/>
                  </a:ext>
                </a:extLst>
              </a:tr>
              <a:tr h="457509">
                <a:tc>
                  <a:txBody>
                    <a:bodyPr/>
                    <a:lstStyle/>
                    <a:p>
                      <a:pPr algn="ctr" fontAlgn="ctr"/>
                      <a:r>
                        <a:rPr lang="en-US" sz="1200" b="0" i="0" u="none" strike="noStrike">
                          <a:solidFill>
                            <a:srgbClr val="000000"/>
                          </a:solidFill>
                          <a:effectLst/>
                          <a:latin typeface="Times New Roman" panose="02020603050405020304" pitchFamily="18" charset="0"/>
                        </a:rPr>
                        <a:t>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248699129"/>
                  </a:ext>
                </a:extLst>
              </a:tr>
              <a:tr h="457509">
                <a:tc>
                  <a:txBody>
                    <a:bodyPr/>
                    <a:lstStyle/>
                    <a:p>
                      <a:pPr algn="ctr" fontAlgn="ctr"/>
                      <a:r>
                        <a:rPr lang="en-US" sz="1200" b="0" i="0" u="none" strike="noStrike">
                          <a:solidFill>
                            <a:srgbClr val="000000"/>
                          </a:solidFill>
                          <a:effectLst/>
                          <a:latin typeface="Times New Roman" panose="02020603050405020304" pitchFamily="18" charset="0"/>
                        </a:rPr>
                        <a:t>9</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5.8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1.9</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257551193"/>
                  </a:ext>
                </a:extLst>
              </a:tr>
            </a:tbl>
          </a:graphicData>
        </a:graphic>
      </p:graphicFrame>
    </p:spTree>
    <p:extLst>
      <p:ext uri="{BB962C8B-B14F-4D97-AF65-F5344CB8AC3E}">
        <p14:creationId xmlns:p14="http://schemas.microsoft.com/office/powerpoint/2010/main" val="12061874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45</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22</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12a,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12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06</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06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12ea,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11ea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 – T10/2025)</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092/</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177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85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22: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30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25ea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soát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màn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A895 RTS</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22: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222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9%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21),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71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151ADD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21).</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22</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00,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05,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278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46</a:t>
            </a:fld>
            <a:endParaRPr lang="en-US"/>
          </a:p>
        </p:txBody>
      </p:sp>
      <p:sp>
        <p:nvSpPr>
          <p:cNvPr id="5" name="Title 4"/>
          <p:cNvSpPr>
            <a:spLocks noGrp="1"/>
          </p:cNvSpPr>
          <p:nvPr>
            <p:ph type="title"/>
          </p:nvPr>
        </p:nvSpPr>
        <p:spPr>
          <a:xfrm>
            <a:off x="201769" y="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Chart 5">
            <a:extLst>
              <a:ext uri="{FF2B5EF4-FFF2-40B4-BE49-F238E27FC236}">
                <a16:creationId xmlns:lc="http://schemas.openxmlformats.org/drawingml/2006/lockedCanvas" xmlns:a16="http://schemas.microsoft.com/office/drawing/2014/main" xmlns="" xmlns:xdr="http://schemas.openxmlformats.org/drawingml/2006/spreadsheetDrawing" id="{00000000-0008-0000-0900-000007000000}"/>
              </a:ext>
            </a:extLst>
          </p:cNvPr>
          <p:cNvGraphicFramePr>
            <a:graphicFrameLocks/>
          </p:cNvGraphicFramePr>
          <p:nvPr>
            <p:extLst>
              <p:ext uri="{D42A27DB-BD31-4B8C-83A1-F6EECF244321}">
                <p14:modId xmlns:p14="http://schemas.microsoft.com/office/powerpoint/2010/main" val="3495136884"/>
              </p:ext>
            </p:extLst>
          </p:nvPr>
        </p:nvGraphicFramePr>
        <p:xfrm>
          <a:off x="3962400" y="609600"/>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071296420"/>
              </p:ext>
            </p:extLst>
          </p:nvPr>
        </p:nvGraphicFramePr>
        <p:xfrm>
          <a:off x="761999" y="3200399"/>
          <a:ext cx="10591801" cy="1828800"/>
        </p:xfrm>
        <a:graphic>
          <a:graphicData uri="http://schemas.openxmlformats.org/drawingml/2006/table">
            <a:tbl>
              <a:tblPr/>
              <a:tblGrid>
                <a:gridCol w="246553"/>
                <a:gridCol w="1576442"/>
                <a:gridCol w="508047"/>
                <a:gridCol w="433335"/>
                <a:gridCol w="4395610"/>
                <a:gridCol w="612646"/>
                <a:gridCol w="799428"/>
                <a:gridCol w="1593876"/>
                <a:gridCol w="425864"/>
              </a:tblGrid>
              <a:tr h="322729">
                <a:tc gridSpan="9">
                  <a:txBody>
                    <a:bodyPr/>
                    <a:lstStyle/>
                    <a:p>
                      <a:pPr algn="ctr" fontAlgn="ctr"/>
                      <a:r>
                        <a:rPr lang="vi-VN" sz="1000" b="1" i="0" u="none" strike="noStrike" dirty="0">
                          <a:solidFill>
                            <a:srgbClr val="000000"/>
                          </a:solidFill>
                          <a:effectLst/>
                          <a:latin typeface="Times New Roman" panose="02020603050405020304" pitchFamily="18" charset="0"/>
                        </a:rPr>
                        <a:t>BẢNG TỔNG HỢP VÀ THEO DÕI NHÂN NHƯỢNG - VIETNAM AIRLINES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22729">
                <a:tc>
                  <a:txBody>
                    <a:bodyPr/>
                    <a:lstStyle/>
                    <a:p>
                      <a:pPr algn="ctr" fontAlgn="ctr"/>
                      <a:r>
                        <a:rPr lang="en-US" sz="1000" b="1" i="0" u="none" strike="noStrike">
                          <a:solidFill>
                            <a:srgbClr val="000000"/>
                          </a:solidFill>
                          <a:effectLst/>
                          <a:latin typeface="Times New Roman" panose="02020603050405020304" pitchFamily="18" charset="0"/>
                        </a:rPr>
                        <a:t>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Type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91671">
                <a:tc>
                  <a:txBody>
                    <a:bodyPr/>
                    <a:lstStyle/>
                    <a:p>
                      <a:pPr algn="ctr" fontAlgn="ctr"/>
                      <a:r>
                        <a:rPr lang="en-US" sz="900" b="0" i="0" u="none" strike="noStrike">
                          <a:solidFill>
                            <a:srgbClr val="000000"/>
                          </a:solidFill>
                          <a:effectLst/>
                          <a:latin typeface="Times New Roman" panose="02020603050405020304" pitchFamily="18" charset="0"/>
                        </a:rPr>
                        <a:t>1</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Times New Roman" panose="02020603050405020304" pitchFamily="18" charset="0"/>
                        </a:rPr>
                        <a:t> </a:t>
                      </a:r>
                      <a:r>
                        <a:rPr lang="en-US" sz="900" b="0" i="0" u="none" strike="noStrike" dirty="0" smtClean="0">
                          <a:solidFill>
                            <a:srgbClr val="000000"/>
                          </a:solidFill>
                          <a:effectLst/>
                          <a:latin typeface="Times New Roman" panose="02020603050405020304" pitchFamily="18" charset="0"/>
                        </a:rPr>
                        <a:t>TBD</a:t>
                      </a:r>
                      <a:endParaRPr lang="en-US" sz="900" b="0" i="0" u="none" strike="noStrike" dirty="0">
                        <a:solidFill>
                          <a:srgbClr val="000000"/>
                        </a:solidFill>
                        <a:effectLst/>
                        <a:latin typeface="Times New Roman" panose="02020603050405020304" pitchFamily="18" charset="0"/>
                      </a:endParaRP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ADD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A335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ADD B1872: FLAP TRACK FIXED FAIRING SEAL AT 533EB ON LH WING DAMAGED. REF CDL 27-15. EXP: 35215.59 FH</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smtClean="0">
                          <a:solidFill>
                            <a:srgbClr val="000000"/>
                          </a:solidFill>
                          <a:effectLst/>
                          <a:latin typeface="Times New Roman" panose="02020603050405020304" pitchFamily="18" charset="0"/>
                        </a:rPr>
                        <a:t>CAAV</a:t>
                      </a:r>
                      <a:r>
                        <a:rPr lang="en-US" sz="900" b="0" i="0" u="none" strike="noStrike" dirty="0">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ADD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OPEN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91671">
                <a:tc>
                  <a:txBody>
                    <a:bodyPr/>
                    <a:lstStyle/>
                    <a:p>
                      <a:pPr algn="ctr" fontAlgn="ctr"/>
                      <a:r>
                        <a:rPr lang="en-US" sz="900" b="0" i="0" u="none" strike="noStrike">
                          <a:solidFill>
                            <a:srgbClr val="000000"/>
                          </a:solidFill>
                          <a:effectLst/>
                          <a:latin typeface="Times New Roman" panose="02020603050405020304" pitchFamily="18" charset="0"/>
                        </a:rPr>
                        <a:t>2</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619-01/25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ADD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A619</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Times New Roman" panose="02020603050405020304" pitchFamily="18" charset="0"/>
                        </a:rPr>
                        <a:t>ADD B869: ENG 2 FIRE DETECTOR LOOP A FAULT. REF MEL 26-12-02A (03/25) CAT C. DEAD-LINE: 26-MAY-2025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SQD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26-May-2025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ADD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 xmlns:a16="http://schemas.microsoft.com/office/drawing/2014/main" val="4293334556"/>
                    </a:ext>
                  </a:extLst>
                </a:gridCol>
                <a:gridCol w="1118287">
                  <a:extLst>
                    <a:ext uri="{9D8B030D-6E8A-4147-A177-3AD203B41FA5}">
                      <a16:colId xmlns="" xmlns:a16="http://schemas.microsoft.com/office/drawing/2014/main" val="3593396119"/>
                    </a:ext>
                  </a:extLst>
                </a:gridCol>
                <a:gridCol w="948420">
                  <a:extLst>
                    <a:ext uri="{9D8B030D-6E8A-4147-A177-3AD203B41FA5}">
                      <a16:colId xmlns="" xmlns:a16="http://schemas.microsoft.com/office/drawing/2014/main" val="1444269426"/>
                    </a:ext>
                  </a:extLst>
                </a:gridCol>
                <a:gridCol w="990886">
                  <a:extLst>
                    <a:ext uri="{9D8B030D-6E8A-4147-A177-3AD203B41FA5}">
                      <a16:colId xmlns="" xmlns:a16="http://schemas.microsoft.com/office/drawing/2014/main" val="2696731085"/>
                    </a:ext>
                  </a:extLst>
                </a:gridCol>
                <a:gridCol w="1104130">
                  <a:extLst>
                    <a:ext uri="{9D8B030D-6E8A-4147-A177-3AD203B41FA5}">
                      <a16:colId xmlns=""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854:20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552:35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 xmlns:a16="http://schemas.microsoft.com/office/drawing/2014/main" val="4293334556"/>
                    </a:ext>
                  </a:extLst>
                </a:gridCol>
                <a:gridCol w="1155092">
                  <a:extLst>
                    <a:ext uri="{9D8B030D-6E8A-4147-A177-3AD203B41FA5}">
                      <a16:colId xmlns="" xmlns:a16="http://schemas.microsoft.com/office/drawing/2014/main" val="3593396119"/>
                    </a:ext>
                  </a:extLst>
                </a:gridCol>
                <a:gridCol w="979634">
                  <a:extLst>
                    <a:ext uri="{9D8B030D-6E8A-4147-A177-3AD203B41FA5}">
                      <a16:colId xmlns="" xmlns:a16="http://schemas.microsoft.com/office/drawing/2014/main" val="1444269426"/>
                    </a:ext>
                  </a:extLst>
                </a:gridCol>
                <a:gridCol w="1023497">
                  <a:extLst>
                    <a:ext uri="{9D8B030D-6E8A-4147-A177-3AD203B41FA5}">
                      <a16:colId xmlns="" xmlns:a16="http://schemas.microsoft.com/office/drawing/2014/main" val="2696731085"/>
                    </a:ext>
                  </a:extLst>
                </a:gridCol>
                <a:gridCol w="1140468">
                  <a:extLst>
                    <a:ext uri="{9D8B030D-6E8A-4147-A177-3AD203B41FA5}">
                      <a16:colId xmlns=""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259:05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216:35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83284901"/>
                  </a:ext>
                </a:extLst>
              </a:tr>
            </a:tbl>
          </a:graphicData>
        </a:graphic>
      </p:graphicFrame>
      <p:graphicFrame>
        <p:nvGraphicFramePr>
          <p:cNvPr id="11" name="Chart 10"/>
          <p:cNvGraphicFramePr>
            <a:graphicFrameLocks/>
          </p:cNvGraphicFramePr>
          <p:nvPr>
            <p:extLst/>
          </p:nvPr>
        </p:nvGraphicFramePr>
        <p:xfrm>
          <a:off x="1059507" y="975548"/>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57382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 xmlns:a16="http://schemas.microsoft.com/office/drawing/2014/main" val="4007203340"/>
                    </a:ext>
                  </a:extLst>
                </a:gridCol>
                <a:gridCol w="664419">
                  <a:extLst>
                    <a:ext uri="{9D8B030D-6E8A-4147-A177-3AD203B41FA5}">
                      <a16:colId xmlns="" xmlns:a16="http://schemas.microsoft.com/office/drawing/2014/main" val="426832351"/>
                    </a:ext>
                  </a:extLst>
                </a:gridCol>
                <a:gridCol w="558394">
                  <a:extLst>
                    <a:ext uri="{9D8B030D-6E8A-4147-A177-3AD203B41FA5}">
                      <a16:colId xmlns="" xmlns:a16="http://schemas.microsoft.com/office/drawing/2014/main" val="1721542108"/>
                    </a:ext>
                  </a:extLst>
                </a:gridCol>
                <a:gridCol w="558394">
                  <a:extLst>
                    <a:ext uri="{9D8B030D-6E8A-4147-A177-3AD203B41FA5}">
                      <a16:colId xmlns="" xmlns:a16="http://schemas.microsoft.com/office/drawing/2014/main" val="1471932876"/>
                    </a:ext>
                  </a:extLst>
                </a:gridCol>
                <a:gridCol w="558394">
                  <a:extLst>
                    <a:ext uri="{9D8B030D-6E8A-4147-A177-3AD203B41FA5}">
                      <a16:colId xmlns="" xmlns:a16="http://schemas.microsoft.com/office/drawing/2014/main" val="4014421323"/>
                    </a:ext>
                  </a:extLst>
                </a:gridCol>
                <a:gridCol w="558394">
                  <a:extLst>
                    <a:ext uri="{9D8B030D-6E8A-4147-A177-3AD203B41FA5}">
                      <a16:colId xmlns="" xmlns:a16="http://schemas.microsoft.com/office/drawing/2014/main" val="3056975398"/>
                    </a:ext>
                  </a:extLst>
                </a:gridCol>
                <a:gridCol w="558394">
                  <a:extLst>
                    <a:ext uri="{9D8B030D-6E8A-4147-A177-3AD203B41FA5}">
                      <a16:colId xmlns="" xmlns:a16="http://schemas.microsoft.com/office/drawing/2014/main" val="3963358169"/>
                    </a:ext>
                  </a:extLst>
                </a:gridCol>
                <a:gridCol w="643214">
                  <a:extLst>
                    <a:ext uri="{9D8B030D-6E8A-4147-A177-3AD203B41FA5}">
                      <a16:colId xmlns="" xmlns:a16="http://schemas.microsoft.com/office/drawing/2014/main" val="2287965264"/>
                    </a:ext>
                  </a:extLst>
                </a:gridCol>
                <a:gridCol w="558394">
                  <a:extLst>
                    <a:ext uri="{9D8B030D-6E8A-4147-A177-3AD203B41FA5}">
                      <a16:colId xmlns=""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 xmlns:a16="http://schemas.microsoft.com/office/drawing/2014/main" val="3551115474"/>
                    </a:ext>
                  </a:extLst>
                </a:gridCol>
                <a:gridCol w="566020">
                  <a:extLst>
                    <a:ext uri="{9D8B030D-6E8A-4147-A177-3AD203B41FA5}">
                      <a16:colId xmlns="" xmlns:a16="http://schemas.microsoft.com/office/drawing/2014/main" val="1314180557"/>
                    </a:ext>
                  </a:extLst>
                </a:gridCol>
                <a:gridCol w="566020">
                  <a:extLst>
                    <a:ext uri="{9D8B030D-6E8A-4147-A177-3AD203B41FA5}">
                      <a16:colId xmlns="" xmlns:a16="http://schemas.microsoft.com/office/drawing/2014/main" val="2680264810"/>
                    </a:ext>
                  </a:extLst>
                </a:gridCol>
                <a:gridCol w="566020">
                  <a:extLst>
                    <a:ext uri="{9D8B030D-6E8A-4147-A177-3AD203B41FA5}">
                      <a16:colId xmlns="" xmlns:a16="http://schemas.microsoft.com/office/drawing/2014/main" val="184617242"/>
                    </a:ext>
                  </a:extLst>
                </a:gridCol>
                <a:gridCol w="566020">
                  <a:extLst>
                    <a:ext uri="{9D8B030D-6E8A-4147-A177-3AD203B41FA5}">
                      <a16:colId xmlns="" xmlns:a16="http://schemas.microsoft.com/office/drawing/2014/main" val="3552461699"/>
                    </a:ext>
                  </a:extLst>
                </a:gridCol>
                <a:gridCol w="566020">
                  <a:extLst>
                    <a:ext uri="{9D8B030D-6E8A-4147-A177-3AD203B41FA5}">
                      <a16:colId xmlns="" xmlns:a16="http://schemas.microsoft.com/office/drawing/2014/main" val="3621213656"/>
                    </a:ext>
                  </a:extLst>
                </a:gridCol>
                <a:gridCol w="566020">
                  <a:extLst>
                    <a:ext uri="{9D8B030D-6E8A-4147-A177-3AD203B41FA5}">
                      <a16:colId xmlns="" xmlns:a16="http://schemas.microsoft.com/office/drawing/2014/main" val="4002416887"/>
                    </a:ext>
                  </a:extLst>
                </a:gridCol>
                <a:gridCol w="566020">
                  <a:extLst>
                    <a:ext uri="{9D8B030D-6E8A-4147-A177-3AD203B41FA5}">
                      <a16:colId xmlns="" xmlns:a16="http://schemas.microsoft.com/office/drawing/2014/main" val="2192548362"/>
                    </a:ext>
                  </a:extLst>
                </a:gridCol>
                <a:gridCol w="566020">
                  <a:extLst>
                    <a:ext uri="{9D8B030D-6E8A-4147-A177-3AD203B41FA5}">
                      <a16:colId xmlns=""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7" y="1143001"/>
          <a:ext cx="10521107" cy="225105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8232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p:cNvGraphicFramePr>
            <a:graphicFrameLocks/>
          </p:cNvGraphicFramePr>
          <p:nvPr>
            <p:extLst/>
          </p:nvPr>
        </p:nvGraphicFramePr>
        <p:xfrm>
          <a:off x="914399" y="1295400"/>
          <a:ext cx="10912475" cy="492222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53688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50</a:t>
            </a:fld>
            <a:endParaRPr/>
          </a:p>
        </p:txBody>
      </p:sp>
      <p:sp>
        <p:nvSpPr>
          <p:cNvPr id="158" name="Google Shape;158;g31ccdae391d_0_248"/>
          <p:cNvSpPr/>
          <p:nvPr/>
        </p:nvSpPr>
        <p:spPr>
          <a:xfrm>
            <a:off x="137382"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dirty="0" err="1">
                <a:solidFill>
                  <a:srgbClr val="FF0000"/>
                </a:solidFill>
                <a:latin typeface="Times New Roman"/>
                <a:ea typeface="Times New Roman"/>
                <a:cs typeface="Times New Roman"/>
                <a:sym typeface="Times New Roman"/>
              </a:rPr>
              <a:t>Tình</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trạng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vật</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tư</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cho</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hỏng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hóc</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trên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đội</a:t>
            </a:r>
            <a:r>
              <a:rPr lang="en-US" sz="2000" b="1" kern="0" dirty="0">
                <a:solidFill>
                  <a:srgbClr val="FF0000"/>
                </a:solidFill>
                <a:latin typeface="Times New Roman"/>
                <a:ea typeface="Times New Roman"/>
                <a:cs typeface="Times New Roman"/>
                <a:sym typeface="Times New Roman"/>
              </a:rPr>
              <a:t> bay</a:t>
            </a:r>
            <a:endParaRPr sz="2000" b="1" kern="0" dirty="0">
              <a:solidFill>
                <a:srgbClr val="FF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dirty="0" err="1">
                <a:solidFill>
                  <a:srgbClr val="000000"/>
                </a:solidFill>
                <a:latin typeface="Times New Roman"/>
                <a:ea typeface="Times New Roman"/>
                <a:cs typeface="Times New Roman"/>
                <a:sym typeface="Times New Roman"/>
              </a:rPr>
              <a:t>Tàu</a:t>
            </a:r>
            <a:r>
              <a:rPr lang="en-US" sz="1500" b="1" kern="0" dirty="0">
                <a:solidFill>
                  <a:srgbClr val="000000"/>
                </a:solidFill>
                <a:latin typeface="Times New Roman"/>
                <a:ea typeface="Times New Roman"/>
                <a:cs typeface="Times New Roman"/>
                <a:sym typeface="Times New Roman"/>
              </a:rPr>
              <a:t> AOG:  NIL</a:t>
            </a:r>
            <a:endParaRPr sz="1500" kern="0" dirty="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dirty="0" err="1">
                <a:solidFill>
                  <a:srgbClr val="000000"/>
                </a:solidFill>
                <a:latin typeface="Times New Roman"/>
                <a:ea typeface="Times New Roman"/>
                <a:cs typeface="Times New Roman"/>
                <a:sym typeface="Times New Roman"/>
              </a:rPr>
              <a:t>Tình</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hình</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tàu</a:t>
            </a:r>
            <a:r>
              <a:rPr lang="en-US" sz="1500" b="1" kern="0" dirty="0">
                <a:solidFill>
                  <a:srgbClr val="000000"/>
                </a:solidFill>
                <a:latin typeface="Times New Roman"/>
                <a:ea typeface="Times New Roman"/>
                <a:cs typeface="Times New Roman"/>
                <a:sym typeface="Times New Roman"/>
              </a:rPr>
              <a:t> check: </a:t>
            </a:r>
            <a:endParaRPr sz="1500" b="1" kern="0" dirty="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A625: HAN - INSTALL ENG1,2+EA04-EA05+RTS(19/05-28/05, ADJ 01/06): </a:t>
            </a:r>
            <a:r>
              <a:rPr lang="en-US" sz="1500" b="1" kern="0" dirty="0" err="1">
                <a:solidFill>
                  <a:srgbClr val="000000"/>
                </a:solidFill>
                <a:latin typeface="Times New Roman"/>
                <a:ea typeface="Times New Roman"/>
                <a:cs typeface="Times New Roman"/>
                <a:sym typeface="Times New Roman"/>
              </a:rPr>
              <a:t>Vật</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tư</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cung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ứng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đủ</a:t>
            </a:r>
            <a:endParaRPr sz="1500" b="1" kern="0" dirty="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A392: HAN - MO18, MOD AEVS, SWAP (27/05-30/05): </a:t>
            </a:r>
            <a:r>
              <a:rPr lang="en-US" sz="1500" b="1" kern="0" dirty="0" err="1">
                <a:solidFill>
                  <a:srgbClr val="000000"/>
                </a:solidFill>
                <a:latin typeface="Times New Roman"/>
                <a:ea typeface="Times New Roman"/>
                <a:cs typeface="Times New Roman"/>
                <a:sym typeface="Times New Roman"/>
              </a:rPr>
              <a:t>vật</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tư</a:t>
            </a:r>
            <a:r>
              <a:rPr lang="en-US" sz="1500" b="1" kern="0" dirty="0">
                <a:solidFill>
                  <a:srgbClr val="000000"/>
                </a:solidFill>
                <a:latin typeface="Times New Roman"/>
                <a:ea typeface="Times New Roman"/>
                <a:cs typeface="Times New Roman"/>
                <a:sym typeface="Times New Roman"/>
              </a:rPr>
              <a:t> </a:t>
            </a:r>
            <a:r>
              <a:rPr lang="en-US" sz="1500" b="1" kern="0" dirty="0" err="1" smtClean="0">
                <a:solidFill>
                  <a:srgbClr val="000000"/>
                </a:solidFill>
                <a:latin typeface="Times New Roman"/>
                <a:ea typeface="Times New Roman"/>
                <a:cs typeface="Times New Roman"/>
                <a:sym typeface="Times New Roman"/>
              </a:rPr>
              <a:t>đủ</a:t>
            </a:r>
            <a:endParaRPr sz="1500" b="1" kern="0" dirty="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A396: HAN - Y01+ENGCHG+EA05 (29/05-09/06): </a:t>
            </a:r>
            <a:r>
              <a:rPr lang="en-US" sz="1500" b="1" kern="0" dirty="0" err="1">
                <a:solidFill>
                  <a:srgbClr val="000000"/>
                </a:solidFill>
                <a:latin typeface="Times New Roman"/>
                <a:ea typeface="Times New Roman"/>
                <a:cs typeface="Times New Roman"/>
                <a:sym typeface="Times New Roman"/>
              </a:rPr>
              <a:t>hiện</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đang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thiếu</a:t>
            </a:r>
            <a:r>
              <a:rPr lang="en-US" sz="1500" b="1" kern="0" dirty="0">
                <a:solidFill>
                  <a:srgbClr val="000000"/>
                </a:solidFill>
                <a:latin typeface="Times New Roman"/>
                <a:ea typeface="Times New Roman"/>
                <a:cs typeface="Times New Roman"/>
                <a:sym typeface="Times New Roman"/>
              </a:rPr>
              <a:t> 02ea Anti Ice Valve PN 326975, </a:t>
            </a:r>
            <a:r>
              <a:rPr lang="en-US" sz="1500" b="1" kern="0" dirty="0" err="1">
                <a:solidFill>
                  <a:srgbClr val="000000"/>
                </a:solidFill>
                <a:latin typeface="Times New Roman"/>
                <a:ea typeface="Times New Roman"/>
                <a:cs typeface="Times New Roman"/>
                <a:sym typeface="Times New Roman"/>
              </a:rPr>
              <a:t>đang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giục</a:t>
            </a:r>
            <a:r>
              <a:rPr lang="en-US" sz="1500" b="1" kern="0" dirty="0">
                <a:solidFill>
                  <a:srgbClr val="000000"/>
                </a:solidFill>
                <a:latin typeface="Times New Roman"/>
                <a:ea typeface="Times New Roman"/>
                <a:cs typeface="Times New Roman"/>
                <a:sym typeface="Times New Roman"/>
              </a:rPr>
              <a:t> ST</a:t>
            </a:r>
            <a:endParaRPr sz="1500" b="1" kern="0" dirty="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A508: HAN - EVENTS+ENGCHG+ENGCHG+C01+C03+Y01+Y06+EA22-EA02 (25/05-28/06): </a:t>
            </a:r>
            <a:r>
              <a:rPr lang="en-US" sz="1500" b="1" kern="0" dirty="0" err="1">
                <a:solidFill>
                  <a:srgbClr val="000000"/>
                </a:solidFill>
                <a:latin typeface="Times New Roman"/>
                <a:ea typeface="Times New Roman"/>
                <a:cs typeface="Times New Roman"/>
                <a:sym typeface="Times New Roman"/>
              </a:rPr>
              <a:t>đang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giục</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vật</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tư</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về</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cho</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tàu</a:t>
            </a:r>
            <a:endParaRPr sz="1500" b="1" kern="0" dirty="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A358: SGN - PAINTING (21/05-01/06. ADJ 04/06): </a:t>
            </a:r>
            <a:r>
              <a:rPr lang="en-US" sz="1500" b="1" kern="0" dirty="0" err="1">
                <a:solidFill>
                  <a:srgbClr val="000000"/>
                </a:solidFill>
                <a:latin typeface="Times New Roman"/>
                <a:ea typeface="Times New Roman"/>
                <a:cs typeface="Times New Roman"/>
                <a:sym typeface="Times New Roman"/>
              </a:rPr>
              <a:t>không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có</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phát</a:t>
            </a:r>
            <a:r>
              <a:rPr lang="en-US" sz="1500" b="1" kern="0" dirty="0">
                <a:solidFill>
                  <a:srgbClr val="000000"/>
                </a:solidFill>
                <a:latin typeface="Times New Roman"/>
                <a:ea typeface="Times New Roman"/>
                <a:cs typeface="Times New Roman"/>
                <a:sym typeface="Times New Roman"/>
              </a:rPr>
              <a:t> sinh </a:t>
            </a:r>
            <a:r>
              <a:rPr lang="en-US" sz="1500" b="1" kern="0" dirty="0" err="1">
                <a:solidFill>
                  <a:srgbClr val="000000"/>
                </a:solidFill>
                <a:latin typeface="Times New Roman"/>
                <a:ea typeface="Times New Roman"/>
                <a:cs typeface="Times New Roman"/>
                <a:sym typeface="Times New Roman"/>
              </a:rPr>
              <a:t>vật</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tư</a:t>
            </a:r>
            <a:endParaRPr sz="1500" b="1" kern="0" dirty="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dirty="0" err="1">
                <a:solidFill>
                  <a:srgbClr val="000000"/>
                </a:solidFill>
                <a:latin typeface="Times New Roman"/>
                <a:ea typeface="Times New Roman"/>
                <a:cs typeface="Times New Roman"/>
                <a:sym typeface="Times New Roman"/>
              </a:rPr>
              <a:t>Hỏng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hóc</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ảnh</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hưởng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khai</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thác</a:t>
            </a:r>
            <a:r>
              <a:rPr lang="en-US" sz="1500" b="1" kern="0" dirty="0">
                <a:solidFill>
                  <a:srgbClr val="000000"/>
                </a:solidFill>
                <a:latin typeface="Times New Roman"/>
                <a:ea typeface="Times New Roman"/>
                <a:cs typeface="Times New Roman"/>
                <a:sym typeface="Times New Roman"/>
              </a:rPr>
              <a:t>: </a:t>
            </a:r>
            <a:endParaRPr sz="1500" b="1" kern="0" dirty="0">
              <a:solidFill>
                <a:srgbClr val="000000"/>
              </a:solidFill>
              <a:latin typeface="Times New Roman"/>
              <a:ea typeface="Times New Roman"/>
              <a:cs typeface="Times New Roman"/>
              <a:sym typeface="Times New Roman"/>
            </a:endParaRPr>
          </a:p>
          <a:p>
            <a:pPr marL="914400" lvl="1" indent="-323850" algn="just">
              <a:lnSpc>
                <a:spcPct val="110000"/>
              </a:lnSpc>
              <a:spcBef>
                <a:spcPts val="600"/>
              </a:spcBef>
              <a:buClr>
                <a:srgbClr val="000000"/>
              </a:buClr>
              <a:buSzPts val="1500"/>
              <a:buFont typeface="Times New Roman"/>
              <a:buChar char="○"/>
            </a:pPr>
            <a:r>
              <a:rPr lang="en-US" sz="1500" b="1" kern="0" dirty="0">
                <a:solidFill>
                  <a:srgbClr val="000000"/>
                </a:solidFill>
                <a:latin typeface="Times New Roman"/>
                <a:ea typeface="Times New Roman"/>
                <a:cs typeface="Times New Roman"/>
                <a:sym typeface="Times New Roman"/>
              </a:rPr>
              <a:t>A335 </a:t>
            </a:r>
            <a:r>
              <a:rPr lang="en-US" sz="1500" b="1" kern="0" dirty="0" err="1">
                <a:solidFill>
                  <a:srgbClr val="000000"/>
                </a:solidFill>
                <a:latin typeface="Times New Roman"/>
                <a:ea typeface="Times New Roman"/>
                <a:cs typeface="Times New Roman"/>
                <a:sym typeface="Times New Roman"/>
              </a:rPr>
              <a:t>hỏng</a:t>
            </a:r>
            <a:r>
              <a:rPr lang="en-US" sz="1500" b="1" kern="0" dirty="0">
                <a:solidFill>
                  <a:srgbClr val="000000"/>
                </a:solidFill>
                <a:latin typeface="Times New Roman"/>
                <a:ea typeface="Times New Roman"/>
                <a:cs typeface="Times New Roman"/>
                <a:sym typeface="Times New Roman"/>
              </a:rPr>
              <a:t> Anti Ice Valve PN 326975: </a:t>
            </a:r>
            <a:r>
              <a:rPr lang="en-US" sz="1500" b="1" kern="0" dirty="0" err="1">
                <a:solidFill>
                  <a:srgbClr val="000000"/>
                </a:solidFill>
                <a:latin typeface="Times New Roman"/>
                <a:ea typeface="Times New Roman"/>
                <a:cs typeface="Times New Roman"/>
                <a:sym typeface="Times New Roman"/>
              </a:rPr>
              <a:t>dự</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kiến</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cần</a:t>
            </a:r>
            <a:r>
              <a:rPr lang="en-US" sz="1500" b="1" kern="0" dirty="0">
                <a:solidFill>
                  <a:srgbClr val="000000"/>
                </a:solidFill>
                <a:latin typeface="Times New Roman"/>
                <a:ea typeface="Times New Roman"/>
                <a:cs typeface="Times New Roman"/>
                <a:sym typeface="Times New Roman"/>
              </a:rPr>
              <a:t> rob A396 (STEA </a:t>
            </a:r>
            <a:r>
              <a:rPr lang="en-US" sz="1500" b="1" kern="0" dirty="0" err="1">
                <a:solidFill>
                  <a:srgbClr val="000000"/>
                </a:solidFill>
                <a:latin typeface="Times New Roman"/>
                <a:ea typeface="Times New Roman"/>
                <a:cs typeface="Times New Roman"/>
                <a:sym typeface="Times New Roman"/>
              </a:rPr>
              <a:t>cấp</a:t>
            </a:r>
            <a:r>
              <a:rPr lang="en-US" sz="1500" b="1" kern="0" dirty="0">
                <a:solidFill>
                  <a:srgbClr val="000000"/>
                </a:solidFill>
                <a:latin typeface="Times New Roman"/>
                <a:ea typeface="Times New Roman"/>
                <a:cs typeface="Times New Roman"/>
                <a:sym typeface="Times New Roman"/>
              </a:rPr>
              <a:t>)</a:t>
            </a:r>
            <a:endParaRPr sz="1500" b="1" kern="0" dirty="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dirty="0" err="1">
                <a:solidFill>
                  <a:srgbClr val="000000"/>
                </a:solidFill>
                <a:latin typeface="Times New Roman"/>
                <a:ea typeface="Times New Roman"/>
                <a:cs typeface="Times New Roman"/>
                <a:sym typeface="Times New Roman"/>
              </a:rPr>
              <a:t>Hỏng</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hóc</a:t>
            </a:r>
            <a:r>
              <a:rPr lang="en-US" sz="1500" b="1" kern="0" dirty="0">
                <a:solidFill>
                  <a:srgbClr val="000000"/>
                </a:solidFill>
                <a:latin typeface="Times New Roman"/>
                <a:ea typeface="Times New Roman"/>
                <a:cs typeface="Times New Roman"/>
                <a:sym typeface="Times New Roman"/>
              </a:rPr>
              <a:t> B defect </a:t>
            </a:r>
            <a:r>
              <a:rPr lang="en-US" sz="1500" b="1" kern="0" dirty="0" err="1">
                <a:solidFill>
                  <a:srgbClr val="000000"/>
                </a:solidFill>
                <a:latin typeface="Times New Roman"/>
                <a:ea typeface="Times New Roman"/>
                <a:cs typeface="Times New Roman"/>
                <a:sym typeface="Times New Roman"/>
              </a:rPr>
              <a:t>hết</a:t>
            </a:r>
            <a:r>
              <a:rPr lang="en-US" sz="1500" b="1" kern="0" dirty="0">
                <a:solidFill>
                  <a:srgbClr val="000000"/>
                </a:solidFill>
                <a:latin typeface="Times New Roman"/>
                <a:ea typeface="Times New Roman"/>
                <a:cs typeface="Times New Roman"/>
                <a:sym typeface="Times New Roman"/>
              </a:rPr>
              <a:t> </a:t>
            </a:r>
            <a:r>
              <a:rPr lang="en-US" sz="1500" b="1" kern="0" dirty="0" err="1">
                <a:solidFill>
                  <a:srgbClr val="000000"/>
                </a:solidFill>
                <a:latin typeface="Times New Roman"/>
                <a:ea typeface="Times New Roman"/>
                <a:cs typeface="Times New Roman"/>
                <a:sym typeface="Times New Roman"/>
              </a:rPr>
              <a:t>hạn</a:t>
            </a:r>
            <a:r>
              <a:rPr lang="en-US" sz="1500" b="1" kern="0" dirty="0">
                <a:solidFill>
                  <a:srgbClr val="000000"/>
                </a:solidFill>
                <a:latin typeface="Times New Roman"/>
                <a:ea typeface="Times New Roman"/>
                <a:cs typeface="Times New Roman"/>
                <a:sym typeface="Times New Roman"/>
              </a:rPr>
              <a:t> trong 10 </a:t>
            </a:r>
            <a:r>
              <a:rPr lang="en-US" sz="1500" b="1" kern="0" dirty="0" err="1">
                <a:solidFill>
                  <a:srgbClr val="000000"/>
                </a:solidFill>
                <a:latin typeface="Times New Roman"/>
                <a:ea typeface="Times New Roman"/>
                <a:cs typeface="Times New Roman"/>
                <a:sym typeface="Times New Roman"/>
              </a:rPr>
              <a:t>ngày</a:t>
            </a:r>
            <a:r>
              <a:rPr lang="en-US" sz="1500" b="1" kern="0" dirty="0">
                <a:solidFill>
                  <a:srgbClr val="000000"/>
                </a:solidFill>
                <a:latin typeface="Times New Roman"/>
                <a:ea typeface="Times New Roman"/>
                <a:cs typeface="Times New Roman"/>
                <a:sym typeface="Times New Roman"/>
              </a:rPr>
              <a:t>: </a:t>
            </a: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dirty="0">
              <a:solidFill>
                <a:srgbClr val="000000"/>
              </a:solidFill>
              <a:latin typeface="Times New Roman"/>
              <a:ea typeface="Times New Roman"/>
              <a:cs typeface="Times New Roman"/>
              <a:sym typeface="Times New Roman"/>
            </a:endParaRPr>
          </a:p>
          <a:p>
            <a:pPr marL="457200" algn="just">
              <a:lnSpc>
                <a:spcPct val="110000"/>
              </a:lnSpc>
              <a:spcBef>
                <a:spcPts val="600"/>
              </a:spcBef>
              <a:buClr>
                <a:srgbClr val="000000"/>
              </a:buClr>
              <a:buFont typeface="Arial"/>
              <a:buNone/>
            </a:pPr>
            <a:endParaRPr sz="1500" kern="0" dirty="0">
              <a:solidFill>
                <a:srgbClr val="000000"/>
              </a:solidFill>
              <a:latin typeface="Times New Roman"/>
              <a:ea typeface="Times New Roman"/>
              <a:cs typeface="Times New Roman"/>
              <a:sym typeface="Times New Roman"/>
            </a:endParaRPr>
          </a:p>
          <a:p>
            <a:pPr marL="457200" algn="just">
              <a:buClr>
                <a:srgbClr val="000000"/>
              </a:buClr>
              <a:buSzPts val="1500"/>
              <a:buFont typeface="Arial"/>
              <a:buNone/>
            </a:pPr>
            <a:endParaRPr sz="1500" b="1" kern="0" dirty="0">
              <a:solidFill>
                <a:srgbClr val="000000"/>
              </a:solidFill>
              <a:latin typeface="Times New Roman"/>
              <a:ea typeface="Times New Roman"/>
              <a:cs typeface="Times New Roman"/>
              <a:sym typeface="Times New Roman"/>
            </a:endParaRPr>
          </a:p>
          <a:p>
            <a:pPr marL="914400" algn="just">
              <a:lnSpc>
                <a:spcPct val="110000"/>
              </a:lnSpc>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500" kern="0" dirty="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312750" y="3683251"/>
            <a:ext cx="11525774" cy="2180825"/>
          </a:xfrm>
          <a:prstGeom prst="rect">
            <a:avLst/>
          </a:prstGeom>
          <a:noFill/>
          <a:ln>
            <a:noFill/>
          </a:ln>
        </p:spPr>
      </p:pic>
    </p:spTree>
    <p:extLst>
      <p:ext uri="{BB962C8B-B14F-4D97-AF65-F5344CB8AC3E}">
        <p14:creationId xmlns:p14="http://schemas.microsoft.com/office/powerpoint/2010/main" val="29516128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51</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63 đơn hàng quá hạn trong tổng số 95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30 overdue orders / total 37 orders</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cho Defect: </a:t>
            </a:r>
            <a:r>
              <a:rPr lang="en-US" sz="1500" kern="0">
                <a:solidFill>
                  <a:srgbClr val="000000"/>
                </a:solidFill>
                <a:latin typeface="Times New Roman"/>
                <a:ea typeface="Times New Roman"/>
                <a:cs typeface="Times New Roman"/>
                <a:sym typeface="Times New Roman"/>
              </a:rPr>
              <a:t>18 overdue orders / total 39 orders</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cho Hardtime/Softtime: </a:t>
            </a:r>
            <a:r>
              <a:rPr lang="en-US" sz="1500" kern="0">
                <a:solidFill>
                  <a:srgbClr val="000000"/>
                </a:solidFill>
                <a:latin typeface="Times New Roman"/>
                <a:ea typeface="Times New Roman"/>
                <a:cs typeface="Times New Roman"/>
                <a:sym typeface="Times New Roman"/>
              </a:rPr>
              <a:t>15 overdue orders / total 19 orders</a:t>
            </a:r>
            <a:endParaRPr sz="1500"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049299"/>
            <a:ext cx="8369549" cy="4125226"/>
          </a:xfrm>
          <a:prstGeom prst="rect">
            <a:avLst/>
          </a:prstGeom>
          <a:noFill/>
          <a:ln>
            <a:noFill/>
          </a:ln>
        </p:spPr>
      </p:pic>
    </p:spTree>
    <p:extLst>
      <p:ext uri="{BB962C8B-B14F-4D97-AF65-F5344CB8AC3E}">
        <p14:creationId xmlns:p14="http://schemas.microsoft.com/office/powerpoint/2010/main" val="5017861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52</a:t>
            </a:fld>
            <a:endParaRPr/>
          </a:p>
        </p:txBody>
      </p:sp>
      <p:pic>
        <p:nvPicPr>
          <p:cNvPr id="177" name="Google Shape;177;g31ccdae391d_0_285"/>
          <p:cNvPicPr preferRelativeResize="0"/>
          <p:nvPr/>
        </p:nvPicPr>
        <p:blipFill>
          <a:blip r:embed="rId3">
            <a:alphaModFix/>
          </a:blip>
          <a:stretch>
            <a:fillRect/>
          </a:stretch>
        </p:blipFill>
        <p:spPr>
          <a:xfrm>
            <a:off x="706475" y="951710"/>
            <a:ext cx="10229850" cy="4000500"/>
          </a:xfrm>
          <a:prstGeom prst="rect">
            <a:avLst/>
          </a:prstGeom>
          <a:noFill/>
          <a:ln>
            <a:noFill/>
          </a:ln>
        </p:spPr>
      </p:pic>
    </p:spTree>
    <p:extLst>
      <p:ext uri="{BB962C8B-B14F-4D97-AF65-F5344CB8AC3E}">
        <p14:creationId xmlns:p14="http://schemas.microsoft.com/office/powerpoint/2010/main" val="407927857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5f1b08c610_0_9"/>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(Chi tiết)</a:t>
            </a:r>
            <a:endParaRPr sz="2800">
              <a:solidFill>
                <a:srgbClr val="FFC000"/>
              </a:solidFill>
              <a:latin typeface="Times New Roman"/>
              <a:ea typeface="Times New Roman"/>
              <a:cs typeface="Times New Roman"/>
              <a:sym typeface="Times New Roman"/>
            </a:endParaRPr>
          </a:p>
        </p:txBody>
      </p:sp>
      <p:sp>
        <p:nvSpPr>
          <p:cNvPr id="184" name="Google Shape;184;g35f1b08c610_0_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53</a:t>
            </a:fld>
            <a:endParaRPr/>
          </a:p>
        </p:txBody>
      </p:sp>
      <p:pic>
        <p:nvPicPr>
          <p:cNvPr id="185" name="Google Shape;185;g35f1b08c610_0_9"/>
          <p:cNvPicPr preferRelativeResize="0"/>
          <p:nvPr/>
        </p:nvPicPr>
        <p:blipFill>
          <a:blip r:embed="rId3">
            <a:alphaModFix/>
          </a:blip>
          <a:stretch>
            <a:fillRect/>
          </a:stretch>
        </p:blipFill>
        <p:spPr>
          <a:xfrm>
            <a:off x="791225" y="611399"/>
            <a:ext cx="8940526" cy="5943025"/>
          </a:xfrm>
          <a:prstGeom prst="rect">
            <a:avLst/>
          </a:prstGeom>
          <a:noFill/>
          <a:ln>
            <a:noFill/>
          </a:ln>
        </p:spPr>
      </p:pic>
    </p:spTree>
    <p:extLst>
      <p:ext uri="{BB962C8B-B14F-4D97-AF65-F5344CB8AC3E}">
        <p14:creationId xmlns:p14="http://schemas.microsoft.com/office/powerpoint/2010/main" val="268692621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2" name="Google Shape;192;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54</a:t>
            </a:fld>
            <a:endParaRPr/>
          </a:p>
        </p:txBody>
      </p:sp>
      <p:graphicFrame>
        <p:nvGraphicFramePr>
          <p:cNvPr id="193" name="Google Shape;193;g31ccdae391d_0_278"/>
          <p:cNvGraphicFramePr/>
          <p:nvPr/>
        </p:nvGraphicFramePr>
        <p:xfrm>
          <a:off x="558675" y="462325"/>
          <a:ext cx="10287000" cy="6141469"/>
        </p:xfrm>
        <a:graphic>
          <a:graphicData uri="http://schemas.openxmlformats.org/drawingml/2006/table">
            <a:tbl>
              <a:tblPr>
                <a:noFill/>
              </a:tblPr>
              <a:tblGrid>
                <a:gridCol w="382850"/>
                <a:gridCol w="2130900"/>
                <a:gridCol w="2382725"/>
                <a:gridCol w="1051825"/>
                <a:gridCol w="4338700"/>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mới dùng cho tàu khai thác, đang đặt bù</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do </a:t>
                      </a:r>
                      <a:r>
                        <a:rPr lang="en-US" sz="1300">
                          <a:latin typeface="Times New Roman"/>
                          <a:ea typeface="Times New Roman"/>
                          <a:cs typeface="Times New Roman"/>
                          <a:sym typeface="Times New Roman"/>
                        </a:rPr>
                        <a:t>không có mức kho MBK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2/6 nhập kho</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20/6 nhập kho 2ea</a:t>
                      </a:r>
                      <a:endParaRPr sz="1300" u="none" strike="noStrike" cap="none">
                        <a:latin typeface="Times New Roman"/>
                        <a:ea typeface="Times New Roman"/>
                        <a:cs typeface="Times New Roman"/>
                        <a:sym typeface="Times New Roman"/>
                      </a:endParaRPr>
                    </a:p>
                  </a:txBody>
                  <a:tcPr marL="91425" marR="91425" marT="91425" marB="91425"/>
                </a:tc>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bl>
          </a:graphicData>
        </a:graphic>
      </p:graphicFrame>
    </p:spTree>
    <p:extLst>
      <p:ext uri="{BB962C8B-B14F-4D97-AF65-F5344CB8AC3E}">
        <p14:creationId xmlns:p14="http://schemas.microsoft.com/office/powerpoint/2010/main" val="1442179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55</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29 đơn hàng quá hạn trong tổng số 41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 overdue 14 LO / total 17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overdue 15 EO / total 24 EO </a:t>
            </a:r>
            <a:endParaRPr sz="1500" kern="0">
              <a:solidFill>
                <a:srgbClr val="1F497D"/>
              </a:solidFill>
              <a:latin typeface="Times New Roman"/>
              <a:ea typeface="Times New Roman"/>
              <a:cs typeface="Times New Roman"/>
              <a:sym typeface="Times New Roman"/>
            </a:endParaRPr>
          </a:p>
          <a:p>
            <a:pPr algn="just">
              <a:lnSpc>
                <a:spcPct val="110000"/>
              </a:lnSpc>
              <a:spcBef>
                <a:spcPts val="600"/>
              </a:spcBef>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81225" y="1686524"/>
            <a:ext cx="7686675" cy="4671426"/>
          </a:xfrm>
          <a:prstGeom prst="rect">
            <a:avLst/>
          </a:prstGeom>
          <a:noFill/>
          <a:ln>
            <a:noFill/>
          </a:ln>
        </p:spPr>
      </p:pic>
    </p:spTree>
    <p:extLst>
      <p:ext uri="{BB962C8B-B14F-4D97-AF65-F5344CB8AC3E}">
        <p14:creationId xmlns:p14="http://schemas.microsoft.com/office/powerpoint/2010/main" val="32758895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56</a:t>
            </a:fld>
            <a:endParaRPr/>
          </a:p>
        </p:txBody>
      </p:sp>
      <p:graphicFrame>
        <p:nvGraphicFramePr>
          <p:cNvPr id="211" name="Google Shape;211;g31ccdae391d_0_308"/>
          <p:cNvGraphicFramePr/>
          <p:nvPr>
            <p:extLst/>
          </p:nvPr>
        </p:nvGraphicFramePr>
        <p:xfrm>
          <a:off x="607288" y="787650"/>
          <a:ext cx="11227800" cy="4360600"/>
        </p:xfrm>
        <a:graphic>
          <a:graphicData uri="http://schemas.openxmlformats.org/drawingml/2006/table">
            <a:tbl>
              <a:tblPr>
                <a:noFill/>
              </a:tblPr>
              <a:tblGrid>
                <a:gridCol w="756400"/>
                <a:gridCol w="1531850"/>
                <a:gridCol w="1753750"/>
                <a:gridCol w="3592900"/>
                <a:gridCol w="3592900"/>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latin typeface="Times New Roman"/>
                          <a:ea typeface="Times New Roman"/>
                          <a:cs typeface="Times New Roman"/>
                          <a:sym typeface="Times New Roman"/>
                        </a:rPr>
                        <a:t>Không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02ea in stock + 01 in </a:t>
                      </a:r>
                      <a:r>
                        <a:rPr lang="en-US" sz="1300" dirty="0" err="1">
                          <a:latin typeface="Times New Roman"/>
                          <a:ea typeface="Times New Roman"/>
                          <a:cs typeface="Times New Roman"/>
                          <a:sym typeface="Times New Roman"/>
                        </a:rPr>
                        <a:t>Vip</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Kit.</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EDD 10Jul.</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320461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57</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endParaRPr sz="2000" b="1" kern="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Một số PTVT cần lưu ý</a:t>
            </a:r>
            <a:r>
              <a:rPr lang="en-US" sz="1600" kern="0">
                <a:solidFill>
                  <a:srgbClr val="000000"/>
                </a:solidFill>
                <a:latin typeface="Times New Roman"/>
                <a:ea typeface="Times New Roman"/>
                <a:cs typeface="Times New Roman"/>
                <a:sym typeface="Times New Roman"/>
              </a:rPr>
              <a:t>:</a:t>
            </a:r>
            <a:endParaRPr sz="1600" kern="0">
              <a:solidFill>
                <a:srgbClr val="000000"/>
              </a:solidFill>
              <a:latin typeface="Times New Roman"/>
              <a:ea typeface="Times New Roman"/>
              <a:cs typeface="Times New Roman"/>
              <a:sym typeface="Times New Roman"/>
            </a:endParaRPr>
          </a:p>
          <a:p>
            <a:pPr marL="457200" indent="-330200" algn="just">
              <a:buClr>
                <a:srgbClr val="000000"/>
              </a:buClr>
              <a:buSzPts val="1600"/>
              <a:buFont typeface="Times New Roman"/>
              <a:buChar char="+"/>
            </a:pPr>
            <a:r>
              <a:rPr lang="en-US" sz="1600" kern="0">
                <a:solidFill>
                  <a:srgbClr val="000000"/>
                </a:solidFill>
                <a:latin typeface="Times New Roman"/>
                <a:ea typeface="Times New Roman"/>
                <a:cs typeface="Times New Roman"/>
                <a:sym typeface="Times New Roman"/>
              </a:rPr>
              <a:t>PTVT thay nhiều: VFSG, GPM, NSG, CAC, GWIV. </a:t>
            </a:r>
            <a:endParaRPr sz="1600" kern="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600" kern="0">
              <a:solidFill>
                <a:srgbClr val="00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Hỏng hóc ảnh hưởng cần lưu ý:</a:t>
            </a:r>
            <a:r>
              <a:rPr lang="en-US" sz="1600" kern="0">
                <a:solidFill>
                  <a:srgbClr val="000000"/>
                </a:solidFill>
                <a:latin typeface="Times New Roman"/>
                <a:ea typeface="Times New Roman"/>
                <a:cs typeface="Times New Roman"/>
                <a:sym typeface="Times New Roman"/>
              </a:rPr>
              <a:t>.</a:t>
            </a:r>
            <a:endParaRPr sz="1600" kern="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A864 - .AFT CARGO HANDLING SYSTEM IN/OUT IN CENTER LOADING PDU INOP: Joystick đã về nhưng thiếu giấy tờ chờ KLM bổ sung.</a:t>
            </a:r>
            <a:endParaRPr sz="1600" kern="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A867 - SPOILER # 4 INOP: Electro/Mechnaical Spoiler in stock.</a:t>
            </a:r>
            <a:endParaRPr sz="1600" kern="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A871 - STS MSG ELEC APU START-ER  R: cần Starter Generator (dự phòng trong Vip kit), chờ KLM cập nhật nguồn hàng.</a:t>
            </a:r>
            <a:endParaRPr sz="1600" kern="0">
              <a:solidFill>
                <a:srgbClr val="000000"/>
              </a:solidFill>
              <a:latin typeface="Times New Roman"/>
              <a:ea typeface="Times New Roman"/>
              <a:cs typeface="Times New Roman"/>
              <a:sym typeface="Times New Roman"/>
            </a:endParaRPr>
          </a:p>
          <a:p>
            <a:pPr algn="just">
              <a:buClr>
                <a:srgbClr val="000000"/>
              </a:buClr>
              <a:buSzPts val="1100"/>
              <a:buFont typeface="Arial"/>
              <a:buNone/>
            </a:pPr>
            <a:endParaRPr sz="1600" kern="0">
              <a:solidFill>
                <a:srgbClr val="FF0000"/>
              </a:solidFill>
              <a:latin typeface="Times New Roman"/>
              <a:ea typeface="Times New Roman"/>
              <a:cs typeface="Times New Roman"/>
              <a:sym typeface="Times New Roman"/>
            </a:endParaRPr>
          </a:p>
          <a:p>
            <a:pPr algn="just">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952500" y="3252788"/>
            <a:ext cx="10591800" cy="2790825"/>
          </a:xfrm>
          <a:prstGeom prst="rect">
            <a:avLst/>
          </a:prstGeom>
          <a:noFill/>
          <a:ln>
            <a:noFill/>
          </a:ln>
        </p:spPr>
      </p:pic>
    </p:spTree>
    <p:extLst>
      <p:ext uri="{BB962C8B-B14F-4D97-AF65-F5344CB8AC3E}">
        <p14:creationId xmlns:p14="http://schemas.microsoft.com/office/powerpoint/2010/main" val="335686027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58</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49 đơn hàng quá hạn trong tổng số 88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OSS: </a:t>
            </a:r>
            <a:r>
              <a:rPr lang="en-US" sz="1500" kern="0">
                <a:solidFill>
                  <a:srgbClr val="000000"/>
                </a:solidFill>
                <a:latin typeface="Times New Roman"/>
                <a:ea typeface="Times New Roman"/>
                <a:cs typeface="Times New Roman"/>
                <a:sym typeface="Times New Roman"/>
              </a:rPr>
              <a:t>14 overdue LO / total 17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35 overdue EO / total  71 EO </a:t>
            </a:r>
            <a:endParaRPr sz="1500" kern="0">
              <a:solidFill>
                <a:srgbClr val="1F497D"/>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trạng đơn hàng pool trong 4 tuần gần nhất:</a:t>
            </a: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357448" y="2136948"/>
            <a:ext cx="6589274" cy="4516274"/>
          </a:xfrm>
          <a:prstGeom prst="rect">
            <a:avLst/>
          </a:prstGeom>
          <a:noFill/>
          <a:ln>
            <a:noFill/>
          </a:ln>
        </p:spPr>
      </p:pic>
    </p:spTree>
    <p:extLst>
      <p:ext uri="{BB962C8B-B14F-4D97-AF65-F5344CB8AC3E}">
        <p14:creationId xmlns:p14="http://schemas.microsoft.com/office/powerpoint/2010/main" val="165439430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59</a:t>
            </a:fld>
            <a:endParaRPr/>
          </a:p>
        </p:txBody>
      </p:sp>
      <p:graphicFrame>
        <p:nvGraphicFramePr>
          <p:cNvPr id="238" name="Google Shape;238;g31ccdae391d_0_332"/>
          <p:cNvGraphicFramePr/>
          <p:nvPr>
            <p:extLst/>
          </p:nvPr>
        </p:nvGraphicFramePr>
        <p:xfrm>
          <a:off x="474783" y="301869"/>
          <a:ext cx="11561850" cy="6057108"/>
        </p:xfrm>
        <a:graphic>
          <a:graphicData uri="http://schemas.openxmlformats.org/drawingml/2006/table">
            <a:tbl>
              <a:tblPr>
                <a:noFill/>
              </a:tblPr>
              <a:tblGrid>
                <a:gridCol w="778900"/>
                <a:gridCol w="1783525"/>
                <a:gridCol w="1599825"/>
                <a:gridCol w="3699800"/>
                <a:gridCol w="3699800"/>
              </a:tblGrid>
              <a:tr h="267019">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67019">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841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2e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 (dùng cho thay thế AD).</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r>
              <a:tr h="103522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của tàu BQ.</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+ 07ea dự kiến release trong tháng 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+ 05ea EDD NIL.</a:t>
                      </a:r>
                      <a:endParaRPr sz="1300">
                        <a:solidFill>
                          <a:schemeClr val="dk1"/>
                        </a:solidFill>
                        <a:latin typeface="Times New Roman"/>
                        <a:ea typeface="Times New Roman"/>
                        <a:cs typeface="Times New Roman"/>
                        <a:sym typeface="Times New Roman"/>
                      </a:endParaRPr>
                    </a:p>
                  </a:txBody>
                  <a:tcPr marL="9525" marR="9525" marT="9525" marB="0" anchor="ctr"/>
                </a:tc>
              </a:tr>
              <a:tr h="89841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07</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89841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Nhiều tàu A350 có mssg VCRU và controller.</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dự kiến 01ea VCRU sẽ về trong tuần 23</a:t>
                      </a:r>
                      <a:endParaRPr sz="1300">
                        <a:solidFill>
                          <a:schemeClr val="dk1"/>
                        </a:solidFill>
                        <a:latin typeface="Times New Roman"/>
                        <a:ea typeface="Times New Roman"/>
                        <a:cs typeface="Times New Roman"/>
                        <a:sym typeface="Times New Roman"/>
                      </a:endParaRPr>
                    </a:p>
                  </a:txBody>
                  <a:tcPr marL="9525" marR="9525" marT="9525" marB="0" anchor="ctr"/>
                </a:tc>
              </a:tr>
              <a:tr h="178652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04 hỏng hóc nhưng hiện sẽ giữ lại toàn bộ oven tỏng kho và xuất trả cho tàu BQ trước.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Từ đầu năm 2025 yêu cầu 31ea, trong đó đã thay 28ea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+ 0</a:t>
                      </a:r>
                      <a:r>
                        <a:rPr lang="en-US" sz="1300" dirty="0">
                          <a:solidFill>
                            <a:schemeClr val="dk1"/>
                          </a:solidFill>
                          <a:latin typeface="Times New Roman"/>
                          <a:ea typeface="Times New Roman"/>
                          <a:cs typeface="Times New Roman"/>
                          <a:sym typeface="Times New Roman"/>
                        </a:rPr>
                        <a:t>2</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lại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xuất</a:t>
                      </a:r>
                      <a:r>
                        <a:rPr lang="en-US" sz="1300" dirty="0">
                          <a:solidFill>
                            <a:schemeClr val="dk1"/>
                          </a:solidFill>
                          <a:latin typeface="Times New Roman"/>
                          <a:ea typeface="Times New Roman"/>
                          <a:cs typeface="Times New Roman"/>
                          <a:sym typeface="Times New Roman"/>
                        </a:rPr>
                        <a:t> 05ea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yêu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ít</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nhất</a:t>
                      </a:r>
                      <a:r>
                        <a:rPr lang="en-US" sz="1300" dirty="0">
                          <a:solidFill>
                            <a:schemeClr val="dk1"/>
                          </a:solidFill>
                          <a:latin typeface="Times New Roman"/>
                          <a:ea typeface="Times New Roman"/>
                          <a:cs typeface="Times New Roman"/>
                          <a:sym typeface="Times New Roman"/>
                        </a:rPr>
                        <a:t> 05ea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23 </a:t>
                      </a:r>
                      <a:r>
                        <a:rPr lang="en-US" sz="1300" dirty="0" err="1">
                          <a:solidFill>
                            <a:schemeClr val="dk1"/>
                          </a:solidFill>
                          <a:latin typeface="Times New Roman"/>
                          <a:ea typeface="Times New Roman"/>
                          <a:cs typeface="Times New Roman"/>
                          <a:sym typeface="Times New Roman"/>
                        </a:rPr>
                        <a:t>để</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đẩm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bỏa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kế</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hoạch</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A887.</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tr>
            </a:tbl>
          </a:graphicData>
        </a:graphic>
      </p:graphicFrame>
    </p:spTree>
    <p:extLst>
      <p:ext uri="{BB962C8B-B14F-4D97-AF65-F5344CB8AC3E}">
        <p14:creationId xmlns:p14="http://schemas.microsoft.com/office/powerpoint/2010/main" val="9979088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60</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Một số PTVT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kern="0">
              <a:solidFill>
                <a:srgbClr val="000000"/>
              </a:solidFill>
              <a:latin typeface="Times New Roman"/>
              <a:ea typeface="Times New Roman"/>
              <a:cs typeface="Times New Roman"/>
              <a:sym typeface="Times New Roman"/>
            </a:endParaRPr>
          </a:p>
          <a:p>
            <a:pPr marL="914400" indent="-330200" algn="just">
              <a:buClr>
                <a:srgbClr val="000000"/>
              </a:buClr>
              <a:buSzPts val="1600"/>
              <a:buFont typeface="Times New Roman"/>
              <a:buChar char="+"/>
            </a:pPr>
            <a:r>
              <a:rPr lang="en-US" sz="1600" kern="0">
                <a:solidFill>
                  <a:srgbClr val="000000"/>
                </a:solidFill>
                <a:latin typeface="Times New Roman"/>
                <a:ea typeface="Times New Roman"/>
                <a:cs typeface="Times New Roman"/>
                <a:sym typeface="Times New Roman"/>
              </a:rPr>
              <a:t>Hỏng hóc hệ thống flight control vẫn nhiều, vẫn chưa giảm.</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Hỏng hóc ảnh hưởng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A888, A892, A898 - CHILLER SYS INOP: đặt hàng VCRU, 01ea dự kiến về HAN trong tuần 23, 02ea chưa có EDD.</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A891 - A SEAL OF PANEL 671KB DAMAGED (40 CM ): đặt hàng Seal, dự kiến sẽ về trong tuần 23</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t>
            </a:r>
            <a:endParaRPr sz="20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671659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3" name="Google Shape;253;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61</a:t>
            </a:fld>
            <a:endParaRPr/>
          </a:p>
        </p:txBody>
      </p:sp>
      <p:graphicFrame>
        <p:nvGraphicFramePr>
          <p:cNvPr id="254" name="Google Shape;254;g31ccdae391d_0_347"/>
          <p:cNvGraphicFramePr/>
          <p:nvPr/>
        </p:nvGraphicFramePr>
        <p:xfrm>
          <a:off x="439614" y="221847"/>
          <a:ext cx="11611325" cy="6427535"/>
        </p:xfrm>
        <a:graphic>
          <a:graphicData uri="http://schemas.openxmlformats.org/drawingml/2006/table">
            <a:tbl>
              <a:tblPr>
                <a:noFill/>
              </a:tblPr>
              <a:tblGrid>
                <a:gridCol w="548675"/>
                <a:gridCol w="1774900"/>
                <a:gridCol w="1550950"/>
                <a:gridCol w="2501400"/>
                <a:gridCol w="5235400"/>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06</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br>
                        <a:rPr lang="en-US" sz="1400" u="none" strike="noStrike" cap="none">
                          <a:solidFill>
                            <a:schemeClr val="dk1"/>
                          </a:solidFill>
                          <a:latin typeface="Times New Roman"/>
                          <a:ea typeface="Times New Roman"/>
                          <a:cs typeface="Times New Roman"/>
                          <a:sym typeface="Times New Roman"/>
                        </a:rPr>
                      </a:br>
                      <a:r>
                        <a:rPr lang="en-US" sz="1400" u="none" strike="noStrike" cap="none">
                          <a:solidFill>
                            <a:schemeClr val="dk1"/>
                          </a:solidFill>
                          <a:latin typeface="Times New Roman"/>
                          <a:ea typeface="Times New Roman"/>
                          <a:cs typeface="Times New Roman"/>
                          <a:sym typeface="Times New Roman"/>
                        </a:rPr>
                        <a:t>01PO: </a:t>
                      </a:r>
                      <a:r>
                        <a:rPr lang="en-US">
                          <a:solidFill>
                            <a:schemeClr val="dk1"/>
                          </a:solidFill>
                          <a:latin typeface="Times New Roman"/>
                          <a:ea typeface="Times New Roman"/>
                          <a:cs typeface="Times New Roman"/>
                          <a:sym typeface="Times New Roman"/>
                        </a:rPr>
                        <a:t>EST 15/06</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01RO: issued ngày 27/05. Đang thu xếp v/c sang shop làm OH</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80816076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1" name="Google Shape;261;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62</a:t>
            </a:fld>
            <a:endParaRPr/>
          </a:p>
        </p:txBody>
      </p:sp>
      <p:graphicFrame>
        <p:nvGraphicFramePr>
          <p:cNvPr id="262" name="Google Shape;262;g31ccdae391d_0_354"/>
          <p:cNvGraphicFramePr/>
          <p:nvPr/>
        </p:nvGraphicFramePr>
        <p:xfrm>
          <a:off x="392714" y="718223"/>
          <a:ext cx="11570675" cy="5310995"/>
        </p:xfrm>
        <a:graphic>
          <a:graphicData uri="http://schemas.openxmlformats.org/drawingml/2006/table">
            <a:tbl>
              <a:tblPr>
                <a:noFill/>
              </a:tblPr>
              <a:tblGrid>
                <a:gridCol w="741275"/>
                <a:gridCol w="1235450"/>
                <a:gridCol w="1470950"/>
                <a:gridCol w="4061500"/>
                <a:gridCol w="4061500"/>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02ea in stock + 01ea FAK Nga. Dự kiến tuần 23 có 02 ea về.</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02ea in stock. Dự kiến tuần 23 VSTEA xuất xưởng thêm 3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02ea in stock. trong tuần 23 dự kiến sẽ có thêm 06ea.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11701728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9" name="Google Shape;269;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63</a:t>
            </a:fld>
            <a:endParaRPr/>
          </a:p>
        </p:txBody>
      </p:sp>
      <p:sp>
        <p:nvSpPr>
          <p:cNvPr id="270" name="Google Shape;270;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b="1" kern="0" dirty="0">
                <a:solidFill>
                  <a:srgbClr val="FF0000"/>
                </a:solidFill>
                <a:highlight>
                  <a:srgbClr val="FFFFFF"/>
                </a:highlight>
                <a:latin typeface="Times New Roman"/>
                <a:ea typeface="Times New Roman"/>
                <a:cs typeface="Times New Roman"/>
                <a:sym typeface="Times New Roman"/>
              </a:rPr>
              <a:t>Đội bay A350:</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03ea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&amp;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new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HAN 22/01).</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NIL</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 07ea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21043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21317, 21048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N3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21201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HAESL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03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SEASL 21584, 21414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21604). </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02 ENG </a:t>
            </a:r>
            <a:r>
              <a:rPr lang="en-US" sz="1500" kern="0" dirty="0" err="1">
                <a:solidFill>
                  <a:srgbClr val="000000"/>
                </a:solidFill>
                <a:highlight>
                  <a:srgbClr val="FFFFFF"/>
                </a:highlight>
                <a:latin typeface="Times New Roman"/>
                <a:ea typeface="Times New Roman"/>
                <a:cs typeface="Times New Roman"/>
                <a:sym typeface="Times New Roman"/>
              </a:rPr>
              <a:t>cho</a:t>
            </a:r>
            <a:r>
              <a:rPr lang="en-US" sz="1500" kern="0" dirty="0">
                <a:solidFill>
                  <a:srgbClr val="000000"/>
                </a:solidFill>
                <a:highlight>
                  <a:srgbClr val="FFFFFF"/>
                </a:highlight>
                <a:latin typeface="Times New Roman"/>
                <a:ea typeface="Times New Roman"/>
                <a:cs typeface="Times New Roman"/>
                <a:sym typeface="Times New Roman"/>
              </a:rPr>
              <a:t> A887 </a:t>
            </a:r>
            <a:r>
              <a:rPr lang="en-US" sz="1500" kern="0" dirty="0" err="1">
                <a:solidFill>
                  <a:srgbClr val="000000"/>
                </a:solidFill>
                <a:highlight>
                  <a:srgbClr val="FFFFFF"/>
                </a:highlight>
                <a:latin typeface="Times New Roman"/>
                <a:ea typeface="Times New Roman"/>
                <a:cs typeface="Times New Roman"/>
                <a:sym typeface="Times New Roman"/>
              </a:rPr>
              <a:t>phá</a:t>
            </a:r>
            <a:r>
              <a:rPr lang="en-US" sz="1500" kern="0" dirty="0">
                <a:solidFill>
                  <a:srgbClr val="000000"/>
                </a:solidFill>
                <a:highlight>
                  <a:srgbClr val="FFFFFF"/>
                </a:highlight>
                <a:latin typeface="Times New Roman"/>
                <a:ea typeface="Times New Roman"/>
                <a:cs typeface="Times New Roman"/>
                <a:sym typeface="Times New Roman"/>
              </a:rPr>
              <a:t> BQ: 01ea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trong SGN) </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HAN </a:t>
            </a:r>
            <a:r>
              <a:rPr lang="en-US" sz="1500" kern="0" dirty="0" err="1">
                <a:solidFill>
                  <a:srgbClr val="000000"/>
                </a:solidFill>
                <a:highlight>
                  <a:srgbClr val="FFFFFF"/>
                </a:highlight>
                <a:latin typeface="Times New Roman"/>
                <a:ea typeface="Times New Roman"/>
                <a:cs typeface="Times New Roman"/>
                <a:sym typeface="Times New Roman"/>
              </a:rPr>
              <a:t>ngày</a:t>
            </a:r>
            <a:r>
              <a:rPr lang="en-US" sz="1500" kern="0" dirty="0">
                <a:solidFill>
                  <a:srgbClr val="000000"/>
                </a:solidFill>
                <a:highlight>
                  <a:srgbClr val="FFFFFF"/>
                </a:highlight>
                <a:latin typeface="Times New Roman"/>
                <a:ea typeface="Times New Roman"/>
                <a:cs typeface="Times New Roman"/>
                <a:sym typeface="Times New Roman"/>
              </a:rPr>
              <a:t> 20/05 + 01ea </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HAN </a:t>
            </a:r>
            <a:r>
              <a:rPr lang="en-US" sz="1500" kern="0" dirty="0" err="1">
                <a:solidFill>
                  <a:srgbClr val="000000"/>
                </a:solidFill>
                <a:highlight>
                  <a:srgbClr val="FFFFFF"/>
                </a:highlight>
                <a:latin typeface="Times New Roman"/>
                <a:ea typeface="Times New Roman"/>
                <a:cs typeface="Times New Roman"/>
                <a:sym typeface="Times New Roman"/>
              </a:rPr>
              <a:t>ngày</a:t>
            </a:r>
            <a:r>
              <a:rPr lang="en-US" sz="1500" kern="0" dirty="0">
                <a:solidFill>
                  <a:srgbClr val="000000"/>
                </a:solidFill>
                <a:highlight>
                  <a:srgbClr val="FFFFFF"/>
                </a:highlight>
                <a:latin typeface="Times New Roman"/>
                <a:ea typeface="Times New Roman"/>
                <a:cs typeface="Times New Roman"/>
                <a:sym typeface="Times New Roman"/>
              </a:rPr>
              <a:t> 29/05.</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02 ENG </a:t>
            </a:r>
            <a:r>
              <a:rPr lang="en-US" sz="1500" kern="0" dirty="0" err="1">
                <a:solidFill>
                  <a:srgbClr val="000000"/>
                </a:solidFill>
                <a:highlight>
                  <a:srgbClr val="FFFFFF"/>
                </a:highlight>
                <a:latin typeface="Times New Roman"/>
                <a:ea typeface="Times New Roman"/>
                <a:cs typeface="Times New Roman"/>
                <a:sym typeface="Times New Roman"/>
              </a:rPr>
              <a:t>cho</a:t>
            </a:r>
            <a:r>
              <a:rPr lang="en-US" sz="1500" kern="0" dirty="0">
                <a:solidFill>
                  <a:srgbClr val="000000"/>
                </a:solidFill>
                <a:highlight>
                  <a:srgbClr val="FFFFFF"/>
                </a:highlight>
                <a:latin typeface="Times New Roman"/>
                <a:ea typeface="Times New Roman"/>
                <a:cs typeface="Times New Roman"/>
                <a:sym typeface="Times New Roman"/>
              </a:rPr>
              <a:t> A886 </a:t>
            </a:r>
            <a:r>
              <a:rPr lang="en-US" sz="1500" kern="0" dirty="0" err="1">
                <a:solidFill>
                  <a:srgbClr val="000000"/>
                </a:solidFill>
                <a:highlight>
                  <a:srgbClr val="FFFFFF"/>
                </a:highlight>
                <a:latin typeface="Times New Roman"/>
                <a:ea typeface="Times New Roman"/>
                <a:cs typeface="Times New Roman"/>
                <a:sym typeface="Times New Roman"/>
              </a:rPr>
              <a:t>phá</a:t>
            </a:r>
            <a:r>
              <a:rPr lang="en-US" sz="1500" kern="0" dirty="0">
                <a:solidFill>
                  <a:srgbClr val="000000"/>
                </a:solidFill>
                <a:highlight>
                  <a:srgbClr val="FFFFFF"/>
                </a:highlight>
                <a:latin typeface="Times New Roman"/>
                <a:ea typeface="Times New Roman"/>
                <a:cs typeface="Times New Roman"/>
                <a:sym typeface="Times New Roman"/>
              </a:rPr>
              <a:t> BQ: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15/06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25/06.</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b="1" kern="0" dirty="0">
                <a:solidFill>
                  <a:srgbClr val="FF0000"/>
                </a:solidFill>
                <a:highlight>
                  <a:srgbClr val="FFFFFF"/>
                </a:highlight>
                <a:latin typeface="Times New Roman"/>
                <a:ea typeface="Times New Roman"/>
                <a:cs typeface="Times New Roman"/>
                <a:sym typeface="Times New Roman"/>
              </a:rPr>
              <a:t>- Đội bay B787:</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10ea (2 </a:t>
            </a:r>
            <a:r>
              <a:rPr lang="en-US" sz="1500" kern="0" dirty="0" err="1">
                <a:solidFill>
                  <a:srgbClr val="000000"/>
                </a:solidFill>
                <a:highlight>
                  <a:srgbClr val="FFFFFF"/>
                </a:highlight>
                <a:latin typeface="Times New Roman"/>
                <a:ea typeface="Times New Roman"/>
                <a:cs typeface="Times New Roman"/>
                <a:sym typeface="Times New Roman"/>
              </a:rPr>
              <a:t>sở</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hữu</a:t>
            </a:r>
            <a:r>
              <a:rPr lang="en-US" sz="1500" kern="0" dirty="0">
                <a:solidFill>
                  <a:srgbClr val="000000"/>
                </a:solidFill>
                <a:highlight>
                  <a:srgbClr val="FFFFFF"/>
                </a:highlight>
                <a:latin typeface="Times New Roman"/>
                <a:ea typeface="Times New Roman"/>
                <a:cs typeface="Times New Roman"/>
                <a:sym typeface="Times New Roman"/>
              </a:rPr>
              <a:t>, 2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6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ký</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thêm</a:t>
            </a:r>
            <a:r>
              <a:rPr lang="en-US" sz="1500" kern="0" dirty="0">
                <a:solidFill>
                  <a:srgbClr val="000000"/>
                </a:solidFill>
                <a:highlight>
                  <a:srgbClr val="FFFFFF"/>
                </a:highlight>
                <a:latin typeface="Times New Roman"/>
                <a:ea typeface="Times New Roman"/>
                <a:cs typeface="Times New Roman"/>
                <a:sym typeface="Times New Roman"/>
              </a:rPr>
              <a:t> 01 </a:t>
            </a:r>
            <a:r>
              <a:rPr lang="en-US" sz="1500" kern="0" dirty="0" err="1">
                <a:solidFill>
                  <a:srgbClr val="000000"/>
                </a:solidFill>
                <a:highlight>
                  <a:srgbClr val="FFFFFF"/>
                </a:highlight>
                <a:latin typeface="Times New Roman"/>
                <a:ea typeface="Times New Roman"/>
                <a:cs typeface="Times New Roman"/>
                <a:sym typeface="Times New Roman"/>
              </a:rPr>
              <a:t>hđ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đc</a:t>
            </a:r>
            <a:r>
              <a:rPr lang="en-US" sz="1500" kern="0" dirty="0">
                <a:solidFill>
                  <a:srgbClr val="000000"/>
                </a:solidFill>
                <a:highlight>
                  <a:srgbClr val="FFFFFF"/>
                </a:highlight>
                <a:latin typeface="Times New Roman"/>
                <a:ea typeface="Times New Roman"/>
                <a:cs typeface="Times New Roman"/>
                <a:sym typeface="Times New Roman"/>
              </a:rPr>
              <a:t> Mar/2025 </a:t>
            </a:r>
            <a:r>
              <a:rPr lang="en-US" sz="1500" kern="0" dirty="0" err="1">
                <a:solidFill>
                  <a:srgbClr val="000000"/>
                </a:solidFill>
                <a:highlight>
                  <a:srgbClr val="FFFFFF"/>
                </a:highlight>
                <a:latin typeface="Times New Roman"/>
                <a:ea typeface="Times New Roman"/>
                <a:cs typeface="Times New Roman"/>
                <a:sym typeface="Times New Roman"/>
              </a:rPr>
              <a:t>với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0</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04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KLM shop:  956569, 956599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956947, 956534.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956569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15/6/2025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25/7/2025.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956569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15/6/2025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a:t>
            </a:r>
            <a:r>
              <a:rPr lang="en-US" sz="1500" kern="0" dirty="0" smtClean="0">
                <a:solidFill>
                  <a:srgbClr val="000000"/>
                </a:solidFill>
                <a:highlight>
                  <a:srgbClr val="FFFFFF"/>
                </a:highlight>
                <a:latin typeface="Times New Roman"/>
                <a:ea typeface="Times New Roman"/>
                <a:cs typeface="Times New Roman"/>
                <a:sym typeface="Times New Roman"/>
              </a:rPr>
              <a:t>25/6/2025</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GE shop: 958398 (delay in GEEVES)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02/6/2025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06/06/2025.</a:t>
            </a:r>
            <a:endParaRPr sz="1600"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đáp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ứng</a:t>
            </a:r>
            <a:r>
              <a:rPr lang="en-US" sz="1500" kern="0" dirty="0">
                <a:solidFill>
                  <a:srgbClr val="000000"/>
                </a:solidFill>
                <a:highlight>
                  <a:srgbClr val="FFFFFF"/>
                </a:highlight>
                <a:latin typeface="Times New Roman"/>
                <a:ea typeface="Times New Roman"/>
                <a:cs typeface="Times New Roman"/>
                <a:sym typeface="Times New Roman"/>
              </a:rPr>
              <a:t> KH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2024-2025: B787 </a:t>
            </a:r>
            <a:r>
              <a:rPr lang="en-US" sz="1500" kern="0" dirty="0" err="1">
                <a:solidFill>
                  <a:srgbClr val="000000"/>
                </a:solidFill>
                <a:highlight>
                  <a:srgbClr val="FFFFFF"/>
                </a:highlight>
                <a:latin typeface="Times New Roman"/>
                <a:ea typeface="Times New Roman"/>
                <a:cs typeface="Times New Roman"/>
                <a:sym typeface="Times New Roman"/>
              </a:rPr>
              <a:t>có</a:t>
            </a:r>
            <a:r>
              <a:rPr lang="en-US" sz="1500" kern="0" dirty="0">
                <a:solidFill>
                  <a:srgbClr val="000000"/>
                </a:solidFill>
                <a:highlight>
                  <a:srgbClr val="FFFFFF"/>
                </a:highlight>
                <a:latin typeface="Times New Roman"/>
                <a:ea typeface="Times New Roman"/>
                <a:cs typeface="Times New Roman"/>
                <a:sym typeface="Times New Roman"/>
              </a:rPr>
              <a:t> 04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06 </a:t>
            </a:r>
            <a:r>
              <a:rPr lang="en-US" sz="1500" kern="0" dirty="0" err="1">
                <a:solidFill>
                  <a:srgbClr val="000000"/>
                </a:solidFill>
                <a:highlight>
                  <a:srgbClr val="FFFFFF"/>
                </a:highlight>
                <a:latin typeface="Times New Roman"/>
                <a:ea typeface="Times New Roman"/>
                <a:cs typeface="Times New Roman"/>
                <a:sym typeface="Times New Roman"/>
              </a:rPr>
              <a:t>của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 (956933; 958266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958934 958966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956626, 956980)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956980 </a:t>
            </a:r>
            <a:r>
              <a:rPr lang="en-US" sz="1500" kern="0" dirty="0" err="1">
                <a:solidFill>
                  <a:srgbClr val="000000"/>
                </a:solidFill>
                <a:highlight>
                  <a:srgbClr val="FFFFFF"/>
                </a:highlight>
                <a:latin typeface="Times New Roman"/>
                <a:ea typeface="Times New Roman"/>
                <a:cs typeface="Times New Roman"/>
                <a:sym typeface="Times New Roman"/>
              </a:rPr>
              <a:t>mới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do 01 </a:t>
            </a:r>
            <a:r>
              <a:rPr lang="en-US" sz="1500" kern="0" dirty="0" err="1">
                <a:solidFill>
                  <a:srgbClr val="000000"/>
                </a:solidFill>
                <a:highlight>
                  <a:srgbClr val="FFFFFF"/>
                </a:highlight>
                <a:latin typeface="Times New Roman"/>
                <a:ea typeface="Times New Roman"/>
                <a:cs typeface="Times New Roman"/>
                <a:sym typeface="Times New Roman"/>
              </a:rPr>
              <a:t>đc</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trên</a:t>
            </a:r>
            <a:r>
              <a:rPr lang="en-US" sz="1500" kern="0" dirty="0">
                <a:solidFill>
                  <a:srgbClr val="000000"/>
                </a:solidFill>
                <a:highlight>
                  <a:srgbClr val="FFFFFF"/>
                </a:highlight>
                <a:latin typeface="Times New Roman"/>
                <a:ea typeface="Times New Roman"/>
                <a:cs typeface="Times New Roman"/>
                <a:sym typeface="Times New Roman"/>
              </a:rPr>
              <a:t> A868 </a:t>
            </a:r>
            <a:r>
              <a:rPr lang="en-US" sz="1500" kern="0" dirty="0" err="1">
                <a:solidFill>
                  <a:srgbClr val="000000"/>
                </a:solidFill>
                <a:highlight>
                  <a:srgbClr val="FFFFFF"/>
                </a:highlight>
                <a:latin typeface="Times New Roman"/>
                <a:ea typeface="Times New Roman"/>
                <a:cs typeface="Times New Roman"/>
                <a:sym typeface="Times New Roman"/>
              </a:rPr>
              <a:t>phải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đầu</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4/2025  </a:t>
            </a: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228073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64</a:t>
            </a:fld>
            <a:endParaRPr/>
          </a:p>
        </p:txBody>
      </p:sp>
      <p:sp>
        <p:nvSpPr>
          <p:cNvPr id="278" name="Google Shape;278;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Đội bay A321 Ceo:</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dự phòng: 13 (3 sở hữu, 10 thuê ngắn hạn)</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trong kho: NIL</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US chờ chuyển đi: 02ea V16049, V15935</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động cơ đang sửa tại shop: 10ea </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động cơ đang cho K6 thuê: 01ea (V12505)</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Vướng mắc:</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Danh mục missing part list của động cơ sửa chữa về</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Giải pháp:</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Thúc đẩy việc sửa chữa động cơ tại shop</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Làm việc với Ban KT về KH động cơ về, tháo trả.</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8773880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65</a:t>
            </a:fld>
            <a:endParaRPr/>
          </a:p>
        </p:txBody>
      </p:sp>
      <p:sp>
        <p:nvSpPr>
          <p:cNvPr id="286" name="Google Shape;286;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Tình trạng trả động cơ thuê </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87" name="Google Shape;287;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extLst>
      <p:ext uri="{BB962C8B-B14F-4D97-AF65-F5344CB8AC3E}">
        <p14:creationId xmlns:p14="http://schemas.microsoft.com/office/powerpoint/2010/main" val="141520262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66</a:t>
            </a:fld>
            <a:endParaRPr/>
          </a:p>
        </p:txBody>
      </p:sp>
      <p:sp>
        <p:nvSpPr>
          <p:cNvPr id="294" name="Google Shape;294;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algn="just">
              <a:buClr>
                <a:srgbClr val="000000"/>
              </a:buClr>
              <a:buSzPts val="1800"/>
              <a:buFont typeface="Arial"/>
              <a:buNone/>
            </a:pP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FF0000"/>
                </a:solidFill>
                <a:latin typeface="Times New Roman"/>
                <a:ea typeface="Times New Roman"/>
                <a:cs typeface="Times New Roman"/>
                <a:sym typeface="Times New Roman"/>
              </a:rPr>
              <a:t>- Đội bay A321 Neo:</a:t>
            </a:r>
            <a:endParaRPr sz="1500" b="1" kern="0" dirty="0">
              <a:solidFill>
                <a:srgbClr val="FF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phòng</a:t>
            </a:r>
            <a:r>
              <a:rPr lang="en-US" sz="1500" kern="0" dirty="0">
                <a:solidFill>
                  <a:srgbClr val="000000"/>
                </a:solidFill>
                <a:latin typeface="Times New Roman"/>
                <a:ea typeface="Times New Roman"/>
                <a:cs typeface="Times New Roman"/>
                <a:sym typeface="Times New Roman"/>
              </a:rPr>
              <a:t>: 05ea (2 </a:t>
            </a:r>
            <a:r>
              <a:rPr lang="en-US" sz="1500" kern="0" dirty="0" err="1">
                <a:solidFill>
                  <a:srgbClr val="000000"/>
                </a:solidFill>
                <a:latin typeface="Times New Roman"/>
                <a:ea typeface="Times New Roman"/>
                <a:cs typeface="Times New Roman"/>
                <a:sym typeface="Times New Roman"/>
              </a:rPr>
              <a:t>sở</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hữu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SLB), 2 </a:t>
            </a:r>
            <a:r>
              <a:rPr lang="en-US" sz="1500" kern="0" dirty="0" err="1">
                <a:solidFill>
                  <a:srgbClr val="000000"/>
                </a:solidFill>
                <a:latin typeface="Times New Roman"/>
                <a:ea typeface="Times New Roman"/>
                <a:cs typeface="Times New Roman"/>
                <a:sym typeface="Times New Roman"/>
              </a:rPr>
              <a:t>dài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01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ngắn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của</a:t>
            </a:r>
            <a:r>
              <a:rPr lang="en-US" sz="1500" kern="0" dirty="0">
                <a:solidFill>
                  <a:srgbClr val="000000"/>
                </a:solidFill>
                <a:latin typeface="Times New Roman"/>
                <a:ea typeface="Times New Roman"/>
                <a:cs typeface="Times New Roman"/>
                <a:sym typeface="Times New Roman"/>
              </a:rPr>
              <a:t> PW).</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trong </a:t>
            </a:r>
            <a:r>
              <a:rPr lang="en-US" sz="1500" kern="0" dirty="0" err="1">
                <a:solidFill>
                  <a:srgbClr val="000000"/>
                </a:solidFill>
                <a:latin typeface="Times New Roman"/>
                <a:ea typeface="Times New Roman"/>
                <a:cs typeface="Times New Roman"/>
                <a:sym typeface="Times New Roman"/>
              </a:rPr>
              <a:t>kho</a:t>
            </a:r>
            <a:r>
              <a:rPr lang="en-US" sz="1500" kern="0" dirty="0">
                <a:solidFill>
                  <a:srgbClr val="000000"/>
                </a:solidFill>
                <a:latin typeface="Times New Roman"/>
                <a:ea typeface="Times New Roman"/>
                <a:cs typeface="Times New Roman"/>
                <a:sym typeface="Times New Roman"/>
              </a:rPr>
              <a:t>: NIL.</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chữa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có</a:t>
            </a:r>
            <a:r>
              <a:rPr lang="en-US" sz="1500" kern="0" dirty="0">
                <a:solidFill>
                  <a:srgbClr val="000000"/>
                </a:solidFill>
                <a:latin typeface="Times New Roman"/>
                <a:ea typeface="Times New Roman"/>
                <a:cs typeface="Times New Roman"/>
                <a:sym typeface="Times New Roman"/>
              </a:rPr>
              <a:t> 7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(05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ESA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01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IHI, 01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MTU-H)</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 </a:t>
            </a:r>
            <a:r>
              <a:rPr lang="en-US" sz="1500" kern="0" dirty="0" err="1">
                <a:solidFill>
                  <a:srgbClr val="000000"/>
                </a:solidFill>
                <a:latin typeface="Times New Roman"/>
                <a:ea typeface="Times New Roman"/>
                <a:cs typeface="Times New Roman"/>
                <a:sym typeface="Times New Roman"/>
              </a:rPr>
              <a:t>Đã</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yêu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cầu</a:t>
            </a:r>
            <a:r>
              <a:rPr lang="en-US" sz="1500" kern="0" dirty="0">
                <a:solidFill>
                  <a:srgbClr val="000000"/>
                </a:solidFill>
                <a:latin typeface="Times New Roman"/>
                <a:ea typeface="Times New Roman"/>
                <a:cs typeface="Times New Roman"/>
                <a:sym typeface="Times New Roman"/>
              </a:rPr>
              <a:t> shop </a:t>
            </a:r>
            <a:r>
              <a:rPr lang="en-US" sz="1500" kern="0" dirty="0" err="1">
                <a:solidFill>
                  <a:srgbClr val="000000"/>
                </a:solidFill>
                <a:latin typeface="Times New Roman"/>
                <a:ea typeface="Times New Roman"/>
                <a:cs typeface="Times New Roman"/>
                <a:sym typeface="Times New Roman"/>
              </a:rPr>
              <a:t>cấp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được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thêm</a:t>
            </a:r>
            <a:r>
              <a:rPr lang="en-US" sz="1500" kern="0" dirty="0">
                <a:solidFill>
                  <a:srgbClr val="000000"/>
                </a:solidFill>
                <a:latin typeface="Times New Roman"/>
                <a:ea typeface="Times New Roman"/>
                <a:cs typeface="Times New Roman"/>
                <a:sym typeface="Times New Roman"/>
              </a:rPr>
              <a:t> 2 slot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chữa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tháng</a:t>
            </a:r>
            <a:r>
              <a:rPr lang="en-US" sz="1500" kern="0" dirty="0">
                <a:solidFill>
                  <a:srgbClr val="000000"/>
                </a:solidFill>
                <a:latin typeface="Times New Roman"/>
                <a:ea typeface="Times New Roman"/>
                <a:cs typeface="Times New Roman"/>
                <a:sym typeface="Times New Roman"/>
              </a:rPr>
              <a:t> 6</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đàm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thêm</a:t>
            </a:r>
            <a:r>
              <a:rPr lang="en-US" sz="1500" kern="0" dirty="0">
                <a:solidFill>
                  <a:srgbClr val="000000"/>
                </a:solidFill>
                <a:latin typeface="Times New Roman"/>
                <a:ea typeface="Times New Roman"/>
                <a:cs typeface="Times New Roman"/>
                <a:sym typeface="Times New Roman"/>
              </a:rPr>
              <a:t> 2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Đàm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kí</a:t>
            </a:r>
            <a:r>
              <a:rPr lang="en-US" sz="1500" kern="0" dirty="0">
                <a:solidFill>
                  <a:srgbClr val="000000"/>
                </a:solidFill>
                <a:latin typeface="Times New Roman"/>
                <a:ea typeface="Times New Roman"/>
                <a:cs typeface="Times New Roman"/>
                <a:sym typeface="Times New Roman"/>
              </a:rPr>
              <a:t> LOI BBAM, AERCAP</a:t>
            </a:r>
            <a:br>
              <a:rPr lang="en-US" sz="1500" kern="0" dirty="0">
                <a:solidFill>
                  <a:srgbClr val="000000"/>
                </a:solidFill>
                <a:latin typeface="Times New Roman"/>
                <a:ea typeface="Times New Roman"/>
                <a:cs typeface="Times New Roman"/>
                <a:sym typeface="Times New Roman"/>
              </a:rPr>
            </a:b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500"/>
              <a:buFont typeface="Arial"/>
              <a:buNone/>
            </a:pPr>
            <a:r>
              <a:rPr lang="en-US" sz="1500" kern="0" dirty="0" err="1">
                <a:solidFill>
                  <a:srgbClr val="FF0000"/>
                </a:solidFill>
                <a:latin typeface="Times New Roman"/>
                <a:ea typeface="Times New Roman"/>
                <a:cs typeface="Times New Roman"/>
                <a:sym typeface="Times New Roman"/>
              </a:rPr>
              <a:t>Vướng</a:t>
            </a:r>
            <a:r>
              <a:rPr lang="en-US" sz="1500" kern="0" dirty="0">
                <a:solidFill>
                  <a:srgbClr val="FF0000"/>
                </a:solidFill>
                <a:latin typeface="Times New Roman"/>
                <a:ea typeface="Times New Roman"/>
                <a:cs typeface="Times New Roman"/>
                <a:sym typeface="Times New Roman"/>
              </a:rPr>
              <a:t> </a:t>
            </a:r>
            <a:r>
              <a:rPr lang="en-US" sz="1500" kern="0" dirty="0" err="1">
                <a:solidFill>
                  <a:srgbClr val="FF0000"/>
                </a:solidFill>
                <a:latin typeface="Times New Roman"/>
                <a:ea typeface="Times New Roman"/>
                <a:cs typeface="Times New Roman"/>
                <a:sym typeface="Times New Roman"/>
              </a:rPr>
              <a:t>mắc</a:t>
            </a:r>
            <a:r>
              <a:rPr lang="en-US" sz="1500" kern="0" dirty="0">
                <a:solidFill>
                  <a:srgbClr val="FF0000"/>
                </a:solidFill>
                <a:latin typeface="Times New Roman"/>
                <a:ea typeface="Times New Roman"/>
                <a:cs typeface="Times New Roman"/>
                <a:sym typeface="Times New Roman"/>
              </a:rPr>
              <a:t>:</a:t>
            </a:r>
            <a:endParaRPr sz="1500"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TAT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shop </a:t>
            </a:r>
            <a:r>
              <a:rPr lang="en-US" sz="1500" kern="0" dirty="0" err="1">
                <a:solidFill>
                  <a:srgbClr val="000000"/>
                </a:solidFill>
                <a:latin typeface="Times New Roman"/>
                <a:ea typeface="Times New Roman"/>
                <a:cs typeface="Times New Roman"/>
                <a:sym typeface="Times New Roman"/>
              </a:rPr>
              <a:t>kéo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dài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hiện</a:t>
            </a:r>
            <a:r>
              <a:rPr lang="en-US" sz="1500" kern="0" dirty="0">
                <a:solidFill>
                  <a:srgbClr val="000000"/>
                </a:solidFill>
                <a:latin typeface="Times New Roman"/>
                <a:ea typeface="Times New Roman"/>
                <a:cs typeface="Times New Roman"/>
                <a:sym typeface="Times New Roman"/>
              </a:rPr>
              <a:t> do shop </a:t>
            </a:r>
            <a:r>
              <a:rPr lang="en-US" sz="1500" kern="0" dirty="0" err="1">
                <a:solidFill>
                  <a:srgbClr val="000000"/>
                </a:solidFill>
                <a:latin typeface="Times New Roman"/>
                <a:ea typeface="Times New Roman"/>
                <a:cs typeface="Times New Roman"/>
                <a:sym typeface="Times New Roman"/>
              </a:rPr>
              <a:t>quá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cung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đợi</a:t>
            </a:r>
            <a:r>
              <a:rPr lang="en-US" sz="1500" kern="0" dirty="0">
                <a:solidFill>
                  <a:srgbClr val="000000"/>
                </a:solidFill>
                <a:latin typeface="Times New Roman"/>
                <a:ea typeface="Times New Roman"/>
                <a:cs typeface="Times New Roman"/>
                <a:sym typeface="Times New Roman"/>
              </a:rPr>
              <a:t> slot </a:t>
            </a:r>
            <a:r>
              <a:rPr lang="en-US" sz="1500" kern="0" dirty="0" err="1">
                <a:solidFill>
                  <a:srgbClr val="000000"/>
                </a:solidFill>
                <a:latin typeface="Times New Roman"/>
                <a:ea typeface="Times New Roman"/>
                <a:cs typeface="Times New Roman"/>
                <a:sym typeface="Times New Roman"/>
              </a:rPr>
              <a:t>lên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đến</a:t>
            </a:r>
            <a:r>
              <a:rPr lang="en-US" sz="1500" kern="0" dirty="0">
                <a:solidFill>
                  <a:srgbClr val="000000"/>
                </a:solidFill>
                <a:latin typeface="Times New Roman"/>
                <a:ea typeface="Times New Roman"/>
                <a:cs typeface="Times New Roman"/>
                <a:sym typeface="Times New Roman"/>
              </a:rPr>
              <a:t> 200 </a:t>
            </a:r>
            <a:r>
              <a:rPr lang="en-US" sz="1500" kern="0" dirty="0" err="1">
                <a:solidFill>
                  <a:srgbClr val="000000"/>
                </a:solidFill>
                <a:latin typeface="Times New Roman"/>
                <a:ea typeface="Times New Roman"/>
                <a:cs typeface="Times New Roman"/>
                <a:sym typeface="Times New Roman"/>
              </a:rPr>
              <a:t>ngày</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A321 NEO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trước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đây</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không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có</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lắp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lên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trả</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nhiều</a:t>
            </a:r>
            <a:r>
              <a:rPr lang="en-US" sz="1500" kern="0" dirty="0">
                <a:solidFill>
                  <a:srgbClr val="000000"/>
                </a:solidFill>
                <a:latin typeface="Times New Roman"/>
                <a:ea typeface="Times New Roman"/>
                <a:cs typeface="Times New Roman"/>
                <a:sym typeface="Times New Roman"/>
              </a:rPr>
              <a:t> LRUs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cùng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Khoảng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thời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gian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cao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điểm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nghỉ</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lễ</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hụt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phụ</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tùng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vật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liệu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tăng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lỗi</a:t>
            </a:r>
            <a:r>
              <a:rPr lang="en-US" sz="1500" kern="0" dirty="0">
                <a:solidFill>
                  <a:srgbClr val="000000"/>
                </a:solidFill>
                <a:latin typeface="Times New Roman"/>
                <a:ea typeface="Times New Roman"/>
                <a:cs typeface="Times New Roman"/>
                <a:sym typeface="Times New Roman"/>
              </a:rPr>
              <a:t> Rejection trong </a:t>
            </a:r>
            <a:r>
              <a:rPr lang="en-US" sz="1500" kern="0" dirty="0" err="1">
                <a:solidFill>
                  <a:srgbClr val="000000"/>
                </a:solidFill>
                <a:latin typeface="Times New Roman"/>
                <a:ea typeface="Times New Roman"/>
                <a:cs typeface="Times New Roman"/>
                <a:sym typeface="Times New Roman"/>
              </a:rPr>
              <a:t>kiểm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sau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thử</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nghiệm</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PTVT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hụt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đặc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biệt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là</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khối</a:t>
            </a:r>
            <a:r>
              <a:rPr lang="en-US" sz="1500" kern="0" dirty="0">
                <a:solidFill>
                  <a:srgbClr val="000000"/>
                </a:solidFill>
                <a:latin typeface="Times New Roman"/>
                <a:ea typeface="Times New Roman"/>
                <a:cs typeface="Times New Roman"/>
                <a:sym typeface="Times New Roman"/>
              </a:rPr>
              <a:t> AP51</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err="1">
                <a:solidFill>
                  <a:srgbClr val="FF0000"/>
                </a:solidFill>
                <a:latin typeface="Times New Roman"/>
                <a:ea typeface="Times New Roman"/>
                <a:cs typeface="Times New Roman"/>
                <a:sym typeface="Times New Roman"/>
              </a:rPr>
              <a:t>Giải</a:t>
            </a:r>
            <a:r>
              <a:rPr lang="en-US" sz="1500" kern="0" dirty="0">
                <a:solidFill>
                  <a:srgbClr val="FF0000"/>
                </a:solidFill>
                <a:latin typeface="Times New Roman"/>
                <a:ea typeface="Times New Roman"/>
                <a:cs typeface="Times New Roman"/>
                <a:sym typeface="Times New Roman"/>
              </a:rPr>
              <a:t> </a:t>
            </a:r>
            <a:r>
              <a:rPr lang="en-US" sz="1500" kern="0" dirty="0" err="1">
                <a:solidFill>
                  <a:srgbClr val="FF0000"/>
                </a:solidFill>
                <a:latin typeface="Times New Roman"/>
                <a:ea typeface="Times New Roman"/>
                <a:cs typeface="Times New Roman"/>
                <a:sym typeface="Times New Roman"/>
              </a:rPr>
              <a:t>pháp</a:t>
            </a:r>
            <a:r>
              <a:rPr lang="en-US" sz="1500" kern="0" dirty="0">
                <a:solidFill>
                  <a:srgbClr val="FF0000"/>
                </a:solidFill>
                <a:latin typeface="Times New Roman"/>
                <a:ea typeface="Times New Roman"/>
                <a:cs typeface="Times New Roman"/>
                <a:sym typeface="Times New Roman"/>
              </a:rPr>
              <a:t>:</a:t>
            </a:r>
            <a:endParaRPr sz="1500"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Thúc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đẩy</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chữa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shop. 	</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Tổ</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chức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họp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tìm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pháp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với</a:t>
            </a:r>
            <a:r>
              <a:rPr lang="en-US" sz="1500" kern="0" dirty="0">
                <a:solidFill>
                  <a:srgbClr val="000000"/>
                </a:solidFill>
                <a:latin typeface="Times New Roman"/>
                <a:ea typeface="Times New Roman"/>
                <a:cs typeface="Times New Roman"/>
                <a:sym typeface="Times New Roman"/>
              </a:rPr>
              <a:t> Ban KT, VAECO </a:t>
            </a:r>
            <a:r>
              <a:rPr lang="en-US" sz="1500" kern="0" dirty="0" err="1">
                <a:solidFill>
                  <a:srgbClr val="000000"/>
                </a:solidFill>
                <a:latin typeface="Times New Roman"/>
                <a:ea typeface="Times New Roman"/>
                <a:cs typeface="Times New Roman"/>
                <a:sym typeface="Times New Roman"/>
              </a:rPr>
              <a:t>với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danh</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mục</a:t>
            </a:r>
            <a:r>
              <a:rPr lang="en-US" sz="1500" kern="0" dirty="0">
                <a:solidFill>
                  <a:srgbClr val="000000"/>
                </a:solidFill>
                <a:latin typeface="Times New Roman"/>
                <a:ea typeface="Times New Roman"/>
                <a:cs typeface="Times New Roman"/>
                <a:sym typeface="Times New Roman"/>
              </a:rPr>
              <a:t> MPL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gửi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kern="0" dirty="0">
              <a:solidFill>
                <a:srgbClr val="FF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977885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67</a:t>
            </a:fld>
            <a:endParaRPr/>
          </a:p>
        </p:txBody>
      </p:sp>
      <p:sp>
        <p:nvSpPr>
          <p:cNvPr id="301" name="Google Shape;301;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algn="just">
              <a:buClr>
                <a:srgbClr val="000000"/>
              </a:buClr>
              <a:buSzPts val="18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a:t>
            </a: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Đội bay ATR:</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06:  03 ENG sở hữu, 03 ENG thuê ngắn hạn: (ED0321) (ED0036) (ED0715).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ED0238 đang sửa tại shop PWC tại SING.</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ED0239, ED0217,ED0233, ED0214 đang sửa tại SA.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Vướng mắc/ Khó khăn:</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shop vẫn đang gặp trình trạng thiếu part, dẫn đến TAT bị kéo dài tại cả 02 shop. Đặc biệt cần giục ED0239 về sớm.</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Giải pháp: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Tiếp tục theo sát các động cơ đang sửa chữa tại PWC và StandardAero.</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u="sng" kern="0">
              <a:solidFill>
                <a:srgbClr val="000000"/>
              </a:solidFill>
              <a:latin typeface="Times New Roman"/>
              <a:ea typeface="Times New Roman"/>
              <a:cs typeface="Times New Roman"/>
              <a:sym typeface="Times New Roman"/>
            </a:endParaRPr>
          </a:p>
        </p:txBody>
      </p:sp>
      <p:pic>
        <p:nvPicPr>
          <p:cNvPr id="302" name="Google Shape;302;g31ccdae391d_0_389"/>
          <p:cNvPicPr preferRelativeResize="0"/>
          <p:nvPr/>
        </p:nvPicPr>
        <p:blipFill>
          <a:blip r:embed="rId3">
            <a:alphaModFix/>
          </a:blip>
          <a:stretch>
            <a:fillRect/>
          </a:stretch>
        </p:blipFill>
        <p:spPr>
          <a:xfrm>
            <a:off x="173838" y="2485125"/>
            <a:ext cx="12008376" cy="2595800"/>
          </a:xfrm>
          <a:prstGeom prst="rect">
            <a:avLst/>
          </a:prstGeom>
          <a:noFill/>
          <a:ln>
            <a:noFill/>
          </a:ln>
        </p:spPr>
      </p:pic>
    </p:spTree>
    <p:extLst>
      <p:ext uri="{BB962C8B-B14F-4D97-AF65-F5344CB8AC3E}">
        <p14:creationId xmlns:p14="http://schemas.microsoft.com/office/powerpoint/2010/main" val="260658021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9" name="Google Shape;309;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68</a:t>
            </a:fld>
            <a:endParaRPr/>
          </a:p>
        </p:txBody>
      </p:sp>
      <p:sp>
        <p:nvSpPr>
          <p:cNvPr id="310" name="Google Shape;310;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A350: </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+ 02 ENG </a:t>
            </a:r>
            <a:r>
              <a:rPr lang="en-US" sz="1600" kern="0" dirty="0" err="1">
                <a:solidFill>
                  <a:srgbClr val="000000"/>
                </a:solidFill>
                <a:latin typeface="Times New Roman"/>
                <a:ea typeface="Times New Roman"/>
                <a:cs typeface="Times New Roman"/>
                <a:sym typeface="Times New Roman"/>
              </a:rPr>
              <a:t>cho</a:t>
            </a:r>
            <a:r>
              <a:rPr lang="en-US" sz="1600" kern="0" dirty="0">
                <a:solidFill>
                  <a:srgbClr val="000000"/>
                </a:solidFill>
                <a:latin typeface="Times New Roman"/>
                <a:ea typeface="Times New Roman"/>
                <a:cs typeface="Times New Roman"/>
                <a:sym typeface="Times New Roman"/>
              </a:rPr>
              <a:t> A887 </a:t>
            </a:r>
            <a:r>
              <a:rPr lang="en-US" sz="1600" kern="0" dirty="0" err="1">
                <a:solidFill>
                  <a:srgbClr val="000000"/>
                </a:solidFill>
                <a:latin typeface="Times New Roman"/>
                <a:ea typeface="Times New Roman"/>
                <a:cs typeface="Times New Roman"/>
                <a:sym typeface="Times New Roman"/>
              </a:rPr>
              <a:t>phá</a:t>
            </a:r>
            <a:r>
              <a:rPr lang="en-US" sz="1600" kern="0" dirty="0">
                <a:solidFill>
                  <a:srgbClr val="000000"/>
                </a:solidFill>
                <a:latin typeface="Times New Roman"/>
                <a:ea typeface="Times New Roman"/>
                <a:cs typeface="Times New Roman"/>
                <a:sym typeface="Times New Roman"/>
              </a:rPr>
              <a:t> BQ: 01ea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trong SGN)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HAN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20/05 + 01ea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HAN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29/05.</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+ 02 ENG </a:t>
            </a:r>
            <a:r>
              <a:rPr lang="en-US" sz="1600" kern="0" dirty="0" err="1">
                <a:solidFill>
                  <a:srgbClr val="000000"/>
                </a:solidFill>
                <a:latin typeface="Times New Roman"/>
                <a:ea typeface="Times New Roman"/>
                <a:cs typeface="Times New Roman"/>
                <a:sym typeface="Times New Roman"/>
              </a:rPr>
              <a:t>cho</a:t>
            </a:r>
            <a:r>
              <a:rPr lang="en-US" sz="1600" kern="0" dirty="0">
                <a:solidFill>
                  <a:srgbClr val="000000"/>
                </a:solidFill>
                <a:latin typeface="Times New Roman"/>
                <a:ea typeface="Times New Roman"/>
                <a:cs typeface="Times New Roman"/>
                <a:sym typeface="Times New Roman"/>
              </a:rPr>
              <a:t> A886 </a:t>
            </a:r>
            <a:r>
              <a:rPr lang="en-US" sz="1600" kern="0" dirty="0" err="1">
                <a:solidFill>
                  <a:srgbClr val="000000"/>
                </a:solidFill>
                <a:latin typeface="Times New Roman"/>
                <a:ea typeface="Times New Roman"/>
                <a:cs typeface="Times New Roman"/>
                <a:sym typeface="Times New Roman"/>
              </a:rPr>
              <a:t>phá</a:t>
            </a:r>
            <a:r>
              <a:rPr lang="en-US" sz="1600" kern="0" dirty="0">
                <a:solidFill>
                  <a:srgbClr val="000000"/>
                </a:solidFill>
                <a:latin typeface="Times New Roman"/>
                <a:ea typeface="Times New Roman"/>
                <a:cs typeface="Times New Roman"/>
                <a:sym typeface="Times New Roman"/>
              </a:rPr>
              <a:t> BQ: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15/06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25/06.</a:t>
            </a:r>
            <a:endParaRPr sz="1600" kern="0" dirty="0">
              <a:solidFill>
                <a:srgbClr val="000000"/>
              </a:solidFill>
              <a:latin typeface="Times New Roman"/>
              <a:ea typeface="Times New Roman"/>
              <a:cs typeface="Times New Roman"/>
              <a:sym typeface="Times New Roman"/>
            </a:endParaRPr>
          </a:p>
          <a:p>
            <a:pPr marL="914400"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B787: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ENG 958398 (GE shop)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02/6/2025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SGN </a:t>
            </a:r>
            <a:r>
              <a:rPr lang="en-US" sz="1600" kern="0" dirty="0" smtClean="0">
                <a:solidFill>
                  <a:srgbClr val="000000"/>
                </a:solidFill>
                <a:latin typeface="Times New Roman"/>
                <a:ea typeface="Times New Roman"/>
                <a:cs typeface="Times New Roman"/>
                <a:sym typeface="Times New Roman"/>
              </a:rPr>
              <a:t>06/06/2025.</a:t>
            </a: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ENG 956569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15/6/2025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SGN </a:t>
            </a:r>
            <a:r>
              <a:rPr lang="en-US" sz="1600" kern="0" dirty="0" smtClean="0">
                <a:solidFill>
                  <a:srgbClr val="000000"/>
                </a:solidFill>
                <a:latin typeface="Times New Roman"/>
                <a:ea typeface="Times New Roman"/>
                <a:cs typeface="Times New Roman"/>
                <a:sym typeface="Times New Roman"/>
              </a:rPr>
              <a:t>25/06/2025.</a:t>
            </a:r>
            <a:endParaRPr sz="1600" kern="0" dirty="0" smtClean="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endParaRPr sz="1600" kern="0" dirty="0" smtClean="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smtClean="0">
                <a:solidFill>
                  <a:srgbClr val="000000"/>
                </a:solidFill>
                <a:latin typeface="Times New Roman"/>
                <a:ea typeface="Times New Roman"/>
                <a:cs typeface="Times New Roman"/>
                <a:sym typeface="Times New Roman"/>
              </a:rPr>
              <a:t>A321 </a:t>
            </a:r>
            <a:r>
              <a:rPr lang="en-US" sz="1600" b="1" kern="0" dirty="0">
                <a:solidFill>
                  <a:srgbClr val="000000"/>
                </a:solidFill>
                <a:latin typeface="Times New Roman"/>
                <a:ea typeface="Times New Roman"/>
                <a:cs typeface="Times New Roman"/>
                <a:sym typeface="Times New Roman"/>
              </a:rPr>
              <a:t>CEO </a:t>
            </a:r>
            <a:r>
              <a:rPr lang="en-US" sz="1600" kern="0" dirty="0">
                <a:solidFill>
                  <a:srgbClr val="000000"/>
                </a:solidFill>
                <a:latin typeface="Times New Roman"/>
                <a:ea typeface="Times New Roman"/>
                <a:cs typeface="Times New Roman"/>
                <a:sym typeface="Times New Roman"/>
              </a:rPr>
              <a:t>: </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trong </a:t>
            </a:r>
            <a:r>
              <a:rPr lang="en-US" sz="1600" kern="0" dirty="0" err="1">
                <a:solidFill>
                  <a:srgbClr val="000000"/>
                </a:solidFill>
                <a:latin typeface="Times New Roman"/>
                <a:ea typeface="Times New Roman"/>
                <a:cs typeface="Times New Roman"/>
                <a:sym typeface="Times New Roman"/>
              </a:rPr>
              <a:t>tháng</a:t>
            </a:r>
            <a:r>
              <a:rPr lang="en-US" sz="1600" kern="0" dirty="0">
                <a:solidFill>
                  <a:srgbClr val="000000"/>
                </a:solidFill>
                <a:latin typeface="Times New Roman"/>
                <a:ea typeface="Times New Roman"/>
                <a:cs typeface="Times New Roman"/>
                <a:sym typeface="Times New Roman"/>
              </a:rPr>
              <a:t> 6: V16692 (06/06), V16558 (28/06), V16799 (23/06).</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NEO</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P771391 </a:t>
            </a:r>
            <a:r>
              <a:rPr lang="en-US" sz="1600" kern="0" dirty="0" err="1" smtClean="0">
                <a:solidFill>
                  <a:srgbClr val="000000"/>
                </a:solidFill>
                <a:latin typeface="Times New Roman"/>
                <a:ea typeface="Times New Roman"/>
                <a:cs typeface="Times New Roman"/>
                <a:sym typeface="Times New Roman"/>
              </a:rPr>
              <a:t>về</a:t>
            </a:r>
            <a:r>
              <a:rPr lang="en-US" sz="1600" kern="0" dirty="0" smtClean="0">
                <a:solidFill>
                  <a:srgbClr val="000000"/>
                </a:solidFill>
                <a:latin typeface="Times New Roman"/>
                <a:ea typeface="Times New Roman"/>
                <a:cs typeface="Times New Roman"/>
                <a:sym typeface="Times New Roman"/>
              </a:rPr>
              <a:t> </a:t>
            </a:r>
            <a:r>
              <a:rPr lang="en-US" sz="1600" kern="0" dirty="0">
                <a:solidFill>
                  <a:srgbClr val="000000"/>
                </a:solidFill>
                <a:latin typeface="Times New Roman"/>
                <a:ea typeface="Times New Roman"/>
                <a:cs typeface="Times New Roman"/>
                <a:sym typeface="Times New Roman"/>
              </a:rPr>
              <a:t>HAN 01/06.</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P771387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03/07.</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thuê</a:t>
            </a:r>
            <a:r>
              <a:rPr lang="en-US" sz="1600" kern="0" dirty="0">
                <a:solidFill>
                  <a:srgbClr val="000000"/>
                </a:solidFill>
                <a:latin typeface="Times New Roman"/>
                <a:ea typeface="Times New Roman"/>
                <a:cs typeface="Times New Roman"/>
                <a:sym typeface="Times New Roman"/>
              </a:rPr>
              <a:t> BBAM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cuối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tháng</a:t>
            </a:r>
            <a:r>
              <a:rPr lang="en-US" sz="1600" kern="0" dirty="0">
                <a:solidFill>
                  <a:srgbClr val="000000"/>
                </a:solidFill>
                <a:latin typeface="Times New Roman"/>
                <a:ea typeface="Times New Roman"/>
                <a:cs typeface="Times New Roman"/>
                <a:sym typeface="Times New Roman"/>
              </a:rPr>
              <a:t> 6</a:t>
            </a:r>
            <a:r>
              <a:rPr lang="en-US" sz="1600" kern="0" dirty="0">
                <a:solidFill>
                  <a:srgbClr val="FF0000"/>
                </a:solidFill>
                <a:latin typeface="Times New Roman"/>
                <a:ea typeface="Times New Roman"/>
                <a:cs typeface="Times New Roman"/>
                <a:sym typeface="Times New Roman"/>
              </a:rPr>
              <a:t>.</a:t>
            </a:r>
            <a:endParaRPr sz="1600" kern="0" dirty="0">
              <a:solidFill>
                <a:srgbClr val="FF0000"/>
              </a:solidFill>
              <a:latin typeface="Times New Roman"/>
              <a:ea typeface="Times New Roman"/>
              <a:cs typeface="Times New Roman"/>
              <a:sym typeface="Times New Roman"/>
            </a:endParaRPr>
          </a:p>
          <a:p>
            <a:pPr marL="457200">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smtClean="0">
                <a:solidFill>
                  <a:srgbClr val="000000"/>
                </a:solidFill>
                <a:latin typeface="Times New Roman"/>
                <a:ea typeface="Times New Roman"/>
                <a:cs typeface="Times New Roman"/>
                <a:sym typeface="Times New Roman"/>
              </a:rPr>
              <a:t>ATR:</a:t>
            </a:r>
            <a:r>
              <a:rPr lang="en-US" sz="1600" kern="0" dirty="0" smtClean="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ED0239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chữa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StandardAero</a:t>
            </a:r>
            <a:r>
              <a:rPr lang="en-US" sz="1600" kern="0" dirty="0">
                <a:solidFill>
                  <a:srgbClr val="000000"/>
                </a:solidFill>
                <a:latin typeface="Times New Roman"/>
                <a:ea typeface="Times New Roman"/>
                <a:cs typeface="Times New Roman"/>
                <a:sym typeface="Times New Roman"/>
              </a:rPr>
              <a:t>: EST SGN 23/06.</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2715961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7" name="Google Shape;317;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69</a:t>
            </a:fld>
            <a:endParaRPr/>
          </a:p>
        </p:txBody>
      </p:sp>
      <p:sp>
        <p:nvSpPr>
          <p:cNvPr id="318" name="Google Shape;318;g31ccdae391d_0_403"/>
          <p:cNvSpPr txBox="1"/>
          <p:nvPr/>
        </p:nvSpPr>
        <p:spPr>
          <a:xfrm>
            <a:off x="8187100" y="778400"/>
            <a:ext cx="3783300" cy="3940500"/>
          </a:xfrm>
          <a:prstGeom prst="rect">
            <a:avLst/>
          </a:prstGeom>
          <a:noFill/>
          <a:ln>
            <a:noFill/>
          </a:ln>
        </p:spPr>
        <p:txBody>
          <a:bodyPr spcFirstLastPara="1" wrap="square" lIns="91425" tIns="91425" rIns="91425" bIns="91425" anchor="t" anchorCtr="0">
            <a:spAutoFit/>
          </a:bodyPr>
          <a:lstStyle/>
          <a:p>
            <a:pPr>
              <a:lnSpc>
                <a:spcPct val="115000"/>
              </a:lnSpc>
              <a:buClr>
                <a:srgbClr val="000000"/>
              </a:buClr>
              <a:buSzPts val="1100"/>
              <a:buFont typeface="Arial"/>
              <a:buNone/>
            </a:pPr>
            <a:r>
              <a:rPr lang="en-US" sz="1600" b="1" kern="0" dirty="0">
                <a:solidFill>
                  <a:srgbClr val="000000"/>
                </a:solidFill>
                <a:latin typeface="Times New Roman"/>
                <a:ea typeface="Times New Roman"/>
                <a:cs typeface="Times New Roman"/>
                <a:sym typeface="Times New Roman"/>
              </a:rPr>
              <a:t>APU A321 </a:t>
            </a:r>
            <a:endParaRPr sz="1600" b="1"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700" kern="0" dirty="0">
                <a:solidFill>
                  <a:srgbClr val="000000"/>
                </a:solidFill>
                <a:latin typeface="Times New Roman"/>
                <a:ea typeface="Times New Roman"/>
                <a:cs typeface="Times New Roman"/>
                <a:sym typeface="Times New Roman"/>
              </a:rPr>
              <a:t>+ </a:t>
            </a:r>
            <a:r>
              <a:rPr lang="en-US" sz="1400" kern="0" dirty="0">
                <a:solidFill>
                  <a:srgbClr val="000000"/>
                </a:solidFill>
                <a:latin typeface="Times New Roman"/>
                <a:ea typeface="Times New Roman"/>
                <a:cs typeface="Times New Roman"/>
                <a:sym typeface="Times New Roman"/>
              </a:rPr>
              <a:t>STK: 00 APU </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Tháng</a:t>
            </a:r>
            <a:r>
              <a:rPr lang="en-US" sz="1400" kern="0" dirty="0">
                <a:solidFill>
                  <a:srgbClr val="000000"/>
                </a:solidFill>
                <a:latin typeface="Times New Roman"/>
                <a:ea typeface="Times New Roman"/>
                <a:cs typeface="Times New Roman"/>
                <a:sym typeface="Times New Roman"/>
              </a:rPr>
              <a:t> 6: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 03 APU </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500" b="1" kern="0" dirty="0">
                <a:solidFill>
                  <a:srgbClr val="000000"/>
                </a:solidFill>
                <a:latin typeface="Times New Roman"/>
                <a:ea typeface="Times New Roman"/>
                <a:cs typeface="Times New Roman"/>
                <a:sym typeface="Times New Roman"/>
              </a:rPr>
              <a:t>APU A350</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+03 APU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chữa</a:t>
            </a:r>
            <a:r>
              <a:rPr lang="en-US" sz="1400" kern="0" dirty="0">
                <a:solidFill>
                  <a:srgbClr val="000000"/>
                </a:solidFill>
                <a:latin typeface="Times New Roman"/>
                <a:ea typeface="Times New Roman"/>
                <a:cs typeface="Times New Roman"/>
                <a:sym typeface="Times New Roman"/>
              </a:rPr>
              <a:t>: </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P-00194: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09/06/2025</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P-00113: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15/07/2025</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P-00391: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01/08/2025</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100" kern="0" dirty="0">
                <a:solidFill>
                  <a:srgbClr val="000000"/>
                </a:solidFill>
                <a:latin typeface="Times New Roman"/>
                <a:ea typeface="Times New Roman"/>
                <a:cs typeface="Times New Roman"/>
                <a:sym typeface="Times New Roman"/>
              </a:rPr>
              <a:t> </a:t>
            </a:r>
            <a:endParaRPr sz="11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B787 </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01 APU SGN</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(PWC-Z926122) DK 06 June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xong</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400" kern="0" dirty="0">
              <a:solidFill>
                <a:srgbClr val="000000"/>
              </a:solidFill>
              <a:latin typeface="Times New Roman"/>
              <a:ea typeface="Times New Roman"/>
              <a:cs typeface="Times New Roman"/>
              <a:sym typeface="Times New Roman"/>
            </a:endParaRPr>
          </a:p>
        </p:txBody>
      </p:sp>
      <p:pic>
        <p:nvPicPr>
          <p:cNvPr id="319" name="Google Shape;319;g31ccdae391d_0_403"/>
          <p:cNvPicPr preferRelativeResize="0"/>
          <p:nvPr/>
        </p:nvPicPr>
        <p:blipFill>
          <a:blip r:embed="rId3">
            <a:alphaModFix/>
          </a:blip>
          <a:stretch>
            <a:fillRect/>
          </a:stretch>
        </p:blipFill>
        <p:spPr>
          <a:xfrm>
            <a:off x="372775" y="495300"/>
            <a:ext cx="7622223" cy="6214000"/>
          </a:xfrm>
          <a:prstGeom prst="rect">
            <a:avLst/>
          </a:prstGeom>
          <a:noFill/>
          <a:ln>
            <a:noFill/>
          </a:ln>
        </p:spPr>
      </p:pic>
    </p:spTree>
    <p:extLst>
      <p:ext uri="{BB962C8B-B14F-4D97-AF65-F5344CB8AC3E}">
        <p14:creationId xmlns:p14="http://schemas.microsoft.com/office/powerpoint/2010/main" val="27225019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38eea6c084_0_0"/>
          <p:cNvSpPr txBox="1">
            <a:spLocks noGrp="1"/>
          </p:cNvSpPr>
          <p:nvPr>
            <p:ph type="title"/>
          </p:nvPr>
        </p:nvSpPr>
        <p:spPr>
          <a:xfrm>
            <a:off x="4489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BAY NGA</a:t>
            </a:r>
            <a:endParaRPr sz="2800">
              <a:solidFill>
                <a:srgbClr val="FFC000"/>
              </a:solidFill>
              <a:latin typeface="Times New Roman"/>
              <a:ea typeface="Times New Roman"/>
              <a:cs typeface="Times New Roman"/>
              <a:sym typeface="Times New Roman"/>
            </a:endParaRPr>
          </a:p>
        </p:txBody>
      </p:sp>
      <p:sp>
        <p:nvSpPr>
          <p:cNvPr id="326" name="Google Shape;326;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70</a:t>
            </a:fld>
            <a:endParaRPr/>
          </a:p>
        </p:txBody>
      </p:sp>
      <p:sp>
        <p:nvSpPr>
          <p:cNvPr id="327" name="Google Shape;327;g338eea6c084_0_0"/>
          <p:cNvSpPr/>
          <p:nvPr/>
        </p:nvSpPr>
        <p:spPr>
          <a:xfrm>
            <a:off x="609900" y="11563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AutoNum type="arabicPeriod"/>
            </a:pPr>
            <a:r>
              <a:rPr lang="en-US" sz="2000" b="1" kern="0" dirty="0">
                <a:solidFill>
                  <a:srgbClr val="000000"/>
                </a:solidFill>
                <a:latin typeface="Times New Roman"/>
                <a:ea typeface="Times New Roman"/>
                <a:cs typeface="Times New Roman"/>
                <a:sym typeface="Times New Roman"/>
              </a:rPr>
              <a:t>NHIÊN LIỆU:</a:t>
            </a:r>
            <a:endParaRPr sz="2000" b="1"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Font typeface="Arial"/>
              <a:buNone/>
            </a:pPr>
            <a:r>
              <a:rPr lang="en-US" sz="1600" kern="0" dirty="0" err="1">
                <a:solidFill>
                  <a:srgbClr val="000000"/>
                </a:solidFill>
                <a:latin typeface="Times New Roman"/>
                <a:ea typeface="Times New Roman"/>
                <a:cs typeface="Times New Roman"/>
                <a:sym typeface="Times New Roman"/>
              </a:rPr>
              <a:t>Nhà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cung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cấp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SVO </a:t>
            </a:r>
            <a:r>
              <a:rPr lang="en-US" sz="1600" kern="0" dirty="0" err="1">
                <a:solidFill>
                  <a:srgbClr val="000000"/>
                </a:solidFill>
                <a:latin typeface="Times New Roman"/>
                <a:ea typeface="Times New Roman"/>
                <a:cs typeface="Times New Roman"/>
                <a:sym typeface="Times New Roman"/>
              </a:rPr>
              <a:t>là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công</a:t>
            </a:r>
            <a:r>
              <a:rPr lang="en-US" sz="1600" kern="0" dirty="0">
                <a:solidFill>
                  <a:srgbClr val="000000"/>
                </a:solidFill>
                <a:latin typeface="Times New Roman"/>
                <a:ea typeface="Times New Roman"/>
                <a:cs typeface="Times New Roman"/>
                <a:sym typeface="Times New Roman"/>
              </a:rPr>
              <a:t> ty </a:t>
            </a:r>
            <a:r>
              <a:rPr lang="en-US" sz="1600" kern="0" dirty="0" err="1">
                <a:solidFill>
                  <a:srgbClr val="000000"/>
                </a:solidFill>
                <a:latin typeface="Times New Roman"/>
                <a:ea typeface="Times New Roman"/>
                <a:cs typeface="Times New Roman"/>
                <a:sym typeface="Times New Roman"/>
              </a:rPr>
              <a:t>Skypec</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Font typeface="Arial"/>
              <a:buNone/>
            </a:pPr>
            <a:endParaRPr sz="1600" kern="0" dirty="0" smtClean="0">
              <a:solidFill>
                <a:srgbClr val="000000"/>
              </a:solidFill>
              <a:latin typeface="Times New Roman"/>
              <a:ea typeface="Times New Roman"/>
              <a:cs typeface="Times New Roman"/>
              <a:sym typeface="Times New Roman"/>
            </a:endParaRPr>
          </a:p>
          <a:p>
            <a:pPr marL="101600" algn="just">
              <a:lnSpc>
                <a:spcPct val="115000"/>
              </a:lnSpc>
              <a:buClr>
                <a:srgbClr val="000000"/>
              </a:buClr>
              <a:buSzPts val="2000"/>
              <a:buFont typeface="Arial"/>
              <a:buNone/>
            </a:pPr>
            <a:r>
              <a:rPr lang="en-US" sz="2000" b="1" kern="0" smtClean="0">
                <a:solidFill>
                  <a:srgbClr val="000000"/>
                </a:solidFill>
                <a:latin typeface="Times New Roman"/>
                <a:ea typeface="Times New Roman"/>
                <a:cs typeface="Times New Roman"/>
                <a:sym typeface="Times New Roman"/>
              </a:rPr>
              <a:t>2.   PTVT </a:t>
            </a:r>
            <a:r>
              <a:rPr lang="en-US" sz="2000" b="1" kern="0" dirty="0">
                <a:solidFill>
                  <a:srgbClr val="000000"/>
                </a:solidFill>
                <a:latin typeface="Times New Roman"/>
                <a:ea typeface="Times New Roman"/>
                <a:cs typeface="Times New Roman"/>
                <a:sym typeface="Times New Roman"/>
              </a:rPr>
              <a:t>DỰ PHÒNG FAK</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TGĐ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phê</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duyệt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mua</a:t>
            </a:r>
            <a:r>
              <a:rPr lang="en-US" sz="1600" kern="0" dirty="0">
                <a:solidFill>
                  <a:srgbClr val="000000"/>
                </a:solidFill>
                <a:latin typeface="Times New Roman"/>
                <a:ea typeface="Times New Roman"/>
                <a:cs typeface="Times New Roman"/>
                <a:sym typeface="Times New Roman"/>
              </a:rPr>
              <a:t> 63 item (5.18 </a:t>
            </a:r>
            <a:r>
              <a:rPr lang="en-US" sz="1600" kern="0" dirty="0" err="1">
                <a:solidFill>
                  <a:srgbClr val="000000"/>
                </a:solidFill>
                <a:latin typeface="Times New Roman"/>
                <a:ea typeface="Times New Roman"/>
                <a:cs typeface="Times New Roman"/>
                <a:sym typeface="Times New Roman"/>
              </a:rPr>
              <a:t>triệu</a:t>
            </a:r>
            <a:r>
              <a:rPr lang="en-US" sz="1600" kern="0" dirty="0">
                <a:solidFill>
                  <a:srgbClr val="000000"/>
                </a:solidFill>
                <a:latin typeface="Times New Roman"/>
                <a:ea typeface="Times New Roman"/>
                <a:cs typeface="Times New Roman"/>
                <a:sym typeface="Times New Roman"/>
              </a:rPr>
              <a:t> USD) trong </a:t>
            </a:r>
            <a:r>
              <a:rPr lang="en-US" sz="1600" kern="0" dirty="0" err="1">
                <a:solidFill>
                  <a:srgbClr val="000000"/>
                </a:solidFill>
                <a:latin typeface="Times New Roman"/>
                <a:ea typeface="Times New Roman"/>
                <a:cs typeface="Times New Roman"/>
                <a:sym typeface="Times New Roman"/>
              </a:rPr>
              <a:t>đó</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56 item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kho</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07 item lead time </a:t>
            </a:r>
            <a:r>
              <a:rPr lang="en-US" sz="1600" kern="0" dirty="0" err="1">
                <a:solidFill>
                  <a:srgbClr val="000000"/>
                </a:solidFill>
                <a:latin typeface="Times New Roman"/>
                <a:ea typeface="Times New Roman"/>
                <a:cs typeface="Times New Roman"/>
                <a:sym typeface="Times New Roman"/>
              </a:rPr>
              <a:t>dài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tiếp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tục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giục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470010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b6015720-aa74-4be3-ba0d-eab08776cb9b"/>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75959</TotalTime>
  <Words>13768</Words>
  <Application>Microsoft Office PowerPoint</Application>
  <PresentationFormat>Widescreen</PresentationFormat>
  <Paragraphs>2690</Paragraphs>
  <Slides>72</Slides>
  <Notes>65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72</vt:i4>
      </vt:variant>
    </vt:vector>
  </HeadingPairs>
  <TitlesOfParts>
    <vt:vector size="86" baseType="lpstr">
      <vt:lpstr>MS PGothic</vt:lpstr>
      <vt:lpstr>Aharoni</vt:lpstr>
      <vt:lpstr>Arial</vt:lpstr>
      <vt:lpstr>Calibri</vt:lpstr>
      <vt:lpstr>Cambria</vt:lpstr>
      <vt:lpstr>Exo</vt:lpstr>
      <vt:lpstr>Montserrat</vt:lpstr>
      <vt:lpstr>Montserrat SemiBold</vt:lpstr>
      <vt:lpstr>Symbol</vt:lpstr>
      <vt:lpstr>Tahoma</vt:lpstr>
      <vt:lpstr>Times New Roman</vt:lpstr>
      <vt:lpstr>Wingdings</vt:lpstr>
      <vt:lpstr>16-9 MASTER TEMPLATE</vt:lpstr>
      <vt:lpstr>Office Theme</vt:lpstr>
      <vt:lpstr>BÁO CÁO KỸ THUẬT (Tuần 22: 26/05/2025 – 01/06/2025)</vt:lpstr>
      <vt:lpstr>TỔNG HỢP AOG, DELAY VÀ GTB/ATB/DIV</vt:lpstr>
      <vt:lpstr>ATB/GTB COMPARISON</vt:lpstr>
      <vt:lpstr>CÁC SỰ KIỆN ATB/GTB/DIV</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A350</vt:lpstr>
      <vt:lpstr>PowerPoint Presentation</vt:lpstr>
      <vt:lpstr>PowerPoint Presentation</vt:lpstr>
      <vt:lpstr>TÌNH TRẠNG KỸ THUẬT ĐỘI BAY – B787</vt:lpstr>
      <vt:lpstr>PowerPoint Presentation</vt:lpstr>
      <vt:lpstr>TÌNH TRẠNG KỸ THUẬT ĐỘI BAY – B787</vt:lpstr>
      <vt:lpstr>TÌNH TRẠNG KỸ THUẬT ĐỘI BAY – B787</vt:lpstr>
      <vt:lpstr>TÌNH TRẠNG KỸ THUẬT ĐỘI BAY – B787</vt:lpstr>
      <vt:lpstr>TÌNH TRẠNG KỸ THUẬT ĐỘI BAY – B787</vt:lpstr>
      <vt:lpstr>PowerPoint Presentation</vt:lpstr>
      <vt:lpstr>PowerPoint Presentation</vt:lpstr>
      <vt:lpstr>PowerPoint Presentation</vt:lpstr>
      <vt:lpstr>TÌNH TRẠNG KỸ THUẬT ĐỘI BAY – ATR72</vt:lpstr>
      <vt:lpstr>TÌNH TRẠNG KỸ THUẬT ĐỘI BAY – ATR72</vt:lpstr>
      <vt:lpstr>TÌNH TRẠNG KỸ THUẬT ĐỘI BAY – ATR72</vt:lpstr>
      <vt:lpstr>TÌNH TRẠNG KỸ THUẬT ĐỘI BAY – ATR72</vt:lpstr>
      <vt:lpstr>DISPATCH RELIABILITY W22 (26/05/2025-01/06/2025)</vt:lpstr>
      <vt:lpstr>CÁC CÔNG VIỆC TRỌNG ĐIỂM TRONG TUẦN</vt:lpstr>
      <vt:lpstr>CÁC CÔNG VIỆC TRỌNG ĐIỂM TRONG TUẦN</vt:lpstr>
      <vt:lpstr>CÁC CÔNG VIỆC TRỌNG ĐIỂM</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A321 CÁC VẬT TƯ VƯỚNG MẮC (Chi tiết)</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Microsoft account</cp:lastModifiedBy>
  <cp:revision>11945</cp:revision>
  <cp:lastPrinted>2019-03-27T09:25:07Z</cp:lastPrinted>
  <dcterms:created xsi:type="dcterms:W3CDTF">2018-12-27T04:50:36Z</dcterms:created>
  <dcterms:modified xsi:type="dcterms:W3CDTF">2025-06-01T14:35:27Z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