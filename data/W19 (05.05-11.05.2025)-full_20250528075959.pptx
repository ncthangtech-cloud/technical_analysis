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5.xml" ContentType="application/vnd.openxmlformats-officedocument.presentationml.tags+xml"/>
  <Override PartName="/ppt/notesSlides/notesSlide25.xml" ContentType="application/vnd.openxmlformats-officedocument.presentationml.notesSlide+xml"/>
  <Override PartName="/ppt/charts/chart7.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3.xml" ContentType="application/vnd.openxmlformats-officedocument.drawingml.chart+xml"/>
  <Override PartName="/ppt/theme/themeOverride7.xml" ContentType="application/vnd.openxmlformats-officedocument.themeOverride+xml"/>
  <Override PartName="/ppt/notesSlides/notesSlide39.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notesSlides/notesSlide40.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9.xml" ContentType="application/vnd.openxmlformats-officedocument.themeOverride+xml"/>
  <Override PartName="/ppt/notesSlides/notesSlide41.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0.xml" ContentType="application/vnd.openxmlformats-officedocument.themeOverr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6"/>
  </p:notesMasterIdLst>
  <p:sldIdLst>
    <p:sldId id="11486" r:id="rId5"/>
    <p:sldId id="11487" r:id="rId6"/>
    <p:sldId id="11488" r:id="rId7"/>
    <p:sldId id="12313" r:id="rId8"/>
    <p:sldId id="12314" r:id="rId9"/>
    <p:sldId id="12315" r:id="rId10"/>
    <p:sldId id="11493" r:id="rId11"/>
    <p:sldId id="12316" r:id="rId12"/>
    <p:sldId id="12318" r:id="rId13"/>
    <p:sldId id="12306" r:id="rId14"/>
    <p:sldId id="12320" r:id="rId15"/>
    <p:sldId id="12321" r:id="rId16"/>
    <p:sldId id="12323" r:id="rId17"/>
    <p:sldId id="12324" r:id="rId18"/>
    <p:sldId id="4511" r:id="rId19"/>
    <p:sldId id="12325" r:id="rId20"/>
    <p:sldId id="12328" r:id="rId21"/>
    <p:sldId id="12331" r:id="rId22"/>
    <p:sldId id="12332" r:id="rId23"/>
    <p:sldId id="12310" r:id="rId24"/>
    <p:sldId id="12311" r:id="rId25"/>
    <p:sldId id="12329" r:id="rId26"/>
    <p:sldId id="12330" r:id="rId27"/>
    <p:sldId id="12327" r:id="rId28"/>
    <p:sldId id="12305" r:id="rId29"/>
    <p:sldId id="12309" r:id="rId30"/>
    <p:sldId id="12235" r:id="rId31"/>
    <p:sldId id="12284" r:id="rId32"/>
    <p:sldId id="12285" r:id="rId33"/>
    <p:sldId id="12092" r:id="rId34"/>
    <p:sldId id="11922" r:id="rId35"/>
    <p:sldId id="11943" r:id="rId36"/>
    <p:sldId id="11939" r:id="rId37"/>
    <p:sldId id="11936" r:id="rId38"/>
    <p:sldId id="11940" r:id="rId39"/>
    <p:sldId id="11944" r:id="rId40"/>
    <p:sldId id="11941" r:id="rId41"/>
    <p:sldId id="12312" r:id="rId42"/>
    <p:sldId id="11946" r:id="rId43"/>
    <p:sldId id="12187" r:id="rId44"/>
    <p:sldId id="12188" r:id="rId45"/>
    <p:sldId id="11403" r:id="rId46"/>
    <p:sldId id="11404" r:id="rId47"/>
    <p:sldId id="11902" r:id="rId48"/>
    <p:sldId id="11836" r:id="rId49"/>
    <p:sldId id="11545" r:id="rId50"/>
    <p:sldId id="12307" r:id="rId51"/>
    <p:sldId id="12308" r:id="rId52"/>
    <p:sldId id="11489" r:id="rId53"/>
    <p:sldId id="256" r:id="rId54"/>
    <p:sldId id="257" r:id="rId55"/>
    <p:sldId id="258" r:id="rId56"/>
    <p:sldId id="259" r:id="rId57"/>
    <p:sldId id="260" r:id="rId58"/>
    <p:sldId id="261" r:id="rId59"/>
    <p:sldId id="262" r:id="rId60"/>
    <p:sldId id="263" r:id="rId61"/>
    <p:sldId id="264" r:id="rId62"/>
    <p:sldId id="265" r:id="rId63"/>
    <p:sldId id="266" r:id="rId64"/>
    <p:sldId id="267" r:id="rId65"/>
    <p:sldId id="268" r:id="rId66"/>
    <p:sldId id="269" r:id="rId67"/>
    <p:sldId id="270" r:id="rId68"/>
    <p:sldId id="271" r:id="rId69"/>
    <p:sldId id="272" r:id="rId70"/>
    <p:sldId id="273" r:id="rId71"/>
    <p:sldId id="274" r:id="rId72"/>
    <p:sldId id="275" r:id="rId73"/>
    <p:sldId id="276" r:id="rId74"/>
    <p:sldId id="11888" r:id="rId7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87007" autoAdjust="0"/>
  </p:normalViewPr>
  <p:slideViewPr>
    <p:cSldViewPr>
      <p:cViewPr varScale="1">
        <p:scale>
          <a:sx n="64" d="100"/>
          <a:sy n="64" d="100"/>
        </p:scale>
        <p:origin x="928" y="52"/>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9\W19%20(05.05-11.05.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9\W19%20(05.05-11.05.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_ggdrive\work\B&#193;O%20C&#193;O\B&#225;o%20c&#225;o%20tu&#7847;n\2025\Week%2019\W19%20(05.05-11.05.2025).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thanh_ggdrive\work\B&#193;O%20C&#193;O\B&#225;o%20c&#225;o%20tu&#7847;n\2025\Week%2019\W19%20(05.05-11.05.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9\W19%20(05.05-11.05.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9\W19%20(05.05-11.05.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9\DR-W19.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9\W19%20(05.05-11.05.2025).xlsx" TargetMode="External"/><Relationship Id="rId1" Type="http://schemas.openxmlformats.org/officeDocument/2006/relationships/themeOverride" Target="../theme/themeOverride7.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1</c:v>
                </c:pt>
                <c:pt idx="1">
                  <c:v>6</c:v>
                </c:pt>
                <c:pt idx="2">
                  <c:v>2</c:v>
                </c:pt>
                <c:pt idx="3">
                  <c:v>3</c:v>
                </c:pt>
                <c:pt idx="4">
                  <c:v>1</c:v>
                </c:pt>
                <c:pt idx="5">
                  <c:v>13</c:v>
                </c:pt>
              </c:numCache>
            </c:numRef>
          </c:val>
          <c:extLst xmlns:c15="http://schemas.microsoft.com/office/drawing/2012/chart">
            <c:ext xmlns:c16="http://schemas.microsoft.com/office/drawing/2014/chart" uri="{C3380CC4-5D6E-409C-BE32-E72D297353CC}">
              <c16:uniqueId val="{00000000-4A78-4425-B5A8-BCBCE1FE27E9}"/>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1</c:v>
                </c:pt>
                <c:pt idx="2">
                  <c:v>2</c:v>
                </c:pt>
                <c:pt idx="3">
                  <c:v>3</c:v>
                </c:pt>
                <c:pt idx="4">
                  <c:v>1</c:v>
                </c:pt>
                <c:pt idx="5">
                  <c:v>7</c:v>
                </c:pt>
              </c:numCache>
            </c:numRef>
          </c:val>
          <c:extLst>
            <c:ext xmlns:c16="http://schemas.microsoft.com/office/drawing/2014/chart" uri="{C3380CC4-5D6E-409C-BE32-E72D297353CC}">
              <c16:uniqueId val="{00000001-4A78-4425-B5A8-BCBCE1FE27E9}"/>
            </c:ext>
          </c:extLst>
        </c:ser>
        <c:dLbls>
          <c:dLblPos val="outEnd"/>
          <c:showLegendKey val="0"/>
          <c:showVal val="1"/>
          <c:showCatName val="0"/>
          <c:showSerName val="0"/>
          <c:showPercent val="0"/>
          <c:showBubbleSize val="0"/>
        </c:dLbls>
        <c:gapWidth val="219"/>
        <c:overlap val="-27"/>
        <c:axId val="326994968"/>
        <c:axId val="326995752"/>
        <c:extLst/>
      </c:barChart>
      <c:catAx>
        <c:axId val="32699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5752"/>
        <c:crosses val="autoZero"/>
        <c:auto val="1"/>
        <c:lblAlgn val="ctr"/>
        <c:lblOffset val="100"/>
        <c:noMultiLvlLbl val="0"/>
      </c:catAx>
      <c:valAx>
        <c:axId val="3269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496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BB11-4F23-B335-CFD83032D456}"/>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1</c:v>
                </c:pt>
                <c:pt idx="3">
                  <c:v>0</c:v>
                </c:pt>
                <c:pt idx="4">
                  <c:v>1</c:v>
                </c:pt>
                <c:pt idx="5">
                  <c:v>2</c:v>
                </c:pt>
              </c:numCache>
            </c:numRef>
          </c:val>
          <c:extLst>
            <c:ext xmlns:c16="http://schemas.microsoft.com/office/drawing/2014/chart" uri="{C3380CC4-5D6E-409C-BE32-E72D297353CC}">
              <c16:uniqueId val="{00000001-BB11-4F23-B335-CFD83032D456}"/>
            </c:ext>
          </c:extLst>
        </c:ser>
        <c:dLbls>
          <c:showLegendKey val="0"/>
          <c:showVal val="0"/>
          <c:showCatName val="0"/>
          <c:showSerName val="0"/>
          <c:showPercent val="0"/>
          <c:showBubbleSize val="0"/>
        </c:dLbls>
        <c:gapWidth val="219"/>
        <c:overlap val="-27"/>
        <c:axId val="326996144"/>
        <c:axId val="326996536"/>
        <c:extLst/>
      </c:barChart>
      <c:catAx>
        <c:axId val="326996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536"/>
        <c:crosses val="autoZero"/>
        <c:auto val="1"/>
        <c:lblAlgn val="ctr"/>
        <c:lblOffset val="100"/>
        <c:noMultiLvlLbl val="0"/>
      </c:catAx>
      <c:valAx>
        <c:axId val="326996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14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0</c:v>
                </c:pt>
                <c:pt idx="3">
                  <c:v>0</c:v>
                </c:pt>
                <c:pt idx="4">
                  <c:v>0</c:v>
                </c:pt>
                <c:pt idx="5">
                  <c:v>2</c:v>
                </c:pt>
              </c:numCache>
            </c:numRef>
          </c:val>
          <c:extLst xmlns:c15="http://schemas.microsoft.com/office/drawing/2012/chart">
            <c:ext xmlns:c16="http://schemas.microsoft.com/office/drawing/2014/chart" uri="{C3380CC4-5D6E-409C-BE32-E72D297353CC}">
              <c16:uniqueId val="{00000000-F1B7-47FD-9E2E-3670A45DAC9A}"/>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3</c:v>
                </c:pt>
                <c:pt idx="3">
                  <c:v>0</c:v>
                </c:pt>
                <c:pt idx="4">
                  <c:v>0</c:v>
                </c:pt>
                <c:pt idx="5">
                  <c:v>5</c:v>
                </c:pt>
              </c:numCache>
            </c:numRef>
          </c:val>
          <c:extLst>
            <c:ext xmlns:c16="http://schemas.microsoft.com/office/drawing/2014/chart" uri="{C3380CC4-5D6E-409C-BE32-E72D297353CC}">
              <c16:uniqueId val="{00000001-F1B7-47FD-9E2E-3670A45DAC9A}"/>
            </c:ext>
          </c:extLst>
        </c:ser>
        <c:dLbls>
          <c:dLblPos val="outEnd"/>
          <c:showLegendKey val="0"/>
          <c:showVal val="1"/>
          <c:showCatName val="0"/>
          <c:showSerName val="0"/>
          <c:showPercent val="0"/>
          <c:showBubbleSize val="0"/>
        </c:dLbls>
        <c:gapWidth val="219"/>
        <c:overlap val="-27"/>
        <c:axId val="329779328"/>
        <c:axId val="329774232"/>
        <c:extLst/>
      </c:barChart>
      <c:catAx>
        <c:axId val="32977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232"/>
        <c:crosses val="autoZero"/>
        <c:auto val="1"/>
        <c:lblAlgn val="ctr"/>
        <c:lblOffset val="100"/>
        <c:noMultiLvlLbl val="0"/>
      </c:catAx>
      <c:valAx>
        <c:axId val="329774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9328"/>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694D-4F6E-8DC8-207E5A452BFB}"/>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2</c:v>
                </c:pt>
                <c:pt idx="3">
                  <c:v>0</c:v>
                </c:pt>
                <c:pt idx="4">
                  <c:v>0</c:v>
                </c:pt>
                <c:pt idx="5">
                  <c:v>2</c:v>
                </c:pt>
              </c:numCache>
            </c:numRef>
          </c:val>
          <c:extLst>
            <c:ext xmlns:c16="http://schemas.microsoft.com/office/drawing/2014/chart" uri="{C3380CC4-5D6E-409C-BE32-E72D297353CC}">
              <c16:uniqueId val="{00000001-694D-4F6E-8DC8-207E5A452BFB}"/>
            </c:ext>
          </c:extLst>
        </c:ser>
        <c:dLbls>
          <c:showLegendKey val="0"/>
          <c:showVal val="0"/>
          <c:showCatName val="0"/>
          <c:showSerName val="0"/>
          <c:showPercent val="0"/>
          <c:showBubbleSize val="0"/>
        </c:dLbls>
        <c:gapWidth val="219"/>
        <c:overlap val="-27"/>
        <c:axId val="329774624"/>
        <c:axId val="330488232"/>
        <c:extLst/>
      </c:barChart>
      <c:catAx>
        <c:axId val="329774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0488232"/>
        <c:crosses val="autoZero"/>
        <c:auto val="1"/>
        <c:lblAlgn val="ctr"/>
        <c:lblOffset val="100"/>
        <c:noMultiLvlLbl val="0"/>
      </c:catAx>
      <c:valAx>
        <c:axId val="330488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62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7E7A-452A-8564-482B99821B72}"/>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numCache>
            </c:numRef>
          </c:val>
          <c:smooth val="0"/>
          <c:extLst>
            <c:ext xmlns:c16="http://schemas.microsoft.com/office/drawing/2014/chart" uri="{C3380CC4-5D6E-409C-BE32-E72D297353CC}">
              <c16:uniqueId val="{00000001-7E7A-452A-8564-482B99821B72}"/>
            </c:ext>
          </c:extLst>
        </c:ser>
        <c:dLbls>
          <c:showLegendKey val="0"/>
          <c:showVal val="0"/>
          <c:showCatName val="0"/>
          <c:showSerName val="0"/>
          <c:showPercent val="0"/>
          <c:showBubbleSize val="0"/>
        </c:dLbls>
        <c:marker val="1"/>
        <c:smooth val="0"/>
        <c:axId val="325636512"/>
        <c:axId val="325632984"/>
      </c:lineChart>
      <c:catAx>
        <c:axId val="32563651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2984"/>
        <c:crosses val="autoZero"/>
        <c:auto val="1"/>
        <c:lblAlgn val="ctr"/>
        <c:lblOffset val="100"/>
        <c:noMultiLvlLbl val="0"/>
      </c:catAx>
      <c:valAx>
        <c:axId val="3256329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6512"/>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BF56-454F-8A75-3509B004D9B0}"/>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numCache>
            </c:numRef>
          </c:val>
          <c:smooth val="0"/>
          <c:extLst>
            <c:ext xmlns:c16="http://schemas.microsoft.com/office/drawing/2014/chart" uri="{C3380CC4-5D6E-409C-BE32-E72D297353CC}">
              <c16:uniqueId val="{00000001-BF56-454F-8A75-3509B004D9B0}"/>
            </c:ext>
          </c:extLst>
        </c:ser>
        <c:dLbls>
          <c:showLegendKey val="0"/>
          <c:showVal val="0"/>
          <c:showCatName val="0"/>
          <c:showSerName val="0"/>
          <c:showPercent val="0"/>
          <c:showBubbleSize val="0"/>
        </c:dLbls>
        <c:marker val="1"/>
        <c:smooth val="0"/>
        <c:axId val="325631808"/>
        <c:axId val="325638864"/>
      </c:lineChart>
      <c:catAx>
        <c:axId val="32563180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8864"/>
        <c:crosses val="autoZero"/>
        <c:auto val="1"/>
        <c:lblAlgn val="ctr"/>
        <c:lblOffset val="100"/>
        <c:noMultiLvlLbl val="0"/>
      </c:catAx>
      <c:valAx>
        <c:axId val="3256388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18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W18</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E7FB-4A8C-9CFC-3796C5C8E2DD}"/>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99.736611062335385</c:v>
                </c:pt>
                <c:pt idx="1">
                  <c:v>99.029126213592235</c:v>
                </c:pt>
                <c:pt idx="2">
                  <c:v>99.184782608695656</c:v>
                </c:pt>
                <c:pt idx="3">
                  <c:v>99.549549549549553</c:v>
                </c:pt>
              </c:numCache>
            </c:numRef>
          </c:val>
          <c:extLst>
            <c:ext xmlns:c16="http://schemas.microsoft.com/office/drawing/2014/chart" uri="{C3380CC4-5D6E-409C-BE32-E72D297353CC}">
              <c16:uniqueId val="{00000001-E7FB-4A8C-9CFC-3796C5C8E2DD}"/>
            </c:ext>
          </c:extLst>
        </c:ser>
        <c:ser>
          <c:idx val="1"/>
          <c:order val="1"/>
          <c:tx>
            <c:strRef>
              <c:f>DR!$D$3</c:f>
              <c:strCache>
                <c:ptCount val="1"/>
                <c:pt idx="0">
                  <c:v>W19</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99.850968703427725</c:v>
                </c:pt>
                <c:pt idx="1">
                  <c:v>98.378378378378372</c:v>
                </c:pt>
                <c:pt idx="2">
                  <c:v>99.147727272727266</c:v>
                </c:pt>
                <c:pt idx="3">
                  <c:v>99.029126213592235</c:v>
                </c:pt>
              </c:numCache>
            </c:numRef>
          </c:val>
          <c:extLst>
            <c:ext xmlns:c16="http://schemas.microsoft.com/office/drawing/2014/chart" uri="{C3380CC4-5D6E-409C-BE32-E72D297353CC}">
              <c16:uniqueId val="{00000002-E7FB-4A8C-9CFC-3796C5C8E2DD}"/>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7FB-4A8C-9CFC-3796C5C8E2DD}"/>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E7FB-4A8C-9CFC-3796C5C8E2DD}"/>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E7FB-4A8C-9CFC-3796C5C8E2DD}"/>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Sheet1!$D$8:$BC$8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Sheet1!$D$9:$BC$9</c:f>
              <c:numCache>
                <c:formatCode>General</c:formatCode>
                <c:ptCount val="16"/>
                <c:pt idx="0">
                  <c:v>31</c:v>
                </c:pt>
                <c:pt idx="1">
                  <c:v>30</c:v>
                </c:pt>
                <c:pt idx="2">
                  <c:v>29</c:v>
                </c:pt>
                <c:pt idx="3">
                  <c:v>27</c:v>
                </c:pt>
                <c:pt idx="4">
                  <c:v>25</c:v>
                </c:pt>
                <c:pt idx="5">
                  <c:v>24</c:v>
                </c:pt>
                <c:pt idx="6">
                  <c:v>24</c:v>
                </c:pt>
                <c:pt idx="7">
                  <c:v>23</c:v>
                </c:pt>
                <c:pt idx="8">
                  <c:v>23</c:v>
                </c:pt>
                <c:pt idx="9">
                  <c:v>23</c:v>
                </c:pt>
                <c:pt idx="10">
                  <c:v>22</c:v>
                </c:pt>
                <c:pt idx="11">
                  <c:v>22</c:v>
                </c:pt>
                <c:pt idx="12">
                  <c:v>22</c:v>
                </c:pt>
                <c:pt idx="13">
                  <c:v>22</c:v>
                </c:pt>
                <c:pt idx="14">
                  <c:v>24</c:v>
                </c:pt>
                <c:pt idx="15">
                  <c:v>24</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Sheet1!$D$10:$BC$10</c:f>
              <c:numCache>
                <c:formatCode>General</c:formatCode>
                <c:ptCount val="16"/>
                <c:pt idx="0">
                  <c:v>6</c:v>
                </c:pt>
                <c:pt idx="1">
                  <c:v>6</c:v>
                </c:pt>
                <c:pt idx="2">
                  <c:v>6</c:v>
                </c:pt>
                <c:pt idx="3">
                  <c:v>4</c:v>
                </c:pt>
                <c:pt idx="4">
                  <c:v>4</c:v>
                </c:pt>
                <c:pt idx="5">
                  <c:v>4</c:v>
                </c:pt>
                <c:pt idx="6">
                  <c:v>2</c:v>
                </c:pt>
                <c:pt idx="7">
                  <c:v>2</c:v>
                </c:pt>
                <c:pt idx="8">
                  <c:v>2</c:v>
                </c:pt>
                <c:pt idx="9">
                  <c:v>1</c:v>
                </c:pt>
                <c:pt idx="10">
                  <c:v>1</c:v>
                </c:pt>
                <c:pt idx="11">
                  <c:v>0</c:v>
                </c:pt>
                <c:pt idx="12">
                  <c:v>0</c:v>
                </c:pt>
                <c:pt idx="13">
                  <c:v>1</c:v>
                </c:pt>
                <c:pt idx="14">
                  <c:v>2</c:v>
                </c:pt>
                <c:pt idx="15">
                  <c:v>2</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Sheet1!$D$11:$BC$11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Sheet1!$D$12:$BC$12</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Sheet1!$A$10:$A$25</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Sheet1!$B$10:$B$25</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14.25</c:v>
                </c:pt>
                <c:pt idx="1">
                  <c:v>13.75</c:v>
                </c:pt>
                <c:pt idx="2">
                  <c:v>15.25</c:v>
                </c:pt>
                <c:pt idx="3">
                  <c:v>15</c:v>
                </c:pt>
                <c:pt idx="4">
                  <c:v>14.5</c:v>
                </c:pt>
                <c:pt idx="5">
                  <c:v>12</c:v>
                </c:pt>
                <c:pt idx="6">
                  <c:v>11.25</c:v>
                </c:pt>
                <c:pt idx="7">
                  <c:v>11.5</c:v>
                </c:pt>
                <c:pt idx="8">
                  <c:v>11.5</c:v>
                </c:pt>
                <c:pt idx="9">
                  <c:v>11.5</c:v>
                </c:pt>
                <c:pt idx="10">
                  <c:v>12</c:v>
                </c:pt>
                <c:pt idx="11">
                  <c:v>12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0.75</c:v>
                </c:pt>
                <c:pt idx="8">
                  <c:v>1.5</c:v>
                </c:pt>
                <c:pt idx="9">
                  <c:v>2</c:v>
                </c:pt>
                <c:pt idx="10">
                  <c:v>2</c:v>
                </c:pt>
                <c:pt idx="11">
                  <c:v>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3</c:v>
                </c:pt>
                <c:pt idx="2">
                  <c:v>0</c:v>
                </c:pt>
                <c:pt idx="3">
                  <c:v>2</c:v>
                </c:pt>
                <c:pt idx="4">
                  <c:v>0</c:v>
                </c:pt>
                <c:pt idx="5" formatCode="0">
                  <c:v>5</c:v>
                </c:pt>
              </c:numCache>
            </c:numRef>
          </c:val>
          <c:extLst>
            <c:ext xmlns:c16="http://schemas.microsoft.com/office/drawing/2014/chart" uri="{C3380CC4-5D6E-409C-BE32-E72D297353CC}">
              <c16:uniqueId val="{00000000-BCA9-4237-B7E3-4468A5A665CA}"/>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2</c:v>
                </c:pt>
                <c:pt idx="2">
                  <c:v>1</c:v>
                </c:pt>
                <c:pt idx="3">
                  <c:v>5</c:v>
                </c:pt>
                <c:pt idx="4">
                  <c:v>0</c:v>
                </c:pt>
                <c:pt idx="5" formatCode="0">
                  <c:v>8</c:v>
                </c:pt>
              </c:numCache>
            </c:numRef>
          </c:val>
          <c:extLst>
            <c:ext xmlns:c16="http://schemas.microsoft.com/office/drawing/2014/chart" uri="{C3380CC4-5D6E-409C-BE32-E72D297353CC}">
              <c16:uniqueId val="{00000001-BCA9-4237-B7E3-4468A5A665CA}"/>
            </c:ext>
          </c:extLst>
        </c:ser>
        <c:dLbls>
          <c:showLegendKey val="0"/>
          <c:showVal val="0"/>
          <c:showCatName val="0"/>
          <c:showSerName val="0"/>
          <c:showPercent val="0"/>
          <c:showBubbleSize val="0"/>
        </c:dLbls>
        <c:gapWidth val="150"/>
        <c:axId val="325637296"/>
        <c:axId val="325636120"/>
      </c:barChart>
      <c:catAx>
        <c:axId val="32563729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25636120"/>
        <c:crosses val="autoZero"/>
        <c:auto val="1"/>
        <c:lblAlgn val="ctr"/>
        <c:lblOffset val="100"/>
        <c:noMultiLvlLbl val="0"/>
      </c:catAx>
      <c:valAx>
        <c:axId val="325636120"/>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25637296"/>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6.3974505327245065E-2</c:v>
                </c:pt>
                <c:pt idx="1">
                  <c:v>8.1670391656023938E-2</c:v>
                </c:pt>
                <c:pt idx="2">
                  <c:v>8.5053661616161694E-2</c:v>
                </c:pt>
                <c:pt idx="3">
                  <c:v>0.14285714285714279</c:v>
                </c:pt>
                <c:pt idx="4">
                  <c:v>0.29947199265381103</c:v>
                </c:pt>
                <c:pt idx="5">
                  <c:v>0.28738179669030761</c:v>
                </c:pt>
                <c:pt idx="6">
                  <c:v>0.15353454415954415</c:v>
                </c:pt>
                <c:pt idx="7">
                  <c:v>0.13675951503990205</c:v>
                </c:pt>
                <c:pt idx="8">
                  <c:v>4.1953209277238404E-2</c:v>
                </c:pt>
              </c:numCache>
            </c:numRef>
          </c:val>
          <c:extLst>
            <c:ext xmlns:c16="http://schemas.microsoft.com/office/drawing/2014/chart" uri="{C3380CC4-5D6E-409C-BE32-E72D297353CC}">
              <c16:uniqueId val="{00000000-787E-48E8-B791-AA587BF2C5DF}"/>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6.3862517580872011E-2</c:v>
                </c:pt>
                <c:pt idx="1">
                  <c:v>8.1996482917025576E-2</c:v>
                </c:pt>
                <c:pt idx="2">
                  <c:v>8.4853361945636738E-2</c:v>
                </c:pt>
                <c:pt idx="3">
                  <c:v>0.15690513626834376</c:v>
                </c:pt>
                <c:pt idx="4">
                  <c:v>0.27014982502187257</c:v>
                </c:pt>
                <c:pt idx="5">
                  <c:v>0.24047619047619076</c:v>
                </c:pt>
                <c:pt idx="6">
                  <c:v>0.13133169934640521</c:v>
                </c:pt>
                <c:pt idx="7">
                  <c:v>0.13901289682539703</c:v>
                </c:pt>
                <c:pt idx="8">
                  <c:v>4.2307173678532921E-2</c:v>
                </c:pt>
              </c:numCache>
            </c:numRef>
          </c:val>
          <c:extLst>
            <c:ext xmlns:c16="http://schemas.microsoft.com/office/drawing/2014/chart" uri="{C3380CC4-5D6E-409C-BE32-E72D297353CC}">
              <c16:uniqueId val="{00000001-787E-48E8-B791-AA587BF2C5DF}"/>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6.9523809523809517</c:v>
                </c:pt>
                <c:pt idx="1">
                  <c:v>5.8872180451127818</c:v>
                </c:pt>
                <c:pt idx="2">
                  <c:v>5.2380952380952381</c:v>
                </c:pt>
                <c:pt idx="3">
                  <c:v>2.3896103896103895</c:v>
                </c:pt>
                <c:pt idx="4">
                  <c:v>2.9663865546218489</c:v>
                </c:pt>
                <c:pt idx="5">
                  <c:v>7.3571428571428568</c:v>
                </c:pt>
              </c:numCache>
            </c:numRef>
          </c:val>
          <c:extLst>
            <c:ext xmlns:c16="http://schemas.microsoft.com/office/drawing/2014/chart" uri="{C3380CC4-5D6E-409C-BE32-E72D297353CC}">
              <c16:uniqueId val="{00000000-202E-4615-82DE-D1EF1E7728E5}"/>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7.5238095238095246</c:v>
                </c:pt>
                <c:pt idx="1">
                  <c:v>5.8195488721804507</c:v>
                </c:pt>
                <c:pt idx="2">
                  <c:v>5.5476190476190466</c:v>
                </c:pt>
                <c:pt idx="3">
                  <c:v>2.5714285714285716</c:v>
                </c:pt>
                <c:pt idx="4">
                  <c:v>3.0672268907563023</c:v>
                </c:pt>
                <c:pt idx="5">
                  <c:v>7.3571428571428568</c:v>
                </c:pt>
              </c:numCache>
            </c:numRef>
          </c:val>
          <c:extLst>
            <c:ext xmlns:c16="http://schemas.microsoft.com/office/drawing/2014/chart" uri="{C3380CC4-5D6E-409C-BE32-E72D297353CC}">
              <c16:uniqueId val="{00000001-202E-4615-82DE-D1EF1E7728E5}"/>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5B1B-469A-BB68-32A006D8E16E}"/>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5B1B-469A-BB68-32A006D8E16E}"/>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5B1B-469A-BB68-32A006D8E16E}"/>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5B1B-469A-BB68-32A006D8E16E}"/>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5B1B-469A-BB68-32A006D8E16E}"/>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5B1B-469A-BB68-32A006D8E16E}"/>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5B1B-469A-BB68-32A006D8E16E}"/>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5B1B-469A-BB68-32A006D8E16E}"/>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45782</c:v>
                </c:pt>
                <c:pt idx="1">
                  <c:v>45783</c:v>
                </c:pt>
                <c:pt idx="2">
                  <c:v>45784</c:v>
                </c:pt>
                <c:pt idx="3">
                  <c:v>45785</c:v>
                </c:pt>
                <c:pt idx="4">
                  <c:v>45786</c:v>
                </c:pt>
                <c:pt idx="5">
                  <c:v>45787</c:v>
                </c:pt>
                <c:pt idx="6">
                  <c:v>45788</c:v>
                </c:pt>
                <c:pt idx="7">
                  <c:v>45789</c:v>
                </c:pt>
                <c:pt idx="8">
                  <c:v>45790</c:v>
                </c:pt>
                <c:pt idx="9">
                  <c:v>45791</c:v>
                </c:pt>
                <c:pt idx="10">
                  <c:v>45792</c:v>
                </c:pt>
                <c:pt idx="11">
                  <c:v>45793</c:v>
                </c:pt>
                <c:pt idx="12">
                  <c:v>45794</c:v>
                </c:pt>
                <c:pt idx="13">
                  <c:v>45795</c:v>
                </c:pt>
                <c:pt idx="14">
                  <c:v>45796</c:v>
                </c:pt>
                <c:pt idx="15">
                  <c:v>45797</c:v>
                </c:pt>
                <c:pt idx="16">
                  <c:v>45798</c:v>
                </c:pt>
                <c:pt idx="17">
                  <c:v>45799</c:v>
                </c:pt>
                <c:pt idx="18">
                  <c:v>45800</c:v>
                </c:pt>
                <c:pt idx="19">
                  <c:v>45801</c:v>
                </c:pt>
                <c:pt idx="20">
                  <c:v>45802</c:v>
                </c:pt>
                <c:pt idx="21">
                  <c:v>45803</c:v>
                </c:pt>
                <c:pt idx="22">
                  <c:v>45804</c:v>
                </c:pt>
                <c:pt idx="23">
                  <c:v>45805</c:v>
                </c:pt>
                <c:pt idx="24">
                  <c:v>45806</c:v>
                </c:pt>
                <c:pt idx="25">
                  <c:v>45807</c:v>
                </c:pt>
                <c:pt idx="26">
                  <c:v>45808</c:v>
                </c:pt>
                <c:pt idx="27">
                  <c:v>45809</c:v>
                </c:pt>
                <c:pt idx="28">
                  <c:v>45810</c:v>
                </c:pt>
                <c:pt idx="29">
                  <c:v>45811</c:v>
                </c:pt>
                <c:pt idx="30">
                  <c:v>45812</c:v>
                </c:pt>
                <c:pt idx="31">
                  <c:v>45813</c:v>
                </c:pt>
                <c:pt idx="32">
                  <c:v>45814</c:v>
                </c:pt>
                <c:pt idx="33">
                  <c:v>45815</c:v>
                </c:pt>
                <c:pt idx="34">
                  <c:v>45816</c:v>
                </c:pt>
                <c:pt idx="35">
                  <c:v>45817</c:v>
                </c:pt>
                <c:pt idx="36">
                  <c:v>45818</c:v>
                </c:pt>
                <c:pt idx="37">
                  <c:v>45819</c:v>
                </c:pt>
                <c:pt idx="38">
                  <c:v>45820</c:v>
                </c:pt>
                <c:pt idx="39">
                  <c:v>45821</c:v>
                </c:pt>
                <c:pt idx="40">
                  <c:v>45822</c:v>
                </c:pt>
                <c:pt idx="41">
                  <c:v>45823</c:v>
                </c:pt>
                <c:pt idx="42">
                  <c:v>45824</c:v>
                </c:pt>
                <c:pt idx="43">
                  <c:v>45825</c:v>
                </c:pt>
                <c:pt idx="44">
                  <c:v>45826</c:v>
                </c:pt>
                <c:pt idx="45">
                  <c:v>45827</c:v>
                </c:pt>
                <c:pt idx="46">
                  <c:v>45828</c:v>
                </c:pt>
                <c:pt idx="47">
                  <c:v>45829</c:v>
                </c:pt>
                <c:pt idx="48">
                  <c:v>45830</c:v>
                </c:pt>
                <c:pt idx="49">
                  <c:v>45831</c:v>
                </c:pt>
                <c:pt idx="50">
                  <c:v>45832</c:v>
                </c:pt>
                <c:pt idx="51">
                  <c:v>45833</c:v>
                </c:pt>
                <c:pt idx="52">
                  <c:v>45834</c:v>
                </c:pt>
                <c:pt idx="53">
                  <c:v>45835</c:v>
                </c:pt>
                <c:pt idx="54">
                  <c:v>45836</c:v>
                </c:pt>
              </c:numCache>
            </c:numRef>
          </c:cat>
          <c:val>
            <c:numRef>
              <c:f>Week!$B$36:$BD$36</c:f>
              <c:numCache>
                <c:formatCode>General</c:formatCode>
                <c:ptCount val="55"/>
                <c:pt idx="0">
                  <c:v>420</c:v>
                </c:pt>
                <c:pt idx="1">
                  <c:v>384</c:v>
                </c:pt>
                <c:pt idx="2">
                  <c:v>386</c:v>
                </c:pt>
                <c:pt idx="3">
                  <c:v>376</c:v>
                </c:pt>
                <c:pt idx="4">
                  <c:v>393</c:v>
                </c:pt>
                <c:pt idx="5">
                  <c:v>389</c:v>
                </c:pt>
                <c:pt idx="6">
                  <c:v>408</c:v>
                </c:pt>
                <c:pt idx="7">
                  <c:v>390</c:v>
                </c:pt>
                <c:pt idx="8">
                  <c:v>369</c:v>
                </c:pt>
                <c:pt idx="9">
                  <c:v>389</c:v>
                </c:pt>
                <c:pt idx="10">
                  <c:v>392</c:v>
                </c:pt>
                <c:pt idx="11">
                  <c:v>411</c:v>
                </c:pt>
                <c:pt idx="12">
                  <c:v>403</c:v>
                </c:pt>
                <c:pt idx="13">
                  <c:v>418</c:v>
                </c:pt>
                <c:pt idx="14">
                  <c:v>410</c:v>
                </c:pt>
                <c:pt idx="15">
                  <c:v>396</c:v>
                </c:pt>
                <c:pt idx="16">
                  <c:v>398</c:v>
                </c:pt>
                <c:pt idx="17">
                  <c:v>438</c:v>
                </c:pt>
                <c:pt idx="18">
                  <c:v>441</c:v>
                </c:pt>
                <c:pt idx="19">
                  <c:v>447</c:v>
                </c:pt>
                <c:pt idx="20">
                  <c:v>460</c:v>
                </c:pt>
                <c:pt idx="21">
                  <c:v>448</c:v>
                </c:pt>
                <c:pt idx="22">
                  <c:v>441</c:v>
                </c:pt>
                <c:pt idx="23">
                  <c:v>434</c:v>
                </c:pt>
                <c:pt idx="24">
                  <c:v>448</c:v>
                </c:pt>
                <c:pt idx="25">
                  <c:v>455</c:v>
                </c:pt>
                <c:pt idx="26">
                  <c:v>462</c:v>
                </c:pt>
                <c:pt idx="27">
                  <c:v>493</c:v>
                </c:pt>
                <c:pt idx="28">
                  <c:v>475</c:v>
                </c:pt>
                <c:pt idx="29">
                  <c:v>457</c:v>
                </c:pt>
                <c:pt idx="30">
                  <c:v>475</c:v>
                </c:pt>
                <c:pt idx="31">
                  <c:v>473</c:v>
                </c:pt>
                <c:pt idx="32">
                  <c:v>485</c:v>
                </c:pt>
                <c:pt idx="33">
                  <c:v>481</c:v>
                </c:pt>
                <c:pt idx="34">
                  <c:v>500</c:v>
                </c:pt>
                <c:pt idx="35">
                  <c:v>485</c:v>
                </c:pt>
                <c:pt idx="36">
                  <c:v>478</c:v>
                </c:pt>
                <c:pt idx="37">
                  <c:v>493</c:v>
                </c:pt>
                <c:pt idx="38">
                  <c:v>490</c:v>
                </c:pt>
                <c:pt idx="39">
                  <c:v>502</c:v>
                </c:pt>
                <c:pt idx="40">
                  <c:v>496</c:v>
                </c:pt>
                <c:pt idx="41">
                  <c:v>509</c:v>
                </c:pt>
                <c:pt idx="42">
                  <c:v>487</c:v>
                </c:pt>
                <c:pt idx="43">
                  <c:v>469</c:v>
                </c:pt>
                <c:pt idx="44">
                  <c:v>488</c:v>
                </c:pt>
                <c:pt idx="45">
                  <c:v>478</c:v>
                </c:pt>
                <c:pt idx="46">
                  <c:v>496</c:v>
                </c:pt>
                <c:pt idx="47">
                  <c:v>498</c:v>
                </c:pt>
                <c:pt idx="48">
                  <c:v>509</c:v>
                </c:pt>
                <c:pt idx="49">
                  <c:v>496</c:v>
                </c:pt>
                <c:pt idx="50">
                  <c:v>475</c:v>
                </c:pt>
                <c:pt idx="51">
                  <c:v>498</c:v>
                </c:pt>
                <c:pt idx="52">
                  <c:v>497</c:v>
                </c:pt>
                <c:pt idx="53">
                  <c:v>505</c:v>
                </c:pt>
                <c:pt idx="54">
                  <c:v>500</c:v>
                </c:pt>
              </c:numCache>
            </c:numRef>
          </c:val>
          <c:extLst>
            <c:ext xmlns:c16="http://schemas.microsoft.com/office/drawing/2014/chart" uri="{C3380CC4-5D6E-409C-BE32-E72D297353CC}">
              <c16:uniqueId val="{00000010-5B1B-469A-BB68-32A006D8E16E}"/>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5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5/11/2025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777988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2DD12-E94D-178B-74C8-B417E1C02455}"/>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EEEE7D-681D-423A-370D-16BCDFFBAF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7DB50ABA-79C0-6D9C-4D0C-F67C92B2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AF3C5B10-FFC7-87FF-4A7A-7F3A978E3B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27391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2A771-492F-E1B3-B973-A3B539FDF605}"/>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9691960-148F-1CA4-327F-81B72B1BD7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AC81609-E3D8-F489-8A6F-253E50E249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5641D3A7-4CDA-82DD-0F8B-FCC0AE8306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417187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5383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8D27FB2-A2F5-FF0F-B352-ED3B8671C2F8}"/>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3D42367-482B-0487-8299-97239D1ABE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3F2A03B5-EB8D-BF95-8E99-FF60E4A6BF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DAC72CB-317E-4B43-7D9A-693AD6EA9E4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10830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lnSpc>
                <a:spcPts val="2125"/>
              </a:lnSpc>
              <a:buSzPct val="100000"/>
              <a:buFontTx/>
              <a:buNone/>
            </a:pPr>
            <a:endParaRPr lang="en-US" altLang="en-US" sz="7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78876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4792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7A36DBB-A629-B78A-3A3C-6A7BF2F3836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DB588A3-F32E-5AF7-C273-B8EF38FC9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3B05EABD-7D5F-8632-541D-DF09D46597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EEF918C1-A392-818F-A150-0D282AAB61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90744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6ED8B96-7160-34FA-E698-2E4AFEDF9EE4}"/>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ECF6323-09A5-6C49-E36C-EC4756BCDB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7572F01-9F80-076C-81F8-21985890515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18BBEEBA-E6E6-95BB-F678-6E0EC6509B5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51587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EDD86C3-0844-09B5-6799-2B081162734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FE4D2DB-C2BD-6974-2DE7-5BDEB5F69F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13D7C29D-55C2-5A01-B1E5-669052D022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847672BC-AED6-9E03-B619-0799F60AB7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2661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D21C-0CC5-DEE0-9BEF-8F9F61024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1D1F3-43D6-0707-64E6-170906E50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ECEFD-4136-CACC-5E39-A190C0EAE21A}"/>
              </a:ext>
            </a:extLst>
          </p:cNvPr>
          <p:cNvSpPr>
            <a:spLocks noGrp="1"/>
          </p:cNvSpPr>
          <p:nvPr>
            <p:ph type="body" idx="1"/>
          </p:nvPr>
        </p:nvSpPr>
        <p:spPr/>
        <p:txBody>
          <a:bodyPr/>
          <a:lstStyle/>
          <a:p>
            <a:r>
              <a:rPr lang="en-US" sz="1000" dirty="0" err="1"/>
              <a:t>Hiện</a:t>
            </a:r>
            <a:r>
              <a:rPr lang="en-US" sz="1000" dirty="0"/>
              <a:t> </a:t>
            </a:r>
            <a:r>
              <a:rPr lang="en-US" sz="1000" dirty="0" err="1"/>
              <a:t>tại</a:t>
            </a:r>
            <a:r>
              <a:rPr lang="en-US" sz="1000" dirty="0"/>
              <a:t>, </a:t>
            </a:r>
            <a:r>
              <a:rPr lang="en-US" sz="1000" dirty="0" err="1"/>
              <a:t>đang</a:t>
            </a:r>
            <a:r>
              <a:rPr lang="en-US" sz="1000" dirty="0"/>
              <a:t> </a:t>
            </a:r>
            <a:r>
              <a:rPr lang="en-US" sz="1000" dirty="0" err="1"/>
              <a:t>thực</a:t>
            </a:r>
            <a:r>
              <a:rPr lang="en-US" sz="1000" dirty="0"/>
              <a:t> </a:t>
            </a:r>
            <a:r>
              <a:rPr lang="en-US" sz="1000" dirty="0" err="1"/>
              <a:t>hiện</a:t>
            </a:r>
            <a:r>
              <a:rPr lang="en-US" sz="1000" dirty="0"/>
              <a:t> </a:t>
            </a:r>
            <a:r>
              <a:rPr lang="en-US" sz="1000" dirty="0" err="1"/>
              <a:t>nâng</a:t>
            </a:r>
            <a:r>
              <a:rPr lang="en-US" sz="1000" dirty="0"/>
              <a:t> </a:t>
            </a:r>
            <a:r>
              <a:rPr lang="en-US" sz="1000" dirty="0" err="1"/>
              <a:t>cấp</a:t>
            </a:r>
            <a:r>
              <a:rPr lang="en-US" sz="1000" dirty="0"/>
              <a:t> </a:t>
            </a:r>
            <a:r>
              <a:rPr lang="en-US" sz="1000" dirty="0" err="1"/>
              <a:t>phần</a:t>
            </a:r>
            <a:r>
              <a:rPr lang="en-US" sz="1000" dirty="0"/>
              <a:t> </a:t>
            </a:r>
            <a:r>
              <a:rPr lang="en-US" sz="1000" dirty="0" err="1"/>
              <a:t>mềm</a:t>
            </a:r>
            <a:r>
              <a:rPr lang="en-US" sz="1000" dirty="0"/>
              <a:t> HMCA ST6 </a:t>
            </a:r>
            <a:r>
              <a:rPr lang="en-US" sz="1000" dirty="0" err="1"/>
              <a:t>theo</a:t>
            </a:r>
            <a:r>
              <a:rPr lang="en-US" sz="1000" dirty="0"/>
              <a:t> SB 29-P051, </a:t>
            </a:r>
            <a:r>
              <a:rPr lang="en-US" sz="1000" dirty="0" err="1"/>
              <a:t>đã</a:t>
            </a:r>
            <a:r>
              <a:rPr lang="en-US" sz="1000" dirty="0"/>
              <a:t> </a:t>
            </a:r>
            <a:r>
              <a:rPr lang="en-US" sz="1000" dirty="0" err="1"/>
              <a:t>nâng</a:t>
            </a:r>
            <a:r>
              <a:rPr lang="en-US" sz="1000" dirty="0"/>
              <a:t> </a:t>
            </a:r>
            <a:r>
              <a:rPr lang="en-US" sz="1000" dirty="0" err="1"/>
              <a:t>cấp</a:t>
            </a:r>
            <a:r>
              <a:rPr lang="en-US" sz="1000" dirty="0"/>
              <a:t> đ</a:t>
            </a:r>
            <a:r>
              <a:rPr lang="vi-VN" sz="1000" dirty="0"/>
              <a:t>ư</a:t>
            </a:r>
            <a:r>
              <a:rPr lang="en-US" sz="1000" dirty="0" err="1"/>
              <a:t>ợc</a:t>
            </a:r>
            <a:r>
              <a:rPr lang="en-US" sz="1000" dirty="0"/>
              <a:t> 8/14 </a:t>
            </a:r>
            <a:r>
              <a:rPr lang="en-US" sz="1000" dirty="0" err="1"/>
              <a:t>tàu</a:t>
            </a:r>
            <a:r>
              <a:rPr lang="en-US" sz="1000" dirty="0"/>
              <a:t>, </a:t>
            </a:r>
            <a:r>
              <a:rPr lang="en-US" sz="1000" dirty="0" err="1"/>
              <a:t>dự</a:t>
            </a:r>
            <a:r>
              <a:rPr lang="en-US" sz="1000" dirty="0"/>
              <a:t> </a:t>
            </a:r>
            <a:r>
              <a:rPr lang="en-US" sz="1000" dirty="0" err="1"/>
              <a:t>kiến</a:t>
            </a:r>
            <a:r>
              <a:rPr lang="en-US" sz="1000" dirty="0"/>
              <a:t> </a:t>
            </a:r>
            <a:r>
              <a:rPr lang="en-US" sz="1000" dirty="0" err="1"/>
              <a:t>hoàn</a:t>
            </a:r>
            <a:r>
              <a:rPr lang="en-US" sz="1000" dirty="0"/>
              <a:t> </a:t>
            </a:r>
            <a:r>
              <a:rPr lang="en-US" sz="1000" dirty="0" err="1"/>
              <a:t>thành</a:t>
            </a:r>
            <a:r>
              <a:rPr lang="en-US" sz="1000" dirty="0"/>
              <a:t> tr</a:t>
            </a:r>
            <a:r>
              <a:rPr lang="vi-VN" sz="1000" dirty="0"/>
              <a:t>ư</a:t>
            </a:r>
            <a:r>
              <a:rPr lang="en-US" sz="1000" dirty="0" err="1"/>
              <a:t>ớc</a:t>
            </a:r>
            <a:r>
              <a:rPr lang="en-US" sz="1000" dirty="0"/>
              <a:t> </a:t>
            </a:r>
            <a:r>
              <a:rPr lang="en-US" sz="1000" dirty="0" err="1"/>
              <a:t>cao</a:t>
            </a:r>
            <a:r>
              <a:rPr lang="en-US" sz="1000" dirty="0"/>
              <a:t> </a:t>
            </a:r>
            <a:r>
              <a:rPr lang="en-US" sz="1000" dirty="0" err="1"/>
              <a:t>điểm</a:t>
            </a:r>
            <a:r>
              <a:rPr lang="en-US" sz="1000" dirty="0"/>
              <a:t> </a:t>
            </a:r>
            <a:r>
              <a:rPr lang="en-US" sz="1000" dirty="0" err="1"/>
              <a:t>hè</a:t>
            </a:r>
            <a:r>
              <a:rPr lang="en-US" sz="1000" dirty="0"/>
              <a:t> </a:t>
            </a:r>
            <a:r>
              <a:rPr lang="en-US" sz="1000" dirty="0" err="1"/>
              <a:t>vào</a:t>
            </a:r>
            <a:r>
              <a:rPr lang="en-US" sz="1000" dirty="0"/>
              <a:t> 30/06.</a:t>
            </a:r>
          </a:p>
          <a:p>
            <a:r>
              <a:rPr lang="en-US" sz="1000" dirty="0"/>
              <a:t>CÁC TÀU CHƯA THỰC HIỆN</a:t>
            </a:r>
          </a:p>
          <a:p>
            <a:r>
              <a:rPr lang="en-US" sz="1000" dirty="0"/>
              <a:t>A886 (BQDB), A887 (BQDB), A893 (16/MAY), A895 (BQDB) , A896 (20/JUN) , A897 (21/MAY)</a:t>
            </a:r>
          </a:p>
        </p:txBody>
      </p:sp>
      <p:sp>
        <p:nvSpPr>
          <p:cNvPr id="4" name="Slide Number Placeholder 3">
            <a:extLst>
              <a:ext uri="{FF2B5EF4-FFF2-40B4-BE49-F238E27FC236}">
                <a16:creationId xmlns:a16="http://schemas.microsoft.com/office/drawing/2014/main" id="{C736246A-9496-BDE5-1629-2694B31F196D}"/>
              </a:ext>
            </a:extLst>
          </p:cNvPr>
          <p:cNvSpPr>
            <a:spLocks noGrp="1"/>
          </p:cNvSpPr>
          <p:nvPr>
            <p:ph type="sldNum" sz="quarter" idx="10"/>
          </p:nvPr>
        </p:nvSpPr>
        <p:spPr/>
        <p:txBody>
          <a:bodyPr/>
          <a:lstStyle/>
          <a:p>
            <a:fld id="{19A373DA-F9AA-A644-86AE-7CBAAC246365}" type="slidenum">
              <a:rPr lang="en-US" smtClean="0"/>
              <a:t>15</a:t>
            </a:fld>
            <a:endParaRPr lang="en-US"/>
          </a:p>
        </p:txBody>
      </p:sp>
    </p:spTree>
    <p:extLst>
      <p:ext uri="{BB962C8B-B14F-4D97-AF65-F5344CB8AC3E}">
        <p14:creationId xmlns:p14="http://schemas.microsoft.com/office/powerpoint/2010/main" val="1606006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3402023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66183D5-D8B6-DD0E-93E5-66F79F5464A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20614A4-E722-82C3-444B-EC93149074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1389763-8D73-A762-4C40-D79841CBFE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F08C4FB-5720-0B40-FC9D-804809B5F6A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79798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CE284E3-7E4F-58B5-5AB4-92577B22CEB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EE015D2-8DE6-FCD3-BFAC-4E619F4CF6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F125883-0BA6-D2DA-7E4B-8C396D4D46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BB65E3A2-AD5D-E140-C218-9F677A8E22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0420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357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64037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48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008183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1990159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28025538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32043775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34598918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37</a:t>
            </a:fld>
            <a:endParaRPr lang="en-US"/>
          </a:p>
        </p:txBody>
      </p:sp>
    </p:spTree>
    <p:extLst>
      <p:ext uri="{BB962C8B-B14F-4D97-AF65-F5344CB8AC3E}">
        <p14:creationId xmlns:p14="http://schemas.microsoft.com/office/powerpoint/2010/main" val="35151609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2413302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38662724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41</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42</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2989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45</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10371076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extLst>
      <p:ext uri="{BB962C8B-B14F-4D97-AF65-F5344CB8AC3E}">
        <p14:creationId xmlns:p14="http://schemas.microsoft.com/office/powerpoint/2010/main" val="32043816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308188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436493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80101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12540246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941781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8112612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27184003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769367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23644935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175734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416812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31326242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40645755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25666897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22215657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1883152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35056420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371812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870688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25021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5/11/2025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0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5.xml"/><Relationship Id="rId4" Type="http://schemas.openxmlformats.org/officeDocument/2006/relationships/chart" Target="../charts/char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19</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05/05/2025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11</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008456130"/>
              </p:ext>
            </p:extLst>
          </p:nvPr>
        </p:nvGraphicFramePr>
        <p:xfrm>
          <a:off x="6329507" y="963939"/>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2340040800"/>
              </p:ext>
            </p:extLst>
          </p:nvPr>
        </p:nvGraphicFramePr>
        <p:xfrm>
          <a:off x="1679597" y="3609756"/>
          <a:ext cx="4098451" cy="2291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537839080"/>
              </p:ext>
            </p:extLst>
          </p:nvPr>
        </p:nvGraphicFramePr>
        <p:xfrm>
          <a:off x="1689122" y="948130"/>
          <a:ext cx="4117501"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1591230243"/>
              </p:ext>
            </p:extLst>
          </p:nvPr>
        </p:nvGraphicFramePr>
        <p:xfrm>
          <a:off x="6335493" y="3618485"/>
          <a:ext cx="4176910" cy="229138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79887464"/>
              </p:ext>
            </p:extLst>
          </p:nvPr>
        </p:nvGraphicFramePr>
        <p:xfrm>
          <a:off x="1296111" y="1076594"/>
          <a:ext cx="9599778" cy="26613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821111351"/>
              </p:ext>
            </p:extLst>
          </p:nvPr>
        </p:nvGraphicFramePr>
        <p:xfrm>
          <a:off x="1294351" y="3905803"/>
          <a:ext cx="9589473" cy="265994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02</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492AE775-48E9-6936-9557-AB37C1283972}"/>
              </a:ext>
            </a:extLst>
          </p:cNvPr>
          <p:cNvGraphicFramePr>
            <a:graphicFrameLocks noGrp="1"/>
          </p:cNvGraphicFramePr>
          <p:nvPr/>
        </p:nvGraphicFramePr>
        <p:xfrm>
          <a:off x="261529" y="1143000"/>
          <a:ext cx="11668941" cy="5548606"/>
        </p:xfrm>
        <a:graphic>
          <a:graphicData uri="http://schemas.openxmlformats.org/drawingml/2006/table">
            <a:tbl>
              <a:tblPr/>
              <a:tblGrid>
                <a:gridCol w="321083">
                  <a:extLst>
                    <a:ext uri="{9D8B030D-6E8A-4147-A177-3AD203B41FA5}">
                      <a16:colId xmlns:a16="http://schemas.microsoft.com/office/drawing/2014/main" val="3832153777"/>
                    </a:ext>
                  </a:extLst>
                </a:gridCol>
                <a:gridCol w="331788">
                  <a:extLst>
                    <a:ext uri="{9D8B030D-6E8A-4147-A177-3AD203B41FA5}">
                      <a16:colId xmlns:a16="http://schemas.microsoft.com/office/drawing/2014/main" val="2801288844"/>
                    </a:ext>
                  </a:extLst>
                </a:gridCol>
                <a:gridCol w="509451">
                  <a:extLst>
                    <a:ext uri="{9D8B030D-6E8A-4147-A177-3AD203B41FA5}">
                      <a16:colId xmlns:a16="http://schemas.microsoft.com/office/drawing/2014/main" val="3266840810"/>
                    </a:ext>
                  </a:extLst>
                </a:gridCol>
                <a:gridCol w="457200">
                  <a:extLst>
                    <a:ext uri="{9D8B030D-6E8A-4147-A177-3AD203B41FA5}">
                      <a16:colId xmlns:a16="http://schemas.microsoft.com/office/drawing/2014/main" val="3605852202"/>
                    </a:ext>
                  </a:extLst>
                </a:gridCol>
                <a:gridCol w="457200">
                  <a:extLst>
                    <a:ext uri="{9D8B030D-6E8A-4147-A177-3AD203B41FA5}">
                      <a16:colId xmlns:a16="http://schemas.microsoft.com/office/drawing/2014/main" val="1531018077"/>
                    </a:ext>
                  </a:extLst>
                </a:gridCol>
                <a:gridCol w="457200">
                  <a:extLst>
                    <a:ext uri="{9D8B030D-6E8A-4147-A177-3AD203B41FA5}">
                      <a16:colId xmlns:a16="http://schemas.microsoft.com/office/drawing/2014/main" val="3612329399"/>
                    </a:ext>
                  </a:extLst>
                </a:gridCol>
                <a:gridCol w="1319349">
                  <a:extLst>
                    <a:ext uri="{9D8B030D-6E8A-4147-A177-3AD203B41FA5}">
                      <a16:colId xmlns:a16="http://schemas.microsoft.com/office/drawing/2014/main" val="1096506246"/>
                    </a:ext>
                  </a:extLst>
                </a:gridCol>
                <a:gridCol w="4191000">
                  <a:extLst>
                    <a:ext uri="{9D8B030D-6E8A-4147-A177-3AD203B41FA5}">
                      <a16:colId xmlns:a16="http://schemas.microsoft.com/office/drawing/2014/main" val="2728046097"/>
                    </a:ext>
                  </a:extLst>
                </a:gridCol>
                <a:gridCol w="381000">
                  <a:extLst>
                    <a:ext uri="{9D8B030D-6E8A-4147-A177-3AD203B41FA5}">
                      <a16:colId xmlns:a16="http://schemas.microsoft.com/office/drawing/2014/main" val="777574623"/>
                    </a:ext>
                  </a:extLst>
                </a:gridCol>
                <a:gridCol w="3243670">
                  <a:extLst>
                    <a:ext uri="{9D8B030D-6E8A-4147-A177-3AD203B41FA5}">
                      <a16:colId xmlns:a16="http://schemas.microsoft.com/office/drawing/2014/main" val="1324275825"/>
                    </a:ext>
                  </a:extLst>
                </a:gridCol>
              </a:tblGrid>
              <a:tr h="258197">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18543651"/>
                  </a:ext>
                </a:extLst>
              </a:tr>
              <a:tr h="3592035">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A896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HAN-CDG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08:30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ATB A896 ENG 2 SINGLE FIRE LOOP +  HYD ENG 1 (Y) A896/HAN/ATB/AOG: A896 VN19 HAN-CDG ATB DUE TO CAPT REPORT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ENG 2 SINGLE FIRE LOOP</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2. HYD ENG 1 (Y)</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3. OVER WEIGHT L/D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RPL 02 PUMP Y SYS , 4 CASE DRAIN FILTER , 2 HP Y SYS FILTER, 1 LP SYS FILTER.</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ERU 3 TIMES, FLUSHING &amp;amp; DRAIN Y SYS 3 TIMES.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FILLED 20 QT HYD INTO Y SYSTEM.</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RECONFIG L/G REF MP 32-XXXX-04001-397A;FOUND SATIS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A/C SERVICEABLE AT 19:40&lt;/p&gt; ATB A896 ENG 2 SINGLE FIRE LOOP + HYD ENG 1 (Y) EVENT CLOSED &lt;p&gt;*Ca 1 ngày 10/05: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- 08:15: Tàu A896 được kéo vào đến vị trí 26</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Khách và hàng hóa được chuyển sang tàu A892 ở vị trí 25.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- 09:30: Tàu A896 kéo được vào đến bãi nổ để kiểm tra kỹ thuật.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- 17:45 : CRS báo A896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1 - OVERWEIGT L/D - REF AFI 05-51-11-00001-282A</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CHK SAR FILE 0096 AND SOMF FROM AIRBUS NO HARD LD NO INSP NECESSARY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2- HYD Y SYS HI TEM , CASE DRAIN FILTER CLOG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REF AFI 29-13-XX-0W001-421A AND 29-13-0M001-421A</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02 PUMP Y SYS , 4 LỌC CASE DRAIN FILTER , 2 LỌC HP Y SYS, 1 LỌC LP SYS , NỔ MÁY ĐC 3 LẦN ; FLUSHING VÀ DRAIN Y SYS 3 LẦN; ĐÃ NẠP 20 QT HYD VÀO Y SYS.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*Ca 2 ngày 10/05: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Hoàn thành RECONFIG L/G REF MP 32-XX-XX-04001-397A và báo tàu serviceable lúc 19:40&lt;/p&gt; &lt;p&gt;A/C DELAY 10H55; DUE TO ATB AND OPERATION; TECH DELAY: 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do Y EDP 1 như nêu trong TFU 29.10.00061, nguyên nhân do Piston shoe bị mài mòn dẫn đến overheat hê thống thủy lực.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EDP này nhận từ FHS từ Dec/ 2022, TSN = 11,801 FH, CSN = 2,131 FC, TSI =9,255 FH, CSI=1,531 FC.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Hiện tại, Parker đã ban hành VSB để nâng cấp lên EDP-07, nhưng chỉ thực hiện on-attrition. Ngoài ra, để lắp được EDP-07 sẽ phải thực hiện nâng cấp phần mềm thủy lực HMCA S6 (hiện tại đã thực hiện được 8/14 tàu bay)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mn-lt"/>
                          <a:cs typeface="Times New Roman" panose="02020603050405020304" pitchFamily="18" charset="0"/>
                        </a:rPr>
                        <a:t>Các tàu chưa thực hiện và kế hoạch nâng cấp: A886 (BQDB), A887 (BQDB), A893 (16/MAY), A895 (BQDB), A896 (20/JUN), A897 (21/MAY)</a:t>
                      </a:r>
                      <a:r>
                        <a:rPr lang="en-US" sz="1100" b="0" i="0" u="none" strike="noStrike" dirty="0">
                          <a:solidFill>
                            <a:srgbClr val="000000"/>
                          </a:solidFill>
                          <a:effectLst/>
                          <a:latin typeface="+mn-lt"/>
                          <a:cs typeface="Times New Roman" panose="02020603050405020304" pitchFamily="18" charset="0"/>
                        </a:rPr>
                        <a: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998791"/>
                  </a:ext>
                </a:extLst>
              </a:tr>
              <a:tr h="1407567">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A888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14:07 08/05/2025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GTB DUE TO EMER BATT#1 FAULT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&lt;p&gt;total delay 45min, tech delay 15min&lt;/p&gt; REPLACED EMER BATT#1, CHECK SATIS. EVENT CLOSED &lt;p&gt;&lt;/p&gt;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Emer Battery PN 505CH2 (loại Ni-cad). Với hỏng hóc dạng này, có thể swap emer Batt và Main Batt để raise MEL, tiếp tục khai thác.</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Battery này có độ tin cậy tốt, từ lúc khai thác MTBUR đạt 65291FH &gt; GMTBUR 12700FH. Khối tháo xuống có giờ hoạt động tương đối cao: TSN 27513 FH, CSN 7681, tuy nhiên khối vừa làm OVH tại VSTEA T2/2025, Ban KT sẽ lấy SFR để phân tích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7227396"/>
                  </a:ext>
                </a:extLst>
              </a:tr>
            </a:tbl>
          </a:graphicData>
        </a:graphic>
      </p:graphicFrame>
    </p:spTree>
    <p:custDataLst>
      <p:tags r:id="rId1"/>
    </p:custDataLst>
    <p:extLst>
      <p:ext uri="{BB962C8B-B14F-4D97-AF65-F5344CB8AC3E}">
        <p14:creationId xmlns:p14="http://schemas.microsoft.com/office/powerpoint/2010/main" val="37045123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180C-E78F-B730-2691-644A9BC497E9}"/>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3B270878-846D-2211-2039-EBB34E047771}"/>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ECAFBCE2-C8B8-0984-FCDE-01705CC3EEAD}"/>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6039D5BE-5347-A1DB-01C1-9188B7F66000}"/>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02</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0A428997-55D0-9204-67B2-4D5C54C9C835}"/>
              </a:ext>
            </a:extLst>
          </p:cNvPr>
          <p:cNvGraphicFramePr>
            <a:graphicFrameLocks noGrp="1"/>
          </p:cNvGraphicFramePr>
          <p:nvPr/>
        </p:nvGraphicFramePr>
        <p:xfrm>
          <a:off x="261529" y="1143001"/>
          <a:ext cx="11668941" cy="4495799"/>
        </p:xfrm>
        <a:graphic>
          <a:graphicData uri="http://schemas.openxmlformats.org/drawingml/2006/table">
            <a:tbl>
              <a:tblPr/>
              <a:tblGrid>
                <a:gridCol w="321083">
                  <a:extLst>
                    <a:ext uri="{9D8B030D-6E8A-4147-A177-3AD203B41FA5}">
                      <a16:colId xmlns:a16="http://schemas.microsoft.com/office/drawing/2014/main" val="3832153777"/>
                    </a:ext>
                  </a:extLst>
                </a:gridCol>
                <a:gridCol w="304800">
                  <a:extLst>
                    <a:ext uri="{9D8B030D-6E8A-4147-A177-3AD203B41FA5}">
                      <a16:colId xmlns:a16="http://schemas.microsoft.com/office/drawing/2014/main" val="2801288844"/>
                    </a:ext>
                  </a:extLst>
                </a:gridCol>
                <a:gridCol w="536439">
                  <a:extLst>
                    <a:ext uri="{9D8B030D-6E8A-4147-A177-3AD203B41FA5}">
                      <a16:colId xmlns:a16="http://schemas.microsoft.com/office/drawing/2014/main" val="3266840810"/>
                    </a:ext>
                  </a:extLst>
                </a:gridCol>
                <a:gridCol w="457200">
                  <a:extLst>
                    <a:ext uri="{9D8B030D-6E8A-4147-A177-3AD203B41FA5}">
                      <a16:colId xmlns:a16="http://schemas.microsoft.com/office/drawing/2014/main" val="3605852202"/>
                    </a:ext>
                  </a:extLst>
                </a:gridCol>
                <a:gridCol w="457200">
                  <a:extLst>
                    <a:ext uri="{9D8B030D-6E8A-4147-A177-3AD203B41FA5}">
                      <a16:colId xmlns:a16="http://schemas.microsoft.com/office/drawing/2014/main" val="1531018077"/>
                    </a:ext>
                  </a:extLst>
                </a:gridCol>
                <a:gridCol w="457200">
                  <a:extLst>
                    <a:ext uri="{9D8B030D-6E8A-4147-A177-3AD203B41FA5}">
                      <a16:colId xmlns:a16="http://schemas.microsoft.com/office/drawing/2014/main" val="3612329399"/>
                    </a:ext>
                  </a:extLst>
                </a:gridCol>
                <a:gridCol w="1319349">
                  <a:extLst>
                    <a:ext uri="{9D8B030D-6E8A-4147-A177-3AD203B41FA5}">
                      <a16:colId xmlns:a16="http://schemas.microsoft.com/office/drawing/2014/main" val="1096506246"/>
                    </a:ext>
                  </a:extLst>
                </a:gridCol>
                <a:gridCol w="2667000">
                  <a:extLst>
                    <a:ext uri="{9D8B030D-6E8A-4147-A177-3AD203B41FA5}">
                      <a16:colId xmlns:a16="http://schemas.microsoft.com/office/drawing/2014/main" val="2728046097"/>
                    </a:ext>
                  </a:extLst>
                </a:gridCol>
                <a:gridCol w="533400">
                  <a:extLst>
                    <a:ext uri="{9D8B030D-6E8A-4147-A177-3AD203B41FA5}">
                      <a16:colId xmlns:a16="http://schemas.microsoft.com/office/drawing/2014/main" val="777574623"/>
                    </a:ext>
                  </a:extLst>
                </a:gridCol>
                <a:gridCol w="4615270">
                  <a:extLst>
                    <a:ext uri="{9D8B030D-6E8A-4147-A177-3AD203B41FA5}">
                      <a16:colId xmlns:a16="http://schemas.microsoft.com/office/drawing/2014/main" val="1324275825"/>
                    </a:ext>
                  </a:extLst>
                </a:gridCol>
              </a:tblGrid>
              <a:tr h="289759">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18543651"/>
                  </a:ext>
                </a:extLst>
              </a:tr>
              <a:tr h="4206040">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B223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VN1859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13:25 09/05/2025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RTO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[RTO] [GTB] ATPCS NOT ARM DUE TO ATPCS NOT ARM, CAPT REJECT TAKE OFF AND A/C B223 RETURN TO BAY 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EVENT CLOSED &lt;p&gt;REPLACED MICROSWITCH BOX, AFU # 1, ENG RUN UP CHECK ATPCS ARM LIGHT COME ON NORMAL&lt;/p&gt; &lt;p&gt;- TOTAL DELAY 290 MINS, TECH DELAY 11 MINS&lt;/p&gt;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 DELAY KT TỪ LÚC TÀU B223 GTB ĐẾN LÚC BÁO HỎNG HÓC CÓ THỂ RAISE MEL (12:35 ĐẾN 12:46). ĐỔI TÀU LÝ DO KHAI THÁC (CẮT TẢI)&lt;/p&gt;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61-22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B223 phát sinh hỏng hóc trong quá trình cất cánh do tổ bay thấy đèn ATPCS not ARM trước vận tốc V1 và đã quyết định Reject T/O. VAECO đã thực hiện thay Microswitch box, AFU#1 (do 2020 tháo gửi đi shop do hh ATPCS not armed và chỉ thực hiện calib &amp; thay connector) à Đã khắc phục được hỏng hóc. Tuy nhiên, theo kết quả phân tích dữ liệu QAR từ ATR cho thấy không có gì bất thường, khớp với báo cáo tổ bay, do đó ATR khuyến cáo thay thêm 2 khối: monting Diode 114VD (đã thực hiện) và 21KF P/BSW Diode (đang chờ vật tư) để phòng ngừa. Tiếp tục theo dõi.</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đó ngày 8/3/2025 và 23/3/2025 B223 đã xảy ra hỏng hóc tương tự, VAECO đã thực hiện thay các khối AFU, MFC và kiểm tra theo khuyến cáo của ATR liên quan đến hỏng hóc này (Sensor, Connector, Relays, Microswitch) tuy nhiên không phát hiện bất thường.</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thống kê ĐTC thì từ 2015-nay có 15 hỏng hóc (2018: 01, 2019: 05, 2020: 05, 2021: 01, 2024: 01, 2025: 02) liên quan đến hệ thống ATPCS, chủ yếu xảy ra tập trung trên các tàu B221 (06 vụ), B223 (03 vụ), B237 (02 vụ),  trong đó có 03 lần khắc do hỏng hóc khối Auto Feather Unit (AFU P/N: 30048-0000-68, 01 khối có SFR xác định pass test chỉ hỏng nhẹ, 01 khối exhange nên không có SFR, 01 khối không gửi đi Shop), 01 lần do khối Microswitch box (11S76180650-014), 01 lần do khối APTCS test switch (097-037-00), 01 lần do khối Torque sensor (P/N: 3116499-02) còn lại khắc phục do opt test.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 đã triển khai: thực hiện kiểm tra khối AFU theo ngưỡng softtime 12000 FH, thực hiện ATPCS Dynamic test theo khuyến cáo của ATR theo AOM 2018-07. Tiếp tục nghiên cứu kiểm tra chủ động wiring, connector và mircroswitch box theo khuyến cáo của ATR.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998791"/>
                  </a:ext>
                </a:extLst>
              </a:tr>
            </a:tbl>
          </a:graphicData>
        </a:graphic>
      </p:graphicFrame>
    </p:spTree>
    <p:custDataLst>
      <p:tags r:id="rId1"/>
    </p:custDataLst>
    <p:extLst>
      <p:ext uri="{BB962C8B-B14F-4D97-AF65-F5344CB8AC3E}">
        <p14:creationId xmlns:p14="http://schemas.microsoft.com/office/powerpoint/2010/main" val="388350015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07BEE-19BA-FAFB-45A9-B80C73896938}"/>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FE302457-DFD6-E092-E3D5-01B77F27F0E2}"/>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EA68981E-AC48-06DE-33BB-ABDCF710FD86}"/>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89FB27DC-C3C2-76B8-22DF-898E11594546}"/>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02</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59B8FCE2-561C-B4A1-EDF2-2D6837E58B2D}"/>
              </a:ext>
            </a:extLst>
          </p:cNvPr>
          <p:cNvGraphicFramePr>
            <a:graphicFrameLocks noGrp="1"/>
          </p:cNvGraphicFramePr>
          <p:nvPr/>
        </p:nvGraphicFramePr>
        <p:xfrm>
          <a:off x="261529" y="1143001"/>
          <a:ext cx="11668941" cy="5482159"/>
        </p:xfrm>
        <a:graphic>
          <a:graphicData uri="http://schemas.openxmlformats.org/drawingml/2006/table">
            <a:tbl>
              <a:tblPr/>
              <a:tblGrid>
                <a:gridCol w="321083">
                  <a:extLst>
                    <a:ext uri="{9D8B030D-6E8A-4147-A177-3AD203B41FA5}">
                      <a16:colId xmlns:a16="http://schemas.microsoft.com/office/drawing/2014/main" val="3832153777"/>
                    </a:ext>
                  </a:extLst>
                </a:gridCol>
                <a:gridCol w="331788">
                  <a:extLst>
                    <a:ext uri="{9D8B030D-6E8A-4147-A177-3AD203B41FA5}">
                      <a16:colId xmlns:a16="http://schemas.microsoft.com/office/drawing/2014/main" val="2801288844"/>
                    </a:ext>
                  </a:extLst>
                </a:gridCol>
                <a:gridCol w="509451">
                  <a:extLst>
                    <a:ext uri="{9D8B030D-6E8A-4147-A177-3AD203B41FA5}">
                      <a16:colId xmlns:a16="http://schemas.microsoft.com/office/drawing/2014/main" val="3266840810"/>
                    </a:ext>
                  </a:extLst>
                </a:gridCol>
                <a:gridCol w="457200">
                  <a:extLst>
                    <a:ext uri="{9D8B030D-6E8A-4147-A177-3AD203B41FA5}">
                      <a16:colId xmlns:a16="http://schemas.microsoft.com/office/drawing/2014/main" val="3605852202"/>
                    </a:ext>
                  </a:extLst>
                </a:gridCol>
                <a:gridCol w="457200">
                  <a:extLst>
                    <a:ext uri="{9D8B030D-6E8A-4147-A177-3AD203B41FA5}">
                      <a16:colId xmlns:a16="http://schemas.microsoft.com/office/drawing/2014/main" val="1531018077"/>
                    </a:ext>
                  </a:extLst>
                </a:gridCol>
                <a:gridCol w="457200">
                  <a:extLst>
                    <a:ext uri="{9D8B030D-6E8A-4147-A177-3AD203B41FA5}">
                      <a16:colId xmlns:a16="http://schemas.microsoft.com/office/drawing/2014/main" val="3612329399"/>
                    </a:ext>
                  </a:extLst>
                </a:gridCol>
                <a:gridCol w="1319349">
                  <a:extLst>
                    <a:ext uri="{9D8B030D-6E8A-4147-A177-3AD203B41FA5}">
                      <a16:colId xmlns:a16="http://schemas.microsoft.com/office/drawing/2014/main" val="1096506246"/>
                    </a:ext>
                  </a:extLst>
                </a:gridCol>
                <a:gridCol w="3581400">
                  <a:extLst>
                    <a:ext uri="{9D8B030D-6E8A-4147-A177-3AD203B41FA5}">
                      <a16:colId xmlns:a16="http://schemas.microsoft.com/office/drawing/2014/main" val="2728046097"/>
                    </a:ext>
                  </a:extLst>
                </a:gridCol>
                <a:gridCol w="457200">
                  <a:extLst>
                    <a:ext uri="{9D8B030D-6E8A-4147-A177-3AD203B41FA5}">
                      <a16:colId xmlns:a16="http://schemas.microsoft.com/office/drawing/2014/main" val="777574623"/>
                    </a:ext>
                  </a:extLst>
                </a:gridCol>
                <a:gridCol w="3777070">
                  <a:extLst>
                    <a:ext uri="{9D8B030D-6E8A-4147-A177-3AD203B41FA5}">
                      <a16:colId xmlns:a16="http://schemas.microsoft.com/office/drawing/2014/main" val="1324275825"/>
                    </a:ext>
                  </a:extLst>
                </a:gridCol>
              </a:tblGrid>
              <a:tr h="258197">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18543651"/>
                  </a:ext>
                </a:extLst>
              </a:tr>
              <a:tr h="3592035">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A894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01:31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ATB DUE TO ENG#2 STALL, ENG#2 EGT OVERLIMIT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2 EXHAUST NOZZLE CRACK POS 6H (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ảnh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kèm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EGT EXCEEDANCE REPORT FROM OMS OF ENG 2 IS 944 DEG, EVENT IN AREA A, SO REJECT ENG</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DOWNLOAD AND READOUT OF DFDR DATA REF MP TASK A350-A-31-33-XX-01001-170A-A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DOWNLOAD SAR 0002; 0003 FILES REF MP A350-A-45-31-XX-0G001-345A-A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DOWNLOAD CMS MANUAL DUMP FILES REF MP TASK A350-A-45-45-XX-01003-752A-A AND TASK A350-A-46-12-02-02006-752A-A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MP 71-XX-XX-0B001-282A: Exam the Power plant after Surge or Stall; found damage many at IPC, HPC, CBC, HPT IPT.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BSI FULL ENG#2 (REF WO&amp;#160;7354138) IPC, HPC ; Found damage on IPC, HPC, CBC, HPT IPT.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HANDOVER TO BASE CHANGE ENG#2 AT 13:00 07/05/2025</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EVENT CLOSED * Ca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đêm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05/05:</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00:38;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quay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lại</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01:10;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Đặt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chèn</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01:45; Báo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AOG Eng#2 Stall</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ENG#2 EGT overlimit 944DegC</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outside Eng#2 found exhaust nozzle crack at 6h position out of limit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04:00; Báo MCC reject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06:00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sáng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06/05 ; 12:00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ngày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07/05 MCC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yêu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làm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thêm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WO soi full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13:00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ngày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07/05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Chuyển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Base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TỔNG AOG do TECH: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01:45 ; 04:00 : 03h15 (195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phút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ENG#2 STALL, ENG#2 EGT OVERLIMIT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Kết quả BSI cho thấy hỏng hóc xuất phát từ IPC tầng 2 trong đó có 1 lá bị mất vật liệu. Các tầng IPC phía sau đều có hỏng hóc, đến tầng IPC8 (tầng cuối) và các tầng đầu HPC thì toàn bộ các lá bị mẻ. Combustor bao phủ bởi muội than. HPT, IPT và LPT cũng có nhưng không quá nặng.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Dấu hiệu trên cho thấy hiện tượng stall xảy ra do có DOD gây hỏng hóc phần engine core, khả năng DOD là mảnh vỡ từ lá IPC2. Tuy nhiên hiện vẫn chưa xác định được nguyên nhân gây hỏng hóc ban đầu trên IPC2.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đó vào T4/2025 tàu A899 cũng xảy ra sự vụ tương tự, theo đánh giá của NSX nguyên nhân gây mẻ lá là do hút phải băng. Tuy nhiên với trường tàu A894 tình trạng thời tiết bình thường lúc vấn đề xảy ra.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IPC2 là IPC tầng 1 (tầng đầu tiên của máy nén). IPC1 có vấn đề đặc trưng là hiện tượng nứt gốc lá, có rủi ro làm rơi vật liệu gây hỏng hóc, đang có AD yêu cầu soi ở ngưỡng 2300FC. Với động cơ của A899 do mới đi shop về, IPC có CSN ~90FC nên VNA không thực hiện soi, tuy nhiên sẽ triển khai soi lại trước khi động cơ đưa vào khai thác. Với động cơ A894 đã gần đến ngưỡng soi, sẽ được triển khai soi kiểm tra sau khi tàu thay shackle.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VNA cũng đang yêu cầu RR cung cấp thêm hướng dẫn soi bổ sung IPC tầng 1 và 2 (soi platform, shroud...) để tìm nguyên nhân có thể gây ra hỏng hóc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998791"/>
                  </a:ext>
                </a:extLst>
              </a:tr>
            </a:tbl>
          </a:graphicData>
        </a:graphic>
      </p:graphicFrame>
    </p:spTree>
    <p:custDataLst>
      <p:tags r:id="rId1"/>
    </p:custDataLst>
    <p:extLst>
      <p:ext uri="{BB962C8B-B14F-4D97-AF65-F5344CB8AC3E}">
        <p14:creationId xmlns:p14="http://schemas.microsoft.com/office/powerpoint/2010/main" val="377632511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1693492664"/>
              </p:ext>
            </p:extLst>
          </p:nvPr>
        </p:nvGraphicFramePr>
        <p:xfrm>
          <a:off x="375271" y="1079799"/>
          <a:ext cx="11463227" cy="1521944"/>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31958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636172">
                <a:tc>
                  <a:txBody>
                    <a:bodyPr/>
                    <a:lstStyle/>
                    <a:p>
                      <a:pPr algn="ctr" fontAlgn="ctr"/>
                      <a:r>
                        <a:rPr lang="en-US" sz="1100" b="0" i="0" u="none" strike="noStrike">
                          <a:solidFill>
                            <a:srgbClr val="000000"/>
                          </a:solidFill>
                          <a:effectLst/>
                          <a:latin typeface="Calibri" panose="020F0502020204030204" pitchFamily="34" charset="0"/>
                        </a:rPr>
                        <a:t>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ATR72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B223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08/05/2025 5:30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41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VN1891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SGN-VCS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CAPT REPORTED DUCT OVER 100 DEGREES, COCKPIT AND CABIN HOT</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PRE-FLIGHT CAPT REPORTED DUCT OVER 100 DEGREES, COCKPIT AND CABIN HOT. CAPT REFUSED TO C/O VN1891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ERU CHECK FOUND PACK 1 AUTO MODE FAIL, PACK#2 TEMP NORMAL. CAPT CONTINUE FLT VN1891</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CAPT REPORTED DUCT OVER 100 DEGREES, COCKPIT AND CABIN HOT EVENT CLOSED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TOTAL DELAY: 150 MINS, TECH DELAY: 40 MINS</a:t>
                      </a:r>
                      <a:br>
                        <a:rPr lang="en-US" sz="1100" b="0" i="0" u="none" strike="noStrike">
                          <a:solidFill>
                            <a:srgbClr val="000000"/>
                          </a:solidFill>
                          <a:effectLst/>
                          <a:latin typeface="Calibri" panose="020F0502020204030204" pitchFamily="34" charset="0"/>
                        </a:rPr>
                      </a:b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297940" y="3682966"/>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503936332"/>
              </p:ext>
            </p:extLst>
          </p:nvPr>
        </p:nvGraphicFramePr>
        <p:xfrm>
          <a:off x="375271" y="4085252"/>
          <a:ext cx="11430000" cy="929610"/>
        </p:xfrm>
        <a:graphic>
          <a:graphicData uri="http://schemas.openxmlformats.org/drawingml/2006/table">
            <a:tbl>
              <a:tblPr/>
              <a:tblGrid>
                <a:gridCol w="270853">
                  <a:extLst>
                    <a:ext uri="{9D8B030D-6E8A-4147-A177-3AD203B41FA5}">
                      <a16:colId xmlns:a16="http://schemas.microsoft.com/office/drawing/2014/main" val="20000"/>
                    </a:ext>
                  </a:extLst>
                </a:gridCol>
                <a:gridCol w="514621">
                  <a:extLst>
                    <a:ext uri="{9D8B030D-6E8A-4147-A177-3AD203B41FA5}">
                      <a16:colId xmlns:a16="http://schemas.microsoft.com/office/drawing/2014/main" val="20001"/>
                    </a:ext>
                  </a:extLst>
                </a:gridCol>
                <a:gridCol w="487536">
                  <a:extLst>
                    <a:ext uri="{9D8B030D-6E8A-4147-A177-3AD203B41FA5}">
                      <a16:colId xmlns:a16="http://schemas.microsoft.com/office/drawing/2014/main" val="20002"/>
                    </a:ext>
                  </a:extLst>
                </a:gridCol>
                <a:gridCol w="1164668">
                  <a:extLst>
                    <a:ext uri="{9D8B030D-6E8A-4147-A177-3AD203B41FA5}">
                      <a16:colId xmlns:a16="http://schemas.microsoft.com/office/drawing/2014/main" val="20003"/>
                    </a:ext>
                  </a:extLst>
                </a:gridCol>
                <a:gridCol w="487536">
                  <a:extLst>
                    <a:ext uri="{9D8B030D-6E8A-4147-A177-3AD203B41FA5}">
                      <a16:colId xmlns:a16="http://schemas.microsoft.com/office/drawing/2014/main" val="20004"/>
                    </a:ext>
                  </a:extLst>
                </a:gridCol>
                <a:gridCol w="799016">
                  <a:extLst>
                    <a:ext uri="{9D8B030D-6E8A-4147-A177-3AD203B41FA5}">
                      <a16:colId xmlns:a16="http://schemas.microsoft.com/office/drawing/2014/main" val="20005"/>
                    </a:ext>
                  </a:extLst>
                </a:gridCol>
                <a:gridCol w="880273">
                  <a:extLst>
                    <a:ext uri="{9D8B030D-6E8A-4147-A177-3AD203B41FA5}">
                      <a16:colId xmlns:a16="http://schemas.microsoft.com/office/drawing/2014/main" val="20006"/>
                    </a:ext>
                  </a:extLst>
                </a:gridCol>
                <a:gridCol w="1029241">
                  <a:extLst>
                    <a:ext uri="{9D8B030D-6E8A-4147-A177-3AD203B41FA5}">
                      <a16:colId xmlns:a16="http://schemas.microsoft.com/office/drawing/2014/main" val="20007"/>
                    </a:ext>
                  </a:extLst>
                </a:gridCol>
                <a:gridCol w="2627275">
                  <a:extLst>
                    <a:ext uri="{9D8B030D-6E8A-4147-A177-3AD203B41FA5}">
                      <a16:colId xmlns:a16="http://schemas.microsoft.com/office/drawing/2014/main" val="20008"/>
                    </a:ext>
                  </a:extLst>
                </a:gridCol>
                <a:gridCol w="3168981">
                  <a:extLst>
                    <a:ext uri="{9D8B030D-6E8A-4147-A177-3AD203B41FA5}">
                      <a16:colId xmlns:a16="http://schemas.microsoft.com/office/drawing/2014/main" val="20009"/>
                    </a:ext>
                  </a:extLst>
                </a:gridCol>
              </a:tblGrid>
              <a:tr h="280894">
                <a:tc>
                  <a:txBody>
                    <a:bodyPr/>
                    <a:lstStyle/>
                    <a:p>
                      <a:pPr algn="ctr" fontAlgn="t"/>
                      <a:r>
                        <a:rPr lang="en-US" sz="1100" b="0" i="0" u="none" strike="noStrike">
                          <a:solidFill>
                            <a:srgbClr val="000000"/>
                          </a:solidFill>
                          <a:effectLst/>
                          <a:latin typeface="Cambria" panose="02040503050406030204" pitchFamily="18" charset="0"/>
                        </a:rPr>
                        <a:t>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FLEET</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A/C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DATE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STA</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MINUTES</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FLIGHT 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ROUTE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DESC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ACTION</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86854">
                <a:tc>
                  <a:txBody>
                    <a:bodyPr/>
                    <a:lstStyle/>
                    <a:p>
                      <a:pPr algn="l" fontAlgn="t"/>
                      <a:r>
                        <a:rPr lang="en-US" sz="1100" b="0" i="0" u="none" strike="noStrike">
                          <a:solidFill>
                            <a:srgbClr val="000000"/>
                          </a:solidFill>
                          <a:effectLst/>
                          <a:latin typeface="Calibri" panose="020F0502020204030204" pitchFamily="34" charset="0"/>
                        </a:rPr>
                        <a:t>NIL</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B2A343B0-CA63-B141-0A92-337EE967CB60}"/>
              </a:ext>
            </a:extLst>
          </p:cNvPr>
          <p:cNvGraphicFramePr>
            <a:graphicFrameLocks noGrp="1"/>
          </p:cNvGraphicFramePr>
          <p:nvPr/>
        </p:nvGraphicFramePr>
        <p:xfrm>
          <a:off x="105714" y="1522792"/>
          <a:ext cx="11612515" cy="5170029"/>
        </p:xfrm>
        <a:graphic>
          <a:graphicData uri="http://schemas.openxmlformats.org/drawingml/2006/table">
            <a:tbl>
              <a:tblPr/>
              <a:tblGrid>
                <a:gridCol w="427686">
                  <a:extLst>
                    <a:ext uri="{9D8B030D-6E8A-4147-A177-3AD203B41FA5}">
                      <a16:colId xmlns:a16="http://schemas.microsoft.com/office/drawing/2014/main" val="2063721084"/>
                    </a:ext>
                  </a:extLst>
                </a:gridCol>
                <a:gridCol w="771653">
                  <a:extLst>
                    <a:ext uri="{9D8B030D-6E8A-4147-A177-3AD203B41FA5}">
                      <a16:colId xmlns:a16="http://schemas.microsoft.com/office/drawing/2014/main" val="2873260237"/>
                    </a:ext>
                  </a:extLst>
                </a:gridCol>
                <a:gridCol w="752347">
                  <a:extLst>
                    <a:ext uri="{9D8B030D-6E8A-4147-A177-3AD203B41FA5}">
                      <a16:colId xmlns:a16="http://schemas.microsoft.com/office/drawing/2014/main" val="2953836739"/>
                    </a:ext>
                  </a:extLst>
                </a:gridCol>
                <a:gridCol w="446992">
                  <a:extLst>
                    <a:ext uri="{9D8B030D-6E8A-4147-A177-3AD203B41FA5}">
                      <a16:colId xmlns:a16="http://schemas.microsoft.com/office/drawing/2014/main" val="2090188566"/>
                    </a:ext>
                  </a:extLst>
                </a:gridCol>
                <a:gridCol w="2372408">
                  <a:extLst>
                    <a:ext uri="{9D8B030D-6E8A-4147-A177-3AD203B41FA5}">
                      <a16:colId xmlns:a16="http://schemas.microsoft.com/office/drawing/2014/main" val="2407488742"/>
                    </a:ext>
                  </a:extLst>
                </a:gridCol>
                <a:gridCol w="1981200">
                  <a:extLst>
                    <a:ext uri="{9D8B030D-6E8A-4147-A177-3AD203B41FA5}">
                      <a16:colId xmlns:a16="http://schemas.microsoft.com/office/drawing/2014/main" val="3542240269"/>
                    </a:ext>
                  </a:extLst>
                </a:gridCol>
                <a:gridCol w="381000">
                  <a:extLst>
                    <a:ext uri="{9D8B030D-6E8A-4147-A177-3AD203B41FA5}">
                      <a16:colId xmlns:a16="http://schemas.microsoft.com/office/drawing/2014/main" val="36977257"/>
                    </a:ext>
                  </a:extLst>
                </a:gridCol>
                <a:gridCol w="4479229">
                  <a:extLst>
                    <a:ext uri="{9D8B030D-6E8A-4147-A177-3AD203B41FA5}">
                      <a16:colId xmlns:a16="http://schemas.microsoft.com/office/drawing/2014/main" val="3425661266"/>
                    </a:ext>
                  </a:extLst>
                </a:gridCol>
              </a:tblGrid>
              <a:tr h="106403">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OPEN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ATA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62748239"/>
                  </a:ext>
                </a:extLst>
              </a:tr>
              <a:tr h="161193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A621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14:17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DURING TAXI : ENG #1 STALL &lt;p&gt;POPPEDUP BUT THEN DISAPPEARED AUTOMATICALLY PARAMETER CHECKED NORMAL.&lt;/p&gt;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71-00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số #1 tàu A621 ESN: P771710 có TSN/ CSN = 6746 FH/ 4411 FC, TSLSV/CSLSV = 1305 FH /740 FC Động cơ xuất hiện cảnh báo ECAM message ENG#1 Stall xảy ra tại Phase Taxi rồi tự biến mất, tổ bay kiểm tra tất cả các thông số động cơ vẫn bình thường và vẫn quyết định tiếp tục T/O. Dữ liệu QAR đã được gửi đến NSX PW, qua đó PW khuyến cáo thực hiện kiểm tra theo TSM TASK 71-00-00-810-854-A (Troubleshoot the Engine After a Surge - Forward Thrust Event), nếu không phát hiện hỏng hóc PW khuyến cáo thực hiện bật ECS Packing ON khi động cơ on ground để tránh xảy ra hỏng hóc. Hiện tại VAECO đang triển khai thực hiện theo khuyến cáo của PW. Tiếp tục theo dõi.</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Hiện tượng Off-Idle ground stall đặc trưng của dòng động cơ GTF nguyên nhân do hiệu suất hoạt động của phần máy nén thấp khi động cơ hoạt động cơ công suất thấp, trước đây VNA bị nhiều tuy nhiên tần suất giảm hẳn sau khi nâng cấp EEC Software 7.0.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Với động cơ có lịch sử off-idle stall có thể thực hiện giải pháp phòng ngừa hiệu quả là luôn bật ECS Pack ON, giúp tăng khả năng chống chịu stall của động cơ. KTMB sẽ yêu cầu VAECO ban hành NTC để áp dụng động cơ này nếu động cơ có thể tiếp tục khai thác. Bên cạnh đó PW dự kiến Q3/2025 ban hành SB nâng cấp EEC SW 8.0 để giảm hiện tượng Off-Idle stall này thông qua việc tăng margin stall.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0169263"/>
                  </a:ext>
                </a:extLst>
              </a:tr>
              <a:tr h="161193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A514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03:00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08:00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HYD LEAK ON THE PRESSURE TUBE TO WTB 35CV ON L/H WING &lt;p&gt;TERMINAL CHECK FOUND HYD LEAK ON THE PRESSURE TUBE TO WTB 35CV ON L/H WING WITH LEAK RATE OF APPROXIMATELY 60 DROPS PER MINUTE&lt;/p&gt;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&lt;p&gt;ACTION: C/O RPLD PIPE BLUE PRESSURE (ROB FROM A509) , LEAK CHECK SATIS , A/C SERVICEABLE&lt;/p&gt; HYD LEAK ON THE PRESSURE TUBE EVENT CLOSED &lt;p&gt;TOTAL AOG 05 GIỜ</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SPARE 1.5 GIỜ (VẶT PIPE TỪ A509)</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NGT HCM 3.5 GIỜ.&lt;/p&gt;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mn-lt"/>
                          <a:cs typeface="Times New Roman" panose="02020603050405020304" pitchFamily="18" charset="0"/>
                        </a:rPr>
                        <a:t>Tàu A514 phát hiện leak tại điểm nối, ống không có dấu hiệu móp méo. Tàu A514 mới nhận từ cuối năm 2024 nên việc xảy ra leak sớm là bất thường. Ban KT sẽ claim lại AIB về trường hợp này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9957315"/>
                  </a:ext>
                </a:extLst>
              </a:tr>
            </a:tbl>
          </a:graphicData>
        </a:graphic>
      </p:graphicFrame>
    </p:spTree>
    <p:extLst>
      <p:ext uri="{BB962C8B-B14F-4D97-AF65-F5344CB8AC3E}">
        <p14:creationId xmlns:p14="http://schemas.microsoft.com/office/powerpoint/2010/main" val="643004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6156284-18D0-043D-7F67-24901B18DB4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EB30EF8-BD58-965D-6514-2CC8509B2CC8}"/>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D7F07BB-0BB9-9F15-ACA4-B96DC357B5A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28AB6412-E4AC-4E28-D8E7-DF855F4DF8BE}"/>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noProof="0"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90BFDFE-7677-B8E7-019D-7988B168B00C}"/>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D6A9DA32-2015-9E7A-EFE4-7623E45CE8B0}"/>
              </a:ext>
            </a:extLst>
          </p:cNvPr>
          <p:cNvGraphicFramePr>
            <a:graphicFrameLocks noGrp="1"/>
          </p:cNvGraphicFramePr>
          <p:nvPr>
            <p:extLst>
              <p:ext uri="{D42A27DB-BD31-4B8C-83A1-F6EECF244321}">
                <p14:modId xmlns:p14="http://schemas.microsoft.com/office/powerpoint/2010/main" val="3712104343"/>
              </p:ext>
            </p:extLst>
          </p:nvPr>
        </p:nvGraphicFramePr>
        <p:xfrm>
          <a:off x="134289" y="1611651"/>
          <a:ext cx="11688716" cy="3273670"/>
        </p:xfrm>
        <a:graphic>
          <a:graphicData uri="http://schemas.openxmlformats.org/drawingml/2006/table">
            <a:tbl>
              <a:tblPr/>
              <a:tblGrid>
                <a:gridCol w="399111">
                  <a:extLst>
                    <a:ext uri="{9D8B030D-6E8A-4147-A177-3AD203B41FA5}">
                      <a16:colId xmlns:a16="http://schemas.microsoft.com/office/drawing/2014/main" val="1941658064"/>
                    </a:ext>
                  </a:extLst>
                </a:gridCol>
                <a:gridCol w="705571">
                  <a:extLst>
                    <a:ext uri="{9D8B030D-6E8A-4147-A177-3AD203B41FA5}">
                      <a16:colId xmlns:a16="http://schemas.microsoft.com/office/drawing/2014/main" val="3051854625"/>
                    </a:ext>
                  </a:extLst>
                </a:gridCol>
                <a:gridCol w="361229">
                  <a:extLst>
                    <a:ext uri="{9D8B030D-6E8A-4147-A177-3AD203B41FA5}">
                      <a16:colId xmlns:a16="http://schemas.microsoft.com/office/drawing/2014/main" val="3943693142"/>
                    </a:ext>
                  </a:extLst>
                </a:gridCol>
                <a:gridCol w="691204">
                  <a:extLst>
                    <a:ext uri="{9D8B030D-6E8A-4147-A177-3AD203B41FA5}">
                      <a16:colId xmlns:a16="http://schemas.microsoft.com/office/drawing/2014/main" val="2683694270"/>
                    </a:ext>
                  </a:extLst>
                </a:gridCol>
                <a:gridCol w="574733">
                  <a:extLst>
                    <a:ext uri="{9D8B030D-6E8A-4147-A177-3AD203B41FA5}">
                      <a16:colId xmlns:a16="http://schemas.microsoft.com/office/drawing/2014/main" val="4165135737"/>
                    </a:ext>
                  </a:extLst>
                </a:gridCol>
                <a:gridCol w="477700">
                  <a:extLst>
                    <a:ext uri="{9D8B030D-6E8A-4147-A177-3AD203B41FA5}">
                      <a16:colId xmlns:a16="http://schemas.microsoft.com/office/drawing/2014/main" val="1601033839"/>
                    </a:ext>
                  </a:extLst>
                </a:gridCol>
                <a:gridCol w="1990163">
                  <a:extLst>
                    <a:ext uri="{9D8B030D-6E8A-4147-A177-3AD203B41FA5}">
                      <a16:colId xmlns:a16="http://schemas.microsoft.com/office/drawing/2014/main" val="4219214852"/>
                    </a:ext>
                  </a:extLst>
                </a:gridCol>
                <a:gridCol w="2590800">
                  <a:extLst>
                    <a:ext uri="{9D8B030D-6E8A-4147-A177-3AD203B41FA5}">
                      <a16:colId xmlns:a16="http://schemas.microsoft.com/office/drawing/2014/main" val="3532656176"/>
                    </a:ext>
                  </a:extLst>
                </a:gridCol>
                <a:gridCol w="457200">
                  <a:extLst>
                    <a:ext uri="{9D8B030D-6E8A-4147-A177-3AD203B41FA5}">
                      <a16:colId xmlns:a16="http://schemas.microsoft.com/office/drawing/2014/main" val="3516547174"/>
                    </a:ext>
                  </a:extLst>
                </a:gridCol>
                <a:gridCol w="3441005">
                  <a:extLst>
                    <a:ext uri="{9D8B030D-6E8A-4147-A177-3AD203B41FA5}">
                      <a16:colId xmlns:a16="http://schemas.microsoft.com/office/drawing/2014/main" val="1420136508"/>
                    </a:ext>
                  </a:extLst>
                </a:gridCol>
              </a:tblGrid>
              <a:tr h="137494">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67187023"/>
                  </a:ext>
                </a:extLst>
              </a:tr>
              <a:tr h="3136176">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A338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09:00 08/05/2025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VCA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VN1200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APU AUTO SHUTDOWN &lt;p&gt;SAU KHI TÀU VÀO BÃI VN1201/HAN-VCA, THÌ PHÁT SINH APU AUTO SHUTDOWN, RESTART BUT NIL HELP, TÀU VẪN CHẠY ENG 1 DO VCA KHÔNG CÓ XE KHÍ NÓNG&lt;/p&gt;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&lt;p&gt;REPLACED EXCITER BOX, APU OPS TEST OK&lt;/p&gt; APU AUTO SHUTDOWN EVENT CLOSED &lt;p&gt;&lt;/p&gt; &lt;p&gt;TOTAL DELAY 335 MINS, TECH DELAY 30 MINS, ĐỢI KHÍ TÀI GỬI VÀO TỪ HAN&lt;/p&gt;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49-00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fontAlgn="ctr"/>
                      <a:r>
                        <a:rPr lang="vi-VN" sz="1100" b="0" i="0" u="none" strike="noStrike" dirty="0">
                          <a:solidFill>
                            <a:srgbClr val="000000"/>
                          </a:solidFill>
                          <a:effectLst/>
                          <a:latin typeface="+mn-lt"/>
                          <a:cs typeface="Times New Roman" panose="02020603050405020304" pitchFamily="18" charset="0"/>
                        </a:rPr>
                        <a:t>APU A338 S/N P-8887 có TSN/CSN = 9103/7085, TSLSV/CSLSV = 933/754.</a:t>
                      </a:r>
                    </a:p>
                    <a:p>
                      <a:pPr algn="just" fontAlgn="ctr"/>
                      <a:r>
                        <a:rPr lang="vi-VN" sz="1100" b="0" i="0" u="none" strike="noStrike" dirty="0">
                          <a:solidFill>
                            <a:srgbClr val="000000"/>
                          </a:solidFill>
                          <a:effectLst/>
                          <a:latin typeface="+mn-lt"/>
                          <a:cs typeface="Times New Roman" panose="02020603050405020304" pitchFamily="18" charset="0"/>
                        </a:rPr>
                        <a:t>APU auto shutdown ngày 08/05/2025 với msg 'No Flame' và đã được clear sau khi thay khối Exciter Ignition.</a:t>
                      </a:r>
                    </a:p>
                    <a:p>
                      <a:pPr algn="just" fontAlgn="ctr"/>
                      <a:r>
                        <a:rPr lang="vi-VN" sz="1100" b="0" i="0" u="none" strike="noStrike" dirty="0">
                          <a:solidFill>
                            <a:srgbClr val="000000"/>
                          </a:solidFill>
                          <a:effectLst/>
                          <a:latin typeface="+mn-lt"/>
                          <a:cs typeface="Times New Roman" panose="02020603050405020304" pitchFamily="18" charset="0"/>
                        </a:rPr>
                        <a:t>Khối Exciter Ignition hỏng có P/N 3888058-7, đã được Airbus và NSX Honeywell nhân diện là có độ tin cậy thấp. NSX Honeywell đã có SB 131-49-8371 để nâng cấp lên P/N 70721353-1, và khuyến cáo sử dụng Exciter Ignition cũ P/N 3888058-5 có độ tin cậy cao hơn. Khối được lắp lên để T/S A338 có P/N 3888058-5.</a:t>
                      </a:r>
                    </a:p>
                    <a:p>
                      <a:pPr algn="just" fontAlgn="ctr"/>
                      <a:r>
                        <a:rPr lang="vi-VN" sz="1100" b="0" i="0" u="none" strike="noStrike" dirty="0">
                          <a:solidFill>
                            <a:srgbClr val="000000"/>
                          </a:solidFill>
                          <a:effectLst/>
                          <a:latin typeface="+mn-lt"/>
                          <a:cs typeface="Times New Roman" panose="02020603050405020304" pitchFamily="18" charset="0"/>
                        </a:rPr>
                        <a:t>Hiện KT đã triển khai kế hoạch swap các P/N 3888058-7 lên các APU đi Shop Honeywell để làm SB nâng cấp tại shop, hoặc đổi với P/N 3888058-5 trong trường hợp không thực hiện được SB (việc làm SB hoặc swap với -5 đều được cover trong NTE theo hợp đồng hiện tại giữa VNA và shop Honeywell). Dự kiến trong năm 2025 sẽ thực hiện được cho 10/27 khối Exciter Ignition 3888058-7 trong đội bay.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0533262"/>
                  </a:ext>
                </a:extLst>
              </a:tr>
            </a:tbl>
          </a:graphicData>
        </a:graphic>
      </p:graphicFrame>
    </p:spTree>
    <p:extLst>
      <p:ext uri="{BB962C8B-B14F-4D97-AF65-F5344CB8AC3E}">
        <p14:creationId xmlns:p14="http://schemas.microsoft.com/office/powerpoint/2010/main" val="4088860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pic>
        <p:nvPicPr>
          <p:cNvPr id="6" name="Image 0" descr="preencoded.png"/>
          <p:cNvPicPr>
            <a:picLocks noChangeAspect="1"/>
          </p:cNvPicPr>
          <p:nvPr/>
        </p:nvPicPr>
        <p:blipFill>
          <a:blip r:embed="rId4"/>
          <a:stretch>
            <a:fillRect/>
          </a:stretch>
        </p:blipFill>
        <p:spPr>
          <a:xfrm>
            <a:off x="0" y="990600"/>
            <a:ext cx="4572000" cy="5868790"/>
          </a:xfrm>
          <a:prstGeom prst="rect">
            <a:avLst/>
          </a:prstGeom>
        </p:spPr>
      </p:pic>
      <p:sp>
        <p:nvSpPr>
          <p:cNvPr id="8" name="Text 0"/>
          <p:cNvSpPr/>
          <p:nvPr/>
        </p:nvSpPr>
        <p:spPr>
          <a:xfrm>
            <a:off x="4862336" y="990600"/>
            <a:ext cx="7253464" cy="3581400"/>
          </a:xfrm>
          <a:prstGeom prst="rect">
            <a:avLst/>
          </a:prstGeom>
          <a:noFill/>
          <a:ln/>
        </p:spPr>
        <p:txBody>
          <a:bodyPr wrap="square" lIns="0" tIns="0" rIns="0" bIns="0" rtlCol="0" anchor="t"/>
          <a:lstStyle/>
          <a:p>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Hỏng Hóc Nổi Bật Đội Tàu A321 và Giải Pháp </a:t>
            </a:r>
            <a:r>
              <a:rPr lang="en-US" sz="1600" b="1" dirty="0" err="1">
                <a:solidFill>
                  <a:srgbClr val="38512F"/>
                </a:solidFill>
                <a:latin typeface="Times New Roman" panose="02020603050405020304" pitchFamily="18" charset="0"/>
                <a:ea typeface="Lora" pitchFamily="34" charset="-122"/>
                <a:cs typeface="Times New Roman" panose="02020603050405020304" pitchFamily="18" charset="0"/>
              </a:rPr>
              <a:t>Khắc</a:t>
            </a:r>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b="1" dirty="0" err="1">
                <a:solidFill>
                  <a:srgbClr val="38512F"/>
                </a:solidFill>
                <a:latin typeface="Times New Roman" panose="02020603050405020304" pitchFamily="18" charset="0"/>
                <a:ea typeface="Lora" pitchFamily="34" charset="-122"/>
                <a:cs typeface="Times New Roman" panose="02020603050405020304" pitchFamily="18" charset="0"/>
              </a:rPr>
              <a:t>Phục</a:t>
            </a:r>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 </a:t>
            </a:r>
          </a:p>
          <a:p>
            <a:r>
              <a:rPr lang="vi-VN" sz="1600">
                <a:solidFill>
                  <a:srgbClr val="38512F"/>
                </a:solidFill>
                <a:latin typeface="Times New Roman" panose="02020603050405020304" pitchFamily="18" charset="0"/>
                <a:ea typeface="Lora" pitchFamily="34" charset="-122"/>
                <a:cs typeface="Times New Roman" panose="02020603050405020304" pitchFamily="18" charset="0"/>
              </a:rPr>
              <a:t>Trong tuần phát sinh 03 trường hợp AOG, trong đó có sự kiện A621 eng 1 stall cần lưu ý (đây động cơ giữ giờ mới lắp lên hồi tháng 4). Hỏng hóc này là loại hỏng hóc điển hình đã được khuyến cáo cho ĐB (theo tài liệu FON) tuy nhiên chỉ ở mức thông báo cần xem xét có action để tránh hỏng hóc tương tự lắp lại</a:t>
            </a:r>
          </a:p>
          <a:p>
            <a:pPr marL="285750" indent="-285750">
              <a:buFont typeface="Arial" panose="020B0604020202020204" pitchFamily="34" charset="0"/>
              <a:buChar char="•"/>
            </a:pPr>
            <a:r>
              <a:rPr lang="vi-VN" sz="1600">
                <a:solidFill>
                  <a:srgbClr val="38512F"/>
                </a:solidFill>
                <a:latin typeface="Times New Roman" panose="02020603050405020304" pitchFamily="18" charset="0"/>
                <a:ea typeface="Lora" pitchFamily="34" charset="-122"/>
                <a:cs typeface="Times New Roman" panose="02020603050405020304" pitchFamily="18" charset="0"/>
              </a:rPr>
              <a:t>A514 Leak tủy lực cánh trái =&gt; hỏng hóc lần đầu phát sinh trên đọi bay A320</a:t>
            </a:r>
          </a:p>
          <a:p>
            <a:pPr marL="285750" indent="-285750">
              <a:buFont typeface="Arial" panose="020B0604020202020204" pitchFamily="34" charset="0"/>
              <a:buChar char="•"/>
            </a:pPr>
            <a:r>
              <a:rPr lang="vi-VN" sz="1600">
                <a:solidFill>
                  <a:srgbClr val="38512F"/>
                </a:solidFill>
                <a:latin typeface="Times New Roman" panose="02020603050405020304" pitchFamily="18" charset="0"/>
                <a:ea typeface="Lora" pitchFamily="34" charset="-122"/>
                <a:cs typeface="Times New Roman" panose="02020603050405020304" pitchFamily="18" charset="0"/>
              </a:rPr>
              <a:t>A338 phát sinh APU Auto Shutdown tại VCA, do sân bay không có xe khí và xe điện nên phải khắc phục luôn hỏng hóc gây ảnh hưởng khai thác</a:t>
            </a:r>
          </a:p>
          <a:p>
            <a:pPr marL="285750" indent="-285750">
              <a:buFont typeface="Arial" panose="020B0604020202020204" pitchFamily="34" charset="0"/>
              <a:buChar char="•"/>
            </a:pPr>
            <a:r>
              <a:rPr lang="vi-VN" sz="1600">
                <a:solidFill>
                  <a:srgbClr val="38512F"/>
                </a:solidFill>
                <a:latin typeface="Times New Roman" panose="02020603050405020304" pitchFamily="18" charset="0"/>
                <a:ea typeface="Lora" pitchFamily="34" charset="-122"/>
                <a:cs typeface="Times New Roman" panose="02020603050405020304" pitchFamily="18" charset="0"/>
              </a:rPr>
              <a:t>A621 phát sinh hỏng hóc eng 1 stall hiện vẫn đang kiểm tra theo khuyến cáo của PW. Hỏng hóc đã có khuyến cáo từ PW để khắc phục tạm thời (bật ECS pack on) cũng như kế hoạch nâng cấp phần mềm EEC trong thời gian tới</a:t>
            </a:r>
            <a:endParaRPr lang="vi-VN" sz="1600" dirty="0">
              <a:solidFill>
                <a:srgbClr val="38512F"/>
              </a:solidFill>
              <a:latin typeface="Times New Roman" panose="02020603050405020304" pitchFamily="18" charset="0"/>
              <a:ea typeface="Lora" pitchFamily="34" charset="-122"/>
              <a:cs typeface="Times New Roman" panose="02020603050405020304" pitchFamily="18" charset="0"/>
            </a:endParaRPr>
          </a:p>
        </p:txBody>
      </p:sp>
      <p:sp>
        <p:nvSpPr>
          <p:cNvPr id="22" name="Title 4"/>
          <p:cNvSpPr txBox="1">
            <a:spLocks/>
          </p:cNvSpPr>
          <p:nvPr/>
        </p:nvSpPr>
        <p:spPr>
          <a:xfrm>
            <a:off x="304800" y="118417"/>
            <a:ext cx="11811000" cy="7050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a:ln w="0"/>
                <a:solidFill>
                  <a:schemeClr val="accent4"/>
                </a:solidFill>
                <a:cs typeface="Times New Roman" panose="02020603050405020304" pitchFamily="18" charset="0"/>
              </a:rPr>
              <a:t>TÌNH TRẠNG KỸ THUẬT ĐỘI BAY – A320/A321</a:t>
            </a:r>
            <a:endParaRPr lang="en-US" sz="2400" b="1" dirty="0">
              <a:ln w="0"/>
              <a:solidFill>
                <a:schemeClr val="accent4"/>
              </a:solidFill>
              <a:cs typeface="Times New Roman" panose="02020603050405020304" pitchFamily="18" charset="0"/>
            </a:endParaRPr>
          </a:p>
        </p:txBody>
      </p:sp>
    </p:spTree>
    <p:custDataLst>
      <p:tags r:id="rId1"/>
    </p:custDataLst>
    <p:extLst>
      <p:ext uri="{BB962C8B-B14F-4D97-AF65-F5344CB8AC3E}">
        <p14:creationId xmlns:p14="http://schemas.microsoft.com/office/powerpoint/2010/main" val="1547619298"/>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43343" y="70034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(Non-Tech: 01)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1C8B535D-D8C1-44A7-2C7C-469AE61F5D3C}"/>
              </a:ext>
            </a:extLst>
          </p:cNvPr>
          <p:cNvSpPr txBox="1"/>
          <p:nvPr/>
        </p:nvSpPr>
        <p:spPr>
          <a:xfrm>
            <a:off x="143342" y="1033046"/>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803CF7F-1D9A-6FC9-1DA0-8B4CB6CCF472}"/>
              </a:ext>
            </a:extLst>
          </p:cNvPr>
          <p:cNvGraphicFramePr>
            <a:graphicFrameLocks noGrp="1"/>
          </p:cNvGraphicFramePr>
          <p:nvPr/>
        </p:nvGraphicFramePr>
        <p:xfrm>
          <a:off x="134289" y="1499278"/>
          <a:ext cx="11706826" cy="5150843"/>
        </p:xfrm>
        <a:graphic>
          <a:graphicData uri="http://schemas.openxmlformats.org/drawingml/2006/table">
            <a:tbl>
              <a:tblPr/>
              <a:tblGrid>
                <a:gridCol w="399111">
                  <a:extLst>
                    <a:ext uri="{9D8B030D-6E8A-4147-A177-3AD203B41FA5}">
                      <a16:colId xmlns:a16="http://schemas.microsoft.com/office/drawing/2014/main" val="40282166"/>
                    </a:ext>
                  </a:extLst>
                </a:gridCol>
                <a:gridCol w="809969">
                  <a:extLst>
                    <a:ext uri="{9D8B030D-6E8A-4147-A177-3AD203B41FA5}">
                      <a16:colId xmlns:a16="http://schemas.microsoft.com/office/drawing/2014/main" val="799634009"/>
                    </a:ext>
                  </a:extLst>
                </a:gridCol>
                <a:gridCol w="898640">
                  <a:extLst>
                    <a:ext uri="{9D8B030D-6E8A-4147-A177-3AD203B41FA5}">
                      <a16:colId xmlns:a16="http://schemas.microsoft.com/office/drawing/2014/main" val="2438280118"/>
                    </a:ext>
                  </a:extLst>
                </a:gridCol>
                <a:gridCol w="348791">
                  <a:extLst>
                    <a:ext uri="{9D8B030D-6E8A-4147-A177-3AD203B41FA5}">
                      <a16:colId xmlns:a16="http://schemas.microsoft.com/office/drawing/2014/main" val="1827285672"/>
                    </a:ext>
                  </a:extLst>
                </a:gridCol>
                <a:gridCol w="2057400">
                  <a:extLst>
                    <a:ext uri="{9D8B030D-6E8A-4147-A177-3AD203B41FA5}">
                      <a16:colId xmlns:a16="http://schemas.microsoft.com/office/drawing/2014/main" val="119173844"/>
                    </a:ext>
                  </a:extLst>
                </a:gridCol>
                <a:gridCol w="4717571">
                  <a:extLst>
                    <a:ext uri="{9D8B030D-6E8A-4147-A177-3AD203B41FA5}">
                      <a16:colId xmlns:a16="http://schemas.microsoft.com/office/drawing/2014/main" val="42807521"/>
                    </a:ext>
                  </a:extLst>
                </a:gridCol>
                <a:gridCol w="318609">
                  <a:extLst>
                    <a:ext uri="{9D8B030D-6E8A-4147-A177-3AD203B41FA5}">
                      <a16:colId xmlns:a16="http://schemas.microsoft.com/office/drawing/2014/main" val="261316898"/>
                    </a:ext>
                  </a:extLst>
                </a:gridCol>
                <a:gridCol w="2156735">
                  <a:extLst>
                    <a:ext uri="{9D8B030D-6E8A-4147-A177-3AD203B41FA5}">
                      <a16:colId xmlns:a16="http://schemas.microsoft.com/office/drawing/2014/main" val="3758935386"/>
                    </a:ext>
                  </a:extLst>
                </a:gridCol>
              </a:tblGrid>
              <a:tr h="106403">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539831988"/>
                  </a:ext>
                </a:extLst>
              </a:tr>
              <a:tr h="425614">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08:30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19:40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ATB A896 ENG 2 SINGLE FIRE LOOP +  HYD ENG 1 (Y) &lt;p&gt;A896/HAN/ATB/AOG: A896 VN19 HAN-CDG ATB DUE TO CAPT REPORT:&lt;</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ENG 2 SINGLE FIRE LOOP&lt;</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2. HYD ENG 1 (Y)&lt;</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3. OVER WEIGHT L/D&lt;/p&gt;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RPL 02 PUMP Y SYS , 4 CASE DRAIN FILTER , 2 HP Y SYS FILTER, 1 LP SYS FILTER.</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ERU 3 TIMES, FLUSHING &amp;amp; DRAIN Y SYS 3 TIMES.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FILLED 20 QT HYD INTO Y SYSTEM.</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C/O RECONFIG L/G REF MP 32-XXXX-04001-397A;FOUND SATIS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A/C SERVICEABLE AT 19:40&lt;/p&gt; ATB A896 ENG 2 SINGLE FIRE LOOP + HYD ENG 1 (Y) EVENT CLOSED &lt;p&gt;*Ca 1 ngày 10/05: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- 08:15: Tàu A896 được kéo vào đến vị trí 26</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Khách và hàng hóa được chuyển sang tàu A892 ở vị trí 25.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- 09:30: Tàu A896 kéo được vào đến bãi nổ để kiểm tra kỹ thuật.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- 17:45 : CRS báo A896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1 - OVERWEIGT L/D - REF AFI 05-51-11-00001-282A</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CHK SAR FILE 0096 AND SOMF FROM AIRBUS NO HARD LD NO INSP NECESSARY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2- HYD Y SYS HI TEM , CASE DRAIN FILTER CLOG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REF AFI 29-13-XX-0W001-421A AND 29-13-0M001-421A</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02 PUMP Y SYS , 4 LỌC CASE DRAIN FILTER , 2 LỌC HP Y SYS, 1 LỌC LP SYS , NỔ MÁY ĐC 3 LẦN ; FLUSHING VÀ DRAIN Y SYS 3 LẦN; ĐÃ NẠP 20 QT HYD VÀO Y SYS.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*Ca 2 ngày 10/05: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Hoàn thành RECONFIG L/G REF MP 32-XX-XX-04001-397A và báo tàu serviceable lúc 19:40&lt;/p&gt; &lt;p&gt;A/C DELAY 10H55; DUE TO ATB AND OPERATION; TECH DELAY: 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do Y EDP 1 như nêu trong TFU 29.10.00061, nguyên nhân do Piston shoe bị mài mòn dẫn đến overheat hê thống thủy lực.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EDP này nhận từ FHS từ Dec/ 2022, TSN = 11,801 FH, CSN = 2,131 FC, TSI =9,255 FH, CSI=1,531 FC.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Hiện tại, Parker đã ban hành VSB để nâng cấp lên EDP-07, nhưng chỉ thực hiện on-attrition. Ngoài ra, để lắp được EDP-07 sẽ phải thực hiện nâng cấp phần mềm thủy lực HMCA S6 (hiện tại đã thực hiện được 8/14 tàu bay)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mn-lt"/>
                          <a:cs typeface="Times New Roman" panose="02020603050405020304" pitchFamily="18" charset="0"/>
                        </a:rPr>
                        <a:t>Các tàu chưa thực hiện và kế hoạch nâng cấp: A886 (BQDB), A887 (BQDB), A893 (16/MAY), A895 (BQDB), A896 (20/JUN), A897 (21/MAY)</a:t>
                      </a:r>
                      <a:r>
                        <a:rPr lang="en-US" sz="1100" b="0" i="0" u="none" strike="noStrike" dirty="0">
                          <a:solidFill>
                            <a:srgbClr val="000000"/>
                          </a:solidFill>
                          <a:effectLst/>
                          <a:latin typeface="+mn-lt"/>
                          <a:cs typeface="Times New Roman" panose="02020603050405020304" pitchFamily="18" charset="0"/>
                        </a:rPr>
                        <a:t>.</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361105"/>
                  </a:ext>
                </a:extLst>
              </a:tr>
              <a:tr h="425614">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06:20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15:30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SYD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 HAS ADD APU INOP AND GPU CAN NOT CONNECT WITH A/C &lt;p&gt;A/C HAS ADD APU INOP AND GPU CAN NOT CONNECT WITH A/C&lt;/p&gt;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&lt;p&gt;SWAP ATUPU 1 WITH ATUPU 2, A/C POWER UP WITH GPU SATIS&lt;/p&gt; ACTION EVENT CLOSED &lt;p&gt;&lt;/p&gt;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Non-Tech: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do GPU tại SYD chất lượng kém, khiến máy bay không nổ máy được, phải swap ATUPU 1 và 2 để reset.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 Hạn chế sử dụng GPU tại Úc, VAECO lưu ý thực hiện swap ATUPU nếu bị lại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794472"/>
                  </a:ext>
                </a:extLst>
              </a:tr>
            </a:tbl>
          </a:graphicData>
        </a:graphic>
      </p:graphicFrame>
    </p:spTree>
    <p:extLst>
      <p:ext uri="{BB962C8B-B14F-4D97-AF65-F5344CB8AC3E}">
        <p14:creationId xmlns:p14="http://schemas.microsoft.com/office/powerpoint/2010/main" val="2492133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A35E5A-B9DB-4382-0092-765940C3CE3D}"/>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08EE82D-0EF3-8D2B-10E0-B3EDF29C844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BE743097-5FBB-D48F-41F6-EFDF2EBCCA5F}"/>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6D38EB66-E5AF-8AD0-A91D-4CF166D50A18}"/>
              </a:ext>
            </a:extLst>
          </p:cNvPr>
          <p:cNvSpPr txBox="1"/>
          <p:nvPr/>
        </p:nvSpPr>
        <p:spPr>
          <a:xfrm>
            <a:off x="143343" y="70034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(Non-Tech: 01)                               Delay: 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44489DB8-20D8-B979-A780-EA0B695F4157}"/>
              </a:ext>
            </a:extLst>
          </p:cNvPr>
          <p:cNvSpPr txBox="1"/>
          <p:nvPr/>
        </p:nvSpPr>
        <p:spPr>
          <a:xfrm>
            <a:off x="143342" y="1033046"/>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7DC3863-972B-87F3-1CF1-ABAE87611C3F}"/>
              </a:ext>
            </a:extLst>
          </p:cNvPr>
          <p:cNvGraphicFramePr>
            <a:graphicFrameLocks noGrp="1"/>
          </p:cNvGraphicFramePr>
          <p:nvPr/>
        </p:nvGraphicFramePr>
        <p:xfrm>
          <a:off x="134289" y="1499278"/>
          <a:ext cx="11706826" cy="4807943"/>
        </p:xfrm>
        <a:graphic>
          <a:graphicData uri="http://schemas.openxmlformats.org/drawingml/2006/table">
            <a:tbl>
              <a:tblPr/>
              <a:tblGrid>
                <a:gridCol w="399111">
                  <a:extLst>
                    <a:ext uri="{9D8B030D-6E8A-4147-A177-3AD203B41FA5}">
                      <a16:colId xmlns:a16="http://schemas.microsoft.com/office/drawing/2014/main" val="40282166"/>
                    </a:ext>
                  </a:extLst>
                </a:gridCol>
                <a:gridCol w="809969">
                  <a:extLst>
                    <a:ext uri="{9D8B030D-6E8A-4147-A177-3AD203B41FA5}">
                      <a16:colId xmlns:a16="http://schemas.microsoft.com/office/drawing/2014/main" val="799634009"/>
                    </a:ext>
                  </a:extLst>
                </a:gridCol>
                <a:gridCol w="898640">
                  <a:extLst>
                    <a:ext uri="{9D8B030D-6E8A-4147-A177-3AD203B41FA5}">
                      <a16:colId xmlns:a16="http://schemas.microsoft.com/office/drawing/2014/main" val="2438280118"/>
                    </a:ext>
                  </a:extLst>
                </a:gridCol>
                <a:gridCol w="348791">
                  <a:extLst>
                    <a:ext uri="{9D8B030D-6E8A-4147-A177-3AD203B41FA5}">
                      <a16:colId xmlns:a16="http://schemas.microsoft.com/office/drawing/2014/main" val="1827285672"/>
                    </a:ext>
                  </a:extLst>
                </a:gridCol>
                <a:gridCol w="1219200">
                  <a:extLst>
                    <a:ext uri="{9D8B030D-6E8A-4147-A177-3AD203B41FA5}">
                      <a16:colId xmlns:a16="http://schemas.microsoft.com/office/drawing/2014/main" val="119173844"/>
                    </a:ext>
                  </a:extLst>
                </a:gridCol>
                <a:gridCol w="4038600">
                  <a:extLst>
                    <a:ext uri="{9D8B030D-6E8A-4147-A177-3AD203B41FA5}">
                      <a16:colId xmlns:a16="http://schemas.microsoft.com/office/drawing/2014/main" val="42807521"/>
                    </a:ext>
                  </a:extLst>
                </a:gridCol>
                <a:gridCol w="304800">
                  <a:extLst>
                    <a:ext uri="{9D8B030D-6E8A-4147-A177-3AD203B41FA5}">
                      <a16:colId xmlns:a16="http://schemas.microsoft.com/office/drawing/2014/main" val="261316898"/>
                    </a:ext>
                  </a:extLst>
                </a:gridCol>
                <a:gridCol w="3687715">
                  <a:extLst>
                    <a:ext uri="{9D8B030D-6E8A-4147-A177-3AD203B41FA5}">
                      <a16:colId xmlns:a16="http://schemas.microsoft.com/office/drawing/2014/main" val="3758935386"/>
                    </a:ext>
                  </a:extLst>
                </a:gridCol>
              </a:tblGrid>
              <a:tr h="106403">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539831988"/>
                  </a:ext>
                </a:extLst>
              </a:tr>
              <a:tr h="425614">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01:31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20:00 07/05/2025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ATB DUE TO ENG#2 STALL, ENG#2 EGT OVERLIMIT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2 EXHAUST NOZZLE CRACK POS 6H (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ảnh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kèm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EGT EXCEEDANCE REPORT FROM OMS OF ENG 2 IS 944 DEG, EVENT IN AREA A, SO REJECT ENG</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DOWNLOAD AND READOUT OF DFDR DATA REF MP TASK A350-A-31-33-XX-01001-170A-A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DOWNLOAD SAR 0002; 0003 FILES REF MP A350-A-45-31-XX-0G001-345A-A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DOWNLOAD CMS MANUAL DUMP FILES REF MP TASK A350-A-45-45-XX-01003-752A-A AND TASK A350-A-46-12-02-02006-752A-A</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MP 71-XX-XX-0B001-282A: Exam the Power plant after Surge or Stall; found damage many at IPC, HPC, CBC, HPT IPT.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BSI FULL ENG#2 (REF WO&amp;#160;7354138) IPC, HPC ; Found damage on IPC, HPC, CBC, HPT IPT.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HANDOVER TO BASE CHANGE ENG#2 AT 13:00 07/05/2025</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EVENT CLOSED * Ca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đêm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05/05:</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00:38;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quay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lại</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01:10;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Đặt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chèn</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01:45; Báo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AOG Eng#2 Stall</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ENG#2 EGT overlimit 944DegC</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outside Eng#2 found exhaust nozzle crack at 6h position out of limit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04:00; Báo MCC reject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06:00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sáng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06/05 ; 12:00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ngày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07/05 MCC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yêu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làm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thêm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WO soi full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13:00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ngày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07/05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Chuyển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Base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ENG#2</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TỔNG AOG do TECH: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01:45 ; 04:00 : 03h15 (195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phút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ENG#2 STALL, ENG#2 EGT OVERLIMIT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Kết quả BSI cho thấy hỏng hóc xuất phát từ IPC tầng 2 trong đó có 1 lá bị mất vật liệu. Các tầng IPC phía sau đều có hỏng hóc, đến tầng IPC8 (tầng cuối) và các tầng đầu HPC thì toàn bộ các lá bị mẻ. Combustor bao phủ bởi muội than. HPT, IPT và LPT cũng có nhưng không quá nặng.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Dấu hiệu trên cho thấy hiện tượng stall xảy ra do có DOD gây hỏng hóc phần engine core, khả năng DOD là mảnh vỡ từ lá IPC2. Tuy nhiên hiện vẫn chưa xác định được nguyên nhân gây hỏng hóc ban đầu trên IPC2.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đó vào T4/2025 tàu A899 cũng xảy ra sự vụ tương tự, theo đánh giá của NSX nguyên nhân gây mẻ lá là do hút phải băng. Tuy nhiên với trường tàu A894 tình trạng thời tiết bình thường lúc vấn đề xảy ra.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IPC2 là IPC tầng 1 (tầng đầu tiên của máy nén). IPC1 có vấn đề đặc trưng là hiện tượng nứt gốc lá, có rủi ro làm rơi vật liệu gây hỏng hóc, đang có AD yêu cầu soi ở ngưỡng 2300FC. Với động cơ của A899 do mới đi shop về, IPC có CSN ~90FC nên VNA không thực hiện soi, tuy nhiên sẽ triển khai soi lại trước khi động cơ đưa vào khai thác. Với động cơ A894 đã gần đến ngưỡng soi, sẽ được triển khai soi kiểm tra sau khi tàu thay shackle.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VNA cũng đang yêu cầu RR cung cấp thêm hướng dẫn soi bổ sung IPC tầng 1 và 2 (soi platform, shroud...) để tìm nguyên nhân có thể gây ra hỏng hóc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361105"/>
                  </a:ext>
                </a:extLst>
              </a:tr>
            </a:tbl>
          </a:graphicData>
        </a:graphic>
      </p:graphicFrame>
    </p:spTree>
    <p:extLst>
      <p:ext uri="{BB962C8B-B14F-4D97-AF65-F5344CB8AC3E}">
        <p14:creationId xmlns:p14="http://schemas.microsoft.com/office/powerpoint/2010/main" val="169737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B3D4B64-5003-E77F-4DFF-16DA1BB686D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7E67988-9D13-4640-80BC-C4D8A3BA8EC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B7298F94-B452-5ACB-1127-26644A55FDC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AB142088-282D-1230-1893-C39F9AFC13E9}"/>
              </a:ext>
            </a:extLst>
          </p:cNvPr>
          <p:cNvSpPr txBox="1"/>
          <p:nvPr/>
        </p:nvSpPr>
        <p:spPr>
          <a:xfrm>
            <a:off x="143343" y="70034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TextBox 4">
            <a:extLst>
              <a:ext uri="{FF2B5EF4-FFF2-40B4-BE49-F238E27FC236}">
                <a16:creationId xmlns:a16="http://schemas.microsoft.com/office/drawing/2014/main" id="{8A1C78B2-2E0F-F8BD-BFE8-27FE9D5B7439}"/>
              </a:ext>
            </a:extLst>
          </p:cNvPr>
          <p:cNvSpPr txBox="1"/>
          <p:nvPr/>
        </p:nvSpPr>
        <p:spPr>
          <a:xfrm>
            <a:off x="143343" y="1033046"/>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6EDC1D11-5952-7307-1D90-763BB560738D}"/>
              </a:ext>
            </a:extLst>
          </p:cNvPr>
          <p:cNvGraphicFramePr>
            <a:graphicFrameLocks noGrp="1"/>
          </p:cNvGraphicFramePr>
          <p:nvPr>
            <p:extLst>
              <p:ext uri="{D42A27DB-BD31-4B8C-83A1-F6EECF244321}">
                <p14:modId xmlns:p14="http://schemas.microsoft.com/office/powerpoint/2010/main" val="2040299004"/>
              </p:ext>
            </p:extLst>
          </p:nvPr>
        </p:nvGraphicFramePr>
        <p:xfrm>
          <a:off x="134289" y="1524000"/>
          <a:ext cx="11679189" cy="1613747"/>
        </p:xfrm>
        <a:graphic>
          <a:graphicData uri="http://schemas.openxmlformats.org/drawingml/2006/table">
            <a:tbl>
              <a:tblPr/>
              <a:tblGrid>
                <a:gridCol w="399111">
                  <a:extLst>
                    <a:ext uri="{9D8B030D-6E8A-4147-A177-3AD203B41FA5}">
                      <a16:colId xmlns:a16="http://schemas.microsoft.com/office/drawing/2014/main" val="3678090921"/>
                    </a:ext>
                  </a:extLst>
                </a:gridCol>
                <a:gridCol w="704670">
                  <a:extLst>
                    <a:ext uri="{9D8B030D-6E8A-4147-A177-3AD203B41FA5}">
                      <a16:colId xmlns:a16="http://schemas.microsoft.com/office/drawing/2014/main" val="1076392510"/>
                    </a:ext>
                  </a:extLst>
                </a:gridCol>
                <a:gridCol w="362130">
                  <a:extLst>
                    <a:ext uri="{9D8B030D-6E8A-4147-A177-3AD203B41FA5}">
                      <a16:colId xmlns:a16="http://schemas.microsoft.com/office/drawing/2014/main" val="3700715983"/>
                    </a:ext>
                  </a:extLst>
                </a:gridCol>
                <a:gridCol w="689444">
                  <a:extLst>
                    <a:ext uri="{9D8B030D-6E8A-4147-A177-3AD203B41FA5}">
                      <a16:colId xmlns:a16="http://schemas.microsoft.com/office/drawing/2014/main" val="3817174356"/>
                    </a:ext>
                  </a:extLst>
                </a:gridCol>
                <a:gridCol w="574264">
                  <a:extLst>
                    <a:ext uri="{9D8B030D-6E8A-4147-A177-3AD203B41FA5}">
                      <a16:colId xmlns:a16="http://schemas.microsoft.com/office/drawing/2014/main" val="1975464141"/>
                    </a:ext>
                  </a:extLst>
                </a:gridCol>
                <a:gridCol w="477310">
                  <a:extLst>
                    <a:ext uri="{9D8B030D-6E8A-4147-A177-3AD203B41FA5}">
                      <a16:colId xmlns:a16="http://schemas.microsoft.com/office/drawing/2014/main" val="3121123693"/>
                    </a:ext>
                  </a:extLst>
                </a:gridCol>
                <a:gridCol w="1840382">
                  <a:extLst>
                    <a:ext uri="{9D8B030D-6E8A-4147-A177-3AD203B41FA5}">
                      <a16:colId xmlns:a16="http://schemas.microsoft.com/office/drawing/2014/main" val="467443827"/>
                    </a:ext>
                  </a:extLst>
                </a:gridCol>
                <a:gridCol w="3469696">
                  <a:extLst>
                    <a:ext uri="{9D8B030D-6E8A-4147-A177-3AD203B41FA5}">
                      <a16:colId xmlns:a16="http://schemas.microsoft.com/office/drawing/2014/main" val="1422949806"/>
                    </a:ext>
                  </a:extLst>
                </a:gridCol>
                <a:gridCol w="290861">
                  <a:extLst>
                    <a:ext uri="{9D8B030D-6E8A-4147-A177-3AD203B41FA5}">
                      <a16:colId xmlns:a16="http://schemas.microsoft.com/office/drawing/2014/main" val="710412361"/>
                    </a:ext>
                  </a:extLst>
                </a:gridCol>
                <a:gridCol w="2871321">
                  <a:extLst>
                    <a:ext uri="{9D8B030D-6E8A-4147-A177-3AD203B41FA5}">
                      <a16:colId xmlns:a16="http://schemas.microsoft.com/office/drawing/2014/main" val="2996055548"/>
                    </a:ext>
                  </a:extLst>
                </a:gridCol>
              </a:tblGrid>
              <a:tr h="97367">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322313149"/>
                  </a:ext>
                </a:extLst>
              </a:tr>
              <a:tr h="68156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14:07 08/05/2025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GTB DUE TO EMER BATT#1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&lt;p&gt;total delay 45min, tech delay 15min&lt;/p&gt; REPLACED EMER BATT#1, CHECK SATIS. EVENT CLOSED &lt;p&gt;&lt;/p&gt;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Emer Battery PN 505CH2 (loại Ni-cad). Với hỏng hóc dạng này, có thể swap emer Batt và Main Batt để raise MEL, tiếp tục khai thác.</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Battery này có độ tin cậy tốt, từ lúc khai thác MTBUR đạt 65291FH &gt; GMTBUR 12700FH. Khối tháo xuống có giờ hoạt động tương đối cao: TSN 27513 FH, CSN 7681, tuy nhiên khối vừa làm OVH tại VSTEA T2/2025, Ban KT sẽ lấy SFR để phân tích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5720857"/>
                  </a:ext>
                </a:extLst>
              </a:tr>
            </a:tbl>
          </a:graphicData>
        </a:graphic>
      </p:graphicFrame>
    </p:spTree>
    <p:extLst>
      <p:ext uri="{BB962C8B-B14F-4D97-AF65-F5344CB8AC3E}">
        <p14:creationId xmlns:p14="http://schemas.microsoft.com/office/powerpoint/2010/main" val="1046492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232FDC5-C9D9-7D0A-0FE1-5783E81FD8A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D10EF72-4B09-8FAD-C5F1-5867776EBAB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E40A7F1-4EE9-2676-7233-9BAA75FEB77D}"/>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D749CC88-A82B-07BE-F1FB-EBCC26E6149D}"/>
              </a:ext>
            </a:extLst>
          </p:cNvPr>
          <p:cNvGraphicFramePr>
            <a:graphicFrameLocks noGrp="1"/>
          </p:cNvGraphicFramePr>
          <p:nvPr/>
        </p:nvGraphicFramePr>
        <p:xfrm>
          <a:off x="134289" y="1524000"/>
          <a:ext cx="11679189" cy="4966547"/>
        </p:xfrm>
        <a:graphic>
          <a:graphicData uri="http://schemas.openxmlformats.org/drawingml/2006/table">
            <a:tbl>
              <a:tblPr/>
              <a:tblGrid>
                <a:gridCol w="399111">
                  <a:extLst>
                    <a:ext uri="{9D8B030D-6E8A-4147-A177-3AD203B41FA5}">
                      <a16:colId xmlns:a16="http://schemas.microsoft.com/office/drawing/2014/main" val="3678090921"/>
                    </a:ext>
                  </a:extLst>
                </a:gridCol>
                <a:gridCol w="704670">
                  <a:extLst>
                    <a:ext uri="{9D8B030D-6E8A-4147-A177-3AD203B41FA5}">
                      <a16:colId xmlns:a16="http://schemas.microsoft.com/office/drawing/2014/main" val="1076392510"/>
                    </a:ext>
                  </a:extLst>
                </a:gridCol>
                <a:gridCol w="362130">
                  <a:extLst>
                    <a:ext uri="{9D8B030D-6E8A-4147-A177-3AD203B41FA5}">
                      <a16:colId xmlns:a16="http://schemas.microsoft.com/office/drawing/2014/main" val="3700715983"/>
                    </a:ext>
                  </a:extLst>
                </a:gridCol>
                <a:gridCol w="689444">
                  <a:extLst>
                    <a:ext uri="{9D8B030D-6E8A-4147-A177-3AD203B41FA5}">
                      <a16:colId xmlns:a16="http://schemas.microsoft.com/office/drawing/2014/main" val="3817174356"/>
                    </a:ext>
                  </a:extLst>
                </a:gridCol>
                <a:gridCol w="574264">
                  <a:extLst>
                    <a:ext uri="{9D8B030D-6E8A-4147-A177-3AD203B41FA5}">
                      <a16:colId xmlns:a16="http://schemas.microsoft.com/office/drawing/2014/main" val="1975464141"/>
                    </a:ext>
                  </a:extLst>
                </a:gridCol>
                <a:gridCol w="477310">
                  <a:extLst>
                    <a:ext uri="{9D8B030D-6E8A-4147-A177-3AD203B41FA5}">
                      <a16:colId xmlns:a16="http://schemas.microsoft.com/office/drawing/2014/main" val="3121123693"/>
                    </a:ext>
                  </a:extLst>
                </a:gridCol>
                <a:gridCol w="1383182">
                  <a:extLst>
                    <a:ext uri="{9D8B030D-6E8A-4147-A177-3AD203B41FA5}">
                      <a16:colId xmlns:a16="http://schemas.microsoft.com/office/drawing/2014/main" val="467443827"/>
                    </a:ext>
                  </a:extLst>
                </a:gridCol>
                <a:gridCol w="3810000">
                  <a:extLst>
                    <a:ext uri="{9D8B030D-6E8A-4147-A177-3AD203B41FA5}">
                      <a16:colId xmlns:a16="http://schemas.microsoft.com/office/drawing/2014/main" val="1422949806"/>
                    </a:ext>
                  </a:extLst>
                </a:gridCol>
                <a:gridCol w="228600">
                  <a:extLst>
                    <a:ext uri="{9D8B030D-6E8A-4147-A177-3AD203B41FA5}">
                      <a16:colId xmlns:a16="http://schemas.microsoft.com/office/drawing/2014/main" val="710412361"/>
                    </a:ext>
                  </a:extLst>
                </a:gridCol>
                <a:gridCol w="3050478">
                  <a:extLst>
                    <a:ext uri="{9D8B030D-6E8A-4147-A177-3AD203B41FA5}">
                      <a16:colId xmlns:a16="http://schemas.microsoft.com/office/drawing/2014/main" val="2996055548"/>
                    </a:ext>
                  </a:extLst>
                </a:gridCol>
              </a:tblGrid>
              <a:tr h="97367">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322313149"/>
                  </a:ext>
                </a:extLst>
              </a:tr>
              <a:tr h="68156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01:31 06/05/2025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ATB DUE TO ENG#2 STALL, ENG#2 EGT OVERLIMIT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 2 EXHAUST NOZZLE CRACK POS 6H ( Có ảnh đính kèm)</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CHECK EGT EXCEEDANCE REPORT FROM OMS OF ENG 2 IS 944 DEG, EVENT IN AREA A, SO REJECT ENG</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DOWNLOAD AND READOUT OF DFDR DATA REF MP TASK A350-A-31-33-XX-01001-170A-A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DOWNLOAD SAR 0002; 0003 FILES REF MP A350-A-45-31-XX-0G001-345A-A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C/O DOWNLOAD CMS MANUAL DUMP FILES REF MP TASK A350-A-45-45-XX-01003-752A-A AND TASK A350-A-46-12-02-02006-752A-A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C/O MP 71-XX-XX-0B001-282A: Exam the Power plant after Surge or Stall; found damage many at IPC, HPC, CBC, HPT IPT.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BSI FULL ENG#2 (REF WO&amp;#160;7354138) IPC, HPC ; Found damage on IPC, HPC, CBC, HPT IPT.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HANDOVER TO BASE CHANGE ENG#2 AT 13:00 07/05/2025</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EVENT CLOSED * Ca đêm 05/05:</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00:38; Tầu báo quay lại</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01:10; Đặt chèn</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01:45; Báo tầu AOG Eng#2 Stall</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Kiểm tra ENG#2 EGT overlimit 944DegC</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Check outside Eng#2 found exhaust nozzle crack at 6h position out of limit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04:00; Báo MCC reject ENG#2</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Từ 06:00 sáng 06/05 ; 12:00 ngày 07/05 MCC yêu cầu làm thêm WO soi full ENG#2</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13:00 ngày 07/05 Chuyển Base thay ENG#2</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TỔNG AOG do TECH: từ 01:45 ; 04:00 : 03h15 (195 phút)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ENG#2 STALL, ENG#2 EGT OVERLIMIT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Kết quả BSI cho thấy hỏng hóc xuất phát từ IPC tầng 2 trong đó có 1 lá bị mất vật liệu. Các tầng IPC phía sau đều có hỏng hóc, đến tầng IPC8 (tầng cuối) và các tầng đầu HPC thì toàn bộ các lá bị mẻ. Combustor bao phủ bởi muội than. HPT, IPT và LPT cũng có nhưng không quá nặng.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Dấu hiệu trên cho thấy hiện tượng stall xảy ra do có DOD gây hỏng hóc phần engine core, khả năng DOD là mảnh vỡ từ lá IPC2. Tuy nhiên hiện vẫn chưa xác định được nguyên nhân gây hỏng hóc ban đầu trên IPC2.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đó vào T4/2025 tàu A899 cũng xảy ra sự vụ tương tự, theo đánh giá của NSX nguyên nhân gây mẻ lá là do hút phải băng. Tuy nhiên với trường tàu A894 tình trạng thời tiết bình thường lúc vấn đề xảy ra.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Trước IPC2 là IPC tầng 1 (tầng đầu tiên của máy nén). IPC1 có vấn đề đặc trưng là hiện tượng nứt gốc lá, có rủi ro làm rơi vật liệu gây hỏng hóc, đang có AD yêu cầu soi ở ngưỡng 2300FC. Với động cơ của A899 do mới đi shop về, IPC có CSN ~90FC nên VNA không thực hiện soi, tuy nhiên sẽ triển khai soi lại trước khi động cơ đưa vào khai thác. Với động cơ A894 đã gần đến ngưỡng soi, sẽ được triển khai soi kiểm tra sau khi tàu thay shackle.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VNA cũng đang yêu cầu RR cung cấp thêm hướng dẫn soi bổ sung IPC tầng 1 và 2 (soi platform, shroud...) để tìm nguyên nhân có thể gây ra hỏng hóc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5720857"/>
                  </a:ext>
                </a:extLst>
              </a:tr>
            </a:tbl>
          </a:graphicData>
        </a:graphic>
      </p:graphicFrame>
      <p:sp>
        <p:nvSpPr>
          <p:cNvPr id="3" name="TextBox 2">
            <a:extLst>
              <a:ext uri="{FF2B5EF4-FFF2-40B4-BE49-F238E27FC236}">
                <a16:creationId xmlns:a16="http://schemas.microsoft.com/office/drawing/2014/main" id="{C176B0A0-645D-6060-1B7A-A20C9300E2A3}"/>
              </a:ext>
            </a:extLst>
          </p:cNvPr>
          <p:cNvSpPr txBox="1"/>
          <p:nvPr/>
        </p:nvSpPr>
        <p:spPr>
          <a:xfrm>
            <a:off x="143343" y="70034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(Non-Tech: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D70BF4FC-50C0-A318-AC45-1E5A6C85B0BD}"/>
              </a:ext>
            </a:extLst>
          </p:cNvPr>
          <p:cNvSpPr txBox="1"/>
          <p:nvPr/>
        </p:nvSpPr>
        <p:spPr>
          <a:xfrm>
            <a:off x="143343" y="1033046"/>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51085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86DF81-0CD1-4644-9F25-302E67D8DC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718" y="288087"/>
            <a:ext cx="11581682" cy="2619024"/>
          </a:xfrm>
          <a:prstGeom prst="rect">
            <a:avLst/>
          </a:prstGeom>
        </p:spPr>
      </p:pic>
      <p:sp>
        <p:nvSpPr>
          <p:cNvPr id="9" name="TextBox 8">
            <a:extLst>
              <a:ext uri="{FF2B5EF4-FFF2-40B4-BE49-F238E27FC236}">
                <a16:creationId xmlns:a16="http://schemas.microsoft.com/office/drawing/2014/main" id="{BD37A2CA-F6F8-4864-97BD-AC13AAC82518}"/>
              </a:ext>
            </a:extLst>
          </p:cNvPr>
          <p:cNvSpPr txBox="1"/>
          <p:nvPr/>
        </p:nvSpPr>
        <p:spPr>
          <a:xfrm>
            <a:off x="304800" y="-55997"/>
            <a:ext cx="11304482" cy="523220"/>
          </a:xfrm>
          <a:prstGeom prst="rect">
            <a:avLst/>
          </a:prstGeom>
          <a:noFill/>
        </p:spPr>
        <p:txBody>
          <a:bodyPr wrap="square" rtlCol="0">
            <a:spAutoFit/>
          </a:bodyPr>
          <a:lstStyle/>
          <a:p>
            <a:r>
              <a:rPr lang="en-US" sz="2800" b="1">
                <a:ln w="0"/>
                <a:solidFill>
                  <a:srgbClr val="FBAC00"/>
                </a:solidFill>
                <a:latin typeface="Times New Roman" panose="02020603050405020304" pitchFamily="18" charset="0"/>
                <a:cs typeface="Times New Roman" panose="02020603050405020304" pitchFamily="18" charset="0"/>
              </a:rPr>
              <a:t>A894 – ENGINE STALL</a:t>
            </a:r>
            <a:endParaRPr lang="vi-VN" sz="2800" b="1" dirty="0">
              <a:ln w="0"/>
              <a:solidFill>
                <a:srgbClr val="FBAC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0040895-447B-4C7E-8B37-45E0FD4D6141}"/>
              </a:ext>
            </a:extLst>
          </p:cNvPr>
          <p:cNvSpPr txBox="1"/>
          <p:nvPr/>
        </p:nvSpPr>
        <p:spPr>
          <a:xfrm>
            <a:off x="381718" y="399134"/>
            <a:ext cx="11581682" cy="738664"/>
          </a:xfrm>
          <a:prstGeom prst="rect">
            <a:avLst/>
          </a:prstGeom>
          <a:solidFill>
            <a:srgbClr val="FFFFCC"/>
          </a:solidFill>
          <a:ln>
            <a:solidFill>
              <a:schemeClr val="accent1"/>
            </a:solidFill>
          </a:ln>
        </p:spPr>
        <p:txBody>
          <a:bodyPr wrap="square" rtlCol="0">
            <a:spAutoFit/>
          </a:bodyPr>
          <a:lstStyle/>
          <a:p>
            <a:pPr marL="285750" indent="-285750">
              <a:buFontTx/>
              <a:buChar char="-"/>
            </a:pPr>
            <a:r>
              <a:rPr lang="en-US" sz="1400">
                <a:ln w="0"/>
                <a:latin typeface="Times New Roman" panose="02020603050405020304" pitchFamily="18" charset="0"/>
                <a:cs typeface="Times New Roman" panose="02020603050405020304" pitchFamily="18" charset="0"/>
              </a:rPr>
              <a:t>Ngày 06/05, tàu A894 có cảnh báo Engine Stall trong khi bay, kèm các cảnh báo ENG FAIL và EGT OVERLIMIT. Phi công đã tiến hành giảm ga về IDLE và quay về HAN. </a:t>
            </a:r>
          </a:p>
          <a:p>
            <a:pPr marL="285750" indent="-285750">
              <a:buFontTx/>
              <a:buChar char="-"/>
            </a:pPr>
            <a:r>
              <a:rPr lang="en-US" sz="1400">
                <a:ln w="0"/>
                <a:latin typeface="Times New Roman" panose="02020603050405020304" pitchFamily="18" charset="0"/>
                <a:cs typeface="Times New Roman" panose="02020603050405020304" pitchFamily="18" charset="0"/>
              </a:rPr>
              <a:t>Do EGT đã v</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ợt quá giới hạn TSM yêu cầu thay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BSI cho thấy phần Engine Core hỏng hóc nặng, là nguyên nhân trực tiếp gây stall. </a:t>
            </a:r>
            <a:endParaRPr lang="vi-VN" sz="1400" dirty="0">
              <a:ln w="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5BAA073-CCA3-4FE1-9E63-192C76429780}"/>
              </a:ext>
            </a:extLst>
          </p:cNvPr>
          <p:cNvSpPr txBox="1"/>
          <p:nvPr/>
        </p:nvSpPr>
        <p:spPr>
          <a:xfrm>
            <a:off x="381716" y="4527533"/>
            <a:ext cx="8781702" cy="2246769"/>
          </a:xfrm>
          <a:prstGeom prst="rect">
            <a:avLst/>
          </a:prstGeom>
          <a:solidFill>
            <a:schemeClr val="accent2">
              <a:lumMod val="40000"/>
              <a:lumOff val="60000"/>
            </a:schemeClr>
          </a:solidFill>
          <a:ln>
            <a:solidFill>
              <a:schemeClr val="accent1"/>
            </a:solidFill>
          </a:ln>
        </p:spPr>
        <p:txBody>
          <a:bodyPr wrap="square" rtlCol="0">
            <a:spAutoFit/>
          </a:bodyPr>
          <a:lstStyle/>
          <a:p>
            <a:pPr marL="285750" indent="-285750">
              <a:buFont typeface="Wingdings" panose="05000000000000000000" pitchFamily="2" charset="2"/>
              <a:buChar char="Ø"/>
            </a:pPr>
            <a:r>
              <a:rPr lang="vi-VN" sz="1400">
                <a:ln w="0"/>
                <a:latin typeface="Times New Roman" panose="02020603050405020304" pitchFamily="18" charset="0"/>
                <a:cs typeface="Times New Roman" panose="02020603050405020304" pitchFamily="18" charset="0"/>
              </a:rPr>
              <a:t>Dấu hiệu trên cho thấy hiện tượng stall</a:t>
            </a:r>
            <a:r>
              <a:rPr lang="en-US" sz="1400">
                <a:ln w="0"/>
                <a:latin typeface="Times New Roman" panose="02020603050405020304" pitchFamily="18" charset="0"/>
                <a:cs typeface="Times New Roman" panose="02020603050405020304" pitchFamily="18" charset="0"/>
              </a:rPr>
              <a:t> A894</a:t>
            </a:r>
            <a:r>
              <a:rPr lang="vi-VN" sz="1400">
                <a:ln w="0"/>
                <a:latin typeface="Times New Roman" panose="02020603050405020304" pitchFamily="18" charset="0"/>
                <a:cs typeface="Times New Roman" panose="02020603050405020304" pitchFamily="18" charset="0"/>
              </a:rPr>
              <a:t> xảy ra do có DOD gây hỏng hóc phần engine core, khả năng DOD là mảnh vỡ từ lá IPC2. Tuy nhiên hiện vẫn chưa xác định được nguyên nhân gây hỏng hóc ban đầu trên IPC2. </a:t>
            </a:r>
          </a:p>
          <a:p>
            <a:pPr marL="285750" indent="-285750">
              <a:buFont typeface="Wingdings" panose="05000000000000000000" pitchFamily="2" charset="2"/>
              <a:buChar char="Ø"/>
            </a:pPr>
            <a:r>
              <a:rPr lang="vi-VN" sz="1400">
                <a:ln w="0"/>
                <a:latin typeface="Times New Roman" panose="02020603050405020304" pitchFamily="18" charset="0"/>
                <a:cs typeface="Times New Roman" panose="02020603050405020304" pitchFamily="18" charset="0"/>
              </a:rPr>
              <a:t>Trước đó vào T4/2025 tàu A899 cũng xảy ra sự vụ tương tự, theo đánh giá của NSX nguyên nhân gây mẻ lá là do hút phải băng. Tuy nhiên với trường tàu A894 tình trạng thời tiết bình thường lúc vấn đề xảy ra. </a:t>
            </a:r>
          </a:p>
          <a:p>
            <a:pPr marL="285750" indent="-285750">
              <a:buFont typeface="Wingdings" panose="05000000000000000000" pitchFamily="2" charset="2"/>
              <a:buChar char="Ø"/>
            </a:pPr>
            <a:r>
              <a:rPr lang="vi-VN" sz="1400">
                <a:ln w="0"/>
                <a:latin typeface="Times New Roman" panose="02020603050405020304" pitchFamily="18" charset="0"/>
                <a:cs typeface="Times New Roman" panose="02020603050405020304" pitchFamily="18" charset="0"/>
              </a:rPr>
              <a:t>Trước IPC2 là IPC tầng 1 (tầng đầu tiên của máy nén). IPC1 có vấn đề đặc trưng là hiện tượng nứt gốc lá, có rủi ro làm rơi vật liệu gây hỏng hóc, đang có AD yêu cầu soi ở ngưỡng 2300FC. Với động cơ của A899 do mới đi shop về, IPC có CSN ~90FC nên VNA không thực hiện soi, tuy nhiên sẽ triển khai soi lại trước khi động cơ đưa vào khai thác. Với động cơ A894 đã gần đến ngưỡng soi, sẽ được triển khai soi kiểm tra sau khi tàu thay shackle. </a:t>
            </a:r>
          </a:p>
          <a:p>
            <a:pPr marL="285750" indent="-285750">
              <a:buFont typeface="Wingdings" panose="05000000000000000000" pitchFamily="2" charset="2"/>
              <a:buChar char="Ø"/>
            </a:pPr>
            <a:r>
              <a:rPr lang="vi-VN" sz="1400">
                <a:ln w="0"/>
                <a:latin typeface="Times New Roman" panose="02020603050405020304" pitchFamily="18" charset="0"/>
                <a:cs typeface="Times New Roman" panose="02020603050405020304" pitchFamily="18" charset="0"/>
              </a:rPr>
              <a:t>VNA cũng đang yêu cầu RR cung cấp thêm hướng dẫn soi bổ sung IPC tầng 1 và 2 (soi platform, shroud...) để tìm nguyên nhân có thể gây ra hỏng hóc.</a:t>
            </a:r>
            <a:endParaRPr lang="en-US" sz="1400" dirty="0">
              <a:ln w="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85BEAE9-A2B9-4A1F-B874-527BCE7F013B}"/>
              </a:ext>
            </a:extLst>
          </p:cNvPr>
          <p:cNvPicPr>
            <a:picLocks noChangeAspect="1"/>
          </p:cNvPicPr>
          <p:nvPr/>
        </p:nvPicPr>
        <p:blipFill>
          <a:blip r:embed="rId3"/>
          <a:stretch>
            <a:fillRect/>
          </a:stretch>
        </p:blipFill>
        <p:spPr>
          <a:xfrm>
            <a:off x="381716" y="2872135"/>
            <a:ext cx="1600424" cy="1509923"/>
          </a:xfrm>
          <a:prstGeom prst="rect">
            <a:avLst/>
          </a:prstGeom>
        </p:spPr>
      </p:pic>
      <p:pic>
        <p:nvPicPr>
          <p:cNvPr id="13" name="Picture 12">
            <a:extLst>
              <a:ext uri="{FF2B5EF4-FFF2-40B4-BE49-F238E27FC236}">
                <a16:creationId xmlns:a16="http://schemas.microsoft.com/office/drawing/2014/main" id="{276CBEF4-4E5E-4E98-9D65-6508A0307881}"/>
              </a:ext>
            </a:extLst>
          </p:cNvPr>
          <p:cNvPicPr>
            <a:picLocks noChangeAspect="1"/>
          </p:cNvPicPr>
          <p:nvPr/>
        </p:nvPicPr>
        <p:blipFill>
          <a:blip r:embed="rId4"/>
          <a:stretch>
            <a:fillRect/>
          </a:stretch>
        </p:blipFill>
        <p:spPr>
          <a:xfrm>
            <a:off x="2336148" y="2885373"/>
            <a:ext cx="2073887" cy="1497310"/>
          </a:xfrm>
          <a:prstGeom prst="rect">
            <a:avLst/>
          </a:prstGeom>
        </p:spPr>
      </p:pic>
      <p:pic>
        <p:nvPicPr>
          <p:cNvPr id="14" name="Picture 13">
            <a:extLst>
              <a:ext uri="{FF2B5EF4-FFF2-40B4-BE49-F238E27FC236}">
                <a16:creationId xmlns:a16="http://schemas.microsoft.com/office/drawing/2014/main" id="{A6AE2AF4-55BA-41D4-9AE0-5D3BB7870F8C}"/>
              </a:ext>
            </a:extLst>
          </p:cNvPr>
          <p:cNvPicPr>
            <a:picLocks noChangeAspect="1"/>
          </p:cNvPicPr>
          <p:nvPr/>
        </p:nvPicPr>
        <p:blipFill>
          <a:blip r:embed="rId5"/>
          <a:stretch>
            <a:fillRect/>
          </a:stretch>
        </p:blipFill>
        <p:spPr>
          <a:xfrm>
            <a:off x="4719541" y="2878441"/>
            <a:ext cx="2265411" cy="1510274"/>
          </a:xfrm>
          <a:prstGeom prst="rect">
            <a:avLst/>
          </a:prstGeom>
        </p:spPr>
      </p:pic>
      <p:pic>
        <p:nvPicPr>
          <p:cNvPr id="15" name="Picture 14">
            <a:extLst>
              <a:ext uri="{FF2B5EF4-FFF2-40B4-BE49-F238E27FC236}">
                <a16:creationId xmlns:a16="http://schemas.microsoft.com/office/drawing/2014/main" id="{1F4C1F70-0619-45DF-96BC-68DE0B1B527B}"/>
              </a:ext>
            </a:extLst>
          </p:cNvPr>
          <p:cNvPicPr>
            <a:picLocks noChangeAspect="1"/>
          </p:cNvPicPr>
          <p:nvPr/>
        </p:nvPicPr>
        <p:blipFill>
          <a:blip r:embed="rId6"/>
          <a:stretch>
            <a:fillRect/>
          </a:stretch>
        </p:blipFill>
        <p:spPr>
          <a:xfrm>
            <a:off x="7350870" y="2898094"/>
            <a:ext cx="2265411" cy="1499638"/>
          </a:xfrm>
          <a:prstGeom prst="rect">
            <a:avLst/>
          </a:prstGeom>
        </p:spPr>
      </p:pic>
      <p:pic>
        <p:nvPicPr>
          <p:cNvPr id="16" name="Picture 15">
            <a:extLst>
              <a:ext uri="{FF2B5EF4-FFF2-40B4-BE49-F238E27FC236}">
                <a16:creationId xmlns:a16="http://schemas.microsoft.com/office/drawing/2014/main" id="{1C50581E-C2B7-416B-9515-734E7756FD3E}"/>
              </a:ext>
            </a:extLst>
          </p:cNvPr>
          <p:cNvPicPr>
            <a:picLocks noChangeAspect="1"/>
          </p:cNvPicPr>
          <p:nvPr/>
        </p:nvPicPr>
        <p:blipFill rotWithShape="1">
          <a:blip r:embed="rId7"/>
          <a:srcRect r="10079"/>
          <a:stretch/>
        </p:blipFill>
        <p:spPr>
          <a:xfrm>
            <a:off x="9982200" y="2861625"/>
            <a:ext cx="2052220" cy="1513618"/>
          </a:xfrm>
          <a:prstGeom prst="rect">
            <a:avLst/>
          </a:prstGeom>
        </p:spPr>
      </p:pic>
      <p:sp>
        <p:nvSpPr>
          <p:cNvPr id="18" name="Arrow: Right 17">
            <a:extLst>
              <a:ext uri="{FF2B5EF4-FFF2-40B4-BE49-F238E27FC236}">
                <a16:creationId xmlns:a16="http://schemas.microsoft.com/office/drawing/2014/main" id="{F2D9814F-02C0-45EE-9BC0-D2B6494053B1}"/>
              </a:ext>
            </a:extLst>
          </p:cNvPr>
          <p:cNvSpPr/>
          <p:nvPr/>
        </p:nvSpPr>
        <p:spPr>
          <a:xfrm>
            <a:off x="1991978" y="3501776"/>
            <a:ext cx="265765" cy="307817"/>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33A1C1BA-8642-4B4C-A8B9-5BB0A95C658D}"/>
              </a:ext>
            </a:extLst>
          </p:cNvPr>
          <p:cNvSpPr/>
          <p:nvPr/>
        </p:nvSpPr>
        <p:spPr>
          <a:xfrm>
            <a:off x="4432034" y="3501776"/>
            <a:ext cx="287508" cy="307817"/>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C14BB92B-AF8D-49C8-916B-86629A7C5869}"/>
              </a:ext>
            </a:extLst>
          </p:cNvPr>
          <p:cNvSpPr/>
          <p:nvPr/>
        </p:nvSpPr>
        <p:spPr>
          <a:xfrm>
            <a:off x="7024157" y="3461207"/>
            <a:ext cx="287508" cy="307817"/>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DDF2835B-807A-40FE-9DE6-C6CE41A0BA35}"/>
              </a:ext>
            </a:extLst>
          </p:cNvPr>
          <p:cNvSpPr/>
          <p:nvPr/>
        </p:nvSpPr>
        <p:spPr>
          <a:xfrm>
            <a:off x="9655486" y="3469615"/>
            <a:ext cx="287508" cy="307817"/>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CA9786F-33D1-4475-9049-CF1173B37D5C}"/>
              </a:ext>
            </a:extLst>
          </p:cNvPr>
          <p:cNvSpPr/>
          <p:nvPr/>
        </p:nvSpPr>
        <p:spPr>
          <a:xfrm>
            <a:off x="332481" y="2793197"/>
            <a:ext cx="938077" cy="584775"/>
          </a:xfrm>
          <a:prstGeom prst="rect">
            <a:avLst/>
          </a:prstGeom>
          <a:noFill/>
        </p:spPr>
        <p:txBody>
          <a:bodyPr wrap="none" lIns="91440" tIns="45720" rIns="91440" bIns="45720">
            <a:spAutoFit/>
          </a:bodyPr>
          <a:lstStyle/>
          <a:p>
            <a:pPr algn="ctr"/>
            <a:r>
              <a:rPr lang="en-US" sz="3200" b="1" cap="none" spc="0">
                <a:ln w="10160">
                  <a:solidFill>
                    <a:schemeClr val="tx1"/>
                  </a:solidFill>
                  <a:prstDash val="solid"/>
                </a:ln>
                <a:solidFill>
                  <a:srgbClr val="FFFFFF"/>
                </a:solidFill>
                <a:effectLst>
                  <a:outerShdw blurRad="38100" dist="22860" dir="5400000" algn="tl" rotWithShape="0">
                    <a:srgbClr val="000000">
                      <a:alpha val="30000"/>
                    </a:srgbClr>
                  </a:outerShdw>
                </a:effectLst>
              </a:rPr>
              <a:t>IPC2</a:t>
            </a:r>
          </a:p>
        </p:txBody>
      </p:sp>
      <p:sp>
        <p:nvSpPr>
          <p:cNvPr id="24" name="Rectangle 23">
            <a:extLst>
              <a:ext uri="{FF2B5EF4-FFF2-40B4-BE49-F238E27FC236}">
                <a16:creationId xmlns:a16="http://schemas.microsoft.com/office/drawing/2014/main" id="{D3EDC297-7F65-45E6-9DAE-D3E7D786CEB9}"/>
              </a:ext>
            </a:extLst>
          </p:cNvPr>
          <p:cNvSpPr/>
          <p:nvPr/>
        </p:nvSpPr>
        <p:spPr>
          <a:xfrm>
            <a:off x="2314149" y="2844225"/>
            <a:ext cx="938078" cy="584775"/>
          </a:xfrm>
          <a:prstGeom prst="rect">
            <a:avLst/>
          </a:prstGeom>
          <a:noFill/>
        </p:spPr>
        <p:txBody>
          <a:bodyPr wrap="none" lIns="91440" tIns="45720" rIns="91440" bIns="45720">
            <a:spAutoFit/>
          </a:bodyPr>
          <a:lstStyle/>
          <a:p>
            <a:pPr algn="ctr"/>
            <a:r>
              <a:rPr lang="en-US" sz="3200" b="1" cap="none" spc="0">
                <a:ln w="10160">
                  <a:solidFill>
                    <a:schemeClr val="tx1"/>
                  </a:solidFill>
                  <a:prstDash val="solid"/>
                </a:ln>
                <a:solidFill>
                  <a:srgbClr val="FFFFFF"/>
                </a:solidFill>
                <a:effectLst>
                  <a:outerShdw blurRad="38100" dist="22860" dir="5400000" algn="tl" rotWithShape="0">
                    <a:srgbClr val="000000">
                      <a:alpha val="30000"/>
                    </a:srgbClr>
                  </a:outerShdw>
                </a:effectLst>
              </a:rPr>
              <a:t>IPC8</a:t>
            </a:r>
          </a:p>
        </p:txBody>
      </p:sp>
      <p:sp>
        <p:nvSpPr>
          <p:cNvPr id="25" name="Rectangle 24">
            <a:extLst>
              <a:ext uri="{FF2B5EF4-FFF2-40B4-BE49-F238E27FC236}">
                <a16:creationId xmlns:a16="http://schemas.microsoft.com/office/drawing/2014/main" id="{A6251DEA-1585-4BF8-92A4-9DCBC7CEC726}"/>
              </a:ext>
            </a:extLst>
          </p:cNvPr>
          <p:cNvSpPr/>
          <p:nvPr/>
        </p:nvSpPr>
        <p:spPr>
          <a:xfrm>
            <a:off x="4644200" y="2764014"/>
            <a:ext cx="1088760" cy="584775"/>
          </a:xfrm>
          <a:prstGeom prst="rect">
            <a:avLst/>
          </a:prstGeom>
          <a:noFill/>
        </p:spPr>
        <p:txBody>
          <a:bodyPr wrap="none" lIns="91440" tIns="45720" rIns="91440" bIns="45720">
            <a:spAutoFit/>
          </a:bodyPr>
          <a:lstStyle/>
          <a:p>
            <a:pPr algn="ctr"/>
            <a:r>
              <a:rPr lang="en-US" sz="3200" b="1" cap="none" spc="0">
                <a:ln w="10160">
                  <a:solidFill>
                    <a:schemeClr val="tx1"/>
                  </a:solidFill>
                  <a:prstDash val="solid"/>
                </a:ln>
                <a:solidFill>
                  <a:srgbClr val="FFFFFF"/>
                </a:solidFill>
                <a:effectLst>
                  <a:outerShdw blurRad="38100" dist="22860" dir="5400000" algn="tl" rotWithShape="0">
                    <a:srgbClr val="000000">
                      <a:alpha val="30000"/>
                    </a:srgbClr>
                  </a:outerShdw>
                </a:effectLst>
              </a:rPr>
              <a:t>HPC1</a:t>
            </a:r>
          </a:p>
        </p:txBody>
      </p:sp>
      <p:sp>
        <p:nvSpPr>
          <p:cNvPr id="26" name="Rectangle 25">
            <a:extLst>
              <a:ext uri="{FF2B5EF4-FFF2-40B4-BE49-F238E27FC236}">
                <a16:creationId xmlns:a16="http://schemas.microsoft.com/office/drawing/2014/main" id="{CC564A2D-3736-4567-ABBB-1341D97F5133}"/>
              </a:ext>
            </a:extLst>
          </p:cNvPr>
          <p:cNvSpPr/>
          <p:nvPr/>
        </p:nvSpPr>
        <p:spPr>
          <a:xfrm>
            <a:off x="7434162" y="2793196"/>
            <a:ext cx="851515" cy="584775"/>
          </a:xfrm>
          <a:prstGeom prst="rect">
            <a:avLst/>
          </a:prstGeom>
          <a:noFill/>
        </p:spPr>
        <p:txBody>
          <a:bodyPr wrap="none" lIns="91440" tIns="45720" rIns="91440" bIns="45720">
            <a:spAutoFit/>
          </a:bodyPr>
          <a:lstStyle/>
          <a:p>
            <a:pPr algn="ctr"/>
            <a:r>
              <a:rPr lang="en-US" sz="3200" b="1" cap="none" spc="0">
                <a:ln w="10160">
                  <a:solidFill>
                    <a:schemeClr val="tx1"/>
                  </a:solidFill>
                  <a:prstDash val="solid"/>
                </a:ln>
                <a:solidFill>
                  <a:srgbClr val="FFFFFF"/>
                </a:solidFill>
                <a:effectLst>
                  <a:outerShdw blurRad="38100" dist="22860" dir="5400000" algn="tl" rotWithShape="0">
                    <a:srgbClr val="000000">
                      <a:alpha val="30000"/>
                    </a:srgbClr>
                  </a:outerShdw>
                </a:effectLst>
              </a:rPr>
              <a:t>CBC</a:t>
            </a:r>
          </a:p>
        </p:txBody>
      </p:sp>
      <p:sp>
        <p:nvSpPr>
          <p:cNvPr id="27" name="Rectangle 26">
            <a:extLst>
              <a:ext uri="{FF2B5EF4-FFF2-40B4-BE49-F238E27FC236}">
                <a16:creationId xmlns:a16="http://schemas.microsoft.com/office/drawing/2014/main" id="{B015D7AF-2539-4E94-9CC1-70BBD2783983}"/>
              </a:ext>
            </a:extLst>
          </p:cNvPr>
          <p:cNvSpPr/>
          <p:nvPr/>
        </p:nvSpPr>
        <p:spPr>
          <a:xfrm>
            <a:off x="9971918" y="2802214"/>
            <a:ext cx="864724" cy="584775"/>
          </a:xfrm>
          <a:prstGeom prst="rect">
            <a:avLst/>
          </a:prstGeom>
          <a:noFill/>
        </p:spPr>
        <p:txBody>
          <a:bodyPr wrap="none" lIns="91440" tIns="45720" rIns="91440" bIns="45720">
            <a:spAutoFit/>
          </a:bodyPr>
          <a:lstStyle/>
          <a:p>
            <a:pPr algn="ctr"/>
            <a:r>
              <a:rPr lang="en-US" sz="3200" b="1" cap="none" spc="0">
                <a:ln w="10160">
                  <a:solidFill>
                    <a:schemeClr val="tx1"/>
                  </a:solidFill>
                  <a:prstDash val="solid"/>
                </a:ln>
                <a:solidFill>
                  <a:srgbClr val="FFFFFF"/>
                </a:solidFill>
                <a:effectLst>
                  <a:outerShdw blurRad="38100" dist="22860" dir="5400000" algn="tl" rotWithShape="0">
                    <a:srgbClr val="000000">
                      <a:alpha val="30000"/>
                    </a:srgbClr>
                  </a:outerShdw>
                </a:effectLst>
              </a:rPr>
              <a:t>HPT</a:t>
            </a:r>
          </a:p>
        </p:txBody>
      </p:sp>
      <p:cxnSp>
        <p:nvCxnSpPr>
          <p:cNvPr id="29" name="Straight Arrow Connector 28">
            <a:extLst>
              <a:ext uri="{FF2B5EF4-FFF2-40B4-BE49-F238E27FC236}">
                <a16:creationId xmlns:a16="http://schemas.microsoft.com/office/drawing/2014/main" id="{928ADF33-CBAF-4ED8-8010-CC0FD615E05D}"/>
              </a:ext>
            </a:extLst>
          </p:cNvPr>
          <p:cNvCxnSpPr>
            <a:endCxn id="11" idx="0"/>
          </p:cNvCxnSpPr>
          <p:nvPr/>
        </p:nvCxnSpPr>
        <p:spPr>
          <a:xfrm flipH="1">
            <a:off x="1181928" y="1893222"/>
            <a:ext cx="4006652" cy="978913"/>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C3D19A4-4EE2-4DD6-AFAB-146F3CD0D119}"/>
              </a:ext>
            </a:extLst>
          </p:cNvPr>
          <p:cNvCxnSpPr>
            <a:cxnSpLocks/>
            <a:endCxn id="13" idx="0"/>
          </p:cNvCxnSpPr>
          <p:nvPr/>
        </p:nvCxnSpPr>
        <p:spPr>
          <a:xfrm flipH="1">
            <a:off x="3373092" y="1904411"/>
            <a:ext cx="3161060" cy="980962"/>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E66A1B2-EA59-4BE6-A2EB-7D2CF5496C9E}"/>
              </a:ext>
            </a:extLst>
          </p:cNvPr>
          <p:cNvCxnSpPr>
            <a:cxnSpLocks/>
            <a:endCxn id="14" idx="0"/>
          </p:cNvCxnSpPr>
          <p:nvPr/>
        </p:nvCxnSpPr>
        <p:spPr>
          <a:xfrm flipH="1">
            <a:off x="5852247" y="2152507"/>
            <a:ext cx="1406928" cy="725934"/>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91DA3E4-A40B-46F5-938F-02B86E960763}"/>
              </a:ext>
            </a:extLst>
          </p:cNvPr>
          <p:cNvCxnSpPr>
            <a:cxnSpLocks/>
            <a:endCxn id="15" idx="0"/>
          </p:cNvCxnSpPr>
          <p:nvPr/>
        </p:nvCxnSpPr>
        <p:spPr>
          <a:xfrm flipH="1">
            <a:off x="8483576" y="2069681"/>
            <a:ext cx="25148" cy="828413"/>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4B0549D-64AC-430C-8380-68CFC30DACB4}"/>
              </a:ext>
            </a:extLst>
          </p:cNvPr>
          <p:cNvCxnSpPr>
            <a:cxnSpLocks/>
            <a:endCxn id="16" idx="0"/>
          </p:cNvCxnSpPr>
          <p:nvPr/>
        </p:nvCxnSpPr>
        <p:spPr>
          <a:xfrm>
            <a:off x="8962130" y="1973801"/>
            <a:ext cx="2046180" cy="887824"/>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0BFEEBCF-6059-4BFC-A88E-0A1358ABB129}"/>
              </a:ext>
            </a:extLst>
          </p:cNvPr>
          <p:cNvPicPr>
            <a:picLocks noChangeAspect="1"/>
          </p:cNvPicPr>
          <p:nvPr/>
        </p:nvPicPr>
        <p:blipFill>
          <a:blip r:embed="rId8"/>
          <a:stretch>
            <a:fillRect/>
          </a:stretch>
        </p:blipFill>
        <p:spPr>
          <a:xfrm>
            <a:off x="10909105" y="4675992"/>
            <a:ext cx="1192047" cy="1949849"/>
          </a:xfrm>
          <a:prstGeom prst="rect">
            <a:avLst/>
          </a:prstGeom>
        </p:spPr>
      </p:pic>
      <p:sp>
        <p:nvSpPr>
          <p:cNvPr id="40" name="TextBox 39">
            <a:extLst>
              <a:ext uri="{FF2B5EF4-FFF2-40B4-BE49-F238E27FC236}">
                <a16:creationId xmlns:a16="http://schemas.microsoft.com/office/drawing/2014/main" id="{C9E23D5D-9D0F-41FE-9484-9472F0D4C346}"/>
              </a:ext>
            </a:extLst>
          </p:cNvPr>
          <p:cNvSpPr txBox="1"/>
          <p:nvPr/>
        </p:nvSpPr>
        <p:spPr>
          <a:xfrm>
            <a:off x="9347005" y="6377102"/>
            <a:ext cx="1315040" cy="292388"/>
          </a:xfrm>
          <a:prstGeom prst="rect">
            <a:avLst/>
          </a:prstGeom>
          <a:noFill/>
        </p:spPr>
        <p:txBody>
          <a:bodyPr wrap="none" rtlCol="0">
            <a:spAutoFit/>
          </a:bodyPr>
          <a:lstStyle/>
          <a:p>
            <a:r>
              <a:rPr lang="en-US" sz="1300" i="1">
                <a:latin typeface="Times New Roman" panose="02020603050405020304" pitchFamily="18" charset="0"/>
                <a:cs typeface="Times New Roman" panose="02020603050405020304" pitchFamily="18" charset="0"/>
              </a:rPr>
              <a:t>Crack blade root</a:t>
            </a:r>
            <a:endParaRPr lang="en-US" sz="1300" i="1" dirty="0">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6689F282-6719-4287-BB37-4B8C684C0FA9}"/>
              </a:ext>
            </a:extLst>
          </p:cNvPr>
          <p:cNvPicPr>
            <a:picLocks noChangeAspect="1"/>
          </p:cNvPicPr>
          <p:nvPr/>
        </p:nvPicPr>
        <p:blipFill>
          <a:blip r:embed="rId9"/>
          <a:stretch>
            <a:fillRect/>
          </a:stretch>
        </p:blipFill>
        <p:spPr>
          <a:xfrm>
            <a:off x="9390632" y="5366359"/>
            <a:ext cx="1264334" cy="972257"/>
          </a:xfrm>
          <a:prstGeom prst="rect">
            <a:avLst/>
          </a:prstGeom>
        </p:spPr>
      </p:pic>
      <p:cxnSp>
        <p:nvCxnSpPr>
          <p:cNvPr id="42" name="Straight Arrow Connector 41">
            <a:extLst>
              <a:ext uri="{FF2B5EF4-FFF2-40B4-BE49-F238E27FC236}">
                <a16:creationId xmlns:a16="http://schemas.microsoft.com/office/drawing/2014/main" id="{7417AC21-1565-476E-B3E5-663E99C43609}"/>
              </a:ext>
            </a:extLst>
          </p:cNvPr>
          <p:cNvCxnSpPr>
            <a:cxnSpLocks/>
            <a:endCxn id="41" idx="3"/>
          </p:cNvCxnSpPr>
          <p:nvPr/>
        </p:nvCxnSpPr>
        <p:spPr>
          <a:xfrm flipH="1">
            <a:off x="10654966" y="5793636"/>
            <a:ext cx="604710" cy="58852"/>
          </a:xfrm>
          <a:prstGeom prst="straightConnector1">
            <a:avLst/>
          </a:prstGeom>
          <a:ln w="190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626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D666F-FC94-D6C7-7AE5-D543974C19F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F34A13-4941-643E-3F10-95CCA93A561E}"/>
              </a:ext>
            </a:extLst>
          </p:cNvPr>
          <p:cNvSpPr>
            <a:spLocks noGrp="1"/>
          </p:cNvSpPr>
          <p:nvPr>
            <p:ph type="sldNum" idx="12"/>
          </p:nvPr>
        </p:nvSpPr>
        <p:spPr/>
        <p:txBody>
          <a:bodyPr/>
          <a:lstStyle/>
          <a:p>
            <a:fld id="{6C6B6B8D-D74E-47CD-B5EE-156060B7CD17}" type="slidenum">
              <a:rPr lang="en-US" smtClean="0"/>
              <a:pPr/>
              <a:t>15</a:t>
            </a:fld>
            <a:endParaRPr lang="en-US"/>
          </a:p>
        </p:txBody>
      </p:sp>
      <p:sp>
        <p:nvSpPr>
          <p:cNvPr id="5" name="Title 4">
            <a:extLst>
              <a:ext uri="{FF2B5EF4-FFF2-40B4-BE49-F238E27FC236}">
                <a16:creationId xmlns:a16="http://schemas.microsoft.com/office/drawing/2014/main" id="{2F03CBB8-D69E-2CDE-C781-4B12594E82A8}"/>
              </a:ext>
            </a:extLst>
          </p:cNvPr>
          <p:cNvSpPr>
            <a:spLocks noGrp="1"/>
          </p:cNvSpPr>
          <p:nvPr>
            <p:ph type="title"/>
          </p:nvPr>
        </p:nvSpPr>
        <p:spPr>
          <a:xfrm>
            <a:off x="381000" y="76200"/>
            <a:ext cx="11277600" cy="616258"/>
          </a:xfrm>
        </p:spPr>
        <p:txBody>
          <a:bodyPr>
            <a:normAutofit/>
          </a:bodyPr>
          <a:lstStyle/>
          <a:p>
            <a:r>
              <a:rPr lang="en-US" dirty="0">
                <a:ln w="0"/>
                <a:solidFill>
                  <a:schemeClr val="accent4"/>
                </a:solidFill>
                <a:latin typeface="Times New Roman" panose="02020603050405020304" pitchFamily="18" charset="0"/>
                <a:cs typeface="Times New Roman" panose="02020603050405020304" pitchFamily="18" charset="0"/>
              </a:rPr>
              <a:t>A896 –ATB – DUE TO </a:t>
            </a:r>
            <a:r>
              <a:rPr lang="en-US" b="0" i="0" dirty="0">
                <a:solidFill>
                  <a:srgbClr val="121111"/>
                </a:solidFill>
                <a:effectLst/>
                <a:latin typeface="Arial" panose="020B0604020202020204" pitchFamily="34" charset="0"/>
              </a:rPr>
              <a:t> </a:t>
            </a:r>
            <a:r>
              <a:rPr lang="en-US" dirty="0">
                <a:ln w="0"/>
                <a:solidFill>
                  <a:schemeClr val="accent4"/>
                </a:solidFill>
                <a:latin typeface="Times New Roman" panose="02020603050405020304" pitchFamily="18" charset="0"/>
                <a:cs typeface="Times New Roman" panose="02020603050405020304" pitchFamily="18" charset="0"/>
              </a:rPr>
              <a:t>HYD ENG 1 Y OVHT</a:t>
            </a:r>
            <a:endParaRPr lang="vi-VN" dirty="0">
              <a:ln w="0"/>
              <a:solidFill>
                <a:schemeClr val="accent4"/>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54EFB57C-EF93-A0B3-8A84-9DB6F06A9BA0}"/>
              </a:ext>
            </a:extLst>
          </p:cNvPr>
          <p:cNvPicPr>
            <a:picLocks noChangeAspect="1"/>
          </p:cNvPicPr>
          <p:nvPr/>
        </p:nvPicPr>
        <p:blipFill>
          <a:blip r:embed="rId3"/>
          <a:stretch>
            <a:fillRect/>
          </a:stretch>
        </p:blipFill>
        <p:spPr>
          <a:xfrm>
            <a:off x="6096000" y="831273"/>
            <a:ext cx="5932211" cy="2733675"/>
          </a:xfrm>
          <a:prstGeom prst="rect">
            <a:avLst/>
          </a:prstGeom>
        </p:spPr>
      </p:pic>
      <p:sp>
        <p:nvSpPr>
          <p:cNvPr id="15" name="TextBox 14">
            <a:extLst>
              <a:ext uri="{FF2B5EF4-FFF2-40B4-BE49-F238E27FC236}">
                <a16:creationId xmlns:a16="http://schemas.microsoft.com/office/drawing/2014/main" id="{3C545957-025E-A7A3-AE8A-053B9E745E05}"/>
              </a:ext>
            </a:extLst>
          </p:cNvPr>
          <p:cNvSpPr txBox="1"/>
          <p:nvPr/>
        </p:nvSpPr>
        <p:spPr>
          <a:xfrm>
            <a:off x="381000" y="831273"/>
            <a:ext cx="5464752" cy="3785652"/>
          </a:xfrm>
          <a:prstGeom prst="rect">
            <a:avLst/>
          </a:prstGeom>
          <a:noFill/>
        </p:spPr>
        <p:txBody>
          <a:bodyPr wrap="square" rtlCol="0">
            <a:spAutoFit/>
          </a:bodyPr>
          <a:lstStyle/>
          <a:p>
            <a:pPr marL="285750" indent="-285750">
              <a:buFont typeface="Wingdings" panose="05000000000000000000" pitchFamily="2" charset="2"/>
              <a:buChar char="q"/>
            </a:pPr>
            <a:r>
              <a:rPr lang="vi-VN" sz="1600" dirty="0">
                <a:solidFill>
                  <a:srgbClr val="121111"/>
                </a:solidFill>
                <a:latin typeface="Times New Roman" panose="02020603050405020304" pitchFamily="18" charset="0"/>
                <a:cs typeface="Times New Roman" panose="02020603050405020304" pitchFamily="18" charset="0"/>
              </a:rPr>
              <a:t>Hỏng hóc do Y EDP 1 như nêu trong TFU 29.10.00061, nguyên nhân do Piston shoe bị mài mòn dẫn đến overheat h</a:t>
            </a:r>
            <a:r>
              <a:rPr lang="en-US" sz="1600" dirty="0">
                <a:solidFill>
                  <a:srgbClr val="121111"/>
                </a:solidFill>
                <a:latin typeface="Times New Roman" panose="02020603050405020304" pitchFamily="18" charset="0"/>
                <a:cs typeface="Times New Roman" panose="02020603050405020304" pitchFamily="18" charset="0"/>
              </a:rPr>
              <a:t>ệ</a:t>
            </a:r>
            <a:r>
              <a:rPr lang="vi-VN" sz="1600" dirty="0">
                <a:solidFill>
                  <a:srgbClr val="121111"/>
                </a:solidFill>
                <a:latin typeface="Times New Roman" panose="02020603050405020304" pitchFamily="18" charset="0"/>
                <a:cs typeface="Times New Roman" panose="02020603050405020304" pitchFamily="18" charset="0"/>
              </a:rPr>
              <a:t> thống thủy lực. </a:t>
            </a:r>
            <a:endParaRPr lang="en-US" sz="1600" dirty="0">
              <a:solidFill>
                <a:srgbClr val="12111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1600" dirty="0">
              <a:solidFill>
                <a:srgbClr val="12111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vi-VN" sz="1600" dirty="0">
                <a:solidFill>
                  <a:srgbClr val="121111"/>
                </a:solidFill>
                <a:latin typeface="Times New Roman" panose="02020603050405020304" pitchFamily="18" charset="0"/>
                <a:cs typeface="Times New Roman" panose="02020603050405020304" pitchFamily="18" charset="0"/>
              </a:rPr>
              <a:t>EDP </a:t>
            </a:r>
            <a:r>
              <a:rPr lang="en-US" sz="1600" dirty="0">
                <a:solidFill>
                  <a:srgbClr val="121111"/>
                </a:solidFill>
                <a:latin typeface="Times New Roman" panose="02020603050405020304" pitchFamily="18" charset="0"/>
                <a:cs typeface="Times New Roman" panose="02020603050405020304" pitchFamily="18" charset="0"/>
              </a:rPr>
              <a:t>PN 53098-06, SN 530980920 </a:t>
            </a:r>
            <a:r>
              <a:rPr lang="vi-VN" sz="1600" dirty="0">
                <a:solidFill>
                  <a:srgbClr val="121111"/>
                </a:solidFill>
                <a:latin typeface="Times New Roman" panose="02020603050405020304" pitchFamily="18" charset="0"/>
                <a:cs typeface="Times New Roman" panose="02020603050405020304" pitchFamily="18" charset="0"/>
              </a:rPr>
              <a:t>này nhận từ FHS từ Dec/ 2022, TSN = 11,801 FH, CSN = 2,131 FC, TSI =9,255 FH, CSI=1,531 FC.</a:t>
            </a:r>
            <a:endParaRPr lang="en-US" sz="1600" dirty="0">
              <a:solidFill>
                <a:srgbClr val="12111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1600" dirty="0">
              <a:solidFill>
                <a:srgbClr val="12111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vi-VN" sz="1600" dirty="0">
                <a:solidFill>
                  <a:srgbClr val="121111"/>
                </a:solidFill>
                <a:latin typeface="Times New Roman" panose="02020603050405020304" pitchFamily="18" charset="0"/>
                <a:cs typeface="Times New Roman" panose="02020603050405020304" pitchFamily="18" charset="0"/>
              </a:rPr>
              <a:t>Hiện tại, Parker đã ban hành VSB để nâng cấp lên EDP-07, nhưng chỉ thực hiện on-attrition </a:t>
            </a:r>
            <a:r>
              <a:rPr lang="en-US" sz="1600" dirty="0">
                <a:solidFill>
                  <a:srgbClr val="121111"/>
                </a:solidFill>
                <a:latin typeface="Times New Roman" panose="02020603050405020304" pitchFamily="18" charset="0"/>
                <a:cs typeface="Times New Roman" panose="02020603050405020304" pitchFamily="18" charset="0"/>
              </a:rPr>
              <a:t>(</a:t>
            </a:r>
            <a:r>
              <a:rPr lang="en-US" sz="1600" dirty="0" err="1">
                <a:solidFill>
                  <a:srgbClr val="121111"/>
                </a:solidFill>
                <a:latin typeface="Times New Roman" panose="02020603050405020304" pitchFamily="18" charset="0"/>
                <a:cs typeface="Times New Roman" panose="02020603050405020304" pitchFamily="18" charset="0"/>
              </a:rPr>
              <a:t>Hiện</a:t>
            </a:r>
            <a:r>
              <a:rPr lang="en-US" sz="1600" dirty="0">
                <a:solidFill>
                  <a:srgbClr val="121111"/>
                </a:solidFill>
                <a:latin typeface="Times New Roman" panose="02020603050405020304" pitchFamily="18" charset="0"/>
                <a:cs typeface="Times New Roman" panose="02020603050405020304" pitchFamily="18" charset="0"/>
              </a:rPr>
              <a:t> </a:t>
            </a:r>
            <a:r>
              <a:rPr lang="en-US" sz="1600" dirty="0" err="1">
                <a:solidFill>
                  <a:srgbClr val="121111"/>
                </a:solidFill>
                <a:latin typeface="Times New Roman" panose="02020603050405020304" pitchFamily="18" charset="0"/>
                <a:cs typeface="Times New Roman" panose="02020603050405020304" pitchFamily="18" charset="0"/>
              </a:rPr>
              <a:t>tại</a:t>
            </a:r>
            <a:r>
              <a:rPr lang="en-US" sz="1600" dirty="0">
                <a:solidFill>
                  <a:srgbClr val="121111"/>
                </a:solidFill>
                <a:latin typeface="Times New Roman" panose="02020603050405020304" pitchFamily="18" charset="0"/>
                <a:cs typeface="Times New Roman" panose="02020603050405020304" pitchFamily="18" charset="0"/>
              </a:rPr>
              <a:t>, </a:t>
            </a:r>
            <a:r>
              <a:rPr lang="en-US" sz="1600" dirty="0" err="1">
                <a:solidFill>
                  <a:srgbClr val="121111"/>
                </a:solidFill>
                <a:latin typeface="Times New Roman" panose="02020603050405020304" pitchFamily="18" charset="0"/>
                <a:cs typeface="Times New Roman" panose="02020603050405020304" pitchFamily="18" charset="0"/>
              </a:rPr>
              <a:t>chưa</a:t>
            </a:r>
            <a:r>
              <a:rPr lang="en-US" sz="1600" dirty="0">
                <a:solidFill>
                  <a:srgbClr val="121111"/>
                </a:solidFill>
                <a:latin typeface="Times New Roman" panose="02020603050405020304" pitchFamily="18" charset="0"/>
                <a:cs typeface="Times New Roman" panose="02020603050405020304" pitchFamily="18" charset="0"/>
              </a:rPr>
              <a:t> </a:t>
            </a:r>
            <a:r>
              <a:rPr lang="en-US" sz="1600" dirty="0" err="1">
                <a:solidFill>
                  <a:srgbClr val="121111"/>
                </a:solidFill>
                <a:latin typeface="Times New Roman" panose="02020603050405020304" pitchFamily="18" charset="0"/>
                <a:cs typeface="Times New Roman" panose="02020603050405020304" pitchFamily="18" charset="0"/>
              </a:rPr>
              <a:t>có</a:t>
            </a:r>
            <a:r>
              <a:rPr lang="en-US" sz="1600" dirty="0">
                <a:solidFill>
                  <a:srgbClr val="121111"/>
                </a:solidFill>
                <a:latin typeface="Times New Roman" panose="02020603050405020304" pitchFamily="18" charset="0"/>
                <a:cs typeface="Times New Roman" panose="02020603050405020304" pitchFamily="18" charset="0"/>
              </a:rPr>
              <a:t> </a:t>
            </a:r>
            <a:r>
              <a:rPr lang="en-US" sz="1600" dirty="0" err="1">
                <a:solidFill>
                  <a:srgbClr val="121111"/>
                </a:solidFill>
                <a:latin typeface="Times New Roman" panose="02020603050405020304" pitchFamily="18" charset="0"/>
                <a:cs typeface="Times New Roman" panose="02020603050405020304" pitchFamily="18" charset="0"/>
              </a:rPr>
              <a:t>tàu</a:t>
            </a:r>
            <a:r>
              <a:rPr lang="en-US" sz="1600" dirty="0">
                <a:solidFill>
                  <a:srgbClr val="121111"/>
                </a:solidFill>
                <a:latin typeface="Times New Roman" panose="02020603050405020304" pitchFamily="18" charset="0"/>
                <a:cs typeface="Times New Roman" panose="02020603050405020304" pitchFamily="18" charset="0"/>
              </a:rPr>
              <a:t> bay </a:t>
            </a:r>
            <a:r>
              <a:rPr lang="en-US" sz="1600" dirty="0" err="1">
                <a:solidFill>
                  <a:srgbClr val="121111"/>
                </a:solidFill>
                <a:latin typeface="Times New Roman" panose="02020603050405020304" pitchFamily="18" charset="0"/>
                <a:cs typeface="Times New Roman" panose="02020603050405020304" pitchFamily="18" charset="0"/>
              </a:rPr>
              <a:t>nào</a:t>
            </a:r>
            <a:r>
              <a:rPr lang="en-US" sz="1600" dirty="0">
                <a:solidFill>
                  <a:srgbClr val="121111"/>
                </a:solidFill>
                <a:latin typeface="Times New Roman" panose="02020603050405020304" pitchFamily="18" charset="0"/>
                <a:cs typeface="Times New Roman" panose="02020603050405020304" pitchFamily="18" charset="0"/>
              </a:rPr>
              <a:t> </a:t>
            </a:r>
            <a:r>
              <a:rPr lang="en-US" sz="1600" dirty="0" err="1">
                <a:solidFill>
                  <a:srgbClr val="121111"/>
                </a:solidFill>
                <a:latin typeface="Times New Roman" panose="02020603050405020304" pitchFamily="18" charset="0"/>
                <a:cs typeface="Times New Roman" panose="02020603050405020304" pitchFamily="18" charset="0"/>
              </a:rPr>
              <a:t>lắp</a:t>
            </a:r>
            <a:r>
              <a:rPr lang="en-US" sz="1600" dirty="0">
                <a:solidFill>
                  <a:srgbClr val="121111"/>
                </a:solidFill>
                <a:latin typeface="Times New Roman" panose="02020603050405020304" pitchFamily="18" charset="0"/>
                <a:cs typeface="Times New Roman" panose="02020603050405020304" pitchFamily="18" charset="0"/>
              </a:rPr>
              <a:t> EDP-07)</a:t>
            </a:r>
          </a:p>
          <a:p>
            <a:pPr marL="285750" indent="-285750">
              <a:buFont typeface="Wingdings" panose="05000000000000000000" pitchFamily="2" charset="2"/>
              <a:buChar char="q"/>
            </a:pPr>
            <a:endParaRPr lang="en-US" sz="1600" dirty="0">
              <a:solidFill>
                <a:srgbClr val="12111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vi-VN" sz="1600" dirty="0">
                <a:solidFill>
                  <a:srgbClr val="121111"/>
                </a:solidFill>
                <a:latin typeface="Times New Roman" panose="02020603050405020304" pitchFamily="18" charset="0"/>
                <a:cs typeface="Times New Roman" panose="02020603050405020304" pitchFamily="18" charset="0"/>
              </a:rPr>
              <a:t>Ngoài ra, để lắp được EDP-07 sẽ phải thực hiện nâng cấp phần mềm thủy lực HMCA S6 (hiện tại đã thực hiện được 8/14 tàu bay)</a:t>
            </a:r>
            <a:endParaRPr lang="en-US" sz="1600" dirty="0">
              <a:solidFill>
                <a:srgbClr val="12111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F8E73B0F-BC8C-9192-1D5D-B6490D2C5A62}"/>
              </a:ext>
            </a:extLst>
          </p:cNvPr>
          <p:cNvPicPr>
            <a:picLocks noChangeAspect="1"/>
          </p:cNvPicPr>
          <p:nvPr/>
        </p:nvPicPr>
        <p:blipFill>
          <a:blip r:embed="rId4"/>
          <a:stretch>
            <a:fillRect/>
          </a:stretch>
        </p:blipFill>
        <p:spPr>
          <a:xfrm>
            <a:off x="6096000" y="3872575"/>
            <a:ext cx="5932211" cy="2597325"/>
          </a:xfrm>
          <a:prstGeom prst="rect">
            <a:avLst/>
          </a:prstGeom>
        </p:spPr>
      </p:pic>
      <p:sp>
        <p:nvSpPr>
          <p:cNvPr id="21" name="TextBox 20">
            <a:extLst>
              <a:ext uri="{FF2B5EF4-FFF2-40B4-BE49-F238E27FC236}">
                <a16:creationId xmlns:a16="http://schemas.microsoft.com/office/drawing/2014/main" id="{C05E1C32-23AF-DB38-3E73-03411263822A}"/>
              </a:ext>
            </a:extLst>
          </p:cNvPr>
          <p:cNvSpPr txBox="1"/>
          <p:nvPr/>
        </p:nvSpPr>
        <p:spPr>
          <a:xfrm>
            <a:off x="457201" y="4834797"/>
            <a:ext cx="4696690" cy="181588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Theo </a:t>
            </a:r>
            <a:r>
              <a:rPr lang="en-US" sz="1600" dirty="0" err="1">
                <a:latin typeface="Times New Roman" panose="02020603050405020304" pitchFamily="18" charset="0"/>
                <a:cs typeface="Times New Roman" panose="02020603050405020304" pitchFamily="18" charset="0"/>
              </a:rPr>
              <a:t>phản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hồi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Tổ</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ECAM, </a:t>
            </a:r>
            <a:r>
              <a:rPr lang="en-US" sz="1600" dirty="0" err="1">
                <a:latin typeface="Times New Roman" panose="02020603050405020304" pitchFamily="18" charset="0"/>
                <a:cs typeface="Times New Roman" panose="02020603050405020304" pitchFamily="18" charset="0"/>
              </a:rPr>
              <a:t>tổ</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tắt</a:t>
            </a:r>
            <a:r>
              <a:rPr lang="en-US" sz="1600" dirty="0">
                <a:latin typeface="Times New Roman" panose="02020603050405020304" pitchFamily="18" charset="0"/>
                <a:cs typeface="Times New Roman" panose="02020603050405020304" pitchFamily="18" charset="0"/>
              </a:rPr>
              <a:t> FSOV (ISOL)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SYS OVHT </a:t>
            </a:r>
            <a:r>
              <a:rPr lang="en-US" sz="1600" dirty="0" err="1">
                <a:latin typeface="Times New Roman" panose="02020603050405020304" pitchFamily="18" charset="0"/>
                <a:cs typeface="Times New Roman" panose="02020603050405020304" pitchFamily="18" charset="0"/>
              </a:rPr>
              <a:t>khi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hệ</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thủy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SYS TEMP HI. </a:t>
            </a:r>
            <a:r>
              <a:rPr lang="en-US" sz="1600" dirty="0" err="1">
                <a:latin typeface="Times New Roman" panose="02020603050405020304" pitchFamily="18" charset="0"/>
                <a:cs typeface="Times New Roman" panose="02020603050405020304" pitchFamily="18" charset="0"/>
              </a:rPr>
              <a:t>Nhưng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này </a:t>
            </a:r>
            <a:r>
              <a:rPr lang="en-US" sz="1600" dirty="0" err="1">
                <a:latin typeface="Times New Roman" panose="02020603050405020304" pitchFamily="18" charset="0"/>
                <a:cs typeface="Times New Roman" panose="02020603050405020304" pitchFamily="18" charset="0"/>
              </a:rPr>
              <a:t>nhiệt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hệ</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thủy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vẫn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tang </a:t>
            </a:r>
            <a:r>
              <a:rPr lang="en-US" sz="1600" dirty="0" err="1">
                <a:latin typeface="Times New Roman" panose="02020603050405020304" pitchFamily="18" charset="0"/>
                <a:cs typeface="Times New Roman" panose="02020603050405020304" pitchFamily="18" charset="0"/>
              </a:rPr>
              <a:t>lên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gây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ra</a:t>
            </a:r>
            <a:r>
              <a:rPr lang="en-US" sz="1600" dirty="0">
                <a:latin typeface="Times New Roman" panose="02020603050405020304" pitchFamily="18" charset="0"/>
                <a:cs typeface="Times New Roman" panose="02020603050405020304" pitchFamily="18" charset="0"/>
              </a:rPr>
              <a:t> OVHT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ngắt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cả</a:t>
            </a:r>
            <a:r>
              <a:rPr lang="en-US" sz="1600" dirty="0">
                <a:latin typeface="Times New Roman" panose="02020603050405020304" pitchFamily="18" charset="0"/>
                <a:cs typeface="Times New Roman" panose="02020603050405020304" pitchFamily="18" charset="0"/>
              </a:rPr>
              <a:t> 2 EDP</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=&gt; </a:t>
            </a:r>
            <a:r>
              <a:rPr lang="en-US" sz="1600" dirty="0" err="1">
                <a:latin typeface="Times New Roman" panose="02020603050405020304" pitchFamily="18" charset="0"/>
                <a:cs typeface="Times New Roman" panose="02020603050405020304" pitchFamily="18" charset="0"/>
              </a:rPr>
              <a:t>Vẫn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việc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Airbus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thêm</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311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7623CA0E-62F7-40B4-B6A8-82BD58FA9C01}"/>
              </a:ext>
            </a:extLst>
          </p:cNvPr>
          <p:cNvGraphicFramePr>
            <a:graphicFrameLocks noGrp="1"/>
          </p:cNvGraphicFramePr>
          <p:nvPr/>
        </p:nvGraphicFramePr>
        <p:xfrm>
          <a:off x="190051" y="565153"/>
          <a:ext cx="11838159" cy="6217499"/>
        </p:xfrm>
        <a:graphic>
          <a:graphicData uri="http://schemas.openxmlformats.org/drawingml/2006/table">
            <a:tbl>
              <a:tblPr/>
              <a:tblGrid>
                <a:gridCol w="388401">
                  <a:extLst>
                    <a:ext uri="{9D8B030D-6E8A-4147-A177-3AD203B41FA5}">
                      <a16:colId xmlns:a16="http://schemas.microsoft.com/office/drawing/2014/main" val="2470405519"/>
                    </a:ext>
                  </a:extLst>
                </a:gridCol>
                <a:gridCol w="533957">
                  <a:extLst>
                    <a:ext uri="{9D8B030D-6E8A-4147-A177-3AD203B41FA5}">
                      <a16:colId xmlns:a16="http://schemas.microsoft.com/office/drawing/2014/main" val="2838508115"/>
                    </a:ext>
                  </a:extLst>
                </a:gridCol>
                <a:gridCol w="560653">
                  <a:extLst>
                    <a:ext uri="{9D8B030D-6E8A-4147-A177-3AD203B41FA5}">
                      <a16:colId xmlns:a16="http://schemas.microsoft.com/office/drawing/2014/main" val="1411762284"/>
                    </a:ext>
                  </a:extLst>
                </a:gridCol>
                <a:gridCol w="1379387">
                  <a:extLst>
                    <a:ext uri="{9D8B030D-6E8A-4147-A177-3AD203B41FA5}">
                      <a16:colId xmlns:a16="http://schemas.microsoft.com/office/drawing/2014/main" val="575271326"/>
                    </a:ext>
                  </a:extLst>
                </a:gridCol>
                <a:gridCol w="1281495">
                  <a:extLst>
                    <a:ext uri="{9D8B030D-6E8A-4147-A177-3AD203B41FA5}">
                      <a16:colId xmlns:a16="http://schemas.microsoft.com/office/drawing/2014/main" val="3399963488"/>
                    </a:ext>
                  </a:extLst>
                </a:gridCol>
                <a:gridCol w="1628567">
                  <a:extLst>
                    <a:ext uri="{9D8B030D-6E8A-4147-A177-3AD203B41FA5}">
                      <a16:colId xmlns:a16="http://schemas.microsoft.com/office/drawing/2014/main" val="2133373210"/>
                    </a:ext>
                  </a:extLst>
                </a:gridCol>
                <a:gridCol w="6065699">
                  <a:extLst>
                    <a:ext uri="{9D8B030D-6E8A-4147-A177-3AD203B41FA5}">
                      <a16:colId xmlns:a16="http://schemas.microsoft.com/office/drawing/2014/main" val="888191169"/>
                    </a:ext>
                  </a:extLst>
                </a:gridCol>
              </a:tblGrid>
              <a:tr h="206996">
                <a:tc>
                  <a:txBody>
                    <a:bodyPr/>
                    <a:lstStyle/>
                    <a:p>
                      <a:pPr algn="ctr" fontAlgn="ctr"/>
                      <a:r>
                        <a:rPr lang="en-US" sz="1300" b="0" i="0" u="none" strike="noStrike">
                          <a:solidFill>
                            <a:srgbClr val="000000"/>
                          </a:solidFill>
                          <a:effectLst/>
                          <a:latin typeface="Calibri" panose="020F0502020204030204" pitchFamily="34" charset="0"/>
                        </a:rPr>
                        <a:t>No</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924276"/>
                  </a:ext>
                </a:extLst>
              </a:tr>
              <a:tr h="454500">
                <a:tc>
                  <a:txBody>
                    <a:bodyPr/>
                    <a:lstStyle/>
                    <a:p>
                      <a:pPr algn="ctr" fontAlgn="ctr"/>
                      <a:r>
                        <a:rPr lang="en-US" sz="1300" b="0" i="0" u="none" strike="noStrike">
                          <a:solidFill>
                            <a:srgbClr val="000000"/>
                          </a:solidFill>
                          <a:effectLst/>
                          <a:latin typeface="Calibri" panose="020F0502020204030204" pitchFamily="34" charset="0"/>
                        </a:rPr>
                        <a:t>1</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168720"/>
                  </a:ext>
                </a:extLst>
              </a:tr>
              <a:tr h="206996">
                <a:tc>
                  <a:txBody>
                    <a:bodyPr/>
                    <a:lstStyle/>
                    <a:p>
                      <a:pPr algn="ctr" fontAlgn="ctr"/>
                      <a:r>
                        <a:rPr lang="en-US" sz="1300" b="0" i="0" u="none" strike="noStrike">
                          <a:solidFill>
                            <a:srgbClr val="000000"/>
                          </a:solidFill>
                          <a:effectLst/>
                          <a:latin typeface="Calibri" panose="020F0502020204030204" pitchFamily="34" charset="0"/>
                        </a:rPr>
                        <a:t>2</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B1246 RAISED AIR PACK 2 REGUL REDUNDANCY</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289157"/>
                  </a:ext>
                </a:extLst>
              </a:tr>
              <a:tr h="1019796">
                <a:tc>
                  <a:txBody>
                    <a:bodyPr/>
                    <a:lstStyle/>
                    <a:p>
                      <a:pPr algn="ctr" fontAlgn="ctr"/>
                      <a:r>
                        <a:rPr lang="en-US" sz="1300" b="0" i="0" u="none" strike="noStrike">
                          <a:solidFill>
                            <a:srgbClr val="000000"/>
                          </a:solidFill>
                          <a:effectLst/>
                          <a:latin typeface="Calibri" panose="020F0502020204030204" pitchFamily="34" charset="0"/>
                        </a:rPr>
                        <a:t>3</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 DURING CRUISE</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8883750"/>
                  </a:ext>
                </a:extLst>
              </a:tr>
              <a:tr h="816596">
                <a:tc>
                  <a:txBody>
                    <a:bodyPr/>
                    <a:lstStyle/>
                    <a:p>
                      <a:pPr algn="ctr" fontAlgn="ctr"/>
                      <a:r>
                        <a:rPr lang="en-US" sz="1300" b="0" i="0" u="none" strike="noStrike">
                          <a:solidFill>
                            <a:srgbClr val="000000"/>
                          </a:solidFill>
                          <a:effectLst/>
                          <a:latin typeface="Calibri" panose="020F0502020204030204" pitchFamily="34" charset="0"/>
                        </a:rPr>
                        <a:t>4</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-&gt; Ref Afi A350-A-79-31-XX-09001-421A-A Low Oil Quantity Alert: no maint action require</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7150530"/>
                  </a:ext>
                </a:extLst>
              </a:tr>
              <a:tr h="410196">
                <a:tc>
                  <a:txBody>
                    <a:bodyPr/>
                    <a:lstStyle/>
                    <a:p>
                      <a:pPr algn="ctr" fontAlgn="ctr"/>
                      <a:r>
                        <a:rPr lang="en-US" sz="1300" b="0" i="0" u="none" strike="noStrike">
                          <a:solidFill>
                            <a:srgbClr val="000000"/>
                          </a:solidFill>
                          <a:effectLst/>
                          <a:latin typeface="Calibri" panose="020F0502020204030204" pitchFamily="34" charset="0"/>
                        </a:rPr>
                        <a:t>5</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B1508 RAISED APU INOP</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8830677"/>
                  </a:ext>
                </a:extLst>
              </a:tr>
              <a:tr h="410196">
                <a:tc>
                  <a:txBody>
                    <a:bodyPr/>
                    <a:lstStyle/>
                    <a:p>
                      <a:pPr algn="ctr" fontAlgn="ctr"/>
                      <a:r>
                        <a:rPr lang="en-US" sz="1300" b="0" i="0" u="none" strike="noStrike">
                          <a:solidFill>
                            <a:srgbClr val="000000"/>
                          </a:solidFill>
                          <a:effectLst/>
                          <a:latin typeface="Calibri" panose="020F0502020204030204" pitchFamily="34" charset="0"/>
                        </a:rPr>
                        <a:t>6</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81570626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B1417 RASIED BRAKE 3 DEACTIVATED</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0132366"/>
                  </a:ext>
                </a:extLst>
              </a:tr>
              <a:tr h="410196">
                <a:tc>
                  <a:txBody>
                    <a:bodyPr/>
                    <a:lstStyle/>
                    <a:p>
                      <a:pPr algn="ctr" fontAlgn="ctr"/>
                      <a:r>
                        <a:rPr lang="en-US" sz="1300" b="0" i="0" u="none" strike="noStrike">
                          <a:solidFill>
                            <a:srgbClr val="000000"/>
                          </a:solidFill>
                          <a:effectLst/>
                          <a:latin typeface="Calibri" panose="020F0502020204030204" pitchFamily="34" charset="0"/>
                        </a:rPr>
                        <a:t>7</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ENGINE: #2/21368 ON AIRCRAFT VN-A892: P25 MEASUREMENT ERROR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C1203 RAISED GALLEY CHILLER SYS INOP </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9483563"/>
                  </a:ext>
                </a:extLst>
              </a:tr>
              <a:tr h="410196">
                <a:tc>
                  <a:txBody>
                    <a:bodyPr/>
                    <a:lstStyle/>
                    <a:p>
                      <a:pPr algn="ctr" fontAlgn="ctr"/>
                      <a:r>
                        <a:rPr lang="en-US" sz="1300" b="0" i="0" u="none" strike="noStrike">
                          <a:solidFill>
                            <a:srgbClr val="000000"/>
                          </a:solidFill>
                          <a:effectLst/>
                          <a:latin typeface="Calibri" panose="020F0502020204030204" pitchFamily="34" charset="0"/>
                        </a:rPr>
                        <a:t>8</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1738260"/>
                  </a:ext>
                </a:extLst>
              </a:tr>
              <a:tr h="206996">
                <a:tc>
                  <a:txBody>
                    <a:bodyPr/>
                    <a:lstStyle/>
                    <a:p>
                      <a:pPr algn="ctr" fontAlgn="ctr"/>
                      <a:r>
                        <a:rPr lang="en-US" sz="1300" b="0" i="0" u="none" strike="noStrike">
                          <a:solidFill>
                            <a:srgbClr val="000000"/>
                          </a:solidFill>
                          <a:effectLst/>
                          <a:latin typeface="Calibri" panose="020F0502020204030204" pitchFamily="34" charset="0"/>
                        </a:rPr>
                        <a:t>9</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8042069"/>
                  </a:ext>
                </a:extLst>
              </a:tr>
              <a:tr h="410196">
                <a:tc>
                  <a:txBody>
                    <a:bodyPr/>
                    <a:lstStyle/>
                    <a:p>
                      <a:pPr algn="ctr" fontAlgn="ctr"/>
                      <a:r>
                        <a:rPr lang="en-US" sz="1300" b="0" i="0" u="none" strike="noStrike">
                          <a:solidFill>
                            <a:srgbClr val="000000"/>
                          </a:solidFill>
                          <a:effectLst/>
                          <a:latin typeface="Calibri" panose="020F0502020204030204" pitchFamily="34" charset="0"/>
                        </a:rPr>
                        <a:t>10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B995 RAISED ENGINE #1 SN 21604 HAVE LOW LIFE TIME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B996 RAISED ENGINE #2 SN 21414 HAVE LOW LIFE TIME</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093874"/>
                  </a:ext>
                </a:extLst>
              </a:tr>
              <a:tr h="227251">
                <a:tc>
                  <a:txBody>
                    <a:bodyPr/>
                    <a:lstStyle/>
                    <a:p>
                      <a:pPr algn="ctr" fontAlgn="ctr"/>
                      <a:r>
                        <a:rPr lang="en-US" sz="1300" b="0" i="0" u="none" strike="noStrike">
                          <a:solidFill>
                            <a:srgbClr val="000000"/>
                          </a:solidFill>
                          <a:effectLst/>
                          <a:latin typeface="Calibri" panose="020F0502020204030204" pitchFamily="34" charset="0"/>
                        </a:rPr>
                        <a:t>11</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8838833"/>
                  </a:ext>
                </a:extLst>
              </a:tr>
              <a:tr h="410196">
                <a:tc>
                  <a:txBody>
                    <a:bodyPr/>
                    <a:lstStyle/>
                    <a:p>
                      <a:pPr algn="ctr" fontAlgn="ctr"/>
                      <a:r>
                        <a:rPr lang="en-US" sz="1300" b="0" i="0" u="none" strike="noStrike">
                          <a:solidFill>
                            <a:srgbClr val="000000"/>
                          </a:solidFill>
                          <a:effectLst/>
                          <a:latin typeface="Calibri" panose="020F0502020204030204" pitchFamily="34" charset="0"/>
                        </a:rPr>
                        <a:t>12</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6182860"/>
                  </a:ext>
                </a:extLst>
              </a:tr>
              <a:tr h="410196">
                <a:tc>
                  <a:txBody>
                    <a:bodyPr/>
                    <a:lstStyle/>
                    <a:p>
                      <a:pPr algn="ctr" fontAlgn="ctr"/>
                      <a:r>
                        <a:rPr lang="en-US" sz="1300" b="0" i="0" u="none" strike="noStrike">
                          <a:solidFill>
                            <a:srgbClr val="000000"/>
                          </a:solidFill>
                          <a:effectLst/>
                          <a:latin typeface="Calibri" panose="020F0502020204030204" pitchFamily="34" charset="0"/>
                        </a:rPr>
                        <a:t>13</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C552 RAISED AIR CHILLER SYS AT ALL GALLEY INOP</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6758303"/>
                  </a:ext>
                </a:extLst>
              </a:tr>
              <a:tr h="206996">
                <a:tc>
                  <a:txBody>
                    <a:bodyPr/>
                    <a:lstStyle/>
                    <a:p>
                      <a:pPr algn="ctr" fontAlgn="ctr"/>
                      <a:r>
                        <a:rPr lang="en-US" sz="1300" b="0" i="0" u="none" strike="noStrike">
                          <a:solidFill>
                            <a:srgbClr val="000000"/>
                          </a:solidFill>
                          <a:effectLst/>
                          <a:latin typeface="Calibri" panose="020F0502020204030204" pitchFamily="34" charset="0"/>
                        </a:rPr>
                        <a:t>14</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796" marR="3796" marT="37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432376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6001643"/>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không tốt với 01 TH ATB và 01 TH GTB.</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A894 ATB VN263 HAN-SGN ngày 06/05 do </a:t>
            </a:r>
            <a:r>
              <a:rPr lang="nb-NO" sz="1600">
                <a:latin typeface="Times New Roman" panose="02020603050405020304" pitchFamily="18" charset="0"/>
                <a:cs typeface="Times New Roman" panose="02020603050405020304" pitchFamily="18" charset="0"/>
              </a:rPr>
              <a:t>ENG#2 STALL, ENG#2 EGT OVERLIMIT -&gt; BSI xác định phải thay động cơ, tàu dừng hết 15/05 để thay động cơ, kết hợp một số công việc bảo dưỡng khác.</a:t>
            </a:r>
            <a:endParaRPr lang="en-SG" sz="1600">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Kết quả BSI cho thấy hỏng hóc xuất phát từ IPC tầng 2 trong đó có 1 lá bị mất vật liệu. Các tầng IPC phía sau đều có hỏng hóc, đến tầng IPC8 (tầng cuối) và các tầng đầu HPC thì toàn bộ các lá bị mẻ. Combustor bao phủ bởi muội than. HPT, IPT và LPT cũng có nhưng không quá nặng. </a:t>
            </a:r>
          </a:p>
          <a:p>
            <a:pPr marL="609585" lvl="1" algn="just"/>
            <a:r>
              <a:rPr lang="vi-VN" sz="1600">
                <a:solidFill>
                  <a:srgbClr val="FF0000"/>
                </a:solidFill>
                <a:latin typeface="Times New Roman" panose="02020603050405020304" pitchFamily="18" charset="0"/>
                <a:cs typeface="Times New Roman" panose="02020603050405020304" pitchFamily="18" charset="0"/>
              </a:rPr>
              <a:t>Dấu hiệu trên cho thấy hiện tượng stall xảy ra do có DOD gây hỏng hóc phần engine core, khả năng DOD là mảnh vỡ từ lá IPC2. Tuy nhiên hiện vẫn chưa xác định được nguyên nhân gây hỏng hóc ban đầu trên IPC2. </a:t>
            </a:r>
          </a:p>
          <a:p>
            <a:pPr marL="609585" lvl="1" algn="just"/>
            <a:r>
              <a:rPr lang="vi-VN" sz="1600">
                <a:solidFill>
                  <a:srgbClr val="FF0000"/>
                </a:solidFill>
                <a:latin typeface="Times New Roman" panose="02020603050405020304" pitchFamily="18" charset="0"/>
                <a:cs typeface="Times New Roman" panose="02020603050405020304" pitchFamily="18" charset="0"/>
              </a:rPr>
              <a:t>Trước đó vào T4/2025 tàu A899 cũng xảy ra sự vụ tương tự, theo đánh giá của NSX nguyên nhân gây mẻ lá là do hút phải băng. Tuy nhiên với trường tàu A894 tình trạng thời tiết bình thường lúc vấn đề xảy ra. </a:t>
            </a:r>
          </a:p>
          <a:p>
            <a:pPr marL="609585" lvl="1" algn="just"/>
            <a:r>
              <a:rPr lang="vi-VN" sz="1600">
                <a:solidFill>
                  <a:srgbClr val="FF0000"/>
                </a:solidFill>
                <a:latin typeface="Times New Roman" panose="02020603050405020304" pitchFamily="18" charset="0"/>
                <a:cs typeface="Times New Roman" panose="02020603050405020304" pitchFamily="18" charset="0"/>
              </a:rPr>
              <a:t>Trước IPC2 là IPC tầng 1 (tầng đầu tiên của máy nén). IPC1 có vấn đề đặc trưng là hiện tượng nứt gốc lá, có rủi ro làm rơi vật liệu gây hỏng hóc, đang có AD yêu cầu soi ở ngưỡng 2300FC. Với động cơ của A899 do mới đi shop về, IPC có CSN ~90FC nên VNA không thực hiện soi, tuy nhiên sẽ triển khai soi lại trước khi động cơ đưa vào khai thác. Với động cơ A894 đã gần đến ngưỡng soi, sẽ được triển khai soi kiểm tra sau khi tàu thay shackle. </a:t>
            </a:r>
          </a:p>
          <a:p>
            <a:pPr marL="609585" lvl="1" algn="just"/>
            <a:r>
              <a:rPr lang="vi-VN" sz="1600">
                <a:solidFill>
                  <a:srgbClr val="FF0000"/>
                </a:solidFill>
                <a:latin typeface="Times New Roman" panose="02020603050405020304" pitchFamily="18" charset="0"/>
                <a:cs typeface="Times New Roman" panose="02020603050405020304" pitchFamily="18" charset="0"/>
              </a:rPr>
              <a:t>VNA cũng đang yêu cầu RR cung cấp thêm hướng dẫn soi bổ sung IPC tầng 1 và 2 (soi platform, shroud...) để tìm nguyên nhân có thể gây ra hỏng hóc.</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A888 GTB VN213 HAN-SGN ngày 08/05 do EMER BATT#1 FAULT -&gt; </a:t>
            </a:r>
            <a:r>
              <a:rPr lang="en-SG" sz="1600">
                <a:latin typeface="Times New Roman" panose="02020603050405020304" pitchFamily="18" charset="0"/>
                <a:cs typeface="Times New Roman" panose="02020603050405020304" pitchFamily="18" charset="0"/>
              </a:rPr>
              <a:t>REPLACED EMER BATT#1, CHECK SATIS</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Emer Battery PN 505CH2 (loại Ni-cad). Với hỏng hóc dạng này, có thể swap emer Batt và Main Batt để raise MEL, tiếp tục khai thác.</a:t>
            </a:r>
          </a:p>
          <a:p>
            <a:pPr marL="609585" lvl="1" algn="just"/>
            <a:r>
              <a:rPr lang="vi-VN" sz="1600">
                <a:solidFill>
                  <a:srgbClr val="FF0000"/>
                </a:solidFill>
                <a:latin typeface="Times New Roman" panose="02020603050405020304" pitchFamily="18" charset="0"/>
                <a:cs typeface="Times New Roman" panose="02020603050405020304" pitchFamily="18" charset="0"/>
              </a:rPr>
              <a:t>Battery này có độ tin cậy tốt, từ lúc khai thác MTBUR đạt 65291FH &gt; GMTBUR 12700FH. Khối tháo xuống có giờ hoạt động tương đối cao: TSN 27513 FH, CSN 7681, tuy nhiên khối vừa làm OVH tại VSTEA T2/2025, Ban KT sẽ lấy SFR để phân tích thêm.</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3785652"/>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không tốt với 01 TH ATB và 01 TH GTB.</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A896 ATB VN19 HAN-CDG ngày 10/05 do </a:t>
            </a:r>
            <a:r>
              <a:rPr lang="nb-NO" sz="1600">
                <a:latin typeface="Times New Roman" panose="02020603050405020304" pitchFamily="18" charset="0"/>
                <a:cs typeface="Times New Roman" panose="02020603050405020304" pitchFamily="18" charset="0"/>
              </a:rPr>
              <a:t>ENG 2 SINGLE FIRE LOOP +  HYD ENG 1 (Y)-&gt; C/O RPL 02 PUMP Y SYS , 4 CASE DRAIN FILTER , 2 HP Y SYS FILTER, 1 LP SYS FILTER. C/O ERU 3 TIMES, FLUSHING.</a:t>
            </a:r>
            <a:endParaRPr lang="en-SG" sz="1600">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do Y EDP 1 như nêu trong TFU 29.10.00061, nguyên nhân do Piston shoe bị mài mòn dẫn đến overheat hê thống thủy lực. </a:t>
            </a:r>
          </a:p>
          <a:p>
            <a:pPr marL="609585" lvl="1" algn="just"/>
            <a:r>
              <a:rPr lang="vi-VN" sz="1600">
                <a:solidFill>
                  <a:srgbClr val="FF0000"/>
                </a:solidFill>
                <a:latin typeface="Times New Roman" panose="02020603050405020304" pitchFamily="18" charset="0"/>
                <a:cs typeface="Times New Roman" panose="02020603050405020304" pitchFamily="18" charset="0"/>
              </a:rPr>
              <a:t>EDP này nhận từ FHS từ Dec/ 2022, TSN = 11,801 FH, CSN = 2,131 FC, TSI =9,255 FH, CSI=1,531 FC. </a:t>
            </a:r>
          </a:p>
          <a:p>
            <a:pPr marL="609585" lvl="1" algn="just"/>
            <a:r>
              <a:rPr lang="vi-VN" sz="1600">
                <a:solidFill>
                  <a:srgbClr val="FF0000"/>
                </a:solidFill>
                <a:latin typeface="Times New Roman" panose="02020603050405020304" pitchFamily="18" charset="0"/>
                <a:cs typeface="Times New Roman" panose="02020603050405020304" pitchFamily="18" charset="0"/>
              </a:rPr>
              <a:t>Hiện tại, Parker đã ban hành VSB để nâng cấp lên EDP-07, nhưng chỉ thực hiện on-attrition. Ngoài ra, để lắp được EDP-07 sẽ phải thực hiện nâng cấp phần mềm thủy lực HMCA S6 (hiện tại đã thực hiện được 8/14 tàu bay). Các tàu chưa thực hiện và kế hoạch nâng cấp: A886 (BQDB), A887 (BQDB), A893 (16/MAY), A895 (BQDB), A896 (20/JUN) , A897 (21/MAY).</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A890 AOG tại SYD ngày 06/05 do </a:t>
            </a:r>
            <a:r>
              <a:rPr lang="en-SG" sz="1600">
                <a:latin typeface="Times New Roman" panose="02020603050405020304" pitchFamily="18" charset="0"/>
                <a:cs typeface="Times New Roman" panose="02020603050405020304" pitchFamily="18" charset="0"/>
              </a:rPr>
              <a:t>GPU CAN NOT CONNECT WITH A/C (APU INOP) </a:t>
            </a:r>
            <a:r>
              <a:rPr lang="en-US" sz="1600">
                <a:latin typeface="Times New Roman" panose="02020603050405020304" pitchFamily="18" charset="0"/>
                <a:cs typeface="Times New Roman" panose="02020603050405020304" pitchFamily="18" charset="0"/>
              </a:rPr>
              <a:t>-&gt; </a:t>
            </a:r>
            <a:r>
              <a:rPr lang="en-SG" sz="1600">
                <a:latin typeface="Times New Roman" panose="02020603050405020304" pitchFamily="18" charset="0"/>
                <a:cs typeface="Times New Roman" panose="02020603050405020304" pitchFamily="18" charset="0"/>
              </a:rPr>
              <a:t>SWAP ATUPU 1 WITH ATUPU 2, A/C POWER UP WITH GPU SATIS</a:t>
            </a:r>
          </a:p>
          <a:p>
            <a:pPr marL="609585" lvl="1" algn="just"/>
            <a:r>
              <a:rPr lang="vi-VN" sz="1600">
                <a:solidFill>
                  <a:srgbClr val="FF0000"/>
                </a:solidFill>
                <a:latin typeface="Times New Roman" panose="02020603050405020304" pitchFamily="18" charset="0"/>
                <a:cs typeface="Times New Roman" panose="02020603050405020304" pitchFamily="18" charset="0"/>
              </a:rPr>
              <a:t>Non-Tech: Hỏng hóc do GPU tại SYD chất lượng kém, khiến máy bay không nổ máy được, phải swap ATUPU 1 và 2 để reset.</a:t>
            </a:r>
          </a:p>
          <a:p>
            <a:pPr marL="609585" lvl="1" algn="just"/>
            <a:r>
              <a:rPr lang="vi-VN" sz="1600">
                <a:solidFill>
                  <a:srgbClr val="FF0000"/>
                </a:solidFill>
                <a:latin typeface="Times New Roman" panose="02020603050405020304" pitchFamily="18" charset="0"/>
                <a:cs typeface="Times New Roman" panose="02020603050405020304" pitchFamily="18" charset="0"/>
              </a:rPr>
              <a:t>Giải pháp: Hạn chế sử dụng GPU tại Úc, VAECO lưu ý thực hiện swap ATUPU nếu bị lại</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903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456236E-09BF-F2CA-AF2F-D64B9561FD6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202631E2-F4FD-9A7C-BB12-3E1BA17F11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675E10E-B03D-FFAF-67D6-C4C30F0DA33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AF933FCC-B4E7-00AB-DE51-AB0E83B719F9}"/>
              </a:ext>
            </a:extLst>
          </p:cNvPr>
          <p:cNvSpPr txBox="1"/>
          <p:nvPr/>
        </p:nvSpPr>
        <p:spPr>
          <a:xfrm>
            <a:off x="134290" y="1026126"/>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E2AA4031-390E-26A7-D6A9-420BC217113B}"/>
              </a:ext>
            </a:extLst>
          </p:cNvPr>
          <p:cNvSpPr txBox="1"/>
          <p:nvPr/>
        </p:nvSpPr>
        <p:spPr>
          <a:xfrm>
            <a:off x="134290" y="68580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43D9F22-65C4-E422-BEF1-53261900DF06}"/>
              </a:ext>
            </a:extLst>
          </p:cNvPr>
          <p:cNvGraphicFramePr>
            <a:graphicFrameLocks noGrp="1"/>
          </p:cNvGraphicFramePr>
          <p:nvPr/>
        </p:nvGraphicFramePr>
        <p:xfrm>
          <a:off x="134289" y="1371600"/>
          <a:ext cx="11688716" cy="5398317"/>
        </p:xfrm>
        <a:graphic>
          <a:graphicData uri="http://schemas.openxmlformats.org/drawingml/2006/table">
            <a:tbl>
              <a:tblPr/>
              <a:tblGrid>
                <a:gridCol w="399111">
                  <a:extLst>
                    <a:ext uri="{9D8B030D-6E8A-4147-A177-3AD203B41FA5}">
                      <a16:colId xmlns:a16="http://schemas.microsoft.com/office/drawing/2014/main" val="2818045697"/>
                    </a:ext>
                  </a:extLst>
                </a:gridCol>
                <a:gridCol w="705571">
                  <a:extLst>
                    <a:ext uri="{9D8B030D-6E8A-4147-A177-3AD203B41FA5}">
                      <a16:colId xmlns:a16="http://schemas.microsoft.com/office/drawing/2014/main" val="2377592624"/>
                    </a:ext>
                  </a:extLst>
                </a:gridCol>
                <a:gridCol w="361229">
                  <a:extLst>
                    <a:ext uri="{9D8B030D-6E8A-4147-A177-3AD203B41FA5}">
                      <a16:colId xmlns:a16="http://schemas.microsoft.com/office/drawing/2014/main" val="3392847594"/>
                    </a:ext>
                  </a:extLst>
                </a:gridCol>
                <a:gridCol w="457200">
                  <a:extLst>
                    <a:ext uri="{9D8B030D-6E8A-4147-A177-3AD203B41FA5}">
                      <a16:colId xmlns:a16="http://schemas.microsoft.com/office/drawing/2014/main" val="1585429748"/>
                    </a:ext>
                  </a:extLst>
                </a:gridCol>
                <a:gridCol w="457200">
                  <a:extLst>
                    <a:ext uri="{9D8B030D-6E8A-4147-A177-3AD203B41FA5}">
                      <a16:colId xmlns:a16="http://schemas.microsoft.com/office/drawing/2014/main" val="1044719955"/>
                    </a:ext>
                  </a:extLst>
                </a:gridCol>
                <a:gridCol w="457200">
                  <a:extLst>
                    <a:ext uri="{9D8B030D-6E8A-4147-A177-3AD203B41FA5}">
                      <a16:colId xmlns:a16="http://schemas.microsoft.com/office/drawing/2014/main" val="2312727483"/>
                    </a:ext>
                  </a:extLst>
                </a:gridCol>
                <a:gridCol w="1752600">
                  <a:extLst>
                    <a:ext uri="{9D8B030D-6E8A-4147-A177-3AD203B41FA5}">
                      <a16:colId xmlns:a16="http://schemas.microsoft.com/office/drawing/2014/main" val="1675658391"/>
                    </a:ext>
                  </a:extLst>
                </a:gridCol>
                <a:gridCol w="2971800">
                  <a:extLst>
                    <a:ext uri="{9D8B030D-6E8A-4147-A177-3AD203B41FA5}">
                      <a16:colId xmlns:a16="http://schemas.microsoft.com/office/drawing/2014/main" val="1522169741"/>
                    </a:ext>
                  </a:extLst>
                </a:gridCol>
                <a:gridCol w="381000">
                  <a:extLst>
                    <a:ext uri="{9D8B030D-6E8A-4147-A177-3AD203B41FA5}">
                      <a16:colId xmlns:a16="http://schemas.microsoft.com/office/drawing/2014/main" val="1642079011"/>
                    </a:ext>
                  </a:extLst>
                </a:gridCol>
                <a:gridCol w="3745805">
                  <a:extLst>
                    <a:ext uri="{9D8B030D-6E8A-4147-A177-3AD203B41FA5}">
                      <a16:colId xmlns:a16="http://schemas.microsoft.com/office/drawing/2014/main" val="190694972"/>
                    </a:ext>
                  </a:extLst>
                </a:gridCol>
              </a:tblGrid>
              <a:tr h="97367">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68063649"/>
                  </a:ext>
                </a:extLst>
              </a:tr>
              <a:tr h="292100">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13:06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 HAS  MSG ‘ELEC BRAKE POWER UNIT LO” &lt;p&gt;A862 VN244/VN251 SGN-HAN-SGN 11:20/12:00 (TRANSIT): A/C HAS &amp;#160;MSG ‘ELEC BRAKE POWER UNIT LO”&lt;/p&gt;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&lt;p&gt;ACTION: C/O REPLACED EBPSU -&gt; CHECK SATIS. VN251 DELAY 60 MINS (ETD-12:00; ATD-13:00).&lt;/p&gt;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Đã thực hiện thay EBPSU để khắc phục nhưng MSG vẫn xuất hiện intermittent sau đó. Bước tiếp theo sẽ thay HBBC (Hot Battery Bus Contactor) PN: CC0201PXXN95B. Sẽ đợi kết quả TS và monitor các chuyến bay tiếp theo để đánh giá. Trong trường hợp hỏng do HBBC Contactor thật, sẽ làm việc với QLVT gửi contactor đi Boeing để phân tích. Theo 787-FTD-24-20001, Boeing đang nghiên cứu thêm nguyên nhân gốc gây ra MSG ELEC BRAKE POWER UNIT :"A detailed test plan has been shared with the Boeing AEM Lab for review. Additional testing of EBPSUs with NFF history are being carried out. Safran is collecting more HBBCs for analysis. Safran has received 10 HBBCs so far in 2025. Based on the test results, Boeing will consider refreshing the fault tree. Once root cause has been identified, a Final Action will be determined"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44195"/>
                  </a:ext>
                </a:extLst>
              </a:tr>
              <a:tr h="292100">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A878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11:05 10/05/2025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WEATHER RADAR SYS R + LIGHTNING STRIKE DURING CLIMB &lt;p&gt;A878 VN206/VN209 SGN-HAN-SGN (TRANSIT): CAPT REPORT:&lt;/p&gt;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&lt;p&gt;1. STATUS: WEATHER RADAR SYS R&lt;/p&gt;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LIGHTNING STRIKE DURING CLIMB</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&lt;p&gt;AND:&lt;/p&gt;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&lt;p&gt;MCC REQUIRED C/O EOD-787-79-00-0003-R00 IAW RECOMMENDATION OF GE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EVENT CLOSED &lt;p&gt;ACTION:</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STATUS: WEATHER RADAR SYS R REF FIM 34-40-F2-37A-421A -&gt; OPS TEST SATIS.</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2. LIGHTNING STRIKE DURING CLIMB; C/O INSPECTION IAW AMM 05-51-19 PHASE 1A, 1B C/OUT ADD B095 RAISED DEADLINE 1007 FC. FOUND 05 BURN MARKS ON FUSELAGE SKIN -&gt; INLIMIT DAMAGED REF SRM 53-30-01-04A-661A-A. ADD B096 IS RAISED DEADLINE REPAIR 2992 FC OPM OPENED FOR CHECK HI SPEED TAPE TEMPO ON DAMAGED.</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3. GE CẢNH BẢO MẠT KIM LOẠI TRÊN ENG #2; C/O EOD-787-79-00-0003-R00 -&gt; SATIS.</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 SERVICEABLE. VN209 CHANGE TIME ETD-12:00 DELAY 3 HOURS DUE TO MCC REQUIRED C/O EOD-787-79-00-0003-R00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1" i="0" u="none" strike="noStrike" dirty="0">
                          <a:solidFill>
                            <a:srgbClr val="000000"/>
                          </a:solidFill>
                          <a:effectLst/>
                          <a:latin typeface="Times New Roman" panose="02020603050405020304" pitchFamily="18" charset="0"/>
                          <a:cs typeface="Times New Roman" panose="02020603050405020304" pitchFamily="18" charset="0"/>
                        </a:rPr>
                        <a:t>Non-tech (lighting strike)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VN206 SGN-HAN GE gửi thông báo Customer Notification Report (CNR) cảnh báo theo dõi động cơ từ xa yêu cầu kiểm tra mạt cho cả 2 động cơ: yêu cầu kiểm tra ngay lập tức với ENG R/H và trong vòng 25 cycle đối với ENG L/H. Sau khi kiểm tra với VAECO, có report của tổ bay tàu bay bị sét đánh (lighting strike). Hệ thống phát hiện mạt DMS (Debris Monitoring System) có khả năng phát hiện mạt kim loại nhỏ để cảnh báo kiểm tra. Hệ thống này rất nhạy cảm với điện từ và có thể gây báo giả nếu bị ảnh hưởng bởi Nhiễu điện từ cường độ cao (HIRF) hoặc sét đánh gây nhiễu khiến hệ thống đếm sai. VAECO đã kiểm tra mạt đối với cả 2 động cơ và không phát hiện bất thường. KTMB đánh giá: báo giả do ảnh hưởng của sét đánh, cumulative chip count của cả 2 động cơ trước đó đều = 0 và nhảy lên mức cảnh báo, kiểm tra mạt không có findings. ESN 958736 (L/H) và ESN (958737 R/H)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1765359"/>
                  </a:ext>
                </a:extLst>
              </a:tr>
            </a:tbl>
          </a:graphicData>
        </a:graphic>
      </p:graphicFrame>
    </p:spTree>
    <p:extLst>
      <p:ext uri="{BB962C8B-B14F-4D97-AF65-F5344CB8AC3E}">
        <p14:creationId xmlns:p14="http://schemas.microsoft.com/office/powerpoint/2010/main" val="2629298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DC1CB964-9574-AF04-3B6B-8DC1B62396A7}"/>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786E8F01-8DB1-5934-AA12-7710F1819E9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42605F-963E-5DC6-84C4-AF19136F6F37}"/>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2BEC8922-0D88-F299-2F41-279A8DBBCBC1}"/>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4C852EBE-E4CE-8E03-27F1-B3230E5925A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42F0746-ADEC-F892-D150-6CC7237575C9}"/>
              </a:ext>
            </a:extLst>
          </p:cNvPr>
          <p:cNvGraphicFramePr>
            <a:graphicFrameLocks noGrp="1"/>
          </p:cNvGraphicFramePr>
          <p:nvPr/>
        </p:nvGraphicFramePr>
        <p:xfrm>
          <a:off x="134289" y="1503739"/>
          <a:ext cx="11688716" cy="2981951"/>
        </p:xfrm>
        <a:graphic>
          <a:graphicData uri="http://schemas.openxmlformats.org/drawingml/2006/table">
            <a:tbl>
              <a:tblPr/>
              <a:tblGrid>
                <a:gridCol w="399111">
                  <a:extLst>
                    <a:ext uri="{9D8B030D-6E8A-4147-A177-3AD203B41FA5}">
                      <a16:colId xmlns:a16="http://schemas.microsoft.com/office/drawing/2014/main" val="2818045697"/>
                    </a:ext>
                  </a:extLst>
                </a:gridCol>
                <a:gridCol w="705571">
                  <a:extLst>
                    <a:ext uri="{9D8B030D-6E8A-4147-A177-3AD203B41FA5}">
                      <a16:colId xmlns:a16="http://schemas.microsoft.com/office/drawing/2014/main" val="2377592624"/>
                    </a:ext>
                  </a:extLst>
                </a:gridCol>
                <a:gridCol w="361229">
                  <a:extLst>
                    <a:ext uri="{9D8B030D-6E8A-4147-A177-3AD203B41FA5}">
                      <a16:colId xmlns:a16="http://schemas.microsoft.com/office/drawing/2014/main" val="3392847594"/>
                    </a:ext>
                  </a:extLst>
                </a:gridCol>
                <a:gridCol w="691204">
                  <a:extLst>
                    <a:ext uri="{9D8B030D-6E8A-4147-A177-3AD203B41FA5}">
                      <a16:colId xmlns:a16="http://schemas.microsoft.com/office/drawing/2014/main" val="1585429748"/>
                    </a:ext>
                  </a:extLst>
                </a:gridCol>
                <a:gridCol w="574733">
                  <a:extLst>
                    <a:ext uri="{9D8B030D-6E8A-4147-A177-3AD203B41FA5}">
                      <a16:colId xmlns:a16="http://schemas.microsoft.com/office/drawing/2014/main" val="1044719955"/>
                    </a:ext>
                  </a:extLst>
                </a:gridCol>
                <a:gridCol w="477700">
                  <a:extLst>
                    <a:ext uri="{9D8B030D-6E8A-4147-A177-3AD203B41FA5}">
                      <a16:colId xmlns:a16="http://schemas.microsoft.com/office/drawing/2014/main" val="2312727483"/>
                    </a:ext>
                  </a:extLst>
                </a:gridCol>
                <a:gridCol w="1304363">
                  <a:extLst>
                    <a:ext uri="{9D8B030D-6E8A-4147-A177-3AD203B41FA5}">
                      <a16:colId xmlns:a16="http://schemas.microsoft.com/office/drawing/2014/main" val="1675658391"/>
                    </a:ext>
                  </a:extLst>
                </a:gridCol>
                <a:gridCol w="2133600">
                  <a:extLst>
                    <a:ext uri="{9D8B030D-6E8A-4147-A177-3AD203B41FA5}">
                      <a16:colId xmlns:a16="http://schemas.microsoft.com/office/drawing/2014/main" val="1522169741"/>
                    </a:ext>
                  </a:extLst>
                </a:gridCol>
                <a:gridCol w="381000">
                  <a:extLst>
                    <a:ext uri="{9D8B030D-6E8A-4147-A177-3AD203B41FA5}">
                      <a16:colId xmlns:a16="http://schemas.microsoft.com/office/drawing/2014/main" val="1642079011"/>
                    </a:ext>
                  </a:extLst>
                </a:gridCol>
                <a:gridCol w="4660205">
                  <a:extLst>
                    <a:ext uri="{9D8B030D-6E8A-4147-A177-3AD203B41FA5}">
                      <a16:colId xmlns:a16="http://schemas.microsoft.com/office/drawing/2014/main" val="190694972"/>
                    </a:ext>
                  </a:extLst>
                </a:gridCol>
              </a:tblGrid>
              <a:tr h="104907">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8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68063649"/>
                  </a:ext>
                </a:extLst>
              </a:tr>
              <a:tr h="739695">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18:20 08/05/2025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FRA-SGN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LEAK AT R/H NOSE WHEEL STEERING COMMUTATOR VALVE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&lt;p&gt;OPS CHK and Leak chk Satis&lt;/p&gt; &lt;p&gt;LEAK AT R/H NOSE WHEEL STEERING COMMUTATOR VALVE&lt;/p&gt;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Leak tại khối Steering PN 2-8320-4 đã từng xẩy ra 1 lần vào tháng 2 năm 2020 trên tàu A866 và đây cũng là lần duy nhất khối này hỏng trong lịch sử fleet B787. BOE không có issue nào liên quan. Hỏng hóc đơn lẻ.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44195"/>
                  </a:ext>
                </a:extLst>
              </a:tr>
              <a:tr h="1995059">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A872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16:15 05/05/2025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VN251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HEATSHIELD ON MW #3 BROKEN AND CAUSING PARTIAL TIRE DAMAGED &lt;p&gt;T/X CHK FOUND HEATSHIELD ON MW #3 BROKEN AND CAUSING PARTIAL TIRE DAMAGED&lt;/p&gt;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&lt;p&gt;- REPLACED MW #3, CHECK SATIS - TOTAL DELAY 38 MINS. A/C ARRIVAL LATE 10 MINS. TECH 28&lt;/p&gt;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là Chin ring của phanh bị crack tại vị trí bắt bolts và bung ra cọ sát và làm hỏng lốp. Thống kê hỏng hóc, fleet đã từng ghi nhận 8 trường hợp Chin ring bị crack/ missing/ disengage với phanh và phải thay phanh để khắc phục. Khi phanh được đại tu tại shop, chi ring này cũng đã được kiểm tra và thay thế các khối bị crack. Từ năm 2023-2025, shop đã thay 90 chin ring.</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Biện pháp phòng ngừa: đề xuất thêm nội dung kiểm tra các chin ring này vào cùng với EO-2022-2130 kiểm tra các đầu connector cụm phanh đang triển khai hiện nay (interval 25 CY).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5717355"/>
                  </a:ext>
                </a:extLst>
              </a:tr>
            </a:tbl>
          </a:graphicData>
        </a:graphic>
      </p:graphicFrame>
    </p:spTree>
    <p:extLst>
      <p:ext uri="{BB962C8B-B14F-4D97-AF65-F5344CB8AC3E}">
        <p14:creationId xmlns:p14="http://schemas.microsoft.com/office/powerpoint/2010/main" val="2031444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EC30997A-F84C-4519-B9DD-C8F8B22D5549}"/>
              </a:ext>
            </a:extLst>
          </p:cNvPr>
          <p:cNvGraphicFramePr>
            <a:graphicFrameLocks noGrp="1"/>
          </p:cNvGraphicFramePr>
          <p:nvPr/>
        </p:nvGraphicFramePr>
        <p:xfrm>
          <a:off x="175689" y="501465"/>
          <a:ext cx="11840622" cy="6256648"/>
        </p:xfrm>
        <a:graphic>
          <a:graphicData uri="http://schemas.openxmlformats.org/drawingml/2006/table">
            <a:tbl>
              <a:tblPr/>
              <a:tblGrid>
                <a:gridCol w="509556">
                  <a:extLst>
                    <a:ext uri="{9D8B030D-6E8A-4147-A177-3AD203B41FA5}">
                      <a16:colId xmlns:a16="http://schemas.microsoft.com/office/drawing/2014/main" val="3923159411"/>
                    </a:ext>
                  </a:extLst>
                </a:gridCol>
                <a:gridCol w="667445">
                  <a:extLst>
                    <a:ext uri="{9D8B030D-6E8A-4147-A177-3AD203B41FA5}">
                      <a16:colId xmlns:a16="http://schemas.microsoft.com/office/drawing/2014/main" val="228567798"/>
                    </a:ext>
                  </a:extLst>
                </a:gridCol>
                <a:gridCol w="685244">
                  <a:extLst>
                    <a:ext uri="{9D8B030D-6E8A-4147-A177-3AD203B41FA5}">
                      <a16:colId xmlns:a16="http://schemas.microsoft.com/office/drawing/2014/main" val="1787981716"/>
                    </a:ext>
                  </a:extLst>
                </a:gridCol>
                <a:gridCol w="1521775">
                  <a:extLst>
                    <a:ext uri="{9D8B030D-6E8A-4147-A177-3AD203B41FA5}">
                      <a16:colId xmlns:a16="http://schemas.microsoft.com/office/drawing/2014/main" val="1593861834"/>
                    </a:ext>
                  </a:extLst>
                </a:gridCol>
                <a:gridCol w="1245897">
                  <a:extLst>
                    <a:ext uri="{9D8B030D-6E8A-4147-A177-3AD203B41FA5}">
                      <a16:colId xmlns:a16="http://schemas.microsoft.com/office/drawing/2014/main" val="359946513"/>
                    </a:ext>
                  </a:extLst>
                </a:gridCol>
                <a:gridCol w="1699761">
                  <a:extLst>
                    <a:ext uri="{9D8B030D-6E8A-4147-A177-3AD203B41FA5}">
                      <a16:colId xmlns:a16="http://schemas.microsoft.com/office/drawing/2014/main" val="2461907677"/>
                    </a:ext>
                  </a:extLst>
                </a:gridCol>
                <a:gridCol w="5510944">
                  <a:extLst>
                    <a:ext uri="{9D8B030D-6E8A-4147-A177-3AD203B41FA5}">
                      <a16:colId xmlns:a16="http://schemas.microsoft.com/office/drawing/2014/main" val="2185017265"/>
                    </a:ext>
                  </a:extLst>
                </a:gridCol>
              </a:tblGrid>
              <a:tr h="208496">
                <a:tc>
                  <a:txBody>
                    <a:bodyPr/>
                    <a:lstStyle/>
                    <a:p>
                      <a:pPr algn="ctr" fontAlgn="ctr"/>
                      <a:r>
                        <a:rPr lang="en-US" sz="1300" b="0" i="0" u="none" strike="noStrike">
                          <a:solidFill>
                            <a:srgbClr val="000000"/>
                          </a:solidFill>
                          <a:effectLst/>
                          <a:latin typeface="Calibri" panose="020F0502020204030204" pitchFamily="34" charset="0"/>
                        </a:rPr>
                        <a:t>No</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53640"/>
                  </a:ext>
                </a:extLst>
              </a:tr>
              <a:tr h="208496">
                <a:tc>
                  <a:txBody>
                    <a:bodyPr/>
                    <a:lstStyle/>
                    <a:p>
                      <a:pPr algn="ctr" fontAlgn="ctr"/>
                      <a:r>
                        <a:rPr lang="en-US" sz="1300" b="0" i="0" u="none" strike="noStrike">
                          <a:solidFill>
                            <a:srgbClr val="000000"/>
                          </a:solidFill>
                          <a:effectLst/>
                          <a:latin typeface="Calibri" panose="020F0502020204030204" pitchFamily="34" charset="0"/>
                        </a:rPr>
                        <a:t>1</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4512135"/>
                  </a:ext>
                </a:extLst>
              </a:tr>
              <a:tr h="411696">
                <a:tc>
                  <a:txBody>
                    <a:bodyPr/>
                    <a:lstStyle/>
                    <a:p>
                      <a:pPr algn="ctr" fontAlgn="ctr"/>
                      <a:r>
                        <a:rPr lang="en-US" sz="1300" b="0" i="0" u="none" strike="noStrike">
                          <a:solidFill>
                            <a:srgbClr val="000000"/>
                          </a:solidFill>
                          <a:effectLst/>
                          <a:latin typeface="Calibri" panose="020F0502020204030204" pitchFamily="34" charset="0"/>
                        </a:rPr>
                        <a:t>2</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B1347 FUEL PUMP CENTER 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B1349 STS MSG: IRU L</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1366122"/>
                  </a:ext>
                </a:extLst>
              </a:tr>
              <a:tr h="411696">
                <a:tc>
                  <a:txBody>
                    <a:bodyPr/>
                    <a:lstStyle/>
                    <a:p>
                      <a:pPr algn="ctr" fontAlgn="ctr"/>
                      <a:r>
                        <a:rPr lang="en-US" sz="1300" b="0" i="0" u="none" strike="noStrike">
                          <a:solidFill>
                            <a:srgbClr val="000000"/>
                          </a:solidFill>
                          <a:effectLst/>
                          <a:latin typeface="Calibri" panose="020F0502020204030204" pitchFamily="34" charset="0"/>
                        </a:rPr>
                        <a:t>3</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7007206"/>
                  </a:ext>
                </a:extLst>
              </a:tr>
              <a:tr h="411696">
                <a:tc>
                  <a:txBody>
                    <a:bodyPr/>
                    <a:lstStyle/>
                    <a:p>
                      <a:pPr algn="ctr" fontAlgn="ctr"/>
                      <a:r>
                        <a:rPr lang="en-US" sz="1300" b="0" i="0" u="none" strike="noStrike">
                          <a:solidFill>
                            <a:srgbClr val="000000"/>
                          </a:solidFill>
                          <a:effectLst/>
                          <a:latin typeface="Calibri" panose="020F0502020204030204" pitchFamily="34" charset="0"/>
                        </a:rPr>
                        <a:t>4</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B1264 RAISED: AFT CARGO HANDLING SYSTEM IN/OUT IN CENTER LOADING PDU INOP</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8454253"/>
                  </a:ext>
                </a:extLst>
              </a:tr>
              <a:tr h="411696">
                <a:tc>
                  <a:txBody>
                    <a:bodyPr/>
                    <a:lstStyle/>
                    <a:p>
                      <a:pPr algn="ctr" fontAlgn="ctr"/>
                      <a:r>
                        <a:rPr lang="en-US" sz="1300" b="0" i="0" u="none" strike="noStrike">
                          <a:solidFill>
                            <a:srgbClr val="000000"/>
                          </a:solidFill>
                          <a:effectLst/>
                          <a:latin typeface="Calibri" panose="020F0502020204030204" pitchFamily="34" charset="0"/>
                        </a:rPr>
                        <a:t>5</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B1294 BRAKE#06 WORN AND DEACTIVED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B1304 WAS RAISED FOR NGS INOP</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6665258"/>
                  </a:ext>
                </a:extLst>
              </a:tr>
              <a:tr h="273816">
                <a:tc>
                  <a:txBody>
                    <a:bodyPr/>
                    <a:lstStyle/>
                    <a:p>
                      <a:pPr algn="ctr" fontAlgn="ctr"/>
                      <a:r>
                        <a:rPr lang="en-US" sz="1300" b="0" i="0" u="none" strike="noStrike">
                          <a:solidFill>
                            <a:srgbClr val="000000"/>
                          </a:solidFill>
                          <a:effectLst/>
                          <a:latin typeface="Calibri" panose="020F0502020204030204" pitchFamily="34" charset="0"/>
                        </a:rPr>
                        <a:t>6</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3447650"/>
                  </a:ext>
                </a:extLst>
              </a:tr>
              <a:tr h="411696">
                <a:tc>
                  <a:txBody>
                    <a:bodyPr/>
                    <a:lstStyle/>
                    <a:p>
                      <a:pPr algn="ctr" fontAlgn="ctr"/>
                      <a:r>
                        <a:rPr lang="en-US" sz="1300" b="0" i="0" u="none" strike="noStrike">
                          <a:solidFill>
                            <a:srgbClr val="000000"/>
                          </a:solidFill>
                          <a:effectLst/>
                          <a:latin typeface="Calibri" panose="020F0502020204030204" pitchFamily="34" charset="0"/>
                        </a:rPr>
                        <a:t>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4612694"/>
                  </a:ext>
                </a:extLst>
              </a:tr>
              <a:tr h="208496">
                <a:tc>
                  <a:txBody>
                    <a:bodyPr/>
                    <a:lstStyle/>
                    <a:p>
                      <a:pPr algn="ctr" fontAlgn="ctr"/>
                      <a:r>
                        <a:rPr lang="en-US" sz="1300" b="0" i="0" u="none" strike="noStrike">
                          <a:solidFill>
                            <a:srgbClr val="000000"/>
                          </a:solidFill>
                          <a:effectLst/>
                          <a:latin typeface="Calibri" panose="020F0502020204030204" pitchFamily="34" charset="0"/>
                        </a:rPr>
                        <a:t>8</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2974488"/>
                  </a:ext>
                </a:extLst>
              </a:tr>
              <a:tr h="818096">
                <a:tc>
                  <a:txBody>
                    <a:bodyPr/>
                    <a:lstStyle/>
                    <a:p>
                      <a:pPr algn="ctr" fontAlgn="ctr"/>
                      <a:r>
                        <a:rPr lang="en-US" sz="1300" b="0" i="0" u="none" strike="noStrike">
                          <a:solidFill>
                            <a:srgbClr val="000000"/>
                          </a:solidFill>
                          <a:effectLst/>
                          <a:latin typeface="Calibri" panose="020F0502020204030204" pitchFamily="34" charset="0"/>
                        </a:rPr>
                        <a:t>9</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B1046 BRAKE#8 IS WORN TO LIMIT</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B1051: INTGRATED CLG RECIRC AIR</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7897945"/>
                  </a:ext>
                </a:extLst>
              </a:tr>
              <a:tr h="208496">
                <a:tc>
                  <a:txBody>
                    <a:bodyPr/>
                    <a:lstStyle/>
                    <a:p>
                      <a:pPr algn="ctr" fontAlgn="ctr"/>
                      <a:r>
                        <a:rPr lang="en-US" sz="1300" b="0" i="0" u="none" strike="noStrike">
                          <a:solidFill>
                            <a:srgbClr val="000000"/>
                          </a:solidFill>
                          <a:effectLst/>
                          <a:latin typeface="Calibri" panose="020F0502020204030204" pitchFamily="34" charset="0"/>
                        </a:rPr>
                        <a:t>10</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375950"/>
                  </a:ext>
                </a:extLst>
              </a:tr>
              <a:tr h="208496">
                <a:tc>
                  <a:txBody>
                    <a:bodyPr/>
                    <a:lstStyle/>
                    <a:p>
                      <a:pPr algn="ctr" fontAlgn="ctr"/>
                      <a:r>
                        <a:rPr lang="en-US" sz="1300" b="0" i="0" u="none" strike="noStrike">
                          <a:solidFill>
                            <a:srgbClr val="000000"/>
                          </a:solidFill>
                          <a:effectLst/>
                          <a:latin typeface="Calibri" panose="020F0502020204030204" pitchFamily="34" charset="0"/>
                        </a:rPr>
                        <a:t>11</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thay trong 25FC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5594649"/>
                  </a:ext>
                </a:extLst>
              </a:tr>
              <a:tr h="208496">
                <a:tc>
                  <a:txBody>
                    <a:bodyPr/>
                    <a:lstStyle/>
                    <a:p>
                      <a:pPr algn="ctr" fontAlgn="ctr"/>
                      <a:r>
                        <a:rPr lang="en-US" sz="1300" b="0" i="0" u="none" strike="noStrike">
                          <a:solidFill>
                            <a:srgbClr val="000000"/>
                          </a:solidFill>
                          <a:effectLst/>
                          <a:latin typeface="Calibri" panose="020F0502020204030204" pitchFamily="34" charset="0"/>
                        </a:rPr>
                        <a:t>12</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B1287 LH VACUUM BLOWER INOP</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659918"/>
                  </a:ext>
                </a:extLst>
              </a:tr>
              <a:tr h="411696">
                <a:tc>
                  <a:txBody>
                    <a:bodyPr/>
                    <a:lstStyle/>
                    <a:p>
                      <a:pPr algn="ctr" fontAlgn="ctr"/>
                      <a:r>
                        <a:rPr lang="en-US" sz="1300" b="0" i="0" u="none" strike="noStrike">
                          <a:solidFill>
                            <a:srgbClr val="000000"/>
                          </a:solidFill>
                          <a:effectLst/>
                          <a:latin typeface="Calibri" panose="020F0502020204030204" pitchFamily="34" charset="0"/>
                        </a:rPr>
                        <a:t>13</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B540 : 50 CYCS REPEATED INSPECTION INTERVAL ON ENG#1 S/N 958435 RF RDR# 01280724</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4238275"/>
                  </a:ext>
                </a:extLst>
              </a:tr>
              <a:tr h="411696">
                <a:tc>
                  <a:txBody>
                    <a:bodyPr/>
                    <a:lstStyle/>
                    <a:p>
                      <a:pPr algn="ctr" fontAlgn="ctr"/>
                      <a:r>
                        <a:rPr lang="en-US" sz="1300" b="0" i="0" u="none" strike="noStrike">
                          <a:solidFill>
                            <a:srgbClr val="000000"/>
                          </a:solidFill>
                          <a:effectLst/>
                          <a:latin typeface="Calibri" panose="020F0502020204030204" pitchFamily="34" charset="0"/>
                        </a:rPr>
                        <a:t>14</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B410 RAISED : STS DET FIRE 4A ENG R</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023967"/>
                  </a:ext>
                </a:extLst>
              </a:tr>
              <a:tr h="208496">
                <a:tc>
                  <a:txBody>
                    <a:bodyPr/>
                    <a:lstStyle/>
                    <a:p>
                      <a:pPr algn="ctr" fontAlgn="ctr"/>
                      <a:r>
                        <a:rPr lang="en-US" sz="1300" b="0" i="0" u="none" strike="noStrike">
                          <a:solidFill>
                            <a:srgbClr val="000000"/>
                          </a:solidFill>
                          <a:effectLst/>
                          <a:latin typeface="Calibri" panose="020F0502020204030204" pitchFamily="34" charset="0"/>
                        </a:rPr>
                        <a:t>15</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B050 RAISED FOR CHARGING GAUGE OF NLG ACCUMULATOR INOP</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6798202"/>
                  </a:ext>
                </a:extLst>
              </a:tr>
              <a:tr h="208496">
                <a:tc>
                  <a:txBody>
                    <a:bodyPr/>
                    <a:lstStyle/>
                    <a:p>
                      <a:pPr algn="ctr" fontAlgn="ctr"/>
                      <a:r>
                        <a:rPr lang="en-US" sz="1300" b="0" i="0" u="none" strike="noStrike">
                          <a:solidFill>
                            <a:srgbClr val="000000"/>
                          </a:solidFill>
                          <a:effectLst/>
                          <a:latin typeface="Calibri" panose="020F0502020204030204" pitchFamily="34" charset="0"/>
                        </a:rPr>
                        <a:t>16</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0532635"/>
                  </a:ext>
                </a:extLst>
              </a:tr>
              <a:tr h="614896">
                <a:tc>
                  <a:txBody>
                    <a:bodyPr/>
                    <a:lstStyle/>
                    <a:p>
                      <a:pPr algn="ctr" fontAlgn="ctr"/>
                      <a:r>
                        <a:rPr lang="en-US" sz="1300" b="0" i="0" u="none" strike="noStrike">
                          <a:solidFill>
                            <a:srgbClr val="000000"/>
                          </a:solidFill>
                          <a:effectLst/>
                          <a:latin typeface="Calibri" panose="020F0502020204030204" pitchFamily="34" charset="0"/>
                        </a:rPr>
                        <a:t>17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B574 BRAKE#08 IWORN AND DEACTIVED</a:t>
                      </a:r>
                    </a:p>
                  </a:txBody>
                  <a:tcPr marL="5296" marR="5296" marT="5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2299576"/>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3"/>
            <a:ext cx="11941351"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tương đối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NIL</a:t>
            </a:r>
            <a:r>
              <a:rPr lang="en-US" sz="1600">
                <a:solidFill>
                  <a:prstClr val="black"/>
                </a:solidFill>
                <a:latin typeface="Times New Roman" panose="02020603050405020304" pitchFamily="18" charset="0"/>
                <a:cs typeface="Times New Roman" panose="02020603050405020304" pitchFamily="18" charset="0"/>
              </a:rPr>
              <a:t>.</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010B559A-ABEC-3C1C-8B0F-78AC157317C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09F43E05-78F5-8AA8-6EC5-16D039445338}"/>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6146DA51-23CC-D6EE-A05C-E4B1B633BE7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F69D9DF-B2A1-2D94-3E8E-128610442781}"/>
              </a:ext>
            </a:extLst>
          </p:cNvPr>
          <p:cNvGraphicFramePr>
            <a:graphicFrameLocks noGrp="1"/>
          </p:cNvGraphicFramePr>
          <p:nvPr/>
        </p:nvGraphicFramePr>
        <p:xfrm>
          <a:off x="134290" y="1676400"/>
          <a:ext cx="11706824" cy="2159817"/>
        </p:xfrm>
        <a:graphic>
          <a:graphicData uri="http://schemas.openxmlformats.org/drawingml/2006/table">
            <a:tbl>
              <a:tblPr/>
              <a:tblGrid>
                <a:gridCol w="322910">
                  <a:extLst>
                    <a:ext uri="{9D8B030D-6E8A-4147-A177-3AD203B41FA5}">
                      <a16:colId xmlns:a16="http://schemas.microsoft.com/office/drawing/2014/main" val="1559444187"/>
                    </a:ext>
                  </a:extLst>
                </a:gridCol>
                <a:gridCol w="783483">
                  <a:extLst>
                    <a:ext uri="{9D8B030D-6E8A-4147-A177-3AD203B41FA5}">
                      <a16:colId xmlns:a16="http://schemas.microsoft.com/office/drawing/2014/main" val="3084149159"/>
                    </a:ext>
                  </a:extLst>
                </a:gridCol>
                <a:gridCol w="359517">
                  <a:extLst>
                    <a:ext uri="{9D8B030D-6E8A-4147-A177-3AD203B41FA5}">
                      <a16:colId xmlns:a16="http://schemas.microsoft.com/office/drawing/2014/main" val="592359483"/>
                    </a:ext>
                  </a:extLst>
                </a:gridCol>
                <a:gridCol w="694546">
                  <a:extLst>
                    <a:ext uri="{9D8B030D-6E8A-4147-A177-3AD203B41FA5}">
                      <a16:colId xmlns:a16="http://schemas.microsoft.com/office/drawing/2014/main" val="1491763954"/>
                    </a:ext>
                  </a:extLst>
                </a:gridCol>
                <a:gridCol w="575623">
                  <a:extLst>
                    <a:ext uri="{9D8B030D-6E8A-4147-A177-3AD203B41FA5}">
                      <a16:colId xmlns:a16="http://schemas.microsoft.com/office/drawing/2014/main" val="356619158"/>
                    </a:ext>
                  </a:extLst>
                </a:gridCol>
                <a:gridCol w="478440">
                  <a:extLst>
                    <a:ext uri="{9D8B030D-6E8A-4147-A177-3AD203B41FA5}">
                      <a16:colId xmlns:a16="http://schemas.microsoft.com/office/drawing/2014/main" val="2729674980"/>
                    </a:ext>
                  </a:extLst>
                </a:gridCol>
                <a:gridCol w="2324918">
                  <a:extLst>
                    <a:ext uri="{9D8B030D-6E8A-4147-A177-3AD203B41FA5}">
                      <a16:colId xmlns:a16="http://schemas.microsoft.com/office/drawing/2014/main" val="290848657"/>
                    </a:ext>
                  </a:extLst>
                </a:gridCol>
                <a:gridCol w="2997724">
                  <a:extLst>
                    <a:ext uri="{9D8B030D-6E8A-4147-A177-3AD203B41FA5}">
                      <a16:colId xmlns:a16="http://schemas.microsoft.com/office/drawing/2014/main" val="573885834"/>
                    </a:ext>
                  </a:extLst>
                </a:gridCol>
                <a:gridCol w="291549">
                  <a:extLst>
                    <a:ext uri="{9D8B030D-6E8A-4147-A177-3AD203B41FA5}">
                      <a16:colId xmlns:a16="http://schemas.microsoft.com/office/drawing/2014/main" val="3503532275"/>
                    </a:ext>
                  </a:extLst>
                </a:gridCol>
                <a:gridCol w="2878114">
                  <a:extLst>
                    <a:ext uri="{9D8B030D-6E8A-4147-A177-3AD203B41FA5}">
                      <a16:colId xmlns:a16="http://schemas.microsoft.com/office/drawing/2014/main" val="2988133313"/>
                    </a:ext>
                  </a:extLst>
                </a:gridCol>
              </a:tblGrid>
              <a:tr h="97367">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4448922"/>
                  </a:ext>
                </a:extLst>
              </a:tr>
              <a:tr h="399656">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B223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05:30 08/05/2025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CAPT REPORTED DUCT OVER 100 DEGREES, COCKPIT AND CABIN HOT &lt;p&gt;PRE-FLIGHT CAPT REPORTED DUCT OVER 100 DEGREES, COCKPIT AND CABIN HOT. CAPT REFUSED TO C/O VN1891&lt;/p&gt;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&lt;p&gt;ERU CHECK FOUND PACK 1 AUTO MODE FAIL, PACK#2 TEMP NORMAL. CAPT CONTINUE FLT VN1891&lt;/p&gt; CAPT REPORTED DUCT OVER 100 DEGREES, COCKPIT AND CABIN HOT EVENT CLOSED </a:t>
                      </a:r>
                    </a:p>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&lt;p&gt;TOTAL DELAY: 150 MINS, TECH DELAY: 40 MINS&lt;/p&gt;</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&lt;p&gt;NOTED: 120 MINS THỜI GIAN GIẢI TOẢ KHÁCH; TRAO ĐỔI VỚI CAPT DO CAPT KHÔNG ĐỒNG Ý BAY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5182604"/>
                  </a:ext>
                </a:extLst>
              </a:tr>
            </a:tbl>
          </a:graphicData>
        </a:graphic>
      </p:graphicFrame>
    </p:spTree>
    <p:extLst>
      <p:ext uri="{BB962C8B-B14F-4D97-AF65-F5344CB8AC3E}">
        <p14:creationId xmlns:p14="http://schemas.microsoft.com/office/powerpoint/2010/main" val="3077373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24</a:t>
            </a:fld>
            <a:endParaRPr/>
          </a:p>
        </p:txBody>
      </p:sp>
      <p:sp>
        <p:nvSpPr>
          <p:cNvPr id="2" name="Title 4">
            <a:extLst>
              <a:ext uri="{FF2B5EF4-FFF2-40B4-BE49-F238E27FC236}">
                <a16:creationId xmlns:a16="http://schemas.microsoft.com/office/drawing/2014/main" id="{12018918-C0E3-0AB5-BC5E-5C4C4011B7AC}"/>
              </a:ext>
            </a:extLst>
          </p:cNvPr>
          <p:cNvSpPr>
            <a:spLocks noGrp="1"/>
          </p:cNvSpPr>
          <p:nvPr>
            <p:ph type="title"/>
          </p:nvPr>
        </p:nvSpPr>
        <p:spPr>
          <a:xfrm>
            <a:off x="115967" y="71736"/>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787A4418-A433-ABE6-B6CB-EFF8C0F68375}"/>
              </a:ext>
            </a:extLst>
          </p:cNvPr>
          <p:cNvSpPr txBox="1"/>
          <p:nvPr/>
        </p:nvSpPr>
        <p:spPr>
          <a:xfrm>
            <a:off x="287740" y="599773"/>
            <a:ext cx="11706825" cy="1569660"/>
          </a:xfrm>
          <a:prstGeom prst="rect">
            <a:avLst/>
          </a:prstGeom>
          <a:noFill/>
        </p:spPr>
        <p:txBody>
          <a:bodyPr wrap="square">
            <a:spAutoFit/>
          </a:bodyPr>
          <a:lstStyle/>
          <a:p>
            <a:pPr algn="just">
              <a:buClrTx/>
              <a:buFontTx/>
              <a:buNone/>
              <a:defRPr/>
            </a:pPr>
            <a:r>
              <a:rPr lang="en-US" sz="1600" b="1" kern="1200">
                <a:solidFill>
                  <a:prstClr val="black"/>
                </a:solidFill>
                <a:latin typeface="Times New Roman" panose="02020603050405020304" pitchFamily="18" charset="0"/>
                <a:ea typeface="+mn-ea"/>
                <a:cs typeface="Times New Roman" panose="02020603050405020304" pitchFamily="18" charset="0"/>
              </a:rPr>
              <a:t>Đội bay ATR72:</a:t>
            </a:r>
            <a:endParaRPr lang="en-US" sz="1600" b="1" kern="1200" dirty="0">
              <a:solidFill>
                <a:prstClr val="black"/>
              </a:solidFill>
              <a:latin typeface="Times New Roman" panose="02020603050405020304" pitchFamily="18" charset="0"/>
              <a:ea typeface="+mn-ea"/>
              <a:cs typeface="Times New Roman" panose="02020603050405020304" pitchFamily="18" charset="0"/>
            </a:endParaRPr>
          </a:p>
          <a:p>
            <a:pPr marL="342900" indent="-342900" algn="just">
              <a:buClrTx/>
              <a:buFontTx/>
              <a:buAutoNum type="arabicPeriod"/>
              <a:defRPr/>
            </a:pPr>
            <a:r>
              <a:rPr lang="en-US" sz="1600" kern="1200">
                <a:solidFill>
                  <a:prstClr val="black"/>
                </a:solidFill>
                <a:latin typeface="Times New Roman" panose="02020603050405020304" pitchFamily="18" charset="0"/>
                <a:ea typeface="+mn-ea"/>
                <a:cs typeface="Times New Roman" panose="02020603050405020304" pitchFamily="18" charset="0"/>
              </a:rPr>
              <a:t>Tình hình kỹ thuật đội ATR72 trong tuần không tốt, nổi cộm TH RTO </a:t>
            </a:r>
            <a:r>
              <a:rPr lang="vi-VN" sz="1600" kern="1200">
                <a:solidFill>
                  <a:prstClr val="black"/>
                </a:solidFill>
                <a:latin typeface="Times New Roman" panose="02020603050405020304" pitchFamily="18" charset="0"/>
                <a:ea typeface="+mn-ea"/>
                <a:cs typeface="Times New Roman" panose="02020603050405020304" pitchFamily="18" charset="0"/>
              </a:rPr>
              <a:t>trên tàu B223 do ATPCS NOT ARM. Sự cố đã từng</a:t>
            </a:r>
            <a:r>
              <a:rPr lang="en-US" sz="1600" kern="1200">
                <a:solidFill>
                  <a:prstClr val="black"/>
                </a:solidFill>
                <a:latin typeface="Times New Roman" panose="02020603050405020304" pitchFamily="18" charset="0"/>
                <a:ea typeface="+mn-ea"/>
                <a:cs typeface="Times New Roman" panose="02020603050405020304" pitchFamily="18" charset="0"/>
              </a:rPr>
              <a:t> xảy ra</a:t>
            </a:r>
            <a:r>
              <a:rPr lang="vi-VN" sz="1600" kern="1200">
                <a:solidFill>
                  <a:prstClr val="black"/>
                </a:solidFill>
                <a:latin typeface="Times New Roman" panose="02020603050405020304" pitchFamily="18" charset="0"/>
                <a:ea typeface="+mn-ea"/>
                <a:cs typeface="Times New Roman" panose="02020603050405020304" pitchFamily="18" charset="0"/>
              </a:rPr>
              <a:t> lặp lại</a:t>
            </a:r>
            <a:r>
              <a:rPr lang="en-US" sz="1600" kern="1200">
                <a:solidFill>
                  <a:prstClr val="black"/>
                </a:solidFill>
                <a:latin typeface="Times New Roman" panose="02020603050405020304" pitchFamily="18" charset="0"/>
                <a:ea typeface="+mn-ea"/>
                <a:cs typeface="Times New Roman" panose="02020603050405020304" pitchFamily="18" charset="0"/>
              </a:rPr>
              <a:t> 2 lần</a:t>
            </a:r>
            <a:r>
              <a:rPr lang="vi-VN" sz="1600" kern="1200">
                <a:solidFill>
                  <a:prstClr val="black"/>
                </a:solidFill>
                <a:latin typeface="Times New Roman" panose="02020603050405020304" pitchFamily="18" charset="0"/>
                <a:ea typeface="+mn-ea"/>
                <a:cs typeface="Times New Roman" panose="02020603050405020304" pitchFamily="18" charset="0"/>
              </a:rPr>
              <a:t> trong tháng 3/2025 dù đã thay nhiều cụm (AFU, MFC, Microswitch, Connector…). Lần này thay thêm Microswitch box và AFU#1 đã khắc phục được lỗi. Tuy nhiên, ATR vẫn khuyến cáo thay thêm 2 khối diode để phòng ngừa. Tiếp tục theo dõi.</a:t>
            </a:r>
            <a:endParaRPr lang="en-US" sz="1600">
              <a:latin typeface="Times New Roman" panose="02020603050405020304" pitchFamily="18" charset="0"/>
              <a:ea typeface="+mn-ea"/>
              <a:cs typeface="Times New Roman" panose="02020603050405020304" pitchFamily="18" charset="0"/>
            </a:endParaRPr>
          </a:p>
          <a:p>
            <a:pPr marL="342900" indent="-342900" algn="just">
              <a:buClrTx/>
              <a:buFontTx/>
              <a:buAutoNum type="arabicPeriod"/>
              <a:defRPr/>
            </a:pPr>
            <a:r>
              <a:rPr lang="en-US" sz="1600" kern="1200">
                <a:solidFill>
                  <a:prstClr val="black"/>
                </a:solidFill>
                <a:latin typeface="Times New Roman" panose="02020603050405020304" pitchFamily="18" charset="0"/>
                <a:ea typeface="+mn-ea"/>
                <a:cs typeface="Times New Roman" panose="02020603050405020304" pitchFamily="18" charset="0"/>
              </a:rPr>
              <a:t>Bên cạnh đó, tàu B223 trong tuần cũng có TH tổ bay từ chối bay do cabin hot, kiểm tra thì phát hiện pack 1 auto mode fail (vẫn sử dụng manual được). VAECO đã raise ADD “PACK 1 AUTO TEMP CTRL INOP ” và tàu tiếp tục khai thác.</a:t>
            </a:r>
            <a:endParaRPr lang="en-SG" sz="1600" kern="1200">
              <a:solidFill>
                <a:prstClr val="black"/>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41122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W19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05/05/2025-11/05/20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19/2025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đội </a:t>
            </a:r>
            <a:r>
              <a:rPr lang="en-US" sz="1400">
                <a:solidFill>
                  <a:prstClr val="black"/>
                </a:solidFill>
                <a:latin typeface="Times New Roman" panose="02020603050405020304" pitchFamily="18" charset="0"/>
                <a:cs typeface="Times New Roman" panose="02020603050405020304" pitchFamily="18" charset="0"/>
              </a:rPr>
              <a:t>A321 đạt mục tiêu, các đội A350, B787, ATR72 không đạt mục tiêu</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99,87% cao hơn 0,22%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vi-VN" sz="14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98,54% thấp hơn 1,06%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3 sự kiện liên quan tới </a:t>
            </a:r>
            <a:r>
              <a:rPr lang="pt-BR" sz="1400">
                <a:solidFill>
                  <a:prstClr val="black"/>
                </a:solidFill>
                <a:latin typeface="Times New Roman" panose="02020603050405020304" pitchFamily="18" charset="0"/>
                <a:cs typeface="Times New Roman" panose="02020603050405020304" pitchFamily="18" charset="0"/>
              </a:rPr>
              <a:t>A896 ATB do EDP, A888 GTB do emer bat, A894 eng stall.</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99,15% </a:t>
            </a:r>
            <a:r>
              <a:rPr lang="en-US" sz="1400">
                <a:latin typeface="Times New Roman" panose="02020603050405020304" pitchFamily="18" charset="0"/>
                <a:cs typeface="Times New Roman" panose="02020603050405020304" pitchFamily="18" charset="0"/>
              </a:rPr>
              <a:t>thấp hơn 0,21% so với mục tiêu do có 3 sự kiện liên quan tới A862 EBPSU, A864 nose wheel steering commutator valve, A872 heatshield MW broken.</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99,03% thấp hơn 0,62%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2 sự kiện delay đều liên quan tới tàu B223 do hệ thống ATPCS not arm và pack 1 auto mode fail.</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1" name="Chart 10">
            <a:extLst>
              <a:ext uri="{FF2B5EF4-FFF2-40B4-BE49-F238E27FC236}">
                <a16:creationId xmlns:a16="http://schemas.microsoft.com/office/drawing/2014/main" id="{00000000-0008-0000-0000-000006000000}"/>
              </a:ext>
            </a:extLst>
          </p:cNvPr>
          <p:cNvGraphicFramePr>
            <a:graphicFrameLocks/>
          </p:cNvGraphicFramePr>
          <p:nvPr/>
        </p:nvGraphicFramePr>
        <p:xfrm>
          <a:off x="552666" y="76429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977578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800516203"/>
              </p:ext>
            </p:extLst>
          </p:nvPr>
        </p:nvGraphicFramePr>
        <p:xfrm>
          <a:off x="156783" y="606959"/>
          <a:ext cx="11878434" cy="553869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0902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SSA 2024 đã ký với mức hỗ trợ SSA 2024 13.5k cho 2024/10k cho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PW đã cung cấp tổng cộng 17 slot.</a:t>
                      </a:r>
                      <a:endPar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họp telecon với PW ngày 03/05 về nội dung liên quan đến slot Induct, SSA 2024 CAP, Lease engine  PW cung cấp cho VNA thuê 01 ĐC từ tháng 6, đồng thời xem xét gia hạn CAP SSA khi vượt ng</a:t>
                      </a:r>
                      <a:r>
                        <a:rPr lang="vi-VN" sz="130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 cung cấp 14-16 slot induct.</a:t>
                      </a:r>
                      <a:endPar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 chức họp định kỳ hàng tháng với PW</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07/05 họp cấp cao với PW về các vấn đề pending. Tiếp tục follow tại cuộc họp hàng tháng.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dung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GE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GE đã gửi thư hỗ trợ và KT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trình ký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tuần 12 - 16/05</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a:solidFill>
                            <a:schemeClr val="tx1"/>
                          </a:solidFill>
                          <a:effectLst/>
                          <a:latin typeface="Times New Roman" panose="02020603050405020304" pitchFamily="18" charset="0"/>
                          <a:ea typeface="+mn-ea"/>
                          <a:cs typeface="Times New Roman" panose="02020603050405020304" pitchFamily="18" charset="0"/>
                        </a:rPr>
                        <a:t>Các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dung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 claim 104M theo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đã gửi claim cho RR yêu cầu đền bù, tuy nhiên phía RR từ chối do theo hợp đồng TCA không có cam kết thời gian induct và TAT sửa do đó không có c</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sở để xác định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đã gửi thông tin cho Ban PC để tiếp tục nghiên cứu các điều khoản để claim đối tác.</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 cầu hỗ trợ để giảm số tàu dừng: </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đang tập trung vào các nội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 thêm slot SV sửa chữa: RR cho VNA 16 slot tuy nhiên hiện chỉ còn 14 do có 2 slot mới bị đẩy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 thời gian chờ induct: VNA đã induct đ</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7 động c</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năm 2025, tuy nhiên tốc độ induct ngày càng chậm và bị đẩy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 induct động c</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tại shop N3: hiện shop này có TAT rất dài (standard 200 ngày so với ~130 ngày tại HAESL) và th</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 xuyên delay (3 động c</a:t>
                      </a:r>
                      <a:r>
                        <a:rPr lang="vi-VN"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mới sửa bị delay 30 ngày).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3348129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248139411"/>
              </p:ext>
            </p:extLst>
          </p:nvPr>
        </p:nvGraphicFramePr>
        <p:xfrm>
          <a:off x="156783" y="606959"/>
          <a:ext cx="11878434" cy="367554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lựa chọn AMOSeTL của Swiss-AS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vướng mắc khâu đàm phán/ký kết hợp đồng: Để tối </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 hiệu suất, cần tích hợp eTL vào cùng c</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sở hạ tầng với AMOS. Do vậy cần chờ Swiss-AS và VAECO thống nhất Change Request tr</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ớc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làm việc với 1 số nhà sản xuất (Teledyne, Collins...) về STC lắp WQAR. TAT dự kiến 3 tháng, chi phí dự kiến 40k</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60k USD/tàu.</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activation 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A893 (16/5), A899 (20/5), A8932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 (</a:t>
                      </a:r>
                      <a:r>
                        <a:rPr lang="en-US" sz="1400" dirty="0" err="1">
                          <a:solidFill>
                            <a:schemeClr val="tx1"/>
                          </a:solidFill>
                          <a:latin typeface="Times New Roman" panose="02020603050405020304" pitchFamily="18" charset="0"/>
                          <a:cs typeface="Times New Roman" panose="02020603050405020304" pitchFamily="18" charset="0"/>
                        </a:rPr>
                        <a:t>chờ</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xếp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lịch</a:t>
                      </a:r>
                      <a:r>
                        <a:rPr lang="en-US" sz="1400"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 (TAT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HON shop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kéo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dài</a:t>
                      </a:r>
                      <a:r>
                        <a:rPr lang="en-US" sz="1400" dirty="0">
                          <a:solidFill>
                            <a:schemeClr val="tx1"/>
                          </a:solidFill>
                          <a:latin typeface="Times New Roman" panose="02020603050405020304" pitchFamily="18" charset="0"/>
                          <a:cs typeface="Times New Roman" panose="02020603050405020304" pitchFamily="18" charset="0"/>
                        </a:rPr>
                        <a:t> 120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Đào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a:solidFill>
                            <a:schemeClr val="tx1"/>
                          </a:solidFill>
                          <a:latin typeface="Times New Roman" panose="02020603050405020304" pitchFamily="18" charset="0"/>
                          <a:cs typeface="Times New Roman" panose="02020603050405020304" pitchFamily="18" charset="0"/>
                        </a:rPr>
                        <a:t>Tài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b="0" dirty="0">
                          <a:solidFill>
                            <a:schemeClr val="tx1"/>
                          </a:solidFill>
                          <a:latin typeface="Times New Roman" panose="02020603050405020304" pitchFamily="18" charset="0"/>
                          <a:cs typeface="Times New Roman" panose="02020603050405020304" pitchFamily="18" charset="0"/>
                        </a:rPr>
                        <a:t>Tài </a:t>
                      </a:r>
                      <a:r>
                        <a:rPr lang="en-US" sz="1400" b="0" dirty="0" err="1">
                          <a:solidFill>
                            <a:schemeClr val="tx1"/>
                          </a:solidFill>
                          <a:latin typeface="Times New Roman" panose="02020603050405020304" pitchFamily="18" charset="0"/>
                          <a:cs typeface="Times New Roman" panose="02020603050405020304" pitchFamily="18" charset="0"/>
                        </a:rPr>
                        <a:t>liệu</a:t>
                      </a:r>
                      <a:r>
                        <a:rPr lang="en-US" sz="1400" b="0" dirty="0">
                          <a:solidFill>
                            <a:schemeClr val="tx1"/>
                          </a:solidFill>
                          <a:latin typeface="Times New Roman" panose="02020603050405020304" pitchFamily="18" charset="0"/>
                          <a:cs typeface="Times New Roman" panose="02020603050405020304" pitchFamily="18" charset="0"/>
                        </a:rPr>
                        <a:t> AMM: </a:t>
                      </a:r>
                      <a:r>
                        <a:rPr lang="en-US" sz="1400" b="1" dirty="0">
                          <a:solidFill>
                            <a:schemeClr val="tx1"/>
                          </a:solidFill>
                          <a:latin typeface="Times New Roman" panose="02020603050405020304" pitchFamily="18" charset="0"/>
                          <a:cs typeface="Times New Roman" panose="02020603050405020304" pitchFamily="18" charset="0"/>
                        </a:rPr>
                        <a:t>update </a:t>
                      </a:r>
                      <a:r>
                        <a:rPr lang="en-US" sz="1400" b="1" dirty="0" err="1">
                          <a:solidFill>
                            <a:schemeClr val="tx1"/>
                          </a:solidFill>
                          <a:latin typeface="Times New Roman" panose="02020603050405020304" pitchFamily="18" charset="0"/>
                          <a:cs typeface="Times New Roman" panose="02020603050405020304" pitchFamily="18" charset="0"/>
                        </a:rPr>
                        <a:t>trong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230211863"/>
              </p:ext>
            </p:extLst>
          </p:nvPr>
        </p:nvGraphicFramePr>
        <p:xfrm>
          <a:off x="156783" y="4267201"/>
          <a:ext cx="11878434" cy="259079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009137770"/>
                    </a:ext>
                  </a:extLst>
                </a:gridCol>
                <a:gridCol w="1182943">
                  <a:extLst>
                    <a:ext uri="{9D8B030D-6E8A-4147-A177-3AD203B41FA5}">
                      <a16:colId xmlns:a16="http://schemas.microsoft.com/office/drawing/2014/main" val="1246878174"/>
                    </a:ext>
                  </a:extLst>
                </a:gridCol>
                <a:gridCol w="8905547">
                  <a:extLst>
                    <a:ext uri="{9D8B030D-6E8A-4147-A177-3AD203B41FA5}">
                      <a16:colId xmlns:a16="http://schemas.microsoft.com/office/drawing/2014/main" val="91546684"/>
                    </a:ext>
                  </a:extLst>
                </a:gridCol>
                <a:gridCol w="1367217">
                  <a:extLst>
                    <a:ext uri="{9D8B030D-6E8A-4147-A177-3AD203B41FA5}">
                      <a16:colId xmlns:a16="http://schemas.microsoft.com/office/drawing/2014/main" val="58329594"/>
                    </a:ext>
                  </a:extLst>
                </a:gridCol>
              </a:tblGrid>
              <a:tr h="2590799">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4936373"/>
                  </a:ext>
                </a:extLst>
              </a:tr>
            </a:tbl>
          </a:graphicData>
        </a:graphic>
      </p:graphicFrame>
    </p:spTree>
    <p:extLst>
      <p:ext uri="{BB962C8B-B14F-4D97-AF65-F5344CB8AC3E}">
        <p14:creationId xmlns:p14="http://schemas.microsoft.com/office/powerpoint/2010/main" val="3876969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12645" y="-95301"/>
            <a:ext cx="9312664" cy="508000"/>
          </a:xfrm>
        </p:spPr>
        <p:txBody>
          <a:bodyPr>
            <a:noAutofit/>
          </a:bodyPr>
          <a:lstStyle/>
          <a:p>
            <a:pPr eaLnBrk="1" hangingPunct="1"/>
            <a:r>
              <a:rPr lang="en-US" altLang="en-US" sz="25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794833167"/>
              </p:ext>
            </p:extLst>
          </p:nvPr>
        </p:nvGraphicFramePr>
        <p:xfrm>
          <a:off x="228600" y="335061"/>
          <a:ext cx="11612515" cy="6321138"/>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263136">
                  <a:extLst>
                    <a:ext uri="{9D8B030D-6E8A-4147-A177-3AD203B41FA5}">
                      <a16:colId xmlns:a16="http://schemas.microsoft.com/office/drawing/2014/main" val="221963637"/>
                    </a:ext>
                  </a:extLst>
                </a:gridCol>
                <a:gridCol w="89154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chê</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duyệt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5/2025</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err="1">
                          <a:solidFill>
                            <a:schemeClr val="tx1"/>
                          </a:solidFill>
                          <a:latin typeface="Times New Roman" panose="02020603050405020304" pitchFamily="18" charset="0"/>
                          <a:cs typeface="Times New Roman" panose="02020603050405020304" pitchFamily="18" charset="0"/>
                        </a:rPr>
                        <a:t>Dán</a:t>
                      </a:r>
                      <a:r>
                        <a:rPr lang="en-US" sz="1400" b="0" baseline="0" dirty="0">
                          <a:solidFill>
                            <a:schemeClr val="tx1"/>
                          </a:solidFill>
                          <a:latin typeface="Times New Roman" panose="02020603050405020304" pitchFamily="18" charset="0"/>
                          <a:cs typeface="Times New Roman" panose="02020603050405020304" pitchFamily="18" charset="0"/>
                        </a:rPr>
                        <a:t> </a:t>
                      </a:r>
                      <a:r>
                        <a:rPr lang="en-US" sz="1400" b="0" dirty="0">
                          <a:solidFill>
                            <a:schemeClr val="tx1"/>
                          </a:solidFill>
                          <a:latin typeface="Times New Roman" panose="02020603050405020304" pitchFamily="18" charset="0"/>
                          <a:cs typeface="Times New Roman" panose="02020603050405020304" pitchFamily="18" charset="0"/>
                        </a:rPr>
                        <a:t>Decal</a:t>
                      </a:r>
                      <a:r>
                        <a:rPr lang="en-US" sz="1400" b="0" baseline="0" dirty="0">
                          <a:solidFill>
                            <a:schemeClr val="tx1"/>
                          </a:solidFill>
                          <a:latin typeface="Times New Roman" panose="02020603050405020304" pitchFamily="18" charset="0"/>
                          <a:cs typeface="Times New Roman" panose="02020603050405020304" pitchFamily="18" charset="0"/>
                        </a:rPr>
                        <a:t> </a:t>
                      </a:r>
                    </a:p>
                    <a:p>
                      <a:pPr algn="l" fontAlgn="ctr"/>
                      <a:r>
                        <a:rPr lang="en-US" sz="1400" b="0" baseline="0" dirty="0" err="1">
                          <a:solidFill>
                            <a:schemeClr val="tx1"/>
                          </a:solidFill>
                          <a:latin typeface="Times New Roman" panose="02020603050405020304" pitchFamily="18" charset="0"/>
                          <a:cs typeface="Times New Roman" panose="02020603050405020304" pitchFamily="18" charset="0"/>
                        </a:rPr>
                        <a:t>tàu</a:t>
                      </a:r>
                      <a:r>
                        <a:rPr lang="en-US" sz="1400" b="0" baseline="0" dirty="0">
                          <a:solidFill>
                            <a:schemeClr val="tx1"/>
                          </a:solidFill>
                          <a:latin typeface="Times New Roman" panose="02020603050405020304" pitchFamily="18" charset="0"/>
                          <a:cs typeface="Times New Roman" panose="02020603050405020304" pitchFamily="18" charset="0"/>
                        </a:rPr>
                        <a:t> bay</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bản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chào</a:t>
                      </a:r>
                      <a:r>
                        <a:rPr lang="en-US" sz="1400" kern="1200" dirty="0">
                          <a:solidFill>
                            <a:schemeClr val="tx1"/>
                          </a:solidFill>
                          <a:latin typeface="Times New Roman" panose="02020603050405020304" pitchFamily="18" charset="0"/>
                          <a:ea typeface="+mn-ea"/>
                          <a:cs typeface="Times New Roman" panose="02020603050405020304" pitchFamily="18" charset="0"/>
                        </a:rPr>
                        <a:t> chi </a:t>
                      </a:r>
                      <a:r>
                        <a:rPr lang="en-US" sz="1400" kern="1200" dirty="0" err="1">
                          <a:solidFill>
                            <a:schemeClr val="tx1"/>
                          </a:solidFill>
                          <a:latin typeface="Times New Roman" panose="02020603050405020304" pitchFamily="18" charset="0"/>
                          <a:ea typeface="+mn-ea"/>
                          <a:cs typeface="Times New Roman" panose="02020603050405020304" pitchFamily="18" charset="0"/>
                        </a:rPr>
                        <a:t>phí</a:t>
                      </a:r>
                      <a:r>
                        <a:rPr lang="en-US" sz="1400" kern="1200" dirty="0">
                          <a:solidFill>
                            <a:schemeClr val="tx1"/>
                          </a:solidFill>
                          <a:latin typeface="Times New Roman" panose="02020603050405020304" pitchFamily="18" charset="0"/>
                          <a:ea typeface="+mn-ea"/>
                          <a:cs typeface="Times New Roman" panose="02020603050405020304" pitchFamily="18" charset="0"/>
                        </a:rPr>
                        <a:t> SB &amp; </a:t>
                      </a:r>
                      <a:r>
                        <a:rPr lang="en-US" sz="1400" kern="1200" dirty="0" err="1">
                          <a:solidFill>
                            <a:schemeClr val="tx1"/>
                          </a:solidFill>
                          <a:latin typeface="Times New Roman" panose="02020603050405020304" pitchFamily="18" charset="0"/>
                          <a:ea typeface="+mn-ea"/>
                          <a:cs typeface="Times New Roman" panose="02020603050405020304" pitchFamily="18" charset="0"/>
                        </a:rPr>
                        <a:t>modkit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cho</a:t>
                      </a:r>
                      <a:r>
                        <a:rPr lang="en-US" sz="1400" kern="1200" dirty="0">
                          <a:solidFill>
                            <a:schemeClr val="tx1"/>
                          </a:solidFill>
                          <a:latin typeface="Times New Roman" panose="02020603050405020304" pitchFamily="18" charset="0"/>
                          <a:ea typeface="+mn-ea"/>
                          <a:cs typeface="Times New Roman" panose="02020603050405020304" pitchFamily="18" charset="0"/>
                        </a:rPr>
                        <a:t> A321 </a:t>
                      </a:r>
                      <a:r>
                        <a:rPr lang="en-US" sz="1400" kern="1200" dirty="0" err="1">
                          <a:solidFill>
                            <a:schemeClr val="tx1"/>
                          </a:solidFill>
                          <a:latin typeface="Times New Roman" panose="02020603050405020304" pitchFamily="18" charset="0"/>
                          <a:ea typeface="+mn-ea"/>
                          <a:cs typeface="Times New Roman" panose="02020603050405020304" pitchFamily="18" charset="0"/>
                        </a:rPr>
                        <a:t>và</a:t>
                      </a:r>
                      <a:r>
                        <a:rPr lang="en-US" sz="1400" kern="1200" dirty="0">
                          <a:solidFill>
                            <a:schemeClr val="tx1"/>
                          </a:solidFill>
                          <a:latin typeface="Times New Roman" panose="02020603050405020304" pitchFamily="18" charset="0"/>
                          <a:ea typeface="+mn-ea"/>
                          <a:cs typeface="Times New Roman" panose="02020603050405020304" pitchFamily="18" charset="0"/>
                        </a:rPr>
                        <a:t> B787 =&gt; </a:t>
                      </a:r>
                      <a:r>
                        <a:rPr lang="en-US" sz="1400" kern="1200" dirty="0" err="1">
                          <a:solidFill>
                            <a:schemeClr val="tx1"/>
                          </a:solidFill>
                          <a:latin typeface="Times New Roman" panose="02020603050405020304" pitchFamily="18" charset="0"/>
                          <a:ea typeface="+mn-ea"/>
                          <a:cs typeface="Times New Roman" panose="02020603050405020304" pitchFamily="18" charset="0"/>
                        </a:rPr>
                        <a:t>chờ</a:t>
                      </a:r>
                      <a:r>
                        <a:rPr lang="en-US" sz="1400" kern="1200" dirty="0">
                          <a:solidFill>
                            <a:schemeClr val="tx1"/>
                          </a:solidFill>
                          <a:latin typeface="Times New Roman" panose="02020603050405020304" pitchFamily="18" charset="0"/>
                          <a:ea typeface="+mn-ea"/>
                          <a:cs typeface="Times New Roman" panose="02020603050405020304" pitchFamily="18" charset="0"/>
                        </a:rPr>
                        <a:t> ban TT </a:t>
                      </a:r>
                      <a:r>
                        <a:rPr lang="en-US" sz="1400" kern="1200" dirty="0" err="1">
                          <a:solidFill>
                            <a:schemeClr val="tx1"/>
                          </a:solidFill>
                          <a:latin typeface="Times New Roman" panose="02020603050405020304" pitchFamily="18" charset="0"/>
                          <a:ea typeface="+mn-ea"/>
                          <a:cs typeface="Times New Roman" panose="02020603050405020304" pitchFamily="18" charset="0"/>
                        </a:rPr>
                        <a:t>lựa</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chọn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và</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trình</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phê</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duyệt</a:t>
                      </a:r>
                      <a:r>
                        <a:rPr lang="en-US" sz="1400" kern="1200" dirty="0">
                          <a:solidFill>
                            <a:schemeClr val="tx1"/>
                          </a:solidFill>
                          <a:latin typeface="Times New Roman" panose="02020603050405020304" pitchFamily="18" charset="0"/>
                          <a:ea typeface="+mn-ea"/>
                          <a:cs typeface="Times New Roman" panose="02020603050405020304" pitchFamily="18" charset="0"/>
                        </a:rPr>
                        <a:t> P/A </a:t>
                      </a:r>
                      <a:r>
                        <a:rPr lang="en-US" sz="1400" kern="1200" dirty="0" err="1">
                          <a:solidFill>
                            <a:schemeClr val="tx1"/>
                          </a:solidFill>
                          <a:latin typeface="Times New Roman" panose="02020603050405020304" pitchFamily="18" charset="0"/>
                          <a:ea typeface="+mn-ea"/>
                          <a:cs typeface="Times New Roman" panose="02020603050405020304" pitchFamily="18" charset="0"/>
                        </a:rPr>
                        <a:t>triển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khai</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sẽ</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dán</a:t>
                      </a:r>
                      <a:r>
                        <a:rPr lang="en-US" sz="1400" kern="1200" dirty="0">
                          <a:solidFill>
                            <a:schemeClr val="tx1"/>
                          </a:solidFill>
                          <a:latin typeface="Times New Roman" panose="02020603050405020304" pitchFamily="18" charset="0"/>
                          <a:ea typeface="+mn-ea"/>
                          <a:cs typeface="Times New Roman" panose="02020603050405020304" pitchFamily="18" charset="0"/>
                        </a:rPr>
                        <a:t> decal</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a:t>
                      </a:r>
                    </a:p>
                    <a:p>
                      <a:pPr algn="just">
                        <a:lnSpc>
                          <a:spcPct val="150000"/>
                        </a:lnSpc>
                      </a:pPr>
                      <a:r>
                        <a:rPr lang="en-US" sz="130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a:latin typeface="+mn-lt"/>
                          <a:cs typeface="Times New Roman" panose="02020603050405020304" pitchFamily="18" charset="0"/>
                        </a:rPr>
                        <a:t>ư</a:t>
                      </a:r>
                      <a:r>
                        <a:rPr lang="en-US" sz="130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50000"/>
                        </a:lnSpc>
                      </a:pPr>
                      <a:r>
                        <a:rPr lang="en-US" sz="1300" b="0">
                          <a:latin typeface="Times New Roman" panose="02020603050405020304" pitchFamily="18" charset="0"/>
                          <a:cs typeface="Times New Roman" panose="02020603050405020304" pitchFamily="18" charset="0"/>
                        </a:rPr>
                        <a:t>DỰ ÁN TÀU BAY THÂN HẸP</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a:latin typeface="+mn-lt"/>
                          <a:cs typeface="Times New Roman" panose="02020603050405020304" pitchFamily="18" charset="0"/>
                        </a:rPr>
                        <a:t>Tổ </a:t>
                      </a:r>
                      <a:r>
                        <a:rPr lang="en-US" sz="1300">
                          <a:latin typeface="Times New Roman" panose="02020603050405020304" pitchFamily="18" charset="0"/>
                          <a:cs typeface="Times New Roman" panose="02020603050405020304" pitchFamily="18" charset="0"/>
                        </a:rPr>
                        <a:t>TMTB</a:t>
                      </a:r>
                      <a:r>
                        <a:rPr lang="vi-VN" sz="1300">
                          <a:latin typeface="+mn-lt"/>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đã hoàn thành hồ sơ và đang trình báo cáo các </a:t>
                      </a:r>
                      <a:r>
                        <a:rPr lang="vi-VN" sz="1300">
                          <a:latin typeface="+mn-lt"/>
                          <a:cs typeface="Times New Roman" panose="02020603050405020304" pitchFamily="18" charset="0"/>
                        </a:rPr>
                        <a:t>cấp có thẩm quyền</a:t>
                      </a:r>
                      <a:r>
                        <a:rPr lang="en-US" sz="1300">
                          <a:latin typeface="Times New Roman" panose="02020603050405020304" pitchFamily="18" charset="0"/>
                          <a:cs typeface="Times New Roman" panose="02020603050405020304" pitchFamily="18" charset="0"/>
                        </a:rPr>
                        <a:t> (dự kiến có thể là 50 tàu B737 Max 8).</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01 TÀU ATR72 CHO K6 THUÊ KHÔ VN-B220 MSN 890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a:latin typeface="Times New Roman" panose="02020603050405020304" pitchFamily="18" charset="0"/>
                          <a:cs typeface="Times New Roman" panose="02020603050405020304" pitchFamily="18" charset="0"/>
                        </a:rPr>
                        <a:t>VNA đang cho K6 thuê khô 01 tàu ATR72 MSN 890 VN-B220, hết hạn thuê vào ngày </a:t>
                      </a:r>
                      <a:r>
                        <a:rPr lang="en-US" sz="1300" b="1">
                          <a:latin typeface="Times New Roman" panose="02020603050405020304" pitchFamily="18" charset="0"/>
                          <a:cs typeface="Times New Roman" panose="02020603050405020304" pitchFamily="18" charset="0"/>
                        </a:rPr>
                        <a:t>25/06/2025</a:t>
                      </a:r>
                      <a:r>
                        <a:rPr lang="en-US" sz="1300">
                          <a:latin typeface="Times New Roman" panose="02020603050405020304" pitchFamily="18" charset="0"/>
                          <a:cs typeface="Times New Roman" panose="02020603050405020304" pitchFamily="18" charset="0"/>
                        </a:rPr>
                        <a:t>. K6 đang đề nghị VNA gia hạn thuê với t</a:t>
                      </a:r>
                      <a:r>
                        <a:rPr lang="vi-VN" sz="1300">
                          <a:latin typeface="+mn-lt"/>
                          <a:cs typeface="Times New Roman" panose="02020603050405020304" pitchFamily="18" charset="0"/>
                        </a:rPr>
                        <a:t>hời hạn gian hạn (hoặc thuê mới) từ 26/06/2025 – 30/11/2025</a:t>
                      </a:r>
                      <a:r>
                        <a:rPr lang="en-US" sz="1300">
                          <a:latin typeface="Times New Roman" panose="02020603050405020304" pitchFamily="18" charset="0"/>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5688560"/>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200">
                          <a:latin typeface="Times New Roman" panose="02020603050405020304" pitchFamily="18" charset="0"/>
                          <a:cs typeface="Times New Roman" panose="02020603050405020304" pitchFamily="18" charset="0"/>
                        </a:rPr>
                        <a:t>03 tàu bay hết hạn thuê tháng 06,07,10 năm 2025 cần gia hạn duy trì khai thác AOC cho PA</a:t>
                      </a:r>
                    </a:p>
                    <a:p>
                      <a:pPr marL="285750" lvl="0" indent="-285750" algn="just">
                        <a:buFontTx/>
                        <a:buChar char="-"/>
                      </a:pPr>
                      <a:r>
                        <a:rPr lang="en-US" sz="120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endParaRPr lang="en-US" sz="12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65362"/>
                  </a:ext>
                </a:extLst>
              </a:tr>
            </a:tbl>
          </a:graphicData>
        </a:graphic>
      </p:graphicFrame>
    </p:spTree>
    <p:extLst>
      <p:ext uri="{BB962C8B-B14F-4D97-AF65-F5344CB8AC3E}">
        <p14:creationId xmlns:p14="http://schemas.microsoft.com/office/powerpoint/2010/main" val="147003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586155457"/>
              </p:ext>
            </p:extLst>
          </p:nvPr>
        </p:nvGraphicFramePr>
        <p:xfrm>
          <a:off x="156783" y="606960"/>
          <a:ext cx="11878434" cy="44984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763685">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3734755">
                <a:tc>
                  <a:txBody>
                    <a:bodyPr/>
                    <a:lstStyle/>
                    <a:p>
                      <a:pPr algn="ctr" fontAlgn="b"/>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dirty="0">
                          <a:latin typeface="Times New Roman" panose="02020603050405020304" pitchFamily="18" charset="0"/>
                          <a:cs typeface="Times New Roman" panose="02020603050405020304" pitchFamily="18" charset="0"/>
                        </a:rPr>
                        <a:t>03 TÀU BAY A321 CEO CHO PA THUÊ KHÔ</a:t>
                      </a:r>
                      <a:r>
                        <a:rPr lang="vi-VN" sz="1400" b="0" dirty="0">
                          <a:latin typeface="+mn-lt"/>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VN-A354, VN-A359 </a:t>
                      </a:r>
                      <a:r>
                        <a:rPr lang="en-US" sz="1400" b="0" dirty="0" err="1">
                          <a:latin typeface="Times New Roman" panose="02020603050405020304" pitchFamily="18" charset="0"/>
                          <a:cs typeface="Times New Roman" panose="02020603050405020304" pitchFamily="18" charset="0"/>
                        </a:rPr>
                        <a:t>và</a:t>
                      </a:r>
                      <a:r>
                        <a:rPr lang="en-US" sz="1400" b="0" dirty="0">
                          <a:latin typeface="Times New Roman" panose="02020603050405020304" pitchFamily="18" charset="0"/>
                          <a:cs typeface="Times New Roman" panose="02020603050405020304" pitchFamily="18" charset="0"/>
                        </a:rPr>
                        <a:t> VN-A363</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2700" lvl="0" algn="just">
                        <a:spcBef>
                          <a:spcPts val="1000"/>
                        </a:spcBef>
                        <a:buClr>
                          <a:schemeClr val="dk1"/>
                        </a:buClr>
                        <a:buSzPts val="1100"/>
                      </a:pPr>
                      <a:endParaRPr lang="en-US" sz="14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bl>
          </a:graphicData>
        </a:graphic>
      </p:graphicFrame>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1906993883"/>
              </p:ext>
            </p:extLst>
          </p:nvPr>
        </p:nvGraphicFramePr>
        <p:xfrm>
          <a:off x="1752600" y="1371599"/>
          <a:ext cx="8763000" cy="3733801"/>
        </p:xfrm>
        <a:graphic>
          <a:graphicData uri="http://schemas.openxmlformats.org/drawingml/2006/table">
            <a:tbl>
              <a:tblPr firstRow="1" firstCol="1" bandRow="1"/>
              <a:tblGrid>
                <a:gridCol w="538080">
                  <a:extLst>
                    <a:ext uri="{9D8B030D-6E8A-4147-A177-3AD203B41FA5}">
                      <a16:colId xmlns:a16="http://schemas.microsoft.com/office/drawing/2014/main" val="1531600724"/>
                    </a:ext>
                  </a:extLst>
                </a:gridCol>
                <a:gridCol w="936648">
                  <a:extLst>
                    <a:ext uri="{9D8B030D-6E8A-4147-A177-3AD203B41FA5}">
                      <a16:colId xmlns:a16="http://schemas.microsoft.com/office/drawing/2014/main" val="2778344331"/>
                    </a:ext>
                  </a:extLst>
                </a:gridCol>
                <a:gridCol w="944858">
                  <a:extLst>
                    <a:ext uri="{9D8B030D-6E8A-4147-A177-3AD203B41FA5}">
                      <a16:colId xmlns:a16="http://schemas.microsoft.com/office/drawing/2014/main" val="51065387"/>
                    </a:ext>
                  </a:extLst>
                </a:gridCol>
                <a:gridCol w="932996">
                  <a:extLst>
                    <a:ext uri="{9D8B030D-6E8A-4147-A177-3AD203B41FA5}">
                      <a16:colId xmlns:a16="http://schemas.microsoft.com/office/drawing/2014/main" val="783667054"/>
                    </a:ext>
                  </a:extLst>
                </a:gridCol>
                <a:gridCol w="798314">
                  <a:extLst>
                    <a:ext uri="{9D8B030D-6E8A-4147-A177-3AD203B41FA5}">
                      <a16:colId xmlns:a16="http://schemas.microsoft.com/office/drawing/2014/main" val="2213163783"/>
                    </a:ext>
                  </a:extLst>
                </a:gridCol>
                <a:gridCol w="1379998">
                  <a:extLst>
                    <a:ext uri="{9D8B030D-6E8A-4147-A177-3AD203B41FA5}">
                      <a16:colId xmlns:a16="http://schemas.microsoft.com/office/drawing/2014/main" val="3043656086"/>
                    </a:ext>
                  </a:extLst>
                </a:gridCol>
                <a:gridCol w="1420631">
                  <a:extLst>
                    <a:ext uri="{9D8B030D-6E8A-4147-A177-3AD203B41FA5}">
                      <a16:colId xmlns:a16="http://schemas.microsoft.com/office/drawing/2014/main" val="2131793250"/>
                    </a:ext>
                  </a:extLst>
                </a:gridCol>
                <a:gridCol w="1811475">
                  <a:extLst>
                    <a:ext uri="{9D8B030D-6E8A-4147-A177-3AD203B41FA5}">
                      <a16:colId xmlns:a16="http://schemas.microsoft.com/office/drawing/2014/main" val="1805902935"/>
                    </a:ext>
                  </a:extLst>
                </a:gridCol>
              </a:tblGrid>
              <a:tr h="97768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ĐC lắp trên 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Lịch sửa chữa ĐC </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29/04/2025(đã hoàn thành)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V15894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16/10/2028</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48717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V11752</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05/03/2025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377786"/>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V11694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48717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V16049</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051290"/>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V16563</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07/11/2025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r h="77286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V11696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20/10/2025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814873"/>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840121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70226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31</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52400" y="592815"/>
            <a:ext cx="2133600" cy="5693866"/>
          </a:xfrm>
          <a:prstGeom prst="rect">
            <a:avLst/>
          </a:prstGeom>
          <a:noFill/>
          <a:ln>
            <a:solidFill>
              <a:schemeClr val="accent1"/>
            </a:solidFill>
          </a:ln>
        </p:spPr>
        <p:txBody>
          <a:bodyPr wrap="square" rtlCol="0">
            <a:spAutoFit/>
          </a:bodyPr>
          <a:lstStyle/>
          <a:p>
            <a:r>
              <a:rPr lang="en-US" sz="1300" b="1">
                <a:latin typeface="Times New Roman" panose="02020603050405020304" pitchFamily="18" charset="0"/>
                <a:cs typeface="Times New Roman" panose="02020603050405020304" pitchFamily="18" charset="0"/>
              </a:rPr>
              <a:t>Rủi </a:t>
            </a:r>
            <a:r>
              <a:rPr lang="en-US" sz="1300" b="1" dirty="0" err="1">
                <a:latin typeface="Times New Roman" panose="02020603050405020304" pitchFamily="18" charset="0"/>
                <a:cs typeface="Times New Roman" panose="02020603050405020304" pitchFamily="18" charset="0"/>
              </a:rPr>
              <a:t>ro</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nhận</a:t>
            </a:r>
            <a:r>
              <a:rPr lang="en-US" sz="1300" b="1" dirty="0">
                <a:latin typeface="Times New Roman" panose="02020603050405020304" pitchFamily="18" charset="0"/>
                <a:cs typeface="Times New Roman" panose="02020603050405020304" pitchFamily="18" charset="0"/>
              </a:rPr>
              <a:t> </a:t>
            </a:r>
            <a:r>
              <a:rPr lang="en-US" sz="1300" b="1" err="1">
                <a:latin typeface="Times New Roman" panose="02020603050405020304" pitchFamily="18" charset="0"/>
                <a:cs typeface="Times New Roman" panose="02020603050405020304" pitchFamily="18" charset="0"/>
              </a:rPr>
              <a:t>diện</a:t>
            </a:r>
            <a:r>
              <a:rPr lang="en-US" sz="130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A321CEO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kiến</a:t>
            </a:r>
            <a:r>
              <a:rPr lang="en-US" sz="1300" dirty="0">
                <a:solidFill>
                  <a:prstClr val="black"/>
                </a:solidFill>
                <a:latin typeface="Times New Roman" panose="02020603050405020304" pitchFamily="18" charset="0"/>
                <a:cs typeface="Times New Roman" panose="02020603050405020304" pitchFamily="18" charset="0"/>
              </a:rPr>
              <a:t> Q3-Q4/2025 </a:t>
            </a:r>
            <a:r>
              <a:rPr lang="en-US" sz="1300" dirty="0" err="1">
                <a:solidFill>
                  <a:prstClr val="black"/>
                </a:solidFill>
                <a:latin typeface="Times New Roman" panose="02020603050405020304" pitchFamily="18" charset="0"/>
                <a:cs typeface="Times New Roman" panose="02020603050405020304" pitchFamily="18" charset="0"/>
              </a:rPr>
              <a:t>trả</a:t>
            </a:r>
            <a:r>
              <a:rPr lang="en-US" sz="1300" dirty="0">
                <a:solidFill>
                  <a:prstClr val="black"/>
                </a:solidFill>
                <a:latin typeface="Times New Roman" panose="02020603050405020304" pitchFamily="18" charset="0"/>
                <a:cs typeface="Times New Roman" panose="02020603050405020304" pitchFamily="18" charset="0"/>
              </a:rPr>
              <a:t>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thuê</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duy</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trì</a:t>
            </a:r>
            <a:r>
              <a:rPr lang="en-US" sz="1300" dirty="0">
                <a:solidFill>
                  <a:prstClr val="black"/>
                </a:solidFill>
                <a:latin typeface="Times New Roman" panose="02020603050405020304" pitchFamily="18" charset="0"/>
                <a:cs typeface="Times New Roman" panose="02020603050405020304" pitchFamily="18" charset="0"/>
              </a:rPr>
              <a:t> 9-10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phòng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trong</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2026.</a:t>
            </a:r>
          </a:p>
          <a:p>
            <a:pPr defTabSz="914377">
              <a:defRPr/>
            </a:pPr>
            <a:endParaRPr lang="en-US" sz="1300" dirty="0">
              <a:solidFill>
                <a:prstClr val="black"/>
              </a:solidFill>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A321NEO </a:t>
            </a:r>
            <a:r>
              <a:rPr lang="en-US" sz="1300" dirty="0">
                <a:latin typeface="Times New Roman" panose="02020603050405020304" pitchFamily="18" charset="0"/>
                <a:cs typeface="Times New Roman" panose="02020603050405020304" pitchFamily="18" charset="0"/>
              </a:rPr>
              <a:t>: </a:t>
            </a:r>
            <a:r>
              <a:rPr lang="vi-VN" sz="1300" dirty="0">
                <a:solidFill>
                  <a:prstClr val="black"/>
                </a:solidFill>
                <a:cs typeface="Times New Roman" panose="02020603050405020304" pitchFamily="18" charset="0"/>
              </a:rPr>
              <a:t>Rủi ro động cơ đi shop về muộn (thực tế đã bị shop delay nhiều lần) và rủi ro tháo động cơ </a:t>
            </a:r>
            <a:r>
              <a:rPr lang="vi-VN" sz="1300" dirty="0">
                <a:cs typeface="Times New Roman" panose="02020603050405020304" pitchFamily="18" charset="0"/>
              </a:rPr>
              <a:t>ngoài KH do Vibration, Oil </a:t>
            </a:r>
            <a:r>
              <a:rPr lang="vi-VN" sz="1300">
                <a:cs typeface="Times New Roman" panose="02020603050405020304" pitchFamily="18" charset="0"/>
              </a:rPr>
              <a:t>Leak…</a:t>
            </a:r>
            <a:endParaRPr lang="en-US" sz="1300">
              <a:cs typeface="Times New Roman" panose="02020603050405020304" pitchFamily="18" charset="0"/>
            </a:endParaRPr>
          </a:p>
          <a:p>
            <a:pPr defTabSz="914377">
              <a:defRPr/>
            </a:pPr>
            <a:endParaRPr lang="en-US" sz="1300" dirty="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B787 </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tế</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phải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bổ</a:t>
            </a:r>
            <a:r>
              <a:rPr lang="en-US" sz="1300" dirty="0">
                <a:latin typeface="Times New Roman" panose="02020603050405020304" pitchFamily="18" charset="0"/>
                <a:cs typeface="Times New Roman" panose="02020603050405020304" pitchFamily="18" charset="0"/>
              </a:rPr>
              <a:t> sung 01 ĐC </a:t>
            </a:r>
            <a:r>
              <a:rPr lang="en-US" sz="1300" dirty="0" err="1">
                <a:latin typeface="Times New Roman" panose="02020603050405020304" pitchFamily="18" charset="0"/>
                <a:cs typeface="Times New Roman" panose="02020603050405020304" pitchFamily="18" charset="0"/>
              </a:rPr>
              <a:t>vào</a:t>
            </a:r>
            <a:r>
              <a:rPr lang="en-US" sz="1300" dirty="0">
                <a:latin typeface="Times New Roman" panose="02020603050405020304" pitchFamily="18" charset="0"/>
                <a:cs typeface="Times New Roman" panose="02020603050405020304" pitchFamily="18" charset="0"/>
              </a:rPr>
              <a:t> T4/2025 </a:t>
            </a:r>
            <a:r>
              <a:rPr lang="en-US" sz="1300" dirty="0" err="1">
                <a:latin typeface="Times New Roman" panose="02020603050405020304" pitchFamily="18" charset="0"/>
                <a:cs typeface="Times New Roman" panose="02020603050405020304" pitchFamily="18" charset="0"/>
              </a:rPr>
              <a:t>để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thác</a:t>
            </a:r>
            <a:r>
              <a:rPr lang="en-US" sz="1300" dirty="0">
                <a:latin typeface="Times New Roman" panose="02020603050405020304" pitchFamily="18" charset="0"/>
                <a:cs typeface="Times New Roman" panose="02020603050405020304" pitchFamily="18" charset="0"/>
              </a:rPr>
              <a:t> A868.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ĐCDP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10 (ĐC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06)</a:t>
            </a:r>
          </a:p>
          <a:p>
            <a:endParaRPr lang="en-US" sz="1300" dirty="0">
              <a:latin typeface="Times New Roman" panose="02020603050405020304" pitchFamily="18" charset="0"/>
              <a:cs typeface="Times New Roman" panose="02020603050405020304" pitchFamily="18" charset="0"/>
            </a:endParaRPr>
          </a:p>
          <a:p>
            <a:pPr marL="0" lvl="1"/>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A350: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về</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muộn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do RR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xuyên</a:t>
            </a:r>
            <a:r>
              <a:rPr lang="en-US" sz="1300" dirty="0">
                <a:solidFill>
                  <a:prstClr val="black"/>
                </a:solidFill>
                <a:latin typeface="Times New Roman" panose="02020603050405020304" pitchFamily="18" charset="0"/>
                <a:cs typeface="Times New Roman" panose="02020603050405020304" pitchFamily="18" charset="0"/>
              </a:rPr>
              <a:t> extend TAT) </a:t>
            </a:r>
            <a:r>
              <a:rPr lang="en-US" sz="1300" dirty="0" err="1">
                <a:solidFill>
                  <a:prstClr val="black"/>
                </a:solidFill>
                <a:latin typeface="Times New Roman" panose="02020603050405020304" pitchFamily="18" charset="0"/>
                <a:cs typeface="Times New Roman" panose="02020603050405020304" pitchFamily="18" charset="0"/>
              </a:rPr>
              <a:t>tháo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c</a:t>
            </a:r>
            <a:r>
              <a:rPr lang="vi-VN" sz="1300" dirty="0">
                <a:solidFill>
                  <a:prstClr val="black"/>
                </a:solidFill>
                <a:cs typeface="Times New Roman" panose="02020603050405020304" pitchFamily="18" charset="0"/>
              </a:rPr>
              <a:t>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ngoài</a:t>
            </a:r>
            <a:r>
              <a:rPr lang="en-US" sz="1300" dirty="0">
                <a:solidFill>
                  <a:prstClr val="black"/>
                </a:solidFill>
                <a:latin typeface="Times New Roman" panose="02020603050405020304" pitchFamily="18" charset="0"/>
                <a:cs typeface="Times New Roman" panose="02020603050405020304" pitchFamily="18" charset="0"/>
              </a:rPr>
              <a:t> KH do High oil consumption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A893), HPT Blade (2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100FC), IPC Blade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soi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2025)/ </a:t>
            </a:r>
            <a:endParaRPr lang="en-US" sz="13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9867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32</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SGN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22/06/2025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12/10/2025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09-11/05/2025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27-31/05/2025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648756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6760941"/>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4003079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33</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6"/>
          <a:ext cx="5855025" cy="348855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92537"/>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Hiện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có</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phòng</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rgbClr val="388600"/>
                </a:solidFill>
                <a:cs typeface="Times New Roman" panose="02020603050405020304" pitchFamily="18" charset="0"/>
              </a:rPr>
              <a:t>Remove in </a:t>
            </a:r>
            <a:r>
              <a:rPr lang="en-US" sz="1467" dirty="0">
                <a:solidFill>
                  <a:srgbClr val="388600"/>
                </a:solidFill>
                <a:latin typeface="Times New Roman" panose="02020603050405020304" pitchFamily="18" charset="0"/>
                <a:cs typeface="Times New Roman" panose="02020603050405020304" pitchFamily="18" charset="0"/>
              </a:rPr>
              <a:t>25</a:t>
            </a:r>
            <a:r>
              <a:rPr lang="vi-VN" sz="1467" dirty="0">
                <a:solidFill>
                  <a:srgbClr val="388600"/>
                </a:solidFill>
                <a:cs typeface="Times New Roman" panose="02020603050405020304" pitchFamily="18" charset="0"/>
              </a:rPr>
              <a:t> cyc</a:t>
            </a:r>
            <a:r>
              <a:rPr lang="en-US" sz="1467" dirty="0">
                <a:solidFill>
                  <a:srgbClr val="388600"/>
                </a:solidFill>
                <a:latin typeface="Times New Roman" panose="02020603050405020304" pitchFamily="18" charset="0"/>
                <a:cs typeface="Times New Roman" panose="02020603050405020304" pitchFamily="18" charset="0"/>
              </a:rPr>
              <a:t>: </a:t>
            </a:r>
            <a:r>
              <a:rPr lang="vi-VN" sz="1467" dirty="0">
                <a:solidFill>
                  <a:srgbClr val="388600"/>
                </a:solidFill>
                <a:cs typeface="Times New Roman" panose="02020603050405020304" pitchFamily="18" charset="0"/>
              </a:rPr>
              <a:t>956913 (A871)</a:t>
            </a:r>
            <a:r>
              <a:rPr lang="en-US" sz="1467" dirty="0">
                <a:solidFill>
                  <a:srgbClr val="388600"/>
                </a:solidFill>
                <a:latin typeface="Times New Roman" panose="02020603050405020304" pitchFamily="18" charset="0"/>
                <a:cs typeface="Times New Roman" panose="02020603050405020304" pitchFamily="18" charset="0"/>
              </a:rPr>
              <a:t>: KQ soi </a:t>
            </a:r>
            <a:r>
              <a:rPr lang="en-US" sz="1467" dirty="0" err="1">
                <a:solidFill>
                  <a:srgbClr val="388600"/>
                </a:solidFill>
                <a:latin typeface="Times New Roman" panose="02020603050405020304" pitchFamily="18" charset="0"/>
                <a:cs typeface="Times New Roman" panose="02020603050405020304" pitchFamily="18" charset="0"/>
              </a:rPr>
              <a:t>ngày</a:t>
            </a:r>
            <a:r>
              <a:rPr lang="en-US" sz="1467" dirty="0">
                <a:solidFill>
                  <a:srgbClr val="388600"/>
                </a:solidFill>
                <a:latin typeface="Times New Roman" panose="02020603050405020304" pitchFamily="18" charset="0"/>
                <a:cs typeface="Times New Roman" panose="02020603050405020304" pitchFamily="18" charset="0"/>
              </a:rPr>
              <a:t> 26/04 </a:t>
            </a:r>
            <a:r>
              <a:rPr lang="en-US" sz="1467" dirty="0" err="1">
                <a:solidFill>
                  <a:srgbClr val="388600"/>
                </a:solidFill>
                <a:latin typeface="Times New Roman" panose="02020603050405020304" pitchFamily="18" charset="0"/>
                <a:cs typeface="Times New Roman" panose="02020603050405020304" pitchFamily="18" charset="0"/>
              </a:rPr>
              <a:t>phải</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tháo</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trong</a:t>
            </a:r>
            <a:r>
              <a:rPr lang="en-US" sz="1467" dirty="0">
                <a:solidFill>
                  <a:srgbClr val="388600"/>
                </a:solidFill>
                <a:latin typeface="Times New Roman" panose="02020603050405020304" pitchFamily="18" charset="0"/>
                <a:cs typeface="Times New Roman" panose="02020603050405020304" pitchFamily="18" charset="0"/>
              </a:rPr>
              <a:t> 25 cycle, </a:t>
            </a:r>
            <a:r>
              <a:rPr lang="en-US" sz="1467" dirty="0" err="1">
                <a:solidFill>
                  <a:srgbClr val="388600"/>
                </a:solidFill>
                <a:latin typeface="Times New Roman" panose="02020603050405020304" pitchFamily="18" charset="0"/>
                <a:cs typeface="Times New Roman" panose="02020603050405020304" pitchFamily="18" charset="0"/>
              </a:rPr>
              <a:t>thay</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từ</a:t>
            </a:r>
            <a:r>
              <a:rPr lang="en-US" sz="1467" dirty="0">
                <a:solidFill>
                  <a:srgbClr val="388600"/>
                </a:solidFill>
                <a:latin typeface="Times New Roman" panose="02020603050405020304" pitchFamily="18" charset="0"/>
                <a:cs typeface="Times New Roman" panose="02020603050405020304" pitchFamily="18" charset="0"/>
              </a:rPr>
              <a:t> 07 - 11/05 </a:t>
            </a:r>
            <a:r>
              <a:rPr lang="en-US" sz="1467" dirty="0" err="1">
                <a:solidFill>
                  <a:srgbClr val="388600"/>
                </a:solidFill>
                <a:latin typeface="Times New Roman" panose="02020603050405020304" pitchFamily="18" charset="0"/>
                <a:cs typeface="Times New Roman" panose="02020603050405020304" pitchFamily="18" charset="0"/>
              </a:rPr>
              <a:t>sử</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dụng</a:t>
            </a:r>
            <a:r>
              <a:rPr lang="en-US" sz="1467" dirty="0">
                <a:solidFill>
                  <a:srgbClr val="388600"/>
                </a:solidFill>
                <a:latin typeface="Times New Roman" panose="02020603050405020304" pitchFamily="18" charset="0"/>
                <a:cs typeface="Times New Roman" panose="02020603050405020304" pitchFamily="18" charset="0"/>
              </a:rPr>
              <a:t> ĐCDP 956533; </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Repetitive inspection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958435: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03/05 </a:t>
            </a:r>
            <a:r>
              <a:rPr lang="en-US" sz="1467" dirty="0" err="1">
                <a:solidFill>
                  <a:schemeClr val="tx1"/>
                </a:solidFill>
                <a:latin typeface="Times New Roman" panose="02020603050405020304" pitchFamily="18" charset="0"/>
                <a:cs typeface="Times New Roman" panose="02020603050405020304" pitchFamily="18" charset="0"/>
              </a:rPr>
              <a:t>giảm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100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xuống</a:t>
            </a:r>
            <a:r>
              <a:rPr lang="en-US" sz="1467" dirty="0">
                <a:solidFill>
                  <a:schemeClr val="tx1"/>
                </a:solidFill>
                <a:latin typeface="Times New Roman" panose="02020603050405020304" pitchFamily="18" charset="0"/>
                <a:cs typeface="Times New Roman" panose="02020603050405020304" pitchFamily="18" charset="0"/>
              </a:rPr>
              <a:t>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DR.</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Remove in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or </a:t>
            </a:r>
            <a:r>
              <a:rPr lang="en-US" sz="1467" dirty="0" err="1">
                <a:solidFill>
                  <a:srgbClr val="ED0000"/>
                </a:solidFill>
                <a:latin typeface="Times New Roman" panose="02020603050405020304" pitchFamily="18" charset="0"/>
                <a:cs typeface="Times New Roman" panose="02020603050405020304" pitchFamily="18" charset="0"/>
              </a:rPr>
              <a:t>reinspect</a:t>
            </a:r>
            <a:r>
              <a:rPr lang="en-US" sz="1467" dirty="0">
                <a:solidFill>
                  <a:srgbClr val="ED0000"/>
                </a:solidFill>
                <a:latin typeface="Times New Roman" panose="02020603050405020304" pitchFamily="18" charset="0"/>
                <a:cs typeface="Times New Roman" panose="02020603050405020304" pitchFamily="18" charset="0"/>
              </a:rPr>
              <a:t>: </a:t>
            </a:r>
            <a:r>
              <a:rPr lang="vi-VN" sz="1467" dirty="0">
                <a:solidFill>
                  <a:schemeClr val="tx1"/>
                </a:solidFill>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vừa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lại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02/05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02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50 cycle A873 (958435)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A863 (958170); 01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100 cycle A862 (956600) </a:t>
            </a:r>
            <a:r>
              <a:rPr lang="en-US" sz="1467" dirty="0" err="1">
                <a:solidFill>
                  <a:schemeClr val="tx1"/>
                </a:solidFill>
                <a:latin typeface="Times New Roman" panose="02020603050405020304" pitchFamily="18" charset="0"/>
                <a:cs typeface="Times New Roman" panose="02020603050405020304" pitchFamily="18" charset="0"/>
              </a:rPr>
              <a:t>đều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6, 7. </a:t>
            </a:r>
          </a:p>
          <a:p>
            <a:pPr marL="838190" lvl="1" indent="-380990" defTabSz="1219170">
              <a:buFont typeface="Wingdings" panose="05000000000000000000" pitchFamily="2" charset="2"/>
              <a:buChar char="§"/>
              <a:defRPr/>
            </a:pPr>
            <a:endParaRPr lang="en-US" sz="1467" b="1"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159828" cy="3488557"/>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4303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11977">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25139">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412942">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24/04/2025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chemeClr val="tx1"/>
                          </a:solidFill>
                          <a:effectLst/>
                          <a:latin typeface="+mn-lt"/>
                          <a:ea typeface="+mn-ea"/>
                          <a:cs typeface="Times New Roman" panose="02020603050405020304" pitchFamily="18" charset="0"/>
                        </a:rPr>
                        <a:t>08/05/2025</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A871 (956913)</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10189">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10/06/2025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17/06/2025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A863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07/06/2025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14/06/2025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13/07/2025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20/07/2025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47915">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0394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1839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2895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700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34</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A321NEO</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206093" y="5218423"/>
          <a:ext cx="5765457" cy="1524000"/>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0">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A616</a:t>
                      </a: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đang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làm</a:t>
                      </a:r>
                      <a:r>
                        <a:rPr lang="en-US" sz="1200" dirty="0">
                          <a:latin typeface="Times New Roman" panose="02020603050405020304" pitchFamily="18" charset="0"/>
                          <a:cs typeface="Times New Roman" panose="02020603050405020304" pitchFamily="18" charset="0"/>
                        </a:rPr>
                        <a:t> RTS,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14 AOG</a:t>
                      </a: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A625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30/05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(P771077 &amp; P772905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A619 </a:t>
                      </a:r>
                      <a:r>
                        <a:rPr lang="en-US" sz="1200" dirty="0" err="1">
                          <a:latin typeface="Times New Roman" panose="02020603050405020304" pitchFamily="18" charset="0"/>
                          <a:cs typeface="Times New Roman" panose="02020603050405020304" pitchFamily="18" charset="0"/>
                        </a:rPr>
                        <a:t>giữ</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giờ</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13 AOG</a:t>
                      </a:r>
                    </a:p>
                  </a:txBody>
                  <a:tcPr marL="121920" marR="121920" marT="60960" marB="60960" anchor="ctr"/>
                </a:tc>
                <a:extLst>
                  <a:ext uri="{0D108BD9-81ED-4DB2-BD59-A6C34878D82A}">
                    <a16:rowId xmlns:a16="http://schemas.microsoft.com/office/drawing/2014/main" val="83465224"/>
                  </a:ext>
                </a:extLst>
              </a:tr>
              <a:tr h="0">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05/06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(P771391 &amp;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đầu</a:t>
                      </a:r>
                      <a:r>
                        <a:rPr lang="en-US" sz="1200" dirty="0">
                          <a:latin typeface="Times New Roman" panose="02020603050405020304" pitchFamily="18" charset="0"/>
                          <a:cs typeface="Times New Roman" panose="02020603050405020304" pitchFamily="18" charset="0"/>
                        </a:rPr>
                        <a:t> T6),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12 AOG</a:t>
                      </a: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07/07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(P771387 &amp; P771041),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14175" y="4835863"/>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3027304"/>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1.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RTS trong </a:t>
            </a:r>
            <a:r>
              <a:rPr lang="en-US" sz="1467" dirty="0" err="1">
                <a:solidFill>
                  <a:schemeClr val="tx1"/>
                </a:solidFill>
                <a:latin typeface="Times New Roman" panose="02020603050405020304" pitchFamily="18" charset="0"/>
                <a:cs typeface="Times New Roman" panose="02020603050405020304" pitchFamily="18" charset="0"/>
              </a:rPr>
              <a:t>giai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đoạn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điểm</a:t>
            </a:r>
            <a:r>
              <a:rPr lang="en-US" sz="1467">
                <a:solidFill>
                  <a:schemeClr val="tx1"/>
                </a:solidFill>
                <a:latin typeface="Times New Roman" panose="02020603050405020304" pitchFamily="18" charset="0"/>
                <a:cs typeface="Times New Roman" panose="02020603050405020304" pitchFamily="18" charset="0"/>
              </a:rPr>
              <a:t> (A625, A501, A508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thuộc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vào</a:t>
            </a:r>
            <a:r>
              <a:rPr lang="en-US" sz="1467" dirty="0">
                <a:solidFill>
                  <a:schemeClr val="tx1"/>
                </a:solidFill>
                <a:latin typeface="Times New Roman" panose="02020603050405020304" pitchFamily="18" charset="0"/>
                <a:cs typeface="Times New Roman" panose="02020603050405020304" pitchFamily="18" charset="0"/>
              </a:rPr>
              <a:t> 4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a:t>
            </a:r>
            <a:r>
              <a:rPr lang="en-US" sz="1467" dirty="0">
                <a:solidFill>
                  <a:schemeClr val="tx1"/>
                </a:solidFill>
                <a:latin typeface="Times New Roman" panose="02020603050405020304" pitchFamily="18" charset="0"/>
                <a:cs typeface="Times New Roman" panose="02020603050405020304" pitchFamily="18" charset="0"/>
              </a:rPr>
              <a:t> shop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(P771077, P771391, P771387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P771041),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ro</a:t>
            </a:r>
            <a:r>
              <a:rPr lang="en-US" sz="1467">
                <a:solidFill>
                  <a:schemeClr val="tx1"/>
                </a:solidFill>
                <a:latin typeface="Times New Roman" panose="02020603050405020304" pitchFamily="18" charset="0"/>
                <a:cs typeface="Times New Roman" panose="02020603050405020304" pitchFamily="18" charset="0"/>
              </a:rPr>
              <a:t> delay. </a:t>
            </a: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của</a:t>
            </a:r>
            <a:r>
              <a:rPr lang="en-US" sz="1467" dirty="0">
                <a:solidFill>
                  <a:schemeClr val="tx1"/>
                </a:solidFill>
                <a:latin typeface="Times New Roman" panose="02020603050405020304" pitchFamily="18" charset="0"/>
                <a:cs typeface="Times New Roman" panose="02020603050405020304" pitchFamily="18" charset="0"/>
              </a:rPr>
              <a:t> PW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muộn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cũng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ảnh</a:t>
            </a:r>
            <a:r>
              <a:rPr lang="en-US" sz="1467" dirty="0">
                <a:solidFill>
                  <a:schemeClr val="tx1"/>
                </a:solidFill>
                <a:latin typeface="Times New Roman" panose="02020603050405020304" pitchFamily="18" charset="0"/>
                <a:cs typeface="Times New Roman" panose="02020603050405020304" pitchFamily="18" charset="0"/>
              </a:rPr>
              <a:t> h</a:t>
            </a:r>
            <a:r>
              <a:rPr lang="vi-VN" sz="1467" dirty="0">
                <a:solidFill>
                  <a:schemeClr val="tx1"/>
                </a:solidFill>
                <a:latin typeface="Times New Roman" panose="02020603050405020304" pitchFamily="18" charset="0"/>
                <a:cs typeface="Times New Roman" panose="02020603050405020304" pitchFamily="18" charset="0"/>
              </a:rPr>
              <a:t>ư</a:t>
            </a:r>
            <a:r>
              <a:rPr lang="en-US" sz="1467" dirty="0" err="1">
                <a:solidFill>
                  <a:schemeClr val="tx1"/>
                </a:solidFill>
                <a:latin typeface="Times New Roman" panose="02020603050405020304" pitchFamily="18" charset="0"/>
                <a:cs typeface="Times New Roman" panose="02020603050405020304" pitchFamily="18" charset="0"/>
              </a:rPr>
              <a:t>ởng</a:t>
            </a:r>
            <a:r>
              <a:rPr lang="en-US" sz="1467" dirty="0">
                <a:solidFill>
                  <a:schemeClr val="tx1"/>
                </a:solidFill>
                <a:latin typeface="Times New Roman" panose="02020603050405020304" pitchFamily="18" charset="0"/>
                <a:cs typeface="Times New Roman" panose="02020603050405020304" pitchFamily="18" charset="0"/>
              </a:rPr>
              <a:t> RTS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A625</a:t>
            </a:r>
          </a:p>
          <a:p>
            <a:pPr algn="just" defTabSz="357188">
              <a:defRPr/>
            </a:pP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b="1" dirty="0">
                <a:solidFill>
                  <a:srgbClr val="FF0000"/>
                </a:solidFill>
                <a:latin typeface="Times New Roman" panose="02020603050405020304" pitchFamily="18" charset="0"/>
                <a:cs typeface="Times New Roman" panose="02020603050405020304" pitchFamily="18" charset="0"/>
              </a:rPr>
              <a:t>2.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a:t>
            </a: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(A619#2 P772905 675FH/337FC);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Oil leak #3DFS (all fleet);</a:t>
            </a:r>
          </a:p>
          <a:p>
            <a:pPr marL="342900" indent="-342900" algn="just" defTabSz="1219170">
              <a:buFont typeface="+mj-lt"/>
              <a:buAutoNum type="arabicPeriod"/>
              <a:defRPr/>
            </a:pPr>
            <a:endParaRPr lang="en-US" sz="1467" b="1" dirty="0">
              <a:solidFill>
                <a:schemeClr val="tx1"/>
              </a:solidFill>
              <a:latin typeface="Times New Roman" panose="02020603050405020304" pitchFamily="18" charset="0"/>
              <a:cs typeface="Times New Roman" panose="02020603050405020304" pitchFamily="18" charset="0"/>
            </a:endParaRPr>
          </a:p>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3.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P771710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lắp</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lên</a:t>
            </a:r>
            <a:r>
              <a:rPr lang="en-US" sz="1467" dirty="0">
                <a:solidFill>
                  <a:schemeClr val="tx1"/>
                </a:solidFill>
                <a:latin typeface="Times New Roman" panose="02020603050405020304" pitchFamily="18" charset="0"/>
                <a:cs typeface="Times New Roman" panose="02020603050405020304" pitchFamily="18" charset="0"/>
              </a:rPr>
              <a:t> A621 </a:t>
            </a:r>
            <a:r>
              <a:rPr lang="en-US" sz="1467" dirty="0" err="1">
                <a:solidFill>
                  <a:schemeClr val="tx1"/>
                </a:solidFill>
                <a:latin typeface="Times New Roman" panose="02020603050405020304" pitchFamily="18" charset="0"/>
                <a:cs typeface="Times New Roman" panose="02020603050405020304" pitchFamily="18" charset="0"/>
              </a:rPr>
              <a:t>sớm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ngoài</a:t>
            </a:r>
            <a:r>
              <a:rPr lang="en-US" sz="1467" dirty="0">
                <a:solidFill>
                  <a:schemeClr val="tx1"/>
                </a:solidFill>
                <a:latin typeface="Times New Roman" panose="02020603050405020304" pitchFamily="18" charset="0"/>
                <a:cs typeface="Times New Roman" panose="02020603050405020304" pitchFamily="18" charset="0"/>
              </a:rPr>
              <a:t> KH) do </a:t>
            </a:r>
            <a:r>
              <a:rPr lang="en-US" sz="1467" dirty="0" err="1">
                <a:solidFill>
                  <a:schemeClr val="tx1"/>
                </a:solidFill>
                <a:latin typeface="Times New Roman" panose="02020603050405020304" pitchFamily="18" charset="0"/>
                <a:cs typeface="Times New Roman" panose="02020603050405020304" pitchFamily="18" charset="0"/>
              </a:rPr>
              <a:t>vậy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P772905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giờ</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đủ</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thời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gian</a:t>
            </a:r>
            <a:r>
              <a:rPr lang="en-US" sz="1467" dirty="0">
                <a:solidFill>
                  <a:schemeClr val="tx1"/>
                </a:solidFill>
                <a:latin typeface="Times New Roman" panose="02020603050405020304" pitchFamily="18" charset="0"/>
                <a:cs typeface="Times New Roman" panose="02020603050405020304" pitchFamily="18" charset="0"/>
              </a:rPr>
              <a:t> 20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73504" y="698803"/>
          <a:ext cx="5787655" cy="4123833"/>
        </p:xfrm>
        <a:graphic>
          <a:graphicData uri="http://schemas.openxmlformats.org/drawingml/2006/table">
            <a:tbl>
              <a:tblPr firstRow="1" bandRow="1"/>
              <a:tblGrid>
                <a:gridCol w="777205">
                  <a:extLst>
                    <a:ext uri="{9D8B030D-6E8A-4147-A177-3AD203B41FA5}">
                      <a16:colId xmlns:a16="http://schemas.microsoft.com/office/drawing/2014/main" val="3123040184"/>
                    </a:ext>
                  </a:extLst>
                </a:gridCol>
                <a:gridCol w="872790">
                  <a:extLst>
                    <a:ext uri="{9D8B030D-6E8A-4147-A177-3AD203B41FA5}">
                      <a16:colId xmlns:a16="http://schemas.microsoft.com/office/drawing/2014/main" val="2204338324"/>
                    </a:ext>
                  </a:extLst>
                </a:gridCol>
                <a:gridCol w="941900">
                  <a:extLst>
                    <a:ext uri="{9D8B030D-6E8A-4147-A177-3AD203B41FA5}">
                      <a16:colId xmlns:a16="http://schemas.microsoft.com/office/drawing/2014/main" val="1128924154"/>
                    </a:ext>
                  </a:extLst>
                </a:gridCol>
                <a:gridCol w="914400">
                  <a:extLst>
                    <a:ext uri="{9D8B030D-6E8A-4147-A177-3AD203B41FA5}">
                      <a16:colId xmlns:a16="http://schemas.microsoft.com/office/drawing/2014/main" val="2627377997"/>
                    </a:ext>
                  </a:extLst>
                </a:gridCol>
                <a:gridCol w="2281360">
                  <a:extLst>
                    <a:ext uri="{9D8B030D-6E8A-4147-A177-3AD203B41FA5}">
                      <a16:colId xmlns:a16="http://schemas.microsoft.com/office/drawing/2014/main" val="1687818387"/>
                    </a:ext>
                  </a:extLst>
                </a:gridCol>
              </a:tblGrid>
              <a:tr h="255213">
                <a:tc>
                  <a:txBody>
                    <a:bodyPr/>
                    <a:lstStyle/>
                    <a:p>
                      <a:pPr algn="l" rtl="0" fontAlgn="ctr"/>
                      <a:r>
                        <a:rPr lang="vi-VN" sz="1100" b="1" i="0" u="none" strike="noStrike">
                          <a:solidFill>
                            <a:srgbClr val="FFFFFF"/>
                          </a:solidFill>
                          <a:effectLst/>
                          <a:latin typeface="Times New Roman" panose="02020603050405020304" pitchFamily="18" charset="0"/>
                        </a:rPr>
                        <a:t>Động cơ</a:t>
                      </a:r>
                    </a:p>
                  </a:txBody>
                  <a:tcPr marL="47527"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GB" sz="1100" b="1" i="0" u="none" strike="noStrike">
                          <a:solidFill>
                            <a:srgbClr val="FFFFFF"/>
                          </a:solidFill>
                          <a:effectLst/>
                          <a:latin typeface="Times New Roman" panose="02020603050405020304" pitchFamily="18" charset="0"/>
                        </a:rPr>
                        <a:t>Induction</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GB" sz="1100" b="1" i="0" u="none" strike="noStrike">
                          <a:solidFill>
                            <a:srgbClr val="FFFFFF"/>
                          </a:solidFill>
                          <a:effectLst/>
                          <a:latin typeface="Times New Roman" panose="02020603050405020304" pitchFamily="18" charset="0"/>
                        </a:rPr>
                        <a:t>Dự kiến về</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GB" sz="1100" b="1" i="0" u="none" strike="noStrike">
                          <a:solidFill>
                            <a:srgbClr val="FFFFFF"/>
                          </a:solidFill>
                          <a:effectLst/>
                          <a:latin typeface="Times New Roman" panose="02020603050405020304" pitchFamily="18" charset="0"/>
                        </a:rPr>
                        <a:t>KH Sử dụng</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GB" sz="1100" b="1" i="0" u="none" strike="noStrike">
                          <a:solidFill>
                            <a:srgbClr val="FFFFFF"/>
                          </a:solidFill>
                          <a:effectLst/>
                          <a:latin typeface="Times New Roman" panose="02020603050405020304" pitchFamily="18" charset="0"/>
                        </a:rPr>
                        <a:t>Remark</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673130687"/>
                  </a:ext>
                </a:extLst>
              </a:tr>
              <a:tr h="261667">
                <a:tc>
                  <a:txBody>
                    <a:bodyPr/>
                    <a:lstStyle/>
                    <a:p>
                      <a:pPr algn="ctr" rtl="0" fontAlgn="ctr"/>
                      <a:r>
                        <a:rPr lang="en-GB" sz="1100" b="0" i="0" u="none" strike="noStrike">
                          <a:solidFill>
                            <a:srgbClr val="000000"/>
                          </a:solidFill>
                          <a:effectLst/>
                          <a:latin typeface="Times New Roman" panose="02020603050405020304" pitchFamily="18" charset="0"/>
                        </a:rPr>
                        <a:t>P770904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a:solidFill>
                            <a:srgbClr val="000000"/>
                          </a:solidFill>
                          <a:effectLst/>
                          <a:latin typeface="Times New Roman" panose="02020603050405020304" pitchFamily="18" charset="0"/>
                        </a:rPr>
                        <a:t>22/04/2024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28/04/2025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RTS A616</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a:solidFill>
                            <a:schemeClr val="tx1"/>
                          </a:solidFill>
                          <a:effectLst/>
                          <a:latin typeface="Times New Roman" panose="02020603050405020304" pitchFamily="18" charset="0"/>
                        </a:rPr>
                        <a:t>RTS A616 07/5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310140327"/>
                  </a:ext>
                </a:extLst>
              </a:tr>
              <a:tr h="258476">
                <a:tc>
                  <a:txBody>
                    <a:bodyPr/>
                    <a:lstStyle/>
                    <a:p>
                      <a:pPr algn="ctr" rtl="0" fontAlgn="ctr"/>
                      <a:r>
                        <a:rPr lang="en-GB" sz="1100" b="0" i="0" u="none" strike="noStrike">
                          <a:solidFill>
                            <a:srgbClr val="000000"/>
                          </a:solidFill>
                          <a:effectLst/>
                          <a:latin typeface="Times New Roman" panose="02020603050405020304" pitchFamily="18" charset="0"/>
                        </a:rPr>
                        <a:t>P771130</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25/09/2024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30/04/2025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RTS A616</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a:solidFill>
                            <a:schemeClr val="tx1"/>
                          </a:solidFill>
                          <a:effectLst/>
                          <a:latin typeface="Times New Roman" panose="02020603050405020304" pitchFamily="18" charset="0"/>
                        </a:rPr>
                        <a:t>RTS A616 07/5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841073878"/>
                  </a:ext>
                </a:extLst>
              </a:tr>
              <a:tr h="258476">
                <a:tc>
                  <a:txBody>
                    <a:bodyPr/>
                    <a:lstStyle/>
                    <a:p>
                      <a:pPr algn="ctr" rtl="0" fontAlgn="ctr"/>
                      <a:r>
                        <a:rPr lang="en-GB" sz="1100" b="0" i="0" u="none" strike="noStrike" dirty="0">
                          <a:solidFill>
                            <a:srgbClr val="000000"/>
                          </a:solidFill>
                          <a:effectLst/>
                          <a:latin typeface="Times New Roman" panose="02020603050405020304" pitchFamily="18" charset="0"/>
                        </a:rPr>
                        <a:t>P770903</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18/07/2024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12/05/2025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000000"/>
                          </a:solidFill>
                          <a:effectLst/>
                          <a:latin typeface="Times New Roman" panose="02020603050405020304" pitchFamily="18" charset="0"/>
                        </a:rPr>
                        <a:t>A619#2 </a:t>
                      </a:r>
                      <a:r>
                        <a:rPr lang="en-GB" sz="1100" b="0" i="0" u="none" strike="noStrike" dirty="0" err="1">
                          <a:solidFill>
                            <a:srgbClr val="000000"/>
                          </a:solidFill>
                          <a:effectLst/>
                          <a:latin typeface="Times New Roman" panose="02020603050405020304" pitchFamily="18" charset="0"/>
                        </a:rPr>
                        <a:t>gi</a:t>
                      </a:r>
                      <a:r>
                        <a:rPr lang="en-US" sz="1100" b="0" i="0" u="none" strike="noStrike" dirty="0">
                          <a:solidFill>
                            <a:srgbClr val="000000"/>
                          </a:solidFill>
                          <a:effectLst/>
                          <a:latin typeface="Times New Roman" panose="02020603050405020304" pitchFamily="18" charset="0"/>
                        </a:rPr>
                        <a:t>ữ </a:t>
                      </a:r>
                      <a:r>
                        <a:rPr lang="en-US" sz="1100" b="0" i="0" u="none" strike="noStrike" dirty="0" err="1">
                          <a:solidFill>
                            <a:srgbClr val="000000"/>
                          </a:solidFill>
                          <a:effectLst/>
                          <a:latin typeface="Times New Roman" panose="02020603050405020304" pitchFamily="18" charset="0"/>
                        </a:rPr>
                        <a:t>giờ</a:t>
                      </a:r>
                      <a:endParaRPr lang="en-GB" sz="1100" b="0" i="0" u="none" strike="noStrike" dirty="0">
                        <a:solidFill>
                          <a:srgbClr val="00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err="1">
                          <a:solidFill>
                            <a:srgbClr val="000000"/>
                          </a:solidFill>
                          <a:effectLst/>
                          <a:latin typeface="Times New Roman" panose="02020603050405020304" pitchFamily="18" charset="0"/>
                        </a:rPr>
                        <a:t>Giữ</a:t>
                      </a:r>
                      <a:r>
                        <a:rPr lang="en-GB" sz="1100" b="0" i="0" u="none" strike="noStrike" dirty="0">
                          <a:solidFill>
                            <a:srgbClr val="000000"/>
                          </a:solidFill>
                          <a:effectLst/>
                          <a:latin typeface="Times New Roman" panose="02020603050405020304" pitchFamily="18" charset="0"/>
                        </a:rPr>
                        <a:t> </a:t>
                      </a:r>
                      <a:r>
                        <a:rPr lang="en-GB" sz="1100" b="0" i="0" u="none" strike="noStrike" dirty="0" err="1">
                          <a:solidFill>
                            <a:srgbClr val="000000"/>
                          </a:solidFill>
                          <a:effectLst/>
                          <a:latin typeface="Times New Roman" panose="02020603050405020304" pitchFamily="18" charset="0"/>
                        </a:rPr>
                        <a:t>giờ</a:t>
                      </a:r>
                      <a:r>
                        <a:rPr lang="en-GB" sz="1100" b="0" i="0" u="none" strike="noStrike" dirty="0">
                          <a:solidFill>
                            <a:srgbClr val="000000"/>
                          </a:solidFill>
                          <a:effectLst/>
                          <a:latin typeface="Times New Roman" panose="02020603050405020304" pitchFamily="18" charset="0"/>
                        </a:rPr>
                        <a:t> bay </a:t>
                      </a:r>
                      <a:r>
                        <a:rPr lang="en-GB" sz="1100" b="0" i="0" u="none" strike="noStrike" dirty="0" err="1">
                          <a:solidFill>
                            <a:srgbClr val="000000"/>
                          </a:solidFill>
                          <a:effectLst/>
                          <a:latin typeface="Times New Roman" panose="02020603050405020304" pitchFamily="18" charset="0"/>
                        </a:rPr>
                        <a:t>cao</a:t>
                      </a:r>
                      <a:r>
                        <a:rPr lang="en-GB" sz="1100" b="0" i="0" u="none" strike="noStrike" dirty="0">
                          <a:solidFill>
                            <a:srgbClr val="000000"/>
                          </a:solidFill>
                          <a:effectLst/>
                          <a:latin typeface="Times New Roman" panose="02020603050405020304" pitchFamily="18" charset="0"/>
                        </a:rPr>
                        <a:t> </a:t>
                      </a:r>
                      <a:r>
                        <a:rPr lang="en-GB" sz="1100" b="0" i="0" u="none" strike="noStrike" dirty="0" err="1">
                          <a:solidFill>
                            <a:srgbClr val="000000"/>
                          </a:solidFill>
                          <a:effectLst/>
                          <a:latin typeface="Times New Roman" panose="02020603050405020304" pitchFamily="18" charset="0"/>
                        </a:rPr>
                        <a:t>điểm</a:t>
                      </a:r>
                      <a:r>
                        <a:rPr lang="en-GB" sz="1100" b="0" i="0" u="none" strike="noStrike" dirty="0">
                          <a:solidFill>
                            <a:srgbClr val="000000"/>
                          </a:solidFill>
                          <a:effectLst/>
                          <a:latin typeface="Times New Roman" panose="02020603050405020304" pitchFamily="18" charset="0"/>
                        </a:rPr>
                        <a:t> </a:t>
                      </a:r>
                      <a:r>
                        <a:rPr lang="en-GB" sz="1100" b="0" i="0" u="none" strike="noStrike" dirty="0" err="1">
                          <a:solidFill>
                            <a:srgbClr val="000000"/>
                          </a:solidFill>
                          <a:effectLst/>
                          <a:latin typeface="Times New Roman" panose="02020603050405020304" pitchFamily="18" charset="0"/>
                        </a:rPr>
                        <a:t>hè</a:t>
                      </a:r>
                      <a:endParaRPr lang="en-GB" sz="1100" b="0" i="0" u="none" strike="noStrike" dirty="0">
                        <a:solidFill>
                          <a:srgbClr val="00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054869524"/>
                  </a:ext>
                </a:extLst>
              </a:tr>
              <a:tr h="258476">
                <a:tc>
                  <a:txBody>
                    <a:bodyPr/>
                    <a:lstStyle/>
                    <a:p>
                      <a:pPr algn="ctr" rtl="0" fontAlgn="ctr"/>
                      <a:r>
                        <a:rPr lang="en-GB" sz="1100" b="0" i="0" u="none" strike="noStrike" dirty="0">
                          <a:solidFill>
                            <a:srgbClr val="000000"/>
                          </a:solidFill>
                          <a:effectLst/>
                          <a:latin typeface="Times New Roman" panose="02020603050405020304" pitchFamily="18" charset="0"/>
                        </a:rPr>
                        <a:t>P771077</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24/10/2024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23/05/2025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a:solidFill>
                            <a:srgbClr val="000000"/>
                          </a:solidFill>
                          <a:effectLst/>
                          <a:latin typeface="Times New Roman" panose="02020603050405020304" pitchFamily="18" charset="0"/>
                        </a:rPr>
                        <a:t>RTS A625</a:t>
                      </a:r>
                      <a:endParaRPr lang="en-GB" sz="1100" b="0" i="0" u="none" strike="noStrike" dirty="0">
                        <a:solidFill>
                          <a:srgbClr val="00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dirty="0" err="1">
                          <a:solidFill>
                            <a:srgbClr val="000000"/>
                          </a:solidFill>
                          <a:effectLst/>
                          <a:latin typeface="Times New Roman" panose="02020603050405020304" pitchFamily="18" charset="0"/>
                        </a:rPr>
                        <a:t>Kết</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hợp</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với</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động</a:t>
                      </a:r>
                      <a:r>
                        <a:rPr lang="en-US" sz="1100" b="0" i="0" u="none" strike="noStrike" dirty="0">
                          <a:solidFill>
                            <a:srgbClr val="000000"/>
                          </a:solidFill>
                          <a:effectLst/>
                          <a:latin typeface="Times New Roman" panose="02020603050405020304" pitchFamily="18" charset="0"/>
                        </a:rPr>
                        <a:t> c</a:t>
                      </a:r>
                      <a:r>
                        <a:rPr lang="vi-VN" sz="1100" b="0" i="0" u="none" strike="noStrike" dirty="0">
                          <a:solidFill>
                            <a:srgbClr val="000000"/>
                          </a:solidFill>
                          <a:effectLst/>
                          <a:latin typeface="Times New Roman" panose="02020603050405020304" pitchFamily="18" charset="0"/>
                        </a:rPr>
                        <a:t>ơ</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tháo</a:t>
                      </a:r>
                      <a:r>
                        <a:rPr lang="en-US" sz="1100" b="0" i="0" u="none" strike="noStrike" dirty="0">
                          <a:solidFill>
                            <a:srgbClr val="000000"/>
                          </a:solidFill>
                          <a:effectLst/>
                          <a:latin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rPr>
                        <a:t> A619</a:t>
                      </a:r>
                      <a:endParaRPr lang="en-GB" sz="1100" b="0" i="0" u="none" strike="noStrike" dirty="0">
                        <a:solidFill>
                          <a:srgbClr val="00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943020117"/>
                  </a:ext>
                </a:extLst>
              </a:tr>
              <a:tr h="258476">
                <a:tc>
                  <a:txBody>
                    <a:bodyPr/>
                    <a:lstStyle/>
                    <a:p>
                      <a:pPr algn="ctr" rtl="0" fontAlgn="ctr"/>
                      <a:r>
                        <a:rPr lang="en-GB" sz="1100" b="0" i="0" u="none" strike="noStrike">
                          <a:solidFill>
                            <a:srgbClr val="000000"/>
                          </a:solidFill>
                          <a:effectLst/>
                          <a:latin typeface="Times New Roman" panose="02020603050405020304" pitchFamily="18" charset="0"/>
                        </a:rPr>
                        <a:t>P771391</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a:solidFill>
                            <a:srgbClr val="000000"/>
                          </a:solidFill>
                          <a:effectLst/>
                          <a:latin typeface="Times New Roman" panose="02020603050405020304" pitchFamily="18" charset="0"/>
                        </a:rPr>
                        <a:t>11/10/2024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30/05/2025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GB" sz="1100" b="0" i="0" u="none" strike="noStrike">
                          <a:solidFill>
                            <a:srgbClr val="000000"/>
                          </a:solidFill>
                          <a:effectLst/>
                          <a:latin typeface="Times New Roman" panose="02020603050405020304" pitchFamily="18" charset="0"/>
                        </a:rPr>
                        <a:t>RTS A501</a:t>
                      </a:r>
                      <a:endParaRPr lang="en-GB" sz="1100" b="0" i="0" u="none" strike="noStrike" dirty="0">
                        <a:solidFill>
                          <a:srgbClr val="00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dirty="0" err="1">
                          <a:solidFill>
                            <a:srgbClr val="FF0000"/>
                          </a:solidFill>
                          <a:effectLst/>
                          <a:latin typeface="Times New Roman" panose="02020603050405020304" pitchFamily="18" charset="0"/>
                        </a:rPr>
                        <a:t>Kết</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hợp</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với</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động</a:t>
                      </a:r>
                      <a:r>
                        <a:rPr lang="en-US" sz="1100" b="0" i="0" u="none" strike="noStrike" dirty="0">
                          <a:solidFill>
                            <a:srgbClr val="FF0000"/>
                          </a:solidFill>
                          <a:effectLst/>
                          <a:latin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thuê</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mới</a:t>
                      </a:r>
                      <a:r>
                        <a:rPr lang="en-US" sz="1100" b="0" i="0" u="none" strike="noStrike" dirty="0">
                          <a:solidFill>
                            <a:srgbClr val="FF0000"/>
                          </a:solidFill>
                          <a:effectLst/>
                          <a:latin typeface="Times New Roman" panose="02020603050405020304" pitchFamily="18" charset="0"/>
                        </a:rPr>
                        <a:t> PWEL</a:t>
                      </a:r>
                      <a:endParaRPr lang="vi-VN" sz="1100" b="0" i="0" u="none" strike="noStrike" dirty="0">
                        <a:solidFill>
                          <a:srgbClr val="FF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417907554"/>
                  </a:ext>
                </a:extLst>
              </a:tr>
              <a:tr h="367664">
                <a:tc>
                  <a:txBody>
                    <a:bodyPr/>
                    <a:lstStyle/>
                    <a:p>
                      <a:pPr algn="ctr" rtl="0" fontAlgn="ctr"/>
                      <a:r>
                        <a:rPr lang="en-GB" sz="1100" b="0" i="0" u="none" strike="noStrike">
                          <a:solidFill>
                            <a:srgbClr val="000000"/>
                          </a:solidFill>
                          <a:effectLst/>
                          <a:latin typeface="Times New Roman" panose="02020603050405020304" pitchFamily="18" charset="0"/>
                        </a:rPr>
                        <a:t>P771387</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a:solidFill>
                            <a:srgbClr val="000000"/>
                          </a:solidFill>
                          <a:effectLst/>
                          <a:latin typeface="Times New Roman" panose="02020603050405020304" pitchFamily="18" charset="0"/>
                        </a:rPr>
                        <a:t>05/11/2024</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dirty="0">
                          <a:solidFill>
                            <a:srgbClr val="FF0000"/>
                          </a:solidFill>
                          <a:effectLst/>
                          <a:latin typeface="Times New Roman" panose="02020603050405020304" pitchFamily="18" charset="0"/>
                        </a:rPr>
                        <a:t>23/06/2025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dirty="0">
                          <a:solidFill>
                            <a:srgbClr val="FF0000"/>
                          </a:solidFill>
                          <a:effectLst/>
                          <a:latin typeface="Times New Roman" panose="02020603050405020304" pitchFamily="18" charset="0"/>
                        </a:rPr>
                        <a:t>RTS A508</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a:solidFill>
                            <a:srgbClr val="FF0000"/>
                          </a:solidFill>
                          <a:effectLst/>
                          <a:latin typeface="Times New Roman" panose="02020603050405020304" pitchFamily="18" charset="0"/>
                        </a:rPr>
                        <a:t>Delay 25 </a:t>
                      </a:r>
                      <a:r>
                        <a:rPr lang="en-GB" sz="1100" b="0" i="0" u="none" strike="noStrike" dirty="0" err="1">
                          <a:solidFill>
                            <a:srgbClr val="FF0000"/>
                          </a:solidFill>
                          <a:effectLst/>
                          <a:latin typeface="Times New Roman" panose="02020603050405020304" pitchFamily="18" charset="0"/>
                        </a:rPr>
                        <a:t>ngày</a:t>
                      </a:r>
                      <a:r>
                        <a:rPr lang="en-GB" sz="1100" b="0" i="0" u="none" strike="noStrike" dirty="0">
                          <a:solidFill>
                            <a:srgbClr val="FF0000"/>
                          </a:solidFill>
                          <a:effectLst/>
                          <a:latin typeface="Times New Roman" panose="02020603050405020304" pitchFamily="18" charset="0"/>
                        </a:rPr>
                        <a:t>, KH </a:t>
                      </a:r>
                      <a:r>
                        <a:rPr lang="en-GB" sz="1100" b="0" i="0" u="none" strike="noStrike" err="1">
                          <a:solidFill>
                            <a:srgbClr val="FF0000"/>
                          </a:solidFill>
                          <a:effectLst/>
                          <a:latin typeface="Times New Roman" panose="02020603050405020304" pitchFamily="18" charset="0"/>
                        </a:rPr>
                        <a:t>Cũ</a:t>
                      </a:r>
                      <a:r>
                        <a:rPr lang="en-GB" sz="1100" b="0" i="0" u="none" strike="noStrike">
                          <a:solidFill>
                            <a:srgbClr val="FF0000"/>
                          </a:solidFill>
                          <a:effectLst/>
                          <a:latin typeface="Times New Roman" panose="02020603050405020304" pitchFamily="18" charset="0"/>
                        </a:rPr>
                        <a:t> 26/5 do thiếu PTVT: </a:t>
                      </a:r>
                      <a:r>
                        <a:rPr lang="en-US" sz="1100" b="0" i="0" u="none" strike="noStrike">
                          <a:solidFill>
                            <a:srgbClr val="FF0000"/>
                          </a:solidFill>
                          <a:effectLst/>
                          <a:latin typeface="Times New Roman" panose="02020603050405020304" pitchFamily="18" charset="0"/>
                        </a:rPr>
                        <a:t>IBR6, Manifold Assy...</a:t>
                      </a:r>
                      <a:endParaRPr lang="en-GB" sz="1100" b="0" i="0" u="none" strike="noStrike" dirty="0">
                        <a:solidFill>
                          <a:srgbClr val="FF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135326823"/>
                  </a:ext>
                </a:extLst>
              </a:tr>
              <a:tr h="1049815">
                <a:tc>
                  <a:txBody>
                    <a:bodyPr/>
                    <a:lstStyle/>
                    <a:p>
                      <a:pPr algn="ctr" rtl="0" fontAlgn="ctr"/>
                      <a:r>
                        <a:rPr lang="en-GB" sz="1100" b="0" i="0" u="none" strike="noStrike">
                          <a:solidFill>
                            <a:srgbClr val="000000"/>
                          </a:solidFill>
                          <a:effectLst/>
                          <a:latin typeface="Times New Roman" panose="02020603050405020304" pitchFamily="18" charset="0"/>
                        </a:rPr>
                        <a:t>P771041</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a:solidFill>
                            <a:srgbClr val="000000"/>
                          </a:solidFill>
                          <a:effectLst/>
                          <a:latin typeface="Times New Roman" panose="02020603050405020304" pitchFamily="18" charset="0"/>
                        </a:rPr>
                        <a:t>19/03/2025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a:solidFill>
                            <a:srgbClr val="FF0000"/>
                          </a:solidFill>
                          <a:effectLst/>
                          <a:latin typeface="Times New Roman" panose="02020603050405020304" pitchFamily="18" charset="0"/>
                        </a:rPr>
                        <a:t>07/07/2025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dirty="0">
                          <a:solidFill>
                            <a:srgbClr val="FF0000"/>
                          </a:solidFill>
                          <a:effectLst/>
                          <a:latin typeface="Times New Roman" panose="02020603050405020304" pitchFamily="18" charset="0"/>
                        </a:rPr>
                        <a:t>RTS A508</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algn="ctr" rtl="0" fontAlgn="ctr"/>
                      <a:r>
                        <a:rPr lang="en-GB" sz="1100" b="0" i="0" u="none" strike="noStrike" dirty="0">
                          <a:solidFill>
                            <a:srgbClr val="FF0000"/>
                          </a:solidFill>
                          <a:effectLst/>
                          <a:latin typeface="Times New Roman" panose="02020603050405020304" pitchFamily="18" charset="0"/>
                        </a:rPr>
                        <a:t>+25 </a:t>
                      </a:r>
                      <a:r>
                        <a:rPr lang="en-GB" sz="1100" b="0" i="0" u="none" strike="noStrike" dirty="0" err="1">
                          <a:solidFill>
                            <a:srgbClr val="FF0000"/>
                          </a:solidFill>
                          <a:effectLst/>
                          <a:latin typeface="Times New Roman" panose="02020603050405020304" pitchFamily="18" charset="0"/>
                        </a:rPr>
                        <a:t>ngày</a:t>
                      </a:r>
                      <a:r>
                        <a:rPr lang="en-GB" sz="1100" b="0" i="0" u="none" strike="noStrike" dirty="0">
                          <a:solidFill>
                            <a:srgbClr val="FF0000"/>
                          </a:solidFill>
                          <a:effectLst/>
                          <a:latin typeface="Times New Roman" panose="02020603050405020304" pitchFamily="18" charset="0"/>
                        </a:rPr>
                        <a:t>, KH </a:t>
                      </a:r>
                      <a:r>
                        <a:rPr lang="en-GB" sz="1100" b="0" i="0" u="none" strike="noStrike" dirty="0" err="1">
                          <a:solidFill>
                            <a:srgbClr val="FF0000"/>
                          </a:solidFill>
                          <a:effectLst/>
                          <a:latin typeface="Times New Roman" panose="02020603050405020304" pitchFamily="18" charset="0"/>
                        </a:rPr>
                        <a:t>Cũ</a:t>
                      </a:r>
                      <a:r>
                        <a:rPr lang="en-GB" sz="1100" b="0" i="0" u="none" strike="noStrike" dirty="0">
                          <a:solidFill>
                            <a:srgbClr val="FF0000"/>
                          </a:solidFill>
                          <a:effectLst/>
                          <a:latin typeface="Times New Roman" panose="02020603050405020304" pitchFamily="18" charset="0"/>
                        </a:rPr>
                        <a:t> 12/6 =&gt; </a:t>
                      </a:r>
                      <a:r>
                        <a:rPr lang="en-GB" sz="1100" b="0" i="0" u="none" strike="noStrike" dirty="0" err="1">
                          <a:solidFill>
                            <a:srgbClr val="FF0000"/>
                          </a:solidFill>
                          <a:effectLst/>
                          <a:latin typeface="Times New Roman" panose="02020603050405020304" pitchFamily="18" charset="0"/>
                        </a:rPr>
                        <a:t>tăng</a:t>
                      </a:r>
                      <a:r>
                        <a:rPr lang="en-GB" sz="1100" b="0" i="0" u="none" strike="noStrike" dirty="0">
                          <a:solidFill>
                            <a:srgbClr val="FF0000"/>
                          </a:solidFill>
                          <a:effectLst/>
                          <a:latin typeface="Times New Roman" panose="02020603050405020304" pitchFamily="18" charset="0"/>
                        </a:rPr>
                        <a:t> AOG do A508 </a:t>
                      </a:r>
                      <a:r>
                        <a:rPr lang="en-GB" sz="1100" b="0" i="0" u="none" strike="noStrike" dirty="0" err="1">
                          <a:solidFill>
                            <a:srgbClr val="FF0000"/>
                          </a:solidFill>
                          <a:effectLst/>
                          <a:latin typeface="Times New Roman" panose="02020603050405020304" pitchFamily="18" charset="0"/>
                        </a:rPr>
                        <a:t>có</a:t>
                      </a:r>
                      <a:r>
                        <a:rPr lang="en-GB" sz="1100" b="0" i="0" u="none" strike="noStrike" dirty="0">
                          <a:solidFill>
                            <a:srgbClr val="FF0000"/>
                          </a:solidFill>
                          <a:effectLst/>
                          <a:latin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muộn</a:t>
                      </a:r>
                      <a:r>
                        <a:rPr lang="en-US" sz="1100" b="0" i="0" u="none" strike="noStrike" dirty="0">
                          <a:solidFill>
                            <a:srgbClr val="FF0000"/>
                          </a:solidFill>
                          <a:effectLst/>
                          <a:latin typeface="Times New Roman" panose="02020603050405020304" pitchFamily="18" charset="0"/>
                        </a:rPr>
                        <a:t>  </a:t>
                      </a:r>
                      <a:r>
                        <a:rPr lang="en-US" sz="1100" b="0" i="0" u="none" strike="noStrike">
                          <a:solidFill>
                            <a:srgbClr val="FF0000"/>
                          </a:solidFill>
                          <a:effectLst/>
                          <a:latin typeface="Times New Roman" panose="02020603050405020304" pitchFamily="18" charset="0"/>
                        </a:rPr>
                        <a:t>25 ngày do trong quá trình kiểm tra phát sinh hỏng hóc module HPT </a:t>
                      </a:r>
                      <a:r>
                        <a:rPr lang="en-US" sz="1100" b="0" i="0" u="none" strike="noStrike">
                          <a:solidFill>
                            <a:srgbClr val="FF0000"/>
                          </a:solidFill>
                          <a:effectLst/>
                          <a:latin typeface="Times New Roman" panose="02020603050405020304" pitchFamily="18" charset="0"/>
                          <a:sym typeface="Wingdings" panose="05000000000000000000" pitchFamily="2" charset="2"/>
                        </a:rPr>
                        <a:t> </a:t>
                      </a:r>
                      <a:r>
                        <a:rPr lang="en-US" sz="1100" b="0" i="0" u="none" strike="noStrike">
                          <a:solidFill>
                            <a:srgbClr val="FF0000"/>
                          </a:solidFill>
                          <a:effectLst/>
                          <a:latin typeface="Times New Roman" panose="02020603050405020304" pitchFamily="18" charset="0"/>
                        </a:rPr>
                        <a:t>Tăng mức WSC, phát sinh thay 02 LLP thuộc HPT module so với ban đầu</a:t>
                      </a:r>
                      <a:endParaRPr lang="en-GB" sz="1100" b="0" i="0" u="none" strike="noStrike" dirty="0">
                        <a:solidFill>
                          <a:srgbClr val="FF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236595682"/>
                  </a:ext>
                </a:extLst>
              </a:tr>
              <a:tr h="968887">
                <a:tc>
                  <a:txBody>
                    <a:bodyPr/>
                    <a:lstStyle/>
                    <a:p>
                      <a:pPr algn="ctr" rtl="0" fontAlgn="ctr"/>
                      <a:r>
                        <a:rPr lang="en-GB" sz="1100" b="0" i="0" u="none" strike="noStrike">
                          <a:solidFill>
                            <a:srgbClr val="000000"/>
                          </a:solidFill>
                          <a:effectLst/>
                          <a:latin typeface="Times New Roman" panose="02020603050405020304" pitchFamily="18" charset="0"/>
                        </a:rPr>
                        <a:t>P771423</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a:solidFill>
                            <a:srgbClr val="000000"/>
                          </a:solidFill>
                          <a:effectLst/>
                          <a:latin typeface="Times New Roman" panose="02020603050405020304" pitchFamily="18" charset="0"/>
                        </a:rPr>
                        <a:t>15/04/2025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a:solidFill>
                            <a:srgbClr val="000000"/>
                          </a:solidFill>
                          <a:effectLst/>
                          <a:latin typeface="Times New Roman" panose="02020603050405020304" pitchFamily="18" charset="0"/>
                        </a:rPr>
                        <a:t>23/07/2025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dirty="0">
                          <a:solidFill>
                            <a:srgbClr val="000000"/>
                          </a:solidFill>
                          <a:effectLst/>
                          <a:latin typeface="Times New Roman" panose="02020603050405020304" pitchFamily="18" charset="0"/>
                        </a:rPr>
                        <a:t>S</a:t>
                      </a:r>
                      <a:r>
                        <a:rPr lang="en-GB" sz="1100" b="0" i="0" u="none" strike="noStrike" dirty="0">
                          <a:solidFill>
                            <a:srgbClr val="000000"/>
                          </a:solidFill>
                          <a:effectLst/>
                          <a:latin typeface="Times New Roman" panose="02020603050405020304" pitchFamily="18" charset="0"/>
                        </a:rPr>
                        <a:t>pare</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vi-VN" sz="1100" b="0" i="0" u="none" strike="noStrike" dirty="0">
                          <a:solidFill>
                            <a:srgbClr val="FF0000"/>
                          </a:solidFill>
                          <a:effectLst/>
                          <a:latin typeface="Times New Roman" panose="02020603050405020304" pitchFamily="18" charset="0"/>
                        </a:rPr>
                        <a:t>+19 ngày so với KH, </a:t>
                      </a:r>
                      <a:r>
                        <a:rPr lang="en-US" sz="1100" b="0" i="0" u="none" strike="noStrike" dirty="0" err="1">
                          <a:solidFill>
                            <a:srgbClr val="FF0000"/>
                          </a:solidFill>
                          <a:effectLst/>
                          <a:latin typeface="Times New Roman" panose="02020603050405020304" pitchFamily="18" charset="0"/>
                        </a:rPr>
                        <a:t>không</a:t>
                      </a:r>
                      <a:r>
                        <a:rPr lang="en-US" sz="1100" b="0" i="0" u="none" strike="noStrike" dirty="0">
                          <a:solidFill>
                            <a:srgbClr val="FF0000"/>
                          </a:solidFill>
                          <a:effectLst/>
                          <a:latin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rPr>
                        <a:t>ảnh</a:t>
                      </a:r>
                      <a:r>
                        <a:rPr lang="en-US" sz="1100" b="0" i="0" u="none" strike="noStrike" dirty="0">
                          <a:solidFill>
                            <a:srgbClr val="FF0000"/>
                          </a:solidFill>
                          <a:effectLst/>
                          <a:latin typeface="Times New Roman" panose="02020603050405020304" pitchFamily="18" charset="0"/>
                        </a:rPr>
                        <a:t> h</a:t>
                      </a:r>
                      <a:r>
                        <a:rPr lang="vi-VN" sz="1100" b="0" i="0" u="none" strike="noStrike" dirty="0">
                          <a:solidFill>
                            <a:srgbClr val="FF0000"/>
                          </a:solidFill>
                          <a:effectLst/>
                          <a:latin typeface="+mn-lt"/>
                        </a:rPr>
                        <a:t>ư</a:t>
                      </a:r>
                      <a:r>
                        <a:rPr lang="en-US" sz="1100" b="0" i="0" u="none" strike="noStrike" dirty="0" err="1">
                          <a:solidFill>
                            <a:srgbClr val="FF0000"/>
                          </a:solidFill>
                          <a:effectLst/>
                          <a:latin typeface="Times New Roman" panose="02020603050405020304" pitchFamily="18" charset="0"/>
                        </a:rPr>
                        <a:t>ởng</a:t>
                      </a:r>
                      <a:r>
                        <a:rPr lang="en-US" sz="1100" b="0" i="0" u="none" strike="noStrike" dirty="0">
                          <a:solidFill>
                            <a:srgbClr val="FF0000"/>
                          </a:solidFill>
                          <a:effectLst/>
                          <a:latin typeface="Times New Roman" panose="02020603050405020304" pitchFamily="18" charset="0"/>
                        </a:rPr>
                        <a:t> do </a:t>
                      </a:r>
                      <a:r>
                        <a:rPr lang="en-US" sz="1100" b="0" i="0" u="none" strike="noStrike" dirty="0" err="1">
                          <a:solidFill>
                            <a:srgbClr val="FF0000"/>
                          </a:solidFill>
                          <a:effectLst/>
                          <a:latin typeface="Times New Roman" panose="02020603050405020304" pitchFamily="18" charset="0"/>
                        </a:rPr>
                        <a:t>thiếu</a:t>
                      </a:r>
                      <a:r>
                        <a:rPr lang="en-US" sz="1100" b="0" i="0" u="none" strike="noStrike" dirty="0">
                          <a:solidFill>
                            <a:srgbClr val="FF0000"/>
                          </a:solidFill>
                          <a:effectLst/>
                          <a:latin typeface="Times New Roman" panose="02020603050405020304" pitchFamily="18" charset="0"/>
                        </a:rPr>
                        <a:t> 1 </a:t>
                      </a:r>
                      <a:r>
                        <a:rPr lang="en-US" sz="1100" b="0" i="0" u="none" strike="noStrike" dirty="0" err="1">
                          <a:solidFill>
                            <a:srgbClr val="FF0000"/>
                          </a:solidFill>
                          <a:effectLst/>
                          <a:latin typeface="Times New Roman" panose="02020603050405020304" pitchFamily="18" charset="0"/>
                        </a:rPr>
                        <a:t>động</a:t>
                      </a:r>
                      <a:r>
                        <a:rPr lang="en-US" sz="1100" b="0" i="0" u="none" strike="noStrike" dirty="0">
                          <a:solidFill>
                            <a:srgbClr val="FF0000"/>
                          </a:solidFill>
                          <a:effectLst/>
                          <a:latin typeface="Times New Roman" panose="02020603050405020304" pitchFamily="18" charset="0"/>
                        </a:rPr>
                        <a:t> </a:t>
                      </a:r>
                      <a:r>
                        <a:rPr lang="en-US" sz="1100" b="0" i="0" u="none" strike="noStrike">
                          <a:solidFill>
                            <a:srgbClr val="FF0000"/>
                          </a:solidFill>
                          <a:effectLst/>
                          <a:latin typeface="Times New Roman" panose="02020603050405020304" pitchFamily="18" charset="0"/>
                        </a:rPr>
                        <a:t>c</a:t>
                      </a:r>
                      <a:r>
                        <a:rPr lang="vi-VN" sz="1100" b="0" i="0" u="none" strike="noStrike">
                          <a:solidFill>
                            <a:srgbClr val="FF0000"/>
                          </a:solidFill>
                          <a:effectLst/>
                          <a:latin typeface="+mn-lt"/>
                        </a:rPr>
                        <a:t>ơ</a:t>
                      </a:r>
                      <a:r>
                        <a:rPr lang="en-US" sz="1100" b="0" i="0" u="none" strike="noStrike">
                          <a:solidFill>
                            <a:srgbClr val="FF0000"/>
                          </a:solidFill>
                          <a:effectLst/>
                          <a:latin typeface="+mn-lt"/>
                        </a:rPr>
                        <a:t> do trong quá trình kiểm tra phát sinh hỏng hóc  HPT module </a:t>
                      </a:r>
                      <a:r>
                        <a:rPr lang="en-US" sz="1100" b="0" i="0" u="none" strike="noStrike">
                          <a:solidFill>
                            <a:srgbClr val="FF0000"/>
                          </a:solidFill>
                          <a:effectLst/>
                          <a:latin typeface="+mn-lt"/>
                          <a:sym typeface="Wingdings" panose="05000000000000000000" pitchFamily="2" charset="2"/>
                        </a:rPr>
                        <a:t> </a:t>
                      </a:r>
                      <a:r>
                        <a:rPr lang="en-US" sz="1100" b="0" i="0" u="none" strike="noStrike">
                          <a:solidFill>
                            <a:srgbClr val="FF0000"/>
                          </a:solidFill>
                          <a:effectLst/>
                          <a:latin typeface="Times New Roman" panose="02020603050405020304" pitchFamily="18" charset="0"/>
                        </a:rPr>
                        <a:t>Tăng mức wsc cho 1 số module so với ban đầu</a:t>
                      </a:r>
                      <a:endParaRPr lang="en-GB" sz="1100" b="0" i="0" u="none" strike="noStrike">
                        <a:solidFill>
                          <a:srgbClr val="FF0000"/>
                        </a:solidFill>
                        <a:effectLst/>
                        <a:latin typeface="Times New Roman" panose="02020603050405020304" pitchFamily="18" charset="0"/>
                      </a:endParaRP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871960572"/>
                  </a:ext>
                </a:extLst>
              </a:tr>
              <a:tr h="186683">
                <a:tc>
                  <a:txBody>
                    <a:bodyPr/>
                    <a:lstStyle/>
                    <a:p>
                      <a:pPr algn="ctr" rtl="0" fontAlgn="ctr"/>
                      <a:r>
                        <a:rPr lang="en-GB" sz="1100" b="0" i="0" u="none" strike="noStrike">
                          <a:solidFill>
                            <a:srgbClr val="000000"/>
                          </a:solidFill>
                          <a:effectLst/>
                          <a:latin typeface="Times New Roman" panose="02020603050405020304" pitchFamily="18" charset="0"/>
                        </a:rPr>
                        <a:t>P771373</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a:solidFill>
                            <a:srgbClr val="000000"/>
                          </a:solidFill>
                          <a:effectLst/>
                          <a:latin typeface="Times New Roman" panose="02020603050405020304" pitchFamily="18" charset="0"/>
                        </a:rPr>
                        <a:t>20/02/2025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a:solidFill>
                            <a:srgbClr val="000000"/>
                          </a:solidFill>
                          <a:effectLst/>
                          <a:latin typeface="Times New Roman" panose="02020603050405020304" pitchFamily="18" charset="0"/>
                        </a:rPr>
                        <a:t>08/09/2025</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GB" sz="1100" b="0" i="0" u="none" strike="noStrike" dirty="0">
                          <a:solidFill>
                            <a:srgbClr val="000000"/>
                          </a:solidFill>
                          <a:effectLst/>
                          <a:latin typeface="Times New Roman" panose="02020603050405020304" pitchFamily="18" charset="0"/>
                        </a:rPr>
                        <a:t>RTS</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GB" sz="1100" b="0" i="0" u="none" strike="noStrike" dirty="0">
                          <a:solidFill>
                            <a:srgbClr val="000000"/>
                          </a:solidFill>
                          <a:effectLst/>
                          <a:latin typeface="Arial" panose="020B0604020202020204" pitchFamily="34" charset="0"/>
                        </a:rPr>
                        <a:t>Sau </a:t>
                      </a:r>
                      <a:r>
                        <a:rPr lang="en-GB" sz="1100" b="0" i="0" u="none" strike="noStrike" dirty="0" err="1">
                          <a:solidFill>
                            <a:srgbClr val="000000"/>
                          </a:solidFill>
                          <a:effectLst/>
                          <a:latin typeface="Arial" panose="020B0604020202020204" pitchFamily="34" charset="0"/>
                        </a:rPr>
                        <a:t>cao</a:t>
                      </a:r>
                      <a:r>
                        <a:rPr lang="en-GB" sz="1100" b="0" i="0" u="none" strike="noStrike" dirty="0">
                          <a:solidFill>
                            <a:srgbClr val="000000"/>
                          </a:solidFill>
                          <a:effectLst/>
                          <a:latin typeface="Arial" panose="020B0604020202020204" pitchFamily="34" charset="0"/>
                        </a:rPr>
                        <a:t> </a:t>
                      </a:r>
                      <a:r>
                        <a:rPr lang="en-GB" sz="1100" b="0" i="0" u="none" strike="noStrike" dirty="0" err="1">
                          <a:solidFill>
                            <a:srgbClr val="000000"/>
                          </a:solidFill>
                          <a:effectLst/>
                          <a:latin typeface="Arial" panose="020B0604020202020204" pitchFamily="34" charset="0"/>
                        </a:rPr>
                        <a:t>điểm</a:t>
                      </a:r>
                      <a:r>
                        <a:rPr lang="en-GB" sz="1100" b="0" i="0" u="none" strike="noStrike" dirty="0">
                          <a:solidFill>
                            <a:srgbClr val="000000"/>
                          </a:solidFill>
                          <a:effectLst/>
                          <a:latin typeface="Arial" panose="020B0604020202020204" pitchFamily="34" charset="0"/>
                        </a:rPr>
                        <a:t> </a:t>
                      </a:r>
                    </a:p>
                  </a:txBody>
                  <a:tcPr marL="5281" marR="5281" marT="5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042752024"/>
                  </a:ext>
                </a:extLst>
              </a:tr>
            </a:tbl>
          </a:graphicData>
        </a:graphic>
      </p:graphicFrame>
    </p:spTree>
    <p:extLst>
      <p:ext uri="{BB962C8B-B14F-4D97-AF65-F5344CB8AC3E}">
        <p14:creationId xmlns:p14="http://schemas.microsoft.com/office/powerpoint/2010/main" val="1020100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35</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35</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4"/>
          <a:ext cx="5787655" cy="4450080"/>
        </p:xfrm>
        <a:graphic>
          <a:graphicData uri="http://schemas.openxmlformats.org/drawingml/2006/table">
            <a:tbl>
              <a:tblPr firstRow="1" bandRow="1">
                <a:tableStyleId>{5C22544A-7EE6-4342-B048-85BDC9FD1C3A}</a:tableStyleId>
              </a:tblPr>
              <a:tblGrid>
                <a:gridCol w="914143">
                  <a:extLst>
                    <a:ext uri="{9D8B030D-6E8A-4147-A177-3AD203B41FA5}">
                      <a16:colId xmlns:a16="http://schemas.microsoft.com/office/drawing/2014/main" val="1930757539"/>
                    </a:ext>
                  </a:extLst>
                </a:gridCol>
                <a:gridCol w="806458">
                  <a:extLst>
                    <a:ext uri="{9D8B030D-6E8A-4147-A177-3AD203B41FA5}">
                      <a16:colId xmlns:a16="http://schemas.microsoft.com/office/drawing/2014/main" val="1674463010"/>
                    </a:ext>
                  </a:extLst>
                </a:gridCol>
                <a:gridCol w="680821">
                  <a:extLst>
                    <a:ext uri="{9D8B030D-6E8A-4147-A177-3AD203B41FA5}">
                      <a16:colId xmlns:a16="http://schemas.microsoft.com/office/drawing/2014/main" val="1549944897"/>
                    </a:ext>
                  </a:extLst>
                </a:gridCol>
                <a:gridCol w="1298819">
                  <a:extLst>
                    <a:ext uri="{9D8B030D-6E8A-4147-A177-3AD203B41FA5}">
                      <a16:colId xmlns:a16="http://schemas.microsoft.com/office/drawing/2014/main" val="3687717734"/>
                    </a:ext>
                  </a:extLst>
                </a:gridCol>
                <a:gridCol w="2087414">
                  <a:extLst>
                    <a:ext uri="{9D8B030D-6E8A-4147-A177-3AD203B41FA5}">
                      <a16:colId xmlns:a16="http://schemas.microsoft.com/office/drawing/2014/main" val="4100307886"/>
                    </a:ext>
                  </a:extLst>
                </a:gridCol>
              </a:tblGrid>
              <a:tr h="0">
                <a:tc>
                  <a:txBody>
                    <a:bodyPr/>
                    <a:lstStyle/>
                    <a:p>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latin typeface="Times New Roman" panose="02020603050405020304" pitchFamily="18" charset="0"/>
                          <a:cs typeface="Times New Roman" panose="02020603050405020304" pitchFamily="18" charset="0"/>
                        </a:rPr>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latin typeface="Times New Roman" panose="02020603050405020304" pitchFamily="18" charset="0"/>
                          <a:cs typeface="Times New Roman" panose="02020603050405020304" pitchFamily="18" charset="0"/>
                        </a:rPr>
                        <a:t>TAT</a:t>
                      </a:r>
                    </a:p>
                  </a:txBody>
                  <a:tcPr marL="121920" marR="121920" marT="60960" marB="60960" anchor="ctr"/>
                </a:tc>
                <a:tc>
                  <a:txBody>
                    <a:bodyPr/>
                    <a:lstStyle/>
                    <a:p>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latin typeface="Times New Roman" panose="02020603050405020304" pitchFamily="18" charset="0"/>
                          <a:cs typeface="Times New Roman" panose="02020603050405020304" pitchFamily="18" charset="0"/>
                        </a:rPr>
                        <a:t>Kế</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hoạch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pPr algn="ctr" fontAlgn="ctr"/>
                      <a:r>
                        <a:rPr lang="en-GB" sz="1100" b="0" i="0" u="none" strike="noStrike" dirty="0">
                          <a:solidFill>
                            <a:schemeClr val="tx1"/>
                          </a:solidFill>
                          <a:effectLst/>
                          <a:latin typeface="Times New Roman" panose="02020603050405020304" pitchFamily="18" charset="0"/>
                        </a:rPr>
                        <a:t>21201</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HAESL</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110</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20/05/2025</a:t>
                      </a:r>
                    </a:p>
                  </a:txBody>
                  <a:tcPr marL="0" marR="0" marT="0" marB="0" anchor="ctr"/>
                </a:tc>
                <a:tc>
                  <a:txBody>
                    <a:bodyPr/>
                    <a:lstStyle/>
                    <a:p>
                      <a:r>
                        <a:rPr lang="en-US" sz="1100" b="0" dirty="0">
                          <a:solidFill>
                            <a:schemeClr val="tx1"/>
                          </a:solidFill>
                          <a:latin typeface="Times New Roman" panose="02020603050405020304" pitchFamily="18" charset="0"/>
                          <a:cs typeface="Times New Roman" panose="02020603050405020304" pitchFamily="18" charset="0"/>
                        </a:rPr>
                        <a:t>A887#1 RTS</a:t>
                      </a:r>
                    </a:p>
                  </a:txBody>
                  <a:tcPr marL="121920" marR="121920" marT="60960" marB="60960" anchor="ctr"/>
                </a:tc>
                <a:extLst>
                  <a:ext uri="{0D108BD9-81ED-4DB2-BD59-A6C34878D82A}">
                    <a16:rowId xmlns:a16="http://schemas.microsoft.com/office/drawing/2014/main" val="83465224"/>
                  </a:ext>
                </a:extLst>
              </a:tr>
              <a:tr h="0">
                <a:tc>
                  <a:txBody>
                    <a:bodyPr/>
                    <a:lstStyle/>
                    <a:p>
                      <a:pPr algn="ctr" fontAlgn="ctr"/>
                      <a:r>
                        <a:rPr lang="en-US" sz="1100" b="0" i="0" u="none" strike="noStrike" dirty="0">
                          <a:solidFill>
                            <a:schemeClr val="tx1"/>
                          </a:solidFill>
                          <a:effectLst/>
                          <a:latin typeface="Times New Roman" panose="02020603050405020304" pitchFamily="18" charset="0"/>
                        </a:rPr>
                        <a:t>21316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err="1">
                          <a:solidFill>
                            <a:schemeClr val="tx1"/>
                          </a:solidFill>
                          <a:effectLst/>
                          <a:latin typeface="Times New Roman" panose="02020603050405020304" pitchFamily="18" charset="0"/>
                        </a:rPr>
                        <a:t>Boroblend</a:t>
                      </a:r>
                      <a:r>
                        <a:rPr lang="en-US" sz="1100" b="0" i="0" u="none" strike="noStrike" dirty="0">
                          <a:solidFill>
                            <a:schemeClr val="tx1"/>
                          </a:solidFill>
                          <a:effectLst/>
                          <a:latin typeface="Times New Roman" panose="02020603050405020304" pitchFamily="18" charset="0"/>
                        </a:rPr>
                        <a:t> KH 13/05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N/A</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20/05/2025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Times New Roman" panose="02020603050405020304" pitchFamily="18" charset="0"/>
                          <a:cs typeface="Times New Roman" panose="02020603050405020304" pitchFamily="18" charset="0"/>
                        </a:rPr>
                        <a:t>A887#2 RTS</a:t>
                      </a:r>
                    </a:p>
                  </a:txBody>
                  <a:tcPr marL="121920" marR="121920" marT="60960" marB="60960" anchor="ctr"/>
                </a:tc>
                <a:extLst>
                  <a:ext uri="{0D108BD9-81ED-4DB2-BD59-A6C34878D82A}">
                    <a16:rowId xmlns:a16="http://schemas.microsoft.com/office/drawing/2014/main" val="2852539845"/>
                  </a:ext>
                </a:extLst>
              </a:tr>
              <a:tr h="186863">
                <a:tc>
                  <a:txBody>
                    <a:bodyPr/>
                    <a:lstStyle/>
                    <a:p>
                      <a:pPr algn="ctr" fontAlgn="ctr"/>
                      <a:r>
                        <a:rPr lang="en-GB" sz="1100" b="0" i="0" u="none" strike="noStrike" dirty="0">
                          <a:solidFill>
                            <a:schemeClr val="tx1"/>
                          </a:solidFill>
                          <a:effectLst/>
                          <a:latin typeface="Times New Roman" panose="02020603050405020304" pitchFamily="18" charset="0"/>
                        </a:rPr>
                        <a:t>21584</a:t>
                      </a:r>
                    </a:p>
                  </a:txBody>
                  <a:tcPr marL="0" marR="0" marT="0" marB="0" anchor="ctr">
                    <a:solidFill>
                      <a:srgbClr val="FFFF00"/>
                    </a:solidFill>
                  </a:tcPr>
                </a:tc>
                <a:tc>
                  <a:txBody>
                    <a:bodyPr/>
                    <a:lstStyle/>
                    <a:p>
                      <a:pPr algn="ctr" fontAlgn="ctr"/>
                      <a:r>
                        <a:rPr lang="en-GB" sz="1100" b="0" i="0" u="none" strike="noStrike" dirty="0">
                          <a:solidFill>
                            <a:schemeClr val="tx1"/>
                          </a:solidFill>
                          <a:effectLst/>
                          <a:latin typeface="Times New Roman" panose="02020603050405020304" pitchFamily="18" charset="0"/>
                        </a:rPr>
                        <a:t>SAESL</a:t>
                      </a:r>
                    </a:p>
                  </a:txBody>
                  <a:tcPr marL="0" marR="0" marT="0" marB="0" anchor="ctr">
                    <a:solidFill>
                      <a:srgbClr val="FFFF00"/>
                    </a:solidFill>
                  </a:tcPr>
                </a:tc>
                <a:tc>
                  <a:txBody>
                    <a:bodyPr/>
                    <a:lstStyle/>
                    <a:p>
                      <a:pPr algn="ctr" fontAlgn="ctr"/>
                      <a:r>
                        <a:rPr lang="en-GB" sz="1100" b="0" i="0" u="none" strike="noStrike" dirty="0">
                          <a:solidFill>
                            <a:schemeClr val="tx1"/>
                          </a:solidFill>
                          <a:effectLst/>
                          <a:latin typeface="Times New Roman" panose="02020603050405020304" pitchFamily="18" charset="0"/>
                        </a:rPr>
                        <a:t>120</a:t>
                      </a:r>
                    </a:p>
                  </a:txBody>
                  <a:tcPr marL="0" marR="0" marT="0" marB="0" anchor="ctr">
                    <a:solidFill>
                      <a:srgbClr val="FFFF00"/>
                    </a:solidFill>
                  </a:tcPr>
                </a:tc>
                <a:tc>
                  <a:txBody>
                    <a:bodyPr/>
                    <a:lstStyle/>
                    <a:p>
                      <a:pPr algn="ctr" fontAlgn="ctr"/>
                      <a:r>
                        <a:rPr lang="en-GB" sz="1100" b="1" i="0" u="none" strike="noStrike" dirty="0">
                          <a:solidFill>
                            <a:srgbClr val="FF0000"/>
                          </a:solidFill>
                          <a:effectLst/>
                          <a:latin typeface="Times New Roman" panose="02020603050405020304" pitchFamily="18" charset="0"/>
                        </a:rPr>
                        <a:t>16/06/2025</a:t>
                      </a:r>
                    </a:p>
                    <a:p>
                      <a:pPr algn="ctr" fontAlgn="ctr"/>
                      <a:r>
                        <a:rPr lang="en-GB" sz="1100" b="0" i="0" u="none" strike="noStrike">
                          <a:solidFill>
                            <a:srgbClr val="FF0000"/>
                          </a:solidFill>
                          <a:effectLst/>
                          <a:latin typeface="Times New Roman" panose="02020603050405020304" pitchFamily="18" charset="0"/>
                        </a:rPr>
                        <a:t>(Delay thêm 15 ngày, tổng +15 ngày)</a:t>
                      </a:r>
                    </a:p>
                  </a:txBody>
                  <a:tcPr marL="0" marR="0" marT="0" marB="0" anchor="ctr">
                    <a:solidFill>
                      <a:srgbClr val="FFFF00"/>
                    </a:solidFill>
                  </a:tcPr>
                </a:tc>
                <a:tc>
                  <a:txBody>
                    <a:bodyPr/>
                    <a:lstStyle/>
                    <a:p>
                      <a:r>
                        <a:rPr lang="en-US" sz="1100" b="0" dirty="0">
                          <a:solidFill>
                            <a:schemeClr val="tx1"/>
                          </a:solidFill>
                          <a:latin typeface="Times New Roman" panose="02020603050405020304" pitchFamily="18" charset="0"/>
                          <a:cs typeface="Times New Roman" panose="02020603050405020304" pitchFamily="18" charset="0"/>
                        </a:rPr>
                        <a:t>A886#1 RTS</a:t>
                      </a:r>
                    </a:p>
                  </a:txBody>
                  <a:tcPr marL="121920" marR="121920" marT="60960" marB="60960" anchor="ctr">
                    <a:solidFill>
                      <a:srgbClr val="FFFF00"/>
                    </a:solidFill>
                  </a:tcPr>
                </a:tc>
                <a:extLst>
                  <a:ext uri="{0D108BD9-81ED-4DB2-BD59-A6C34878D82A}">
                    <a16:rowId xmlns:a16="http://schemas.microsoft.com/office/drawing/2014/main" val="1733553736"/>
                  </a:ext>
                </a:extLst>
              </a:tr>
              <a:tr h="0">
                <a:tc>
                  <a:txBody>
                    <a:bodyPr/>
                    <a:lstStyle/>
                    <a:p>
                      <a:pPr algn="ctr" fontAlgn="ctr"/>
                      <a:r>
                        <a:rPr lang="en-GB" sz="1100" b="0" i="0" u="none" strike="noStrike">
                          <a:solidFill>
                            <a:schemeClr val="tx1"/>
                          </a:solidFill>
                          <a:effectLst/>
                          <a:latin typeface="Times New Roman" panose="02020603050405020304" pitchFamily="18" charset="0"/>
                        </a:rPr>
                        <a:t>21040</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HAESL</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120</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17/06/2025</a:t>
                      </a:r>
                    </a:p>
                  </a:txBody>
                  <a:tcPr marL="0" marR="0" marT="0" marB="0" anchor="ctr"/>
                </a:tc>
                <a:tc>
                  <a:txBody>
                    <a:bodyPr/>
                    <a:lstStyle/>
                    <a:p>
                      <a:r>
                        <a:rPr lang="en-US" sz="1100" b="0" dirty="0">
                          <a:solidFill>
                            <a:schemeClr val="tx1"/>
                          </a:solidFill>
                          <a:latin typeface="Times New Roman" panose="02020603050405020304" pitchFamily="18" charset="0"/>
                          <a:cs typeface="Times New Roman" panose="02020603050405020304" pitchFamily="18" charset="0"/>
                        </a:rPr>
                        <a:t>A886#2 RTS</a:t>
                      </a:r>
                    </a:p>
                  </a:txBody>
                  <a:tcPr marL="121920" marR="121920" marT="60960" marB="60960" anchor="ctr"/>
                </a:tc>
                <a:extLst>
                  <a:ext uri="{0D108BD9-81ED-4DB2-BD59-A6C34878D82A}">
                    <a16:rowId xmlns:a16="http://schemas.microsoft.com/office/drawing/2014/main" val="727372545"/>
                  </a:ext>
                </a:extLst>
              </a:tr>
              <a:tr h="0">
                <a:tc>
                  <a:txBody>
                    <a:bodyPr/>
                    <a:lstStyle/>
                    <a:p>
                      <a:pPr algn="ctr" fontAlgn="ctr"/>
                      <a:r>
                        <a:rPr lang="en-GB" sz="1100" b="0" i="0" u="none" strike="noStrike">
                          <a:solidFill>
                            <a:schemeClr val="tx1"/>
                          </a:solidFill>
                          <a:effectLst/>
                          <a:latin typeface="Times New Roman" panose="02020603050405020304" pitchFamily="18" charset="0"/>
                        </a:rPr>
                        <a:t>21136</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SAESL</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75</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05/07/2025</a:t>
                      </a:r>
                    </a:p>
                  </a:txBody>
                  <a:tcPr marL="0" marR="0" marT="0" marB="0" anchor="ctr"/>
                </a:tc>
                <a:tc>
                  <a:txBody>
                    <a:bodyPr/>
                    <a:lstStyle/>
                    <a:p>
                      <a:r>
                        <a:rPr lang="en-US" sz="1100" b="0" dirty="0">
                          <a:solidFill>
                            <a:schemeClr val="tx1"/>
                          </a:solidFill>
                          <a:latin typeface="Times New Roman" panose="02020603050405020304" pitchFamily="18" charset="0"/>
                          <a:cs typeface="Times New Roman" panose="02020603050405020304" pitchFamily="18" charset="0"/>
                        </a:rPr>
                        <a:t>A895#1 RTS</a:t>
                      </a:r>
                    </a:p>
                  </a:txBody>
                  <a:tcPr marL="121920" marR="121920" marT="60960" marB="60960" anchor="ctr"/>
                </a:tc>
                <a:extLst>
                  <a:ext uri="{0D108BD9-81ED-4DB2-BD59-A6C34878D82A}">
                    <a16:rowId xmlns:a16="http://schemas.microsoft.com/office/drawing/2014/main" val="829074625"/>
                  </a:ext>
                </a:extLst>
              </a:tr>
              <a:tr h="186863">
                <a:tc>
                  <a:txBody>
                    <a:bodyPr/>
                    <a:lstStyle/>
                    <a:p>
                      <a:pPr algn="ctr" fontAlgn="ctr"/>
                      <a:r>
                        <a:rPr lang="en-GB" sz="1100" b="0" i="0" u="none" strike="noStrike">
                          <a:solidFill>
                            <a:schemeClr val="tx1"/>
                          </a:solidFill>
                          <a:effectLst/>
                          <a:latin typeface="Times New Roman" panose="02020603050405020304" pitchFamily="18" charset="0"/>
                        </a:rPr>
                        <a:t>21043</a:t>
                      </a:r>
                    </a:p>
                  </a:txBody>
                  <a:tcPr marL="0" marR="0" marT="0" marB="0" anchor="ctr">
                    <a:solidFill>
                      <a:srgbClr val="FFFF00"/>
                    </a:solidFill>
                  </a:tcPr>
                </a:tc>
                <a:tc>
                  <a:txBody>
                    <a:bodyPr/>
                    <a:lstStyle/>
                    <a:p>
                      <a:pPr algn="ctr" fontAlgn="ctr"/>
                      <a:r>
                        <a:rPr lang="en-GB" sz="1100" b="0" i="0" u="none" strike="noStrike" dirty="0">
                          <a:solidFill>
                            <a:schemeClr val="tx1"/>
                          </a:solidFill>
                          <a:effectLst/>
                          <a:latin typeface="Times New Roman" panose="02020603050405020304" pitchFamily="18" charset="0"/>
                        </a:rPr>
                        <a:t>N3</a:t>
                      </a:r>
                    </a:p>
                  </a:txBody>
                  <a:tcPr marL="0" marR="0" marT="0" marB="0" anchor="ctr">
                    <a:solidFill>
                      <a:srgbClr val="FFFF00"/>
                    </a:solidFill>
                  </a:tcPr>
                </a:tc>
                <a:tc>
                  <a:txBody>
                    <a:bodyPr/>
                    <a:lstStyle/>
                    <a:p>
                      <a:pPr algn="ctr" fontAlgn="ctr"/>
                      <a:r>
                        <a:rPr lang="en-GB" sz="1100" b="0" i="0" u="none" strike="noStrike" dirty="0">
                          <a:solidFill>
                            <a:schemeClr val="tx1"/>
                          </a:solidFill>
                          <a:effectLst/>
                          <a:latin typeface="Times New Roman" panose="02020603050405020304" pitchFamily="18" charset="0"/>
                        </a:rPr>
                        <a:t>228</a:t>
                      </a:r>
                    </a:p>
                  </a:txBody>
                  <a:tcPr marL="0" marR="0" marT="0" marB="0" anchor="ctr">
                    <a:solidFill>
                      <a:srgbClr val="FFFF00"/>
                    </a:solidFill>
                  </a:tcPr>
                </a:tc>
                <a:tc>
                  <a:txBody>
                    <a:bodyPr/>
                    <a:lstStyle/>
                    <a:p>
                      <a:pPr algn="ctr" fontAlgn="ctr"/>
                      <a:r>
                        <a:rPr lang="en-GB" sz="1100" b="1" i="0" u="none" strike="noStrike">
                          <a:solidFill>
                            <a:srgbClr val="FF0000"/>
                          </a:solidFill>
                          <a:effectLst/>
                          <a:latin typeface="Times New Roman" panose="02020603050405020304" pitchFamily="18" charset="0"/>
                        </a:rPr>
                        <a:t>23/07/2025</a:t>
                      </a:r>
                    </a:p>
                    <a:p>
                      <a:pPr algn="ctr" fontAlgn="ctr"/>
                      <a:r>
                        <a:rPr lang="en-GB" sz="1100" b="0" i="0" u="none" strike="noStrike">
                          <a:solidFill>
                            <a:srgbClr val="FF0000"/>
                          </a:solidFill>
                          <a:effectLst/>
                          <a:latin typeface="Times New Roman" panose="02020603050405020304" pitchFamily="18" charset="0"/>
                        </a:rPr>
                        <a:t>(Delay thêm 14 ngày, tổng +42 ngày)</a:t>
                      </a:r>
                    </a:p>
                  </a:txBody>
                  <a:tcPr marL="0" marR="0" marT="0" marB="0" anchor="c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rgbClr val="FF0000"/>
                          </a:solidFill>
                          <a:latin typeface="Times New Roman" panose="02020603050405020304" pitchFamily="18" charset="0"/>
                          <a:cs typeface="Times New Roman" panose="02020603050405020304" pitchFamily="18" charset="0"/>
                        </a:rPr>
                        <a:t>A895#2 RTS (delay 2 tuần so với KH cũ), làm tăng AOG</a:t>
                      </a:r>
                    </a:p>
                  </a:txBody>
                  <a:tcPr marL="121920" marR="121920" marT="60960" marB="60960" anchor="ctr">
                    <a:solidFill>
                      <a:srgbClr val="FFFF00"/>
                    </a:solidFill>
                  </a:tcPr>
                </a:tc>
                <a:extLst>
                  <a:ext uri="{0D108BD9-81ED-4DB2-BD59-A6C34878D82A}">
                    <a16:rowId xmlns:a16="http://schemas.microsoft.com/office/drawing/2014/main" val="3135666374"/>
                  </a:ext>
                </a:extLst>
              </a:tr>
              <a:tr h="0">
                <a:tc>
                  <a:txBody>
                    <a:bodyPr/>
                    <a:lstStyle/>
                    <a:p>
                      <a:pPr algn="ctr" fontAlgn="ctr"/>
                      <a:r>
                        <a:rPr lang="en-GB" sz="1100" b="0" i="0" u="none" strike="noStrike">
                          <a:solidFill>
                            <a:schemeClr val="tx1"/>
                          </a:solidFill>
                          <a:effectLst/>
                          <a:latin typeface="Times New Roman" panose="02020603050405020304" pitchFamily="18" charset="0"/>
                        </a:rPr>
                        <a:t>21414</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SAESL</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120</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27/07/2025</a:t>
                      </a:r>
                    </a:p>
                  </a:txBody>
                  <a:tcPr marL="0" marR="0" marT="0" marB="0" anchor="ctr"/>
                </a:tc>
                <a:tc>
                  <a:txBody>
                    <a:bodyPr/>
                    <a:lstStyle/>
                    <a:p>
                      <a:r>
                        <a:rPr lang="en-US" sz="1100" b="0">
                          <a:solidFill>
                            <a:schemeClr val="tx1"/>
                          </a:solidFill>
                          <a:latin typeface="Times New Roman" panose="02020603050405020304" pitchFamily="18" charset="0"/>
                          <a:cs typeface="Times New Roman" panose="02020603050405020304" pitchFamily="18" charset="0"/>
                        </a:rPr>
                        <a:t>A898#2 21268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186863">
                <a:tc>
                  <a:txBody>
                    <a:bodyPr/>
                    <a:lstStyle/>
                    <a:p>
                      <a:pPr algn="ctr" fontAlgn="ctr"/>
                      <a:r>
                        <a:rPr lang="en-GB" sz="1100" b="0" i="0" u="none" strike="noStrike">
                          <a:solidFill>
                            <a:schemeClr val="tx1"/>
                          </a:solidFill>
                          <a:effectLst/>
                          <a:latin typeface="Times New Roman" panose="02020603050405020304" pitchFamily="18" charset="0"/>
                        </a:rPr>
                        <a:t>21137</a:t>
                      </a:r>
                    </a:p>
                  </a:txBody>
                  <a:tcPr marL="0" marR="0" marT="0" marB="0" anchor="ctr">
                    <a:solidFill>
                      <a:srgbClr val="FFFF00"/>
                    </a:solidFill>
                  </a:tcPr>
                </a:tc>
                <a:tc>
                  <a:txBody>
                    <a:bodyPr/>
                    <a:lstStyle/>
                    <a:p>
                      <a:pPr algn="ctr" fontAlgn="ctr"/>
                      <a:r>
                        <a:rPr lang="en-GB" sz="1100" b="0" i="0" u="none" strike="noStrike">
                          <a:solidFill>
                            <a:schemeClr val="tx1"/>
                          </a:solidFill>
                          <a:effectLst/>
                          <a:latin typeface="Times New Roman" panose="02020603050405020304" pitchFamily="18" charset="0"/>
                        </a:rPr>
                        <a:t>N3</a:t>
                      </a:r>
                    </a:p>
                  </a:txBody>
                  <a:tcPr marL="0" marR="0" marT="0" marB="0" anchor="ctr">
                    <a:solidFill>
                      <a:srgbClr val="FFFF00"/>
                    </a:solidFill>
                  </a:tcPr>
                </a:tc>
                <a:tc>
                  <a:txBody>
                    <a:bodyPr/>
                    <a:lstStyle/>
                    <a:p>
                      <a:pPr algn="ctr" fontAlgn="ctr"/>
                      <a:r>
                        <a:rPr lang="en-GB" sz="1100" b="0" i="0" u="none" strike="noStrike">
                          <a:solidFill>
                            <a:schemeClr val="tx1"/>
                          </a:solidFill>
                          <a:effectLst/>
                          <a:latin typeface="Times New Roman" panose="02020603050405020304" pitchFamily="18" charset="0"/>
                        </a:rPr>
                        <a:t>207</a:t>
                      </a:r>
                    </a:p>
                  </a:txBody>
                  <a:tcPr marL="0" marR="0" marT="0" marB="0" anchor="ctr">
                    <a:solidFill>
                      <a:srgbClr val="FFFF00"/>
                    </a:solidFill>
                  </a:tcPr>
                </a:tc>
                <a:tc>
                  <a:txBody>
                    <a:bodyPr/>
                    <a:lstStyle/>
                    <a:p>
                      <a:pPr algn="ctr" fontAlgn="ctr"/>
                      <a:r>
                        <a:rPr lang="en-GB" sz="1100" b="1" i="0" u="none" strike="noStrike">
                          <a:solidFill>
                            <a:srgbClr val="FF0000"/>
                          </a:solidFill>
                          <a:effectLst/>
                          <a:latin typeface="Times New Roman" panose="02020603050405020304" pitchFamily="18" charset="0"/>
                        </a:rPr>
                        <a:t>29/07/2025</a:t>
                      </a:r>
                    </a:p>
                    <a:p>
                      <a:pPr algn="ctr" fontAlgn="ctr"/>
                      <a:r>
                        <a:rPr lang="en-GB" sz="1100" b="0" i="0" u="none" strike="noStrike">
                          <a:solidFill>
                            <a:srgbClr val="FF0000"/>
                          </a:solidFill>
                          <a:effectLst/>
                          <a:latin typeface="Times New Roman" panose="02020603050405020304" pitchFamily="18" charset="0"/>
                        </a:rPr>
                        <a:t>(Delay thêm 21 ngày, tổng +28 ngày)</a:t>
                      </a:r>
                    </a:p>
                  </a:txBody>
                  <a:tcPr marL="0" marR="0" marT="0" marB="0" anchor="c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Times New Roman" panose="02020603050405020304" pitchFamily="18" charset="0"/>
                          <a:cs typeface="Times New Roman" panose="02020603050405020304" pitchFamily="18" charset="0"/>
                        </a:rPr>
                        <a:t>A890#2 21418 LPT Expire</a:t>
                      </a:r>
                    </a:p>
                  </a:txBody>
                  <a:tcPr marL="121920" marR="121920" marT="60960" marB="60960" anchor="ctr">
                    <a:solidFill>
                      <a:srgbClr val="FFFF00"/>
                    </a:solidFill>
                  </a:tcPr>
                </a:tc>
                <a:extLst>
                  <a:ext uri="{0D108BD9-81ED-4DB2-BD59-A6C34878D82A}">
                    <a16:rowId xmlns:a16="http://schemas.microsoft.com/office/drawing/2014/main" val="4034618264"/>
                  </a:ext>
                </a:extLst>
              </a:tr>
              <a:tr h="0">
                <a:tc>
                  <a:txBody>
                    <a:bodyPr/>
                    <a:lstStyle/>
                    <a:p>
                      <a:pPr algn="ctr" fontAlgn="ctr"/>
                      <a:r>
                        <a:rPr lang="en-GB" sz="1100" b="0" i="0" u="none" strike="noStrike" dirty="0">
                          <a:solidFill>
                            <a:schemeClr val="tx1"/>
                          </a:solidFill>
                          <a:effectLst/>
                          <a:latin typeface="Times New Roman" panose="02020603050405020304" pitchFamily="18" charset="0"/>
                        </a:rPr>
                        <a:t>21604</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SAESL</a:t>
                      </a: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120</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08/08/2025</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Times New Roman" panose="02020603050405020304" pitchFamily="18" charset="0"/>
                          <a:cs typeface="Times New Roman" panose="02020603050405020304" pitchFamily="18" charset="0"/>
                        </a:rPr>
                        <a:t>A894#2 21346 LPT Expire</a:t>
                      </a:r>
                    </a:p>
                  </a:txBody>
                  <a:tcPr marL="121920" marR="121920" marT="60960" marB="60960" anchor="ctr"/>
                </a:tc>
                <a:extLst>
                  <a:ext uri="{0D108BD9-81ED-4DB2-BD59-A6C34878D82A}">
                    <a16:rowId xmlns:a16="http://schemas.microsoft.com/office/drawing/2014/main" val="4245775366"/>
                  </a:ext>
                </a:extLst>
              </a:tr>
              <a:tr h="0">
                <a:tc>
                  <a:txBody>
                    <a:bodyPr/>
                    <a:lstStyle/>
                    <a:p>
                      <a:pPr algn="ctr" fontAlgn="ctr"/>
                      <a:r>
                        <a:rPr lang="en-GB" sz="1100" b="0" i="0" u="none" strike="noStrike" dirty="0">
                          <a:solidFill>
                            <a:schemeClr val="tx1"/>
                          </a:solidFill>
                          <a:effectLst/>
                          <a:latin typeface="Times New Roman" panose="02020603050405020304" pitchFamily="18" charset="0"/>
                        </a:rPr>
                        <a:t>21048</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N3</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190</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08/11/2025</a:t>
                      </a:r>
                    </a:p>
                  </a:txBody>
                  <a:tcPr marL="0" marR="0" marT="0" marB="0" anchor="ctr"/>
                </a:tc>
                <a:tc>
                  <a:txBody>
                    <a:bodyPr/>
                    <a:lstStyle/>
                    <a:p>
                      <a:r>
                        <a:rPr lang="en-US" sz="1100" b="0" dirty="0">
                          <a:solidFill>
                            <a:schemeClr val="tx1"/>
                          </a:solidFill>
                          <a:latin typeface="Times New Roman" panose="02020603050405020304" pitchFamily="18" charset="0"/>
                          <a:cs typeface="Times New Roman" panose="02020603050405020304" pitchFamily="18" charset="0"/>
                        </a:rPr>
                        <a:t>TBD</a:t>
                      </a:r>
                    </a:p>
                  </a:txBody>
                  <a:tcPr marL="121920" marR="121920" marT="60960" marB="60960" anchor="ctr"/>
                </a:tc>
                <a:extLst>
                  <a:ext uri="{0D108BD9-81ED-4DB2-BD59-A6C34878D82A}">
                    <a16:rowId xmlns:a16="http://schemas.microsoft.com/office/drawing/2014/main" val="2430177177"/>
                  </a:ext>
                </a:extLst>
              </a:tr>
              <a:tr h="0">
                <a:tc>
                  <a:txBody>
                    <a:bodyPr/>
                    <a:lstStyle/>
                    <a:p>
                      <a:pPr algn="ctr" fontAlgn="ctr"/>
                      <a:r>
                        <a:rPr lang="en-US" sz="1100" b="0" i="0" u="none" strike="noStrike" dirty="0">
                          <a:solidFill>
                            <a:schemeClr val="tx1"/>
                          </a:solidFill>
                          <a:effectLst/>
                          <a:latin typeface="Times New Roman" panose="02020603050405020304" pitchFamily="18" charset="0"/>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Transport</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latin typeface="Times New Roman" panose="02020603050405020304" pitchFamily="18" charset="0"/>
                          <a:cs typeface="Times New Roman" panose="02020603050405020304" pitchFamily="18" charset="0"/>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0">
                <a:tc>
                  <a:txBody>
                    <a:bodyPr/>
                    <a:lstStyle/>
                    <a:p>
                      <a:pPr algn="ctr" fontAlgn="ctr"/>
                      <a:r>
                        <a:rPr lang="en-US" sz="1100" b="0" i="0" u="none" strike="noStrike" dirty="0">
                          <a:solidFill>
                            <a:schemeClr val="tx1"/>
                          </a:solidFill>
                          <a:effectLst/>
                          <a:latin typeface="Times New Roman" panose="02020603050405020304" pitchFamily="18" charset="0"/>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A887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a:solidFill>
                            <a:schemeClr val="tx1"/>
                          </a:solidFill>
                          <a:effectLst/>
                          <a:latin typeface="Times New Roman" panose="02020603050405020304" pitchFamily="18" charset="0"/>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10/04/2026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latin typeface="Times New Roman" panose="02020603050405020304" pitchFamily="18" charset="0"/>
                          <a:cs typeface="Times New Roman" panose="02020603050405020304" pitchFamily="18" charset="0"/>
                        </a:rPr>
                        <a:t>TBD</a:t>
                      </a:r>
                    </a:p>
                  </a:txBody>
                  <a:tcPr marL="121920" marR="121920" marT="60960" marB="60960" anchor="ctr"/>
                </a:tc>
                <a:extLst>
                  <a:ext uri="{0D108BD9-81ED-4DB2-BD59-A6C34878D82A}">
                    <a16:rowId xmlns:a16="http://schemas.microsoft.com/office/drawing/2014/main" val="153343947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73504" y="5388336"/>
          <a:ext cx="5765457" cy="144780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Trống</a:t>
                      </a:r>
                      <a:r>
                        <a:rPr lang="en-GB" sz="1100" dirty="0">
                          <a:latin typeface="Times New Roman" panose="02020603050405020304" pitchFamily="18" charset="0"/>
                          <a:cs typeface="Times New Roman" panose="02020603050405020304" pitchFamily="18" charset="0"/>
                        </a:rPr>
                        <a:t> 2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100">
                          <a:latin typeface="Times New Roman" panose="02020603050405020304" pitchFamily="18" charset="0"/>
                          <a:cs typeface="Times New Roman" panose="02020603050405020304" pitchFamily="18" charset="0"/>
                        </a:rPr>
                        <a:t>A887</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1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1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hạn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kiểm</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tra</a:t>
                      </a:r>
                      <a:r>
                        <a:rPr lang="en-US" sz="1100" dirty="0">
                          <a:latin typeface="Times New Roman" panose="02020603050405020304" pitchFamily="18" charset="0"/>
                          <a:cs typeface="Times New Roman" panose="02020603050405020304" pitchFamily="18" charset="0"/>
                        </a:rPr>
                        <a:t> LPT</a:t>
                      </a: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0">
                <a:tc>
                  <a:txBody>
                    <a:bodyPr/>
                    <a:lstStyle/>
                    <a:p>
                      <a:r>
                        <a:rPr lang="en-US" sz="1100" dirty="0">
                          <a:latin typeface="Times New Roman" panose="02020603050405020304" pitchFamily="18" charset="0"/>
                          <a:cs typeface="Times New Roman" panose="02020603050405020304" pitchFamily="18" charset="0"/>
                        </a:rPr>
                        <a:t>A894</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Engine #2 stall, </a:t>
                      </a:r>
                      <a:r>
                        <a:rPr lang="en-US" sz="1100" dirty="0" err="1">
                          <a:latin typeface="Times New Roman" panose="02020603050405020304" pitchFamily="18" charset="0"/>
                          <a:cs typeface="Times New Roman" panose="02020603050405020304" pitchFamily="18" charset="0"/>
                        </a:rPr>
                        <a:t>thay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bằng</a:t>
                      </a:r>
                      <a:r>
                        <a:rPr lang="en-US" sz="1100" dirty="0">
                          <a:latin typeface="Times New Roman" panose="02020603050405020304" pitchFamily="18" charset="0"/>
                          <a:cs typeface="Times New Roman" panose="02020603050405020304" pitchFamily="18" charset="0"/>
                        </a:rPr>
                        <a:t> 21346 </a:t>
                      </a:r>
                      <a:r>
                        <a:rPr lang="en-US" sz="1100" dirty="0" err="1">
                          <a:latin typeface="Times New Roman" panose="02020603050405020304" pitchFamily="18" charset="0"/>
                          <a:cs typeface="Times New Roman" panose="02020603050405020304" pitchFamily="18" charset="0"/>
                        </a:rPr>
                        <a:t>đang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giữ</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giờ</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643425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285600" y="5047803"/>
            <a:ext cx="6705299"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(04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đang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thêm</a:t>
            </a:r>
            <a:r>
              <a:rPr lang="en-US" sz="1467" dirty="0">
                <a:solidFill>
                  <a:schemeClr val="tx1"/>
                </a:solidFill>
                <a:latin typeface="Times New Roman" panose="02020603050405020304" pitchFamily="18" charset="0"/>
                <a:cs typeface="Times New Roman" panose="02020603050405020304" pitchFamily="18" charset="0"/>
              </a:rPr>
              <a:t> 5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trong T5 – T7 (21201, 21584, 21040, 21136, 21137),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extend </a:t>
            </a:r>
            <a:r>
              <a:rPr lang="en-US" sz="1467">
                <a:solidFill>
                  <a:schemeClr val="tx1"/>
                </a:solidFill>
                <a:latin typeface="Times New Roman" panose="02020603050405020304" pitchFamily="18" charset="0"/>
                <a:cs typeface="Times New Roman" panose="02020603050405020304" pitchFamily="18" charset="0"/>
              </a:rPr>
              <a:t>TAT cao (trong tuần vừa có 3 động c</a:t>
            </a:r>
            <a:r>
              <a:rPr lang="vi-VN" sz="1467">
                <a:solidFill>
                  <a:schemeClr val="tx1"/>
                </a:solidFill>
                <a:latin typeface="Times New Roman" panose="02020603050405020304" pitchFamily="18" charset="0"/>
                <a:cs typeface="Times New Roman" panose="02020603050405020304" pitchFamily="18" charset="0"/>
              </a:rPr>
              <a:t>ơ</a:t>
            </a:r>
            <a:r>
              <a:rPr lang="en-US" sz="1467">
                <a:solidFill>
                  <a:schemeClr val="tx1"/>
                </a:solidFill>
                <a:latin typeface="Times New Roman" panose="02020603050405020304" pitchFamily="18" charset="0"/>
                <a:cs typeface="Times New Roman" panose="02020603050405020304" pitchFamily="18" charset="0"/>
              </a:rPr>
              <a:t> delay 2-3 tuần).</a:t>
            </a:r>
            <a:endParaRPr lang="en-US" sz="1467" dirty="0">
              <a:solidFill>
                <a:schemeClr val="tx1"/>
              </a:solidFill>
              <a:latin typeface="Times New Roman" panose="02020603050405020304" pitchFamily="18" charset="0"/>
              <a:cs typeface="Times New Roman" panose="02020603050405020304" pitchFamily="18" charset="0"/>
            </a:endParaRPr>
          </a:p>
          <a:p>
            <a:pPr marL="342900" indent="-342900" defTabSz="1219170">
              <a:buAutoNum type="arabicPeriod"/>
              <a:defRPr/>
            </a:pPr>
            <a:r>
              <a:rPr lang="en-US" sz="1467" b="1">
                <a:solidFill>
                  <a:srgbClr val="FF0000"/>
                </a:solidFill>
                <a:latin typeface="Times New Roman" panose="02020603050405020304" pitchFamily="18" charset="0"/>
                <a:cs typeface="Times New Roman" panose="02020603050405020304" pitchFamily="18" charset="0"/>
              </a:rPr>
              <a:t>Rủi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(A889#1 21088 100FC);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Crack IPC (A898#2 21268 100FC, A889#1 21088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2300FC trong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Oil leak (A893#2 21369); Oil Hiding (A889#2 21034, A888#1 21052)</a:t>
            </a:r>
          </a:p>
          <a:p>
            <a:pPr marL="342900" indent="-342900" defTabSz="1219170">
              <a:buAutoNum type="arabicPeriod"/>
              <a:defRPr/>
            </a:pPr>
            <a:r>
              <a:rPr lang="en-US" sz="1467" b="1">
                <a:solidFill>
                  <a:srgbClr val="FF0000"/>
                </a:solidFill>
                <a:latin typeface="Times New Roman" panose="02020603050405020304" pitchFamily="18" charset="0"/>
                <a:cs typeface="Times New Roman" panose="02020603050405020304" pitchFamily="18" charset="0"/>
              </a:rPr>
              <a:t>Rủi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A894#2 21346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10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A890#2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30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6" name="Speech Bubble: Rectangle with Corners Rounded 5">
            <a:extLst>
              <a:ext uri="{FF2B5EF4-FFF2-40B4-BE49-F238E27FC236}">
                <a16:creationId xmlns:a16="http://schemas.microsoft.com/office/drawing/2014/main" id="{87318093-8F30-48D6-BF7A-72BA9F16DCB5}"/>
              </a:ext>
            </a:extLst>
          </p:cNvPr>
          <p:cNvSpPr/>
          <p:nvPr/>
        </p:nvSpPr>
        <p:spPr>
          <a:xfrm>
            <a:off x="6705600" y="5372799"/>
            <a:ext cx="1524000" cy="844824"/>
          </a:xfrm>
          <a:prstGeom prst="wedgeRoundRectCallout">
            <a:avLst>
              <a:gd name="adj1" fmla="val 109167"/>
              <a:gd name="adj2" fmla="val 276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Tăng AOG do động c</a:t>
            </a:r>
            <a:r>
              <a:rPr lang="vi-VN" sz="1000"/>
              <a:t>ơ</a:t>
            </a:r>
            <a:r>
              <a:rPr lang="en-US" sz="1000"/>
              <a:t> về muộn. Thực tế số tàu dừng cao hơn do cần làm RTS và thay động c</a:t>
            </a:r>
            <a:r>
              <a:rPr lang="vi-VN" sz="1000"/>
              <a:t>ơ</a:t>
            </a:r>
            <a:endParaRPr lang="en-US" sz="1000"/>
          </a:p>
        </p:txBody>
      </p:sp>
    </p:spTree>
    <p:extLst>
      <p:ext uri="{BB962C8B-B14F-4D97-AF65-F5344CB8AC3E}">
        <p14:creationId xmlns:p14="http://schemas.microsoft.com/office/powerpoint/2010/main" val="419340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36</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85569"/>
          <a:ext cx="6207275" cy="2267231"/>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455001">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15-16/06/2025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10-11/07/2025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137730"/>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49952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5" y="3956340"/>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5799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01/06/2025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800" y="3935919"/>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9" y="3499526"/>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04451" y="5783712"/>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a:t>
            </a:r>
            <a:r>
              <a:rPr lang="en-US" sz="1600">
                <a:solidFill>
                  <a:schemeClr val="tx1"/>
                </a:solidFill>
                <a:latin typeface="Times New Roman" panose="02020603050405020304" pitchFamily="18" charset="0"/>
                <a:cs typeface="Times New Roman" panose="02020603050405020304" pitchFamily="18" charset="0"/>
              </a:rPr>
              <a:t>. </a:t>
            </a:r>
          </a:p>
          <a:p>
            <a:pPr marL="380990" indent="-380990" defTabSz="1219170">
              <a:lnSpc>
                <a:spcPct val="125000"/>
              </a:lnSpc>
              <a:buFont typeface="Arial" panose="020B0604020202020204" pitchFamily="34" charset="0"/>
              <a:buChar char="•"/>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endParaRPr lang="en-US" sz="1600">
              <a:solidFill>
                <a:schemeClr val="tx1"/>
              </a:solidFill>
              <a:latin typeface="Times New Roman" panose="02020603050405020304" pitchFamily="18" charset="0"/>
              <a:cs typeface="Times New Roman" panose="02020603050405020304" pitchFamily="18" charset="0"/>
            </a:endParaRP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Ban ĐTMS đang triển khai thủ tục gia hạn cho K6 thuê tàu B220 từ T7/2025 đến T11/2025.</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185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06563">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A359</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19-Jul-25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BER</a:t>
                      </a:r>
                      <a:r>
                        <a:rPr lang="en-US" sz="15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baseline="0" dirty="0" err="1">
                          <a:solidFill>
                            <a:srgbClr val="FF0000"/>
                          </a:solidFill>
                          <a:effectLst/>
                          <a:latin typeface="Times New Roman" panose="02020603050405020304" pitchFamily="18" charset="0"/>
                          <a:cs typeface="Times New Roman" panose="02020603050405020304" pitchFamily="18" charset="0"/>
                        </a:rPr>
                        <a:t>chờ</a:t>
                      </a:r>
                      <a:r>
                        <a:rPr lang="en-US" sz="1500" b="0" i="0" u="none" strike="noStrike" baseline="0" dirty="0">
                          <a:solidFill>
                            <a:srgbClr val="FF0000"/>
                          </a:solidFill>
                          <a:effectLst/>
                          <a:latin typeface="Times New Roman" panose="02020603050405020304" pitchFamily="18" charset="0"/>
                          <a:cs typeface="Times New Roman" panose="02020603050405020304" pitchFamily="18" charset="0"/>
                        </a:rPr>
                        <a:t> PTVT </a:t>
                      </a:r>
                      <a:r>
                        <a:rPr lang="en-US" sz="1500" b="0" i="0" u="none" strike="noStrike" baseline="0" dirty="0" err="1">
                          <a:solidFill>
                            <a:srgbClr val="FF0000"/>
                          </a:solidFill>
                          <a:effectLst/>
                          <a:latin typeface="Times New Roman" panose="02020603050405020304" pitchFamily="18" charset="0"/>
                          <a:cs typeface="Times New Roman" panose="02020603050405020304" pitchFamily="18" charset="0"/>
                        </a:rPr>
                        <a:t>sửa</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A898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chờ</a:t>
                      </a:r>
                      <a:r>
                        <a:rPr lang="en-US" sz="1500" b="0" i="0" u="none" strike="noStrike" baseline="0" dirty="0">
                          <a:solidFill>
                            <a:srgbClr val="FF0000"/>
                          </a:solidFill>
                          <a:effectLst/>
                          <a:latin typeface="Times New Roman" panose="02020603050405020304" pitchFamily="18" charset="0"/>
                          <a:cs typeface="Times New Roman" panose="02020603050405020304" pitchFamily="18" charset="0"/>
                        </a:rPr>
                        <a:t> BSI)</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 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169547" cy="2308324"/>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đánh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giá</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phương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giữ</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cho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endPar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endParaRP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p>
          <a:p>
            <a:pPr marL="990575" lvl="1" indent="-380990" defTabSz="1219170">
              <a:buFont typeface="Wingdings" panose="05000000000000000000" pitchFamily="2" charset="2"/>
              <a:buChar char="ü"/>
              <a:defRPr/>
            </a:pP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KH RTS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A350 BQDB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a:t>
            </a:r>
            <a:r>
              <a:rPr lang="vi-VN" dirty="0">
                <a:solidFill>
                  <a:prstClr val="black"/>
                </a:solidFill>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1066785" lvl="2">
              <a:defRPr/>
            </a:pP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(Trong 03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cuối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sử</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dụng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thuê</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 KH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HĐ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thuê</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trong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T5,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dự</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kiến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T6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nhận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990575" lvl="1" indent="-380990">
              <a:buFont typeface="Wingdings" panose="05000000000000000000" pitchFamily="2" charset="2"/>
              <a:buChar char="ü"/>
              <a:defRPr/>
            </a:pP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sinh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02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a:t>
            </a:r>
            <a:r>
              <a:rPr lang="vi-VN" dirty="0">
                <a:solidFill>
                  <a:prstClr val="black"/>
                </a:solidFill>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ngoài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dẫn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đủ</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để</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clear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cần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endPar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6719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323439"/>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05/05/2025 – 11/05/2025: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A610, A334.</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A898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EGT thermocouple), A338-A332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Ignition), A601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Oil Filter), A605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AOS adapter), A890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APU).</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03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A610, A334.</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84185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2093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A610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BAD SMELL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08/05. KH T/S HAN 12/05.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A890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A334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vật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427382"/>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2438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609600"/>
            <a:ext cx="10512582" cy="19050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A617/20/22/23/24/25, A886/887/895) /</a:t>
            </a:r>
            <a:r>
              <a:rPr lang="pt-BR" sz="1600" b="1" dirty="0">
                <a:solidFill>
                  <a:schemeClr val="accent1">
                    <a:lumMod val="75000"/>
                  </a:schemeClr>
                </a:solidFill>
                <a:cs typeface="Times New Roman" panose="02020603050405020304" pitchFamily="18" charset="0"/>
              </a:rPr>
              <a:t> SGN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a:t>
            </a:r>
            <a:r>
              <a:rPr lang="en-US" sz="1600" b="1">
                <a:cs typeface="Times New Roman" panose="02020603050405020304" pitchFamily="18" charset="0"/>
              </a:rPr>
              <a:t>: A604;</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a:t>
            </a:r>
            <a:r>
              <a:rPr lang="en-US" sz="1600" b="1">
                <a:cs typeface="Times New Roman" panose="02020603050405020304" pitchFamily="18" charset="0"/>
              </a:rPr>
              <a:t>: A894, A899;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              ATR72: B218;</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a:t>
            </a:r>
            <a:r>
              <a:rPr lang="en-US" sz="1600" b="1">
                <a:cs typeface="Times New Roman" panose="02020603050405020304" pitchFamily="18" charset="0"/>
              </a:rPr>
              <a:t>: A871</a:t>
            </a:r>
            <a:r>
              <a:rPr lang="en-US" sz="1600" b="1" dirty="0">
                <a:cs typeface="Times New Roman" panose="02020603050405020304" pitchFamily="18" charset="0"/>
              </a:rPr>
              <a:t>;</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438400"/>
            <a:ext cx="11068012" cy="39624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a:solidFill>
                  <a:srgbClr val="FF0000"/>
                </a:solidFill>
                <a:cs typeface="Times New Roman" panose="02020603050405020304" pitchFamily="18" charset="0"/>
                <a:sym typeface="Wingdings" panose="05000000000000000000" pitchFamily="2" charset="2"/>
              </a:rPr>
              <a:t>A604_HAN_EC06+EC01+C02+C03+Y06+Y12+EA08-EA09_13/04-13/05: On sked</a:t>
            </a:r>
          </a:p>
          <a:p>
            <a:pPr marL="12700" indent="0" algn="just">
              <a:lnSpc>
                <a:spcPct val="100000"/>
              </a:lnSpc>
              <a:spcBef>
                <a:spcPts val="600"/>
              </a:spcBef>
              <a:buSzPts val="1100"/>
              <a:buNone/>
            </a:pPr>
            <a:r>
              <a:rPr lang="es-ES" sz="1500">
                <a:cs typeface="Times New Roman" panose="02020603050405020304" pitchFamily="18" charset="0"/>
                <a:sym typeface="Wingdings" panose="05000000000000000000" pitchFamily="2" charset="2"/>
              </a:rPr>
              <a:t>    </a:t>
            </a:r>
            <a:r>
              <a:rPr lang="vi-VN" sz="1500">
                <a:cs typeface="Times New Roman" panose="02020603050405020304" pitchFamily="18" charset="0"/>
                <a:sym typeface="Wingdings" panose="05000000000000000000" pitchFamily="2" charset="2"/>
              </a:rPr>
              <a:t>- Cần vật tư: CAN-RAIN REPELLENT, PN: 402Q80-1 = &gt; VAECO đánh giá  sớm sử dụng Vật tư về cho A604 hay raise ADD.</a:t>
            </a:r>
          </a:p>
          <a:p>
            <a:pPr marL="12700" indent="0" algn="just">
              <a:lnSpc>
                <a:spcPct val="100000"/>
              </a:lnSpc>
              <a:spcBef>
                <a:spcPts val="600"/>
              </a:spcBef>
              <a:buSzPts val="1100"/>
              <a:buNone/>
            </a:pPr>
            <a:r>
              <a:rPr lang="vi-VN" sz="1500">
                <a:cs typeface="Times New Roman" panose="02020603050405020304" pitchFamily="18" charset="0"/>
                <a:sym typeface="Wingdings" panose="05000000000000000000" pitchFamily="2" charset="2"/>
              </a:rPr>
              <a:t>    - Vật tư C-Duct Act PN: 3282982-3 và FAN COWL LH, PN: 745-4000-515 chưa có Est. Inlet cowl rob cho A332, Pump bị rob cho A604  =&gt; Rob từ A363 taị SGN.</a:t>
            </a:r>
            <a:endParaRPr lang="en-US" sz="150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50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500" b="1">
                <a:cs typeface="Times New Roman" panose="02020603050405020304" pitchFamily="18" charset="0"/>
              </a:rPr>
              <a:t>II</a:t>
            </a:r>
            <a:r>
              <a:rPr lang="en-US" sz="1500" b="1" dirty="0">
                <a:cs typeface="Times New Roman" panose="02020603050405020304" pitchFamily="18" charset="0"/>
              </a:rPr>
              <a:t>. A350:</a:t>
            </a:r>
            <a:r>
              <a:rPr lang="es-ES" sz="1500" i="1" dirty="0">
                <a:cs typeface="Times New Roman" panose="02020603050405020304" pitchFamily="18" charset="0"/>
                <a:sym typeface="Wingdings" panose="05000000000000000000" pitchFamily="2" charset="2"/>
              </a:rPr>
              <a:t> </a:t>
            </a:r>
          </a:p>
          <a:p>
            <a:pPr marL="12700" indent="0" algn="just">
              <a:buSzPts val="1100"/>
              <a:buNone/>
            </a:pPr>
            <a:r>
              <a:rPr lang="en-US" sz="1500" b="1">
                <a:solidFill>
                  <a:srgbClr val="FF0000"/>
                </a:solidFill>
                <a:cs typeface="Times New Roman" panose="02020603050405020304" pitchFamily="18" charset="0"/>
                <a:sym typeface="Wingdings" panose="05000000000000000000" pitchFamily="2" charset="2"/>
              </a:rPr>
              <a:t>   1</a:t>
            </a:r>
            <a:r>
              <a:rPr lang="vi-VN" sz="1500" b="1">
                <a:solidFill>
                  <a:srgbClr val="FF0000"/>
                </a:solidFill>
                <a:cs typeface="Times New Roman" panose="02020603050405020304" pitchFamily="18" charset="0"/>
                <a:sym typeface="Wingdings" panose="05000000000000000000" pitchFamily="2" charset="2"/>
              </a:rPr>
              <a:t>. A899_HAN_Y06+Y03+C01+A01+TASK REMAIN A12_06-28/05: On sked</a:t>
            </a:r>
          </a:p>
          <a:p>
            <a:pPr marL="12700" indent="0" algn="just">
              <a:buSzPts val="1100"/>
              <a:buNone/>
            </a:pPr>
            <a:r>
              <a:rPr lang="vi-VN" sz="1500">
                <a:cs typeface="Times New Roman" panose="02020603050405020304" pitchFamily="18" charset="0"/>
                <a:sym typeface="Wingdings" panose="05000000000000000000" pitchFamily="2" charset="2"/>
              </a:rPr>
              <a:t>   - Chiều 06/05, 1 số nội dung Bảo dưỡng cần hold lại chờ phương án tàu cho khai thác,, VAECO sẽ bố trí công việc tránh ảnh hưởng tiến độ.</a:t>
            </a:r>
          </a:p>
          <a:p>
            <a:pPr marL="12700" indent="0" algn="just">
              <a:buSzPts val="1100"/>
              <a:buNone/>
            </a:pPr>
            <a:r>
              <a:rPr lang="vi-VN" sz="1500">
                <a:cs typeface="Times New Roman" panose="02020603050405020304" pitchFamily="18" charset="0"/>
                <a:sym typeface="Wingdings" panose="05000000000000000000" pitchFamily="2" charset="2"/>
              </a:rPr>
              <a:t>  </a:t>
            </a:r>
            <a:r>
              <a:rPr lang="en-US" sz="1500">
                <a:cs typeface="Times New Roman" panose="02020603050405020304" pitchFamily="18" charset="0"/>
                <a:sym typeface="Wingdings" panose="05000000000000000000" pitchFamily="2" charset="2"/>
              </a:rPr>
              <a:t> </a:t>
            </a:r>
            <a:r>
              <a:rPr lang="vi-VN" sz="1500">
                <a:cs typeface="Times New Roman" panose="02020603050405020304" pitchFamily="18" charset="0"/>
                <a:sym typeface="Wingdings" panose="05000000000000000000" pitchFamily="2" charset="2"/>
              </a:rPr>
              <a:t>- Dent at Flap #4 RH, VAECO đang hỏi Airbus. Airbus hẹn 10/5 trả lời.</a:t>
            </a:r>
            <a:endParaRPr lang="en-US" sz="1500">
              <a:cs typeface="Times New Roman" panose="02020603050405020304" pitchFamily="18" charset="0"/>
              <a:sym typeface="Wingdings" panose="05000000000000000000" pitchFamily="2" charset="2"/>
            </a:endParaRPr>
          </a:p>
          <a:p>
            <a:pPr marL="12700" indent="0" algn="just">
              <a:buSzPts val="1100"/>
              <a:buNone/>
            </a:pPr>
            <a:endParaRPr lang="vi-VN" sz="1500" b="1">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500" b="1">
                <a:solidFill>
                  <a:srgbClr val="FF0000"/>
                </a:solidFill>
                <a:cs typeface="Times New Roman" panose="02020603050405020304" pitchFamily="18" charset="0"/>
                <a:sym typeface="Wingdings" panose="05000000000000000000" pitchFamily="2" charset="2"/>
              </a:rPr>
              <a:t>    2</a:t>
            </a:r>
            <a:r>
              <a:rPr lang="vi-VN" sz="1500" b="1">
                <a:solidFill>
                  <a:srgbClr val="FF0000"/>
                </a:solidFill>
                <a:cs typeface="Times New Roman" panose="02020603050405020304" pitchFamily="18" charset="0"/>
                <a:sym typeface="Wingdings" panose="05000000000000000000" pitchFamily="2" charset="2"/>
              </a:rPr>
              <a:t>. A894_HAN_ENGCHG+Shackle RPL_07-15/05: On sked</a:t>
            </a: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816007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40</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457200" y="762000"/>
            <a:ext cx="10972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400" b="1" dirty="0">
                <a:cs typeface="Times New Roman" panose="02020603050405020304" pitchFamily="18" charset="0"/>
                <a:sym typeface="Wingdings" panose="05000000000000000000" pitchFamily="2" charset="2"/>
              </a:rPr>
              <a:t>III. B787:</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 1</a:t>
            </a:r>
            <a:r>
              <a:rPr lang="en-US" sz="1400" b="1">
                <a:solidFill>
                  <a:srgbClr val="FF0000"/>
                </a:solidFill>
                <a:cs typeface="Times New Roman" panose="02020603050405020304" pitchFamily="18" charset="0"/>
                <a:sym typeface="Wingdings" panose="05000000000000000000" pitchFamily="2" charset="2"/>
              </a:rPr>
              <a:t>. </a:t>
            </a:r>
            <a:r>
              <a:rPr lang="en-SG" sz="1400" b="1">
                <a:solidFill>
                  <a:srgbClr val="FF0000"/>
                </a:solidFill>
                <a:cs typeface="Times New Roman" panose="02020603050405020304" pitchFamily="18" charset="0"/>
                <a:sym typeface="Wingdings" panose="05000000000000000000" pitchFamily="2" charset="2"/>
              </a:rPr>
              <a:t>A871_SGN_ENGCHG_08-11/5: On sked</a:t>
            </a: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s-ES" sz="1400" b="1" dirty="0">
                <a:cs typeface="Times New Roman" panose="02020603050405020304" pitchFamily="18" charset="0"/>
                <a:sym typeface="Wingdings" panose="05000000000000000000" pitchFamily="2" charset="2"/>
              </a:rPr>
              <a:t>IV. ATR72:</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Ext 13/5.</a:t>
            </a:r>
          </a:p>
          <a:p>
            <a:pPr marL="12700" indent="0" algn="just">
              <a:lnSpc>
                <a:spcPct val="150000"/>
              </a:lnSpc>
              <a:buSzPts val="1100"/>
              <a:buNone/>
            </a:pPr>
            <a:r>
              <a:rPr lang="en-US" sz="1400">
                <a:cs typeface="Times New Roman" panose="02020603050405020304" pitchFamily="18" charset="0"/>
                <a:sym typeface="Wingdings" panose="05000000000000000000" pitchFamily="2" charset="2"/>
              </a:rPr>
              <a:t>  </a:t>
            </a:r>
            <a:r>
              <a:rPr lang="vi-VN" sz="1400">
                <a:cs typeface="Times New Roman" panose="02020603050405020304" pitchFamily="18" charset="0"/>
                <a:sym typeface="Wingdings" panose="05000000000000000000" pitchFamily="2" charset="2"/>
              </a:rPr>
              <a:t>- 17/4, Heavy corrosion Lower Frame Segment LH 41 = &gt; Ext tới 10/5 để sửa chữa</a:t>
            </a:r>
          </a:p>
          <a:p>
            <a:pPr marL="12700" indent="0" algn="just">
              <a:lnSpc>
                <a:spcPct val="150000"/>
              </a:lnSpc>
              <a:buSzPts val="1100"/>
              <a:buNone/>
            </a:pPr>
            <a:r>
              <a:rPr lang="vi-VN" sz="1400">
                <a:cs typeface="Times New Roman" panose="02020603050405020304" pitchFamily="18" charset="0"/>
                <a:sym typeface="Wingdings" panose="05000000000000000000" pitchFamily="2" charset="2"/>
              </a:rPr>
              <a:t> - Swap càng B219 cho B218 từ 11-13/5</a:t>
            </a:r>
            <a:r>
              <a:rPr lang="en-US" sz="1400">
                <a:cs typeface="Times New Roman" panose="02020603050405020304" pitchFamily="18" charset="0"/>
                <a:sym typeface="Wingdings" panose="05000000000000000000" pitchFamily="2" charset="2"/>
              </a:rPr>
              <a:t>.</a:t>
            </a:r>
            <a:endParaRPr lang="vi-VN" sz="1400">
              <a:cs typeface="Times New Roman" panose="02020603050405020304" pitchFamily="18" charset="0"/>
              <a:sym typeface="Wingdings" panose="05000000000000000000" pitchFamily="2" charset="2"/>
            </a:endParaRPr>
          </a:p>
          <a:p>
            <a:pPr marL="12700" indent="0" algn="just">
              <a:lnSpc>
                <a:spcPct val="150000"/>
              </a:lnSpc>
              <a:buSzPts val="1100"/>
              <a:buNone/>
            </a:pPr>
            <a:r>
              <a:rPr lang="vi-VN" sz="1400">
                <a:cs typeface="Times New Roman" panose="02020603050405020304" pitchFamily="18" charset="0"/>
                <a:sym typeface="Wingdings" panose="05000000000000000000" pitchFamily="2" charset="2"/>
              </a:rPr>
              <a:t> - Một số vật tư chưa có source sẽ rob từ B219. Đ/n CƯVT/ QLVT push hàng để lắp cho B219. LH MLG +SIDE BRACE cho B219 dự kiến về đầu T6</a:t>
            </a:r>
            <a:endParaRPr lang="x-none" dirty="0"/>
          </a:p>
        </p:txBody>
      </p:sp>
    </p:spTree>
    <p:extLst>
      <p:ext uri="{BB962C8B-B14F-4D97-AF65-F5344CB8AC3E}">
        <p14:creationId xmlns:p14="http://schemas.microsoft.com/office/powerpoint/2010/main" val="2621510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p:cNvGraphicFramePr>
            <a:graphicFrameLocks noGrp="1"/>
          </p:cNvGraphicFramePr>
          <p:nvPr/>
        </p:nvGraphicFramePr>
        <p:xfrm>
          <a:off x="369436" y="1066800"/>
          <a:ext cx="11593962" cy="5181600"/>
        </p:xfrm>
        <a:graphic>
          <a:graphicData uri="http://schemas.openxmlformats.org/drawingml/2006/table">
            <a:tbl>
              <a:tblPr/>
              <a:tblGrid>
                <a:gridCol w="347586">
                  <a:extLst>
                    <a:ext uri="{9D8B030D-6E8A-4147-A177-3AD203B41FA5}">
                      <a16:colId xmlns:a16="http://schemas.microsoft.com/office/drawing/2014/main" val="2012481524"/>
                    </a:ext>
                  </a:extLst>
                </a:gridCol>
                <a:gridCol w="2299408">
                  <a:extLst>
                    <a:ext uri="{9D8B030D-6E8A-4147-A177-3AD203B41FA5}">
                      <a16:colId xmlns:a16="http://schemas.microsoft.com/office/drawing/2014/main" val="2622179980"/>
                    </a:ext>
                  </a:extLst>
                </a:gridCol>
                <a:gridCol w="588221">
                  <a:extLst>
                    <a:ext uri="{9D8B030D-6E8A-4147-A177-3AD203B41FA5}">
                      <a16:colId xmlns:a16="http://schemas.microsoft.com/office/drawing/2014/main" val="162264811"/>
                    </a:ext>
                  </a:extLst>
                </a:gridCol>
                <a:gridCol w="511351">
                  <a:extLst>
                    <a:ext uri="{9D8B030D-6E8A-4147-A177-3AD203B41FA5}">
                      <a16:colId xmlns:a16="http://schemas.microsoft.com/office/drawing/2014/main" val="4065845867"/>
                    </a:ext>
                  </a:extLst>
                </a:gridCol>
                <a:gridCol w="494641">
                  <a:extLst>
                    <a:ext uri="{9D8B030D-6E8A-4147-A177-3AD203B41FA5}">
                      <a16:colId xmlns:a16="http://schemas.microsoft.com/office/drawing/2014/main" val="3980095389"/>
                    </a:ext>
                  </a:extLst>
                </a:gridCol>
                <a:gridCol w="548114">
                  <a:extLst>
                    <a:ext uri="{9D8B030D-6E8A-4147-A177-3AD203B41FA5}">
                      <a16:colId xmlns:a16="http://schemas.microsoft.com/office/drawing/2014/main" val="30054456"/>
                    </a:ext>
                  </a:extLst>
                </a:gridCol>
                <a:gridCol w="521376">
                  <a:extLst>
                    <a:ext uri="{9D8B030D-6E8A-4147-A177-3AD203B41FA5}">
                      <a16:colId xmlns:a16="http://schemas.microsoft.com/office/drawing/2014/main" val="2852659283"/>
                    </a:ext>
                  </a:extLst>
                </a:gridCol>
                <a:gridCol w="534746">
                  <a:extLst>
                    <a:ext uri="{9D8B030D-6E8A-4147-A177-3AD203B41FA5}">
                      <a16:colId xmlns:a16="http://schemas.microsoft.com/office/drawing/2014/main" val="3149480697"/>
                    </a:ext>
                  </a:extLst>
                </a:gridCol>
                <a:gridCol w="548114">
                  <a:extLst>
                    <a:ext uri="{9D8B030D-6E8A-4147-A177-3AD203B41FA5}">
                      <a16:colId xmlns:a16="http://schemas.microsoft.com/office/drawing/2014/main" val="2504389781"/>
                    </a:ext>
                  </a:extLst>
                </a:gridCol>
                <a:gridCol w="548114">
                  <a:extLst>
                    <a:ext uri="{9D8B030D-6E8A-4147-A177-3AD203B41FA5}">
                      <a16:colId xmlns:a16="http://schemas.microsoft.com/office/drawing/2014/main" val="2787010622"/>
                    </a:ext>
                  </a:extLst>
                </a:gridCol>
                <a:gridCol w="4652291">
                  <a:extLst>
                    <a:ext uri="{9D8B030D-6E8A-4147-A177-3AD203B41FA5}">
                      <a16:colId xmlns:a16="http://schemas.microsoft.com/office/drawing/2014/main" val="1767162654"/>
                    </a:ext>
                  </a:extLst>
                </a:gridCol>
              </a:tblGrid>
              <a:tr h="409170">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THUẬT FLEET A321 (CẬP NHẬT 11/05)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18484625"/>
                  </a:ext>
                </a:extLst>
              </a:tr>
              <a:tr h="495965">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234790937"/>
                  </a:ext>
                </a:extLst>
              </a:tr>
              <a:tr h="964159">
                <a:tc>
                  <a:txBody>
                    <a:bodyPr/>
                    <a:lstStyle/>
                    <a:p>
                      <a:pPr algn="ctr" fontAlgn="ctr"/>
                      <a:r>
                        <a:rPr lang="en-US" sz="1200" b="1" i="0" u="none" strike="noStrike">
                          <a:solidFill>
                            <a:srgbClr val="000000"/>
                          </a:solidFill>
                          <a:effectLst/>
                          <a:latin typeface="Times New Roman" panose="02020603050405020304" pitchFamily="18" charset="0"/>
                        </a:rPr>
                        <a:t>1</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 do thiếu ENG</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Times New Roman" panose="02020603050405020304" pitchFamily="18" charset="0"/>
                        </a:rPr>
                        <a:t>- 07/2025: tăng 0.25 tàu do ENG P771041 dự kiến về 07/07 muộn 25 ngày so với KH cũ 12/06.</a:t>
                      </a:r>
                      <a:br>
                        <a:rPr lang="vi-VN" sz="1200" b="0" i="0" u="none" strike="noStrike">
                          <a:solidFill>
                            <a:srgbClr val="FF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- 06/2025: tăng </a:t>
                      </a:r>
                      <a:r>
                        <a:rPr lang="en-US" sz="1200" b="0" i="0" u="none" strike="noStrike">
                          <a:solidFill>
                            <a:srgbClr val="FF0000"/>
                          </a:solidFill>
                          <a:effectLst/>
                          <a:latin typeface="Times New Roman" panose="02020603050405020304" pitchFamily="18" charset="0"/>
                        </a:rPr>
                        <a:t>0.75</a:t>
                      </a:r>
                      <a:r>
                        <a:rPr lang="vi-VN" sz="1200" b="0" i="0" u="none" strike="noStrike">
                          <a:solidFill>
                            <a:srgbClr val="FF0000"/>
                          </a:solidFill>
                          <a:effectLst/>
                          <a:latin typeface="Times New Roman" panose="02020603050405020304" pitchFamily="18" charset="0"/>
                        </a:rPr>
                        <a:t> tàu do ENG P771387 dự kiến về 26/05 muộn 25 ngày so với KH cũ 26/05</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Thuê 1 ENG NEO trước 05/06)</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2630175"/>
                  </a:ext>
                </a:extLst>
              </a:tr>
              <a:tr h="570358">
                <a:tc>
                  <a:txBody>
                    <a:bodyPr/>
                    <a:lstStyle/>
                    <a:p>
                      <a:pPr algn="ctr" fontAlgn="ctr"/>
                      <a:r>
                        <a:rPr lang="en-US" sz="1200" b="1" i="0" u="none" strike="noStrike">
                          <a:solidFill>
                            <a:srgbClr val="000000"/>
                          </a:solidFill>
                          <a:effectLst/>
                          <a:latin typeface="Times New Roman" panose="02020603050405020304" pitchFamily="18" charset="0"/>
                        </a:rPr>
                        <a:t>1'</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A321 NEO AOG do thiếu ENG </a:t>
                      </a:r>
                    </a:p>
                    <a:p>
                      <a:pPr algn="ctr" fontAlgn="ctr"/>
                      <a:r>
                        <a:rPr lang="en-US" sz="1200" b="1" i="0" u="none" strike="noStrike">
                          <a:solidFill>
                            <a:srgbClr val="000000"/>
                          </a:solidFill>
                          <a:effectLst/>
                          <a:latin typeface="Times New Roman" panose="02020603050405020304" pitchFamily="18" charset="0"/>
                        </a:rPr>
                        <a:t>(updated 27/04)</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vi-VN" sz="1200" b="0" i="0" u="none" strike="noStrike">
                          <a:solidFill>
                            <a:srgbClr val="000000"/>
                          </a:solidFill>
                          <a:effectLst/>
                          <a:latin typeface="Times New Roman" panose="02020603050405020304" pitchFamily="18" charset="0"/>
                        </a:rPr>
                        <a:t>- Thuê 1 ENG NEO trước 05/06)</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49551470"/>
                  </a:ext>
                </a:extLst>
              </a:tr>
              <a:tr h="442177">
                <a:tc>
                  <a:txBody>
                    <a:bodyPr/>
                    <a:lstStyle/>
                    <a:p>
                      <a:pPr algn="ctr" fontAlgn="ctr"/>
                      <a:r>
                        <a:rPr lang="en-US" sz="1200" b="1" i="0" u="none" strike="noStrike">
                          <a:solidFill>
                            <a:srgbClr val="000000"/>
                          </a:solidFill>
                          <a:effectLst/>
                          <a:latin typeface="Times New Roman" panose="02020603050405020304" pitchFamily="18" charset="0"/>
                        </a:rPr>
                        <a:t>2</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94533651"/>
                  </a:ext>
                </a:extLst>
              </a:tr>
              <a:tr h="898673">
                <a:tc>
                  <a:txBody>
                    <a:bodyPr/>
                    <a:lstStyle/>
                    <a:p>
                      <a:pPr algn="ctr" fontAlgn="ctr"/>
                      <a:r>
                        <a:rPr lang="en-US" sz="1200" b="1" i="0" u="none" strike="noStrike">
                          <a:solidFill>
                            <a:srgbClr val="000000"/>
                          </a:solidFill>
                          <a:effectLst/>
                          <a:latin typeface="Times New Roman" panose="02020603050405020304" pitchFamily="18" charset="0"/>
                        </a:rPr>
                        <a:t>3</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- 08/2025: tăng 0.3 do dồn lịch tháng 7</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- 07/2025: tăng 0.3 do dồn lịch tháng 5 &amp; 6</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- 06/2025: tăng 0.1 tàu do A354 cần 3 ngày thực hiện ALI task</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- 05/2025: giảm 0.3 tàu (lùi check để bay bù do A501 RTS muộn)</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2350595"/>
                  </a:ext>
                </a:extLst>
              </a:tr>
              <a:tr h="520762">
                <a:tc>
                  <a:txBody>
                    <a:bodyPr/>
                    <a:lstStyle/>
                    <a:p>
                      <a:pPr algn="ctr" fontAlgn="ctr"/>
                      <a:r>
                        <a:rPr lang="en-US" sz="1200" b="1" i="0" u="none" strike="noStrike">
                          <a:solidFill>
                            <a:srgbClr val="000000"/>
                          </a:solidFill>
                          <a:effectLst/>
                          <a:latin typeface="Times New Roman" panose="02020603050405020304" pitchFamily="18" charset="0"/>
                        </a:rPr>
                        <a:t>4</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17.10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13.55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12.15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601778859"/>
                  </a:ext>
                </a:extLst>
              </a:tr>
              <a:tr h="520762">
                <a:tc>
                  <a:txBody>
                    <a:bodyPr/>
                    <a:lstStyle/>
                    <a:p>
                      <a:pPr algn="ctr" fontAlgn="ctr"/>
                      <a:r>
                        <a:rPr lang="en-US" sz="1200" b="1" i="0" u="none" strike="noStrike">
                          <a:solidFill>
                            <a:srgbClr val="000000"/>
                          </a:solidFill>
                          <a:effectLst/>
                          <a:latin typeface="Times New Roman" panose="02020603050405020304" pitchFamily="18" charset="0"/>
                        </a:rPr>
                        <a:t>4'</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17.10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12.80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11.90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FF0000"/>
                          </a:solidFill>
                          <a:effectLst/>
                          <a:latin typeface="Times New Roman" panose="02020603050405020304" pitchFamily="18" charset="0"/>
                        </a:rPr>
                        <a:t> </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15335530"/>
                  </a:ext>
                </a:extLst>
              </a:tr>
              <a:tr h="359574">
                <a:tc>
                  <a:txBody>
                    <a:bodyPr/>
                    <a:lstStyle/>
                    <a:p>
                      <a:pPr algn="ctr" fontAlgn="ctr"/>
                      <a:r>
                        <a:rPr lang="en-US" sz="1200" b="1" i="0" u="none" strike="noStrike">
                          <a:solidFill>
                            <a:srgbClr val="000000"/>
                          </a:solidFill>
                          <a:effectLst/>
                          <a:latin typeface="Times New Roman" panose="02020603050405020304" pitchFamily="18" charset="0"/>
                        </a:rPr>
                        <a:t> </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Phát sinh dừng</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0.75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0.25</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FF0000"/>
                          </a:solidFill>
                          <a:effectLst/>
                          <a:latin typeface="Times New Roman" panose="02020603050405020304" pitchFamily="18" charset="0"/>
                        </a:rPr>
                        <a:t> </a:t>
                      </a:r>
                    </a:p>
                  </a:txBody>
                  <a:tcPr marL="9097" marR="9097" marT="90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8650471"/>
                  </a:ext>
                </a:extLst>
              </a:tr>
            </a:tbl>
          </a:graphicData>
        </a:graphic>
      </p:graphicFrame>
    </p:spTree>
    <p:extLst>
      <p:ext uri="{BB962C8B-B14F-4D97-AF65-F5344CB8AC3E}">
        <p14:creationId xmlns:p14="http://schemas.microsoft.com/office/powerpoint/2010/main" val="818876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p:cNvGraphicFramePr>
            <a:graphicFrameLocks noGrp="1"/>
          </p:cNvGraphicFramePr>
          <p:nvPr/>
        </p:nvGraphicFramePr>
        <p:xfrm>
          <a:off x="304797" y="838204"/>
          <a:ext cx="11582402" cy="5774476"/>
        </p:xfrm>
        <a:graphic>
          <a:graphicData uri="http://schemas.openxmlformats.org/drawingml/2006/table">
            <a:tbl>
              <a:tblPr/>
              <a:tblGrid>
                <a:gridCol w="364514">
                  <a:extLst>
                    <a:ext uri="{9D8B030D-6E8A-4147-A177-3AD203B41FA5}">
                      <a16:colId xmlns:a16="http://schemas.microsoft.com/office/drawing/2014/main" val="2230184418"/>
                    </a:ext>
                  </a:extLst>
                </a:gridCol>
                <a:gridCol w="2506026">
                  <a:extLst>
                    <a:ext uri="{9D8B030D-6E8A-4147-A177-3AD203B41FA5}">
                      <a16:colId xmlns:a16="http://schemas.microsoft.com/office/drawing/2014/main" val="4016553780"/>
                    </a:ext>
                  </a:extLst>
                </a:gridCol>
                <a:gridCol w="534619">
                  <a:extLst>
                    <a:ext uri="{9D8B030D-6E8A-4147-A177-3AD203B41FA5}">
                      <a16:colId xmlns:a16="http://schemas.microsoft.com/office/drawing/2014/main" val="4053956278"/>
                    </a:ext>
                  </a:extLst>
                </a:gridCol>
                <a:gridCol w="498168">
                  <a:extLst>
                    <a:ext uri="{9D8B030D-6E8A-4147-A177-3AD203B41FA5}">
                      <a16:colId xmlns:a16="http://schemas.microsoft.com/office/drawing/2014/main" val="3729160012"/>
                    </a:ext>
                  </a:extLst>
                </a:gridCol>
                <a:gridCol w="449567">
                  <a:extLst>
                    <a:ext uri="{9D8B030D-6E8A-4147-A177-3AD203B41FA5}">
                      <a16:colId xmlns:a16="http://schemas.microsoft.com/office/drawing/2014/main" val="3260915301"/>
                    </a:ext>
                  </a:extLst>
                </a:gridCol>
                <a:gridCol w="510317">
                  <a:extLst>
                    <a:ext uri="{9D8B030D-6E8A-4147-A177-3AD203B41FA5}">
                      <a16:colId xmlns:a16="http://schemas.microsoft.com/office/drawing/2014/main" val="136607178"/>
                    </a:ext>
                  </a:extLst>
                </a:gridCol>
                <a:gridCol w="486018">
                  <a:extLst>
                    <a:ext uri="{9D8B030D-6E8A-4147-A177-3AD203B41FA5}">
                      <a16:colId xmlns:a16="http://schemas.microsoft.com/office/drawing/2014/main" val="1727921602"/>
                    </a:ext>
                  </a:extLst>
                </a:gridCol>
                <a:gridCol w="486018">
                  <a:extLst>
                    <a:ext uri="{9D8B030D-6E8A-4147-A177-3AD203B41FA5}">
                      <a16:colId xmlns:a16="http://schemas.microsoft.com/office/drawing/2014/main" val="260773012"/>
                    </a:ext>
                  </a:extLst>
                </a:gridCol>
                <a:gridCol w="510317">
                  <a:extLst>
                    <a:ext uri="{9D8B030D-6E8A-4147-A177-3AD203B41FA5}">
                      <a16:colId xmlns:a16="http://schemas.microsoft.com/office/drawing/2014/main" val="467502437"/>
                    </a:ext>
                  </a:extLst>
                </a:gridCol>
                <a:gridCol w="498168">
                  <a:extLst>
                    <a:ext uri="{9D8B030D-6E8A-4147-A177-3AD203B41FA5}">
                      <a16:colId xmlns:a16="http://schemas.microsoft.com/office/drawing/2014/main" val="3257534212"/>
                    </a:ext>
                  </a:extLst>
                </a:gridCol>
                <a:gridCol w="4738670">
                  <a:extLst>
                    <a:ext uri="{9D8B030D-6E8A-4147-A177-3AD203B41FA5}">
                      <a16:colId xmlns:a16="http://schemas.microsoft.com/office/drawing/2014/main" val="2812160228"/>
                    </a:ext>
                  </a:extLst>
                </a:gridCol>
              </a:tblGrid>
              <a:tr h="320304">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THUẬT A350/B787 (CẬP NHẬT 11/05)</a:t>
                      </a:r>
                    </a:p>
                  </a:txBody>
                  <a:tcPr marL="7390" marR="7390" marT="739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338683"/>
                  </a:ext>
                </a:extLst>
              </a:tr>
              <a:tr h="30348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14119618"/>
                  </a:ext>
                </a:extLst>
              </a:tr>
              <a:tr h="679433">
                <a:tc>
                  <a:txBody>
                    <a:bodyPr/>
                    <a:lstStyle/>
                    <a:p>
                      <a:pPr algn="ctr" fontAlgn="ctr"/>
                      <a:r>
                        <a:rPr lang="en-US" sz="1200" b="0" i="0" u="none" strike="noStrike">
                          <a:solidFill>
                            <a:srgbClr val="000000"/>
                          </a:solidFill>
                          <a:effectLst/>
                          <a:latin typeface="Times New Roman" panose="02020603050405020304" pitchFamily="18" charset="0"/>
                        </a:rPr>
                        <a:t>1</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Times New Roman" panose="02020603050405020304" pitchFamily="18" charset="0"/>
                        </a:rPr>
                        <a:t>- 08/2025: Giảm 0.5 tàu dừng do đổi phương án ko lắp ENG cần giữ giờ 21346 &amp; 21418 lên 350A (A886/A887). Ngoài ra cần giữ giờ A894 khoảng 10 ngày.  </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- 06/2025: tăng 0.5 tàu do ENG về muộn</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2470997"/>
                  </a:ext>
                </a:extLst>
              </a:tr>
              <a:tr h="382423">
                <a:tc>
                  <a:txBody>
                    <a:bodyPr/>
                    <a:lstStyle/>
                    <a:p>
                      <a:pPr algn="ctr" fontAlgn="ctr"/>
                      <a:r>
                        <a:rPr lang="en-US" sz="1200" b="0" i="0" u="none" strike="noStrike">
                          <a:solidFill>
                            <a:srgbClr val="000000"/>
                          </a:solidFill>
                          <a:effectLst/>
                          <a:latin typeface="Times New Roman" panose="02020603050405020304" pitchFamily="18" charset="0"/>
                        </a:rPr>
                        <a:t>1'</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A350 AOG do thiếu ENG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(last update 27/04)</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pt-BR" sz="1200" b="0" i="0" u="none" strike="noStrike">
                          <a:solidFill>
                            <a:srgbClr val="000000"/>
                          </a:solidFill>
                          <a:effectLst/>
                          <a:latin typeface="Times New Roman" panose="02020603050405020304" pitchFamily="18" charset="0"/>
                        </a:rPr>
                        <a:t>- 06/2025: tăng 0.5 tàu do ENG về muộn</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26254971"/>
                  </a:ext>
                </a:extLst>
              </a:tr>
              <a:tr h="568783">
                <a:tc>
                  <a:txBody>
                    <a:bodyPr/>
                    <a:lstStyle/>
                    <a:p>
                      <a:pPr algn="ctr" fontAlgn="ctr"/>
                      <a:r>
                        <a:rPr lang="en-US" sz="1200" b="0" i="0" u="none" strike="noStrike">
                          <a:solidFill>
                            <a:srgbClr val="000000"/>
                          </a:solidFill>
                          <a:effectLst/>
                          <a:latin typeface="Times New Roman" panose="02020603050405020304" pitchFamily="18" charset="0"/>
                        </a:rPr>
                        <a:t>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FF0000"/>
                          </a:solidFill>
                          <a:effectLst/>
                          <a:latin typeface="Times New Roman" panose="02020603050405020304" pitchFamily="18" charset="0"/>
                        </a:rPr>
                        <a:t>- 08/2025: tăng 0.5 tàu do bổ sung thay ENG các ENG hết hạn L/L</a:t>
                      </a:r>
                      <a:br>
                        <a:rPr lang="vi-VN" sz="1200" b="0" i="0" u="none" strike="noStrike">
                          <a:solidFill>
                            <a:srgbClr val="FF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- 07/2025: tăng 0.2 tàu do bổ sung thay ENG A890 (không giữ được giờ do ENG 21584 về 16/06 muộn 14 ngày so với KH cũ 02/06)</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68491734"/>
                  </a:ext>
                </a:extLst>
              </a:tr>
              <a:tr h="446485">
                <a:tc>
                  <a:txBody>
                    <a:bodyPr/>
                    <a:lstStyle/>
                    <a:p>
                      <a:pPr algn="ctr" fontAlgn="ctr"/>
                      <a:r>
                        <a:rPr lang="en-US" sz="1200" b="0" i="0" u="none" strike="noStrike">
                          <a:solidFill>
                            <a:srgbClr val="000000"/>
                          </a:solidFill>
                          <a:effectLst/>
                          <a:latin typeface="Times New Roman" panose="02020603050405020304" pitchFamily="18" charset="0"/>
                        </a:rPr>
                        <a:t>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(last update 27/04)</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endParaRPr lang="en-US" sz="1200" b="0" i="0" u="none" strike="noStrike">
                        <a:solidFill>
                          <a:srgbClr val="000000"/>
                        </a:solidFill>
                        <a:effectLst/>
                        <a:latin typeface="Times New Roman" panose="02020603050405020304" pitchFamily="18" charset="0"/>
                      </a:endParaRP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57339674"/>
                  </a:ext>
                </a:extLst>
              </a:tr>
              <a:tr h="388247">
                <a:tc>
                  <a:txBody>
                    <a:bodyPr/>
                    <a:lstStyle/>
                    <a:p>
                      <a:pPr algn="ctr" fontAlgn="ctr"/>
                      <a:r>
                        <a:rPr lang="en-US" sz="1200" b="0" i="0" u="none" strike="noStrike">
                          <a:solidFill>
                            <a:srgbClr val="000000"/>
                          </a:solidFill>
                          <a:effectLst/>
                          <a:latin typeface="Times New Roman" panose="02020603050405020304" pitchFamily="18" charset="0"/>
                        </a:rPr>
                        <a:t>3</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0852521"/>
                  </a:ext>
                </a:extLst>
              </a:tr>
              <a:tr h="388247">
                <a:tc>
                  <a:txBody>
                    <a:bodyPr/>
                    <a:lstStyle/>
                    <a:p>
                      <a:pPr algn="ctr" fontAlgn="ctr"/>
                      <a:r>
                        <a:rPr lang="en-US" sz="1200" b="0" i="0" u="none" strike="noStrike">
                          <a:solidFill>
                            <a:srgbClr val="000000"/>
                          </a:solidFill>
                          <a:effectLst/>
                          <a:latin typeface="Times New Roman" panose="02020603050405020304" pitchFamily="18" charset="0"/>
                        </a:rPr>
                        <a:t>4</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00520631"/>
                  </a:ext>
                </a:extLst>
              </a:tr>
              <a:tr h="388247">
                <a:tc>
                  <a:txBody>
                    <a:bodyPr/>
                    <a:lstStyle/>
                    <a:p>
                      <a:pPr algn="ctr" fontAlgn="ctr"/>
                      <a:r>
                        <a:rPr lang="en-US" sz="1200" b="0" i="0" u="none" strike="noStrike">
                          <a:solidFill>
                            <a:srgbClr val="000000"/>
                          </a:solidFill>
                          <a:effectLst/>
                          <a:latin typeface="Times New Roman" panose="02020603050405020304" pitchFamily="18" charset="0"/>
                        </a:rPr>
                        <a:t>5</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7036855"/>
                  </a:ext>
                </a:extLst>
              </a:tr>
              <a:tr h="684609">
                <a:tc>
                  <a:txBody>
                    <a:bodyPr/>
                    <a:lstStyle/>
                    <a:p>
                      <a:pPr algn="ctr" fontAlgn="ctr"/>
                      <a:r>
                        <a:rPr lang="en-US" sz="1200" b="0" i="0" u="none" strike="noStrike">
                          <a:solidFill>
                            <a:srgbClr val="000000"/>
                          </a:solidFill>
                          <a:effectLst/>
                          <a:latin typeface="Times New Roman" panose="02020603050405020304" pitchFamily="18" charset="0"/>
                        </a:rPr>
                        <a:t>6</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- 08/2025: tăng 0.2 tàu do A870 Y3 (due: 04/06) xin NN lùi sau cao điểm hè</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- 06/2025: tăng 0.2 tàu do ảnh hưởng thay ENG A871 AOG và bổ sung thay ENG A863 &amp; A873</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83517448"/>
                  </a:ext>
                </a:extLst>
              </a:tr>
              <a:tr h="388247">
                <a:tc>
                  <a:txBody>
                    <a:bodyPr/>
                    <a:lstStyle/>
                    <a:p>
                      <a:pPr algn="ctr" fontAlgn="ctr"/>
                      <a:r>
                        <a:rPr lang="en-US" sz="1200" b="0" i="0" u="none" strike="noStrike">
                          <a:solidFill>
                            <a:srgbClr val="000000"/>
                          </a:solidFill>
                          <a:effectLst/>
                          <a:latin typeface="Times New Roman" panose="02020603050405020304" pitchFamily="18" charset="0"/>
                        </a:rPr>
                        <a:t>7</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997238"/>
                  </a:ext>
                </a:extLst>
              </a:tr>
              <a:tr h="388247">
                <a:tc>
                  <a:txBody>
                    <a:bodyPr/>
                    <a:lstStyle/>
                    <a:p>
                      <a:pPr algn="ctr" fontAlgn="ctr"/>
                      <a:r>
                        <a:rPr lang="en-US" sz="1200" b="0" i="0" u="none" strike="noStrike">
                          <a:solidFill>
                            <a:srgbClr val="000000"/>
                          </a:solidFill>
                          <a:effectLst/>
                          <a:latin typeface="Times New Roman" panose="02020603050405020304" pitchFamily="18" charset="0"/>
                        </a:rPr>
                        <a:t>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956357006"/>
                  </a:ext>
                </a:extLst>
              </a:tr>
              <a:tr h="388247">
                <a:tc>
                  <a:txBody>
                    <a:bodyPr/>
                    <a:lstStyle/>
                    <a:p>
                      <a:pPr algn="ctr" fontAlgn="ctr"/>
                      <a:r>
                        <a:rPr lang="en-US" sz="1200" b="0" i="0" u="none" strike="noStrike">
                          <a:solidFill>
                            <a:srgbClr val="000000"/>
                          </a:solidFill>
                          <a:effectLst/>
                          <a:latin typeface="Times New Roman" panose="02020603050405020304" pitchFamily="18" charset="0"/>
                        </a:rPr>
                        <a:t>9</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390" marR="7390" marT="73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6044870"/>
                  </a:ext>
                </a:extLst>
              </a:tr>
            </a:tbl>
          </a:graphicData>
        </a:graphic>
      </p:graphicFrame>
    </p:spTree>
    <p:extLst>
      <p:ext uri="{BB962C8B-B14F-4D97-AF65-F5344CB8AC3E}">
        <p14:creationId xmlns:p14="http://schemas.microsoft.com/office/powerpoint/2010/main" val="1479125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43</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19</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13a,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13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06</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14ea,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12ea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 – T10/2025)</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013</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111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98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19: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12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29ea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soát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trung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màn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hình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A895 RTS</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19: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238 (</a:t>
            </a:r>
            <a:r>
              <a:rPr lang="en-US" sz="1400" dirty="0" err="1">
                <a:latin typeface="Times New Roman" panose="02020603050405020304" pitchFamily="18" charset="0"/>
                <a:cs typeface="Times New Roman" panose="02020603050405020304" pitchFamily="18" charset="0"/>
              </a:rPr>
              <a:t>bằng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18),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44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194ADD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19%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18).</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19</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03,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07,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367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344424"/>
            <a:ext cx="10820401" cy="461624"/>
          </a:xfrm>
          <a:prstGeom prst="rect">
            <a:avLst/>
          </a:prstGeom>
          <a:noFill/>
          <a:ln>
            <a:noFill/>
          </a:ln>
        </p:spPr>
        <p:txBody>
          <a:bodyPr spcFirstLastPara="1" wrap="square" lIns="91433" tIns="45700" rIns="91433" bIns="45700" anchor="t" anchorCtr="0">
            <a:spAutoFit/>
          </a:bodyPr>
          <a:lstStyle/>
          <a:p>
            <a:pPr lvl="0" algn="ctr"/>
            <a:r>
              <a:rPr lang="en-US" sz="24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400" dirty="0"/>
          </a:p>
        </p:txBody>
      </p:sp>
      <p:sp>
        <p:nvSpPr>
          <p:cNvPr id="66" name="Google Shape;66;p6"/>
          <p:cNvSpPr txBox="1"/>
          <p:nvPr/>
        </p:nvSpPr>
        <p:spPr>
          <a:xfrm>
            <a:off x="952499" y="806048"/>
            <a:ext cx="10439398" cy="3524001"/>
          </a:xfrm>
          <a:prstGeom prst="rect">
            <a:avLst/>
          </a:prstGeom>
          <a:noFill/>
          <a:ln>
            <a:noFill/>
          </a:ln>
        </p:spPr>
        <p:txBody>
          <a:bodyPr spcFirstLastPara="1" wrap="square" lIns="91433" tIns="45700" rIns="91433" bIns="45700" anchor="t" anchorCtr="0">
            <a:spAutoFit/>
          </a:bodyPr>
          <a:lstStyle/>
          <a:p>
            <a:pPr lvl="0" algn="just">
              <a:lnSpc>
                <a:spcPct val="150000"/>
              </a:lnSpc>
            </a:pPr>
            <a:r>
              <a:rPr lang="en-US" sz="1300" b="1" dirty="0">
                <a:latin typeface="Times New Roman" panose="02020603050405020304" pitchFamily="18" charset="0"/>
                <a:cs typeface="Times New Roman" panose="02020603050405020304" pitchFamily="18" charset="0"/>
              </a:rPr>
              <a:t>1. GIA HẠN THUÊ 10 TÀU VALC </a:t>
            </a:r>
          </a:p>
          <a:p>
            <a:pPr algn="just">
              <a:lnSpc>
                <a:spcPct val="150000"/>
              </a:lnSpc>
            </a:pPr>
            <a:r>
              <a:rPr lang="en-US" sz="1300" dirty="0" err="1">
                <a:latin typeface="Times New Roman" panose="02020603050405020304" pitchFamily="18" charset="0"/>
                <a:cs typeface="Times New Roman" panose="02020603050405020304" pitchFamily="18" charset="0"/>
              </a:rPr>
              <a:t>Thủ</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tục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của</a:t>
            </a:r>
            <a:r>
              <a:rPr lang="en-US" sz="1300" dirty="0">
                <a:latin typeface="Times New Roman" panose="02020603050405020304" pitchFamily="18" charset="0"/>
                <a:cs typeface="Times New Roman" panose="02020603050405020304" pitchFamily="18" charset="0"/>
              </a:rPr>
              <a:t> VALC </a:t>
            </a:r>
            <a:r>
              <a:rPr lang="en-US" sz="1300" dirty="0" err="1">
                <a:latin typeface="Times New Roman" panose="02020603050405020304" pitchFamily="18" charset="0"/>
                <a:cs typeface="Times New Roman" panose="02020603050405020304" pitchFamily="18" charset="0"/>
              </a:rPr>
              <a:t>chậm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nên</a:t>
            </a:r>
            <a:r>
              <a:rPr lang="en-US" sz="1300" dirty="0">
                <a:latin typeface="Times New Roman" panose="02020603050405020304" pitchFamily="18" charset="0"/>
                <a:cs typeface="Times New Roman" panose="02020603050405020304" pitchFamily="18" charset="0"/>
              </a:rPr>
              <a:t> VNA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VALC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đồng</a:t>
            </a:r>
            <a:r>
              <a:rPr lang="en-US" sz="1300" dirty="0">
                <a:latin typeface="Times New Roman" panose="02020603050405020304" pitchFamily="18" charset="0"/>
                <a:cs typeface="Times New Roman" panose="02020603050405020304" pitchFamily="18" charset="0"/>
              </a:rPr>
              <a:t> ý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ký</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kết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hợp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tiếp</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bay A321CEO 3 </a:t>
            </a:r>
            <a:r>
              <a:rPr lang="en-US" sz="1300" dirty="0" err="1">
                <a:latin typeface="Times New Roman" panose="02020603050405020304" pitchFamily="18" charset="0"/>
                <a:cs typeface="Times New Roman" panose="02020603050405020304" pitchFamily="18" charset="0"/>
              </a:rPr>
              <a:t>tháng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hết</a:t>
            </a:r>
            <a:r>
              <a:rPr lang="en-US" sz="1300" dirty="0">
                <a:latin typeface="Times New Roman" panose="02020603050405020304" pitchFamily="18" charset="0"/>
                <a:cs typeface="Times New Roman" panose="02020603050405020304" pitchFamily="18" charset="0"/>
              </a:rPr>
              <a:t> 30/06/2025.</a:t>
            </a:r>
          </a:p>
          <a:p>
            <a:pPr algn="just">
              <a:lnSpc>
                <a:spcPct val="150000"/>
              </a:lnSpc>
            </a:pP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VNA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chờ</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kết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từ</a:t>
            </a:r>
            <a:r>
              <a:rPr lang="en-US" sz="1300" dirty="0">
                <a:latin typeface="Times New Roman" panose="02020603050405020304" pitchFamily="18" charset="0"/>
                <a:cs typeface="Times New Roman" panose="02020603050405020304" pitchFamily="18" charset="0"/>
              </a:rPr>
              <a:t> VALC, </a:t>
            </a:r>
            <a:r>
              <a:rPr lang="en-US" sz="1300" dirty="0" err="1">
                <a:latin typeface="Times New Roman" panose="02020603050405020304" pitchFamily="18" charset="0"/>
                <a:cs typeface="Times New Roman" panose="02020603050405020304" pitchFamily="18" charset="0"/>
              </a:rPr>
              <a:t>tiếp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theo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sẽ</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triển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đàm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hợp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trong</a:t>
            </a:r>
            <a:r>
              <a:rPr lang="en-US" sz="1300" dirty="0">
                <a:latin typeface="Times New Roman" panose="02020603050405020304" pitchFamily="18" charset="0"/>
                <a:cs typeface="Times New Roman" panose="02020603050405020304" pitchFamily="18" charset="0"/>
              </a:rPr>
              <a:t> tr</a:t>
            </a:r>
            <a:r>
              <a:rPr lang="vi-VN" sz="1300" dirty="0">
                <a:latin typeface="Times New Roman" panose="02020603050405020304" pitchFamily="18" charset="0"/>
                <a:cs typeface="Times New Roman" panose="02020603050405020304" pitchFamily="18" charset="0"/>
              </a:rPr>
              <a:t>ư</a:t>
            </a:r>
            <a:r>
              <a:rPr lang="en-US" sz="1300" dirty="0" err="1">
                <a:latin typeface="Times New Roman" panose="02020603050405020304" pitchFamily="18" charset="0"/>
                <a:cs typeface="Times New Roman" panose="02020603050405020304" pitchFamily="18" charset="0"/>
              </a:rPr>
              <a:t>ờng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hợp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chuyển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đổi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chủ</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sở</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hữu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bay. </a:t>
            </a:r>
          </a:p>
          <a:p>
            <a:pPr algn="just">
              <a:lnSpc>
                <a:spcPct val="150000"/>
              </a:lnSpc>
            </a:pPr>
            <a:r>
              <a:rPr lang="en-US" sz="1300" b="1" dirty="0">
                <a:latin typeface="Times New Roman" panose="02020603050405020304" pitchFamily="18" charset="0"/>
                <a:cs typeface="Times New Roman" panose="02020603050405020304" pitchFamily="18" charset="0"/>
              </a:rPr>
              <a:t>2. DỰ ÁN TÀU BAY THÂN HẸP</a:t>
            </a:r>
          </a:p>
          <a:p>
            <a:pPr algn="just">
              <a:lnSpc>
                <a:spcPct val="150000"/>
              </a:lnSpc>
            </a:pPr>
            <a:r>
              <a:rPr lang="vi-VN" sz="1300" dirty="0">
                <a:latin typeface="Times New Roman" panose="02020603050405020304" pitchFamily="18" charset="0"/>
                <a:cs typeface="Times New Roman" panose="02020603050405020304" pitchFamily="18" charset="0"/>
              </a:rPr>
              <a:t>Tổ </a:t>
            </a:r>
            <a:r>
              <a:rPr lang="en-US" sz="1300" dirty="0">
                <a:latin typeface="Times New Roman" panose="02020603050405020304" pitchFamily="18" charset="0"/>
                <a:cs typeface="Times New Roman" panose="02020603050405020304" pitchFamily="18" charset="0"/>
              </a:rPr>
              <a:t>TMTB</a:t>
            </a:r>
            <a:r>
              <a:rPr lang="vi-VN"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hoàn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thành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hồ</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sơ</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trình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báo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cấp có thẩm quyền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dự</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kiến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50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B737 Max 8).</a:t>
            </a:r>
          </a:p>
          <a:p>
            <a:pPr algn="just">
              <a:lnSpc>
                <a:spcPct val="150000"/>
              </a:lnSpc>
            </a:pPr>
            <a:r>
              <a:rPr lang="en-US" sz="1300" b="1" dirty="0">
                <a:latin typeface="Times New Roman" panose="02020603050405020304" pitchFamily="18" charset="0"/>
                <a:cs typeface="Times New Roman" panose="02020603050405020304" pitchFamily="18" charset="0"/>
              </a:rPr>
              <a:t>3. 01 TÀU ATR72 CHO K6 THUÊ KHÔ VN-B220 MSN 890</a:t>
            </a:r>
          </a:p>
          <a:p>
            <a:pPr algn="just">
              <a:lnSpc>
                <a:spcPct val="150000"/>
              </a:lnSpc>
            </a:pPr>
            <a:r>
              <a:rPr lang="en-US" sz="1300" dirty="0">
                <a:latin typeface="Times New Roman" panose="02020603050405020304" pitchFamily="18" charset="0"/>
                <a:cs typeface="Times New Roman" panose="02020603050405020304" pitchFamily="18" charset="0"/>
              </a:rPr>
              <a:t>VNA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cho</a:t>
            </a:r>
            <a:r>
              <a:rPr lang="en-US" sz="1300" dirty="0">
                <a:latin typeface="Times New Roman" panose="02020603050405020304" pitchFamily="18" charset="0"/>
                <a:cs typeface="Times New Roman" panose="02020603050405020304" pitchFamily="18" charset="0"/>
              </a:rPr>
              <a:t> K6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khô</a:t>
            </a:r>
            <a:r>
              <a:rPr lang="en-US" sz="1300" dirty="0">
                <a:latin typeface="Times New Roman" panose="02020603050405020304" pitchFamily="18" charset="0"/>
                <a:cs typeface="Times New Roman" panose="02020603050405020304" pitchFamily="18" charset="0"/>
              </a:rPr>
              <a:t> 01 </a:t>
            </a:r>
            <a:r>
              <a:rPr lang="en-US" sz="1300" dirty="0" err="1">
                <a:latin typeface="Times New Roman" panose="02020603050405020304" pitchFamily="18" charset="0"/>
                <a:cs typeface="Times New Roman" panose="02020603050405020304" pitchFamily="18" charset="0"/>
              </a:rPr>
              <a:t>tàu</a:t>
            </a:r>
            <a:r>
              <a:rPr lang="en-US" sz="1300" dirty="0">
                <a:latin typeface="Times New Roman" panose="02020603050405020304" pitchFamily="18" charset="0"/>
                <a:cs typeface="Times New Roman" panose="02020603050405020304" pitchFamily="18" charset="0"/>
              </a:rPr>
              <a:t> ATR72 MSN 890 VN-B220, </a:t>
            </a:r>
            <a:r>
              <a:rPr lang="en-US" sz="1300" dirty="0" err="1">
                <a:latin typeface="Times New Roman" panose="02020603050405020304" pitchFamily="18" charset="0"/>
                <a:cs typeface="Times New Roman" panose="02020603050405020304" pitchFamily="18" charset="0"/>
              </a:rPr>
              <a:t>hết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ngày</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25/06/2025</a:t>
            </a:r>
            <a:r>
              <a:rPr lang="en-US" sz="1300" dirty="0">
                <a:latin typeface="Times New Roman" panose="02020603050405020304" pitchFamily="18" charset="0"/>
                <a:cs typeface="Times New Roman" panose="02020603050405020304" pitchFamily="18" charset="0"/>
              </a:rPr>
              <a:t>. K6 </a:t>
            </a:r>
            <a:r>
              <a:rPr lang="en-US" sz="1300" dirty="0" err="1">
                <a:latin typeface="Times New Roman" panose="02020603050405020304" pitchFamily="18" charset="0"/>
                <a:cs typeface="Times New Roman" panose="02020603050405020304" pitchFamily="18" charset="0"/>
              </a:rPr>
              <a:t>đang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đề</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nghị</a:t>
            </a:r>
            <a:r>
              <a:rPr lang="en-US" sz="1300" dirty="0">
                <a:latin typeface="Times New Roman" panose="02020603050405020304" pitchFamily="18" charset="0"/>
                <a:cs typeface="Times New Roman" panose="02020603050405020304" pitchFamily="18" charset="0"/>
              </a:rPr>
              <a:t> VNA </a:t>
            </a:r>
            <a:r>
              <a:rPr lang="en-US" sz="1300" dirty="0" err="1">
                <a:latin typeface="Times New Roman" panose="02020603050405020304" pitchFamily="18" charset="0"/>
                <a:cs typeface="Times New Roman" panose="02020603050405020304" pitchFamily="18" charset="0"/>
              </a:rPr>
              <a:t>gia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với</a:t>
            </a:r>
            <a:r>
              <a:rPr lang="en-US" sz="1300" dirty="0">
                <a:latin typeface="Times New Roman" panose="02020603050405020304" pitchFamily="18" charset="0"/>
                <a:cs typeface="Times New Roman" panose="02020603050405020304" pitchFamily="18" charset="0"/>
              </a:rPr>
              <a:t> t</a:t>
            </a:r>
            <a:r>
              <a:rPr lang="vi-VN" sz="1300" dirty="0">
                <a:latin typeface="Times New Roman" panose="02020603050405020304" pitchFamily="18" charset="0"/>
                <a:cs typeface="Times New Roman" panose="02020603050405020304" pitchFamily="18" charset="0"/>
              </a:rPr>
              <a:t>hời hạn gian hạn (hoặc thuê mới) từ 26/06/2025 – 30/11/2025</a:t>
            </a:r>
            <a:r>
              <a:rPr lang="en-US" sz="1300" dirty="0">
                <a:latin typeface="Times New Roman" panose="02020603050405020304" pitchFamily="18" charset="0"/>
                <a:cs typeface="Times New Roman" panose="02020603050405020304" pitchFamily="18" charset="0"/>
              </a:rPr>
              <a:t>.</a:t>
            </a:r>
          </a:p>
          <a:p>
            <a:pPr algn="just">
              <a:lnSpc>
                <a:spcPct val="150000"/>
              </a:lnSpc>
            </a:pPr>
            <a:r>
              <a:rPr lang="en-US" sz="1300" b="1" dirty="0">
                <a:latin typeface="Times New Roman" panose="02020603050405020304" pitchFamily="18" charset="0"/>
                <a:cs typeface="Times New Roman" panose="02020603050405020304" pitchFamily="18" charset="0"/>
              </a:rPr>
              <a:t>4. 03 TÀU A321 CEO CHO PA THUÊ KHÔ A354, A359, A363.</a:t>
            </a:r>
          </a:p>
          <a:p>
            <a:pPr marL="285750" lvl="0" indent="-285750" algn="just">
              <a:buFontTx/>
              <a:buChar char="-"/>
            </a:pPr>
            <a:r>
              <a:rPr lang="en-US" sz="1400" dirty="0">
                <a:latin typeface="Times New Roman" panose="02020603050405020304" pitchFamily="18" charset="0"/>
                <a:cs typeface="Times New Roman" panose="02020603050405020304" pitchFamily="18" charset="0"/>
              </a:rPr>
              <a:t>03 </a:t>
            </a:r>
            <a:r>
              <a:rPr lang="en-US" sz="1400" dirty="0" err="1">
                <a:latin typeface="Times New Roman" panose="02020603050405020304" pitchFamily="18" charset="0"/>
                <a:cs typeface="Times New Roman" panose="02020603050405020304" pitchFamily="18" charset="0"/>
              </a:rPr>
              <a:t>tàu</a:t>
            </a:r>
            <a:r>
              <a:rPr lang="en-US" sz="1400" dirty="0">
                <a:latin typeface="Times New Roman" panose="02020603050405020304" pitchFamily="18" charset="0"/>
                <a:cs typeface="Times New Roman" panose="02020603050405020304" pitchFamily="18" charset="0"/>
              </a:rPr>
              <a:t> bay </a:t>
            </a:r>
            <a:r>
              <a:rPr lang="en-US" sz="1400" dirty="0" err="1">
                <a:latin typeface="Times New Roman" panose="02020603050405020304" pitchFamily="18" charset="0"/>
                <a:cs typeface="Times New Roman" panose="02020603050405020304" pitchFamily="18" charset="0"/>
              </a:rPr>
              <a:t>hết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thuê</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tháng</a:t>
            </a:r>
            <a:r>
              <a:rPr lang="en-US" sz="1400" dirty="0">
                <a:latin typeface="Times New Roman" panose="02020603050405020304" pitchFamily="18" charset="0"/>
                <a:cs typeface="Times New Roman" panose="02020603050405020304" pitchFamily="18" charset="0"/>
              </a:rPr>
              <a:t> 06,07,10 </a:t>
            </a:r>
            <a:r>
              <a:rPr lang="en-US" sz="1400" dirty="0" err="1">
                <a:latin typeface="Times New Roman" panose="02020603050405020304" pitchFamily="18" charset="0"/>
                <a:cs typeface="Times New Roman" panose="02020603050405020304" pitchFamily="18" charset="0"/>
              </a:rPr>
              <a:t>năm</a:t>
            </a:r>
            <a:r>
              <a:rPr lang="en-US" sz="1400" dirty="0">
                <a:latin typeface="Times New Roman" panose="02020603050405020304" pitchFamily="18" charset="0"/>
                <a:cs typeface="Times New Roman" panose="02020603050405020304" pitchFamily="18" charset="0"/>
              </a:rPr>
              <a:t> 2025 </a:t>
            </a:r>
            <a:r>
              <a:rPr lang="en-US" sz="1400" dirty="0" err="1">
                <a:latin typeface="Times New Roman" panose="02020603050405020304" pitchFamily="18" charset="0"/>
                <a:cs typeface="Times New Roman" panose="02020603050405020304" pitchFamily="18" charset="0"/>
              </a:rPr>
              <a:t>cần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duy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trì</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r>
              <a:rPr lang="en-US" sz="1400" dirty="0">
                <a:latin typeface="Times New Roman" panose="02020603050405020304" pitchFamily="18" charset="0"/>
                <a:cs typeface="Times New Roman" panose="02020603050405020304" pitchFamily="18" charset="0"/>
              </a:rPr>
              <a:t> AOC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PA</a:t>
            </a:r>
          </a:p>
          <a:p>
            <a:pPr marL="285750" lvl="0" indent="-285750" algn="just">
              <a:buFontTx/>
              <a:buChar char="-"/>
            </a:pPr>
            <a:r>
              <a:rPr lang="en-US" sz="1400" dirty="0">
                <a:latin typeface="Times New Roman" panose="02020603050405020304" pitchFamily="18" charset="0"/>
                <a:cs typeface="Times New Roman" panose="02020603050405020304" pitchFamily="18" charset="0"/>
              </a:rPr>
              <a:t>05 </a:t>
            </a:r>
            <a:r>
              <a:rPr lang="en-US" sz="1400" dirty="0" err="1">
                <a:latin typeface="Times New Roman" panose="02020603050405020304" pitchFamily="18" charset="0"/>
                <a:cs typeface="Times New Roman" panose="02020603050405020304" pitchFamily="18" charset="0"/>
              </a:rPr>
              <a:t>động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hạn</a:t>
            </a:r>
            <a:r>
              <a:rPr lang="en-US" sz="1400" dirty="0">
                <a:latin typeface="Times New Roman" panose="02020603050405020304" pitchFamily="18" charset="0"/>
                <a:cs typeface="Times New Roman" panose="02020603050405020304" pitchFamily="18" charset="0"/>
              </a:rPr>
              <a:t> SV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2025 </a:t>
            </a:r>
            <a:r>
              <a:rPr lang="en-US" sz="1400" dirty="0" err="1">
                <a:latin typeface="Times New Roman" panose="02020603050405020304" pitchFamily="18" charset="0"/>
                <a:cs typeface="Times New Roman" panose="02020603050405020304" pitchFamily="18" charset="0"/>
              </a:rPr>
              <a:t>cần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thay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động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của</a:t>
            </a:r>
            <a:r>
              <a:rPr lang="en-US" sz="1400" dirty="0">
                <a:latin typeface="Times New Roman" panose="02020603050405020304" pitchFamily="18" charset="0"/>
                <a:cs typeface="Times New Roman" panose="02020603050405020304" pitchFamily="18" charset="0"/>
              </a:rPr>
              <a:t> VNA </a:t>
            </a:r>
            <a:r>
              <a:rPr lang="en-US" sz="1400" dirty="0" err="1">
                <a:latin typeface="Times New Roman" panose="02020603050405020304" pitchFamily="18" charset="0"/>
                <a:cs typeface="Times New Roman" panose="02020603050405020304" pitchFamily="18" charset="0"/>
              </a:rPr>
              <a:t>nếu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tiếp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endParaRPr lang="en-US" sz="1400" dirty="0">
              <a:latin typeface="Times New Roman" panose="02020603050405020304" pitchFamily="18" charset="0"/>
              <a:cs typeface="Times New Roman" panose="02020603050405020304" pitchFamily="18" charset="0"/>
            </a:endParaRPr>
          </a:p>
          <a:p>
            <a:pPr algn="just">
              <a:lnSpc>
                <a:spcPct val="150000"/>
              </a:lnSpc>
            </a:pPr>
            <a:endParaRPr sz="1300" dirty="0">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44</a:t>
            </a:fld>
            <a:endParaRPr/>
          </a:p>
        </p:txBody>
      </p:sp>
      <p:graphicFrame>
        <p:nvGraphicFramePr>
          <p:cNvPr id="5" name="Table 4">
            <a:extLst>
              <a:ext uri="{FF2B5EF4-FFF2-40B4-BE49-F238E27FC236}">
                <a16:creationId xmlns:a16="http://schemas.microsoft.com/office/drawing/2014/main" id="{4D463F86-36E2-49BA-A616-01B5300E8BAE}"/>
              </a:ext>
            </a:extLst>
          </p:cNvPr>
          <p:cNvGraphicFramePr>
            <a:graphicFrameLocks noGrp="1"/>
          </p:cNvGraphicFramePr>
          <p:nvPr/>
        </p:nvGraphicFramePr>
        <p:xfrm>
          <a:off x="1394503" y="4347419"/>
          <a:ext cx="9402993" cy="1854964"/>
        </p:xfrm>
        <a:graphic>
          <a:graphicData uri="http://schemas.openxmlformats.org/drawingml/2006/table">
            <a:tbl>
              <a:tblPr firstRow="1" firstCol="1" bandRow="1">
                <a:tableStyleId>{5C22544A-7EE6-4342-B048-85BDC9FD1C3A}</a:tableStyleId>
              </a:tblPr>
              <a:tblGrid>
                <a:gridCol w="458503">
                  <a:extLst>
                    <a:ext uri="{9D8B030D-6E8A-4147-A177-3AD203B41FA5}">
                      <a16:colId xmlns:a16="http://schemas.microsoft.com/office/drawing/2014/main" val="1531600724"/>
                    </a:ext>
                  </a:extLst>
                </a:gridCol>
                <a:gridCol w="1110168">
                  <a:extLst>
                    <a:ext uri="{9D8B030D-6E8A-4147-A177-3AD203B41FA5}">
                      <a16:colId xmlns:a16="http://schemas.microsoft.com/office/drawing/2014/main" val="2778344331"/>
                    </a:ext>
                  </a:extLst>
                </a:gridCol>
                <a:gridCol w="1005047">
                  <a:extLst>
                    <a:ext uri="{9D8B030D-6E8A-4147-A177-3AD203B41FA5}">
                      <a16:colId xmlns:a16="http://schemas.microsoft.com/office/drawing/2014/main" val="51065387"/>
                    </a:ext>
                  </a:extLst>
                </a:gridCol>
                <a:gridCol w="992431">
                  <a:extLst>
                    <a:ext uri="{9D8B030D-6E8A-4147-A177-3AD203B41FA5}">
                      <a16:colId xmlns:a16="http://schemas.microsoft.com/office/drawing/2014/main" val="783667054"/>
                    </a:ext>
                  </a:extLst>
                </a:gridCol>
                <a:gridCol w="664425">
                  <a:extLst>
                    <a:ext uri="{9D8B030D-6E8A-4147-A177-3AD203B41FA5}">
                      <a16:colId xmlns:a16="http://schemas.microsoft.com/office/drawing/2014/main" val="2213163783"/>
                    </a:ext>
                  </a:extLst>
                </a:gridCol>
                <a:gridCol w="1652652">
                  <a:extLst>
                    <a:ext uri="{9D8B030D-6E8A-4147-A177-3AD203B41FA5}">
                      <a16:colId xmlns:a16="http://schemas.microsoft.com/office/drawing/2014/main" val="3043656086"/>
                    </a:ext>
                  </a:extLst>
                </a:gridCol>
                <a:gridCol w="1511130">
                  <a:extLst>
                    <a:ext uri="{9D8B030D-6E8A-4147-A177-3AD203B41FA5}">
                      <a16:colId xmlns:a16="http://schemas.microsoft.com/office/drawing/2014/main" val="2131793250"/>
                    </a:ext>
                  </a:extLst>
                </a:gridCol>
                <a:gridCol w="2008637">
                  <a:extLst>
                    <a:ext uri="{9D8B030D-6E8A-4147-A177-3AD203B41FA5}">
                      <a16:colId xmlns:a16="http://schemas.microsoft.com/office/drawing/2014/main" val="1805902935"/>
                    </a:ext>
                  </a:extLst>
                </a:gridCol>
              </a:tblGrid>
              <a:tr h="312467">
                <a:tc>
                  <a:txBody>
                    <a:bodyPr/>
                    <a:lstStyle/>
                    <a:p>
                      <a:pPr algn="ctr">
                        <a:lnSpc>
                          <a:spcPct val="107000"/>
                        </a:lnSpc>
                        <a:spcAft>
                          <a:spcPts val="800"/>
                        </a:spcAft>
                      </a:pPr>
                      <a:r>
                        <a:rPr lang="en-GB" sz="1200" kern="100" dirty="0">
                          <a:effectLst/>
                        </a:rPr>
                        <a:t>STT</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nSpc>
                          <a:spcPct val="107000"/>
                        </a:lnSpc>
                        <a:spcAft>
                          <a:spcPts val="800"/>
                        </a:spcAft>
                      </a:pPr>
                      <a:r>
                        <a:rPr lang="en-GB" sz="1200" kern="100">
                          <a:effectLst/>
                        </a:rPr>
                        <a:t>Tàu bay</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US" sz="1200" kern="100" dirty="0" err="1">
                          <a:effectLst/>
                        </a:rPr>
                        <a:t>Ngày</a:t>
                      </a:r>
                      <a:r>
                        <a:rPr lang="en-US" sz="1200" kern="100" dirty="0">
                          <a:effectLst/>
                        </a:rPr>
                        <a:t> </a:t>
                      </a:r>
                      <a:r>
                        <a:rPr lang="en-US" sz="1200" kern="100" dirty="0" err="1">
                          <a:effectLst/>
                        </a:rPr>
                        <a:t>bàn</a:t>
                      </a:r>
                      <a:r>
                        <a:rPr lang="en-US" sz="1200" kern="100" dirty="0">
                          <a:effectLst/>
                        </a:rPr>
                        <a:t> </a:t>
                      </a:r>
                      <a:r>
                        <a:rPr lang="en-US" sz="1200" kern="100" dirty="0" err="1">
                          <a:effectLst/>
                        </a:rPr>
                        <a:t>giao</a:t>
                      </a:r>
                      <a:r>
                        <a:rPr lang="en-US" sz="1200" kern="100" dirty="0">
                          <a:effectLst/>
                        </a:rPr>
                        <a:t> </a:t>
                      </a:r>
                      <a:r>
                        <a:rPr lang="en-US" sz="1200" kern="100" dirty="0" err="1">
                          <a:effectLst/>
                        </a:rPr>
                        <a:t>cho</a:t>
                      </a:r>
                      <a:r>
                        <a:rPr lang="en-US" sz="1200" kern="100" dirty="0">
                          <a:effectLst/>
                        </a:rPr>
                        <a:t> PA</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GB" sz="1200" kern="100" dirty="0" err="1">
                          <a:effectLst/>
                        </a:rPr>
                        <a:t>Ngày</a:t>
                      </a:r>
                      <a:r>
                        <a:rPr lang="en-GB" sz="1200" kern="100" dirty="0">
                          <a:effectLst/>
                        </a:rPr>
                        <a:t> </a:t>
                      </a:r>
                      <a:r>
                        <a:rPr lang="en-GB" sz="1200" kern="100" dirty="0" err="1">
                          <a:effectLst/>
                        </a:rPr>
                        <a:t>trả</a:t>
                      </a:r>
                      <a:r>
                        <a:rPr lang="en-GB" sz="1200" kern="100" dirty="0">
                          <a:effectLst/>
                        </a:rPr>
                        <a:t> </a:t>
                      </a:r>
                      <a:r>
                        <a:rPr lang="en-GB" sz="1200" kern="100" dirty="0" err="1">
                          <a:effectLst/>
                        </a:rPr>
                        <a:t>tàu</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a:txBody>
                    <a:bodyPr/>
                    <a:lstStyle/>
                    <a:p>
                      <a:pPr>
                        <a:lnSpc>
                          <a:spcPct val="107000"/>
                        </a:lnSpc>
                        <a:spcAft>
                          <a:spcPts val="800"/>
                        </a:spcAft>
                      </a:pPr>
                      <a:r>
                        <a:rPr lang="en-US" sz="1200" kern="100">
                          <a:effectLst/>
                        </a:rPr>
                        <a:t>Lịch SC Thân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err="1">
                          <a:effectLst/>
                        </a:rPr>
                        <a:t>Dự</a:t>
                      </a:r>
                      <a:r>
                        <a:rPr lang="en-GB" sz="1200" kern="100" dirty="0">
                          <a:effectLst/>
                        </a:rPr>
                        <a:t> </a:t>
                      </a:r>
                      <a:r>
                        <a:rPr lang="en-GB" sz="1200" kern="100" dirty="0" err="1">
                          <a:effectLst/>
                        </a:rPr>
                        <a:t>kiến</a:t>
                      </a:r>
                      <a:r>
                        <a:rPr lang="en-GB" sz="1200" kern="100" dirty="0">
                          <a:effectLst/>
                        </a:rPr>
                        <a:t> </a:t>
                      </a:r>
                      <a:r>
                        <a:rPr lang="en-GB" sz="1200" kern="100" dirty="0" err="1">
                          <a:effectLst/>
                        </a:rPr>
                        <a:t>thời</a:t>
                      </a:r>
                      <a:r>
                        <a:rPr lang="en-GB" sz="1200" kern="100" dirty="0">
                          <a:effectLst/>
                        </a:rPr>
                        <a:t> </a:t>
                      </a:r>
                      <a:r>
                        <a:rPr lang="en-GB" sz="1200" kern="100" dirty="0" err="1">
                          <a:effectLst/>
                        </a:rPr>
                        <a:t>gian</a:t>
                      </a:r>
                      <a:r>
                        <a:rPr lang="en-GB" sz="1200" kern="100" dirty="0">
                          <a:effectLst/>
                        </a:rPr>
                        <a:t> </a:t>
                      </a:r>
                      <a:r>
                        <a:rPr lang="en-GB" sz="1200" kern="100" dirty="0" err="1">
                          <a:effectLst/>
                        </a:rPr>
                        <a:t>sửa</a:t>
                      </a:r>
                      <a:r>
                        <a:rPr lang="en-GB" sz="1200" kern="100" dirty="0">
                          <a:effectLst/>
                        </a:rPr>
                        <a:t> </a:t>
                      </a:r>
                      <a:r>
                        <a:rPr lang="en-GB" sz="1200" kern="100" dirty="0" err="1">
                          <a:effectLst/>
                        </a:rPr>
                        <a:t>chữa</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tc>
                <a:tc>
                  <a:txBody>
                    <a:bodyPr/>
                    <a:lstStyle/>
                    <a:p>
                      <a:pPr>
                        <a:lnSpc>
                          <a:spcPct val="107000"/>
                        </a:lnSpc>
                        <a:spcAft>
                          <a:spcPts val="800"/>
                        </a:spcAft>
                      </a:pPr>
                      <a:r>
                        <a:rPr lang="en-GB" sz="1200" kern="100">
                          <a:effectLst/>
                        </a:rPr>
                        <a:t>ĐC lắp trên tàu bay</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nSpc>
                          <a:spcPct val="107000"/>
                        </a:lnSpc>
                        <a:spcAft>
                          <a:spcPts val="800"/>
                        </a:spcAft>
                      </a:pPr>
                      <a:r>
                        <a:rPr lang="en-GB" sz="1200" kern="100">
                          <a:effectLst/>
                        </a:rPr>
                        <a:t>Lịch sửa chữa ĐC </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3242539848"/>
                  </a:ext>
                </a:extLst>
              </a:tr>
              <a:tr h="156208">
                <a:tc rowSpan="2">
                  <a:txBody>
                    <a:bodyPr/>
                    <a:lstStyle/>
                    <a:p>
                      <a:pPr algn="ctr">
                        <a:lnSpc>
                          <a:spcPct val="107000"/>
                        </a:lnSpc>
                        <a:spcAft>
                          <a:spcPts val="800"/>
                        </a:spcAft>
                      </a:pPr>
                      <a:r>
                        <a:rPr lang="en-GB" sz="1200" kern="100" dirty="0">
                          <a:effectLst/>
                        </a:rPr>
                        <a:t>1</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VN-A354</a:t>
                      </a:r>
                      <a:endParaRPr lang="en-US" sz="1200" kern="100" dirty="0">
                        <a:effectLst/>
                      </a:endParaRPr>
                    </a:p>
                    <a:p>
                      <a:pPr algn="ctr">
                        <a:lnSpc>
                          <a:spcPct val="107000"/>
                        </a:lnSpc>
                        <a:spcAft>
                          <a:spcPts val="800"/>
                        </a:spcAft>
                      </a:pPr>
                      <a:r>
                        <a:rPr lang="en-GB" sz="1200" kern="100" dirty="0">
                          <a:effectLst/>
                        </a:rPr>
                        <a:t>MSN 3198</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15/7/2024</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GB" sz="1200" kern="100">
                          <a:effectLst/>
                        </a:rPr>
                        <a:t>14/7/2025</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US" sz="1200" kern="100" dirty="0">
                          <a:effectLst/>
                        </a:rPr>
                        <a:t>Y6</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29/04/2025(</a:t>
                      </a:r>
                      <a:r>
                        <a:rPr lang="en-GB" sz="1200" kern="100" dirty="0" err="1">
                          <a:effectLst/>
                        </a:rPr>
                        <a:t>đã</a:t>
                      </a:r>
                      <a:r>
                        <a:rPr lang="en-GB" sz="1200" kern="100" dirty="0">
                          <a:effectLst/>
                        </a:rPr>
                        <a:t> </a:t>
                      </a:r>
                      <a:r>
                        <a:rPr lang="en-GB" sz="1200" kern="100" dirty="0" err="1">
                          <a:effectLst/>
                        </a:rPr>
                        <a:t>hoàn</a:t>
                      </a:r>
                      <a:r>
                        <a:rPr lang="en-GB" sz="1200" kern="100" dirty="0">
                          <a:effectLst/>
                        </a:rPr>
                        <a:t> </a:t>
                      </a:r>
                      <a:r>
                        <a:rPr lang="en-GB" sz="1200" kern="100" dirty="0" err="1">
                          <a:effectLst/>
                        </a:rPr>
                        <a:t>thành</a:t>
                      </a:r>
                      <a:r>
                        <a:rPr lang="en-GB" sz="1200" kern="100">
                          <a:effectLst/>
                        </a:rPr>
                        <a:t>)</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tc>
                <a:tc>
                  <a:txBody>
                    <a:bodyPr/>
                    <a:lstStyle/>
                    <a:p>
                      <a:pPr algn="ctr">
                        <a:lnSpc>
                          <a:spcPct val="107000"/>
                        </a:lnSpc>
                        <a:spcAft>
                          <a:spcPts val="800"/>
                        </a:spcAft>
                      </a:pPr>
                      <a:r>
                        <a:rPr lang="en-GB" sz="1200" kern="100">
                          <a:effectLst/>
                        </a:rPr>
                        <a:t>V15894</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a:effectLst/>
                        </a:rPr>
                        <a:t>16/10/2028</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3892024124"/>
                  </a:ext>
                </a:extLst>
              </a:tr>
              <a:tr h="2373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07000"/>
                        </a:lnSpc>
                        <a:spcAft>
                          <a:spcPts val="800"/>
                        </a:spcAft>
                      </a:pPr>
                      <a:r>
                        <a:rPr lang="en-GB" sz="1200" kern="100" dirty="0">
                          <a:effectLst/>
                        </a:rPr>
                        <a:t>V11752</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a:effectLst/>
                        </a:rPr>
                        <a:t>05/03/2025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2053377786"/>
                  </a:ext>
                </a:extLst>
              </a:tr>
              <a:tr h="156208">
                <a:tc rowSpan="2">
                  <a:txBody>
                    <a:bodyPr/>
                    <a:lstStyle/>
                    <a:p>
                      <a:pPr algn="ctr">
                        <a:lnSpc>
                          <a:spcPct val="107000"/>
                        </a:lnSpc>
                        <a:spcAft>
                          <a:spcPts val="800"/>
                        </a:spcAft>
                      </a:pPr>
                      <a:r>
                        <a:rPr lang="en-GB" sz="1200" kern="100">
                          <a:effectLst/>
                        </a:rPr>
                        <a:t>2</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VN-A359</a:t>
                      </a:r>
                      <a:endParaRPr lang="en-US" sz="1200" kern="100" dirty="0">
                        <a:effectLst/>
                      </a:endParaRPr>
                    </a:p>
                    <a:p>
                      <a:pPr algn="ctr">
                        <a:lnSpc>
                          <a:spcPct val="107000"/>
                        </a:lnSpc>
                        <a:spcAft>
                          <a:spcPts val="800"/>
                        </a:spcAft>
                      </a:pPr>
                      <a:r>
                        <a:rPr lang="en-GB" sz="1200" kern="100" dirty="0">
                          <a:effectLst/>
                        </a:rPr>
                        <a:t>MSN 3737</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30/10/2024</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GB" sz="1200" kern="100" dirty="0">
                          <a:effectLst/>
                        </a:rPr>
                        <a:t>29/10/2025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US" sz="1200" kern="100" dirty="0">
                          <a:effectLst/>
                        </a:rPr>
                        <a:t>Y6</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02/2026</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tc>
                <a:tc>
                  <a:txBody>
                    <a:bodyPr/>
                    <a:lstStyle/>
                    <a:p>
                      <a:pPr algn="ctr">
                        <a:lnSpc>
                          <a:spcPct val="107000"/>
                        </a:lnSpc>
                        <a:spcAft>
                          <a:spcPts val="800"/>
                        </a:spcAft>
                      </a:pPr>
                      <a:r>
                        <a:rPr lang="en-GB" sz="1200" kern="100">
                          <a:effectLst/>
                        </a:rPr>
                        <a:t>V11694</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a:effectLst/>
                        </a:rPr>
                        <a:t>10/04/2025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4135771852"/>
                  </a:ext>
                </a:extLst>
              </a:tr>
              <a:tr h="2373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07000"/>
                        </a:lnSpc>
                        <a:spcAft>
                          <a:spcPts val="800"/>
                        </a:spcAft>
                      </a:pPr>
                      <a:r>
                        <a:rPr lang="en-GB" sz="1200" kern="100" dirty="0">
                          <a:effectLst/>
                        </a:rPr>
                        <a:t>V16049</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a:effectLst/>
                        </a:rPr>
                        <a:t>15/05/2025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831051290"/>
                  </a:ext>
                </a:extLst>
              </a:tr>
              <a:tr h="156208">
                <a:tc rowSpan="2">
                  <a:txBody>
                    <a:bodyPr/>
                    <a:lstStyle/>
                    <a:p>
                      <a:pPr algn="ctr">
                        <a:lnSpc>
                          <a:spcPct val="107000"/>
                        </a:lnSpc>
                        <a:spcAft>
                          <a:spcPts val="800"/>
                        </a:spcAft>
                      </a:pPr>
                      <a:r>
                        <a:rPr lang="en-GB" sz="1200" kern="100" dirty="0">
                          <a:effectLst/>
                        </a:rPr>
                        <a:t>3</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VN-A363</a:t>
                      </a:r>
                      <a:endParaRPr lang="en-US" sz="1200" kern="100" dirty="0">
                        <a:effectLst/>
                      </a:endParaRPr>
                    </a:p>
                    <a:p>
                      <a:pPr algn="ctr">
                        <a:lnSpc>
                          <a:spcPct val="107000"/>
                        </a:lnSpc>
                        <a:spcAft>
                          <a:spcPts val="800"/>
                        </a:spcAft>
                      </a:pPr>
                      <a:r>
                        <a:rPr lang="en-GB" sz="1200" kern="100" dirty="0">
                          <a:effectLst/>
                        </a:rPr>
                        <a:t>MSN 4136</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25/6/2024</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GB" sz="1200" b="1" kern="100" dirty="0">
                          <a:effectLst/>
                        </a:rPr>
                        <a:t>24/6/2025</a:t>
                      </a:r>
                      <a:endParaRPr lang="en-US"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rowSpan="2">
                  <a:txBody>
                    <a:bodyPr/>
                    <a:lstStyle/>
                    <a:p>
                      <a:pPr algn="ctr">
                        <a:lnSpc>
                          <a:spcPct val="107000"/>
                        </a:lnSpc>
                        <a:spcAft>
                          <a:spcPts val="800"/>
                        </a:spcAft>
                      </a:pPr>
                      <a:r>
                        <a:rPr lang="en-US" sz="1200" kern="100">
                          <a:effectLst/>
                        </a:rPr>
                        <a:t>C4</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rowSpan="2">
                  <a:txBody>
                    <a:bodyPr/>
                    <a:lstStyle/>
                    <a:p>
                      <a:pPr algn="ctr">
                        <a:lnSpc>
                          <a:spcPct val="107000"/>
                        </a:lnSpc>
                        <a:spcAft>
                          <a:spcPts val="800"/>
                        </a:spcAft>
                      </a:pPr>
                      <a:r>
                        <a:rPr lang="en-GB" sz="1200" kern="100" dirty="0">
                          <a:effectLst/>
                        </a:rPr>
                        <a:t>05-16/05/2025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tc>
                <a:tc>
                  <a:txBody>
                    <a:bodyPr/>
                    <a:lstStyle/>
                    <a:p>
                      <a:pPr algn="ctr">
                        <a:lnSpc>
                          <a:spcPct val="107000"/>
                        </a:lnSpc>
                        <a:spcAft>
                          <a:spcPts val="800"/>
                        </a:spcAft>
                      </a:pPr>
                      <a:r>
                        <a:rPr lang="en-GB" sz="1200" kern="100" dirty="0">
                          <a:effectLst/>
                        </a:rPr>
                        <a:t>V16563</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a:effectLst/>
                        </a:rPr>
                        <a:t>07/11/2025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1101708291"/>
                  </a:ext>
                </a:extLst>
              </a:tr>
              <a:tr h="2373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07000"/>
                        </a:lnSpc>
                        <a:spcAft>
                          <a:spcPts val="800"/>
                        </a:spcAft>
                      </a:pPr>
                      <a:r>
                        <a:rPr lang="en-GB" sz="1200" kern="100" dirty="0">
                          <a:effectLst/>
                        </a:rPr>
                        <a:t>V11696</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tc>
                  <a:txBody>
                    <a:bodyPr/>
                    <a:lstStyle/>
                    <a:p>
                      <a:pPr algn="ctr">
                        <a:lnSpc>
                          <a:spcPct val="107000"/>
                        </a:lnSpc>
                        <a:spcAft>
                          <a:spcPts val="800"/>
                        </a:spcAft>
                      </a:pPr>
                      <a:r>
                        <a:rPr lang="en-GB" sz="1200" kern="100" dirty="0">
                          <a:effectLst/>
                        </a:rPr>
                        <a:t>20/10/2025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tc>
                <a:extLst>
                  <a:ext uri="{0D108BD9-81ED-4DB2-BD59-A6C34878D82A}">
                    <a16:rowId xmlns:a16="http://schemas.microsoft.com/office/drawing/2014/main" val="2409814873"/>
                  </a:ext>
                </a:extLst>
              </a:tr>
            </a:tbl>
          </a:graphicData>
        </a:graphic>
      </p:graphicFrame>
    </p:spTree>
    <p:extLst>
      <p:ext uri="{BB962C8B-B14F-4D97-AF65-F5344CB8AC3E}">
        <p14:creationId xmlns:p14="http://schemas.microsoft.com/office/powerpoint/2010/main" val="3805071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45</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445226075"/>
              </p:ext>
            </p:extLst>
          </p:nvPr>
        </p:nvGraphicFramePr>
        <p:xfrm>
          <a:off x="3657600" y="710645"/>
          <a:ext cx="4267200" cy="24135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96CDEB2C-23EB-4380-20D3-106F01CAE3BF}"/>
              </a:ext>
            </a:extLst>
          </p:cNvPr>
          <p:cNvGraphicFramePr>
            <a:graphicFrameLocks noGrp="1"/>
          </p:cNvGraphicFramePr>
          <p:nvPr>
            <p:extLst>
              <p:ext uri="{D42A27DB-BD31-4B8C-83A1-F6EECF244321}">
                <p14:modId xmlns:p14="http://schemas.microsoft.com/office/powerpoint/2010/main" val="940218436"/>
              </p:ext>
            </p:extLst>
          </p:nvPr>
        </p:nvGraphicFramePr>
        <p:xfrm>
          <a:off x="249219" y="3124200"/>
          <a:ext cx="11693562" cy="3674292"/>
        </p:xfrm>
        <a:graphic>
          <a:graphicData uri="http://schemas.openxmlformats.org/drawingml/2006/table">
            <a:tbl>
              <a:tblPr/>
              <a:tblGrid>
                <a:gridCol w="247518">
                  <a:extLst>
                    <a:ext uri="{9D8B030D-6E8A-4147-A177-3AD203B41FA5}">
                      <a16:colId xmlns:a16="http://schemas.microsoft.com/office/drawing/2014/main" val="2212786016"/>
                    </a:ext>
                  </a:extLst>
                </a:gridCol>
                <a:gridCol w="1311444">
                  <a:extLst>
                    <a:ext uri="{9D8B030D-6E8A-4147-A177-3AD203B41FA5}">
                      <a16:colId xmlns:a16="http://schemas.microsoft.com/office/drawing/2014/main" val="3219614267"/>
                    </a:ext>
                  </a:extLst>
                </a:gridCol>
                <a:gridCol w="609600">
                  <a:extLst>
                    <a:ext uri="{9D8B030D-6E8A-4147-A177-3AD203B41FA5}">
                      <a16:colId xmlns:a16="http://schemas.microsoft.com/office/drawing/2014/main" val="673467625"/>
                    </a:ext>
                  </a:extLst>
                </a:gridCol>
                <a:gridCol w="609600">
                  <a:extLst>
                    <a:ext uri="{9D8B030D-6E8A-4147-A177-3AD203B41FA5}">
                      <a16:colId xmlns:a16="http://schemas.microsoft.com/office/drawing/2014/main" val="1117169986"/>
                    </a:ext>
                  </a:extLst>
                </a:gridCol>
                <a:gridCol w="5060951">
                  <a:extLst>
                    <a:ext uri="{9D8B030D-6E8A-4147-A177-3AD203B41FA5}">
                      <a16:colId xmlns:a16="http://schemas.microsoft.com/office/drawing/2014/main" val="2293059012"/>
                    </a:ext>
                  </a:extLst>
                </a:gridCol>
                <a:gridCol w="851521">
                  <a:extLst>
                    <a:ext uri="{9D8B030D-6E8A-4147-A177-3AD203B41FA5}">
                      <a16:colId xmlns:a16="http://schemas.microsoft.com/office/drawing/2014/main" val="1020001391"/>
                    </a:ext>
                  </a:extLst>
                </a:gridCol>
                <a:gridCol w="802559">
                  <a:extLst>
                    <a:ext uri="{9D8B030D-6E8A-4147-A177-3AD203B41FA5}">
                      <a16:colId xmlns:a16="http://schemas.microsoft.com/office/drawing/2014/main" val="398598892"/>
                    </a:ext>
                  </a:extLst>
                </a:gridCol>
                <a:gridCol w="1772838">
                  <a:extLst>
                    <a:ext uri="{9D8B030D-6E8A-4147-A177-3AD203B41FA5}">
                      <a16:colId xmlns:a16="http://schemas.microsoft.com/office/drawing/2014/main" val="3600556259"/>
                    </a:ext>
                  </a:extLst>
                </a:gridCol>
                <a:gridCol w="427531">
                  <a:extLst>
                    <a:ext uri="{9D8B030D-6E8A-4147-A177-3AD203B41FA5}">
                      <a16:colId xmlns:a16="http://schemas.microsoft.com/office/drawing/2014/main" val="483861839"/>
                    </a:ext>
                  </a:extLst>
                </a:gridCol>
              </a:tblGrid>
              <a:tr h="175056">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38134136"/>
                  </a:ext>
                </a:extLst>
              </a:tr>
              <a:tr h="175056">
                <a:tc>
                  <a:txBody>
                    <a:bodyPr/>
                    <a:lstStyle/>
                    <a:p>
                      <a:pPr algn="ctr" fontAlgn="ctr"/>
                      <a:r>
                        <a:rPr lang="en-US" sz="1200" b="1" i="0" u="none" strike="noStrike">
                          <a:solidFill>
                            <a:srgbClr val="000000"/>
                          </a:solidFill>
                          <a:effectLst/>
                          <a:latin typeface="Times New Roman" panose="02020603050405020304" pitchFamily="18" charset="0"/>
                        </a:rPr>
                        <a:t>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6830652"/>
                  </a:ext>
                </a:extLst>
              </a:tr>
              <a:tr h="175056">
                <a:tc>
                  <a:txBody>
                    <a:bodyPr/>
                    <a:lstStyle/>
                    <a:p>
                      <a:pPr algn="ctr" fontAlgn="ctr"/>
                      <a:r>
                        <a:rPr lang="en-US" sz="1200" b="0" i="0" u="none" strike="noStrike">
                          <a:solidFill>
                            <a:srgbClr val="000000"/>
                          </a:solidFill>
                          <a:effectLst/>
                          <a:latin typeface="Times New Roman" panose="02020603050405020304" pitchFamily="18" charset="0"/>
                        </a:rPr>
                        <a:t>1</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865-04/25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B1294 BRAKE#06 WORN</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 B1294</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6178339"/>
                  </a:ext>
                </a:extLst>
              </a:tr>
              <a:tr h="175056">
                <a:tc>
                  <a:txBody>
                    <a:bodyPr/>
                    <a:lstStyle/>
                    <a:p>
                      <a:pPr algn="ctr" fontAlgn="ctr"/>
                      <a:r>
                        <a:rPr lang="en-US" sz="1200" b="0" i="0" u="none" strike="noStrike">
                          <a:solidFill>
                            <a:srgbClr val="000000"/>
                          </a:solidFill>
                          <a:effectLst/>
                          <a:latin typeface="Times New Roman" panose="02020603050405020304" pitchFamily="18" charset="0"/>
                        </a:rPr>
                        <a:t>2</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879-08/25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A879</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ADD B574 BRAKE #08 WORN</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ADD B574</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2166065"/>
                  </a:ext>
                </a:extLst>
              </a:tr>
              <a:tr h="514003">
                <a:tc>
                  <a:txBody>
                    <a:bodyPr/>
                    <a:lstStyle/>
                    <a:p>
                      <a:pPr algn="ctr" fontAlgn="ctr"/>
                      <a:r>
                        <a:rPr lang="en-US" sz="1200" b="0" i="0" u="none" strike="noStrike">
                          <a:solidFill>
                            <a:srgbClr val="000000"/>
                          </a:solidFill>
                          <a:effectLst/>
                          <a:latin typeface="Times New Roman" panose="02020603050405020304" pitchFamily="18" charset="0"/>
                        </a:rPr>
                        <a:t>3</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396-03/25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Other</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A396</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EXTEND SCHEDULE OF GROUP AMP TASKS DUE TO LACK OF RESOURCE FOR OPERATION SCHEDULE. LIST TASK ATTACHED EXCEPT ALI,CMR, AD/CN, FAL, SEM, LLP</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GROUP TASK AMP</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7291128"/>
                  </a:ext>
                </a:extLst>
              </a:tr>
              <a:tr h="514003">
                <a:tc>
                  <a:txBody>
                    <a:bodyPr/>
                    <a:lstStyle/>
                    <a:p>
                      <a:pPr algn="ctr" fontAlgn="ctr"/>
                      <a:r>
                        <a:rPr lang="en-US" sz="1200" b="0" i="0" u="none" strike="noStrike">
                          <a:solidFill>
                            <a:srgbClr val="000000"/>
                          </a:solidFill>
                          <a:effectLst/>
                          <a:latin typeface="Times New Roman" panose="02020603050405020304" pitchFamily="18" charset="0"/>
                        </a:rPr>
                        <a:t>4</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879-07/25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CHECK</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A879</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Due to LACK OF RESOURCES, schedule of group AMP tasks check A03 for VN-A879 needs to be extended. List of tasks attached except mandatory tasks: AD, CMR, AWL, LLP, SCI (ALI, CDCCL).</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A03</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2641159"/>
                  </a:ext>
                </a:extLst>
              </a:tr>
              <a:tr h="514003">
                <a:tc>
                  <a:txBody>
                    <a:bodyPr/>
                    <a:lstStyle/>
                    <a:p>
                      <a:pPr algn="ctr" fontAlgn="ctr"/>
                      <a:r>
                        <a:rPr lang="en-US" sz="1200" b="0" i="0" u="none" strike="noStrike">
                          <a:solidFill>
                            <a:srgbClr val="000000"/>
                          </a:solidFill>
                          <a:effectLst/>
                          <a:latin typeface="Times New Roman" panose="02020603050405020304" pitchFamily="18" charset="0"/>
                        </a:rPr>
                        <a:t>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872-06/25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CHECK</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A872</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Due to LACK OF RESOURCES, schedule of group AMP tasks check A03 for VN-A872 needs to be extended. List of tasks attached except mandatory tasks: AD, CMR, AWL, LLP, SCI (ALI, CDCCL).</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A03</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2135774"/>
                  </a:ext>
                </a:extLst>
              </a:tr>
              <a:tr h="514003">
                <a:tc>
                  <a:txBody>
                    <a:bodyPr/>
                    <a:lstStyle/>
                    <a:p>
                      <a:pPr algn="ctr" fontAlgn="ctr"/>
                      <a:r>
                        <a:rPr lang="en-US" sz="1200" b="0" i="0" u="none" strike="noStrike">
                          <a:solidFill>
                            <a:srgbClr val="000000"/>
                          </a:solidFill>
                          <a:effectLst/>
                          <a:latin typeface="Times New Roman" panose="02020603050405020304" pitchFamily="18" charset="0"/>
                        </a:rPr>
                        <a:t>6</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HVN/VN-A867/2025-05-05/01</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Other</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A867</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EXTENDING THE SCHEDULE OF AMS TASK 21-071-00 RESTORE (CLEAN) (OFF AIRCRAFT) HEAT EXCHANGERS DUE TO LACK OF SPARES</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21-071-00</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2532597"/>
                  </a:ext>
                </a:extLst>
              </a:tr>
              <a:tr h="328236">
                <a:tc>
                  <a:txBody>
                    <a:bodyPr/>
                    <a:lstStyle/>
                    <a:p>
                      <a:pPr algn="ctr" fontAlgn="ctr"/>
                      <a:r>
                        <a:rPr lang="en-US" sz="1200" b="0" i="0" u="none" strike="noStrike">
                          <a:solidFill>
                            <a:srgbClr val="000000"/>
                          </a:solidFill>
                          <a:effectLst/>
                          <a:latin typeface="Times New Roman" panose="02020603050405020304" pitchFamily="18" charset="0"/>
                        </a:rPr>
                        <a:t>7</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A898-01/25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CHECK</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A898</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Wet Washing AC</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12-VNA-00-1</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96967"/>
                  </a:ext>
                </a:extLst>
              </a:tr>
              <a:tr h="344529">
                <a:tc>
                  <a:txBody>
                    <a:bodyPr/>
                    <a:lstStyle/>
                    <a:p>
                      <a:pPr algn="ctr" fontAlgn="ctr"/>
                      <a:r>
                        <a:rPr lang="en-US" sz="1200" b="0" i="0" u="none" strike="noStrike">
                          <a:solidFill>
                            <a:srgbClr val="000000"/>
                          </a:solidFill>
                          <a:effectLst/>
                          <a:latin typeface="Times New Roman" panose="02020603050405020304" pitchFamily="18" charset="0"/>
                        </a:rPr>
                        <a:t>8</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613-01/25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Other</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A613</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rPr>
                        <a:t>Due to LACK OF HANGAR SLOT,schedule of GROUPS AMP TASK OF Y01 and C01 CHECK needs to be EXTENDED.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11-May-2025</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C01; Y01</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7249722"/>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127.90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449:05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216:00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869:40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199:35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467:05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950967"/>
          <a:ext cx="10370492"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10" name="Chart 9"/>
          <p:cNvGraphicFramePr>
            <a:graphicFrameLocks/>
          </p:cNvGraphicFramePr>
          <p:nvPr/>
        </p:nvGraphicFramePr>
        <p:xfrm>
          <a:off x="925417" y="1211500"/>
          <a:ext cx="10521107" cy="21785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838199" y="1219200"/>
          <a:ext cx="10820401"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A604: EC06+EC01+C02+C03+Y06+Y12+EA08-EA09 (13/04-13/05): hiện không còn vướng mắc về vật tư</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266700" y="2522750"/>
            <a:ext cx="11658600" cy="33718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50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105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25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30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11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55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14 overdue orders / total 20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1018850" y="2088274"/>
            <a:ext cx="9528426" cy="46963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6" name="Google Shape;17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177" name="Google Shape;177;g31ccdae391d_0_271"/>
          <p:cNvGraphicFramePr/>
          <p:nvPr/>
        </p:nvGraphicFramePr>
        <p:xfrm>
          <a:off x="489114" y="611396"/>
          <a:ext cx="11570675" cy="519031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Sửa tại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9</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LH</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745-4000-515</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 Ban QLVT đang tìm thuê 2ea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10 </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RH</a:t>
                      </a:r>
                      <a:endParaRPr sz="160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745-4000-516</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graphicFrame>
        <p:nvGraphicFramePr>
          <p:cNvPr id="185" name="Google Shape;185;g31ccdae391d_0_278"/>
          <p:cNvGraphicFramePr/>
          <p:nvPr/>
        </p:nvGraphicFramePr>
        <p:xfrm>
          <a:off x="558675" y="462325"/>
          <a:ext cx="10287000" cy="6309871"/>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ngày 15/5 nhập kho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push Honeywell cấp AOG nhưng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giục Honeywell sửa chữa bảo hành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2" name="Google Shape;19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193" name="Google Shape;19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22</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41</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14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15</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08</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26</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81225" y="1783974"/>
            <a:ext cx="7400924" cy="44977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11" name="Google Shape;211;g31ccdae391d_0_308"/>
          <p:cNvGraphicFramePr/>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EDD 19/05.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vào shop tuàn 20.</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01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A864 - AFT CARGO HANDLING SYSTEM IN/OUT IN CENTER LOADING PDU INOP: PDU về SGN trong tuần 20.</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A865, A869, A879 - Brake worn to limit: 01ea in stock, 02ea về SGN/HAN tuần 20.</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A869 - INTEGRATED CLG RECIR AIR: controller dự kiến về SGN trong tuần 20.</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771525" y="3186113"/>
            <a:ext cx="10648950" cy="32289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45</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79</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10</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36</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69</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433648" y="2089998"/>
            <a:ext cx="6435450" cy="44108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38" name="Google Shape;238;g31ccdae391d_0_332"/>
          <p:cNvGraphicFramePr/>
          <p:nvPr/>
        </p:nvGraphicFramePr>
        <p:xfrm>
          <a:off x="474783" y="301869"/>
          <a:ext cx="11561850" cy="6097144"/>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81931">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1931">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4858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2e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93039">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5</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07</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+ 08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của tài BQ.</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+ 04ea EDD 18/06.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+ 08ea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4858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05</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4858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8963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01 hỏng hóc cho tàu A889.</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Từ đầu năm 2025 yêu cầu 29ea, trong đó đã thay 28ea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+ 02ea 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lại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+ 02ea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20 </a:t>
                      </a:r>
                      <a:r>
                        <a:rPr lang="en-US" sz="1300" dirty="0" err="1">
                          <a:solidFill>
                            <a:schemeClr val="dk1"/>
                          </a:solidFill>
                          <a:latin typeface="Times New Roman"/>
                          <a:ea typeface="Times New Roman"/>
                          <a:cs typeface="Times New Roman"/>
                          <a:sym typeface="Times New Roman"/>
                        </a:rPr>
                        <a:t>cũng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hàng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20, do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kế</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hoạch</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nên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ưu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lắp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 CHILLER SYS INOP DURING CRUISE: đặt hàng VCRU, chưa có EDD.</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A892 - GALLEY CHILLER SYS INOP: đặt hàng VCRU, chưa có EDD.</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71525" y="3014663"/>
            <a:ext cx="10648950" cy="22002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55" name="Google Shape;255;g31ccdae391d_0_347"/>
          <p:cNvGraphicFramePr/>
          <p:nvPr/>
        </p:nvGraphicFramePr>
        <p:xfrm>
          <a:off x="439614" y="221847"/>
          <a:ext cx="11611325" cy="642753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13/05 dự kiến có 02ea (01ea vip kit + 01ea PO)</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Dự kiến 05 ea về ngày 14/05.</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03ea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03ea in stock. trong tuần 20 dự kiến sẽ có thêm 05ea.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NIL</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7</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3</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21043 và 21317, 21048 sửa tại N3 và 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21201 sửa tại HAESL v</a:t>
            </a:r>
            <a:r>
              <a:rPr lang="en-US" sz="1500">
                <a:solidFill>
                  <a:schemeClr val="dk1"/>
                </a:solidFill>
                <a:highlight>
                  <a:schemeClr val="lt1"/>
                </a:highlight>
                <a:latin typeface="Times New Roman"/>
                <a:ea typeface="Times New Roman"/>
                <a:cs typeface="Times New Roman"/>
                <a:sym typeface="Times New Roman"/>
              </a:rPr>
              <a:t>à 03 tại SEASL 21584,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•Đã thu xếp chuyển 01 core engine stand từ N3 về để swap động cơ vào tháo tiếp động cơ gửi đi shop.</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KLM shop:  956533, 956599 và 956947, 956534 (inducted th</a:t>
            </a:r>
            <a:r>
              <a:rPr lang="en-US" sz="1500">
                <a:solidFill>
                  <a:schemeClr val="dk1"/>
                </a:solidFill>
                <a:highlight>
                  <a:schemeClr val="lt1"/>
                </a:highlight>
                <a:latin typeface="Times New Roman"/>
                <a:ea typeface="Times New Roman"/>
                <a:cs typeface="Times New Roman"/>
                <a:sym typeface="Times New Roman"/>
              </a:rPr>
              <a:t>áng 4/2025)</a:t>
            </a:r>
            <a:r>
              <a:rPr lang="en-US" sz="1500" b="0" i="0" u="none" strike="noStrike" cap="none">
                <a:solidFill>
                  <a:schemeClr val="dk1"/>
                </a:solidFill>
                <a:highlight>
                  <a:schemeClr val="lt1"/>
                </a:highlight>
                <a:latin typeface="Times New Roman"/>
                <a:ea typeface="Times New Roman"/>
                <a:cs typeface="Times New Roman"/>
                <a:sym typeface="Times New Roman"/>
              </a:rPr>
              <a:t>. trong </a:t>
            </a:r>
            <a:r>
              <a:rPr lang="en-US" sz="1500">
                <a:solidFill>
                  <a:schemeClr val="dk1"/>
                </a:solidFill>
                <a:highlight>
                  <a:schemeClr val="lt1"/>
                </a:highlight>
                <a:latin typeface="Times New Roman"/>
                <a:ea typeface="Times New Roman"/>
                <a:cs typeface="Times New Roman"/>
                <a:sym typeface="Times New Roman"/>
              </a:rPr>
              <a:t>đó động cơ 956533 dự kiến về SGN 08May.</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GE shop: 958398 (delay in GEEVES) d</a:t>
            </a:r>
            <a:r>
              <a:rPr lang="en-US" sz="1500">
                <a:solidFill>
                  <a:schemeClr val="dk1"/>
                </a:solidFill>
                <a:highlight>
                  <a:schemeClr val="lt1"/>
                </a:highlight>
                <a:latin typeface="Times New Roman"/>
                <a:ea typeface="Times New Roman"/>
                <a:cs typeface="Times New Roman"/>
                <a:sym typeface="Times New Roman"/>
              </a:rPr>
              <a:t>ự kiến giao cuối tháng 6/2025.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02ea V11752, V16582 (VNA), V16462 (K6)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09</a:t>
            </a:r>
            <a:r>
              <a:rPr lang="en-US" sz="1600" b="0" i="0" u="none" strike="noStrike" cap="none">
                <a:solidFill>
                  <a:schemeClr val="dk1"/>
                </a:solidFill>
                <a:latin typeface="Times New Roman"/>
                <a:ea typeface="Times New Roman"/>
                <a:cs typeface="Times New Roman"/>
                <a:sym typeface="Times New Roman"/>
              </a:rPr>
              <a:t>ea VNA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7</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5 t</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thuê thêm 2 động cơ ( LHT- cuối tháng 7 và PWEL cuối tháng 5 )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611200" y="2437425"/>
            <a:ext cx="10827975" cy="26606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11" name="Google Shape;311;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5: V17403 (10/05), V16692 (28/05).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12/05.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P771077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23/05.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P771391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25/05.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P771387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a:t>
            </a:r>
            <a:r>
              <a:rPr lang="en-US" sz="1600" dirty="0">
                <a:solidFill>
                  <a:schemeClr val="tx1"/>
                </a:solidFill>
                <a:latin typeface="Times New Roman"/>
                <a:ea typeface="Times New Roman"/>
                <a:cs typeface="Times New Roman"/>
                <a:sym typeface="Times New Roman"/>
              </a:rPr>
              <a:t>23/06</a:t>
            </a:r>
            <a:r>
              <a:rPr lang="en-US" sz="1600" dirty="0">
                <a:solidFill>
                  <a:srgbClr val="FF0000"/>
                </a:solidFill>
                <a:latin typeface="Times New Roman"/>
                <a:ea typeface="Times New Roman"/>
                <a:cs typeface="Times New Roman"/>
                <a:sym typeface="Times New Roman"/>
              </a:rPr>
              <a:t>.</a:t>
            </a:r>
            <a:endParaRPr sz="1600" dirty="0">
              <a:solidFill>
                <a:srgbClr val="FF0000"/>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a:t>
            </a:r>
            <a:r>
              <a:rPr lang="en-US" sz="1600" dirty="0">
                <a:solidFill>
                  <a:schemeClr val="dk1"/>
                </a:solidFill>
                <a:latin typeface="Times New Roman"/>
                <a:ea typeface="Times New Roman"/>
                <a:cs typeface="Times New Roman"/>
                <a:sym typeface="Times New Roman"/>
              </a:rPr>
              <a:t>235</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EST SGN 20/06.</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319" name="Google Shape;319;g31ccdae391d_0_403"/>
          <p:cNvSpPr txBox="1"/>
          <p:nvPr/>
        </p:nvSpPr>
        <p:spPr>
          <a:xfrm>
            <a:off x="7066700" y="571500"/>
            <a:ext cx="4085700" cy="3444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a:t>
            </a:r>
            <a:r>
              <a:rPr lang="en-US" dirty="0">
                <a:solidFill>
                  <a:schemeClr val="dk1"/>
                </a:solidFill>
                <a:latin typeface="Times New Roman"/>
                <a:ea typeface="Times New Roman"/>
                <a:cs typeface="Times New Roman"/>
                <a:sym typeface="Times New Roman"/>
              </a:rPr>
              <a:t>00 </a:t>
            </a:r>
            <a:r>
              <a:rPr lang="en-US" sz="1400" b="0" i="0" u="none" strike="noStrike" cap="none" dirty="0">
                <a:solidFill>
                  <a:schemeClr val="dk1"/>
                </a:solidFill>
                <a:latin typeface="Times New Roman"/>
                <a:ea typeface="Times New Roman"/>
                <a:cs typeface="Times New Roman"/>
                <a:sym typeface="Times New Roman"/>
              </a:rPr>
              <a:t>APU</a:t>
            </a: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Th</a:t>
            </a:r>
            <a:r>
              <a:rPr lang="en-US" dirty="0" err="1">
                <a:solidFill>
                  <a:schemeClr val="dk1"/>
                </a:solidFill>
                <a:latin typeface="Times New Roman"/>
                <a:ea typeface="Times New Roman"/>
                <a:cs typeface="Times New Roman"/>
                <a:sym typeface="Times New Roman"/>
              </a:rPr>
              <a:t>áng</a:t>
            </a:r>
            <a:r>
              <a:rPr lang="en-US" dirty="0">
                <a:solidFill>
                  <a:schemeClr val="dk1"/>
                </a:solidFill>
                <a:latin typeface="Times New Roman"/>
                <a:ea typeface="Times New Roman"/>
                <a:cs typeface="Times New Roman"/>
                <a:sym typeface="Times New Roman"/>
              </a:rPr>
              <a:t> 5: 01ea EDD 18/05.</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+02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P-00113 </a:t>
            </a:r>
            <a:r>
              <a:rPr lang="en-US" dirty="0" err="1">
                <a:solidFill>
                  <a:schemeClr val="dk1"/>
                </a:solidFill>
                <a:latin typeface="Times New Roman"/>
                <a:ea typeface="Times New Roman"/>
                <a:cs typeface="Times New Roman"/>
                <a:sym typeface="Times New Roman"/>
              </a:rPr>
              <a:t>và</a:t>
            </a:r>
            <a:r>
              <a:rPr lang="en-US" dirty="0">
                <a:solidFill>
                  <a:schemeClr val="dk1"/>
                </a:solidFill>
                <a:latin typeface="Times New Roman"/>
                <a:ea typeface="Times New Roman"/>
                <a:cs typeface="Times New Roman"/>
                <a:sym typeface="Times New Roman"/>
              </a:rPr>
              <a:t> P-00194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release.</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(PWC-Z926122)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 PWC-Z925500) DK 16/05/2025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469700" y="495300"/>
            <a:ext cx="6494701" cy="583967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dirty="0">
                <a:solidFill>
                  <a:srgbClr val="FFC000"/>
                </a:solidFill>
                <a:latin typeface="Times New Roman"/>
                <a:ea typeface="Times New Roman"/>
                <a:cs typeface="Times New Roman"/>
                <a:sym typeface="Times New Roman"/>
              </a:rPr>
              <a:t>CÔNG TÁC BAY NGA</a:t>
            </a:r>
            <a:endParaRPr sz="2800" dirty="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328" name="Google Shape;328;g338eea6c084_0_0"/>
          <p:cNvSpPr/>
          <p:nvPr/>
        </p:nvSpPr>
        <p:spPr>
          <a:xfrm>
            <a:off x="609900" y="211335"/>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558800" marR="0" lvl="0" indent="-457200" algn="just" rtl="0">
              <a:lnSpc>
                <a:spcPct val="115000"/>
              </a:lnSpc>
              <a:spcBef>
                <a:spcPts val="0"/>
              </a:spcBef>
              <a:spcAft>
                <a:spcPts val="0"/>
              </a:spcAft>
              <a:buClr>
                <a:schemeClr val="dk1"/>
              </a:buClr>
              <a:buSzPts val="2000"/>
              <a:buFont typeface="+mj-lt"/>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công</a:t>
            </a:r>
            <a:r>
              <a:rPr lang="en-US" sz="1600" dirty="0">
                <a:solidFill>
                  <a:schemeClr val="dk1"/>
                </a:solidFill>
                <a:latin typeface="Times New Roman"/>
                <a:ea typeface="Times New Roman"/>
                <a:cs typeface="Times New Roman"/>
                <a:sym typeface="Times New Roman"/>
              </a:rPr>
              <a:t> ty </a:t>
            </a: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a:t>
            </a:r>
          </a:p>
          <a:p>
            <a:pPr marL="0" marR="0" lvl="0" indent="457200" algn="just" rtl="0">
              <a:lnSpc>
                <a:spcPct val="115000"/>
              </a:lnSpc>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a:solidFill>
                  <a:schemeClr val="dk1"/>
                </a:solidFill>
                <a:latin typeface="Times New Roman"/>
                <a:ea typeface="Times New Roman"/>
                <a:cs typeface="Times New Roman"/>
                <a:sym typeface="Times New Roman"/>
              </a:rPr>
              <a:t>2.    PTVT 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47 item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16 item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ít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nhất</a:t>
            </a:r>
            <a:r>
              <a:rPr lang="en-US" sz="1600" dirty="0">
                <a:solidFill>
                  <a:schemeClr val="dk1"/>
                </a:solidFill>
                <a:latin typeface="Times New Roman"/>
                <a:ea typeface="Times New Roman"/>
                <a:cs typeface="Times New Roman"/>
                <a:sym typeface="Times New Roman"/>
              </a:rPr>
              <a:t> 05ea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5).</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lượng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khí</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theo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chuyến</a:t>
            </a:r>
            <a:r>
              <a:rPr lang="en-US" sz="1600" dirty="0">
                <a:solidFill>
                  <a:schemeClr val="dk1"/>
                </a:solidFill>
                <a:latin typeface="Times New Roman"/>
                <a:ea typeface="Times New Roman"/>
                <a:cs typeface="Times New Roman"/>
                <a:sym typeface="Times New Roman"/>
              </a:rPr>
              <a:t> bay Nga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08/05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38 item do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item </a:t>
            </a:r>
            <a:r>
              <a:rPr lang="en-US" sz="1600" dirty="0" err="1">
                <a:solidFill>
                  <a:schemeClr val="dk1"/>
                </a:solidFill>
                <a:latin typeface="Times New Roman"/>
                <a:ea typeface="Times New Roman"/>
                <a:cs typeface="Times New Roman"/>
                <a:sym typeface="Times New Roman"/>
              </a:rPr>
              <a:t>mang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chuyến</a:t>
            </a:r>
            <a:r>
              <a:rPr lang="en-US" sz="1600" dirty="0">
                <a:solidFill>
                  <a:schemeClr val="dk1"/>
                </a:solidFill>
                <a:latin typeface="Times New Roman"/>
                <a:ea typeface="Times New Roman"/>
                <a:cs typeface="Times New Roman"/>
                <a:sym typeface="Times New Roman"/>
              </a:rPr>
              <a:t> bay </a:t>
            </a:r>
            <a:r>
              <a:rPr lang="en-US" sz="1600" dirty="0" err="1">
                <a:solidFill>
                  <a:schemeClr val="dk1"/>
                </a:solidFill>
                <a:latin typeface="Times New Roman"/>
                <a:ea typeface="Times New Roman"/>
                <a:cs typeface="Times New Roman"/>
                <a:sym typeface="Times New Roman"/>
              </a:rPr>
              <a:t>Vip</a:t>
            </a:r>
            <a:r>
              <a:rPr lang="en-US" sz="1600" dirty="0">
                <a:solidFill>
                  <a:schemeClr val="dk1"/>
                </a:solidFill>
                <a:latin typeface="Times New Roman"/>
                <a:ea typeface="Times New Roman"/>
                <a:cs typeface="Times New Roman"/>
                <a:sym typeface="Times New Roman"/>
              </a:rPr>
              <a:t>.</a:t>
            </a:r>
          </a:p>
          <a:p>
            <a:pPr marL="45720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a:solidFill>
                  <a:schemeClr val="dk1"/>
                </a:solidFill>
                <a:latin typeface="Times New Roman"/>
                <a:ea typeface="Times New Roman"/>
                <a:cs typeface="Times New Roman"/>
                <a:sym typeface="Times New Roman"/>
              </a:rPr>
              <a:t>3.    VẬN CHUYỂN, THUÊ KHO Ở NGA</a:t>
            </a:r>
            <a:endParaRPr sz="2000" b="1"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phương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án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vướng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mắc</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case by case (HS Code, product description, commercial invoice and purpose of use information in order to take action).</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Submit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Airlines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approval.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thì</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mất</a:t>
            </a:r>
            <a:r>
              <a:rPr lang="en-US" sz="1600" dirty="0">
                <a:solidFill>
                  <a:schemeClr val="dk1"/>
                </a:solidFill>
                <a:latin typeface="Times New Roman"/>
                <a:ea typeface="Times New Roman"/>
                <a:cs typeface="Times New Roman"/>
                <a:sym typeface="Times New Roman"/>
              </a:rPr>
              <a:t> 3-5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Còn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Mỹ</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nay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được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Nga</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--&gt; </a:t>
            </a:r>
            <a:r>
              <a:rPr lang="en-US" sz="1600" dirty="0" err="1">
                <a:solidFill>
                  <a:schemeClr val="dk1"/>
                </a:solidFill>
                <a:latin typeface="Times New Roman"/>
                <a:ea typeface="Times New Roman"/>
                <a:cs typeface="Times New Roman"/>
                <a:sym typeface="Times New Roman"/>
              </a:rPr>
              <a:t>vẫn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khăn</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khác</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ở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phải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thủ</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vào</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như</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vi </a:t>
            </a:r>
            <a:r>
              <a:rPr lang="en-US" sz="1600" dirty="0" err="1">
                <a:solidFill>
                  <a:schemeClr val="dk1"/>
                </a:solidFill>
                <a:latin typeface="Times New Roman"/>
                <a:ea typeface="Times New Roman"/>
                <a:cs typeface="Times New Roman"/>
                <a:sym typeface="Times New Roman"/>
              </a:rPr>
              <a:t>phạm</a:t>
            </a:r>
            <a:r>
              <a:rPr lang="en-US" sz="1600" dirty="0">
                <a:solidFill>
                  <a:schemeClr val="dk1"/>
                </a:solidFill>
                <a:latin typeface="Times New Roman"/>
                <a:ea typeface="Times New Roman"/>
                <a:cs typeface="Times New Roman"/>
                <a:sym typeface="Times New Roman"/>
              </a:rPr>
              <a:t> cam </a:t>
            </a:r>
            <a:r>
              <a:rPr lang="en-US" sz="1600" dirty="0" err="1">
                <a:solidFill>
                  <a:schemeClr val="dk1"/>
                </a:solidFill>
                <a:latin typeface="Times New Roman"/>
                <a:ea typeface="Times New Roman"/>
                <a:cs typeface="Times New Roman"/>
                <a:sym typeface="Times New Roman"/>
              </a:rPr>
              <a:t>kết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xuất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OEM.</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Ngoài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ra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diện</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việc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thiết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ngoại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RAMP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dụng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1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tiêu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bánh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phép</a:t>
            </a:r>
            <a:r>
              <a:rPr lang="en-US" sz="1600" dirty="0">
                <a:solidFill>
                  <a:schemeClr val="dk1"/>
                </a:solidFill>
                <a:latin typeface="Times New Roman"/>
                <a:ea typeface="Times New Roman"/>
                <a:cs typeface="Times New Roman"/>
                <a:sym typeface="Times New Roman"/>
              </a:rPr>
              <a:t> do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Hải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rất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nghiêm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Ban QLVT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1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ở SVO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hỗ</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tiêu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hao</a:t>
            </a:r>
            <a:r>
              <a:rPr lang="en-US" sz="1600" dirty="0">
                <a:solidFill>
                  <a:schemeClr val="dk1"/>
                </a:solidFill>
                <a:latin typeface="Times New Roman"/>
                <a:ea typeface="Times New Roman"/>
                <a:cs typeface="Times New Roman"/>
                <a:sym typeface="Times New Roman"/>
              </a:rPr>
              <a:t> trong TH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thiết</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75508</TotalTime>
  <Words>18449</Words>
  <Application>Microsoft Office PowerPoint</Application>
  <PresentationFormat>Widescreen</PresentationFormat>
  <Paragraphs>2738</Paragraphs>
  <Slides>71</Slides>
  <Notes>63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Arial</vt:lpstr>
      <vt:lpstr>Calibri</vt:lpstr>
      <vt:lpstr>Cambria</vt:lpstr>
      <vt:lpstr>Montserrat</vt:lpstr>
      <vt:lpstr>Montserrat SemiBold</vt:lpstr>
      <vt:lpstr>Times New Roman</vt:lpstr>
      <vt:lpstr>Wingdings</vt:lpstr>
      <vt:lpstr>16-9 MASTER TEMPLATE</vt:lpstr>
      <vt:lpstr>BÁO CÁO KỸ THUẬT (Tuần 19: 05/05/2025 – 11/05/2025)</vt:lpstr>
      <vt:lpstr>TỔNG HỢP AOG, DELAY VÀ GTB/ATB/DIV</vt:lpstr>
      <vt:lpstr>ATB/GTB COMPARISON</vt:lpstr>
      <vt:lpstr>CÁC SỰ KIỆN ATB/GTB/DIV</vt:lpstr>
      <vt:lpstr>CÁC SỰ KIỆN ATB/GTB/DIV</vt:lpstr>
      <vt:lpstr>CÁC SỰ KIỆN ATB/GTB/DIV</vt:lpstr>
      <vt:lpstr>PowerPoint Presentation</vt:lpstr>
      <vt:lpstr>TÌNH TRẠNG KỸ THUẬT ĐỘI BAY – A320/A321</vt:lpstr>
      <vt:lpstr>TÌNH TRẠNG KỸ THUẬT ĐỘI BAY – A320/A321</vt:lpstr>
      <vt:lpstr>PowerPoint Presentation</vt:lpstr>
      <vt:lpstr>TÌNH TRẠNG KỸ THUẬT ĐỘI BAY – A350</vt:lpstr>
      <vt:lpstr>TÌNH TRẠNG KỸ THUẬT ĐỘI BAY – A350</vt:lpstr>
      <vt:lpstr>TÌNH TRẠNG KỸ THUẬT ĐỘI BAY – A350</vt:lpstr>
      <vt:lpstr>TÌNH TRẠNG KỸ THUẬT ĐỘI BAY – A350</vt:lpstr>
      <vt:lpstr>PowerPoint Presentation</vt:lpstr>
      <vt:lpstr>A896 –ATB – DUE TO  HYD ENG 1 Y OVHT</vt:lpstr>
      <vt:lpstr>PowerPoint Presentation</vt:lpstr>
      <vt:lpstr>PowerPoint Presentation</vt:lpstr>
      <vt:lpstr>PowerPoint Presentation</vt:lpstr>
      <vt:lpstr>TÌNH TRẠNG KỸ THUẬT ĐỘI BAY – B787</vt:lpstr>
      <vt:lpstr>TÌNH TRẠNG KỸ THUẬT ĐỘI BAY – B787</vt:lpstr>
      <vt:lpstr>PowerPoint Presentation</vt:lpstr>
      <vt:lpstr>PowerPoint Presentation</vt:lpstr>
      <vt:lpstr>TÌNH TRẠNG KỸ THUẬT ĐỘI BAY – ATR72</vt:lpstr>
      <vt:lpstr>TÌNH TRẠNG KỸ THUẬT ĐỘI BAY – ATR72</vt:lpstr>
      <vt:lpstr>DISPATCH RELIABILITY W19 (05/05/2025-11/05/2025)</vt:lpstr>
      <vt:lpstr>CÁC CÔNG VIỆC TRỌNG ĐIỂM TRONG TUẦN</vt:lpstr>
      <vt:lpstr>CÁC CÔNG VIỆC TRỌNG ĐIỂM TRONG TUẦN</vt:lpstr>
      <vt:lpstr>CÁC CÔNG VIỆC TRỌNG ĐIỂM</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Nguyen Dinh Thanh</cp:lastModifiedBy>
  <cp:revision>11862</cp:revision>
  <cp:lastPrinted>2019-03-27T09:25:07Z</cp:lastPrinted>
  <dcterms:created xsi:type="dcterms:W3CDTF">2018-12-27T04:50:36Z</dcterms:created>
  <dcterms:modified xsi:type="dcterms:W3CDTF">2025-05-11T12:59:55Z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