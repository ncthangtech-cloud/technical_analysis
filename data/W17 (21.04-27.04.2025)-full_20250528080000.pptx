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xml" ContentType="application/vnd.openxmlformats-officedocument.presentationml.tags+xml"/>
  <Override PartName="/ppt/notesSlides/notesSlide24.xml" ContentType="application/vnd.openxmlformats-officedocument.presentationml.notesSlide+xml"/>
  <Override PartName="/ppt/charts/chart7.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2.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3.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4.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15.xml" ContentType="application/vnd.openxmlformats-officedocument.drawingml.chart+xml"/>
  <Override PartName="/ppt/notesSlides/notesSlide40.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41.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42.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01" r:id="rId5"/>
  </p:sldMasterIdLst>
  <p:notesMasterIdLst>
    <p:notesMasterId r:id="rId82"/>
  </p:notesMasterIdLst>
  <p:sldIdLst>
    <p:sldId id="11486" r:id="rId6"/>
    <p:sldId id="11487" r:id="rId7"/>
    <p:sldId id="11488" r:id="rId8"/>
    <p:sldId id="12217" r:id="rId9"/>
    <p:sldId id="12218" r:id="rId10"/>
    <p:sldId id="11493" r:id="rId11"/>
    <p:sldId id="12219" r:id="rId12"/>
    <p:sldId id="12220" r:id="rId13"/>
    <p:sldId id="12221" r:id="rId14"/>
    <p:sldId id="12223" r:id="rId15"/>
    <p:sldId id="12224" r:id="rId16"/>
    <p:sldId id="12183" r:id="rId17"/>
    <p:sldId id="12225" r:id="rId18"/>
    <p:sldId id="12227" r:id="rId19"/>
    <p:sldId id="12213" r:id="rId20"/>
    <p:sldId id="12214" r:id="rId21"/>
    <p:sldId id="12228" r:id="rId22"/>
    <p:sldId id="12229" r:id="rId23"/>
    <p:sldId id="12230" r:id="rId24"/>
    <p:sldId id="12231" r:id="rId25"/>
    <p:sldId id="12232" r:id="rId26"/>
    <p:sldId id="12215" r:id="rId27"/>
    <p:sldId id="12216" r:id="rId28"/>
    <p:sldId id="12233" r:id="rId29"/>
    <p:sldId id="12131" r:id="rId30"/>
    <p:sldId id="12234" r:id="rId31"/>
    <p:sldId id="12235" r:id="rId32"/>
    <p:sldId id="12091" r:id="rId33"/>
    <p:sldId id="12058" r:id="rId34"/>
    <p:sldId id="12092" r:id="rId35"/>
    <p:sldId id="12093" r:id="rId36"/>
    <p:sldId id="12236" r:id="rId37"/>
    <p:sldId id="12237" r:id="rId38"/>
    <p:sldId id="12238" r:id="rId39"/>
    <p:sldId id="12239" r:id="rId40"/>
    <p:sldId id="12240" r:id="rId41"/>
    <p:sldId id="12241" r:id="rId42"/>
    <p:sldId id="12242" r:id="rId43"/>
    <p:sldId id="12243" r:id="rId44"/>
    <p:sldId id="12244" r:id="rId45"/>
    <p:sldId id="12245" r:id="rId46"/>
    <p:sldId id="12246" r:id="rId47"/>
    <p:sldId id="12247" r:id="rId48"/>
    <p:sldId id="12248" r:id="rId49"/>
    <p:sldId id="12249" r:id="rId50"/>
    <p:sldId id="12187" r:id="rId51"/>
    <p:sldId id="12188" r:id="rId52"/>
    <p:sldId id="12189" r:id="rId53"/>
    <p:sldId id="12190" r:id="rId54"/>
    <p:sldId id="12191" r:id="rId55"/>
    <p:sldId id="11545" r:id="rId56"/>
    <p:sldId id="12184" r:id="rId57"/>
    <p:sldId id="12185" r:id="rId58"/>
    <p:sldId id="12186" r:id="rId59"/>
    <p:sldId id="12192" r:id="rId60"/>
    <p:sldId id="12193" r:id="rId61"/>
    <p:sldId id="12194" r:id="rId62"/>
    <p:sldId id="12195" r:id="rId63"/>
    <p:sldId id="12196" r:id="rId64"/>
    <p:sldId id="12197" r:id="rId65"/>
    <p:sldId id="12198" r:id="rId66"/>
    <p:sldId id="12199" r:id="rId67"/>
    <p:sldId id="12200" r:id="rId68"/>
    <p:sldId id="12201" r:id="rId69"/>
    <p:sldId id="12202" r:id="rId70"/>
    <p:sldId id="12203" r:id="rId71"/>
    <p:sldId id="12204" r:id="rId72"/>
    <p:sldId id="12205" r:id="rId73"/>
    <p:sldId id="12206" r:id="rId74"/>
    <p:sldId id="12207" r:id="rId75"/>
    <p:sldId id="12208" r:id="rId76"/>
    <p:sldId id="12209" r:id="rId77"/>
    <p:sldId id="12210" r:id="rId78"/>
    <p:sldId id="12211" r:id="rId79"/>
    <p:sldId id="12212" r:id="rId80"/>
    <p:sldId id="11888" r:id="rId8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15" autoAdjust="0"/>
    <p:restoredTop sz="91534" autoAdjust="0"/>
  </p:normalViewPr>
  <p:slideViewPr>
    <p:cSldViewPr>
      <p:cViewPr varScale="1">
        <p:scale>
          <a:sx n="80" d="100"/>
          <a:sy n="80" d="100"/>
        </p:scale>
        <p:origin x="547" y="62"/>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slide" Target="slides/slide71.xml"/><Relationship Id="rId84"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82" Type="http://schemas.openxmlformats.org/officeDocument/2006/relationships/notesMaster" Target="notesMasters/notesMaster1.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17\W17%20(21.04-27.04.20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in\OneDrive\Desktop\TAI%20LIEU%20LAM%20VIEC\MOC\BC_Tu&#226;n\2025\W17\W17%20(21.04-27.04.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in\OneDrive\Desktop\TAI%20LIEU%20LAM%20VIEC\MOC\BC_Tu&#226;n\2025\W17\W17%20(21.04-27.04.2025).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file:///C:\Users\admin\OneDrive\Desktop\TAI%20LIEU%20LAM%20VIEC\MOC\BC_Tu&#226;n\2025\W17\W17%20(21.04-27.04.2025).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17\W17%20(21.04-27.04.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17\W17%20(21.04-27.04.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7\DR\DR-W17.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admin\OneDrive\Desktop\TAI%20LIEU%20LAM%20VIEC\MOC\BC_Tu&#226;n\2025\W17\W17%20(21.04-27.04.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1</c:v>
                </c:pt>
                <c:pt idx="2">
                  <c:v>0</c:v>
                </c:pt>
                <c:pt idx="3">
                  <c:v>2</c:v>
                </c:pt>
                <c:pt idx="4">
                  <c:v>0</c:v>
                </c:pt>
                <c:pt idx="5">
                  <c:v>3</c:v>
                </c:pt>
              </c:numCache>
            </c:numRef>
          </c:val>
          <c:extLst xmlns:c15="http://schemas.microsoft.com/office/drawing/2012/chart" xmlns:c16r2="http://schemas.microsoft.com/office/drawing/2015/06/chart">
            <c:ext xmlns:c16="http://schemas.microsoft.com/office/drawing/2014/chart" uri="{C3380CC4-5D6E-409C-BE32-E72D297353CC}">
              <c16:uniqueId val="{00000000-52E7-4D58-A2BF-9F39FD26E5FC}"/>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2</c:v>
                </c:pt>
                <c:pt idx="2">
                  <c:v>0</c:v>
                </c:pt>
                <c:pt idx="3">
                  <c:v>1</c:v>
                </c:pt>
                <c:pt idx="4">
                  <c:v>0</c:v>
                </c:pt>
                <c:pt idx="5">
                  <c:v>3</c:v>
                </c:pt>
              </c:numCache>
            </c:numRef>
          </c:val>
          <c:extLst xmlns:c16r2="http://schemas.microsoft.com/office/drawing/2015/06/chart">
            <c:ext xmlns:c16="http://schemas.microsoft.com/office/drawing/2014/chart" uri="{C3380CC4-5D6E-409C-BE32-E72D297353CC}">
              <c16:uniqueId val="{00000001-52E7-4D58-A2BF-9F39FD26E5FC}"/>
            </c:ext>
          </c:extLst>
        </c:ser>
        <c:dLbls>
          <c:showLegendKey val="0"/>
          <c:showVal val="0"/>
          <c:showCatName val="0"/>
          <c:showSerName val="0"/>
          <c:showPercent val="0"/>
          <c:showBubbleSize val="0"/>
        </c:dLbls>
        <c:gapWidth val="219"/>
        <c:overlap val="-27"/>
        <c:axId val="234491240"/>
        <c:axId val="234491624"/>
        <c:extLst xmlns:c16r2="http://schemas.microsoft.com/office/drawing/2015/06/chart"/>
      </c:barChart>
      <c:catAx>
        <c:axId val="234491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4491624"/>
        <c:crosses val="autoZero"/>
        <c:auto val="1"/>
        <c:lblAlgn val="ctr"/>
        <c:lblOffset val="100"/>
        <c:noMultiLvlLbl val="0"/>
      </c:catAx>
      <c:valAx>
        <c:axId val="2344916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449124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3</c:v>
                </c:pt>
                <c:pt idx="2">
                  <c:v>0</c:v>
                </c:pt>
                <c:pt idx="3">
                  <c:v>4</c:v>
                </c:pt>
                <c:pt idx="4">
                  <c:v>0</c:v>
                </c:pt>
                <c:pt idx="5">
                  <c:v>7</c:v>
                </c:pt>
              </c:numCache>
            </c:numRef>
          </c:val>
          <c:extLst xmlns:c15="http://schemas.microsoft.com/office/drawing/2012/chart" xmlns:c16r2="http://schemas.microsoft.com/office/drawing/2015/06/chart">
            <c:ext xmlns:c16="http://schemas.microsoft.com/office/drawing/2014/chart" uri="{C3380CC4-5D6E-409C-BE32-E72D297353CC}">
              <c16:uniqueId val="{00000000-5AD3-4017-ABAE-F359BA419A3B}"/>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4</c:v>
                </c:pt>
                <c:pt idx="2">
                  <c:v>2</c:v>
                </c:pt>
                <c:pt idx="3">
                  <c:v>2</c:v>
                </c:pt>
                <c:pt idx="4">
                  <c:v>1</c:v>
                </c:pt>
                <c:pt idx="5">
                  <c:v>9</c:v>
                </c:pt>
              </c:numCache>
            </c:numRef>
          </c:val>
          <c:extLst xmlns:c16r2="http://schemas.microsoft.com/office/drawing/2015/06/chart">
            <c:ext xmlns:c16="http://schemas.microsoft.com/office/drawing/2014/chart" uri="{C3380CC4-5D6E-409C-BE32-E72D297353CC}">
              <c16:uniqueId val="{00000001-5AD3-4017-ABAE-F359BA419A3B}"/>
            </c:ext>
          </c:extLst>
        </c:ser>
        <c:dLbls>
          <c:dLblPos val="outEnd"/>
          <c:showLegendKey val="0"/>
          <c:showVal val="1"/>
          <c:showCatName val="0"/>
          <c:showSerName val="0"/>
          <c:showPercent val="0"/>
          <c:showBubbleSize val="0"/>
        </c:dLbls>
        <c:gapWidth val="219"/>
        <c:overlap val="-27"/>
        <c:axId val="274412728"/>
        <c:axId val="233723944"/>
        <c:extLst xmlns:c16r2="http://schemas.microsoft.com/office/drawing/2015/06/chart"/>
      </c:barChart>
      <c:catAx>
        <c:axId val="274412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3723944"/>
        <c:crosses val="autoZero"/>
        <c:auto val="1"/>
        <c:lblAlgn val="ctr"/>
        <c:lblOffset val="100"/>
        <c:noMultiLvlLbl val="0"/>
      </c:catAx>
      <c:valAx>
        <c:axId val="233723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41272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xmlns:c16r2="http://schemas.microsoft.com/office/drawing/2015/06/chart">
            <c:ext xmlns:c16="http://schemas.microsoft.com/office/drawing/2014/chart" uri="{C3380CC4-5D6E-409C-BE32-E72D297353CC}">
              <c16:uniqueId val="{00000000-E57D-4D3B-8A6E-CDD58F39DF69}"/>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xmlns:c16r2="http://schemas.microsoft.com/office/drawing/2015/06/chart">
            <c:ext xmlns:c16="http://schemas.microsoft.com/office/drawing/2014/chart" uri="{C3380CC4-5D6E-409C-BE32-E72D297353CC}">
              <c16:uniqueId val="{00000001-E57D-4D3B-8A6E-CDD58F39DF69}"/>
            </c:ext>
          </c:extLst>
        </c:ser>
        <c:dLbls>
          <c:showLegendKey val="0"/>
          <c:showVal val="0"/>
          <c:showCatName val="0"/>
          <c:showSerName val="0"/>
          <c:showPercent val="0"/>
          <c:showBubbleSize val="0"/>
        </c:dLbls>
        <c:gapWidth val="219"/>
        <c:overlap val="-27"/>
        <c:axId val="232486760"/>
        <c:axId val="232487544"/>
        <c:extLst xmlns:c16r2="http://schemas.microsoft.com/office/drawing/2015/06/chart"/>
      </c:barChart>
      <c:catAx>
        <c:axId val="232486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2487544"/>
        <c:crosses val="autoZero"/>
        <c:auto val="1"/>
        <c:lblAlgn val="ctr"/>
        <c:lblOffset val="100"/>
        <c:noMultiLvlLbl val="0"/>
      </c:catAx>
      <c:valAx>
        <c:axId val="2324875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3248676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xmlns:c16r2="http://schemas.microsoft.com/office/drawing/2015/06/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4</c:v>
                </c:pt>
                <c:pt idx="2">
                  <c:v>0</c:v>
                </c:pt>
                <c:pt idx="3">
                  <c:v>7</c:v>
                </c:pt>
                <c:pt idx="4">
                  <c:v>0</c:v>
                </c:pt>
                <c:pt idx="5">
                  <c:v>11</c:v>
                </c:pt>
              </c:numCache>
            </c:numRef>
          </c:val>
          <c:extLst xmlns:c15="http://schemas.microsoft.com/office/drawing/2012/chart" xmlns:c16r2="http://schemas.microsoft.com/office/drawing/2015/06/chart">
            <c:ext xmlns:c16="http://schemas.microsoft.com/office/drawing/2014/chart" uri="{C3380CC4-5D6E-409C-BE32-E72D297353CC}">
              <c16:uniqueId val="{00000000-A60C-41D3-AC1B-B621C14E2F1A}"/>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9</c:v>
                </c:pt>
                <c:pt idx="2">
                  <c:v>2</c:v>
                </c:pt>
                <c:pt idx="3">
                  <c:v>2</c:v>
                </c:pt>
                <c:pt idx="4">
                  <c:v>0</c:v>
                </c:pt>
                <c:pt idx="5">
                  <c:v>13</c:v>
                </c:pt>
              </c:numCache>
            </c:numRef>
          </c:val>
          <c:extLst xmlns:c16r2="http://schemas.microsoft.com/office/drawing/2015/06/chart">
            <c:ext xmlns:c16="http://schemas.microsoft.com/office/drawing/2014/chart" uri="{C3380CC4-5D6E-409C-BE32-E72D297353CC}">
              <c16:uniqueId val="{00000001-A60C-41D3-AC1B-B621C14E2F1A}"/>
            </c:ext>
          </c:extLst>
        </c:ser>
        <c:dLbls>
          <c:dLblPos val="outEnd"/>
          <c:showLegendKey val="0"/>
          <c:showVal val="1"/>
          <c:showCatName val="0"/>
          <c:showSerName val="0"/>
          <c:showPercent val="0"/>
          <c:showBubbleSize val="0"/>
        </c:dLbls>
        <c:gapWidth val="219"/>
        <c:overlap val="-27"/>
        <c:axId val="448480368"/>
        <c:axId val="448491344"/>
        <c:extLst xmlns:c16r2="http://schemas.microsoft.com/office/drawing/2015/06/chart"/>
      </c:barChart>
      <c:catAx>
        <c:axId val="448480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448491344"/>
        <c:crosses val="autoZero"/>
        <c:auto val="1"/>
        <c:lblAlgn val="ctr"/>
        <c:lblOffset val="100"/>
        <c:noMultiLvlLbl val="0"/>
      </c:catAx>
      <c:valAx>
        <c:axId val="4484913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44848036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xmlns:c16r2="http://schemas.microsoft.com/office/drawing/2015/06/chart">
            <c:ext xmlns:c16="http://schemas.microsoft.com/office/drawing/2014/chart" uri="{C3380CC4-5D6E-409C-BE32-E72D297353CC}">
              <c16:uniqueId val="{00000000-7947-47E7-8A47-4B54E005FA4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numCache>
            </c:numRef>
          </c:val>
          <c:smooth val="0"/>
          <c:extLst xmlns:c16r2="http://schemas.microsoft.com/office/drawing/2015/06/chart">
            <c:ext xmlns:c16="http://schemas.microsoft.com/office/drawing/2014/chart" uri="{C3380CC4-5D6E-409C-BE32-E72D297353CC}">
              <c16:uniqueId val="{00000001-7947-47E7-8A47-4B54E005FA44}"/>
            </c:ext>
          </c:extLst>
        </c:ser>
        <c:dLbls>
          <c:showLegendKey val="0"/>
          <c:showVal val="0"/>
          <c:showCatName val="0"/>
          <c:showSerName val="0"/>
          <c:showPercent val="0"/>
          <c:showBubbleSize val="0"/>
        </c:dLbls>
        <c:marker val="1"/>
        <c:smooth val="0"/>
        <c:axId val="274852608"/>
        <c:axId val="274853000"/>
      </c:lineChart>
      <c:catAx>
        <c:axId val="27485260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3000"/>
        <c:crosses val="autoZero"/>
        <c:auto val="1"/>
        <c:lblAlgn val="ctr"/>
        <c:lblOffset val="100"/>
        <c:noMultiLvlLbl val="0"/>
      </c:catAx>
      <c:valAx>
        <c:axId val="27485300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260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xmlns:c16r2="http://schemas.microsoft.com/office/drawing/2015/06/chart">
            <c:ext xmlns:c16="http://schemas.microsoft.com/office/drawing/2014/chart" uri="{C3380CC4-5D6E-409C-BE32-E72D297353CC}">
              <c16:uniqueId val="{00000000-8DC2-4125-B660-531F5DDD841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numCache>
            </c:numRef>
          </c:val>
          <c:smooth val="0"/>
          <c:extLst xmlns:c16r2="http://schemas.microsoft.com/office/drawing/2015/06/chart">
            <c:ext xmlns:c16="http://schemas.microsoft.com/office/drawing/2014/chart" uri="{C3380CC4-5D6E-409C-BE32-E72D297353CC}">
              <c16:uniqueId val="{00000001-8DC2-4125-B660-531F5DDD8413}"/>
            </c:ext>
          </c:extLst>
        </c:ser>
        <c:dLbls>
          <c:showLegendKey val="0"/>
          <c:showVal val="0"/>
          <c:showCatName val="0"/>
          <c:showSerName val="0"/>
          <c:showPercent val="0"/>
          <c:showBubbleSize val="0"/>
        </c:dLbls>
        <c:marker val="1"/>
        <c:smooth val="0"/>
        <c:axId val="274853392"/>
        <c:axId val="274856136"/>
      </c:lineChart>
      <c:catAx>
        <c:axId val="27485339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6136"/>
        <c:crosses val="autoZero"/>
        <c:auto val="1"/>
        <c:lblAlgn val="ctr"/>
        <c:lblOffset val="100"/>
        <c:noMultiLvlLbl val="0"/>
      </c:catAx>
      <c:valAx>
        <c:axId val="27485613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339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W16</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203A-4904-8BF2-36385EF1BF2A}"/>
                </c:ext>
                <c:ext xmlns:c15="http://schemas.microsoft.com/office/drawing/2012/chart" uri="{CE6537A1-D6FC-4f65-9D91-7224C49458BB}">
                  <c15:layout>
                    <c:manualLayout>
                      <c:w val="4.8703937780973254E-2"/>
                      <c:h val="6.3644067796610151E-2"/>
                    </c:manualLayout>
                  </c15:layout>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99.854014598540147</c:v>
                </c:pt>
                <c:pt idx="1">
                  <c:v>100</c:v>
                </c:pt>
                <c:pt idx="2">
                  <c:v>98.670212765957444</c:v>
                </c:pt>
                <c:pt idx="3">
                  <c:v>100</c:v>
                </c:pt>
              </c:numCache>
            </c:numRef>
          </c:val>
          <c:extLst xmlns:c16r2="http://schemas.microsoft.com/office/drawing/2015/06/chart">
            <c:ext xmlns:c16="http://schemas.microsoft.com/office/drawing/2014/chart" uri="{C3380CC4-5D6E-409C-BE32-E72D297353CC}">
              <c16:uniqueId val="{00000001-203A-4904-8BF2-36385EF1BF2A}"/>
            </c:ext>
          </c:extLst>
        </c:ser>
        <c:ser>
          <c:idx val="1"/>
          <c:order val="1"/>
          <c:tx>
            <c:strRef>
              <c:f>DR!$D$3</c:f>
              <c:strCache>
                <c:ptCount val="1"/>
                <c:pt idx="0">
                  <c:v>W17</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99.57224334600761</c:v>
                </c:pt>
                <c:pt idx="1">
                  <c:v>99.415204678362571</c:v>
                </c:pt>
                <c:pt idx="2">
                  <c:v>99.441340782122907</c:v>
                </c:pt>
                <c:pt idx="3">
                  <c:v>99.549549549549553</c:v>
                </c:pt>
              </c:numCache>
            </c:numRef>
          </c:val>
          <c:extLst xmlns:c16r2="http://schemas.microsoft.com/office/drawing/2015/06/chart">
            <c:ext xmlns:c16="http://schemas.microsoft.com/office/drawing/2014/chart" uri="{C3380CC4-5D6E-409C-BE32-E72D297353CC}">
              <c16:uniqueId val="{00000002-203A-4904-8BF2-36385EF1BF2A}"/>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203A-4904-8BF2-36385EF1BF2A}"/>
                </c:ext>
                <c:ext xmlns:c15="http://schemas.microsoft.com/office/drawing/2012/chart" uri="{CE6537A1-D6FC-4f65-9D91-7224C49458BB}">
                  <c15:spPr xmlns:c15="http://schemas.microsoft.com/office/drawing/2012/chart">
                    <a:prstGeom prst="rect">
                      <a:avLst/>
                    </a:prstGeom>
                  </c15:spPr>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xmlns:c16r2="http://schemas.microsoft.com/office/drawing/2015/06/chart">
            <c:ext xmlns:c16="http://schemas.microsoft.com/office/drawing/2014/chart" uri="{C3380CC4-5D6E-409C-BE32-E72D297353CC}">
              <c16:uniqueId val="{00000004-203A-4904-8BF2-36385EF1BF2A}"/>
            </c:ext>
          </c:extLst>
        </c:ser>
        <c:dLbls>
          <c:showLegendKey val="0"/>
          <c:showVal val="0"/>
          <c:showCatName val="0"/>
          <c:showSerName val="0"/>
          <c:showPercent val="0"/>
          <c:showBubbleSize val="0"/>
        </c:dLbls>
        <c:gapWidth val="219"/>
        <c:overlap val="-27"/>
        <c:axId val="274854960"/>
        <c:axId val="274854176"/>
        <c:extLst xmlns:c16r2="http://schemas.microsoft.com/office/drawing/2015/06/chart">
          <c:ext xmlns:c15="http://schemas.microsoft.com/office/drawing/2012/chart" uri="{02D57815-91ED-43cb-92C2-25804820EDAC}">
            <c15:filteredBarSeries>
              <c15:ser>
                <c:idx val="3"/>
                <c:order val="2"/>
                <c:tx>
                  <c:strRef>
                    <c:extLst xmlns:c16r2="http://schemas.microsoft.com/office/drawing/2015/06/char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uri="{CE6537A1-D6FC-4f65-9D91-7224C49458BB}">
                      <c15:showLeaderLines val="1"/>
                    </c:ext>
                  </c:extLst>
                </c:dLbls>
                <c:cat>
                  <c:strRef>
                    <c:extLst xmlns:c16r2="http://schemas.microsoft.com/office/drawing/2015/06/chart">
                      <c:ext uri="{02D57815-91ED-43cb-92C2-25804820EDAC}">
                        <c15:formulaRef>
                          <c15:sqref>DR!$B$5:$B$8</c15:sqref>
                        </c15:formulaRef>
                      </c:ext>
                    </c:extLst>
                    <c:strCache>
                      <c:ptCount val="4"/>
                      <c:pt idx="0">
                        <c:v>A321</c:v>
                      </c:pt>
                      <c:pt idx="1">
                        <c:v>A350</c:v>
                      </c:pt>
                      <c:pt idx="2">
                        <c:v>B787</c:v>
                      </c:pt>
                      <c:pt idx="3">
                        <c:v>ATR72</c:v>
                      </c:pt>
                    </c:strCache>
                  </c:strRef>
                </c:cat>
                <c:val>
                  <c:numRef>
                    <c:extLst xmlns:c16r2="http://schemas.microsoft.com/office/drawing/2015/06/chart">
                      <c:ext uri="{02D57815-91ED-43cb-92C2-25804820EDAC}">
                        <c15:formulaRef>
                          <c15:sqref>DR!$E$5:$E$8</c15:sqref>
                        </c15:formulaRef>
                      </c:ext>
                    </c:extLst>
                    <c:numCache>
                      <c:formatCode>General</c:formatCode>
                      <c:ptCount val="4"/>
                    </c:numCache>
                  </c:numRef>
                </c:val>
                <c:extLst xmlns:c16r2="http://schemas.microsoft.com/office/drawing/2015/06/chart">
                  <c:ext xmlns:c16="http://schemas.microsoft.com/office/drawing/2014/chart" uri="{C3380CC4-5D6E-409C-BE32-E72D297353CC}">
                    <c16:uniqueId val="{00000005-203A-4904-8BF2-36385EF1BF2A}"/>
                  </c:ext>
                </c:extLst>
              </c15:ser>
            </c15:filteredBarSeries>
          </c:ext>
        </c:extLst>
      </c:barChart>
      <c:catAx>
        <c:axId val="27485496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274854176"/>
        <c:crosses val="autoZero"/>
        <c:auto val="1"/>
        <c:lblAlgn val="ctr"/>
        <c:lblOffset val="100"/>
        <c:noMultiLvlLbl val="0"/>
      </c:catAx>
      <c:valAx>
        <c:axId val="274854176"/>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27485496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3</c:v>
                </c:pt>
              </c:numCache>
            </c:numRef>
          </c:val>
          <c:smooth val="0"/>
          <c:extLst xmlns:c16r2="http://schemas.microsoft.com/office/drawing/2015/06/char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93174816"/>
        <c:axId val="393174424"/>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29.25</c:v>
                </c:pt>
                <c:pt idx="4">
                  <c:v>28</c:v>
                </c:pt>
                <c:pt idx="5">
                  <c:v>24</c:v>
                </c:pt>
              </c:numCache>
            </c:numRef>
          </c:val>
          <c:smooth val="0"/>
          <c:extLst xmlns:c16r2="http://schemas.microsoft.com/office/drawing/2015/06/char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xmlns:c16r2="http://schemas.microsoft.com/office/drawing/2015/06/char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93167760"/>
        <c:axId val="393172072"/>
      </c:lineChart>
      <c:catAx>
        <c:axId val="3931748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93174424"/>
        <c:crosses val="autoZero"/>
        <c:auto val="1"/>
        <c:lblAlgn val="ctr"/>
        <c:lblOffset val="100"/>
        <c:noMultiLvlLbl val="0"/>
      </c:catAx>
      <c:valAx>
        <c:axId val="393174424"/>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93174816"/>
        <c:crosses val="autoZero"/>
        <c:crossBetween val="between"/>
      </c:valAx>
      <c:valAx>
        <c:axId val="39317207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93167760"/>
        <c:crosses val="max"/>
        <c:crossBetween val="between"/>
      </c:valAx>
      <c:catAx>
        <c:axId val="393167760"/>
        <c:scaling>
          <c:orientation val="minMax"/>
        </c:scaling>
        <c:delete val="1"/>
        <c:axPos val="b"/>
        <c:numFmt formatCode="General" sourceLinked="1"/>
        <c:majorTickMark val="out"/>
        <c:minorTickMark val="none"/>
        <c:tickLblPos val="nextTo"/>
        <c:crossAx val="39317207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Sheet1!$D$8:$AU$8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Sheet1!$D$9:$AU$9</c:f>
              <c:numCache>
                <c:formatCode>General</c:formatCode>
                <c:ptCount val="12"/>
                <c:pt idx="0">
                  <c:v>30</c:v>
                </c:pt>
                <c:pt idx="1">
                  <c:v>29</c:v>
                </c:pt>
                <c:pt idx="2">
                  <c:v>29</c:v>
                </c:pt>
                <c:pt idx="3">
                  <c:v>29</c:v>
                </c:pt>
                <c:pt idx="4">
                  <c:v>28</c:v>
                </c:pt>
                <c:pt idx="5">
                  <c:v>28</c:v>
                </c:pt>
                <c:pt idx="6">
                  <c:v>28</c:v>
                </c:pt>
                <c:pt idx="7">
                  <c:v>27</c:v>
                </c:pt>
                <c:pt idx="8">
                  <c:v>25</c:v>
                </c:pt>
                <c:pt idx="9">
                  <c:v>24</c:v>
                </c:pt>
                <c:pt idx="10">
                  <c:v>24</c:v>
                </c:pt>
                <c:pt idx="11">
                  <c:v>23</c:v>
                </c:pt>
              </c:numCache>
            </c:numRef>
          </c:val>
          <c:smooth val="0"/>
          <c:extLst xmlns:c16r2="http://schemas.microsoft.com/office/drawing/2015/06/char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Sheet1!$D$10:$AU$10</c:f>
              <c:numCache>
                <c:formatCode>General</c:formatCode>
                <c:ptCount val="12"/>
                <c:pt idx="0">
                  <c:v>7</c:v>
                </c:pt>
                <c:pt idx="1">
                  <c:v>7</c:v>
                </c:pt>
                <c:pt idx="2">
                  <c:v>7</c:v>
                </c:pt>
                <c:pt idx="3">
                  <c:v>6</c:v>
                </c:pt>
                <c:pt idx="4">
                  <c:v>6</c:v>
                </c:pt>
                <c:pt idx="5">
                  <c:v>6</c:v>
                </c:pt>
                <c:pt idx="6">
                  <c:v>6</c:v>
                </c:pt>
                <c:pt idx="7">
                  <c:v>6</c:v>
                </c:pt>
                <c:pt idx="8">
                  <c:v>5</c:v>
                </c:pt>
                <c:pt idx="9">
                  <c:v>4</c:v>
                </c:pt>
                <c:pt idx="10">
                  <c:v>4</c:v>
                </c:pt>
                <c:pt idx="11">
                  <c:v>3</c:v>
                </c:pt>
              </c:numCache>
            </c:numRef>
          </c:val>
          <c:smooth val="0"/>
          <c:extLst xmlns:c16r2="http://schemas.microsoft.com/office/drawing/2015/06/char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Sheet1!$D$11:$AU$11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Sheet1!$D$12:$AU$12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xmlns:c16r2="http://schemas.microsoft.com/office/drawing/2015/06/char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93172856"/>
        <c:axId val="393173248"/>
      </c:lineChart>
      <c:catAx>
        <c:axId val="3931728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93173248"/>
        <c:crosses val="autoZero"/>
        <c:auto val="1"/>
        <c:lblAlgn val="ctr"/>
        <c:lblOffset val="100"/>
        <c:tickMarkSkip val="1"/>
        <c:noMultiLvlLbl val="0"/>
      </c:catAx>
      <c:valAx>
        <c:axId val="393173248"/>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93172856"/>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Ảnh hưởng của A621 nếu thay động cơ</c:v>
                </c:pt>
              </c:strCache>
            </c:strRef>
          </c:tx>
          <c:spPr>
            <a:ln w="31750" cap="rnd">
              <a:solidFill>
                <a:srgbClr val="FF0000"/>
              </a:solidFill>
              <a:round/>
            </a:ln>
            <a:effectLst/>
          </c:spPr>
          <c:marker>
            <c:symbol val="circle"/>
            <c:size val="2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15</c:v>
                </c:pt>
                <c:pt idx="4">
                  <c:v>14.5</c:v>
                </c:pt>
                <c:pt idx="5">
                  <c:v>11.5</c:v>
                </c:pt>
                <c:pt idx="6">
                  <c:v>11</c:v>
                </c:pt>
                <c:pt idx="7">
                  <c:v>11.5</c:v>
                </c:pt>
                <c:pt idx="8">
                  <c:v>12</c:v>
                </c:pt>
                <c:pt idx="9">
                  <c:v>11.5</c:v>
                </c:pt>
                <c:pt idx="10">
                  <c:v>12</c:v>
                </c:pt>
                <c:pt idx="11">
                  <c:v>11</c:v>
                </c:pt>
              </c:numCache>
            </c:numRef>
          </c:val>
          <c:smooth val="0"/>
          <c:extLst xmlns:c16r2="http://schemas.microsoft.com/office/drawing/2015/06/chart">
            <c:ext xmlns:c16="http://schemas.microsoft.com/office/drawing/2014/chart" uri="{C3380CC4-5D6E-409C-BE32-E72D297353CC}">
              <c16:uniqueId val="{00000000-004B-458A-8713-88F7F4F6F328}"/>
            </c:ext>
          </c:extLst>
        </c:ser>
        <c:ser>
          <c:idx val="1"/>
          <c:order val="1"/>
          <c:tx>
            <c:strRef>
              <c:f>Sheet1!$C$9</c:f>
              <c:strCache>
                <c:ptCount val="1"/>
                <c:pt idx="0">
                  <c:v>KB Cũ</c:v>
                </c:pt>
              </c:strCache>
            </c:strRef>
          </c:tx>
          <c:spPr>
            <a:ln w="1905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Sheet1!$D$9:$O$9</c:f>
              <c:numCache>
                <c:formatCode>General</c:formatCode>
                <c:ptCount val="12"/>
                <c:pt idx="0">
                  <c:v>14.25</c:v>
                </c:pt>
                <c:pt idx="1">
                  <c:v>13.75</c:v>
                </c:pt>
                <c:pt idx="2">
                  <c:v>15.25</c:v>
                </c:pt>
                <c:pt idx="3">
                  <c:v>15</c:v>
                </c:pt>
                <c:pt idx="4">
                  <c:v>14</c:v>
                </c:pt>
                <c:pt idx="5">
                  <c:v>12</c:v>
                </c:pt>
                <c:pt idx="6">
                  <c:v>11</c:v>
                </c:pt>
                <c:pt idx="7">
                  <c:v>11</c:v>
                </c:pt>
                <c:pt idx="8">
                  <c:v>12</c:v>
                </c:pt>
                <c:pt idx="9">
                  <c:v>12</c:v>
                </c:pt>
                <c:pt idx="10">
                  <c:v>12</c:v>
                </c:pt>
                <c:pt idx="11">
                  <c:v>11</c:v>
                </c:pt>
              </c:numCache>
            </c:numRef>
          </c:val>
          <c:smooth val="0"/>
          <c:extLst xmlns:c16r2="http://schemas.microsoft.com/office/drawing/2015/06/chart">
            <c:ext xmlns:c16="http://schemas.microsoft.com/office/drawing/2014/chart" uri="{C3380CC4-5D6E-409C-BE32-E72D297353CC}">
              <c16:uniqueId val="{00000001-71F6-424F-B3AF-3760BAAA0FDD}"/>
            </c:ext>
          </c:extLst>
        </c:ser>
        <c:dLbls>
          <c:dLblPos val="ctr"/>
          <c:showLegendKey val="0"/>
          <c:showVal val="1"/>
          <c:showCatName val="0"/>
          <c:showSerName val="0"/>
          <c:showPercent val="0"/>
          <c:showBubbleSize val="0"/>
        </c:dLbls>
        <c:marker val="1"/>
        <c:smooth val="0"/>
        <c:axId val="393169328"/>
        <c:axId val="393171288"/>
      </c:lineChart>
      <c:catAx>
        <c:axId val="3931693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93171288"/>
        <c:crosses val="autoZero"/>
        <c:auto val="1"/>
        <c:lblAlgn val="ctr"/>
        <c:lblOffset val="100"/>
        <c:tickMarkSkip val="1"/>
        <c:noMultiLvlLbl val="0"/>
      </c:catAx>
      <c:valAx>
        <c:axId val="393171288"/>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93169328"/>
        <c:crosses val="autoZero"/>
        <c:crossBetween val="between"/>
        <c:majorUnit val="1"/>
      </c:valAx>
      <c:spPr>
        <a:noFill/>
        <a:ln>
          <a:noFill/>
        </a:ln>
        <a:effectLst/>
      </c:spPr>
    </c:plotArea>
    <c:legend>
      <c:legendPos val="b"/>
      <c:layout>
        <c:manualLayout>
          <c:xMode val="edge"/>
          <c:yMode val="edge"/>
          <c:x val="0.48331089662179322"/>
          <c:y val="9.4066010615305229E-2"/>
          <c:w val="0.41050342900685799"/>
          <c:h val="5.6761391848743951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Sheet1!$B$2:$B$13</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xmlns:c16r2="http://schemas.microsoft.com/office/drawing/2015/06/char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99806776"/>
        <c:axId val="399804424"/>
      </c:lineChart>
      <c:catAx>
        <c:axId val="399806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99804424"/>
        <c:crosses val="autoZero"/>
        <c:auto val="1"/>
        <c:lblAlgn val="ctr"/>
        <c:lblOffset val="100"/>
        <c:noMultiLvlLbl val="0"/>
      </c:catAx>
      <c:valAx>
        <c:axId val="399804424"/>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99806776"/>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Sheet1!$A$9:$A$36</c:f>
              <c:strCache>
                <c:ptCount val="12"/>
                <c:pt idx="0">
                  <c:v>Apr-W1</c:v>
                </c:pt>
                <c:pt idx="1">
                  <c:v>Apr-W2</c:v>
                </c:pt>
                <c:pt idx="2">
                  <c:v>Apr-W3</c:v>
                </c:pt>
                <c:pt idx="3">
                  <c:v>Apr-W4</c:v>
                </c:pt>
                <c:pt idx="4">
                  <c:v>May-W1</c:v>
                </c:pt>
                <c:pt idx="5">
                  <c:v>May-W2</c:v>
                </c:pt>
                <c:pt idx="6">
                  <c:v>May-W3</c:v>
                </c:pt>
                <c:pt idx="7">
                  <c:v>May-W4</c:v>
                </c:pt>
                <c:pt idx="8">
                  <c:v>Jun-W1</c:v>
                </c:pt>
                <c:pt idx="9">
                  <c:v>Jun-W2</c:v>
                </c:pt>
                <c:pt idx="10">
                  <c:v>Jun-W3</c:v>
                </c:pt>
                <c:pt idx="11">
                  <c:v>Jun-W4</c:v>
                </c:pt>
              </c:strCache>
            </c:strRef>
          </c:cat>
          <c:val>
            <c:numRef>
              <c:f>Sheet1!$B$9:$B$36</c:f>
            </c:numRef>
          </c:val>
          <c:smooth val="1"/>
          <c:extLst xmlns:c16r2="http://schemas.microsoft.com/office/drawing/2015/06/char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Sheet1!$A$9:$A$36</c:f>
              <c:strCache>
                <c:ptCount val="12"/>
                <c:pt idx="0">
                  <c:v>Apr-W1</c:v>
                </c:pt>
                <c:pt idx="1">
                  <c:v>Apr-W2</c:v>
                </c:pt>
                <c:pt idx="2">
                  <c:v>Apr-W3</c:v>
                </c:pt>
                <c:pt idx="3">
                  <c:v>Apr-W4</c:v>
                </c:pt>
                <c:pt idx="4">
                  <c:v>May-W1</c:v>
                </c:pt>
                <c:pt idx="5">
                  <c:v>May-W2</c:v>
                </c:pt>
                <c:pt idx="6">
                  <c:v>May-W3</c:v>
                </c:pt>
                <c:pt idx="7">
                  <c:v>May-W4</c:v>
                </c:pt>
                <c:pt idx="8">
                  <c:v>Jun-W1</c:v>
                </c:pt>
                <c:pt idx="9">
                  <c:v>Jun-W2</c:v>
                </c:pt>
                <c:pt idx="10">
                  <c:v>Jun-W3</c:v>
                </c:pt>
                <c:pt idx="11">
                  <c:v>Jun-W4</c:v>
                </c:pt>
              </c:strCache>
            </c:strRef>
          </c:cat>
          <c:val>
            <c:numRef>
              <c:f>Sheet1!$C$9:$C$36</c:f>
              <c:numCache>
                <c:formatCode>General</c:formatCode>
                <c:ptCount val="12"/>
                <c:pt idx="0">
                  <c:v>4</c:v>
                </c:pt>
                <c:pt idx="1">
                  <c:v>4</c:v>
                </c:pt>
                <c:pt idx="2">
                  <c:v>5</c:v>
                </c:pt>
                <c:pt idx="3">
                  <c:v>5</c:v>
                </c:pt>
                <c:pt idx="4">
                  <c:v>3</c:v>
                </c:pt>
                <c:pt idx="5">
                  <c:v>3</c:v>
                </c:pt>
                <c:pt idx="6">
                  <c:v>3</c:v>
                </c:pt>
                <c:pt idx="7">
                  <c:v>3</c:v>
                </c:pt>
                <c:pt idx="8">
                  <c:v>2</c:v>
                </c:pt>
                <c:pt idx="9">
                  <c:v>2</c:v>
                </c:pt>
                <c:pt idx="10">
                  <c:v>2</c:v>
                </c:pt>
                <c:pt idx="11">
                  <c:v>2</c:v>
                </c:pt>
              </c:numCache>
            </c:numRef>
          </c:val>
          <c:smooth val="1"/>
          <c:extLst xmlns:c16r2="http://schemas.microsoft.com/office/drawing/2015/06/char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400514968"/>
        <c:axId val="400515360"/>
      </c:lineChart>
      <c:catAx>
        <c:axId val="400514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400515360"/>
        <c:crosses val="autoZero"/>
        <c:auto val="1"/>
        <c:lblAlgn val="ctr"/>
        <c:lblOffset val="100"/>
        <c:noMultiLvlLbl val="0"/>
      </c:catAx>
      <c:valAx>
        <c:axId val="400515360"/>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0514968"/>
        <c:crosses val="autoZero"/>
        <c:crossBetween val="between"/>
        <c:majorUnit val="1"/>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3"/>
          <c:order val="0"/>
          <c:tx>
            <c:strRef>
              <c:f>Sheet1!$B$1</c:f>
              <c:strCache>
                <c:ptCount val="1"/>
                <c:pt idx="0">
                  <c:v>KB Gốc</c:v>
                </c:pt>
              </c:strCache>
            </c:strRef>
          </c:tx>
          <c:spPr>
            <a:ln w="28575" cap="rnd">
              <a:solidFill>
                <a:srgbClr val="0070C0"/>
              </a:solidFill>
              <a:round/>
            </a:ln>
            <a:effectLst/>
          </c:spPr>
          <c:marker>
            <c:symbol val="circle"/>
            <c:size val="25"/>
            <c:spPr>
              <a:solidFill>
                <a:srgbClr val="0070C0"/>
              </a:solidFill>
              <a:ln w="9525">
                <a:solidFill>
                  <a:srgbClr val="0070C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Sheet1!$B$10:$B$33</c:f>
              <c:numCache>
                <c:formatCode>General</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xmlns:c16r2="http://schemas.microsoft.com/office/drawing/2015/06/chart">
            <c:ext xmlns:c16="http://schemas.microsoft.com/office/drawing/2014/chart" uri="{C3380CC4-5D6E-409C-BE32-E72D297353CC}">
              <c16:uniqueId val="{00000000-2B09-4F42-BD33-DCEFBD805B05}"/>
            </c:ext>
          </c:extLst>
        </c:ser>
        <c:ser>
          <c:idx val="4"/>
          <c:order val="1"/>
          <c:tx>
            <c:strRef>
              <c:f>Sheet1!$C$1</c:f>
              <c:strCache>
                <c:ptCount val="1"/>
                <c:pt idx="0">
                  <c:v>KB Thực tế</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2</c:v>
                </c:pt>
                <c:pt idx="6">
                  <c:v>0.5</c:v>
                </c:pt>
                <c:pt idx="7">
                  <c:v>0.5</c:v>
                </c:pt>
                <c:pt idx="8">
                  <c:v>2</c:v>
                </c:pt>
                <c:pt idx="9">
                  <c:v>2</c:v>
                </c:pt>
                <c:pt idx="10">
                  <c:v>1.5</c:v>
                </c:pt>
                <c:pt idx="11">
                  <c:v>2</c:v>
                </c:pt>
              </c:numCache>
            </c:numRef>
          </c:val>
          <c:smooth val="0"/>
          <c:extLst xmlns:c16r2="http://schemas.microsoft.com/office/drawing/2015/06/chart">
            <c:ext xmlns:c16="http://schemas.microsoft.com/office/drawing/2014/chart" uri="{C3380CC4-5D6E-409C-BE32-E72D297353CC}">
              <c16:uniqueId val="{00000001-2B09-4F42-BD33-DCEFBD805B05}"/>
            </c:ext>
          </c:extLst>
        </c:ser>
        <c:dLbls>
          <c:dLblPos val="ctr"/>
          <c:showLegendKey val="0"/>
          <c:showVal val="1"/>
          <c:showCatName val="0"/>
          <c:showSerName val="0"/>
          <c:showPercent val="0"/>
          <c:showBubbleSize val="0"/>
        </c:dLbls>
        <c:marker val="1"/>
        <c:smooth val="0"/>
        <c:axId val="402552336"/>
        <c:axId val="402551944"/>
      </c:lineChart>
      <c:catAx>
        <c:axId val="402552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02551944"/>
        <c:crosses val="autoZero"/>
        <c:auto val="1"/>
        <c:lblAlgn val="ctr"/>
        <c:lblOffset val="100"/>
        <c:noMultiLvlLbl val="0"/>
      </c:catAx>
      <c:valAx>
        <c:axId val="402551944"/>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402552336"/>
        <c:crosses val="autoZero"/>
        <c:crossBetween val="between"/>
        <c:majorUnit val="1"/>
      </c:valAx>
      <c:spPr>
        <a:noFill/>
        <a:ln>
          <a:noFill/>
        </a:ln>
        <a:effectLst/>
      </c:spPr>
    </c:plotArea>
    <c:legend>
      <c:legendPos val="b"/>
      <c:layout>
        <c:manualLayout>
          <c:xMode val="edge"/>
          <c:yMode val="edge"/>
          <c:x val="0.40262546331705595"/>
          <c:y val="5.7621807879554947E-2"/>
          <c:w val="0.22456151431567511"/>
          <c:h val="0.11274844113498629"/>
        </c:manualLayout>
      </c:layout>
      <c:overlay val="0"/>
      <c:spPr>
        <a:solidFill>
          <a:schemeClr val="bg1"/>
        </a:solidFill>
        <a:ln>
          <a:solidFill>
            <a:srgbClr val="00FF00"/>
          </a:solidFill>
        </a:ln>
        <a:effectLst/>
      </c:spPr>
      <c:txPr>
        <a:bodyPr rot="0" spcFirstLastPara="1" vertOverflow="ellipsis" vert="horz" wrap="square" anchor="ctr" anchorCtr="1"/>
        <a:lstStyle/>
        <a:p>
          <a:pPr>
            <a:defRPr sz="15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xmlns:c16r2="http://schemas.microsoft.com/office/drawing/2015/06/char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402547240"/>
        <c:axId val="402555472"/>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xmlns:c16r2="http://schemas.microsoft.com/office/drawing/2015/06/char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402547240"/>
        <c:axId val="402555472"/>
      </c:lineChart>
      <c:catAx>
        <c:axId val="402547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02555472"/>
        <c:crosses val="autoZero"/>
        <c:auto val="1"/>
        <c:lblAlgn val="ctr"/>
        <c:lblOffset val="100"/>
        <c:noMultiLvlLbl val="0"/>
      </c:catAx>
      <c:valAx>
        <c:axId val="40255547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402547240"/>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0</c:v>
                </c:pt>
                <c:pt idx="2">
                  <c:v>0</c:v>
                </c:pt>
                <c:pt idx="3">
                  <c:v>5</c:v>
                </c:pt>
                <c:pt idx="4">
                  <c:v>0</c:v>
                </c:pt>
                <c:pt idx="5" formatCode="0">
                  <c:v>5</c:v>
                </c:pt>
              </c:numCache>
            </c:numRef>
          </c:val>
          <c:extLst xmlns:c16r2="http://schemas.microsoft.com/office/drawing/2015/06/chart">
            <c:ext xmlns:c16="http://schemas.microsoft.com/office/drawing/2014/chart" uri="{C3380CC4-5D6E-409C-BE32-E72D297353CC}">
              <c16:uniqueId val="{00000000-2E4B-42A5-9C2A-71CC50CDA1D5}"/>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1</c:v>
                </c:pt>
                <c:pt idx="2">
                  <c:v>1</c:v>
                </c:pt>
                <c:pt idx="3">
                  <c:v>2</c:v>
                </c:pt>
                <c:pt idx="4">
                  <c:v>0</c:v>
                </c:pt>
                <c:pt idx="5" formatCode="0">
                  <c:v>4</c:v>
                </c:pt>
              </c:numCache>
            </c:numRef>
          </c:val>
          <c:extLst xmlns:c16r2="http://schemas.microsoft.com/office/drawing/2015/06/chart">
            <c:ext xmlns:c16="http://schemas.microsoft.com/office/drawing/2014/chart" uri="{C3380CC4-5D6E-409C-BE32-E72D297353CC}">
              <c16:uniqueId val="{00000001-2E4B-42A5-9C2A-71CC50CDA1D5}"/>
            </c:ext>
          </c:extLst>
        </c:ser>
        <c:dLbls>
          <c:showLegendKey val="0"/>
          <c:showVal val="0"/>
          <c:showCatName val="0"/>
          <c:showSerName val="0"/>
          <c:showPercent val="0"/>
          <c:showBubbleSize val="0"/>
        </c:dLbls>
        <c:gapWidth val="150"/>
        <c:axId val="274858880"/>
        <c:axId val="274858096"/>
      </c:barChart>
      <c:catAx>
        <c:axId val="274858880"/>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274858096"/>
        <c:crosses val="autoZero"/>
        <c:auto val="1"/>
        <c:lblAlgn val="ctr"/>
        <c:lblOffset val="100"/>
        <c:noMultiLvlLbl val="0"/>
      </c:catAx>
      <c:valAx>
        <c:axId val="274858096"/>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274858880"/>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6.3463261648745536E-2</c:v>
                </c:pt>
                <c:pt idx="1">
                  <c:v>8.034155756965429E-2</c:v>
                </c:pt>
                <c:pt idx="2">
                  <c:v>8.7741076568796914E-2</c:v>
                </c:pt>
                <c:pt idx="3">
                  <c:v>0.21036585365853655</c:v>
                </c:pt>
                <c:pt idx="4">
                  <c:v>0.2486321548821552</c:v>
                </c:pt>
                <c:pt idx="5">
                  <c:v>0.25897246804326468</c:v>
                </c:pt>
                <c:pt idx="6">
                  <c:v>0.14361272609819123</c:v>
                </c:pt>
                <c:pt idx="7">
                  <c:v>0.13884493670886097</c:v>
                </c:pt>
                <c:pt idx="8">
                  <c:v>4.2526901901901927E-2</c:v>
                </c:pt>
              </c:numCache>
            </c:numRef>
          </c:val>
          <c:extLst xmlns:c16r2="http://schemas.microsoft.com/office/drawing/2015/06/chart">
            <c:ext xmlns:c16="http://schemas.microsoft.com/office/drawing/2014/chart" uri="{C3380CC4-5D6E-409C-BE32-E72D297353CC}">
              <c16:uniqueId val="{00000000-F953-4481-B366-5EAC99643AF6}"/>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6.324102303523034E-2</c:v>
                </c:pt>
                <c:pt idx="1">
                  <c:v>7.7678128295800036E-2</c:v>
                </c:pt>
                <c:pt idx="2">
                  <c:v>8.5756172839506234E-2</c:v>
                </c:pt>
                <c:pt idx="3">
                  <c:v>0.14558080808080803</c:v>
                </c:pt>
                <c:pt idx="4">
                  <c:v>0.24208603896103928</c:v>
                </c:pt>
                <c:pt idx="5">
                  <c:v>0.27249124124124136</c:v>
                </c:pt>
                <c:pt idx="6">
                  <c:v>0.15206755050505052</c:v>
                </c:pt>
                <c:pt idx="7">
                  <c:v>0.13448556797020517</c:v>
                </c:pt>
                <c:pt idx="8">
                  <c:v>4.2436525892408275E-2</c:v>
                </c:pt>
              </c:numCache>
            </c:numRef>
          </c:val>
          <c:extLst xmlns:c16r2="http://schemas.microsoft.com/office/drawing/2015/06/chart">
            <c:ext xmlns:c16="http://schemas.microsoft.com/office/drawing/2014/chart" uri="{C3380CC4-5D6E-409C-BE32-E72D297353CC}">
              <c16:uniqueId val="{00000001-F953-4481-B366-5EAC99643AF6}"/>
            </c:ext>
          </c:extLst>
        </c:ser>
        <c:dLbls>
          <c:showLegendKey val="0"/>
          <c:showVal val="0"/>
          <c:showCatName val="0"/>
          <c:showSerName val="0"/>
          <c:showPercent val="0"/>
          <c:showBubbleSize val="0"/>
        </c:dLbls>
        <c:gapWidth val="75"/>
        <c:axId val="274857704"/>
        <c:axId val="274858488"/>
      </c:barChart>
      <c:catAx>
        <c:axId val="2748577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8488"/>
        <c:crosses val="autoZero"/>
        <c:auto val="1"/>
        <c:lblAlgn val="ctr"/>
        <c:lblOffset val="100"/>
        <c:noMultiLvlLbl val="0"/>
      </c:catAx>
      <c:valAx>
        <c:axId val="274858488"/>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77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7.3809523809523814</c:v>
                </c:pt>
                <c:pt idx="1">
                  <c:v>6.2218045112781954</c:v>
                </c:pt>
                <c:pt idx="2">
                  <c:v>5.5142857142857133</c:v>
                </c:pt>
                <c:pt idx="3">
                  <c:v>2.7460317460317456</c:v>
                </c:pt>
                <c:pt idx="4">
                  <c:v>3.1875</c:v>
                </c:pt>
                <c:pt idx="5">
                  <c:v>7.9285714285714288</c:v>
                </c:pt>
              </c:numCache>
            </c:numRef>
          </c:val>
          <c:extLst xmlns:c16r2="http://schemas.microsoft.com/office/drawing/2015/06/chart">
            <c:ext xmlns:c16="http://schemas.microsoft.com/office/drawing/2014/chart" uri="{C3380CC4-5D6E-409C-BE32-E72D297353CC}">
              <c16:uniqueId val="{00000000-60B6-427C-9FBC-0C8F89664163}"/>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7.8095238095238102</c:v>
                </c:pt>
                <c:pt idx="1">
                  <c:v>6.7330827067669174</c:v>
                </c:pt>
                <c:pt idx="2">
                  <c:v>6.4285714285714288</c:v>
                </c:pt>
                <c:pt idx="3">
                  <c:v>2.9857142857142853</c:v>
                </c:pt>
                <c:pt idx="4">
                  <c:v>3.375</c:v>
                </c:pt>
                <c:pt idx="5">
                  <c:v>7.8928571428571432</c:v>
                </c:pt>
              </c:numCache>
            </c:numRef>
          </c:val>
          <c:extLst xmlns:c16r2="http://schemas.microsoft.com/office/drawing/2015/06/chart">
            <c:ext xmlns:c16="http://schemas.microsoft.com/office/drawing/2014/chart" uri="{C3380CC4-5D6E-409C-BE32-E72D297353CC}">
              <c16:uniqueId val="{00000001-60B6-427C-9FBC-0C8F89664163}"/>
            </c:ext>
          </c:extLst>
        </c:ser>
        <c:dLbls>
          <c:showLegendKey val="0"/>
          <c:showVal val="1"/>
          <c:showCatName val="0"/>
          <c:showSerName val="0"/>
          <c:showPercent val="0"/>
          <c:showBubbleSize val="0"/>
        </c:dLbls>
        <c:gapWidth val="150"/>
        <c:axId val="274852216"/>
        <c:axId val="276716584"/>
      </c:barChart>
      <c:catAx>
        <c:axId val="2748522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716584"/>
        <c:crosses val="autoZero"/>
        <c:auto val="1"/>
        <c:lblAlgn val="ctr"/>
        <c:lblOffset val="100"/>
        <c:noMultiLvlLbl val="0"/>
      </c:catAx>
      <c:valAx>
        <c:axId val="2767165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8522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1-1B98-49C9-9865-DDAE6D9A3B70}"/>
              </c:ext>
            </c:extLst>
          </c:dPt>
          <c:dPt>
            <c:idx val="1"/>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3-1B98-49C9-9865-DDAE6D9A3B70}"/>
              </c:ext>
            </c:extLst>
          </c:dPt>
          <c:dPt>
            <c:idx val="2"/>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5-1B98-49C9-9865-DDAE6D9A3B70}"/>
              </c:ext>
            </c:extLst>
          </c:dPt>
          <c:dPt>
            <c:idx val="3"/>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7-1B98-49C9-9865-DDAE6D9A3B70}"/>
              </c:ext>
            </c:extLst>
          </c:dPt>
          <c:dPt>
            <c:idx val="4"/>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9-1B98-49C9-9865-DDAE6D9A3B70}"/>
              </c:ext>
            </c:extLst>
          </c:dPt>
          <c:dPt>
            <c:idx val="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B-1B98-49C9-9865-DDAE6D9A3B70}"/>
              </c:ext>
            </c:extLst>
          </c:dPt>
          <c:dPt>
            <c:idx val="6"/>
            <c:invertIfNegative val="0"/>
            <c:bubble3D val="0"/>
            <c:spPr>
              <a:solidFill>
                <a:srgbClr val="ED7D31"/>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D-1B98-49C9-9865-DDAE6D9A3B70}"/>
              </c:ext>
            </c:extLst>
          </c:dPt>
          <c:dPt>
            <c:idx val="15"/>
            <c:invertIfNegative val="0"/>
            <c:bubble3D val="0"/>
            <c:spPr>
              <a:solidFill>
                <a:srgbClr val="0070C0"/>
              </a:solidFill>
              <a:ln w="9525" cap="flat" cmpd="sng" algn="ctr">
                <a:solidFill>
                  <a:srgbClr val="0070C0"/>
                </a:solidFill>
                <a:round/>
              </a:ln>
              <a:effectLst/>
            </c:spPr>
            <c:extLst xmlns:c16r2="http://schemas.microsoft.com/office/drawing/2015/06/chart">
              <c:ext xmlns:c16="http://schemas.microsoft.com/office/drawing/2014/chart" uri="{C3380CC4-5D6E-409C-BE32-E72D297353CC}">
                <c16:uniqueId val="{0000000F-1B98-49C9-9865-DDAE6D9A3B70}"/>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45768</c:v>
                </c:pt>
                <c:pt idx="1">
                  <c:v>45769</c:v>
                </c:pt>
                <c:pt idx="2">
                  <c:v>45770</c:v>
                </c:pt>
                <c:pt idx="3">
                  <c:v>45771</c:v>
                </c:pt>
                <c:pt idx="4">
                  <c:v>45772</c:v>
                </c:pt>
                <c:pt idx="5">
                  <c:v>45773</c:v>
                </c:pt>
                <c:pt idx="6">
                  <c:v>45774</c:v>
                </c:pt>
                <c:pt idx="7">
                  <c:v>45775</c:v>
                </c:pt>
                <c:pt idx="8">
                  <c:v>45776</c:v>
                </c:pt>
                <c:pt idx="9">
                  <c:v>45777</c:v>
                </c:pt>
                <c:pt idx="10">
                  <c:v>45778</c:v>
                </c:pt>
                <c:pt idx="11">
                  <c:v>45779</c:v>
                </c:pt>
                <c:pt idx="12">
                  <c:v>45780</c:v>
                </c:pt>
                <c:pt idx="13">
                  <c:v>45781</c:v>
                </c:pt>
                <c:pt idx="14">
                  <c:v>45782</c:v>
                </c:pt>
                <c:pt idx="15">
                  <c:v>45783</c:v>
                </c:pt>
                <c:pt idx="16">
                  <c:v>45784</c:v>
                </c:pt>
                <c:pt idx="17">
                  <c:v>45785</c:v>
                </c:pt>
                <c:pt idx="18">
                  <c:v>45786</c:v>
                </c:pt>
                <c:pt idx="19">
                  <c:v>45787</c:v>
                </c:pt>
                <c:pt idx="20">
                  <c:v>45788</c:v>
                </c:pt>
                <c:pt idx="21">
                  <c:v>45789</c:v>
                </c:pt>
                <c:pt idx="22">
                  <c:v>45790</c:v>
                </c:pt>
                <c:pt idx="23">
                  <c:v>45791</c:v>
                </c:pt>
                <c:pt idx="24">
                  <c:v>45792</c:v>
                </c:pt>
                <c:pt idx="25">
                  <c:v>45793</c:v>
                </c:pt>
                <c:pt idx="26">
                  <c:v>45794</c:v>
                </c:pt>
                <c:pt idx="27">
                  <c:v>45795</c:v>
                </c:pt>
                <c:pt idx="28">
                  <c:v>45796</c:v>
                </c:pt>
                <c:pt idx="29">
                  <c:v>45797</c:v>
                </c:pt>
                <c:pt idx="30">
                  <c:v>45798</c:v>
                </c:pt>
                <c:pt idx="31">
                  <c:v>45799</c:v>
                </c:pt>
                <c:pt idx="32">
                  <c:v>45800</c:v>
                </c:pt>
                <c:pt idx="33">
                  <c:v>45801</c:v>
                </c:pt>
                <c:pt idx="34">
                  <c:v>45802</c:v>
                </c:pt>
                <c:pt idx="35">
                  <c:v>45803</c:v>
                </c:pt>
                <c:pt idx="36">
                  <c:v>45804</c:v>
                </c:pt>
                <c:pt idx="37">
                  <c:v>45805</c:v>
                </c:pt>
                <c:pt idx="38">
                  <c:v>45806</c:v>
                </c:pt>
                <c:pt idx="39">
                  <c:v>45807</c:v>
                </c:pt>
                <c:pt idx="40">
                  <c:v>45808</c:v>
                </c:pt>
              </c:numCache>
            </c:numRef>
          </c:cat>
          <c:val>
            <c:numRef>
              <c:f>Week!$B$36:$BD$36</c:f>
              <c:numCache>
                <c:formatCode>General</c:formatCode>
                <c:ptCount val="55"/>
                <c:pt idx="0">
                  <c:v>403</c:v>
                </c:pt>
                <c:pt idx="1">
                  <c:v>391</c:v>
                </c:pt>
                <c:pt idx="2">
                  <c:v>389</c:v>
                </c:pt>
                <c:pt idx="3">
                  <c:v>399</c:v>
                </c:pt>
                <c:pt idx="4">
                  <c:v>417</c:v>
                </c:pt>
                <c:pt idx="5">
                  <c:v>429</c:v>
                </c:pt>
                <c:pt idx="6">
                  <c:v>427</c:v>
                </c:pt>
                <c:pt idx="7">
                  <c:v>419</c:v>
                </c:pt>
                <c:pt idx="8">
                  <c:v>460</c:v>
                </c:pt>
                <c:pt idx="9">
                  <c:v>456</c:v>
                </c:pt>
                <c:pt idx="10">
                  <c:v>430</c:v>
                </c:pt>
                <c:pt idx="11">
                  <c:v>431</c:v>
                </c:pt>
                <c:pt idx="12">
                  <c:v>463</c:v>
                </c:pt>
                <c:pt idx="13">
                  <c:v>465</c:v>
                </c:pt>
                <c:pt idx="14">
                  <c:v>429</c:v>
                </c:pt>
                <c:pt idx="15">
                  <c:v>384</c:v>
                </c:pt>
                <c:pt idx="16">
                  <c:v>391</c:v>
                </c:pt>
                <c:pt idx="17">
                  <c:v>389</c:v>
                </c:pt>
                <c:pt idx="18">
                  <c:v>406</c:v>
                </c:pt>
                <c:pt idx="19">
                  <c:v>399</c:v>
                </c:pt>
                <c:pt idx="20">
                  <c:v>410</c:v>
                </c:pt>
                <c:pt idx="21">
                  <c:v>403</c:v>
                </c:pt>
                <c:pt idx="22">
                  <c:v>382</c:v>
                </c:pt>
                <c:pt idx="23">
                  <c:v>390</c:v>
                </c:pt>
                <c:pt idx="24">
                  <c:v>398</c:v>
                </c:pt>
                <c:pt idx="25">
                  <c:v>408</c:v>
                </c:pt>
                <c:pt idx="26">
                  <c:v>399</c:v>
                </c:pt>
                <c:pt idx="27">
                  <c:v>412</c:v>
                </c:pt>
                <c:pt idx="28">
                  <c:v>405</c:v>
                </c:pt>
                <c:pt idx="29">
                  <c:v>390</c:v>
                </c:pt>
                <c:pt idx="30">
                  <c:v>392</c:v>
                </c:pt>
                <c:pt idx="31">
                  <c:v>435</c:v>
                </c:pt>
                <c:pt idx="32">
                  <c:v>436</c:v>
                </c:pt>
                <c:pt idx="33">
                  <c:v>444</c:v>
                </c:pt>
                <c:pt idx="34">
                  <c:v>452</c:v>
                </c:pt>
                <c:pt idx="35">
                  <c:v>445</c:v>
                </c:pt>
                <c:pt idx="36">
                  <c:v>438</c:v>
                </c:pt>
                <c:pt idx="37">
                  <c:v>435</c:v>
                </c:pt>
                <c:pt idx="38">
                  <c:v>444</c:v>
                </c:pt>
                <c:pt idx="39">
                  <c:v>446</c:v>
                </c:pt>
                <c:pt idx="40">
                  <c:v>453</c:v>
                </c:pt>
              </c:numCache>
            </c:numRef>
          </c:val>
          <c:extLst xmlns:c16r2="http://schemas.microsoft.com/office/drawing/2015/06/chart">
            <c:ext xmlns:c16="http://schemas.microsoft.com/office/drawing/2014/chart" uri="{C3380CC4-5D6E-409C-BE32-E72D297353CC}">
              <c16:uniqueId val="{00000010-1B98-49C9-9865-DDAE6D9A3B70}"/>
            </c:ext>
          </c:extLst>
        </c:ser>
        <c:dLbls>
          <c:showLegendKey val="0"/>
          <c:showVal val="1"/>
          <c:showCatName val="0"/>
          <c:showSerName val="0"/>
          <c:showPercent val="0"/>
          <c:showBubbleSize val="0"/>
        </c:dLbls>
        <c:gapWidth val="75"/>
        <c:axId val="276711488"/>
        <c:axId val="276715408"/>
      </c:barChart>
      <c:dateAx>
        <c:axId val="276711488"/>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715408"/>
        <c:crosses val="autoZero"/>
        <c:auto val="1"/>
        <c:lblOffset val="100"/>
        <c:baseTimeUnit val="days"/>
      </c:dateAx>
      <c:valAx>
        <c:axId val="276715408"/>
        <c:scaling>
          <c:orientation val="minMax"/>
          <c:max val="50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6711488"/>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0.07334</cdr:x>
      <cdr:y>0.53548</cdr:y>
    </cdr:from>
    <cdr:to>
      <cdr:x>0.37661</cdr:x>
      <cdr:y>0.87555</cdr:y>
    </cdr:to>
    <cdr:sp macro="" textlink="">
      <cdr:nvSpPr>
        <cdr:cNvPr id="2" name="TextBox 1">
          <a:extLst xmlns:a="http://schemas.openxmlformats.org/drawingml/2006/main">
            <a:ext uri="{FF2B5EF4-FFF2-40B4-BE49-F238E27FC236}">
              <a16:creationId xmlns:a16="http://schemas.microsoft.com/office/drawing/2014/main" xmlns="" id="{CD939C01-4FDE-4466-9481-5A3B05BD383C}"/>
            </a:ext>
          </a:extLst>
        </cdr:cNvPr>
        <cdr:cNvSpPr txBox="1"/>
      </cdr:nvSpPr>
      <cdr:spPr>
        <a:xfrm xmlns:a="http://schemas.openxmlformats.org/drawingml/2006/main">
          <a:off x="847627" y="2810932"/>
          <a:ext cx="3505182" cy="1785104"/>
        </a:xfrm>
        <a:prstGeom xmlns:a="http://schemas.openxmlformats.org/drawingml/2006/main" prst="rect">
          <a:avLst/>
        </a:prstGeom>
        <a:solidFill xmlns:a="http://schemas.openxmlformats.org/drawingml/2006/main">
          <a:srgbClr val="FFFFCC"/>
        </a:solidFill>
        <a:ln xmlns:a="http://schemas.openxmlformats.org/drawingml/2006/main">
          <a:solidFill>
            <a:srgbClr val="FFC000"/>
          </a:solidFill>
        </a:ln>
      </cdr:spPr>
      <cdr:txBody>
        <a:bodyPr xmlns:a="http://schemas.openxmlformats.org/drawingml/2006/main" vertOverflow="clip" wrap="square" rtlCol="0">
          <a:spAutoFit/>
        </a:bodyPr>
        <a:lstStyle xmlns:a="http://schemas.openxmlformats.org/drawingml/2006/main"/>
        <a:p xmlns:a="http://schemas.openxmlformats.org/drawingml/2006/main">
          <a:r>
            <a:rPr lang="en-US" sz="1000" b="1" dirty="0">
              <a:solidFill>
                <a:srgbClr val="FF0000"/>
              </a:solidFill>
              <a:latin typeface="+mj-lt"/>
            </a:rPr>
            <a:t>Update </a:t>
          </a:r>
          <a:r>
            <a:rPr lang="en-US" sz="1000" b="1" dirty="0" err="1">
              <a:solidFill>
                <a:srgbClr val="FF0000"/>
              </a:solidFill>
              <a:latin typeface="+mj-lt"/>
            </a:rPr>
            <a:t>thay</a:t>
          </a:r>
          <a:r>
            <a:rPr lang="en-US" sz="1000" b="1" dirty="0">
              <a:solidFill>
                <a:srgbClr val="FF0000"/>
              </a:solidFill>
              <a:latin typeface="+mj-lt"/>
            </a:rPr>
            <a:t> </a:t>
          </a:r>
          <a:r>
            <a:rPr lang="en-US" sz="1000" b="1" dirty="0" err="1">
              <a:solidFill>
                <a:srgbClr val="FF0000"/>
              </a:solidFill>
              <a:latin typeface="+mj-lt"/>
            </a:rPr>
            <a:t>đổi</a:t>
          </a:r>
          <a:r>
            <a:rPr lang="en-US" sz="1000" b="1" dirty="0">
              <a:solidFill>
                <a:srgbClr val="FF0000"/>
              </a:solidFill>
              <a:latin typeface="+mj-lt"/>
            </a:rPr>
            <a:t>:</a:t>
          </a:r>
        </a:p>
        <a:p xmlns:a="http://schemas.openxmlformats.org/drawingml/2006/main">
          <a:pPr marL="171450" indent="-171450">
            <a:buFontTx/>
            <a:buChar char="-"/>
          </a:pPr>
          <a:r>
            <a:rPr lang="en-US" sz="1000" b="1" dirty="0">
              <a:solidFill>
                <a:schemeClr val="tx1"/>
              </a:solidFill>
              <a:latin typeface="+mj-lt"/>
            </a:rPr>
            <a:t>Update 07/04: </a:t>
          </a:r>
          <a:r>
            <a:rPr lang="en-US" sz="1000" dirty="0">
              <a:solidFill>
                <a:schemeClr val="tx1"/>
              </a:solidFill>
              <a:latin typeface="+mj-lt"/>
            </a:rPr>
            <a:t>21137 </a:t>
          </a:r>
          <a:r>
            <a:rPr lang="en-US" sz="1000" dirty="0" err="1">
              <a:solidFill>
                <a:schemeClr val="tx1"/>
              </a:solidFill>
              <a:latin typeface="+mj-lt"/>
            </a:rPr>
            <a:t>và</a:t>
          </a:r>
          <a:r>
            <a:rPr lang="en-US" sz="1000" dirty="0">
              <a:solidFill>
                <a:schemeClr val="tx1"/>
              </a:solidFill>
              <a:latin typeface="+mj-lt"/>
            </a:rPr>
            <a:t> 21043 (shop N3) delay 1 </a:t>
          </a:r>
          <a:r>
            <a:rPr lang="en-US" sz="1000" dirty="0" err="1">
              <a:solidFill>
                <a:schemeClr val="tx1"/>
              </a:solidFill>
              <a:latin typeface="+mj-lt"/>
            </a:rPr>
            <a:t>tuần</a:t>
          </a:r>
          <a:r>
            <a:rPr lang="en-US" sz="1000" dirty="0">
              <a:solidFill>
                <a:schemeClr val="tx1"/>
              </a:solidFill>
              <a:latin typeface="+mj-lt"/>
            </a:rPr>
            <a:t>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1 </a:t>
          </a:r>
          <a:r>
            <a:rPr lang="en-US" sz="1000" dirty="0" err="1">
              <a:solidFill>
                <a:schemeClr val="tx1"/>
              </a:solidFill>
              <a:latin typeface="+mj-lt"/>
            </a:rPr>
            <a:t>tuần</a:t>
          </a:r>
          <a:r>
            <a:rPr lang="en-US" sz="1000" dirty="0">
              <a:solidFill>
                <a:schemeClr val="tx1"/>
              </a:solidFill>
              <a:latin typeface="+mj-lt"/>
            </a:rPr>
            <a:t> AOG </a:t>
          </a:r>
          <a:r>
            <a:rPr lang="en-US" sz="1000" dirty="0" err="1">
              <a:solidFill>
                <a:schemeClr val="tx1"/>
              </a:solidFill>
              <a:latin typeface="+mj-lt"/>
            </a:rPr>
            <a:t>vào</a:t>
          </a:r>
          <a:r>
            <a:rPr lang="en-US" sz="1000" dirty="0">
              <a:solidFill>
                <a:schemeClr val="tx1"/>
              </a:solidFill>
              <a:latin typeface="+mj-lt"/>
            </a:rPr>
            <a:t> T6). .</a:t>
          </a:r>
        </a:p>
        <a:p xmlns:a="http://schemas.openxmlformats.org/drawingml/2006/main">
          <a:pPr marL="171450" indent="-171450">
            <a:buFontTx/>
            <a:buChar char="-"/>
          </a:pPr>
          <a:r>
            <a:rPr lang="en-US" sz="1000" b="1" dirty="0">
              <a:solidFill>
                <a:schemeClr val="tx1"/>
              </a:solidFill>
              <a:latin typeface="+mj-lt"/>
            </a:rPr>
            <a:t>Update 13/04: </a:t>
          </a:r>
          <a:r>
            <a:rPr lang="en-US" sz="1000" dirty="0">
              <a:solidFill>
                <a:schemeClr val="tx1"/>
              </a:solidFill>
              <a:latin typeface="+mj-lt"/>
            </a:rPr>
            <a:t>21043 delay </a:t>
          </a:r>
          <a:r>
            <a:rPr lang="en-US" sz="1000" dirty="0" err="1">
              <a:solidFill>
                <a:schemeClr val="tx1"/>
              </a:solidFill>
              <a:latin typeface="+mj-lt"/>
            </a:rPr>
            <a:t>thêm</a:t>
          </a:r>
          <a:r>
            <a:rPr lang="en-US" sz="1000" dirty="0">
              <a:solidFill>
                <a:schemeClr val="tx1"/>
              </a:solidFill>
              <a:latin typeface="+mj-lt"/>
            </a:rPr>
            <a:t> 1 </a:t>
          </a:r>
          <a:r>
            <a:rPr lang="en-US" sz="1000" dirty="0" err="1">
              <a:solidFill>
                <a:schemeClr val="tx1"/>
              </a:solidFill>
              <a:latin typeface="+mj-lt"/>
            </a:rPr>
            <a:t>tuần</a:t>
          </a:r>
          <a:r>
            <a:rPr lang="en-US" sz="1000" dirty="0">
              <a:solidFill>
                <a:schemeClr val="tx1"/>
              </a:solidFill>
              <a:latin typeface="+mj-lt"/>
            </a:rPr>
            <a:t>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0.25 AOG </a:t>
          </a:r>
          <a:r>
            <a:rPr lang="en-US" sz="1000" dirty="0" err="1">
              <a:solidFill>
                <a:schemeClr val="tx1"/>
              </a:solidFill>
              <a:latin typeface="+mj-lt"/>
            </a:rPr>
            <a:t>vào</a:t>
          </a:r>
          <a:r>
            <a:rPr lang="en-US" sz="1000" dirty="0">
              <a:solidFill>
                <a:schemeClr val="tx1"/>
              </a:solidFill>
              <a:latin typeface="+mj-lt"/>
            </a:rPr>
            <a:t> T6. </a:t>
          </a:r>
        </a:p>
        <a:p xmlns:a="http://schemas.openxmlformats.org/drawingml/2006/main">
          <a:pPr marL="171450" indent="-171450">
            <a:buFontTx/>
            <a:buChar char="-"/>
          </a:pPr>
          <a:r>
            <a:rPr lang="en-US" sz="1000" b="1" dirty="0">
              <a:solidFill>
                <a:schemeClr val="tx1"/>
              </a:solidFill>
              <a:latin typeface="+mj-lt"/>
            </a:rPr>
            <a:t>Update 20/04: </a:t>
          </a:r>
          <a:r>
            <a:rPr lang="en-US" sz="1000" dirty="0" err="1">
              <a:solidFill>
                <a:schemeClr val="tx1"/>
              </a:solidFill>
              <a:latin typeface="+mj-lt"/>
            </a:rPr>
            <a:t>ảnh</a:t>
          </a:r>
          <a:r>
            <a:rPr lang="en-US" sz="1000" dirty="0">
              <a:solidFill>
                <a:schemeClr val="tx1"/>
              </a:solidFill>
              <a:latin typeface="+mj-lt"/>
            </a:rPr>
            <a:t> </a:t>
          </a:r>
          <a:r>
            <a:rPr lang="en-US" sz="1000" dirty="0" err="1">
              <a:solidFill>
                <a:schemeClr val="tx1"/>
              </a:solidFill>
              <a:latin typeface="+mj-lt"/>
            </a:rPr>
            <a:t>hưởng</a:t>
          </a:r>
          <a:r>
            <a:rPr lang="en-US" sz="1000" dirty="0">
              <a:solidFill>
                <a:schemeClr val="tx1"/>
              </a:solidFill>
              <a:latin typeface="+mj-lt"/>
            </a:rPr>
            <a:t> </a:t>
          </a:r>
          <a:r>
            <a:rPr lang="en-US" sz="1000" dirty="0" err="1">
              <a:solidFill>
                <a:schemeClr val="tx1"/>
              </a:solidFill>
              <a:latin typeface="+mj-lt"/>
            </a:rPr>
            <a:t>của</a:t>
          </a:r>
          <a:r>
            <a:rPr lang="en-US" sz="1000" dirty="0">
              <a:solidFill>
                <a:schemeClr val="tx1"/>
              </a:solidFill>
              <a:latin typeface="+mj-lt"/>
            </a:rPr>
            <a:t> 21316 </a:t>
          </a:r>
          <a:r>
            <a:rPr lang="en-US" sz="1000" dirty="0" err="1">
              <a:solidFill>
                <a:schemeClr val="tx1"/>
              </a:solidFill>
              <a:latin typeface="+mj-lt"/>
            </a:rPr>
            <a:t>hỏng</a:t>
          </a:r>
          <a:r>
            <a:rPr lang="en-US" sz="1000" dirty="0">
              <a:solidFill>
                <a:schemeClr val="tx1"/>
              </a:solidFill>
              <a:latin typeface="+mj-lt"/>
            </a:rPr>
            <a:t> </a:t>
          </a:r>
          <a:r>
            <a:rPr lang="en-US" sz="1000" dirty="0" err="1">
              <a:solidFill>
                <a:schemeClr val="tx1"/>
              </a:solidFill>
              <a:latin typeface="+mj-lt"/>
            </a:rPr>
            <a:t>hóc</a:t>
          </a:r>
          <a:r>
            <a:rPr lang="en-US" sz="1000" dirty="0">
              <a:solidFill>
                <a:schemeClr val="tx1"/>
              </a:solidFill>
              <a:latin typeface="+mj-lt"/>
            </a:rPr>
            <a:t>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0.5 AOG T4.</a:t>
          </a:r>
        </a:p>
        <a:p xmlns:a="http://schemas.openxmlformats.org/drawingml/2006/main">
          <a:pPr marL="171450" indent="-171450">
            <a:buFontTx/>
            <a:buChar char="-"/>
          </a:pPr>
          <a:r>
            <a:rPr lang="en-US" sz="1000" b="1" dirty="0">
              <a:solidFill>
                <a:schemeClr val="tx1"/>
              </a:solidFill>
              <a:latin typeface="+mj-lt"/>
            </a:rPr>
            <a:t>Update 27/04: </a:t>
          </a:r>
          <a:r>
            <a:rPr lang="en-US" sz="1000" dirty="0" err="1">
              <a:solidFill>
                <a:schemeClr val="tx1"/>
              </a:solidFill>
              <a:latin typeface="+mj-lt"/>
            </a:rPr>
            <a:t>động</a:t>
          </a:r>
          <a:r>
            <a:rPr lang="en-US" sz="1000" dirty="0">
              <a:solidFill>
                <a:schemeClr val="tx1"/>
              </a:solidFill>
              <a:latin typeface="+mj-lt"/>
            </a:rPr>
            <a:t> </a:t>
          </a:r>
          <a:r>
            <a:rPr lang="en-US" sz="1000" dirty="0" err="1">
              <a:solidFill>
                <a:schemeClr val="tx1"/>
              </a:solidFill>
              <a:latin typeface="+mj-lt"/>
            </a:rPr>
            <a:t>cơ</a:t>
          </a:r>
          <a:r>
            <a:rPr lang="en-US" sz="1000" dirty="0">
              <a:solidFill>
                <a:schemeClr val="tx1"/>
              </a:solidFill>
              <a:latin typeface="+mj-lt"/>
            </a:rPr>
            <a:t> 21043 (N3) </a:t>
          </a:r>
          <a:r>
            <a:rPr lang="en-US" sz="1000" dirty="0" err="1">
              <a:solidFill>
                <a:schemeClr val="tx1"/>
              </a:solidFill>
              <a:latin typeface="+mj-lt"/>
            </a:rPr>
            <a:t>tiếp</a:t>
          </a:r>
          <a:r>
            <a:rPr lang="en-US" sz="1000" dirty="0">
              <a:solidFill>
                <a:schemeClr val="tx1"/>
              </a:solidFill>
              <a:latin typeface="+mj-lt"/>
            </a:rPr>
            <a:t> </a:t>
          </a:r>
          <a:r>
            <a:rPr lang="en-US" sz="1000" dirty="0" err="1">
              <a:solidFill>
                <a:schemeClr val="tx1"/>
              </a:solidFill>
              <a:latin typeface="+mj-lt"/>
            </a:rPr>
            <a:t>tục</a:t>
          </a:r>
          <a:r>
            <a:rPr lang="en-US" sz="1000" dirty="0">
              <a:solidFill>
                <a:schemeClr val="tx1"/>
              </a:solidFill>
              <a:latin typeface="+mj-lt"/>
            </a:rPr>
            <a:t> delay 14 </a:t>
          </a:r>
          <a:r>
            <a:rPr lang="en-US" sz="1000" dirty="0" err="1">
              <a:solidFill>
                <a:schemeClr val="tx1"/>
              </a:solidFill>
              <a:latin typeface="+mj-lt"/>
            </a:rPr>
            <a:t>ngày</a:t>
          </a:r>
          <a:r>
            <a:rPr lang="en-US" sz="1000" dirty="0">
              <a:solidFill>
                <a:schemeClr val="tx1"/>
              </a:solidFill>
              <a:latin typeface="+mj-lt"/>
            </a:rPr>
            <a:t>, </a:t>
          </a:r>
          <a:r>
            <a:rPr lang="en-US" sz="1000" dirty="0" err="1">
              <a:solidFill>
                <a:schemeClr val="tx1"/>
              </a:solidFill>
              <a:latin typeface="+mj-lt"/>
            </a:rPr>
            <a:t>tuy</a:t>
          </a:r>
          <a:r>
            <a:rPr lang="en-US" sz="1000" dirty="0">
              <a:solidFill>
                <a:schemeClr val="tx1"/>
              </a:solidFill>
              <a:latin typeface="+mj-lt"/>
            </a:rPr>
            <a:t> </a:t>
          </a:r>
          <a:r>
            <a:rPr lang="en-US" sz="1000" dirty="0" err="1">
              <a:solidFill>
                <a:schemeClr val="tx1"/>
              </a:solidFill>
              <a:latin typeface="+mj-lt"/>
            </a:rPr>
            <a:t>nhiên</a:t>
          </a:r>
          <a:r>
            <a:rPr lang="en-US" sz="1000" dirty="0">
              <a:solidFill>
                <a:schemeClr val="tx1"/>
              </a:solidFill>
              <a:latin typeface="+mj-lt"/>
            </a:rPr>
            <a:t> KTMB </a:t>
          </a:r>
          <a:r>
            <a:rPr lang="en-US" sz="1000" dirty="0" err="1">
              <a:solidFill>
                <a:schemeClr val="tx1"/>
              </a:solidFill>
              <a:latin typeface="+mj-lt"/>
            </a:rPr>
            <a:t>và</a:t>
          </a:r>
          <a:r>
            <a:rPr lang="en-US" sz="1000" dirty="0">
              <a:solidFill>
                <a:schemeClr val="tx1"/>
              </a:solidFill>
              <a:latin typeface="+mj-lt"/>
            </a:rPr>
            <a:t> MPP </a:t>
          </a:r>
          <a:r>
            <a:rPr lang="en-US" sz="1000" dirty="0" err="1">
              <a:solidFill>
                <a:schemeClr val="tx1"/>
              </a:solidFill>
              <a:latin typeface="+mj-lt"/>
            </a:rPr>
            <a:t>điều</a:t>
          </a:r>
          <a:r>
            <a:rPr lang="en-US" sz="1000" dirty="0">
              <a:solidFill>
                <a:schemeClr val="tx1"/>
              </a:solidFill>
              <a:latin typeface="+mj-lt"/>
            </a:rPr>
            <a:t> </a:t>
          </a:r>
          <a:r>
            <a:rPr lang="en-US" sz="1000" dirty="0" err="1">
              <a:solidFill>
                <a:schemeClr val="tx1"/>
              </a:solidFill>
              <a:latin typeface="+mj-lt"/>
            </a:rPr>
            <a:t>chỉnh</a:t>
          </a:r>
          <a:r>
            <a:rPr lang="en-US" sz="1000" dirty="0">
              <a:solidFill>
                <a:schemeClr val="tx1"/>
              </a:solidFill>
              <a:latin typeface="+mj-lt"/>
            </a:rPr>
            <a:t> </a:t>
          </a:r>
          <a:r>
            <a:rPr lang="en-US" sz="1000" dirty="0" err="1">
              <a:solidFill>
                <a:schemeClr val="tx1"/>
              </a:solidFill>
              <a:latin typeface="+mj-lt"/>
            </a:rPr>
            <a:t>để</a:t>
          </a:r>
          <a:r>
            <a:rPr lang="en-US" sz="1000" dirty="0">
              <a:solidFill>
                <a:schemeClr val="tx1"/>
              </a:solidFill>
              <a:latin typeface="+mj-lt"/>
            </a:rPr>
            <a:t> </a:t>
          </a:r>
          <a:r>
            <a:rPr lang="en-US" sz="1000" dirty="0" err="1">
              <a:solidFill>
                <a:schemeClr val="tx1"/>
              </a:solidFill>
              <a:latin typeface="+mj-lt"/>
            </a:rPr>
            <a:t>không</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AOG.  </a:t>
          </a:r>
          <a:r>
            <a:rPr lang="en-US" sz="1000" dirty="0" err="1">
              <a:solidFill>
                <a:schemeClr val="tx1"/>
              </a:solidFill>
              <a:latin typeface="+mj-lt"/>
            </a:rPr>
            <a:t>Động</a:t>
          </a:r>
          <a:r>
            <a:rPr lang="en-US" sz="1000" dirty="0">
              <a:solidFill>
                <a:schemeClr val="tx1"/>
              </a:solidFill>
              <a:latin typeface="+mj-lt"/>
            </a:rPr>
            <a:t> </a:t>
          </a:r>
          <a:r>
            <a:rPr lang="en-US" sz="1000" dirty="0" err="1">
              <a:solidFill>
                <a:schemeClr val="tx1"/>
              </a:solidFill>
              <a:latin typeface="+mj-lt"/>
            </a:rPr>
            <a:t>cơ</a:t>
          </a:r>
          <a:r>
            <a:rPr lang="en-US" sz="1000" dirty="0">
              <a:solidFill>
                <a:schemeClr val="tx1"/>
              </a:solidFill>
              <a:latin typeface="+mj-lt"/>
            </a:rPr>
            <a:t> 21048 TAT 190 </a:t>
          </a:r>
          <a:r>
            <a:rPr lang="en-US" sz="1000" dirty="0" err="1">
              <a:solidFill>
                <a:schemeClr val="tx1"/>
              </a:solidFill>
              <a:latin typeface="+mj-lt"/>
            </a:rPr>
            <a:t>ngày</a:t>
          </a:r>
          <a:r>
            <a:rPr lang="en-US" sz="1000" dirty="0">
              <a:solidFill>
                <a:schemeClr val="tx1"/>
              </a:solidFill>
              <a:latin typeface="+mj-lt"/>
            </a:rPr>
            <a:t> </a:t>
          </a:r>
          <a:r>
            <a:rPr lang="en-US" sz="1000" dirty="0" err="1">
              <a:solidFill>
                <a:schemeClr val="tx1"/>
              </a:solidFill>
              <a:latin typeface="+mj-lt"/>
            </a:rPr>
            <a:t>thay</a:t>
          </a:r>
          <a:r>
            <a:rPr lang="en-US" sz="1000" dirty="0">
              <a:solidFill>
                <a:schemeClr val="tx1"/>
              </a:solidFill>
              <a:latin typeface="+mj-lt"/>
            </a:rPr>
            <a:t> </a:t>
          </a:r>
          <a:r>
            <a:rPr lang="en-US" sz="1000" dirty="0" err="1">
              <a:solidFill>
                <a:schemeClr val="tx1"/>
              </a:solidFill>
              <a:latin typeface="+mj-lt"/>
            </a:rPr>
            <a:t>vì</a:t>
          </a:r>
          <a:r>
            <a:rPr lang="en-US" sz="1000" dirty="0">
              <a:solidFill>
                <a:schemeClr val="tx1"/>
              </a:solidFill>
              <a:latin typeface="+mj-lt"/>
            </a:rPr>
            <a:t> 160 </a:t>
          </a:r>
          <a:r>
            <a:rPr lang="en-US" sz="1000" dirty="0" err="1">
              <a:solidFill>
                <a:schemeClr val="tx1"/>
              </a:solidFill>
              <a:latin typeface="+mj-lt"/>
            </a:rPr>
            <a:t>ngày</a:t>
          </a:r>
          <a:r>
            <a:rPr lang="en-US" sz="1000" dirty="0">
              <a:solidFill>
                <a:schemeClr val="tx1"/>
              </a:solidFill>
              <a:latin typeface="+mj-lt"/>
            </a:rPr>
            <a:t> </a:t>
          </a:r>
          <a:r>
            <a:rPr lang="en-US" sz="1000" dirty="0" err="1">
              <a:solidFill>
                <a:schemeClr val="tx1"/>
              </a:solidFill>
              <a:latin typeface="+mj-lt"/>
            </a:rPr>
            <a:t>theo</a:t>
          </a:r>
          <a:r>
            <a:rPr lang="en-US" sz="1000" dirty="0">
              <a:solidFill>
                <a:schemeClr val="tx1"/>
              </a:solidFill>
              <a:latin typeface="+mj-lt"/>
            </a:rPr>
            <a:t> KH </a:t>
          </a:r>
          <a:r>
            <a:rPr lang="en-US" sz="1000" dirty="0" err="1">
              <a:solidFill>
                <a:schemeClr val="tx1"/>
              </a:solidFill>
              <a:latin typeface="+mj-lt"/>
            </a:rPr>
            <a:t>của</a:t>
          </a:r>
          <a:r>
            <a:rPr lang="en-US" sz="1000" dirty="0">
              <a:solidFill>
                <a:schemeClr val="tx1"/>
              </a:solidFill>
              <a:latin typeface="+mj-lt"/>
            </a:rPr>
            <a:t> RR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0.5 AOG T10.</a:t>
          </a:r>
          <a:endParaRPr lang="en-US" sz="1000" b="1" dirty="0">
            <a:solidFill>
              <a:schemeClr val="tx1"/>
            </a:solidFill>
            <a:latin typeface="+mj-l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27-Apr-25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xmlns=""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xmlns=""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xmlns=""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777988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13AA0F-C72A-3D1E-37DB-51A1C7B83A0C}"/>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xmlns="" id="{D7A96DA8-1FCE-67CE-3536-6002A9D93A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xmlns="" id="{FCB19D28-0BA7-FDBF-D6F1-17743E1FFA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xmlns="" id="{D9EE2FCE-549C-1666-D6E0-F4CC66657F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50003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33319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1844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DA507EF5-F271-6429-C730-4E206DCAAA8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611F808-D70E-D554-3B95-E6606827A7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00D0994B-5C54-7996-66E2-8DE9968085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CC7A453E-94CF-76E9-24C3-2CBE4891D08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3566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D963D47-09E8-83BE-CAE9-3F7A2213F99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6BE9B9D-14CE-ADC1-EC51-1FF2D317D8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AECD4133-14A2-B1BF-7714-DD34475774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DDC12541-1A2E-6EAF-1785-FAE1CBF6C8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0404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xmlns=""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xmlns=""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39" indent="-285739">
              <a:lnSpc>
                <a:spcPts val="2125"/>
              </a:lnSpc>
              <a:buSzPct val="100000"/>
              <a:buFontTx/>
              <a:buChar char="•"/>
            </a:pPr>
            <a:r>
              <a:rPr lang="en-US" sz="600" dirty="0" err="1" smtClean="0">
                <a:latin typeface="Times New Roman" panose="02020603050405020304" pitchFamily="18" charset="0"/>
                <a:ea typeface="Open Sans" pitchFamily="34" charset="-122"/>
                <a:cs typeface="Times New Roman" panose="02020603050405020304" pitchFamily="18" charset="0"/>
              </a:rPr>
              <a:t>Đội</a:t>
            </a:r>
            <a:r>
              <a:rPr lang="en-US" sz="600" dirty="0" smtClean="0">
                <a:latin typeface="Times New Roman" panose="02020603050405020304" pitchFamily="18" charset="0"/>
                <a:ea typeface="Open Sans" pitchFamily="34" charset="-122"/>
                <a:cs typeface="Times New Roman" panose="02020603050405020304" pitchFamily="18" charset="0"/>
              </a:rPr>
              <a:t> bay A321 </a:t>
            </a:r>
            <a:r>
              <a:rPr lang="en-US" sz="600" dirty="0" err="1" smtClean="0">
                <a:latin typeface="Times New Roman" panose="02020603050405020304" pitchFamily="18" charset="0"/>
                <a:ea typeface="Open Sans" pitchFamily="34" charset="-122"/>
                <a:cs typeface="Times New Roman" panose="02020603050405020304" pitchFamily="18" charset="0"/>
              </a:rPr>
              <a:t>trong</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tuần</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phát</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sinh</a:t>
            </a:r>
            <a:r>
              <a:rPr lang="en-US" sz="600" dirty="0" smtClean="0">
                <a:latin typeface="Times New Roman" panose="02020603050405020304" pitchFamily="18" charset="0"/>
                <a:ea typeface="Open Sans" pitchFamily="34" charset="-122"/>
                <a:cs typeface="Times New Roman" panose="02020603050405020304" pitchFamily="18" charset="0"/>
              </a:rPr>
              <a:t> 04 </a:t>
            </a:r>
            <a:r>
              <a:rPr lang="en-US" sz="600" dirty="0" err="1" smtClean="0">
                <a:latin typeface="Times New Roman" panose="02020603050405020304" pitchFamily="18" charset="0"/>
                <a:ea typeface="Open Sans" pitchFamily="34" charset="-122"/>
                <a:cs typeface="Times New Roman" panose="02020603050405020304" pitchFamily="18" charset="0"/>
              </a:rPr>
              <a:t>vụ</a:t>
            </a:r>
            <a:r>
              <a:rPr lang="en-US" sz="600" dirty="0" smtClean="0">
                <a:latin typeface="Times New Roman" panose="02020603050405020304" pitchFamily="18" charset="0"/>
                <a:ea typeface="Open Sans" pitchFamily="34" charset="-122"/>
                <a:cs typeface="Times New Roman" panose="02020603050405020304" pitchFamily="18" charset="0"/>
              </a:rPr>
              <a:t> AOG </a:t>
            </a:r>
            <a:r>
              <a:rPr lang="en-US" sz="600" dirty="0" err="1" smtClean="0">
                <a:latin typeface="Times New Roman" panose="02020603050405020304" pitchFamily="18" charset="0"/>
                <a:ea typeface="Open Sans" pitchFamily="34" charset="-122"/>
                <a:cs typeface="Times New Roman" panose="02020603050405020304" pitchFamily="18" charset="0"/>
              </a:rPr>
              <a:t>và</a:t>
            </a:r>
            <a:r>
              <a:rPr lang="en-US" sz="600" dirty="0" smtClean="0">
                <a:latin typeface="Times New Roman" panose="02020603050405020304" pitchFamily="18" charset="0"/>
                <a:ea typeface="Open Sans" pitchFamily="34" charset="-122"/>
                <a:cs typeface="Times New Roman" panose="02020603050405020304" pitchFamily="18" charset="0"/>
              </a:rPr>
              <a:t> 02 </a:t>
            </a:r>
            <a:r>
              <a:rPr lang="en-US" sz="600" dirty="0" err="1" smtClean="0">
                <a:latin typeface="Times New Roman" panose="02020603050405020304" pitchFamily="18" charset="0"/>
                <a:ea typeface="Open Sans" pitchFamily="34" charset="-122"/>
                <a:cs typeface="Times New Roman" panose="02020603050405020304" pitchFamily="18" charset="0"/>
              </a:rPr>
              <a:t>sự</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kiện</a:t>
            </a:r>
            <a:r>
              <a:rPr lang="en-US" sz="600" dirty="0" smtClean="0">
                <a:latin typeface="Times New Roman" panose="02020603050405020304" pitchFamily="18" charset="0"/>
                <a:ea typeface="Open Sans" pitchFamily="34" charset="-122"/>
                <a:cs typeface="Times New Roman" panose="02020603050405020304" pitchFamily="18" charset="0"/>
              </a:rPr>
              <a:t> RTG, </a:t>
            </a:r>
            <a:r>
              <a:rPr lang="en-US" sz="600" dirty="0" err="1" smtClean="0">
                <a:latin typeface="Times New Roman" panose="02020603050405020304" pitchFamily="18" charset="0"/>
                <a:ea typeface="Open Sans" pitchFamily="34" charset="-122"/>
                <a:cs typeface="Times New Roman" panose="02020603050405020304" pitchFamily="18" charset="0"/>
              </a:rPr>
              <a:t>trong</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đó</a:t>
            </a:r>
            <a:r>
              <a:rPr lang="en-US" sz="600" dirty="0" smtClean="0">
                <a:latin typeface="Times New Roman" panose="02020603050405020304" pitchFamily="18" charset="0"/>
                <a:ea typeface="Open Sans" pitchFamily="34" charset="-122"/>
                <a:cs typeface="Times New Roman" panose="02020603050405020304" pitchFamily="18" charset="0"/>
              </a:rPr>
              <a:t>:</a:t>
            </a:r>
          </a:p>
          <a:p>
            <a:pPr marL="285739" indent="-285739">
              <a:lnSpc>
                <a:spcPts val="2125"/>
              </a:lnSpc>
              <a:buSzPct val="100000"/>
              <a:buFontTx/>
              <a:buChar char="•"/>
            </a:pPr>
            <a:r>
              <a:rPr lang="en-US" sz="600" dirty="0" smtClean="0">
                <a:latin typeface="Times New Roman" panose="02020603050405020304" pitchFamily="18" charset="0"/>
                <a:ea typeface="Open Sans" pitchFamily="34" charset="-122"/>
                <a:cs typeface="Times New Roman" panose="02020603050405020304" pitchFamily="18" charset="0"/>
              </a:rPr>
              <a:t>A513/HAN/ AOG do </a:t>
            </a:r>
            <a:r>
              <a:rPr lang="en-US" sz="600" dirty="0" err="1" smtClean="0">
                <a:latin typeface="Times New Roman" panose="02020603050405020304" pitchFamily="18" charset="0"/>
                <a:ea typeface="Open Sans" pitchFamily="34" charset="-122"/>
                <a:cs typeface="Times New Roman" panose="02020603050405020304" pitchFamily="18" charset="0"/>
              </a:rPr>
              <a:t>phát</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sinh</a:t>
            </a:r>
            <a:r>
              <a:rPr lang="en-US" sz="600" dirty="0" smtClean="0">
                <a:latin typeface="Times New Roman" panose="02020603050405020304" pitchFamily="18" charset="0"/>
                <a:ea typeface="Open Sans" pitchFamily="34" charset="-122"/>
                <a:cs typeface="Times New Roman" panose="02020603050405020304" pitchFamily="18" charset="0"/>
              </a:rPr>
              <a:t> MSG “VENT BLOWER FAULT” AND MSG “VENT EXTRACT FAULT”.  </a:t>
            </a:r>
            <a:r>
              <a:rPr lang="en-US" sz="600" dirty="0" err="1" smtClean="0">
                <a:latin typeface="Times New Roman" panose="02020603050405020304" pitchFamily="18" charset="0"/>
                <a:ea typeface="Open Sans" pitchFamily="34" charset="-122"/>
                <a:cs typeface="Times New Roman" panose="02020603050405020304" pitchFamily="18" charset="0"/>
              </a:rPr>
              <a:t>Tàu</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sau</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đó</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đã</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thực</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hiện</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thay</a:t>
            </a:r>
            <a:r>
              <a:rPr lang="en-US" sz="600" dirty="0" smtClean="0">
                <a:latin typeface="Times New Roman" panose="02020603050405020304" pitchFamily="18" charset="0"/>
                <a:ea typeface="Open Sans" pitchFamily="34" charset="-122"/>
                <a:cs typeface="Times New Roman" panose="02020603050405020304" pitchFamily="18" charset="0"/>
              </a:rPr>
              <a:t> Avionic computer </a:t>
            </a:r>
            <a:r>
              <a:rPr lang="en-US" sz="600" dirty="0" err="1" smtClean="0">
                <a:latin typeface="Times New Roman" panose="02020603050405020304" pitchFamily="18" charset="0"/>
                <a:ea typeface="Open Sans" pitchFamily="34" charset="-122"/>
                <a:cs typeface="Times New Roman" panose="02020603050405020304" pitchFamily="18" charset="0"/>
              </a:rPr>
              <a:t>và</a:t>
            </a:r>
            <a:r>
              <a:rPr lang="en-US" sz="600" dirty="0" smtClean="0">
                <a:latin typeface="Times New Roman" panose="02020603050405020304" pitchFamily="18" charset="0"/>
                <a:ea typeface="Open Sans" pitchFamily="34" charset="-122"/>
                <a:cs typeface="Times New Roman" panose="02020603050405020304" pitchFamily="18" charset="0"/>
              </a:rPr>
              <a:t> blower fan (</a:t>
            </a:r>
            <a:r>
              <a:rPr lang="en-US" sz="600" dirty="0" err="1" smtClean="0">
                <a:latin typeface="Times New Roman" panose="02020603050405020304" pitchFamily="18" charset="0"/>
                <a:ea typeface="Open Sans" pitchFamily="34" charset="-122"/>
                <a:cs typeface="Times New Roman" panose="02020603050405020304" pitchFamily="18" charset="0"/>
              </a:rPr>
              <a:t>hỏng</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hóc</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lần</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đầu</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xuất</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hiện</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trên</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baseline="0" dirty="0" err="1" smtClean="0">
                <a:latin typeface="Times New Roman" panose="02020603050405020304" pitchFamily="18" charset="0"/>
                <a:ea typeface="Open Sans" pitchFamily="34" charset="-122"/>
                <a:cs typeface="Times New Roman" panose="02020603050405020304" pitchFamily="18" charset="0"/>
              </a:rPr>
              <a:t>đội</a:t>
            </a:r>
            <a:r>
              <a:rPr lang="en-US" sz="600" baseline="0" dirty="0" smtClean="0">
                <a:latin typeface="Times New Roman" panose="02020603050405020304" pitchFamily="18" charset="0"/>
                <a:ea typeface="Open Sans" pitchFamily="34" charset="-122"/>
                <a:cs typeface="Times New Roman" panose="02020603050405020304" pitchFamily="18" charset="0"/>
              </a:rPr>
              <a:t> bay </a:t>
            </a:r>
            <a:r>
              <a:rPr lang="en-US" sz="600" baseline="0" dirty="0" err="1" smtClean="0">
                <a:latin typeface="Times New Roman" panose="02020603050405020304" pitchFamily="18" charset="0"/>
                <a:ea typeface="Open Sans" pitchFamily="34" charset="-122"/>
                <a:cs typeface="Times New Roman" panose="02020603050405020304" pitchFamily="18" charset="0"/>
              </a:rPr>
              <a:t>này</a:t>
            </a:r>
            <a:r>
              <a:rPr lang="en-US" sz="600" baseline="0" dirty="0" smtClean="0">
                <a:latin typeface="Times New Roman" panose="02020603050405020304" pitchFamily="18" charset="0"/>
                <a:ea typeface="Open Sans" pitchFamily="34" charset="-122"/>
                <a:cs typeface="Times New Roman" panose="02020603050405020304" pitchFamily="18" charset="0"/>
              </a:rPr>
              <a:t>)</a:t>
            </a:r>
            <a:endParaRPr lang="en-US" sz="600" dirty="0" smtClean="0">
              <a:latin typeface="Times New Roman" panose="02020603050405020304" pitchFamily="18" charset="0"/>
              <a:ea typeface="Open Sans" pitchFamily="34" charset="-122"/>
              <a:cs typeface="Times New Roman" panose="02020603050405020304" pitchFamily="18" charset="0"/>
            </a:endParaRPr>
          </a:p>
          <a:p>
            <a:pPr marL="285739" indent="-285739">
              <a:lnSpc>
                <a:spcPts val="2125"/>
              </a:lnSpc>
              <a:buSzPct val="100000"/>
              <a:buFontTx/>
              <a:buChar char="•"/>
            </a:pPr>
            <a:r>
              <a:rPr lang="en-US" sz="600" dirty="0" smtClean="0">
                <a:latin typeface="Times New Roman" panose="02020603050405020304" pitchFamily="18" charset="0"/>
                <a:ea typeface="Open Sans" pitchFamily="34" charset="-122"/>
                <a:cs typeface="Times New Roman" panose="02020603050405020304" pitchFamily="18" charset="0"/>
              </a:rPr>
              <a:t>A512/HAN/GTB/AOG</a:t>
            </a:r>
            <a:r>
              <a:rPr lang="en-US" sz="600" baseline="0" dirty="0" smtClean="0">
                <a:latin typeface="Times New Roman" panose="02020603050405020304" pitchFamily="18" charset="0"/>
                <a:ea typeface="Open Sans" pitchFamily="34" charset="-122"/>
                <a:cs typeface="Times New Roman" panose="02020603050405020304" pitchFamily="18" charset="0"/>
              </a:rPr>
              <a:t> </a:t>
            </a:r>
            <a:r>
              <a:rPr lang="en-US" sz="600" dirty="0" smtClean="0">
                <a:latin typeface="Times New Roman" panose="02020603050405020304" pitchFamily="18" charset="0"/>
                <a:ea typeface="Open Sans" pitchFamily="34" charset="-122"/>
                <a:cs typeface="Times New Roman" panose="02020603050405020304" pitchFamily="18" charset="0"/>
              </a:rPr>
              <a:t>do </a:t>
            </a:r>
            <a:r>
              <a:rPr lang="en-US" sz="600" dirty="0" err="1" smtClean="0">
                <a:latin typeface="Times New Roman" panose="02020603050405020304" pitchFamily="18" charset="0"/>
                <a:ea typeface="Open Sans" pitchFamily="34" charset="-122"/>
                <a:cs typeface="Times New Roman" panose="02020603050405020304" pitchFamily="18" charset="0"/>
              </a:rPr>
              <a:t>xuất</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hiện</a:t>
            </a:r>
            <a:r>
              <a:rPr lang="en-US" sz="600" dirty="0" smtClean="0">
                <a:latin typeface="Times New Roman" panose="02020603050405020304" pitchFamily="18" charset="0"/>
                <a:ea typeface="Open Sans" pitchFamily="34" charset="-122"/>
                <a:cs typeface="Times New Roman" panose="02020603050405020304" pitchFamily="18" charset="0"/>
              </a:rPr>
              <a:t> MSG: ENG#1 start </a:t>
            </a:r>
            <a:r>
              <a:rPr lang="en-US" sz="600" dirty="0" err="1" smtClean="0">
                <a:latin typeface="Times New Roman" panose="02020603050405020304" pitchFamily="18" charset="0"/>
                <a:ea typeface="Open Sans" pitchFamily="34" charset="-122"/>
                <a:cs typeface="Times New Roman" panose="02020603050405020304" pitchFamily="18" charset="0"/>
              </a:rPr>
              <a:t>vlv</a:t>
            </a:r>
            <a:r>
              <a:rPr lang="en-US" sz="600" dirty="0" smtClean="0">
                <a:latin typeface="Times New Roman" panose="02020603050405020304" pitchFamily="18" charset="0"/>
                <a:ea typeface="Open Sans" pitchFamily="34" charset="-122"/>
                <a:cs typeface="Times New Roman" panose="02020603050405020304" pitchFamily="18" charset="0"/>
              </a:rPr>
              <a:t> fault(start </a:t>
            </a:r>
            <a:r>
              <a:rPr lang="en-US" sz="600" dirty="0" err="1" smtClean="0">
                <a:latin typeface="Times New Roman" panose="02020603050405020304" pitchFamily="18" charset="0"/>
                <a:ea typeface="Open Sans" pitchFamily="34" charset="-122"/>
                <a:cs typeface="Times New Roman" panose="02020603050405020304" pitchFamily="18" charset="0"/>
              </a:rPr>
              <a:t>vlv</a:t>
            </a:r>
            <a:r>
              <a:rPr lang="en-US" sz="600" dirty="0" smtClean="0">
                <a:latin typeface="Times New Roman" panose="02020603050405020304" pitchFamily="18" charset="0"/>
                <a:ea typeface="Open Sans" pitchFamily="34" charset="-122"/>
                <a:cs typeface="Times New Roman" panose="02020603050405020304" pitchFamily="18" charset="0"/>
              </a:rPr>
              <a:t> not closed) </a:t>
            </a:r>
            <a:r>
              <a:rPr lang="en-US" sz="600" dirty="0" err="1" smtClean="0">
                <a:latin typeface="Times New Roman" panose="02020603050405020304" pitchFamily="18" charset="0"/>
                <a:ea typeface="Open Sans" pitchFamily="34" charset="-122"/>
                <a:cs typeface="Times New Roman" panose="02020603050405020304" pitchFamily="18" charset="0"/>
              </a:rPr>
              <a:t>và</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đã</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thay</a:t>
            </a:r>
            <a:r>
              <a:rPr lang="en-US" sz="600" dirty="0" smtClean="0">
                <a:latin typeface="Times New Roman" panose="02020603050405020304" pitchFamily="18" charset="0"/>
                <a:ea typeface="Open Sans" pitchFamily="34" charset="-122"/>
                <a:cs typeface="Times New Roman" panose="02020603050405020304" pitchFamily="18" charset="0"/>
              </a:rPr>
              <a:t> valve </a:t>
            </a:r>
            <a:r>
              <a:rPr lang="en-US" sz="600" dirty="0" err="1" smtClean="0">
                <a:latin typeface="Times New Roman" panose="02020603050405020304" pitchFamily="18" charset="0"/>
                <a:ea typeface="Open Sans" pitchFamily="34" charset="-122"/>
                <a:cs typeface="Times New Roman" panose="02020603050405020304" pitchFamily="18" charset="0"/>
              </a:rPr>
              <a:t>sau</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đó</a:t>
            </a:r>
            <a:endParaRPr lang="en-US" sz="600" dirty="0" smtClean="0">
              <a:latin typeface="Times New Roman" panose="02020603050405020304" pitchFamily="18" charset="0"/>
              <a:ea typeface="Open Sans" pitchFamily="34" charset="-122"/>
              <a:cs typeface="Times New Roman" panose="02020603050405020304" pitchFamily="18" charset="0"/>
            </a:endParaRPr>
          </a:p>
          <a:p>
            <a:pPr marL="285739" indent="-285739">
              <a:lnSpc>
                <a:spcPts val="2125"/>
              </a:lnSpc>
              <a:buSzPct val="100000"/>
              <a:buFontTx/>
              <a:buChar char="•"/>
            </a:pPr>
            <a:r>
              <a:rPr lang="en-US" sz="600" dirty="0" smtClean="0">
                <a:latin typeface="Times New Roman" panose="02020603050405020304" pitchFamily="18" charset="0"/>
                <a:ea typeface="Open Sans" pitchFamily="34" charset="-122"/>
                <a:cs typeface="Times New Roman" panose="02020603050405020304" pitchFamily="18" charset="0"/>
              </a:rPr>
              <a:t>A334/LPQ/AOG do </a:t>
            </a:r>
            <a:r>
              <a:rPr lang="en-US" sz="600" dirty="0" err="1" smtClean="0">
                <a:latin typeface="Times New Roman" panose="02020603050405020304" pitchFamily="18" charset="0"/>
                <a:ea typeface="Open Sans" pitchFamily="34" charset="-122"/>
                <a:cs typeface="Times New Roman" panose="02020603050405020304" pitchFamily="18" charset="0"/>
              </a:rPr>
              <a:t>cảnh</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báo</a:t>
            </a:r>
            <a:r>
              <a:rPr lang="en-US" sz="600" dirty="0" smtClean="0">
                <a:latin typeface="Times New Roman" panose="02020603050405020304" pitchFamily="18" charset="0"/>
                <a:ea typeface="Open Sans" pitchFamily="34" charset="-122"/>
                <a:cs typeface="Times New Roman" panose="02020603050405020304" pitchFamily="18" charset="0"/>
              </a:rPr>
              <a:t> ENG 1 COMPRESSOR VANE</a:t>
            </a:r>
            <a:r>
              <a:rPr lang="en-US" sz="600" dirty="0" smtClean="0">
                <a:latin typeface="Times New Roman" panose="02020603050405020304" pitchFamily="18" charset="0"/>
                <a:cs typeface="Times New Roman" panose="02020603050405020304" pitchFamily="18" charset="0"/>
              </a:rPr>
              <a:t> , </a:t>
            </a:r>
            <a:r>
              <a:rPr lang="en-US" sz="600" dirty="0" err="1" smtClean="0">
                <a:latin typeface="Times New Roman" panose="02020603050405020304" pitchFamily="18" charset="0"/>
                <a:cs typeface="Times New Roman" panose="02020603050405020304" pitchFamily="18" charset="0"/>
              </a:rPr>
              <a:t>sau</a:t>
            </a:r>
            <a:r>
              <a:rPr lang="en-US" sz="600" dirty="0" smtClean="0">
                <a:latin typeface="Times New Roman" panose="02020603050405020304" pitchFamily="18" charset="0"/>
                <a:cs typeface="Times New Roman" panose="02020603050405020304" pitchFamily="18" charset="0"/>
              </a:rPr>
              <a:t> </a:t>
            </a:r>
            <a:r>
              <a:rPr lang="en-US" sz="600" dirty="0" err="1" smtClean="0">
                <a:latin typeface="Times New Roman" panose="02020603050405020304" pitchFamily="18" charset="0"/>
                <a:cs typeface="Times New Roman" panose="02020603050405020304" pitchFamily="18" charset="0"/>
              </a:rPr>
              <a:t>đó</a:t>
            </a:r>
            <a:r>
              <a:rPr lang="en-US" sz="600" dirty="0" smtClean="0">
                <a:latin typeface="Times New Roman" panose="02020603050405020304" pitchFamily="18" charset="0"/>
                <a:cs typeface="Times New Roman" panose="02020603050405020304" pitchFamily="18" charset="0"/>
              </a:rPr>
              <a:t> </a:t>
            </a:r>
            <a:r>
              <a:rPr lang="en-US" sz="600" dirty="0" err="1" smtClean="0">
                <a:latin typeface="Times New Roman" panose="02020603050405020304" pitchFamily="18" charset="0"/>
                <a:cs typeface="Times New Roman" panose="02020603050405020304" pitchFamily="18" charset="0"/>
              </a:rPr>
              <a:t>đã</a:t>
            </a:r>
            <a:r>
              <a:rPr lang="en-US" sz="600" dirty="0" smtClean="0">
                <a:latin typeface="Times New Roman" panose="02020603050405020304" pitchFamily="18" charset="0"/>
                <a:cs typeface="Times New Roman" panose="02020603050405020304" pitchFamily="18" charset="0"/>
              </a:rPr>
              <a:t> </a:t>
            </a:r>
            <a:r>
              <a:rPr lang="en-US" sz="600" dirty="0" err="1" smtClean="0">
                <a:latin typeface="Times New Roman" panose="02020603050405020304" pitchFamily="18" charset="0"/>
                <a:cs typeface="Times New Roman" panose="02020603050405020304" pitchFamily="18" charset="0"/>
              </a:rPr>
              <a:t>phải</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cử</a:t>
            </a:r>
            <a:r>
              <a:rPr lang="en-US" sz="600" baseline="0" dirty="0" smtClean="0">
                <a:latin typeface="Times New Roman" panose="02020603050405020304" pitchFamily="18" charset="0"/>
                <a:cs typeface="Times New Roman" panose="02020603050405020304" pitchFamily="18" charset="0"/>
              </a:rPr>
              <a:t> NVKT </a:t>
            </a:r>
            <a:r>
              <a:rPr lang="en-US" sz="600" baseline="0" dirty="0" err="1" smtClean="0">
                <a:latin typeface="Times New Roman" panose="02020603050405020304" pitchFamily="18" charset="0"/>
                <a:cs typeface="Times New Roman" panose="02020603050405020304" pitchFamily="18" charset="0"/>
              </a:rPr>
              <a:t>và</a:t>
            </a:r>
            <a:r>
              <a:rPr lang="en-US" sz="600" baseline="0" dirty="0" smtClean="0">
                <a:latin typeface="Times New Roman" panose="02020603050405020304" pitchFamily="18" charset="0"/>
                <a:cs typeface="Times New Roman" panose="02020603050405020304" pitchFamily="18" charset="0"/>
              </a:rPr>
              <a:t> PTVT sang</a:t>
            </a:r>
            <a:r>
              <a:rPr lang="en-US" sz="600" dirty="0" smtClean="0">
                <a:latin typeface="Times New Roman" panose="02020603050405020304" pitchFamily="18" charset="0"/>
                <a:cs typeface="Times New Roman" panose="02020603050405020304" pitchFamily="18" charset="0"/>
              </a:rPr>
              <a:t> </a:t>
            </a:r>
            <a:r>
              <a:rPr lang="en-US" sz="600" dirty="0" err="1" smtClean="0">
                <a:latin typeface="Times New Roman" panose="02020603050405020304" pitchFamily="18" charset="0"/>
                <a:cs typeface="Times New Roman" panose="02020603050405020304" pitchFamily="18" charset="0"/>
              </a:rPr>
              <a:t>thay</a:t>
            </a:r>
            <a:r>
              <a:rPr lang="en-US" sz="600" dirty="0" smtClean="0">
                <a:latin typeface="Times New Roman" panose="02020603050405020304" pitchFamily="18" charset="0"/>
                <a:cs typeface="Times New Roman" panose="02020603050405020304" pitchFamily="18" charset="0"/>
              </a:rPr>
              <a:t> VSV actuator (</a:t>
            </a:r>
            <a:r>
              <a:rPr lang="en-US" sz="600" dirty="0" err="1" smtClean="0">
                <a:latin typeface="Times New Roman" panose="02020603050405020304" pitchFamily="18" charset="0"/>
                <a:cs typeface="Times New Roman" panose="02020603050405020304" pitchFamily="18" charset="0"/>
              </a:rPr>
              <a:t>Khối</a:t>
            </a:r>
            <a:r>
              <a:rPr lang="en-US" sz="600" dirty="0" smtClean="0">
                <a:latin typeface="Times New Roman" panose="02020603050405020304" pitchFamily="18" charset="0"/>
                <a:cs typeface="Times New Roman" panose="02020603050405020304" pitchFamily="18" charset="0"/>
              </a:rPr>
              <a:t> VSV actuator </a:t>
            </a:r>
            <a:r>
              <a:rPr lang="en-US" sz="600" dirty="0" err="1" smtClean="0">
                <a:latin typeface="Times New Roman" panose="02020603050405020304" pitchFamily="18" charset="0"/>
                <a:cs typeface="Times New Roman" panose="02020603050405020304" pitchFamily="18" charset="0"/>
              </a:rPr>
              <a:t>lắp</a:t>
            </a:r>
            <a:r>
              <a:rPr lang="en-US" sz="600" dirty="0" smtClean="0">
                <a:latin typeface="Times New Roman" panose="02020603050405020304" pitchFamily="18" charset="0"/>
                <a:cs typeface="Times New Roman" panose="02020603050405020304" pitchFamily="18" charset="0"/>
              </a:rPr>
              <a:t> </a:t>
            </a:r>
            <a:r>
              <a:rPr lang="en-US" sz="600" dirty="0" err="1" smtClean="0">
                <a:latin typeface="Times New Roman" panose="02020603050405020304" pitchFamily="18" charset="0"/>
                <a:cs typeface="Times New Roman" panose="02020603050405020304" pitchFamily="18" charset="0"/>
              </a:rPr>
              <a:t>lên</a:t>
            </a:r>
            <a:r>
              <a:rPr lang="en-US" sz="600" dirty="0" smtClean="0">
                <a:latin typeface="Times New Roman" panose="02020603050405020304" pitchFamily="18" charset="0"/>
                <a:cs typeface="Times New Roman" panose="02020603050405020304" pitchFamily="18" charset="0"/>
              </a:rPr>
              <a:t> </a:t>
            </a:r>
            <a:r>
              <a:rPr lang="en-US" sz="600" dirty="0" err="1" smtClean="0">
                <a:latin typeface="Times New Roman" panose="02020603050405020304" pitchFamily="18" charset="0"/>
                <a:cs typeface="Times New Roman" panose="02020603050405020304" pitchFamily="18" charset="0"/>
              </a:rPr>
              <a:t>từ</a:t>
            </a:r>
            <a:r>
              <a:rPr lang="en-US" sz="600" dirty="0" smtClean="0">
                <a:latin typeface="Times New Roman" panose="02020603050405020304" pitchFamily="18" charset="0"/>
                <a:cs typeface="Times New Roman" panose="02020603050405020304" pitchFamily="18" charset="0"/>
              </a:rPr>
              <a:t> 04/24,</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số</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lượng</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thay</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ngoài</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kế</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hoạch</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cũng</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rất</a:t>
            </a:r>
            <a:r>
              <a:rPr lang="en-US" sz="600" baseline="0" dirty="0" smtClean="0">
                <a:latin typeface="Times New Roman" panose="02020603050405020304" pitchFamily="18" charset="0"/>
                <a:cs typeface="Times New Roman" panose="02020603050405020304" pitchFamily="18" charset="0"/>
              </a:rPr>
              <a:t> </a:t>
            </a:r>
            <a:r>
              <a:rPr lang="en-US" sz="600" baseline="0" dirty="0" err="1" smtClean="0">
                <a:latin typeface="Times New Roman" panose="02020603050405020304" pitchFamily="18" charset="0"/>
                <a:cs typeface="Times New Roman" panose="02020603050405020304" pitchFamily="18" charset="0"/>
              </a:rPr>
              <a:t>ít</a:t>
            </a:r>
            <a:r>
              <a:rPr lang="en-US" sz="600" dirty="0" smtClean="0">
                <a:latin typeface="Times New Roman" panose="02020603050405020304" pitchFamily="18" charset="0"/>
                <a:cs typeface="Times New Roman" panose="02020603050405020304" pitchFamily="18" charset="0"/>
              </a:rPr>
              <a:t>)</a:t>
            </a:r>
          </a:p>
          <a:p>
            <a:pPr marL="285739" indent="-285739">
              <a:lnSpc>
                <a:spcPts val="2125"/>
              </a:lnSpc>
              <a:buSzPct val="100000"/>
              <a:buFontTx/>
              <a:buChar char="•"/>
            </a:pPr>
            <a:r>
              <a:rPr lang="en-US" sz="600" dirty="0" smtClean="0">
                <a:latin typeface="Times New Roman" panose="02020603050405020304" pitchFamily="18" charset="0"/>
                <a:ea typeface="Open Sans" pitchFamily="34" charset="-122"/>
                <a:cs typeface="Times New Roman" panose="02020603050405020304" pitchFamily="18" charset="0"/>
              </a:rPr>
              <a:t>A608/HAN/GTB/AOG  do </a:t>
            </a:r>
            <a:r>
              <a:rPr lang="en-US" sz="600" dirty="0" err="1" smtClean="0">
                <a:latin typeface="Times New Roman" panose="02020603050405020304" pitchFamily="18" charset="0"/>
                <a:ea typeface="Open Sans" pitchFamily="34" charset="-122"/>
                <a:cs typeface="Times New Roman" panose="02020603050405020304" pitchFamily="18" charset="0"/>
              </a:rPr>
              <a:t>xuất</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hiện</a:t>
            </a:r>
            <a:r>
              <a:rPr lang="en-US" sz="600" dirty="0" smtClean="0">
                <a:latin typeface="Times New Roman" panose="02020603050405020304" pitchFamily="18" charset="0"/>
                <a:ea typeface="Open Sans" pitchFamily="34" charset="-122"/>
                <a:cs typeface="Times New Roman" panose="02020603050405020304" pitchFamily="18" charset="0"/>
              </a:rPr>
              <a:t> MSG ”FUEL ENG 2 LP VALVE FAULT”, </a:t>
            </a:r>
            <a:r>
              <a:rPr lang="en-US" sz="600" dirty="0" err="1" smtClean="0">
                <a:latin typeface="Times New Roman" panose="02020603050405020304" pitchFamily="18" charset="0"/>
                <a:ea typeface="Open Sans" pitchFamily="34" charset="-122"/>
                <a:cs typeface="Times New Roman" panose="02020603050405020304" pitchFamily="18" charset="0"/>
              </a:rPr>
              <a:t>tàu</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sau</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đó</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đã</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thực</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hiện</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thay</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khối</a:t>
            </a:r>
            <a:r>
              <a:rPr lang="en-US" sz="600" dirty="0" smtClean="0">
                <a:latin typeface="Times New Roman" panose="02020603050405020304" pitchFamily="18" charset="0"/>
                <a:ea typeface="Open Sans" pitchFamily="34" charset="-122"/>
                <a:cs typeface="Times New Roman" panose="02020603050405020304" pitchFamily="18" charset="0"/>
              </a:rPr>
              <a:t> LP valve </a:t>
            </a:r>
            <a:r>
              <a:rPr lang="en-US" sz="600" dirty="0" err="1" smtClean="0">
                <a:latin typeface="Times New Roman" panose="02020603050405020304" pitchFamily="18" charset="0"/>
                <a:ea typeface="Open Sans" pitchFamily="34" charset="-122"/>
                <a:cs typeface="Times New Roman" panose="02020603050405020304" pitchFamily="18" charset="0"/>
              </a:rPr>
              <a:t>và</a:t>
            </a:r>
            <a:r>
              <a:rPr lang="en-US" sz="600" dirty="0" smtClean="0">
                <a:latin typeface="Times New Roman" panose="02020603050405020304" pitchFamily="18" charset="0"/>
                <a:ea typeface="Open Sans" pitchFamily="34" charset="-122"/>
                <a:cs typeface="Times New Roman" panose="02020603050405020304" pitchFamily="18" charset="0"/>
              </a:rPr>
              <a:t> PMA (</a:t>
            </a:r>
            <a:r>
              <a:rPr lang="en-US" sz="1200" b="0" i="0" kern="1200" dirty="0" smtClean="0">
                <a:solidFill>
                  <a:schemeClr val="tx1"/>
                </a:solidFill>
                <a:effectLst/>
                <a:latin typeface="+mn-lt"/>
                <a:ea typeface="+mn-ea"/>
                <a:cs typeface="+mn-cs"/>
              </a:rPr>
              <a:t>Ban KT </a:t>
            </a:r>
            <a:r>
              <a:rPr lang="en-US" sz="1200" b="0" i="0" kern="1200" dirty="0" err="1" smtClean="0">
                <a:solidFill>
                  <a:schemeClr val="tx1"/>
                </a:solidFill>
                <a:effectLst/>
                <a:latin typeface="+mn-lt"/>
                <a:ea typeface="+mn-ea"/>
                <a:cs typeface="+mn-cs"/>
              </a:rPr>
              <a:t>đang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yêu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cầu</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cung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cấp</a:t>
            </a:r>
            <a:r>
              <a:rPr lang="en-US" sz="1200" b="0" i="0" kern="1200" dirty="0" smtClean="0">
                <a:solidFill>
                  <a:schemeClr val="tx1"/>
                </a:solidFill>
                <a:effectLst/>
                <a:latin typeface="+mn-lt"/>
                <a:ea typeface="+mn-ea"/>
                <a:cs typeface="+mn-cs"/>
              </a:rPr>
              <a:t> QAR </a:t>
            </a:r>
            <a:r>
              <a:rPr lang="en-US" sz="1200" b="0" i="0" kern="1200" dirty="0" err="1" smtClean="0">
                <a:solidFill>
                  <a:schemeClr val="tx1"/>
                </a:solidFill>
                <a:effectLst/>
                <a:latin typeface="+mn-lt"/>
                <a:ea typeface="+mn-ea"/>
                <a:cs typeface="+mn-cs"/>
              </a:rPr>
              <a:t>chuyến</a:t>
            </a:r>
            <a:r>
              <a:rPr lang="en-US" sz="1200" b="0" i="0" kern="1200" dirty="0" smtClean="0">
                <a:solidFill>
                  <a:schemeClr val="tx1"/>
                </a:solidFill>
                <a:effectLst/>
                <a:latin typeface="+mn-lt"/>
                <a:ea typeface="+mn-ea"/>
                <a:cs typeface="+mn-cs"/>
              </a:rPr>
              <a:t> VN157 </a:t>
            </a:r>
            <a:r>
              <a:rPr lang="en-US" sz="1200" b="0" i="0" kern="1200" dirty="0" err="1" smtClean="0">
                <a:solidFill>
                  <a:schemeClr val="tx1"/>
                </a:solidFill>
                <a:effectLst/>
                <a:latin typeface="+mn-lt"/>
                <a:ea typeface="+mn-ea"/>
                <a:cs typeface="+mn-cs"/>
              </a:rPr>
              <a:t>cho</a:t>
            </a:r>
            <a:r>
              <a:rPr lang="en-US" sz="1200" b="0" i="0" kern="1200" dirty="0" smtClean="0">
                <a:solidFill>
                  <a:schemeClr val="tx1"/>
                </a:solidFill>
                <a:effectLst/>
                <a:latin typeface="+mn-lt"/>
                <a:ea typeface="+mn-ea"/>
                <a:cs typeface="+mn-cs"/>
              </a:rPr>
              <a:t> P&amp;W </a:t>
            </a:r>
            <a:r>
              <a:rPr lang="en-US" sz="1200" b="0" i="0" kern="1200" dirty="0" err="1" smtClean="0">
                <a:solidFill>
                  <a:schemeClr val="tx1"/>
                </a:solidFill>
                <a:effectLst/>
                <a:latin typeface="+mn-lt"/>
                <a:ea typeface="+mn-ea"/>
                <a:cs typeface="+mn-cs"/>
              </a:rPr>
              <a:t>để</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làm</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rõ</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nguyên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nhân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hỏng</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hóc</a:t>
            </a:r>
            <a:r>
              <a:rPr lang="en-US" sz="1200" b="0" i="0" kern="1200" dirty="0" smtClean="0">
                <a:solidFill>
                  <a:schemeClr val="tx1"/>
                </a:solidFill>
                <a:effectLst/>
                <a:latin typeface="+mn-lt"/>
                <a:ea typeface="+mn-ea"/>
                <a:cs typeface="+mn-cs"/>
              </a:rPr>
              <a:t>)</a:t>
            </a:r>
            <a:endParaRPr lang="en-US" sz="600" dirty="0" smtClean="0">
              <a:latin typeface="Times New Roman" panose="02020603050405020304" pitchFamily="18" charset="0"/>
              <a:ea typeface="Open Sans" pitchFamily="34" charset="-122"/>
              <a:cs typeface="Times New Roman" panose="02020603050405020304" pitchFamily="18" charset="0"/>
            </a:endParaRPr>
          </a:p>
          <a:p>
            <a:pPr eaLnBrk="1" hangingPunct="1">
              <a:spcBef>
                <a:spcPct val="0"/>
              </a:spcBef>
            </a:pPr>
            <a:endParaRPr lang="en-US" altLang="en-US" sz="700" dirty="0">
              <a:latin typeface="+mn-lt"/>
            </a:endParaRPr>
          </a:p>
        </p:txBody>
      </p:sp>
      <p:sp>
        <p:nvSpPr>
          <p:cNvPr id="22532" name="Slide Number Placeholder 3">
            <a:extLst>
              <a:ext uri="{FF2B5EF4-FFF2-40B4-BE49-F238E27FC236}">
                <a16:creationId xmlns:a16="http://schemas.microsoft.com/office/drawing/2014/main" xmlns=""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507609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842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3339163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2835131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7B32A7D1-DC30-8DBF-34D0-1F3F0E550F1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51CFF4A2-3CD2-3708-5859-3B6FCCDBE3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9B6163D7-E793-FC80-3FBC-F363A07B50C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D996FA1-AEB4-AAAE-EC1C-52A03E904E4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35167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MECD = </a:t>
            </a:r>
            <a:r>
              <a:rPr lang="en-US" sz="1200">
                <a:solidFill>
                  <a:srgbClr val="4472C4">
                    <a:lumMod val="50000"/>
                  </a:srgbClr>
                </a:solidFill>
                <a:latin typeface="Cambria" panose="02040503050406030204" pitchFamily="18" charset="0"/>
                <a:ea typeface="Cambria" panose="02040503050406030204" pitchFamily="18" charset="0"/>
              </a:rPr>
              <a:t>Main Engine Data Concentrator</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3469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B0DBC10-D293-DFDD-2B49-2EF84D293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6F3D849-EBD6-C874-B929-54CE29808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3C757-A97C-CC69-207E-C00CB8FD61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4472C4">
                    <a:lumMod val="50000"/>
                  </a:srgbClr>
                </a:solidFill>
                <a:latin typeface="Cambria" panose="02040503050406030204" pitchFamily="18" charset="0"/>
                <a:ea typeface="Cambria" panose="02040503050406030204" pitchFamily="18" charset="0"/>
              </a:rPr>
              <a:t>Lỗi Low Oil Pressure (LOP) switch bị kẹt đã được Boeing/Collins nhận diện qua 787-FTD-24-22002. Hiện vẫn đang nghiên cứu giải pháp khắc phục. </a:t>
            </a:r>
          </a:p>
          <a:p>
            <a:endParaRPr lang="en-US" dirty="0"/>
          </a:p>
        </p:txBody>
      </p:sp>
      <p:sp>
        <p:nvSpPr>
          <p:cNvPr id="4" name="Slide Number Placeholder 3">
            <a:extLst>
              <a:ext uri="{FF2B5EF4-FFF2-40B4-BE49-F238E27FC236}">
                <a16:creationId xmlns:a16="http://schemas.microsoft.com/office/drawing/2014/main" xmlns="" id="{6DB098FB-AD61-4FE6-4C63-E6AD795FE8B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9359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B0DBC10-D293-DFDD-2B49-2EF84D293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6F3D849-EBD6-C874-B929-54CE29808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03C757-A97C-CC69-207E-C00CB8FD61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6DB098FB-AD61-4FE6-4C63-E6AD795FE8B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6901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CA064AD-018D-4BAA-D464-285FA848B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8484BAB-D208-817A-AE2C-CDC923A84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433049F-0790-6086-8832-1AC0C81885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5CE27D2A-5833-58B3-CB10-71D60C3F3B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2539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1731925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2914627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E15C6D1E-D6FD-8D2D-4235-62366D1BDBD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780B6BCB-853F-3F9D-344A-23B2F7E23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EB8F982-A31C-7CB1-9B7A-29C8E5E9C0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AAC0315F-EF69-0125-D01A-6B05E25B2A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1316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16276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118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008183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6540040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3776337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3738869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30026572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xmlns=""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xmlns=""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83534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33</a:t>
            </a:fld>
            <a:endParaRPr/>
          </a:p>
        </p:txBody>
      </p:sp>
    </p:spTree>
    <p:extLst>
      <p:ext uri="{BB962C8B-B14F-4D97-AF65-F5344CB8AC3E}">
        <p14:creationId xmlns:p14="http://schemas.microsoft.com/office/powerpoint/2010/main" val="1393491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34</a:t>
            </a:fld>
            <a:endParaRPr/>
          </a:p>
        </p:txBody>
      </p:sp>
    </p:spTree>
    <p:extLst>
      <p:ext uri="{BB962C8B-B14F-4D97-AF65-F5344CB8AC3E}">
        <p14:creationId xmlns:p14="http://schemas.microsoft.com/office/powerpoint/2010/main" val="23311382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xmlns=""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xmlns=""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xmlns=""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xmlns=""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35</a:t>
            </a:fld>
            <a:endParaRPr/>
          </a:p>
        </p:txBody>
      </p:sp>
    </p:spTree>
    <p:extLst>
      <p:ext uri="{BB962C8B-B14F-4D97-AF65-F5344CB8AC3E}">
        <p14:creationId xmlns:p14="http://schemas.microsoft.com/office/powerpoint/2010/main" val="13766370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extLst>
      <p:ext uri="{BB962C8B-B14F-4D97-AF65-F5344CB8AC3E}">
        <p14:creationId xmlns:p14="http://schemas.microsoft.com/office/powerpoint/2010/main" val="24133023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extLst>
      <p:ext uri="{BB962C8B-B14F-4D97-AF65-F5344CB8AC3E}">
        <p14:creationId xmlns:p14="http://schemas.microsoft.com/office/powerpoint/2010/main" val="38662724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47</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66068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48</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1054699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50</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77551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937797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978624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54</a:t>
            </a:fld>
            <a:endParaRPr/>
          </a:p>
        </p:txBody>
      </p:sp>
    </p:spTree>
    <p:extLst>
      <p:ext uri="{BB962C8B-B14F-4D97-AF65-F5344CB8AC3E}">
        <p14:creationId xmlns:p14="http://schemas.microsoft.com/office/powerpoint/2010/main" val="41759260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55</a:t>
            </a:fld>
            <a:endParaRPr/>
          </a:p>
        </p:txBody>
      </p:sp>
    </p:spTree>
    <p:extLst>
      <p:ext uri="{BB962C8B-B14F-4D97-AF65-F5344CB8AC3E}">
        <p14:creationId xmlns:p14="http://schemas.microsoft.com/office/powerpoint/2010/main" val="25520047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56</a:t>
            </a:fld>
            <a:endParaRPr sz="1200">
              <a:latin typeface="Calibri"/>
              <a:ea typeface="Calibri"/>
              <a:cs typeface="Calibri"/>
              <a:sym typeface="Calibri"/>
            </a:endParaRPr>
          </a:p>
        </p:txBody>
      </p:sp>
    </p:spTree>
    <p:extLst>
      <p:ext uri="{BB962C8B-B14F-4D97-AF65-F5344CB8AC3E}">
        <p14:creationId xmlns:p14="http://schemas.microsoft.com/office/powerpoint/2010/main" val="36831470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57</a:t>
            </a:fld>
            <a:endParaRPr sz="1200">
              <a:latin typeface="Calibri"/>
              <a:ea typeface="Calibri"/>
              <a:cs typeface="Calibri"/>
              <a:sym typeface="Calibri"/>
            </a:endParaRPr>
          </a:p>
        </p:txBody>
      </p:sp>
    </p:spTree>
    <p:extLst>
      <p:ext uri="{BB962C8B-B14F-4D97-AF65-F5344CB8AC3E}">
        <p14:creationId xmlns:p14="http://schemas.microsoft.com/office/powerpoint/2010/main" val="36640337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58</a:t>
            </a:fld>
            <a:endParaRPr sz="1200">
              <a:latin typeface="Calibri"/>
              <a:ea typeface="Calibri"/>
              <a:cs typeface="Calibri"/>
              <a:sym typeface="Calibri"/>
            </a:endParaRPr>
          </a:p>
        </p:txBody>
      </p:sp>
    </p:spTree>
    <p:extLst>
      <p:ext uri="{BB962C8B-B14F-4D97-AF65-F5344CB8AC3E}">
        <p14:creationId xmlns:p14="http://schemas.microsoft.com/office/powerpoint/2010/main" val="31265753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59</a:t>
            </a:fld>
            <a:endParaRPr/>
          </a:p>
        </p:txBody>
      </p:sp>
    </p:spTree>
    <p:extLst>
      <p:ext uri="{BB962C8B-B14F-4D97-AF65-F5344CB8AC3E}">
        <p14:creationId xmlns:p14="http://schemas.microsoft.com/office/powerpoint/2010/main" val="8185669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60</a:t>
            </a:fld>
            <a:endParaRPr sz="1200">
              <a:latin typeface="Calibri"/>
              <a:ea typeface="Calibri"/>
              <a:cs typeface="Calibri"/>
              <a:sym typeface="Calibri"/>
            </a:endParaRPr>
          </a:p>
        </p:txBody>
      </p:sp>
    </p:spTree>
    <p:extLst>
      <p:ext uri="{BB962C8B-B14F-4D97-AF65-F5344CB8AC3E}">
        <p14:creationId xmlns:p14="http://schemas.microsoft.com/office/powerpoint/2010/main" val="25967420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61</a:t>
            </a:fld>
            <a:endParaRPr/>
          </a:p>
        </p:txBody>
      </p:sp>
    </p:spTree>
    <p:extLst>
      <p:ext uri="{BB962C8B-B14F-4D97-AF65-F5344CB8AC3E}">
        <p14:creationId xmlns:p14="http://schemas.microsoft.com/office/powerpoint/2010/main" val="13432201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62</a:t>
            </a:fld>
            <a:endParaRPr/>
          </a:p>
        </p:txBody>
      </p:sp>
    </p:spTree>
    <p:extLst>
      <p:ext uri="{BB962C8B-B14F-4D97-AF65-F5344CB8AC3E}">
        <p14:creationId xmlns:p14="http://schemas.microsoft.com/office/powerpoint/2010/main" val="28613279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63</a:t>
            </a:fld>
            <a:endParaRPr sz="1200">
              <a:latin typeface="Calibri"/>
              <a:ea typeface="Calibri"/>
              <a:cs typeface="Calibri"/>
              <a:sym typeface="Calibri"/>
            </a:endParaRPr>
          </a:p>
        </p:txBody>
      </p:sp>
    </p:spTree>
    <p:extLst>
      <p:ext uri="{BB962C8B-B14F-4D97-AF65-F5344CB8AC3E}">
        <p14:creationId xmlns:p14="http://schemas.microsoft.com/office/powerpoint/2010/main" val="10174403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400"/>
            </a:pPr>
            <a:fld id="{00000000-1234-1234-1234-123412341234}" type="slidenum">
              <a:rPr lang="en-US"/>
              <a:pPr algn="r">
                <a:buSzPts val="1400"/>
              </a:pPr>
              <a:t>64</a:t>
            </a:fld>
            <a:endParaRPr/>
          </a:p>
        </p:txBody>
      </p:sp>
    </p:spTree>
    <p:extLst>
      <p:ext uri="{BB962C8B-B14F-4D97-AF65-F5344CB8AC3E}">
        <p14:creationId xmlns:p14="http://schemas.microsoft.com/office/powerpoint/2010/main" val="18675709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65</a:t>
            </a:fld>
            <a:endParaRPr sz="1200">
              <a:latin typeface="Calibri"/>
              <a:ea typeface="Calibri"/>
              <a:cs typeface="Calibri"/>
              <a:sym typeface="Calibri"/>
            </a:endParaRPr>
          </a:p>
        </p:txBody>
      </p:sp>
    </p:spTree>
    <p:extLst>
      <p:ext uri="{BB962C8B-B14F-4D97-AF65-F5344CB8AC3E}">
        <p14:creationId xmlns:p14="http://schemas.microsoft.com/office/powerpoint/2010/main" val="8469207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66</a:t>
            </a:fld>
            <a:endParaRPr sz="1200">
              <a:latin typeface="Calibri"/>
              <a:ea typeface="Calibri"/>
              <a:cs typeface="Calibri"/>
              <a:sym typeface="Calibri"/>
            </a:endParaRPr>
          </a:p>
        </p:txBody>
      </p:sp>
    </p:spTree>
    <p:extLst>
      <p:ext uri="{BB962C8B-B14F-4D97-AF65-F5344CB8AC3E}">
        <p14:creationId xmlns:p14="http://schemas.microsoft.com/office/powerpoint/2010/main" val="36214815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67</a:t>
            </a:fld>
            <a:endParaRPr sz="1200">
              <a:latin typeface="Calibri"/>
              <a:ea typeface="Calibri"/>
              <a:cs typeface="Calibri"/>
              <a:sym typeface="Calibri"/>
            </a:endParaRPr>
          </a:p>
        </p:txBody>
      </p:sp>
    </p:spTree>
    <p:extLst>
      <p:ext uri="{BB962C8B-B14F-4D97-AF65-F5344CB8AC3E}">
        <p14:creationId xmlns:p14="http://schemas.microsoft.com/office/powerpoint/2010/main" val="18431239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68</a:t>
            </a:fld>
            <a:endParaRPr sz="1200">
              <a:latin typeface="Calibri"/>
              <a:ea typeface="Calibri"/>
              <a:cs typeface="Calibri"/>
              <a:sym typeface="Calibri"/>
            </a:endParaRPr>
          </a:p>
        </p:txBody>
      </p:sp>
    </p:spTree>
    <p:extLst>
      <p:ext uri="{BB962C8B-B14F-4D97-AF65-F5344CB8AC3E}">
        <p14:creationId xmlns:p14="http://schemas.microsoft.com/office/powerpoint/2010/main" val="10413714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69</a:t>
            </a:fld>
            <a:endParaRPr sz="1200">
              <a:latin typeface="Calibri"/>
              <a:ea typeface="Calibri"/>
              <a:cs typeface="Calibri"/>
              <a:sym typeface="Calibri"/>
            </a:endParaRPr>
          </a:p>
        </p:txBody>
      </p:sp>
    </p:spTree>
    <p:extLst>
      <p:ext uri="{BB962C8B-B14F-4D97-AF65-F5344CB8AC3E}">
        <p14:creationId xmlns:p14="http://schemas.microsoft.com/office/powerpoint/2010/main" val="6968786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70</a:t>
            </a:fld>
            <a:endParaRPr sz="1200">
              <a:latin typeface="Calibri"/>
              <a:ea typeface="Calibri"/>
              <a:cs typeface="Calibri"/>
              <a:sym typeface="Calibri"/>
            </a:endParaRPr>
          </a:p>
        </p:txBody>
      </p:sp>
    </p:spTree>
    <p:extLst>
      <p:ext uri="{BB962C8B-B14F-4D97-AF65-F5344CB8AC3E}">
        <p14:creationId xmlns:p14="http://schemas.microsoft.com/office/powerpoint/2010/main" val="21279091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71</a:t>
            </a:fld>
            <a:endParaRPr sz="1200">
              <a:latin typeface="Calibri"/>
              <a:ea typeface="Calibri"/>
              <a:cs typeface="Calibri"/>
              <a:sym typeface="Calibri"/>
            </a:endParaRPr>
          </a:p>
        </p:txBody>
      </p:sp>
    </p:spTree>
    <p:extLst>
      <p:ext uri="{BB962C8B-B14F-4D97-AF65-F5344CB8AC3E}">
        <p14:creationId xmlns:p14="http://schemas.microsoft.com/office/powerpoint/2010/main" val="26644046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algn="r">
              <a:buSzPts val="1200"/>
            </a:pPr>
            <a:fld id="{00000000-1234-1234-1234-123412341234}" type="slidenum">
              <a:rPr lang="en-US" sz="1200">
                <a:latin typeface="Calibri"/>
                <a:ea typeface="Calibri"/>
                <a:cs typeface="Calibri"/>
                <a:sym typeface="Calibri"/>
              </a:rPr>
              <a:pPr algn="r">
                <a:buSzPts val="1200"/>
              </a:pPr>
              <a:t>72</a:t>
            </a:fld>
            <a:endParaRPr sz="1200">
              <a:latin typeface="Calibri"/>
              <a:ea typeface="Calibri"/>
              <a:cs typeface="Calibri"/>
              <a:sym typeface="Calibri"/>
            </a:endParaRPr>
          </a:p>
        </p:txBody>
      </p:sp>
    </p:spTree>
    <p:extLst>
      <p:ext uri="{BB962C8B-B14F-4D97-AF65-F5344CB8AC3E}">
        <p14:creationId xmlns:p14="http://schemas.microsoft.com/office/powerpoint/2010/main" val="41240232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73</a:t>
            </a:fld>
            <a:endParaRPr sz="1200">
              <a:latin typeface="Calibri"/>
              <a:ea typeface="Calibri"/>
              <a:cs typeface="Calibri"/>
              <a:sym typeface="Calibri"/>
            </a:endParaRPr>
          </a:p>
        </p:txBody>
      </p:sp>
    </p:spTree>
    <p:extLst>
      <p:ext uri="{BB962C8B-B14F-4D97-AF65-F5344CB8AC3E}">
        <p14:creationId xmlns:p14="http://schemas.microsoft.com/office/powerpoint/2010/main" val="19425562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algn="r">
              <a:buSzPts val="1200"/>
              <a:buFont typeface="Calibri"/>
              <a:buNone/>
            </a:pPr>
            <a:fld id="{00000000-1234-1234-1234-123412341234}" type="slidenum">
              <a:rPr lang="en-US" sz="1200">
                <a:latin typeface="Calibri"/>
                <a:ea typeface="Calibri"/>
                <a:cs typeface="Calibri"/>
                <a:sym typeface="Calibri"/>
              </a:rPr>
              <a:pPr algn="r">
                <a:buSzPts val="1200"/>
                <a:buFont typeface="Calibri"/>
                <a:buNone/>
              </a:pPr>
              <a:t>74</a:t>
            </a:fld>
            <a:endParaRPr sz="1200">
              <a:latin typeface="Calibri"/>
              <a:ea typeface="Calibri"/>
              <a:cs typeface="Calibri"/>
              <a:sym typeface="Calibri"/>
            </a:endParaRPr>
          </a:p>
        </p:txBody>
      </p:sp>
    </p:spTree>
    <p:extLst>
      <p:ext uri="{BB962C8B-B14F-4D97-AF65-F5344CB8AC3E}">
        <p14:creationId xmlns:p14="http://schemas.microsoft.com/office/powerpoint/2010/main" val="6791483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xmlns=""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xmlns=""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x-none"/>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x-none" sz="1200" smtClean="0">
                <a:solidFill>
                  <a:schemeClr val="bg1"/>
                </a:solidFill>
                <a:latin typeface="Exo"/>
              </a:rPr>
              <a:t>‹#›</a:t>
            </a:fld>
            <a:endParaRPr lang="x-none" sz="1200" dirty="0">
              <a:solidFill>
                <a:schemeClr val="bg1"/>
              </a:solidFill>
              <a:latin typeface="Exo"/>
            </a:endParaRPr>
          </a:p>
        </p:txBody>
      </p:sp>
      <p:pic>
        <p:nvPicPr>
          <p:cNvPr id="11" name="Picture 10">
            <a:extLst>
              <a:ext uri="{FF2B5EF4-FFF2-40B4-BE49-F238E27FC236}">
                <a16:creationId xmlns:a16="http://schemas.microsoft.com/office/drawing/2014/main" xmlns=""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527981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fld id="{00000000-1234-1234-1234-123412341234}" type="slidenum">
              <a:rPr lang="en-US"/>
              <a:pPr/>
              <a:t>‹#›</a:t>
            </a:fld>
            <a:endParaRPr/>
          </a:p>
        </p:txBody>
      </p:sp>
    </p:spTree>
    <p:extLst>
      <p:ext uri="{BB962C8B-B14F-4D97-AF65-F5344CB8AC3E}">
        <p14:creationId xmlns:p14="http://schemas.microsoft.com/office/powerpoint/2010/main" val="2716175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41314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511455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636957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475695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05558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35674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895264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478403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723876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7633124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62323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6.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27-Apr-25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9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kern="0"/>
              <a:pPr/>
              <a:t>‹#›</a:t>
            </a:fld>
            <a:endParaRPr kern="0"/>
          </a:p>
        </p:txBody>
      </p:sp>
    </p:spTree>
    <p:extLst>
      <p:ext uri="{BB962C8B-B14F-4D97-AF65-F5344CB8AC3E}">
        <p14:creationId xmlns:p14="http://schemas.microsoft.com/office/powerpoint/2010/main" val="3604460336"/>
      </p:ext>
    </p:extLst>
  </p:cSld>
  <p:clrMap bg1="lt1" tx1="dk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chart" Target="../charts/char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17</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21/04/2025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27</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xdr="http://schemas.openxmlformats.org/drawingml/2006/spreadsheetDrawing" xmlns="" xmlns:a16="http://schemas.microsoft.com/office/drawing/2014/main" xmlns:lc="http://schemas.openxmlformats.org/drawingml/2006/lockedCanvas" id="{00000000-0008-0000-0900-000005000000}"/>
              </a:ext>
            </a:extLst>
          </p:cNvPr>
          <p:cNvGraphicFramePr>
            <a:graphicFrameLocks/>
          </p:cNvGraphicFramePr>
          <p:nvPr>
            <p:extLst>
              <p:ext uri="{D42A27DB-BD31-4B8C-83A1-F6EECF244321}">
                <p14:modId xmlns:p14="http://schemas.microsoft.com/office/powerpoint/2010/main" val="387667713"/>
              </p:ext>
            </p:extLst>
          </p:nvPr>
        </p:nvGraphicFramePr>
        <p:xfrm>
          <a:off x="1680450" y="3616808"/>
          <a:ext cx="4097655"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xdr="http://schemas.openxmlformats.org/drawingml/2006/spreadsheetDrawing" xmlns="" xmlns:a16="http://schemas.microsoft.com/office/drawing/2014/main" xmlns:lc="http://schemas.openxmlformats.org/drawingml/2006/lockedCanvas" id="{00000000-0008-0000-0900-00000F000000}"/>
              </a:ext>
            </a:extLst>
          </p:cNvPr>
          <p:cNvGraphicFramePr>
            <a:graphicFrameLocks/>
          </p:cNvGraphicFramePr>
          <p:nvPr>
            <p:extLst>
              <p:ext uri="{D42A27DB-BD31-4B8C-83A1-F6EECF244321}">
                <p14:modId xmlns:p14="http://schemas.microsoft.com/office/powerpoint/2010/main" val="1528029427"/>
              </p:ext>
            </p:extLst>
          </p:nvPr>
        </p:nvGraphicFramePr>
        <p:xfrm>
          <a:off x="1689975" y="856463"/>
          <a:ext cx="411670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xdr="http://schemas.openxmlformats.org/drawingml/2006/spreadsheetDrawing" xmlns="" xmlns:a16="http://schemas.microsoft.com/office/drawing/2014/main" xmlns:lc="http://schemas.openxmlformats.org/drawingml/2006/lockedCanvas" id="{8347F7AA-5E77-475C-B68E-49E6EF5DA0A7}"/>
              </a:ext>
            </a:extLst>
          </p:cNvPr>
          <p:cNvGraphicFramePr>
            <a:graphicFrameLocks/>
          </p:cNvGraphicFramePr>
          <p:nvPr>
            <p:extLst>
              <p:ext uri="{D42A27DB-BD31-4B8C-83A1-F6EECF244321}">
                <p14:modId xmlns:p14="http://schemas.microsoft.com/office/powerpoint/2010/main" val="905182235"/>
              </p:ext>
            </p:extLst>
          </p:nvPr>
        </p:nvGraphicFramePr>
        <p:xfrm>
          <a:off x="6335550" y="3625537"/>
          <a:ext cx="4176000"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xdr="http://schemas.openxmlformats.org/drawingml/2006/spreadsheetDrawing" xmlns="" xmlns:a16="http://schemas.microsoft.com/office/drawing/2014/main" xmlns:lc="http://schemas.openxmlformats.org/drawingml/2006/lockedCanvas" id="{00000000-0008-0000-0900-000004000000}"/>
              </a:ext>
            </a:extLst>
          </p:cNvPr>
          <p:cNvGraphicFramePr>
            <a:graphicFrameLocks/>
          </p:cNvGraphicFramePr>
          <p:nvPr>
            <p:extLst>
              <p:ext uri="{D42A27DB-BD31-4B8C-83A1-F6EECF244321}">
                <p14:modId xmlns:p14="http://schemas.microsoft.com/office/powerpoint/2010/main" val="692035888"/>
              </p:ext>
            </p:extLst>
          </p:nvPr>
        </p:nvGraphicFramePr>
        <p:xfrm>
          <a:off x="6324600" y="914400"/>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xdr="http://schemas.openxmlformats.org/drawingml/2006/spreadsheetDrawing" xmlns="" xmlns:a16="http://schemas.microsoft.com/office/drawing/2014/main" xmlns:lc="http://schemas.openxmlformats.org/drawingml/2006/lockedCanvas" id="{00000000-0008-0000-0600-000004000000}"/>
              </a:ext>
            </a:extLst>
          </p:cNvPr>
          <p:cNvGraphicFramePr>
            <a:graphicFrameLocks/>
          </p:cNvGraphicFramePr>
          <p:nvPr>
            <p:extLst>
              <p:ext uri="{D42A27DB-BD31-4B8C-83A1-F6EECF244321}">
                <p14:modId xmlns:p14="http://schemas.microsoft.com/office/powerpoint/2010/main" val="1316242720"/>
              </p:ext>
            </p:extLst>
          </p:nvPr>
        </p:nvGraphicFramePr>
        <p:xfrm>
          <a:off x="1295400" y="914400"/>
          <a:ext cx="96202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xdr="http://schemas.openxmlformats.org/drawingml/2006/spreadsheetDrawing" xmlns="" xmlns:a16="http://schemas.microsoft.com/office/drawing/2014/main" xmlns:lc="http://schemas.openxmlformats.org/drawingml/2006/lockedCanvas" id="{00000000-0008-0000-0600-000005000000}"/>
              </a:ext>
            </a:extLst>
          </p:cNvPr>
          <p:cNvGraphicFramePr>
            <a:graphicFrameLocks/>
          </p:cNvGraphicFramePr>
          <p:nvPr>
            <p:extLst>
              <p:ext uri="{D42A27DB-BD31-4B8C-83A1-F6EECF244321}">
                <p14:modId xmlns:p14="http://schemas.microsoft.com/office/powerpoint/2010/main" val="3583091682"/>
              </p:ext>
            </p:extLst>
          </p:nvPr>
        </p:nvGraphicFramePr>
        <p:xfrm>
          <a:off x="1293640" y="3830955"/>
          <a:ext cx="9609945" cy="27431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xmlns=""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xmlns="" id="{3045FD90-1673-FBCF-7889-FA2822771FA2}"/>
              </a:ext>
            </a:extLst>
          </p:cNvPr>
          <p:cNvSpPr>
            <a:spLocks noGrp="1"/>
          </p:cNvSpPr>
          <p:nvPr>
            <p:ph type="title"/>
          </p:nvPr>
        </p:nvSpPr>
        <p:spPr>
          <a:xfrm>
            <a:off x="381000" y="485872"/>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xmlns="" id="{DE0D23D1-C1A6-8EB2-BEF6-B9530B0AE7E1}"/>
              </a:ext>
            </a:extLst>
          </p:cNvPr>
          <p:cNvSpPr txBox="1"/>
          <p:nvPr/>
        </p:nvSpPr>
        <p:spPr>
          <a:xfrm>
            <a:off x="381000" y="1307068"/>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xmlns="" id="{83B42F6D-EFDE-187D-27DA-D90B11D8F92E}"/>
              </a:ext>
            </a:extLst>
          </p:cNvPr>
          <p:cNvGraphicFramePr>
            <a:graphicFrameLocks noGrp="1"/>
          </p:cNvGraphicFramePr>
          <p:nvPr>
            <p:extLst>
              <p:ext uri="{D42A27DB-BD31-4B8C-83A1-F6EECF244321}">
                <p14:modId xmlns:p14="http://schemas.microsoft.com/office/powerpoint/2010/main" val="3798561225"/>
              </p:ext>
            </p:extLst>
          </p:nvPr>
        </p:nvGraphicFramePr>
        <p:xfrm>
          <a:off x="152400" y="1850906"/>
          <a:ext cx="11778070" cy="4487749"/>
        </p:xfrm>
        <a:graphic>
          <a:graphicData uri="http://schemas.openxmlformats.org/drawingml/2006/table">
            <a:tbl>
              <a:tblPr/>
              <a:tblGrid>
                <a:gridCol w="430212">
                  <a:extLst>
                    <a:ext uri="{9D8B030D-6E8A-4147-A177-3AD203B41FA5}">
                      <a16:colId xmlns:a16="http://schemas.microsoft.com/office/drawing/2014/main" xmlns="" val="3832153777"/>
                    </a:ext>
                  </a:extLst>
                </a:gridCol>
                <a:gridCol w="407988">
                  <a:extLst>
                    <a:ext uri="{9D8B030D-6E8A-4147-A177-3AD203B41FA5}">
                      <a16:colId xmlns:a16="http://schemas.microsoft.com/office/drawing/2014/main" xmlns="" val="2801288844"/>
                    </a:ext>
                  </a:extLst>
                </a:gridCol>
                <a:gridCol w="433251">
                  <a:extLst>
                    <a:ext uri="{9D8B030D-6E8A-4147-A177-3AD203B41FA5}">
                      <a16:colId xmlns:a16="http://schemas.microsoft.com/office/drawing/2014/main" xmlns="" val="3266840810"/>
                    </a:ext>
                  </a:extLst>
                </a:gridCol>
                <a:gridCol w="457200">
                  <a:extLst>
                    <a:ext uri="{9D8B030D-6E8A-4147-A177-3AD203B41FA5}">
                      <a16:colId xmlns:a16="http://schemas.microsoft.com/office/drawing/2014/main" xmlns="" val="3605852202"/>
                    </a:ext>
                  </a:extLst>
                </a:gridCol>
                <a:gridCol w="457200">
                  <a:extLst>
                    <a:ext uri="{9D8B030D-6E8A-4147-A177-3AD203B41FA5}">
                      <a16:colId xmlns:a16="http://schemas.microsoft.com/office/drawing/2014/main" xmlns="" val="1531018077"/>
                    </a:ext>
                  </a:extLst>
                </a:gridCol>
                <a:gridCol w="457200">
                  <a:extLst>
                    <a:ext uri="{9D8B030D-6E8A-4147-A177-3AD203B41FA5}">
                      <a16:colId xmlns:a16="http://schemas.microsoft.com/office/drawing/2014/main" xmlns="" val="3612329399"/>
                    </a:ext>
                  </a:extLst>
                </a:gridCol>
                <a:gridCol w="1676400">
                  <a:extLst>
                    <a:ext uri="{9D8B030D-6E8A-4147-A177-3AD203B41FA5}">
                      <a16:colId xmlns:a16="http://schemas.microsoft.com/office/drawing/2014/main" xmlns="" val="1096506246"/>
                    </a:ext>
                  </a:extLst>
                </a:gridCol>
                <a:gridCol w="2590800">
                  <a:extLst>
                    <a:ext uri="{9D8B030D-6E8A-4147-A177-3AD203B41FA5}">
                      <a16:colId xmlns:a16="http://schemas.microsoft.com/office/drawing/2014/main" xmlns="" val="2728046097"/>
                    </a:ext>
                  </a:extLst>
                </a:gridCol>
                <a:gridCol w="304800">
                  <a:extLst>
                    <a:ext uri="{9D8B030D-6E8A-4147-A177-3AD203B41FA5}">
                      <a16:colId xmlns:a16="http://schemas.microsoft.com/office/drawing/2014/main" xmlns="" val="777574623"/>
                    </a:ext>
                  </a:extLst>
                </a:gridCol>
                <a:gridCol w="4563019">
                  <a:extLst>
                    <a:ext uri="{9D8B030D-6E8A-4147-A177-3AD203B41FA5}">
                      <a16:colId xmlns:a16="http://schemas.microsoft.com/office/drawing/2014/main" xmlns="" val="1324275825"/>
                    </a:ext>
                  </a:extLst>
                </a:gridCol>
              </a:tblGrid>
              <a:tr h="185648">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218543651"/>
                  </a:ext>
                </a:extLst>
              </a:tr>
              <a:tr h="79086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06:30 24/04/2025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 FFOD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A608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VN157 HAN-DAD (PREFLIGHT) GTB DUE TO APPEAR MSG ”FUEL ENG 2 LP VALVE FAULT”.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ACTION: C/O REPLACED FUEL LPV ACT AND PMA. C/O ENG 2 RUN UP -&gt; CHECK SATIS. A/C SERVICEABLE.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V16402 có TSN/CSN = 32666/18818; TSO/CSO = 10598/7380.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smtClean="0">
                          <a:solidFill>
                            <a:srgbClr val="000000"/>
                          </a:solidFill>
                          <a:effectLst/>
                          <a:latin typeface="Times New Roman" panose="02020603050405020304" pitchFamily="18" charset="0"/>
                          <a:cs typeface="Times New Roman" panose="02020603050405020304" pitchFamily="18" charset="0"/>
                        </a:rPr>
                        <a:t>Khối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PMA bị hỏng là gốc của động cơ, chưa sửa chữa lần nào. Thiết bị có độ tin cậy cao. Theo thống kê từ năm 2021 tới 2024 chỉ có 3 trường hợp tháo ngoài kế hoạch được xác định do hỏng hóc phải gửi đi sửa chữa. Ban KT đang yêu cầu cung cấp QAR chuyến VN157 cho P&amp;W để làm rõ nguyên nhân hỏng hóc. Sẽ tiếp tục cập nhật.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41998791"/>
                  </a:ext>
                </a:extLst>
              </a:tr>
              <a:tr h="202364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A512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VN7197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00:04 23/04/2025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During pushback appeared MSG: </a:t>
                      </a:r>
                    </a:p>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ENG#1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START VLV FAULT </a:t>
                      </a:r>
                    </a:p>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START VLV NOT CLOSED)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VAECO tiến hành kiểm tra và thực hiện quay manually tuy nhiên Valve bị kẹt và không được, đồng thời không phát hiện FOD.</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Hỏng hóc được khắc phục sau khi thay khối SAV mới.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A512 GTB,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báo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đổi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tầu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A612 bay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Total delay 100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phút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Động cơ số #1 A512 ESN 771703  có TSN/CSN 7480 FH/ 5340 FC.TSLSV/CSLSV: 1847 FH/ 1015 FC</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Từ 2015-nay khối SAV được thay 17 lần ngoài KH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MTBUR = 10,400 FH. Trong đó có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một</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số lần thay chủ động theo yêu cầu AD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CAAV do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quan đến hệ thống khởi động.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Các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lý</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chính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dẫn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tháo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bao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gồm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báo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giả</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nhiễu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tín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hiệu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solenoid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khiển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bị</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mòn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DOD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gây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kẹt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valve,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lỗi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intermittent…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tuy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nhiên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tr</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ư</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ờng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hợp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kẹt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cứng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thực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tế</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nh</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ư</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tr</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ư</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ờng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hợp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ít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xảy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Khối SAV trên ENG#1 A512 hỏng hóc có TSN/CSN = 5957 FH/3068 FC, TSR/CSR = 2236 FH /1163 FC được lắp lên tàu từ T9/2024. Trước đó SAV này được gửi đi sửa chữa do phát hiện vết dent trên body Valve.</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đã</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đ</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ư</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ợc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sửa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chữa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Đối với trường hợp này, VAECO đã tiến hành kiểm tra khối SAV không phát hiện hỏng hóc bên ngoài và không phát hiện FOD,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tuy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nhiên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 quay manually không được. Ngoài ra động cơ này đã được thực hiện nâng cấp HPV Seal từ tháng 9/2024.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Tiếp tục theo dõi và phối hợp ban QLVT lấy SFR để xác định nguyên nhân.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157227396"/>
                  </a:ext>
                </a:extLst>
              </a:tr>
            </a:tbl>
          </a:graphicData>
        </a:graphic>
      </p:graphicFrame>
    </p:spTree>
    <p:custDataLst>
      <p:tags r:id="rId1"/>
    </p:custDataLst>
    <p:extLst>
      <p:ext uri="{BB962C8B-B14F-4D97-AF65-F5344CB8AC3E}">
        <p14:creationId xmlns:p14="http://schemas.microsoft.com/office/powerpoint/2010/main" val="253621693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195D76-A2E6-0FAE-7ACC-2A8CF97B5E34}"/>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xmlns="" id="{978311F6-7EAD-AB89-AB1B-4C6AE0489C82}"/>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xmlns="" id="{52D9C297-F825-E68D-595F-830E671D4261}"/>
              </a:ext>
            </a:extLst>
          </p:cNvPr>
          <p:cNvSpPr>
            <a:spLocks noGrp="1"/>
          </p:cNvSpPr>
          <p:nvPr>
            <p:ph type="title"/>
          </p:nvPr>
        </p:nvSpPr>
        <p:spPr>
          <a:xfrm>
            <a:off x="381000" y="485872"/>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xmlns="" id="{ACFDF9BF-4CE3-1ED2-478F-96201C1CB5BC}"/>
              </a:ext>
            </a:extLst>
          </p:cNvPr>
          <p:cNvSpPr txBox="1"/>
          <p:nvPr/>
        </p:nvSpPr>
        <p:spPr>
          <a:xfrm>
            <a:off x="381000" y="1307068"/>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xmlns="" id="{8ED6AB47-5BB9-6248-A446-508A59A19330}"/>
              </a:ext>
            </a:extLst>
          </p:cNvPr>
          <p:cNvGraphicFramePr>
            <a:graphicFrameLocks noGrp="1"/>
          </p:cNvGraphicFramePr>
          <p:nvPr>
            <p:extLst>
              <p:ext uri="{D42A27DB-BD31-4B8C-83A1-F6EECF244321}">
                <p14:modId xmlns:p14="http://schemas.microsoft.com/office/powerpoint/2010/main" val="1104453489"/>
              </p:ext>
            </p:extLst>
          </p:nvPr>
        </p:nvGraphicFramePr>
        <p:xfrm>
          <a:off x="361678" y="1952843"/>
          <a:ext cx="11668941" cy="2847757"/>
        </p:xfrm>
        <a:graphic>
          <a:graphicData uri="http://schemas.openxmlformats.org/drawingml/2006/table">
            <a:tbl>
              <a:tblPr/>
              <a:tblGrid>
                <a:gridCol w="476522">
                  <a:extLst>
                    <a:ext uri="{9D8B030D-6E8A-4147-A177-3AD203B41FA5}">
                      <a16:colId xmlns:a16="http://schemas.microsoft.com/office/drawing/2014/main" xmlns="" val="3832153777"/>
                    </a:ext>
                  </a:extLst>
                </a:gridCol>
                <a:gridCol w="304800">
                  <a:extLst>
                    <a:ext uri="{9D8B030D-6E8A-4147-A177-3AD203B41FA5}">
                      <a16:colId xmlns:a16="http://schemas.microsoft.com/office/drawing/2014/main" xmlns="" val="2801288844"/>
                    </a:ext>
                  </a:extLst>
                </a:gridCol>
                <a:gridCol w="381000">
                  <a:extLst>
                    <a:ext uri="{9D8B030D-6E8A-4147-A177-3AD203B41FA5}">
                      <a16:colId xmlns:a16="http://schemas.microsoft.com/office/drawing/2014/main" xmlns="" val="3266840810"/>
                    </a:ext>
                  </a:extLst>
                </a:gridCol>
                <a:gridCol w="533400">
                  <a:extLst>
                    <a:ext uri="{9D8B030D-6E8A-4147-A177-3AD203B41FA5}">
                      <a16:colId xmlns:a16="http://schemas.microsoft.com/office/drawing/2014/main" xmlns="" val="3605852202"/>
                    </a:ext>
                  </a:extLst>
                </a:gridCol>
                <a:gridCol w="457200">
                  <a:extLst>
                    <a:ext uri="{9D8B030D-6E8A-4147-A177-3AD203B41FA5}">
                      <a16:colId xmlns:a16="http://schemas.microsoft.com/office/drawing/2014/main" xmlns="" val="1531018077"/>
                    </a:ext>
                  </a:extLst>
                </a:gridCol>
                <a:gridCol w="533400">
                  <a:extLst>
                    <a:ext uri="{9D8B030D-6E8A-4147-A177-3AD203B41FA5}">
                      <a16:colId xmlns:a16="http://schemas.microsoft.com/office/drawing/2014/main" xmlns="" val="3612329399"/>
                    </a:ext>
                  </a:extLst>
                </a:gridCol>
                <a:gridCol w="1524000">
                  <a:extLst>
                    <a:ext uri="{9D8B030D-6E8A-4147-A177-3AD203B41FA5}">
                      <a16:colId xmlns:a16="http://schemas.microsoft.com/office/drawing/2014/main" xmlns="" val="1096506246"/>
                    </a:ext>
                  </a:extLst>
                </a:gridCol>
                <a:gridCol w="2590800">
                  <a:extLst>
                    <a:ext uri="{9D8B030D-6E8A-4147-A177-3AD203B41FA5}">
                      <a16:colId xmlns:a16="http://schemas.microsoft.com/office/drawing/2014/main" xmlns="" val="2728046097"/>
                    </a:ext>
                  </a:extLst>
                </a:gridCol>
                <a:gridCol w="304800">
                  <a:extLst>
                    <a:ext uri="{9D8B030D-6E8A-4147-A177-3AD203B41FA5}">
                      <a16:colId xmlns:a16="http://schemas.microsoft.com/office/drawing/2014/main" xmlns="" val="777574623"/>
                    </a:ext>
                  </a:extLst>
                </a:gridCol>
                <a:gridCol w="4563019">
                  <a:extLst>
                    <a:ext uri="{9D8B030D-6E8A-4147-A177-3AD203B41FA5}">
                      <a16:colId xmlns:a16="http://schemas.microsoft.com/office/drawing/2014/main" xmlns="" val="1324275825"/>
                    </a:ext>
                  </a:extLst>
                </a:gridCol>
              </a:tblGrid>
              <a:tr h="320866">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79" marR="3379" marT="33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218543651"/>
                  </a:ext>
                </a:extLst>
              </a:tr>
              <a:tr h="2526891">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A864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FRA</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VN36</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FRA-HAN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20:00 24/04/2025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OGTB</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(GTB) CAPT REPORT EICAS "CREW OXYGEN LOW" A/C GTB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AFTER CHK FCOM LIMIT -SATIS. C/O RAISED ADD "CREW OXYGEN LOW"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ADD MORE FUEL AFTER CHK FCOM LIMIT -SATIS. C/O RAISED ADD ;CREW OXYGEN LOW</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ADD MORE FUEL</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hiện thỉ áp suất là 590psi, thấp hơn ngưỡng cảnh bảo đặt AHM là 600psi, dẫn đến cảnh báo ""CREW OXYGEN LOW"" phải mở MEL và có yêu cầu Main: Kiểm tra áp suất oxy trên Gauge đảm bảo trên mức yêu cầu cho tổ bay.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Khắc phục: Kiểm tra leak, không phát hiện bất thường. Thay 2 OXYGEN CYLINDER; Captain Mask và Stowage theo dõi cho kêt quả tốt.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ĐTC:  Lịch sử có trường hợp crew oxy leak gây Delay cho tàu A866 Oct2021 do mất nhiều thời gian khi thay bottle, mask và kiểm tra leak.</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Bình oxy đã từng thay US 58 khối, tuy nhiên trong hoạt động khai thác, quá trình test thực hiện trước mỗi chuyến bay sẽ làm leak oxy. MCC theo dõi AHM, khi thấy áp suất gần ngưỡng 800 psi (dưới 800 sẽ có alert, 600 có Advisory) sẽ thực hiện thay khi tàu ở Mainbay.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Mask đã từng thay 07 khối, MTBUR 115,385 lớn hơn RSPL 50000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Stowage đã từng thay 15 khối, MTBUR 75,273 lớn hơn RSPL 40000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06582776"/>
                  </a:ext>
                </a:extLst>
              </a:tr>
            </a:tbl>
          </a:graphicData>
        </a:graphic>
      </p:graphicFrame>
    </p:spTree>
    <p:custDataLst>
      <p:tags r:id="rId1"/>
    </p:custDataLst>
    <p:extLst>
      <p:ext uri="{BB962C8B-B14F-4D97-AF65-F5344CB8AC3E}">
        <p14:creationId xmlns:p14="http://schemas.microsoft.com/office/powerpoint/2010/main" val="270721633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xmlns=""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xmlns=""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2410377598"/>
              </p:ext>
            </p:extLst>
          </p:nvPr>
        </p:nvGraphicFramePr>
        <p:xfrm>
          <a:off x="375271" y="1079799"/>
          <a:ext cx="11463227" cy="2033280"/>
        </p:xfrm>
        <a:graphic>
          <a:graphicData uri="http://schemas.openxmlformats.org/drawingml/2006/table">
            <a:tbl>
              <a:tblPr/>
              <a:tblGrid>
                <a:gridCol w="427560">
                  <a:extLst>
                    <a:ext uri="{9D8B030D-6E8A-4147-A177-3AD203B41FA5}">
                      <a16:colId xmlns:a16="http://schemas.microsoft.com/office/drawing/2014/main" xmlns="" val="1400939127"/>
                    </a:ext>
                  </a:extLst>
                </a:gridCol>
                <a:gridCol w="531561">
                  <a:extLst>
                    <a:ext uri="{9D8B030D-6E8A-4147-A177-3AD203B41FA5}">
                      <a16:colId xmlns:a16="http://schemas.microsoft.com/office/drawing/2014/main" xmlns="" val="815328117"/>
                    </a:ext>
                  </a:extLst>
                </a:gridCol>
                <a:gridCol w="381337">
                  <a:extLst>
                    <a:ext uri="{9D8B030D-6E8A-4147-A177-3AD203B41FA5}">
                      <a16:colId xmlns:a16="http://schemas.microsoft.com/office/drawing/2014/main" xmlns="" val="1720360630"/>
                    </a:ext>
                  </a:extLst>
                </a:gridCol>
                <a:gridCol w="1155567">
                  <a:extLst>
                    <a:ext uri="{9D8B030D-6E8A-4147-A177-3AD203B41FA5}">
                      <a16:colId xmlns:a16="http://schemas.microsoft.com/office/drawing/2014/main" xmlns="" val="1684777201"/>
                    </a:ext>
                  </a:extLst>
                </a:gridCol>
                <a:gridCol w="392893">
                  <a:extLst>
                    <a:ext uri="{9D8B030D-6E8A-4147-A177-3AD203B41FA5}">
                      <a16:colId xmlns:a16="http://schemas.microsoft.com/office/drawing/2014/main" xmlns="" val="1451179484"/>
                    </a:ext>
                  </a:extLst>
                </a:gridCol>
                <a:gridCol w="751118">
                  <a:extLst>
                    <a:ext uri="{9D8B030D-6E8A-4147-A177-3AD203B41FA5}">
                      <a16:colId xmlns:a16="http://schemas.microsoft.com/office/drawing/2014/main" xmlns="" val="2273417757"/>
                    </a:ext>
                  </a:extLst>
                </a:gridCol>
                <a:gridCol w="658673">
                  <a:extLst>
                    <a:ext uri="{9D8B030D-6E8A-4147-A177-3AD203B41FA5}">
                      <a16:colId xmlns:a16="http://schemas.microsoft.com/office/drawing/2014/main" xmlns="" val="3922052826"/>
                    </a:ext>
                  </a:extLst>
                </a:gridCol>
                <a:gridCol w="774231">
                  <a:extLst>
                    <a:ext uri="{9D8B030D-6E8A-4147-A177-3AD203B41FA5}">
                      <a16:colId xmlns:a16="http://schemas.microsoft.com/office/drawing/2014/main" xmlns="" val="3029852354"/>
                    </a:ext>
                  </a:extLst>
                </a:gridCol>
                <a:gridCol w="2403580">
                  <a:extLst>
                    <a:ext uri="{9D8B030D-6E8A-4147-A177-3AD203B41FA5}">
                      <a16:colId xmlns:a16="http://schemas.microsoft.com/office/drawing/2014/main" xmlns="" val="2636508086"/>
                    </a:ext>
                  </a:extLst>
                </a:gridCol>
                <a:gridCol w="3986707">
                  <a:extLst>
                    <a:ext uri="{9D8B030D-6E8A-4147-A177-3AD203B41FA5}">
                      <a16:colId xmlns:a16="http://schemas.microsoft.com/office/drawing/2014/main" xmlns="" val="1882276902"/>
                    </a:ext>
                  </a:extLst>
                </a:gridCol>
              </a:tblGrid>
              <a:tr h="289698">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039288818"/>
                  </a:ext>
                </a:extLst>
              </a:tr>
              <a:tr h="496179">
                <a:tc>
                  <a:txBody>
                    <a:bodyPr/>
                    <a:lstStyle/>
                    <a:p>
                      <a:pPr algn="l" fontAlgn="t"/>
                      <a:r>
                        <a:rPr lang="en-US" sz="1100" b="0" i="0" u="none" strike="noStrike" dirty="0">
                          <a:solidFill>
                            <a:srgbClr val="000000"/>
                          </a:solidFill>
                          <a:effectLst/>
                          <a:latin typeface="Calibri" panose="020F0502020204030204" pitchFamily="34" charset="0"/>
                        </a:rPr>
                        <a:t>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A321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A353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09:00 21/04/2025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VN7132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SGN-DAD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RECTIFY WARNING: AIR R WING LEAK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IN TERM CHK C/O WO 7315131/RECTIFY WARNING: AIR R WING LEAK., FOUND LEAK AT CONNECTOR OF THE BLEED AIR DUCT (BETWEEN THE CLOSING RIB AND THE PYLON), REQUEST RPL SEALS (SPARE AVAIL)  MUFF-INSULATION (RH). (MUFF ĐIỀU CHUYỂN TỪ HAN).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FINAL ACTION: C/O REPLACED SEAL  MUFF-INSULATION, C/O LEAK TEST SATIS. A/C SERVICEABLE. TIMELINE (LOCAL TIME) EVENT CLOSED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97811605"/>
                  </a:ext>
                </a:extLst>
              </a:tr>
              <a:tr h="496179">
                <a:tc>
                  <a:txBody>
                    <a:bodyPr/>
                    <a:lstStyle/>
                    <a:p>
                      <a:pPr algn="l" fontAlgn="t"/>
                      <a:r>
                        <a:rPr lang="en-US" sz="1100" b="0" i="0" u="none" strike="noStrike" dirty="0">
                          <a:solidFill>
                            <a:srgbClr val="000000"/>
                          </a:solidFill>
                          <a:effectLst/>
                          <a:latin typeface="Calibri" panose="020F0502020204030204" pitchFamily="34" charset="0"/>
                        </a:rPr>
                        <a:t>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A321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A608</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06:30 24/04/2025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49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VN157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HAN-DAD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smtClean="0">
                          <a:solidFill>
                            <a:srgbClr val="000000"/>
                          </a:solidFill>
                          <a:effectLst/>
                          <a:latin typeface="Calibri" panose="020F0502020204030204" pitchFamily="34" charset="0"/>
                        </a:rPr>
                        <a:t>A608 </a:t>
                      </a:r>
                      <a:r>
                        <a:rPr lang="en-US" sz="1100" b="0" i="0" u="none" strike="noStrike" dirty="0">
                          <a:solidFill>
                            <a:srgbClr val="000000"/>
                          </a:solidFill>
                          <a:effectLst/>
                          <a:latin typeface="Calibri" panose="020F0502020204030204" pitchFamily="34" charset="0"/>
                        </a:rPr>
                        <a:t>VN157 HAN-DAD (PREFLIGHT) GTB DUE TO APPEAR MSG ”FUEL ENG 2 LP VALVE FAULT”.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 EVENT CLOSED ACTION: C/O REPLACED FUEL LPV ACT AND PMA. C/O ENG 2 RUN UP -&gt; CHECK SATIS. A/C SERVICEABLE.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5" name="TextBox 4">
            <a:extLst>
              <a:ext uri="{FF2B5EF4-FFF2-40B4-BE49-F238E27FC236}">
                <a16:creationId xmlns:a16="http://schemas.microsoft.com/office/drawing/2014/main" xmlns="" id="{92DF34E4-5EAF-DD7F-DEE2-26E7FBD9CDA2}"/>
              </a:ext>
            </a:extLst>
          </p:cNvPr>
          <p:cNvSpPr txBox="1"/>
          <p:nvPr/>
        </p:nvSpPr>
        <p:spPr>
          <a:xfrm>
            <a:off x="207979" y="352836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7" name="Table 6"/>
          <p:cNvGraphicFramePr>
            <a:graphicFrameLocks noGrp="1"/>
          </p:cNvGraphicFramePr>
          <p:nvPr>
            <p:extLst>
              <p:ext uri="{D42A27DB-BD31-4B8C-83A1-F6EECF244321}">
                <p14:modId xmlns:p14="http://schemas.microsoft.com/office/powerpoint/2010/main" val="2195355259"/>
              </p:ext>
            </p:extLst>
          </p:nvPr>
        </p:nvGraphicFramePr>
        <p:xfrm>
          <a:off x="381000" y="4119722"/>
          <a:ext cx="11430000" cy="1061527"/>
        </p:xfrm>
        <a:graphic>
          <a:graphicData uri="http://schemas.openxmlformats.org/drawingml/2006/table">
            <a:tbl>
              <a:tblPr/>
              <a:tblGrid>
                <a:gridCol w="270853"/>
                <a:gridCol w="514621"/>
                <a:gridCol w="487536"/>
                <a:gridCol w="1164668"/>
                <a:gridCol w="487536"/>
                <a:gridCol w="799016"/>
                <a:gridCol w="880273"/>
                <a:gridCol w="1029241"/>
                <a:gridCol w="2627275"/>
                <a:gridCol w="3168981"/>
              </a:tblGrid>
              <a:tr h="343875">
                <a:tc>
                  <a:txBody>
                    <a:bodyPr/>
                    <a:lstStyle/>
                    <a:p>
                      <a:pPr algn="ctr" fontAlgn="t"/>
                      <a:r>
                        <a:rPr lang="en-US" sz="1100" b="0" i="0" u="none" strike="noStrike">
                          <a:solidFill>
                            <a:srgbClr val="000000"/>
                          </a:solidFill>
                          <a:effectLst/>
                          <a:latin typeface="Cambria" panose="02040503050406030204" pitchFamily="18" charset="0"/>
                        </a:rPr>
                        <a:t>NO</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FLEET</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A/C</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DATE</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STA</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MINUTES</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FLIGHT NO</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ROUTE</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DESC</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ACTION</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717652">
                <a:tc>
                  <a:txBody>
                    <a:bodyPr/>
                    <a:lstStyle/>
                    <a:p>
                      <a:pPr algn="l" fontAlgn="t"/>
                      <a:r>
                        <a:rPr lang="en-US" sz="1100" b="0" i="0" u="none" strike="noStrike">
                          <a:solidFill>
                            <a:srgbClr val="000000"/>
                          </a:solidFill>
                          <a:effectLst/>
                          <a:latin typeface="Calibri" panose="020F0502020204030204" pitchFamily="34" charset="0"/>
                        </a:rPr>
                        <a:t>1</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A321</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A339</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17:30 26/04/2025</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VN1395</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SGN-HPH</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TRANSIT CHECK FOUND NW RH CUT OUT OF LIMIT </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FINAL ACTION: REPLACED NW RH, CHECK SATIS TRANSIT CHECK FOUND NW RH CUT OUT OF LIMIT EVENT CLOSED  TOTAL DELAY 15 MINS, TECH DELAY 0 MIN</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550881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xmlns=""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3897830C-5364-3F59-C751-405808F71DD3}"/>
              </a:ext>
            </a:extLst>
          </p:cNvPr>
          <p:cNvGraphicFramePr>
            <a:graphicFrameLocks noGrp="1"/>
          </p:cNvGraphicFramePr>
          <p:nvPr>
            <p:extLst>
              <p:ext uri="{D42A27DB-BD31-4B8C-83A1-F6EECF244321}">
                <p14:modId xmlns:p14="http://schemas.microsoft.com/office/powerpoint/2010/main" val="1836616665"/>
              </p:ext>
            </p:extLst>
          </p:nvPr>
        </p:nvGraphicFramePr>
        <p:xfrm>
          <a:off x="134289" y="1503198"/>
          <a:ext cx="11676712" cy="2664258"/>
        </p:xfrm>
        <a:graphic>
          <a:graphicData uri="http://schemas.openxmlformats.org/drawingml/2006/table">
            <a:tbl>
              <a:tblPr/>
              <a:tblGrid>
                <a:gridCol w="460292">
                  <a:extLst>
                    <a:ext uri="{9D8B030D-6E8A-4147-A177-3AD203B41FA5}">
                      <a16:colId xmlns:a16="http://schemas.microsoft.com/office/drawing/2014/main" xmlns="" val="1792913397"/>
                    </a:ext>
                  </a:extLst>
                </a:gridCol>
                <a:gridCol w="811715">
                  <a:extLst>
                    <a:ext uri="{9D8B030D-6E8A-4147-A177-3AD203B41FA5}">
                      <a16:colId xmlns:a16="http://schemas.microsoft.com/office/drawing/2014/main" xmlns="" val="529799103"/>
                    </a:ext>
                  </a:extLst>
                </a:gridCol>
                <a:gridCol w="664130">
                  <a:extLst>
                    <a:ext uri="{9D8B030D-6E8A-4147-A177-3AD203B41FA5}">
                      <a16:colId xmlns:a16="http://schemas.microsoft.com/office/drawing/2014/main" xmlns="" val="607951653"/>
                    </a:ext>
                  </a:extLst>
                </a:gridCol>
                <a:gridCol w="368961"/>
                <a:gridCol w="368961">
                  <a:extLst>
                    <a:ext uri="{9D8B030D-6E8A-4147-A177-3AD203B41FA5}">
                      <a16:colId xmlns:a16="http://schemas.microsoft.com/office/drawing/2014/main" xmlns="" val="483578627"/>
                    </a:ext>
                  </a:extLst>
                </a:gridCol>
                <a:gridCol w="2139975">
                  <a:extLst>
                    <a:ext uri="{9D8B030D-6E8A-4147-A177-3AD203B41FA5}">
                      <a16:colId xmlns:a16="http://schemas.microsoft.com/office/drawing/2014/main" xmlns="" val="1882943533"/>
                    </a:ext>
                  </a:extLst>
                </a:gridCol>
                <a:gridCol w="2213767">
                  <a:extLst>
                    <a:ext uri="{9D8B030D-6E8A-4147-A177-3AD203B41FA5}">
                      <a16:colId xmlns:a16="http://schemas.microsoft.com/office/drawing/2014/main" xmlns="" val="1497771938"/>
                    </a:ext>
                  </a:extLst>
                </a:gridCol>
                <a:gridCol w="516546">
                  <a:extLst>
                    <a:ext uri="{9D8B030D-6E8A-4147-A177-3AD203B41FA5}">
                      <a16:colId xmlns:a16="http://schemas.microsoft.com/office/drawing/2014/main" xmlns="" val="967639853"/>
                    </a:ext>
                  </a:extLst>
                </a:gridCol>
                <a:gridCol w="4132365">
                  <a:extLst>
                    <a:ext uri="{9D8B030D-6E8A-4147-A177-3AD203B41FA5}">
                      <a16:colId xmlns:a16="http://schemas.microsoft.com/office/drawing/2014/main" xmlns="" val="2889779060"/>
                    </a:ext>
                  </a:extLst>
                </a:gridCol>
              </a:tblGrid>
              <a:tr h="225407">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OPEN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smtClean="0">
                          <a:solidFill>
                            <a:srgbClr val="000000"/>
                          </a:solidFill>
                          <a:effectLst/>
                          <a:latin typeface="Times New Roman" panose="02020603050405020304" pitchFamily="18" charset="0"/>
                          <a:cs typeface="Times New Roman" panose="02020603050405020304" pitchFamily="18" charset="0"/>
                        </a:rPr>
                        <a:t>Status</a:t>
                      </a:r>
                      <a:endParaRPr lang="en-US" sz="9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353939761"/>
                  </a:ext>
                </a:extLst>
              </a:tr>
              <a:tr h="1094879">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06:30 24/04/2025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09:50 24/04/2025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AOG/Delay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A608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VN157 HAN-DAD (PREFLIGHT) GTB DUE TO APPEAR MSG ”FUEL ENG 2 LP VALVE FAULT”.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ACTION: C/O REPLACED FUEL LPV ACT AND PMA. C/O ENG 2 RUN UP -&gt; CHECK SATIS. A/C SERVICEABLE</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V16402 có TSN/CSN = 32666/18818; TSO/CSO = 10598/7380. Khối PMA bị hỏng là gốc của động cơ, chưa sửa chữa lần nào. Thiết bị có độ tin cậy cao. Theo thống kê từ năm 2021 tới 2024 chỉ có 3 trường hợp tháo ngoài kế hoạch được xác định do hỏng hóc phải gửi đi sửa chữa. Ban KT đang yêu cầu cung cấp QAR chuyến VN157 cho P&amp;W để làm rõ nguyên nhân hỏng hóc. Sẽ tiếp tục cập nhật.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54982336"/>
                  </a:ext>
                </a:extLst>
              </a:tr>
              <a:tr h="1291317">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15:00 23/04/2025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03:30 24/04/2025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AOG</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LPQ</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ENG 1 COMPRESSOR VANE Waiting Manpower and spare ;on VN5931;HAN-LPQ ETD 21:10Lt 23/04/25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RPL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 1 VSV ACTR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ENG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1 HIGHT ASSURANCE TEST SATISFINAL ACTION EVENT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CLOSED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V17874 có TSN/CSN = 21723/13872; TSO/CSO = 1234/590. Khối VSVA bị hỏng là khối TSN/CSN = 1881/910, chưa sửa chữa lần nào. Thiết bị có </a:t>
                      </a:r>
                      <a:r>
                        <a:rPr lang="vi-VN" sz="1100" b="0" i="0" u="none" strike="noStrike" dirty="0">
                          <a:solidFill>
                            <a:srgbClr val="000000"/>
                          </a:solidFill>
                          <a:effectLst/>
                          <a:latin typeface="+mn-lt"/>
                          <a:cs typeface="Times New Roman" panose="02020603050405020304" pitchFamily="18" charset="0"/>
                        </a:rPr>
                        <a:t>cấp mới, lắp lên động cơ ngày 18/04/2024, có P/N G4000VSVA02. Thiết bị thấp giờ, có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 tin cậy cao. Theo thống kê từ 2021 đến nay, chỉ có 4 trường hợp VSVA tháo ngoài kế hoạch, trong đó đây là trường hợp đầu tiên P/N G4000VSVA02 bị hỏng.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670999815"/>
                  </a:ext>
                </a:extLst>
              </a:tr>
            </a:tbl>
          </a:graphicData>
        </a:graphic>
      </p:graphicFrame>
    </p:spTree>
    <p:extLst>
      <p:ext uri="{BB962C8B-B14F-4D97-AF65-F5344CB8AC3E}">
        <p14:creationId xmlns:p14="http://schemas.microsoft.com/office/powerpoint/2010/main" val="87329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427659283"/>
              </p:ext>
            </p:extLst>
          </p:nvPr>
        </p:nvGraphicFramePr>
        <p:xfrm>
          <a:off x="134289" y="1409441"/>
          <a:ext cx="11676712" cy="4488112"/>
        </p:xfrm>
        <a:graphic>
          <a:graphicData uri="http://schemas.openxmlformats.org/drawingml/2006/table">
            <a:tbl>
              <a:tblPr/>
              <a:tblGrid>
                <a:gridCol w="460292"/>
                <a:gridCol w="811715"/>
                <a:gridCol w="664130"/>
                <a:gridCol w="368961"/>
                <a:gridCol w="368961"/>
                <a:gridCol w="2139975"/>
                <a:gridCol w="2213767"/>
                <a:gridCol w="516546"/>
                <a:gridCol w="4132365"/>
              </a:tblGrid>
              <a:tr h="225407">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OPEN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smtClean="0">
                          <a:solidFill>
                            <a:srgbClr val="000000"/>
                          </a:solidFill>
                          <a:effectLst/>
                          <a:latin typeface="Times New Roman" panose="02020603050405020304" pitchFamily="18" charset="0"/>
                          <a:cs typeface="Times New Roman" panose="02020603050405020304" pitchFamily="18" charset="0"/>
                        </a:rPr>
                        <a:t>Status</a:t>
                      </a:r>
                      <a:endParaRPr lang="en-US" sz="9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r>
              <a:tr h="1094879">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A512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00:04 23/04/2025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03:50 23/04/2025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AOG,delay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ENG#1 START VLV FAULT(START VLV NOT CLOSED) During pushback appeared MSG: ENG#1 start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vlv</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fault(start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vlv</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not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REF TSM :80-11-00-810-828-A(REV:01/FEB/2025) FOUND STARTER VALVE IS STUCK , C/O REPLACED ;STARTER VALVE IAW AMM : ;80-11-03-000/400-801-A (REV:01/FEB/2025) SATIS</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71-00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smtClean="0">
                          <a:solidFill>
                            <a:srgbClr val="000000"/>
                          </a:solidFill>
                          <a:effectLst/>
                          <a:latin typeface="+mn-lt"/>
                          <a:cs typeface="Times New Roman" panose="02020603050405020304" pitchFamily="18" charset="0"/>
                        </a:rPr>
                        <a:t>+ Động cơ số #1 A512 ESN 771703  có TSN/CSN 7480 FH/ 5340 FC.TSLSV/CSLSV: 1847 FH/ 1015 FC</a:t>
                      </a:r>
                      <a:br>
                        <a:rPr lang="vi-VN" sz="1100" b="0" i="0" u="none" strike="noStrike" dirty="0" smtClean="0">
                          <a:solidFill>
                            <a:srgbClr val="000000"/>
                          </a:solidFill>
                          <a:effectLst/>
                          <a:latin typeface="+mn-lt"/>
                          <a:cs typeface="Times New Roman" panose="02020603050405020304" pitchFamily="18" charset="0"/>
                        </a:rPr>
                      </a:br>
                      <a:r>
                        <a:rPr lang="vi-VN" sz="1100" b="0" i="0" u="none" strike="noStrike" dirty="0" smtClean="0">
                          <a:solidFill>
                            <a:srgbClr val="000000"/>
                          </a:solidFill>
                          <a:effectLst/>
                          <a:latin typeface="+mn-lt"/>
                          <a:cs typeface="Times New Roman" panose="02020603050405020304" pitchFamily="18" charset="0"/>
                        </a:rPr>
                        <a:t>+ </a:t>
                      </a:r>
                      <a:r>
                        <a:rPr lang="vi-VN" sz="1100" b="0" i="0" u="none" strike="noStrike" dirty="0" smtClean="0">
                          <a:solidFill>
                            <a:srgbClr val="000000"/>
                          </a:solidFill>
                          <a:effectLst/>
                          <a:latin typeface="+mn-lt"/>
                          <a:cs typeface="Times New Roman" panose="02020603050405020304" pitchFamily="18" charset="0"/>
                        </a:rPr>
                        <a:t>Từ 2015-nay khối SAV được thay 17 lần ngoài KH</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t>
                      </a:r>
                      <a:r>
                        <a:rPr lang="vi-VN" sz="1100" b="0" i="0" u="none" strike="noStrike" dirty="0" smtClean="0">
                          <a:solidFill>
                            <a:srgbClr val="000000"/>
                          </a:solidFill>
                          <a:effectLst/>
                          <a:latin typeface="+mn-lt"/>
                          <a:cs typeface="Times New Roman" panose="02020603050405020304" pitchFamily="18" charset="0"/>
                        </a:rPr>
                        <a:t> MTBUR = 10,400 FH. Trong đó có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một</a:t>
                      </a:r>
                      <a:r>
                        <a:rPr lang="vi-VN" sz="1100" b="0" i="0" u="none" strike="noStrike" dirty="0" smtClean="0">
                          <a:solidFill>
                            <a:srgbClr val="000000"/>
                          </a:solidFill>
                          <a:effectLst/>
                          <a:latin typeface="+mn-lt"/>
                          <a:cs typeface="Times New Roman" panose="02020603050405020304" pitchFamily="18" charset="0"/>
                        </a:rPr>
                        <a:t> số lần thay chủ động theo yêu cầu AD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CAAV do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hóc</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smtClean="0">
                          <a:solidFill>
                            <a:srgbClr val="000000"/>
                          </a:solidFill>
                          <a:effectLst/>
                          <a:latin typeface="+mn-lt"/>
                          <a:cs typeface="Times New Roman" panose="02020603050405020304" pitchFamily="18" charset="0"/>
                        </a:rPr>
                        <a:t>quan đến hệ thống khởi động.</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Các</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lý</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do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chính</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dẫn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tháo</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bao</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gồm</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báo</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giả</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do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nhiễu</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tín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hiệu</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solenoid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điều</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khiển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bị</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mòn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DOD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gây</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kẹt</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valve,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lỗi</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intermittent…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tuy</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nhiên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tr</a:t>
                      </a:r>
                      <a:r>
                        <a:rPr lang="vi-VN" sz="1100" b="0" i="0" u="none" strike="noStrike" dirty="0" smtClean="0">
                          <a:solidFill>
                            <a:srgbClr val="000000"/>
                          </a:solidFill>
                          <a:effectLst/>
                          <a:latin typeface="+mn-lt"/>
                          <a:cs typeface="Times New Roman" panose="02020603050405020304" pitchFamily="18" charset="0"/>
                        </a:rPr>
                        <a:t>ư</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ờng</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hợp</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kẹt</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cứng</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thực</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tế</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nh</a:t>
                      </a:r>
                      <a:r>
                        <a:rPr lang="vi-VN" sz="1100" b="0" i="0" u="none" strike="noStrike" dirty="0" smtClean="0">
                          <a:solidFill>
                            <a:srgbClr val="000000"/>
                          </a:solidFill>
                          <a:effectLst/>
                          <a:latin typeface="+mn-lt"/>
                          <a:cs typeface="Times New Roman" panose="02020603050405020304" pitchFamily="18" charset="0"/>
                        </a:rPr>
                        <a:t>ư</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tr</a:t>
                      </a:r>
                      <a:r>
                        <a:rPr lang="vi-VN" sz="1100" b="0" i="0" u="none" strike="noStrike" dirty="0" smtClean="0">
                          <a:solidFill>
                            <a:srgbClr val="000000"/>
                          </a:solidFill>
                          <a:effectLst/>
                          <a:latin typeface="+mn-lt"/>
                          <a:cs typeface="Times New Roman" panose="02020603050405020304" pitchFamily="18" charset="0"/>
                        </a:rPr>
                        <a:t>ư</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ờng</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hợp</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này</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ít</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xảy</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ra.</a:t>
                      </a:r>
                      <a:endParaRPr lang="en-US" sz="1100" b="0"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smtClean="0">
                          <a:solidFill>
                            <a:srgbClr val="000000"/>
                          </a:solidFill>
                          <a:effectLst/>
                          <a:latin typeface="+mn-lt"/>
                          <a:cs typeface="Times New Roman" panose="02020603050405020304" pitchFamily="18" charset="0"/>
                        </a:rPr>
                        <a:t>+ </a:t>
                      </a:r>
                      <a:r>
                        <a:rPr lang="vi-VN" sz="1100" b="0" i="0" u="none" strike="noStrike" dirty="0" smtClean="0">
                          <a:solidFill>
                            <a:srgbClr val="000000"/>
                          </a:solidFill>
                          <a:effectLst/>
                          <a:latin typeface="+mn-lt"/>
                          <a:cs typeface="Times New Roman" panose="02020603050405020304" pitchFamily="18" charset="0"/>
                        </a:rPr>
                        <a:t>Khối SAV trên ENG#1 A512 hỏng hóc có TSN/CSN = 5957 FH/3068 FC, TSR/CSR = 2236 FH /1163 FC được lắp lên tàu từ T9/2024. Trước đó SAV này được gửi đi sửa chữa do phát hiện vết dent trên body Valve.</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hóc</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đã</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đ</a:t>
                      </a:r>
                      <a:r>
                        <a:rPr lang="vi-VN" sz="1100" b="0" i="0" u="none" strike="noStrike" dirty="0" smtClean="0">
                          <a:solidFill>
                            <a:srgbClr val="000000"/>
                          </a:solidFill>
                          <a:effectLst/>
                          <a:latin typeface="+mn-lt"/>
                          <a:cs typeface="Times New Roman" panose="02020603050405020304" pitchFamily="18" charset="0"/>
                        </a:rPr>
                        <a:t>ư</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ợc</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sửa</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chữa</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p>
                    <a:p>
                      <a:pPr algn="l" fontAlgn="b"/>
                      <a:r>
                        <a:rPr lang="vi-VN" sz="1100" b="0" i="0" u="none" strike="noStrike" dirty="0" smtClean="0">
                          <a:solidFill>
                            <a:srgbClr val="000000"/>
                          </a:solidFill>
                          <a:effectLst/>
                          <a:latin typeface="+mn-lt"/>
                          <a:cs typeface="Times New Roman" panose="02020603050405020304" pitchFamily="18" charset="0"/>
                        </a:rPr>
                        <a:t>+ </a:t>
                      </a:r>
                      <a:r>
                        <a:rPr lang="vi-VN" sz="1100" b="0" i="0" u="none" strike="noStrike" dirty="0" smtClean="0">
                          <a:solidFill>
                            <a:srgbClr val="000000"/>
                          </a:solidFill>
                          <a:effectLst/>
                          <a:latin typeface="+mn-lt"/>
                          <a:cs typeface="Times New Roman" panose="02020603050405020304" pitchFamily="18" charset="0"/>
                        </a:rPr>
                        <a:t>Đối với trường hợp này, VAECO đã tiến hành kiểm tra khối SAV không phát hiện hỏng hóc bên ngoài và không phát hiện FOD,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tuy</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nhiên</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khi</a:t>
                      </a:r>
                      <a:r>
                        <a:rPr lang="vi-VN" sz="1100" b="0" i="0" u="none" strike="noStrike" dirty="0" smtClean="0">
                          <a:solidFill>
                            <a:srgbClr val="000000"/>
                          </a:solidFill>
                          <a:effectLst/>
                          <a:latin typeface="+mn-lt"/>
                          <a:cs typeface="Times New Roman" panose="02020603050405020304" pitchFamily="18" charset="0"/>
                        </a:rPr>
                        <a:t> quay manually không được. Ngoài ra động cơ này đã được thực hiện nâng cấp HPV Seal từ tháng 9/2024. </a:t>
                      </a:r>
                      <a:endParaRPr lang="en-US" sz="1100" b="0"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l" fontAlgn="b"/>
                      <a:r>
                        <a:rPr lang="vi-VN" sz="1100" b="0" i="0" u="none" strike="noStrike" dirty="0" smtClean="0">
                          <a:solidFill>
                            <a:srgbClr val="000000"/>
                          </a:solidFill>
                          <a:effectLst/>
                          <a:latin typeface="+mn-lt"/>
                          <a:cs typeface="Times New Roman" panose="02020603050405020304" pitchFamily="18" charset="0"/>
                        </a:rPr>
                        <a:t>Tiếp tục theo dõi và phối hợp ban QLVT lấy SFR để xác định nguyên nhân.</a:t>
                      </a:r>
                      <a:endParaRPr lang="vi-VN" sz="1100" b="0" i="0" u="none" strike="noStrike" dirty="0">
                        <a:solidFill>
                          <a:srgbClr val="000000"/>
                        </a:solidFill>
                        <a:effectLst/>
                        <a:latin typeface="+mn-lt"/>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1094879">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A513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23:45 21/04/2025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01:30 22/04/2025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AOG, delay</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VN188/VN267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DAD-HAN-SGN (TRANSIT): PREPARE BOARDING APPEAR MSG “VENT BLOWER FAULT” AND MSG “VENT EXTRACT FAULT”. C/O REPLACE FAN BUT NIL HELP. A/C AOG FOR 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REF TSM 21-26-00-810-809-A C/O REPLACED AEVC 10HQ , CONTACTOR 8HQ , FAN 20HQ -&gt; TEST OK. A/C SERVICEABLE.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A513 là tàu mới nhận, các thiết bị đang sử dụng như avi fan và aevc đều là loại mới nhất và vẫn đang còn trong thời gian bảo hành. Ngoài ra việc phải thay nhiều thiết bị cùng lúc nên khó đánh giá chính xác nguyên nhân gây ra hỏng hóc. Đề nghị vật tư gửi thiết bị đi điều tra và claim bảo hành.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
        <p:nvSpPr>
          <p:cNvPr id="8" name="TextBox 7">
            <a:extLst>
              <a:ext uri="{FF2B5EF4-FFF2-40B4-BE49-F238E27FC236}">
                <a16:creationId xmlns:a16="http://schemas.microsoft.com/office/drawing/2014/main" xmlns="" id="{95B60134-59D7-B9ED-2806-C1F57EA05F77}"/>
              </a:ext>
            </a:extLst>
          </p:cNvPr>
          <p:cNvSpPr txBox="1"/>
          <p:nvPr/>
        </p:nvSpPr>
        <p:spPr>
          <a:xfrm>
            <a:off x="115238" y="965289"/>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xmlns="" id="{5FE3B712-9690-42A3-A50E-24E99475755A}"/>
              </a:ext>
            </a:extLst>
          </p:cNvPr>
          <p:cNvSpPr txBox="1"/>
          <p:nvPr/>
        </p:nvSpPr>
        <p:spPr>
          <a:xfrm>
            <a:off x="115239" y="626735"/>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907828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675B9959-B8E6-8666-7EA4-4B8B68360A0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0F759F7B-1B4B-776B-C78D-8F6B2EBC746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29B9365A-ABE6-5803-F5D5-9A9B1D8AC2FC}"/>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C9618F9A-EEF7-D5D3-CA7A-E8B46BA57E95}"/>
              </a:ext>
            </a:extLst>
          </p:cNvPr>
          <p:cNvGraphicFramePr>
            <a:graphicFrameLocks noGrp="1"/>
          </p:cNvGraphicFramePr>
          <p:nvPr>
            <p:extLst>
              <p:ext uri="{D42A27DB-BD31-4B8C-83A1-F6EECF244321}">
                <p14:modId xmlns:p14="http://schemas.microsoft.com/office/powerpoint/2010/main" val="3065321101"/>
              </p:ext>
            </p:extLst>
          </p:nvPr>
        </p:nvGraphicFramePr>
        <p:xfrm>
          <a:off x="134289" y="1509729"/>
          <a:ext cx="11688713" cy="3158101"/>
        </p:xfrm>
        <a:graphic>
          <a:graphicData uri="http://schemas.openxmlformats.org/drawingml/2006/table">
            <a:tbl>
              <a:tblPr/>
              <a:tblGrid>
                <a:gridCol w="475311">
                  <a:extLst>
                    <a:ext uri="{9D8B030D-6E8A-4147-A177-3AD203B41FA5}">
                      <a16:colId xmlns:a16="http://schemas.microsoft.com/office/drawing/2014/main" xmlns="" val="1699067947"/>
                    </a:ext>
                  </a:extLst>
                </a:gridCol>
                <a:gridCol w="762000">
                  <a:extLst>
                    <a:ext uri="{9D8B030D-6E8A-4147-A177-3AD203B41FA5}">
                      <a16:colId xmlns:a16="http://schemas.microsoft.com/office/drawing/2014/main" xmlns="" val="205224236"/>
                    </a:ext>
                  </a:extLst>
                </a:gridCol>
                <a:gridCol w="381000">
                  <a:extLst>
                    <a:ext uri="{9D8B030D-6E8A-4147-A177-3AD203B41FA5}">
                      <a16:colId xmlns:a16="http://schemas.microsoft.com/office/drawing/2014/main" xmlns="" val="3056190288"/>
                    </a:ext>
                  </a:extLst>
                </a:gridCol>
                <a:gridCol w="579500">
                  <a:extLst>
                    <a:ext uri="{9D8B030D-6E8A-4147-A177-3AD203B41FA5}">
                      <a16:colId xmlns:a16="http://schemas.microsoft.com/office/drawing/2014/main" xmlns="" val="1539559735"/>
                    </a:ext>
                  </a:extLst>
                </a:gridCol>
                <a:gridCol w="585576">
                  <a:extLst>
                    <a:ext uri="{9D8B030D-6E8A-4147-A177-3AD203B41FA5}">
                      <a16:colId xmlns:a16="http://schemas.microsoft.com/office/drawing/2014/main" xmlns="" val="2444827003"/>
                    </a:ext>
                  </a:extLst>
                </a:gridCol>
                <a:gridCol w="486713">
                  <a:extLst>
                    <a:ext uri="{9D8B030D-6E8A-4147-A177-3AD203B41FA5}">
                      <a16:colId xmlns:a16="http://schemas.microsoft.com/office/drawing/2014/main" xmlns="" val="3491416527"/>
                    </a:ext>
                  </a:extLst>
                </a:gridCol>
                <a:gridCol w="2410750">
                  <a:extLst>
                    <a:ext uri="{9D8B030D-6E8A-4147-A177-3AD203B41FA5}">
                      <a16:colId xmlns:a16="http://schemas.microsoft.com/office/drawing/2014/main" xmlns="" val="1857565414"/>
                    </a:ext>
                  </a:extLst>
                </a:gridCol>
                <a:gridCol w="2775785">
                  <a:extLst>
                    <a:ext uri="{9D8B030D-6E8A-4147-A177-3AD203B41FA5}">
                      <a16:colId xmlns:a16="http://schemas.microsoft.com/office/drawing/2014/main" xmlns="" val="3557937854"/>
                    </a:ext>
                  </a:extLst>
                </a:gridCol>
                <a:gridCol w="296591">
                  <a:extLst>
                    <a:ext uri="{9D8B030D-6E8A-4147-A177-3AD203B41FA5}">
                      <a16:colId xmlns:a16="http://schemas.microsoft.com/office/drawing/2014/main" xmlns="" val="3019161719"/>
                    </a:ext>
                  </a:extLst>
                </a:gridCol>
                <a:gridCol w="2935487">
                  <a:extLst>
                    <a:ext uri="{9D8B030D-6E8A-4147-A177-3AD203B41FA5}">
                      <a16:colId xmlns:a16="http://schemas.microsoft.com/office/drawing/2014/main" xmlns="" val="3608241138"/>
                    </a:ext>
                  </a:extLst>
                </a:gridCol>
              </a:tblGrid>
              <a:tr h="0">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635056464"/>
                  </a:ext>
                </a:extLst>
              </a:tr>
              <a:tr h="0">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A357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09:15 27/04/2025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VCA</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VN1200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VCA-HAN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T/X CHECK FOUND FUEL LEAKING AT DRAIN MAST OF ENG #2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EVENT CLOSED</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DO CLEAN AND CHECK ENG 2 DRAIN MAST FOUND NO LEAK. A/C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V17951 có TSN/CSN = 18534/12184; TSO/CSO = 214/150. Sau khi lau sạch và nổ máy lại thì không phát hiện leak. Các thông số động cơ trên ADEM không có gì bất thường. Tiếp tục theo dõi thêm.</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809452353"/>
                  </a:ext>
                </a:extLst>
              </a:tr>
              <a:tr h="0">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A332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09:45 23/04/2025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DAD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40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VN1670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DAD-HPH</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BRAKE FAN #4 INOP DUE TO WAITING TEMP OF BRK #4 DOWNGREAD TO 200 DEGREE C (CAPT REQ</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ADD B2174 IS RAISED FOR BRK FAN #4 INOP (ĐÃ KIỂM TRA PHANH VÀ KHÔNG CÓ HIỆN TƯỢNG BÓ PHANH) BRK FAN #4 INOP EVENT CLOSED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32-48</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Nguyên nhân có thể do brake fan hoạt động trong môi trường nhiệt độ cao, rung lắc mạnh dẫn đến hỏng hóc. Hiện chưa có issue nào liên quan đến đtc của thiết bị này. Theo dõi thêm</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0">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A615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09:20 23/04/2025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BMV</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VN1602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BMV-HAN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T/X CHECK FOUND: AIR ENG #1 BLEED FAULT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 ;C/O RAISED ADD B1595 FOR;AIR ENG #1 BLEED FAULT; , A/C SERVICEABLE DURING T/X CHECK FOUND: AIR ENG #1 BLEED FAULT EVENT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CLOSED</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36-00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thermo stat control. Sau khi thay thế thì hệ thống hoạt động bình thường không còn cảnh báo. Hiện không có issue liên quan đến đtc của thiết bị này. Tiếp tục theo dõi thêm</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15:40 22/04/2025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DIN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VN1804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DIN-HAN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AFTER VN1804 SUSPECTED LEAK AT NLG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C/O CLEAN AND VISUAL CHECK NO LEAK FOUND EVENT CLOSED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Kiểm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tra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phát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hiện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leak. Theo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dõi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thêm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
        <p:nvSpPr>
          <p:cNvPr id="8" name="TextBox 7">
            <a:extLst>
              <a:ext uri="{FF2B5EF4-FFF2-40B4-BE49-F238E27FC236}">
                <a16:creationId xmlns:a16="http://schemas.microsoft.com/office/drawing/2014/main" xmlns="" id="{95B60134-59D7-B9ED-2806-C1F57EA05F77}"/>
              </a:ext>
            </a:extLst>
          </p:cNvPr>
          <p:cNvSpPr txBox="1"/>
          <p:nvPr/>
        </p:nvSpPr>
        <p:spPr>
          <a:xfrm>
            <a:off x="115238" y="965289"/>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5FE3B712-9690-42A3-A50E-24E99475755A}"/>
              </a:ext>
            </a:extLst>
          </p:cNvPr>
          <p:cNvSpPr txBox="1"/>
          <p:nvPr/>
        </p:nvSpPr>
        <p:spPr>
          <a:xfrm>
            <a:off x="115239" y="626735"/>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799542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55CC956-FE12-7A01-4F4A-B579F3983197}"/>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4EBD50EA-9DEA-026D-8A64-7D6F7779877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01C5CFAF-E982-3EFA-560C-06D8C326298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3636D826-687D-6573-9F3A-0F92FB86BBF9}"/>
              </a:ext>
            </a:extLst>
          </p:cNvPr>
          <p:cNvGraphicFramePr>
            <a:graphicFrameLocks noGrp="1"/>
          </p:cNvGraphicFramePr>
          <p:nvPr>
            <p:extLst>
              <p:ext uri="{D42A27DB-BD31-4B8C-83A1-F6EECF244321}">
                <p14:modId xmlns:p14="http://schemas.microsoft.com/office/powerpoint/2010/main" val="915165723"/>
              </p:ext>
            </p:extLst>
          </p:nvPr>
        </p:nvGraphicFramePr>
        <p:xfrm>
          <a:off x="134289" y="1524000"/>
          <a:ext cx="11688713" cy="5039215"/>
        </p:xfrm>
        <a:graphic>
          <a:graphicData uri="http://schemas.openxmlformats.org/drawingml/2006/table">
            <a:tbl>
              <a:tblPr/>
              <a:tblGrid>
                <a:gridCol w="475311">
                  <a:extLst>
                    <a:ext uri="{9D8B030D-6E8A-4147-A177-3AD203B41FA5}">
                      <a16:colId xmlns:a16="http://schemas.microsoft.com/office/drawing/2014/main" xmlns="" val="1699067947"/>
                    </a:ext>
                  </a:extLst>
                </a:gridCol>
                <a:gridCol w="762000">
                  <a:extLst>
                    <a:ext uri="{9D8B030D-6E8A-4147-A177-3AD203B41FA5}">
                      <a16:colId xmlns:a16="http://schemas.microsoft.com/office/drawing/2014/main" xmlns="" val="205224236"/>
                    </a:ext>
                  </a:extLst>
                </a:gridCol>
                <a:gridCol w="381000">
                  <a:extLst>
                    <a:ext uri="{9D8B030D-6E8A-4147-A177-3AD203B41FA5}">
                      <a16:colId xmlns:a16="http://schemas.microsoft.com/office/drawing/2014/main" xmlns="" val="3056190288"/>
                    </a:ext>
                  </a:extLst>
                </a:gridCol>
                <a:gridCol w="579500">
                  <a:extLst>
                    <a:ext uri="{9D8B030D-6E8A-4147-A177-3AD203B41FA5}">
                      <a16:colId xmlns:a16="http://schemas.microsoft.com/office/drawing/2014/main" xmlns="" val="1539559735"/>
                    </a:ext>
                  </a:extLst>
                </a:gridCol>
                <a:gridCol w="585576">
                  <a:extLst>
                    <a:ext uri="{9D8B030D-6E8A-4147-A177-3AD203B41FA5}">
                      <a16:colId xmlns:a16="http://schemas.microsoft.com/office/drawing/2014/main" xmlns="" val="2444827003"/>
                    </a:ext>
                  </a:extLst>
                </a:gridCol>
                <a:gridCol w="486713">
                  <a:extLst>
                    <a:ext uri="{9D8B030D-6E8A-4147-A177-3AD203B41FA5}">
                      <a16:colId xmlns:a16="http://schemas.microsoft.com/office/drawing/2014/main" xmlns="" val="3491416527"/>
                    </a:ext>
                  </a:extLst>
                </a:gridCol>
                <a:gridCol w="1167611">
                  <a:extLst>
                    <a:ext uri="{9D8B030D-6E8A-4147-A177-3AD203B41FA5}">
                      <a16:colId xmlns:a16="http://schemas.microsoft.com/office/drawing/2014/main" xmlns="" val="1857565414"/>
                    </a:ext>
                  </a:extLst>
                </a:gridCol>
                <a:gridCol w="2971800">
                  <a:extLst>
                    <a:ext uri="{9D8B030D-6E8A-4147-A177-3AD203B41FA5}">
                      <a16:colId xmlns:a16="http://schemas.microsoft.com/office/drawing/2014/main" xmlns="" val="3557937854"/>
                    </a:ext>
                  </a:extLst>
                </a:gridCol>
                <a:gridCol w="533400">
                  <a:extLst>
                    <a:ext uri="{9D8B030D-6E8A-4147-A177-3AD203B41FA5}">
                      <a16:colId xmlns:a16="http://schemas.microsoft.com/office/drawing/2014/main" xmlns="" val="3019161719"/>
                    </a:ext>
                  </a:extLst>
                </a:gridCol>
                <a:gridCol w="3745802">
                  <a:extLst>
                    <a:ext uri="{9D8B030D-6E8A-4147-A177-3AD203B41FA5}">
                      <a16:colId xmlns:a16="http://schemas.microsoft.com/office/drawing/2014/main" xmlns="" val="3608241138"/>
                    </a:ext>
                  </a:extLst>
                </a:gridCol>
              </a:tblGrid>
              <a:tr h="210063">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635056464"/>
                  </a:ext>
                </a:extLst>
              </a:tr>
              <a:tr h="2380737">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A331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14:30 24/04/2025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100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VN679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SGN-KUL</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T/X CHECK CAPT REPORT ON TECHLOG : NAV IRS2 17.1 AND NAV IRS3 13.5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FINAL ACTION:</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C/O RPLD ADIRU (ROB FROM A509) ;;AND LOAD SOFTWARE ;ADIRU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2;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3 COMPLETED, FULL ALIGN , CHECK ;SATIS, A/C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SERVICEABLE CAPT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34-00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khối ADIRU PN HG2030BE03, hiện không có vấn đề kỹ thuật ảnh hưởng đến độ tin cậy của part. Dựa trên báo cáo SFR, nguyên nhân chủ yếu thường nằm ở các bộ phận sau: Power Supply và Gyro. Đối với Power Supply, hiện tại đội bay toàn cầu không gặp hiện tượng này, nhưng Honeywell sẽ tiếp tục theo dõi. Đối với Gyro, hỏng hóc của Gyro thường tăng cao theo tuổi của khối ADIRU. Honeywell đề xuất có thể chủ động thay thế Gyro trên các khối ADIRU có thời gian sử dụng trên 10 năm (~18,000 FC). 2 khối hỏng trên tàu A331 có TSN/CSN là: 27585:03/20'032 và 28448:43/19'903 (Khối chưa hỏng: 35337:51/16'562). Ban KT khuyến nghị nên chủ động thay những khối ADIRU cao giờ để giảm thiểu tình trạng có &gt; 2 khối cao giờ trên cùng 1 tàu bay.</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86251504"/>
                  </a:ext>
                </a:extLst>
              </a:tr>
              <a:tr h="2380737">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A332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11:30 24/04/2025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VN1264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SGN-VII</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T/X CHECK CABIN CREW INFORM ;HANDSET 1L INOP , A/C HAD ADD B2171 “HANDSET 4L INOP” CAN NOT RAISE ADD</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FINAL ACTION:</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C/O RPLD HANDSET (ROB FROM A509) , BUT NIL HELP</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C/O RPLD DEU B (ROB FROM A509), OPS TEST SATIS , A/SERVICEABLE HANDSET 1L INOP (LOCAL TIME)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23-00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được xác định do lỗi của DEU B P/N Z043H000351A. Part DEU B này có vấn đề liên quan đến một số linh kiện ngừng sản xuất.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Tuy nhiên part tháo xuống có TSN/CSN: 42459/29992 nên hỏng hóc có thể do aging.</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Theo dõi thêm.</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
        <p:nvSpPr>
          <p:cNvPr id="8" name="TextBox 7">
            <a:extLst>
              <a:ext uri="{FF2B5EF4-FFF2-40B4-BE49-F238E27FC236}">
                <a16:creationId xmlns:a16="http://schemas.microsoft.com/office/drawing/2014/main" xmlns="" id="{95B60134-59D7-B9ED-2806-C1F57EA05F77}"/>
              </a:ext>
            </a:extLst>
          </p:cNvPr>
          <p:cNvSpPr txBox="1"/>
          <p:nvPr/>
        </p:nvSpPr>
        <p:spPr>
          <a:xfrm>
            <a:off x="115238" y="965289"/>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5FE3B712-9690-42A3-A50E-24E99475755A}"/>
              </a:ext>
            </a:extLst>
          </p:cNvPr>
          <p:cNvSpPr txBox="1"/>
          <p:nvPr/>
        </p:nvSpPr>
        <p:spPr>
          <a:xfrm>
            <a:off x="115239" y="626735"/>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113250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7410AA4-DEF3-40C9-8B8A-753B5BB40D71}"/>
              </a:ext>
            </a:extLst>
          </p:cNvPr>
          <p:cNvSpPr>
            <a:spLocks noGrp="1"/>
          </p:cNvSpPr>
          <p:nvPr>
            <p:ph type="sldNum" idx="12"/>
          </p:nvPr>
        </p:nvSpPr>
        <p:spPr/>
        <p:txBody>
          <a:bodyPr/>
          <a:lstStyle/>
          <a:p>
            <a:fld id="{00000000-1234-1234-1234-123412341234}" type="slidenum">
              <a:rPr lang="vi" smtClean="0"/>
              <a:pPr/>
              <a:t>10</a:t>
            </a:fld>
            <a:endParaRPr lang="vi"/>
          </a:p>
        </p:txBody>
      </p:sp>
      <p:sp>
        <p:nvSpPr>
          <p:cNvPr id="4" name="Title 3">
            <a:extLst>
              <a:ext uri="{FF2B5EF4-FFF2-40B4-BE49-F238E27FC236}">
                <a16:creationId xmlns:a16="http://schemas.microsoft.com/office/drawing/2014/main" xmlns="" id="{A7871715-FA6E-419F-8820-C31663F57B4F}"/>
              </a:ext>
            </a:extLst>
          </p:cNvPr>
          <p:cNvSpPr>
            <a:spLocks noGrp="1"/>
          </p:cNvSpPr>
          <p:nvPr>
            <p:ph type="title"/>
          </p:nvPr>
        </p:nvSpPr>
        <p:spPr>
          <a:xfrm>
            <a:off x="19050" y="87747"/>
            <a:ext cx="8863433" cy="815200"/>
          </a:xfrm>
        </p:spPr>
        <p:txBody>
          <a:bodyPr>
            <a:normAutofit/>
          </a:bodyPr>
          <a:lstStyle/>
          <a:p>
            <a:r>
              <a:rPr lang="en-US" sz="2400" dirty="0">
                <a:latin typeface="Times New Roman" panose="02020603050405020304" pitchFamily="18" charset="0"/>
                <a:cs typeface="Times New Roman" panose="02020603050405020304" pitchFamily="18" charset="0"/>
              </a:rPr>
              <a:t>A512 – START VAVLE FAULT</a:t>
            </a:r>
          </a:p>
        </p:txBody>
      </p:sp>
      <p:pic>
        <p:nvPicPr>
          <p:cNvPr id="13" name="Picture Placeholder 12">
            <a:extLst>
              <a:ext uri="{FF2B5EF4-FFF2-40B4-BE49-F238E27FC236}">
                <a16:creationId xmlns:a16="http://schemas.microsoft.com/office/drawing/2014/main" xmlns="" id="{BE61E4C6-0AF3-45DB-885B-2DDD384EA2FF}"/>
              </a:ext>
            </a:extLst>
          </p:cNvPr>
          <p:cNvPicPr>
            <a:picLocks noGrp="1" noChangeAspect="1"/>
          </p:cNvPicPr>
          <p:nvPr>
            <p:ph type="pic" idx="2"/>
          </p:nvPr>
        </p:nvPicPr>
        <p:blipFill>
          <a:blip r:embed="rId2"/>
          <a:srcRect t="748" b="748"/>
          <a:stretch>
            <a:fillRect/>
          </a:stretch>
        </p:blipFill>
        <p:spPr>
          <a:xfrm>
            <a:off x="7187837" y="228600"/>
            <a:ext cx="4972050" cy="2784475"/>
          </a:xfrm>
          <a:prstGeom prst="rect">
            <a:avLst/>
          </a:prstGeom>
        </p:spPr>
      </p:pic>
      <p:sp>
        <p:nvSpPr>
          <p:cNvPr id="14" name="Rectangle 13">
            <a:extLst>
              <a:ext uri="{FF2B5EF4-FFF2-40B4-BE49-F238E27FC236}">
                <a16:creationId xmlns:a16="http://schemas.microsoft.com/office/drawing/2014/main" xmlns="" id="{9FFF005F-A064-40B3-BBEC-BC6116EBB912}"/>
              </a:ext>
            </a:extLst>
          </p:cNvPr>
          <p:cNvSpPr/>
          <p:nvPr/>
        </p:nvSpPr>
        <p:spPr>
          <a:xfrm>
            <a:off x="42999" y="509507"/>
            <a:ext cx="7507333" cy="2222660"/>
          </a:xfrm>
          <a:prstGeom prst="rect">
            <a:avLst/>
          </a:prstGeom>
        </p:spPr>
        <p:txBody>
          <a:bodyPr wrap="square">
            <a:spAutoFit/>
          </a:bodyPr>
          <a:lstStyle/>
          <a:p>
            <a:pPr marL="342900" lvl="0" indent="-342900">
              <a:lnSpc>
                <a:spcPct val="107000"/>
              </a:lnSpc>
              <a:spcAft>
                <a:spcPts val="0"/>
              </a:spcAft>
              <a:buFont typeface="+mj-lt"/>
              <a:buAutoNum type="arabicPeriod"/>
            </a:pPr>
            <a:r>
              <a:rPr lang="en-US" sz="1600" b="1" dirty="0" err="1">
                <a:solidFill>
                  <a:srgbClr val="0070C0"/>
                </a:solidFill>
                <a:latin typeface="Calibri" panose="020F0502020204030204" pitchFamily="34" charset="0"/>
                <a:ea typeface="Calibri" panose="020F0502020204030204" pitchFamily="34" charset="0"/>
                <a:cs typeface="Times New Roman" panose="02020603050405020304" pitchFamily="18" charset="0"/>
              </a:rPr>
              <a:t>Hỏng</a:t>
            </a:r>
            <a:r>
              <a:rPr lang="en-US" sz="16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r>
              <a:rPr lang="en-US" sz="1600" b="1" dirty="0" err="1">
                <a:solidFill>
                  <a:srgbClr val="0070C0"/>
                </a:solidFill>
                <a:latin typeface="Calibri" panose="020F0502020204030204" pitchFamily="34" charset="0"/>
                <a:ea typeface="Calibri" panose="020F0502020204030204" pitchFamily="34" charset="0"/>
                <a:cs typeface="Times New Roman" panose="02020603050405020304" pitchFamily="18" charset="0"/>
              </a:rPr>
              <a:t>hóc</a:t>
            </a:r>
            <a:r>
              <a:rPr lang="en-US" sz="16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t>
            </a:r>
          </a:p>
          <a:p>
            <a:pPr marL="800100" lvl="1" indent="-342900">
              <a:lnSpc>
                <a:spcPct val="107000"/>
              </a:lnSpc>
              <a:buFont typeface="Arial" panose="020B0604020202020204" pitchFamily="34" charset="0"/>
              <a:buChar char="•"/>
            </a:pPr>
            <a:r>
              <a:rPr lang="en-US" sz="1400" dirty="0" err="1">
                <a:latin typeface="Calibri" panose="020F0502020204030204" pitchFamily="34" charset="0"/>
                <a:ea typeface="Calibri" panose="020F0502020204030204" pitchFamily="34" charset="0"/>
                <a:cs typeface="Times New Roman" panose="02020603050405020304" pitchFamily="18" charset="0"/>
              </a:rPr>
              <a:t>Động</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cơ</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số</a:t>
            </a:r>
            <a:r>
              <a:rPr lang="en-US" sz="1400" dirty="0">
                <a:latin typeface="Calibri" panose="020F0502020204030204" pitchFamily="34" charset="0"/>
                <a:ea typeface="Calibri" panose="020F0502020204030204" pitchFamily="34" charset="0"/>
                <a:cs typeface="Times New Roman" panose="02020603050405020304" pitchFamily="18" charset="0"/>
              </a:rPr>
              <a:t> #1 A512 ESN 771703  </a:t>
            </a:r>
            <a:r>
              <a:rPr lang="en-US" sz="1400" dirty="0" err="1">
                <a:latin typeface="Calibri" panose="020F0502020204030204" pitchFamily="34" charset="0"/>
                <a:ea typeface="Calibri" panose="020F0502020204030204" pitchFamily="34" charset="0"/>
                <a:cs typeface="Times New Roman" panose="02020603050405020304" pitchFamily="18" charset="0"/>
              </a:rPr>
              <a:t>có</a:t>
            </a:r>
            <a:r>
              <a:rPr lang="en-US" sz="1400" dirty="0">
                <a:latin typeface="Calibri" panose="020F0502020204030204" pitchFamily="34" charset="0"/>
                <a:ea typeface="Calibri" panose="020F0502020204030204" pitchFamily="34" charset="0"/>
                <a:cs typeface="Times New Roman" panose="02020603050405020304" pitchFamily="18" charset="0"/>
              </a:rPr>
              <a:t> TSN/CSN 7480 FH/ 5340 FC. TSLSV/CSLSV: 1847 FH/ 1015 FC</a:t>
            </a:r>
          </a:p>
          <a:p>
            <a:pPr marL="800100" lvl="1" indent="-342900">
              <a:lnSpc>
                <a:spcPct val="107000"/>
              </a:lnSpc>
              <a:buFont typeface="Arial" panose="020B0604020202020204" pitchFamily="34" charset="0"/>
              <a:buChar char="•"/>
            </a:pPr>
            <a:r>
              <a:rPr lang="en-US" sz="1400" dirty="0" err="1">
                <a:latin typeface="Calibri" panose="020F0502020204030204" pitchFamily="34" charset="0"/>
                <a:ea typeface="Calibri" panose="020F0502020204030204" pitchFamily="34" charset="0"/>
                <a:cs typeface="Times New Roman" panose="02020603050405020304" pitchFamily="18" charset="0"/>
              </a:rPr>
              <a:t>Ngày</a:t>
            </a:r>
            <a:r>
              <a:rPr lang="en-US" sz="1400" dirty="0">
                <a:latin typeface="Calibri" panose="020F0502020204030204" pitchFamily="34" charset="0"/>
                <a:ea typeface="Calibri" panose="020F0502020204030204" pitchFamily="34" charset="0"/>
                <a:cs typeface="Times New Roman" panose="02020603050405020304" pitchFamily="18" charset="0"/>
              </a:rPr>
              <a:t> 23/4 </a:t>
            </a:r>
            <a:r>
              <a:rPr lang="en-US" sz="1400" dirty="0" err="1">
                <a:latin typeface="Calibri" panose="020F0502020204030204" pitchFamily="34" charset="0"/>
                <a:ea typeface="Calibri" panose="020F0502020204030204" pitchFamily="34" charset="0"/>
                <a:cs typeface="Times New Roman" panose="02020603050405020304" pitchFamily="18" charset="0"/>
              </a:rPr>
              <a:t>phát</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sinh</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hỏng</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hóc</a:t>
            </a:r>
            <a:r>
              <a:rPr lang="en-US" sz="1400" dirty="0">
                <a:latin typeface="Calibri" panose="020F0502020204030204" pitchFamily="34" charset="0"/>
                <a:ea typeface="Calibri" panose="020F0502020204030204" pitchFamily="34" charset="0"/>
                <a:cs typeface="Times New Roman" panose="02020603050405020304" pitchFamily="18" charset="0"/>
              </a:rPr>
              <a:t> “START  VALVE ENG #1 FAULT , START VALVE NOT CLOSED” </a:t>
            </a:r>
            <a:r>
              <a:rPr lang="en-US" sz="1400" dirty="0" err="1">
                <a:latin typeface="Calibri" panose="020F0502020204030204" pitchFamily="34" charset="0"/>
                <a:ea typeface="Calibri" panose="020F0502020204030204" pitchFamily="34" charset="0"/>
                <a:cs typeface="Times New Roman" panose="02020603050405020304" pitchFamily="18" charset="0"/>
              </a:rPr>
              <a:t>tại</a:t>
            </a:r>
            <a:r>
              <a:rPr lang="en-US" sz="1400" dirty="0">
                <a:latin typeface="Calibri" panose="020F0502020204030204" pitchFamily="34" charset="0"/>
                <a:ea typeface="Calibri" panose="020F0502020204030204" pitchFamily="34" charset="0"/>
                <a:cs typeface="Times New Roman" panose="02020603050405020304" pitchFamily="18" charset="0"/>
              </a:rPr>
              <a:t> phase Start.</a:t>
            </a:r>
          </a:p>
          <a:p>
            <a:pPr marL="342900" lvl="0" indent="-342900">
              <a:lnSpc>
                <a:spcPct val="107000"/>
              </a:lnSpc>
              <a:spcAft>
                <a:spcPts val="0"/>
              </a:spcAft>
              <a:buFont typeface="+mj-lt"/>
              <a:buAutoNum type="arabicPeriod"/>
            </a:pPr>
            <a:r>
              <a:rPr lang="en-US" sz="16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Action</a:t>
            </a:r>
          </a:p>
          <a:p>
            <a:pPr marL="742950" lvl="1" indent="-285750">
              <a:lnSpc>
                <a:spcPct val="107000"/>
              </a:lnSpc>
              <a:buFont typeface="Arial" panose="020B0604020202020204" pitchFamily="34" charset="0"/>
              <a:buChar char="•"/>
            </a:pPr>
            <a:r>
              <a:rPr lang="en-US" sz="1400" dirty="0">
                <a:latin typeface="Calibri" panose="020F0502020204030204" pitchFamily="34" charset="0"/>
                <a:ea typeface="Calibri" panose="020F0502020204030204" pitchFamily="34" charset="0"/>
                <a:cs typeface="Times New Roman" panose="02020603050405020304" pitchFamily="18" charset="0"/>
              </a:rPr>
              <a:t>VAECO </a:t>
            </a:r>
            <a:r>
              <a:rPr lang="en-US" sz="1400" dirty="0" err="1">
                <a:latin typeface="Calibri" panose="020F0502020204030204" pitchFamily="34" charset="0"/>
                <a:ea typeface="Calibri" panose="020F0502020204030204" pitchFamily="34" charset="0"/>
                <a:cs typeface="Times New Roman" panose="02020603050405020304" pitchFamily="18" charset="0"/>
              </a:rPr>
              <a:t>tiến</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hành</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kiểm</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tra</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và</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thực</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hiện</a:t>
            </a:r>
            <a:r>
              <a:rPr lang="en-US" sz="1400" dirty="0">
                <a:latin typeface="Calibri" panose="020F0502020204030204" pitchFamily="34" charset="0"/>
                <a:ea typeface="Calibri" panose="020F0502020204030204" pitchFamily="34" charset="0"/>
                <a:cs typeface="Times New Roman" panose="02020603050405020304" pitchFamily="18" charset="0"/>
              </a:rPr>
              <a:t> quay manually </a:t>
            </a:r>
            <a:r>
              <a:rPr lang="en-US" sz="1400" dirty="0" err="1">
                <a:latin typeface="Calibri" panose="020F0502020204030204" pitchFamily="34" charset="0"/>
                <a:ea typeface="Calibri" panose="020F0502020204030204" pitchFamily="34" charset="0"/>
                <a:cs typeface="Times New Roman" panose="02020603050405020304" pitchFamily="18" charset="0"/>
              </a:rPr>
              <a:t>tuy</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nhiên</a:t>
            </a:r>
            <a:r>
              <a:rPr lang="en-US" sz="1400" dirty="0">
                <a:latin typeface="Calibri" panose="020F0502020204030204" pitchFamily="34" charset="0"/>
                <a:ea typeface="Calibri" panose="020F0502020204030204" pitchFamily="34" charset="0"/>
                <a:cs typeface="Times New Roman" panose="02020603050405020304" pitchFamily="18" charset="0"/>
              </a:rPr>
              <a:t> Valve </a:t>
            </a:r>
            <a:r>
              <a:rPr lang="en-US" sz="1400" dirty="0" err="1">
                <a:latin typeface="Calibri" panose="020F0502020204030204" pitchFamily="34" charset="0"/>
                <a:ea typeface="Calibri" panose="020F0502020204030204" pitchFamily="34" charset="0"/>
                <a:cs typeface="Times New Roman" panose="02020603050405020304" pitchFamily="18" charset="0"/>
              </a:rPr>
              <a:t>bị</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kẹt</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và</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không</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được</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đồng</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thời</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không</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phát</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hiện</a:t>
            </a:r>
            <a:r>
              <a:rPr lang="en-US" sz="1400" dirty="0">
                <a:latin typeface="Calibri" panose="020F0502020204030204" pitchFamily="34" charset="0"/>
                <a:ea typeface="Calibri" panose="020F0502020204030204" pitchFamily="34" charset="0"/>
                <a:cs typeface="Times New Roman" panose="02020603050405020304" pitchFamily="18" charset="0"/>
              </a:rPr>
              <a:t> FOD.</a:t>
            </a:r>
          </a:p>
          <a:p>
            <a:pPr marL="742950" lvl="1" indent="-285750">
              <a:lnSpc>
                <a:spcPct val="107000"/>
              </a:lnSpc>
              <a:buFont typeface="Arial" panose="020B0604020202020204" pitchFamily="34" charset="0"/>
              <a:buChar char="•"/>
            </a:pPr>
            <a:r>
              <a:rPr lang="en-US" sz="1400" dirty="0" err="1">
                <a:latin typeface="Calibri" panose="020F0502020204030204" pitchFamily="34" charset="0"/>
                <a:ea typeface="Calibri" panose="020F0502020204030204" pitchFamily="34" charset="0"/>
                <a:cs typeface="Times New Roman" panose="02020603050405020304" pitchFamily="18" charset="0"/>
              </a:rPr>
              <a:t>Hỏng</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hóc</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được</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khắc</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phục</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sau</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khi</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thay</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n-US" sz="1400" dirty="0" err="1">
                <a:latin typeface="Calibri" panose="020F0502020204030204" pitchFamily="34" charset="0"/>
                <a:ea typeface="Calibri" panose="020F0502020204030204" pitchFamily="34" charset="0"/>
                <a:cs typeface="Times New Roman" panose="02020603050405020304" pitchFamily="18" charset="0"/>
              </a:rPr>
              <a:t>khối</a:t>
            </a:r>
            <a:r>
              <a:rPr lang="en-US" sz="1400" dirty="0">
                <a:latin typeface="Calibri" panose="020F0502020204030204" pitchFamily="34" charset="0"/>
                <a:ea typeface="Calibri" panose="020F0502020204030204" pitchFamily="34" charset="0"/>
                <a:cs typeface="Times New Roman" panose="02020603050405020304" pitchFamily="18" charset="0"/>
              </a:rPr>
              <a:t> SAV </a:t>
            </a:r>
            <a:r>
              <a:rPr lang="en-US" sz="1400" dirty="0" err="1">
                <a:latin typeface="Calibri" panose="020F0502020204030204" pitchFamily="34" charset="0"/>
                <a:ea typeface="Calibri" panose="020F0502020204030204" pitchFamily="34" charset="0"/>
                <a:cs typeface="Times New Roman" panose="02020603050405020304" pitchFamily="18" charset="0"/>
              </a:rPr>
              <a:t>mới</a:t>
            </a:r>
            <a:r>
              <a:rPr lang="en-US" sz="1400" dirty="0">
                <a:latin typeface="Calibri" panose="020F0502020204030204" pitchFamily="34" charset="0"/>
                <a:ea typeface="Calibri" panose="020F0502020204030204" pitchFamily="34" charset="0"/>
                <a:cs typeface="Times New Roman" panose="02020603050405020304" pitchFamily="18" charset="0"/>
              </a:rPr>
              <a:t>.</a:t>
            </a:r>
          </a:p>
        </p:txBody>
      </p:sp>
      <p:sp>
        <p:nvSpPr>
          <p:cNvPr id="15" name="Rectangle 14">
            <a:extLst>
              <a:ext uri="{FF2B5EF4-FFF2-40B4-BE49-F238E27FC236}">
                <a16:creationId xmlns:a16="http://schemas.microsoft.com/office/drawing/2014/main" xmlns="" id="{2CCE9544-7C5F-4276-BEA0-F50FF23E0577}"/>
              </a:ext>
            </a:extLst>
          </p:cNvPr>
          <p:cNvSpPr/>
          <p:nvPr/>
        </p:nvSpPr>
        <p:spPr>
          <a:xfrm>
            <a:off x="0" y="2732167"/>
            <a:ext cx="11890548" cy="4169347"/>
          </a:xfrm>
          <a:prstGeom prst="rect">
            <a:avLst/>
          </a:prstGeom>
        </p:spPr>
        <p:txBody>
          <a:bodyPr wrap="square">
            <a:spAutoFit/>
          </a:bodyPr>
          <a:lstStyle/>
          <a:p>
            <a:pPr lvl="0">
              <a:lnSpc>
                <a:spcPct val="107000"/>
              </a:lnSpc>
              <a:spcAft>
                <a:spcPts val="0"/>
              </a:spcAft>
            </a:pPr>
            <a:r>
              <a:rPr lang="en-US" sz="1600" b="1">
                <a:solidFill>
                  <a:srgbClr val="0070C0"/>
                </a:solidFill>
                <a:latin typeface="Calibri" panose="020F0502020204030204" pitchFamily="34" charset="0"/>
                <a:ea typeface="Calibri" panose="020F0502020204030204" pitchFamily="34" charset="0"/>
                <a:cs typeface="Times New Roman" panose="02020603050405020304" pitchFamily="18" charset="0"/>
              </a:rPr>
              <a:t>3. Phân tích độ tin cậy</a:t>
            </a:r>
          </a:p>
          <a:p>
            <a:pPr marL="285750" indent="-285750">
              <a:lnSpc>
                <a:spcPct val="107000"/>
              </a:lnSpc>
              <a:buFont typeface="Arial" panose="020B0604020202020204" pitchFamily="34" charset="0"/>
              <a:buChar char="•"/>
            </a:pPr>
            <a:r>
              <a:rPr lang="en-US" sz="1400">
                <a:latin typeface="Calibri" panose="020F0502020204030204" pitchFamily="34" charset="0"/>
                <a:ea typeface="Calibri" panose="020F0502020204030204" pitchFamily="34" charset="0"/>
                <a:cs typeface="Times New Roman" panose="02020603050405020304" pitchFamily="18" charset="0"/>
              </a:rPr>
              <a:t>Từ 2015-nay khối SAV được thay 17 lần ngoài KH (2020, 2021: 2, 2022: 1, 2023: 8, 2024: 3, 2025: 1). MTBUR = 10,400 FH. Trong đó có một số lần thay chủ động theo yêu cầu AD CAAV-28-07-2020 R03 liên quan đến hệ thống khởi động.</a:t>
            </a:r>
          </a:p>
          <a:p>
            <a:pPr>
              <a:lnSpc>
                <a:spcPct val="107000"/>
              </a:lnSpc>
            </a:pPr>
            <a:r>
              <a:rPr lang="en-US" sz="1400">
                <a:latin typeface="Calibri" panose="020F0502020204030204" pitchFamily="34" charset="0"/>
                <a:ea typeface="Calibri" panose="020F0502020204030204" pitchFamily="34" charset="0"/>
                <a:cs typeface="Times New Roman" panose="02020603050405020304" pitchFamily="18" charset="0"/>
              </a:rPr>
              <a:t>Các nguyên nhân hỏng chủ yếu:</a:t>
            </a:r>
          </a:p>
          <a:p>
            <a:pPr marL="800100" lvl="1" indent="-342900">
              <a:lnSpc>
                <a:spcPct val="107000"/>
              </a:lnSpc>
              <a:buFont typeface="Wingdings" panose="05000000000000000000" pitchFamily="2" charset="2"/>
              <a:buChar char="Ø"/>
            </a:pPr>
            <a:r>
              <a:rPr lang="en-US" sz="1400">
                <a:latin typeface="Calibri" panose="020F0502020204030204" pitchFamily="34" charset="0"/>
                <a:ea typeface="Times New Roman" panose="02020603050405020304" pitchFamily="18" charset="0"/>
                <a:cs typeface="Times New Roman" panose="02020603050405020304" pitchFamily="18" charset="0"/>
              </a:rPr>
              <a:t>Báo giả do nhiễu tín hiệu </a:t>
            </a:r>
            <a:r>
              <a:rPr lang="en-US" sz="1400">
                <a:latin typeface="Calibri" panose="020F0502020204030204" pitchFamily="34" charset="0"/>
                <a:ea typeface="Times New Roman" panose="02020603050405020304" pitchFamily="18" charset="0"/>
                <a:cs typeface="Times New Roman" panose="02020603050405020304" pitchFamily="18" charset="0"/>
                <a:sym typeface="Wingdings" panose="05000000000000000000" pitchFamily="2" charset="2"/>
              </a:rPr>
              <a:t></a:t>
            </a:r>
            <a:r>
              <a:rPr lang="en-US" sz="1400">
                <a:latin typeface="Calibri" panose="020F0502020204030204" pitchFamily="34" charset="0"/>
                <a:ea typeface="Times New Roman" panose="02020603050405020304" pitchFamily="18" charset="0"/>
                <a:cs typeface="Times New Roman" panose="02020603050405020304" pitchFamily="18" charset="0"/>
              </a:rPr>
              <a:t> Động c</a:t>
            </a:r>
            <a:r>
              <a:rPr lang="vi-VN" sz="1400">
                <a:latin typeface="Calibri" panose="020F0502020204030204" pitchFamily="34" charset="0"/>
                <a:ea typeface="Times New Roman" panose="02020603050405020304" pitchFamily="18" charset="0"/>
                <a:cs typeface="Times New Roman" panose="02020603050405020304" pitchFamily="18" charset="0"/>
              </a:rPr>
              <a:t>ơ</a:t>
            </a:r>
            <a:r>
              <a:rPr lang="en-US" sz="1400">
                <a:latin typeface="Calibri" panose="020F0502020204030204" pitchFamily="34" charset="0"/>
                <a:ea typeface="Times New Roman" panose="02020603050405020304" pitchFamily="18" charset="0"/>
                <a:cs typeface="Times New Roman" panose="02020603050405020304" pitchFamily="18" charset="0"/>
              </a:rPr>
              <a:t> đã nâng cấp EEC Software để hạn chế giúp giảm thiểu tỉ lệ hỏng hóc. Hầu hết các khối gần đây của VNA gửi đi Shop đều pass test, chỉ phát hiện hỏng hóc normal corrosion bên ngoài.</a:t>
            </a:r>
          </a:p>
          <a:p>
            <a:pPr marL="800100" lvl="1" indent="-342900">
              <a:lnSpc>
                <a:spcPct val="107000"/>
              </a:lnSpc>
              <a:buFont typeface="Wingdings" panose="05000000000000000000" pitchFamily="2" charset="2"/>
              <a:buChar char="Ø"/>
            </a:pPr>
            <a:r>
              <a:rPr lang="en-US" sz="1400">
                <a:latin typeface="Calibri" panose="020F0502020204030204" pitchFamily="34" charset="0"/>
                <a:ea typeface="Times New Roman" panose="02020603050405020304" pitchFamily="18" charset="0"/>
                <a:cs typeface="Times New Roman" panose="02020603050405020304" pitchFamily="18" charset="0"/>
              </a:rPr>
              <a:t>Mảnh seal rơi ra từ HP Valve kẹt tại SAV làm SAV không đóng được </a:t>
            </a:r>
            <a:r>
              <a:rPr lang="en-US" sz="1400">
                <a:latin typeface="Calibri" panose="020F0502020204030204" pitchFamily="34" charset="0"/>
                <a:ea typeface="Times New Roman" panose="02020603050405020304" pitchFamily="18" charset="0"/>
                <a:cs typeface="Times New Roman" panose="02020603050405020304" pitchFamily="18" charset="0"/>
                <a:sym typeface="Wingdings" panose="05000000000000000000" pitchFamily="2" charset="2"/>
              </a:rPr>
              <a:t></a:t>
            </a:r>
            <a:r>
              <a:rPr lang="en-US" sz="1400">
                <a:latin typeface="Calibri" panose="020F0502020204030204" pitchFamily="34" charset="0"/>
                <a:ea typeface="Times New Roman" panose="02020603050405020304" pitchFamily="18" charset="0"/>
                <a:cs typeface="Times New Roman" panose="02020603050405020304" pitchFamily="18" charset="0"/>
              </a:rPr>
              <a:t> Kiểm tra SAV tháo xuống không phát hiện FOD. Động c</a:t>
            </a:r>
            <a:r>
              <a:rPr lang="vi-VN" sz="1400">
                <a:latin typeface="Calibri" panose="020F0502020204030204" pitchFamily="34" charset="0"/>
                <a:ea typeface="Times New Roman" panose="02020603050405020304" pitchFamily="18" charset="0"/>
                <a:cs typeface="Times New Roman" panose="02020603050405020304" pitchFamily="18" charset="0"/>
              </a:rPr>
              <a:t>ơ</a:t>
            </a:r>
            <a:r>
              <a:rPr lang="en-US" sz="1400">
                <a:latin typeface="Calibri" panose="020F0502020204030204" pitchFamily="34" charset="0"/>
                <a:ea typeface="Times New Roman" panose="02020603050405020304" pitchFamily="18" charset="0"/>
                <a:cs typeface="Times New Roman" panose="02020603050405020304" pitchFamily="18" charset="0"/>
              </a:rPr>
              <a:t> cũng đã đ</a:t>
            </a:r>
            <a:r>
              <a:rPr lang="vi-VN" sz="1400">
                <a:latin typeface="Calibri" panose="020F0502020204030204" pitchFamily="34" charset="0"/>
                <a:ea typeface="Times New Roman" panose="02020603050405020304" pitchFamily="18" charset="0"/>
                <a:cs typeface="Times New Roman" panose="02020603050405020304" pitchFamily="18" charset="0"/>
              </a:rPr>
              <a:t>ư</a:t>
            </a:r>
            <a:r>
              <a:rPr lang="en-US" sz="1400">
                <a:latin typeface="Calibri" panose="020F0502020204030204" pitchFamily="34" charset="0"/>
                <a:ea typeface="Times New Roman" panose="02020603050405020304" pitchFamily="18" charset="0"/>
                <a:cs typeface="Times New Roman" panose="02020603050405020304" pitchFamily="18" charset="0"/>
              </a:rPr>
              <a:t>ợc nâng cấp HPV Seal; tr</a:t>
            </a:r>
            <a:r>
              <a:rPr lang="vi-VN" sz="1400">
                <a:latin typeface="Calibri" panose="020F0502020204030204" pitchFamily="34" charset="0"/>
                <a:ea typeface="Times New Roman" panose="02020603050405020304" pitchFamily="18" charset="0"/>
                <a:cs typeface="Times New Roman" panose="02020603050405020304" pitchFamily="18" charset="0"/>
              </a:rPr>
              <a:t>ư</a:t>
            </a:r>
            <a:r>
              <a:rPr lang="en-US" sz="1400">
                <a:latin typeface="Calibri" panose="020F0502020204030204" pitchFamily="34" charset="0"/>
                <a:ea typeface="Times New Roman" panose="02020603050405020304" pitchFamily="18" charset="0"/>
                <a:cs typeface="Times New Roman" panose="02020603050405020304" pitchFamily="18" charset="0"/>
              </a:rPr>
              <a:t>ớc chuyến bay không có cảnh báo liên quan. </a:t>
            </a:r>
          </a:p>
          <a:p>
            <a:pPr marL="800100" lvl="1" indent="-342900">
              <a:lnSpc>
                <a:spcPct val="107000"/>
              </a:lnSpc>
              <a:buFont typeface="Wingdings" panose="05000000000000000000" pitchFamily="2" charset="2"/>
              <a:buChar char="Ø"/>
            </a:pPr>
            <a:r>
              <a:rPr lang="en-US" sz="1400">
                <a:latin typeface="Calibri" panose="020F0502020204030204" pitchFamily="34" charset="0"/>
                <a:ea typeface="Times New Roman" panose="02020603050405020304" pitchFamily="18" charset="0"/>
                <a:cs typeface="Times New Roman" panose="02020603050405020304" pitchFamily="18" charset="0"/>
              </a:rPr>
              <a:t>Lỗi Solenoid điều khiển của SAV bị mòn khi cao giờ dẫn đến không khóa được SAV </a:t>
            </a:r>
            <a:r>
              <a:rPr lang="en-US" sz="1400">
                <a:latin typeface="Calibri" panose="020F0502020204030204" pitchFamily="34" charset="0"/>
                <a:ea typeface="Times New Roman" panose="02020603050405020304" pitchFamily="18" charset="0"/>
                <a:cs typeface="Times New Roman" panose="02020603050405020304" pitchFamily="18" charset="0"/>
                <a:sym typeface="Wingdings" panose="05000000000000000000" pitchFamily="2" charset="2"/>
              </a:rPr>
              <a:t></a:t>
            </a:r>
            <a:r>
              <a:rPr lang="en-US" sz="1400">
                <a:latin typeface="Calibri" panose="020F0502020204030204" pitchFamily="34" charset="0"/>
                <a:ea typeface="Times New Roman" panose="02020603050405020304" pitchFamily="18" charset="0"/>
                <a:cs typeface="Times New Roman" panose="02020603050405020304" pitchFamily="18" charset="0"/>
              </a:rPr>
              <a:t> Khối có TSLSV thấp (1163FC, nhỏ h</a:t>
            </a:r>
            <a:r>
              <a:rPr lang="vi-VN" sz="1400">
                <a:latin typeface="Calibri" panose="020F0502020204030204" pitchFamily="34" charset="0"/>
                <a:ea typeface="Times New Roman" panose="02020603050405020304" pitchFamily="18" charset="0"/>
                <a:cs typeface="Times New Roman" panose="02020603050405020304" pitchFamily="18" charset="0"/>
              </a:rPr>
              <a:t>ơ</a:t>
            </a:r>
            <a:r>
              <a:rPr lang="en-US" sz="1400">
                <a:latin typeface="Calibri" panose="020F0502020204030204" pitchFamily="34" charset="0"/>
                <a:ea typeface="Times New Roman" panose="02020603050405020304" pitchFamily="18" charset="0"/>
                <a:cs typeface="Times New Roman" panose="02020603050405020304" pitchFamily="18" charset="0"/>
              </a:rPr>
              <a:t>n ng</a:t>
            </a:r>
            <a:r>
              <a:rPr lang="vi-VN" sz="1400">
                <a:latin typeface="Calibri" panose="020F0502020204030204" pitchFamily="34" charset="0"/>
                <a:ea typeface="Times New Roman" panose="02020603050405020304" pitchFamily="18" charset="0"/>
                <a:cs typeface="Times New Roman" panose="02020603050405020304" pitchFamily="18" charset="0"/>
              </a:rPr>
              <a:t>ư</a:t>
            </a:r>
            <a:r>
              <a:rPr lang="en-US" sz="1400">
                <a:latin typeface="Calibri" panose="020F0502020204030204" pitchFamily="34" charset="0"/>
                <a:ea typeface="Times New Roman" panose="02020603050405020304" pitchFamily="18" charset="0"/>
                <a:cs typeface="Times New Roman" panose="02020603050405020304" pitchFamily="18" charset="0"/>
              </a:rPr>
              <a:t>ỡng khuyến cáo thay solenoid 2300FC. </a:t>
            </a:r>
          </a:p>
          <a:p>
            <a:pPr>
              <a:lnSpc>
                <a:spcPct val="107000"/>
              </a:lnSpc>
            </a:pPr>
            <a:r>
              <a:rPr lang="en-US" sz="1400">
                <a:latin typeface="Calibri" panose="020F0502020204030204" pitchFamily="34" charset="0"/>
                <a:ea typeface="Calibri" panose="020F0502020204030204" pitchFamily="34" charset="0"/>
                <a:cs typeface="Times New Roman" panose="02020603050405020304" pitchFamily="18" charset="0"/>
              </a:rPr>
              <a:t>SAV của A512 phát hiện kẹt cứng, do vậy xác định đây là dạng hỏng hóc mới. </a:t>
            </a:r>
          </a:p>
          <a:p>
            <a:pPr lvl="0">
              <a:lnSpc>
                <a:spcPct val="107000"/>
              </a:lnSpc>
              <a:spcAft>
                <a:spcPts val="0"/>
              </a:spcAft>
            </a:pPr>
            <a:r>
              <a:rPr lang="en-US" sz="1400" b="1">
                <a:solidFill>
                  <a:srgbClr val="0070C0"/>
                </a:solidFill>
                <a:latin typeface="Calibri" panose="020F0502020204030204" pitchFamily="34" charset="0"/>
                <a:ea typeface="Calibri" panose="020F0502020204030204" pitchFamily="34" charset="0"/>
                <a:cs typeface="Times New Roman" panose="02020603050405020304" pitchFamily="18" charset="0"/>
              </a:rPr>
              <a:t>4. </a:t>
            </a:r>
            <a:r>
              <a:rPr lang="en-US" sz="1600" b="1">
                <a:solidFill>
                  <a:srgbClr val="0070C0"/>
                </a:solidFill>
                <a:latin typeface="Calibri" panose="020F0502020204030204" pitchFamily="34" charset="0"/>
                <a:ea typeface="Calibri" panose="020F0502020204030204" pitchFamily="34" charset="0"/>
                <a:cs typeface="Times New Roman" panose="02020603050405020304" pitchFamily="18" charset="0"/>
              </a:rPr>
              <a:t>Đánh giá nguyên nhân</a:t>
            </a:r>
          </a:p>
          <a:p>
            <a:pPr marL="342900" indent="-342900">
              <a:lnSpc>
                <a:spcPct val="107000"/>
              </a:lnSpc>
              <a:spcAft>
                <a:spcPts val="800"/>
              </a:spcAft>
              <a:buFont typeface="Symbol" panose="05050102010706020507" pitchFamily="18" charset="2"/>
              <a:buChar char=""/>
            </a:pPr>
            <a:r>
              <a:rPr lang="en-US" sz="1400">
                <a:latin typeface="Calibri" panose="020F0502020204030204" pitchFamily="34" charset="0"/>
                <a:ea typeface="Calibri" panose="020F0502020204030204" pitchFamily="34" charset="0"/>
                <a:cs typeface="Times New Roman" panose="02020603050405020304" pitchFamily="18" charset="0"/>
              </a:rPr>
              <a:t>Khối SAV trên ENG#1 A512 hỏng hóc có S/N: 3MNAJ00159,  TSN/CSN = 5957 FH/3068 FC, TSR/CSR = 2236 FH /1163 FC được lắp lên tàu từ T9/2024. Trước đó SAV này được gửi đi sửa chữa do phát hiện vết dent trên body Valve.</a:t>
            </a:r>
          </a:p>
          <a:p>
            <a:pPr marL="342900" lvl="0" indent="-342900">
              <a:lnSpc>
                <a:spcPct val="107000"/>
              </a:lnSpc>
              <a:spcAft>
                <a:spcPts val="800"/>
              </a:spcAft>
              <a:buFont typeface="Symbol" panose="05050102010706020507" pitchFamily="18" charset="2"/>
              <a:buChar char=""/>
            </a:pPr>
            <a:r>
              <a:rPr lang="en-US" sz="1400">
                <a:latin typeface="Calibri" panose="020F0502020204030204" pitchFamily="34" charset="0"/>
                <a:ea typeface="Calibri" panose="020F0502020204030204" pitchFamily="34" charset="0"/>
                <a:cs typeface="Times New Roman" panose="02020603050405020304" pitchFamily="18" charset="0"/>
              </a:rPr>
              <a:t>Đối với trường hợp này, VAECO đã tiến hành kiểm tra khối SAV không phát hiện hỏng hóc bên ngoài và không phát hiện FOD, và động thời quay manually không được. Ngoài ra động cơ này đã được thực hiện nâng cấp HPV Seal từ tháng 9/2024 để tránh việc bong và rơi seal gây kẹt Valve </a:t>
            </a:r>
            <a:r>
              <a:rPr lang="en-US" sz="140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US" sz="1400">
                <a:latin typeface="Calibri" panose="020F0502020204030204" pitchFamily="34" charset="0"/>
                <a:ea typeface="Calibri" panose="020F0502020204030204" pitchFamily="34" charset="0"/>
                <a:cs typeface="Times New Roman" panose="02020603050405020304" pitchFamily="18" charset="0"/>
              </a:rPr>
              <a:t> do đó khả năng hỏng hóc cơ cấu cơ bên trong SAV, it xảy ra. Tiếp tục theo dõi và phối hợp ban QLVT làm việc với shop để xác định nguyên nhân và claim BH sửa chữa.</a:t>
            </a:r>
          </a:p>
        </p:txBody>
      </p:sp>
    </p:spTree>
    <p:extLst>
      <p:ext uri="{BB962C8B-B14F-4D97-AF65-F5344CB8AC3E}">
        <p14:creationId xmlns:p14="http://schemas.microsoft.com/office/powerpoint/2010/main" val="373408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xmlns=""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pic>
        <p:nvPicPr>
          <p:cNvPr id="6" name="Image 0" descr="preencoded.png"/>
          <p:cNvPicPr>
            <a:picLocks noChangeAspect="1"/>
          </p:cNvPicPr>
          <p:nvPr/>
        </p:nvPicPr>
        <p:blipFill>
          <a:blip r:embed="rId4"/>
          <a:stretch>
            <a:fillRect/>
          </a:stretch>
        </p:blipFill>
        <p:spPr>
          <a:xfrm>
            <a:off x="0" y="990600"/>
            <a:ext cx="4572000" cy="5868790"/>
          </a:xfrm>
          <a:prstGeom prst="rect">
            <a:avLst/>
          </a:prstGeom>
        </p:spPr>
      </p:pic>
      <p:sp>
        <p:nvSpPr>
          <p:cNvPr id="8" name="Text 0"/>
          <p:cNvSpPr/>
          <p:nvPr/>
        </p:nvSpPr>
        <p:spPr>
          <a:xfrm>
            <a:off x="5169794" y="774423"/>
            <a:ext cx="6424414" cy="1004689"/>
          </a:xfrm>
          <a:prstGeom prst="rect">
            <a:avLst/>
          </a:prstGeom>
          <a:noFill/>
          <a:ln/>
        </p:spPr>
        <p:txBody>
          <a:bodyPr wrap="square" lIns="0" tIns="0" rIns="0" bIns="0" rtlCol="0" anchor="t"/>
          <a:lstStyle/>
          <a:p>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Hỏng Hóc Nổi Bật Đội Tàu A321 và Giải Pháp </a:t>
            </a:r>
            <a:r>
              <a:rPr lang="en-US" sz="1600" b="1" dirty="0" err="1">
                <a:solidFill>
                  <a:srgbClr val="38512F"/>
                </a:solidFill>
                <a:latin typeface="Times New Roman" panose="02020603050405020304" pitchFamily="18" charset="0"/>
                <a:ea typeface="Lora" pitchFamily="34" charset="-122"/>
                <a:cs typeface="Times New Roman" panose="02020603050405020304" pitchFamily="18" charset="0"/>
              </a:rPr>
              <a:t>Khắc</a:t>
            </a:r>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b="1" dirty="0" err="1" smtClean="0">
                <a:solidFill>
                  <a:srgbClr val="38512F"/>
                </a:solidFill>
                <a:latin typeface="Times New Roman" panose="02020603050405020304" pitchFamily="18" charset="0"/>
                <a:ea typeface="Lora" pitchFamily="34" charset="-122"/>
                <a:cs typeface="Times New Roman" panose="02020603050405020304" pitchFamily="18" charset="0"/>
              </a:rPr>
              <a:t>Phục</a:t>
            </a:r>
            <a:r>
              <a:rPr lang="en-US" sz="1600" b="1" dirty="0" smtClean="0">
                <a:solidFill>
                  <a:srgbClr val="38512F"/>
                </a:solidFill>
                <a:latin typeface="Times New Roman" panose="02020603050405020304" pitchFamily="18" charset="0"/>
                <a:ea typeface="Lora" pitchFamily="34" charset="-122"/>
                <a:cs typeface="Times New Roman" panose="02020603050405020304" pitchFamily="18" charset="0"/>
              </a:rPr>
              <a:t> </a:t>
            </a:r>
          </a:p>
          <a:p>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Trong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tuần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phát</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sinh</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4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sự</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kiện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AOG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và</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02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sự</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kiện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GTB</a:t>
            </a:r>
          </a:p>
          <a:p>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Phần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lớn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hỏng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hóc</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xảy</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ra</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ở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các</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thiết</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bị</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lắp</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trên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động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cơ</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trừ</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trường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hợp</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A513),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một</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số</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khối</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theo</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thống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kê</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mới</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chỉ</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lắp</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lên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và</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khai</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thác</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từ</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năm</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2024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đến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nay</a:t>
            </a:r>
            <a:endParaRPr lang="en-US" sz="1100" dirty="0">
              <a:latin typeface="Times New Roman" panose="02020603050405020304" pitchFamily="18" charset="0"/>
              <a:cs typeface="Times New Roman" panose="02020603050405020304" pitchFamily="18" charset="0"/>
            </a:endParaRPr>
          </a:p>
        </p:txBody>
      </p:sp>
      <p:sp>
        <p:nvSpPr>
          <p:cNvPr id="9" name="Shape 1"/>
          <p:cNvSpPr/>
          <p:nvPr/>
        </p:nvSpPr>
        <p:spPr>
          <a:xfrm>
            <a:off x="5169794" y="1730573"/>
            <a:ext cx="6424414" cy="968375"/>
          </a:xfrm>
          <a:prstGeom prst="roundRect">
            <a:avLst>
              <a:gd name="adj" fmla="val 2646"/>
            </a:avLst>
          </a:prstGeom>
          <a:solidFill>
            <a:srgbClr val="F3E7D4"/>
          </a:solidFill>
          <a:ln/>
        </p:spPr>
      </p:sp>
      <p:sp>
        <p:nvSpPr>
          <p:cNvPr id="10" name="Text 2"/>
          <p:cNvSpPr/>
          <p:nvPr/>
        </p:nvSpPr>
        <p:spPr>
          <a:xfrm>
            <a:off x="5340548" y="1901329"/>
            <a:ext cx="2009577" cy="251123"/>
          </a:xfrm>
          <a:prstGeom prst="rect">
            <a:avLst/>
          </a:prstGeom>
          <a:noFill/>
          <a:ln/>
        </p:spPr>
        <p:txBody>
          <a:bodyPr wrap="none" lIns="0" tIns="0" rIns="0" bIns="0" rtlCol="0" anchor="t"/>
          <a:lstStyle/>
          <a:p>
            <a:pPr>
              <a:lnSpc>
                <a:spcPts val="1958"/>
              </a:lnSpc>
            </a:pPr>
            <a:r>
              <a:rPr lang="en-US" sz="1542" dirty="0" smtClean="0">
                <a:solidFill>
                  <a:srgbClr val="3A3630"/>
                </a:solidFill>
                <a:latin typeface="Lora" pitchFamily="34" charset="0"/>
                <a:ea typeface="Lora" pitchFamily="34" charset="-122"/>
                <a:cs typeface="Lora" pitchFamily="34" charset="-120"/>
              </a:rPr>
              <a:t>A512/VII</a:t>
            </a:r>
            <a:endParaRPr lang="en-US" sz="1542" dirty="0"/>
          </a:p>
        </p:txBody>
      </p:sp>
      <p:sp>
        <p:nvSpPr>
          <p:cNvPr id="11" name="Text 3"/>
          <p:cNvSpPr/>
          <p:nvPr/>
        </p:nvSpPr>
        <p:spPr>
          <a:xfrm>
            <a:off x="5340549" y="2254845"/>
            <a:ext cx="6082903" cy="273348"/>
          </a:xfrm>
          <a:prstGeom prst="rect">
            <a:avLst/>
          </a:prstGeom>
          <a:noFill/>
          <a:ln/>
        </p:spPr>
        <p:txBody>
          <a:bodyPr wrap="none" lIns="0" tIns="0" rIns="0" bIns="0" rtlCol="0" anchor="t"/>
          <a:lstStyle/>
          <a:p>
            <a:pPr>
              <a:lnSpc>
                <a:spcPts val="2125"/>
              </a:lnSpc>
            </a:pPr>
            <a:r>
              <a:rPr lang="en-US" sz="1333" dirty="0" smtClean="0">
                <a:solidFill>
                  <a:srgbClr val="3A3630"/>
                </a:solidFill>
                <a:latin typeface="Source Sans Pro" pitchFamily="34" charset="0"/>
                <a:ea typeface="Source Sans Pro" pitchFamily="34" charset="-122"/>
                <a:cs typeface="Source Sans Pro" pitchFamily="34" charset="-120"/>
              </a:rPr>
              <a:t>GTB/AOG do </a:t>
            </a:r>
            <a:r>
              <a:rPr lang="en-US" sz="1333" dirty="0" err="1" smtClean="0">
                <a:solidFill>
                  <a:srgbClr val="3A3630"/>
                </a:solidFill>
                <a:latin typeface="Source Sans Pro" pitchFamily="34" charset="0"/>
                <a:ea typeface="Source Sans Pro" pitchFamily="34" charset="-122"/>
                <a:cs typeface="Source Sans Pro" pitchFamily="34" charset="-120"/>
              </a:rPr>
              <a:t>stater</a:t>
            </a:r>
            <a:r>
              <a:rPr lang="en-US" sz="1333" dirty="0" smtClean="0">
                <a:solidFill>
                  <a:srgbClr val="3A3630"/>
                </a:solidFill>
                <a:latin typeface="Source Sans Pro" pitchFamily="34" charset="0"/>
                <a:ea typeface="Source Sans Pro" pitchFamily="34" charset="-122"/>
                <a:cs typeface="Source Sans Pro" pitchFamily="34" charset="-120"/>
              </a:rPr>
              <a:t> valve </a:t>
            </a:r>
            <a:r>
              <a:rPr lang="en-US" sz="1333" dirty="0" err="1" smtClean="0">
                <a:solidFill>
                  <a:srgbClr val="3A3630"/>
                </a:solidFill>
                <a:latin typeface="Source Sans Pro" pitchFamily="34" charset="0"/>
                <a:ea typeface="Source Sans Pro" pitchFamily="34" charset="-122"/>
                <a:cs typeface="Source Sans Pro" pitchFamily="34" charset="-120"/>
              </a:rPr>
              <a:t>Eng</a:t>
            </a:r>
            <a:r>
              <a:rPr lang="en-US" sz="1333" dirty="0" smtClean="0">
                <a:solidFill>
                  <a:srgbClr val="3A3630"/>
                </a:solidFill>
                <a:latin typeface="Source Sans Pro" pitchFamily="34" charset="0"/>
                <a:ea typeface="Source Sans Pro" pitchFamily="34" charset="-122"/>
                <a:cs typeface="Source Sans Pro" pitchFamily="34" charset="-120"/>
              </a:rPr>
              <a:t> 1 </a:t>
            </a:r>
            <a:r>
              <a:rPr lang="en-US" sz="1333" dirty="0" err="1" smtClean="0">
                <a:solidFill>
                  <a:srgbClr val="3A3630"/>
                </a:solidFill>
                <a:latin typeface="Source Sans Pro" pitchFamily="34" charset="0"/>
                <a:ea typeface="Source Sans Pro" pitchFamily="34" charset="-122"/>
                <a:cs typeface="Source Sans Pro" pitchFamily="34" charset="-120"/>
              </a:rPr>
              <a:t>không</a:t>
            </a:r>
            <a:r>
              <a:rPr lang="en-US" sz="1333" dirty="0" smtClean="0">
                <a:solidFill>
                  <a:srgbClr val="3A3630"/>
                </a:solidFill>
                <a:latin typeface="Source Sans Pro" pitchFamily="34" charset="0"/>
                <a:ea typeface="Source Sans Pro" pitchFamily="34" charset="-122"/>
                <a:cs typeface="Source Sans Pro" pitchFamily="34" charset="-120"/>
              </a:rPr>
              <a:t> </a:t>
            </a:r>
            <a:r>
              <a:rPr lang="en-US" sz="1333" dirty="0" err="1" smtClean="0">
                <a:solidFill>
                  <a:srgbClr val="3A3630"/>
                </a:solidFill>
                <a:latin typeface="Source Sans Pro" pitchFamily="34" charset="0"/>
                <a:ea typeface="Source Sans Pro" pitchFamily="34" charset="-122"/>
                <a:cs typeface="Source Sans Pro" pitchFamily="34" charset="-120"/>
              </a:rPr>
              <a:t>đóng</a:t>
            </a:r>
            <a:r>
              <a:rPr lang="en-US" sz="1333" dirty="0" smtClean="0">
                <a:solidFill>
                  <a:srgbClr val="3A3630"/>
                </a:solidFill>
                <a:latin typeface="Source Sans Pro" pitchFamily="34" charset="0"/>
                <a:ea typeface="Source Sans Pro" pitchFamily="34" charset="-122"/>
                <a:cs typeface="Source Sans Pro" pitchFamily="34" charset="-120"/>
              </a:rPr>
              <a:t> </a:t>
            </a:r>
            <a:r>
              <a:rPr lang="en-US" sz="1333" dirty="0" err="1" smtClean="0">
                <a:solidFill>
                  <a:srgbClr val="3A3630"/>
                </a:solidFill>
                <a:latin typeface="Source Sans Pro" pitchFamily="34" charset="0"/>
                <a:ea typeface="Source Sans Pro" pitchFamily="34" charset="-122"/>
                <a:cs typeface="Source Sans Pro" pitchFamily="34" charset="-120"/>
              </a:rPr>
              <a:t>được</a:t>
            </a:r>
            <a:r>
              <a:rPr lang="en-US" sz="1333" dirty="0" smtClean="0">
                <a:solidFill>
                  <a:srgbClr val="3A3630"/>
                </a:solidFill>
                <a:latin typeface="Source Sans Pro" pitchFamily="34" charset="0"/>
                <a:ea typeface="Source Sans Pro" pitchFamily="34" charset="-122"/>
                <a:cs typeface="Source Sans Pro" pitchFamily="34" charset="-120"/>
              </a:rPr>
              <a:t>.</a:t>
            </a:r>
            <a:endParaRPr lang="en-US" sz="1333" dirty="0"/>
          </a:p>
        </p:txBody>
      </p:sp>
      <p:sp>
        <p:nvSpPr>
          <p:cNvPr id="12" name="Shape 4"/>
          <p:cNvSpPr/>
          <p:nvPr/>
        </p:nvSpPr>
        <p:spPr>
          <a:xfrm>
            <a:off x="5234186" y="2869704"/>
            <a:ext cx="6424414" cy="968375"/>
          </a:xfrm>
          <a:prstGeom prst="roundRect">
            <a:avLst>
              <a:gd name="adj" fmla="val 2646"/>
            </a:avLst>
          </a:prstGeom>
          <a:solidFill>
            <a:srgbClr val="F3E7D4"/>
          </a:solidFill>
          <a:ln/>
        </p:spPr>
      </p:sp>
      <p:sp>
        <p:nvSpPr>
          <p:cNvPr id="13" name="Text 5"/>
          <p:cNvSpPr/>
          <p:nvPr/>
        </p:nvSpPr>
        <p:spPr>
          <a:xfrm>
            <a:off x="5340548" y="3040459"/>
            <a:ext cx="2009577" cy="251123"/>
          </a:xfrm>
          <a:prstGeom prst="rect">
            <a:avLst/>
          </a:prstGeom>
          <a:noFill/>
          <a:ln/>
        </p:spPr>
        <p:txBody>
          <a:bodyPr wrap="none" lIns="0" tIns="0" rIns="0" bIns="0" rtlCol="0" anchor="t"/>
          <a:lstStyle/>
          <a:p>
            <a:pPr>
              <a:lnSpc>
                <a:spcPts val="1958"/>
              </a:lnSpc>
            </a:pPr>
            <a:r>
              <a:rPr lang="en-US" sz="1542" dirty="0" smtClean="0">
                <a:solidFill>
                  <a:srgbClr val="3A3630"/>
                </a:solidFill>
                <a:latin typeface="Lora" pitchFamily="34" charset="0"/>
                <a:ea typeface="Lora" pitchFamily="34" charset="-122"/>
                <a:cs typeface="Lora" pitchFamily="34" charset="-120"/>
              </a:rPr>
              <a:t>A513/HAN</a:t>
            </a:r>
            <a:endParaRPr lang="en-US" sz="1542" dirty="0"/>
          </a:p>
        </p:txBody>
      </p:sp>
      <p:sp>
        <p:nvSpPr>
          <p:cNvPr id="14" name="Text 6"/>
          <p:cNvSpPr/>
          <p:nvPr/>
        </p:nvSpPr>
        <p:spPr>
          <a:xfrm>
            <a:off x="5340549" y="3393976"/>
            <a:ext cx="6082903" cy="273348"/>
          </a:xfrm>
          <a:prstGeom prst="rect">
            <a:avLst/>
          </a:prstGeom>
          <a:noFill/>
          <a:ln/>
        </p:spPr>
        <p:txBody>
          <a:bodyPr wrap="none" lIns="0" tIns="0" rIns="0" bIns="0" rtlCol="0" anchor="t"/>
          <a:lstStyle/>
          <a:p>
            <a:pPr>
              <a:lnSpc>
                <a:spcPts val="2125"/>
              </a:lnSpc>
            </a:pPr>
            <a:r>
              <a:rPr lang="en-US" sz="1333" dirty="0" smtClean="0">
                <a:solidFill>
                  <a:srgbClr val="3A3630"/>
                </a:solidFill>
                <a:latin typeface="Source Sans Pro" pitchFamily="34" charset="0"/>
                <a:ea typeface="Source Sans Pro" pitchFamily="34" charset="-122"/>
              </a:rPr>
              <a:t>AOG do </a:t>
            </a:r>
            <a:r>
              <a:rPr lang="en-US" sz="1333" dirty="0" err="1" smtClean="0">
                <a:solidFill>
                  <a:srgbClr val="3A3630"/>
                </a:solidFill>
                <a:latin typeface="Source Sans Pro" pitchFamily="34" charset="0"/>
                <a:ea typeface="Source Sans Pro" pitchFamily="34" charset="-122"/>
              </a:rPr>
              <a:t>phát</a:t>
            </a:r>
            <a:r>
              <a:rPr lang="en-US" sz="1333" dirty="0" smtClean="0">
                <a:solidFill>
                  <a:srgbClr val="3A3630"/>
                </a:solidFill>
                <a:latin typeface="Source Sans Pro" pitchFamily="34" charset="0"/>
                <a:ea typeface="Source Sans Pro" pitchFamily="34" charset="-122"/>
              </a:rPr>
              <a:t> </a:t>
            </a:r>
            <a:r>
              <a:rPr lang="en-US" sz="1333" dirty="0" err="1" smtClean="0">
                <a:solidFill>
                  <a:srgbClr val="3A3630"/>
                </a:solidFill>
                <a:latin typeface="Source Sans Pro" pitchFamily="34" charset="0"/>
                <a:ea typeface="Source Sans Pro" pitchFamily="34" charset="-122"/>
              </a:rPr>
              <a:t>sinh</a:t>
            </a:r>
            <a:r>
              <a:rPr lang="en-US" sz="1333" dirty="0" smtClean="0">
                <a:solidFill>
                  <a:srgbClr val="3A3630"/>
                </a:solidFill>
                <a:latin typeface="Source Sans Pro" pitchFamily="34" charset="0"/>
                <a:ea typeface="Source Sans Pro" pitchFamily="34" charset="-122"/>
              </a:rPr>
              <a:t> </a:t>
            </a:r>
            <a:r>
              <a:rPr lang="en-US" sz="1333" dirty="0" err="1" smtClean="0">
                <a:solidFill>
                  <a:srgbClr val="3A3630"/>
                </a:solidFill>
                <a:latin typeface="Source Sans Pro" pitchFamily="34" charset="0"/>
                <a:ea typeface="Source Sans Pro" pitchFamily="34" charset="-122"/>
              </a:rPr>
              <a:t>hỏng</a:t>
            </a:r>
            <a:r>
              <a:rPr lang="en-US" sz="1333" dirty="0" smtClean="0">
                <a:solidFill>
                  <a:srgbClr val="3A3630"/>
                </a:solidFill>
                <a:latin typeface="Source Sans Pro" pitchFamily="34" charset="0"/>
                <a:ea typeface="Source Sans Pro" pitchFamily="34" charset="-122"/>
              </a:rPr>
              <a:t> </a:t>
            </a:r>
            <a:r>
              <a:rPr lang="en-US" sz="1333" dirty="0" err="1" smtClean="0">
                <a:solidFill>
                  <a:srgbClr val="3A3630"/>
                </a:solidFill>
                <a:latin typeface="Source Sans Pro" pitchFamily="34" charset="0"/>
                <a:ea typeface="Source Sans Pro" pitchFamily="34" charset="-122"/>
              </a:rPr>
              <a:t>hóc</a:t>
            </a:r>
            <a:r>
              <a:rPr lang="en-US" sz="1333" dirty="0">
                <a:solidFill>
                  <a:srgbClr val="3A3630"/>
                </a:solidFill>
                <a:latin typeface="Source Sans Pro" pitchFamily="34" charset="0"/>
                <a:ea typeface="Source Sans Pro" pitchFamily="34" charset="-122"/>
              </a:rPr>
              <a:t> </a:t>
            </a:r>
            <a:r>
              <a:rPr lang="en-US" sz="1333" dirty="0" smtClean="0">
                <a:solidFill>
                  <a:srgbClr val="3A3630"/>
                </a:solidFill>
                <a:latin typeface="Source Sans Pro" pitchFamily="34" charset="0"/>
                <a:ea typeface="Source Sans Pro" pitchFamily="34" charset="-122"/>
              </a:rPr>
              <a:t>vent blower fan </a:t>
            </a:r>
            <a:endParaRPr lang="en-US" sz="1333" dirty="0"/>
          </a:p>
        </p:txBody>
      </p:sp>
      <p:sp>
        <p:nvSpPr>
          <p:cNvPr id="15" name="Shape 7"/>
          <p:cNvSpPr/>
          <p:nvPr/>
        </p:nvSpPr>
        <p:spPr>
          <a:xfrm>
            <a:off x="5169794" y="4008834"/>
            <a:ext cx="6488806" cy="968375"/>
          </a:xfrm>
          <a:prstGeom prst="roundRect">
            <a:avLst>
              <a:gd name="adj" fmla="val 2646"/>
            </a:avLst>
          </a:prstGeom>
          <a:solidFill>
            <a:srgbClr val="F3E7D4"/>
          </a:solidFill>
          <a:ln/>
        </p:spPr>
      </p:sp>
      <p:sp>
        <p:nvSpPr>
          <p:cNvPr id="16" name="Text 8"/>
          <p:cNvSpPr/>
          <p:nvPr/>
        </p:nvSpPr>
        <p:spPr>
          <a:xfrm>
            <a:off x="5340548" y="4179590"/>
            <a:ext cx="2009577" cy="251123"/>
          </a:xfrm>
          <a:prstGeom prst="rect">
            <a:avLst/>
          </a:prstGeom>
          <a:noFill/>
          <a:ln/>
        </p:spPr>
        <p:txBody>
          <a:bodyPr wrap="none" lIns="0" tIns="0" rIns="0" bIns="0" rtlCol="0" anchor="t"/>
          <a:lstStyle/>
          <a:p>
            <a:pPr>
              <a:lnSpc>
                <a:spcPts val="1958"/>
              </a:lnSpc>
            </a:pPr>
            <a:r>
              <a:rPr lang="en-US" sz="1542" dirty="0" smtClean="0">
                <a:solidFill>
                  <a:srgbClr val="FF0000"/>
                </a:solidFill>
                <a:latin typeface="Lora" pitchFamily="34" charset="0"/>
                <a:ea typeface="Lora" pitchFamily="34" charset="-122"/>
                <a:cs typeface="Lora" pitchFamily="34" charset="-120"/>
              </a:rPr>
              <a:t>A334/LPQ (AOG outstation </a:t>
            </a:r>
            <a:r>
              <a:rPr lang="en-US" sz="1542" dirty="0" err="1" smtClean="0">
                <a:solidFill>
                  <a:srgbClr val="FF0000"/>
                </a:solidFill>
                <a:latin typeface="Lora" pitchFamily="34" charset="0"/>
                <a:ea typeface="Lora" pitchFamily="34" charset="-122"/>
                <a:cs typeface="Lora" pitchFamily="34" charset="-120"/>
              </a:rPr>
              <a:t>phải</a:t>
            </a:r>
            <a:r>
              <a:rPr lang="en-US" sz="1542" dirty="0" smtClean="0">
                <a:solidFill>
                  <a:srgbClr val="FF0000"/>
                </a:solidFill>
                <a:latin typeface="Lora" pitchFamily="34" charset="0"/>
                <a:ea typeface="Lora" pitchFamily="34" charset="-122"/>
                <a:cs typeface="Lora" pitchFamily="34" charset="-120"/>
              </a:rPr>
              <a:t> </a:t>
            </a:r>
            <a:r>
              <a:rPr lang="en-US" sz="1542" dirty="0" err="1" smtClean="0">
                <a:solidFill>
                  <a:srgbClr val="FF0000"/>
                </a:solidFill>
                <a:latin typeface="Lora" pitchFamily="34" charset="0"/>
                <a:ea typeface="Lora" pitchFamily="34" charset="-122"/>
                <a:cs typeface="Lora" pitchFamily="34" charset="-120"/>
              </a:rPr>
              <a:t>hủy</a:t>
            </a:r>
            <a:r>
              <a:rPr lang="en-US" sz="1542" dirty="0" smtClean="0">
                <a:solidFill>
                  <a:srgbClr val="FF0000"/>
                </a:solidFill>
                <a:latin typeface="Lora" pitchFamily="34" charset="0"/>
                <a:ea typeface="Lora" pitchFamily="34" charset="-122"/>
                <a:cs typeface="Lora" pitchFamily="34" charset="-120"/>
              </a:rPr>
              <a:t> </a:t>
            </a:r>
            <a:r>
              <a:rPr lang="en-US" sz="1542" dirty="0" err="1" smtClean="0">
                <a:solidFill>
                  <a:srgbClr val="FF0000"/>
                </a:solidFill>
                <a:latin typeface="Lora" pitchFamily="34" charset="0"/>
                <a:ea typeface="Lora" pitchFamily="34" charset="-122"/>
                <a:cs typeface="Lora" pitchFamily="34" charset="-120"/>
              </a:rPr>
              <a:t>chuyến</a:t>
            </a:r>
            <a:r>
              <a:rPr lang="en-US" sz="1542" dirty="0" smtClean="0">
                <a:solidFill>
                  <a:srgbClr val="FF0000"/>
                </a:solidFill>
                <a:latin typeface="Lora" pitchFamily="34" charset="0"/>
                <a:ea typeface="Lora" pitchFamily="34" charset="-122"/>
                <a:cs typeface="Lora" pitchFamily="34" charset="-120"/>
              </a:rPr>
              <a:t> bay)</a:t>
            </a:r>
            <a:endParaRPr lang="en-US" sz="1542" dirty="0">
              <a:solidFill>
                <a:srgbClr val="FF0000"/>
              </a:solidFill>
            </a:endParaRPr>
          </a:p>
        </p:txBody>
      </p:sp>
      <p:sp>
        <p:nvSpPr>
          <p:cNvPr id="17" name="Text 9"/>
          <p:cNvSpPr/>
          <p:nvPr/>
        </p:nvSpPr>
        <p:spPr>
          <a:xfrm>
            <a:off x="5340549" y="4533107"/>
            <a:ext cx="6082903" cy="273348"/>
          </a:xfrm>
          <a:prstGeom prst="rect">
            <a:avLst/>
          </a:prstGeom>
          <a:noFill/>
          <a:ln/>
        </p:spPr>
        <p:txBody>
          <a:bodyPr wrap="none" lIns="0" tIns="0" rIns="0" bIns="0" rtlCol="0" anchor="t"/>
          <a:lstStyle/>
          <a:p>
            <a:pPr>
              <a:lnSpc>
                <a:spcPts val="2125"/>
              </a:lnSpc>
            </a:pPr>
            <a:r>
              <a:rPr lang="en-US" sz="1333" dirty="0" smtClean="0">
                <a:solidFill>
                  <a:srgbClr val="FF0000"/>
                </a:solidFill>
                <a:latin typeface="Source Sans Pro" pitchFamily="34" charset="0"/>
                <a:ea typeface="Source Sans Pro" pitchFamily="34" charset="-122"/>
              </a:rPr>
              <a:t>AOG </a:t>
            </a:r>
            <a:r>
              <a:rPr lang="en-US" sz="1333" dirty="0" err="1" smtClean="0">
                <a:solidFill>
                  <a:srgbClr val="FF0000"/>
                </a:solidFill>
                <a:latin typeface="Source Sans Pro" pitchFamily="34" charset="0"/>
                <a:ea typeface="Source Sans Pro" pitchFamily="34" charset="-122"/>
              </a:rPr>
              <a:t>phát</a:t>
            </a:r>
            <a:r>
              <a:rPr lang="en-US" sz="1333" dirty="0" smtClean="0">
                <a:solidFill>
                  <a:srgbClr val="FF0000"/>
                </a:solidFill>
                <a:latin typeface="Source Sans Pro" pitchFamily="34" charset="0"/>
                <a:ea typeface="Source Sans Pro" pitchFamily="34" charset="-122"/>
              </a:rPr>
              <a:t> </a:t>
            </a:r>
            <a:r>
              <a:rPr lang="en-US" sz="1333" dirty="0" err="1" smtClean="0">
                <a:solidFill>
                  <a:srgbClr val="FF0000"/>
                </a:solidFill>
                <a:latin typeface="Source Sans Pro" pitchFamily="34" charset="0"/>
                <a:ea typeface="Source Sans Pro" pitchFamily="34" charset="-122"/>
              </a:rPr>
              <a:t>sinh</a:t>
            </a:r>
            <a:r>
              <a:rPr lang="en-US" sz="1333" dirty="0" smtClean="0">
                <a:solidFill>
                  <a:srgbClr val="FF0000"/>
                </a:solidFill>
                <a:latin typeface="Source Sans Pro" pitchFamily="34" charset="0"/>
                <a:ea typeface="Source Sans Pro" pitchFamily="34" charset="-122"/>
              </a:rPr>
              <a:t> </a:t>
            </a:r>
            <a:r>
              <a:rPr lang="en-US" sz="1333" dirty="0" err="1" smtClean="0">
                <a:solidFill>
                  <a:srgbClr val="FF0000"/>
                </a:solidFill>
                <a:latin typeface="Source Sans Pro" pitchFamily="34" charset="0"/>
                <a:ea typeface="Source Sans Pro" pitchFamily="34" charset="-122"/>
              </a:rPr>
              <a:t>cảnh</a:t>
            </a:r>
            <a:r>
              <a:rPr lang="en-US" sz="1333" dirty="0" smtClean="0">
                <a:solidFill>
                  <a:srgbClr val="FF0000"/>
                </a:solidFill>
                <a:latin typeface="Source Sans Pro" pitchFamily="34" charset="0"/>
                <a:ea typeface="Source Sans Pro" pitchFamily="34" charset="-122"/>
              </a:rPr>
              <a:t> </a:t>
            </a:r>
            <a:r>
              <a:rPr lang="en-US" sz="1333" dirty="0" err="1" smtClean="0">
                <a:solidFill>
                  <a:srgbClr val="FF0000"/>
                </a:solidFill>
                <a:latin typeface="Source Sans Pro" pitchFamily="34" charset="0"/>
                <a:ea typeface="Source Sans Pro" pitchFamily="34" charset="-122"/>
              </a:rPr>
              <a:t>báo</a:t>
            </a:r>
            <a:r>
              <a:rPr lang="en-US" sz="1333" dirty="0" smtClean="0">
                <a:solidFill>
                  <a:srgbClr val="FF0000"/>
                </a:solidFill>
                <a:latin typeface="Source Sans Pro" pitchFamily="34" charset="0"/>
                <a:ea typeface="Source Sans Pro" pitchFamily="34" charset="-122"/>
              </a:rPr>
              <a:t> ENG </a:t>
            </a:r>
            <a:r>
              <a:rPr lang="en-US" sz="1333" dirty="0">
                <a:solidFill>
                  <a:srgbClr val="FF0000"/>
                </a:solidFill>
                <a:latin typeface="Source Sans Pro" pitchFamily="34" charset="0"/>
                <a:ea typeface="Source Sans Pro" pitchFamily="34" charset="-122"/>
              </a:rPr>
              <a:t>1 COMPRESSOR </a:t>
            </a:r>
            <a:r>
              <a:rPr lang="en-US" sz="1333" dirty="0" smtClean="0">
                <a:solidFill>
                  <a:srgbClr val="FF0000"/>
                </a:solidFill>
                <a:latin typeface="Source Sans Pro" pitchFamily="34" charset="0"/>
                <a:ea typeface="Source Sans Pro" pitchFamily="34" charset="-122"/>
              </a:rPr>
              <a:t>VANE do </a:t>
            </a:r>
            <a:r>
              <a:rPr lang="en-US" sz="1333" dirty="0" err="1" smtClean="0">
                <a:solidFill>
                  <a:srgbClr val="FF0000"/>
                </a:solidFill>
                <a:latin typeface="Source Sans Pro" pitchFamily="34" charset="0"/>
                <a:ea typeface="Source Sans Pro" pitchFamily="34" charset="-122"/>
              </a:rPr>
              <a:t>hỏng</a:t>
            </a:r>
            <a:r>
              <a:rPr lang="en-US" sz="1333" dirty="0" smtClean="0">
                <a:solidFill>
                  <a:srgbClr val="FF0000"/>
                </a:solidFill>
                <a:latin typeface="Source Sans Pro" pitchFamily="34" charset="0"/>
                <a:ea typeface="Source Sans Pro" pitchFamily="34" charset="-122"/>
              </a:rPr>
              <a:t> VSV Actuator  </a:t>
            </a:r>
            <a:endParaRPr lang="en-US" sz="1400" dirty="0">
              <a:solidFill>
                <a:srgbClr val="FF0000"/>
              </a:solidFill>
            </a:endParaRPr>
          </a:p>
          <a:p>
            <a:pPr>
              <a:lnSpc>
                <a:spcPts val="2125"/>
              </a:lnSpc>
            </a:pPr>
            <a:endParaRPr lang="en-US" sz="1333" dirty="0">
              <a:solidFill>
                <a:srgbClr val="FF0000"/>
              </a:solidFill>
            </a:endParaRPr>
          </a:p>
        </p:txBody>
      </p:sp>
      <p:sp>
        <p:nvSpPr>
          <p:cNvPr id="18" name="Shape 10"/>
          <p:cNvSpPr/>
          <p:nvPr/>
        </p:nvSpPr>
        <p:spPr>
          <a:xfrm>
            <a:off x="5169794" y="5147965"/>
            <a:ext cx="6424414" cy="1241723"/>
          </a:xfrm>
          <a:prstGeom prst="roundRect">
            <a:avLst>
              <a:gd name="adj" fmla="val 2063"/>
            </a:avLst>
          </a:prstGeom>
          <a:solidFill>
            <a:srgbClr val="F3E7D4"/>
          </a:solidFill>
          <a:ln/>
        </p:spPr>
      </p:sp>
      <p:sp>
        <p:nvSpPr>
          <p:cNvPr id="19" name="Text 11"/>
          <p:cNvSpPr/>
          <p:nvPr/>
        </p:nvSpPr>
        <p:spPr>
          <a:xfrm>
            <a:off x="5340548" y="5318720"/>
            <a:ext cx="2009577" cy="251123"/>
          </a:xfrm>
          <a:prstGeom prst="rect">
            <a:avLst/>
          </a:prstGeom>
          <a:noFill/>
          <a:ln/>
        </p:spPr>
        <p:txBody>
          <a:bodyPr wrap="none" lIns="0" tIns="0" rIns="0" bIns="0" rtlCol="0" anchor="t"/>
          <a:lstStyle/>
          <a:p>
            <a:pPr>
              <a:lnSpc>
                <a:spcPts val="1958"/>
              </a:lnSpc>
            </a:pPr>
            <a:r>
              <a:rPr lang="en-US" sz="1542" dirty="0" smtClean="0">
                <a:solidFill>
                  <a:srgbClr val="3A3630"/>
                </a:solidFill>
                <a:latin typeface="Lora" pitchFamily="34" charset="0"/>
                <a:ea typeface="Lora" pitchFamily="34" charset="-122"/>
                <a:cs typeface="Lora" pitchFamily="34" charset="-120"/>
              </a:rPr>
              <a:t>A608/HAN</a:t>
            </a:r>
            <a:endParaRPr lang="en-US" sz="1542" dirty="0"/>
          </a:p>
        </p:txBody>
      </p:sp>
      <p:sp>
        <p:nvSpPr>
          <p:cNvPr id="20" name="Text 12"/>
          <p:cNvSpPr/>
          <p:nvPr/>
        </p:nvSpPr>
        <p:spPr>
          <a:xfrm>
            <a:off x="5340549" y="5672237"/>
            <a:ext cx="6082903" cy="546695"/>
          </a:xfrm>
          <a:prstGeom prst="rect">
            <a:avLst/>
          </a:prstGeom>
          <a:noFill/>
          <a:ln/>
        </p:spPr>
        <p:txBody>
          <a:bodyPr wrap="square" lIns="0" tIns="0" rIns="0" bIns="0" rtlCol="0" anchor="t"/>
          <a:lstStyle/>
          <a:p>
            <a:pPr>
              <a:lnSpc>
                <a:spcPts val="2125"/>
              </a:lnSpc>
            </a:pPr>
            <a:r>
              <a:rPr lang="en-US" sz="1333" dirty="0">
                <a:solidFill>
                  <a:srgbClr val="3A3630"/>
                </a:solidFill>
                <a:latin typeface="Source Sans Pro" pitchFamily="34" charset="0"/>
                <a:ea typeface="Source Sans Pro" pitchFamily="34" charset="-122"/>
              </a:rPr>
              <a:t>GTB/AOG do </a:t>
            </a:r>
            <a:r>
              <a:rPr lang="en-US" sz="1333" dirty="0" err="1" smtClean="0">
                <a:solidFill>
                  <a:srgbClr val="3A3630"/>
                </a:solidFill>
                <a:latin typeface="Source Sans Pro" pitchFamily="34" charset="0"/>
                <a:ea typeface="Source Sans Pro" pitchFamily="34" charset="-122"/>
              </a:rPr>
              <a:t>cảnh</a:t>
            </a:r>
            <a:r>
              <a:rPr lang="en-US" sz="1333" dirty="0" smtClean="0">
                <a:solidFill>
                  <a:srgbClr val="3A3630"/>
                </a:solidFill>
                <a:latin typeface="Source Sans Pro" pitchFamily="34" charset="0"/>
                <a:ea typeface="Source Sans Pro" pitchFamily="34" charset="-122"/>
              </a:rPr>
              <a:t> </a:t>
            </a:r>
            <a:r>
              <a:rPr lang="en-US" sz="1333" dirty="0" err="1" smtClean="0">
                <a:solidFill>
                  <a:srgbClr val="3A3630"/>
                </a:solidFill>
                <a:latin typeface="Source Sans Pro" pitchFamily="34" charset="0"/>
                <a:ea typeface="Source Sans Pro" pitchFamily="34" charset="-122"/>
              </a:rPr>
              <a:t>báo</a:t>
            </a:r>
            <a:r>
              <a:rPr lang="en-US" sz="1333" dirty="0" smtClean="0">
                <a:solidFill>
                  <a:srgbClr val="3A3630"/>
                </a:solidFill>
                <a:latin typeface="Source Sans Pro" pitchFamily="34" charset="0"/>
                <a:ea typeface="Source Sans Pro" pitchFamily="34" charset="-122"/>
              </a:rPr>
              <a:t> fuel </a:t>
            </a:r>
            <a:r>
              <a:rPr lang="en-US" sz="1333" dirty="0" err="1" smtClean="0">
                <a:solidFill>
                  <a:srgbClr val="3A3630"/>
                </a:solidFill>
                <a:latin typeface="Source Sans Pro" pitchFamily="34" charset="0"/>
                <a:ea typeface="Source Sans Pro" pitchFamily="34" charset="-122"/>
              </a:rPr>
              <a:t>eng</a:t>
            </a:r>
            <a:r>
              <a:rPr lang="en-US" sz="1333" dirty="0" smtClean="0">
                <a:solidFill>
                  <a:srgbClr val="3A3630"/>
                </a:solidFill>
                <a:latin typeface="Source Sans Pro" pitchFamily="34" charset="0"/>
                <a:ea typeface="Source Sans Pro" pitchFamily="34" charset="-122"/>
              </a:rPr>
              <a:t> 2 </a:t>
            </a:r>
            <a:r>
              <a:rPr lang="en-US" sz="1333" dirty="0" err="1" smtClean="0">
                <a:solidFill>
                  <a:srgbClr val="3A3630"/>
                </a:solidFill>
                <a:latin typeface="Source Sans Pro" pitchFamily="34" charset="0"/>
                <a:ea typeface="Source Sans Pro" pitchFamily="34" charset="-122"/>
              </a:rPr>
              <a:t>lp</a:t>
            </a:r>
            <a:r>
              <a:rPr lang="en-US" sz="1333" dirty="0" smtClean="0">
                <a:solidFill>
                  <a:srgbClr val="3A3630"/>
                </a:solidFill>
                <a:latin typeface="Source Sans Pro" pitchFamily="34" charset="0"/>
                <a:ea typeface="Source Sans Pro" pitchFamily="34" charset="-122"/>
              </a:rPr>
              <a:t> valve fault &amp;  </a:t>
            </a:r>
            <a:r>
              <a:rPr lang="en-US" sz="1333" dirty="0" err="1" smtClean="0">
                <a:solidFill>
                  <a:srgbClr val="3A3630"/>
                </a:solidFill>
                <a:latin typeface="Source Sans Pro" pitchFamily="34" charset="0"/>
                <a:ea typeface="Source Sans Pro" pitchFamily="34" charset="-122"/>
              </a:rPr>
              <a:t>eng</a:t>
            </a:r>
            <a:r>
              <a:rPr lang="en-US" sz="1333" dirty="0" smtClean="0">
                <a:solidFill>
                  <a:srgbClr val="3A3630"/>
                </a:solidFill>
                <a:latin typeface="Source Sans Pro" pitchFamily="34" charset="0"/>
                <a:ea typeface="Source Sans Pro" pitchFamily="34" charset="-122"/>
              </a:rPr>
              <a:t> 2 </a:t>
            </a:r>
            <a:r>
              <a:rPr lang="en-US" sz="1333" dirty="0" err="1" smtClean="0">
                <a:solidFill>
                  <a:srgbClr val="3A3630"/>
                </a:solidFill>
                <a:latin typeface="Source Sans Pro" pitchFamily="34" charset="0"/>
                <a:ea typeface="Source Sans Pro" pitchFamily="34" charset="-122"/>
              </a:rPr>
              <a:t>fadec</a:t>
            </a:r>
            <a:r>
              <a:rPr lang="en-US" sz="1333" dirty="0" smtClean="0">
                <a:solidFill>
                  <a:srgbClr val="3A3630"/>
                </a:solidFill>
                <a:latin typeface="Source Sans Pro" pitchFamily="34" charset="0"/>
                <a:ea typeface="Source Sans Pro" pitchFamily="34" charset="-122"/>
              </a:rPr>
              <a:t> alternator</a:t>
            </a:r>
            <a:endParaRPr lang="en-US" sz="1333" dirty="0"/>
          </a:p>
        </p:txBody>
      </p:sp>
      <p:sp>
        <p:nvSpPr>
          <p:cNvPr id="22" name="Title 4"/>
          <p:cNvSpPr txBox="1">
            <a:spLocks/>
          </p:cNvSpPr>
          <p:nvPr/>
        </p:nvSpPr>
        <p:spPr>
          <a:xfrm>
            <a:off x="304800" y="118417"/>
            <a:ext cx="11811000" cy="705000"/>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400" b="1" dirty="0">
                <a:ln w="0"/>
                <a:solidFill>
                  <a:schemeClr val="accent4"/>
                </a:solidFill>
                <a:cs typeface="Times New Roman" panose="02020603050405020304" pitchFamily="18" charset="0"/>
              </a:rPr>
              <a:t>TÌNH TRẠNG KỸ THUẬT ĐỘI BAY</a:t>
            </a:r>
          </a:p>
        </p:txBody>
      </p:sp>
    </p:spTree>
    <p:custDataLst>
      <p:tags r:id="rId1"/>
    </p:custDataLst>
    <p:extLst>
      <p:ext uri="{BB962C8B-B14F-4D97-AF65-F5344CB8AC3E}">
        <p14:creationId xmlns:p14="http://schemas.microsoft.com/office/powerpoint/2010/main" val="253984921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xmlns="" id="{5FE3B712-9690-42A3-A50E-24E99475755A}"/>
              </a:ext>
            </a:extLst>
          </p:cNvPr>
          <p:cNvSpPr txBox="1"/>
          <p:nvPr/>
        </p:nvSpPr>
        <p:spPr>
          <a:xfrm>
            <a:off x="143343" y="50549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(01 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3897830C-5364-3F59-C751-405808F71DD3}"/>
              </a:ext>
            </a:extLst>
          </p:cNvPr>
          <p:cNvGraphicFramePr>
            <a:graphicFrameLocks noGrp="1"/>
          </p:cNvGraphicFramePr>
          <p:nvPr>
            <p:extLst>
              <p:ext uri="{D42A27DB-BD31-4B8C-83A1-F6EECF244321}">
                <p14:modId xmlns:p14="http://schemas.microsoft.com/office/powerpoint/2010/main" val="2100452385"/>
              </p:ext>
            </p:extLst>
          </p:nvPr>
        </p:nvGraphicFramePr>
        <p:xfrm>
          <a:off x="136297" y="984242"/>
          <a:ext cx="11676711" cy="915676"/>
        </p:xfrm>
        <a:graphic>
          <a:graphicData uri="http://schemas.openxmlformats.org/drawingml/2006/table">
            <a:tbl>
              <a:tblPr/>
              <a:tblGrid>
                <a:gridCol w="475311">
                  <a:extLst>
                    <a:ext uri="{9D8B030D-6E8A-4147-A177-3AD203B41FA5}">
                      <a16:colId xmlns:a16="http://schemas.microsoft.com/office/drawing/2014/main" xmlns="" val="1792913397"/>
                    </a:ext>
                  </a:extLst>
                </a:gridCol>
                <a:gridCol w="838200">
                  <a:extLst>
                    <a:ext uri="{9D8B030D-6E8A-4147-A177-3AD203B41FA5}">
                      <a16:colId xmlns:a16="http://schemas.microsoft.com/office/drawing/2014/main" xmlns="" val="529799103"/>
                    </a:ext>
                  </a:extLst>
                </a:gridCol>
                <a:gridCol w="685800">
                  <a:extLst>
                    <a:ext uri="{9D8B030D-6E8A-4147-A177-3AD203B41FA5}">
                      <a16:colId xmlns:a16="http://schemas.microsoft.com/office/drawing/2014/main" xmlns="" val="607951653"/>
                    </a:ext>
                  </a:extLst>
                </a:gridCol>
                <a:gridCol w="381000">
                  <a:extLst>
                    <a:ext uri="{9D8B030D-6E8A-4147-A177-3AD203B41FA5}">
                      <a16:colId xmlns:a16="http://schemas.microsoft.com/office/drawing/2014/main" xmlns="" val="483578627"/>
                    </a:ext>
                  </a:extLst>
                </a:gridCol>
                <a:gridCol w="2209800">
                  <a:extLst>
                    <a:ext uri="{9D8B030D-6E8A-4147-A177-3AD203B41FA5}">
                      <a16:colId xmlns:a16="http://schemas.microsoft.com/office/drawing/2014/main" xmlns="" val="1882943533"/>
                    </a:ext>
                  </a:extLst>
                </a:gridCol>
                <a:gridCol w="2286000">
                  <a:extLst>
                    <a:ext uri="{9D8B030D-6E8A-4147-A177-3AD203B41FA5}">
                      <a16:colId xmlns:a16="http://schemas.microsoft.com/office/drawing/2014/main" xmlns="" val="1497771938"/>
                    </a:ext>
                  </a:extLst>
                </a:gridCol>
                <a:gridCol w="533400">
                  <a:extLst>
                    <a:ext uri="{9D8B030D-6E8A-4147-A177-3AD203B41FA5}">
                      <a16:colId xmlns:a16="http://schemas.microsoft.com/office/drawing/2014/main" xmlns="" val="967639853"/>
                    </a:ext>
                  </a:extLst>
                </a:gridCol>
                <a:gridCol w="4267200">
                  <a:extLst>
                    <a:ext uri="{9D8B030D-6E8A-4147-A177-3AD203B41FA5}">
                      <a16:colId xmlns:a16="http://schemas.microsoft.com/office/drawing/2014/main" xmlns="" val="2889779060"/>
                    </a:ext>
                  </a:extLst>
                </a:gridCol>
              </a:tblGrid>
              <a:tr h="225407">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1353939761"/>
                  </a:ext>
                </a:extLst>
              </a:tr>
              <a:tr h="63761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15:13 24/04/2025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00:00 25/04/2025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CDG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FOUND BIRD STRIKE AT RADOME FOUND BIRD STRIKE AT RADOME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REPLACED NEW RADOME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Non-tech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54982336"/>
                  </a:ext>
                </a:extLst>
              </a:tr>
            </a:tbl>
          </a:graphicData>
        </a:graphic>
      </p:graphicFrame>
      <p:sp>
        <p:nvSpPr>
          <p:cNvPr id="6" name="TextBox 5">
            <a:extLst>
              <a:ext uri="{FF2B5EF4-FFF2-40B4-BE49-F238E27FC236}">
                <a16:creationId xmlns:a16="http://schemas.microsoft.com/office/drawing/2014/main" xmlns="" id="{1C8B535D-D8C1-44A7-2C7C-469AE61F5D3C}"/>
              </a:ext>
            </a:extLst>
          </p:cNvPr>
          <p:cNvSpPr txBox="1"/>
          <p:nvPr/>
        </p:nvSpPr>
        <p:spPr>
          <a:xfrm>
            <a:off x="152398" y="2209800"/>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7" name="Table 6">
            <a:extLst>
              <a:ext uri="{FF2B5EF4-FFF2-40B4-BE49-F238E27FC236}">
                <a16:creationId xmlns:a16="http://schemas.microsoft.com/office/drawing/2014/main" xmlns="" id="{5EE5AD13-B51D-85AD-1741-83690BD60BED}"/>
              </a:ext>
            </a:extLst>
          </p:cNvPr>
          <p:cNvGraphicFramePr>
            <a:graphicFrameLocks noGrp="1"/>
          </p:cNvGraphicFramePr>
          <p:nvPr>
            <p:extLst>
              <p:ext uri="{D42A27DB-BD31-4B8C-83A1-F6EECF244321}">
                <p14:modId xmlns:p14="http://schemas.microsoft.com/office/powerpoint/2010/main" val="1209600873"/>
              </p:ext>
            </p:extLst>
          </p:nvPr>
        </p:nvGraphicFramePr>
        <p:xfrm>
          <a:off x="180974" y="2541659"/>
          <a:ext cx="11688713" cy="4316341"/>
        </p:xfrm>
        <a:graphic>
          <a:graphicData uri="http://schemas.openxmlformats.org/drawingml/2006/table">
            <a:tbl>
              <a:tblPr/>
              <a:tblGrid>
                <a:gridCol w="475311">
                  <a:extLst>
                    <a:ext uri="{9D8B030D-6E8A-4147-A177-3AD203B41FA5}">
                      <a16:colId xmlns:a16="http://schemas.microsoft.com/office/drawing/2014/main" xmlns="" val="1699067947"/>
                    </a:ext>
                  </a:extLst>
                </a:gridCol>
                <a:gridCol w="762000">
                  <a:extLst>
                    <a:ext uri="{9D8B030D-6E8A-4147-A177-3AD203B41FA5}">
                      <a16:colId xmlns:a16="http://schemas.microsoft.com/office/drawing/2014/main" xmlns="" val="205224236"/>
                    </a:ext>
                  </a:extLst>
                </a:gridCol>
                <a:gridCol w="381000">
                  <a:extLst>
                    <a:ext uri="{9D8B030D-6E8A-4147-A177-3AD203B41FA5}">
                      <a16:colId xmlns:a16="http://schemas.microsoft.com/office/drawing/2014/main" xmlns="" val="3056190288"/>
                    </a:ext>
                  </a:extLst>
                </a:gridCol>
                <a:gridCol w="579500">
                  <a:extLst>
                    <a:ext uri="{9D8B030D-6E8A-4147-A177-3AD203B41FA5}">
                      <a16:colId xmlns:a16="http://schemas.microsoft.com/office/drawing/2014/main" xmlns="" val="1539559735"/>
                    </a:ext>
                  </a:extLst>
                </a:gridCol>
                <a:gridCol w="585576">
                  <a:extLst>
                    <a:ext uri="{9D8B030D-6E8A-4147-A177-3AD203B41FA5}">
                      <a16:colId xmlns:a16="http://schemas.microsoft.com/office/drawing/2014/main" xmlns="" val="2444827003"/>
                    </a:ext>
                  </a:extLst>
                </a:gridCol>
                <a:gridCol w="486713">
                  <a:extLst>
                    <a:ext uri="{9D8B030D-6E8A-4147-A177-3AD203B41FA5}">
                      <a16:colId xmlns:a16="http://schemas.microsoft.com/office/drawing/2014/main" xmlns="" val="3491416527"/>
                    </a:ext>
                  </a:extLst>
                </a:gridCol>
                <a:gridCol w="1929611">
                  <a:extLst>
                    <a:ext uri="{9D8B030D-6E8A-4147-A177-3AD203B41FA5}">
                      <a16:colId xmlns:a16="http://schemas.microsoft.com/office/drawing/2014/main" xmlns="" val="1857565414"/>
                    </a:ext>
                  </a:extLst>
                </a:gridCol>
                <a:gridCol w="1981200">
                  <a:extLst>
                    <a:ext uri="{9D8B030D-6E8A-4147-A177-3AD203B41FA5}">
                      <a16:colId xmlns:a16="http://schemas.microsoft.com/office/drawing/2014/main" xmlns="" val="3557937854"/>
                    </a:ext>
                  </a:extLst>
                </a:gridCol>
                <a:gridCol w="457200">
                  <a:extLst>
                    <a:ext uri="{9D8B030D-6E8A-4147-A177-3AD203B41FA5}">
                      <a16:colId xmlns:a16="http://schemas.microsoft.com/office/drawing/2014/main" xmlns="" val="3019161719"/>
                    </a:ext>
                  </a:extLst>
                </a:gridCol>
                <a:gridCol w="4050602">
                  <a:extLst>
                    <a:ext uri="{9D8B030D-6E8A-4147-A177-3AD203B41FA5}">
                      <a16:colId xmlns:a16="http://schemas.microsoft.com/office/drawing/2014/main" xmlns="" val="3608241138"/>
                    </a:ext>
                  </a:extLst>
                </a:gridCol>
              </a:tblGrid>
              <a:tr h="146809">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635056464"/>
                  </a:ext>
                </a:extLst>
              </a:tr>
              <a:tr h="44708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A891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23:00 26/04/2025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HAN-CDG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DURING BOARDING PURSER REPORT During boarding Purser report: Seat 39E recline function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inop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15D seat pan broken; recline function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inop</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 repair seat pan; maint for applied MEL seat 39E, 15D recline function inop. ACTION EVENT CLOSED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25-21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smtClean="0">
                          <a:solidFill>
                            <a:srgbClr val="000000"/>
                          </a:solidFill>
                          <a:effectLst/>
                          <a:latin typeface="+mn-lt"/>
                          <a:cs typeface="Times New Roman" panose="02020603050405020304" pitchFamily="18" charset="0"/>
                        </a:rPr>
                        <a:t>Kiểm tra và sửa chữa seat pan crack theo hướng dẫn safran. Ngả lưng ghế khắc phục bằng cách thay xi-lanh</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86251504"/>
                  </a:ext>
                </a:extLst>
              </a:tr>
              <a:tr h="712918">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A888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09:09 24/04/2025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VN779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HAN-MEL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APPEAR MSG “F/CTL ELEVATOR ACTUATOR” PREFLIGHT APPEAR MSG “F/CTL ELEVATOR ACTUATOR”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ACTION: REF 27-34-XX - 1A001-421A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1 - REPLACE ELEC MODULE -&gt; NIL HELP</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2- REPLACE SERVOCONTROL EHA ACT L/H -&gt; TEST OK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FC 2796FSE, nguyên nhân do accumlator của EHA low level như nêu trong TFU 27.00.00.119.</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Thiết bị Electro-Hydrostatic Actuator (EHA) trên A350 là dạng hybrid, có bình chứa thủy lực riêng để back up cho hệ thống thủy lực. Thông thường máy tính PRIM sẽ điều khiển để auto refill nếu phát hiện mức thủy lực dưới ngưỡng. Trong trường hợp không thực hiện refill được sẽ xuất hiện cảnh báo NO GO.</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Có 2 nguyên nhân:</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Return Relief Valve (RRV) defect (O-rìng damage) does not allow actual refill of the accumulator.</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EM is not able to execute EHA accumulator refill action required via I-BITE.</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Theo SFR thì khối bị hỏng trên tàu bay PN CA67006-22, SN 01100555 đã được thực hiện các cải tiến tại shop (09/2023). Khối này lắp lên A888 vào 04/Mar/ 2024, khai thác được CSI/CSN =978/4229 FC, TSI/TSN = 3505/23710 FH.</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Chờ SFR để đánh giá nguyên nhân cụ thể.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711246926"/>
                  </a:ext>
                </a:extLst>
              </a:tr>
            </a:tbl>
          </a:graphicData>
        </a:graphic>
      </p:graphicFrame>
    </p:spTree>
    <p:extLst>
      <p:ext uri="{BB962C8B-B14F-4D97-AF65-F5344CB8AC3E}">
        <p14:creationId xmlns:p14="http://schemas.microsoft.com/office/powerpoint/2010/main" val="651983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C6B6B8D-D74E-47CD-B5EE-156060B7CD17}" type="slidenum">
              <a:rPr lang="en-US" smtClean="0"/>
              <a:pPr/>
              <a:t>13</a:t>
            </a:fld>
            <a:endParaRPr lang="en-US" dirty="0"/>
          </a:p>
        </p:txBody>
      </p:sp>
      <p:sp>
        <p:nvSpPr>
          <p:cNvPr id="3" name="Title 3"/>
          <p:cNvSpPr txBox="1">
            <a:spLocks/>
          </p:cNvSpPr>
          <p:nvPr/>
        </p:nvSpPr>
        <p:spPr>
          <a:xfrm>
            <a:off x="304800" y="2057400"/>
            <a:ext cx="116586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D2A43B"/>
                </a:solidFill>
                <a:latin typeface="Montserrat" pitchFamily="2" charset="77"/>
                <a:ea typeface="+mj-ea"/>
                <a:cs typeface="+mj-cs"/>
              </a:defRPr>
            </a:lvl1pPr>
          </a:lstStyle>
          <a:p>
            <a:endParaRPr lang="en-US" altLang="en-US" sz="5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xmlns="" id="{BD37A2CA-F6F8-4864-97BD-AC13AAC82518}"/>
              </a:ext>
            </a:extLst>
          </p:cNvPr>
          <p:cNvSpPr txBox="1"/>
          <p:nvPr/>
        </p:nvSpPr>
        <p:spPr>
          <a:xfrm>
            <a:off x="304800" y="-55997"/>
            <a:ext cx="11304482" cy="523220"/>
          </a:xfrm>
          <a:prstGeom prst="rect">
            <a:avLst/>
          </a:prstGeom>
          <a:noFill/>
        </p:spPr>
        <p:txBody>
          <a:bodyPr wrap="square" rtlCol="0">
            <a:spAutoFit/>
          </a:bodyPr>
          <a:lstStyle/>
          <a:p>
            <a:r>
              <a:rPr lang="en-US" sz="2800" b="1">
                <a:ln w="0"/>
                <a:solidFill>
                  <a:srgbClr val="FBAC00"/>
                </a:solidFill>
                <a:latin typeface="Times New Roman" panose="02020603050405020304" pitchFamily="18" charset="0"/>
                <a:cs typeface="Times New Roman" panose="02020603050405020304" pitchFamily="18" charset="0"/>
              </a:rPr>
              <a:t>A899 – ENGINE STALL</a:t>
            </a:r>
            <a:endParaRPr lang="vi-VN" sz="2800" b="1" dirty="0">
              <a:ln w="0"/>
              <a:solidFill>
                <a:srgbClr val="FBAC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xmlns="" id="{10040895-447B-4C7E-8B37-45E0FD4D6141}"/>
              </a:ext>
            </a:extLst>
          </p:cNvPr>
          <p:cNvSpPr txBox="1"/>
          <p:nvPr/>
        </p:nvSpPr>
        <p:spPr>
          <a:xfrm>
            <a:off x="381716" y="467223"/>
            <a:ext cx="11581682" cy="1415772"/>
          </a:xfrm>
          <a:prstGeom prst="rect">
            <a:avLst/>
          </a:prstGeom>
          <a:solidFill>
            <a:srgbClr val="FFFFCC"/>
          </a:solidFill>
          <a:ln>
            <a:solidFill>
              <a:schemeClr val="accent1"/>
            </a:solidFill>
          </a:ln>
        </p:spPr>
        <p:txBody>
          <a:bodyPr wrap="square" rtlCol="0">
            <a:spAutoFit/>
          </a:bodyPr>
          <a:lstStyle/>
          <a:p>
            <a:r>
              <a:rPr lang="en-US" sz="1400" b="1" dirty="0" err="1">
                <a:ln w="0"/>
                <a:solidFill>
                  <a:srgbClr val="0070C0"/>
                </a:solidFill>
                <a:latin typeface="Times New Roman" panose="02020603050405020304" pitchFamily="18" charset="0"/>
                <a:cs typeface="Times New Roman" panose="02020603050405020304" pitchFamily="18" charset="0"/>
              </a:rPr>
              <a:t>Sự</a:t>
            </a:r>
            <a:r>
              <a:rPr lang="en-US" sz="1400" b="1" dirty="0">
                <a:ln w="0"/>
                <a:solidFill>
                  <a:srgbClr val="0070C0"/>
                </a:solidFill>
                <a:latin typeface="Times New Roman" panose="02020603050405020304" pitchFamily="18" charset="0"/>
                <a:cs typeface="Times New Roman" panose="02020603050405020304" pitchFamily="18" charset="0"/>
              </a:rPr>
              <a:t> </a:t>
            </a:r>
            <a:r>
              <a:rPr lang="en-US" sz="1400" b="1" dirty="0" err="1">
                <a:ln w="0"/>
                <a:solidFill>
                  <a:srgbClr val="0070C0"/>
                </a:solidFill>
                <a:latin typeface="Times New Roman" panose="02020603050405020304" pitchFamily="18" charset="0"/>
                <a:cs typeface="Times New Roman" panose="02020603050405020304" pitchFamily="18" charset="0"/>
              </a:rPr>
              <a:t>kiện</a:t>
            </a:r>
            <a:r>
              <a:rPr lang="en-US" sz="1400" b="1" dirty="0">
                <a:ln w="0"/>
                <a:solidFill>
                  <a:srgbClr val="0070C0"/>
                </a:solidFill>
                <a:latin typeface="Times New Roman" panose="02020603050405020304" pitchFamily="18" charset="0"/>
                <a:cs typeface="Times New Roman" panose="02020603050405020304" pitchFamily="18" charset="0"/>
              </a:rPr>
              <a:t>:</a:t>
            </a:r>
          </a:p>
          <a:p>
            <a:pPr marL="285750" indent="-285750">
              <a:buFontTx/>
              <a:buChar char="-"/>
            </a:pPr>
            <a:r>
              <a:rPr lang="en-US" sz="1200">
                <a:ln w="0"/>
                <a:latin typeface="Times New Roman" panose="02020603050405020304" pitchFamily="18" charset="0"/>
                <a:cs typeface="Times New Roman" panose="02020603050405020304" pitchFamily="18" charset="0"/>
              </a:rPr>
              <a:t>Ngày 13/04, tàu A899 vừa climb đến 30k ft thì có cảnh báo ENG 1 STALL/SURGE trong vài giây rồi tự hết. Tiếp viên có ngửi thấy mùi khét. Các thông số khác của động c</a:t>
            </a:r>
            <a:r>
              <a:rPr lang="vi-VN" sz="1200">
                <a:ln w="0"/>
                <a:latin typeface="Times New Roman" panose="02020603050405020304" pitchFamily="18" charset="0"/>
                <a:cs typeface="Times New Roman" panose="02020603050405020304" pitchFamily="18" charset="0"/>
              </a:rPr>
              <a:t>ơ</a:t>
            </a:r>
            <a:r>
              <a:rPr lang="en-US" sz="1200">
                <a:ln w="0"/>
                <a:latin typeface="Times New Roman" panose="02020603050405020304" pitchFamily="18" charset="0"/>
                <a:cs typeface="Times New Roman" panose="02020603050405020304" pitchFamily="18" charset="0"/>
              </a:rPr>
              <a:t> bình th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ờng, tuy nhiên tổ bay quyết định ATB về SGN để kiểm tra.</a:t>
            </a:r>
          </a:p>
          <a:p>
            <a:pPr marL="285750" indent="-285750">
              <a:buFontTx/>
              <a:buChar char="-"/>
            </a:pPr>
            <a:r>
              <a:rPr lang="en-US" sz="1200">
                <a:ln w="0"/>
                <a:latin typeface="Times New Roman" panose="02020603050405020304" pitchFamily="18" charset="0"/>
                <a:cs typeface="Times New Roman" panose="02020603050405020304" pitchFamily="18" charset="0"/>
              </a:rPr>
              <a:t>Thực hiện kiểm tra theo AMJM không phát hiện bất th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ờng, tuy nhiên phía RR sau khi nghiên cứu dữ liệu tàu bay đánh giá khả năng động c</a:t>
            </a:r>
            <a:r>
              <a:rPr lang="vi-VN" sz="1200">
                <a:ln w="0"/>
                <a:latin typeface="Times New Roman" panose="02020603050405020304" pitchFamily="18" charset="0"/>
                <a:cs typeface="Times New Roman" panose="02020603050405020304" pitchFamily="18" charset="0"/>
              </a:rPr>
              <a:t>ơ</a:t>
            </a:r>
            <a:r>
              <a:rPr lang="en-US" sz="1200">
                <a:ln w="0"/>
                <a:latin typeface="Times New Roman" panose="02020603050405020304" pitchFamily="18" charset="0"/>
                <a:cs typeface="Times New Roman" panose="02020603050405020304" pitchFamily="18" charset="0"/>
              </a:rPr>
              <a:t> stall do sét đánh hoặc hút phải bang, và khuyến cáo soi 4 tầng đầu IPC. </a:t>
            </a:r>
          </a:p>
          <a:p>
            <a:pPr marL="285750" indent="-285750">
              <a:buFontTx/>
              <a:buChar char="-"/>
            </a:pPr>
            <a:r>
              <a:rPr lang="en-US" sz="1200">
                <a:ln w="0"/>
                <a:latin typeface="Times New Roman" panose="02020603050405020304" pitchFamily="18" charset="0"/>
                <a:cs typeface="Times New Roman" panose="02020603050405020304" pitchFamily="18" charset="0"/>
              </a:rPr>
              <a:t>VAECO soi kiểm tra phát hiện 01 lá IPC bị mất vật liệu khoảng 10mm*6mm, có thể xác định là nguyên nhân trực tiếp gây stall nhất thời. Nguyên nhân hỏng lá có thể do hút phải băng. </a:t>
            </a:r>
            <a:endParaRPr lang="vi-VN" sz="1200" dirty="0">
              <a:ln w="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05BAA073-CCA3-4FE1-9E63-192C76429780}"/>
              </a:ext>
            </a:extLst>
          </p:cNvPr>
          <p:cNvSpPr txBox="1"/>
          <p:nvPr/>
        </p:nvSpPr>
        <p:spPr>
          <a:xfrm>
            <a:off x="381716" y="3598790"/>
            <a:ext cx="11658600" cy="1415772"/>
          </a:xfrm>
          <a:prstGeom prst="rect">
            <a:avLst/>
          </a:prstGeom>
          <a:solidFill>
            <a:schemeClr val="accent2">
              <a:lumMod val="40000"/>
              <a:lumOff val="60000"/>
            </a:schemeClr>
          </a:solidFill>
          <a:ln>
            <a:solidFill>
              <a:schemeClr val="accent1"/>
            </a:solidFill>
          </a:ln>
        </p:spPr>
        <p:txBody>
          <a:bodyPr wrap="square" rtlCol="0">
            <a:spAutoFit/>
          </a:bodyPr>
          <a:lstStyle/>
          <a:p>
            <a:r>
              <a:rPr lang="en-US" sz="1400" b="1">
                <a:ln w="0"/>
                <a:solidFill>
                  <a:srgbClr val="0070C0"/>
                </a:solidFill>
                <a:latin typeface="Times New Roman" panose="02020603050405020304" pitchFamily="18" charset="0"/>
                <a:cs typeface="Times New Roman" panose="02020603050405020304" pitchFamily="18" charset="0"/>
              </a:rPr>
              <a:t>Ph</a:t>
            </a:r>
            <a:r>
              <a:rPr lang="vi-VN" sz="1400" b="1">
                <a:ln w="0"/>
                <a:solidFill>
                  <a:srgbClr val="0070C0"/>
                </a:solidFill>
                <a:latin typeface="Times New Roman" panose="02020603050405020304" pitchFamily="18" charset="0"/>
                <a:cs typeface="Times New Roman" panose="02020603050405020304" pitchFamily="18" charset="0"/>
              </a:rPr>
              <a:t>ư</a:t>
            </a:r>
            <a:r>
              <a:rPr lang="en-US" sz="1400" b="1">
                <a:ln w="0"/>
                <a:solidFill>
                  <a:srgbClr val="0070C0"/>
                </a:solidFill>
                <a:latin typeface="Times New Roman" panose="02020603050405020304" pitchFamily="18" charset="0"/>
                <a:cs typeface="Times New Roman" panose="02020603050405020304" pitchFamily="18" charset="0"/>
              </a:rPr>
              <a:t>ơng án khắc phục:</a:t>
            </a:r>
          </a:p>
          <a:p>
            <a:pPr marL="285750" indent="-285750">
              <a:buFont typeface="Wingdings" panose="05000000000000000000" pitchFamily="2" charset="2"/>
              <a:buChar char="Ø"/>
            </a:pPr>
            <a:r>
              <a:rPr lang="en-US" sz="1200">
                <a:ln w="0"/>
                <a:latin typeface="Times New Roman" panose="02020603050405020304" pitchFamily="18" charset="0"/>
                <a:cs typeface="Times New Roman" panose="02020603050405020304" pitchFamily="18" charset="0"/>
              </a:rPr>
              <a:t>VNA đã xin RR cho phép bay ferry ra HAN để khắc phục tuy nhiên phía RR không đồng ý do lo ngại rủi ro an toàn. </a:t>
            </a:r>
          </a:p>
          <a:p>
            <a:pPr marL="285750" indent="-285750">
              <a:buFont typeface="Wingdings" panose="05000000000000000000" pitchFamily="2" charset="2"/>
              <a:buChar char="Ø"/>
            </a:pPr>
            <a:r>
              <a:rPr lang="en-US" sz="1200">
                <a:ln w="0"/>
                <a:latin typeface="Times New Roman" panose="02020603050405020304" pitchFamily="18" charset="0"/>
                <a:cs typeface="Times New Roman" panose="02020603050405020304" pitchFamily="18" charset="0"/>
              </a:rPr>
              <a:t>RR đã cấp TV cho ph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ơng án sửa boro-blending (mài lá), tuy nhiên công việc chỉ có thể thực hiện bởi chuyên gia của NSX. Hiện vẫn ch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a có lịch để chuyên gia sang sửa, thông th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ờng mất 2 – 4 tuần. Ban KT đã có th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 cấp cao gửi RR yêu cầu triển khai sớm hơn, phía RR đang xem xét và ch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a có phản hồi. </a:t>
            </a:r>
          </a:p>
          <a:p>
            <a:pPr marL="285750" indent="-285750">
              <a:buFont typeface="Wingdings" panose="05000000000000000000" pitchFamily="2" charset="2"/>
              <a:buChar char="Ø"/>
            </a:pPr>
            <a:r>
              <a:rPr lang="en-US" sz="1200">
                <a:ln w="0"/>
                <a:latin typeface="Times New Roman" panose="02020603050405020304" pitchFamily="18" charset="0"/>
                <a:cs typeface="Times New Roman" panose="02020603050405020304" pitchFamily="18" charset="0"/>
              </a:rPr>
              <a:t>Hiện Ban KT đang triển khai song song ph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ơng án chuyển động c</a:t>
            </a:r>
            <a:r>
              <a:rPr lang="vi-VN" sz="1200">
                <a:ln w="0"/>
                <a:latin typeface="Times New Roman" panose="02020603050405020304" pitchFamily="18" charset="0"/>
                <a:cs typeface="Times New Roman" panose="02020603050405020304" pitchFamily="18" charset="0"/>
              </a:rPr>
              <a:t>ơ</a:t>
            </a:r>
            <a:r>
              <a:rPr lang="en-US" sz="1200">
                <a:ln w="0"/>
                <a:latin typeface="Times New Roman" panose="02020603050405020304" pitchFamily="18" charset="0"/>
                <a:cs typeface="Times New Roman" panose="02020603050405020304" pitchFamily="18" charset="0"/>
              </a:rPr>
              <a:t> 21047 từ shop N3 (Đức) về SGN, dự kiến tới ngày 27/04 để thay cho A899. Tr</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ờng hợp chuyên gia có thể sang khắc phục sớm hơn có thể thay đổi ph</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ơng án tối </a:t>
            </a:r>
            <a:r>
              <a:rPr lang="vi-VN" sz="1200">
                <a:ln w="0"/>
                <a:latin typeface="Times New Roman" panose="02020603050405020304" pitchFamily="18" charset="0"/>
                <a:cs typeface="Times New Roman" panose="02020603050405020304" pitchFamily="18" charset="0"/>
              </a:rPr>
              <a:t>ư</a:t>
            </a:r>
            <a:r>
              <a:rPr lang="en-US" sz="1200">
                <a:ln w="0"/>
                <a:latin typeface="Times New Roman" panose="02020603050405020304" pitchFamily="18" charset="0"/>
                <a:cs typeface="Times New Roman" panose="02020603050405020304" pitchFamily="18" charset="0"/>
              </a:rPr>
              <a:t>u h</a:t>
            </a:r>
            <a:r>
              <a:rPr lang="vi-VN" sz="1200">
                <a:ln w="0"/>
                <a:latin typeface="Times New Roman" panose="02020603050405020304" pitchFamily="18" charset="0"/>
                <a:cs typeface="Times New Roman" panose="02020603050405020304" pitchFamily="18" charset="0"/>
              </a:rPr>
              <a:t>ơ</a:t>
            </a:r>
            <a:r>
              <a:rPr lang="en-US" sz="1200">
                <a:ln w="0"/>
                <a:latin typeface="Times New Roman" panose="02020603050405020304" pitchFamily="18" charset="0"/>
                <a:cs typeface="Times New Roman" panose="02020603050405020304" pitchFamily="18" charset="0"/>
              </a:rPr>
              <a:t>n. </a:t>
            </a:r>
          </a:p>
          <a:p>
            <a:pPr marL="285750" indent="-285750">
              <a:buFont typeface="Wingdings" panose="05000000000000000000" pitchFamily="2" charset="2"/>
              <a:buChar char="Ø"/>
            </a:pPr>
            <a:r>
              <a:rPr lang="en-US" sz="1200">
                <a:ln w="0"/>
                <a:latin typeface="Times New Roman" panose="02020603050405020304" pitchFamily="18" charset="0"/>
                <a:cs typeface="Times New Roman" panose="02020603050405020304" pitchFamily="18" charset="0"/>
              </a:rPr>
              <a:t>Ban KT cũng đang làm việc thêm với RR, Airbus và SQD để nghiên cứu điều tra sự kiện này. </a:t>
            </a:r>
            <a:endParaRPr lang="en-US" sz="1200" dirty="0">
              <a:ln w="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7098825D-7550-4CD4-B42E-7E48AA1633C3}"/>
              </a:ext>
            </a:extLst>
          </p:cNvPr>
          <p:cNvPicPr>
            <a:picLocks noChangeAspect="1"/>
          </p:cNvPicPr>
          <p:nvPr/>
        </p:nvPicPr>
        <p:blipFill>
          <a:blip r:embed="rId2"/>
          <a:stretch>
            <a:fillRect/>
          </a:stretch>
        </p:blipFill>
        <p:spPr>
          <a:xfrm>
            <a:off x="10233066" y="1905000"/>
            <a:ext cx="1458684" cy="1494016"/>
          </a:xfrm>
          <a:prstGeom prst="rect">
            <a:avLst/>
          </a:prstGeom>
        </p:spPr>
      </p:pic>
      <p:pic>
        <p:nvPicPr>
          <p:cNvPr id="7" name="Picture 6">
            <a:extLst>
              <a:ext uri="{FF2B5EF4-FFF2-40B4-BE49-F238E27FC236}">
                <a16:creationId xmlns:a16="http://schemas.microsoft.com/office/drawing/2014/main" xmlns="" id="{FA26AA7D-086B-45DF-93A5-534FA4DF2270}"/>
              </a:ext>
            </a:extLst>
          </p:cNvPr>
          <p:cNvPicPr>
            <a:picLocks noChangeAspect="1"/>
          </p:cNvPicPr>
          <p:nvPr/>
        </p:nvPicPr>
        <p:blipFill>
          <a:blip r:embed="rId3"/>
          <a:stretch>
            <a:fillRect/>
          </a:stretch>
        </p:blipFill>
        <p:spPr>
          <a:xfrm>
            <a:off x="7010400" y="1905000"/>
            <a:ext cx="2951017" cy="1541390"/>
          </a:xfrm>
          <a:prstGeom prst="rect">
            <a:avLst/>
          </a:prstGeom>
        </p:spPr>
      </p:pic>
      <p:pic>
        <p:nvPicPr>
          <p:cNvPr id="10" name="Picture 9">
            <a:extLst>
              <a:ext uri="{FF2B5EF4-FFF2-40B4-BE49-F238E27FC236}">
                <a16:creationId xmlns:a16="http://schemas.microsoft.com/office/drawing/2014/main" xmlns="" id="{C96B6B3A-3960-4CC0-A60A-1B4D54790E25}"/>
              </a:ext>
            </a:extLst>
          </p:cNvPr>
          <p:cNvPicPr>
            <a:picLocks noChangeAspect="1"/>
          </p:cNvPicPr>
          <p:nvPr/>
        </p:nvPicPr>
        <p:blipFill rotWithShape="1">
          <a:blip r:embed="rId4">
            <a:extLst>
              <a:ext uri="{28A0092B-C50C-407E-A947-70E740481C1C}">
                <a14:useLocalDpi xmlns:a14="http://schemas.microsoft.com/office/drawing/2010/main" val="0"/>
              </a:ext>
            </a:extLst>
          </a:blip>
          <a:srcRect r="17410"/>
          <a:stretch/>
        </p:blipFill>
        <p:spPr>
          <a:xfrm>
            <a:off x="457200" y="1905000"/>
            <a:ext cx="4876084" cy="1563645"/>
          </a:xfrm>
          <a:prstGeom prst="rect">
            <a:avLst/>
          </a:prstGeom>
        </p:spPr>
      </p:pic>
      <p:sp>
        <p:nvSpPr>
          <p:cNvPr id="11" name="TextBox 10">
            <a:extLst>
              <a:ext uri="{FF2B5EF4-FFF2-40B4-BE49-F238E27FC236}">
                <a16:creationId xmlns:a16="http://schemas.microsoft.com/office/drawing/2014/main" xmlns="" id="{F91881A2-5DBA-4ACD-BDFB-298BE6D0CC79}"/>
              </a:ext>
            </a:extLst>
          </p:cNvPr>
          <p:cNvSpPr txBox="1"/>
          <p:nvPr/>
        </p:nvSpPr>
        <p:spPr>
          <a:xfrm>
            <a:off x="381716" y="5114811"/>
            <a:ext cx="11658600" cy="1631216"/>
          </a:xfrm>
          <a:prstGeom prst="rect">
            <a:avLst/>
          </a:prstGeom>
          <a:solidFill>
            <a:srgbClr val="FFFF00"/>
          </a:solidFill>
          <a:ln>
            <a:solidFill>
              <a:schemeClr val="accent1"/>
            </a:solidFill>
          </a:ln>
        </p:spPr>
        <p:txBody>
          <a:bodyPr wrap="square" rtlCol="0">
            <a:spAutoFit/>
          </a:bodyPr>
          <a:lstStyle/>
          <a:p>
            <a:r>
              <a:rPr lang="en-US" sz="1600" b="1">
                <a:ln w="0"/>
                <a:solidFill>
                  <a:srgbClr val="FF0000"/>
                </a:solidFill>
                <a:latin typeface="Times New Roman" panose="02020603050405020304" pitchFamily="18" charset="0"/>
                <a:cs typeface="Times New Roman" panose="02020603050405020304" pitchFamily="18" charset="0"/>
              </a:rPr>
              <a:t>Update 27/04:</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RR thông báo sẽ cố gắng sang trong cuối tuần để sửa chữa tuy nhiên không thực hiện đ</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ợc. Hiện vẫn ch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a có thông tin ngày sang chính thức. </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Ngày 27/04 động c</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 đã đ</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ợc chuyển về SGN. Công tác triển khai thay động c</a:t>
            </a:r>
            <a:r>
              <a:rPr lang="vi-VN" sz="1400">
                <a:ln w="0"/>
                <a:latin typeface="Times New Roman" panose="02020603050405020304" pitchFamily="18" charset="0"/>
                <a:cs typeface="Times New Roman" panose="02020603050405020304" pitchFamily="18" charset="0"/>
              </a:rPr>
              <a:t>ơ</a:t>
            </a:r>
            <a:r>
              <a:rPr lang="en-US" sz="1400">
                <a:ln w="0"/>
                <a:latin typeface="Times New Roman" panose="02020603050405020304" pitchFamily="18" charset="0"/>
                <a:cs typeface="Times New Roman" panose="02020603050405020304" pitchFamily="18" charset="0"/>
              </a:rPr>
              <a:t> bắt đầu đ</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ợc triển khai, hiện không có phát sinh. Do RR ch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a có lịch sửa cụ thể do vậy sẽ triển khai theo ph</a:t>
            </a:r>
            <a:r>
              <a:rPr lang="vi-VN" sz="1400">
                <a:ln w="0"/>
                <a:latin typeface="Times New Roman" panose="02020603050405020304" pitchFamily="18" charset="0"/>
                <a:cs typeface="Times New Roman" panose="02020603050405020304" pitchFamily="18" charset="0"/>
              </a:rPr>
              <a:t>ư</a:t>
            </a:r>
            <a:r>
              <a:rPr lang="en-US" sz="1400">
                <a:ln w="0"/>
                <a:latin typeface="Times New Roman" panose="02020603050405020304" pitchFamily="18" charset="0"/>
                <a:cs typeface="Times New Roman" panose="02020603050405020304" pitchFamily="18" charset="0"/>
              </a:rPr>
              <a:t>ơng án này. </a:t>
            </a:r>
          </a:p>
          <a:p>
            <a:pPr marL="285750" indent="-285750">
              <a:buFont typeface="Wingdings" panose="05000000000000000000" pitchFamily="2" charset="2"/>
              <a:buChar char="Ø"/>
            </a:pPr>
            <a:r>
              <a:rPr lang="en-US" sz="1400">
                <a:ln w="0"/>
                <a:latin typeface="Times New Roman" panose="02020603050405020304" pitchFamily="18" charset="0"/>
                <a:cs typeface="Times New Roman" panose="02020603050405020304" pitchFamily="18" charset="0"/>
              </a:rPr>
              <a:t>Ban KT đã gửi công văn đề nghị QLVT xin phê chuẩn one-off cho RR thực hiện sửa chữa và đề nghị VAECO trợ giúp chuyên gia thực hiện. Theo đánh giá, RR có thể triển khai sửa trong nửa đầu tháng 5. </a:t>
            </a:r>
          </a:p>
          <a:p>
            <a:pPr marL="285750" indent="-285750">
              <a:buFont typeface="Wingdings" panose="05000000000000000000" pitchFamily="2" charset="2"/>
              <a:buChar char="Ø"/>
            </a:pPr>
            <a:endParaRPr lang="en-US" sz="1400" dirty="0">
              <a:ln w="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8040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 xmlns:a16="http://schemas.microsoft.com/office/drawing/2014/main" id="{B5BF9761-84EA-0C84-3E15-D923B70AE874}"/>
              </a:ext>
            </a:extLst>
          </p:cNvPr>
          <p:cNvGraphicFramePr>
            <a:graphicFrameLocks noGrp="1"/>
          </p:cNvGraphicFramePr>
          <p:nvPr>
            <p:extLst/>
          </p:nvPr>
        </p:nvGraphicFramePr>
        <p:xfrm>
          <a:off x="179427" y="565153"/>
          <a:ext cx="11848780" cy="6150838"/>
        </p:xfrm>
        <a:graphic>
          <a:graphicData uri="http://schemas.openxmlformats.org/drawingml/2006/table">
            <a:tbl>
              <a:tblPr/>
              <a:tblGrid>
                <a:gridCol w="425217">
                  <a:extLst>
                    <a:ext uri="{9D8B030D-6E8A-4147-A177-3AD203B41FA5}">
                      <a16:colId xmlns="" xmlns:a16="http://schemas.microsoft.com/office/drawing/2014/main" val="711658683"/>
                    </a:ext>
                  </a:extLst>
                </a:gridCol>
                <a:gridCol w="584820">
                  <a:extLst>
                    <a:ext uri="{9D8B030D-6E8A-4147-A177-3AD203B41FA5}">
                      <a16:colId xmlns="" xmlns:a16="http://schemas.microsoft.com/office/drawing/2014/main" val="89070382"/>
                    </a:ext>
                  </a:extLst>
                </a:gridCol>
                <a:gridCol w="644292">
                  <a:extLst>
                    <a:ext uri="{9D8B030D-6E8A-4147-A177-3AD203B41FA5}">
                      <a16:colId xmlns="" xmlns:a16="http://schemas.microsoft.com/office/drawing/2014/main" val="4198976851"/>
                    </a:ext>
                  </a:extLst>
                </a:gridCol>
                <a:gridCol w="1278673">
                  <a:extLst>
                    <a:ext uri="{9D8B030D-6E8A-4147-A177-3AD203B41FA5}">
                      <a16:colId xmlns="" xmlns:a16="http://schemas.microsoft.com/office/drawing/2014/main" val="4100784345"/>
                    </a:ext>
                  </a:extLst>
                </a:gridCol>
                <a:gridCol w="1278673">
                  <a:extLst>
                    <a:ext uri="{9D8B030D-6E8A-4147-A177-3AD203B41FA5}">
                      <a16:colId xmlns="" xmlns:a16="http://schemas.microsoft.com/office/drawing/2014/main" val="4176247803"/>
                    </a:ext>
                  </a:extLst>
                </a:gridCol>
                <a:gridCol w="1615688">
                  <a:extLst>
                    <a:ext uri="{9D8B030D-6E8A-4147-A177-3AD203B41FA5}">
                      <a16:colId xmlns="" xmlns:a16="http://schemas.microsoft.com/office/drawing/2014/main" val="752226688"/>
                    </a:ext>
                  </a:extLst>
                </a:gridCol>
                <a:gridCol w="6021417">
                  <a:extLst>
                    <a:ext uri="{9D8B030D-6E8A-4147-A177-3AD203B41FA5}">
                      <a16:colId xmlns="" xmlns:a16="http://schemas.microsoft.com/office/drawing/2014/main" val="3013646295"/>
                    </a:ext>
                  </a:extLst>
                </a:gridCol>
              </a:tblGrid>
              <a:tr h="206272">
                <a:tc>
                  <a:txBody>
                    <a:bodyPr/>
                    <a:lstStyle/>
                    <a:p>
                      <a:pPr algn="ctr" fontAlgn="ctr"/>
                      <a:r>
                        <a:rPr lang="en-US" sz="1300" b="0" i="0" u="none" strike="noStrike">
                          <a:solidFill>
                            <a:srgbClr val="000000"/>
                          </a:solidFill>
                          <a:effectLst/>
                          <a:latin typeface="Calibri" panose="020F0502020204030204" pitchFamily="34" charset="0"/>
                        </a:rPr>
                        <a:t>No</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71670786"/>
                  </a:ext>
                </a:extLst>
              </a:tr>
              <a:tr h="612672">
                <a:tc>
                  <a:txBody>
                    <a:bodyPr/>
                    <a:lstStyle/>
                    <a:p>
                      <a:pPr algn="ctr" fontAlgn="ctr"/>
                      <a:r>
                        <a:rPr lang="en-US" sz="1300" b="0" i="0" u="none" strike="noStrike">
                          <a:solidFill>
                            <a:srgbClr val="000000"/>
                          </a:solidFill>
                          <a:effectLst/>
                          <a:latin typeface="Calibri" panose="020F0502020204030204" pitchFamily="34" charset="0"/>
                        </a:rPr>
                        <a:t>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B1381 RAISED F/CTL R OUT R AILERON G ACTUATOR</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955971073"/>
                  </a:ext>
                </a:extLst>
              </a:tr>
              <a:tr h="206272">
                <a:tc>
                  <a:txBody>
                    <a:bodyPr/>
                    <a:lstStyle/>
                    <a:p>
                      <a:pPr algn="ctr" fontAlgn="ctr"/>
                      <a:r>
                        <a:rPr lang="en-US" sz="1300" b="0" i="0" u="none" strike="noStrike">
                          <a:solidFill>
                            <a:srgbClr val="000000"/>
                          </a:solidFill>
                          <a:effectLst/>
                          <a:latin typeface="Calibri" panose="020F0502020204030204" pitchFamily="34" charset="0"/>
                        </a:rPr>
                        <a:t>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B1246 RAISED AIR PACK 2 REGUL REDUNDANCY</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656997776"/>
                  </a:ext>
                </a:extLst>
              </a:tr>
              <a:tr h="612672">
                <a:tc>
                  <a:txBody>
                    <a:bodyPr/>
                    <a:lstStyle/>
                    <a:p>
                      <a:pPr algn="ctr" fontAlgn="ctr"/>
                      <a:r>
                        <a:rPr lang="en-US" sz="1300" b="0" i="0" u="none" strike="noStrike">
                          <a:solidFill>
                            <a:srgbClr val="000000"/>
                          </a:solidFill>
                          <a:effectLst/>
                          <a:latin typeface="Calibri" panose="020F0502020204030204" pitchFamily="34" charset="0"/>
                        </a:rPr>
                        <a:t>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RAISED CHILLER SYS INOP DURING CRUISE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628823439"/>
                  </a:ext>
                </a:extLst>
              </a:tr>
              <a:tr h="1019072">
                <a:tc>
                  <a:txBody>
                    <a:bodyPr/>
                    <a:lstStyle/>
                    <a:p>
                      <a:pPr algn="ctr" fontAlgn="ctr"/>
                      <a:r>
                        <a:rPr lang="en-US" sz="1300" b="0" i="0" u="none" strike="noStrike">
                          <a:solidFill>
                            <a:srgbClr val="000000"/>
                          </a:solidFill>
                          <a:effectLst/>
                          <a:latin typeface="Calibri" panose="020F0502020204030204" pitchFamily="34" charset="0"/>
                        </a:rPr>
                        <a:t>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TR 81571256/010: PREVENTIVE RECOMMENDATION: HIGH TEMPERATURE YELLOW RESERVOIR &amp; EDP2 =&gt; Đã thay By passvalve và feedback AIB =&gt; Theo dõi chờ phản hồi của AIB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92643320"/>
                  </a:ext>
                </a:extLst>
              </a:tr>
              <a:tr h="612672">
                <a:tc>
                  <a:txBody>
                    <a:bodyPr/>
                    <a:lstStyle/>
                    <a:p>
                      <a:pPr algn="ctr" fontAlgn="ctr"/>
                      <a:r>
                        <a:rPr lang="en-US" sz="1300" b="0" i="0" u="none" strike="noStrike">
                          <a:solidFill>
                            <a:srgbClr val="000000"/>
                          </a:solidFill>
                          <a:effectLst/>
                          <a:latin typeface="Calibri" panose="020F0502020204030204" pitchFamily="34" charset="0"/>
                        </a:rPr>
                        <a:t>5</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B1508 RAISED APU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B1516 RAISED FLAP1 ADGB BRK</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88699641"/>
                  </a:ext>
                </a:extLst>
              </a:tr>
              <a:tr h="206272">
                <a:tc>
                  <a:txBody>
                    <a:bodyPr/>
                    <a:lstStyle/>
                    <a:p>
                      <a:pPr algn="ctr" fontAlgn="ctr"/>
                      <a:r>
                        <a:rPr lang="en-US" sz="1300" b="0" i="0" u="none" strike="noStrike">
                          <a:solidFill>
                            <a:srgbClr val="000000"/>
                          </a:solidFill>
                          <a:effectLst/>
                          <a:latin typeface="Calibri" panose="020F0502020204030204" pitchFamily="34" charset="0"/>
                        </a:rPr>
                        <a:t>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95246991"/>
                  </a:ext>
                </a:extLst>
              </a:tr>
              <a:tr h="409472">
                <a:tc>
                  <a:txBody>
                    <a:bodyPr/>
                    <a:lstStyle/>
                    <a:p>
                      <a:pPr algn="ctr" fontAlgn="ctr"/>
                      <a:r>
                        <a:rPr lang="en-US" sz="1300" b="0" i="0" u="none" strike="noStrike">
                          <a:solidFill>
                            <a:srgbClr val="000000"/>
                          </a:solidFill>
                          <a:effectLst/>
                          <a:latin typeface="Calibri" panose="020F0502020204030204" pitchFamily="34" charset="0"/>
                        </a:rPr>
                        <a:t>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B1455 RAISED THE DROOP-NOSE END-FILLING PANEL AT R/H MISSING</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ENGINE: #2/21368 ON AIRCRAFT VN-A892: P25 MEASUREMENT ERROR</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937526257"/>
                  </a:ext>
                </a:extLst>
              </a:tr>
              <a:tr h="244085">
                <a:tc>
                  <a:txBody>
                    <a:bodyPr/>
                    <a:lstStyle/>
                    <a:p>
                      <a:pPr algn="ctr" fontAlgn="ctr"/>
                      <a:r>
                        <a:rPr lang="en-US" sz="1300" b="0" i="0" u="none" strike="noStrike">
                          <a:solidFill>
                            <a:srgbClr val="000000"/>
                          </a:solidFill>
                          <a:effectLst/>
                          <a:latin typeface="Calibri" panose="020F0502020204030204" pitchFamily="34" charset="0"/>
                        </a:rPr>
                        <a:t>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53738069"/>
                  </a:ext>
                </a:extLst>
              </a:tr>
              <a:tr h="206272">
                <a:tc>
                  <a:txBody>
                    <a:bodyPr/>
                    <a:lstStyle/>
                    <a:p>
                      <a:pPr algn="ctr" fontAlgn="ctr"/>
                      <a:r>
                        <a:rPr lang="en-US" sz="1300" b="0" i="0" u="none" strike="noStrike">
                          <a:solidFill>
                            <a:srgbClr val="000000"/>
                          </a:solidFill>
                          <a:effectLst/>
                          <a:latin typeface="Calibri" panose="020F0502020204030204" pitchFamily="34" charset="0"/>
                        </a:rPr>
                        <a:t>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 ( giảm 600FH/75FC)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16041337"/>
                  </a:ext>
                </a:extLst>
              </a:tr>
              <a:tr h="409472">
                <a:tc>
                  <a:txBody>
                    <a:bodyPr/>
                    <a:lstStyle/>
                    <a:p>
                      <a:pPr algn="ctr" fontAlgn="ctr"/>
                      <a:r>
                        <a:rPr lang="en-US" sz="1300" b="0" i="0" u="none" strike="noStrike">
                          <a:solidFill>
                            <a:srgbClr val="000000"/>
                          </a:solidFill>
                          <a:effectLst/>
                          <a:latin typeface="Calibri" panose="020F0502020204030204" pitchFamily="34" charset="0"/>
                        </a:rPr>
                        <a:t>10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B995 RAISED ENGINE #1 SN 21604 HAVE LOW LIFE TIME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B996 RAISED ENGINE #2 SN 21414 HAVE LOW LIFE TIME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236386226"/>
                  </a:ext>
                </a:extLst>
              </a:tr>
              <a:tr h="206272">
                <a:tc>
                  <a:txBody>
                    <a:bodyPr/>
                    <a:lstStyle/>
                    <a:p>
                      <a:pPr algn="ctr" fontAlgn="ctr"/>
                      <a:r>
                        <a:rPr lang="en-US" sz="1300" b="0" i="0" u="none" strike="noStrike">
                          <a:solidFill>
                            <a:srgbClr val="000000"/>
                          </a:solidFill>
                          <a:effectLst/>
                          <a:latin typeface="Calibri" panose="020F0502020204030204" pitchFamily="34" charset="0"/>
                        </a:rPr>
                        <a:t>11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87417072"/>
                  </a:ext>
                </a:extLst>
              </a:tr>
              <a:tr h="409472">
                <a:tc>
                  <a:txBody>
                    <a:bodyPr/>
                    <a:lstStyle/>
                    <a:p>
                      <a:pPr algn="ctr" fontAlgn="ctr"/>
                      <a:r>
                        <a:rPr lang="en-US" sz="1300" b="0" i="0" u="none" strike="noStrike">
                          <a:solidFill>
                            <a:srgbClr val="000000"/>
                          </a:solidFill>
                          <a:effectLst/>
                          <a:latin typeface="Calibri" panose="020F0502020204030204" pitchFamily="34" charset="0"/>
                        </a:rPr>
                        <a:t>12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01797454"/>
                  </a:ext>
                </a:extLst>
              </a:tr>
              <a:tr h="583617">
                <a:tc>
                  <a:txBody>
                    <a:bodyPr/>
                    <a:lstStyle/>
                    <a:p>
                      <a:pPr algn="ctr" fontAlgn="ctr"/>
                      <a:r>
                        <a:rPr lang="en-US" sz="1300" b="0" i="0" u="none" strike="noStrike">
                          <a:solidFill>
                            <a:srgbClr val="000000"/>
                          </a:solidFill>
                          <a:effectLst/>
                          <a:latin typeface="Calibri" panose="020F0502020204030204" pitchFamily="34" charset="0"/>
                        </a:rPr>
                        <a:t>13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CABIN tồn đọng hỏng hóc MID SCS CHILLER, cân nhắc chọn tầu VIP chỉ bay nội địa</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37528654"/>
                  </a:ext>
                </a:extLst>
              </a:tr>
              <a:tr h="206272">
                <a:tc>
                  <a:txBody>
                    <a:bodyPr/>
                    <a:lstStyle/>
                    <a:p>
                      <a:pPr algn="ctr" fontAlgn="ctr"/>
                      <a:r>
                        <a:rPr lang="en-US" sz="1300" b="0" i="0" u="none" strike="noStrike">
                          <a:solidFill>
                            <a:srgbClr val="000000"/>
                          </a:solidFill>
                          <a:effectLst/>
                          <a:latin typeface="Calibri" panose="020F0502020204030204" pitchFamily="34" charset="0"/>
                        </a:rPr>
                        <a:t>14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AOG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ENG1 STALL</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592745752"/>
                  </a:ext>
                </a:extLst>
              </a:tr>
            </a:tbl>
          </a:graphicData>
        </a:graphic>
      </p:graphicFrame>
    </p:spTree>
    <p:extLst>
      <p:ext uri="{BB962C8B-B14F-4D97-AF65-F5344CB8AC3E}">
        <p14:creationId xmlns:p14="http://schemas.microsoft.com/office/powerpoint/2010/main" val="3662128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 xmlns:a16="http://schemas.microsoft.com/office/drawing/2014/main" id="{5914447B-A879-4C97-AD62-7AFABAF9410A}"/>
              </a:ext>
            </a:extLst>
          </p:cNvPr>
          <p:cNvSpPr/>
          <p:nvPr/>
        </p:nvSpPr>
        <p:spPr>
          <a:xfrm>
            <a:off x="210231" y="535900"/>
            <a:ext cx="11769687"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tương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A890 AOG tại CDG ngày 24/04 do </a:t>
            </a:r>
            <a:r>
              <a:rPr lang="en-SG" sz="1600">
                <a:latin typeface="Times New Roman" panose="02020603050405020304" pitchFamily="18" charset="0"/>
                <a:cs typeface="Times New Roman" panose="02020603050405020304" pitchFamily="18" charset="0"/>
              </a:rPr>
              <a:t>BIRD STRIKE AT RADOME, chờ thuê mua Radome để thay thế.</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43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5585E255-E5DC-36C6-BB51-2E8F12AFA67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B6EA80D2-CCFB-7B3A-3B27-4049299B9DA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5C0E37A0-659F-0345-F717-8B510D4FDE9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xmlns="" id="{266D002E-5A1C-D48D-4011-EED045EA32E0}"/>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xmlns="" id="{CBB770E5-8627-A3FD-B954-5CFA7D489CE2}"/>
              </a:ext>
            </a:extLst>
          </p:cNvPr>
          <p:cNvGraphicFramePr>
            <a:graphicFrameLocks noGrp="1"/>
          </p:cNvGraphicFramePr>
          <p:nvPr>
            <p:extLst>
              <p:ext uri="{D42A27DB-BD31-4B8C-83A1-F6EECF244321}">
                <p14:modId xmlns:p14="http://schemas.microsoft.com/office/powerpoint/2010/main" val="670284678"/>
              </p:ext>
            </p:extLst>
          </p:nvPr>
        </p:nvGraphicFramePr>
        <p:xfrm>
          <a:off x="134289" y="1509729"/>
          <a:ext cx="11688713" cy="4986901"/>
        </p:xfrm>
        <a:graphic>
          <a:graphicData uri="http://schemas.openxmlformats.org/drawingml/2006/table">
            <a:tbl>
              <a:tblPr/>
              <a:tblGrid>
                <a:gridCol w="475311">
                  <a:extLst>
                    <a:ext uri="{9D8B030D-6E8A-4147-A177-3AD203B41FA5}">
                      <a16:colId xmlns:a16="http://schemas.microsoft.com/office/drawing/2014/main" xmlns="" val="1699067947"/>
                    </a:ext>
                  </a:extLst>
                </a:gridCol>
                <a:gridCol w="762000">
                  <a:extLst>
                    <a:ext uri="{9D8B030D-6E8A-4147-A177-3AD203B41FA5}">
                      <a16:colId xmlns:a16="http://schemas.microsoft.com/office/drawing/2014/main" xmlns="" val="205224236"/>
                    </a:ext>
                  </a:extLst>
                </a:gridCol>
                <a:gridCol w="381000">
                  <a:extLst>
                    <a:ext uri="{9D8B030D-6E8A-4147-A177-3AD203B41FA5}">
                      <a16:colId xmlns:a16="http://schemas.microsoft.com/office/drawing/2014/main" xmlns="" val="3056190288"/>
                    </a:ext>
                  </a:extLst>
                </a:gridCol>
                <a:gridCol w="579500">
                  <a:extLst>
                    <a:ext uri="{9D8B030D-6E8A-4147-A177-3AD203B41FA5}">
                      <a16:colId xmlns:a16="http://schemas.microsoft.com/office/drawing/2014/main" xmlns="" val="1539559735"/>
                    </a:ext>
                  </a:extLst>
                </a:gridCol>
                <a:gridCol w="585576">
                  <a:extLst>
                    <a:ext uri="{9D8B030D-6E8A-4147-A177-3AD203B41FA5}">
                      <a16:colId xmlns:a16="http://schemas.microsoft.com/office/drawing/2014/main" xmlns="" val="2444827003"/>
                    </a:ext>
                  </a:extLst>
                </a:gridCol>
                <a:gridCol w="486713">
                  <a:extLst>
                    <a:ext uri="{9D8B030D-6E8A-4147-A177-3AD203B41FA5}">
                      <a16:colId xmlns:a16="http://schemas.microsoft.com/office/drawing/2014/main" xmlns="" val="3491416527"/>
                    </a:ext>
                  </a:extLst>
                </a:gridCol>
                <a:gridCol w="1929611">
                  <a:extLst>
                    <a:ext uri="{9D8B030D-6E8A-4147-A177-3AD203B41FA5}">
                      <a16:colId xmlns:a16="http://schemas.microsoft.com/office/drawing/2014/main" xmlns="" val="1857565414"/>
                    </a:ext>
                  </a:extLst>
                </a:gridCol>
                <a:gridCol w="2819400">
                  <a:extLst>
                    <a:ext uri="{9D8B030D-6E8A-4147-A177-3AD203B41FA5}">
                      <a16:colId xmlns:a16="http://schemas.microsoft.com/office/drawing/2014/main" xmlns="" val="3557937854"/>
                    </a:ext>
                  </a:extLst>
                </a:gridCol>
                <a:gridCol w="304800">
                  <a:extLst>
                    <a:ext uri="{9D8B030D-6E8A-4147-A177-3AD203B41FA5}">
                      <a16:colId xmlns:a16="http://schemas.microsoft.com/office/drawing/2014/main" xmlns="" val="3019161719"/>
                    </a:ext>
                  </a:extLst>
                </a:gridCol>
                <a:gridCol w="3364802">
                  <a:extLst>
                    <a:ext uri="{9D8B030D-6E8A-4147-A177-3AD203B41FA5}">
                      <a16:colId xmlns:a16="http://schemas.microsoft.com/office/drawing/2014/main" xmlns="" val="3608241138"/>
                    </a:ext>
                  </a:extLst>
                </a:gridCol>
              </a:tblGrid>
              <a:tr h="146809">
                <a:tc>
                  <a:txBody>
                    <a:bodyPr/>
                    <a:lstStyle/>
                    <a:p>
                      <a:pPr algn="ctr" fontAlgn="ctr"/>
                      <a:r>
                        <a:rPr lang="en-US" sz="9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635056464"/>
                  </a:ext>
                </a:extLst>
              </a:tr>
              <a:tr h="447084">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A864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20:00 24/04/2025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FRA-HAN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(GTB) CAPT REPORT EICAS "CREW OXYGEN LOW" A/C GTB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 AFTER CHK FCOM LIMIT -SATIS. C/O RAISED ADD "CREW OXYGEN LOW"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ADD MORE FUEL ; AFTER CHK FCOM LIMIT -SATIS. C/O RAISED ADD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;CREW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OXYGEN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LOW;</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ADD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MORE FUEL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hiện thỉ áp suất là 590psi, thấp hơn ngưỡng cảnh bảo đặt AHM là 600psi, dẫn đến cảnh báo ""CREW OXYGEN LOW"" phải mở MEL và có yêu cầu Main: Kiểm tra áp suất oxy trên Gauge đảm bảo trên mức yêu cầu cho tổ bay.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Khắc phục: Kiểm tra leak, không phát hiện bất thường. Thay 2 OXYGEN CYLINDER; Captain Mask và Stowage theo dõi cho kêt quả tốt.</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ĐTC:  Lịch sử có trường hợp crew oxy leak gây Delay cho tàu A866 Oct2021 do mất nhiều thời gian khi thay bottle, mask và kiểm tra leak.</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Bình oxy đã từng thay US 58 khối, tuy nhiên trong hoạt động khai thác, quá trình test thực hiện trước mỗi chuyến bay sẽ làm leak oxy. MCC theo dõi AHM, khi thấy áp suất gần ngưỡng 800 psi (dưới 800 sẽ có alert, 600 có Advisory) sẽ thực hiện thay khi tàu ở Mainbay.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Mask đã từng thay 07 khối, MTBUR 115,385 lớn hơn RSPL 50000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Stowage đã từng thay 15 khối, MTBUR 75,273 lớn hơn RSPL 40000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86251504"/>
                  </a:ext>
                </a:extLst>
              </a:tr>
              <a:tr h="712918">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22:06 21/04/2025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HPH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VN7214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HPH-HAN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MSG 34-70392 AND 34-70381: FMC L AND FMC R. MSG 34-70392 AND 34-70381: FMC L AND FMC 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EVENT CLOSED ACTION: REFER FIM 34-60-F1-33-421A REV131 TEST PASSED  BUT STILL FAULT. C/O RELOAD SOFTWARE FMS OPS BUT NIL HELP. NEXT STEP C/O SWAP GPM 5L WITH 8L AND TEST STATIS. ADD B2298 RAISED “GPM 8L INOP” IAW MEL 42-21-01-01 REV9. &lt;strong&gt;FMC L AND FMC R.</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Thực hiện load lại FMC software là FMS OPS/AMI, MSG clear. Đánh giá hỏng hóc đơn lẻ. Tiếp tục theo dõi.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711246926"/>
                  </a:ext>
                </a:extLst>
              </a:tr>
            </a:tbl>
          </a:graphicData>
        </a:graphic>
      </p:graphicFrame>
      <p:sp>
        <p:nvSpPr>
          <p:cNvPr id="3" name="TextBox 2">
            <a:extLst>
              <a:ext uri="{FF2B5EF4-FFF2-40B4-BE49-F238E27FC236}">
                <a16:creationId xmlns:a16="http://schemas.microsoft.com/office/drawing/2014/main" xmlns="" id="{075CB683-F69E-CCB0-4732-23E07123C4E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657360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xmlns="" id="{0681A5EF-23F5-49DF-95AC-6291EB1079D8}"/>
              </a:ext>
            </a:extLst>
          </p:cNvPr>
          <p:cNvSpPr txBox="1"/>
          <p:nvPr/>
        </p:nvSpPr>
        <p:spPr>
          <a:xfrm>
            <a:off x="762001" y="168860"/>
            <a:ext cx="10667999"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A879 </a:t>
            </a:r>
            <a:r>
              <a:rPr lang="en-US" sz="2800" b="1" dirty="0" err="1">
                <a:solidFill>
                  <a:srgbClr val="DEA610"/>
                </a:solidFill>
                <a:latin typeface="Montserrat SemiBold" pitchFamily="2" charset="77"/>
              </a:rPr>
              <a:t>thay</a:t>
            </a:r>
            <a:r>
              <a:rPr lang="en-US" sz="2800" b="1" dirty="0">
                <a:solidFill>
                  <a:srgbClr val="DEA610"/>
                </a:solidFill>
                <a:latin typeface="Montserrat SemiBold" pitchFamily="2" charset="77"/>
              </a:rPr>
              <a:t> 3 </a:t>
            </a:r>
            <a:r>
              <a:rPr lang="en-US" sz="2800" b="1" dirty="0" err="1">
                <a:solidFill>
                  <a:srgbClr val="DEA610"/>
                </a:solidFill>
                <a:latin typeface="Montserrat SemiBold" pitchFamily="2" charset="77"/>
              </a:rPr>
              <a:t>lần</a:t>
            </a:r>
            <a:r>
              <a:rPr lang="en-US" sz="2800" b="1" dirty="0">
                <a:solidFill>
                  <a:srgbClr val="DEA610"/>
                </a:solidFill>
                <a:latin typeface="Montserrat SemiBold" pitchFamily="2" charset="77"/>
              </a:rPr>
              <a:t> VFSG P/N 7001330H04</a:t>
            </a:r>
          </a:p>
        </p:txBody>
      </p:sp>
      <p:grpSp>
        <p:nvGrpSpPr>
          <p:cNvPr id="25" name="Group 24">
            <a:extLst>
              <a:ext uri="{FF2B5EF4-FFF2-40B4-BE49-F238E27FC236}">
                <a16:creationId xmlns:a16="http://schemas.microsoft.com/office/drawing/2014/main" xmlns="" id="{39B197CB-46BC-4C6F-B83C-43A28FDA38B0}"/>
              </a:ext>
            </a:extLst>
          </p:cNvPr>
          <p:cNvGrpSpPr/>
          <p:nvPr/>
        </p:nvGrpSpPr>
        <p:grpSpPr>
          <a:xfrm>
            <a:off x="795408" y="288234"/>
            <a:ext cx="11197675" cy="678753"/>
            <a:chOff x="976560" y="323070"/>
            <a:chExt cx="10755065" cy="678753"/>
          </a:xfrm>
        </p:grpSpPr>
        <p:cxnSp>
          <p:nvCxnSpPr>
            <p:cNvPr id="26" name="Straight Connector 25">
              <a:extLst>
                <a:ext uri="{FF2B5EF4-FFF2-40B4-BE49-F238E27FC236}">
                  <a16:creationId xmlns:a16="http://schemas.microsoft.com/office/drawing/2014/main" xmlns="" id="{885E6F6F-56D2-494A-A0FC-610F6F83C790}"/>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xmlns="" id="{D34AC1DE-CA0C-4BB4-AE51-D5ADE7A64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3" name="Shape 1">
            <a:extLst>
              <a:ext uri="{FF2B5EF4-FFF2-40B4-BE49-F238E27FC236}">
                <a16:creationId xmlns:a16="http://schemas.microsoft.com/office/drawing/2014/main" xmlns="" id="{7FB9A6FD-7F50-4BE5-9348-8250D54218BF}"/>
              </a:ext>
            </a:extLst>
          </p:cNvPr>
          <p:cNvSpPr/>
          <p:nvPr/>
        </p:nvSpPr>
        <p:spPr>
          <a:xfrm>
            <a:off x="5743066" y="976800"/>
            <a:ext cx="45719" cy="4480560"/>
          </a:xfrm>
          <a:prstGeom prst="roundRect">
            <a:avLst>
              <a:gd name="adj" fmla="val 850662"/>
            </a:avLst>
          </a:prstGeom>
          <a:solidFill>
            <a:srgbClr val="B6DCE1"/>
          </a:solidFill>
          <a:ln/>
        </p:spPr>
      </p:sp>
      <p:sp>
        <p:nvSpPr>
          <p:cNvPr id="44" name="Shape 12">
            <a:extLst>
              <a:ext uri="{FF2B5EF4-FFF2-40B4-BE49-F238E27FC236}">
                <a16:creationId xmlns:a16="http://schemas.microsoft.com/office/drawing/2014/main" xmlns="" id="{137FF637-3440-43B3-B770-03CA5CA268D2}"/>
              </a:ext>
            </a:extLst>
          </p:cNvPr>
          <p:cNvSpPr/>
          <p:nvPr/>
        </p:nvSpPr>
        <p:spPr>
          <a:xfrm>
            <a:off x="5284443" y="5115599"/>
            <a:ext cx="357074" cy="27432"/>
          </a:xfrm>
          <a:prstGeom prst="roundRect">
            <a:avLst>
              <a:gd name="adj" fmla="val 850662"/>
            </a:avLst>
          </a:prstGeom>
          <a:solidFill>
            <a:srgbClr val="B6DCE1"/>
          </a:solidFill>
          <a:ln/>
        </p:spPr>
      </p:sp>
      <p:sp>
        <p:nvSpPr>
          <p:cNvPr id="45" name="Shape 13">
            <a:extLst>
              <a:ext uri="{FF2B5EF4-FFF2-40B4-BE49-F238E27FC236}">
                <a16:creationId xmlns:a16="http://schemas.microsoft.com/office/drawing/2014/main" xmlns="" id="{33EEE7CD-DA0C-4918-80BA-A1A0A31BB495}"/>
              </a:ext>
            </a:extLst>
          </p:cNvPr>
          <p:cNvSpPr/>
          <p:nvPr/>
        </p:nvSpPr>
        <p:spPr>
          <a:xfrm>
            <a:off x="5628923" y="4991185"/>
            <a:ext cx="267830" cy="261108"/>
          </a:xfrm>
          <a:prstGeom prst="roundRect">
            <a:avLst>
              <a:gd name="adj" fmla="val 40002"/>
            </a:avLst>
          </a:prstGeom>
          <a:solidFill>
            <a:srgbClr val="D0F6FB"/>
          </a:solidFill>
          <a:ln w="7620">
            <a:solidFill>
              <a:srgbClr val="B6DCE1"/>
            </a:solidFill>
            <a:prstDash val="solid"/>
          </a:ln>
        </p:spPr>
      </p:sp>
      <p:sp>
        <p:nvSpPr>
          <p:cNvPr id="46" name="Text 14">
            <a:extLst>
              <a:ext uri="{FF2B5EF4-FFF2-40B4-BE49-F238E27FC236}">
                <a16:creationId xmlns:a16="http://schemas.microsoft.com/office/drawing/2014/main" xmlns="" id="{B9613315-DECE-40F0-8109-4644F7843212}"/>
              </a:ext>
            </a:extLst>
          </p:cNvPr>
          <p:cNvSpPr/>
          <p:nvPr/>
        </p:nvSpPr>
        <p:spPr>
          <a:xfrm>
            <a:off x="5671718" y="5073235"/>
            <a:ext cx="178488" cy="217558"/>
          </a:xfrm>
          <a:prstGeom prst="rect">
            <a:avLst/>
          </a:prstGeom>
          <a:noFill/>
          <a:ln/>
        </p:spPr>
        <p:txBody>
          <a:bodyPr wrap="none" lIns="0" tIns="0" rIns="0" bIns="0" rtlCol="0" anchor="t"/>
          <a:lstStyle/>
          <a:p>
            <a:pPr algn="ctr">
              <a:lnSpc>
                <a:spcPts val="1417"/>
              </a:lnSpc>
            </a:pPr>
            <a:r>
              <a:rPr lang="en-US" sz="1600" b="1" dirty="0">
                <a:solidFill>
                  <a:srgbClr val="000000"/>
                </a:solidFill>
                <a:latin typeface="Cambria" panose="02040503050406030204" pitchFamily="18" charset="0"/>
                <a:ea typeface="Cambria" panose="02040503050406030204" pitchFamily="18" charset="0"/>
                <a:cs typeface="Times" panose="02020603050405020304" pitchFamily="18" charset="0"/>
              </a:rPr>
              <a:t>3</a:t>
            </a:r>
            <a:endParaRPr lang="en-US" sz="1600" dirty="0">
              <a:latin typeface="Cambria" panose="02040503050406030204" pitchFamily="18" charset="0"/>
              <a:ea typeface="Cambria" panose="02040503050406030204" pitchFamily="18" charset="0"/>
              <a:cs typeface="Times" panose="02020603050405020304" pitchFamily="18" charset="0"/>
            </a:endParaRPr>
          </a:p>
        </p:txBody>
      </p:sp>
      <p:sp>
        <p:nvSpPr>
          <p:cNvPr id="47" name="Text 15">
            <a:extLst>
              <a:ext uri="{FF2B5EF4-FFF2-40B4-BE49-F238E27FC236}">
                <a16:creationId xmlns:a16="http://schemas.microsoft.com/office/drawing/2014/main" xmlns="" id="{9E534AC5-82F0-498A-83E4-9772235C1F8B}"/>
              </a:ext>
            </a:extLst>
          </p:cNvPr>
          <p:cNvSpPr/>
          <p:nvPr/>
        </p:nvSpPr>
        <p:spPr>
          <a:xfrm>
            <a:off x="3796519" y="5000716"/>
            <a:ext cx="1487924" cy="181298"/>
          </a:xfrm>
          <a:prstGeom prst="rect">
            <a:avLst/>
          </a:prstGeom>
          <a:noFill/>
          <a:ln/>
        </p:spPr>
        <p:txBody>
          <a:bodyPr wrap="none" lIns="0" tIns="0" rIns="0" bIns="0" rtlCol="0" anchor="t"/>
          <a:lstStyle/>
          <a:p>
            <a:pPr algn="r">
              <a:lnSpc>
                <a:spcPts val="1458"/>
              </a:lnSpc>
            </a:pPr>
            <a:r>
              <a:rPr lang="en-US" sz="1600" b="1">
                <a:solidFill>
                  <a:srgbClr val="007F99"/>
                </a:solidFill>
                <a:latin typeface="Cambria" panose="02040503050406030204" pitchFamily="18" charset="0"/>
                <a:ea typeface="Cambria" panose="02040503050406030204" pitchFamily="18" charset="0"/>
              </a:rPr>
              <a:t>Ngày 21/4</a:t>
            </a:r>
            <a:endParaRPr lang="en-US" sz="1600" b="1" dirty="0">
              <a:solidFill>
                <a:srgbClr val="007F99"/>
              </a:solidFill>
              <a:latin typeface="Cambria" panose="02040503050406030204" pitchFamily="18" charset="0"/>
              <a:ea typeface="Cambria" panose="02040503050406030204" pitchFamily="18" charset="0"/>
            </a:endParaRPr>
          </a:p>
        </p:txBody>
      </p:sp>
      <p:sp>
        <p:nvSpPr>
          <p:cNvPr id="32" name="Text 6">
            <a:extLst>
              <a:ext uri="{FF2B5EF4-FFF2-40B4-BE49-F238E27FC236}">
                <a16:creationId xmlns:a16="http://schemas.microsoft.com/office/drawing/2014/main" xmlns="" id="{1D6A3A11-375F-48D6-A40C-73C028FF6A7B}"/>
              </a:ext>
            </a:extLst>
          </p:cNvPr>
          <p:cNvSpPr/>
          <p:nvPr/>
        </p:nvSpPr>
        <p:spPr>
          <a:xfrm>
            <a:off x="779172" y="4813911"/>
            <a:ext cx="4610641" cy="2044089"/>
          </a:xfrm>
          <a:prstGeom prst="rect">
            <a:avLst/>
          </a:prstGeom>
          <a:noFill/>
          <a:ln/>
        </p:spPr>
        <p:txBody>
          <a:bodyPr wrap="square" lIns="0" tIns="0" rIns="0" bIns="0" rtlCol="0" anchor="t"/>
          <a:lstStyle/>
          <a:p>
            <a:pPr marL="801688" indent="-457200" algn="just">
              <a:lnSpc>
                <a:spcPts val="1500"/>
              </a:lnSpc>
            </a:pP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FDE: </a:t>
            </a:r>
            <a:r>
              <a:rPr lang="en-US" sz="1200" b="1">
                <a:solidFill>
                  <a:srgbClr val="4472C4">
                    <a:lumMod val="50000"/>
                  </a:srgbClr>
                </a:solidFill>
                <a:highlight>
                  <a:srgbClr val="FFFF00"/>
                </a:highlight>
                <a:latin typeface="Cambria" panose="02040503050406030204" pitchFamily="18" charset="0"/>
                <a:ea typeface="Cambria" panose="02040503050406030204" pitchFamily="18" charset="0"/>
              </a:rPr>
              <a:t>ELEC GEN DRIVE L2 </a:t>
            </a: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với MMSG:</a:t>
            </a:r>
            <a:endParaRPr lang="en-US" sz="1200">
              <a:solidFill>
                <a:srgbClr val="FF0000"/>
              </a:solidFill>
              <a:highlight>
                <a:srgbClr val="FFFF00"/>
              </a:highlight>
              <a:latin typeface="Cambria" panose="02040503050406030204" pitchFamily="18" charset="0"/>
              <a:ea typeface="Cambria" panose="02040503050406030204" pitchFamily="18" charset="0"/>
            </a:endParaRPr>
          </a:p>
          <a:p>
            <a:pPr marL="801688" indent="-344488" algn="just">
              <a:lnSpc>
                <a:spcPts val="1500"/>
              </a:lnSpc>
              <a:spcBef>
                <a:spcPts val="600"/>
              </a:spcBef>
            </a:pPr>
            <a:r>
              <a:rPr lang="en-US" sz="1200">
                <a:solidFill>
                  <a:srgbClr val="FF0000"/>
                </a:solidFill>
                <a:latin typeface="Cambria" panose="02040503050406030204" pitchFamily="18" charset="0"/>
                <a:ea typeface="Cambria" panose="02040503050406030204" pitchFamily="18" charset="0"/>
                <a:sym typeface="Wingdings" panose="05000000000000000000" pitchFamily="2" charset="2"/>
              </a:rPr>
              <a:t> </a:t>
            </a:r>
            <a:r>
              <a:rPr lang="en-US" sz="1200">
                <a:solidFill>
                  <a:srgbClr val="FF0000"/>
                </a:solidFill>
                <a:latin typeface="Cambria" panose="02040503050406030204" pitchFamily="18" charset="0"/>
                <a:ea typeface="Cambria" panose="02040503050406030204" pitchFamily="18" charset="0"/>
              </a:rPr>
              <a:t>24-17662 VFSG L2 has no oil pressure</a:t>
            </a:r>
          </a:p>
          <a:p>
            <a:pPr marL="1543050" lvl="0" indent="-911225" algn="just">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rPr>
              <a:t>Phát hiện oil leak ở side terminal block</a:t>
            </a:r>
            <a:endPar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endParaRPr>
          </a:p>
          <a:p>
            <a:pPr marL="1543050" lvl="0" indent="-911225" algn="just">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a:t>
            </a:r>
            <a:r>
              <a:rPr lang="en-US" sz="1200">
                <a:solidFill>
                  <a:srgbClr val="4472C4">
                    <a:lumMod val="50000"/>
                  </a:srgbClr>
                </a:solidFill>
                <a:latin typeface="Cambria" panose="02040503050406030204" pitchFamily="18" charset="0"/>
                <a:ea typeface="Cambria" panose="02040503050406030204" pitchFamily="18" charset="0"/>
              </a:rPr>
              <a:t>Thay VFSG </a:t>
            </a:r>
            <a:r>
              <a:rPr lang="en-US" sz="1200">
                <a:solidFill>
                  <a:srgbClr val="002060"/>
                </a:solidFill>
                <a:latin typeface="Cambria" panose="02040503050406030204" pitchFamily="18" charset="0"/>
                <a:ea typeface="Cambria" panose="02040503050406030204" pitchFamily="18" charset="0"/>
              </a:rPr>
              <a:t>OFF PN: 7001330H04, SN: AAEF003956 </a:t>
            </a:r>
            <a:endParaRPr lang="en-US" sz="1200">
              <a:solidFill>
                <a:srgbClr val="4472C4">
                  <a:lumMod val="50000"/>
                </a:srgbClr>
              </a:solidFill>
              <a:latin typeface="Cambria" panose="02040503050406030204" pitchFamily="18" charset="0"/>
              <a:ea typeface="Cambria" panose="02040503050406030204" pitchFamily="18" charset="0"/>
            </a:endParaRPr>
          </a:p>
          <a:p>
            <a:pPr marL="1768475" lvl="0" indent="60325" algn="just">
              <a:spcBef>
                <a:spcPts val="400"/>
              </a:spcBef>
              <a:tabLst>
                <a:tab pos="1941513" algn="l"/>
              </a:tabLst>
              <a:defRPr/>
            </a:pPr>
            <a:r>
              <a:rPr lang="en-US" sz="1200">
                <a:solidFill>
                  <a:srgbClr val="4472C4">
                    <a:lumMod val="50000"/>
                  </a:srgbClr>
                </a:solidFill>
                <a:latin typeface="Cambria" panose="02040503050406030204" pitchFamily="18" charset="0"/>
                <a:ea typeface="Cambria" panose="02040503050406030204" pitchFamily="18" charset="0"/>
              </a:rPr>
              <a:t>TSN/TSO=12917.8FH. RSPL=50000FH.</a:t>
            </a:r>
          </a:p>
          <a:p>
            <a:pPr marL="631825" lvl="0" algn="just">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rPr>
              <a:t>AAEF003956 có SFR gần nhất: VFSG L2 Oil Servicing is high và phải thay input seal </a:t>
            </a:r>
            <a:r>
              <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a:t>
            </a:r>
            <a:r>
              <a:rPr lang="en-US" sz="1200" b="1">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Nghi ngờ </a:t>
            </a:r>
            <a:r>
              <a:rPr lang="en-US" sz="1200" b="1">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thiết bị đi shop ch</a:t>
            </a:r>
            <a:r>
              <a:rPr lang="vi-VN" sz="1200" b="1">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ư</a:t>
            </a:r>
            <a:r>
              <a:rPr lang="en-US" sz="1200" b="1">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a đ</a:t>
            </a:r>
            <a:r>
              <a:rPr lang="vi-VN" sz="1200" b="1">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ư</a:t>
            </a:r>
            <a:r>
              <a:rPr lang="en-US" sz="1200" b="1">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ợc khắc phục triệt để hỏng hóc trên. </a:t>
            </a:r>
            <a:endParaRPr lang="en-US" sz="1200" b="1">
              <a:solidFill>
                <a:srgbClr val="002060"/>
              </a:solidFill>
              <a:latin typeface="Cambria" panose="02040503050406030204" pitchFamily="18" charset="0"/>
              <a:ea typeface="Cambria" panose="02040503050406030204" pitchFamily="18" charset="0"/>
            </a:endParaRPr>
          </a:p>
          <a:p>
            <a:pPr marL="1768475" lvl="0" indent="60325" algn="just">
              <a:spcBef>
                <a:spcPts val="400"/>
              </a:spcBef>
              <a:tabLst>
                <a:tab pos="1941513" algn="l"/>
              </a:tabLst>
              <a:defRPr/>
            </a:pPr>
            <a:endParaRPr lang="en-US" sz="1200">
              <a:solidFill>
                <a:srgbClr val="4472C4">
                  <a:lumMod val="50000"/>
                </a:srgbClr>
              </a:solidFill>
              <a:latin typeface="Cambria" panose="02040503050406030204" pitchFamily="18" charset="0"/>
              <a:ea typeface="Cambria" panose="02040503050406030204" pitchFamily="18" charset="0"/>
            </a:endParaRPr>
          </a:p>
          <a:p>
            <a:pPr algn="r">
              <a:lnSpc>
                <a:spcPts val="1500"/>
              </a:lnSpc>
            </a:pPr>
            <a:endParaRPr lang="en-US" sz="1200" dirty="0">
              <a:solidFill>
                <a:srgbClr val="FF0000"/>
              </a:solidFill>
              <a:latin typeface="Times" panose="02020603050405020304" pitchFamily="18" charset="0"/>
              <a:cs typeface="Times" panose="02020603050405020304" pitchFamily="18" charset="0"/>
            </a:endParaRPr>
          </a:p>
        </p:txBody>
      </p:sp>
      <p:grpSp>
        <p:nvGrpSpPr>
          <p:cNvPr id="7" name="Group 6">
            <a:extLst>
              <a:ext uri="{FF2B5EF4-FFF2-40B4-BE49-F238E27FC236}">
                <a16:creationId xmlns:a16="http://schemas.microsoft.com/office/drawing/2014/main" xmlns="" id="{9684005A-8903-4B02-A718-B5C1947DF3D8}"/>
              </a:ext>
            </a:extLst>
          </p:cNvPr>
          <p:cNvGrpSpPr/>
          <p:nvPr/>
        </p:nvGrpSpPr>
        <p:grpSpPr>
          <a:xfrm>
            <a:off x="771965" y="1186890"/>
            <a:ext cx="5121277" cy="2311802"/>
            <a:chOff x="762001" y="1693878"/>
            <a:chExt cx="5121277" cy="2311802"/>
          </a:xfrm>
        </p:grpSpPr>
        <p:sp>
          <p:nvSpPr>
            <p:cNvPr id="34" name="Shape 2">
              <a:extLst>
                <a:ext uri="{FF2B5EF4-FFF2-40B4-BE49-F238E27FC236}">
                  <a16:creationId xmlns:a16="http://schemas.microsoft.com/office/drawing/2014/main" xmlns="" id="{215579FC-FBAD-4548-A5FC-BA0EF66B3DD2}"/>
                </a:ext>
              </a:extLst>
            </p:cNvPr>
            <p:cNvSpPr/>
            <p:nvPr/>
          </p:nvSpPr>
          <p:spPr>
            <a:xfrm>
              <a:off x="5270968" y="1832874"/>
              <a:ext cx="357074" cy="27432"/>
            </a:xfrm>
            <a:prstGeom prst="roundRect">
              <a:avLst>
                <a:gd name="adj" fmla="val 850662"/>
              </a:avLst>
            </a:prstGeom>
            <a:solidFill>
              <a:srgbClr val="B6DCE1"/>
            </a:solidFill>
            <a:ln/>
          </p:spPr>
        </p:sp>
        <p:sp>
          <p:nvSpPr>
            <p:cNvPr id="35" name="Shape 3">
              <a:extLst>
                <a:ext uri="{FF2B5EF4-FFF2-40B4-BE49-F238E27FC236}">
                  <a16:creationId xmlns:a16="http://schemas.microsoft.com/office/drawing/2014/main" xmlns="" id="{D3130A9D-27D3-40C2-AC11-16DD1DC2826E}"/>
                </a:ext>
              </a:extLst>
            </p:cNvPr>
            <p:cNvSpPr/>
            <p:nvPr/>
          </p:nvSpPr>
          <p:spPr>
            <a:xfrm>
              <a:off x="5615448" y="1708459"/>
              <a:ext cx="267830" cy="261108"/>
            </a:xfrm>
            <a:prstGeom prst="roundRect">
              <a:avLst>
                <a:gd name="adj" fmla="val 40002"/>
              </a:avLst>
            </a:prstGeom>
            <a:solidFill>
              <a:srgbClr val="D0F6FB"/>
            </a:solidFill>
            <a:ln w="7620">
              <a:solidFill>
                <a:srgbClr val="B6DCE1"/>
              </a:solidFill>
              <a:prstDash val="solid"/>
            </a:ln>
          </p:spPr>
        </p:sp>
        <p:sp>
          <p:nvSpPr>
            <p:cNvPr id="36" name="Text 4">
              <a:extLst>
                <a:ext uri="{FF2B5EF4-FFF2-40B4-BE49-F238E27FC236}">
                  <a16:creationId xmlns:a16="http://schemas.microsoft.com/office/drawing/2014/main" xmlns="" id="{17AF673E-DC08-48A6-A312-294E438F1B78}"/>
                </a:ext>
              </a:extLst>
            </p:cNvPr>
            <p:cNvSpPr/>
            <p:nvPr/>
          </p:nvSpPr>
          <p:spPr>
            <a:xfrm>
              <a:off x="5660119" y="1772092"/>
              <a:ext cx="178488" cy="217558"/>
            </a:xfrm>
            <a:prstGeom prst="rect">
              <a:avLst/>
            </a:prstGeom>
            <a:noFill/>
            <a:ln/>
          </p:spPr>
          <p:txBody>
            <a:bodyPr wrap="none" lIns="0" tIns="0" rIns="0" bIns="0" rtlCol="0" anchor="t"/>
            <a:lstStyle/>
            <a:p>
              <a:pPr algn="ctr">
                <a:lnSpc>
                  <a:spcPts val="1417"/>
                </a:lnSpc>
              </a:pPr>
              <a:r>
                <a:rPr lang="en-US" sz="1600" b="1" dirty="0">
                  <a:solidFill>
                    <a:srgbClr val="000000"/>
                  </a:solidFill>
                  <a:latin typeface="Cambria" panose="02040503050406030204" pitchFamily="18" charset="0"/>
                  <a:ea typeface="Cambria" panose="02040503050406030204" pitchFamily="18" charset="0"/>
                  <a:cs typeface="Times" panose="02020603050405020304" pitchFamily="18" charset="0"/>
                </a:rPr>
                <a:t>1</a:t>
              </a:r>
              <a:endParaRPr lang="en-US" sz="1600" dirty="0">
                <a:latin typeface="Cambria" panose="02040503050406030204" pitchFamily="18" charset="0"/>
                <a:ea typeface="Cambria" panose="02040503050406030204" pitchFamily="18" charset="0"/>
                <a:cs typeface="Times" panose="02020603050405020304" pitchFamily="18" charset="0"/>
              </a:endParaRPr>
            </a:p>
          </p:txBody>
        </p:sp>
        <p:sp>
          <p:nvSpPr>
            <p:cNvPr id="37" name="Text 5">
              <a:extLst>
                <a:ext uri="{FF2B5EF4-FFF2-40B4-BE49-F238E27FC236}">
                  <a16:creationId xmlns:a16="http://schemas.microsoft.com/office/drawing/2014/main" xmlns="" id="{3A8FFC0C-F67C-49F3-B671-FFA51B32677A}"/>
                </a:ext>
              </a:extLst>
            </p:cNvPr>
            <p:cNvSpPr/>
            <p:nvPr/>
          </p:nvSpPr>
          <p:spPr>
            <a:xfrm>
              <a:off x="3666250" y="1693878"/>
              <a:ext cx="1604718" cy="244815"/>
            </a:xfrm>
            <a:prstGeom prst="rect">
              <a:avLst/>
            </a:prstGeom>
            <a:noFill/>
            <a:ln/>
          </p:spPr>
          <p:txBody>
            <a:bodyPr wrap="none" lIns="0" tIns="0" rIns="0" bIns="0" rtlCol="0" anchor="t"/>
            <a:lstStyle/>
            <a:p>
              <a:pPr algn="r">
                <a:lnSpc>
                  <a:spcPts val="1458"/>
                </a:lnSpc>
              </a:pPr>
              <a:r>
                <a:rPr lang="en-US" sz="1600" b="1">
                  <a:solidFill>
                    <a:srgbClr val="007F99"/>
                  </a:solidFill>
                  <a:latin typeface="Cambria" panose="02040503050406030204" pitchFamily="18" charset="0"/>
                  <a:ea typeface="Cambria" panose="02040503050406030204" pitchFamily="18" charset="0"/>
                  <a:cs typeface="Times" panose="02020603050405020304" pitchFamily="18" charset="0"/>
                </a:rPr>
                <a:t>Ngày 11/4</a:t>
              </a:r>
              <a:endParaRPr lang="en-US" sz="1600" dirty="0">
                <a:latin typeface="Cambria" panose="02040503050406030204" pitchFamily="18" charset="0"/>
                <a:ea typeface="Cambria" panose="02040503050406030204" pitchFamily="18" charset="0"/>
                <a:cs typeface="Times" panose="02020603050405020304" pitchFamily="18" charset="0"/>
              </a:endParaRPr>
            </a:p>
          </p:txBody>
        </p:sp>
        <p:sp>
          <p:nvSpPr>
            <p:cNvPr id="38" name="Text 6">
              <a:extLst>
                <a:ext uri="{FF2B5EF4-FFF2-40B4-BE49-F238E27FC236}">
                  <a16:creationId xmlns:a16="http://schemas.microsoft.com/office/drawing/2014/main" xmlns="" id="{6635924E-639E-4E2D-9D36-7336DD716004}"/>
                </a:ext>
              </a:extLst>
            </p:cNvPr>
            <p:cNvSpPr/>
            <p:nvPr/>
          </p:nvSpPr>
          <p:spPr>
            <a:xfrm>
              <a:off x="762001" y="1994333"/>
              <a:ext cx="4821370" cy="2011347"/>
            </a:xfrm>
            <a:prstGeom prst="rect">
              <a:avLst/>
            </a:prstGeom>
            <a:noFill/>
            <a:ln/>
          </p:spPr>
          <p:txBody>
            <a:bodyPr wrap="square" lIns="0" tIns="0" rIns="0" bIns="0" rtlCol="0" anchor="t"/>
            <a:lstStyle/>
            <a:p>
              <a:pPr marL="801688" indent="-457200" algn="just">
                <a:lnSpc>
                  <a:spcPts val="1500"/>
                </a:lnSpc>
              </a:pP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FDE: </a:t>
              </a:r>
              <a:r>
                <a:rPr lang="en-US" sz="1200" b="1">
                  <a:solidFill>
                    <a:srgbClr val="4472C4">
                      <a:lumMod val="50000"/>
                    </a:srgbClr>
                  </a:solidFill>
                  <a:highlight>
                    <a:srgbClr val="FFFF00"/>
                  </a:highlight>
                  <a:latin typeface="Cambria" panose="02040503050406030204" pitchFamily="18" charset="0"/>
                  <a:ea typeface="Cambria" panose="02040503050406030204" pitchFamily="18" charset="0"/>
                </a:rPr>
                <a:t>ELEC GEN OFF L2 </a:t>
              </a: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với 2 MMSG:</a:t>
              </a:r>
              <a:endParaRPr lang="en-US" sz="1200">
                <a:solidFill>
                  <a:srgbClr val="FF0000"/>
                </a:solidFill>
                <a:highlight>
                  <a:srgbClr val="FFFF00"/>
                </a:highlight>
                <a:latin typeface="Cambria" panose="02040503050406030204" pitchFamily="18" charset="0"/>
                <a:ea typeface="Cambria" panose="02040503050406030204" pitchFamily="18" charset="0"/>
              </a:endParaRPr>
            </a:p>
            <a:p>
              <a:pPr marL="801688" indent="-344488" algn="just">
                <a:lnSpc>
                  <a:spcPts val="1500"/>
                </a:lnSpc>
                <a:spcBef>
                  <a:spcPts val="600"/>
                </a:spcBef>
              </a:pPr>
              <a:r>
                <a:rPr lang="en-US" sz="1400">
                  <a:solidFill>
                    <a:srgbClr val="FF0000"/>
                  </a:solidFill>
                  <a:latin typeface="Cambria" panose="02040503050406030204" pitchFamily="18" charset="0"/>
                  <a:ea typeface="Cambria" panose="02040503050406030204" pitchFamily="18" charset="0"/>
                  <a:sym typeface="Wingdings" panose="05000000000000000000" pitchFamily="2" charset="2"/>
                </a:rPr>
                <a:t></a:t>
              </a:r>
              <a:r>
                <a:rPr lang="en-US" sz="1200">
                  <a:solidFill>
                    <a:srgbClr val="FF0000"/>
                  </a:solidFill>
                  <a:latin typeface="Cambria" panose="02040503050406030204" pitchFamily="18" charset="0"/>
                  <a:ea typeface="Cambria" panose="02040503050406030204" pitchFamily="18" charset="0"/>
                  <a:sym typeface="Wingdings" panose="05000000000000000000" pitchFamily="2" charset="2"/>
                </a:rPr>
                <a:t> </a:t>
              </a:r>
              <a:r>
                <a:rPr lang="en-US" sz="1200">
                  <a:solidFill>
                    <a:srgbClr val="FF0000"/>
                  </a:solidFill>
                  <a:latin typeface="Cambria" panose="02040503050406030204" pitchFamily="18" charset="0"/>
                  <a:ea typeface="Cambria" panose="02040503050406030204" pitchFamily="18" charset="0"/>
                </a:rPr>
                <a:t>24-16002 Left 2 GCU has an internal fault</a:t>
              </a:r>
            </a:p>
            <a:p>
              <a:pPr marL="1489075" lvl="0" indent="-857250" algn="just">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a:t>
              </a:r>
              <a:r>
                <a:rPr lang="en-US" sz="1200">
                  <a:solidFill>
                    <a:srgbClr val="4472C4">
                      <a:lumMod val="50000"/>
                    </a:srgbClr>
                  </a:solidFill>
                  <a:latin typeface="Cambria" panose="02040503050406030204" pitchFamily="18" charset="0"/>
                  <a:ea typeface="Cambria" panose="02040503050406030204" pitchFamily="18" charset="0"/>
                </a:rPr>
                <a:t>Thay GCU PN: 7000053H05, SN: AAEM006235</a:t>
              </a:r>
            </a:p>
            <a:p>
              <a:pPr marL="1489075" lvl="0" algn="just">
                <a:spcBef>
                  <a:spcPts val="400"/>
                </a:spcBef>
                <a:tabLst>
                  <a:tab pos="1941513" algn="l"/>
                </a:tabLst>
                <a:defRPr/>
              </a:pPr>
              <a:r>
                <a:rPr lang="en-US" sz="1200">
                  <a:solidFill>
                    <a:srgbClr val="4472C4">
                      <a:lumMod val="50000"/>
                    </a:srgbClr>
                  </a:solidFill>
                  <a:latin typeface="Cambria" panose="02040503050406030204" pitchFamily="18" charset="0"/>
                  <a:ea typeface="Cambria" panose="02040503050406030204" pitchFamily="18" charset="0"/>
                </a:rPr>
                <a:t>TSN/TSO=12,917.8FH. RSPL=50,000FH.</a:t>
              </a:r>
            </a:p>
            <a:p>
              <a:pPr marL="801688" indent="-344488" algn="just">
                <a:lnSpc>
                  <a:spcPts val="1500"/>
                </a:lnSpc>
              </a:pPr>
              <a:r>
                <a:rPr lang="en-US" sz="1400">
                  <a:solidFill>
                    <a:srgbClr val="FF0000"/>
                  </a:solidFill>
                  <a:latin typeface="Cambria" panose="02040503050406030204" pitchFamily="18" charset="0"/>
                  <a:ea typeface="Cambria" panose="02040503050406030204" pitchFamily="18" charset="0"/>
                  <a:sym typeface="Wingdings" panose="05000000000000000000" pitchFamily="2" charset="2"/>
                </a:rPr>
                <a:t></a:t>
              </a:r>
              <a:r>
                <a:rPr lang="en-US" sz="1200">
                  <a:solidFill>
                    <a:srgbClr val="FF0000"/>
                  </a:solidFill>
                  <a:latin typeface="Cambria" panose="02040503050406030204" pitchFamily="18" charset="0"/>
                  <a:ea typeface="Cambria" panose="02040503050406030204" pitchFamily="18" charset="0"/>
                  <a:sym typeface="Wingdings" panose="05000000000000000000" pitchFamily="2" charset="2"/>
                </a:rPr>
                <a:t> </a:t>
              </a:r>
              <a:r>
                <a:rPr lang="en-US" sz="1200">
                  <a:solidFill>
                    <a:srgbClr val="FF0000"/>
                  </a:solidFill>
                  <a:latin typeface="Cambria" panose="02040503050406030204" pitchFamily="18" charset="0"/>
                  <a:ea typeface="Cambria" panose="02040503050406030204" pitchFamily="18" charset="0"/>
                </a:rPr>
                <a:t>24-16072 VFSG L2 has an internal fault</a:t>
              </a:r>
            </a:p>
            <a:p>
              <a:pPr marL="1489075" indent="-857250" algn="just">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a:t>
              </a:r>
              <a:r>
                <a:rPr lang="en-US" sz="1200">
                  <a:solidFill>
                    <a:srgbClr val="4472C4">
                      <a:lumMod val="50000"/>
                    </a:srgbClr>
                  </a:solidFill>
                  <a:latin typeface="Cambria" panose="02040503050406030204" pitchFamily="18" charset="0"/>
                  <a:ea typeface="Cambria" panose="02040503050406030204" pitchFamily="18" charset="0"/>
                </a:rPr>
                <a:t>Thay VFSG PN: 7001330H04, SN: AAEF000476.</a:t>
              </a:r>
            </a:p>
            <a:p>
              <a:pPr marL="1489075" indent="-344488" algn="just">
                <a:spcBef>
                  <a:spcPts val="400"/>
                </a:spcBef>
                <a:tabLst>
                  <a:tab pos="1941513" algn="l"/>
                </a:tabLst>
                <a:defRPr/>
              </a:pPr>
              <a:r>
                <a:rPr lang="en-US" sz="1200">
                  <a:solidFill>
                    <a:srgbClr val="4472C4">
                      <a:lumMod val="50000"/>
                    </a:srgbClr>
                  </a:solidFill>
                  <a:latin typeface="Cambria" panose="02040503050406030204" pitchFamily="18" charset="0"/>
                  <a:ea typeface="Cambria" panose="02040503050406030204" pitchFamily="18" charset="0"/>
                </a:rPr>
                <a:t>TSN/TSO=34,721.7FH &gt;&gt; GMTBUR=12,000FH</a:t>
              </a:r>
            </a:p>
            <a:p>
              <a:pPr algn="just">
                <a:lnSpc>
                  <a:spcPts val="1500"/>
                </a:lnSpc>
              </a:pPr>
              <a:endParaRPr lang="en-US" sz="1200">
                <a:solidFill>
                  <a:srgbClr val="FF0000"/>
                </a:solidFill>
                <a:latin typeface="Times" panose="02020603050405020304" pitchFamily="18" charset="0"/>
                <a:cs typeface="Times" panose="02020603050405020304" pitchFamily="18" charset="0"/>
              </a:endParaRPr>
            </a:p>
            <a:p>
              <a:pPr indent="631825" algn="just">
                <a:lnSpc>
                  <a:spcPts val="1500"/>
                </a:lnSpc>
              </a:pPr>
              <a:r>
                <a:rPr lang="en-US" sz="1200" b="1">
                  <a:solidFill>
                    <a:srgbClr val="4472C4">
                      <a:lumMod val="50000"/>
                    </a:srgbClr>
                  </a:solidFill>
                  <a:latin typeface="Cambria" panose="02040503050406030204" pitchFamily="18" charset="0"/>
                  <a:ea typeface="Cambria" panose="02040503050406030204" pitchFamily="18" charset="0"/>
                </a:rPr>
                <a:t>Khối cao giờ, thường có nguyên nhân tại bộ chỉnh l</a:t>
              </a:r>
              <a:r>
                <a:rPr lang="vi-VN" sz="1200" b="1">
                  <a:solidFill>
                    <a:srgbClr val="4472C4">
                      <a:lumMod val="50000"/>
                    </a:srgbClr>
                  </a:solidFill>
                  <a:latin typeface="Cambria" panose="02040503050406030204" pitchFamily="18" charset="0"/>
                  <a:ea typeface="Cambria" panose="02040503050406030204" pitchFamily="18" charset="0"/>
                </a:rPr>
                <a:t>ư</a:t>
              </a:r>
              <a:r>
                <a:rPr lang="en-US" sz="1200" b="1">
                  <a:solidFill>
                    <a:srgbClr val="4472C4">
                      <a:lumMod val="50000"/>
                    </a:srgbClr>
                  </a:solidFill>
                  <a:latin typeface="Cambria" panose="02040503050406030204" pitchFamily="18" charset="0"/>
                  <a:ea typeface="Cambria" panose="02040503050406030204" pitchFamily="18" charset="0"/>
                </a:rPr>
                <a:t>u RRA</a:t>
              </a:r>
            </a:p>
            <a:p>
              <a:pPr algn="just">
                <a:lnSpc>
                  <a:spcPts val="1500"/>
                </a:lnSpc>
              </a:pPr>
              <a:endParaRPr lang="en-US" sz="1200" dirty="0">
                <a:solidFill>
                  <a:srgbClr val="FF0000"/>
                </a:solidFill>
                <a:latin typeface="Times" panose="02020603050405020304" pitchFamily="18" charset="0"/>
                <a:cs typeface="Times" panose="02020603050405020304" pitchFamily="18" charset="0"/>
              </a:endParaRPr>
            </a:p>
          </p:txBody>
        </p:sp>
        <p:pic>
          <p:nvPicPr>
            <p:cNvPr id="39" name="Picture 38">
              <a:extLst>
                <a:ext uri="{FF2B5EF4-FFF2-40B4-BE49-F238E27FC236}">
                  <a16:creationId xmlns:a16="http://schemas.microsoft.com/office/drawing/2014/main" xmlns="" id="{7F01D46A-45B8-4945-9310-2A0C5933BC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0505" y="3764811"/>
              <a:ext cx="203905" cy="203905"/>
            </a:xfrm>
            <a:prstGeom prst="rect">
              <a:avLst/>
            </a:prstGeom>
          </p:spPr>
        </p:pic>
        <p:pic>
          <p:nvPicPr>
            <p:cNvPr id="6" name="Picture 5">
              <a:extLst>
                <a:ext uri="{FF2B5EF4-FFF2-40B4-BE49-F238E27FC236}">
                  <a16:creationId xmlns:a16="http://schemas.microsoft.com/office/drawing/2014/main" xmlns="" id="{83AFD54B-444E-4390-AFC0-0A71B8F8DC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5408" y="1938693"/>
              <a:ext cx="305098" cy="305098"/>
            </a:xfrm>
            <a:prstGeom prst="rect">
              <a:avLst/>
            </a:prstGeom>
          </p:spPr>
        </p:pic>
      </p:grpSp>
      <p:grpSp>
        <p:nvGrpSpPr>
          <p:cNvPr id="8" name="Group 7">
            <a:extLst>
              <a:ext uri="{FF2B5EF4-FFF2-40B4-BE49-F238E27FC236}">
                <a16:creationId xmlns:a16="http://schemas.microsoft.com/office/drawing/2014/main" xmlns="" id="{4290977D-E110-4BB1-AFFD-6CA8B3341EB6}"/>
              </a:ext>
            </a:extLst>
          </p:cNvPr>
          <p:cNvGrpSpPr/>
          <p:nvPr/>
        </p:nvGrpSpPr>
        <p:grpSpPr>
          <a:xfrm>
            <a:off x="5638006" y="2892047"/>
            <a:ext cx="6476033" cy="3110762"/>
            <a:chOff x="5615448" y="3260855"/>
            <a:chExt cx="6476033" cy="3110762"/>
          </a:xfrm>
        </p:grpSpPr>
        <p:sp>
          <p:nvSpPr>
            <p:cNvPr id="30" name="Shape 2">
              <a:extLst>
                <a:ext uri="{FF2B5EF4-FFF2-40B4-BE49-F238E27FC236}">
                  <a16:creationId xmlns:a16="http://schemas.microsoft.com/office/drawing/2014/main" xmlns="" id="{AE49139B-C73F-4F99-893E-8F80F1ED283A}"/>
                </a:ext>
              </a:extLst>
            </p:cNvPr>
            <p:cNvSpPr/>
            <p:nvPr/>
          </p:nvSpPr>
          <p:spPr>
            <a:xfrm>
              <a:off x="5815189" y="3415560"/>
              <a:ext cx="357074" cy="27432"/>
            </a:xfrm>
            <a:prstGeom prst="roundRect">
              <a:avLst>
                <a:gd name="adj" fmla="val 850662"/>
              </a:avLst>
            </a:prstGeom>
            <a:solidFill>
              <a:srgbClr val="B6DCE1"/>
            </a:solidFill>
            <a:ln/>
          </p:spPr>
        </p:sp>
        <p:sp>
          <p:nvSpPr>
            <p:cNvPr id="40" name="Shape 8">
              <a:extLst>
                <a:ext uri="{FF2B5EF4-FFF2-40B4-BE49-F238E27FC236}">
                  <a16:creationId xmlns:a16="http://schemas.microsoft.com/office/drawing/2014/main" xmlns="" id="{3DAAF438-C7C6-44BB-BA9C-44ED1F12BBA8}"/>
                </a:ext>
              </a:extLst>
            </p:cNvPr>
            <p:cNvSpPr/>
            <p:nvPr/>
          </p:nvSpPr>
          <p:spPr>
            <a:xfrm>
              <a:off x="5615448" y="3311599"/>
              <a:ext cx="267830" cy="261108"/>
            </a:xfrm>
            <a:prstGeom prst="roundRect">
              <a:avLst>
                <a:gd name="adj" fmla="val 40002"/>
              </a:avLst>
            </a:prstGeom>
            <a:solidFill>
              <a:srgbClr val="D0F6FB"/>
            </a:solidFill>
            <a:ln w="7620">
              <a:solidFill>
                <a:srgbClr val="B6DCE1"/>
              </a:solidFill>
              <a:prstDash val="solid"/>
            </a:ln>
          </p:spPr>
        </p:sp>
        <p:sp>
          <p:nvSpPr>
            <p:cNvPr id="42" name="Text 10">
              <a:extLst>
                <a:ext uri="{FF2B5EF4-FFF2-40B4-BE49-F238E27FC236}">
                  <a16:creationId xmlns:a16="http://schemas.microsoft.com/office/drawing/2014/main" xmlns="" id="{4E89F72C-77F2-44DD-BF83-339DB85D61DF}"/>
                </a:ext>
              </a:extLst>
            </p:cNvPr>
            <p:cNvSpPr/>
            <p:nvPr/>
          </p:nvSpPr>
          <p:spPr>
            <a:xfrm>
              <a:off x="6172263" y="3260855"/>
              <a:ext cx="1487924" cy="181298"/>
            </a:xfrm>
            <a:prstGeom prst="rect">
              <a:avLst/>
            </a:prstGeom>
            <a:noFill/>
            <a:ln/>
          </p:spPr>
          <p:txBody>
            <a:bodyPr wrap="none" lIns="0" tIns="0" rIns="0" bIns="0" rtlCol="0" anchor="t"/>
            <a:lstStyle/>
            <a:p>
              <a:pPr>
                <a:lnSpc>
                  <a:spcPts val="1458"/>
                </a:lnSpc>
              </a:pPr>
              <a:r>
                <a:rPr lang="en-US" sz="1600" b="1">
                  <a:solidFill>
                    <a:srgbClr val="007F99"/>
                  </a:solidFill>
                  <a:latin typeface="Cambria" panose="02040503050406030204" pitchFamily="18" charset="0"/>
                  <a:ea typeface="Cambria" panose="02040503050406030204" pitchFamily="18" charset="0"/>
                  <a:cs typeface="Times" panose="02020603050405020304" pitchFamily="18" charset="0"/>
                </a:rPr>
                <a:t>Ngày 17/4</a:t>
              </a:r>
              <a:endParaRPr lang="en-US" sz="1600" dirty="0">
                <a:latin typeface="Cambria" panose="02040503050406030204" pitchFamily="18" charset="0"/>
                <a:ea typeface="Cambria" panose="02040503050406030204" pitchFamily="18" charset="0"/>
                <a:cs typeface="Times" panose="02020603050405020304" pitchFamily="18" charset="0"/>
              </a:endParaRPr>
            </a:p>
          </p:txBody>
        </p:sp>
        <p:sp>
          <p:nvSpPr>
            <p:cNvPr id="28" name="Text 6">
              <a:extLst>
                <a:ext uri="{FF2B5EF4-FFF2-40B4-BE49-F238E27FC236}">
                  <a16:creationId xmlns:a16="http://schemas.microsoft.com/office/drawing/2014/main" xmlns="" id="{C97678A3-7672-442E-870F-143F507E5684}"/>
                </a:ext>
              </a:extLst>
            </p:cNvPr>
            <p:cNvSpPr/>
            <p:nvPr/>
          </p:nvSpPr>
          <p:spPr>
            <a:xfrm>
              <a:off x="6089316" y="3529756"/>
              <a:ext cx="6002165" cy="2841861"/>
            </a:xfrm>
            <a:prstGeom prst="rect">
              <a:avLst/>
            </a:prstGeom>
            <a:noFill/>
            <a:ln/>
          </p:spPr>
          <p:txBody>
            <a:bodyPr wrap="square" lIns="0" tIns="0" rIns="0" bIns="0" rtlCol="0" anchor="t"/>
            <a:lstStyle/>
            <a:p>
              <a:pPr marL="112713" algn="just">
                <a:lnSpc>
                  <a:spcPts val="1500"/>
                </a:lnSpc>
              </a:pP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FDE: </a:t>
              </a:r>
              <a:r>
                <a:rPr lang="en-US" sz="1200" b="1">
                  <a:solidFill>
                    <a:srgbClr val="4472C4">
                      <a:lumMod val="50000"/>
                    </a:srgbClr>
                  </a:solidFill>
                  <a:highlight>
                    <a:srgbClr val="FFFF00"/>
                  </a:highlight>
                  <a:latin typeface="Cambria" panose="02040503050406030204" pitchFamily="18" charset="0"/>
                  <a:ea typeface="Cambria" panose="02040503050406030204" pitchFamily="18" charset="0"/>
                </a:rPr>
                <a:t>ELEC GEN SYS L2 </a:t>
              </a: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với  MMSG:</a:t>
              </a:r>
              <a:endParaRPr lang="en-US" sz="1200">
                <a:solidFill>
                  <a:srgbClr val="FF0000"/>
                </a:solidFill>
                <a:highlight>
                  <a:srgbClr val="FFFF00"/>
                </a:highlight>
                <a:latin typeface="Cambria" panose="02040503050406030204" pitchFamily="18" charset="0"/>
                <a:ea typeface="Cambria" panose="02040503050406030204" pitchFamily="18" charset="0"/>
              </a:endParaRPr>
            </a:p>
            <a:p>
              <a:pPr marL="112713" indent="169863" algn="just">
                <a:lnSpc>
                  <a:spcPts val="1500"/>
                </a:lnSpc>
                <a:spcBef>
                  <a:spcPts val="600"/>
                </a:spcBef>
              </a:pPr>
              <a:r>
                <a:rPr lang="en-US" sz="1400">
                  <a:solidFill>
                    <a:srgbClr val="FF0000"/>
                  </a:solidFill>
                  <a:latin typeface="Cambria" panose="02040503050406030204" pitchFamily="18" charset="0"/>
                  <a:ea typeface="Cambria" panose="02040503050406030204" pitchFamily="18" charset="0"/>
                  <a:sym typeface="Wingdings" panose="05000000000000000000" pitchFamily="2" charset="2"/>
                </a:rPr>
                <a:t></a:t>
              </a:r>
              <a:r>
                <a:rPr lang="en-US" sz="1200">
                  <a:solidFill>
                    <a:srgbClr val="FF0000"/>
                  </a:solidFill>
                  <a:latin typeface="Cambria" panose="02040503050406030204" pitchFamily="18" charset="0"/>
                  <a:ea typeface="Cambria" panose="02040503050406030204" pitchFamily="18" charset="0"/>
                  <a:sym typeface="Wingdings" panose="05000000000000000000" pitchFamily="2" charset="2"/>
                </a:rPr>
                <a:t> </a:t>
              </a:r>
              <a:r>
                <a:rPr lang="en-US" sz="1200">
                  <a:solidFill>
                    <a:srgbClr val="FF0000"/>
                  </a:solidFill>
                  <a:latin typeface="Cambria" panose="02040503050406030204" pitchFamily="18" charset="0"/>
                  <a:ea typeface="Cambria" panose="02040503050406030204" pitchFamily="18" charset="0"/>
                </a:rPr>
                <a:t>24-16592 VFSG L2 oil pressure sensor failed</a:t>
              </a:r>
            </a:p>
            <a:p>
              <a:pPr marL="690563" lvl="0" indent="-174625">
                <a:spcBef>
                  <a:spcPts val="400"/>
                </a:spcBef>
                <a:buFont typeface="+mj-lt"/>
                <a:buAutoNum type="arabicPeriod"/>
                <a:defRPr/>
              </a:pPr>
              <a:r>
                <a:rPr lang="en-US" sz="1200">
                  <a:solidFill>
                    <a:srgbClr val="4472C4">
                      <a:lumMod val="50000"/>
                    </a:srgbClr>
                  </a:solidFill>
                  <a:latin typeface="Cambria" panose="02040503050406030204" pitchFamily="18" charset="0"/>
                  <a:ea typeface="Cambria" panose="02040503050406030204" pitchFamily="18" charset="0"/>
                </a:rPr>
                <a:t>Check wiring không phát hiện bất thường</a:t>
              </a:r>
            </a:p>
            <a:p>
              <a:pPr marL="690563" indent="-174625">
                <a:spcBef>
                  <a:spcPts val="400"/>
                </a:spcBef>
                <a:buFont typeface="+mj-lt"/>
                <a:buAutoNum type="arabicPeriod"/>
                <a:tabLst>
                  <a:tab pos="571500" algn="l"/>
                </a:tabLst>
                <a:defRPr/>
              </a:pPr>
              <a:r>
                <a:rPr lang="en-US" sz="1200">
                  <a:solidFill>
                    <a:srgbClr val="4472C4">
                      <a:lumMod val="50000"/>
                    </a:srgbClr>
                  </a:solidFill>
                  <a:latin typeface="Cambria" panose="02040503050406030204" pitchFamily="18" charset="0"/>
                  <a:ea typeface="Cambria" panose="02040503050406030204" pitchFamily="18" charset="0"/>
                </a:rPr>
                <a:t>Thay (MEDC) PN: 30295-0101, SN: 3093. TSN/TSO=13087FH &gt;&gt; RSPL=20,250FH</a:t>
              </a:r>
            </a:p>
            <a:p>
              <a:pPr marL="690563" indent="-174625">
                <a:spcBef>
                  <a:spcPts val="400"/>
                </a:spcBef>
                <a:buFont typeface="+mj-lt"/>
                <a:buAutoNum type="arabicPeriod"/>
                <a:tabLst>
                  <a:tab pos="571500" algn="l"/>
                </a:tabLst>
                <a:defRPr/>
              </a:pPr>
              <a:r>
                <a:rPr lang="en-US" sz="1200">
                  <a:solidFill>
                    <a:srgbClr val="4472C4">
                      <a:lumMod val="50000"/>
                    </a:srgbClr>
                  </a:solidFill>
                  <a:latin typeface="Cambria" panose="02040503050406030204" pitchFamily="18" charset="0"/>
                  <a:ea typeface="Cambria" panose="02040503050406030204" pitchFamily="18" charset="0"/>
                </a:rPr>
                <a:t>Thay VFSG:  OFF PN: 7001330H04, SN: AAEF001608.  TSO=17140FH TSI=5FC. </a:t>
              </a:r>
            </a:p>
            <a:p>
              <a:pPr marL="571500" lvl="0" indent="917575">
                <a:spcBef>
                  <a:spcPts val="400"/>
                </a:spcBef>
                <a:tabLst>
                  <a:tab pos="571500" algn="l"/>
                </a:tabLst>
                <a:defRPr/>
              </a:pPr>
              <a:r>
                <a:rPr lang="en-US" sz="1200">
                  <a:solidFill>
                    <a:srgbClr val="002060"/>
                  </a:solidFill>
                  <a:latin typeface="Cambria" panose="02040503050406030204" pitchFamily="18" charset="0"/>
                  <a:ea typeface="Cambria" panose="02040503050406030204" pitchFamily="18" charset="0"/>
                </a:rPr>
                <a:t>  ON PN: 7001330H04, SN: AAEF003956 </a:t>
              </a:r>
            </a:p>
            <a:p>
              <a:pPr marL="571500" lvl="0" indent="-454025">
                <a:spcBef>
                  <a:spcPts val="400"/>
                </a:spcBef>
                <a:tabLst>
                  <a:tab pos="571500" algn="l"/>
                </a:tabLst>
                <a:defRPr/>
              </a:pPr>
              <a:endParaRPr lang="en-US" sz="1200">
                <a:solidFill>
                  <a:srgbClr val="4472C4">
                    <a:lumMod val="50000"/>
                  </a:srgbClr>
                </a:solidFill>
                <a:latin typeface="Cambria" panose="02040503050406030204" pitchFamily="18" charset="0"/>
                <a:ea typeface="Cambria" panose="02040503050406030204" pitchFamily="18" charset="0"/>
              </a:endParaRPr>
            </a:p>
            <a:p>
              <a:pPr marL="571500" lvl="0" indent="-231775">
                <a:spcBef>
                  <a:spcPts val="400"/>
                </a:spcBef>
                <a:tabLst>
                  <a:tab pos="571500" algn="l"/>
                </a:tabLst>
                <a:defRPr/>
              </a:pPr>
              <a:r>
                <a:rPr lang="en-US" sz="1200" b="1">
                  <a:solidFill>
                    <a:srgbClr val="4472C4">
                      <a:lumMod val="50000"/>
                    </a:srgbClr>
                  </a:solidFill>
                  <a:latin typeface="Cambria" panose="02040503050406030204" pitchFamily="18" charset="0"/>
                  <a:ea typeface="Cambria" panose="02040503050406030204" pitchFamily="18" charset="0"/>
                </a:rPr>
                <a:t>Đây là khối mới nhận về từ KLM. Đo dây tốt </a:t>
              </a:r>
              <a:r>
                <a:rPr lang="en-US" sz="1200" b="1">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a:t>
              </a:r>
              <a:r>
                <a:rPr lang="en-US" sz="1200" b="1">
                  <a:solidFill>
                    <a:srgbClr val="4472C4">
                      <a:lumMod val="50000"/>
                    </a:srgbClr>
                  </a:solidFill>
                  <a:latin typeface="Cambria" panose="02040503050406030204" pitchFamily="18" charset="0"/>
                  <a:ea typeface="Cambria" panose="02040503050406030204" pitchFamily="18" charset="0"/>
                </a:rPr>
                <a:t>Có thể do các nguyên nhân</a:t>
              </a:r>
            </a:p>
            <a:p>
              <a:pPr marL="574675" lvl="0" indent="-234950">
                <a:spcBef>
                  <a:spcPts val="400"/>
                </a:spcBef>
                <a:buFont typeface="+mj-lt"/>
                <a:buAutoNum type="arabicPeriod"/>
                <a:defRPr/>
              </a:pPr>
              <a:r>
                <a:rPr lang="en-US" sz="1200">
                  <a:solidFill>
                    <a:srgbClr val="4472C4">
                      <a:lumMod val="50000"/>
                    </a:srgbClr>
                  </a:solidFill>
                  <a:latin typeface="Cambria" panose="02040503050406030204" pitchFamily="18" charset="0"/>
                  <a:ea typeface="Cambria" panose="02040503050406030204" pitchFamily="18" charset="0"/>
                </a:rPr>
                <a:t>MEDC:  The MEDC supplies the primary source of the oil data for the EICAS displays</a:t>
              </a:r>
            </a:p>
            <a:p>
              <a:pPr marL="574675" lvl="0" indent="-234950">
                <a:spcBef>
                  <a:spcPts val="400"/>
                </a:spcBef>
                <a:buFont typeface="+mj-lt"/>
                <a:buAutoNum type="arabicPeriod"/>
                <a:defRPr/>
              </a:pPr>
              <a:r>
                <a:rPr lang="en-US" sz="1200">
                  <a:solidFill>
                    <a:srgbClr val="4472C4">
                      <a:lumMod val="50000"/>
                    </a:srgbClr>
                  </a:solidFill>
                  <a:latin typeface="Cambria" panose="02040503050406030204" pitchFamily="18" charset="0"/>
                  <a:ea typeface="Cambria" panose="02040503050406030204" pitchFamily="18" charset="0"/>
                </a:rPr>
                <a:t>VFSG: </a:t>
              </a:r>
              <a:r>
                <a:rPr lang="en-US" sz="1200">
                  <a:solidFill>
                    <a:srgbClr val="FF0000"/>
                  </a:solidFill>
                  <a:latin typeface="Cambria" panose="02040503050406030204" pitchFamily="18" charset="0"/>
                  <a:ea typeface="Cambria" panose="02040503050406030204" pitchFamily="18" charset="0"/>
                </a:rPr>
                <a:t>Boeing đánh giá có thể lỗi kẹt pressure switch assembly </a:t>
              </a:r>
              <a:r>
                <a:rPr lang="en-US" sz="1200">
                  <a:solidFill>
                    <a:srgbClr val="4472C4">
                      <a:lumMod val="50000"/>
                    </a:srgbClr>
                  </a:solidFill>
                  <a:latin typeface="Cambria" panose="02040503050406030204" pitchFamily="18" charset="0"/>
                  <a:ea typeface="Cambria" panose="02040503050406030204" pitchFamily="18" charset="0"/>
                </a:rPr>
                <a:t>(nằm trong VFSG) khiến oil pressure bị mất áp</a:t>
              </a:r>
              <a:endParaRPr lang="en-US" sz="1200">
                <a:solidFill>
                  <a:srgbClr val="FF0000"/>
                </a:solidFill>
                <a:latin typeface="Cambria" panose="02040503050406030204" pitchFamily="18" charset="0"/>
                <a:ea typeface="Cambria" panose="02040503050406030204" pitchFamily="18" charset="0"/>
              </a:endParaRPr>
            </a:p>
            <a:p>
              <a:pPr marL="571500" lvl="0" indent="-231775">
                <a:spcBef>
                  <a:spcPts val="400"/>
                </a:spcBef>
                <a:tabLst>
                  <a:tab pos="571500" algn="l"/>
                </a:tabLst>
                <a:defRPr/>
              </a:pPr>
              <a:endParaRPr lang="en-US" sz="1200">
                <a:solidFill>
                  <a:srgbClr val="002060"/>
                </a:solidFill>
                <a:latin typeface="Cambria" panose="02040503050406030204" pitchFamily="18" charset="0"/>
                <a:ea typeface="Cambria" panose="02040503050406030204" pitchFamily="18" charset="0"/>
              </a:endParaRPr>
            </a:p>
            <a:p>
              <a:pPr marL="630238" lvl="0" indent="-285750" algn="just">
                <a:spcBef>
                  <a:spcPts val="400"/>
                </a:spcBef>
                <a:defRPr/>
              </a:pPr>
              <a:endParaRPr lang="en-US" sz="1200" dirty="0">
                <a:solidFill>
                  <a:srgbClr val="FF0000"/>
                </a:solidFill>
                <a:latin typeface="Times" panose="02020603050405020304" pitchFamily="18" charset="0"/>
                <a:cs typeface="Times" panose="02020603050405020304" pitchFamily="18" charset="0"/>
              </a:endParaRPr>
            </a:p>
          </p:txBody>
        </p:sp>
        <p:pic>
          <p:nvPicPr>
            <p:cNvPr id="3" name="Picture 2">
              <a:extLst>
                <a:ext uri="{FF2B5EF4-FFF2-40B4-BE49-F238E27FC236}">
                  <a16:creationId xmlns:a16="http://schemas.microsoft.com/office/drawing/2014/main" xmlns="" id="{577BA3F4-2963-4480-9E6F-0E5EF6DCCB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8930" y="5192741"/>
              <a:ext cx="203905" cy="203905"/>
            </a:xfrm>
            <a:prstGeom prst="rect">
              <a:avLst/>
            </a:prstGeom>
          </p:spPr>
        </p:pic>
        <p:pic>
          <p:nvPicPr>
            <p:cNvPr id="43" name="Picture 42">
              <a:extLst>
                <a:ext uri="{FF2B5EF4-FFF2-40B4-BE49-F238E27FC236}">
                  <a16:creationId xmlns:a16="http://schemas.microsoft.com/office/drawing/2014/main" xmlns="" id="{0D1DFDEA-2990-4F60-821A-B4CC555697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93242" y="3480679"/>
              <a:ext cx="305098" cy="305098"/>
            </a:xfrm>
            <a:prstGeom prst="rect">
              <a:avLst/>
            </a:prstGeom>
          </p:spPr>
        </p:pic>
      </p:grpSp>
      <p:pic>
        <p:nvPicPr>
          <p:cNvPr id="49" name="Picture 48">
            <a:extLst>
              <a:ext uri="{FF2B5EF4-FFF2-40B4-BE49-F238E27FC236}">
                <a16:creationId xmlns:a16="http://schemas.microsoft.com/office/drawing/2014/main" xmlns="" id="{8E5630B5-4CC3-4B22-9060-40D03E8A83A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5408" y="4695618"/>
            <a:ext cx="305098" cy="305098"/>
          </a:xfrm>
          <a:prstGeom prst="rect">
            <a:avLst/>
          </a:prstGeom>
        </p:spPr>
      </p:pic>
      <p:pic>
        <p:nvPicPr>
          <p:cNvPr id="50" name="Picture 49">
            <a:extLst>
              <a:ext uri="{FF2B5EF4-FFF2-40B4-BE49-F238E27FC236}">
                <a16:creationId xmlns:a16="http://schemas.microsoft.com/office/drawing/2014/main" xmlns="" id="{3D3CAFFA-92AB-439C-BC64-220002BAB3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0506" y="6026485"/>
            <a:ext cx="203905" cy="203905"/>
          </a:xfrm>
          <a:prstGeom prst="rect">
            <a:avLst/>
          </a:prstGeom>
        </p:spPr>
      </p:pic>
      <p:sp>
        <p:nvSpPr>
          <p:cNvPr id="41" name="Text 9">
            <a:extLst>
              <a:ext uri="{FF2B5EF4-FFF2-40B4-BE49-F238E27FC236}">
                <a16:creationId xmlns:a16="http://schemas.microsoft.com/office/drawing/2014/main" xmlns="" id="{F20DA88D-DF8E-43CD-823E-17FCF492811A}"/>
              </a:ext>
            </a:extLst>
          </p:cNvPr>
          <p:cNvSpPr/>
          <p:nvPr/>
        </p:nvSpPr>
        <p:spPr>
          <a:xfrm>
            <a:off x="5682064" y="3003092"/>
            <a:ext cx="178488" cy="217558"/>
          </a:xfrm>
          <a:prstGeom prst="rect">
            <a:avLst/>
          </a:prstGeom>
          <a:noFill/>
          <a:ln/>
        </p:spPr>
        <p:txBody>
          <a:bodyPr wrap="none" lIns="0" tIns="0" rIns="0" bIns="0" rtlCol="0" anchor="t"/>
          <a:lstStyle/>
          <a:p>
            <a:pPr algn="ctr">
              <a:lnSpc>
                <a:spcPts val="1417"/>
              </a:lnSpc>
            </a:pPr>
            <a:r>
              <a:rPr lang="en-US" sz="1600" b="1" dirty="0">
                <a:solidFill>
                  <a:srgbClr val="000000"/>
                </a:solidFill>
                <a:latin typeface="Cambria" panose="02040503050406030204" pitchFamily="18" charset="0"/>
                <a:ea typeface="Cambria" panose="02040503050406030204" pitchFamily="18" charset="0"/>
                <a:cs typeface="Times" panose="02020603050405020304" pitchFamily="18" charset="0"/>
              </a:rPr>
              <a:t>2</a:t>
            </a:r>
            <a:endParaRPr lang="en-US" sz="1600" dirty="0">
              <a:latin typeface="Cambria" panose="02040503050406030204" pitchFamily="18" charset="0"/>
              <a:ea typeface="Cambria" panose="02040503050406030204" pitchFamily="18" charset="0"/>
              <a:cs typeface="Times" panose="02020603050405020304" pitchFamily="18" charset="0"/>
            </a:endParaRPr>
          </a:p>
        </p:txBody>
      </p:sp>
    </p:spTree>
    <p:extLst>
      <p:ext uri="{BB962C8B-B14F-4D97-AF65-F5344CB8AC3E}">
        <p14:creationId xmlns:p14="http://schemas.microsoft.com/office/powerpoint/2010/main" val="760674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C3D2AC-485F-9B90-5D07-ED0F7DF91E2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xmlns="" id="{E27E3241-8AD2-F885-34F4-FDD32086E47C}"/>
              </a:ext>
            </a:extLst>
          </p:cNvPr>
          <p:cNvSpPr txBox="1"/>
          <p:nvPr/>
        </p:nvSpPr>
        <p:spPr>
          <a:xfrm>
            <a:off x="762001" y="168860"/>
            <a:ext cx="10210799"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A879 </a:t>
            </a:r>
            <a:r>
              <a:rPr lang="en-US" sz="2800" b="1" dirty="0" err="1">
                <a:solidFill>
                  <a:srgbClr val="DEA610"/>
                </a:solidFill>
                <a:latin typeface="Montserrat SemiBold" pitchFamily="2" charset="77"/>
              </a:rPr>
              <a:t>thay</a:t>
            </a:r>
            <a:r>
              <a:rPr lang="en-US" sz="2800" b="1" dirty="0">
                <a:solidFill>
                  <a:srgbClr val="DEA610"/>
                </a:solidFill>
                <a:latin typeface="Montserrat SemiBold" pitchFamily="2" charset="77"/>
              </a:rPr>
              <a:t> 3 </a:t>
            </a:r>
            <a:r>
              <a:rPr lang="en-US" sz="2800" b="1" dirty="0" err="1">
                <a:solidFill>
                  <a:srgbClr val="DEA610"/>
                </a:solidFill>
                <a:latin typeface="Montserrat SemiBold" pitchFamily="2" charset="77"/>
              </a:rPr>
              <a:t>lần</a:t>
            </a:r>
            <a:r>
              <a:rPr lang="en-US" sz="2800" b="1" dirty="0">
                <a:solidFill>
                  <a:srgbClr val="DEA610"/>
                </a:solidFill>
                <a:latin typeface="Montserrat SemiBold" pitchFamily="2" charset="77"/>
              </a:rPr>
              <a:t> VFSG P/N 7001330H04</a:t>
            </a:r>
          </a:p>
        </p:txBody>
      </p:sp>
      <p:grpSp>
        <p:nvGrpSpPr>
          <p:cNvPr id="25" name="Group 24">
            <a:extLst>
              <a:ext uri="{FF2B5EF4-FFF2-40B4-BE49-F238E27FC236}">
                <a16:creationId xmlns:a16="http://schemas.microsoft.com/office/drawing/2014/main" xmlns="" id="{F73D7409-90DA-46D9-811A-67310F44F185}"/>
              </a:ext>
            </a:extLst>
          </p:cNvPr>
          <p:cNvGrpSpPr/>
          <p:nvPr/>
        </p:nvGrpSpPr>
        <p:grpSpPr>
          <a:xfrm>
            <a:off x="795408" y="288234"/>
            <a:ext cx="11215009" cy="593740"/>
            <a:chOff x="976560" y="323070"/>
            <a:chExt cx="10755065" cy="678753"/>
          </a:xfrm>
        </p:grpSpPr>
        <p:cxnSp>
          <p:nvCxnSpPr>
            <p:cNvPr id="26" name="Straight Connector 25">
              <a:extLst>
                <a:ext uri="{FF2B5EF4-FFF2-40B4-BE49-F238E27FC236}">
                  <a16:creationId xmlns:a16="http://schemas.microsoft.com/office/drawing/2014/main" xmlns="" id="{D25B811D-970D-DCB8-78C5-EDBF7A73B446}"/>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xmlns="" id="{145D540D-BAB6-B491-A1E5-DE44E7BF3C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3" name="Picture 2">
            <a:extLst>
              <a:ext uri="{FF2B5EF4-FFF2-40B4-BE49-F238E27FC236}">
                <a16:creationId xmlns:a16="http://schemas.microsoft.com/office/drawing/2014/main" xmlns="" id="{226BD618-7F0D-FFF1-C083-490885CDA7D4}"/>
              </a:ext>
            </a:extLst>
          </p:cNvPr>
          <p:cNvPicPr>
            <a:picLocks noChangeAspect="1"/>
          </p:cNvPicPr>
          <p:nvPr/>
        </p:nvPicPr>
        <p:blipFill>
          <a:blip r:embed="rId4"/>
          <a:stretch>
            <a:fillRect/>
          </a:stretch>
        </p:blipFill>
        <p:spPr>
          <a:xfrm>
            <a:off x="422393" y="827681"/>
            <a:ext cx="337584" cy="338554"/>
          </a:xfrm>
          <a:prstGeom prst="rect">
            <a:avLst/>
          </a:prstGeom>
        </p:spPr>
      </p:pic>
      <p:sp>
        <p:nvSpPr>
          <p:cNvPr id="5" name="TextBox 4">
            <a:extLst>
              <a:ext uri="{FF2B5EF4-FFF2-40B4-BE49-F238E27FC236}">
                <a16:creationId xmlns:a16="http://schemas.microsoft.com/office/drawing/2014/main" xmlns="" id="{5D076704-20D0-109C-CBD6-D9101997C000}"/>
              </a:ext>
            </a:extLst>
          </p:cNvPr>
          <p:cNvSpPr txBox="1"/>
          <p:nvPr/>
        </p:nvSpPr>
        <p:spPr>
          <a:xfrm>
            <a:off x="726570" y="832072"/>
            <a:ext cx="4943804" cy="338554"/>
          </a:xfrm>
          <a:prstGeom prst="rect">
            <a:avLst/>
          </a:prstGeom>
          <a:noFill/>
        </p:spPr>
        <p:txBody>
          <a:bodyPr wrap="square" rtlCol="0">
            <a:spAutoFit/>
          </a:bodyPr>
          <a:lstStyle/>
          <a:p>
            <a:pPr lvl="0" algn="just">
              <a:spcBef>
                <a:spcPts val="600"/>
              </a:spcBef>
              <a:defRPr/>
            </a:pPr>
            <a:r>
              <a:rPr lang="en-US" sz="1600" b="1">
                <a:solidFill>
                  <a:srgbClr val="006885"/>
                </a:solidFill>
                <a:latin typeface="Cambria" panose="02040503050406030204" pitchFamily="18" charset="0"/>
                <a:ea typeface="Cambria" panose="02040503050406030204" pitchFamily="18" charset="0"/>
                <a:cs typeface="Times New Roman" panose="02020603050405020304" pitchFamily="18" charset="0"/>
              </a:rPr>
              <a:t>Đánh giá chi tiết Hỏng hóc lần 2 (17/04)</a:t>
            </a:r>
            <a:endParaRPr lang="en-US" sz="1600" b="1" dirty="0">
              <a:solidFill>
                <a:srgbClr val="006885"/>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E40BC0BB-81CF-272C-AD7C-2F6E812274E1}"/>
              </a:ext>
            </a:extLst>
          </p:cNvPr>
          <p:cNvSpPr txBox="1"/>
          <p:nvPr/>
        </p:nvSpPr>
        <p:spPr>
          <a:xfrm>
            <a:off x="664142" y="1171283"/>
            <a:ext cx="8745748" cy="1220847"/>
          </a:xfrm>
          <a:prstGeom prst="rect">
            <a:avLst/>
          </a:prstGeom>
          <a:noFill/>
        </p:spPr>
        <p:txBody>
          <a:bodyPr wrap="square" rtlCol="0">
            <a:spAutoFit/>
          </a:bodyPr>
          <a:lstStyle/>
          <a:p>
            <a:pPr marL="112712" lvl="0">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rPr>
              <a:t>MMSG </a:t>
            </a:r>
            <a:r>
              <a:rPr lang="en-US" sz="1200" dirty="0" err="1">
                <a:solidFill>
                  <a:srgbClr val="4472C4">
                    <a:lumMod val="50000"/>
                  </a:srgbClr>
                </a:solidFill>
                <a:latin typeface="Cambria" panose="02040503050406030204" pitchFamily="18" charset="0"/>
                <a:ea typeface="Cambria" panose="02040503050406030204" pitchFamily="18" charset="0"/>
              </a:rPr>
              <a:t>lần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thứ</a:t>
            </a:r>
            <a:r>
              <a:rPr lang="en-US" sz="1200" dirty="0">
                <a:solidFill>
                  <a:srgbClr val="4472C4">
                    <a:lumMod val="50000"/>
                  </a:srgbClr>
                </a:solidFill>
                <a:latin typeface="Cambria" panose="02040503050406030204" pitchFamily="18" charset="0"/>
                <a:ea typeface="Cambria" panose="02040503050406030204" pitchFamily="18" charset="0"/>
              </a:rPr>
              <a:t> 2 (24-16592) </a:t>
            </a:r>
            <a:r>
              <a:rPr lang="en-US" sz="1200" dirty="0" err="1">
                <a:solidFill>
                  <a:srgbClr val="4472C4">
                    <a:lumMod val="50000"/>
                  </a:srgbClr>
                </a:solidFill>
                <a:latin typeface="Cambria" panose="02040503050406030204" pitchFamily="18" charset="0"/>
                <a:ea typeface="Cambria" panose="02040503050406030204" pitchFamily="18" charset="0"/>
              </a:rPr>
              <a:t>liên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quan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đến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hệ</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thống</a:t>
            </a:r>
            <a:r>
              <a:rPr lang="en-US" sz="1200" dirty="0">
                <a:solidFill>
                  <a:srgbClr val="4472C4">
                    <a:lumMod val="50000"/>
                  </a:srgbClr>
                </a:solidFill>
                <a:latin typeface="Cambria" panose="02040503050406030204" pitchFamily="18" charset="0"/>
                <a:ea typeface="Cambria" panose="02040503050406030204" pitchFamily="18" charset="0"/>
              </a:rPr>
              <a:t> oil pressure </a:t>
            </a:r>
            <a:r>
              <a:rPr lang="en-US" sz="1200" dirty="0" err="1">
                <a:solidFill>
                  <a:srgbClr val="4472C4">
                    <a:lumMod val="50000"/>
                  </a:srgbClr>
                </a:solidFill>
                <a:latin typeface="Cambria" panose="02040503050406030204" pitchFamily="18" charset="0"/>
                <a:ea typeface="Cambria" panose="02040503050406030204" pitchFamily="18" charset="0"/>
              </a:rPr>
              <a:t>nên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nguyên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nhân</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gốc</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có</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dirty="0" err="1">
                <a:solidFill>
                  <a:srgbClr val="4472C4">
                    <a:lumMod val="50000"/>
                  </a:srgbClr>
                </a:solidFill>
                <a:latin typeface="Cambria" panose="02040503050406030204" pitchFamily="18" charset="0"/>
                <a:ea typeface="Cambria" panose="02040503050406030204" pitchFamily="18" charset="0"/>
              </a:rPr>
              <a:t>thể</a:t>
            </a:r>
            <a:r>
              <a:rPr lang="en-US" sz="1200" dirty="0">
                <a:solidFill>
                  <a:srgbClr val="4472C4">
                    <a:lumMod val="50000"/>
                  </a:srgbClr>
                </a:solidFill>
                <a:latin typeface="Cambria" panose="02040503050406030204" pitchFamily="18" charset="0"/>
                <a:ea typeface="Cambria" panose="02040503050406030204" pitchFamily="18" charset="0"/>
              </a:rPr>
              <a:t> do:</a:t>
            </a:r>
          </a:p>
          <a:p>
            <a:pPr marL="455612" lvl="0" indent="-342900">
              <a:spcBef>
                <a:spcPts val="400"/>
              </a:spcBef>
              <a:buFont typeface="+mj-lt"/>
              <a:buAutoNum type="arabicPeriod"/>
              <a:defRPr/>
            </a:pPr>
            <a:r>
              <a:rPr lang="en-US" sz="1200" dirty="0">
                <a:solidFill>
                  <a:srgbClr val="4472C4">
                    <a:lumMod val="50000"/>
                  </a:srgbClr>
                </a:solidFill>
                <a:latin typeface="Cambria" panose="02040503050406030204" pitchFamily="18" charset="0"/>
                <a:ea typeface="Cambria" panose="02040503050406030204" pitchFamily="18" charset="0"/>
              </a:rPr>
              <a:t>MEDC:  The MEDC supplies the primary source of the oil data for the EICAS displays</a:t>
            </a:r>
          </a:p>
          <a:p>
            <a:pPr marL="455612" lvl="0" indent="-342900">
              <a:spcBef>
                <a:spcPts val="400"/>
              </a:spcBef>
              <a:buFont typeface="+mj-lt"/>
              <a:buAutoNum type="arabicPeriod"/>
              <a:defRPr/>
            </a:pPr>
            <a:r>
              <a:rPr lang="en-US" sz="1200">
                <a:solidFill>
                  <a:srgbClr val="4472C4">
                    <a:lumMod val="50000"/>
                  </a:srgbClr>
                </a:solidFill>
                <a:latin typeface="Cambria" panose="02040503050406030204" pitchFamily="18" charset="0"/>
                <a:ea typeface="Cambria" panose="02040503050406030204" pitchFamily="18" charset="0"/>
              </a:rPr>
              <a:t>VFSG: </a:t>
            </a:r>
            <a:r>
              <a:rPr lang="en-US" sz="1200">
                <a:solidFill>
                  <a:srgbClr val="FF0000"/>
                </a:solidFill>
                <a:latin typeface="Cambria" panose="02040503050406030204" pitchFamily="18" charset="0"/>
                <a:ea typeface="Cambria" panose="02040503050406030204" pitchFamily="18" charset="0"/>
              </a:rPr>
              <a:t>Boeing đánh giá có thể lỗi </a:t>
            </a:r>
            <a:r>
              <a:rPr lang="en-US" sz="1200" dirty="0" err="1">
                <a:solidFill>
                  <a:srgbClr val="FF0000"/>
                </a:solidFill>
                <a:latin typeface="Cambria" panose="02040503050406030204" pitchFamily="18" charset="0"/>
                <a:ea typeface="Cambria" panose="02040503050406030204" pitchFamily="18" charset="0"/>
              </a:rPr>
              <a:t>kẹt</a:t>
            </a:r>
            <a:r>
              <a:rPr lang="en-US" sz="1200" dirty="0">
                <a:solidFill>
                  <a:srgbClr val="FF0000"/>
                </a:solidFill>
                <a:latin typeface="Cambria" panose="02040503050406030204" pitchFamily="18" charset="0"/>
                <a:ea typeface="Cambria" panose="02040503050406030204" pitchFamily="18" charset="0"/>
              </a:rPr>
              <a:t> pressure </a:t>
            </a:r>
            <a:r>
              <a:rPr lang="en-US" sz="1200">
                <a:solidFill>
                  <a:srgbClr val="FF0000"/>
                </a:solidFill>
                <a:latin typeface="Cambria" panose="02040503050406030204" pitchFamily="18" charset="0"/>
                <a:ea typeface="Cambria" panose="02040503050406030204" pitchFamily="18" charset="0"/>
              </a:rPr>
              <a:t>switch assembly </a:t>
            </a:r>
            <a:r>
              <a:rPr lang="en-US" sz="1200">
                <a:solidFill>
                  <a:srgbClr val="4472C4">
                    <a:lumMod val="50000"/>
                  </a:srgbClr>
                </a:solidFill>
                <a:latin typeface="Cambria" panose="02040503050406030204" pitchFamily="18" charset="0"/>
                <a:ea typeface="Cambria" panose="02040503050406030204" pitchFamily="18" charset="0"/>
              </a:rPr>
              <a:t>(nằm trong VFSG) </a:t>
            </a:r>
            <a:r>
              <a:rPr lang="en-US" sz="1200" dirty="0" err="1">
                <a:solidFill>
                  <a:srgbClr val="4472C4">
                    <a:lumMod val="50000"/>
                  </a:srgbClr>
                </a:solidFill>
                <a:latin typeface="Cambria" panose="02040503050406030204" pitchFamily="18" charset="0"/>
                <a:ea typeface="Cambria" panose="02040503050406030204" pitchFamily="18" charset="0"/>
              </a:rPr>
              <a:t>khiến</a:t>
            </a:r>
            <a:r>
              <a:rPr lang="en-US" sz="1200" dirty="0">
                <a:solidFill>
                  <a:srgbClr val="4472C4">
                    <a:lumMod val="50000"/>
                  </a:srgbClr>
                </a:solidFill>
                <a:latin typeface="Cambria" panose="02040503050406030204" pitchFamily="18" charset="0"/>
                <a:ea typeface="Cambria" panose="02040503050406030204" pitchFamily="18" charset="0"/>
              </a:rPr>
              <a:t> oil pressure </a:t>
            </a:r>
            <a:r>
              <a:rPr lang="en-US" sz="1200" dirty="0" err="1">
                <a:solidFill>
                  <a:srgbClr val="4472C4">
                    <a:lumMod val="50000"/>
                  </a:srgbClr>
                </a:solidFill>
                <a:latin typeface="Cambria" panose="02040503050406030204" pitchFamily="18" charset="0"/>
                <a:ea typeface="Cambria" panose="02040503050406030204" pitchFamily="18" charset="0"/>
              </a:rPr>
              <a:t>bị</a:t>
            </a:r>
            <a:r>
              <a:rPr lang="en-US" sz="1200" dirty="0">
                <a:solidFill>
                  <a:srgbClr val="4472C4">
                    <a:lumMod val="50000"/>
                  </a:srgbClr>
                </a:solidFill>
                <a:latin typeface="Cambria" panose="02040503050406030204" pitchFamily="18" charset="0"/>
                <a:ea typeface="Cambria" panose="02040503050406030204" pitchFamily="18" charset="0"/>
              </a:rPr>
              <a:t> </a:t>
            </a:r>
            <a:r>
              <a:rPr lang="en-US" sz="1200" err="1">
                <a:solidFill>
                  <a:srgbClr val="4472C4">
                    <a:lumMod val="50000"/>
                  </a:srgbClr>
                </a:solidFill>
                <a:latin typeface="Cambria" panose="02040503050406030204" pitchFamily="18" charset="0"/>
                <a:ea typeface="Cambria" panose="02040503050406030204" pitchFamily="18" charset="0"/>
              </a:rPr>
              <a:t>mất</a:t>
            </a:r>
            <a:r>
              <a:rPr lang="en-US" sz="1200">
                <a:solidFill>
                  <a:srgbClr val="4472C4">
                    <a:lumMod val="50000"/>
                  </a:srgbClr>
                </a:solidFill>
                <a:latin typeface="Cambria" panose="02040503050406030204" pitchFamily="18" charset="0"/>
                <a:ea typeface="Cambria" panose="02040503050406030204" pitchFamily="18" charset="0"/>
              </a:rPr>
              <a:t> áp</a:t>
            </a:r>
          </a:p>
          <a:p>
            <a:pPr marL="111125" indent="346075">
              <a:spcBef>
                <a:spcPts val="400"/>
              </a:spcBef>
              <a:defRPr/>
            </a:pPr>
            <a:r>
              <a:rPr lang="en-US" sz="1200" i="1">
                <a:solidFill>
                  <a:srgbClr val="4472C4">
                    <a:lumMod val="50000"/>
                  </a:srgbClr>
                </a:solidFill>
                <a:latin typeface="Cambria" panose="02040503050406030204" pitchFamily="18" charset="0"/>
                <a:ea typeface="Cambria" panose="02040503050406030204" pitchFamily="18" charset="0"/>
              </a:rPr>
              <a:t>(Low Oil Pressure (LOP) switch bị kẹt tham chiếu 787-FTD-24-22002. Dự kiến cập nhật Q3. 2025)</a:t>
            </a:r>
          </a:p>
          <a:p>
            <a:pPr marL="112712" lvl="0">
              <a:spcBef>
                <a:spcPts val="400"/>
              </a:spcBef>
              <a:defRPr/>
            </a:pPr>
            <a:endParaRPr lang="en-US" sz="1200" dirty="0">
              <a:solidFill>
                <a:srgbClr val="FF0000"/>
              </a:solidFill>
              <a:latin typeface="Cambria" panose="02040503050406030204" pitchFamily="18" charset="0"/>
              <a:ea typeface="Cambria" panose="02040503050406030204" pitchFamily="18" charset="0"/>
            </a:endParaRPr>
          </a:p>
        </p:txBody>
      </p:sp>
      <p:pic>
        <p:nvPicPr>
          <p:cNvPr id="12" name="Picture 11">
            <a:extLst>
              <a:ext uri="{FF2B5EF4-FFF2-40B4-BE49-F238E27FC236}">
                <a16:creationId xmlns:a16="http://schemas.microsoft.com/office/drawing/2014/main" xmlns="" id="{FAB426B7-1EC6-BC9C-7910-4ADA3AE33BF6}"/>
              </a:ext>
            </a:extLst>
          </p:cNvPr>
          <p:cNvPicPr>
            <a:picLocks noChangeAspect="1"/>
          </p:cNvPicPr>
          <p:nvPr/>
        </p:nvPicPr>
        <p:blipFill>
          <a:blip r:embed="rId5"/>
          <a:stretch>
            <a:fillRect/>
          </a:stretch>
        </p:blipFill>
        <p:spPr>
          <a:xfrm>
            <a:off x="0" y="2479840"/>
            <a:ext cx="3307404" cy="3590634"/>
          </a:xfrm>
          <a:prstGeom prst="rect">
            <a:avLst/>
          </a:prstGeom>
        </p:spPr>
      </p:pic>
      <p:sp>
        <p:nvSpPr>
          <p:cNvPr id="15" name="Oval 14">
            <a:extLst>
              <a:ext uri="{FF2B5EF4-FFF2-40B4-BE49-F238E27FC236}">
                <a16:creationId xmlns:a16="http://schemas.microsoft.com/office/drawing/2014/main" xmlns="" id="{EBADC9E8-83D8-5403-B93C-994AC7936052}"/>
              </a:ext>
            </a:extLst>
          </p:cNvPr>
          <p:cNvSpPr/>
          <p:nvPr/>
        </p:nvSpPr>
        <p:spPr>
          <a:xfrm>
            <a:off x="1744494" y="2821021"/>
            <a:ext cx="732817" cy="2918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xmlns="" id="{CD3CEA69-FF90-DF47-47DD-7AC89A149764}"/>
              </a:ext>
            </a:extLst>
          </p:cNvPr>
          <p:cNvPicPr>
            <a:picLocks noChangeAspect="1"/>
          </p:cNvPicPr>
          <p:nvPr/>
        </p:nvPicPr>
        <p:blipFill>
          <a:blip r:embed="rId6"/>
          <a:stretch>
            <a:fillRect/>
          </a:stretch>
        </p:blipFill>
        <p:spPr>
          <a:xfrm>
            <a:off x="3198472" y="2392319"/>
            <a:ext cx="7002599" cy="4307813"/>
          </a:xfrm>
          <a:prstGeom prst="rect">
            <a:avLst/>
          </a:prstGeom>
        </p:spPr>
      </p:pic>
      <p:cxnSp>
        <p:nvCxnSpPr>
          <p:cNvPr id="19" name="Straight Arrow Connector 18">
            <a:extLst>
              <a:ext uri="{FF2B5EF4-FFF2-40B4-BE49-F238E27FC236}">
                <a16:creationId xmlns:a16="http://schemas.microsoft.com/office/drawing/2014/main" xmlns="" id="{7736703B-AB06-B0BD-48BD-F04B86A9D9C7}"/>
              </a:ext>
            </a:extLst>
          </p:cNvPr>
          <p:cNvCxnSpPr/>
          <p:nvPr/>
        </p:nvCxnSpPr>
        <p:spPr>
          <a:xfrm flipV="1">
            <a:off x="2583674" y="2821021"/>
            <a:ext cx="3395594" cy="1327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xmlns="" id="{777B1C4C-1322-1AEB-2558-C0C3156346ED}"/>
              </a:ext>
            </a:extLst>
          </p:cNvPr>
          <p:cNvSpPr/>
          <p:nvPr/>
        </p:nvSpPr>
        <p:spPr>
          <a:xfrm>
            <a:off x="8365787" y="2821021"/>
            <a:ext cx="609600" cy="2918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xmlns="" id="{E98F14DE-4648-24CE-48F9-E8A4DE5A245B}"/>
              </a:ext>
            </a:extLst>
          </p:cNvPr>
          <p:cNvCxnSpPr/>
          <p:nvPr/>
        </p:nvCxnSpPr>
        <p:spPr>
          <a:xfrm flipV="1">
            <a:off x="8826230" y="2127115"/>
            <a:ext cx="351510" cy="6725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xmlns="" id="{8B3B3A3E-8C2D-D188-7FB1-C0A3EE38153B}"/>
              </a:ext>
            </a:extLst>
          </p:cNvPr>
          <p:cNvSpPr txBox="1"/>
          <p:nvPr/>
        </p:nvSpPr>
        <p:spPr>
          <a:xfrm>
            <a:off x="8687453" y="1616999"/>
            <a:ext cx="1575880" cy="507831"/>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Đã</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kiểm</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tra</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dây</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đầu</a:t>
            </a:r>
            <a:r>
              <a:rPr lang="en-US" sz="900" dirty="0">
                <a:solidFill>
                  <a:srgbClr val="FF0000"/>
                </a:solidFill>
                <a:latin typeface="Cambria" panose="02040503050406030204" pitchFamily="18" charset="0"/>
                <a:ea typeface="Cambria" panose="02040503050406030204" pitchFamily="18" charset="0"/>
              </a:rPr>
              <a:t> pin 4-5 </a:t>
            </a:r>
            <a:r>
              <a:rPr lang="en-US" sz="900" dirty="0" err="1">
                <a:solidFill>
                  <a:srgbClr val="FF0000"/>
                </a:solidFill>
                <a:latin typeface="Cambria" panose="02040503050406030204" pitchFamily="18" charset="0"/>
                <a:ea typeface="Cambria" panose="02040503050406030204" pitchFamily="18" charset="0"/>
              </a:rPr>
              <a:t>của</a:t>
            </a:r>
            <a:r>
              <a:rPr lang="en-US" sz="900" dirty="0">
                <a:solidFill>
                  <a:srgbClr val="FF0000"/>
                </a:solidFill>
                <a:latin typeface="Cambria" panose="02040503050406030204" pitchFamily="18" charset="0"/>
                <a:ea typeface="Cambria" panose="02040503050406030204" pitchFamily="18" charset="0"/>
              </a:rPr>
              <a:t> connector DM2421002P03 </a:t>
            </a:r>
            <a:r>
              <a:rPr lang="en-US" sz="900" dirty="0" err="1">
                <a:solidFill>
                  <a:srgbClr val="FF0000"/>
                </a:solidFill>
                <a:latin typeface="Cambria" panose="02040503050406030204" pitchFamily="18" charset="0"/>
                <a:ea typeface="Cambria" panose="02040503050406030204" pitchFamily="18" charset="0"/>
              </a:rPr>
              <a:t>theo</a:t>
            </a:r>
            <a:r>
              <a:rPr lang="en-US" sz="900" dirty="0">
                <a:solidFill>
                  <a:srgbClr val="FF0000"/>
                </a:solidFill>
                <a:latin typeface="Cambria" panose="02040503050406030204" pitchFamily="18" charset="0"/>
                <a:ea typeface="Cambria" panose="02040503050406030204" pitchFamily="18" charset="0"/>
              </a:rPr>
              <a:t> FIM</a:t>
            </a:r>
          </a:p>
        </p:txBody>
      </p:sp>
      <p:cxnSp>
        <p:nvCxnSpPr>
          <p:cNvPr id="37" name="Straight Arrow Connector 36">
            <a:extLst>
              <a:ext uri="{FF2B5EF4-FFF2-40B4-BE49-F238E27FC236}">
                <a16:creationId xmlns:a16="http://schemas.microsoft.com/office/drawing/2014/main" xmlns="" id="{9799F937-2CB9-4DFA-3DBF-D2D632C0F11A}"/>
              </a:ext>
            </a:extLst>
          </p:cNvPr>
          <p:cNvCxnSpPr>
            <a:cxnSpLocks/>
          </p:cNvCxnSpPr>
          <p:nvPr/>
        </p:nvCxnSpPr>
        <p:spPr>
          <a:xfrm>
            <a:off x="6280128" y="2887386"/>
            <a:ext cx="2040263" cy="0"/>
          </a:xfrm>
          <a:prstGeom prst="straightConnector1">
            <a:avLst/>
          </a:prstGeom>
          <a:ln w="95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xmlns="" id="{393AE06C-1B70-6B74-7F45-DA6BE4D1C67D}"/>
              </a:ext>
            </a:extLst>
          </p:cNvPr>
          <p:cNvSpPr txBox="1"/>
          <p:nvPr/>
        </p:nvSpPr>
        <p:spPr>
          <a:xfrm>
            <a:off x="6874848" y="2701394"/>
            <a:ext cx="595358" cy="230832"/>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Tín</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hiệu</a:t>
            </a:r>
            <a:endParaRPr lang="en-US" sz="900" dirty="0">
              <a:solidFill>
                <a:srgbClr val="FF0000"/>
              </a:solidFill>
              <a:latin typeface="Cambria" panose="02040503050406030204" pitchFamily="18" charset="0"/>
              <a:ea typeface="Cambria" panose="02040503050406030204" pitchFamily="18" charset="0"/>
            </a:endParaRPr>
          </a:p>
        </p:txBody>
      </p:sp>
      <p:sp>
        <p:nvSpPr>
          <p:cNvPr id="40" name="Oval 39">
            <a:extLst>
              <a:ext uri="{FF2B5EF4-FFF2-40B4-BE49-F238E27FC236}">
                <a16:creationId xmlns:a16="http://schemas.microsoft.com/office/drawing/2014/main" xmlns="" id="{F6E4E778-F3A7-3BBF-70ED-4F68B6CA7732}"/>
              </a:ext>
            </a:extLst>
          </p:cNvPr>
          <p:cNvSpPr/>
          <p:nvPr/>
        </p:nvSpPr>
        <p:spPr>
          <a:xfrm>
            <a:off x="9241277" y="2581072"/>
            <a:ext cx="583659" cy="84792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xmlns="" id="{EAB7F6B3-A21B-0D99-79F5-300D77D4566C}"/>
              </a:ext>
            </a:extLst>
          </p:cNvPr>
          <p:cNvCxnSpPr>
            <a:cxnSpLocks/>
          </p:cNvCxnSpPr>
          <p:nvPr/>
        </p:nvCxnSpPr>
        <p:spPr>
          <a:xfrm flipV="1">
            <a:off x="9904685" y="2559729"/>
            <a:ext cx="562276" cy="25708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xmlns="" id="{341A318F-D100-CEB6-23C1-12FE285D1953}"/>
              </a:ext>
            </a:extLst>
          </p:cNvPr>
          <p:cNvSpPr txBox="1"/>
          <p:nvPr/>
        </p:nvSpPr>
        <p:spPr>
          <a:xfrm>
            <a:off x="10405966" y="2327156"/>
            <a:ext cx="947834" cy="230832"/>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Đã</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thay</a:t>
            </a:r>
            <a:r>
              <a:rPr lang="en-US" sz="900" dirty="0">
                <a:solidFill>
                  <a:srgbClr val="FF0000"/>
                </a:solidFill>
                <a:latin typeface="Cambria" panose="02040503050406030204" pitchFamily="18" charset="0"/>
                <a:ea typeface="Cambria" panose="02040503050406030204" pitchFamily="18" charset="0"/>
              </a:rPr>
              <a:t> MEDC</a:t>
            </a:r>
          </a:p>
        </p:txBody>
      </p:sp>
      <p:sp>
        <p:nvSpPr>
          <p:cNvPr id="44" name="Oval 43">
            <a:extLst>
              <a:ext uri="{FF2B5EF4-FFF2-40B4-BE49-F238E27FC236}">
                <a16:creationId xmlns:a16="http://schemas.microsoft.com/office/drawing/2014/main" xmlns="" id="{1AF6EFB8-D283-0319-5C70-DDD9A5AF1C41}"/>
              </a:ext>
            </a:extLst>
          </p:cNvPr>
          <p:cNvSpPr/>
          <p:nvPr/>
        </p:nvSpPr>
        <p:spPr>
          <a:xfrm>
            <a:off x="9824936" y="3035030"/>
            <a:ext cx="304800" cy="39397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xmlns="" id="{15EC456F-6897-9B83-7B29-22AB706A6916}"/>
              </a:ext>
            </a:extLst>
          </p:cNvPr>
          <p:cNvCxnSpPr>
            <a:cxnSpLocks/>
          </p:cNvCxnSpPr>
          <p:nvPr/>
        </p:nvCxnSpPr>
        <p:spPr>
          <a:xfrm>
            <a:off x="10073866" y="3429000"/>
            <a:ext cx="254410" cy="40417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xmlns="" id="{B4612C1A-CB37-12A7-7181-E7AD6B08510C}"/>
              </a:ext>
            </a:extLst>
          </p:cNvPr>
          <p:cNvSpPr txBox="1"/>
          <p:nvPr/>
        </p:nvSpPr>
        <p:spPr>
          <a:xfrm>
            <a:off x="10325513" y="3847564"/>
            <a:ext cx="1801636" cy="1061829"/>
          </a:xfrm>
          <a:prstGeom prst="rect">
            <a:avLst/>
          </a:prstGeom>
          <a:noFill/>
        </p:spPr>
        <p:txBody>
          <a:bodyPr wrap="square" rtlCol="0">
            <a:spAutoFit/>
          </a:bodyPr>
          <a:lstStyle/>
          <a:p>
            <a:r>
              <a:rPr lang="en-US" sz="900" dirty="0" err="1">
                <a:solidFill>
                  <a:srgbClr val="FF0000"/>
                </a:solidFill>
                <a:latin typeface="Cambria" panose="02040503050406030204" pitchFamily="18" charset="0"/>
                <a:ea typeface="Cambria" panose="02040503050406030204" pitchFamily="18" charset="0"/>
              </a:rPr>
              <a:t>Tàu</a:t>
            </a:r>
            <a:r>
              <a:rPr lang="en-US" sz="900" dirty="0">
                <a:solidFill>
                  <a:srgbClr val="FF0000"/>
                </a:solidFill>
                <a:latin typeface="Cambria" panose="02040503050406030204" pitchFamily="18" charset="0"/>
                <a:ea typeface="Cambria" panose="02040503050406030204" pitchFamily="18" charset="0"/>
              </a:rPr>
              <a:t> bay </a:t>
            </a:r>
            <a:r>
              <a:rPr lang="en-US" sz="900" dirty="0" err="1">
                <a:solidFill>
                  <a:srgbClr val="FF0000"/>
                </a:solidFill>
                <a:latin typeface="Cambria" panose="02040503050406030204" pitchFamily="18" charset="0"/>
                <a:ea typeface="Cambria" panose="02040503050406030204" pitchFamily="18" charset="0"/>
              </a:rPr>
              <a:t>có</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thể</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báo</a:t>
            </a:r>
            <a:r>
              <a:rPr lang="en-US" sz="900" dirty="0">
                <a:solidFill>
                  <a:srgbClr val="FF0000"/>
                </a:solidFill>
                <a:latin typeface="Cambria" panose="02040503050406030204" pitchFamily="18" charset="0"/>
                <a:ea typeface="Cambria" panose="02040503050406030204" pitchFamily="18" charset="0"/>
              </a:rPr>
              <a:t> Low Oil Pressure </a:t>
            </a:r>
            <a:r>
              <a:rPr lang="en-US" sz="900" dirty="0" err="1">
                <a:solidFill>
                  <a:srgbClr val="FF0000"/>
                </a:solidFill>
                <a:latin typeface="Cambria" panose="02040503050406030204" pitchFamily="18" charset="0"/>
                <a:ea typeface="Cambria" panose="02040503050406030204" pitchFamily="18" charset="0"/>
              </a:rPr>
              <a:t>nếu</a:t>
            </a:r>
            <a:r>
              <a:rPr lang="en-US" sz="900" dirty="0">
                <a:solidFill>
                  <a:srgbClr val="FF0000"/>
                </a:solidFill>
                <a:latin typeface="Cambria" panose="02040503050406030204" pitchFamily="18" charset="0"/>
                <a:ea typeface="Cambria" panose="02040503050406030204" pitchFamily="18" charset="0"/>
              </a:rPr>
              <a:t> 1 </a:t>
            </a:r>
            <a:r>
              <a:rPr lang="en-US" sz="900" dirty="0" err="1">
                <a:solidFill>
                  <a:srgbClr val="FF0000"/>
                </a:solidFill>
                <a:latin typeface="Cambria" panose="02040503050406030204" pitchFamily="18" charset="0"/>
                <a:ea typeface="Cambria" panose="02040503050406030204" pitchFamily="18" charset="0"/>
              </a:rPr>
              <a:t>trong</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các</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điều</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kiện</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sau</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xuất</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hiện</a:t>
            </a:r>
            <a:r>
              <a:rPr lang="en-US" sz="900" dirty="0">
                <a:solidFill>
                  <a:srgbClr val="FF0000"/>
                </a:solidFill>
                <a:latin typeface="Cambria" panose="02040503050406030204" pitchFamily="18" charset="0"/>
                <a:ea typeface="Cambria" panose="02040503050406030204" pitchFamily="18" charset="0"/>
              </a:rPr>
              <a:t>:</a:t>
            </a:r>
          </a:p>
          <a:p>
            <a:pPr marL="228600" indent="-228600">
              <a:buAutoNum type="arabicPeriod"/>
            </a:pPr>
            <a:r>
              <a:rPr lang="en-US" sz="900" dirty="0">
                <a:solidFill>
                  <a:srgbClr val="FF0000"/>
                </a:solidFill>
                <a:latin typeface="Cambria" panose="02040503050406030204" pitchFamily="18" charset="0"/>
                <a:ea typeface="Cambria" panose="02040503050406030204" pitchFamily="18" charset="0"/>
              </a:rPr>
              <a:t>Pressure switch </a:t>
            </a:r>
            <a:r>
              <a:rPr lang="en-US" sz="900" dirty="0" err="1">
                <a:solidFill>
                  <a:srgbClr val="FF0000"/>
                </a:solidFill>
                <a:latin typeface="Cambria" panose="02040503050406030204" pitchFamily="18" charset="0"/>
                <a:ea typeface="Cambria" panose="02040503050406030204" pitchFamily="18" charset="0"/>
              </a:rPr>
              <a:t>bị</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hỏng</a:t>
            </a:r>
            <a:r>
              <a:rPr lang="en-US" sz="900" dirty="0">
                <a:solidFill>
                  <a:srgbClr val="FF0000"/>
                </a:solidFill>
                <a:latin typeface="Cambria" panose="02040503050406030204" pitchFamily="18" charset="0"/>
                <a:ea typeface="Cambria" panose="02040503050406030204" pitchFamily="18" charset="0"/>
              </a:rPr>
              <a:t>/</a:t>
            </a:r>
            <a:r>
              <a:rPr lang="en-US" sz="900" dirty="0" err="1">
                <a:solidFill>
                  <a:srgbClr val="FF0000"/>
                </a:solidFill>
                <a:latin typeface="Cambria" panose="02040503050406030204" pitchFamily="18" charset="0"/>
                <a:ea typeface="Cambria" panose="02040503050406030204" pitchFamily="18" charset="0"/>
              </a:rPr>
              <a:t>kẹt</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phải</a:t>
            </a:r>
            <a:r>
              <a:rPr lang="en-US" sz="900" dirty="0">
                <a:solidFill>
                  <a:srgbClr val="FF0000"/>
                </a:solidFill>
                <a:latin typeface="Cambria" panose="02040503050406030204" pitchFamily="18" charset="0"/>
                <a:ea typeface="Cambria" panose="02040503050406030204" pitchFamily="18" charset="0"/>
              </a:rPr>
              <a:t> </a:t>
            </a:r>
            <a:r>
              <a:rPr lang="en-US" sz="900" dirty="0" err="1">
                <a:solidFill>
                  <a:srgbClr val="FF0000"/>
                </a:solidFill>
                <a:latin typeface="Cambria" panose="02040503050406030204" pitchFamily="18" charset="0"/>
                <a:ea typeface="Cambria" panose="02040503050406030204" pitchFamily="18" charset="0"/>
              </a:rPr>
              <a:t>thay</a:t>
            </a:r>
            <a:r>
              <a:rPr lang="en-US" sz="900" dirty="0">
                <a:solidFill>
                  <a:srgbClr val="FF0000"/>
                </a:solidFill>
                <a:latin typeface="Cambria" panose="02040503050406030204" pitchFamily="18" charset="0"/>
                <a:ea typeface="Cambria" panose="02040503050406030204" pitchFamily="18" charset="0"/>
              </a:rPr>
              <a:t> VFSG)</a:t>
            </a:r>
          </a:p>
          <a:p>
            <a:pPr marL="228600" indent="-228600">
              <a:buAutoNum type="arabicPeriod"/>
            </a:pPr>
            <a:r>
              <a:rPr lang="en-US" sz="900" dirty="0" err="1">
                <a:solidFill>
                  <a:srgbClr val="FF0000"/>
                </a:solidFill>
                <a:latin typeface="Cambria" panose="02040503050406030204" pitchFamily="18" charset="0"/>
                <a:ea typeface="Cambria" panose="02040503050406030204" pitchFamily="18" charset="0"/>
              </a:rPr>
              <a:t>Dây</a:t>
            </a:r>
            <a:r>
              <a:rPr lang="en-US" sz="900" dirty="0">
                <a:solidFill>
                  <a:srgbClr val="FF0000"/>
                </a:solidFill>
                <a:latin typeface="Cambria" panose="02040503050406030204" pitchFamily="18" charset="0"/>
                <a:ea typeface="Cambria" panose="02040503050406030204" pitchFamily="18" charset="0"/>
              </a:rPr>
              <a:t>/connector </a:t>
            </a:r>
            <a:r>
              <a:rPr lang="en-US" sz="900" dirty="0" err="1">
                <a:solidFill>
                  <a:srgbClr val="FF0000"/>
                </a:solidFill>
                <a:latin typeface="Cambria" panose="02040503050406030204" pitchFamily="18" charset="0"/>
                <a:ea typeface="Cambria" panose="02040503050406030204" pitchFamily="18" charset="0"/>
              </a:rPr>
              <a:t>hỏng</a:t>
            </a:r>
            <a:endParaRPr lang="en-US" sz="900" dirty="0">
              <a:solidFill>
                <a:srgbClr val="FF0000"/>
              </a:solidFill>
              <a:latin typeface="Cambria" panose="02040503050406030204" pitchFamily="18" charset="0"/>
              <a:ea typeface="Cambria" panose="02040503050406030204" pitchFamily="18" charset="0"/>
            </a:endParaRPr>
          </a:p>
          <a:p>
            <a:pPr marL="228600" indent="-228600">
              <a:buAutoNum type="arabicPeriod"/>
            </a:pPr>
            <a:r>
              <a:rPr lang="en-US" sz="900" dirty="0">
                <a:solidFill>
                  <a:srgbClr val="FF0000"/>
                </a:solidFill>
                <a:latin typeface="Cambria" panose="02040503050406030204" pitchFamily="18" charset="0"/>
                <a:ea typeface="Cambria" panose="02040503050406030204" pitchFamily="18" charset="0"/>
              </a:rPr>
              <a:t>MEDC </a:t>
            </a:r>
            <a:r>
              <a:rPr lang="en-US" sz="900" dirty="0" err="1">
                <a:solidFill>
                  <a:srgbClr val="FF0000"/>
                </a:solidFill>
                <a:latin typeface="Cambria" panose="02040503050406030204" pitchFamily="18" charset="0"/>
                <a:ea typeface="Cambria" panose="02040503050406030204" pitchFamily="18" charset="0"/>
              </a:rPr>
              <a:t>hỏng</a:t>
            </a:r>
            <a:endParaRPr lang="en-US" sz="900" dirty="0">
              <a:solidFill>
                <a:srgbClr val="FF0000"/>
              </a:solidFill>
              <a:latin typeface="Cambria" panose="02040503050406030204" pitchFamily="18" charset="0"/>
              <a:ea typeface="Cambria" panose="02040503050406030204" pitchFamily="18" charset="0"/>
            </a:endParaRPr>
          </a:p>
        </p:txBody>
      </p:sp>
      <p:pic>
        <p:nvPicPr>
          <p:cNvPr id="28" name="Picture 27">
            <a:extLst>
              <a:ext uri="{FF2B5EF4-FFF2-40B4-BE49-F238E27FC236}">
                <a16:creationId xmlns:a16="http://schemas.microsoft.com/office/drawing/2014/main" xmlns="" id="{03F330EF-31CF-4AB4-AA3E-9D414D9225FE}"/>
              </a:ext>
            </a:extLst>
          </p:cNvPr>
          <p:cNvPicPr>
            <a:picLocks noChangeAspect="1"/>
          </p:cNvPicPr>
          <p:nvPr/>
        </p:nvPicPr>
        <p:blipFill>
          <a:blip r:embed="rId7"/>
          <a:stretch>
            <a:fillRect/>
          </a:stretch>
        </p:blipFill>
        <p:spPr>
          <a:xfrm>
            <a:off x="2234958" y="2166749"/>
            <a:ext cx="565303" cy="578925"/>
          </a:xfrm>
          <a:prstGeom prst="rect">
            <a:avLst/>
          </a:prstGeom>
        </p:spPr>
      </p:pic>
    </p:spTree>
    <p:extLst>
      <p:ext uri="{BB962C8B-B14F-4D97-AF65-F5344CB8AC3E}">
        <p14:creationId xmlns:p14="http://schemas.microsoft.com/office/powerpoint/2010/main" val="3809069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C3D2AC-485F-9B90-5D07-ED0F7DF91E2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xmlns="" id="{E27E3241-8AD2-F885-34F4-FDD32086E47C}"/>
              </a:ext>
            </a:extLst>
          </p:cNvPr>
          <p:cNvSpPr txBox="1"/>
          <p:nvPr/>
        </p:nvSpPr>
        <p:spPr>
          <a:xfrm>
            <a:off x="762001" y="168860"/>
            <a:ext cx="9905999"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A879 </a:t>
            </a:r>
            <a:r>
              <a:rPr lang="en-US" sz="2800" b="1" dirty="0" err="1">
                <a:solidFill>
                  <a:srgbClr val="DEA610"/>
                </a:solidFill>
                <a:latin typeface="Montserrat SemiBold" pitchFamily="2" charset="77"/>
              </a:rPr>
              <a:t>thay</a:t>
            </a:r>
            <a:r>
              <a:rPr lang="en-US" sz="2800" b="1" dirty="0">
                <a:solidFill>
                  <a:srgbClr val="DEA610"/>
                </a:solidFill>
                <a:latin typeface="Montserrat SemiBold" pitchFamily="2" charset="77"/>
              </a:rPr>
              <a:t> 3 </a:t>
            </a:r>
            <a:r>
              <a:rPr lang="en-US" sz="2800" b="1" dirty="0" err="1">
                <a:solidFill>
                  <a:srgbClr val="DEA610"/>
                </a:solidFill>
                <a:latin typeface="Montserrat SemiBold" pitchFamily="2" charset="77"/>
              </a:rPr>
              <a:t>lần</a:t>
            </a:r>
            <a:r>
              <a:rPr lang="en-US" sz="2800" b="1" dirty="0">
                <a:solidFill>
                  <a:srgbClr val="DEA610"/>
                </a:solidFill>
                <a:latin typeface="Montserrat SemiBold" pitchFamily="2" charset="77"/>
              </a:rPr>
              <a:t> VFSG P/N 7001330H04</a:t>
            </a:r>
          </a:p>
        </p:txBody>
      </p:sp>
      <p:grpSp>
        <p:nvGrpSpPr>
          <p:cNvPr id="25" name="Group 24">
            <a:extLst>
              <a:ext uri="{FF2B5EF4-FFF2-40B4-BE49-F238E27FC236}">
                <a16:creationId xmlns:a16="http://schemas.microsoft.com/office/drawing/2014/main" xmlns="" id="{F73D7409-90DA-46D9-811A-67310F44F185}"/>
              </a:ext>
            </a:extLst>
          </p:cNvPr>
          <p:cNvGrpSpPr/>
          <p:nvPr/>
        </p:nvGrpSpPr>
        <p:grpSpPr>
          <a:xfrm>
            <a:off x="795408" y="288234"/>
            <a:ext cx="11215009" cy="593740"/>
            <a:chOff x="976560" y="323070"/>
            <a:chExt cx="10755065" cy="678753"/>
          </a:xfrm>
        </p:grpSpPr>
        <p:cxnSp>
          <p:nvCxnSpPr>
            <p:cNvPr id="26" name="Straight Connector 25">
              <a:extLst>
                <a:ext uri="{FF2B5EF4-FFF2-40B4-BE49-F238E27FC236}">
                  <a16:creationId xmlns:a16="http://schemas.microsoft.com/office/drawing/2014/main" xmlns="" id="{D25B811D-970D-DCB8-78C5-EDBF7A73B446}"/>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xmlns="" id="{145D540D-BAB6-B491-A1E5-DE44E7BF3C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3" name="Picture 2">
            <a:extLst>
              <a:ext uri="{FF2B5EF4-FFF2-40B4-BE49-F238E27FC236}">
                <a16:creationId xmlns:a16="http://schemas.microsoft.com/office/drawing/2014/main" xmlns="" id="{226BD618-7F0D-FFF1-C083-490885CDA7D4}"/>
              </a:ext>
            </a:extLst>
          </p:cNvPr>
          <p:cNvPicPr>
            <a:picLocks noChangeAspect="1"/>
          </p:cNvPicPr>
          <p:nvPr/>
        </p:nvPicPr>
        <p:blipFill>
          <a:blip r:embed="rId4"/>
          <a:stretch>
            <a:fillRect/>
          </a:stretch>
        </p:blipFill>
        <p:spPr>
          <a:xfrm>
            <a:off x="422393" y="827681"/>
            <a:ext cx="337584" cy="338554"/>
          </a:xfrm>
          <a:prstGeom prst="rect">
            <a:avLst/>
          </a:prstGeom>
        </p:spPr>
      </p:pic>
      <p:sp>
        <p:nvSpPr>
          <p:cNvPr id="5" name="TextBox 4">
            <a:extLst>
              <a:ext uri="{FF2B5EF4-FFF2-40B4-BE49-F238E27FC236}">
                <a16:creationId xmlns:a16="http://schemas.microsoft.com/office/drawing/2014/main" xmlns="" id="{5D076704-20D0-109C-CBD6-D9101997C000}"/>
              </a:ext>
            </a:extLst>
          </p:cNvPr>
          <p:cNvSpPr txBox="1"/>
          <p:nvPr/>
        </p:nvSpPr>
        <p:spPr>
          <a:xfrm>
            <a:off x="726570" y="832072"/>
            <a:ext cx="4943804" cy="338554"/>
          </a:xfrm>
          <a:prstGeom prst="rect">
            <a:avLst/>
          </a:prstGeom>
          <a:noFill/>
        </p:spPr>
        <p:txBody>
          <a:bodyPr wrap="square" rtlCol="0">
            <a:spAutoFit/>
          </a:bodyPr>
          <a:lstStyle/>
          <a:p>
            <a:pPr lvl="0" algn="just">
              <a:spcBef>
                <a:spcPts val="600"/>
              </a:spcBef>
              <a:defRPr/>
            </a:pPr>
            <a:r>
              <a:rPr lang="en-US" sz="1600" b="1">
                <a:solidFill>
                  <a:srgbClr val="006885"/>
                </a:solidFill>
                <a:latin typeface="Cambria" panose="02040503050406030204" pitchFamily="18" charset="0"/>
                <a:ea typeface="Cambria" panose="02040503050406030204" pitchFamily="18" charset="0"/>
                <a:cs typeface="Times New Roman" panose="02020603050405020304" pitchFamily="18" charset="0"/>
              </a:rPr>
              <a:t>Đánh giá chi tiết Hỏng hóc lần 3 (21/04)</a:t>
            </a:r>
            <a:endParaRPr lang="en-US" sz="1600" b="1" dirty="0">
              <a:solidFill>
                <a:srgbClr val="006885"/>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E40BC0BB-81CF-272C-AD7C-2F6E812274E1}"/>
              </a:ext>
            </a:extLst>
          </p:cNvPr>
          <p:cNvSpPr txBox="1"/>
          <p:nvPr/>
        </p:nvSpPr>
        <p:spPr>
          <a:xfrm>
            <a:off x="664142" y="1171283"/>
            <a:ext cx="8745748" cy="461665"/>
          </a:xfrm>
          <a:prstGeom prst="rect">
            <a:avLst/>
          </a:prstGeom>
          <a:noFill/>
        </p:spPr>
        <p:txBody>
          <a:bodyPr wrap="square" rtlCol="0">
            <a:spAutoFit/>
          </a:bodyPr>
          <a:lstStyle/>
          <a:p>
            <a:pPr marL="111125" lvl="0" indent="-50800">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rPr>
              <a:t>Khối VFSG PN: 7001330H04, SN: AAEF003956 sau khi lắp lên ngày </a:t>
            </a:r>
            <a:r>
              <a:rPr lang="en-US" sz="1200" b="1">
                <a:solidFill>
                  <a:srgbClr val="4472C4">
                    <a:lumMod val="50000"/>
                  </a:srgbClr>
                </a:solidFill>
                <a:latin typeface="Cambria" panose="02040503050406030204" pitchFamily="18" charset="0"/>
                <a:ea typeface="Cambria" panose="02040503050406030204" pitchFamily="18" charset="0"/>
              </a:rPr>
              <a:t>18/4 </a:t>
            </a:r>
            <a:r>
              <a:rPr lang="en-US" sz="1200">
                <a:solidFill>
                  <a:srgbClr val="4472C4">
                    <a:lumMod val="50000"/>
                  </a:srgbClr>
                </a:solidFill>
                <a:latin typeface="Cambria" panose="02040503050406030204" pitchFamily="18" charset="0"/>
                <a:ea typeface="Cambria" panose="02040503050406030204" pitchFamily="18" charset="0"/>
              </a:rPr>
              <a:t>thì đến ngày </a:t>
            </a:r>
            <a:r>
              <a:rPr lang="en-US" sz="1200" b="1">
                <a:solidFill>
                  <a:srgbClr val="4472C4">
                    <a:lumMod val="50000"/>
                  </a:srgbClr>
                </a:solidFill>
                <a:latin typeface="Cambria" panose="02040503050406030204" pitchFamily="18" charset="0"/>
                <a:ea typeface="Cambria" panose="02040503050406030204" pitchFamily="18" charset="0"/>
              </a:rPr>
              <a:t>21/4</a:t>
            </a:r>
            <a:r>
              <a:rPr lang="en-US" sz="1200">
                <a:solidFill>
                  <a:srgbClr val="4472C4">
                    <a:lumMod val="50000"/>
                  </a:srgbClr>
                </a:solidFill>
                <a:latin typeface="Cambria" panose="02040503050406030204" pitchFamily="18" charset="0"/>
                <a:ea typeface="Cambria" panose="02040503050406030204" pitchFamily="18" charset="0"/>
              </a:rPr>
              <a:t> xuất hiện lại cảnh báo liên quan đến thiết bị VFSG (</a:t>
            </a:r>
            <a:r>
              <a:rPr lang="en-US" sz="1200">
                <a:solidFill>
                  <a:srgbClr val="FF0000"/>
                </a:solidFill>
                <a:latin typeface="Cambria" panose="02040503050406030204" pitchFamily="18" charset="0"/>
                <a:ea typeface="Cambria" panose="02040503050406030204" pitchFamily="18" charset="0"/>
              </a:rPr>
              <a:t>MMSG: 24-17662 </a:t>
            </a:r>
            <a:r>
              <a:rPr lang="en-US" sz="1200">
                <a:solidFill>
                  <a:srgbClr val="4472C4">
                    <a:lumMod val="50000"/>
                  </a:srgbClr>
                </a:solidFill>
                <a:latin typeface="Cambria" panose="02040503050406030204" pitchFamily="18" charset="0"/>
                <a:ea typeface="Cambria" panose="02040503050406030204" pitchFamily="18" charset="0"/>
              </a:rPr>
              <a:t>Variable Frequency Start Generator L2 has low oil pressure – LOP)</a:t>
            </a:r>
            <a:endParaRPr lang="en-US" sz="1200" b="1">
              <a:solidFill>
                <a:srgbClr val="4472C4">
                  <a:lumMod val="50000"/>
                </a:srgbClr>
              </a:solidFill>
              <a:latin typeface="Cambria" panose="02040503050406030204" pitchFamily="18" charset="0"/>
              <a:ea typeface="Cambria" panose="02040503050406030204" pitchFamily="18" charset="0"/>
            </a:endParaRPr>
          </a:p>
        </p:txBody>
      </p:sp>
      <p:pic>
        <p:nvPicPr>
          <p:cNvPr id="31" name="Picture 4" descr="image005">
            <a:extLst>
              <a:ext uri="{FF2B5EF4-FFF2-40B4-BE49-F238E27FC236}">
                <a16:creationId xmlns:a16="http://schemas.microsoft.com/office/drawing/2014/main" xmlns="" id="{E617A2A6-D6AA-4E01-9A02-9926EC280D6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05612" y="1793598"/>
            <a:ext cx="1622200" cy="1571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xmlns="" id="{ED6DFA89-DBFC-4598-BED6-0CEC7548F8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72473" y="1568956"/>
            <a:ext cx="2068326" cy="1796052"/>
          </a:xfrm>
          <a:prstGeom prst="rect">
            <a:avLst/>
          </a:prstGeom>
        </p:spPr>
      </p:pic>
      <p:grpSp>
        <p:nvGrpSpPr>
          <p:cNvPr id="8" name="Group 7">
            <a:extLst>
              <a:ext uri="{FF2B5EF4-FFF2-40B4-BE49-F238E27FC236}">
                <a16:creationId xmlns:a16="http://schemas.microsoft.com/office/drawing/2014/main" xmlns="" id="{1585418C-E21A-44E1-951C-C34C93B3559B}"/>
              </a:ext>
            </a:extLst>
          </p:cNvPr>
          <p:cNvGrpSpPr/>
          <p:nvPr/>
        </p:nvGrpSpPr>
        <p:grpSpPr>
          <a:xfrm>
            <a:off x="1097252" y="2084097"/>
            <a:ext cx="2002174" cy="842672"/>
            <a:chOff x="1116975" y="2066990"/>
            <a:chExt cx="2002174" cy="842672"/>
          </a:xfrm>
        </p:grpSpPr>
        <p:sp>
          <p:nvSpPr>
            <p:cNvPr id="7" name="Arrow: Bent 6">
              <a:extLst>
                <a:ext uri="{FF2B5EF4-FFF2-40B4-BE49-F238E27FC236}">
                  <a16:creationId xmlns:a16="http://schemas.microsoft.com/office/drawing/2014/main" xmlns="" id="{B1DE5F85-4494-43DD-8BDD-C30FA844AA72}"/>
                </a:ext>
              </a:extLst>
            </p:cNvPr>
            <p:cNvSpPr/>
            <p:nvPr/>
          </p:nvSpPr>
          <p:spPr>
            <a:xfrm flipV="1">
              <a:off x="1116975" y="2066990"/>
              <a:ext cx="622570" cy="765770"/>
            </a:xfrm>
            <a:prstGeom prst="bentArrow">
              <a:avLst>
                <a:gd name="adj1" fmla="val 16572"/>
                <a:gd name="adj2" fmla="val 25000"/>
                <a:gd name="adj3" fmla="val 25000"/>
                <a:gd name="adj4" fmla="val 23438"/>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a:extLst>
                <a:ext uri="{FF2B5EF4-FFF2-40B4-BE49-F238E27FC236}">
                  <a16:creationId xmlns:a16="http://schemas.microsoft.com/office/drawing/2014/main" xmlns="" id="{6FB7A7F7-91BE-4AF1-959A-49390DFBCBC1}"/>
                </a:ext>
              </a:extLst>
            </p:cNvPr>
            <p:cNvSpPr txBox="1"/>
            <p:nvPr/>
          </p:nvSpPr>
          <p:spPr>
            <a:xfrm>
              <a:off x="1656776" y="2447997"/>
              <a:ext cx="1462373" cy="461665"/>
            </a:xfrm>
            <a:prstGeom prst="rect">
              <a:avLst/>
            </a:prstGeom>
            <a:noFill/>
          </p:spPr>
          <p:txBody>
            <a:bodyPr wrap="square" rtlCol="0">
              <a:spAutoFit/>
            </a:bodyPr>
            <a:lstStyle/>
            <a:p>
              <a:pPr marL="112712" lvl="0">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rPr>
                <a:t>oil leak tại </a:t>
              </a:r>
              <a:r>
                <a:rPr lang="en-US" sz="1200" dirty="0">
                  <a:solidFill>
                    <a:srgbClr val="4472C4">
                      <a:lumMod val="50000"/>
                    </a:srgbClr>
                  </a:solidFill>
                  <a:latin typeface="Cambria" panose="02040503050406030204" pitchFamily="18" charset="0"/>
                  <a:ea typeface="Cambria" panose="02040503050406030204" pitchFamily="18" charset="0"/>
                </a:rPr>
                <a:t>side terminal block</a:t>
              </a:r>
            </a:p>
          </p:txBody>
        </p:sp>
      </p:grpSp>
      <p:sp>
        <p:nvSpPr>
          <p:cNvPr id="34" name="Oval 33">
            <a:extLst>
              <a:ext uri="{FF2B5EF4-FFF2-40B4-BE49-F238E27FC236}">
                <a16:creationId xmlns:a16="http://schemas.microsoft.com/office/drawing/2014/main" xmlns="" id="{AC431486-35E8-4B55-81ED-3CA5A800EC23}"/>
              </a:ext>
            </a:extLst>
          </p:cNvPr>
          <p:cNvSpPr/>
          <p:nvPr/>
        </p:nvSpPr>
        <p:spPr>
          <a:xfrm>
            <a:off x="5059287" y="1789552"/>
            <a:ext cx="1034163" cy="1060315"/>
          </a:xfrm>
          <a:prstGeom prst="ellipse">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07048687-D12B-406C-842E-D071E7EFD42D}"/>
              </a:ext>
            </a:extLst>
          </p:cNvPr>
          <p:cNvSpPr/>
          <p:nvPr/>
        </p:nvSpPr>
        <p:spPr>
          <a:xfrm>
            <a:off x="6973778" y="1932972"/>
            <a:ext cx="4872224" cy="646331"/>
          </a:xfrm>
          <a:prstGeom prst="rect">
            <a:avLst/>
          </a:prstGeom>
        </p:spPr>
        <p:txBody>
          <a:bodyPr wrap="square">
            <a:spAutoFit/>
          </a:bodyPr>
          <a:lstStyle/>
          <a:p>
            <a:pPr marL="288925" indent="-288925">
              <a:buFont typeface="Wingdings" panose="05000000000000000000" pitchFamily="2" charset="2"/>
              <a:buChar char="v"/>
            </a:pPr>
            <a:r>
              <a:rPr lang="en-US" sz="1200" b="1">
                <a:solidFill>
                  <a:schemeClr val="accent1">
                    <a:lumMod val="50000"/>
                  </a:schemeClr>
                </a:solidFill>
                <a:latin typeface="Cambria" panose="02040503050406030204" pitchFamily="18" charset="0"/>
                <a:ea typeface="Cambria" panose="02040503050406030204" pitchFamily="18" charset="0"/>
              </a:rPr>
              <a:t>Collins: </a:t>
            </a:r>
            <a:r>
              <a:rPr lang="en-US" sz="1200">
                <a:solidFill>
                  <a:schemeClr val="accent1">
                    <a:lumMod val="50000"/>
                  </a:schemeClr>
                </a:solidFill>
                <a:latin typeface="Cambria" panose="02040503050406030204" pitchFamily="18" charset="0"/>
                <a:ea typeface="Cambria" panose="02040503050406030204" pitchFamily="18" charset="0"/>
              </a:rPr>
              <a:t>hiện t</a:t>
            </a:r>
            <a:r>
              <a:rPr lang="vi-VN" sz="1200">
                <a:solidFill>
                  <a:schemeClr val="accent1">
                    <a:lumMod val="50000"/>
                  </a:schemeClr>
                </a:solidFill>
                <a:latin typeface="Cambria" panose="02040503050406030204" pitchFamily="18" charset="0"/>
                <a:ea typeface="Cambria" panose="02040503050406030204" pitchFamily="18" charset="0"/>
              </a:rPr>
              <a:t>ư</a:t>
            </a:r>
            <a:r>
              <a:rPr lang="en-US" sz="1200">
                <a:solidFill>
                  <a:schemeClr val="accent1">
                    <a:lumMod val="50000"/>
                  </a:schemeClr>
                </a:solidFill>
                <a:latin typeface="Cambria" panose="02040503050406030204" pitchFamily="18" charset="0"/>
                <a:ea typeface="Cambria" panose="02040503050406030204" pitchFamily="18" charset="0"/>
              </a:rPr>
              <a:t>ợng oil leak ở side terminal block do các đầu cắm feeder cables bị quá nhiệt (tải cao) dẫn đến việc O-ring seal bị mòn theo thời gian </a:t>
            </a:r>
            <a:r>
              <a:rPr lang="en-US" sz="120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leak</a:t>
            </a:r>
            <a:endParaRPr lang="en-US" sz="1200"/>
          </a:p>
        </p:txBody>
      </p:sp>
      <p:pic>
        <p:nvPicPr>
          <p:cNvPr id="36" name="Picture 35">
            <a:extLst>
              <a:ext uri="{FF2B5EF4-FFF2-40B4-BE49-F238E27FC236}">
                <a16:creationId xmlns:a16="http://schemas.microsoft.com/office/drawing/2014/main" xmlns="" id="{09C1FD9B-4537-4CFF-822C-CAEB358A9B6F}"/>
              </a:ext>
            </a:extLst>
          </p:cNvPr>
          <p:cNvPicPr>
            <a:picLocks noChangeAspect="1"/>
          </p:cNvPicPr>
          <p:nvPr/>
        </p:nvPicPr>
        <p:blipFill>
          <a:blip r:embed="rId7"/>
          <a:stretch>
            <a:fillRect/>
          </a:stretch>
        </p:blipFill>
        <p:spPr>
          <a:xfrm>
            <a:off x="7787690" y="2521452"/>
            <a:ext cx="1913511" cy="1176961"/>
          </a:xfrm>
          <a:prstGeom prst="rect">
            <a:avLst/>
          </a:prstGeom>
        </p:spPr>
      </p:pic>
      <p:pic>
        <p:nvPicPr>
          <p:cNvPr id="11" name="Picture 10">
            <a:extLst>
              <a:ext uri="{FF2B5EF4-FFF2-40B4-BE49-F238E27FC236}">
                <a16:creationId xmlns:a16="http://schemas.microsoft.com/office/drawing/2014/main" xmlns="" id="{9B7AC65C-DF42-4C12-8000-44E9E6A20A54}"/>
              </a:ext>
            </a:extLst>
          </p:cNvPr>
          <p:cNvPicPr>
            <a:picLocks noChangeAspect="1"/>
          </p:cNvPicPr>
          <p:nvPr/>
        </p:nvPicPr>
        <p:blipFill>
          <a:blip r:embed="rId8"/>
          <a:stretch>
            <a:fillRect/>
          </a:stretch>
        </p:blipFill>
        <p:spPr>
          <a:xfrm>
            <a:off x="9947167" y="2582583"/>
            <a:ext cx="1507438" cy="1176961"/>
          </a:xfrm>
          <a:prstGeom prst="rect">
            <a:avLst/>
          </a:prstGeom>
        </p:spPr>
      </p:pic>
      <p:sp>
        <p:nvSpPr>
          <p:cNvPr id="42" name="Oval 41">
            <a:extLst>
              <a:ext uri="{FF2B5EF4-FFF2-40B4-BE49-F238E27FC236}">
                <a16:creationId xmlns:a16="http://schemas.microsoft.com/office/drawing/2014/main" xmlns="" id="{6342756E-95D4-4FD2-AAC5-58CD31A0D4E3}"/>
              </a:ext>
            </a:extLst>
          </p:cNvPr>
          <p:cNvSpPr/>
          <p:nvPr/>
        </p:nvSpPr>
        <p:spPr>
          <a:xfrm>
            <a:off x="8425169" y="3229386"/>
            <a:ext cx="738710" cy="697784"/>
          </a:xfrm>
          <a:prstGeom prst="ellipse">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40443949-0FE0-4477-AE91-3109BEEE9791}"/>
              </a:ext>
            </a:extLst>
          </p:cNvPr>
          <p:cNvSpPr/>
          <p:nvPr/>
        </p:nvSpPr>
        <p:spPr>
          <a:xfrm>
            <a:off x="759598" y="3959829"/>
            <a:ext cx="5760471" cy="2564805"/>
          </a:xfrm>
          <a:prstGeom prst="rect">
            <a:avLst/>
          </a:prstGeom>
        </p:spPr>
        <p:txBody>
          <a:bodyPr wrap="square">
            <a:spAutoFit/>
          </a:bodyPr>
          <a:lstStyle/>
          <a:p>
            <a:pPr marL="339725" lvl="0" indent="-227013">
              <a:spcBef>
                <a:spcPts val="400"/>
              </a:spcBef>
              <a:buFont typeface="Wingdings" panose="05000000000000000000" pitchFamily="2" charset="2"/>
              <a:buChar char="v"/>
              <a:defRPr/>
            </a:pPr>
            <a:r>
              <a:rPr lang="en-US" sz="1200">
                <a:solidFill>
                  <a:srgbClr val="002060"/>
                </a:solidFill>
                <a:latin typeface="Cambria" panose="02040503050406030204" pitchFamily="18" charset="0"/>
                <a:ea typeface="Cambria" panose="02040503050406030204" pitchFamily="18" charset="0"/>
              </a:rPr>
              <a:t>Việc không thực hiện service oil khi có alert trên cũng có thể là nguyên nhân gây ra LOP </a:t>
            </a:r>
            <a:r>
              <a:rPr lang="en-US" sz="1200">
                <a:solidFill>
                  <a:srgbClr val="002060"/>
                </a:solidFill>
                <a:latin typeface="Cambria" panose="02040503050406030204" pitchFamily="18" charset="0"/>
                <a:ea typeface="Cambria" panose="02040503050406030204" pitchFamily="18" charset="0"/>
                <a:sym typeface="Symbol" panose="05050102010706020507" pitchFamily="18" charset="2"/>
              </a:rPr>
              <a:t></a:t>
            </a:r>
            <a:r>
              <a:rPr lang="en-US" sz="1200">
                <a:solidFill>
                  <a:srgbClr val="002060"/>
                </a:solidFill>
                <a:latin typeface="Cambria" panose="02040503050406030204" pitchFamily="18" charset="0"/>
                <a:ea typeface="Cambria" panose="02040503050406030204" pitchFamily="18" charset="0"/>
                <a:sym typeface="Wingdings" panose="05000000000000000000" pitchFamily="2" charset="2"/>
              </a:rPr>
              <a:t>VAECO xác nhận đã oil service tuy nhiên kiểm tra trên Techlog không thấy NVKT l</a:t>
            </a:r>
            <a:r>
              <a:rPr lang="vi-VN" sz="1200">
                <a:solidFill>
                  <a:srgbClr val="002060"/>
                </a:solidFill>
                <a:latin typeface="Cambria" panose="02040503050406030204" pitchFamily="18" charset="0"/>
                <a:ea typeface="Cambria" panose="02040503050406030204" pitchFamily="18" charset="0"/>
                <a:sym typeface="Wingdings" panose="05000000000000000000" pitchFamily="2" charset="2"/>
              </a:rPr>
              <a:t>ư</a:t>
            </a:r>
            <a:r>
              <a:rPr lang="en-US" sz="1200">
                <a:solidFill>
                  <a:srgbClr val="002060"/>
                </a:solidFill>
                <a:latin typeface="Cambria" panose="02040503050406030204" pitchFamily="18" charset="0"/>
                <a:ea typeface="Cambria" panose="02040503050406030204" pitchFamily="18" charset="0"/>
                <a:sym typeface="Wingdings" panose="05000000000000000000" pitchFamily="2" charset="2"/>
              </a:rPr>
              <a:t>u trữ thông tin này</a:t>
            </a:r>
          </a:p>
          <a:p>
            <a:pPr marL="112712" lvl="0">
              <a:spcBef>
                <a:spcPts val="400"/>
              </a:spcBef>
              <a:defRPr/>
            </a:pPr>
            <a:endParaRPr lang="en-US" sz="1200">
              <a:solidFill>
                <a:srgbClr val="4472C4">
                  <a:lumMod val="50000"/>
                </a:srgbClr>
              </a:solidFill>
              <a:latin typeface="Cambria" panose="02040503050406030204" pitchFamily="18" charset="0"/>
              <a:ea typeface="Cambria" panose="02040503050406030204" pitchFamily="18" charset="0"/>
            </a:endParaRPr>
          </a:p>
          <a:p>
            <a:pPr marL="339725" lvl="0" indent="-227013">
              <a:spcBef>
                <a:spcPts val="400"/>
              </a:spcBef>
              <a:buFont typeface="Wingdings" panose="05000000000000000000" pitchFamily="2" charset="2"/>
              <a:buChar char="v"/>
              <a:defRPr/>
            </a:pPr>
            <a:r>
              <a:rPr lang="en-US" sz="1200">
                <a:solidFill>
                  <a:srgbClr val="4472C4">
                    <a:lumMod val="50000"/>
                  </a:srgbClr>
                </a:solidFill>
                <a:latin typeface="Cambria" panose="02040503050406030204" pitchFamily="18" charset="0"/>
                <a:ea typeface="Cambria" panose="02040503050406030204" pitchFamily="18" charset="0"/>
              </a:rPr>
              <a:t>BOE </a:t>
            </a:r>
            <a:r>
              <a:rPr lang="en-US" sz="1200" b="1">
                <a:solidFill>
                  <a:srgbClr val="4472C4">
                    <a:lumMod val="50000"/>
                  </a:srgbClr>
                </a:solidFill>
                <a:latin typeface="Cambria" panose="02040503050406030204" pitchFamily="18" charset="0"/>
                <a:ea typeface="Cambria" panose="02040503050406030204" pitchFamily="18" charset="0"/>
              </a:rPr>
              <a:t>787-FTD-24-1600</a:t>
            </a:r>
            <a:r>
              <a:rPr lang="en-US" sz="1200">
                <a:solidFill>
                  <a:srgbClr val="4472C4">
                    <a:lumMod val="50000"/>
                  </a:srgbClr>
                </a:solidFill>
                <a:latin typeface="Cambria" panose="02040503050406030204" pitchFamily="18" charset="0"/>
                <a:ea typeface="Cambria" panose="02040503050406030204" pitchFamily="18" charset="0"/>
              </a:rPr>
              <a:t>5: LOP có thể do input seal damage</a:t>
            </a:r>
          </a:p>
          <a:p>
            <a:pPr marL="576263" lvl="0" indent="-179388">
              <a:spcBef>
                <a:spcPts val="400"/>
              </a:spcBef>
              <a:buFont typeface="Arial" panose="020B0604020202020204" pitchFamily="34" charset="0"/>
              <a:buChar char="•"/>
              <a:defRPr/>
            </a:pPr>
            <a:r>
              <a:rPr lang="en-US" sz="1200">
                <a:solidFill>
                  <a:srgbClr val="4472C4">
                    <a:lumMod val="50000"/>
                  </a:srgbClr>
                </a:solidFill>
                <a:latin typeface="Cambria" panose="02040503050406030204" pitchFamily="18" charset="0"/>
                <a:ea typeface="Cambria" panose="02040503050406030204" pitchFamily="18" charset="0"/>
              </a:rPr>
              <a:t>VFSG H04 đã đ</a:t>
            </a:r>
            <a:r>
              <a:rPr lang="vi-VN" sz="1200">
                <a:solidFill>
                  <a:srgbClr val="4472C4">
                    <a:lumMod val="50000"/>
                  </a:srgbClr>
                </a:solidFill>
                <a:latin typeface="Cambria" panose="02040503050406030204" pitchFamily="18" charset="0"/>
                <a:ea typeface="Cambria" panose="02040503050406030204" pitchFamily="18" charset="0"/>
              </a:rPr>
              <a:t>ư</a:t>
            </a:r>
            <a:r>
              <a:rPr lang="en-US" sz="1200">
                <a:solidFill>
                  <a:srgbClr val="4472C4">
                    <a:lumMod val="50000"/>
                  </a:srgbClr>
                </a:solidFill>
                <a:latin typeface="Cambria" panose="02040503050406030204" pitchFamily="18" charset="0"/>
                <a:ea typeface="Cambria" panose="02040503050406030204" pitchFamily="18" charset="0"/>
              </a:rPr>
              <a:t>ợc nâng cấp input seal thế hệ mới để giảm thiểu lỗi liên quan đến LOP tuy nhiên vẫn không khắc phục triệt để  </a:t>
            </a:r>
            <a:r>
              <a:rPr lang="en-US" sz="1200">
                <a:solidFill>
                  <a:srgbClr val="FF0000"/>
                </a:solidFill>
                <a:latin typeface="Cambria" panose="02040503050406030204" pitchFamily="18" charset="0"/>
                <a:ea typeface="Cambria" panose="02040503050406030204" pitchFamily="18" charset="0"/>
              </a:rPr>
              <a:t>“</a:t>
            </a:r>
            <a:r>
              <a:rPr lang="en-US" sz="1200" i="1">
                <a:solidFill>
                  <a:srgbClr val="FF0000"/>
                </a:solidFill>
                <a:latin typeface="Cambria" panose="02040503050406030204" pitchFamily="18" charset="0"/>
                <a:ea typeface="Cambria" panose="02040503050406030204" pitchFamily="18" charset="0"/>
              </a:rPr>
              <a:t>Boeing and UTAS have not identified any set of actions that will fully prevent VFSG LOP events</a:t>
            </a:r>
            <a:r>
              <a:rPr lang="en-US" sz="1200">
                <a:solidFill>
                  <a:srgbClr val="FF0000"/>
                </a:solidFill>
                <a:latin typeface="Cambria" panose="02040503050406030204" pitchFamily="18" charset="0"/>
                <a:ea typeface="Cambria" panose="02040503050406030204" pitchFamily="18" charset="0"/>
              </a:rPr>
              <a:t>”</a:t>
            </a:r>
          </a:p>
          <a:p>
            <a:pPr marL="576263" lvl="0" indent="-179388">
              <a:spcBef>
                <a:spcPts val="400"/>
              </a:spcBef>
              <a:buFont typeface="Arial" panose="020B0604020202020204" pitchFamily="34" charset="0"/>
              <a:buChar char="•"/>
              <a:defRPr/>
            </a:pPr>
            <a:r>
              <a:rPr lang="en-US" sz="1200">
                <a:solidFill>
                  <a:srgbClr val="4472C4">
                    <a:lumMod val="50000"/>
                  </a:srgbClr>
                </a:solidFill>
                <a:latin typeface="Cambria" panose="02040503050406030204" pitchFamily="18" charset="0"/>
                <a:ea typeface="Cambria" panose="02040503050406030204" pitchFamily="18" charset="0"/>
              </a:rPr>
              <a:t>VFSG SN: AAEF003956 có lịch sử SFR: VFSG L2 Oil Servicing is high và phải thay input seal.</a:t>
            </a:r>
          </a:p>
          <a:p>
            <a:pPr marL="685800" lvl="0" indent="-168275">
              <a:spcBef>
                <a:spcPts val="400"/>
              </a:spcBef>
              <a:defRPr/>
            </a:pPr>
            <a:r>
              <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a:t>
            </a:r>
            <a:r>
              <a:rPr lang="en-US" sz="1200">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Đánh giá có thể do thiết bị đi shop ch</a:t>
            </a:r>
            <a:r>
              <a:rPr lang="vi-VN" sz="1200">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ư</a:t>
            </a:r>
            <a:r>
              <a:rPr lang="en-US" sz="1200">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a đ</a:t>
            </a:r>
            <a:r>
              <a:rPr lang="vi-VN" sz="1200">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ư</a:t>
            </a:r>
            <a:r>
              <a:rPr lang="en-US" sz="1200">
                <a:solidFill>
                  <a:srgbClr val="4472C4">
                    <a:lumMod val="50000"/>
                  </a:srgbClr>
                </a:solidFill>
                <a:latin typeface="Cambria" panose="02040503050406030204" pitchFamily="18" charset="0"/>
                <a:ea typeface="Cambria" panose="02040503050406030204" pitchFamily="18" charset="0"/>
                <a:sym typeface="Wingdings" panose="05000000000000000000" pitchFamily="2" charset="2"/>
              </a:rPr>
              <a:t>ợc khắc phục triệt để hỏng hóc trên </a:t>
            </a:r>
            <a:r>
              <a:rPr lang="en-US" sz="1200">
                <a:solidFill>
                  <a:srgbClr val="4472C4">
                    <a:lumMod val="50000"/>
                  </a:srgbClr>
                </a:solidFill>
                <a:latin typeface="Cambria" panose="02040503050406030204" pitchFamily="18" charset="0"/>
                <a:ea typeface="Cambria" panose="02040503050406030204" pitchFamily="18" charset="0"/>
                <a:sym typeface="Symbol" panose="05050102010706020507" pitchFamily="18" charset="2"/>
              </a:rPr>
              <a:t> Đã đề nghị Ban QLVT làm việc với shop</a:t>
            </a:r>
            <a:endParaRPr lang="en-US" sz="1200" dirty="0">
              <a:solidFill>
                <a:srgbClr val="FF0000"/>
              </a:solidFill>
              <a:latin typeface="Cambria" panose="02040503050406030204" pitchFamily="18" charset="0"/>
              <a:ea typeface="Cambria" panose="02040503050406030204" pitchFamily="18" charset="0"/>
            </a:endParaRPr>
          </a:p>
        </p:txBody>
      </p:sp>
      <p:grpSp>
        <p:nvGrpSpPr>
          <p:cNvPr id="22" name="Group 21">
            <a:extLst>
              <a:ext uri="{FF2B5EF4-FFF2-40B4-BE49-F238E27FC236}">
                <a16:creationId xmlns:a16="http://schemas.microsoft.com/office/drawing/2014/main" xmlns="" id="{ECBE5ACD-E69B-4FC8-BBDC-6519AAED7E13}"/>
              </a:ext>
            </a:extLst>
          </p:cNvPr>
          <p:cNvGrpSpPr/>
          <p:nvPr/>
        </p:nvGrpSpPr>
        <p:grpSpPr>
          <a:xfrm>
            <a:off x="6973778" y="4844010"/>
            <a:ext cx="5049588" cy="1822131"/>
            <a:chOff x="7682554" y="4435018"/>
            <a:chExt cx="5049588" cy="1822131"/>
          </a:xfrm>
        </p:grpSpPr>
        <p:pic>
          <p:nvPicPr>
            <p:cNvPr id="16" name="Picture 15">
              <a:extLst>
                <a:ext uri="{FF2B5EF4-FFF2-40B4-BE49-F238E27FC236}">
                  <a16:creationId xmlns:a16="http://schemas.microsoft.com/office/drawing/2014/main" xmlns="" id="{DD75DDD7-4351-4D8B-A18E-0CB882F896A8}"/>
                </a:ext>
              </a:extLst>
            </p:cNvPr>
            <p:cNvPicPr>
              <a:picLocks noChangeAspect="1"/>
            </p:cNvPicPr>
            <p:nvPr/>
          </p:nvPicPr>
          <p:blipFill>
            <a:blip r:embed="rId9"/>
            <a:stretch>
              <a:fillRect/>
            </a:stretch>
          </p:blipFill>
          <p:spPr>
            <a:xfrm>
              <a:off x="7893580" y="4712017"/>
              <a:ext cx="4838562" cy="1545132"/>
            </a:xfrm>
            <a:prstGeom prst="rect">
              <a:avLst/>
            </a:prstGeom>
          </p:spPr>
        </p:pic>
        <p:sp>
          <p:nvSpPr>
            <p:cNvPr id="18" name="Rectangle 17">
              <a:extLst>
                <a:ext uri="{FF2B5EF4-FFF2-40B4-BE49-F238E27FC236}">
                  <a16:creationId xmlns:a16="http://schemas.microsoft.com/office/drawing/2014/main" xmlns="" id="{6AFA7F6F-FDF2-46E9-BFB1-2F86B9A8406C}"/>
                </a:ext>
              </a:extLst>
            </p:cNvPr>
            <p:cNvSpPr/>
            <p:nvPr/>
          </p:nvSpPr>
          <p:spPr>
            <a:xfrm>
              <a:off x="7682554" y="4435018"/>
              <a:ext cx="3295133" cy="276999"/>
            </a:xfrm>
            <a:prstGeom prst="rect">
              <a:avLst/>
            </a:prstGeom>
          </p:spPr>
          <p:txBody>
            <a:bodyPr wrap="none">
              <a:spAutoFit/>
            </a:bodyPr>
            <a:lstStyle/>
            <a:p>
              <a:pPr marL="112712" lvl="0">
                <a:spcBef>
                  <a:spcPts val="400"/>
                </a:spcBef>
                <a:defRPr/>
              </a:pPr>
              <a:r>
                <a:rPr lang="en-US" sz="1200">
                  <a:solidFill>
                    <a:srgbClr val="4472C4">
                      <a:lumMod val="50000"/>
                    </a:srgbClr>
                  </a:solidFill>
                  <a:highlight>
                    <a:srgbClr val="FFFF00"/>
                  </a:highlight>
                  <a:latin typeface="Cambria" panose="02040503050406030204" pitchFamily="18" charset="0"/>
                  <a:ea typeface="Cambria" panose="02040503050406030204" pitchFamily="18" charset="0"/>
                </a:rPr>
                <a:t>Goodrich FAA 8130-3 SFR dated 10-Apr-2025</a:t>
              </a:r>
              <a:endParaRPr lang="en-US" sz="1200" dirty="0">
                <a:solidFill>
                  <a:srgbClr val="4472C4">
                    <a:lumMod val="50000"/>
                  </a:srgbClr>
                </a:solidFill>
                <a:highlight>
                  <a:srgbClr val="FFFF00"/>
                </a:highlight>
                <a:latin typeface="Cambria" panose="02040503050406030204" pitchFamily="18" charset="0"/>
                <a:ea typeface="Cambria" panose="02040503050406030204" pitchFamily="18" charset="0"/>
              </a:endParaRPr>
            </a:p>
          </p:txBody>
        </p:sp>
      </p:grpSp>
      <p:sp>
        <p:nvSpPr>
          <p:cNvPr id="46" name="Rectangle 45">
            <a:extLst>
              <a:ext uri="{FF2B5EF4-FFF2-40B4-BE49-F238E27FC236}">
                <a16:creationId xmlns:a16="http://schemas.microsoft.com/office/drawing/2014/main" xmlns="" id="{8FD15E8C-B990-4444-BB4E-513E04F8E848}"/>
              </a:ext>
            </a:extLst>
          </p:cNvPr>
          <p:cNvSpPr/>
          <p:nvPr/>
        </p:nvSpPr>
        <p:spPr>
          <a:xfrm>
            <a:off x="9203932" y="3853989"/>
            <a:ext cx="1629357" cy="276999"/>
          </a:xfrm>
          <a:prstGeom prst="rect">
            <a:avLst/>
          </a:prstGeom>
        </p:spPr>
        <p:txBody>
          <a:bodyPr wrap="none">
            <a:spAutoFit/>
          </a:bodyPr>
          <a:lstStyle/>
          <a:p>
            <a:r>
              <a:rPr lang="en-US" sz="1200">
                <a:solidFill>
                  <a:srgbClr val="4472C4">
                    <a:lumMod val="50000"/>
                  </a:srgbClr>
                </a:solidFill>
                <a:latin typeface="Cambria" panose="02040503050406030204" pitchFamily="18" charset="0"/>
                <a:ea typeface="Cambria" panose="02040503050406030204" pitchFamily="18" charset="0"/>
              </a:rPr>
              <a:t>mới bay có vài chuyến</a:t>
            </a:r>
            <a:endParaRPr lang="en-US" sz="1200"/>
          </a:p>
        </p:txBody>
      </p:sp>
      <p:cxnSp>
        <p:nvCxnSpPr>
          <p:cNvPr id="49" name="Connector: Elbow 48">
            <a:extLst>
              <a:ext uri="{FF2B5EF4-FFF2-40B4-BE49-F238E27FC236}">
                <a16:creationId xmlns:a16="http://schemas.microsoft.com/office/drawing/2014/main" xmlns="" id="{F43EB4BB-2824-429F-AC68-04694B92369B}"/>
              </a:ext>
            </a:extLst>
          </p:cNvPr>
          <p:cNvCxnSpPr>
            <a:cxnSpLocks/>
            <a:stCxn id="42" idx="4"/>
            <a:endCxn id="46" idx="1"/>
          </p:cNvCxnSpPr>
          <p:nvPr/>
        </p:nvCxnSpPr>
        <p:spPr>
          <a:xfrm rot="16200000" flipH="1">
            <a:off x="8966569" y="3755125"/>
            <a:ext cx="65319" cy="409408"/>
          </a:xfrm>
          <a:prstGeom prst="bentConnector2">
            <a:avLst/>
          </a:prstGeom>
          <a:ln w="158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741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823C2CD-50B8-48E7-EF81-05F56369896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D5BD7A0-CA89-791D-B37B-DDC6894719D4}"/>
              </a:ext>
            </a:extLst>
          </p:cNvPr>
          <p:cNvSpPr>
            <a:spLocks noGrp="1"/>
          </p:cNvSpPr>
          <p:nvPr>
            <p:ph type="sldNum" idx="4294967295"/>
          </p:nvPr>
        </p:nvSpPr>
        <p:spPr>
          <a:xfrm>
            <a:off x="11460163" y="6218238"/>
            <a:ext cx="731837" cy="52387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Slide Number Placeholder 3">
            <a:extLst>
              <a:ext uri="{FF2B5EF4-FFF2-40B4-BE49-F238E27FC236}">
                <a16:creationId xmlns:a16="http://schemas.microsoft.com/office/drawing/2014/main" xmlns="" id="{5197B910-C8C7-BB1F-14C4-74FC67177C81}"/>
              </a:ext>
            </a:extLst>
          </p:cNvPr>
          <p:cNvSpPr txBox="1">
            <a:spLocks/>
          </p:cNvSpPr>
          <p:nvPr/>
        </p:nvSpPr>
        <p:spPr>
          <a:xfrm>
            <a:off x="8610600" y="6356350"/>
            <a:ext cx="2743200" cy="365125"/>
          </a:xfrm>
          <a:prstGeom prst="rect">
            <a:avLst/>
          </a:prstGeom>
        </p:spPr>
        <p:txBody>
          <a:bodyPr spcFirstLastPara="1" vert="horz" wrap="square" lIns="91425" tIns="91425" rIns="91425" bIns="91425" rtlCol="0" anchor="ctr" anchorCtr="0">
            <a:normAutofit lnSpcReduction="10000"/>
          </a:bodyPr>
          <a:lstStyle>
            <a:defPPr>
              <a:defRPr lang="en-US"/>
            </a:defPPr>
            <a:lvl1pPr marL="0" lvl="0" algn="r" defTabSz="914400" rtl="0" eaLnBrk="1" latinLnBrk="0" hangingPunct="1">
              <a:buNone/>
              <a:defRPr sz="1200" kern="1200">
                <a:solidFill>
                  <a:schemeClr val="tx1">
                    <a:tint val="75000"/>
                  </a:schemeClr>
                </a:solidFill>
                <a:latin typeface="+mn-lt"/>
                <a:ea typeface="+mn-ea"/>
                <a:cs typeface="+mn-cs"/>
              </a:defRPr>
            </a:lvl1pPr>
            <a:lvl2pPr marL="457200" lvl="1" algn="l" defTabSz="914400" rtl="0" eaLnBrk="1" latinLnBrk="0" hangingPunct="1">
              <a:buNone/>
              <a:defRPr sz="1800" kern="1200">
                <a:solidFill>
                  <a:schemeClr val="tx1"/>
                </a:solidFill>
                <a:latin typeface="+mn-lt"/>
                <a:ea typeface="+mn-ea"/>
                <a:cs typeface="+mn-cs"/>
              </a:defRPr>
            </a:lvl2pPr>
            <a:lvl3pPr marL="914400" lvl="2" algn="l" defTabSz="914400" rtl="0" eaLnBrk="1" latinLnBrk="0" hangingPunct="1">
              <a:buNone/>
              <a:defRPr sz="1800" kern="1200">
                <a:solidFill>
                  <a:schemeClr val="tx1"/>
                </a:solidFill>
                <a:latin typeface="+mn-lt"/>
                <a:ea typeface="+mn-ea"/>
                <a:cs typeface="+mn-cs"/>
              </a:defRPr>
            </a:lvl3pPr>
            <a:lvl4pPr marL="1371600" lvl="3" algn="l" defTabSz="914400" rtl="0" eaLnBrk="1" latinLnBrk="0" hangingPunct="1">
              <a:buNone/>
              <a:defRPr sz="1800" kern="1200">
                <a:solidFill>
                  <a:schemeClr val="tx1"/>
                </a:solidFill>
                <a:latin typeface="+mn-lt"/>
                <a:ea typeface="+mn-ea"/>
                <a:cs typeface="+mn-cs"/>
              </a:defRPr>
            </a:lvl4pPr>
            <a:lvl5pPr marL="1828800" lvl="4" algn="l" defTabSz="914400" rtl="0" eaLnBrk="1" latinLnBrk="0" hangingPunct="1">
              <a:buNone/>
              <a:defRPr sz="1800" kern="1200">
                <a:solidFill>
                  <a:schemeClr val="tx1"/>
                </a:solidFill>
                <a:latin typeface="+mn-lt"/>
                <a:ea typeface="+mn-ea"/>
                <a:cs typeface="+mn-cs"/>
              </a:defRPr>
            </a:lvl5pPr>
            <a:lvl6pPr marL="2286000" lvl="5" algn="l" defTabSz="914400" rtl="0" eaLnBrk="1" latinLnBrk="0" hangingPunct="1">
              <a:buNone/>
              <a:defRPr sz="1800" kern="1200">
                <a:solidFill>
                  <a:schemeClr val="tx1"/>
                </a:solidFill>
                <a:latin typeface="+mn-lt"/>
                <a:ea typeface="+mn-ea"/>
                <a:cs typeface="+mn-cs"/>
              </a:defRPr>
            </a:lvl6pPr>
            <a:lvl7pPr marL="2743200" lvl="6" algn="l" defTabSz="914400" rtl="0" eaLnBrk="1" latinLnBrk="0" hangingPunct="1">
              <a:buNone/>
              <a:defRPr sz="1800" kern="1200">
                <a:solidFill>
                  <a:schemeClr val="tx1"/>
                </a:solidFill>
                <a:latin typeface="+mn-lt"/>
                <a:ea typeface="+mn-ea"/>
                <a:cs typeface="+mn-cs"/>
              </a:defRPr>
            </a:lvl7pPr>
            <a:lvl8pPr marL="3200400" lvl="7" algn="l" defTabSz="914400" rtl="0" eaLnBrk="1" latinLnBrk="0" hangingPunct="1">
              <a:buNone/>
              <a:defRPr sz="1800" kern="1200">
                <a:solidFill>
                  <a:schemeClr val="tx1"/>
                </a:solidFill>
                <a:latin typeface="+mn-lt"/>
                <a:ea typeface="+mn-ea"/>
                <a:cs typeface="+mn-cs"/>
              </a:defRPr>
            </a:lvl8pPr>
            <a:lvl9pPr marL="3657600" lvl="8" algn="l" defTabSz="914400" rtl="0" eaLnBrk="1" latinLnBrk="0" hangingPunct="1">
              <a:buNone/>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xmlns="" id="{6D34F947-4E25-CCB8-609A-F9DA6E403F0D}"/>
              </a:ext>
            </a:extLst>
          </p:cNvPr>
          <p:cNvSpPr txBox="1"/>
          <p:nvPr/>
        </p:nvSpPr>
        <p:spPr>
          <a:xfrm>
            <a:off x="762001" y="168860"/>
            <a:ext cx="9753599"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B787 – ATA 24 – A879 </a:t>
            </a:r>
            <a:r>
              <a:rPr lang="en-US" sz="2800" b="1" dirty="0" err="1">
                <a:solidFill>
                  <a:srgbClr val="DEA610"/>
                </a:solidFill>
                <a:latin typeface="Montserrat SemiBold" pitchFamily="2" charset="77"/>
              </a:rPr>
              <a:t>thay</a:t>
            </a:r>
            <a:r>
              <a:rPr lang="en-US" sz="2800" b="1" dirty="0">
                <a:solidFill>
                  <a:srgbClr val="DEA610"/>
                </a:solidFill>
                <a:latin typeface="Montserrat SemiBold" pitchFamily="2" charset="77"/>
              </a:rPr>
              <a:t> 3 </a:t>
            </a:r>
            <a:r>
              <a:rPr lang="en-US" sz="2800" b="1" dirty="0" err="1">
                <a:solidFill>
                  <a:srgbClr val="DEA610"/>
                </a:solidFill>
                <a:latin typeface="Montserrat SemiBold" pitchFamily="2" charset="77"/>
              </a:rPr>
              <a:t>lần</a:t>
            </a:r>
            <a:r>
              <a:rPr lang="en-US" sz="2800" b="1" dirty="0">
                <a:solidFill>
                  <a:srgbClr val="DEA610"/>
                </a:solidFill>
                <a:latin typeface="Montserrat SemiBold" pitchFamily="2" charset="77"/>
              </a:rPr>
              <a:t> VFSG P/N 7001330H04</a:t>
            </a:r>
          </a:p>
        </p:txBody>
      </p:sp>
      <p:grpSp>
        <p:nvGrpSpPr>
          <p:cNvPr id="25" name="Group 24">
            <a:extLst>
              <a:ext uri="{FF2B5EF4-FFF2-40B4-BE49-F238E27FC236}">
                <a16:creationId xmlns:a16="http://schemas.microsoft.com/office/drawing/2014/main" xmlns="" id="{34134C13-4C12-ED3A-EDDE-E97B47656148}"/>
              </a:ext>
            </a:extLst>
          </p:cNvPr>
          <p:cNvGrpSpPr/>
          <p:nvPr/>
        </p:nvGrpSpPr>
        <p:grpSpPr>
          <a:xfrm>
            <a:off x="795408" y="288234"/>
            <a:ext cx="11215009" cy="593740"/>
            <a:chOff x="976560" y="323070"/>
            <a:chExt cx="10755065" cy="678753"/>
          </a:xfrm>
        </p:grpSpPr>
        <p:cxnSp>
          <p:nvCxnSpPr>
            <p:cNvPr id="26" name="Straight Connector 25">
              <a:extLst>
                <a:ext uri="{FF2B5EF4-FFF2-40B4-BE49-F238E27FC236}">
                  <a16:creationId xmlns:a16="http://schemas.microsoft.com/office/drawing/2014/main" xmlns="" id="{C56A57CF-5A56-A2F5-6DC5-D012D4241EA7}"/>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xmlns="" id="{EB56E31A-33B5-FD89-9ADE-02E2EE71C8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17" name="Picture 16">
            <a:extLst>
              <a:ext uri="{FF2B5EF4-FFF2-40B4-BE49-F238E27FC236}">
                <a16:creationId xmlns:a16="http://schemas.microsoft.com/office/drawing/2014/main" xmlns="" id="{D3A86E71-7125-4A63-A12E-3FD86834CE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5935" y="912884"/>
            <a:ext cx="474803" cy="390879"/>
          </a:xfrm>
          <a:prstGeom prst="rect">
            <a:avLst/>
          </a:prstGeom>
        </p:spPr>
      </p:pic>
      <p:sp>
        <p:nvSpPr>
          <p:cNvPr id="18" name="TextBox 17">
            <a:extLst>
              <a:ext uri="{FF2B5EF4-FFF2-40B4-BE49-F238E27FC236}">
                <a16:creationId xmlns:a16="http://schemas.microsoft.com/office/drawing/2014/main" xmlns="" id="{0E989713-D668-488E-AE1D-356C4752898A}"/>
              </a:ext>
            </a:extLst>
          </p:cNvPr>
          <p:cNvSpPr txBox="1"/>
          <p:nvPr/>
        </p:nvSpPr>
        <p:spPr>
          <a:xfrm>
            <a:off x="1110738" y="1016794"/>
            <a:ext cx="6025558" cy="307777"/>
          </a:xfrm>
          <a:prstGeom prst="rect">
            <a:avLst/>
          </a:prstGeom>
          <a:noFill/>
        </p:spPr>
        <p:txBody>
          <a:bodyPr wrap="square" rtlCol="0">
            <a:spAutoFit/>
          </a:bodyPr>
          <a:lstStyle/>
          <a:p>
            <a:pPr lvl="0" algn="just">
              <a:spcBef>
                <a:spcPts val="600"/>
              </a:spcBef>
              <a:defRPr/>
            </a:pPr>
            <a:r>
              <a:rPr lang="en-US" sz="1400" b="1">
                <a:solidFill>
                  <a:srgbClr val="006885"/>
                </a:solidFill>
                <a:latin typeface="Cambria" panose="02040503050406030204" pitchFamily="18" charset="0"/>
                <a:ea typeface="Cambria" panose="02040503050406030204" pitchFamily="18" charset="0"/>
                <a:cs typeface="Times New Roman" panose="02020603050405020304" pitchFamily="18" charset="0"/>
              </a:rPr>
              <a:t>Tóm tắt nhận định và giải pháp cho cả 3 tr</a:t>
            </a:r>
            <a:r>
              <a:rPr lang="vi-VN" sz="1400" b="1">
                <a:solidFill>
                  <a:srgbClr val="006885"/>
                </a:solidFill>
                <a:latin typeface="Cambria" panose="02040503050406030204" pitchFamily="18" charset="0"/>
                <a:ea typeface="Cambria" panose="02040503050406030204" pitchFamily="18" charset="0"/>
                <a:cs typeface="Times New Roman" panose="02020603050405020304" pitchFamily="18" charset="0"/>
              </a:rPr>
              <a:t>ư</a:t>
            </a:r>
            <a:r>
              <a:rPr lang="en-US" sz="1400" b="1">
                <a:solidFill>
                  <a:srgbClr val="006885"/>
                </a:solidFill>
                <a:latin typeface="Cambria" panose="02040503050406030204" pitchFamily="18" charset="0"/>
                <a:ea typeface="Cambria" panose="02040503050406030204" pitchFamily="18" charset="0"/>
                <a:cs typeface="Times New Roman" panose="02020603050405020304" pitchFamily="18" charset="0"/>
              </a:rPr>
              <a:t>ờng hợp</a:t>
            </a:r>
            <a:endParaRPr lang="en-US" sz="1400" b="1" dirty="0">
              <a:solidFill>
                <a:srgbClr val="006885"/>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xmlns="" id="{DE9F7C3B-79D3-42F4-92D8-943D9A4397A4}"/>
              </a:ext>
            </a:extLst>
          </p:cNvPr>
          <p:cNvSpPr txBox="1"/>
          <p:nvPr/>
        </p:nvSpPr>
        <p:spPr>
          <a:xfrm>
            <a:off x="1063086" y="2493436"/>
            <a:ext cx="10595514" cy="3570208"/>
          </a:xfrm>
          <a:prstGeom prst="rect">
            <a:avLst/>
          </a:prstGeom>
          <a:noFill/>
        </p:spPr>
        <p:txBody>
          <a:bodyPr wrap="square" rtlCol="0">
            <a:spAutoFit/>
          </a:bodyPr>
          <a:lstStyle/>
          <a:p>
            <a:pPr marL="398462" lvl="0" indent="-285750">
              <a:spcBef>
                <a:spcPts val="400"/>
              </a:spcBef>
              <a:buFont typeface="Wingdings" panose="05000000000000000000" pitchFamily="2" charset="2"/>
              <a:buChar char="v"/>
              <a:defRPr/>
            </a:pPr>
            <a:r>
              <a:rPr lang="en-US" sz="1400" b="1">
                <a:solidFill>
                  <a:schemeClr val="accent1">
                    <a:lumMod val="50000"/>
                  </a:schemeClr>
                </a:solidFill>
                <a:latin typeface="Cambria" panose="02040503050406030204" pitchFamily="18" charset="0"/>
                <a:ea typeface="Cambria" panose="02040503050406030204" pitchFamily="18" charset="0"/>
              </a:rPr>
              <a:t>TH </a:t>
            </a:r>
            <a:r>
              <a:rPr lang="en-US" sz="1400" b="1" dirty="0" err="1">
                <a:solidFill>
                  <a:schemeClr val="accent1">
                    <a:lumMod val="50000"/>
                  </a:schemeClr>
                </a:solidFill>
                <a:latin typeface="Cambria" panose="02040503050406030204" pitchFamily="18" charset="0"/>
                <a:ea typeface="Cambria" panose="02040503050406030204" pitchFamily="18" charset="0"/>
              </a:rPr>
              <a:t>số</a:t>
            </a:r>
            <a:r>
              <a:rPr lang="en-US" sz="1400" b="1" dirty="0">
                <a:solidFill>
                  <a:schemeClr val="accent1">
                    <a:lumMod val="50000"/>
                  </a:schemeClr>
                </a:solidFill>
                <a:latin typeface="Cambria" panose="02040503050406030204" pitchFamily="18" charset="0"/>
                <a:ea typeface="Cambria" panose="02040503050406030204" pitchFamily="18" charset="0"/>
              </a:rPr>
              <a:t> 1 (4/16/2025): </a:t>
            </a:r>
            <a:r>
              <a:rPr lang="en-US" sz="1400" dirty="0">
                <a:solidFill>
                  <a:schemeClr val="accent1">
                    <a:lumMod val="50000"/>
                  </a:schemeClr>
                </a:solidFill>
                <a:latin typeface="Cambria" panose="02040503050406030204" pitchFamily="18" charset="0"/>
                <a:ea typeface="Cambria" panose="02040503050406030204" pitchFamily="18" charset="0"/>
              </a:rPr>
              <a:t>do MM 24-16002 </a:t>
            </a:r>
            <a:r>
              <a:rPr lang="en-US" sz="1400">
                <a:solidFill>
                  <a:schemeClr val="accent1">
                    <a:lumMod val="50000"/>
                  </a:schemeClr>
                </a:solidFill>
                <a:latin typeface="Cambria" panose="02040503050406030204" pitchFamily="18" charset="0"/>
                <a:ea typeface="Cambria" panose="02040503050406030204" pitchFamily="18" charset="0"/>
              </a:rPr>
              <a:t>/ 24-16072. Đánh giá khối cao giờ, </a:t>
            </a:r>
            <a:r>
              <a:rPr lang="en-US" sz="1400" dirty="0" err="1">
                <a:solidFill>
                  <a:schemeClr val="accent1">
                    <a:lumMod val="50000"/>
                  </a:schemeClr>
                </a:solidFill>
                <a:latin typeface="Cambria" panose="02040503050406030204" pitchFamily="18" charset="0"/>
                <a:ea typeface="Cambria" panose="02040503050406030204" pitchFamily="18" charset="0"/>
              </a:rPr>
              <a:t>nguyên</a:t>
            </a:r>
            <a:r>
              <a:rPr lang="en-US" sz="1400" dirty="0">
                <a:solidFill>
                  <a:schemeClr val="accent1">
                    <a:lumMod val="50000"/>
                  </a:schemeClr>
                </a:solidFill>
                <a:latin typeface="Cambria" panose="02040503050406030204" pitchFamily="18" charset="0"/>
                <a:ea typeface="Cambria" panose="02040503050406030204" pitchFamily="18" charset="0"/>
              </a:rPr>
              <a:t> </a:t>
            </a:r>
            <a:r>
              <a:rPr lang="en-US" sz="1400" err="1">
                <a:solidFill>
                  <a:schemeClr val="accent1">
                    <a:lumMod val="50000"/>
                  </a:schemeClr>
                </a:solidFill>
                <a:latin typeface="Cambria" panose="02040503050406030204" pitchFamily="18" charset="0"/>
                <a:ea typeface="Cambria" panose="02040503050406030204" pitchFamily="18" charset="0"/>
              </a:rPr>
              <a:t>nhân</a:t>
            </a:r>
            <a:r>
              <a:rPr lang="en-US" sz="1400">
                <a:solidFill>
                  <a:schemeClr val="accent1">
                    <a:lumMod val="50000"/>
                  </a:schemeClr>
                </a:solidFill>
                <a:latin typeface="Cambria" panose="02040503050406030204" pitchFamily="18" charset="0"/>
                <a:ea typeface="Cambria" panose="02040503050406030204" pitchFamily="18" charset="0"/>
              </a:rPr>
              <a:t> có </a:t>
            </a:r>
            <a:r>
              <a:rPr lang="en-US" sz="1400" dirty="0" err="1">
                <a:solidFill>
                  <a:schemeClr val="accent1">
                    <a:lumMod val="50000"/>
                  </a:schemeClr>
                </a:solidFill>
                <a:latin typeface="Cambria" panose="02040503050406030204" pitchFamily="18" charset="0"/>
                <a:ea typeface="Cambria" panose="02040503050406030204" pitchFamily="18" charset="0"/>
              </a:rPr>
              <a:t>thể</a:t>
            </a:r>
            <a:r>
              <a:rPr lang="en-US" sz="1400" dirty="0">
                <a:solidFill>
                  <a:schemeClr val="accent1">
                    <a:lumMod val="50000"/>
                  </a:schemeClr>
                </a:solidFill>
                <a:latin typeface="Cambria" panose="02040503050406030204" pitchFamily="18" charset="0"/>
                <a:ea typeface="Cambria" panose="02040503050406030204" pitchFamily="18" charset="0"/>
              </a:rPr>
              <a:t> do internal Rotating Rectifier Assembly (RRA) diode failure. </a:t>
            </a:r>
          </a:p>
          <a:p>
            <a:pPr marL="685800" lvl="0" indent="-288925">
              <a:spcBef>
                <a:spcPts val="400"/>
              </a:spcBef>
              <a:buFont typeface="Wingdings" panose="05000000000000000000" pitchFamily="2" charset="2"/>
              <a:buChar char="à"/>
              <a:defRPr/>
            </a:pPr>
            <a:r>
              <a:rPr lang="en-US" sz="140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Nâng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cấp</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lên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H05: </a:t>
            </a:r>
            <a:r>
              <a:rPr lang="en-US" sz="1400" dirty="0">
                <a:solidFill>
                  <a:srgbClr val="FF0000"/>
                </a:solidFill>
                <a:latin typeface="Cambria" panose="02040503050406030204" pitchFamily="18" charset="0"/>
                <a:ea typeface="Cambria" panose="02040503050406030204" pitchFamily="18" charset="0"/>
                <a:sym typeface="Wingdings" panose="05000000000000000000" pitchFamily="2" charset="2"/>
              </a:rPr>
              <a:t>7001330H05 will include improved rotating rectifier diode assembly and rotor winding improvements</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(SB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dự</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kiến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6/2025)</a:t>
            </a:r>
          </a:p>
          <a:p>
            <a:pPr marL="398462" lvl="0" indent="-285750">
              <a:spcBef>
                <a:spcPts val="400"/>
              </a:spcBef>
              <a:buFont typeface="Wingdings" panose="05000000000000000000" pitchFamily="2" charset="2"/>
              <a:buChar char="v"/>
              <a:defRPr/>
            </a:pPr>
            <a:endParaRPr lang="en-US" sz="1400" b="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endParaRPr>
          </a:p>
          <a:p>
            <a:pPr marL="398462" lvl="0" indent="-285750">
              <a:spcBef>
                <a:spcPts val="400"/>
              </a:spcBef>
              <a:buFont typeface="Wingdings" panose="05000000000000000000" pitchFamily="2" charset="2"/>
              <a:buChar char="v"/>
              <a:defRPr/>
            </a:pPr>
            <a:r>
              <a:rPr lang="en-US" sz="1400" b="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 </a:t>
            </a:r>
            <a:r>
              <a:rPr lang="en-US" sz="1400" b="1"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số</a:t>
            </a:r>
            <a:r>
              <a:rPr lang="en-US" sz="1400" b="1"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2 (4/18/2025): </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do MM 24-16592,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nguyên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nhân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có</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thể</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do LOP switch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bị</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stuck </a:t>
            </a:r>
            <a:r>
              <a:rPr lang="en-US" sz="140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hoặc</a:t>
            </a:r>
            <a:r>
              <a:rPr lang="en-US" sz="140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MEDC. </a:t>
            </a:r>
            <a:endPar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endParaRPr>
          </a:p>
          <a:p>
            <a:pPr marL="685800" lvl="0" indent="-288925">
              <a:spcBef>
                <a:spcPts val="400"/>
              </a:spcBef>
              <a:buFont typeface="Wingdings" panose="05000000000000000000" pitchFamily="2" charset="2"/>
              <a:buChar char="à"/>
              <a:defRPr/>
            </a:pPr>
            <a:r>
              <a:rPr lang="en-US" sz="140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Boeing</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Collins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đang</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nghiên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cứu</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phư</a:t>
            </a:r>
            <a:r>
              <a:rPr lang="vi-VN"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ơ</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ng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án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cải</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thiện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Kết</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quả</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dự</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kiến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cập</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nhật</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trong</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Q3/2025</a:t>
            </a:r>
          </a:p>
          <a:p>
            <a:pPr marL="398462" lvl="0" indent="-285750">
              <a:spcBef>
                <a:spcPts val="400"/>
              </a:spcBef>
              <a:buFont typeface="Arial" panose="020B0604020202020204" pitchFamily="34" charset="0"/>
              <a:buChar char="•"/>
              <a:defRPr/>
            </a:pPr>
            <a:endParaRPr lang="en-US" sz="1400" b="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endParaRPr>
          </a:p>
          <a:p>
            <a:pPr marL="398462" lvl="0" indent="-285750">
              <a:spcBef>
                <a:spcPts val="400"/>
              </a:spcBef>
              <a:buFont typeface="Wingdings" panose="05000000000000000000" pitchFamily="2" charset="2"/>
              <a:buChar char="v"/>
              <a:defRPr/>
            </a:pPr>
            <a:r>
              <a:rPr lang="en-US" sz="1400" b="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 </a:t>
            </a:r>
            <a:r>
              <a:rPr lang="en-US" sz="1400" b="1"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số</a:t>
            </a:r>
            <a:r>
              <a:rPr lang="en-US" sz="1400" b="1"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3 (4/21/2025): </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do MM 24-17662,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nguyên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nhân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có</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thể</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do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hỏng</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hóc</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input seal, oil leak ở terminal block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hoặc</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ch</a:t>
            </a:r>
            <a:r>
              <a:rPr lang="vi-VN"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ư</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a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thực</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hiện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oil service. </a:t>
            </a:r>
          </a:p>
          <a:p>
            <a:pPr marL="625475" lvl="0" indent="-277813">
              <a:spcBef>
                <a:spcPts val="400"/>
              </a:spcBef>
              <a:buFont typeface="Wingdings" panose="05000000000000000000" pitchFamily="2" charset="2"/>
              <a:buChar char="à"/>
              <a:defRPr/>
            </a:pPr>
            <a:r>
              <a:rPr lang="en-US" sz="140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Đối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với</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hiện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t</a:t>
            </a:r>
            <a:r>
              <a:rPr lang="vi-VN"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ư</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ợng</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oil leak ở </a:t>
            </a:r>
            <a:r>
              <a:rPr lang="en-US" sz="140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terminal block: </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Boeing, Collins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đang</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nghiên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cứu</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phư</a:t>
            </a:r>
            <a:r>
              <a:rPr lang="vi-VN"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ơ</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ng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án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cải</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thiện</a:t>
            </a:r>
            <a:r>
              <a:rPr lang="en-US" sz="1400" dirty="0">
                <a:solidFill>
                  <a:schemeClr val="accent1">
                    <a:lumMod val="50000"/>
                  </a:schemeClr>
                </a:solidFill>
                <a:latin typeface="Cambria" panose="02040503050406030204" pitchFamily="18" charset="0"/>
                <a:ea typeface="Cambria" panose="02040503050406030204" pitchFamily="18" charset="0"/>
                <a:sym typeface="Wingdings" panose="05000000000000000000" pitchFamily="2" charset="2"/>
              </a:rPr>
              <a:t> (</a:t>
            </a:r>
            <a:r>
              <a:rPr lang="en-US" sz="1400" dirty="0">
                <a:solidFill>
                  <a:srgbClr val="FF0000"/>
                </a:solidFill>
                <a:latin typeface="Cambria" panose="02040503050406030204" pitchFamily="18" charset="0"/>
                <a:ea typeface="Cambria" panose="02040503050406030204" pitchFamily="18" charset="0"/>
                <a:sym typeface="Wingdings" panose="05000000000000000000" pitchFamily="2" charset="2"/>
              </a:rPr>
              <a:t>Boeing evaluation and approval of terminal lug polishing, Increase O-ring Temperature Capability).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Dự</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kiến</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cập</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nhật</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kết</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quả</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dirty="0" err="1">
                <a:solidFill>
                  <a:srgbClr val="002060"/>
                </a:solidFill>
                <a:latin typeface="Cambria" panose="02040503050406030204" pitchFamily="18" charset="0"/>
                <a:ea typeface="Cambria" panose="02040503050406030204" pitchFamily="18" charset="0"/>
                <a:sym typeface="Wingdings" panose="05000000000000000000" pitchFamily="2" charset="2"/>
              </a:rPr>
              <a:t>trong</a:t>
            </a:r>
            <a:r>
              <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rPr>
              <a:t> </a:t>
            </a:r>
            <a:r>
              <a:rPr lang="en-US" sz="1400">
                <a:solidFill>
                  <a:srgbClr val="002060"/>
                </a:solidFill>
                <a:latin typeface="Cambria" panose="02040503050406030204" pitchFamily="18" charset="0"/>
                <a:ea typeface="Cambria" panose="02040503050406030204" pitchFamily="18" charset="0"/>
                <a:sym typeface="Wingdings" panose="05000000000000000000" pitchFamily="2" charset="2"/>
              </a:rPr>
              <a:t>Q3/2025.</a:t>
            </a:r>
          </a:p>
          <a:p>
            <a:pPr marL="625475" lvl="0" indent="-277813">
              <a:spcBef>
                <a:spcPts val="400"/>
              </a:spcBef>
              <a:buFont typeface="Wingdings" panose="05000000000000000000" pitchFamily="2" charset="2"/>
              <a:buChar char="à"/>
              <a:defRPr/>
            </a:pPr>
            <a:r>
              <a:rPr lang="en-US" sz="1400">
                <a:solidFill>
                  <a:srgbClr val="002060"/>
                </a:solidFill>
                <a:latin typeface="Cambria" panose="02040503050406030204" pitchFamily="18" charset="0"/>
                <a:ea typeface="Cambria" panose="02040503050406030204" pitchFamily="18" charset="0"/>
                <a:sym typeface="Wingdings" panose="05000000000000000000" pitchFamily="2" charset="2"/>
              </a:rPr>
              <a:t>Đã đề nghị QLVT làm việc thêm với shop;</a:t>
            </a:r>
          </a:p>
          <a:p>
            <a:pPr marL="625475" lvl="0" indent="-277813">
              <a:spcBef>
                <a:spcPts val="400"/>
              </a:spcBef>
              <a:buFont typeface="Wingdings" panose="05000000000000000000" pitchFamily="2" charset="2"/>
              <a:buChar char="à"/>
              <a:defRPr/>
            </a:pPr>
            <a:r>
              <a:rPr lang="en-US" sz="1400">
                <a:solidFill>
                  <a:srgbClr val="002060"/>
                </a:solidFill>
                <a:latin typeface="Cambria" panose="02040503050406030204" pitchFamily="18" charset="0"/>
                <a:ea typeface="Cambria" panose="02040503050406030204" pitchFamily="18" charset="0"/>
                <a:sym typeface="Wingdings" panose="05000000000000000000" pitchFamily="2" charset="2"/>
              </a:rPr>
              <a:t>Đã làm việc với VAECO để thay VFSG tại base để hạn chế sai lỗi bảo d</a:t>
            </a:r>
            <a:r>
              <a:rPr lang="vi-VN" sz="1400">
                <a:solidFill>
                  <a:srgbClr val="002060"/>
                </a:solidFill>
                <a:latin typeface="Cambria" panose="02040503050406030204" pitchFamily="18" charset="0"/>
                <a:ea typeface="Cambria" panose="02040503050406030204" pitchFamily="18" charset="0"/>
                <a:sym typeface="Wingdings" panose="05000000000000000000" pitchFamily="2" charset="2"/>
              </a:rPr>
              <a:t>ư</a:t>
            </a:r>
            <a:r>
              <a:rPr lang="en-US" sz="1400">
                <a:solidFill>
                  <a:srgbClr val="002060"/>
                </a:solidFill>
                <a:latin typeface="Cambria" panose="02040503050406030204" pitchFamily="18" charset="0"/>
                <a:ea typeface="Cambria" panose="02040503050406030204" pitchFamily="18" charset="0"/>
                <a:sym typeface="Wingdings" panose="05000000000000000000" pitchFamily="2" charset="2"/>
              </a:rPr>
              <a:t>ỡng</a:t>
            </a:r>
            <a:endParaRPr lang="en-US" sz="1400" dirty="0">
              <a:solidFill>
                <a:srgbClr val="002060"/>
              </a:solidFill>
              <a:latin typeface="Cambria" panose="02040503050406030204" pitchFamily="18" charset="0"/>
              <a:ea typeface="Cambria" panose="02040503050406030204" pitchFamily="18" charset="0"/>
              <a:sym typeface="Wingdings" panose="05000000000000000000" pitchFamily="2" charset="2"/>
            </a:endParaRPr>
          </a:p>
        </p:txBody>
      </p:sp>
      <p:sp>
        <p:nvSpPr>
          <p:cNvPr id="14" name="TextBox 13">
            <a:extLst>
              <a:ext uri="{FF2B5EF4-FFF2-40B4-BE49-F238E27FC236}">
                <a16:creationId xmlns:a16="http://schemas.microsoft.com/office/drawing/2014/main" xmlns="" id="{451A2CC5-B284-4E18-9DCF-39CD8EC2C193}"/>
              </a:ext>
            </a:extLst>
          </p:cNvPr>
          <p:cNvSpPr txBox="1"/>
          <p:nvPr/>
        </p:nvSpPr>
        <p:spPr>
          <a:xfrm>
            <a:off x="1063086" y="1439118"/>
            <a:ext cx="10701763" cy="728405"/>
          </a:xfrm>
          <a:prstGeom prst="rect">
            <a:avLst/>
          </a:prstGeom>
          <a:noFill/>
        </p:spPr>
        <p:txBody>
          <a:bodyPr wrap="square" rtlCol="0">
            <a:spAutoFit/>
          </a:bodyPr>
          <a:lstStyle/>
          <a:p>
            <a:pPr marL="398462" lvl="0" indent="-285750">
              <a:spcBef>
                <a:spcPts val="400"/>
              </a:spcBef>
              <a:buFont typeface="Wingdings" panose="05000000000000000000" pitchFamily="2" charset="2"/>
              <a:buChar char="v"/>
              <a:defRPr/>
            </a:pPr>
            <a:r>
              <a:rPr lang="en-US" sz="1400">
                <a:solidFill>
                  <a:srgbClr val="002060"/>
                </a:solidFill>
                <a:latin typeface="Cambria" panose="02040503050406030204" pitchFamily="18" charset="0"/>
                <a:ea typeface="Cambria" panose="02040503050406030204" pitchFamily="18" charset="0"/>
              </a:rPr>
              <a:t>Đây là 3 vấn đề độc lập: </a:t>
            </a:r>
          </a:p>
          <a:p>
            <a:pPr marL="396875" lvl="0" algn="just">
              <a:spcBef>
                <a:spcPts val="400"/>
              </a:spcBef>
              <a:defRPr/>
            </a:pPr>
            <a:r>
              <a:rPr lang="en-US" sz="1200" i="1">
                <a:solidFill>
                  <a:srgbClr val="002060"/>
                </a:solidFill>
                <a:latin typeface="Cambria" panose="02040503050406030204" pitchFamily="18" charset="0"/>
                <a:ea typeface="Cambria" panose="02040503050406030204" pitchFamily="18" charset="0"/>
              </a:rPr>
              <a:t>Even </a:t>
            </a:r>
            <a:r>
              <a:rPr lang="en-US" sz="1200" i="1" dirty="0">
                <a:solidFill>
                  <a:srgbClr val="002060"/>
                </a:solidFill>
                <a:latin typeface="Cambria" panose="02040503050406030204" pitchFamily="18" charset="0"/>
                <a:ea typeface="Cambria" panose="02040503050406030204" pitchFamily="18" charset="0"/>
              </a:rPr>
              <a:t>though the three events were on the same channel, based on the fault signature, these are </a:t>
            </a:r>
            <a:r>
              <a:rPr lang="en-US" sz="1200" i="1" dirty="0">
                <a:solidFill>
                  <a:srgbClr val="FF0000"/>
                </a:solidFill>
                <a:latin typeface="Cambria" panose="02040503050406030204" pitchFamily="18" charset="0"/>
                <a:ea typeface="Cambria" panose="02040503050406030204" pitchFamily="18" charset="0"/>
              </a:rPr>
              <a:t>independent issue</a:t>
            </a:r>
            <a:r>
              <a:rPr lang="en-US" sz="1200" i="1" dirty="0">
                <a:solidFill>
                  <a:srgbClr val="002060"/>
                </a:solidFill>
                <a:latin typeface="Cambria" panose="02040503050406030204" pitchFamily="18" charset="0"/>
                <a:ea typeface="Cambria" panose="02040503050406030204" pitchFamily="18" charset="0"/>
              </a:rPr>
              <a:t>. However, assuming they are all newly repaired units from the repair shop, Boeing would recommend confirming the prior shop finding, and ensure they were not removed due to the </a:t>
            </a:r>
            <a:r>
              <a:rPr lang="en-US" sz="1200" i="1">
                <a:solidFill>
                  <a:srgbClr val="002060"/>
                </a:solidFill>
                <a:latin typeface="Cambria" panose="02040503050406030204" pitchFamily="18" charset="0"/>
                <a:ea typeface="Cambria" panose="02040503050406030204" pitchFamily="18" charset="0"/>
              </a:rPr>
              <a:t>same reason (BOE)</a:t>
            </a:r>
            <a:endParaRPr lang="en-US" sz="1200" i="1" dirty="0">
              <a:solidFill>
                <a:srgbClr val="00206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36797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21</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 xmlns:a16="http://schemas.microsoft.com/office/drawing/2014/main" id="{4C051FC4-E16D-F1B1-9F6F-20805EF0FDC7}"/>
              </a:ext>
            </a:extLst>
          </p:cNvPr>
          <p:cNvGraphicFramePr>
            <a:graphicFrameLocks noGrp="1"/>
          </p:cNvGraphicFramePr>
          <p:nvPr>
            <p:extLst/>
          </p:nvPr>
        </p:nvGraphicFramePr>
        <p:xfrm>
          <a:off x="175690" y="501463"/>
          <a:ext cx="11840623" cy="6080240"/>
        </p:xfrm>
        <a:graphic>
          <a:graphicData uri="http://schemas.openxmlformats.org/drawingml/2006/table">
            <a:tbl>
              <a:tblPr/>
              <a:tblGrid>
                <a:gridCol w="830611">
                  <a:extLst>
                    <a:ext uri="{9D8B030D-6E8A-4147-A177-3AD203B41FA5}">
                      <a16:colId xmlns="" xmlns:a16="http://schemas.microsoft.com/office/drawing/2014/main" val="3315055195"/>
                    </a:ext>
                  </a:extLst>
                </a:gridCol>
                <a:gridCol w="954320">
                  <a:extLst>
                    <a:ext uri="{9D8B030D-6E8A-4147-A177-3AD203B41FA5}">
                      <a16:colId xmlns="" xmlns:a16="http://schemas.microsoft.com/office/drawing/2014/main" val="2421345919"/>
                    </a:ext>
                  </a:extLst>
                </a:gridCol>
                <a:gridCol w="830611">
                  <a:extLst>
                    <a:ext uri="{9D8B030D-6E8A-4147-A177-3AD203B41FA5}">
                      <a16:colId xmlns="" xmlns:a16="http://schemas.microsoft.com/office/drawing/2014/main" val="3854389550"/>
                    </a:ext>
                  </a:extLst>
                </a:gridCol>
                <a:gridCol w="1837947">
                  <a:extLst>
                    <a:ext uri="{9D8B030D-6E8A-4147-A177-3AD203B41FA5}">
                      <a16:colId xmlns="" xmlns:a16="http://schemas.microsoft.com/office/drawing/2014/main" val="1245128480"/>
                    </a:ext>
                  </a:extLst>
                </a:gridCol>
                <a:gridCol w="1131044">
                  <a:extLst>
                    <a:ext uri="{9D8B030D-6E8A-4147-A177-3AD203B41FA5}">
                      <a16:colId xmlns="" xmlns:a16="http://schemas.microsoft.com/office/drawing/2014/main" val="748414638"/>
                    </a:ext>
                  </a:extLst>
                </a:gridCol>
                <a:gridCol w="1767257">
                  <a:extLst>
                    <a:ext uri="{9D8B030D-6E8A-4147-A177-3AD203B41FA5}">
                      <a16:colId xmlns="" xmlns:a16="http://schemas.microsoft.com/office/drawing/2014/main" val="744927892"/>
                    </a:ext>
                  </a:extLst>
                </a:gridCol>
                <a:gridCol w="4488833">
                  <a:extLst>
                    <a:ext uri="{9D8B030D-6E8A-4147-A177-3AD203B41FA5}">
                      <a16:colId xmlns="" xmlns:a16="http://schemas.microsoft.com/office/drawing/2014/main" val="148673610"/>
                    </a:ext>
                  </a:extLst>
                </a:gridCol>
              </a:tblGrid>
              <a:tr h="209819">
                <a:tc>
                  <a:txBody>
                    <a:bodyPr/>
                    <a:lstStyle/>
                    <a:p>
                      <a:pPr algn="ctr" fontAlgn="ctr"/>
                      <a:r>
                        <a:rPr lang="en-US" sz="1300" b="0" i="0" u="none" strike="noStrike">
                          <a:solidFill>
                            <a:srgbClr val="000000"/>
                          </a:solidFill>
                          <a:effectLst/>
                          <a:latin typeface="Calibri" panose="020F0502020204030204" pitchFamily="34" charset="0"/>
                        </a:rPr>
                        <a:t>No</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33990866"/>
                  </a:ext>
                </a:extLst>
              </a:tr>
              <a:tr h="209819">
                <a:tc>
                  <a:txBody>
                    <a:bodyPr/>
                    <a:lstStyle/>
                    <a:p>
                      <a:pPr algn="ctr" fontAlgn="ctr"/>
                      <a:r>
                        <a:rPr lang="en-US" sz="1300" b="0" i="0" u="none" strike="noStrike">
                          <a:solidFill>
                            <a:srgbClr val="000000"/>
                          </a:solidFill>
                          <a:effectLst/>
                          <a:latin typeface="Calibri" panose="020F0502020204030204" pitchFamily="34" charset="0"/>
                        </a:rPr>
                        <a:t>1</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67720300"/>
                  </a:ext>
                </a:extLst>
              </a:tr>
              <a:tr h="418887">
                <a:tc>
                  <a:txBody>
                    <a:bodyPr/>
                    <a:lstStyle/>
                    <a:p>
                      <a:pPr algn="ctr" fontAlgn="ctr"/>
                      <a:r>
                        <a:rPr lang="en-US" sz="1300" b="0" i="0" u="none" strike="noStrike">
                          <a:solidFill>
                            <a:srgbClr val="000000"/>
                          </a:solidFill>
                          <a:effectLst/>
                          <a:latin typeface="Calibri" panose="020F0502020204030204" pitchFamily="34" charset="0"/>
                        </a:rPr>
                        <a:t>2</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300" b="0" i="0" u="none" strike="noStrike">
                          <a:solidFill>
                            <a:srgbClr val="000000"/>
                          </a:solidFill>
                          <a:effectLst/>
                          <a:latin typeface="Calibri" panose="020F0502020204030204" pitchFamily="34" charset="0"/>
                        </a:rPr>
                        <a:t>B1331 FUEL PUMP CENTER R</a:t>
                      </a:r>
                      <a:br>
                        <a:rPr lang="pt-BR" sz="1300" b="0" i="0" u="none" strike="noStrike">
                          <a:solidFill>
                            <a:srgbClr val="000000"/>
                          </a:solidFill>
                          <a:effectLst/>
                          <a:latin typeface="Calibri" panose="020F0502020204030204" pitchFamily="34" charset="0"/>
                        </a:rPr>
                      </a:br>
                      <a:r>
                        <a:rPr lang="pt-BR" sz="1300" b="0" i="0" u="none" strike="noStrike">
                          <a:solidFill>
                            <a:srgbClr val="000000"/>
                          </a:solidFill>
                          <a:effectLst/>
                          <a:latin typeface="Calibri" panose="020F0502020204030204" pitchFamily="34" charset="0"/>
                        </a:rPr>
                        <a:t>B1334 AHRU R</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860215808"/>
                  </a:ext>
                </a:extLst>
              </a:tr>
              <a:tr h="628705">
                <a:tc>
                  <a:txBody>
                    <a:bodyPr/>
                    <a:lstStyle/>
                    <a:p>
                      <a:pPr algn="ctr" fontAlgn="ctr"/>
                      <a:r>
                        <a:rPr lang="en-US" sz="1300" b="0" i="0" u="none" strike="noStrike">
                          <a:solidFill>
                            <a:srgbClr val="000000"/>
                          </a:solidFill>
                          <a:effectLst/>
                          <a:latin typeface="Calibri" panose="020F0502020204030204" pitchFamily="34" charset="0"/>
                        </a:rPr>
                        <a:t>3</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RAISED: STS MSG: TAIL AIRFLOW SYS</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56883769"/>
                  </a:ext>
                </a:extLst>
              </a:tr>
              <a:tr h="209819">
                <a:tc>
                  <a:txBody>
                    <a:bodyPr/>
                    <a:lstStyle/>
                    <a:p>
                      <a:pPr algn="ctr" fontAlgn="ctr"/>
                      <a:r>
                        <a:rPr lang="en-US" sz="1300" b="0" i="0" u="none" strike="noStrike">
                          <a:solidFill>
                            <a:srgbClr val="000000"/>
                          </a:solidFill>
                          <a:effectLst/>
                          <a:latin typeface="Calibri" panose="020F0502020204030204" pitchFamily="34" charset="0"/>
                        </a:rPr>
                        <a:t>4</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B1260 2ND OBS HEADSET INOP</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195813669"/>
                  </a:ext>
                </a:extLst>
              </a:tr>
              <a:tr h="209819">
                <a:tc>
                  <a:txBody>
                    <a:bodyPr/>
                    <a:lstStyle/>
                    <a:p>
                      <a:pPr algn="ctr" fontAlgn="ctr"/>
                      <a:r>
                        <a:rPr lang="en-US" sz="1300" b="0" i="0" u="none" strike="noStrike">
                          <a:solidFill>
                            <a:srgbClr val="000000"/>
                          </a:solidFill>
                          <a:effectLst/>
                          <a:latin typeface="Calibri" panose="020F0502020204030204" pitchFamily="34" charset="0"/>
                        </a:rPr>
                        <a:t>5</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317159484"/>
                  </a:ext>
                </a:extLst>
              </a:tr>
              <a:tr h="628705">
                <a:tc>
                  <a:txBody>
                    <a:bodyPr/>
                    <a:lstStyle/>
                    <a:p>
                      <a:pPr algn="ctr" fontAlgn="ctr"/>
                      <a:r>
                        <a:rPr lang="en-US" sz="1300" b="0" i="0" u="none" strike="noStrike">
                          <a:solidFill>
                            <a:srgbClr val="000000"/>
                          </a:solidFill>
                          <a:effectLst/>
                          <a:latin typeface="Calibri" panose="020F0502020204030204" pitchFamily="34" charset="0"/>
                        </a:rPr>
                        <a:t>6</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20064469"/>
                  </a:ext>
                </a:extLst>
              </a:tr>
              <a:tr h="628705">
                <a:tc>
                  <a:txBody>
                    <a:bodyPr/>
                    <a:lstStyle/>
                    <a:p>
                      <a:pPr algn="ctr" fontAlgn="ctr"/>
                      <a:r>
                        <a:rPr lang="en-US" sz="1300" b="0" i="0" u="none" strike="noStrike">
                          <a:solidFill>
                            <a:srgbClr val="000000"/>
                          </a:solidFill>
                          <a:effectLst/>
                          <a:latin typeface="Calibri" panose="020F0502020204030204" pitchFamily="34" charset="0"/>
                        </a:rPr>
                        <a:t>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627437871"/>
                  </a:ext>
                </a:extLst>
              </a:tr>
              <a:tr h="209819">
                <a:tc>
                  <a:txBody>
                    <a:bodyPr/>
                    <a:lstStyle/>
                    <a:p>
                      <a:pPr algn="ctr" fontAlgn="ctr"/>
                      <a:r>
                        <a:rPr lang="en-US" sz="1300" b="0" i="0" u="none" strike="noStrike">
                          <a:solidFill>
                            <a:srgbClr val="000000"/>
                          </a:solidFill>
                          <a:effectLst/>
                          <a:latin typeface="Calibri" panose="020F0502020204030204" pitchFamily="34" charset="0"/>
                        </a:rPr>
                        <a:t>8</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101649404"/>
                  </a:ext>
                </a:extLst>
              </a:tr>
              <a:tr h="628705">
                <a:tc>
                  <a:txBody>
                    <a:bodyPr/>
                    <a:lstStyle/>
                    <a:p>
                      <a:pPr algn="ctr" fontAlgn="ctr"/>
                      <a:r>
                        <a:rPr lang="en-US" sz="1300" b="0" i="0" u="none" strike="noStrike">
                          <a:solidFill>
                            <a:srgbClr val="000000"/>
                          </a:solidFill>
                          <a:effectLst/>
                          <a:latin typeface="Calibri" panose="020F0502020204030204" pitchFamily="34" charset="0"/>
                        </a:rPr>
                        <a:t>9</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100569860"/>
                  </a:ext>
                </a:extLst>
              </a:tr>
              <a:tr h="209819">
                <a:tc>
                  <a:txBody>
                    <a:bodyPr/>
                    <a:lstStyle/>
                    <a:p>
                      <a:pPr algn="ctr" fontAlgn="ctr"/>
                      <a:r>
                        <a:rPr lang="en-US" sz="1300" b="0" i="0" u="none" strike="noStrike">
                          <a:solidFill>
                            <a:srgbClr val="000000"/>
                          </a:solidFill>
                          <a:effectLst/>
                          <a:latin typeface="Calibri" panose="020F0502020204030204" pitchFamily="34" charset="0"/>
                        </a:rPr>
                        <a:t>10</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018252283"/>
                  </a:ext>
                </a:extLst>
              </a:tr>
              <a:tr h="209819">
                <a:tc>
                  <a:txBody>
                    <a:bodyPr/>
                    <a:lstStyle/>
                    <a:p>
                      <a:pPr algn="ctr" fontAlgn="ctr"/>
                      <a:r>
                        <a:rPr lang="en-US" sz="1300" b="0" i="0" u="none" strike="noStrike">
                          <a:solidFill>
                            <a:srgbClr val="000000"/>
                          </a:solidFill>
                          <a:effectLst/>
                          <a:latin typeface="Calibri" panose="020F0502020204030204" pitchFamily="34" charset="0"/>
                        </a:rPr>
                        <a:t>11</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thay trong 25FC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815479519"/>
                  </a:ext>
                </a:extLst>
              </a:tr>
              <a:tr h="209819">
                <a:tc>
                  <a:txBody>
                    <a:bodyPr/>
                    <a:lstStyle/>
                    <a:p>
                      <a:pPr algn="ctr" fontAlgn="ctr"/>
                      <a:r>
                        <a:rPr lang="en-US" sz="1300" b="0" i="0" u="none" strike="noStrike">
                          <a:solidFill>
                            <a:srgbClr val="000000"/>
                          </a:solidFill>
                          <a:effectLst/>
                          <a:latin typeface="Calibri" panose="020F0502020204030204" pitchFamily="34" charset="0"/>
                        </a:rPr>
                        <a:t>12</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71491441"/>
                  </a:ext>
                </a:extLst>
              </a:tr>
              <a:tr h="209819">
                <a:tc>
                  <a:txBody>
                    <a:bodyPr/>
                    <a:lstStyle/>
                    <a:p>
                      <a:pPr algn="ctr" fontAlgn="ctr"/>
                      <a:r>
                        <a:rPr lang="en-US" sz="1300" b="0" i="0" u="none" strike="noStrike">
                          <a:solidFill>
                            <a:srgbClr val="000000"/>
                          </a:solidFill>
                          <a:effectLst/>
                          <a:latin typeface="Calibri" panose="020F0502020204030204" pitchFamily="34" charset="0"/>
                        </a:rPr>
                        <a:t>13</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4289019996"/>
                  </a:ext>
                </a:extLst>
              </a:tr>
              <a:tr h="209819">
                <a:tc>
                  <a:txBody>
                    <a:bodyPr/>
                    <a:lstStyle/>
                    <a:p>
                      <a:pPr algn="ctr" fontAlgn="ctr"/>
                      <a:r>
                        <a:rPr lang="en-US" sz="1300" b="0" i="0" u="none" strike="noStrike">
                          <a:solidFill>
                            <a:srgbClr val="000000"/>
                          </a:solidFill>
                          <a:effectLst/>
                          <a:latin typeface="Calibri" panose="020F0502020204030204" pitchFamily="34" charset="0"/>
                        </a:rPr>
                        <a:t>14</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65312456"/>
                  </a:ext>
                </a:extLst>
              </a:tr>
              <a:tr h="209819">
                <a:tc>
                  <a:txBody>
                    <a:bodyPr/>
                    <a:lstStyle/>
                    <a:p>
                      <a:pPr algn="ctr" fontAlgn="ctr"/>
                      <a:r>
                        <a:rPr lang="en-US" sz="1300" b="0" i="0" u="none" strike="noStrike">
                          <a:solidFill>
                            <a:srgbClr val="000000"/>
                          </a:solidFill>
                          <a:effectLst/>
                          <a:latin typeface="Calibri" panose="020F0502020204030204" pitchFamily="34" charset="0"/>
                        </a:rPr>
                        <a:t>15</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666958692"/>
                  </a:ext>
                </a:extLst>
              </a:tr>
              <a:tr h="209819">
                <a:tc>
                  <a:txBody>
                    <a:bodyPr/>
                    <a:lstStyle/>
                    <a:p>
                      <a:pPr algn="ctr" fontAlgn="ctr"/>
                      <a:r>
                        <a:rPr lang="en-US" sz="1300" b="0" i="0" u="none" strike="noStrike">
                          <a:solidFill>
                            <a:srgbClr val="000000"/>
                          </a:solidFill>
                          <a:effectLst/>
                          <a:latin typeface="Calibri" panose="020F0502020204030204" pitchFamily="34" charset="0"/>
                        </a:rPr>
                        <a:t>16</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837543638"/>
                  </a:ext>
                </a:extLst>
              </a:tr>
              <a:tr h="628705">
                <a:tc>
                  <a:txBody>
                    <a:bodyPr/>
                    <a:lstStyle/>
                    <a:p>
                      <a:pPr algn="ctr" fontAlgn="ctr"/>
                      <a:r>
                        <a:rPr lang="en-US" sz="1300" b="0" i="0" u="none" strike="noStrike">
                          <a:solidFill>
                            <a:srgbClr val="000000"/>
                          </a:solidFill>
                          <a:effectLst/>
                          <a:latin typeface="Calibri" panose="020F0502020204030204" pitchFamily="34" charset="0"/>
                        </a:rPr>
                        <a:t>17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6033" marR="6033" marT="60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76468551"/>
                  </a:ext>
                </a:extLst>
              </a:tr>
            </a:tbl>
          </a:graphicData>
        </a:graphic>
      </p:graphicFrame>
    </p:spTree>
    <p:extLst>
      <p:ext uri="{BB962C8B-B14F-4D97-AF65-F5344CB8AC3E}">
        <p14:creationId xmlns:p14="http://schemas.microsoft.com/office/powerpoint/2010/main" val="1022195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22</a:t>
            </a:fld>
            <a:endParaRPr/>
          </a:p>
        </p:txBody>
      </p:sp>
      <p:sp>
        <p:nvSpPr>
          <p:cNvPr id="4" name="Google Shape;82;p7">
            <a:extLst>
              <a:ext uri="{FF2B5EF4-FFF2-40B4-BE49-F238E27FC236}">
                <a16:creationId xmlns=""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 xmlns:a16="http://schemas.microsoft.com/office/drawing/2014/main" id="{795CC2F9-72E9-47BD-A040-3231760CEEDB}"/>
              </a:ext>
            </a:extLst>
          </p:cNvPr>
          <p:cNvSpPr/>
          <p:nvPr/>
        </p:nvSpPr>
        <p:spPr>
          <a:xfrm>
            <a:off x="250649" y="594263"/>
            <a:ext cx="11941351" cy="3785652"/>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tương đối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A864 GTB VN36 FRA-HAN ngày 24/04 do CAPT REPORT EICAS "CREW OXYGEN LOW" A/C GTB -&gt; AFTER CHK FCOM LIMIT -SATIS. C/O RAISED ADD "CREW OXYGEN LOW" + ADD MORE FUEL.</a:t>
            </a:r>
          </a:p>
          <a:p>
            <a:pPr marL="609585" lvl="1" algn="just"/>
            <a:r>
              <a:rPr lang="vi-VN" sz="1600">
                <a:solidFill>
                  <a:srgbClr val="FF0000"/>
                </a:solidFill>
                <a:latin typeface="Times New Roman" panose="02020603050405020304" pitchFamily="18" charset="0"/>
                <a:cs typeface="Times New Roman" panose="02020603050405020304" pitchFamily="18" charset="0"/>
              </a:rPr>
              <a:t>Tàu hiện thỉ áp suất là 590psi, thấp hơn ngưỡng cảnh bảo đặt AHM là 600psi, dẫn đến cảnh báo ""CREW OXYGEN LOW"" phải mở MEL và có yêu cầu Main: Kiểm tra áp suất oxy trên Gauge đảm bảo trên mức yêu cầu cho tổ bay.</a:t>
            </a:r>
          </a:p>
          <a:p>
            <a:pPr marL="609585" lvl="1" algn="just"/>
            <a:r>
              <a:rPr lang="vi-VN" sz="1600">
                <a:solidFill>
                  <a:srgbClr val="FF0000"/>
                </a:solidFill>
                <a:latin typeface="Times New Roman" panose="02020603050405020304" pitchFamily="18" charset="0"/>
                <a:cs typeface="Times New Roman" panose="02020603050405020304" pitchFamily="18" charset="0"/>
              </a:rPr>
              <a:t>Khắc phục: Kiểm tra leak, không phát hiện bất thường. Thay 2 OXYGEN CYLINDER; Captain Mask và Stowage theo dõi cho kêt quả tốt.</a:t>
            </a:r>
          </a:p>
          <a:p>
            <a:pPr marL="609585" lvl="1" algn="just"/>
            <a:r>
              <a:rPr lang="vi-VN" sz="1600">
                <a:solidFill>
                  <a:srgbClr val="FF0000"/>
                </a:solidFill>
                <a:latin typeface="Times New Roman" panose="02020603050405020304" pitchFamily="18" charset="0"/>
                <a:cs typeface="Times New Roman" panose="02020603050405020304" pitchFamily="18" charset="0"/>
              </a:rPr>
              <a:t>ĐTC:  Lịch sử có trường hợp crew oxy leak gây Delay cho tàu A866 Oct2021 do mất nhiều thời gian khi thay bottle, mask và kiểm tra leak.</a:t>
            </a:r>
          </a:p>
          <a:p>
            <a:pPr marL="609585" lvl="1" algn="just"/>
            <a:r>
              <a:rPr lang="vi-VN" sz="1600">
                <a:solidFill>
                  <a:srgbClr val="FF0000"/>
                </a:solidFill>
                <a:latin typeface="Times New Roman" panose="02020603050405020304" pitchFamily="18" charset="0"/>
                <a:cs typeface="Times New Roman" panose="02020603050405020304" pitchFamily="18" charset="0"/>
              </a:rPr>
              <a:t>Bình oxy đã từng thay US 58 khối, tuy nhiên trong hoạt động khai thác, quá trình test thực hiện trước mỗi chuyến bay sẽ làm leak oxy. MCC theo dõi AHM, khi thấy áp suất gần ngưỡng 800 psi (dưới 800 sẽ có alert, 600 có Advisory) sẽ thực hiện thay khi tàu ở Mainba</a:t>
            </a:r>
            <a:r>
              <a:rPr lang="en-US" sz="1600">
                <a:solidFill>
                  <a:srgbClr val="FF0000"/>
                </a:solidFill>
                <a:latin typeface="Times New Roman" panose="02020603050405020304" pitchFamily="18" charset="0"/>
                <a:cs typeface="Times New Roman" panose="02020603050405020304" pitchFamily="18" charset="0"/>
              </a:rPr>
              <a:t>se</a:t>
            </a:r>
            <a:r>
              <a:rPr lang="vi-VN" sz="1600">
                <a:solidFill>
                  <a:srgbClr val="FF0000"/>
                </a:solidFill>
                <a:latin typeface="Times New Roman" panose="02020603050405020304" pitchFamily="18" charset="0"/>
                <a:cs typeface="Times New Roman" panose="02020603050405020304" pitchFamily="18" charset="0"/>
              </a:rPr>
              <a:t>.</a:t>
            </a:r>
          </a:p>
          <a:p>
            <a:pPr marL="609585" lvl="1" algn="just"/>
            <a:r>
              <a:rPr lang="vi-VN" sz="1600">
                <a:solidFill>
                  <a:srgbClr val="FF0000"/>
                </a:solidFill>
                <a:latin typeface="Times New Roman" panose="02020603050405020304" pitchFamily="18" charset="0"/>
                <a:cs typeface="Times New Roman" panose="02020603050405020304" pitchFamily="18" charset="0"/>
              </a:rPr>
              <a:t>Mask đã từng thay 07 khối, MTBUR 115,385 lớn hơn RSPL 50000</a:t>
            </a:r>
          </a:p>
          <a:p>
            <a:pPr marL="609585" lvl="1" algn="just"/>
            <a:r>
              <a:rPr lang="vi-VN" sz="1600">
                <a:solidFill>
                  <a:srgbClr val="FF0000"/>
                </a:solidFill>
                <a:latin typeface="Times New Roman" panose="02020603050405020304" pitchFamily="18" charset="0"/>
                <a:cs typeface="Times New Roman" panose="02020603050405020304" pitchFamily="18" charset="0"/>
              </a:rPr>
              <a:t>Stowage đã từng thay 15 khối, MTBUR 75,273 lớn hơn RSPL 40000</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5553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48F17B81-745E-43F9-95AF-359EADAF9C2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E3D9386E-CB27-0FA5-A8B4-5F8374B3F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010B559A-ABEC-3C1C-8B0F-78AC157317C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xmlns="" id="{09F43E05-78F5-8AA8-6EC5-16D039445338}"/>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BBE07E51-B83F-FBDC-52B5-94762137D148}"/>
              </a:ext>
            </a:extLst>
          </p:cNvPr>
          <p:cNvGraphicFramePr>
            <a:graphicFrameLocks noGrp="1"/>
          </p:cNvGraphicFramePr>
          <p:nvPr>
            <p:extLst/>
          </p:nvPr>
        </p:nvGraphicFramePr>
        <p:xfrm>
          <a:off x="134289" y="1509729"/>
          <a:ext cx="11688713" cy="1626481"/>
        </p:xfrm>
        <a:graphic>
          <a:graphicData uri="http://schemas.openxmlformats.org/drawingml/2006/table">
            <a:tbl>
              <a:tblPr/>
              <a:tblGrid>
                <a:gridCol w="475311">
                  <a:extLst>
                    <a:ext uri="{9D8B030D-6E8A-4147-A177-3AD203B41FA5}">
                      <a16:colId xmlns:a16="http://schemas.microsoft.com/office/drawing/2014/main" xmlns="" val="1699067947"/>
                    </a:ext>
                  </a:extLst>
                </a:gridCol>
                <a:gridCol w="762000">
                  <a:extLst>
                    <a:ext uri="{9D8B030D-6E8A-4147-A177-3AD203B41FA5}">
                      <a16:colId xmlns:a16="http://schemas.microsoft.com/office/drawing/2014/main" xmlns="" val="205224236"/>
                    </a:ext>
                  </a:extLst>
                </a:gridCol>
                <a:gridCol w="381000">
                  <a:extLst>
                    <a:ext uri="{9D8B030D-6E8A-4147-A177-3AD203B41FA5}">
                      <a16:colId xmlns:a16="http://schemas.microsoft.com/office/drawing/2014/main" xmlns="" val="3056190288"/>
                    </a:ext>
                  </a:extLst>
                </a:gridCol>
                <a:gridCol w="579500">
                  <a:extLst>
                    <a:ext uri="{9D8B030D-6E8A-4147-A177-3AD203B41FA5}">
                      <a16:colId xmlns:a16="http://schemas.microsoft.com/office/drawing/2014/main" xmlns="" val="1539559735"/>
                    </a:ext>
                  </a:extLst>
                </a:gridCol>
                <a:gridCol w="585576">
                  <a:extLst>
                    <a:ext uri="{9D8B030D-6E8A-4147-A177-3AD203B41FA5}">
                      <a16:colId xmlns:a16="http://schemas.microsoft.com/office/drawing/2014/main" xmlns="" val="2444827003"/>
                    </a:ext>
                  </a:extLst>
                </a:gridCol>
                <a:gridCol w="486713">
                  <a:extLst>
                    <a:ext uri="{9D8B030D-6E8A-4147-A177-3AD203B41FA5}">
                      <a16:colId xmlns:a16="http://schemas.microsoft.com/office/drawing/2014/main" xmlns="" val="3491416527"/>
                    </a:ext>
                  </a:extLst>
                </a:gridCol>
                <a:gridCol w="1929611">
                  <a:extLst>
                    <a:ext uri="{9D8B030D-6E8A-4147-A177-3AD203B41FA5}">
                      <a16:colId xmlns:a16="http://schemas.microsoft.com/office/drawing/2014/main" xmlns="" val="1857565414"/>
                    </a:ext>
                  </a:extLst>
                </a:gridCol>
                <a:gridCol w="2819400">
                  <a:extLst>
                    <a:ext uri="{9D8B030D-6E8A-4147-A177-3AD203B41FA5}">
                      <a16:colId xmlns:a16="http://schemas.microsoft.com/office/drawing/2014/main" xmlns="" val="3557937854"/>
                    </a:ext>
                  </a:extLst>
                </a:gridCol>
                <a:gridCol w="304800">
                  <a:extLst>
                    <a:ext uri="{9D8B030D-6E8A-4147-A177-3AD203B41FA5}">
                      <a16:colId xmlns:a16="http://schemas.microsoft.com/office/drawing/2014/main" xmlns="" val="3019161719"/>
                    </a:ext>
                  </a:extLst>
                </a:gridCol>
                <a:gridCol w="3364802">
                  <a:extLst>
                    <a:ext uri="{9D8B030D-6E8A-4147-A177-3AD203B41FA5}">
                      <a16:colId xmlns:a16="http://schemas.microsoft.com/office/drawing/2014/main" xmlns="" val="3608241138"/>
                    </a:ext>
                  </a:extLst>
                </a:gridCol>
              </a:tblGrid>
              <a:tr h="146809">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STA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ATA</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9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421" marR="3421" marT="34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xmlns="" val="3635056464"/>
                  </a:ext>
                </a:extLst>
              </a:tr>
              <a:tr h="44708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14:00 26/04/2025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VN9060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CAH-SGN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ENG START FOUND NO DATA ON FO UPPER MONITOR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MASTER RESET BY GPU; START ENG CHECK SATIS. A/C SERVICEABLE AFTER ENG START FOUND NO DATA ON FO UPPER MONITOR EVENT CLOSED  TOTAL DELAY 71 MINS, TECH DELAY 60 MINS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nghi ngờ liên quan đến AHRU #2, đã cho thay thế AHRU #2 để phòng ngừa lặp lại hỏng hóc. AHRU năm 2023-2024 độ tin cậy tốt, không thay lần nào, 2025 thay 03 lần, đều trên B223 (02 lần trước trong tháng 2, cả AHRU#1 và #2), trong đó 01 lần NFF (chỉ phát hiện inner compartment bụi bẩn), sẽ đề nghị VAECO kiểm tra lại wiring connector tàu B223, đồng thời chờ thêm SFR 2 khối sau để phân tích và làm việc thêm với nhà sản xuất.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86251504"/>
                  </a:ext>
                </a:extLst>
              </a:tr>
            </a:tbl>
          </a:graphicData>
        </a:graphic>
      </p:graphicFrame>
      <p:sp>
        <p:nvSpPr>
          <p:cNvPr id="3" name="TextBox 2">
            <a:extLst>
              <a:ext uri="{FF2B5EF4-FFF2-40B4-BE49-F238E27FC236}">
                <a16:creationId xmlns:a16="http://schemas.microsoft.com/office/drawing/2014/main" xmlns="" id="{6146DA51-23CC-D6EE-A05C-E4B1B633BE7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333072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Rectangle 4">
            <a:extLst>
              <a:ext uri="{FF2B5EF4-FFF2-40B4-BE49-F238E27FC236}">
                <a16:creationId xmlns:a16="http://schemas.microsoft.com/office/drawing/2014/main" xmlns="" id="{795CC2F9-72E9-47BD-A040-3231760CEEDB}"/>
              </a:ext>
            </a:extLst>
          </p:cNvPr>
          <p:cNvSpPr/>
          <p:nvPr/>
        </p:nvSpPr>
        <p:spPr>
          <a:xfrm>
            <a:off x="246132" y="1219200"/>
            <a:ext cx="10972799" cy="584775"/>
          </a:xfrm>
          <a:prstGeom prst="rect">
            <a:avLst/>
          </a:prstGeom>
        </p:spPr>
        <p:txBody>
          <a:bodyPr wrap="square">
            <a:spAutoFit/>
          </a:bodyPr>
          <a:lstStyle/>
          <a:p>
            <a:pPr algn="just"/>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cs typeface="Times New Roman" panose="02020603050405020304" pitchFamily="18" charset="0"/>
              </a:rPr>
              <a:t>Tình trạng ATR72 khai thác ổn định. Chỉ có 01 vụ Delay tàu B223 tại CAH, đã reset được và thay AHRU để phòng ngừa. Cần check thêm wiring và chờ SFR để phân tích nguyên nhân.</a:t>
            </a:r>
            <a:r>
              <a:rPr lang="en-US" sz="1600" dirty="0" smtClean="0">
                <a:solidFill>
                  <a:prstClr val="black"/>
                </a:solidFill>
                <a:latin typeface="Times New Roman" panose="02020603050405020304" pitchFamily="18" charset="0"/>
                <a:cs typeface="Times New Roman" panose="02020603050405020304" pitchFamily="18" charset="0"/>
              </a:rPr>
              <a:t> </a:t>
            </a:r>
            <a:endParaRPr lang="en-SG" sz="1600" dirty="0">
              <a:solidFill>
                <a:srgbClr val="FF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6146DA51-23CC-D6EE-A05C-E4B1B633BE7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225368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xmlns=""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W17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21/04/2025-27/04/20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24622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17/2025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cậy </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các đội </a:t>
            </a:r>
            <a:r>
              <a:rPr lang="en-US" sz="1400">
                <a:solidFill>
                  <a:prstClr val="black"/>
                </a:solidFill>
                <a:latin typeface="Times New Roman" panose="02020603050405020304" pitchFamily="18" charset="0"/>
                <a:cs typeface="Times New Roman" panose="02020603050405020304" pitchFamily="18" charset="0"/>
              </a:rPr>
              <a:t>A321, A350, ATR72 không đạt mục tiêu, riêng đội B787 đạt mục tiêu</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99,57% thấp hơn 0,06%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trong tuần xuất hiện nhiều sự kiện với nguyên nhân khác nhau: Fuel LP Valve &amp; PMA (A608),  Starter Valve (A512), AEVC (A513), Fuel Leak (A357) , ADIRU (A331), DEU (A332), Brake Fan (A332), Engine Bleed Fault (A615), Compressor Vane (A334).</a:t>
            </a:r>
            <a:endParaRPr lang="vi-VN" sz="14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99,42% thấp hơn 0,02%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1 sự kiện delay tàu A888 xuất hiện cảnh báo F/CTL elevator actuator.</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99,44% </a:t>
            </a:r>
            <a:r>
              <a:rPr lang="en-US" sz="1400">
                <a:latin typeface="Times New Roman" panose="02020603050405020304" pitchFamily="18" charset="0"/>
                <a:cs typeface="Times New Roman" panose="02020603050405020304" pitchFamily="18" charset="0"/>
              </a:rPr>
              <a:t>cao hơn 0,08%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99,55% thấp hơn 0,10%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1 sự kiện delay tàu B223 </a:t>
            </a:r>
            <a:r>
              <a:rPr lang="it-IT" sz="1400">
                <a:solidFill>
                  <a:prstClr val="black"/>
                </a:solidFill>
                <a:latin typeface="Times New Roman" panose="02020603050405020304" pitchFamily="18" charset="0"/>
                <a:cs typeface="Times New Roman" panose="02020603050405020304" pitchFamily="18" charset="0"/>
              </a:rPr>
              <a:t>no data on FO upper monitor</a:t>
            </a:r>
            <a:r>
              <a:rPr lang="en-US" sz="1400">
                <a:solidFill>
                  <a:prstClr val="black"/>
                </a:solidFill>
                <a:latin typeface="Times New Roman" panose="02020603050405020304" pitchFamily="18" charset="0"/>
                <a:cs typeface="Times New Roman" panose="02020603050405020304" pitchFamily="18" charset="0"/>
              </a:rPr>
              <a:t>.</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xmlns="" val="2169649306"/>
                    </a:ext>
                  </a:extLst>
                </a:gridCol>
                <a:gridCol w="1496650">
                  <a:extLst>
                    <a:ext uri="{9D8B030D-6E8A-4147-A177-3AD203B41FA5}">
                      <a16:colId xmlns:a16="http://schemas.microsoft.com/office/drawing/2014/main" xmlns="" val="3397981216"/>
                    </a:ext>
                  </a:extLst>
                </a:gridCol>
                <a:gridCol w="1330690">
                  <a:extLst>
                    <a:ext uri="{9D8B030D-6E8A-4147-A177-3AD203B41FA5}">
                      <a16:colId xmlns:a16="http://schemas.microsoft.com/office/drawing/2014/main" xmlns=""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804591176"/>
                  </a:ext>
                </a:extLst>
              </a:tr>
            </a:tbl>
          </a:graphicData>
        </a:graphic>
      </p:graphicFrame>
      <p:graphicFrame>
        <p:nvGraphicFramePr>
          <p:cNvPr id="10" name="Chart 9">
            <a:extLst>
              <a:ext uri="{FF2B5EF4-FFF2-40B4-BE49-F238E27FC236}">
                <a16:creationId xmlns:a16="http://schemas.microsoft.com/office/drawing/2014/main" xmlns="" id="{00000000-0008-0000-0000-000006000000}"/>
              </a:ext>
            </a:extLst>
          </p:cNvPr>
          <p:cNvGraphicFramePr>
            <a:graphicFrameLocks/>
          </p:cNvGraphicFramePr>
          <p:nvPr/>
        </p:nvGraphicFramePr>
        <p:xfrm>
          <a:off x="466401" y="901739"/>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023719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xmlns=""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xmlns="" id="{B51B125A-92E0-55D4-355A-A287D3D9C84E}"/>
              </a:ext>
            </a:extLst>
          </p:cNvPr>
          <p:cNvGraphicFramePr>
            <a:graphicFrameLocks/>
          </p:cNvGraphicFramePr>
          <p:nvPr/>
        </p:nvGraphicFramePr>
        <p:xfrm>
          <a:off x="156783" y="606959"/>
          <a:ext cx="11878434" cy="581722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8899599">
                  <a:extLst>
                    <a:ext uri="{9D8B030D-6E8A-4147-A177-3AD203B41FA5}">
                      <a16:colId xmlns:a16="http://schemas.microsoft.com/office/drawing/2014/main" xmlns="" val="426833219"/>
                    </a:ext>
                  </a:extLst>
                </a:gridCol>
                <a:gridCol w="1373165">
                  <a:extLst>
                    <a:ext uri="{9D8B030D-6E8A-4147-A177-3AD203B41FA5}">
                      <a16:colId xmlns:a16="http://schemas.microsoft.com/office/drawing/2014/main" xmlns=""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1709025">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GTF.</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22/4: EVP họp telecon với PW về nội dung liên quan đến slot Induct, SSA 2024 CAP, Lease engine. PW sẽ hỗ trợ cho VNA thuê 01 động c</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NEO từ thang 6 bổ sung nguồn lực, đồng thời xem xét gia hạn cap SSA khi đến ng</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13/03.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triển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khai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26 - 28/03/2025: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KLM (QLVT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tin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Ngày 15/04 VP RR đã sang làm việc với EVP VNA. KT sẽ chuẩn bị sẵn các nội dung làm việc liên quan đến hỗ trợ slot shop visit, spare, TAT… để đàm phán nếu cần thiết.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99920082"/>
                  </a:ext>
                </a:extLst>
              </a:tr>
            </a:tbl>
          </a:graphicData>
        </a:graphic>
      </p:graphicFrame>
    </p:spTree>
    <p:extLst>
      <p:ext uri="{BB962C8B-B14F-4D97-AF65-F5344CB8AC3E}">
        <p14:creationId xmlns:p14="http://schemas.microsoft.com/office/powerpoint/2010/main" val="3348129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graphicFrame>
        <p:nvGraphicFramePr>
          <p:cNvPr id="7" name="Content Placeholder 4">
            <a:extLst>
              <a:ext uri="{FF2B5EF4-FFF2-40B4-BE49-F238E27FC236}">
                <a16:creationId xmlns:a16="http://schemas.microsoft.com/office/drawing/2014/main" xmlns="" id="{B51B125A-92E0-55D4-355A-A287D3D9C84E}"/>
              </a:ext>
            </a:extLst>
          </p:cNvPr>
          <p:cNvGraphicFramePr>
            <a:graphicFrameLocks/>
          </p:cNvGraphicFramePr>
          <p:nvPr>
            <p:extLst>
              <p:ext uri="{D42A27DB-BD31-4B8C-83A1-F6EECF244321}">
                <p14:modId xmlns:p14="http://schemas.microsoft.com/office/powerpoint/2010/main" val="3166309161"/>
              </p:ext>
            </p:extLst>
          </p:nvPr>
        </p:nvGraphicFramePr>
        <p:xfrm>
          <a:off x="156783" y="538480"/>
          <a:ext cx="11878434" cy="3785213"/>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8757530">
                  <a:extLst>
                    <a:ext uri="{9D8B030D-6E8A-4147-A177-3AD203B41FA5}">
                      <a16:colId xmlns:a16="http://schemas.microsoft.com/office/drawing/2014/main" xmlns="" val="426833219"/>
                    </a:ext>
                  </a:extLst>
                </a:gridCol>
                <a:gridCol w="1515234">
                  <a:extLst>
                    <a:ext uri="{9D8B030D-6E8A-4147-A177-3AD203B41FA5}">
                      <a16:colId xmlns:a16="http://schemas.microsoft.com/office/drawing/2014/main" xmlns="" val="3649942957"/>
                    </a:ext>
                  </a:extLst>
                </a:gridCol>
              </a:tblGrid>
              <a:tr h="44409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1247144">
                <a:tc>
                  <a:txBody>
                    <a:bodyPr/>
                    <a:lstStyle/>
                    <a:p>
                      <a:pPr algn="ctr" fontAlgn="b"/>
                      <a:r>
                        <a:rPr lang="en-US" sz="1400" b="0" i="0" u="none" strike="noStrike" smtClean="0">
                          <a:solidFill>
                            <a:schemeClr val="tx1"/>
                          </a:solidFill>
                          <a:effectLst/>
                          <a:latin typeface="Times New Roman" panose="02020603050405020304" pitchFamily="18" charset="0"/>
                          <a:cs typeface="Times New Roman" panose="02020603050405020304" pitchFamily="18" charset="0"/>
                        </a:rPr>
                        <a:t>4</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A892,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trên</a:t>
                      </a: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tiếp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Server MPS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SW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kích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hoạt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dịch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vụ</a:t>
                      </a:r>
                      <a:r>
                        <a:rPr lang="en-US" sz="1400" dirty="0">
                          <a:solidFill>
                            <a:schemeClr val="tx1"/>
                          </a:solidFill>
                          <a:latin typeface="Times New Roman" panose="02020603050405020304" pitchFamily="18" charset="0"/>
                          <a:cs typeface="Times New Roman" panose="02020603050405020304" pitchFamily="18" charset="0"/>
                        </a:rPr>
                        <a:t> =&gt;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MOC/MCC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xếp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lịch</a:t>
                      </a:r>
                      <a:endParaRPr lang="en-US" sz="1400"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Các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 (TAT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HON shop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kéo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dài</a:t>
                      </a:r>
                      <a:r>
                        <a:rPr lang="en-US" sz="1400" dirty="0">
                          <a:solidFill>
                            <a:schemeClr val="tx1"/>
                          </a:solidFill>
                          <a:latin typeface="Times New Roman" panose="02020603050405020304" pitchFamily="18" charset="0"/>
                          <a:cs typeface="Times New Roman" panose="02020603050405020304" pitchFamily="18" charset="0"/>
                        </a:rPr>
                        <a:t> 129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Đào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a:solidFill>
                            <a:schemeClr val="tx1"/>
                          </a:solidFill>
                          <a:latin typeface="Times New Roman" panose="02020603050405020304" pitchFamily="18" charset="0"/>
                          <a:cs typeface="Times New Roman" panose="02020603050405020304" pitchFamily="18" charset="0"/>
                        </a:rPr>
                        <a:t>Tài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b="0" dirty="0">
                          <a:solidFill>
                            <a:schemeClr val="tx1"/>
                          </a:solidFill>
                          <a:latin typeface="Times New Roman" panose="02020603050405020304" pitchFamily="18" charset="0"/>
                          <a:cs typeface="Times New Roman" panose="02020603050405020304" pitchFamily="18" charset="0"/>
                        </a:rPr>
                        <a:t>Tài </a:t>
                      </a:r>
                      <a:r>
                        <a:rPr lang="en-US" sz="1400" b="0" dirty="0" err="1">
                          <a:solidFill>
                            <a:schemeClr val="tx1"/>
                          </a:solidFill>
                          <a:latin typeface="Times New Roman" panose="02020603050405020304" pitchFamily="18" charset="0"/>
                          <a:cs typeface="Times New Roman" panose="02020603050405020304" pitchFamily="18" charset="0"/>
                        </a:rPr>
                        <a:t>liệu</a:t>
                      </a:r>
                      <a:r>
                        <a:rPr lang="en-US" sz="1400" b="0" dirty="0">
                          <a:solidFill>
                            <a:schemeClr val="tx1"/>
                          </a:solidFill>
                          <a:latin typeface="Times New Roman" panose="02020603050405020304" pitchFamily="18" charset="0"/>
                          <a:cs typeface="Times New Roman" panose="02020603050405020304" pitchFamily="18" charset="0"/>
                        </a:rPr>
                        <a:t> AMM: </a:t>
                      </a:r>
                      <a:r>
                        <a:rPr lang="en-US" sz="1400" b="1" dirty="0">
                          <a:solidFill>
                            <a:schemeClr val="tx1"/>
                          </a:solidFill>
                          <a:latin typeface="Times New Roman" panose="02020603050405020304" pitchFamily="18" charset="0"/>
                          <a:cs typeface="Times New Roman" panose="02020603050405020304" pitchFamily="18" charset="0"/>
                        </a:rPr>
                        <a:t>update </a:t>
                      </a:r>
                      <a:r>
                        <a:rPr lang="en-US" sz="1400" b="1" dirty="0" err="1">
                          <a:solidFill>
                            <a:schemeClr val="tx1"/>
                          </a:solidFill>
                          <a:latin typeface="Times New Roman" panose="02020603050405020304" pitchFamily="18" charset="0"/>
                          <a:cs typeface="Times New Roman" panose="02020603050405020304" pitchFamily="18" charset="0"/>
                        </a:rPr>
                        <a:t>trong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02 shipset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firmwarre</a:t>
                      </a:r>
                      <a:r>
                        <a:rPr lang="en-US" sz="1400" dirty="0">
                          <a:solidFill>
                            <a:schemeClr val="tx1"/>
                          </a:solidFill>
                          <a:latin typeface="Times New Roman" panose="02020603050405020304" pitchFamily="18" charset="0"/>
                          <a:cs typeface="Times New Roman" panose="02020603050405020304" pitchFamily="18" charset="0"/>
                        </a:rPr>
                        <a:t>, TAT 60-70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=&gt;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02 KANDU, 02 FMA, 01 MODMAN; </a:t>
                      </a:r>
                      <a:r>
                        <a:rPr lang="en-US" sz="1400" b="1" dirty="0" err="1">
                          <a:solidFill>
                            <a:schemeClr val="tx1"/>
                          </a:solidFill>
                          <a:latin typeface="Times New Roman" panose="02020603050405020304" pitchFamily="18" charset="0"/>
                          <a:cs typeface="Times New Roman" panose="02020603050405020304" pitchFamily="18" charset="0"/>
                        </a:rPr>
                        <a:t>tiếp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sớm</a:t>
                      </a:r>
                      <a:r>
                        <a:rPr lang="en-US" sz="1400" b="1" dirty="0">
                          <a:solidFill>
                            <a:schemeClr val="tx1"/>
                          </a:solidFill>
                          <a:latin typeface="Times New Roman" panose="02020603050405020304" pitchFamily="18" charset="0"/>
                          <a:cs typeface="Times New Roman" panose="02020603050405020304" pitchFamily="18" charset="0"/>
                        </a:rPr>
                        <a:t> 02 KRFU + 01 MODMAN</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07005"/>
                  </a:ext>
                </a:extLst>
              </a:tr>
              <a:tr h="507751">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18</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599920082"/>
                  </a:ext>
                </a:extLst>
              </a:tr>
            </a:tbl>
          </a:graphicData>
        </a:graphic>
      </p:graphicFrame>
      <p:sp>
        <p:nvSpPr>
          <p:cNvPr id="9" name="Title 2">
            <a:extLst>
              <a:ext uri="{FF2B5EF4-FFF2-40B4-BE49-F238E27FC236}">
                <a16:creationId xmlns:a16="http://schemas.microsoft.com/office/drawing/2014/main" xmlns=""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698340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xmlns="" id="{B51B125A-92E0-55D4-355A-A287D3D9C84E}"/>
              </a:ext>
            </a:extLst>
          </p:cNvPr>
          <p:cNvGraphicFramePr>
            <a:graphicFrameLocks/>
          </p:cNvGraphicFramePr>
          <p:nvPr>
            <p:extLst>
              <p:ext uri="{D42A27DB-BD31-4B8C-83A1-F6EECF244321}">
                <p14:modId xmlns:p14="http://schemas.microsoft.com/office/powerpoint/2010/main" val="3435520056"/>
              </p:ext>
            </p:extLst>
          </p:nvPr>
        </p:nvGraphicFramePr>
        <p:xfrm>
          <a:off x="156783" y="606960"/>
          <a:ext cx="11878434" cy="523747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8753147">
                  <a:extLst>
                    <a:ext uri="{9D8B030D-6E8A-4147-A177-3AD203B41FA5}">
                      <a16:colId xmlns:a16="http://schemas.microsoft.com/office/drawing/2014/main" xmlns="" val="426833219"/>
                    </a:ext>
                  </a:extLst>
                </a:gridCol>
                <a:gridCol w="1519617">
                  <a:extLst>
                    <a:ext uri="{9D8B030D-6E8A-4147-A177-3AD203B41FA5}">
                      <a16:colId xmlns:a16="http://schemas.microsoft.com/office/drawing/2014/main" xmlns=""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47492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smtClean="0">
                          <a:latin typeface="Times New Roman" panose="02020603050405020304" pitchFamily="18" charset="0"/>
                          <a:cs typeface="Times New Roman" panose="02020603050405020304" pitchFamily="18" charset="0"/>
                        </a:rPr>
                        <a:t>GIA HẠN THUÊ 10 TÀU VALC </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Thủ tục bán tàu của VALC chậm nên VNA và VALC đã đồng ý và ký kết gia hạn hợp đồng thuê tiếp 10 tàu bay A321CEO 3 tháng đến hết 30/06/2025.</a:t>
                      </a:r>
                    </a:p>
                    <a:p>
                      <a:pPr algn="just">
                        <a:lnSpc>
                          <a:spcPct val="150000"/>
                        </a:lnSpc>
                      </a:pPr>
                      <a:r>
                        <a:rPr lang="en-US" sz="1300" smtClean="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p>
                      <a:pPr algn="just">
                        <a:lnSpc>
                          <a:spcPct val="150000"/>
                        </a:lnSpc>
                      </a:pPr>
                      <a:r>
                        <a:rPr lang="en-US" sz="1300" smtClean="0">
                          <a:latin typeface="Times New Roman" panose="02020603050405020304" pitchFamily="18" charset="0"/>
                          <a:cs typeface="Times New Roman" panose="02020603050405020304" pitchFamily="18" charset="0"/>
                        </a:rPr>
                        <a:t>Hiện tại VNA đang chờ kết quả bán tàu từ VALC, tiếp theo sẽ cần triển khai đàm phán hợp đồng thuê trong tr</a:t>
                      </a:r>
                      <a:r>
                        <a:rPr lang="vi-VN" sz="1300" smtClean="0">
                          <a:latin typeface="Times New Roman" panose="02020603050405020304" pitchFamily="18" charset="0"/>
                          <a:cs typeface="Times New Roman" panose="02020603050405020304" pitchFamily="18" charset="0"/>
                        </a:rPr>
                        <a:t>ư</a:t>
                      </a:r>
                      <a:r>
                        <a:rPr lang="en-US" sz="1300" smtClean="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kern="1200" smtClean="0">
                          <a:solidFill>
                            <a:schemeClr val="tx1"/>
                          </a:solidFill>
                          <a:effectLst/>
                          <a:latin typeface="Times New Roman" panose="02020603050405020304" pitchFamily="18" charset="0"/>
                          <a:ea typeface="+mn-ea"/>
                          <a:cs typeface="Times New Roman" panose="02020603050405020304" pitchFamily="18" charset="0"/>
                        </a:rPr>
                        <a:t>Đang triển khai</a:t>
                      </a:r>
                    </a:p>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25972957"/>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50000"/>
                        </a:lnSpc>
                      </a:pPr>
                      <a:r>
                        <a:rPr lang="en-US" sz="1300" b="0" smtClean="0">
                          <a:latin typeface="Times New Roman" panose="02020603050405020304" pitchFamily="18" charset="0"/>
                          <a:cs typeface="Times New Roman" panose="02020603050405020304" pitchFamily="18" charset="0"/>
                        </a:rPr>
                        <a:t>DỰ ÁN TÀU BAY THÂN HẸP</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smtClean="0">
                          <a:latin typeface="Times New Roman" panose="02020603050405020304" pitchFamily="18" charset="0"/>
                          <a:cs typeface="Times New Roman" panose="02020603050405020304" pitchFamily="18" charset="0"/>
                        </a:rPr>
                        <a:t>Tổ thuê mua tàu bay vẫn tiếp tục chủ trì phối hợp với các </a:t>
                      </a:r>
                      <a:r>
                        <a:rPr lang="en-US" sz="1300" smtClean="0">
                          <a:latin typeface="Times New Roman" panose="02020603050405020304" pitchFamily="18" charset="0"/>
                          <a:cs typeface="Times New Roman" panose="02020603050405020304" pitchFamily="18" charset="0"/>
                        </a:rPr>
                        <a:t>CQĐV</a:t>
                      </a:r>
                      <a:r>
                        <a:rPr lang="vi-VN" sz="1300" smtClean="0">
                          <a:latin typeface="Times New Roman" panose="02020603050405020304" pitchFamily="18" charset="0"/>
                          <a:cs typeface="Times New Roman" panose="02020603050405020304" pitchFamily="18" charset="0"/>
                        </a:rPr>
                        <a:t> chuyên môn làm việc với Boeing để có số liệu cuối cùng tính toán hiệu quả khả thi dự án đầu tư báo cáo cấp có thẩm quyền. </a:t>
                      </a:r>
                      <a:r>
                        <a:rPr lang="en-US" sz="1300" smtClean="0">
                          <a:latin typeface="Times New Roman" panose="02020603050405020304" pitchFamily="18" charset="0"/>
                          <a:cs typeface="Times New Roman" panose="02020603050405020304" pitchFamily="18" charset="0"/>
                        </a:rPr>
                        <a:t>VNA đã </a:t>
                      </a:r>
                      <a:r>
                        <a:rPr lang="vi-VN" sz="1300" smtClean="0">
                          <a:latin typeface="Times New Roman" panose="02020603050405020304" pitchFamily="18" charset="0"/>
                          <a:cs typeface="Times New Roman" panose="02020603050405020304" pitchFamily="18" charset="0"/>
                        </a:rPr>
                        <a:t>tổ chức cuộc hội thảo với Boeing vào 1/4 và 2/4 để đánh giá các vấn đề</a:t>
                      </a:r>
                      <a:r>
                        <a:rPr lang="en-US" sz="1300" smtClean="0">
                          <a:latin typeface="Times New Roman" panose="02020603050405020304" pitchFamily="18" charset="0"/>
                          <a:cs typeface="Times New Roman" panose="02020603050405020304" pitchFamily="18" charset="0"/>
                        </a:rPr>
                        <a:t> </a:t>
                      </a:r>
                      <a:r>
                        <a:rPr lang="vi-VN" sz="1300" smtClean="0">
                          <a:latin typeface="Times New Roman" panose="02020603050405020304" pitchFamily="18" charset="0"/>
                          <a:cs typeface="Times New Roman" panose="02020603050405020304" pitchFamily="18" charset="0"/>
                        </a:rPr>
                        <a:t>khi khai thác 737 </a:t>
                      </a:r>
                      <a:r>
                        <a:rPr lang="en-US" sz="1300" smtClean="0">
                          <a:latin typeface="Times New Roman" panose="02020603050405020304" pitchFamily="18" charset="0"/>
                          <a:cs typeface="Times New Roman" panose="02020603050405020304" pitchFamily="18" charset="0"/>
                        </a:rPr>
                        <a:t>M</a:t>
                      </a:r>
                      <a:r>
                        <a:rPr lang="vi-VN" sz="1300" smtClean="0">
                          <a:latin typeface="Times New Roman" panose="02020603050405020304" pitchFamily="18" charset="0"/>
                          <a:cs typeface="Times New Roman" panose="02020603050405020304" pitchFamily="18" charset="0"/>
                        </a:rPr>
                        <a:t>ax.</a:t>
                      </a:r>
                      <a:r>
                        <a:rPr lang="en-US" sz="1300" smtClean="0">
                          <a:latin typeface="Times New Roman" panose="02020603050405020304" pitchFamily="18" charset="0"/>
                          <a:cs typeface="Times New Roman" panose="02020603050405020304" pitchFamily="18" charset="0"/>
                        </a:rPr>
                        <a:t>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kern="1200" smtClean="0">
                          <a:solidFill>
                            <a:schemeClr val="tx1"/>
                          </a:solidFill>
                          <a:effectLst/>
                          <a:latin typeface="Times New Roman" panose="02020603050405020304" pitchFamily="18" charset="0"/>
                          <a:ea typeface="+mn-ea"/>
                          <a:cs typeface="Times New Roman" panose="02020603050405020304" pitchFamily="18" charset="0"/>
                        </a:rPr>
                        <a:t>Đang triển khai</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07005"/>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smtClean="0">
                          <a:latin typeface="Times New Roman" panose="02020603050405020304" pitchFamily="18" charset="0"/>
                          <a:cs typeface="Times New Roman" panose="02020603050405020304" pitchFamily="18" charset="0"/>
                        </a:rPr>
                        <a:t>TÀU ATR72 CHO K6 THUÊ KHÔ VN-B220 MSN 890</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VNA đang cho K6 thuê khô 01 tàu ATR72 MSN 890 VN-B220, hết hạn thuê vào ngày 25/06/2025. K6 đang đề nghị VNA:</a:t>
                      </a:r>
                    </a:p>
                    <a:p>
                      <a:pPr marL="285750" indent="-285750" algn="just">
                        <a:lnSpc>
                          <a:spcPct val="150000"/>
                        </a:lnSpc>
                        <a:buFontTx/>
                        <a:buChar char="-"/>
                      </a:pPr>
                      <a:r>
                        <a:rPr lang="en-US" sz="1300" smtClean="0">
                          <a:latin typeface="Times New Roman" panose="02020603050405020304" pitchFamily="18" charset="0"/>
                          <a:cs typeface="Times New Roman" panose="02020603050405020304" pitchFamily="18" charset="0"/>
                        </a:rPr>
                        <a:t>Gia hạn thuê với t</a:t>
                      </a:r>
                      <a:r>
                        <a:rPr lang="vi-VN" sz="1300" smtClean="0">
                          <a:latin typeface="Times New Roman" panose="02020603050405020304" pitchFamily="18" charset="0"/>
                          <a:cs typeface="Times New Roman" panose="02020603050405020304" pitchFamily="18" charset="0"/>
                        </a:rPr>
                        <a:t>hời hạn gian hạn (hoặc thuê mới) từ 26/06/2025 – 30/11/2025; </a:t>
                      </a:r>
                      <a:endParaRPr lang="en-US" sz="1300" smtClean="0">
                        <a:latin typeface="Times New Roman" panose="02020603050405020304" pitchFamily="18" charset="0"/>
                        <a:cs typeface="Times New Roman" panose="02020603050405020304" pitchFamily="18" charset="0"/>
                      </a:endParaRPr>
                    </a:p>
                    <a:p>
                      <a:pPr marL="285750" indent="-285750" algn="just">
                        <a:lnSpc>
                          <a:spcPct val="150000"/>
                        </a:lnSpc>
                        <a:buFontTx/>
                        <a:buChar char="-"/>
                      </a:pPr>
                      <a:r>
                        <a:rPr lang="vi-VN" sz="1300" smtClean="0">
                          <a:latin typeface="Times New Roman" panose="02020603050405020304" pitchFamily="18" charset="0"/>
                          <a:cs typeface="Times New Roman" panose="02020603050405020304" pitchFamily="18" charset="0"/>
                        </a:rPr>
                        <a:t>Điều kiện khai thác tàu bay: Đảm bảo tàu bay khai thác liên tục trong thời gian gia hạn hoặc cho thuê mới. Điều kiện trả As-is, serviceable theo điều kiện HĐ hiện tại. Trường hợp gia hạn tàu VN-B220, K6 đề nghị xem xét đẩy sớm lịch bảo dưỡng thân (</a:t>
                      </a:r>
                      <a:r>
                        <a:rPr lang="en-US" sz="1300" smtClean="0">
                          <a:latin typeface="Times New Roman" panose="02020603050405020304" pitchFamily="18" charset="0"/>
                          <a:cs typeface="Times New Roman" panose="02020603050405020304" pitchFamily="18" charset="0"/>
                        </a:rPr>
                        <a:t>4</a:t>
                      </a:r>
                      <a:r>
                        <a:rPr lang="vi-VN" sz="1300" smtClean="0">
                          <a:latin typeface="Times New Roman" panose="02020603050405020304" pitchFamily="18" charset="0"/>
                          <a:cs typeface="Times New Roman" panose="02020603050405020304" pitchFamily="18" charset="0"/>
                        </a:rPr>
                        <a:t>Y/8Y) từ giữa T5/2025 và kết hợp việc thay mới ĐC (nếu được) để đảm bảo lịch khai thác tàu bay trong thời gian gia hạn</a:t>
                      </a:r>
                      <a:r>
                        <a:rPr lang="en-US" sz="1300" smtClean="0">
                          <a:latin typeface="Times New Roman" panose="02020603050405020304" pitchFamily="18" charset="0"/>
                          <a:cs typeface="Times New Roman" panose="02020603050405020304" pitchFamily="18" charset="0"/>
                        </a:rPr>
                        <a:t>. BKT VNA đã kiểm tra và trả lời nguồn lực VNA chỉ có thể bố trí có slot (4Y/8Y) từ 21/06 đến 11/07.</a:t>
                      </a:r>
                    </a:p>
                    <a:p>
                      <a:pPr algn="just">
                        <a:lnSpc>
                          <a:spcPct val="150000"/>
                        </a:lnSpc>
                      </a:pP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09565452"/>
                  </a:ext>
                </a:extLst>
              </a:tr>
            </a:tbl>
          </a:graphicData>
        </a:graphic>
      </p:graphicFrame>
      <p:sp>
        <p:nvSpPr>
          <p:cNvPr id="5" name="Title 2">
            <a:extLst>
              <a:ext uri="{FF2B5EF4-FFF2-40B4-BE49-F238E27FC236}">
                <a16:creationId xmlns:a16="http://schemas.microsoft.com/office/drawing/2014/main" xmlns=""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3532634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xmlns="" id="{B51B125A-92E0-55D4-355A-A287D3D9C84E}"/>
              </a:ext>
            </a:extLst>
          </p:cNvPr>
          <p:cNvGraphicFramePr>
            <a:graphicFrameLocks/>
          </p:cNvGraphicFramePr>
          <p:nvPr>
            <p:extLst>
              <p:ext uri="{D42A27DB-BD31-4B8C-83A1-F6EECF244321}">
                <p14:modId xmlns:p14="http://schemas.microsoft.com/office/powerpoint/2010/main" val="1331384620"/>
              </p:ext>
            </p:extLst>
          </p:nvPr>
        </p:nvGraphicFramePr>
        <p:xfrm>
          <a:off x="156783" y="606960"/>
          <a:ext cx="11878434" cy="5870040"/>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8753147">
                  <a:extLst>
                    <a:ext uri="{9D8B030D-6E8A-4147-A177-3AD203B41FA5}">
                      <a16:colId xmlns:a16="http://schemas.microsoft.com/office/drawing/2014/main" xmlns="" val="426833219"/>
                    </a:ext>
                  </a:extLst>
                </a:gridCol>
                <a:gridCol w="1519617">
                  <a:extLst>
                    <a:ext uri="{9D8B030D-6E8A-4147-A177-3AD203B41FA5}">
                      <a16:colId xmlns:a16="http://schemas.microsoft.com/office/drawing/2014/main" xmlns="" val="3649942957"/>
                    </a:ext>
                  </a:extLst>
                </a:gridCol>
              </a:tblGrid>
              <a:tr h="996537">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4873503">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smtClean="0">
                          <a:latin typeface="Times New Roman" panose="02020603050405020304" pitchFamily="18" charset="0"/>
                          <a:cs typeface="Times New Roman" panose="02020603050405020304" pitchFamily="18" charset="0"/>
                        </a:rPr>
                        <a:t>03 TÀU BAY A321 CEO CHO PA THUÊ KHÔ</a:t>
                      </a:r>
                      <a:r>
                        <a:rPr lang="vi-VN" sz="1400" b="0" smtClean="0">
                          <a:latin typeface="+mn-lt"/>
                          <a:cs typeface="Times New Roman" panose="02020603050405020304" pitchFamily="18" charset="0"/>
                        </a:rPr>
                        <a:t> </a:t>
                      </a:r>
                      <a:r>
                        <a:rPr lang="en-US" sz="1400" b="0" smtClean="0">
                          <a:latin typeface="Times New Roman" panose="02020603050405020304" pitchFamily="18" charset="0"/>
                          <a:cs typeface="Times New Roman" panose="02020603050405020304" pitchFamily="18" charset="0"/>
                        </a:rPr>
                        <a:t>VN-A354, VN-A359 và VN-A363</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smtClean="0">
                          <a:latin typeface="Times New Roman" panose="02020603050405020304" pitchFamily="18" charset="0"/>
                          <a:cs typeface="Times New Roman" panose="02020603050405020304" pitchFamily="18" charset="0"/>
                        </a:rPr>
                        <a:t>03 tàu bay hết hạn thuê tháng 06,07,10 năm 2025 cần gia hạn duy trì khai thác AOC cho PA</a:t>
                      </a:r>
                    </a:p>
                    <a:p>
                      <a:pPr marL="285750" lvl="0" indent="-285750" algn="just">
                        <a:buFontTx/>
                        <a:buChar char="-"/>
                      </a:pPr>
                      <a:r>
                        <a:rPr lang="en-US" sz="1300" smtClean="0">
                          <a:latin typeface="Times New Roman" panose="02020603050405020304" pitchFamily="18" charset="0"/>
                          <a:cs typeface="Times New Roman" panose="02020603050405020304" pitchFamily="18" charset="0"/>
                        </a:rPr>
                        <a:t>05 động cơ có hạn SV trong 2025 cần thay động cơ khác của VNA nếu tiếp tục khai thác</a:t>
                      </a:r>
                    </a:p>
                    <a:p>
                      <a:pPr marL="285750" indent="-285750" algn="just">
                        <a:buFontTx/>
                        <a:buChar char="-"/>
                      </a:pPr>
                      <a:r>
                        <a:rPr lang="en-US" sz="1300" smtClean="0">
                          <a:latin typeface="Times New Roman" panose="02020603050405020304" pitchFamily="18" charset="0"/>
                          <a:cs typeface="Times New Roman" panose="02020603050405020304" pitchFamily="18" charset="0"/>
                        </a:rPr>
                        <a:t>VNA đã phê duyệt swap động c</a:t>
                      </a:r>
                      <a:r>
                        <a:rPr lang="vi-VN" sz="1300" smtClean="0">
                          <a:latin typeface="Times New Roman" panose="02020603050405020304" pitchFamily="18" charset="0"/>
                          <a:cs typeface="Times New Roman" panose="02020603050405020304" pitchFamily="18" charset="0"/>
                        </a:rPr>
                        <a:t>ơ</a:t>
                      </a:r>
                      <a:r>
                        <a:rPr lang="en-US" sz="1300" smtClean="0">
                          <a:latin typeface="Times New Roman" panose="02020603050405020304" pitchFamily="18" charset="0"/>
                          <a:cs typeface="Times New Roman" panose="02020603050405020304" pitchFamily="18" charset="0"/>
                        </a:rPr>
                        <a:t> và APU. APU lắp trên A363 là thiết bị tàu thuê ACG đã swap bằng APU khác sở hữu của VNA</a:t>
                      </a:r>
                    </a:p>
                    <a:p>
                      <a:r>
                        <a:rPr lang="en-US" sz="1300" smtClean="0">
                          <a:latin typeface="Times New Roman" panose="02020603050405020304" pitchFamily="18" charset="0"/>
                          <a:cs typeface="Times New Roman" panose="02020603050405020304" pitchFamily="18" charset="0"/>
                        </a:rPr>
                        <a:t>Kế hoạch thực hiện thay/tráo đổi ENG/APU: </a:t>
                      </a:r>
                    </a:p>
                    <a:p>
                      <a:r>
                        <a:rPr lang="en-US" sz="1300" smtClean="0">
                          <a:latin typeface="Times New Roman" panose="02020603050405020304" pitchFamily="18" charset="0"/>
                          <a:cs typeface="Times New Roman" panose="02020603050405020304" pitchFamily="18" charset="0"/>
                        </a:rPr>
                        <a:t>    - MSN 3198 VN-A354: Engine #2 V11752 replaced by V16456 (sẽ thay trong 6Y CHK tại SGN)</a:t>
                      </a:r>
                    </a:p>
                    <a:p>
                      <a:r>
                        <a:rPr lang="en-US" sz="1300" smtClean="0">
                          <a:latin typeface="Times New Roman" panose="02020603050405020304" pitchFamily="18" charset="0"/>
                          <a:cs typeface="Times New Roman" panose="02020603050405020304" pitchFamily="18" charset="0"/>
                        </a:rPr>
                        <a:t>    - MSN 4136 VN-A363: Engine #2 V11696 replaced by V16037 (đã thực hiện).  APU P-7845 replaced by P-4708 (đã thực hiện)</a:t>
                      </a:r>
                    </a:p>
                    <a:p>
                      <a:pPr marL="12700" lvl="0" algn="just">
                        <a:spcBef>
                          <a:spcPts val="1000"/>
                        </a:spcBef>
                        <a:buClr>
                          <a:schemeClr val="dk1"/>
                        </a:buClr>
                        <a:buSzPts val="1100"/>
                      </a:pPr>
                      <a:endParaRPr lang="en-US" sz="14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25972957"/>
                  </a:ext>
                </a:extLst>
              </a:tr>
            </a:tbl>
          </a:graphicData>
        </a:graphic>
      </p:graphicFrame>
      <p:graphicFrame>
        <p:nvGraphicFramePr>
          <p:cNvPr id="5" name="Table 4">
            <a:extLst>
              <a:ext uri="{FF2B5EF4-FFF2-40B4-BE49-F238E27FC236}">
                <a16:creationId xmlns:a16="http://schemas.microsoft.com/office/drawing/2014/main" xmlns="" id="{962DBD6D-0E55-49C5-944E-0A919014F196}"/>
              </a:ext>
            </a:extLst>
          </p:cNvPr>
          <p:cNvGraphicFramePr>
            <a:graphicFrameLocks noGrp="1"/>
          </p:cNvGraphicFramePr>
          <p:nvPr>
            <p:extLst>
              <p:ext uri="{D42A27DB-BD31-4B8C-83A1-F6EECF244321}">
                <p14:modId xmlns:p14="http://schemas.microsoft.com/office/powerpoint/2010/main" val="4161429291"/>
              </p:ext>
            </p:extLst>
          </p:nvPr>
        </p:nvGraphicFramePr>
        <p:xfrm>
          <a:off x="1752599" y="3169623"/>
          <a:ext cx="8763002" cy="3307376"/>
        </p:xfrm>
        <a:graphic>
          <a:graphicData uri="http://schemas.openxmlformats.org/drawingml/2006/table">
            <a:tbl>
              <a:tblPr firstRow="1" firstCol="1" bandRow="1"/>
              <a:tblGrid>
                <a:gridCol w="533401">
                  <a:extLst>
                    <a:ext uri="{9D8B030D-6E8A-4147-A177-3AD203B41FA5}">
                      <a16:colId xmlns:a16="http://schemas.microsoft.com/office/drawing/2014/main" xmlns="" val="1531600724"/>
                    </a:ext>
                  </a:extLst>
                </a:gridCol>
                <a:gridCol w="928503">
                  <a:extLst>
                    <a:ext uri="{9D8B030D-6E8A-4147-A177-3AD203B41FA5}">
                      <a16:colId xmlns:a16="http://schemas.microsoft.com/office/drawing/2014/main" xmlns="" val="2778344331"/>
                    </a:ext>
                  </a:extLst>
                </a:gridCol>
                <a:gridCol w="936642">
                  <a:extLst>
                    <a:ext uri="{9D8B030D-6E8A-4147-A177-3AD203B41FA5}">
                      <a16:colId xmlns:a16="http://schemas.microsoft.com/office/drawing/2014/main" xmlns="" val="51065387"/>
                    </a:ext>
                  </a:extLst>
                </a:gridCol>
                <a:gridCol w="924883">
                  <a:extLst>
                    <a:ext uri="{9D8B030D-6E8A-4147-A177-3AD203B41FA5}">
                      <a16:colId xmlns:a16="http://schemas.microsoft.com/office/drawing/2014/main" xmlns="" val="783667054"/>
                    </a:ext>
                  </a:extLst>
                </a:gridCol>
                <a:gridCol w="791372">
                  <a:extLst>
                    <a:ext uri="{9D8B030D-6E8A-4147-A177-3AD203B41FA5}">
                      <a16:colId xmlns:a16="http://schemas.microsoft.com/office/drawing/2014/main" xmlns="" val="2213163783"/>
                    </a:ext>
                  </a:extLst>
                </a:gridCol>
                <a:gridCol w="1367998">
                  <a:extLst>
                    <a:ext uri="{9D8B030D-6E8A-4147-A177-3AD203B41FA5}">
                      <a16:colId xmlns:a16="http://schemas.microsoft.com/office/drawing/2014/main" xmlns="" val="3043656086"/>
                    </a:ext>
                  </a:extLst>
                </a:gridCol>
                <a:gridCol w="1408278">
                  <a:extLst>
                    <a:ext uri="{9D8B030D-6E8A-4147-A177-3AD203B41FA5}">
                      <a16:colId xmlns:a16="http://schemas.microsoft.com/office/drawing/2014/main" xmlns="" val="2131793250"/>
                    </a:ext>
                  </a:extLst>
                </a:gridCol>
                <a:gridCol w="1871925">
                  <a:extLst>
                    <a:ext uri="{9D8B030D-6E8A-4147-A177-3AD203B41FA5}">
                      <a16:colId xmlns:a16="http://schemas.microsoft.com/office/drawing/2014/main" xmlns="" val="1805902935"/>
                    </a:ext>
                  </a:extLst>
                </a:gridCol>
              </a:tblGrid>
              <a:tr h="93777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endParaRPr lang="en-GB" sz="1300" b="0" kern="100" smtClean="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ĐC lắp trên 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Lịch sửa chữa ĐC </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3242539848"/>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16/03-10/04/2025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V15894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16/10/2028</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892024124"/>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V11752</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05/03/2025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053377786"/>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V11694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4135771852"/>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V16049</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831051290"/>
                  </a:ext>
                </a:extLst>
              </a:tr>
              <a:tr h="322573">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V16563</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07/11/2025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01708291"/>
                  </a:ext>
                </a:extLst>
              </a:tr>
              <a:tr h="46729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V11696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20/10/2025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409814873"/>
                  </a:ext>
                </a:extLst>
              </a:tr>
            </a:tbl>
          </a:graphicData>
        </a:graphic>
      </p:graphicFrame>
      <p:sp>
        <p:nvSpPr>
          <p:cNvPr id="6" name="Title 2">
            <a:extLst>
              <a:ext uri="{FF2B5EF4-FFF2-40B4-BE49-F238E27FC236}">
                <a16:creationId xmlns:a16="http://schemas.microsoft.com/office/drawing/2014/main" xmlns=""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8401213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xmlns=""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30</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xmlns="" id="{B51B125A-92E0-55D4-355A-A287D3D9C84E}"/>
              </a:ext>
            </a:extLst>
          </p:cNvPr>
          <p:cNvGraphicFramePr>
            <a:graphicFrameLocks/>
          </p:cNvGraphicFramePr>
          <p:nvPr>
            <p:extLst>
              <p:ext uri="{D42A27DB-BD31-4B8C-83A1-F6EECF244321}">
                <p14:modId xmlns:p14="http://schemas.microsoft.com/office/powerpoint/2010/main" val="3342410797"/>
              </p:ext>
            </p:extLst>
          </p:nvPr>
        </p:nvGraphicFramePr>
        <p:xfrm>
          <a:off x="156783" y="518160"/>
          <a:ext cx="11878434" cy="253613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xmlns="" val="2758273930"/>
                    </a:ext>
                  </a:extLst>
                </a:gridCol>
                <a:gridCol w="1182943">
                  <a:extLst>
                    <a:ext uri="{9D8B030D-6E8A-4147-A177-3AD203B41FA5}">
                      <a16:colId xmlns:a16="http://schemas.microsoft.com/office/drawing/2014/main" xmlns="" val="221963637"/>
                    </a:ext>
                  </a:extLst>
                </a:gridCol>
                <a:gridCol w="7229147">
                  <a:extLst>
                    <a:ext uri="{9D8B030D-6E8A-4147-A177-3AD203B41FA5}">
                      <a16:colId xmlns:a16="http://schemas.microsoft.com/office/drawing/2014/main" xmlns="" val="426833219"/>
                    </a:ext>
                  </a:extLst>
                </a:gridCol>
                <a:gridCol w="3043617">
                  <a:extLst>
                    <a:ext uri="{9D8B030D-6E8A-4147-A177-3AD203B41FA5}">
                      <a16:colId xmlns:a16="http://schemas.microsoft.com/office/drawing/2014/main" xmlns=""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2423454521"/>
                  </a:ext>
                </a:extLst>
              </a:tr>
              <a:tr h="47492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11-Mar: Đã có phê duyệt KQLCNCC (AMOSeTL của SwissAS). Đang đàm phán ký kết hợp đồng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 toàn Tổ triển khai; Đề nghị CAAV triển khai phase 1 trong quy trình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25972957"/>
                  </a:ext>
                </a:extLst>
              </a:tr>
              <a:tr h="690677">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Nâng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họp nhiều phiên với Boeing và Airbus. Hiện chờ OCC xác nhận payload tăng đ</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theo từng tháng để KHPT tính toán hiệu quả..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 A350 (2 tàu cuối thuộc standard 2018  là A898, A899): đánh giá là khó thực hiện khi bay đi Mỹ do hiện nay đã phải nạp full tank 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07005"/>
                  </a:ext>
                </a:extLst>
              </a:tr>
              <a:tr h="690677">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Chuẩn</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bị</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khôi</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phục</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đường</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bay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Nga</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(HAN-SVO)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swap 01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A867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vẫn</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24-27/04),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đảm</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bảo</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kịp</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thác</a:t>
                      </a:r>
                      <a:r>
                        <a:rPr lang="en-US" sz="130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Đã</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thay</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xong</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smtClean="0">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smtClean="0">
                          <a:solidFill>
                            <a:schemeClr val="tx1"/>
                          </a:solidFill>
                          <a:effectLst/>
                          <a:latin typeface="Times New Roman" panose="02020603050405020304" pitchFamily="18" charset="0"/>
                          <a:ea typeface="+mn-ea"/>
                          <a:cs typeface="Times New Roman" panose="02020603050405020304" pitchFamily="18" charset="0"/>
                        </a:rPr>
                        <a:t> A867</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389529684"/>
                  </a:ext>
                </a:extLst>
              </a:tr>
            </a:tbl>
          </a:graphicData>
        </a:graphic>
      </p:graphicFrame>
      <p:sp>
        <p:nvSpPr>
          <p:cNvPr id="5" name="Title 2">
            <a:extLst>
              <a:ext uri="{FF2B5EF4-FFF2-40B4-BE49-F238E27FC236}">
                <a16:creationId xmlns:a16="http://schemas.microsoft.com/office/drawing/2014/main" xmlns=""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7671088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xmlns=""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486595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xmlns=""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xmlns=""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xmlns=""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xmlns=""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xmlns=""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xmlns="" id="{211010DD-A36B-7A4B-2FF6-01A604A6123F}"/>
              </a:ext>
            </a:extLst>
          </p:cNvPr>
          <p:cNvGraphicFramePr>
            <a:graphicFrameLocks/>
          </p:cNvGraphicFramePr>
          <p:nvPr>
            <p:extLst/>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xmlns=""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latin typeface="Times New Roman" panose="02020603050405020304" pitchFamily="18" charset="0"/>
                <a:cs typeface="Times New Roman" panose="02020603050405020304" pitchFamily="18" charset="0"/>
              </a:rPr>
              <a:t>*B787: </a:t>
            </a:r>
            <a:r>
              <a:rPr lang="en-US" sz="1333" dirty="0" err="1">
                <a:latin typeface="Times New Roman" panose="02020603050405020304" pitchFamily="18" charset="0"/>
                <a:cs typeface="Times New Roman" panose="02020603050405020304" pitchFamily="18" charset="0"/>
              </a:rPr>
              <a:t>Thực</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tế</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đã</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phải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bổ</a:t>
            </a:r>
            <a:r>
              <a:rPr lang="en-US" sz="1333" dirty="0">
                <a:latin typeface="Times New Roman" panose="02020603050405020304" pitchFamily="18" charset="0"/>
                <a:cs typeface="Times New Roman" panose="02020603050405020304" pitchFamily="18" charset="0"/>
              </a:rPr>
              <a:t> sung 01 ĐC </a:t>
            </a:r>
            <a:r>
              <a:rPr lang="en-US" sz="1333" dirty="0" err="1">
                <a:latin typeface="Times New Roman" panose="02020603050405020304" pitchFamily="18" charset="0"/>
                <a:cs typeface="Times New Roman" panose="02020603050405020304" pitchFamily="18" charset="0"/>
              </a:rPr>
              <a:t>vào</a:t>
            </a:r>
            <a:r>
              <a:rPr lang="en-US" sz="1333" dirty="0">
                <a:latin typeface="Times New Roman" panose="02020603050405020304" pitchFamily="18" charset="0"/>
                <a:cs typeface="Times New Roman" panose="02020603050405020304" pitchFamily="18" charset="0"/>
              </a:rPr>
              <a:t> T4/2025 </a:t>
            </a:r>
            <a:r>
              <a:rPr lang="en-US" sz="1333" dirty="0" err="1">
                <a:latin typeface="Times New Roman" panose="02020603050405020304" pitchFamily="18" charset="0"/>
                <a:cs typeface="Times New Roman" panose="02020603050405020304" pitchFamily="18" charset="0"/>
              </a:rPr>
              <a:t>để</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khai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thác</a:t>
            </a:r>
            <a:r>
              <a:rPr lang="en-US" sz="1333" dirty="0">
                <a:latin typeface="Times New Roman" panose="02020603050405020304" pitchFamily="18" charset="0"/>
                <a:cs typeface="Times New Roman" panose="02020603050405020304" pitchFamily="18" charset="0"/>
              </a:rPr>
              <a:t> A868. </a:t>
            </a:r>
            <a:r>
              <a:rPr lang="en-US" sz="1333" dirty="0" err="1">
                <a:latin typeface="Times New Roman" panose="02020603050405020304" pitchFamily="18" charset="0"/>
                <a:cs typeface="Times New Roman" panose="02020603050405020304" pitchFamily="18" charset="0"/>
              </a:rPr>
              <a:t>Số</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lượng</a:t>
            </a:r>
            <a:r>
              <a:rPr lang="en-US" sz="1333" dirty="0">
                <a:latin typeface="Times New Roman" panose="02020603050405020304" pitchFamily="18" charset="0"/>
                <a:cs typeface="Times New Roman" panose="02020603050405020304" pitchFamily="18" charset="0"/>
              </a:rPr>
              <a:t> ĐCDP </a:t>
            </a:r>
            <a:r>
              <a:rPr lang="en-US" sz="1333" dirty="0" err="1">
                <a:latin typeface="Times New Roman" panose="02020603050405020304" pitchFamily="18" charset="0"/>
                <a:cs typeface="Times New Roman" panose="02020603050405020304" pitchFamily="18" charset="0"/>
              </a:rPr>
              <a:t>hiện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tại</a:t>
            </a:r>
            <a:r>
              <a:rPr lang="en-US" sz="1333" dirty="0">
                <a:latin typeface="Times New Roman" panose="02020603050405020304" pitchFamily="18" charset="0"/>
                <a:cs typeface="Times New Roman" panose="02020603050405020304" pitchFamily="18" charset="0"/>
              </a:rPr>
              <a:t> 10 (ĐC </a:t>
            </a:r>
            <a:r>
              <a:rPr lang="en-US" sz="1333" dirty="0" err="1">
                <a:latin typeface="Times New Roman" panose="02020603050405020304" pitchFamily="18" charset="0"/>
                <a:cs typeface="Times New Roman" panose="02020603050405020304" pitchFamily="18" charset="0"/>
              </a:rPr>
              <a:t>thuê</a:t>
            </a:r>
            <a:r>
              <a:rPr lang="en-US" sz="1333" dirty="0">
                <a:latin typeface="Times New Roman" panose="02020603050405020304" pitchFamily="18" charset="0"/>
                <a:cs typeface="Times New Roman" panose="02020603050405020304" pitchFamily="18" charset="0"/>
              </a:rPr>
              <a:t> 06)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1331211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xmlns=""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33</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xmlns=""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T4-T6/2025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xmlns="" id="{3AE6B01F-84E3-881B-E0A6-2DB2CB883A49}"/>
              </a:ext>
            </a:extLst>
          </p:cNvPr>
          <p:cNvGraphicFramePr>
            <a:graphicFrameLocks/>
          </p:cNvGraphicFramePr>
          <p:nvPr>
            <p:extLst/>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xmlns="" id="{6E40E499-B08B-C67F-623B-F023D733338B}"/>
              </a:ext>
            </a:extLst>
          </p:cNvPr>
          <p:cNvSpPr txBox="1"/>
          <p:nvPr/>
        </p:nvSpPr>
        <p:spPr>
          <a:xfrm>
            <a:off x="190500" y="5266487"/>
            <a:ext cx="11811000" cy="1200329"/>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err="1">
                <a:latin typeface="Times New Roman" panose="02020603050405020304" pitchFamily="18" charset="0"/>
                <a:cs typeface="Times New Roman" panose="02020603050405020304" pitchFamily="18" charset="0"/>
              </a:rPr>
              <a:t>Balde</a:t>
            </a:r>
            <a:r>
              <a:rPr lang="en-US" sz="1200">
                <a:latin typeface="Times New Roman" panose="02020603050405020304" pitchFamily="18" charset="0"/>
                <a:cs typeface="Times New Roman" panose="02020603050405020304" pitchFamily="18" charset="0"/>
              </a:rPr>
              <a:t>…</a:t>
            </a:r>
            <a:endParaRPr lang="en-US" sz="1200">
              <a:solidFill>
                <a:srgbClr val="FF0000"/>
              </a:solidFill>
              <a:latin typeface="Times New Roman" panose="02020603050405020304" pitchFamily="18" charset="0"/>
              <a:cs typeface="Times New Roman" panose="02020603050405020304" pitchFamily="18" charset="0"/>
            </a:endParaRPr>
          </a:p>
          <a:p>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phải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bổ</a:t>
            </a:r>
            <a:r>
              <a:rPr lang="en-US" sz="1200" dirty="0">
                <a:latin typeface="Times New Roman" panose="02020603050405020304" pitchFamily="18" charset="0"/>
                <a:cs typeface="Times New Roman" panose="02020603050405020304" pitchFamily="18" charset="0"/>
              </a:rPr>
              <a:t> sung 01 ĐC </a:t>
            </a:r>
            <a:r>
              <a:rPr lang="en-US" sz="1200" dirty="0" err="1">
                <a:latin typeface="Times New Roman" panose="02020603050405020304" pitchFamily="18" charset="0"/>
                <a:cs typeface="Times New Roman" panose="02020603050405020304" pitchFamily="18" charset="0"/>
              </a:rPr>
              <a:t>vào</a:t>
            </a:r>
            <a:r>
              <a:rPr lang="en-US" sz="1200" dirty="0">
                <a:latin typeface="Times New Roman" panose="02020603050405020304" pitchFamily="18" charset="0"/>
                <a:cs typeface="Times New Roman" panose="02020603050405020304" pitchFamily="18" charset="0"/>
              </a:rPr>
              <a:t> T4/2025 </a:t>
            </a:r>
            <a:r>
              <a:rPr lang="en-US" sz="1200" dirty="0" err="1">
                <a:latin typeface="Times New Roman" panose="02020603050405020304" pitchFamily="18" charset="0"/>
                <a:cs typeface="Times New Roman" panose="02020603050405020304" pitchFamily="18" charset="0"/>
              </a:rPr>
              <a:t>để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khai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thác</a:t>
            </a:r>
            <a:r>
              <a:rPr lang="en-US" sz="1200" dirty="0">
                <a:latin typeface="Times New Roman" panose="02020603050405020304" pitchFamily="18" charset="0"/>
                <a:cs typeface="Times New Roman" panose="02020603050405020304" pitchFamily="18" charset="0"/>
              </a:rPr>
              <a:t> A868. </a:t>
            </a:r>
            <a:r>
              <a:rPr lang="en-US" sz="1200" dirty="0" err="1">
                <a:latin typeface="Times New Roman" panose="02020603050405020304" pitchFamily="18" charset="0"/>
                <a:cs typeface="Times New Roman" panose="02020603050405020304" pitchFamily="18" charset="0"/>
              </a:rPr>
              <a:t>Số</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lượng</a:t>
            </a:r>
            <a:r>
              <a:rPr lang="en-US" sz="1200" dirty="0">
                <a:latin typeface="Times New Roman" panose="02020603050405020304" pitchFamily="18" charset="0"/>
                <a:cs typeface="Times New Roman" panose="02020603050405020304" pitchFamily="18" charset="0"/>
              </a:rPr>
              <a:t> ĐCDP </a:t>
            </a:r>
            <a:r>
              <a:rPr lang="en-US" sz="1200" dirty="0" err="1">
                <a:latin typeface="Times New Roman" panose="02020603050405020304" pitchFamily="18" charset="0"/>
                <a:cs typeface="Times New Roman" panose="02020603050405020304" pitchFamily="18" charset="0"/>
              </a:rPr>
              <a:t>hiện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tại</a:t>
            </a:r>
            <a:r>
              <a:rPr lang="en-US" sz="1200" dirty="0">
                <a:latin typeface="Times New Roman" panose="02020603050405020304" pitchFamily="18" charset="0"/>
                <a:cs typeface="Times New Roman" panose="02020603050405020304" pitchFamily="18" charset="0"/>
              </a:rPr>
              <a:t> 10 (ĐC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06)</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Rủi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ro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tháo</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c</a:t>
            </a:r>
            <a:r>
              <a:rPr lang="vi-VN" sz="1200" dirty="0">
                <a:solidFill>
                  <a:prstClr val="black"/>
                </a:solidFill>
                <a:latin typeface="Times New Roman" panose="02020603050405020304" pitchFamily="18" charset="0"/>
                <a:cs typeface="Times New Roman" panose="02020603050405020304" pitchFamily="18" charset="0"/>
              </a:rPr>
              <a:t>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ngoài</a:t>
            </a:r>
            <a:r>
              <a:rPr lang="en-US" sz="1200" dirty="0">
                <a:solidFill>
                  <a:prstClr val="black"/>
                </a:solidFill>
                <a:latin typeface="Times New Roman" panose="02020603050405020304" pitchFamily="18" charset="0"/>
                <a:cs typeface="Times New Roman" panose="02020603050405020304" pitchFamily="18" charset="0"/>
              </a:rPr>
              <a:t> KH do High oil consumption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A893), HPT Blade (2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100FC), IPC Blade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soi </a:t>
            </a:r>
            <a:r>
              <a:rPr lang="en-US" sz="1200" dirty="0" err="1">
                <a:solidFill>
                  <a:prstClr val="black"/>
                </a:solidFill>
                <a:latin typeface="Times New Roman" panose="02020603050405020304" pitchFamily="18" charset="0"/>
                <a:cs typeface="Times New Roman" panose="02020603050405020304" pitchFamily="18" charset="0"/>
              </a:rPr>
              <a:t>năm</a:t>
            </a:r>
            <a:r>
              <a:rPr lang="en-US" sz="1200" dirty="0">
                <a:solidFill>
                  <a:prstClr val="black"/>
                </a:solidFill>
                <a:latin typeface="Times New Roman" panose="02020603050405020304" pitchFamily="18" charset="0"/>
                <a:cs typeface="Times New Roman" panose="02020603050405020304" pitchFamily="18" charset="0"/>
              </a:rPr>
              <a:t> 2025)</a:t>
            </a:r>
            <a:endParaRPr lang="en-US" sz="1200" dirty="0">
              <a:latin typeface="Times New Roman" panose="02020603050405020304" pitchFamily="18" charset="0"/>
              <a:cs typeface="Times New Roman" panose="02020603050405020304" pitchFamily="18" charset="0"/>
            </a:endParaRP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1285899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xmlns="" id="{F732C424-6503-4AF0-A801-38325F00ECC8}"/>
              </a:ext>
            </a:extLst>
          </p:cNvPr>
          <p:cNvSpPr/>
          <p:nvPr/>
        </p:nvSpPr>
        <p:spPr>
          <a:xfrm>
            <a:off x="228600" y="6077034"/>
            <a:ext cx="11201400" cy="738664"/>
          </a:xfrm>
          <a:prstGeom prst="rect">
            <a:avLst/>
          </a:prstGeom>
          <a:solidFill>
            <a:srgbClr val="FFFF00"/>
          </a:solidFill>
          <a:ln>
            <a:solidFill>
              <a:schemeClr val="accent1"/>
            </a:solidFill>
          </a:ln>
        </p:spPr>
        <p:txBody>
          <a:bodyPr wrap="square">
            <a:spAutoFit/>
          </a:bodyPr>
          <a:lstStyle/>
          <a:p>
            <a:pPr algn="ctr"/>
            <a:r>
              <a:rPr lang="en-US" sz="1400" b="1" dirty="0"/>
              <a:t>PH</a:t>
            </a:r>
            <a:r>
              <a:rPr lang="vi-VN" sz="1400" b="1" dirty="0"/>
              <a:t>Ư</a:t>
            </a:r>
            <a:r>
              <a:rPr lang="en-US" sz="1400" b="1" dirty="0"/>
              <a:t>ƠNG ÁN GIỮ GIỜ</a:t>
            </a:r>
          </a:p>
          <a:p>
            <a:r>
              <a:rPr lang="en-US" sz="1400" dirty="0"/>
              <a:t>-</a:t>
            </a:r>
            <a:r>
              <a:rPr lang="vi-VN" sz="1400" dirty="0"/>
              <a:t>Giữ giờ động cơ P771710</a:t>
            </a:r>
            <a:r>
              <a:rPr lang="en-US" sz="1400" dirty="0"/>
              <a:t> </a:t>
            </a:r>
            <a:r>
              <a:rPr lang="en-US" sz="1400" dirty="0" err="1"/>
              <a:t>trên</a:t>
            </a:r>
            <a:r>
              <a:rPr lang="en-US" sz="1400" dirty="0"/>
              <a:t> A621</a:t>
            </a:r>
            <a:r>
              <a:rPr lang="vi-VN" sz="1400" dirty="0"/>
              <a:t> (hết hạn 05/07) và P772905 </a:t>
            </a:r>
            <a:r>
              <a:rPr lang="en-US" sz="1400" err="1"/>
              <a:t>trên</a:t>
            </a:r>
            <a:r>
              <a:rPr lang="en-US" sz="1400"/>
              <a:t> A619 </a:t>
            </a:r>
            <a:r>
              <a:rPr lang="vi-VN" sz="1400"/>
              <a:t>(</a:t>
            </a:r>
            <a:r>
              <a:rPr lang="en-US" sz="1400" dirty="0" err="1"/>
              <a:t>hết</a:t>
            </a:r>
            <a:r>
              <a:rPr lang="en-US" sz="1400" dirty="0"/>
              <a:t> </a:t>
            </a:r>
            <a:r>
              <a:rPr lang="en-US" sz="1400" dirty="0" err="1"/>
              <a:t>hạn</a:t>
            </a:r>
            <a:r>
              <a:rPr lang="en-US" sz="1400" dirty="0"/>
              <a:t> </a:t>
            </a:r>
            <a:r>
              <a:rPr lang="vi-VN" sz="1400" dirty="0"/>
              <a:t>19/07) sang sau cao điểm hè (15/8) để có thêm 1 tàu từ giữa </a:t>
            </a:r>
            <a:r>
              <a:rPr lang="vi-VN" sz="1400"/>
              <a:t>T7.</a:t>
            </a:r>
            <a:endParaRPr lang="en-US" sz="1400"/>
          </a:p>
          <a:p>
            <a:r>
              <a:rPr lang="en-US" sz="1400">
                <a:solidFill>
                  <a:srgbClr val="FF0000"/>
                </a:solidFill>
                <a:latin typeface="Times New Roman" panose="02020603050405020304" pitchFamily="18" charset="0"/>
                <a:cs typeface="Times New Roman" panose="02020603050405020304" pitchFamily="18" charset="0"/>
              </a:rPr>
              <a:t>- QLVT dự kiến đầu tháng 6 sẽ có 1 động cơ thuê từ PWEL.</a:t>
            </a:r>
            <a:endParaRPr lang="en-US" sz="1400" dirty="0"/>
          </a:p>
        </p:txBody>
      </p:sp>
      <p:graphicFrame>
        <p:nvGraphicFramePr>
          <p:cNvPr id="3" name="Chart 2">
            <a:extLst>
              <a:ext uri="{FF2B5EF4-FFF2-40B4-BE49-F238E27FC236}">
                <a16:creationId xmlns:a16="http://schemas.microsoft.com/office/drawing/2014/main" xmlns="" id="{B6D2BFDC-B8A6-1C6A-1378-381323CC21AE}"/>
              </a:ext>
            </a:extLst>
          </p:cNvPr>
          <p:cNvGraphicFramePr>
            <a:graphicFrameLocks/>
          </p:cNvGraphicFramePr>
          <p:nvPr>
            <p:extLst/>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1">
            <a:extLst>
              <a:ext uri="{FF2B5EF4-FFF2-40B4-BE49-F238E27FC236}">
                <a16:creationId xmlns:a16="http://schemas.microsoft.com/office/drawing/2014/main" xmlns="" id="{DBA8147F-0EF8-415E-A7D8-99D0ECD639ED}"/>
              </a:ext>
            </a:extLst>
          </p:cNvPr>
          <p:cNvSpPr txBox="1"/>
          <p:nvPr/>
        </p:nvSpPr>
        <p:spPr>
          <a:xfrm>
            <a:off x="1219200" y="3810000"/>
            <a:ext cx="3505182" cy="1169551"/>
          </a:xfrm>
          <a:prstGeom prst="rect">
            <a:avLst/>
          </a:prstGeom>
          <a:solidFill>
            <a:srgbClr val="FFFFCC"/>
          </a:solidFill>
          <a:ln>
            <a:solidFill>
              <a:srgbClr val="FFC000"/>
            </a:solidFill>
          </a:ln>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000" b="1">
                <a:solidFill>
                  <a:srgbClr val="FF0000"/>
                </a:solidFill>
                <a:latin typeface="+mj-lt"/>
              </a:rPr>
              <a:t>Update thay đổi:</a:t>
            </a:r>
          </a:p>
          <a:p>
            <a:pPr marL="171450" indent="-171450">
              <a:buFontTx/>
              <a:buChar char="-"/>
            </a:pPr>
            <a:r>
              <a:rPr lang="en-US" sz="1000" b="1">
                <a:solidFill>
                  <a:schemeClr val="tx1"/>
                </a:solidFill>
                <a:latin typeface="+mj-lt"/>
              </a:rPr>
              <a:t>Update 20/04: </a:t>
            </a:r>
            <a:r>
              <a:rPr lang="en-US" sz="1000">
                <a:solidFill>
                  <a:schemeClr val="tx1"/>
                </a:solidFill>
                <a:latin typeface="+mj-lt"/>
              </a:rPr>
              <a:t>nếu A621 phải thay động c</a:t>
            </a:r>
            <a:r>
              <a:rPr lang="vi-VN" sz="1000">
                <a:solidFill>
                  <a:schemeClr val="tx1"/>
                </a:solidFill>
                <a:latin typeface="+mj-lt"/>
              </a:rPr>
              <a:t>ơ</a:t>
            </a:r>
            <a:r>
              <a:rPr lang="en-US" sz="1000">
                <a:solidFill>
                  <a:schemeClr val="tx1"/>
                </a:solidFill>
                <a:latin typeface="+mj-lt"/>
              </a:rPr>
              <a:t> sẽ làm tăng 0,5 AOG vào T5, 7 &amp; 8 (thiếu 1 động c</a:t>
            </a:r>
            <a:r>
              <a:rPr lang="vi-VN" sz="1000">
                <a:solidFill>
                  <a:schemeClr val="tx1"/>
                </a:solidFill>
                <a:latin typeface="+mj-lt"/>
              </a:rPr>
              <a:t>ơ</a:t>
            </a:r>
            <a:r>
              <a:rPr lang="en-US" sz="1000">
                <a:solidFill>
                  <a:schemeClr val="tx1"/>
                </a:solidFill>
                <a:latin typeface="+mj-lt"/>
              </a:rPr>
              <a:t> và ảnh h</a:t>
            </a:r>
            <a:r>
              <a:rPr lang="vi-VN" sz="1000">
                <a:solidFill>
                  <a:schemeClr val="tx1"/>
                </a:solidFill>
                <a:latin typeface="+mj-lt"/>
              </a:rPr>
              <a:t>ư</a:t>
            </a:r>
            <a:r>
              <a:rPr lang="en-US" sz="1000">
                <a:latin typeface="+mj-lt"/>
              </a:rPr>
              <a:t>ởng đến giữ giờ). Cần tính toán sắp xếp lại KH stagger để tối </a:t>
            </a:r>
            <a:r>
              <a:rPr lang="vi-VN" sz="1000">
                <a:latin typeface="+mj-lt"/>
              </a:rPr>
              <a:t>ư</a:t>
            </a:r>
            <a:r>
              <a:rPr lang="en-US" sz="1000">
                <a:latin typeface="+mj-lt"/>
              </a:rPr>
              <a:t>u số tàu dừng.</a:t>
            </a:r>
          </a:p>
          <a:p>
            <a:pPr marL="171450" indent="-171450">
              <a:buFontTx/>
              <a:buChar char="-"/>
            </a:pPr>
            <a:r>
              <a:rPr lang="en-US" sz="1000" b="1">
                <a:solidFill>
                  <a:schemeClr val="tx1"/>
                </a:solidFill>
                <a:latin typeface="+mj-lt"/>
              </a:rPr>
              <a:t>Update 27/04: </a:t>
            </a:r>
            <a:r>
              <a:rPr lang="en-US" sz="1000">
                <a:latin typeface="+mj-lt"/>
              </a:rPr>
              <a:t>Tính thêm 1 động c</a:t>
            </a:r>
            <a:r>
              <a:rPr lang="vi-VN" sz="1000">
                <a:latin typeface="+mj-lt"/>
              </a:rPr>
              <a:t>ơ</a:t>
            </a:r>
            <a:r>
              <a:rPr lang="en-US" sz="1000">
                <a:latin typeface="+mj-lt"/>
              </a:rPr>
              <a:t> thuê của PWEL, T6, T7, T8, T10 giảm 0.5 AOG.</a:t>
            </a:r>
            <a:endParaRPr lang="en-US" sz="1000" b="1" dirty="0">
              <a:solidFill>
                <a:schemeClr val="tx1"/>
              </a:solidFill>
              <a:latin typeface="+mj-lt"/>
            </a:endParaRPr>
          </a:p>
        </p:txBody>
      </p:sp>
    </p:spTree>
    <p:extLst>
      <p:ext uri="{BB962C8B-B14F-4D97-AF65-F5344CB8AC3E}">
        <p14:creationId xmlns:p14="http://schemas.microsoft.com/office/powerpoint/2010/main" val="1019082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xmlns=""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1AC2A46E-4E4A-6339-72C3-1800A18927D9}"/>
              </a:ext>
            </a:extLst>
          </p:cNvPr>
          <p:cNvGraphicFramePr>
            <a:graphicFrameLocks noGrp="1"/>
          </p:cNvGraphicFramePr>
          <p:nvPr/>
        </p:nvGraphicFramePr>
        <p:xfrm>
          <a:off x="162461" y="1051467"/>
          <a:ext cx="11867079" cy="5206840"/>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xmlns="" val="1598605427"/>
                    </a:ext>
                  </a:extLst>
                </a:gridCol>
                <a:gridCol w="886855">
                  <a:extLst>
                    <a:ext uri="{9D8B030D-6E8A-4147-A177-3AD203B41FA5}">
                      <a16:colId xmlns:a16="http://schemas.microsoft.com/office/drawing/2014/main" xmlns="" val="3845954792"/>
                    </a:ext>
                  </a:extLst>
                </a:gridCol>
                <a:gridCol w="1170104">
                  <a:extLst>
                    <a:ext uri="{9D8B030D-6E8A-4147-A177-3AD203B41FA5}">
                      <a16:colId xmlns:a16="http://schemas.microsoft.com/office/drawing/2014/main" xmlns="" val="2148822928"/>
                    </a:ext>
                  </a:extLst>
                </a:gridCol>
                <a:gridCol w="1265823">
                  <a:extLst>
                    <a:ext uri="{9D8B030D-6E8A-4147-A177-3AD203B41FA5}">
                      <a16:colId xmlns:a16="http://schemas.microsoft.com/office/drawing/2014/main" xmlns="" val="2136763095"/>
                    </a:ext>
                  </a:extLst>
                </a:gridCol>
                <a:gridCol w="1740505">
                  <a:extLst>
                    <a:ext uri="{9D8B030D-6E8A-4147-A177-3AD203B41FA5}">
                      <a16:colId xmlns:a16="http://schemas.microsoft.com/office/drawing/2014/main" xmlns="" val="1185879436"/>
                    </a:ext>
                  </a:extLst>
                </a:gridCol>
                <a:gridCol w="2757768">
                  <a:extLst>
                    <a:ext uri="{9D8B030D-6E8A-4147-A177-3AD203B41FA5}">
                      <a16:colId xmlns:a16="http://schemas.microsoft.com/office/drawing/2014/main" xmlns="" val="3807119371"/>
                    </a:ext>
                  </a:extLst>
                </a:gridCol>
                <a:gridCol w="3571340">
                  <a:extLst>
                    <a:ext uri="{9D8B030D-6E8A-4147-A177-3AD203B41FA5}">
                      <a16:colId xmlns:a16="http://schemas.microsoft.com/office/drawing/2014/main" xmlns=""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10/05/2025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Heavy PV</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967959161"/>
                  </a:ext>
                </a:extLst>
              </a:tr>
              <a:tr h="552379">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28/04/2025</a:t>
                      </a:r>
                      <a:endParaRPr lang="en-GB" sz="1100" dirty="0">
                        <a:solidFill>
                          <a:schemeClr val="tx1"/>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Times New Roman" panose="02020603050405020304" pitchFamily="18" charset="0"/>
                          <a:cs typeface="Times New Roman" panose="02020603050405020304" pitchFamily="18" charset="0"/>
                        </a:rPr>
                        <a:t>Delay 6 ngày do transportation.</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30/04/2025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Times New Roman" panose="02020603050405020304" pitchFamily="18" charset="0"/>
                          <a:cs typeface="Times New Roman" panose="02020603050405020304" pitchFamily="18" charset="0"/>
                        </a:rPr>
                        <a:t>Delay 3 ngày do transportation</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Light PV</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23/05/2025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502614763"/>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991877321"/>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Light PV</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806751762"/>
                  </a:ext>
                </a:extLst>
              </a:tr>
              <a:tr h="52361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692465008"/>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P771079</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22/12/2025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FIV</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384518812"/>
                  </a:ext>
                </a:extLst>
              </a:tr>
            </a:tbl>
          </a:graphicData>
        </a:graphic>
      </p:graphicFrame>
      <p:sp>
        <p:nvSpPr>
          <p:cNvPr id="4" name="TextBox 3">
            <a:extLst>
              <a:ext uri="{FF2B5EF4-FFF2-40B4-BE49-F238E27FC236}">
                <a16:creationId xmlns:a16="http://schemas.microsoft.com/office/drawing/2014/main" xmlns=""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82426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xmlns=""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T4-T6/25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xmlns=""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xmlns="" id="{6F2FE8BC-4850-BD1B-EABA-12CA92CD86BA}"/>
              </a:ext>
            </a:extLst>
          </p:cNvPr>
          <p:cNvGraphicFramePr>
            <a:graphicFrameLocks noGrp="1"/>
          </p:cNvGraphicFramePr>
          <p:nvPr/>
        </p:nvGraphicFramePr>
        <p:xfrm>
          <a:off x="154061" y="912983"/>
          <a:ext cx="11864421" cy="5829436"/>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xmlns="" val="1598605427"/>
                    </a:ext>
                  </a:extLst>
                </a:gridCol>
                <a:gridCol w="1162593">
                  <a:extLst>
                    <a:ext uri="{9D8B030D-6E8A-4147-A177-3AD203B41FA5}">
                      <a16:colId xmlns:a16="http://schemas.microsoft.com/office/drawing/2014/main" xmlns="" val="3845954792"/>
                    </a:ext>
                  </a:extLst>
                </a:gridCol>
                <a:gridCol w="1190421">
                  <a:extLst>
                    <a:ext uri="{9D8B030D-6E8A-4147-A177-3AD203B41FA5}">
                      <a16:colId xmlns:a16="http://schemas.microsoft.com/office/drawing/2014/main" xmlns="" val="2148822928"/>
                    </a:ext>
                  </a:extLst>
                </a:gridCol>
                <a:gridCol w="1190421">
                  <a:extLst>
                    <a:ext uri="{9D8B030D-6E8A-4147-A177-3AD203B41FA5}">
                      <a16:colId xmlns:a16="http://schemas.microsoft.com/office/drawing/2014/main" xmlns="" val="2136763095"/>
                    </a:ext>
                  </a:extLst>
                </a:gridCol>
                <a:gridCol w="1190421">
                  <a:extLst>
                    <a:ext uri="{9D8B030D-6E8A-4147-A177-3AD203B41FA5}">
                      <a16:colId xmlns:a16="http://schemas.microsoft.com/office/drawing/2014/main" xmlns="" val="4058157000"/>
                    </a:ext>
                  </a:extLst>
                </a:gridCol>
                <a:gridCol w="1190421">
                  <a:extLst>
                    <a:ext uri="{9D8B030D-6E8A-4147-A177-3AD203B41FA5}">
                      <a16:colId xmlns:a16="http://schemas.microsoft.com/office/drawing/2014/main" xmlns="" val="1185879436"/>
                    </a:ext>
                  </a:extLst>
                </a:gridCol>
                <a:gridCol w="1190421">
                  <a:extLst>
                    <a:ext uri="{9D8B030D-6E8A-4147-A177-3AD203B41FA5}">
                      <a16:colId xmlns:a16="http://schemas.microsoft.com/office/drawing/2014/main" xmlns="" val="3807119371"/>
                    </a:ext>
                  </a:extLst>
                </a:gridCol>
                <a:gridCol w="890210">
                  <a:extLst>
                    <a:ext uri="{9D8B030D-6E8A-4147-A177-3AD203B41FA5}">
                      <a16:colId xmlns:a16="http://schemas.microsoft.com/office/drawing/2014/main" xmlns="" val="2251645117"/>
                    </a:ext>
                  </a:extLst>
                </a:gridCol>
                <a:gridCol w="3341410">
                  <a:extLst>
                    <a:ext uri="{9D8B030D-6E8A-4147-A177-3AD203B41FA5}">
                      <a16:colId xmlns:a16="http://schemas.microsoft.com/office/drawing/2014/main" xmlns="" val="3735753066"/>
                    </a:ext>
                  </a:extLst>
                </a:gridCol>
              </a:tblGrid>
              <a:tr h="47638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411773">
                <a:tc>
                  <a:txBody>
                    <a:bodyPr/>
                    <a:lstStyle/>
                    <a:p>
                      <a:pPr algn="ctr"/>
                      <a:r>
                        <a:rPr lang="en-US" sz="1200">
                          <a:solidFill>
                            <a:schemeClr val="tx1"/>
                          </a:solidFill>
                          <a:latin typeface="Times New Roman" panose="02020603050405020304" pitchFamily="18" charset="0"/>
                          <a:cs typeface="Times New Roman" panose="02020603050405020304" pitchFamily="18" charset="0"/>
                        </a:rPr>
                        <a:t>1</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28-Apr-25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584390368"/>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29-Apr-25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963539945"/>
                  </a:ext>
                </a:extLst>
              </a:tr>
              <a:tr h="411773">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3</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P771177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96778683"/>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P770910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A621#1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22-Apr-25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UER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98308730"/>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P770903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10-May-25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12-May-25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Giữ giờ</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60136682"/>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P772905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23-May-25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41868498"/>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7</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23-May-25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62485768"/>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602644935"/>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 9</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61236811"/>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10</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P771391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5-May-25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25-May-25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615520155"/>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a:t>
                      </a:r>
                      <a:r>
                        <a:rPr lang="en-GB" sz="1200" dirty="0">
                          <a:solidFill>
                            <a:schemeClr val="tx1"/>
                          </a:solidFill>
                          <a:latin typeface="Times New Roman" panose="02020603050405020304" pitchFamily="18" charset="0"/>
                          <a:cs typeface="Times New Roman" panose="02020603050405020304" pitchFamily="18" charset="0"/>
                        </a:rPr>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P771119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P771387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10-May-25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26-May-25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81110417"/>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12</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P771175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5-Jun-25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7-Jun-25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251114306"/>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13</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Lease Engine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10-Jun-25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12-Jun-25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956682958"/>
                  </a:ext>
                </a:extLst>
              </a:tr>
            </a:tbl>
          </a:graphicData>
        </a:graphic>
      </p:graphicFrame>
    </p:spTree>
    <p:extLst>
      <p:ext uri="{BB962C8B-B14F-4D97-AF65-F5344CB8AC3E}">
        <p14:creationId xmlns:p14="http://schemas.microsoft.com/office/powerpoint/2010/main" val="4109110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80AF8DC-DB52-2B80-A0CB-44CC8F1F6223}"/>
              </a:ext>
            </a:extLst>
          </p:cNvPr>
          <p:cNvSpPr>
            <a:spLocks noGrp="1"/>
          </p:cNvSpPr>
          <p:nvPr>
            <p:ph type="sldNum" idx="12"/>
          </p:nvPr>
        </p:nvSpPr>
        <p:spPr/>
        <p:txBody>
          <a:bodyPr/>
          <a:lstStyle/>
          <a:p>
            <a:fld id="{00000000-1234-1234-1234-123412341234}" type="slidenum">
              <a:rPr lang="vi" smtClean="0"/>
              <a:pPr/>
              <a:t>37</a:t>
            </a:fld>
            <a:endParaRPr lang="vi"/>
          </a:p>
        </p:txBody>
      </p:sp>
      <p:sp>
        <p:nvSpPr>
          <p:cNvPr id="4" name="TextBox 3">
            <a:extLst>
              <a:ext uri="{FF2B5EF4-FFF2-40B4-BE49-F238E27FC236}">
                <a16:creationId xmlns:a16="http://schemas.microsoft.com/office/drawing/2014/main" xmlns=""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xmlns=""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xmlns="" val="1598605427"/>
                    </a:ext>
                  </a:extLst>
                </a:gridCol>
                <a:gridCol w="701211">
                  <a:extLst>
                    <a:ext uri="{9D8B030D-6E8A-4147-A177-3AD203B41FA5}">
                      <a16:colId xmlns:a16="http://schemas.microsoft.com/office/drawing/2014/main" xmlns="" val="3845954792"/>
                    </a:ext>
                  </a:extLst>
                </a:gridCol>
                <a:gridCol w="1023768">
                  <a:extLst>
                    <a:ext uri="{9D8B030D-6E8A-4147-A177-3AD203B41FA5}">
                      <a16:colId xmlns:a16="http://schemas.microsoft.com/office/drawing/2014/main" xmlns="" val="2148822928"/>
                    </a:ext>
                  </a:extLst>
                </a:gridCol>
                <a:gridCol w="872619">
                  <a:extLst>
                    <a:ext uri="{9D8B030D-6E8A-4147-A177-3AD203B41FA5}">
                      <a16:colId xmlns:a16="http://schemas.microsoft.com/office/drawing/2014/main" xmlns="" val="1185879436"/>
                    </a:ext>
                  </a:extLst>
                </a:gridCol>
                <a:gridCol w="2310880">
                  <a:extLst>
                    <a:ext uri="{9D8B030D-6E8A-4147-A177-3AD203B41FA5}">
                      <a16:colId xmlns:a16="http://schemas.microsoft.com/office/drawing/2014/main" xmlns=""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02/05/2025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06/05/2025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09/05)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13/05/2025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25/05/2025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22/05)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17/06/2025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17/06)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14/05/2025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30/04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2"/>
                  </a:ext>
                </a:extLst>
              </a:tr>
            </a:tbl>
          </a:graphicData>
        </a:graphic>
      </p:graphicFrame>
      <p:sp>
        <p:nvSpPr>
          <p:cNvPr id="10" name="TextBox 9">
            <a:extLst>
              <a:ext uri="{FF2B5EF4-FFF2-40B4-BE49-F238E27FC236}">
                <a16:creationId xmlns:a16="http://schemas.microsoft.com/office/drawing/2014/main" xmlns=""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xmlns=""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xmlns=""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xmlns="" val="4292553957"/>
                    </a:ext>
                  </a:extLst>
                </a:gridCol>
                <a:gridCol w="835915">
                  <a:extLst>
                    <a:ext uri="{9D8B030D-6E8A-4147-A177-3AD203B41FA5}">
                      <a16:colId xmlns:a16="http://schemas.microsoft.com/office/drawing/2014/main" xmlns="" val="4057841190"/>
                    </a:ext>
                  </a:extLst>
                </a:gridCol>
                <a:gridCol w="826627">
                  <a:extLst>
                    <a:ext uri="{9D8B030D-6E8A-4147-A177-3AD203B41FA5}">
                      <a16:colId xmlns:a16="http://schemas.microsoft.com/office/drawing/2014/main" xmlns="" val="4208667331"/>
                    </a:ext>
                  </a:extLst>
                </a:gridCol>
                <a:gridCol w="1263161">
                  <a:extLst>
                    <a:ext uri="{9D8B030D-6E8A-4147-A177-3AD203B41FA5}">
                      <a16:colId xmlns:a16="http://schemas.microsoft.com/office/drawing/2014/main" xmlns="" val="4243809776"/>
                    </a:ext>
                  </a:extLst>
                </a:gridCol>
                <a:gridCol w="2745170">
                  <a:extLst>
                    <a:ext uri="{9D8B030D-6E8A-4147-A177-3AD203B41FA5}">
                      <a16:colId xmlns:a16="http://schemas.microsoft.com/office/drawing/2014/main" xmlns=""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09-11/05/2025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27-29/05/2025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25-27/06/2025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3648756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66760941"/>
                  </a:ext>
                </a:extLst>
              </a:tr>
            </a:tbl>
          </a:graphicData>
        </a:graphic>
      </p:graphicFrame>
      <p:sp>
        <p:nvSpPr>
          <p:cNvPr id="3" name="TextBox 2">
            <a:extLst>
              <a:ext uri="{FF2B5EF4-FFF2-40B4-BE49-F238E27FC236}">
                <a16:creationId xmlns:a16="http://schemas.microsoft.com/office/drawing/2014/main" xmlns=""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xmlns="" val="4292553957"/>
                    </a:ext>
                  </a:extLst>
                </a:gridCol>
                <a:gridCol w="835915">
                  <a:extLst>
                    <a:ext uri="{9D8B030D-6E8A-4147-A177-3AD203B41FA5}">
                      <a16:colId xmlns:a16="http://schemas.microsoft.com/office/drawing/2014/main" xmlns="" val="4057841190"/>
                    </a:ext>
                  </a:extLst>
                </a:gridCol>
                <a:gridCol w="826627">
                  <a:extLst>
                    <a:ext uri="{9D8B030D-6E8A-4147-A177-3AD203B41FA5}">
                      <a16:colId xmlns:a16="http://schemas.microsoft.com/office/drawing/2014/main" xmlns="" val="4208667331"/>
                    </a:ext>
                  </a:extLst>
                </a:gridCol>
                <a:gridCol w="1263161">
                  <a:extLst>
                    <a:ext uri="{9D8B030D-6E8A-4147-A177-3AD203B41FA5}">
                      <a16:colId xmlns:a16="http://schemas.microsoft.com/office/drawing/2014/main" xmlns="" val="4243809776"/>
                    </a:ext>
                  </a:extLst>
                </a:gridCol>
                <a:gridCol w="2745170">
                  <a:extLst>
                    <a:ext uri="{9D8B030D-6E8A-4147-A177-3AD203B41FA5}">
                      <a16:colId xmlns:a16="http://schemas.microsoft.com/office/drawing/2014/main" xmlns=""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55628123"/>
                  </a:ext>
                </a:extLst>
              </a:tr>
            </a:tbl>
          </a:graphicData>
        </a:graphic>
      </p:graphicFrame>
    </p:spTree>
    <p:extLst>
      <p:ext uri="{BB962C8B-B14F-4D97-AF65-F5344CB8AC3E}">
        <p14:creationId xmlns:p14="http://schemas.microsoft.com/office/powerpoint/2010/main" val="768063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78AFE3E-3844-01D3-D72D-0F4786BACA0F}"/>
              </a:ext>
            </a:extLst>
          </p:cNvPr>
          <p:cNvSpPr>
            <a:spLocks noGrp="1"/>
          </p:cNvSpPr>
          <p:nvPr>
            <p:ph type="sldNum" idx="12"/>
          </p:nvPr>
        </p:nvSpPr>
        <p:spPr/>
        <p:txBody>
          <a:bodyPr/>
          <a:lstStyle/>
          <a:p>
            <a:fld id="{00000000-1234-1234-1234-123412341234}" type="slidenum">
              <a:rPr lang="vi"/>
              <a:pPr/>
              <a:t>38</a:t>
            </a:fld>
            <a:endParaRPr lang="vi"/>
          </a:p>
        </p:txBody>
      </p:sp>
      <p:sp>
        <p:nvSpPr>
          <p:cNvPr id="3" name="Slide Number Placeholder 3">
            <a:extLst>
              <a:ext uri="{FF2B5EF4-FFF2-40B4-BE49-F238E27FC236}">
                <a16:creationId xmlns:a16="http://schemas.microsoft.com/office/drawing/2014/main" xmlns=""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38</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xmlns="" id="{C6B0DA9E-4175-8F90-5644-7AB7D854EA46}"/>
              </a:ext>
            </a:extLst>
          </p:cNvPr>
          <p:cNvGraphicFramePr/>
          <p:nvPr/>
        </p:nvGraphicFramePr>
        <p:xfrm>
          <a:off x="6867117" y="491751"/>
          <a:ext cx="5236309" cy="333713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xmlns="" id="{B830FD37-0C62-DD9A-7EAB-6CFC0D17CDB3}"/>
              </a:ext>
            </a:extLst>
          </p:cNvPr>
          <p:cNvSpPr txBox="1"/>
          <p:nvPr/>
        </p:nvSpPr>
        <p:spPr>
          <a:xfrm>
            <a:off x="88573" y="3940887"/>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a:solidFill>
                  <a:srgbClr val="ED0000"/>
                </a:solidFill>
                <a:latin typeface="Times New Roman" panose="02020603050405020304" pitchFamily="18" charset="0"/>
                <a:cs typeface="Times New Roman" panose="02020603050405020304" pitchFamily="18" charset="0"/>
              </a:rPr>
              <a:t>956533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kiến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nhận</a:t>
            </a:r>
            <a:r>
              <a:rPr lang="en-US" sz="1467" dirty="0">
                <a:solidFill>
                  <a:srgbClr val="ED0000"/>
                </a:solidFill>
                <a:latin typeface="Times New Roman" panose="02020603050405020304" pitchFamily="18" charset="0"/>
                <a:cs typeface="Times New Roman" panose="02020603050405020304" pitchFamily="18" charset="0"/>
              </a:rPr>
              <a:t> ở VN </a:t>
            </a:r>
            <a:r>
              <a:rPr lang="en-US" sz="1467" dirty="0" err="1">
                <a:solidFill>
                  <a:srgbClr val="ED0000"/>
                </a:solidFill>
                <a:latin typeface="Times New Roman" panose="02020603050405020304" pitchFamily="18" charset="0"/>
                <a:cs typeface="Times New Roman" panose="02020603050405020304" pitchFamily="18" charset="0"/>
              </a:rPr>
              <a:t>từ</a:t>
            </a:r>
            <a:r>
              <a:rPr lang="en-US" sz="1467" dirty="0">
                <a:solidFill>
                  <a:srgbClr val="ED0000"/>
                </a:solidFill>
                <a:latin typeface="Times New Roman" panose="02020603050405020304" pitchFamily="18" charset="0"/>
                <a:cs typeface="Times New Roman" panose="02020603050405020304" pitchFamily="18" charset="0"/>
              </a:rPr>
              <a:t> 09/05 (</a:t>
            </a:r>
            <a:r>
              <a:rPr lang="en-US" sz="1467" dirty="0" err="1">
                <a:solidFill>
                  <a:srgbClr val="ED0000"/>
                </a:solidFill>
                <a:latin typeface="Times New Roman" panose="02020603050405020304" pitchFamily="18" charset="0"/>
                <a:cs typeface="Times New Roman" panose="02020603050405020304" pitchFamily="18" charset="0"/>
              </a:rPr>
              <a:t>chờ</a:t>
            </a:r>
            <a:r>
              <a:rPr lang="en-US" sz="1467" dirty="0">
                <a:solidFill>
                  <a:srgbClr val="ED0000"/>
                </a:solidFill>
                <a:latin typeface="Times New Roman" panose="02020603050405020304" pitchFamily="18" charset="0"/>
                <a:cs typeface="Times New Roman" panose="02020603050405020304" pitchFamily="18" charset="0"/>
              </a:rPr>
              <a:t> QLVT </a:t>
            </a:r>
            <a:r>
              <a:rPr lang="en-US" sz="1467" dirty="0" err="1">
                <a:solidFill>
                  <a:srgbClr val="ED0000"/>
                </a:solidFill>
                <a:latin typeface="Times New Roman" panose="02020603050405020304" pitchFamily="18" charset="0"/>
                <a:cs typeface="Times New Roman" panose="02020603050405020304" pitchFamily="18" charset="0"/>
              </a:rPr>
              <a:t>thông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báo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lịch</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nhận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sớm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hơn</a:t>
            </a:r>
            <a:r>
              <a:rPr lang="en-US" sz="1467" dirty="0">
                <a:solidFill>
                  <a:srgbClr val="ED000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b="1" dirty="0">
                <a:solidFill>
                  <a:srgbClr val="ED0000"/>
                </a:solidFill>
                <a:latin typeface="Times New Roman" panose="02020603050405020304" pitchFamily="18" charset="0"/>
                <a:cs typeface="Times New Roman" panose="02020603050405020304" pitchFamily="18" charset="0"/>
              </a:rPr>
              <a:t>Remove in </a:t>
            </a:r>
            <a:r>
              <a:rPr lang="en-US" sz="1467" b="1" dirty="0">
                <a:solidFill>
                  <a:srgbClr val="ED0000"/>
                </a:solidFill>
                <a:latin typeface="Times New Roman" panose="02020603050405020304" pitchFamily="18" charset="0"/>
                <a:cs typeface="Times New Roman" panose="02020603050405020304" pitchFamily="18" charset="0"/>
              </a:rPr>
              <a:t>25</a:t>
            </a:r>
            <a:r>
              <a:rPr lang="vi-VN" sz="1467" b="1" dirty="0">
                <a:solidFill>
                  <a:srgbClr val="ED0000"/>
                </a:solidFill>
                <a:latin typeface="Times New Roman" panose="02020603050405020304" pitchFamily="18" charset="0"/>
                <a:cs typeface="Times New Roman" panose="02020603050405020304" pitchFamily="18" charset="0"/>
              </a:rPr>
              <a:t> cyc</a:t>
            </a:r>
            <a:r>
              <a:rPr lang="en-US" sz="1467" b="1" dirty="0">
                <a:solidFill>
                  <a:srgbClr val="ED0000"/>
                </a:solidFill>
                <a:latin typeface="Times New Roman" panose="02020603050405020304" pitchFamily="18" charset="0"/>
                <a:cs typeface="Times New Roman" panose="02020603050405020304" pitchFamily="18" charset="0"/>
              </a:rPr>
              <a:t>: </a:t>
            </a:r>
            <a:r>
              <a:rPr lang="vi-VN" sz="1467" b="1" dirty="0">
                <a:solidFill>
                  <a:srgbClr val="ED0000"/>
                </a:solidFill>
                <a:latin typeface="Times New Roman" panose="02020603050405020304" pitchFamily="18" charset="0"/>
                <a:cs typeface="Times New Roman" panose="02020603050405020304" pitchFamily="18" charset="0"/>
              </a:rPr>
              <a:t>956913 (A871)</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vừa</a:t>
            </a:r>
            <a:r>
              <a:rPr lang="en-US" sz="1467" b="1" dirty="0">
                <a:solidFill>
                  <a:srgbClr val="ED0000"/>
                </a:solidFill>
                <a:latin typeface="Times New Roman" panose="02020603050405020304" pitchFamily="18" charset="0"/>
                <a:cs typeface="Times New Roman" panose="02020603050405020304" pitchFamily="18" charset="0"/>
              </a:rPr>
              <a:t> soi </a:t>
            </a:r>
            <a:r>
              <a:rPr lang="en-US" sz="1467" b="1" dirty="0" err="1">
                <a:solidFill>
                  <a:srgbClr val="ED0000"/>
                </a:solidFill>
                <a:latin typeface="Times New Roman" panose="02020603050405020304" pitchFamily="18" charset="0"/>
                <a:cs typeface="Times New Roman" panose="02020603050405020304" pitchFamily="18" charset="0"/>
              </a:rPr>
              <a:t>ngày</a:t>
            </a:r>
            <a:r>
              <a:rPr lang="en-US" sz="1467" b="1" dirty="0">
                <a:solidFill>
                  <a:srgbClr val="ED0000"/>
                </a:solidFill>
                <a:latin typeface="Times New Roman" panose="02020603050405020304" pitchFamily="18" charset="0"/>
                <a:cs typeface="Times New Roman" panose="02020603050405020304" pitchFamily="18" charset="0"/>
              </a:rPr>
              <a:t> 26/04 </a:t>
            </a:r>
            <a:r>
              <a:rPr lang="en-US" sz="1467" b="1" dirty="0" err="1">
                <a:solidFill>
                  <a:srgbClr val="ED0000"/>
                </a:solidFill>
                <a:latin typeface="Times New Roman" panose="02020603050405020304" pitchFamily="18" charset="0"/>
                <a:cs typeface="Times New Roman" panose="02020603050405020304" pitchFamily="18" charset="0"/>
              </a:rPr>
              <a:t>phải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tháo</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trong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a:solidFill>
                  <a:srgbClr val="ED0000"/>
                </a:solidFill>
                <a:latin typeface="Times New Roman" panose="02020603050405020304" pitchFamily="18" charset="0"/>
                <a:cs typeface="Times New Roman" panose="02020603050405020304" pitchFamily="18" charset="0"/>
              </a:rPr>
              <a:t>25 cycle, </a:t>
            </a:r>
            <a:r>
              <a:rPr lang="en-US" sz="1467" b="1" dirty="0" err="1">
                <a:solidFill>
                  <a:srgbClr val="ED0000"/>
                </a:solidFill>
                <a:latin typeface="Times New Roman" panose="02020603050405020304" pitchFamily="18" charset="0"/>
                <a:cs typeface="Times New Roman" panose="02020603050405020304" pitchFamily="18" charset="0"/>
              </a:rPr>
              <a:t>hiện</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đang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lập</a:t>
            </a:r>
            <a:r>
              <a:rPr lang="en-US" sz="1467" b="1" dirty="0">
                <a:solidFill>
                  <a:srgbClr val="ED0000"/>
                </a:solidFill>
                <a:latin typeface="Times New Roman" panose="02020603050405020304" pitchFamily="18" charset="0"/>
                <a:cs typeface="Times New Roman" panose="02020603050405020304" pitchFamily="18" charset="0"/>
              </a:rPr>
              <a:t> KH </a:t>
            </a:r>
            <a:r>
              <a:rPr lang="en-US" sz="1467" b="1" dirty="0" err="1">
                <a:solidFill>
                  <a:srgbClr val="ED0000"/>
                </a:solidFill>
                <a:latin typeface="Times New Roman" panose="02020603050405020304" pitchFamily="18" charset="0"/>
                <a:cs typeface="Times New Roman" panose="02020603050405020304" pitchFamily="18" charset="0"/>
              </a:rPr>
              <a:t>thay</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động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cơ</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sử</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dụng</a:t>
            </a:r>
            <a:r>
              <a:rPr lang="en-US" sz="1467" b="1" dirty="0">
                <a:solidFill>
                  <a:srgbClr val="ED0000"/>
                </a:solidFill>
                <a:latin typeface="Times New Roman" panose="02020603050405020304" pitchFamily="18" charset="0"/>
                <a:cs typeface="Times New Roman" panose="02020603050405020304" pitchFamily="18" charset="0"/>
              </a:rPr>
              <a:t> ĐCDP 956533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vi-VN" sz="1467" dirty="0">
                <a:solidFill>
                  <a:schemeClr val="tx1"/>
                </a:solidFill>
                <a:latin typeface="Times New Roman" panose="02020603050405020304" pitchFamily="18" charset="0"/>
                <a:cs typeface="Times New Roman" panose="02020603050405020304" pitchFamily="18" charset="0"/>
              </a:rPr>
              <a:t>958170 (A863)</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3</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(bao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latin typeface="Times New Roman" panose="02020603050405020304" pitchFamily="18" charset="0"/>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1</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tàu</a:t>
            </a:r>
            <a:r>
              <a:rPr lang="en-US" sz="1467" dirty="0">
                <a:solidFill>
                  <a:srgbClr val="388600"/>
                </a:solidFill>
                <a:latin typeface="Times New Roman" panose="02020603050405020304" pitchFamily="18" charset="0"/>
                <a:cs typeface="Times New Roman" panose="02020603050405020304" pitchFamily="18" charset="0"/>
              </a:rPr>
              <a:t> A870 </a:t>
            </a:r>
            <a:r>
              <a:rPr lang="en-US" sz="1467" dirty="0" err="1">
                <a:solidFill>
                  <a:srgbClr val="388600"/>
                </a:solidFill>
                <a:latin typeface="Times New Roman" panose="02020603050405020304" pitchFamily="18" charset="0"/>
                <a:cs typeface="Times New Roman" panose="02020603050405020304" pitchFamily="18" charset="0"/>
              </a:rPr>
              <a:t>đã</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lắp</a:t>
            </a:r>
            <a:r>
              <a:rPr lang="en-US" sz="1467" dirty="0">
                <a:solidFill>
                  <a:srgbClr val="388600"/>
                </a:solidFill>
                <a:latin typeface="Times New Roman" panose="02020603050405020304" pitchFamily="18" charset="0"/>
                <a:cs typeface="Times New Roman" panose="02020603050405020304" pitchFamily="18" charset="0"/>
              </a:rPr>
              <a:t> 02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gốc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để</a:t>
            </a:r>
            <a:r>
              <a:rPr lang="en-US" sz="1467"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A864/956577 </a:t>
            </a:r>
            <a:r>
              <a:rPr lang="en-US" sz="1467" dirty="0" err="1">
                <a:solidFill>
                  <a:srgbClr val="388600"/>
                </a:solidFill>
                <a:latin typeface="Times New Roman" panose="02020603050405020304" pitchFamily="18" charset="0"/>
                <a:cs typeface="Times New Roman" panose="02020603050405020304" pitchFamily="18" charset="0"/>
              </a:rPr>
              <a:t>từ</a:t>
            </a:r>
            <a:r>
              <a:rPr lang="en-US" sz="1467" dirty="0">
                <a:solidFill>
                  <a:srgbClr val="388600"/>
                </a:solidFill>
                <a:latin typeface="Times New Roman" panose="02020603050405020304" pitchFamily="18" charset="0"/>
                <a:cs typeface="Times New Roman" panose="02020603050405020304" pitchFamily="18" charset="0"/>
              </a:rPr>
              <a:t> </a:t>
            </a:r>
            <a:r>
              <a:rPr lang="en-US" sz="1467" b="1" dirty="0">
                <a:solidFill>
                  <a:srgbClr val="388600"/>
                </a:solidFill>
                <a:latin typeface="Times New Roman" panose="02020603050405020304" pitchFamily="18" charset="0"/>
                <a:cs typeface="Times New Roman" panose="02020603050405020304" pitchFamily="18" charset="0"/>
              </a:rPr>
              <a:t>14/03 - 04/04/2025</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sử</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dụng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956556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ENG SWAP 956697 </a:t>
            </a:r>
            <a:r>
              <a:rPr lang="en-US" sz="1467" dirty="0" err="1">
                <a:solidFill>
                  <a:srgbClr val="388600"/>
                </a:solidFill>
                <a:latin typeface="Times New Roman" panose="02020603050405020304" pitchFamily="18" charset="0"/>
                <a:cs typeface="Times New Roman" panose="02020603050405020304" pitchFamily="18" charset="0"/>
              </a:rPr>
              <a:t>với</a:t>
            </a:r>
            <a:r>
              <a:rPr lang="en-US" sz="1467" dirty="0">
                <a:solidFill>
                  <a:srgbClr val="388600"/>
                </a:solidFill>
                <a:latin typeface="Times New Roman" panose="02020603050405020304" pitchFamily="18" charset="0"/>
                <a:cs typeface="Times New Roman" panose="02020603050405020304" pitchFamily="18" charset="0"/>
              </a:rPr>
              <a:t> A867.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a:t>
            </a:r>
            <a:r>
              <a:rPr lang="en-US" sz="1467" dirty="0">
                <a:solidFill>
                  <a:srgbClr val="3886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A868/956769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khôi</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tàu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chuyên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 </a:t>
            </a:r>
            <a:r>
              <a:rPr lang="en-US" sz="1467" b="1" dirty="0">
                <a:solidFill>
                  <a:srgbClr val="388600"/>
                </a:solidFill>
                <a:latin typeface="Times New Roman" panose="02020603050405020304" pitchFamily="18" charset="0"/>
                <a:cs typeface="Times New Roman" panose="02020603050405020304" pitchFamily="18" charset="0"/>
              </a:rPr>
              <a:t>16/04/2025 –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A867/Hoàn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 </a:t>
            </a:r>
            <a:r>
              <a:rPr lang="en-US" sz="1467" b="1" dirty="0">
                <a:solidFill>
                  <a:srgbClr val="388600"/>
                </a:solidFill>
                <a:latin typeface="Times New Roman" panose="02020603050405020304" pitchFamily="18" charset="0"/>
                <a:cs typeface="Times New Roman" panose="02020603050405020304" pitchFamily="18" charset="0"/>
              </a:rPr>
              <a:t>27/04/2025.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thực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hiện</a:t>
            </a:r>
            <a:r>
              <a:rPr lang="en-US" sz="1467" dirty="0">
                <a:solidFill>
                  <a:srgbClr val="388600"/>
                </a:solidFill>
                <a:latin typeface="Times New Roman" panose="02020603050405020304" pitchFamily="18" charset="0"/>
                <a:cs typeface="Times New Roman" panose="02020603050405020304" pitchFamily="18" charset="0"/>
              </a:rPr>
              <a:t> 02 </a:t>
            </a:r>
            <a:r>
              <a:rPr lang="en-US" sz="1467" dirty="0" err="1">
                <a:solidFill>
                  <a:srgbClr val="388600"/>
                </a:solidFill>
                <a:latin typeface="Times New Roman" panose="02020603050405020304" pitchFamily="18" charset="0"/>
                <a:cs typeface="Times New Roman" panose="02020603050405020304" pitchFamily="18" charset="0"/>
              </a:rPr>
              <a:t>lần</a:t>
            </a:r>
            <a:r>
              <a:rPr lang="en-US" sz="1467" dirty="0">
                <a:solidFill>
                  <a:srgbClr val="388600"/>
                </a:solidFill>
                <a:latin typeface="Times New Roman" panose="02020603050405020304" pitchFamily="18" charset="0"/>
                <a:cs typeface="Times New Roman" panose="02020603050405020304" pitchFamily="18" charset="0"/>
              </a:rPr>
              <a:t> ENG SWAP </a:t>
            </a:r>
            <a:r>
              <a:rPr lang="en-US" sz="1467" dirty="0" err="1">
                <a:solidFill>
                  <a:srgbClr val="388600"/>
                </a:solidFill>
                <a:latin typeface="Times New Roman" panose="02020603050405020304" pitchFamily="18" charset="0"/>
                <a:cs typeface="Times New Roman" panose="02020603050405020304" pitchFamily="18" charset="0"/>
              </a:rPr>
              <a:t>với</a:t>
            </a:r>
            <a:r>
              <a:rPr lang="en-US" sz="1467" dirty="0">
                <a:solidFill>
                  <a:srgbClr val="388600"/>
                </a:solidFill>
                <a:latin typeface="Times New Roman" panose="02020603050405020304" pitchFamily="18" charset="0"/>
                <a:cs typeface="Times New Roman" panose="02020603050405020304" pitchFamily="18" charset="0"/>
              </a:rPr>
              <a:t> A864 </a:t>
            </a:r>
            <a:r>
              <a:rPr lang="en-US" sz="1467" dirty="0" err="1">
                <a:solidFill>
                  <a:srgbClr val="388600"/>
                </a:solidFill>
                <a:latin typeface="Times New Roman" panose="02020603050405020304" pitchFamily="18" charset="0"/>
                <a:cs typeface="Times New Roman" panose="02020603050405020304" pitchFamily="18" charset="0"/>
              </a:rPr>
              <a:t>trong</a:t>
            </a:r>
            <a:r>
              <a:rPr lang="en-US" sz="1467" dirty="0">
                <a:solidFill>
                  <a:srgbClr val="388600"/>
                </a:solidFill>
                <a:latin typeface="Times New Roman" panose="02020603050405020304" pitchFamily="18" charset="0"/>
                <a:cs typeface="Times New Roman" panose="02020603050405020304" pitchFamily="18" charset="0"/>
              </a:rPr>
              <a:t> T3/2025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A861 </a:t>
            </a:r>
            <a:r>
              <a:rPr lang="en-US" sz="1467" dirty="0" err="1">
                <a:solidFill>
                  <a:srgbClr val="388600"/>
                </a:solidFill>
                <a:latin typeface="Times New Roman" panose="02020603050405020304" pitchFamily="18" charset="0"/>
                <a:cs typeface="Times New Roman" panose="02020603050405020304" pitchFamily="18" charset="0"/>
              </a:rPr>
              <a:t>trong</a:t>
            </a:r>
            <a:r>
              <a:rPr lang="en-US" sz="1467" dirty="0">
                <a:solidFill>
                  <a:srgbClr val="388600"/>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xmlns="" id="{66BC6617-EF33-BB90-B1C0-6DFD65C9FC16}"/>
              </a:ext>
            </a:extLst>
          </p:cNvPr>
          <p:cNvGraphicFramePr>
            <a:graphicFrameLocks noGrp="1"/>
          </p:cNvGraphicFramePr>
          <p:nvPr/>
        </p:nvGraphicFramePr>
        <p:xfrm>
          <a:off x="88573" y="502766"/>
          <a:ext cx="6778543" cy="3345559"/>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xmlns="" val="1598605427"/>
                    </a:ext>
                  </a:extLst>
                </a:gridCol>
                <a:gridCol w="669252">
                  <a:extLst>
                    <a:ext uri="{9D8B030D-6E8A-4147-A177-3AD203B41FA5}">
                      <a16:colId xmlns:a16="http://schemas.microsoft.com/office/drawing/2014/main" xmlns="" val="3845954792"/>
                    </a:ext>
                  </a:extLst>
                </a:gridCol>
                <a:gridCol w="924170">
                  <a:extLst>
                    <a:ext uri="{9D8B030D-6E8A-4147-A177-3AD203B41FA5}">
                      <a16:colId xmlns:a16="http://schemas.microsoft.com/office/drawing/2014/main" xmlns="" val="3803391337"/>
                    </a:ext>
                  </a:extLst>
                </a:gridCol>
                <a:gridCol w="1722414">
                  <a:extLst>
                    <a:ext uri="{9D8B030D-6E8A-4147-A177-3AD203B41FA5}">
                      <a16:colId xmlns:a16="http://schemas.microsoft.com/office/drawing/2014/main" xmlns="" val="2148822928"/>
                    </a:ext>
                  </a:extLst>
                </a:gridCol>
                <a:gridCol w="954581">
                  <a:extLst>
                    <a:ext uri="{9D8B030D-6E8A-4147-A177-3AD203B41FA5}">
                      <a16:colId xmlns:a16="http://schemas.microsoft.com/office/drawing/2014/main" xmlns="" val="1106888684"/>
                    </a:ext>
                  </a:extLst>
                </a:gridCol>
                <a:gridCol w="721013">
                  <a:extLst>
                    <a:ext uri="{9D8B030D-6E8A-4147-A177-3AD203B41FA5}">
                      <a16:colId xmlns:a16="http://schemas.microsoft.com/office/drawing/2014/main" xmlns="" val="1185879436"/>
                    </a:ext>
                  </a:extLst>
                </a:gridCol>
                <a:gridCol w="1106908">
                  <a:extLst>
                    <a:ext uri="{9D8B030D-6E8A-4147-A177-3AD203B41FA5}">
                      <a16:colId xmlns:a16="http://schemas.microsoft.com/office/drawing/2014/main" xmlns="" val="558551088"/>
                    </a:ext>
                  </a:extLst>
                </a:gridCol>
              </a:tblGrid>
              <a:tr h="42487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234812354"/>
                  </a:ext>
                </a:extLst>
              </a:tr>
              <a:tr h="203288">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2610276437"/>
                  </a:ext>
                </a:extLst>
              </a:tr>
              <a:tr h="215910">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3393248472"/>
                  </a:ext>
                </a:extLst>
              </a:tr>
              <a:tr h="396015">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24/04/2025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09/05/2025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rgbClr val="C00000"/>
                          </a:solidFill>
                          <a:effectLst/>
                          <a:latin typeface="+mn-lt"/>
                          <a:cs typeface="Times New Roman" panose="02020603050405020304" pitchFamily="18" charset="0"/>
                        </a:rPr>
                        <a:t>A871</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880068930"/>
                  </a:ext>
                </a:extLst>
              </a:tr>
              <a:tr h="393375">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28/05/2025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04/06/2025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dirty="0">
                        <a:solidFill>
                          <a:srgbClr val="BA0000"/>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ED0000"/>
                          </a:solidFill>
                          <a:effectLst/>
                          <a:latin typeface="+mn-lt"/>
                          <a:cs typeface="Times New Roman" panose="02020603050405020304" pitchFamily="18" charset="0"/>
                        </a:rPr>
                        <a:t>A863 (</a:t>
                      </a:r>
                      <a:r>
                        <a:rPr lang="en-US" sz="1200" b="0" i="0" u="none" strike="noStrike" dirty="0" err="1">
                          <a:solidFill>
                            <a:srgbClr val="ED0000"/>
                          </a:solidFill>
                          <a:effectLst/>
                          <a:latin typeface="+mn-lt"/>
                          <a:cs typeface="Times New Roman" panose="02020603050405020304" pitchFamily="18" charset="0"/>
                        </a:rPr>
                        <a:t>Dự</a:t>
                      </a:r>
                      <a:r>
                        <a:rPr lang="en-US" sz="1200" b="0" i="0" u="none" strike="noStrike" dirty="0">
                          <a:solidFill>
                            <a:srgbClr val="ED0000"/>
                          </a:solidFill>
                          <a:effectLst/>
                          <a:latin typeface="+mn-lt"/>
                          <a:cs typeface="Times New Roman" panose="02020603050405020304" pitchFamily="18" charset="0"/>
                        </a:rPr>
                        <a:t> </a:t>
                      </a:r>
                      <a:r>
                        <a:rPr lang="en-US" sz="1200" b="0" i="0" u="none" strike="noStrike" dirty="0" err="1">
                          <a:solidFill>
                            <a:srgbClr val="ED0000"/>
                          </a:solidFill>
                          <a:effectLst/>
                          <a:latin typeface="+mn-lt"/>
                          <a:cs typeface="Times New Roman" panose="02020603050405020304" pitchFamily="18" charset="0"/>
                        </a:rPr>
                        <a:t>kiến</a:t>
                      </a:r>
                      <a:r>
                        <a:rPr lang="en-US" sz="1200" b="0" i="0" u="none" strike="noStrike" dirty="0">
                          <a:solidFill>
                            <a:srgbClr val="ED0000"/>
                          </a:solidFill>
                          <a:effectLst/>
                          <a:latin typeface="+mn-lt"/>
                          <a:cs typeface="Times New Roman" panose="02020603050405020304" pitchFamily="18" charset="0"/>
                        </a:rPr>
                        <a:t>)</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408617102"/>
                  </a:ext>
                </a:extLst>
              </a:tr>
              <a:tr h="42487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07/06/2025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a:solidFill>
                            <a:srgbClr val="C00000"/>
                          </a:solidFill>
                          <a:effectLst/>
                          <a:latin typeface="+mn-lt"/>
                          <a:cs typeface="Times New Roman" panose="02020603050405020304" pitchFamily="18" charset="0"/>
                        </a:rPr>
                        <a:t>15/06/2025</a:t>
                      </a:r>
                      <a:endParaRPr lang="en-US" sz="1200" b="1" i="0" u="none" strike="noStrike" dirty="0">
                        <a:solidFill>
                          <a:srgbClr val="C0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168631574"/>
                  </a:ext>
                </a:extLst>
              </a:tr>
              <a:tr h="42487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13/07/2025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3167051134"/>
                  </a:ext>
                </a:extLst>
              </a:tr>
              <a:tr h="237753">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2980115374"/>
                  </a:ext>
                </a:extLst>
              </a:tr>
              <a:tr h="14850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1090409908"/>
                  </a:ext>
                </a:extLst>
              </a:tr>
              <a:tr h="209446">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xmlns="" val="764472465"/>
                  </a:ext>
                </a:extLst>
              </a:tr>
              <a:tr h="219567">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49697906"/>
                  </a:ext>
                </a:extLst>
              </a:tr>
            </a:tbl>
          </a:graphicData>
        </a:graphic>
      </p:graphicFrame>
      <p:sp>
        <p:nvSpPr>
          <p:cNvPr id="7" name="TextBox 6">
            <a:extLst>
              <a:ext uri="{FF2B5EF4-FFF2-40B4-BE49-F238E27FC236}">
                <a16:creationId xmlns:a16="http://schemas.microsoft.com/office/drawing/2014/main" xmlns=""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7420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39</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xmlns=""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39</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xmlns=""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9BAFF210-6A48-BE4D-D3F6-9B8EEEA5040F}"/>
              </a:ext>
            </a:extLst>
          </p:cNvPr>
          <p:cNvGraphicFramePr>
            <a:graphicFrameLocks noGrp="1"/>
          </p:cNvGraphicFramePr>
          <p:nvPr>
            <p:extLst/>
          </p:nvPr>
        </p:nvGraphicFramePr>
        <p:xfrm>
          <a:off x="59590" y="875397"/>
          <a:ext cx="5905159" cy="4198620"/>
        </p:xfrm>
        <a:graphic>
          <a:graphicData uri="http://schemas.openxmlformats.org/drawingml/2006/table">
            <a:tbl>
              <a:tblPr firstRow="1" bandRow="1">
                <a:tableStyleId>{5C22544A-7EE6-4342-B048-85BDC9FD1C3A}</a:tableStyleId>
              </a:tblPr>
              <a:tblGrid>
                <a:gridCol w="854810">
                  <a:extLst>
                    <a:ext uri="{9D8B030D-6E8A-4147-A177-3AD203B41FA5}">
                      <a16:colId xmlns:a16="http://schemas.microsoft.com/office/drawing/2014/main" xmlns="" val="1930757539"/>
                    </a:ext>
                  </a:extLst>
                </a:gridCol>
                <a:gridCol w="762000">
                  <a:extLst>
                    <a:ext uri="{9D8B030D-6E8A-4147-A177-3AD203B41FA5}">
                      <a16:colId xmlns:a16="http://schemas.microsoft.com/office/drawing/2014/main" xmlns="" val="1674463010"/>
                    </a:ext>
                  </a:extLst>
                </a:gridCol>
                <a:gridCol w="838200">
                  <a:extLst>
                    <a:ext uri="{9D8B030D-6E8A-4147-A177-3AD203B41FA5}">
                      <a16:colId xmlns:a16="http://schemas.microsoft.com/office/drawing/2014/main" xmlns="" val="1549944897"/>
                    </a:ext>
                  </a:extLst>
                </a:gridCol>
                <a:gridCol w="1752600">
                  <a:extLst>
                    <a:ext uri="{9D8B030D-6E8A-4147-A177-3AD203B41FA5}">
                      <a16:colId xmlns:a16="http://schemas.microsoft.com/office/drawing/2014/main" xmlns="" val="3687717734"/>
                    </a:ext>
                  </a:extLst>
                </a:gridCol>
                <a:gridCol w="1697549">
                  <a:extLst>
                    <a:ext uri="{9D8B030D-6E8A-4147-A177-3AD203B41FA5}">
                      <a16:colId xmlns:a16="http://schemas.microsoft.com/office/drawing/2014/main" xmlns="" val="4100307886"/>
                    </a:ext>
                  </a:extLst>
                </a:gridCol>
              </a:tblGrid>
              <a:tr h="26863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Induct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564138">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08/04/</a:t>
                      </a:r>
                      <a:r>
                        <a:rPr lang="vi-VN" sz="1200" b="0">
                          <a:solidFill>
                            <a:schemeClr val="tx1"/>
                          </a:solidFill>
                          <a:latin typeface="Times New Roman" panose="02020603050405020304" pitchFamily="18" charset="0"/>
                          <a:cs typeface="Times New Roman" panose="02020603050405020304" pitchFamily="18" charset="0"/>
                        </a:rPr>
                        <a:t>25</a:t>
                      </a:r>
                      <a:endParaRPr lang="en-US" sz="1200" b="0">
                        <a:solidFill>
                          <a:schemeClr val="tx1"/>
                        </a:solidFill>
                        <a:latin typeface="Times New Roman" panose="02020603050405020304" pitchFamily="18" charset="0"/>
                        <a:cs typeface="Times New Roman" panose="02020603050405020304" pitchFamily="18" charset="0"/>
                      </a:endParaRPr>
                    </a:p>
                    <a:p>
                      <a:r>
                        <a:rPr lang="en-US" sz="1100" b="0" i="0">
                          <a:solidFill>
                            <a:schemeClr val="tx1"/>
                          </a:solidFill>
                          <a:latin typeface="Times New Roman" panose="02020603050405020304" pitchFamily="18" charset="0"/>
                          <a:cs typeface="Times New Roman" panose="02020603050405020304" pitchFamily="18" charset="0"/>
                        </a:rPr>
                        <a:t>(Delay 37 ngày vs KH gốc)</a:t>
                      </a:r>
                      <a:endParaRPr lang="en-US" sz="1100" b="0" i="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27/04/</a:t>
                      </a:r>
                      <a:r>
                        <a:rPr lang="vi-VN" sz="1200" b="1" dirty="0">
                          <a:solidFill>
                            <a:srgbClr val="FF0000"/>
                          </a:solidFill>
                          <a:latin typeface="Times New Roman" panose="02020603050405020304" pitchFamily="18" charset="0"/>
                          <a:cs typeface="Times New Roman" panose="02020603050405020304" pitchFamily="18" charset="0"/>
                        </a:rPr>
                        <a:t>25</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đã</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về</a:t>
                      </a:r>
                      <a:r>
                        <a:rPr lang="en-US" sz="1200" b="1" dirty="0">
                          <a:solidFill>
                            <a:srgbClr val="FF0000"/>
                          </a:solidFill>
                          <a:latin typeface="Times New Roman" panose="02020603050405020304" pitchFamily="18" charset="0"/>
                          <a:cs typeface="Times New Roman" panose="02020603050405020304" pitchFamily="18" charset="0"/>
                        </a:rPr>
                        <a:t> SGN</a:t>
                      </a:r>
                    </a:p>
                  </a:txBody>
                  <a:tcPr marL="121920" marR="121920" marT="60960" marB="60960" anchor="ctr"/>
                </a:tc>
                <a:extLst>
                  <a:ext uri="{0D108BD9-81ED-4DB2-BD59-A6C34878D82A}">
                    <a16:rowId xmlns:a16="http://schemas.microsoft.com/office/drawing/2014/main" xmlns="" val="2082573017"/>
                  </a:ext>
                </a:extLst>
              </a:tr>
              <a:tr h="409672">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28/06/25</a:t>
                      </a:r>
                    </a:p>
                    <a:p>
                      <a:r>
                        <a:rPr lang="en-US" sz="1050" b="1" dirty="0">
                          <a:solidFill>
                            <a:srgbClr val="FF0000"/>
                          </a:solidFill>
                          <a:latin typeface="Times New Roman" panose="02020603050405020304" pitchFamily="18" charset="0"/>
                          <a:cs typeface="Times New Roman" panose="02020603050405020304" pitchFamily="18" charset="0"/>
                        </a:rPr>
                        <a:t>(+28 </a:t>
                      </a:r>
                      <a:r>
                        <a:rPr lang="en-US" sz="1050" b="1" dirty="0" err="1">
                          <a:solidFill>
                            <a:srgbClr val="FF0000"/>
                          </a:solidFill>
                          <a:latin typeface="Times New Roman" panose="02020603050405020304" pitchFamily="18" charset="0"/>
                          <a:cs typeface="Times New Roman" panose="02020603050405020304" pitchFamily="18" charset="0"/>
                        </a:rPr>
                        <a:t>ngày</a:t>
                      </a:r>
                      <a:r>
                        <a:rPr lang="en-US" sz="1050" b="1" dirty="0">
                          <a:solidFill>
                            <a:srgbClr val="FF0000"/>
                          </a:solidFill>
                          <a:latin typeface="Times New Roman" panose="02020603050405020304" pitchFamily="18" charset="0"/>
                          <a:cs typeface="Times New Roman" panose="02020603050405020304" pitchFamily="18" charset="0"/>
                        </a:rPr>
                        <a:t> so </a:t>
                      </a:r>
                      <a:r>
                        <a:rPr lang="en-US" sz="1050" b="1" dirty="0" err="1">
                          <a:solidFill>
                            <a:srgbClr val="FF0000"/>
                          </a:solidFill>
                          <a:latin typeface="Times New Roman" panose="02020603050405020304" pitchFamily="18" charset="0"/>
                          <a:cs typeface="Times New Roman" panose="02020603050405020304" pitchFamily="18" charset="0"/>
                        </a:rPr>
                        <a:t>với</a:t>
                      </a:r>
                      <a:r>
                        <a:rPr lang="en-US" sz="1050" b="1" dirty="0">
                          <a:solidFill>
                            <a:srgbClr val="FF0000"/>
                          </a:solidFill>
                          <a:latin typeface="Times New Roman" panose="02020603050405020304" pitchFamily="18" charset="0"/>
                          <a:cs typeface="Times New Roman" panose="02020603050405020304" pitchFamily="18" charset="0"/>
                        </a:rPr>
                        <a:t> KH </a:t>
                      </a:r>
                      <a:r>
                        <a:rPr lang="en-US" sz="1050" b="1" dirty="0" err="1">
                          <a:solidFill>
                            <a:srgbClr val="FF0000"/>
                          </a:solidFill>
                          <a:latin typeface="Times New Roman" panose="02020603050405020304" pitchFamily="18" charset="0"/>
                          <a:cs typeface="Times New Roman" panose="02020603050405020304" pitchFamily="18" charset="0"/>
                        </a:rPr>
                        <a:t>gốc</a:t>
                      </a:r>
                      <a:r>
                        <a:rPr lang="en-US" sz="1050" b="1" dirty="0">
                          <a:solidFill>
                            <a:srgbClr val="FF0000"/>
                          </a:solidFill>
                          <a:latin typeface="Times New Roman" panose="02020603050405020304" pitchFamily="18" charset="0"/>
                          <a:cs typeface="Times New Roman" panose="02020603050405020304" pitchFamily="18" charset="0"/>
                        </a:rPr>
                        <a:t>)</a:t>
                      </a: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08/07/25</a:t>
                      </a:r>
                    </a:p>
                  </a:txBody>
                  <a:tcPr marL="121920" marR="121920" marT="60960" marB="60960" anchor="ctr"/>
                </a:tc>
                <a:extLst>
                  <a:ext uri="{0D108BD9-81ED-4DB2-BD59-A6C34878D82A}">
                    <a16:rowId xmlns:a16="http://schemas.microsoft.com/office/drawing/2014/main" xmlns="" val="83465224"/>
                  </a:ext>
                </a:extLst>
              </a:tr>
              <a:tr h="416388">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20/06/25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Times New Roman" panose="02020603050405020304" pitchFamily="18" charset="0"/>
                          <a:cs typeface="Times New Roman" panose="02020603050405020304" pitchFamily="18" charset="0"/>
                        </a:rPr>
                        <a:t>(+7 </a:t>
                      </a:r>
                      <a:r>
                        <a:rPr lang="en-US" sz="1100" b="0" dirty="0" err="1">
                          <a:solidFill>
                            <a:schemeClr val="tx1"/>
                          </a:solidFill>
                          <a:latin typeface="Times New Roman" panose="02020603050405020304" pitchFamily="18" charset="0"/>
                          <a:cs typeface="Times New Roman" panose="02020603050405020304" pitchFamily="18" charset="0"/>
                        </a:rPr>
                        <a:t>ngày</a:t>
                      </a:r>
                      <a:r>
                        <a:rPr lang="en-US" sz="1100" b="0" dirty="0">
                          <a:solidFill>
                            <a:schemeClr val="tx1"/>
                          </a:solidFill>
                          <a:latin typeface="Times New Roman" panose="02020603050405020304" pitchFamily="18" charset="0"/>
                          <a:cs typeface="Times New Roman" panose="02020603050405020304" pitchFamily="18" charset="0"/>
                        </a:rPr>
                        <a:t> so </a:t>
                      </a:r>
                      <a:r>
                        <a:rPr lang="en-US" sz="1100" b="0" dirty="0" err="1">
                          <a:solidFill>
                            <a:schemeClr val="tx1"/>
                          </a:solidFill>
                          <a:latin typeface="Times New Roman" panose="02020603050405020304" pitchFamily="18" charset="0"/>
                          <a:cs typeface="Times New Roman" panose="02020603050405020304" pitchFamily="18" charset="0"/>
                        </a:rPr>
                        <a:t>với</a:t>
                      </a:r>
                      <a:r>
                        <a:rPr lang="en-US" sz="1100" b="0" dirty="0">
                          <a:solidFill>
                            <a:schemeClr val="tx1"/>
                          </a:solidFill>
                          <a:latin typeface="Times New Roman" panose="02020603050405020304" pitchFamily="18" charset="0"/>
                          <a:cs typeface="Times New Roman" panose="02020603050405020304" pitchFamily="18" charset="0"/>
                        </a:rPr>
                        <a:t> KH </a:t>
                      </a:r>
                      <a:r>
                        <a:rPr lang="en-US" sz="1100" b="0" dirty="0" err="1">
                          <a:solidFill>
                            <a:schemeClr val="tx1"/>
                          </a:solidFill>
                          <a:latin typeface="Times New Roman" panose="02020603050405020304" pitchFamily="18" charset="0"/>
                          <a:cs typeface="Times New Roman" panose="02020603050405020304" pitchFamily="18" charset="0"/>
                        </a:rPr>
                        <a:t>gốc</a:t>
                      </a:r>
                      <a:r>
                        <a:rPr lang="en-US" sz="1100" b="0" dirty="0">
                          <a:solidFill>
                            <a:schemeClr val="tx1"/>
                          </a:solidFill>
                          <a:latin typeface="Times New Roman" panose="02020603050405020304" pitchFamily="18" charset="0"/>
                          <a:cs typeface="Times New Roman" panose="02020603050405020304" pitchFamily="18" charset="0"/>
                        </a:rPr>
                        <a:t>)</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733553736"/>
                  </a:ext>
                </a:extLst>
              </a:tr>
              <a:tr h="429820">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28/12/24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17/04/25</a:t>
                      </a:r>
                    </a:p>
                  </a:txBody>
                  <a:tcPr marL="121920" marR="121920" marT="60960" marB="60960" anchor="ctr"/>
                </a:tc>
                <a:tc>
                  <a:txBody>
                    <a:bodyPr/>
                    <a:lstStyle/>
                    <a:p>
                      <a:r>
                        <a:rPr lang="en-US" sz="1200" b="1" dirty="0">
                          <a:solidFill>
                            <a:srgbClr val="FF0000"/>
                          </a:solidFill>
                          <a:latin typeface="Times New Roman" panose="02020603050405020304" pitchFamily="18" charset="0"/>
                          <a:cs typeface="Times New Roman" panose="02020603050405020304" pitchFamily="18" charset="0"/>
                        </a:rPr>
                        <a:t>15/05/25 (</a:t>
                      </a:r>
                      <a:r>
                        <a:rPr lang="en-US" sz="1200" b="1" dirty="0" err="1">
                          <a:solidFill>
                            <a:srgbClr val="FF0000"/>
                          </a:solidFill>
                          <a:latin typeface="Times New Roman" panose="02020603050405020304" pitchFamily="18" charset="0"/>
                          <a:cs typeface="Times New Roman" panose="02020603050405020304" pitchFamily="18" charset="0"/>
                        </a:rPr>
                        <a:t>cần</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chuyển</a:t>
                      </a:r>
                      <a:r>
                        <a:rPr lang="en-US" sz="1200" b="1" dirty="0">
                          <a:solidFill>
                            <a:srgbClr val="FF0000"/>
                          </a:solidFill>
                          <a:latin typeface="Times New Roman" panose="02020603050405020304" pitchFamily="18" charset="0"/>
                          <a:cs typeface="Times New Roman" panose="02020603050405020304" pitchFamily="18" charset="0"/>
                        </a:rPr>
                        <a:t> stand +10 </a:t>
                      </a:r>
                      <a:r>
                        <a:rPr lang="en-US" sz="1200" b="1" dirty="0" err="1">
                          <a:solidFill>
                            <a:srgbClr val="FF0000"/>
                          </a:solidFill>
                          <a:latin typeface="Times New Roman" panose="02020603050405020304" pitchFamily="18" charset="0"/>
                          <a:cs typeface="Times New Roman" panose="02020603050405020304" pitchFamily="18" charset="0"/>
                        </a:rPr>
                        <a:t>ngày</a:t>
                      </a:r>
                      <a:r>
                        <a:rPr lang="en-US" sz="1200" b="1" dirty="0">
                          <a:solidFill>
                            <a:srgbClr val="FF0000"/>
                          </a:solidFill>
                          <a:latin typeface="Times New Roman" panose="02020603050405020304" pitchFamily="18" charset="0"/>
                          <a:cs typeface="Times New Roman" panose="02020603050405020304" pitchFamily="18" charset="0"/>
                        </a:rPr>
                        <a:t>)</a:t>
                      </a:r>
                    </a:p>
                  </a:txBody>
                  <a:tcPr marL="121920" marR="121920" marT="60960" marB="60960" anchor="ctr"/>
                </a:tc>
                <a:extLst>
                  <a:ext uri="{0D108BD9-81ED-4DB2-BD59-A6C34878D82A}">
                    <a16:rowId xmlns:a16="http://schemas.microsoft.com/office/drawing/2014/main" xmlns="" val="727372545"/>
                  </a:ext>
                </a:extLst>
              </a:tr>
              <a:tr h="268637">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23/05/25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xmlns="" val="829074625"/>
                  </a:ext>
                </a:extLst>
              </a:tr>
              <a:tr h="268637">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07/06/25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xmlns="" val="3135666374"/>
                  </a:ext>
                </a:extLst>
              </a:tr>
              <a:tr h="268637">
                <a:tc>
                  <a:txBody>
                    <a:bodyPr/>
                    <a:lstStyle/>
                    <a:p>
                      <a:r>
                        <a:rPr lang="en-US" sz="1200" b="1">
                          <a:latin typeface="Times New Roman" panose="02020603050405020304" pitchFamily="18" charset="0"/>
                          <a:cs typeface="Times New Roman" panose="02020603050405020304" pitchFamily="18" charset="0"/>
                        </a:rPr>
                        <a:t>21414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19/03/25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17/07/25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587742417"/>
                  </a:ext>
                </a:extLst>
              </a:tr>
              <a:tr h="268637">
                <a:tc>
                  <a:txBody>
                    <a:bodyPr/>
                    <a:lstStyle/>
                    <a:p>
                      <a:r>
                        <a:rPr lang="en-US" sz="1200" b="1">
                          <a:latin typeface="Times New Roman" panose="02020603050405020304" pitchFamily="18" charset="0"/>
                          <a:cs typeface="Times New Roman" panose="02020603050405020304" pitchFamily="18" charset="0"/>
                        </a:rPr>
                        <a:t>21604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31/03/25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06/08/25</a:t>
                      </a:r>
                    </a:p>
                  </a:txBody>
                  <a:tcPr marL="121920" marR="121920" marT="60960" marB="60960" anchor="ctr"/>
                </a:tc>
                <a:extLst>
                  <a:ext uri="{0D108BD9-81ED-4DB2-BD59-A6C34878D82A}">
                    <a16:rowId xmlns:a16="http://schemas.microsoft.com/office/drawing/2014/main" xmlns="" val="4034618264"/>
                  </a:ext>
                </a:extLst>
              </a:tr>
              <a:tr h="268637">
                <a:tc>
                  <a:txBody>
                    <a:bodyPr/>
                    <a:lstStyle/>
                    <a:p>
                      <a:r>
                        <a:rPr lang="en-US" sz="1200" b="1" dirty="0">
                          <a:latin typeface="Times New Roman" panose="02020603050405020304" pitchFamily="18" charset="0"/>
                          <a:cs typeface="Times New Roman" panose="02020603050405020304" pitchFamily="18" charset="0"/>
                        </a:rPr>
                        <a:t>21048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N3</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22/04/25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29/10/25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09/11/25</a:t>
                      </a:r>
                    </a:p>
                  </a:txBody>
                  <a:tcPr marL="121920" marR="121920" marT="60960" marB="60960" anchor="ctr"/>
                </a:tc>
                <a:extLst>
                  <a:ext uri="{0D108BD9-81ED-4DB2-BD59-A6C34878D82A}">
                    <a16:rowId xmlns:a16="http://schemas.microsoft.com/office/drawing/2014/main" xmlns="" val="4245775366"/>
                  </a:ext>
                </a:extLst>
              </a:tr>
              <a:tr h="268637">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11/04/25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25/06/25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05/07/25</a:t>
                      </a:r>
                    </a:p>
                  </a:txBody>
                  <a:tcPr marL="121920" marR="121920" marT="60960" marB="60960" anchor="ctr"/>
                </a:tc>
                <a:extLst>
                  <a:ext uri="{0D108BD9-81ED-4DB2-BD59-A6C34878D82A}">
                    <a16:rowId xmlns:a16="http://schemas.microsoft.com/office/drawing/2014/main" xmlns="" val="2430177177"/>
                  </a:ext>
                </a:extLst>
              </a:tr>
            </a:tbl>
          </a:graphicData>
        </a:graphic>
      </p:graphicFrame>
      <p:graphicFrame>
        <p:nvGraphicFramePr>
          <p:cNvPr id="6" name="Table 5">
            <a:extLst>
              <a:ext uri="{FF2B5EF4-FFF2-40B4-BE49-F238E27FC236}">
                <a16:creationId xmlns:a16="http://schemas.microsoft.com/office/drawing/2014/main" xmlns="" id="{7BFB9EC9-2DB3-4DC1-4221-D1E337486ABA}"/>
              </a:ext>
            </a:extLst>
          </p:cNvPr>
          <p:cNvGraphicFramePr>
            <a:graphicFrameLocks noGrp="1"/>
          </p:cNvGraphicFramePr>
          <p:nvPr>
            <p:extLst/>
          </p:nvPr>
        </p:nvGraphicFramePr>
        <p:xfrm>
          <a:off x="37732" y="5525403"/>
          <a:ext cx="5879459" cy="9144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xmlns="" val="1930757539"/>
                    </a:ext>
                  </a:extLst>
                </a:gridCol>
                <a:gridCol w="1042096">
                  <a:extLst>
                    <a:ext uri="{9D8B030D-6E8A-4147-A177-3AD203B41FA5}">
                      <a16:colId xmlns:a16="http://schemas.microsoft.com/office/drawing/2014/main" xmlns="" val="1674463010"/>
                    </a:ext>
                  </a:extLst>
                </a:gridCol>
                <a:gridCol w="1823000">
                  <a:extLst>
                    <a:ext uri="{9D8B030D-6E8A-4147-A177-3AD203B41FA5}">
                      <a16:colId xmlns:a16="http://schemas.microsoft.com/office/drawing/2014/main" xmlns="" val="1549944897"/>
                    </a:ext>
                  </a:extLst>
                </a:gridCol>
                <a:gridCol w="2022835">
                  <a:extLst>
                    <a:ext uri="{9D8B030D-6E8A-4147-A177-3AD203B41FA5}">
                      <a16:colId xmlns:a16="http://schemas.microsoft.com/office/drawing/2014/main" xmlns="" val="3366431274"/>
                    </a:ext>
                  </a:extLst>
                </a:gridCol>
              </a:tblGrid>
              <a:tr h="285257">
                <a:tc>
                  <a:txBody>
                    <a:bodyPr/>
                    <a:lstStyle/>
                    <a:p>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xmlns="" val="1532058823"/>
                  </a:ext>
                </a:extLst>
              </a:tr>
              <a:tr h="17828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30/09/2025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4282079846"/>
                  </a:ext>
                </a:extLst>
              </a:tr>
              <a:tr h="17828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xmlns="" val="4001673644"/>
                  </a:ext>
                </a:extLst>
              </a:tr>
            </a:tbl>
          </a:graphicData>
        </a:graphic>
      </p:graphicFrame>
      <p:sp>
        <p:nvSpPr>
          <p:cNvPr id="7" name="TextBox 6">
            <a:extLst>
              <a:ext uri="{FF2B5EF4-FFF2-40B4-BE49-F238E27FC236}">
                <a16:creationId xmlns:a16="http://schemas.microsoft.com/office/drawing/2014/main" xmlns=""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đang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trong</a:t>
            </a:r>
            <a:r>
              <a:rPr lang="en-GB" sz="2133" b="1" dirty="0">
                <a:solidFill>
                  <a:srgbClr val="002060"/>
                </a:solidFill>
                <a:latin typeface="Times New Roman" panose="02020603050405020304" pitchFamily="18" charset="0"/>
                <a:cs typeface="Times New Roman" panose="02020603050405020304" pitchFamily="18" charset="0"/>
              </a:rPr>
              <a:t> shop (10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c</a:t>
            </a:r>
            <a:r>
              <a:rPr lang="en-US" sz="2133" b="1" dirty="0">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19C2447A-358B-03A9-2203-B477C2215D4C}"/>
              </a:ext>
            </a:extLst>
          </p:cNvPr>
          <p:cNvSpPr txBox="1"/>
          <p:nvPr/>
        </p:nvSpPr>
        <p:spPr>
          <a:xfrm>
            <a:off x="108234" y="5132524"/>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dirty="0">
                <a:solidFill>
                  <a:srgbClr val="002060"/>
                </a:solidFill>
                <a:latin typeface="Times New Roman" panose="02020603050405020304" pitchFamily="18" charset="0"/>
                <a:cs typeface="Times New Roman" panose="02020603050405020304" pitchFamily="18" charset="0"/>
              </a:rPr>
              <a:t>(02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xmlns="" id="{E1A7F173-F863-E486-EAEF-8B51EDF0DABA}"/>
              </a:ext>
            </a:extLst>
          </p:cNvPr>
          <p:cNvSpPr txBox="1"/>
          <p:nvPr/>
        </p:nvSpPr>
        <p:spPr>
          <a:xfrm>
            <a:off x="6351845" y="3900110"/>
            <a:ext cx="5167083" cy="461665"/>
          </a:xfrm>
          <a:prstGeom prst="rect">
            <a:avLst/>
          </a:prstGeom>
          <a:noFill/>
        </p:spPr>
        <p:txBody>
          <a:bodyPr wrap="square" rtlCol="0">
            <a:spAutoFit/>
          </a:bodyPr>
          <a:lstStyle/>
          <a:p>
            <a:pPr algn="ctr" defTabSz="1219170">
              <a:defRPr/>
            </a:pPr>
            <a:r>
              <a:rPr lang="en-US" sz="2400" b="1" dirty="0" err="1">
                <a:solidFill>
                  <a:srgbClr val="002060"/>
                </a:solidFill>
                <a:latin typeface="Times New Roman" panose="02020603050405020304" pitchFamily="18" charset="0"/>
                <a:cs typeface="Times New Roman" panose="02020603050405020304" pitchFamily="18" charset="0"/>
              </a:rPr>
              <a:t>Số</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tàu</a:t>
            </a:r>
            <a:r>
              <a:rPr lang="en-US" sz="2400" b="1" dirty="0">
                <a:solidFill>
                  <a:srgbClr val="002060"/>
                </a:solidFill>
                <a:latin typeface="Times New Roman" panose="02020603050405020304" pitchFamily="18" charset="0"/>
                <a:cs typeface="Times New Roman" panose="02020603050405020304" pitchFamily="18" charset="0"/>
              </a:rPr>
              <a:t> AOG</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xmlns="" id="{39ED28EB-EF54-433B-60B3-87892499A24D}"/>
              </a:ext>
            </a:extLst>
          </p:cNvPr>
          <p:cNvGraphicFramePr/>
          <p:nvPr>
            <p:extLst/>
          </p:nvPr>
        </p:nvGraphicFramePr>
        <p:xfrm>
          <a:off x="6274810" y="4413350"/>
          <a:ext cx="5808956" cy="21398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xmlns="" id="{4BCF0C24-45DA-44DA-8EDA-2C6618ED53DE}"/>
              </a:ext>
            </a:extLst>
          </p:cNvPr>
          <p:cNvGraphicFramePr>
            <a:graphicFrameLocks noGrp="1"/>
          </p:cNvGraphicFramePr>
          <p:nvPr>
            <p:extLst/>
          </p:nvPr>
        </p:nvGraphicFramePr>
        <p:xfrm>
          <a:off x="6288062" y="857454"/>
          <a:ext cx="5625452" cy="14020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xmlns="" val="1930757539"/>
                    </a:ext>
                  </a:extLst>
                </a:gridCol>
                <a:gridCol w="4620843">
                  <a:extLst>
                    <a:ext uri="{9D8B030D-6E8A-4147-A177-3AD203B41FA5}">
                      <a16:colId xmlns:a16="http://schemas.microsoft.com/office/drawing/2014/main" xmlns=""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Times New Roman" panose="02020603050405020304" pitchFamily="18" charset="0"/>
                          <a:cs typeface="Times New Roman" panose="02020603050405020304" pitchFamily="18" charset="0"/>
                        </a:rPr>
                        <a:t>Trống</a:t>
                      </a:r>
                      <a:r>
                        <a:rPr lang="en-US" sz="1200" dirty="0">
                          <a:latin typeface="Times New Roman" panose="02020603050405020304" pitchFamily="18" charset="0"/>
                          <a:cs typeface="Times New Roman" panose="02020603050405020304" pitchFamily="18" charset="0"/>
                        </a:rPr>
                        <a:t> 1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1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hạn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kiểm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tra</a:t>
                      </a:r>
                      <a:r>
                        <a:rPr lang="en-US" sz="1200" dirty="0">
                          <a:latin typeface="Times New Roman" panose="02020603050405020304" pitchFamily="18" charset="0"/>
                          <a:cs typeface="Times New Roman" panose="02020603050405020304" pitchFamily="18" charset="0"/>
                        </a:rPr>
                        <a:t> LPT</a:t>
                      </a:r>
                    </a:p>
                  </a:txBody>
                  <a:tcPr marL="121920" marR="121920" marT="60960" marB="60960" anchor="ctr"/>
                </a:tc>
                <a:extLst>
                  <a:ext uri="{0D108BD9-81ED-4DB2-BD59-A6C34878D82A}">
                    <a16:rowId xmlns:a16="http://schemas.microsoft.com/office/drawing/2014/main" xmlns=""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Times New Roman" panose="02020603050405020304" pitchFamily="18" charset="0"/>
                          <a:cs typeface="Times New Roman" panose="02020603050405020304" pitchFamily="18" charset="0"/>
                        </a:rPr>
                        <a:t>Trống</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3218884716"/>
                  </a:ext>
                </a:extLst>
              </a:tr>
            </a:tbl>
          </a:graphicData>
        </a:graphic>
      </p:graphicFrame>
      <p:sp>
        <p:nvSpPr>
          <p:cNvPr id="13" name="TextBox 12">
            <a:extLst>
              <a:ext uri="{FF2B5EF4-FFF2-40B4-BE49-F238E27FC236}">
                <a16:creationId xmlns:a16="http://schemas.microsoft.com/office/drawing/2014/main" xmlns="" id="{90C76007-F5F9-4B91-90BD-15B1D817EC54}"/>
              </a:ext>
            </a:extLst>
          </p:cNvPr>
          <p:cNvSpPr txBox="1"/>
          <p:nvPr/>
        </p:nvSpPr>
        <p:spPr>
          <a:xfrm>
            <a:off x="6010989" y="265250"/>
            <a:ext cx="6705299" cy="420564"/>
          </a:xfrm>
          <a:prstGeom prst="rect">
            <a:avLst/>
          </a:prstGeom>
          <a:noFill/>
        </p:spPr>
        <p:txBody>
          <a:bodyPr wrap="square" rtlCol="0">
            <a:spAutoFit/>
          </a:bodyPr>
          <a:lstStyle/>
          <a:p>
            <a:pPr algn="ctr" defTabSz="1219170">
              <a:defRPr/>
            </a:pPr>
            <a:r>
              <a:rPr lang="en-US" sz="2133" b="1" dirty="0">
                <a:solidFill>
                  <a:srgbClr val="002060"/>
                </a:solidFill>
                <a:latin typeface="Times New Roman" panose="02020603050405020304" pitchFamily="18" charset="0"/>
                <a:cs typeface="Times New Roman" panose="02020603050405020304" pitchFamily="18" charset="0"/>
              </a:rPr>
              <a:t>Các </a:t>
            </a:r>
            <a:r>
              <a:rPr lang="en-US" sz="2133" b="1" dirty="0" err="1">
                <a:solidFill>
                  <a:srgbClr val="002060"/>
                </a:solidFill>
                <a:latin typeface="Times New Roman" panose="02020603050405020304" pitchFamily="18" charset="0"/>
                <a:cs typeface="Times New Roman" panose="02020603050405020304" pitchFamily="18" charset="0"/>
              </a:rPr>
              <a:t>tàu</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đang</a:t>
            </a:r>
            <a:r>
              <a:rPr lang="en-US" sz="2133" b="1" dirty="0">
                <a:solidFill>
                  <a:srgbClr val="002060"/>
                </a:solidFill>
                <a:latin typeface="Times New Roman" panose="02020603050405020304" pitchFamily="18" charset="0"/>
                <a:cs typeface="Times New Roman" panose="02020603050405020304" pitchFamily="18" charset="0"/>
              </a:rPr>
              <a:t> AOG (03 </a:t>
            </a:r>
            <a:r>
              <a:rPr lang="en-US" sz="2133" b="1" dirty="0" err="1">
                <a:solidFill>
                  <a:srgbClr val="002060"/>
                </a:solidFill>
                <a:latin typeface="Times New Roman" panose="02020603050405020304" pitchFamily="18" charset="0"/>
                <a:cs typeface="Times New Roman" panose="02020603050405020304" pitchFamily="18" charset="0"/>
              </a:rPr>
              <a:t>tàu</a:t>
            </a:r>
            <a:r>
              <a:rPr lang="en-US" sz="2133" b="1" dirty="0">
                <a:solidFill>
                  <a:srgbClr val="002060"/>
                </a:solidFill>
                <a:latin typeface="Times New Roman" panose="02020603050405020304" pitchFamily="18" charset="0"/>
                <a:cs typeface="Times New Roman" panose="02020603050405020304" pitchFamily="18" charset="0"/>
              </a:rPr>
              <a:t>)</a:t>
            </a:r>
            <a:endParaRPr lang="en-GB" sz="2133"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EF0FE7CB-1D2F-2A2D-6726-9BC57A431414}"/>
              </a:ext>
            </a:extLst>
          </p:cNvPr>
          <p:cNvGraphicFramePr>
            <a:graphicFrameLocks noGrp="1"/>
          </p:cNvGraphicFramePr>
          <p:nvPr>
            <p:extLst/>
          </p:nvPr>
        </p:nvGraphicFramePr>
        <p:xfrm>
          <a:off x="6218386" y="2839630"/>
          <a:ext cx="5879459" cy="914400"/>
        </p:xfrm>
        <a:graphic>
          <a:graphicData uri="http://schemas.openxmlformats.org/drawingml/2006/table">
            <a:tbl>
              <a:tblPr firstRow="1" bandRow="1">
                <a:tableStyleId>{306799F8-075E-4A3A-A7F6-7FBC6576F1A4}</a:tableStyleId>
              </a:tblPr>
              <a:tblGrid>
                <a:gridCol w="991528">
                  <a:extLst>
                    <a:ext uri="{9D8B030D-6E8A-4147-A177-3AD203B41FA5}">
                      <a16:colId xmlns:a16="http://schemas.microsoft.com/office/drawing/2014/main" xmlns="" val="1930757539"/>
                    </a:ext>
                  </a:extLst>
                </a:gridCol>
                <a:gridCol w="1042096">
                  <a:extLst>
                    <a:ext uri="{9D8B030D-6E8A-4147-A177-3AD203B41FA5}">
                      <a16:colId xmlns:a16="http://schemas.microsoft.com/office/drawing/2014/main" xmlns="" val="1674463010"/>
                    </a:ext>
                  </a:extLst>
                </a:gridCol>
                <a:gridCol w="1823000">
                  <a:extLst>
                    <a:ext uri="{9D8B030D-6E8A-4147-A177-3AD203B41FA5}">
                      <a16:colId xmlns:a16="http://schemas.microsoft.com/office/drawing/2014/main" xmlns="" val="1549944897"/>
                    </a:ext>
                  </a:extLst>
                </a:gridCol>
                <a:gridCol w="2022835">
                  <a:extLst>
                    <a:ext uri="{9D8B030D-6E8A-4147-A177-3AD203B41FA5}">
                      <a16:colId xmlns:a16="http://schemas.microsoft.com/office/drawing/2014/main" xmlns="" val="3366431274"/>
                    </a:ext>
                  </a:extLst>
                </a:gridCol>
              </a:tblGrid>
              <a:tr h="285257">
                <a:tc>
                  <a:txBody>
                    <a:bodyPr/>
                    <a:lstStyle/>
                    <a:p>
                      <a:r>
                        <a:rPr lang="en-US" sz="1200" dirty="0" err="1"/>
                        <a:t>Động</a:t>
                      </a:r>
                      <a:r>
                        <a:rPr lang="en-US" sz="1200"/>
                        <a:t> c</a:t>
                      </a:r>
                      <a:r>
                        <a:rPr lang="vi-VN" sz="1200"/>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t>Ngày</a:t>
                      </a:r>
                      <a:r>
                        <a:rPr lang="en-US" sz="1200" dirty="0"/>
                        <a:t> </a:t>
                      </a:r>
                      <a:r>
                        <a:rPr lang="en-US" sz="1200" dirty="0" err="1"/>
                        <a:t>sửa</a:t>
                      </a:r>
                      <a:r>
                        <a:rPr lang="en-US" sz="1200" dirty="0"/>
                        <a:t> </a:t>
                      </a:r>
                      <a:r>
                        <a:rPr lang="en-US" sz="1200" dirty="0" err="1"/>
                        <a:t>dự</a:t>
                      </a:r>
                      <a:r>
                        <a:rPr lang="en-US" sz="1200" dirty="0"/>
                        <a:t> </a:t>
                      </a:r>
                      <a:r>
                        <a:rPr lang="en-US" sz="1200" dirty="0" err="1"/>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t>Remark</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1532058823"/>
                  </a:ext>
                </a:extLst>
              </a:tr>
              <a:tr h="178280">
                <a:tc>
                  <a:txBody>
                    <a:bodyPr/>
                    <a:lstStyle/>
                    <a:p>
                      <a:r>
                        <a:rPr lang="en-GB" sz="1200" b="1" dirty="0"/>
                        <a:t>21316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A899</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0" dirty="0" err="1">
                          <a:ln>
                            <a:noFill/>
                          </a:ln>
                          <a:solidFill>
                            <a:prstClr val="black"/>
                          </a:solidFill>
                          <a:effectLst/>
                          <a:uLnTx/>
                          <a:uFillTx/>
                        </a:rPr>
                        <a:t>Sửa</a:t>
                      </a:r>
                      <a:r>
                        <a:rPr kumimoji="0" lang="en-US" sz="1200" b="0" u="none" strike="noStrike" kern="1200" cap="none" spc="0" normalizeH="0" baseline="0" noProof="0" dirty="0">
                          <a:ln>
                            <a:noFill/>
                          </a:ln>
                          <a:solidFill>
                            <a:prstClr val="black"/>
                          </a:solidFill>
                          <a:effectLst/>
                          <a:uLnTx/>
                          <a:uFillTx/>
                        </a:rPr>
                        <a:t> </a:t>
                      </a:r>
                      <a:r>
                        <a:rPr kumimoji="0" lang="en-US" sz="1200" b="0" u="none" strike="noStrike" kern="1200" cap="none" spc="0" normalizeH="0" baseline="0" noProof="0" dirty="0" err="1">
                          <a:ln>
                            <a:noFill/>
                          </a:ln>
                          <a:solidFill>
                            <a:prstClr val="black"/>
                          </a:solidFill>
                          <a:effectLst/>
                          <a:uLnTx/>
                          <a:uFillTx/>
                        </a:rPr>
                        <a:t>boroblending</a:t>
                      </a:r>
                      <a:r>
                        <a:rPr kumimoji="0" lang="en-US" sz="1200" b="0" u="none" strike="noStrike" kern="1200" cap="none" spc="0" normalizeH="0" baseline="0" noProof="0" dirty="0">
                          <a:ln>
                            <a:noFill/>
                          </a:ln>
                          <a:solidFill>
                            <a:prstClr val="black"/>
                          </a:solidFill>
                          <a:effectLst/>
                          <a:uLnTx/>
                          <a:uFillTx/>
                        </a:rPr>
                        <a:t> </a:t>
                      </a:r>
                      <a:r>
                        <a:rPr kumimoji="0" lang="en-US" sz="1200" b="0" u="none" strike="noStrike" kern="1200" cap="none" spc="0" normalizeH="0" baseline="0" noProof="0" dirty="0" err="1">
                          <a:ln>
                            <a:noFill/>
                          </a:ln>
                          <a:solidFill>
                            <a:prstClr val="black"/>
                          </a:solidFill>
                          <a:effectLst/>
                          <a:uLnTx/>
                          <a:uFillTx/>
                        </a:rPr>
                        <a:t>tại</a:t>
                      </a:r>
                      <a:r>
                        <a:rPr kumimoji="0" lang="en-US" sz="1200" b="0" u="none" strike="noStrike" kern="1200" cap="none" spc="0" normalizeH="0" baseline="0" noProof="0" dirty="0">
                          <a:ln>
                            <a:noFill/>
                          </a:ln>
                          <a:solidFill>
                            <a:prstClr val="black"/>
                          </a:solidFill>
                          <a:effectLst/>
                          <a:uLnTx/>
                          <a:uFillTx/>
                        </a:rPr>
                        <a:t> VN</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4282079846"/>
                  </a:ext>
                </a:extLst>
              </a:tr>
              <a:tr h="178280">
                <a:tc>
                  <a:txBody>
                    <a:bodyPr/>
                    <a:lstStyle/>
                    <a:p>
                      <a:r>
                        <a:rPr lang="en-GB" sz="1200" b="1" dirty="0"/>
                        <a:t>21346</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t>NBA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t>NIL</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u="none" strike="noStrike" kern="1200" cap="none" spc="0" normalizeH="0" baseline="0" noProof="0" dirty="0" err="1">
                          <a:ln>
                            <a:noFill/>
                          </a:ln>
                          <a:solidFill>
                            <a:prstClr val="black"/>
                          </a:solidFill>
                          <a:effectLst/>
                          <a:uLnTx/>
                          <a:uFillTx/>
                        </a:rPr>
                        <a:t>Giữ</a:t>
                      </a:r>
                      <a:r>
                        <a:rPr kumimoji="0" lang="en-US" sz="1200" b="0" u="none" strike="noStrike" kern="1200" cap="none" spc="0" normalizeH="0" baseline="0" noProof="0" dirty="0">
                          <a:ln>
                            <a:noFill/>
                          </a:ln>
                          <a:solidFill>
                            <a:prstClr val="black"/>
                          </a:solidFill>
                          <a:effectLst/>
                          <a:uLnTx/>
                          <a:uFillTx/>
                        </a:rPr>
                        <a:t> </a:t>
                      </a:r>
                      <a:r>
                        <a:rPr kumimoji="0" lang="en-US" sz="1200" b="0" u="none" strike="noStrike" kern="1200" cap="none" spc="0" normalizeH="0" baseline="0" noProof="0" dirty="0" err="1">
                          <a:ln>
                            <a:noFill/>
                          </a:ln>
                          <a:solidFill>
                            <a:prstClr val="black"/>
                          </a:solidFill>
                          <a:effectLst/>
                          <a:uLnTx/>
                          <a:uFillTx/>
                        </a:rPr>
                        <a:t>giờ</a:t>
                      </a:r>
                      <a:r>
                        <a:rPr kumimoji="0" lang="en-US" sz="1200" b="0" u="none" strike="noStrike" kern="1200" cap="none" spc="0" normalizeH="0" baseline="0" noProof="0" dirty="0">
                          <a:ln>
                            <a:noFill/>
                          </a:ln>
                          <a:solidFill>
                            <a:prstClr val="black"/>
                          </a:solidFill>
                          <a:effectLst/>
                          <a:uLnTx/>
                          <a:uFillTx/>
                        </a:rPr>
                        <a:t> </a:t>
                      </a:r>
                      <a:r>
                        <a:rPr kumimoji="0" lang="en-US" sz="1200" b="0" u="none" strike="noStrike" kern="1200" cap="none" spc="0" normalizeH="0" baseline="0" noProof="0" dirty="0" err="1">
                          <a:ln>
                            <a:noFill/>
                          </a:ln>
                          <a:solidFill>
                            <a:prstClr val="black"/>
                          </a:solidFill>
                          <a:effectLst/>
                          <a:uLnTx/>
                          <a:uFillTx/>
                        </a:rPr>
                        <a:t>cho</a:t>
                      </a:r>
                      <a:r>
                        <a:rPr kumimoji="0" lang="en-US" sz="1200" b="0" u="none" strike="noStrike" kern="1200" cap="none" spc="0" normalizeH="0" baseline="0" noProof="0" dirty="0">
                          <a:ln>
                            <a:noFill/>
                          </a:ln>
                          <a:solidFill>
                            <a:prstClr val="black"/>
                          </a:solidFill>
                          <a:effectLst/>
                          <a:uLnTx/>
                          <a:uFillTx/>
                        </a:rPr>
                        <a:t> </a:t>
                      </a:r>
                      <a:r>
                        <a:rPr kumimoji="0" lang="en-US" sz="1200" b="0" u="none" strike="noStrike" kern="1200" cap="none" spc="0" normalizeH="0" baseline="0" noProof="0" dirty="0" err="1">
                          <a:ln>
                            <a:noFill/>
                          </a:ln>
                          <a:solidFill>
                            <a:prstClr val="black"/>
                          </a:solidFill>
                          <a:effectLst/>
                          <a:uLnTx/>
                          <a:uFillTx/>
                        </a:rPr>
                        <a:t>cao</a:t>
                      </a:r>
                      <a:r>
                        <a:rPr kumimoji="0" lang="en-US" sz="1200" b="0" u="none" strike="noStrike" kern="1200" cap="none" spc="0" normalizeH="0" baseline="0" noProof="0" dirty="0">
                          <a:ln>
                            <a:noFill/>
                          </a:ln>
                          <a:solidFill>
                            <a:prstClr val="black"/>
                          </a:solidFill>
                          <a:effectLst/>
                          <a:uLnTx/>
                          <a:uFillTx/>
                        </a:rPr>
                        <a:t> </a:t>
                      </a:r>
                      <a:r>
                        <a:rPr kumimoji="0" lang="en-US" sz="1200" b="0" u="none" strike="noStrike" kern="1200" cap="none" spc="0" normalizeH="0" baseline="0" noProof="0" dirty="0" err="1">
                          <a:ln>
                            <a:noFill/>
                          </a:ln>
                          <a:solidFill>
                            <a:prstClr val="black"/>
                          </a:solidFill>
                          <a:effectLst/>
                          <a:uLnTx/>
                          <a:uFillTx/>
                        </a:rPr>
                        <a:t>điểm</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xmlns="" val="4001673644"/>
                  </a:ext>
                </a:extLst>
              </a:tr>
            </a:tbl>
          </a:graphicData>
        </a:graphic>
      </p:graphicFrame>
      <p:sp>
        <p:nvSpPr>
          <p:cNvPr id="14" name="TextBox 13">
            <a:extLst>
              <a:ext uri="{FF2B5EF4-FFF2-40B4-BE49-F238E27FC236}">
                <a16:creationId xmlns:a16="http://schemas.microsoft.com/office/drawing/2014/main" xmlns="" id="{949B925C-81B6-9719-8B1C-BA9D726E01BC}"/>
              </a:ext>
            </a:extLst>
          </p:cNvPr>
          <p:cNvSpPr txBox="1"/>
          <p:nvPr/>
        </p:nvSpPr>
        <p:spPr>
          <a:xfrm>
            <a:off x="6321050" y="2411454"/>
            <a:ext cx="5167083" cy="461665"/>
          </a:xfrm>
          <a:prstGeom prst="rect">
            <a:avLst/>
          </a:prstGeom>
          <a:noFill/>
        </p:spPr>
        <p:txBody>
          <a:bodyPr wrap="square" rtlCol="0">
            <a:spAutoFit/>
          </a:bodyPr>
          <a:lstStyle/>
          <a:p>
            <a:pPr algn="ctr" defTabSz="1219170">
              <a:defRPr/>
            </a:pP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khác</a:t>
            </a:r>
            <a:endParaRPr lang="en-GB"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045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xmlns=""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xmlns="" id="{282059E6-27E7-472C-AEAC-06C1F6F9B2A2}"/>
              </a:ext>
            </a:extLst>
          </p:cNvPr>
          <p:cNvGraphicFramePr/>
          <p:nvPr>
            <p:extLst/>
          </p:nvPr>
        </p:nvGraphicFramePr>
        <p:xfrm>
          <a:off x="295373" y="770468"/>
          <a:ext cx="11557960" cy="58589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8779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CA0A6B4-0D57-91D1-E90B-8552E0AD5555}"/>
              </a:ext>
            </a:extLst>
          </p:cNvPr>
          <p:cNvSpPr>
            <a:spLocks noGrp="1"/>
          </p:cNvSpPr>
          <p:nvPr>
            <p:ph type="sldNum" idx="12"/>
          </p:nvPr>
        </p:nvSpPr>
        <p:spPr/>
        <p:txBody>
          <a:bodyPr/>
          <a:lstStyle/>
          <a:p>
            <a:fld id="{00000000-1234-1234-1234-123412341234}" type="slidenum">
              <a:rPr lang="vi" smtClean="0"/>
              <a:pPr/>
              <a:t>41</a:t>
            </a:fld>
            <a:endParaRPr lang="vi"/>
          </a:p>
        </p:txBody>
      </p:sp>
      <p:sp>
        <p:nvSpPr>
          <p:cNvPr id="8" name="Slide Number Placeholder 3">
            <a:extLst>
              <a:ext uri="{FF2B5EF4-FFF2-40B4-BE49-F238E27FC236}">
                <a16:creationId xmlns:a16="http://schemas.microsoft.com/office/drawing/2014/main" xmlns=""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41</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xmlns=""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xmlns=""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798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xmlns=""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xmlns="" id="{C9E599B2-7A6B-AE61-6B47-ABFA60F331B8}"/>
              </a:ext>
            </a:extLst>
          </p:cNvPr>
          <p:cNvGraphicFramePr>
            <a:graphicFrameLocks noGrp="1"/>
          </p:cNvGraphicFramePr>
          <p:nvPr/>
        </p:nvGraphicFramePr>
        <p:xfrm>
          <a:off x="291533" y="1134199"/>
          <a:ext cx="11460202" cy="3340178"/>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xmlns="" val="1598605427"/>
                    </a:ext>
                  </a:extLst>
                </a:gridCol>
                <a:gridCol w="1147672">
                  <a:extLst>
                    <a:ext uri="{9D8B030D-6E8A-4147-A177-3AD203B41FA5}">
                      <a16:colId xmlns:a16="http://schemas.microsoft.com/office/drawing/2014/main" xmlns="" val="3845954792"/>
                    </a:ext>
                  </a:extLst>
                </a:gridCol>
                <a:gridCol w="1298823">
                  <a:extLst>
                    <a:ext uri="{9D8B030D-6E8A-4147-A177-3AD203B41FA5}">
                      <a16:colId xmlns:a16="http://schemas.microsoft.com/office/drawing/2014/main" xmlns="" val="2148822928"/>
                    </a:ext>
                  </a:extLst>
                </a:gridCol>
                <a:gridCol w="2062836">
                  <a:extLst>
                    <a:ext uri="{9D8B030D-6E8A-4147-A177-3AD203B41FA5}">
                      <a16:colId xmlns:a16="http://schemas.microsoft.com/office/drawing/2014/main" xmlns="" val="2136763095"/>
                    </a:ext>
                  </a:extLst>
                </a:gridCol>
                <a:gridCol w="2139239">
                  <a:extLst>
                    <a:ext uri="{9D8B030D-6E8A-4147-A177-3AD203B41FA5}">
                      <a16:colId xmlns:a16="http://schemas.microsoft.com/office/drawing/2014/main" xmlns="" val="1185879436"/>
                    </a:ext>
                  </a:extLst>
                </a:gridCol>
                <a:gridCol w="1986435">
                  <a:extLst>
                    <a:ext uri="{9D8B030D-6E8A-4147-A177-3AD203B41FA5}">
                      <a16:colId xmlns:a16="http://schemas.microsoft.com/office/drawing/2014/main" xmlns="" val="3807119371"/>
                    </a:ext>
                  </a:extLst>
                </a:gridCol>
                <a:gridCol w="2292040">
                  <a:extLst>
                    <a:ext uri="{9D8B030D-6E8A-4147-A177-3AD203B41FA5}">
                      <a16:colId xmlns:a16="http://schemas.microsoft.com/office/drawing/2014/main" xmlns="" val="3735753066"/>
                    </a:ext>
                  </a:extLst>
                </a:gridCol>
              </a:tblGrid>
              <a:tr h="609998">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4812354"/>
                  </a:ext>
                </a:extLst>
              </a:tr>
              <a:tr h="53546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09/05/2025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227979002"/>
                  </a:ext>
                </a:extLst>
              </a:tr>
              <a:tr h="53546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817893171"/>
                  </a:ext>
                </a:extLst>
              </a:tr>
              <a:tr h="53546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1434517888"/>
                  </a:ext>
                </a:extLst>
              </a:tr>
              <a:tr h="496410">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546132875"/>
                  </a:ext>
                </a:extLst>
              </a:tr>
              <a:tr h="496410">
                <a:tc>
                  <a:txBody>
                    <a:bodyPr/>
                    <a:lstStyle/>
                    <a:p>
                      <a:pPr algn="ctr"/>
                      <a:r>
                        <a:rPr lang="en-GB" sz="1500">
                          <a:latin typeface="Times New Roman" panose="02020603050405020304" pitchFamily="18" charset="0"/>
                          <a:cs typeface="Times New Roman" panose="02020603050405020304" pitchFamily="18" charset="0"/>
                        </a:rPr>
                        <a:t>5</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ct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5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xmlns="" val="1380655896"/>
                  </a:ext>
                </a:extLst>
              </a:tr>
            </a:tbl>
          </a:graphicData>
        </a:graphic>
      </p:graphicFrame>
      <p:sp>
        <p:nvSpPr>
          <p:cNvPr id="15" name="TextBox 14">
            <a:extLst>
              <a:ext uri="{FF2B5EF4-FFF2-40B4-BE49-F238E27FC236}">
                <a16:creationId xmlns:a16="http://schemas.microsoft.com/office/drawing/2014/main" xmlns=""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xmlns="" id="{86965A40-485F-F6CF-1E94-FB69A37B616A}"/>
              </a:ext>
            </a:extLst>
          </p:cNvPr>
          <p:cNvSpPr txBox="1"/>
          <p:nvPr/>
        </p:nvSpPr>
        <p:spPr>
          <a:xfrm>
            <a:off x="36660" y="4557765"/>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xmlns="" id="{E8A28E79-E20A-AF25-AF54-BB552A4A1E80}"/>
              </a:ext>
            </a:extLst>
          </p:cNvPr>
          <p:cNvSpPr txBox="1"/>
          <p:nvPr/>
        </p:nvSpPr>
        <p:spPr>
          <a:xfrm>
            <a:off x="112860" y="5093398"/>
            <a:ext cx="11460201" cy="1241365"/>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043680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xmlns=""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xmlns=""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21/04/2025 – 27/04/2025: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A609</a:t>
            </a:r>
            <a:r>
              <a:rPr lang="en-US" sz="1600" dirty="0">
                <a:solidFill>
                  <a:prstClr val="black"/>
                </a:solidFill>
                <a:latin typeface="Times New Roman" panose="02020603050405020304" pitchFamily="18" charset="0"/>
                <a:cs typeface="Times New Roman" panose="02020603050405020304" pitchFamily="18" charset="0"/>
              </a:rPr>
              <a:t>.</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A612</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A618</a:t>
            </a:r>
            <a:r>
              <a:rPr lang="en-US" sz="1600" dirty="0">
                <a:solidFill>
                  <a:prstClr val="black"/>
                </a:solidFill>
                <a:latin typeface="Times New Roman" panose="02020603050405020304" pitchFamily="18" charset="0"/>
                <a:cs typeface="Times New Roman" panose="02020603050405020304" pitchFamily="18" charset="0"/>
              </a:rPr>
              <a:t> (wash APU).</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02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A609</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A890</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xmlns=""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xmlns="" val="1827702162"/>
                    </a:ext>
                  </a:extLst>
                </a:gridCol>
                <a:gridCol w="1715656">
                  <a:extLst>
                    <a:ext uri="{9D8B030D-6E8A-4147-A177-3AD203B41FA5}">
                      <a16:colId xmlns:a16="http://schemas.microsoft.com/office/drawing/2014/main" xmlns="" val="2395768341"/>
                    </a:ext>
                  </a:extLst>
                </a:gridCol>
                <a:gridCol w="4013376">
                  <a:extLst>
                    <a:ext uri="{9D8B030D-6E8A-4147-A177-3AD203B41FA5}">
                      <a16:colId xmlns:a16="http://schemas.microsoft.com/office/drawing/2014/main" xmlns="" val="4155011410"/>
                    </a:ext>
                  </a:extLst>
                </a:gridCol>
                <a:gridCol w="5689791">
                  <a:extLst>
                    <a:ext uri="{9D8B030D-6E8A-4147-A177-3AD203B41FA5}">
                      <a16:colId xmlns:a16="http://schemas.microsoft.com/office/drawing/2014/main" xmlns=""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08/04. NSX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nhiều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mạt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loại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16/05.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giữa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A890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736034225"/>
                  </a:ext>
                </a:extLst>
              </a:tr>
              <a:tr h="1474395">
                <a:tc>
                  <a:txBody>
                    <a:bodyPr/>
                    <a:lstStyle/>
                    <a:p>
                      <a:pPr marL="0" marR="0" algn="ctr">
                        <a:spcBef>
                          <a:spcPts val="0"/>
                        </a:spcBef>
                        <a:spcAft>
                          <a:spcPts val="0"/>
                        </a:spcAft>
                      </a:pPr>
                      <a:r>
                        <a:rPr lang="en-US" sz="15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A609</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25/04.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SGN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26/04.</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3636160297"/>
                  </a:ext>
                </a:extLst>
              </a:tr>
            </a:tbl>
          </a:graphicData>
        </a:graphic>
      </p:graphicFrame>
      <p:sp>
        <p:nvSpPr>
          <p:cNvPr id="5" name="TextBox 4">
            <a:extLst>
              <a:ext uri="{FF2B5EF4-FFF2-40B4-BE49-F238E27FC236}">
                <a16:creationId xmlns:a16="http://schemas.microsoft.com/office/drawing/2014/main" xmlns=""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104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xmlns="" id="{44E34AA5-0AD7-89EB-D556-85A4E3C161E2}"/>
              </a:ext>
            </a:extLst>
          </p:cNvPr>
          <p:cNvGraphicFramePr>
            <a:graphicFrameLocks noGrp="1"/>
          </p:cNvGraphicFramePr>
          <p:nvPr/>
        </p:nvGraphicFramePr>
        <p:xfrm>
          <a:off x="548320" y="609601"/>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xmlns="" val="1598605427"/>
                    </a:ext>
                  </a:extLst>
                </a:gridCol>
                <a:gridCol w="1692295">
                  <a:extLst>
                    <a:ext uri="{9D8B030D-6E8A-4147-A177-3AD203B41FA5}">
                      <a16:colId xmlns:a16="http://schemas.microsoft.com/office/drawing/2014/main" xmlns="" val="3845954792"/>
                    </a:ext>
                  </a:extLst>
                </a:gridCol>
                <a:gridCol w="3352017">
                  <a:extLst>
                    <a:ext uri="{9D8B030D-6E8A-4147-A177-3AD203B41FA5}">
                      <a16:colId xmlns:a16="http://schemas.microsoft.com/office/drawing/2014/main" xmlns="" val="2148822928"/>
                    </a:ext>
                  </a:extLst>
                </a:gridCol>
                <a:gridCol w="2161848">
                  <a:extLst>
                    <a:ext uri="{9D8B030D-6E8A-4147-A177-3AD203B41FA5}">
                      <a16:colId xmlns:a16="http://schemas.microsoft.com/office/drawing/2014/main" xmlns="" val="1106888684"/>
                    </a:ext>
                  </a:extLst>
                </a:gridCol>
                <a:gridCol w="2161848">
                  <a:extLst>
                    <a:ext uri="{9D8B030D-6E8A-4147-A177-3AD203B41FA5}">
                      <a16:colId xmlns:a16="http://schemas.microsoft.com/office/drawing/2014/main" xmlns="" val="571731565"/>
                    </a:ext>
                  </a:extLst>
                </a:gridCol>
              </a:tblGrid>
              <a:tr h="387671">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xmlns="" val="1234812354"/>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A359</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716492321"/>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07-May-25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3841585950"/>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702873862"/>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28517020"/>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728158122"/>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xmlns="" val="1694765632"/>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xmlns="" val="3190860515"/>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05-May-25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xmlns="" val="2901684868"/>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16-May-25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A890</a:t>
                      </a:r>
                    </a:p>
                  </a:txBody>
                  <a:tcPr marL="12700" marR="12700" marT="12700" marB="0" anchor="ctr">
                    <a:solidFill>
                      <a:schemeClr val="accent2">
                        <a:lumMod val="40000"/>
                        <a:lumOff val="60000"/>
                      </a:schemeClr>
                    </a:solidFill>
                  </a:tcPr>
                </a:tc>
                <a:extLst>
                  <a:ext uri="{0D108BD9-81ED-4DB2-BD59-A6C34878D82A}">
                    <a16:rowId xmlns:a16="http://schemas.microsoft.com/office/drawing/2014/main" xmlns="" val="148885825"/>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xmlns="" val="2828264085"/>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A892</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extLst>
                  <a:ext uri="{0D108BD9-81ED-4DB2-BD59-A6C34878D82A}">
                    <a16:rowId xmlns:a16="http://schemas.microsoft.com/office/drawing/2014/main" xmlns="" val="3237182100"/>
                  </a:ext>
                </a:extLst>
              </a:tr>
            </a:tbl>
          </a:graphicData>
        </a:graphic>
      </p:graphicFrame>
      <p:sp>
        <p:nvSpPr>
          <p:cNvPr id="3" name="TextBox 2">
            <a:extLst>
              <a:ext uri="{FF2B5EF4-FFF2-40B4-BE49-F238E27FC236}">
                <a16:creationId xmlns:a16="http://schemas.microsoft.com/office/drawing/2014/main" xmlns="" id="{683815DC-3726-60C6-9F9A-C1A095C6A727}"/>
              </a:ext>
            </a:extLst>
          </p:cNvPr>
          <p:cNvSpPr txBox="1"/>
          <p:nvPr/>
        </p:nvSpPr>
        <p:spPr>
          <a:xfrm>
            <a:off x="548319" y="5029200"/>
            <a:ext cx="11169547" cy="1816266"/>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cao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điểm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hè</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A350</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BQDB</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a:t>
            </a:r>
            <a:r>
              <a:rPr lang="vi-VN"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tuy</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nhiên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phát</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sinh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02 tr</a:t>
            </a:r>
            <a:r>
              <a:rPr lang="vi-VN"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ờng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hợp</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ngoài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dẫn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đủ</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để</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clear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hóc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cần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990575" lvl="1"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xmlns=""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1886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45</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xmlns="" id="{637BC1EA-95C9-6D4F-9E46-CF744FAC7800}"/>
              </a:ext>
            </a:extLst>
          </p:cNvPr>
          <p:cNvSpPr txBox="1">
            <a:spLocks/>
          </p:cNvSpPr>
          <p:nvPr/>
        </p:nvSpPr>
        <p:spPr>
          <a:xfrm>
            <a:off x="152400" y="609600"/>
            <a:ext cx="10512582" cy="19050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t>
            </a:r>
            <a:r>
              <a:rPr lang="pt-BR" sz="1600" b="1" dirty="0" smtClean="0">
                <a:cs typeface="Times New Roman" panose="02020603050405020304" pitchFamily="18" charset="0"/>
              </a:rPr>
              <a:t>A617/20/22/23/24/25</a:t>
            </a:r>
            <a:r>
              <a:rPr lang="pt-BR" sz="1600" b="1" dirty="0">
                <a:cs typeface="Times New Roman" panose="02020603050405020304" pitchFamily="18" charset="0"/>
              </a:rPr>
              <a:t>, </a:t>
            </a:r>
            <a:r>
              <a:rPr lang="pt-BR" sz="1600" b="1" dirty="0" smtClean="0">
                <a:cs typeface="Times New Roman" panose="02020603050405020304" pitchFamily="18" charset="0"/>
              </a:rPr>
              <a:t>A886/887/895) </a:t>
            </a:r>
            <a:r>
              <a:rPr lang="pt-BR" sz="1600" b="1" dirty="0">
                <a:cs typeface="Times New Roman" panose="02020603050405020304" pitchFamily="18" charset="0"/>
              </a:rPr>
              <a:t>/</a:t>
            </a:r>
            <a:r>
              <a:rPr lang="pt-BR" sz="1600" b="1" dirty="0">
                <a:solidFill>
                  <a:schemeClr val="accent1">
                    <a:lumMod val="75000"/>
                  </a:schemeClr>
                </a:solidFill>
                <a:cs typeface="Times New Roman" panose="02020603050405020304" pitchFamily="18" charset="0"/>
              </a:rPr>
              <a:t> SGN </a:t>
            </a:r>
            <a:r>
              <a:rPr lang="pt-BR" sz="1600" b="1" dirty="0" smtClean="0">
                <a:solidFill>
                  <a:schemeClr val="accent1">
                    <a:lumMod val="75000"/>
                  </a:schemeClr>
                </a:solidFill>
                <a:cs typeface="Times New Roman" panose="02020603050405020304" pitchFamily="18" charset="0"/>
              </a:rPr>
              <a:t>(A509</a:t>
            </a:r>
            <a:r>
              <a:rPr lang="pt-BR" sz="1600" b="1" dirty="0">
                <a:solidFill>
                  <a:schemeClr val="accent1">
                    <a:lumMod val="75000"/>
                  </a:schemeClr>
                </a:solidFill>
                <a:cs typeface="Times New Roman" panose="02020603050405020304" pitchFamily="18" charset="0"/>
              </a:rPr>
              <a:t>).</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t>
            </a:r>
            <a:r>
              <a:rPr lang="en-US" sz="1600" b="1" dirty="0" smtClean="0">
                <a:cs typeface="Times New Roman" panose="02020603050405020304" pitchFamily="18" charset="0"/>
              </a:rPr>
              <a:t>A604, A398;</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t>
            </a:r>
            <a:r>
              <a:rPr lang="en-US" sz="1600" b="1" dirty="0" smtClean="0">
                <a:cs typeface="Times New Roman" panose="02020603050405020304" pitchFamily="18" charset="0"/>
              </a:rPr>
              <a:t>A898, A899;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              ATR72: </a:t>
            </a:r>
            <a:r>
              <a:rPr lang="en-US" sz="1600" b="1" dirty="0" smtClean="0">
                <a:cs typeface="Times New Roman" panose="02020603050405020304" pitchFamily="18" charset="0"/>
              </a:rPr>
              <a:t>B218;</a:t>
            </a:r>
            <a:endParaRPr lang="en-US" sz="1600" b="1" dirty="0">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t>
            </a:r>
            <a:r>
              <a:rPr lang="en-US" sz="1600" b="1" dirty="0" smtClean="0">
                <a:cs typeface="Times New Roman" panose="02020603050405020304" pitchFamily="18" charset="0"/>
              </a:rPr>
              <a:t>A861;</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xmlns="" id="{637BC1EA-95C9-6D4F-9E46-CF744FAC7800}"/>
              </a:ext>
            </a:extLst>
          </p:cNvPr>
          <p:cNvSpPr txBox="1">
            <a:spLocks/>
          </p:cNvSpPr>
          <p:nvPr/>
        </p:nvSpPr>
        <p:spPr>
          <a:xfrm>
            <a:off x="228599" y="2362200"/>
            <a:ext cx="11068012" cy="44958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a:solidFill>
                  <a:srgbClr val="FF0000"/>
                </a:solidFill>
                <a:cs typeface="Times New Roman" panose="02020603050405020304" pitchFamily="18" charset="0"/>
                <a:sym typeface="Wingdings" panose="05000000000000000000" pitchFamily="2" charset="2"/>
              </a:rPr>
              <a:t>    1. </a:t>
            </a:r>
            <a:r>
              <a:rPr lang="en-US" sz="1500" b="1" dirty="0" smtClean="0">
                <a:solidFill>
                  <a:srgbClr val="FF0000"/>
                </a:solidFill>
                <a:cs typeface="Times New Roman" panose="02020603050405020304" pitchFamily="18" charset="0"/>
                <a:sym typeface="Wingdings" panose="05000000000000000000" pitchFamily="2" charset="2"/>
              </a:rPr>
              <a:t>A604_HAN_EC06+EC01+C02+C03+Y06+Y12+EA08-EA09_13/04-13/05: </a:t>
            </a:r>
            <a:r>
              <a:rPr lang="en-US" sz="1500" b="1" dirty="0">
                <a:solidFill>
                  <a:srgbClr val="FF0000"/>
                </a:solidFill>
                <a:cs typeface="Times New Roman" panose="02020603050405020304" pitchFamily="18" charset="0"/>
                <a:sym typeface="Wingdings" panose="05000000000000000000" pitchFamily="2" charset="2"/>
              </a:rPr>
              <a:t>On sked</a:t>
            </a:r>
          </a:p>
          <a:p>
            <a:pPr marL="12700" indent="0" algn="just">
              <a:lnSpc>
                <a:spcPct val="100000"/>
              </a:lnSpc>
              <a:spcBef>
                <a:spcPts val="600"/>
              </a:spcBef>
              <a:buSzPts val="1100"/>
              <a:buNone/>
            </a:pPr>
            <a:r>
              <a:rPr lang="en-US" sz="1500" dirty="0" smtClean="0">
                <a:cs typeface="Times New Roman" panose="02020603050405020304" pitchFamily="18" charset="0"/>
                <a:sym typeface="Wingdings" panose="05000000000000000000" pitchFamily="2" charset="2"/>
              </a:rPr>
              <a:t>    -  Check </a:t>
            </a:r>
            <a:r>
              <a:rPr lang="en-US" sz="1500" dirty="0" err="1" smtClean="0">
                <a:cs typeface="Times New Roman" panose="02020603050405020304" pitchFamily="18" charset="0"/>
                <a:sym typeface="Wingdings" panose="05000000000000000000" pitchFamily="2" charset="2"/>
              </a:rPr>
              <a:t>được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khai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theo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chương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trình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giảm</a:t>
            </a:r>
            <a:r>
              <a:rPr lang="en-US" sz="1500" dirty="0" smtClean="0">
                <a:cs typeface="Times New Roman" panose="02020603050405020304" pitchFamily="18" charset="0"/>
                <a:sym typeface="Wingdings" panose="05000000000000000000" pitchFamily="2" charset="2"/>
              </a:rPr>
              <a:t> TAT, </a:t>
            </a:r>
            <a:r>
              <a:rPr lang="en-US" sz="1500" dirty="0" err="1" smtClean="0">
                <a:cs typeface="Times New Roman" panose="02020603050405020304" pitchFamily="18" charset="0"/>
                <a:sym typeface="Wingdings" panose="05000000000000000000" pitchFamily="2" charset="2"/>
              </a:rPr>
              <a:t>hạn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tối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việc</a:t>
            </a:r>
            <a:r>
              <a:rPr lang="en-US" sz="1500" dirty="0" smtClean="0">
                <a:cs typeface="Times New Roman" panose="02020603050405020304" pitchFamily="18" charset="0"/>
                <a:sym typeface="Wingdings" panose="05000000000000000000" pitchFamily="2" charset="2"/>
              </a:rPr>
              <a:t> Rob/ Swap.</a:t>
            </a:r>
          </a:p>
          <a:p>
            <a:pPr marL="12700" indent="0" algn="just">
              <a:lnSpc>
                <a:spcPct val="100000"/>
              </a:lnSpc>
              <a:spcBef>
                <a:spcPts val="600"/>
              </a:spcBef>
              <a:buSzPts val="1100"/>
              <a:buNone/>
            </a:pPr>
            <a:r>
              <a:rPr lang="es-ES" sz="1500" dirty="0" smtClean="0">
                <a:cs typeface="Times New Roman" panose="02020603050405020304" pitchFamily="18" charset="0"/>
                <a:sym typeface="Wingdings" panose="05000000000000000000" pitchFamily="2" charset="2"/>
              </a:rPr>
              <a:t>    -  </a:t>
            </a:r>
            <a:r>
              <a:rPr lang="vi-VN" sz="1500" dirty="0" smtClean="0">
                <a:cs typeface="Times New Roman" panose="02020603050405020304" pitchFamily="18" charset="0"/>
                <a:sym typeface="Wingdings" panose="05000000000000000000" pitchFamily="2" charset="2"/>
              </a:rPr>
              <a:t>Một số vật tư mới phát sinh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đúng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tránh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ảnh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hưởng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đô</a:t>
            </a:r>
            <a:r>
              <a:rPr lang="en-US" sz="1500" dirty="0" smtClean="0">
                <a:cs typeface="Times New Roman" panose="02020603050405020304" pitchFamily="18" charset="0"/>
                <a:sym typeface="Wingdings" panose="05000000000000000000" pitchFamily="2" charset="2"/>
              </a:rPr>
              <a:t>̣</a:t>
            </a:r>
            <a:r>
              <a:rPr lang="vi-VN" sz="1500" dirty="0" smtClean="0">
                <a:cs typeface="Times New Roman" panose="02020603050405020304" pitchFamily="18" charset="0"/>
                <a:sym typeface="Wingdings" panose="05000000000000000000" pitchFamily="2" charset="2"/>
              </a:rPr>
              <a:t>: Doubler</a:t>
            </a:r>
            <a:r>
              <a:rPr lang="en-US" sz="1500" dirty="0" smtClean="0">
                <a:cs typeface="Times New Roman" panose="02020603050405020304" pitchFamily="18" charset="0"/>
                <a:sym typeface="Wingdings" panose="05000000000000000000" pitchFamily="2" charset="2"/>
              </a:rPr>
              <a:t>, Tube </a:t>
            </a:r>
            <a:r>
              <a:rPr lang="en-US" sz="1500" dirty="0" err="1" smtClean="0">
                <a:cs typeface="Times New Roman" panose="02020603050405020304" pitchFamily="18" charset="0"/>
                <a:sym typeface="Wingdings" panose="05000000000000000000" pitchFamily="2" charset="2"/>
              </a:rPr>
              <a:t>assy</a:t>
            </a:r>
            <a:r>
              <a:rPr lang="en-US" sz="1500" dirty="0" smtClean="0">
                <a:cs typeface="Times New Roman" panose="02020603050405020304" pitchFamily="18" charset="0"/>
                <a:sym typeface="Wingdings" panose="05000000000000000000" pitchFamily="2" charset="2"/>
              </a:rPr>
              <a:t>, Joy stick, </a:t>
            </a:r>
            <a:r>
              <a:rPr lang="en-US" sz="1500" dirty="0" err="1" smtClean="0">
                <a:cs typeface="Times New Roman" panose="02020603050405020304" pitchFamily="18" charset="0"/>
                <a:sym typeface="Wingdings" panose="05000000000000000000" pitchFamily="2" charset="2"/>
              </a:rPr>
              <a:t>Fancowl</a:t>
            </a:r>
            <a:r>
              <a:rPr lang="en-US" sz="1500" dirty="0" smtClean="0">
                <a:cs typeface="Times New Roman" panose="02020603050405020304" pitchFamily="18" charset="0"/>
                <a:sym typeface="Wingdings" panose="05000000000000000000" pitchFamily="2" charset="2"/>
              </a:rPr>
              <a:t> LH.</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vi-VN" sz="1500" dirty="0">
                <a:cs typeface="Times New Roman" panose="02020603050405020304" pitchFamily="18" charset="0"/>
                <a:sym typeface="Wingdings" panose="05000000000000000000" pitchFamily="2" charset="2"/>
              </a:rPr>
              <a:t>24/4, </a:t>
            </a:r>
            <a:r>
              <a:rPr lang="vi-VN" sz="1500" dirty="0" smtClean="0">
                <a:cs typeface="Times New Roman" panose="02020603050405020304" pitchFamily="18" charset="0"/>
                <a:sym typeface="Wingdings" panose="05000000000000000000" pitchFamily="2" charset="2"/>
              </a:rPr>
              <a:t>Heavy </a:t>
            </a:r>
            <a:r>
              <a:rPr lang="vi-VN" sz="1500" dirty="0">
                <a:cs typeface="Times New Roman" panose="02020603050405020304" pitchFamily="18" charset="0"/>
                <a:sym typeface="Wingdings" panose="05000000000000000000" pitchFamily="2" charset="2"/>
              </a:rPr>
              <a:t>corrosion APU Door = &gt; Đã tiến hành các bước kiểm tra và phản hồi thông tin cho Airbus, Cần Airbus phàn hồi </a:t>
            </a:r>
            <a:r>
              <a:rPr lang="en-US" sz="1500" dirty="0" err="1" smtClean="0">
                <a:cs typeface="Times New Roman" panose="02020603050405020304" pitchFamily="18" charset="0"/>
                <a:sym typeface="Wingdings" panose="05000000000000000000" pitchFamily="2" charset="2"/>
              </a:rPr>
              <a:t>sớm</a:t>
            </a:r>
            <a:r>
              <a:rPr lang="vi-VN"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có p/a </a:t>
            </a:r>
            <a:r>
              <a:rPr lang="en-US" sz="1500" dirty="0" err="1" smtClean="0">
                <a:cs typeface="Times New Roman" panose="02020603050405020304" pitchFamily="18" charset="0"/>
                <a:sym typeface="Wingdings" panose="05000000000000000000" pitchFamily="2" charset="2"/>
              </a:rPr>
              <a:t>xư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ly</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a:t>
            </a:r>
            <a:r>
              <a:rPr lang="es-ES" sz="1500" b="1" dirty="0" smtClean="0">
                <a:solidFill>
                  <a:srgbClr val="FF0000"/>
                </a:solidFill>
                <a:cs typeface="Times New Roman" panose="02020603050405020304" pitchFamily="18" charset="0"/>
                <a:sym typeface="Wingdings" panose="05000000000000000000" pitchFamily="2" charset="2"/>
              </a:rPr>
              <a:t>2. </a:t>
            </a:r>
            <a:r>
              <a:rPr lang="en-US" sz="1500" b="1" dirty="0" smtClean="0">
                <a:solidFill>
                  <a:srgbClr val="FF0000"/>
                </a:solidFill>
                <a:cs typeface="Times New Roman" panose="02020603050405020304" pitchFamily="18" charset="0"/>
                <a:sym typeface="Wingdings" panose="05000000000000000000" pitchFamily="2" charset="2"/>
              </a:rPr>
              <a:t>A398_HAN_18 MO_27-28/4: On sked</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vừa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vào</a:t>
            </a:r>
            <a:r>
              <a:rPr lang="en-US" sz="1500" dirty="0" smtClean="0">
                <a:cs typeface="Times New Roman" panose="02020603050405020304" pitchFamily="18" charset="0"/>
                <a:sym typeface="Wingdings" panose="05000000000000000000" pitchFamily="2" charset="2"/>
              </a:rPr>
              <a:t> Check </a:t>
            </a:r>
            <a:r>
              <a:rPr lang="en-US" sz="1500" dirty="0" err="1" smtClean="0">
                <a:cs typeface="Times New Roman" panose="02020603050405020304" pitchFamily="18" charset="0"/>
                <a:sym typeface="Wingdings" panose="05000000000000000000" pitchFamily="2" charset="2"/>
              </a:rPr>
              <a:t>chưa</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phát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sinh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lớn</a:t>
            </a:r>
            <a:r>
              <a:rPr lang="en-US" sz="1500" dirty="0" smtClean="0">
                <a:cs typeface="Times New Roman" panose="02020603050405020304" pitchFamily="18" charset="0"/>
                <a:sym typeface="Wingdings" panose="05000000000000000000" pitchFamily="2" charset="2"/>
              </a:rPr>
              <a:t>.</a:t>
            </a:r>
            <a:endParaRPr lang="es-ES" sz="1500" dirty="0" smtClean="0">
              <a:cs typeface="Times New Roman" panose="02020603050405020304" pitchFamily="18" charset="0"/>
              <a:sym typeface="Wingdings" panose="05000000000000000000" pitchFamily="2" charset="2"/>
            </a:endParaRPr>
          </a:p>
          <a:p>
            <a:pPr marL="12700" indent="0">
              <a:lnSpc>
                <a:spcPct val="120000"/>
              </a:lnSpc>
              <a:buSzPts val="1100"/>
              <a:buNone/>
            </a:pPr>
            <a:r>
              <a:rPr lang="en-US" sz="1500" b="1" dirty="0" smtClean="0">
                <a:cs typeface="Times New Roman" panose="02020603050405020304" pitchFamily="18" charset="0"/>
              </a:rPr>
              <a:t>II. </a:t>
            </a:r>
            <a:r>
              <a:rPr lang="en-US" sz="1500" b="1" dirty="0">
                <a:cs typeface="Times New Roman" panose="02020603050405020304" pitchFamily="18" charset="0"/>
              </a:rPr>
              <a:t>A350:</a:t>
            </a:r>
            <a:r>
              <a:rPr lang="es-ES" sz="1500" i="1" dirty="0">
                <a:cs typeface="Times New Roman" panose="02020603050405020304" pitchFamily="18" charset="0"/>
                <a:sym typeface="Wingdings" panose="05000000000000000000" pitchFamily="2" charset="2"/>
              </a:rPr>
              <a:t> </a:t>
            </a:r>
          </a:p>
          <a:p>
            <a:pPr marL="12700" indent="0" algn="just">
              <a:buSzPts val="1100"/>
              <a:buNone/>
            </a:pPr>
            <a:r>
              <a:rPr lang="en-US" sz="1500" b="1" dirty="0" smtClean="0">
                <a:solidFill>
                  <a:srgbClr val="FF0000"/>
                </a:solidFill>
                <a:cs typeface="Times New Roman" panose="02020603050405020304" pitchFamily="18" charset="0"/>
                <a:sym typeface="Wingdings" panose="05000000000000000000" pitchFamily="2" charset="2"/>
              </a:rPr>
              <a:t>   1. A898_HAN_ENG1CHG</a:t>
            </a:r>
            <a:r>
              <a:rPr lang="en-US" sz="1500" b="1" dirty="0">
                <a:solidFill>
                  <a:srgbClr val="FF0000"/>
                </a:solidFill>
                <a:cs typeface="Times New Roman" panose="02020603050405020304" pitchFamily="18" charset="0"/>
                <a:sym typeface="Wingdings" panose="05000000000000000000" pitchFamily="2" charset="2"/>
              </a:rPr>
              <a:t>, A12, A01, A02, </a:t>
            </a:r>
            <a:r>
              <a:rPr lang="en-US" sz="1500" b="1" dirty="0" smtClean="0">
                <a:solidFill>
                  <a:srgbClr val="FF0000"/>
                </a:solidFill>
                <a:cs typeface="Times New Roman" panose="02020603050405020304" pitchFamily="18" charset="0"/>
                <a:sym typeface="Wingdings" panose="05000000000000000000" pitchFamily="2" charset="2"/>
              </a:rPr>
              <a:t>RTS_14/4-05/05: Est 27/4</a:t>
            </a:r>
            <a:endParaRPr lang="en-US" sz="15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500" dirty="0" smtClean="0">
                <a:cs typeface="Times New Roman" panose="02020603050405020304" pitchFamily="18" charset="0"/>
                <a:sym typeface="Wingdings" panose="05000000000000000000" pitchFamily="2" charset="2"/>
              </a:rPr>
              <a:t> - </a:t>
            </a:r>
            <a:r>
              <a:rPr lang="en-US" sz="1500" dirty="0" err="1">
                <a:cs typeface="Times New Roman" panose="02020603050405020304" pitchFamily="18" charset="0"/>
                <a:sym typeface="Wingdings" panose="05000000000000000000" pitchFamily="2" charset="2"/>
              </a:rPr>
              <a:t>Tàu</a:t>
            </a:r>
            <a:r>
              <a:rPr lang="en-US" sz="1500" dirty="0">
                <a:cs typeface="Times New Roman" panose="02020603050405020304" pitchFamily="18" charset="0"/>
                <a:sym typeface="Wingdings" panose="05000000000000000000" pitchFamily="2" charset="2"/>
              </a:rPr>
              <a:t> có AD </a:t>
            </a:r>
            <a:r>
              <a:rPr lang="en-US" sz="1500" dirty="0" err="1">
                <a:cs typeface="Times New Roman" panose="02020603050405020304" pitchFamily="18" charset="0"/>
                <a:sym typeface="Wingdings" panose="05000000000000000000" pitchFamily="2" charset="2"/>
              </a:rPr>
              <a:t>chưa</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được</a:t>
            </a:r>
            <a:r>
              <a:rPr lang="en-US" sz="1500" dirty="0">
                <a:cs typeface="Times New Roman" panose="02020603050405020304" pitchFamily="18" charset="0"/>
                <a:sym typeface="Wingdings" panose="05000000000000000000" pitchFamily="2" charset="2"/>
              </a:rPr>
              <a:t> FAA </a:t>
            </a:r>
            <a:r>
              <a:rPr lang="en-US" sz="1500" dirty="0" smtClean="0">
                <a:cs typeface="Times New Roman" panose="02020603050405020304" pitchFamily="18" charset="0"/>
                <a:sym typeface="Wingdings" panose="05000000000000000000" pitchFamily="2" charset="2"/>
              </a:rPr>
              <a:t>Clear (Remain 4 CY) </a:t>
            </a:r>
            <a:r>
              <a:rPr lang="en-US" sz="1500" dirty="0">
                <a:cs typeface="Times New Roman" panose="02020603050405020304" pitchFamily="18" charset="0"/>
                <a:sym typeface="Wingdings" panose="05000000000000000000" pitchFamily="2" charset="2"/>
              </a:rPr>
              <a:t>= &gt; </a:t>
            </a:r>
            <a:r>
              <a:rPr lang="en-US" sz="1500" dirty="0" err="1">
                <a:cs typeface="Times New Roman" panose="02020603050405020304" pitchFamily="18" charset="0"/>
                <a:sym typeface="Wingdings" panose="05000000000000000000" pitchFamily="2" charset="2"/>
              </a:rPr>
              <a:t>Không</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khai</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thác</a:t>
            </a:r>
            <a:r>
              <a:rPr lang="en-US" sz="1500" dirty="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Hoa</a:t>
            </a:r>
            <a:r>
              <a:rPr lang="en-US" sz="1500" dirty="0">
                <a:cs typeface="Times New Roman" panose="02020603050405020304" pitchFamily="18" charset="0"/>
                <a:sym typeface="Wingdings" panose="05000000000000000000" pitchFamily="2" charset="2"/>
              </a:rPr>
              <a:t> Kỳ.</a:t>
            </a:r>
          </a:p>
          <a:p>
            <a:pPr marL="12700" indent="0" algn="just">
              <a:buSzPts val="1100"/>
              <a:buNone/>
            </a:pPr>
            <a:r>
              <a:rPr lang="en-US" sz="1500" dirty="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được</a:t>
            </a:r>
            <a:r>
              <a:rPr lang="en-US" sz="1500" dirty="0" smtClean="0">
                <a:cs typeface="Times New Roman" panose="02020603050405020304" pitchFamily="18" charset="0"/>
                <a:sym typeface="Wingdings" panose="05000000000000000000" pitchFamily="2" charset="2"/>
              </a:rPr>
              <a:t> RTS </a:t>
            </a:r>
            <a:r>
              <a:rPr lang="en-US" sz="1500" dirty="0" err="1" smtClean="0">
                <a:cs typeface="Times New Roman" panose="02020603050405020304" pitchFamily="18" charset="0"/>
                <a:sym typeface="Wingdings" panose="05000000000000000000" pitchFamily="2" charset="2"/>
              </a:rPr>
              <a:t>sau</a:t>
            </a:r>
            <a:r>
              <a:rPr lang="en-US" sz="1500" dirty="0" smtClean="0">
                <a:cs typeface="Times New Roman" panose="02020603050405020304" pitchFamily="18" charset="0"/>
                <a:sym typeface="Wingdings" panose="05000000000000000000" pitchFamily="2" charset="2"/>
              </a:rPr>
              <a:t> BQDB = &gt; Đ/n </a:t>
            </a:r>
            <a:r>
              <a:rPr lang="en-US" sz="1500" dirty="0" err="1" smtClean="0">
                <a:cs typeface="Times New Roman" panose="02020603050405020304" pitchFamily="18" charset="0"/>
                <a:sym typeface="Wingdings" panose="05000000000000000000" pitchFamily="2" charset="2"/>
              </a:rPr>
              <a:t>khai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thác</a:t>
            </a:r>
            <a:r>
              <a:rPr lang="en-US" sz="1500" dirty="0" smtClean="0">
                <a:cs typeface="Times New Roman" panose="02020603050405020304" pitchFamily="18" charset="0"/>
                <a:sym typeface="Wingdings" panose="05000000000000000000" pitchFamily="2" charset="2"/>
              </a:rPr>
              <a:t> 2 </a:t>
            </a:r>
            <a:r>
              <a:rPr lang="en-US" sz="1500" dirty="0" err="1" smtClean="0">
                <a:cs typeface="Times New Roman" panose="02020603050405020304" pitchFamily="18" charset="0"/>
                <a:sym typeface="Wingdings" panose="05000000000000000000" pitchFamily="2" charset="2"/>
              </a:rPr>
              <a:t>chuyến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nội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địa</a:t>
            </a:r>
            <a:r>
              <a:rPr lang="en-US" sz="1500" dirty="0" smtClean="0">
                <a:cs typeface="Times New Roman" panose="02020603050405020304" pitchFamily="18" charset="0"/>
                <a:sym typeface="Wingdings" panose="05000000000000000000" pitchFamily="2" charset="2"/>
              </a:rPr>
              <a:t> HAN-SGN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thê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xư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ly</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nếu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phát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sinh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nếu</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xem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xét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chê</a:t>
            </a:r>
            <a:r>
              <a:rPr lang="en-US" sz="1500" dirty="0" smtClean="0">
                <a:cs typeface="Times New Roman" panose="02020603050405020304" pitchFamily="18" charset="0"/>
                <a:sym typeface="Wingdings" panose="05000000000000000000" pitchFamily="2" charset="2"/>
              </a:rPr>
              <a:t>́ bay VIP </a:t>
            </a:r>
            <a:r>
              <a:rPr lang="en-US" sz="1500" dirty="0" err="1" smtClean="0">
                <a:cs typeface="Times New Roman" panose="02020603050405020304" pitchFamily="18" charset="0"/>
                <a:sym typeface="Wingdings" panose="05000000000000000000" pitchFamily="2" charset="2"/>
              </a:rPr>
              <a:t>chuyến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đầu</a:t>
            </a:r>
            <a:r>
              <a:rPr lang="en-US" sz="1500" dirty="0" smtClean="0">
                <a:cs typeface="Times New Roman" panose="02020603050405020304" pitchFamily="18" charset="0"/>
                <a:sym typeface="Wingdings" panose="05000000000000000000" pitchFamily="2" charset="2"/>
              </a:rPr>
              <a:t>.</a:t>
            </a: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816007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46</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xmlns=""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 2. A899_SGN_ENGCHG_27/4-02/5: On sked</a:t>
            </a:r>
          </a:p>
          <a:p>
            <a:pPr marL="12700" indent="0" algn="just">
              <a:buSzPts val="1100"/>
              <a:buNone/>
            </a:pPr>
            <a:r>
              <a:rPr lang="en-US" sz="1400" dirty="0">
                <a:solidFill>
                  <a:srgbClr val="FF0000"/>
                </a:solidFill>
                <a:cs typeface="Times New Roman" panose="02020603050405020304" pitchFamily="18" charset="0"/>
                <a:sym typeface="Wingdings" panose="05000000000000000000" pitchFamily="2" charset="2"/>
              </a:rPr>
              <a:t> </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Tàu</a:t>
            </a:r>
            <a:r>
              <a:rPr lang="en-US" sz="1400" dirty="0">
                <a:cs typeface="Times New Roman" panose="02020603050405020304" pitchFamily="18" charset="0"/>
                <a:sym typeface="Wingdings" panose="05000000000000000000" pitchFamily="2" charset="2"/>
              </a:rPr>
              <a:t> AOG do </a:t>
            </a:r>
            <a:r>
              <a:rPr lang="en-US" sz="1400" dirty="0" err="1">
                <a:cs typeface="Times New Roman" panose="02020603050405020304" pitchFamily="18" charset="0"/>
                <a:sym typeface="Wingdings" panose="05000000000000000000" pitchFamily="2" charset="2"/>
              </a:rPr>
              <a:t>lỗi</a:t>
            </a:r>
            <a:r>
              <a:rPr lang="en-US" sz="1400" dirty="0">
                <a:cs typeface="Times New Roman" panose="02020603050405020304" pitchFamily="18" charset="0"/>
                <a:sym typeface="Wingdings" panose="05000000000000000000" pitchFamily="2" charset="2"/>
              </a:rPr>
              <a:t> ENG 1.</a:t>
            </a:r>
          </a:p>
          <a:p>
            <a:pPr marL="12700" indent="0" algn="just">
              <a:buSzPts val="1100"/>
              <a:buNone/>
            </a:pPr>
            <a:r>
              <a:rPr lang="en-US" sz="1400" dirty="0">
                <a:cs typeface="Times New Roman" panose="02020603050405020304" pitchFamily="18" charset="0"/>
                <a:sym typeface="Wingdings" panose="05000000000000000000" pitchFamily="2" charset="2"/>
              </a:rPr>
              <a:t> - VAECO </a:t>
            </a:r>
            <a:r>
              <a:rPr lang="en-US" sz="1400" dirty="0" err="1">
                <a:cs typeface="Times New Roman" panose="02020603050405020304" pitchFamily="18" charset="0"/>
                <a:sym typeface="Wingdings" panose="05000000000000000000" pitchFamily="2" charset="2"/>
              </a:rPr>
              <a:t>đang</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triển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khai</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tháo</a:t>
            </a:r>
            <a:r>
              <a:rPr lang="en-US" sz="1400" dirty="0">
                <a:cs typeface="Times New Roman" panose="02020603050405020304" pitchFamily="18" charset="0"/>
                <a:sym typeface="Wingdings" panose="05000000000000000000" pitchFamily="2" charset="2"/>
              </a:rPr>
              <a:t> ENG #1, ENG </a:t>
            </a:r>
            <a:r>
              <a:rPr lang="en-US" sz="1400" dirty="0" err="1">
                <a:cs typeface="Times New Roman" panose="02020603050405020304" pitchFamily="18" charset="0"/>
                <a:sym typeface="Wingdings" panose="05000000000000000000" pitchFamily="2" charset="2"/>
              </a:rPr>
              <a:t>mới</a:t>
            </a:r>
            <a:r>
              <a:rPr lang="en-US" sz="1400" dirty="0">
                <a:cs typeface="Times New Roman" panose="02020603050405020304" pitchFamily="18" charset="0"/>
                <a:sym typeface="Wingdings" panose="05000000000000000000" pitchFamily="2" charset="2"/>
              </a:rPr>
              <a:t> avail VAECO SGN </a:t>
            </a:r>
            <a:r>
              <a:rPr lang="en-US" sz="1400" dirty="0" err="1">
                <a:cs typeface="Times New Roman" panose="02020603050405020304" pitchFamily="18" charset="0"/>
                <a:sym typeface="Wingdings" panose="05000000000000000000" pitchFamily="2" charset="2"/>
              </a:rPr>
              <a:t>chiều</a:t>
            </a:r>
            <a:r>
              <a:rPr lang="en-US" sz="1400" dirty="0">
                <a:cs typeface="Times New Roman" panose="02020603050405020304" pitchFamily="18" charset="0"/>
                <a:sym typeface="Wingdings" panose="05000000000000000000" pitchFamily="2" charset="2"/>
              </a:rPr>
              <a:t> 27/4.</a:t>
            </a:r>
            <a:endParaRPr lang="es-ES" sz="1400" b="1" dirty="0" smtClean="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400" b="1" dirty="0" smtClean="0">
                <a:cs typeface="Times New Roman" panose="02020603050405020304" pitchFamily="18" charset="0"/>
                <a:sym typeface="Wingdings" panose="05000000000000000000" pitchFamily="2" charset="2"/>
              </a:rPr>
              <a:t>III. B787:</a:t>
            </a:r>
          </a:p>
          <a:p>
            <a:pPr marL="12700" indent="0" algn="just">
              <a:buSzPts val="1100"/>
              <a:buNone/>
            </a:pPr>
            <a:r>
              <a:rPr lang="en-US" sz="1400" b="1" dirty="0" smtClean="0">
                <a:solidFill>
                  <a:srgbClr val="FF0000"/>
                </a:solidFill>
                <a:cs typeface="Times New Roman" panose="02020603050405020304" pitchFamily="18" charset="0"/>
                <a:sym typeface="Wingdings" panose="05000000000000000000" pitchFamily="2" charset="2"/>
              </a:rPr>
              <a:t> 1. A861_SGN_REMAIN </a:t>
            </a:r>
            <a:r>
              <a:rPr lang="en-US" sz="1400" b="1" dirty="0">
                <a:solidFill>
                  <a:srgbClr val="FF0000"/>
                </a:solidFill>
                <a:cs typeface="Times New Roman" panose="02020603050405020304" pitchFamily="18" charset="0"/>
                <a:sym typeface="Wingdings" panose="05000000000000000000" pitchFamily="2" charset="2"/>
              </a:rPr>
              <a:t>TASK A06, C01, C03, ENGCHG_21/4-06/5: </a:t>
            </a:r>
            <a:r>
              <a:rPr lang="en-US" sz="1400" b="1" dirty="0" smtClean="0">
                <a:solidFill>
                  <a:srgbClr val="FF0000"/>
                </a:solidFill>
                <a:cs typeface="Times New Roman" panose="02020603050405020304" pitchFamily="18" charset="0"/>
                <a:sym typeface="Wingdings" panose="05000000000000000000" pitchFamily="2" charset="2"/>
              </a:rPr>
              <a:t>On sked</a:t>
            </a: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HARNESS, PN: </a:t>
            </a:r>
            <a:r>
              <a:rPr lang="vi-VN" sz="1400" dirty="0" smtClean="0">
                <a:cs typeface="Times New Roman" panose="02020603050405020304" pitchFamily="18" charset="0"/>
                <a:sym typeface="Wingdings" panose="05000000000000000000" pitchFamily="2" charset="2"/>
              </a:rPr>
              <a:t>668Z701153-15</a:t>
            </a: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dự </a:t>
            </a:r>
            <a:r>
              <a:rPr lang="vi-VN" sz="1400" dirty="0">
                <a:cs typeface="Times New Roman" panose="02020603050405020304" pitchFamily="18" charset="0"/>
                <a:sym typeface="Wingdings" panose="05000000000000000000" pitchFamily="2" charset="2"/>
              </a:rPr>
              <a:t>kiến về muộn. Đ/n </a:t>
            </a:r>
            <a:r>
              <a:rPr lang="vi-VN" sz="1400" dirty="0" smtClean="0">
                <a:cs typeface="Times New Roman" panose="02020603050405020304" pitchFamily="18" charset="0"/>
                <a:sym typeface="Wingdings" panose="05000000000000000000" pitchFamily="2" charset="2"/>
              </a:rPr>
              <a:t>CƯVT</a:t>
            </a: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push hàng về đúng hạn, hạn chế việc </a:t>
            </a:r>
            <a:r>
              <a:rPr lang="en-US" sz="1400" dirty="0">
                <a:cs typeface="Times New Roman" panose="02020603050405020304" pitchFamily="18" charset="0"/>
                <a:sym typeface="Wingdings" panose="05000000000000000000" pitchFamily="2" charset="2"/>
              </a:rPr>
              <a:t>D</a:t>
            </a:r>
            <a:r>
              <a:rPr lang="vi-VN" sz="1400" dirty="0" smtClean="0">
                <a:cs typeface="Times New Roman" panose="02020603050405020304" pitchFamily="18" charset="0"/>
                <a:sym typeface="Wingdings" panose="05000000000000000000" pitchFamily="2" charset="2"/>
              </a:rPr>
              <a:t>ừng </a:t>
            </a:r>
            <a:r>
              <a:rPr lang="vi-VN" sz="1400" dirty="0">
                <a:cs typeface="Times New Roman" panose="02020603050405020304" pitchFamily="18" charset="0"/>
                <a:sym typeface="Wingdings" panose="05000000000000000000" pitchFamily="2" charset="2"/>
              </a:rPr>
              <a:t>overlap/ Rob</a:t>
            </a:r>
            <a:r>
              <a:rPr lang="vi-VN" sz="1400" dirty="0" smtClean="0">
                <a:cs typeface="Times New Roman" panose="02020603050405020304" pitchFamily="18" charset="0"/>
                <a:sym typeface="Wingdings" panose="05000000000000000000" pitchFamily="2" charset="2"/>
              </a:rPr>
              <a:t>.</a:t>
            </a:r>
            <a:endParaRPr lang="en-US" sz="1400" dirty="0">
              <a:cs typeface="Times New Roman" panose="02020603050405020304" pitchFamily="18" charset="0"/>
              <a:sym typeface="Wingdings" panose="05000000000000000000" pitchFamily="2" charset="2"/>
            </a:endParaRPr>
          </a:p>
          <a:p>
            <a:pPr marL="12700" indent="0" algn="just">
              <a:lnSpc>
                <a:spcPct val="150000"/>
              </a:lnSpc>
              <a:buSzPts val="1100"/>
              <a:buNone/>
            </a:pPr>
            <a:endParaRPr lang="en-US" sz="1400" dirty="0">
              <a:cs typeface="Times New Roman" panose="02020603050405020304" pitchFamily="18" charset="0"/>
              <a:sym typeface="Wingdings" panose="05000000000000000000" pitchFamily="2" charset="2"/>
            </a:endParaRPr>
          </a:p>
          <a:p>
            <a:pPr marL="12700" indent="0" algn="just">
              <a:buSzPts val="1100"/>
              <a:buNone/>
            </a:pPr>
            <a:r>
              <a:rPr lang="es-ES" sz="1400" b="1" dirty="0" smtClean="0">
                <a:cs typeface="Times New Roman" panose="02020603050405020304" pitchFamily="18" charset="0"/>
                <a:sym typeface="Wingdings" panose="05000000000000000000" pitchFamily="2" charset="2"/>
              </a:rPr>
              <a:t>IV. </a:t>
            </a:r>
            <a:r>
              <a:rPr lang="es-ES" sz="1400" b="1" dirty="0">
                <a:cs typeface="Times New Roman" panose="02020603050405020304" pitchFamily="18" charset="0"/>
                <a:sym typeface="Wingdings" panose="05000000000000000000" pitchFamily="2" charset="2"/>
              </a:rPr>
              <a:t>ATR72:</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1. B218_SGN_Y02+Y04+Y08+SWAP LH LDG WITH B223_03-25/04: Ext </a:t>
            </a:r>
            <a:r>
              <a:rPr lang="en-US" sz="1400" b="1" dirty="0" smtClean="0">
                <a:solidFill>
                  <a:srgbClr val="FF0000"/>
                </a:solidFill>
                <a:cs typeface="Times New Roman" panose="02020603050405020304" pitchFamily="18" charset="0"/>
                <a:sym typeface="Wingdings" panose="05000000000000000000" pitchFamily="2" charset="2"/>
              </a:rPr>
              <a:t>10/5.</a:t>
            </a: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Heavy corosion Skin Doubler/Stiffener FR 44. Cần vật tư Doubler, Stiffener về đúng </a:t>
            </a:r>
            <a:r>
              <a:rPr lang="en-US" sz="1400" dirty="0" smtClean="0">
                <a:cs typeface="Times New Roman" panose="02020603050405020304" pitchFamily="18" charset="0"/>
                <a:sym typeface="Wingdings" panose="05000000000000000000" pitchFamily="2" charset="2"/>
              </a:rPr>
              <a:t>KH</a:t>
            </a:r>
            <a:r>
              <a:rPr lang="vi-VN" sz="1400" dirty="0" smtClean="0">
                <a:cs typeface="Times New Roman" panose="02020603050405020304" pitchFamily="18" charset="0"/>
                <a:sym typeface="Wingdings" panose="05000000000000000000" pitchFamily="2" charset="2"/>
              </a:rPr>
              <a:t> 2</a:t>
            </a:r>
            <a:r>
              <a:rPr lang="en-US" sz="1400" dirty="0" smtClean="0">
                <a:cs typeface="Times New Roman" panose="02020603050405020304" pitchFamily="18" charset="0"/>
                <a:sym typeface="Wingdings" panose="05000000000000000000" pitchFamily="2" charset="2"/>
              </a:rPr>
              <a:t>8</a:t>
            </a:r>
            <a:r>
              <a:rPr lang="vi-VN" sz="1400" dirty="0" smtClean="0">
                <a:cs typeface="Times New Roman" panose="02020603050405020304" pitchFamily="18" charset="0"/>
                <a:sym typeface="Wingdings" panose="05000000000000000000" pitchFamily="2" charset="2"/>
              </a:rPr>
              <a:t>/</a:t>
            </a:r>
            <a:r>
              <a:rPr lang="en-US" sz="1400" dirty="0" smtClean="0">
                <a:cs typeface="Times New Roman" panose="02020603050405020304" pitchFamily="18" charset="0"/>
                <a:sym typeface="Wingdings" panose="05000000000000000000" pitchFamily="2" charset="2"/>
              </a:rPr>
              <a:t>4.</a:t>
            </a: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- 17/4, Found heavy corrosion Lower Frame Segment LH 41, TAR 14712, chờ phản hồi</a:t>
            </a:r>
            <a:r>
              <a:rPr lang="en-US" sz="1400" dirty="0" smtClean="0">
                <a:cs typeface="Times New Roman" panose="02020603050405020304" pitchFamily="18" charset="0"/>
                <a:sym typeface="Wingdings" panose="05000000000000000000" pitchFamily="2" charset="2"/>
              </a:rPr>
              <a:t>, ATR </a:t>
            </a:r>
            <a:r>
              <a:rPr lang="en-US" sz="1400" dirty="0" err="1" smtClean="0">
                <a:cs typeface="Times New Roman" panose="02020603050405020304" pitchFamily="18" charset="0"/>
                <a:sym typeface="Wingdings" panose="05000000000000000000" pitchFamily="2" charset="2"/>
              </a:rPr>
              <a:t>dư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kiến</a:t>
            </a:r>
            <a:r>
              <a:rPr lang="en-US" sz="1400" dirty="0" smtClean="0">
                <a:cs typeface="Times New Roman" panose="02020603050405020304" pitchFamily="18" charset="0"/>
                <a:sym typeface="Wingdings" panose="05000000000000000000" pitchFamily="2" charset="2"/>
              </a:rPr>
              <a:t> 27/4 </a:t>
            </a:r>
            <a:r>
              <a:rPr lang="en-US" sz="1400" dirty="0" err="1" smtClean="0">
                <a:cs typeface="Times New Roman" panose="02020603050405020304" pitchFamily="18" charset="0"/>
                <a:sym typeface="Wingdings" panose="05000000000000000000" pitchFamily="2" charset="2"/>
              </a:rPr>
              <a:t>tra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lời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phương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án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ly</a:t>
            </a:r>
            <a:r>
              <a:rPr lang="vi-VN" sz="1400" dirty="0" smtClean="0">
                <a:cs typeface="Times New Roman" panose="02020603050405020304" pitchFamily="18" charset="0"/>
                <a:sym typeface="Wingdings" panose="05000000000000000000" pitchFamily="2" charset="2"/>
              </a:rPr>
              <a:t>.</a:t>
            </a: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Swap </a:t>
            </a:r>
            <a:r>
              <a:rPr lang="vi-VN" sz="1400" dirty="0">
                <a:cs typeface="Times New Roman" panose="02020603050405020304" pitchFamily="18" charset="0"/>
                <a:sym typeface="Wingdings" panose="05000000000000000000" pitchFamily="2" charset="2"/>
              </a:rPr>
              <a:t>càng </a:t>
            </a:r>
            <a:r>
              <a:rPr lang="vi-VN" sz="1400" dirty="0" smtClean="0">
                <a:cs typeface="Times New Roman" panose="02020603050405020304" pitchFamily="18" charset="0"/>
                <a:sym typeface="Wingdings" panose="05000000000000000000" pitchFamily="2" charset="2"/>
              </a:rPr>
              <a:t>B219 </a:t>
            </a:r>
            <a:r>
              <a:rPr lang="vi-VN" sz="1400" dirty="0">
                <a:cs typeface="Times New Roman" panose="02020603050405020304" pitchFamily="18" charset="0"/>
                <a:sym typeface="Wingdings" panose="05000000000000000000" pitchFamily="2" charset="2"/>
              </a:rPr>
              <a:t>cho B218 khai thác, các nội dung check sẽ hoàn thiện trước </a:t>
            </a:r>
            <a:r>
              <a:rPr lang="vi-VN" sz="1400" dirty="0" smtClean="0">
                <a:cs typeface="Times New Roman" panose="02020603050405020304" pitchFamily="18" charset="0"/>
                <a:sym typeface="Wingdings" panose="05000000000000000000" pitchFamily="2" charset="2"/>
              </a:rPr>
              <a:t>05/5</a:t>
            </a:r>
            <a:r>
              <a:rPr lang="en-US" sz="1400" dirty="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 &gt; </a:t>
            </a:r>
            <a:r>
              <a:rPr lang="en-US" sz="1400" dirty="0" err="1" smtClean="0">
                <a:cs typeface="Times New Roman" panose="02020603050405020304" pitchFamily="18" charset="0"/>
                <a:sym typeface="Wingdings" panose="05000000000000000000" pitchFamily="2" charset="2"/>
              </a:rPr>
              <a:t>Xem</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xét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càng</a:t>
            </a:r>
            <a:r>
              <a:rPr lang="en-US" sz="1400" dirty="0" smtClean="0">
                <a:cs typeface="Times New Roman" panose="02020603050405020304" pitchFamily="18" charset="0"/>
                <a:sym typeface="Wingdings" panose="05000000000000000000" pitchFamily="2" charset="2"/>
              </a:rPr>
              <a:t> B218 </a:t>
            </a:r>
            <a:r>
              <a:rPr lang="en-US" sz="1400" dirty="0" err="1" smtClean="0">
                <a:cs typeface="Times New Roman" panose="02020603050405020304" pitchFamily="18" charset="0"/>
                <a:sym typeface="Wingdings" panose="05000000000000000000" pitchFamily="2" charset="2"/>
              </a:rPr>
              <a:t>trước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khi</a:t>
            </a:r>
            <a:r>
              <a:rPr lang="en-US" sz="1400" dirty="0" smtClean="0">
                <a:cs typeface="Times New Roman" panose="02020603050405020304" pitchFamily="18" charset="0"/>
                <a:sym typeface="Wingdings" panose="05000000000000000000" pitchFamily="2" charset="2"/>
              </a:rPr>
              <a:t> B219 </a:t>
            </a:r>
            <a:r>
              <a:rPr lang="en-US" sz="1400" dirty="0" err="1" smtClean="0">
                <a:cs typeface="Times New Roman" panose="02020603050405020304" pitchFamily="18" charset="0"/>
                <a:sym typeface="Wingdings" panose="05000000000000000000" pitchFamily="2" charset="2"/>
              </a:rPr>
              <a:t>dừng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hạn</a:t>
            </a:r>
            <a:r>
              <a:rPr lang="en-US" sz="1400" dirty="0" smtClean="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c</a:t>
            </a:r>
            <a:r>
              <a:rPr lang="en-US" sz="1400" dirty="0" err="1" smtClean="0">
                <a:cs typeface="Times New Roman" panose="02020603050405020304" pitchFamily="18" charset="0"/>
                <a:sym typeface="Wingdings" panose="05000000000000000000" pitchFamily="2" charset="2"/>
              </a:rPr>
              <a:t>hê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tối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thời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gian</a:t>
            </a:r>
            <a:r>
              <a:rPr lang="en-US" sz="1400" dirty="0" smtClean="0">
                <a:cs typeface="Times New Roman" panose="02020603050405020304" pitchFamily="18" charset="0"/>
                <a:sym typeface="Wingdings" panose="05000000000000000000" pitchFamily="2" charset="2"/>
              </a:rPr>
              <a:t> Overlap.</a:t>
            </a: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2621510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xmlns=""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6" name="Table 5">
            <a:extLst>
              <a:ext uri="{FF2B5EF4-FFF2-40B4-BE49-F238E27FC236}">
                <a16:creationId xmlns:a16="http://schemas.microsoft.com/office/drawing/2014/main" xmlns="" id="{BB35CC2C-8423-E521-CD4E-293939B98321}"/>
              </a:ext>
            </a:extLst>
          </p:cNvPr>
          <p:cNvGraphicFramePr>
            <a:graphicFrameLocks noGrp="1"/>
          </p:cNvGraphicFramePr>
          <p:nvPr>
            <p:extLst/>
          </p:nvPr>
        </p:nvGraphicFramePr>
        <p:xfrm>
          <a:off x="381000" y="990600"/>
          <a:ext cx="11506198" cy="5562600"/>
        </p:xfrm>
        <a:graphic>
          <a:graphicData uri="http://schemas.openxmlformats.org/drawingml/2006/table">
            <a:tbl>
              <a:tblPr/>
              <a:tblGrid>
                <a:gridCol w="334258">
                  <a:extLst>
                    <a:ext uri="{9D8B030D-6E8A-4147-A177-3AD203B41FA5}">
                      <a16:colId xmlns:a16="http://schemas.microsoft.com/office/drawing/2014/main" xmlns="" val="3525710516"/>
                    </a:ext>
                  </a:extLst>
                </a:gridCol>
                <a:gridCol w="2262672">
                  <a:extLst>
                    <a:ext uri="{9D8B030D-6E8A-4147-A177-3AD203B41FA5}">
                      <a16:colId xmlns:a16="http://schemas.microsoft.com/office/drawing/2014/main" xmlns="" val="2060993390"/>
                    </a:ext>
                  </a:extLst>
                </a:gridCol>
                <a:gridCol w="527099">
                  <a:extLst>
                    <a:ext uri="{9D8B030D-6E8A-4147-A177-3AD203B41FA5}">
                      <a16:colId xmlns:a16="http://schemas.microsoft.com/office/drawing/2014/main" xmlns="" val="2769651570"/>
                    </a:ext>
                  </a:extLst>
                </a:gridCol>
                <a:gridCol w="578524">
                  <a:extLst>
                    <a:ext uri="{9D8B030D-6E8A-4147-A177-3AD203B41FA5}">
                      <a16:colId xmlns:a16="http://schemas.microsoft.com/office/drawing/2014/main" xmlns="" val="1681519571"/>
                    </a:ext>
                  </a:extLst>
                </a:gridCol>
                <a:gridCol w="514244">
                  <a:extLst>
                    <a:ext uri="{9D8B030D-6E8A-4147-A177-3AD203B41FA5}">
                      <a16:colId xmlns:a16="http://schemas.microsoft.com/office/drawing/2014/main" xmlns="" val="2480987328"/>
                    </a:ext>
                  </a:extLst>
                </a:gridCol>
                <a:gridCol w="488531">
                  <a:extLst>
                    <a:ext uri="{9D8B030D-6E8A-4147-A177-3AD203B41FA5}">
                      <a16:colId xmlns:a16="http://schemas.microsoft.com/office/drawing/2014/main" xmlns="" val="309500298"/>
                    </a:ext>
                  </a:extLst>
                </a:gridCol>
                <a:gridCol w="527099">
                  <a:extLst>
                    <a:ext uri="{9D8B030D-6E8A-4147-A177-3AD203B41FA5}">
                      <a16:colId xmlns:a16="http://schemas.microsoft.com/office/drawing/2014/main" xmlns="" val="1782067338"/>
                    </a:ext>
                  </a:extLst>
                </a:gridCol>
                <a:gridCol w="514244">
                  <a:extLst>
                    <a:ext uri="{9D8B030D-6E8A-4147-A177-3AD203B41FA5}">
                      <a16:colId xmlns:a16="http://schemas.microsoft.com/office/drawing/2014/main" xmlns="" val="756116976"/>
                    </a:ext>
                  </a:extLst>
                </a:gridCol>
                <a:gridCol w="527099">
                  <a:extLst>
                    <a:ext uri="{9D8B030D-6E8A-4147-A177-3AD203B41FA5}">
                      <a16:colId xmlns:a16="http://schemas.microsoft.com/office/drawing/2014/main" xmlns="" val="130436723"/>
                    </a:ext>
                  </a:extLst>
                </a:gridCol>
                <a:gridCol w="527099">
                  <a:extLst>
                    <a:ext uri="{9D8B030D-6E8A-4147-A177-3AD203B41FA5}">
                      <a16:colId xmlns:a16="http://schemas.microsoft.com/office/drawing/2014/main" xmlns="" val="2033125473"/>
                    </a:ext>
                  </a:extLst>
                </a:gridCol>
                <a:gridCol w="527099">
                  <a:extLst>
                    <a:ext uri="{9D8B030D-6E8A-4147-A177-3AD203B41FA5}">
                      <a16:colId xmlns:a16="http://schemas.microsoft.com/office/drawing/2014/main" xmlns="" val="3419650201"/>
                    </a:ext>
                  </a:extLst>
                </a:gridCol>
                <a:gridCol w="4178230">
                  <a:extLst>
                    <a:ext uri="{9D8B030D-6E8A-4147-A177-3AD203B41FA5}">
                      <a16:colId xmlns:a16="http://schemas.microsoft.com/office/drawing/2014/main" xmlns="" val="2479167483"/>
                    </a:ext>
                  </a:extLst>
                </a:gridCol>
              </a:tblGrid>
              <a:tr h="456859">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FLEET A321 (CẬP NHẬT 27/04)</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818094248"/>
                  </a:ext>
                </a:extLst>
              </a:tr>
              <a:tr h="553767">
                <a:tc>
                  <a:txBody>
                    <a:bodyPr/>
                    <a:lstStyle/>
                    <a:p>
                      <a:pPr algn="ctr" fontAlgn="ctr"/>
                      <a:r>
                        <a:rPr lang="en-US" sz="1100" b="1" i="0" u="none" strike="noStrike">
                          <a:solidFill>
                            <a:srgbClr val="000000"/>
                          </a:solidFill>
                          <a:effectLst/>
                          <a:latin typeface="Times New Roman" panose="02020603050405020304" pitchFamily="18" charset="0"/>
                        </a:rPr>
                        <a:t>STT</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A/C</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Jun-25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Aug-25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xmlns="" val="2131083321"/>
                  </a:ext>
                </a:extLst>
              </a:tr>
              <a:tr h="1473023">
                <a:tc>
                  <a:txBody>
                    <a:bodyPr/>
                    <a:lstStyle/>
                    <a:p>
                      <a:pPr algn="ctr" fontAlgn="ctr"/>
                      <a:r>
                        <a:rPr lang="en-US" sz="1100" b="1" i="0" u="none" strike="noStrike">
                          <a:solidFill>
                            <a:srgbClr val="000000"/>
                          </a:solidFill>
                          <a:effectLst/>
                          <a:latin typeface="Times New Roman" panose="02020603050405020304" pitchFamily="18" charset="0"/>
                        </a:rPr>
                        <a:t>1</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14.00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 kịch bản thuê thêm 1 ENG trước 05/06 để đảm bảo nguồn lực, </a:t>
                      </a:r>
                      <a:r>
                        <a:rPr lang="vi-VN" sz="1200" b="0" i="0" u="none" strike="noStrike" dirty="0">
                          <a:solidFill>
                            <a:srgbClr val="FF0000"/>
                          </a:solidFill>
                          <a:effectLst/>
                          <a:latin typeface="Times New Roman" panose="02020603050405020304" pitchFamily="18" charset="0"/>
                        </a:rPr>
                        <a:t>nếu không thuê thêm ENG sẽ phát sinh:</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+ 06/2025: tăng 1 tàu dừng</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+ 07/2025: tăng 0.5 tàu dừng</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- 05/2025: tăng 1 tàu do lùi RTS A501 (phát sinh A621 thay ENG)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05609312"/>
                  </a:ext>
                </a:extLst>
              </a:tr>
              <a:tr h="487316">
                <a:tc>
                  <a:txBody>
                    <a:bodyPr/>
                    <a:lstStyle/>
                    <a:p>
                      <a:pPr algn="ctr" fontAlgn="ctr"/>
                      <a:r>
                        <a:rPr lang="en-US" sz="1100" b="1" i="0" u="none" strike="noStrike">
                          <a:solidFill>
                            <a:srgbClr val="000000"/>
                          </a:solidFill>
                          <a:effectLst/>
                          <a:latin typeface="Times New Roman" panose="02020603050405020304" pitchFamily="18" charset="0"/>
                        </a:rPr>
                        <a:t>2</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xmlns="" val="886773308"/>
                  </a:ext>
                </a:extLst>
              </a:tr>
              <a:tr h="1439797">
                <a:tc>
                  <a:txBody>
                    <a:bodyPr/>
                    <a:lstStyle/>
                    <a:p>
                      <a:pPr algn="ctr" fontAlgn="ctr"/>
                      <a:r>
                        <a:rPr lang="en-US" sz="1100" b="1" i="0" u="none" strike="noStrike">
                          <a:solidFill>
                            <a:srgbClr val="000000"/>
                          </a:solidFill>
                          <a:effectLst/>
                          <a:latin typeface="Times New Roman" panose="02020603050405020304" pitchFamily="18" charset="0"/>
                        </a:rPr>
                        <a:t>3</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2.40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3.10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1.20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0.80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FF0000"/>
                          </a:solidFill>
                          <a:effectLst/>
                          <a:latin typeface="Times New Roman" panose="02020603050405020304" pitchFamily="18" charset="0"/>
                        </a:rPr>
                        <a:t>- 08/2025: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0.3 do </a:t>
                      </a:r>
                      <a:r>
                        <a:rPr lang="en-US" sz="1200" b="0" i="0" u="none" strike="noStrike" dirty="0" err="1">
                          <a:solidFill>
                            <a:srgbClr val="FF0000"/>
                          </a:solidFill>
                          <a:effectLst/>
                          <a:latin typeface="Times New Roman" panose="02020603050405020304" pitchFamily="18" charset="0"/>
                        </a:rPr>
                        <a:t>dồn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lịch</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tháng</a:t>
                      </a:r>
                      <a:r>
                        <a:rPr lang="en-US" sz="1200" b="0" i="0" u="none" strike="noStrike" dirty="0">
                          <a:solidFill>
                            <a:srgbClr val="FF0000"/>
                          </a:solidFill>
                          <a:effectLst/>
                          <a:latin typeface="Times New Roman" panose="02020603050405020304" pitchFamily="18" charset="0"/>
                        </a:rPr>
                        <a:t> 7</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- 07/2025: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0.3 do </a:t>
                      </a:r>
                      <a:r>
                        <a:rPr lang="en-US" sz="1200" b="0" i="0" u="none" strike="noStrike" dirty="0" err="1">
                          <a:solidFill>
                            <a:srgbClr val="FF0000"/>
                          </a:solidFill>
                          <a:effectLst/>
                          <a:latin typeface="Times New Roman" panose="02020603050405020304" pitchFamily="18" charset="0"/>
                        </a:rPr>
                        <a:t>dồn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lịch</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tháng</a:t>
                      </a:r>
                      <a:r>
                        <a:rPr lang="en-US" sz="1200" b="0" i="0" u="none" strike="noStrike" dirty="0">
                          <a:solidFill>
                            <a:srgbClr val="FF0000"/>
                          </a:solidFill>
                          <a:effectLst/>
                          <a:latin typeface="Times New Roman" panose="02020603050405020304" pitchFamily="18" charset="0"/>
                        </a:rPr>
                        <a:t> 5 &amp; 6</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- 06/2025: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0.1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A354 </a:t>
                      </a:r>
                      <a:r>
                        <a:rPr lang="en-US" sz="1200" b="0" i="0" u="none" strike="noStrike" dirty="0" err="1">
                          <a:solidFill>
                            <a:srgbClr val="FF0000"/>
                          </a:solidFill>
                          <a:effectLst/>
                          <a:latin typeface="Times New Roman" panose="02020603050405020304" pitchFamily="18" charset="0"/>
                        </a:rPr>
                        <a:t>cần</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thực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hiện</a:t>
                      </a:r>
                      <a:r>
                        <a:rPr lang="en-US" sz="1200" b="0" i="0" u="none" strike="noStrike" dirty="0">
                          <a:solidFill>
                            <a:srgbClr val="FF0000"/>
                          </a:solidFill>
                          <a:effectLst/>
                          <a:latin typeface="Times New Roman" panose="02020603050405020304" pitchFamily="18" charset="0"/>
                        </a:rPr>
                        <a:t> ALI task</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- 05/2025: </a:t>
                      </a:r>
                      <a:r>
                        <a:rPr lang="en-US" sz="1200" b="0" i="0" u="none" strike="noStrike" dirty="0" err="1">
                          <a:solidFill>
                            <a:srgbClr val="FF0000"/>
                          </a:solidFill>
                          <a:effectLst/>
                          <a:latin typeface="Times New Roman" panose="02020603050405020304" pitchFamily="18" charset="0"/>
                        </a:rPr>
                        <a:t>giảm</a:t>
                      </a:r>
                      <a:r>
                        <a:rPr lang="en-US" sz="1200" b="0" i="0" u="none" strike="noStrike" dirty="0">
                          <a:solidFill>
                            <a:srgbClr val="FF0000"/>
                          </a:solidFill>
                          <a:effectLst/>
                          <a:latin typeface="Times New Roman" panose="02020603050405020304" pitchFamily="18" charset="0"/>
                        </a:rPr>
                        <a:t> 0.3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check </a:t>
                      </a:r>
                      <a:r>
                        <a:rPr lang="en-US" sz="1200" b="0" i="0" u="none" strike="noStrike" dirty="0" err="1">
                          <a:solidFill>
                            <a:srgbClr val="FF0000"/>
                          </a:solidFill>
                          <a:effectLst/>
                          <a:latin typeface="Times New Roman" panose="02020603050405020304" pitchFamily="18" charset="0"/>
                        </a:rPr>
                        <a:t>để</a:t>
                      </a:r>
                      <a:r>
                        <a:rPr lang="en-US" sz="1200" b="0" i="0" u="none" strike="noStrike" dirty="0">
                          <a:solidFill>
                            <a:srgbClr val="FF0000"/>
                          </a:solidFill>
                          <a:effectLst/>
                          <a:latin typeface="Times New Roman" panose="02020603050405020304" pitchFamily="18" charset="0"/>
                        </a:rPr>
                        <a:t> bay </a:t>
                      </a:r>
                      <a:r>
                        <a:rPr lang="en-US" sz="1200" b="0" i="0" u="none" strike="noStrike" dirty="0" err="1">
                          <a:solidFill>
                            <a:srgbClr val="FF0000"/>
                          </a:solidFill>
                          <a:effectLst/>
                          <a:latin typeface="Times New Roman" panose="02020603050405020304" pitchFamily="18" charset="0"/>
                        </a:rPr>
                        <a:t>bù</a:t>
                      </a:r>
                      <a:r>
                        <a:rPr lang="en-US" sz="1200" b="0" i="0" u="none" strike="noStrike" dirty="0">
                          <a:solidFill>
                            <a:srgbClr val="FF0000"/>
                          </a:solidFill>
                          <a:effectLst/>
                          <a:latin typeface="Times New Roman" panose="02020603050405020304" pitchFamily="18" charset="0"/>
                        </a:rPr>
                        <a:t> do A501 RTS </a:t>
                      </a:r>
                      <a:r>
                        <a:rPr lang="en-US" sz="1200" b="0" i="0" u="none" strike="noStrike" dirty="0" err="1">
                          <a:solidFill>
                            <a:srgbClr val="FF0000"/>
                          </a:solidFill>
                          <a:effectLst/>
                          <a:latin typeface="Times New Roman" panose="02020603050405020304" pitchFamily="18" charset="0"/>
                        </a:rPr>
                        <a:t>muộn</a:t>
                      </a:r>
                      <a:r>
                        <a:rPr lang="en-US" sz="1200" b="0" i="0" u="none" strike="noStrike" dirty="0">
                          <a:solidFill>
                            <a:srgbClr val="FF0000"/>
                          </a:solidFill>
                          <a:effectLst/>
                          <a:latin typeface="Times New Roman" panose="02020603050405020304" pitchFamily="18" charset="0"/>
                        </a:rPr>
                        <a:t>)</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- 04/2025: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0.8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A354 Y6 </a:t>
                      </a:r>
                      <a:r>
                        <a:rPr lang="en-US" sz="1200" b="0" i="0" u="none" strike="noStrike" dirty="0" err="1">
                          <a:solidFill>
                            <a:srgbClr val="FF0000"/>
                          </a:solidFill>
                          <a:effectLst/>
                          <a:latin typeface="Times New Roman" panose="02020603050405020304" pitchFamily="18" charset="0"/>
                        </a:rPr>
                        <a:t>kéo</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dài</a:t>
                      </a:r>
                      <a:r>
                        <a:rPr lang="en-US" sz="1200" b="0" i="0" u="none" strike="noStrike" dirty="0">
                          <a:solidFill>
                            <a:srgbClr val="FF0000"/>
                          </a:solidFill>
                          <a:effectLst/>
                          <a:latin typeface="Times New Roman" panose="02020603050405020304" pitchFamily="18" charset="0"/>
                        </a:rPr>
                        <a:t> và A621 ENG AOG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173697773"/>
                  </a:ext>
                </a:extLst>
              </a:tr>
              <a:tr h="575919">
                <a:tc>
                  <a:txBody>
                    <a:bodyPr/>
                    <a:lstStyle/>
                    <a:p>
                      <a:pPr algn="ctr" fontAlgn="ctr"/>
                      <a:r>
                        <a:rPr lang="en-US" sz="1100" b="1" i="0" u="none" strike="noStrike">
                          <a:solidFill>
                            <a:srgbClr val="000000"/>
                          </a:solidFill>
                          <a:effectLst/>
                          <a:latin typeface="Times New Roman" panose="02020603050405020304" pitchFamily="18" charset="0"/>
                        </a:rPr>
                        <a:t>4</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17.4</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17.10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13.70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12.30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15.2</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14.0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14.0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xmlns="" val="3465915704"/>
                  </a:ext>
                </a:extLst>
              </a:tr>
              <a:tr h="575919">
                <a:tc>
                  <a:txBody>
                    <a:bodyPr/>
                    <a:lstStyle/>
                    <a:p>
                      <a:pPr algn="ctr" fontAlgn="ctr"/>
                      <a:r>
                        <a:rPr lang="en-US" sz="1100" b="1" i="0" u="none" strike="noStrike">
                          <a:solidFill>
                            <a:srgbClr val="000000"/>
                          </a:solidFill>
                          <a:effectLst/>
                          <a:latin typeface="Times New Roman" panose="02020603050405020304" pitchFamily="18" charset="0"/>
                        </a:rPr>
                        <a:t>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47.6</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47.9</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51.30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52.70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50.00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49.80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FF0000"/>
                          </a:solidFill>
                          <a:effectLst/>
                          <a:latin typeface="Times New Roman" panose="02020603050405020304" pitchFamily="18" charset="0"/>
                        </a:rPr>
                        <a:t>Chưa tính tàu thuê ướt (nếu có)</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668367020"/>
                  </a:ext>
                </a:extLst>
              </a:tr>
            </a:tbl>
          </a:graphicData>
        </a:graphic>
      </p:graphicFrame>
    </p:spTree>
    <p:extLst>
      <p:ext uri="{BB962C8B-B14F-4D97-AF65-F5344CB8AC3E}">
        <p14:creationId xmlns:p14="http://schemas.microsoft.com/office/powerpoint/2010/main" val="5392982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xmlns=""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5" name="Table 4">
            <a:extLst>
              <a:ext uri="{FF2B5EF4-FFF2-40B4-BE49-F238E27FC236}">
                <a16:creationId xmlns:a16="http://schemas.microsoft.com/office/drawing/2014/main" xmlns="" id="{1263A1E0-CBC8-2978-7820-28787D7EEFA3}"/>
              </a:ext>
            </a:extLst>
          </p:cNvPr>
          <p:cNvGraphicFramePr>
            <a:graphicFrameLocks noGrp="1"/>
          </p:cNvGraphicFramePr>
          <p:nvPr>
            <p:extLst/>
          </p:nvPr>
        </p:nvGraphicFramePr>
        <p:xfrm>
          <a:off x="304800" y="762000"/>
          <a:ext cx="11699032" cy="5791198"/>
        </p:xfrm>
        <a:graphic>
          <a:graphicData uri="http://schemas.openxmlformats.org/drawingml/2006/table">
            <a:tbl>
              <a:tblPr/>
              <a:tblGrid>
                <a:gridCol w="355026">
                  <a:extLst>
                    <a:ext uri="{9D8B030D-6E8A-4147-A177-3AD203B41FA5}">
                      <a16:colId xmlns:a16="http://schemas.microsoft.com/office/drawing/2014/main" xmlns="" val="1068702201"/>
                    </a:ext>
                  </a:extLst>
                </a:gridCol>
                <a:gridCol w="2427920">
                  <a:extLst>
                    <a:ext uri="{9D8B030D-6E8A-4147-A177-3AD203B41FA5}">
                      <a16:colId xmlns:a16="http://schemas.microsoft.com/office/drawing/2014/main" xmlns="" val="641674578"/>
                    </a:ext>
                  </a:extLst>
                </a:gridCol>
                <a:gridCol w="509982">
                  <a:extLst>
                    <a:ext uri="{9D8B030D-6E8A-4147-A177-3AD203B41FA5}">
                      <a16:colId xmlns:a16="http://schemas.microsoft.com/office/drawing/2014/main" xmlns="" val="2042539116"/>
                    </a:ext>
                  </a:extLst>
                </a:gridCol>
                <a:gridCol w="515361">
                  <a:extLst>
                    <a:ext uri="{9D8B030D-6E8A-4147-A177-3AD203B41FA5}">
                      <a16:colId xmlns:a16="http://schemas.microsoft.com/office/drawing/2014/main" xmlns="" val="1057249473"/>
                    </a:ext>
                  </a:extLst>
                </a:gridCol>
                <a:gridCol w="469551">
                  <a:extLst>
                    <a:ext uri="{9D8B030D-6E8A-4147-A177-3AD203B41FA5}">
                      <a16:colId xmlns:a16="http://schemas.microsoft.com/office/drawing/2014/main" xmlns="" val="2202221306"/>
                    </a:ext>
                  </a:extLst>
                </a:gridCol>
                <a:gridCol w="435193">
                  <a:extLst>
                    <a:ext uri="{9D8B030D-6E8A-4147-A177-3AD203B41FA5}">
                      <a16:colId xmlns:a16="http://schemas.microsoft.com/office/drawing/2014/main" xmlns="" val="3892567927"/>
                    </a:ext>
                  </a:extLst>
                </a:gridCol>
                <a:gridCol w="492456">
                  <a:extLst>
                    <a:ext uri="{9D8B030D-6E8A-4147-A177-3AD203B41FA5}">
                      <a16:colId xmlns:a16="http://schemas.microsoft.com/office/drawing/2014/main" xmlns="" val="2638892246"/>
                    </a:ext>
                  </a:extLst>
                </a:gridCol>
                <a:gridCol w="469551">
                  <a:extLst>
                    <a:ext uri="{9D8B030D-6E8A-4147-A177-3AD203B41FA5}">
                      <a16:colId xmlns:a16="http://schemas.microsoft.com/office/drawing/2014/main" xmlns="" val="2750203390"/>
                    </a:ext>
                  </a:extLst>
                </a:gridCol>
                <a:gridCol w="469551">
                  <a:extLst>
                    <a:ext uri="{9D8B030D-6E8A-4147-A177-3AD203B41FA5}">
                      <a16:colId xmlns:a16="http://schemas.microsoft.com/office/drawing/2014/main" xmlns="" val="2873311299"/>
                    </a:ext>
                  </a:extLst>
                </a:gridCol>
                <a:gridCol w="492456">
                  <a:extLst>
                    <a:ext uri="{9D8B030D-6E8A-4147-A177-3AD203B41FA5}">
                      <a16:colId xmlns:a16="http://schemas.microsoft.com/office/drawing/2014/main" xmlns="" val="3273883618"/>
                    </a:ext>
                  </a:extLst>
                </a:gridCol>
                <a:gridCol w="469551">
                  <a:extLst>
                    <a:ext uri="{9D8B030D-6E8A-4147-A177-3AD203B41FA5}">
                      <a16:colId xmlns:a16="http://schemas.microsoft.com/office/drawing/2014/main" xmlns="" val="1982656878"/>
                    </a:ext>
                  </a:extLst>
                </a:gridCol>
                <a:gridCol w="4592434">
                  <a:extLst>
                    <a:ext uri="{9D8B030D-6E8A-4147-A177-3AD203B41FA5}">
                      <a16:colId xmlns:a16="http://schemas.microsoft.com/office/drawing/2014/main" xmlns="" val="18409739"/>
                    </a:ext>
                  </a:extLst>
                </a:gridCol>
              </a:tblGrid>
              <a:tr h="346140">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A350/B787 (CẬP NHẬT 27/04)</a:t>
                      </a:r>
                    </a:p>
                  </a:txBody>
                  <a:tcPr marL="6198" marR="6198" marT="6198"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11364268"/>
                  </a:ext>
                </a:extLst>
              </a:tr>
              <a:tr h="32726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xmlns="" val="3395931311"/>
                  </a:ext>
                </a:extLst>
              </a:tr>
              <a:tr h="746825">
                <a:tc>
                  <a:txBody>
                    <a:bodyPr/>
                    <a:lstStyle/>
                    <a:p>
                      <a:pPr algn="ctr" fontAlgn="ctr"/>
                      <a:r>
                        <a:rPr lang="en-US" sz="1200" b="0" i="0" u="none" strike="noStrike">
                          <a:solidFill>
                            <a:srgbClr val="000000"/>
                          </a:solidFill>
                          <a:effectLst/>
                          <a:latin typeface="Times New Roman" panose="02020603050405020304" pitchFamily="18" charset="0"/>
                        </a:rPr>
                        <a:t>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FF0000"/>
                          </a:solidFill>
                          <a:effectLst/>
                          <a:latin typeface="Times New Roman" panose="02020603050405020304" pitchFamily="18" charset="0"/>
                        </a:rPr>
                        <a:t>- 08/2025: tăng 0.5 tàu do ENG hết hạn sớm hơn khi lắp 2 động cơ giữ giờ 21436 lên A887 và 21418 lên A886</a:t>
                      </a:r>
                      <a:r>
                        <a:rPr lang="vi-VN" sz="1200" b="0" i="0" u="none" strike="noStrike" dirty="0">
                          <a:solidFill>
                            <a:srgbClr val="000000"/>
                          </a:solidFill>
                          <a:effectLst/>
                          <a:latin typeface="Times New Roman" panose="02020603050405020304" pitchFamily="18" charset="0"/>
                        </a:rPr>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- 06/2025: tăng 0.5 tàu do ENG về muộn</a:t>
                      </a:r>
                      <a:endParaRPr lang="vi-VN" sz="1200" b="0" i="0" u="none" strike="noStrike" dirty="0">
                        <a:solidFill>
                          <a:srgbClr val="000000"/>
                        </a:solidFill>
                        <a:effectLst/>
                        <a:latin typeface="Times New Roman" panose="02020603050405020304" pitchFamily="18" charset="0"/>
                      </a:endParaRP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20364295"/>
                  </a:ext>
                </a:extLst>
              </a:tr>
              <a:tr h="421065">
                <a:tc>
                  <a:txBody>
                    <a:bodyPr/>
                    <a:lstStyle/>
                    <a:p>
                      <a:pPr algn="ctr" fontAlgn="ctr"/>
                      <a:r>
                        <a:rPr lang="en-US" sz="1200" b="0" i="0" u="none" strike="noStrike">
                          <a:solidFill>
                            <a:srgbClr val="000000"/>
                          </a:solidFill>
                          <a:effectLst/>
                          <a:latin typeface="Times New Roman" panose="02020603050405020304" pitchFamily="18" charset="0"/>
                        </a:rPr>
                        <a:t>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1" i="0" u="none" strike="noStrike">
                          <a:solidFill>
                            <a:srgbClr val="000000"/>
                          </a:solidFill>
                          <a:effectLst/>
                          <a:latin typeface="Times New Roman" panose="02020603050405020304" pitchFamily="18" charset="0"/>
                        </a:rPr>
                        <a:t>A350 AOG do thiếu ENG</a:t>
                      </a:r>
                      <a:br>
                        <a:rPr lang="en-US" sz="1200" b="1" i="0" u="none" strike="noStrike">
                          <a:solidFill>
                            <a:srgbClr val="000000"/>
                          </a:solidFill>
                          <a:effectLst/>
                          <a:latin typeface="Times New Roman" panose="02020603050405020304" pitchFamily="18" charset="0"/>
                        </a:rPr>
                      </a:br>
                      <a:r>
                        <a:rPr lang="en-US" sz="1200" b="1" i="0" u="none" strike="noStrike">
                          <a:solidFill>
                            <a:srgbClr val="FF0000"/>
                          </a:solidFill>
                          <a:effectLst/>
                          <a:latin typeface="Times New Roman" panose="02020603050405020304" pitchFamily="18" charset="0"/>
                        </a:rPr>
                        <a:t>Last updated 02/07</a:t>
                      </a:r>
                      <a:endParaRPr lang="en-US" sz="1200" b="1" i="0" u="none" strike="noStrike">
                        <a:solidFill>
                          <a:srgbClr val="000000"/>
                        </a:solidFill>
                        <a:effectLst/>
                        <a:latin typeface="Times New Roman" panose="02020603050405020304" pitchFamily="18" charset="0"/>
                      </a:endParaRP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xmlns="" val="2189610094"/>
                  </a:ext>
                </a:extLst>
              </a:tr>
              <a:tr h="688087">
                <a:tc>
                  <a:txBody>
                    <a:bodyPr/>
                    <a:lstStyle/>
                    <a:p>
                      <a:pPr algn="ctr" fontAlgn="ctr"/>
                      <a:r>
                        <a:rPr lang="en-US" sz="1200" b="0" i="0" u="none" strike="noStrike">
                          <a:solidFill>
                            <a:srgbClr val="000000"/>
                          </a:solidFill>
                          <a:effectLst/>
                          <a:latin typeface="Times New Roman" panose="02020603050405020304" pitchFamily="18" charset="0"/>
                        </a:rPr>
                        <a:t>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- 05/2025: tăng 0.2 tàu do A899 Y6 lùi 3 ngày (lùi dây chuyền từ A892 C4 do VIP), A891 &amp; A896 tăng 1 ngày do kết hợp làm MOD IFC</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689131509"/>
                  </a:ext>
                </a:extLst>
              </a:tr>
              <a:tr h="421065">
                <a:tc>
                  <a:txBody>
                    <a:bodyPr/>
                    <a:lstStyle/>
                    <a:p>
                      <a:pPr algn="ctr" fontAlgn="ctr"/>
                      <a:r>
                        <a:rPr lang="en-US" sz="1200" b="0" i="0" u="none" strike="noStrike">
                          <a:solidFill>
                            <a:srgbClr val="000000"/>
                          </a:solidFill>
                          <a:effectLst/>
                          <a:latin typeface="Times New Roman" panose="02020603050405020304" pitchFamily="18" charset="0"/>
                        </a:rPr>
                        <a:t>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64110023"/>
                  </a:ext>
                </a:extLst>
              </a:tr>
              <a:tr h="421065">
                <a:tc>
                  <a:txBody>
                    <a:bodyPr/>
                    <a:lstStyle/>
                    <a:p>
                      <a:pPr algn="ctr" fontAlgn="ctr"/>
                      <a:r>
                        <a:rPr lang="en-US" sz="1200" b="0" i="0" u="none" strike="noStrike">
                          <a:solidFill>
                            <a:srgbClr val="000000"/>
                          </a:solidFill>
                          <a:effectLst/>
                          <a:latin typeface="Times New Roman" panose="02020603050405020304" pitchFamily="18" charset="0"/>
                        </a:rPr>
                        <a:t>4</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139306758"/>
                  </a:ext>
                </a:extLst>
              </a:tr>
              <a:tr h="419564">
                <a:tc>
                  <a:txBody>
                    <a:bodyPr/>
                    <a:lstStyle/>
                    <a:p>
                      <a:pPr algn="ctr" fontAlgn="ctr"/>
                      <a:r>
                        <a:rPr lang="en-US" sz="1200" b="0" i="0" u="none" strike="noStrike">
                          <a:solidFill>
                            <a:srgbClr val="000000"/>
                          </a:solidFill>
                          <a:effectLst/>
                          <a:latin typeface="Times New Roman" panose="02020603050405020304" pitchFamily="18" charset="0"/>
                        </a:rPr>
                        <a:t>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112855971"/>
                  </a:ext>
                </a:extLst>
              </a:tr>
              <a:tr h="738433">
                <a:tc>
                  <a:txBody>
                    <a:bodyPr/>
                    <a:lstStyle/>
                    <a:p>
                      <a:pPr algn="ctr" fontAlgn="ctr"/>
                      <a:r>
                        <a:rPr lang="en-US" sz="1200" b="0" i="0" u="none" strike="noStrike">
                          <a:solidFill>
                            <a:srgbClr val="000000"/>
                          </a:solidFill>
                          <a:effectLst/>
                          <a:latin typeface="Times New Roman" panose="02020603050405020304" pitchFamily="18" charset="0"/>
                        </a:rPr>
                        <a:t>6</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FF0000"/>
                          </a:solidFill>
                          <a:effectLst/>
                          <a:latin typeface="Times New Roman" panose="02020603050405020304" pitchFamily="18" charset="0"/>
                        </a:rPr>
                        <a:t>- 08/2025: tăng 0.2 tàu do A870 Y3 (due: 04/06) xin NN lùi sau cao điểm hè</a:t>
                      </a:r>
                      <a:br>
                        <a:rPr lang="vi-VN" sz="1200" b="0" i="0" u="none" strike="noStrike">
                          <a:solidFill>
                            <a:srgbClr val="FF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- 06/2025: tăng 0.2 tàu do ảnh hưởng thay ENG A871 AOG và bổ sung thay ENG A863 &amp; A873</a:t>
                      </a:r>
                      <a:endParaRPr lang="vi-VN" sz="1200" b="0" i="0" u="none" strike="noStrike">
                        <a:solidFill>
                          <a:srgbClr val="000000"/>
                        </a:solidFill>
                        <a:effectLst/>
                        <a:latin typeface="Times New Roman" panose="02020603050405020304" pitchFamily="18" charset="0"/>
                      </a:endParaRP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3154460211"/>
                  </a:ext>
                </a:extLst>
              </a:tr>
              <a:tr h="421065">
                <a:tc>
                  <a:txBody>
                    <a:bodyPr/>
                    <a:lstStyle/>
                    <a:p>
                      <a:pPr algn="ctr" fontAlgn="ctr"/>
                      <a:r>
                        <a:rPr lang="en-US" sz="1200" b="0" i="0" u="none" strike="noStrike">
                          <a:solidFill>
                            <a:srgbClr val="000000"/>
                          </a:solidFill>
                          <a:effectLst/>
                          <a:latin typeface="Times New Roman" panose="02020603050405020304" pitchFamily="18" charset="0"/>
                        </a:rPr>
                        <a:t>7</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01095748"/>
                  </a:ext>
                </a:extLst>
              </a:tr>
              <a:tr h="419564">
                <a:tc>
                  <a:txBody>
                    <a:bodyPr/>
                    <a:lstStyle/>
                    <a:p>
                      <a:pPr algn="ctr" fontAlgn="ctr"/>
                      <a:r>
                        <a:rPr lang="en-US" sz="1200" b="0" i="0" u="none" strike="noStrike">
                          <a:solidFill>
                            <a:srgbClr val="000000"/>
                          </a:solidFill>
                          <a:effectLst/>
                          <a:latin typeface="Times New Roman" panose="02020603050405020304" pitchFamily="18" charset="0"/>
                        </a:rPr>
                        <a:t>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xmlns="" val="4231873416"/>
                  </a:ext>
                </a:extLst>
              </a:tr>
              <a:tr h="421065">
                <a:tc>
                  <a:txBody>
                    <a:bodyPr/>
                    <a:lstStyle/>
                    <a:p>
                      <a:pPr algn="ctr" fontAlgn="ctr"/>
                      <a:r>
                        <a:rPr lang="en-US" sz="1200" b="0" i="0" u="none" strike="noStrike">
                          <a:solidFill>
                            <a:srgbClr val="000000"/>
                          </a:solidFill>
                          <a:effectLst/>
                          <a:latin typeface="Times New Roman" panose="02020603050405020304" pitchFamily="18" charset="0"/>
                        </a:rPr>
                        <a:t>9</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51071880"/>
                  </a:ext>
                </a:extLst>
              </a:tr>
            </a:tbl>
          </a:graphicData>
        </a:graphic>
      </p:graphicFrame>
    </p:spTree>
    <p:extLst>
      <p:ext uri="{BB962C8B-B14F-4D97-AF65-F5344CB8AC3E}">
        <p14:creationId xmlns:p14="http://schemas.microsoft.com/office/powerpoint/2010/main" val="40818724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49</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17</a:t>
            </a:r>
            <a:endParaRPr lang="vi-VN" sz="2700" dirty="0"/>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05</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05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12ea,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08ea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001</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111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110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16: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15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35ea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kiểm soát</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16: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212 (</a:t>
            </a:r>
            <a:r>
              <a:rPr lang="en-US" sz="1400" dirty="0" err="1">
                <a:latin typeface="Times New Roman" panose="02020603050405020304" pitchFamily="18" charset="0"/>
                <a:cs typeface="Times New Roman" panose="02020603050405020304" pitchFamily="18" charset="0"/>
              </a:rPr>
              <a:t>bằng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16),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66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146ADD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4%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16).</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Hỏng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17</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02,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02,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00.</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11,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06,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683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50</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Chart 5">
            <a:extLst>
              <a:ext uri="{FF2B5EF4-FFF2-40B4-BE49-F238E27FC236}">
                <a16:creationId xmlns:xdr="http://schemas.openxmlformats.org/drawingml/2006/spreadsheetDrawing" xmlns="" xmlns:a16="http://schemas.microsoft.com/office/drawing/2014/main" xmlns:lc="http://schemas.openxmlformats.org/drawingml/2006/lockedCanvas" id="{00000000-0008-0000-0900-000007000000}"/>
              </a:ext>
            </a:extLst>
          </p:cNvPr>
          <p:cNvGraphicFramePr>
            <a:graphicFrameLocks/>
          </p:cNvGraphicFramePr>
          <p:nvPr>
            <p:extLst>
              <p:ext uri="{D42A27DB-BD31-4B8C-83A1-F6EECF244321}">
                <p14:modId xmlns:p14="http://schemas.microsoft.com/office/powerpoint/2010/main" val="2058223294"/>
              </p:ext>
            </p:extLst>
          </p:nvPr>
        </p:nvGraphicFramePr>
        <p:xfrm>
          <a:off x="4038600" y="710645"/>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083550921"/>
              </p:ext>
            </p:extLst>
          </p:nvPr>
        </p:nvGraphicFramePr>
        <p:xfrm>
          <a:off x="533400" y="3276600"/>
          <a:ext cx="10591799" cy="1904998"/>
        </p:xfrm>
        <a:graphic>
          <a:graphicData uri="http://schemas.openxmlformats.org/drawingml/2006/table">
            <a:tbl>
              <a:tblPr/>
              <a:tblGrid>
                <a:gridCol w="241722"/>
                <a:gridCol w="1545553"/>
                <a:gridCol w="498093"/>
                <a:gridCol w="537159"/>
                <a:gridCol w="4211814"/>
                <a:gridCol w="600641"/>
                <a:gridCol w="976653"/>
                <a:gridCol w="1562644"/>
                <a:gridCol w="417520"/>
              </a:tblGrid>
              <a:tr h="192100">
                <a:tc gridSpan="9">
                  <a:txBody>
                    <a:bodyPr/>
                    <a:lstStyle/>
                    <a:p>
                      <a:pPr algn="ctr" fontAlgn="ctr"/>
                      <a:r>
                        <a:rPr lang="vi-VN" sz="1000" b="1" i="0" u="none" strike="noStrike">
                          <a:solidFill>
                            <a:srgbClr val="000000"/>
                          </a:solidFill>
                          <a:effectLst/>
                          <a:latin typeface="Times New Roman" panose="02020603050405020304" pitchFamily="18" charset="0"/>
                        </a:rPr>
                        <a:t>BẢNG TỔNG HỢP VÀ THEO DÕI NHÂN NHƯỢNG - VIETNAM AIRLINES</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92100">
                <a:tc>
                  <a:txBody>
                    <a:bodyPr/>
                    <a:lstStyle/>
                    <a:p>
                      <a:pPr algn="ctr" fontAlgn="ctr"/>
                      <a:r>
                        <a:rPr lang="en-US" sz="1000" b="1" i="0" u="none" strike="noStrike">
                          <a:solidFill>
                            <a:srgbClr val="000000"/>
                          </a:solidFill>
                          <a:effectLst/>
                          <a:latin typeface="Times New Roman" panose="02020603050405020304" pitchFamily="18" charset="0"/>
                        </a:rPr>
                        <a:t>No</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Concession No.</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Type</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Reg</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Description</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By</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Date</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ADD/CHK/Task No</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Status</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76302">
                <a:tc>
                  <a:txBody>
                    <a:bodyPr/>
                    <a:lstStyle/>
                    <a:p>
                      <a:pPr algn="ctr" fontAlgn="ctr"/>
                      <a:r>
                        <a:rPr lang="en-US" sz="900" b="0" i="0" u="none" strike="noStrike">
                          <a:solidFill>
                            <a:srgbClr val="000000"/>
                          </a:solidFill>
                          <a:effectLst/>
                          <a:latin typeface="Times New Roman" panose="02020603050405020304" pitchFamily="18" charset="0"/>
                        </a:rPr>
                        <a:t>1</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HVN/VN-A619/2025-04-25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ADD</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A619</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ADD B794  IS RAISED SEAL OF FIX FAIRING 633EB, 631EB,531EB, 532EB, 533EB DAM-AGEDREF CDL 27-15-00 REV 04 DEC 2024 DEADLINE 11086 FLIGHT HOURS. Đã gửi HSNN lên Skyoffice tối 21/04</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CAAV</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25-04-25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ADD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2185">
                <a:tc>
                  <a:txBody>
                    <a:bodyPr/>
                    <a:lstStyle/>
                    <a:p>
                      <a:pPr algn="ctr" fontAlgn="ctr"/>
                      <a:r>
                        <a:rPr lang="en-US" sz="900" b="0" i="0" u="none" strike="noStrike">
                          <a:solidFill>
                            <a:srgbClr val="000000"/>
                          </a:solidFill>
                          <a:effectLst/>
                          <a:latin typeface="Times New Roman" panose="02020603050405020304" pitchFamily="18" charset="0"/>
                        </a:rPr>
                        <a:t>2</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HVN/VN-A862/2025-04-24</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ADD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A862</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Times New Roman" panose="02020603050405020304" pitchFamily="18" charset="0"/>
                        </a:rPr>
                        <a:t>ADD B1331 IS RAISED: STS MSG FUEL PUMP CENTER R, IAW MEL 28-22-02A R9, CAT C, EXP: 19-APR-2025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CAAV</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24-04-25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Times New Roman" panose="02020603050405020304" pitchFamily="18" charset="0"/>
                        </a:rPr>
                        <a:t>ADD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8109">
                <a:tc>
                  <a:txBody>
                    <a:bodyPr/>
                    <a:lstStyle/>
                    <a:p>
                      <a:pPr algn="ctr" fontAlgn="ctr"/>
                      <a:r>
                        <a:rPr lang="en-US" sz="900" b="0" i="0" u="none" strike="noStrike">
                          <a:solidFill>
                            <a:srgbClr val="000000"/>
                          </a:solidFill>
                          <a:effectLst/>
                          <a:latin typeface="Times New Roman" panose="02020603050405020304" pitchFamily="18" charset="0"/>
                        </a:rPr>
                        <a:t>3</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863-05/25</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CHK</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A863</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Group task A06 check</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24-04-2025</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task</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4202">
                <a:tc>
                  <a:txBody>
                    <a:bodyPr/>
                    <a:lstStyle/>
                    <a:p>
                      <a:pPr algn="ctr" fontAlgn="ctr"/>
                      <a:r>
                        <a:rPr lang="en-US" sz="900" b="0" i="0" u="none" strike="noStrike">
                          <a:solidFill>
                            <a:srgbClr val="000000"/>
                          </a:solidFill>
                          <a:effectLst/>
                          <a:latin typeface="Times New Roman" panose="02020603050405020304" pitchFamily="18" charset="0"/>
                        </a:rPr>
                        <a:t>4</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899-05/25</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task</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A899</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Calibri" panose="020F0502020204030204" pitchFamily="34" charset="0"/>
                        </a:rPr>
                        <a:t>AMP 278000-00M07-01</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AMP 535000-00M05-01</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SQD</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Calibri" panose="020F0502020204030204" pitchFamily="34" charset="0"/>
                        </a:rPr>
                        <a:t>23-Apr-2025</a:t>
                      </a:r>
                    </a:p>
                  </a:txBody>
                  <a:tcPr marL="6741" marR="6741" marT="674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Calibri" panose="020F0502020204030204" pitchFamily="34" charset="0"/>
                        </a:rPr>
                        <a:t>task</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 </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177956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xmlns="" val="4293334556"/>
                    </a:ext>
                  </a:extLst>
                </a:gridCol>
                <a:gridCol w="1118287">
                  <a:extLst>
                    <a:ext uri="{9D8B030D-6E8A-4147-A177-3AD203B41FA5}">
                      <a16:colId xmlns:a16="http://schemas.microsoft.com/office/drawing/2014/main" xmlns="" val="3593396119"/>
                    </a:ext>
                  </a:extLst>
                </a:gridCol>
                <a:gridCol w="948420">
                  <a:extLst>
                    <a:ext uri="{9D8B030D-6E8A-4147-A177-3AD203B41FA5}">
                      <a16:colId xmlns:a16="http://schemas.microsoft.com/office/drawing/2014/main" xmlns="" val="1444269426"/>
                    </a:ext>
                  </a:extLst>
                </a:gridCol>
                <a:gridCol w="990886">
                  <a:extLst>
                    <a:ext uri="{9D8B030D-6E8A-4147-A177-3AD203B41FA5}">
                      <a16:colId xmlns:a16="http://schemas.microsoft.com/office/drawing/2014/main" xmlns="" val="2696731085"/>
                    </a:ext>
                  </a:extLst>
                </a:gridCol>
                <a:gridCol w="1104130">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236:05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296:25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226:35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xmlns="" val="4293334556"/>
                    </a:ext>
                  </a:extLst>
                </a:gridCol>
                <a:gridCol w="1155092">
                  <a:extLst>
                    <a:ext uri="{9D8B030D-6E8A-4147-A177-3AD203B41FA5}">
                      <a16:colId xmlns:a16="http://schemas.microsoft.com/office/drawing/2014/main" xmlns="" val="3593396119"/>
                    </a:ext>
                  </a:extLst>
                </a:gridCol>
                <a:gridCol w="979634">
                  <a:extLst>
                    <a:ext uri="{9D8B030D-6E8A-4147-A177-3AD203B41FA5}">
                      <a16:colId xmlns:a16="http://schemas.microsoft.com/office/drawing/2014/main" xmlns="" val="1444269426"/>
                    </a:ext>
                  </a:extLst>
                </a:gridCol>
                <a:gridCol w="1023497">
                  <a:extLst>
                    <a:ext uri="{9D8B030D-6E8A-4147-A177-3AD203B41FA5}">
                      <a16:colId xmlns:a16="http://schemas.microsoft.com/office/drawing/2014/main" xmlns="" val="2696731085"/>
                    </a:ext>
                  </a:extLst>
                </a:gridCol>
                <a:gridCol w="1140468">
                  <a:extLst>
                    <a:ext uri="{9D8B030D-6E8A-4147-A177-3AD203B41FA5}">
                      <a16:colId xmlns:a16="http://schemas.microsoft.com/office/drawing/2014/main" xmlns=""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248:55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192:10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577:45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83284901"/>
                  </a:ext>
                </a:extLst>
              </a:tr>
            </a:tbl>
          </a:graphicData>
        </a:graphic>
      </p:graphicFrame>
      <p:graphicFrame>
        <p:nvGraphicFramePr>
          <p:cNvPr id="11" name="Chart 10"/>
          <p:cNvGraphicFramePr>
            <a:graphicFrameLocks/>
          </p:cNvGraphicFramePr>
          <p:nvPr>
            <p:extLst/>
          </p:nvPr>
        </p:nvGraphicFramePr>
        <p:xfrm>
          <a:off x="1059507" y="938089"/>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68229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xmlns="" val="4007203340"/>
                    </a:ext>
                  </a:extLst>
                </a:gridCol>
                <a:gridCol w="664419">
                  <a:extLst>
                    <a:ext uri="{9D8B030D-6E8A-4147-A177-3AD203B41FA5}">
                      <a16:colId xmlns:a16="http://schemas.microsoft.com/office/drawing/2014/main" xmlns="" val="426832351"/>
                    </a:ext>
                  </a:extLst>
                </a:gridCol>
                <a:gridCol w="558394">
                  <a:extLst>
                    <a:ext uri="{9D8B030D-6E8A-4147-A177-3AD203B41FA5}">
                      <a16:colId xmlns:a16="http://schemas.microsoft.com/office/drawing/2014/main" xmlns="" val="1721542108"/>
                    </a:ext>
                  </a:extLst>
                </a:gridCol>
                <a:gridCol w="558394">
                  <a:extLst>
                    <a:ext uri="{9D8B030D-6E8A-4147-A177-3AD203B41FA5}">
                      <a16:colId xmlns:a16="http://schemas.microsoft.com/office/drawing/2014/main" xmlns="" val="1471932876"/>
                    </a:ext>
                  </a:extLst>
                </a:gridCol>
                <a:gridCol w="558394">
                  <a:extLst>
                    <a:ext uri="{9D8B030D-6E8A-4147-A177-3AD203B41FA5}">
                      <a16:colId xmlns:a16="http://schemas.microsoft.com/office/drawing/2014/main" xmlns="" val="4014421323"/>
                    </a:ext>
                  </a:extLst>
                </a:gridCol>
                <a:gridCol w="558394">
                  <a:extLst>
                    <a:ext uri="{9D8B030D-6E8A-4147-A177-3AD203B41FA5}">
                      <a16:colId xmlns:a16="http://schemas.microsoft.com/office/drawing/2014/main" xmlns="" val="3056975398"/>
                    </a:ext>
                  </a:extLst>
                </a:gridCol>
                <a:gridCol w="558394">
                  <a:extLst>
                    <a:ext uri="{9D8B030D-6E8A-4147-A177-3AD203B41FA5}">
                      <a16:colId xmlns:a16="http://schemas.microsoft.com/office/drawing/2014/main" xmlns="" val="3963358169"/>
                    </a:ext>
                  </a:extLst>
                </a:gridCol>
                <a:gridCol w="643214">
                  <a:extLst>
                    <a:ext uri="{9D8B030D-6E8A-4147-A177-3AD203B41FA5}">
                      <a16:colId xmlns:a16="http://schemas.microsoft.com/office/drawing/2014/main" xmlns="" val="2287965264"/>
                    </a:ext>
                  </a:extLst>
                </a:gridCol>
                <a:gridCol w="558394">
                  <a:extLst>
                    <a:ext uri="{9D8B030D-6E8A-4147-A177-3AD203B41FA5}">
                      <a16:colId xmlns:a16="http://schemas.microsoft.com/office/drawing/2014/main" xmlns=""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xmlns="" val="3551115474"/>
                    </a:ext>
                  </a:extLst>
                </a:gridCol>
                <a:gridCol w="566020">
                  <a:extLst>
                    <a:ext uri="{9D8B030D-6E8A-4147-A177-3AD203B41FA5}">
                      <a16:colId xmlns:a16="http://schemas.microsoft.com/office/drawing/2014/main" xmlns="" val="1314180557"/>
                    </a:ext>
                  </a:extLst>
                </a:gridCol>
                <a:gridCol w="566020">
                  <a:extLst>
                    <a:ext uri="{9D8B030D-6E8A-4147-A177-3AD203B41FA5}">
                      <a16:colId xmlns:a16="http://schemas.microsoft.com/office/drawing/2014/main" xmlns="" val="2680264810"/>
                    </a:ext>
                  </a:extLst>
                </a:gridCol>
                <a:gridCol w="566020">
                  <a:extLst>
                    <a:ext uri="{9D8B030D-6E8A-4147-A177-3AD203B41FA5}">
                      <a16:colId xmlns:a16="http://schemas.microsoft.com/office/drawing/2014/main" xmlns="" val="184617242"/>
                    </a:ext>
                  </a:extLst>
                </a:gridCol>
                <a:gridCol w="566020">
                  <a:extLst>
                    <a:ext uri="{9D8B030D-6E8A-4147-A177-3AD203B41FA5}">
                      <a16:colId xmlns:a16="http://schemas.microsoft.com/office/drawing/2014/main" xmlns="" val="3552461699"/>
                    </a:ext>
                  </a:extLst>
                </a:gridCol>
                <a:gridCol w="566020">
                  <a:extLst>
                    <a:ext uri="{9D8B030D-6E8A-4147-A177-3AD203B41FA5}">
                      <a16:colId xmlns:a16="http://schemas.microsoft.com/office/drawing/2014/main" xmlns="" val="3621213656"/>
                    </a:ext>
                  </a:extLst>
                </a:gridCol>
                <a:gridCol w="566020">
                  <a:extLst>
                    <a:ext uri="{9D8B030D-6E8A-4147-A177-3AD203B41FA5}">
                      <a16:colId xmlns:a16="http://schemas.microsoft.com/office/drawing/2014/main" xmlns="" val="4002416887"/>
                    </a:ext>
                  </a:extLst>
                </a:gridCol>
                <a:gridCol w="566020">
                  <a:extLst>
                    <a:ext uri="{9D8B030D-6E8A-4147-A177-3AD203B41FA5}">
                      <a16:colId xmlns:a16="http://schemas.microsoft.com/office/drawing/2014/main" xmlns="" val="2192548362"/>
                    </a:ext>
                  </a:extLst>
                </a:gridCol>
                <a:gridCol w="566020">
                  <a:extLst>
                    <a:ext uri="{9D8B030D-6E8A-4147-A177-3AD203B41FA5}">
                      <a16:colId xmlns:a16="http://schemas.microsoft.com/office/drawing/2014/main" xmlns=""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55859539"/>
                  </a:ext>
                </a:extLst>
              </a:tr>
            </a:tbl>
          </a:graphicData>
        </a:graphic>
      </p:graphicFrame>
      <p:graphicFrame>
        <p:nvGraphicFramePr>
          <p:cNvPr id="9" name="Chart 8"/>
          <p:cNvGraphicFramePr>
            <a:graphicFrameLocks/>
          </p:cNvGraphicFramePr>
          <p:nvPr>
            <p:extLst/>
          </p:nvPr>
        </p:nvGraphicFramePr>
        <p:xfrm>
          <a:off x="925417" y="1143000"/>
          <a:ext cx="10521107" cy="21785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569739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nvPr>
        </p:nvGraphicFramePr>
        <p:xfrm>
          <a:off x="983672" y="1371600"/>
          <a:ext cx="10446327" cy="5029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097076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54</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vật tư cho hỏng hóc trên đội bay</a:t>
            </a:r>
            <a:endParaRPr sz="2000" b="1" kern="0">
              <a:solidFill>
                <a:srgbClr val="FF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Tàu AOG:  NIL</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hình tàu check: </a:t>
            </a:r>
            <a:endParaRPr sz="1500" b="1" kern="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A604: EC06+EC01+C02+C03+Y06+Y12+EA08-EA09 (13/04-13/05): hiện phát sinh 2 vật tư, đang giục STEA:</a:t>
            </a:r>
            <a:endParaRPr sz="1500" b="1" kern="0">
              <a:solidFill>
                <a:srgbClr val="000000"/>
              </a:solidFill>
              <a:latin typeface="Times New Roman"/>
              <a:ea typeface="Times New Roman"/>
              <a:cs typeface="Times New Roman"/>
              <a:sym typeface="Times New Roman"/>
            </a:endParaRPr>
          </a:p>
          <a:p>
            <a:pPr algn="just">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buClr>
                <a:srgbClr val="000000"/>
              </a:buClr>
              <a:buFont typeface="Arial"/>
              <a:buNone/>
            </a:pPr>
            <a:endParaRPr sz="1500" b="1" kern="0">
              <a:solidFill>
                <a:srgbClr val="000000"/>
              </a:solidFill>
              <a:latin typeface="Times New Roman"/>
              <a:ea typeface="Times New Roman"/>
              <a:cs typeface="Times New Roman"/>
              <a:sym typeface="Times New Roman"/>
            </a:endParaRPr>
          </a:p>
          <a:p>
            <a:pPr marL="914400" lvl="1"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A605: EC06 (21/04-25/04): không có vướng mắc</a:t>
            </a:r>
            <a:endParaRPr sz="1500" b="1" kern="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Hỏng hóc ảnh hưởng khai thác: Không có vướng mắc vật tư</a:t>
            </a:r>
            <a:endParaRPr sz="1500" b="1" kern="0">
              <a:solidFill>
                <a:srgbClr val="000000"/>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Hỏng hóc B defect hết hạn trong 10 ngày: Không có vướng mắc vật tư</a:t>
            </a: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marL="457200" algn="just">
              <a:lnSpc>
                <a:spcPct val="110000"/>
              </a:lnSpc>
              <a:spcBef>
                <a:spcPts val="600"/>
              </a:spcBef>
              <a:buClr>
                <a:srgbClr val="000000"/>
              </a:buClr>
              <a:buFont typeface="Arial"/>
              <a:buNone/>
            </a:pPr>
            <a:endParaRPr sz="1500" kern="0">
              <a:solidFill>
                <a:srgbClr val="000000"/>
              </a:solidFill>
              <a:latin typeface="Times New Roman"/>
              <a:ea typeface="Times New Roman"/>
              <a:cs typeface="Times New Roman"/>
              <a:sym typeface="Times New Roman"/>
            </a:endParaRPr>
          </a:p>
          <a:p>
            <a:pPr marL="457200" algn="just">
              <a:buClr>
                <a:srgbClr val="000000"/>
              </a:buClr>
              <a:buSzPts val="1500"/>
              <a:buFont typeface="Arial"/>
              <a:buNone/>
            </a:pPr>
            <a:endParaRPr sz="1500" b="1" kern="0">
              <a:solidFill>
                <a:srgbClr val="000000"/>
              </a:solidFill>
              <a:latin typeface="Times New Roman"/>
              <a:ea typeface="Times New Roman"/>
              <a:cs typeface="Times New Roman"/>
              <a:sym typeface="Times New Roman"/>
            </a:endParaRPr>
          </a:p>
          <a:p>
            <a:pPr marL="914400"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500"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968250" y="1634350"/>
            <a:ext cx="8915400" cy="1066800"/>
          </a:xfrm>
          <a:prstGeom prst="rect">
            <a:avLst/>
          </a:prstGeom>
          <a:noFill/>
          <a:ln>
            <a:noFill/>
          </a:ln>
        </p:spPr>
      </p:pic>
    </p:spTree>
    <p:extLst>
      <p:ext uri="{BB962C8B-B14F-4D97-AF65-F5344CB8AC3E}">
        <p14:creationId xmlns:p14="http://schemas.microsoft.com/office/powerpoint/2010/main" val="26228251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55</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35đơn hàng quá hạn trong tổng số 125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MBK: </a:t>
            </a:r>
            <a:r>
              <a:rPr lang="en-US" sz="1500" kern="0">
                <a:solidFill>
                  <a:srgbClr val="000000"/>
                </a:solidFill>
                <a:latin typeface="Times New Roman"/>
                <a:ea typeface="Times New Roman"/>
                <a:cs typeface="Times New Roman"/>
                <a:sym typeface="Times New Roman"/>
              </a:rPr>
              <a:t>13 overdue PX / total 56 PX</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cho Defect: </a:t>
            </a:r>
            <a:r>
              <a:rPr lang="en-US" sz="1500" kern="0">
                <a:solidFill>
                  <a:srgbClr val="000000"/>
                </a:solidFill>
                <a:latin typeface="Times New Roman"/>
                <a:ea typeface="Times New Roman"/>
                <a:cs typeface="Times New Roman"/>
                <a:sym typeface="Times New Roman"/>
              </a:rPr>
              <a:t>07 overdue PR / total 26 PR</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cho Hardtime/Softtime: </a:t>
            </a:r>
            <a:r>
              <a:rPr lang="en-US" sz="1500" kern="0">
                <a:solidFill>
                  <a:srgbClr val="000000"/>
                </a:solidFill>
                <a:latin typeface="Times New Roman"/>
                <a:ea typeface="Times New Roman"/>
                <a:cs typeface="Times New Roman"/>
                <a:sym typeface="Times New Roman"/>
              </a:rPr>
              <a:t>15 overdue PR / total 43 PR</a:t>
            </a:r>
            <a:endParaRPr sz="1500" kern="0">
              <a:solidFill>
                <a:srgbClr val="000000"/>
              </a:solidFill>
              <a:latin typeface="Times New Roman"/>
              <a:ea typeface="Times New Roman"/>
              <a:cs typeface="Times New Roman"/>
              <a:sym typeface="Times New Roman"/>
            </a:endParaRPr>
          </a:p>
          <a:p>
            <a:pPr algn="just">
              <a:lnSpc>
                <a:spcPct val="110000"/>
              </a:lnSpc>
              <a:spcBef>
                <a:spcPts val="600"/>
              </a:spcBef>
              <a:buClr>
                <a:srgbClr val="000000"/>
              </a:buClr>
              <a:buFont typeface="Arial"/>
              <a:buNone/>
            </a:pPr>
            <a:endParaRPr sz="1500" b="1"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65625" y="2051399"/>
            <a:ext cx="8671025" cy="4273825"/>
          </a:xfrm>
          <a:prstGeom prst="rect">
            <a:avLst/>
          </a:prstGeom>
          <a:noFill/>
          <a:ln>
            <a:noFill/>
          </a:ln>
        </p:spPr>
      </p:pic>
    </p:spTree>
    <p:extLst>
      <p:ext uri="{BB962C8B-B14F-4D97-AF65-F5344CB8AC3E}">
        <p14:creationId xmlns:p14="http://schemas.microsoft.com/office/powerpoint/2010/main" val="152292275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6" name="Google Shape;17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56</a:t>
            </a:fld>
            <a:endParaRPr/>
          </a:p>
        </p:txBody>
      </p:sp>
      <p:graphicFrame>
        <p:nvGraphicFramePr>
          <p:cNvPr id="177" name="Google Shape;177;g31ccdae391d_0_271"/>
          <p:cNvGraphicFramePr/>
          <p:nvPr/>
        </p:nvGraphicFramePr>
        <p:xfrm>
          <a:off x="489114" y="611396"/>
          <a:ext cx="11570675" cy="5190312"/>
        </p:xfrm>
        <a:graphic>
          <a:graphicData uri="http://schemas.openxmlformats.org/drawingml/2006/table">
            <a:tbl>
              <a:tblPr>
                <a:noFill/>
              </a:tblPr>
              <a:tblGrid>
                <a:gridCol w="741275"/>
                <a:gridCol w="1946125"/>
                <a:gridCol w="1285550"/>
                <a:gridCol w="5174925"/>
                <a:gridCol w="24228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9</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LH</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745-4000-515</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 Ban QLVT đang tìm thuê 1ea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10 </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RH</a:t>
                      </a:r>
                      <a:endParaRPr sz="1600">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745-4000-516</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96230526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57</a:t>
            </a:fld>
            <a:endParaRPr/>
          </a:p>
        </p:txBody>
      </p:sp>
      <p:graphicFrame>
        <p:nvGraphicFramePr>
          <p:cNvPr id="185" name="Google Shape;185;g31ccdae391d_0_278"/>
          <p:cNvGraphicFramePr/>
          <p:nvPr/>
        </p:nvGraphicFramePr>
        <p:xfrm>
          <a:off x="558675" y="462325"/>
          <a:ext cx="10287000" cy="6299034"/>
        </p:xfrm>
        <a:graphic>
          <a:graphicData uri="http://schemas.openxmlformats.org/drawingml/2006/table">
            <a:tbl>
              <a:tblPr>
                <a:noFill/>
              </a:tblPr>
              <a:tblGrid>
                <a:gridCol w="382850"/>
                <a:gridCol w="2130900"/>
                <a:gridCol w="2382725"/>
                <a:gridCol w="1051825"/>
                <a:gridCol w="4338700"/>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stock NIL,</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đặt</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mua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nhưng</a:t>
                      </a:r>
                      <a:r>
                        <a:rPr lang="en-US" sz="1300" dirty="0">
                          <a:solidFill>
                            <a:schemeClr val="dk1"/>
                          </a:solidFill>
                          <a:latin typeface="Times New Roman"/>
                          <a:ea typeface="Times New Roman"/>
                          <a:cs typeface="Times New Roman"/>
                          <a:sym typeface="Times New Roman"/>
                        </a:rPr>
                        <a:t> Airbus, </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upgrade AOG, Airbus </a:t>
                      </a:r>
                      <a:r>
                        <a:rPr lang="en-US" sz="1300" dirty="0" err="1">
                          <a:solidFill>
                            <a:schemeClr val="dk1"/>
                          </a:solidFill>
                          <a:latin typeface="Times New Roman"/>
                          <a:ea typeface="Times New Roman"/>
                          <a:cs typeface="Times New Roman"/>
                          <a:sym typeface="Times New Roman"/>
                        </a:rPr>
                        <a:t>dự</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kiến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tháng</a:t>
                      </a:r>
                      <a:r>
                        <a:rPr lang="en-US" sz="1300" dirty="0">
                          <a:solidFill>
                            <a:schemeClr val="dk1"/>
                          </a:solidFill>
                          <a:latin typeface="Times New Roman"/>
                          <a:ea typeface="Times New Roman"/>
                          <a:cs typeface="Times New Roman"/>
                          <a:sym typeface="Times New Roman"/>
                        </a:rPr>
                        <a:t> 2/5/2025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ship</a:t>
                      </a:r>
                      <a:endParaRPr sz="1300" u="none" strike="noStrike" cap="none" dirty="0">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2RO có TAT tại Honeywell dài</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giục RO</a:t>
                      </a:r>
                      <a:endParaRPr sz="1300" u="none" strike="noStrike" cap="none">
                        <a:latin typeface="Times New Roman"/>
                        <a:ea typeface="Times New Roman"/>
                        <a:cs typeface="Times New Roman"/>
                        <a:sym typeface="Times New Roman"/>
                      </a:endParaRPr>
                    </a:p>
                  </a:txBody>
                  <a:tcPr marL="91425" marR="91425" marT="91425" marB="91425"/>
                </a:tc>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tr>
            </a:tbl>
          </a:graphicData>
        </a:graphic>
      </p:graphicFrame>
    </p:spTree>
    <p:extLst>
      <p:ext uri="{BB962C8B-B14F-4D97-AF65-F5344CB8AC3E}">
        <p14:creationId xmlns:p14="http://schemas.microsoft.com/office/powerpoint/2010/main" val="267426414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2" name="Google Shape;19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58</a:t>
            </a:fld>
            <a:endParaRPr/>
          </a:p>
        </p:txBody>
      </p:sp>
      <p:graphicFrame>
        <p:nvGraphicFramePr>
          <p:cNvPr id="193" name="Google Shape;193;g31ccdae391d_0_285"/>
          <p:cNvGraphicFramePr/>
          <p:nvPr/>
        </p:nvGraphicFramePr>
        <p:xfrm>
          <a:off x="438751" y="690871"/>
          <a:ext cx="11570675" cy="3855160"/>
        </p:xfrm>
        <a:graphic>
          <a:graphicData uri="http://schemas.openxmlformats.org/drawingml/2006/table">
            <a:tbl>
              <a:tblPr>
                <a:noFill/>
              </a:tblPr>
              <a:tblGrid>
                <a:gridCol w="741275"/>
                <a:gridCol w="1442775"/>
                <a:gridCol w="1263625"/>
                <a:gridCol w="4061500"/>
                <a:gridCol w="4061500"/>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81379836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59</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22 đơn hàng quá hạn trong tổng số 28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MBK: </a:t>
            </a:r>
            <a:r>
              <a:rPr lang="en-US" sz="1500" kern="0">
                <a:solidFill>
                  <a:srgbClr val="000000"/>
                </a:solidFill>
                <a:latin typeface="Times New Roman"/>
                <a:ea typeface="Times New Roman"/>
                <a:cs typeface="Times New Roman"/>
                <a:sym typeface="Times New Roman"/>
              </a:rPr>
              <a:t> overdue 10 LO / total 13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overdue 12 EO / total 15 EO </a:t>
            </a:r>
            <a:endParaRPr sz="1500" kern="0">
              <a:solidFill>
                <a:srgbClr val="1F497D"/>
              </a:solidFill>
              <a:latin typeface="Times New Roman"/>
              <a:ea typeface="Times New Roman"/>
              <a:cs typeface="Times New Roman"/>
              <a:sym typeface="Times New Roman"/>
            </a:endParaRPr>
          </a:p>
          <a:p>
            <a:pPr algn="just">
              <a:lnSpc>
                <a:spcPct val="110000"/>
              </a:lnSpc>
              <a:spcBef>
                <a:spcPts val="600"/>
              </a:spcBef>
              <a:buClr>
                <a:srgbClr val="000000"/>
              </a:buClr>
              <a:buSzPts val="1500"/>
              <a:buFont typeface="Arial"/>
              <a:buNone/>
            </a:pPr>
            <a:endParaRPr sz="1500" b="1" kern="0">
              <a:solidFill>
                <a:srgbClr val="FF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181225" y="1762049"/>
            <a:ext cx="7311626" cy="4443500"/>
          </a:xfrm>
          <a:prstGeom prst="rect">
            <a:avLst/>
          </a:prstGeom>
          <a:noFill/>
          <a:ln>
            <a:noFill/>
          </a:ln>
        </p:spPr>
      </p:pic>
    </p:spTree>
    <p:extLst>
      <p:ext uri="{BB962C8B-B14F-4D97-AF65-F5344CB8AC3E}">
        <p14:creationId xmlns:p14="http://schemas.microsoft.com/office/powerpoint/2010/main" val="396303539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60</a:t>
            </a:fld>
            <a:endParaRPr/>
          </a:p>
        </p:txBody>
      </p:sp>
      <p:graphicFrame>
        <p:nvGraphicFramePr>
          <p:cNvPr id="211" name="Google Shape;211;g31ccdae391d_0_308"/>
          <p:cNvGraphicFramePr/>
          <p:nvPr>
            <p:extLst/>
          </p:nvPr>
        </p:nvGraphicFramePr>
        <p:xfrm>
          <a:off x="607288" y="787650"/>
          <a:ext cx="11227800" cy="4360600"/>
        </p:xfrm>
        <a:graphic>
          <a:graphicData uri="http://schemas.openxmlformats.org/drawingml/2006/table">
            <a:tbl>
              <a:tblPr>
                <a:noFill/>
              </a:tblPr>
              <a:tblGrid>
                <a:gridCol w="756400"/>
                <a:gridCol w="1531850"/>
                <a:gridCol w="1753750"/>
                <a:gridCol w="3592900"/>
                <a:gridCol w="3592900"/>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in stock + 01 VIp kit</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giao SGN 28/04.</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chưa có EDD.</a:t>
                      </a: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NIL stock, lấp đầy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không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spcBef>
                          <a:spcPts val="0"/>
                        </a:spcBef>
                        <a:spcAft>
                          <a:spcPts val="0"/>
                        </a:spcAft>
                        <a:buNone/>
                      </a:pPr>
                      <a:r>
                        <a:rPr lang="en-US" sz="1300" dirty="0">
                          <a:latin typeface="Times New Roman"/>
                          <a:ea typeface="Times New Roman"/>
                          <a:cs typeface="Times New Roman"/>
                          <a:sym typeface="Times New Roman"/>
                        </a:rPr>
                        <a:t>-Card led: </a:t>
                      </a:r>
                      <a:endParaRPr sz="1300" u="none" strike="noStrike" cap="none" dirty="0">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03ea in stock</a:t>
                      </a:r>
                      <a:r>
                        <a:rPr lang="en-US" sz="1300" dirty="0" smtClean="0">
                          <a:solidFill>
                            <a:schemeClr val="dk1"/>
                          </a:solidFill>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34048833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61</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endParaRPr sz="2000" b="1" kern="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Một số PTVT cần lưu ý</a:t>
            </a:r>
            <a:r>
              <a:rPr lang="en-US" sz="1600" kern="0">
                <a:solidFill>
                  <a:srgbClr val="000000"/>
                </a:solidFill>
                <a:latin typeface="Times New Roman"/>
                <a:ea typeface="Times New Roman"/>
                <a:cs typeface="Times New Roman"/>
                <a:sym typeface="Times New Roman"/>
              </a:rPr>
              <a:t>:</a:t>
            </a:r>
            <a:endParaRPr sz="1600" kern="0">
              <a:solidFill>
                <a:srgbClr val="000000"/>
              </a:solidFill>
              <a:latin typeface="Times New Roman"/>
              <a:ea typeface="Times New Roman"/>
              <a:cs typeface="Times New Roman"/>
              <a:sym typeface="Times New Roman"/>
            </a:endParaRPr>
          </a:p>
          <a:p>
            <a:pPr marL="457200" indent="-330200" algn="just">
              <a:buClr>
                <a:srgbClr val="000000"/>
              </a:buClr>
              <a:buSzPts val="1600"/>
              <a:buFont typeface="Times New Roman"/>
              <a:buChar char="+"/>
            </a:pPr>
            <a:r>
              <a:rPr lang="en-US" sz="1600" kern="0">
                <a:solidFill>
                  <a:srgbClr val="000000"/>
                </a:solidFill>
                <a:latin typeface="Times New Roman"/>
                <a:ea typeface="Times New Roman"/>
                <a:cs typeface="Times New Roman"/>
                <a:sym typeface="Times New Roman"/>
              </a:rPr>
              <a:t>PTVT thay nhiều: VFSG, GPM, NSG, CAC, GWIV. </a:t>
            </a:r>
            <a:endParaRPr sz="1600" kern="0">
              <a:solidFill>
                <a:srgbClr val="000000"/>
              </a:solidFill>
              <a:latin typeface="Times New Roman"/>
              <a:ea typeface="Times New Roman"/>
              <a:cs typeface="Times New Roman"/>
              <a:sym typeface="Times New Roman"/>
            </a:endParaRPr>
          </a:p>
          <a:p>
            <a:pPr algn="just">
              <a:buClr>
                <a:srgbClr val="000000"/>
              </a:buClr>
              <a:buSzPts val="2000"/>
              <a:buFont typeface="Arial"/>
              <a:buNone/>
            </a:pPr>
            <a:endParaRPr sz="1600" kern="0">
              <a:solidFill>
                <a:srgbClr val="00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a:solidFill>
                  <a:srgbClr val="FF0000"/>
                </a:solidFill>
                <a:latin typeface="Times New Roman"/>
                <a:ea typeface="Times New Roman"/>
                <a:cs typeface="Times New Roman"/>
                <a:sym typeface="Times New Roman"/>
              </a:rPr>
              <a:t>Hỏng hóc ảnh hưởng cần lưu ý:</a:t>
            </a:r>
            <a:r>
              <a:rPr lang="en-US" sz="1600" kern="0">
                <a:solidFill>
                  <a:srgbClr val="000000"/>
                </a:solidFill>
                <a:latin typeface="Times New Roman"/>
                <a:ea typeface="Times New Roman"/>
                <a:cs typeface="Times New Roman"/>
                <a:sym typeface="Times New Roman"/>
              </a:rPr>
              <a:t>.</a:t>
            </a: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A874 - LAVATORY 3F-1RC NOT ENOUGH LIGHT: đặt hàng RDS4LL (Vaeco cung ứng). EST 09/2025.</a:t>
            </a: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100"/>
              <a:buFont typeface="Arial"/>
              <a:buNone/>
            </a:pPr>
            <a:endParaRPr sz="1600" kern="0">
              <a:solidFill>
                <a:srgbClr val="FF0000"/>
              </a:solidFill>
              <a:latin typeface="Times New Roman"/>
              <a:ea typeface="Times New Roman"/>
              <a:cs typeface="Times New Roman"/>
              <a:sym typeface="Times New Roman"/>
            </a:endParaRPr>
          </a:p>
          <a:p>
            <a:pPr algn="just">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719138" y="2757488"/>
            <a:ext cx="10601325" cy="3019425"/>
          </a:xfrm>
          <a:prstGeom prst="rect">
            <a:avLst/>
          </a:prstGeom>
          <a:noFill/>
          <a:ln>
            <a:noFill/>
          </a:ln>
        </p:spPr>
      </p:pic>
    </p:spTree>
    <p:extLst>
      <p:ext uri="{BB962C8B-B14F-4D97-AF65-F5344CB8AC3E}">
        <p14:creationId xmlns:p14="http://schemas.microsoft.com/office/powerpoint/2010/main" val="123626302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62</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algn="just">
              <a:buClr>
                <a:srgbClr val="000000"/>
              </a:buClr>
              <a:buSzPts val="2000"/>
              <a:buFont typeface="Arial"/>
              <a:buNone/>
            </a:pPr>
            <a:r>
              <a:rPr lang="en-US" sz="2000" b="1" kern="0">
                <a:solidFill>
                  <a:srgbClr val="FF0000"/>
                </a:solidFill>
                <a:latin typeface="Times New Roman"/>
                <a:ea typeface="Times New Roman"/>
                <a:cs typeface="Times New Roman"/>
                <a:sym typeface="Times New Roman"/>
              </a:rPr>
              <a:t>Tình trạng đơn hàng Pooling: 38 đơn hàng quá hạn trong tổng số 58 đơn hàng đang open</a:t>
            </a:r>
            <a:endParaRPr sz="2000" b="1" kern="0">
              <a:solidFill>
                <a:srgbClr val="FF0000"/>
              </a:solidFill>
              <a:ea typeface="Arial"/>
              <a:cs typeface="Arial"/>
              <a:sym typeface="Arial"/>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lấp đầy kho OSS: </a:t>
            </a:r>
            <a:r>
              <a:rPr lang="en-US" sz="1500" kern="0">
                <a:solidFill>
                  <a:srgbClr val="000000"/>
                </a:solidFill>
                <a:latin typeface="Times New Roman"/>
                <a:ea typeface="Times New Roman"/>
                <a:cs typeface="Times New Roman"/>
                <a:sym typeface="Times New Roman"/>
              </a:rPr>
              <a:t>07 overdue LO / total 09 LO</a:t>
            </a:r>
            <a:endParaRPr sz="1500" kern="0">
              <a:solidFill>
                <a:srgbClr val="000000"/>
              </a:solidFill>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Đơn hàng khác (Defect, Hardtime): </a:t>
            </a:r>
            <a:r>
              <a:rPr lang="en-US" sz="1500" kern="0">
                <a:solidFill>
                  <a:srgbClr val="000000"/>
                </a:solidFill>
                <a:latin typeface="Times New Roman"/>
                <a:ea typeface="Times New Roman"/>
                <a:cs typeface="Times New Roman"/>
                <a:sym typeface="Times New Roman"/>
              </a:rPr>
              <a:t>31 overdue EO / total  49 EO </a:t>
            </a:r>
            <a:endParaRPr sz="1500" kern="0">
              <a:solidFill>
                <a:srgbClr val="1F497D"/>
              </a:solidFill>
              <a:latin typeface="Times New Roman"/>
              <a:ea typeface="Times New Roman"/>
              <a:cs typeface="Times New Roman"/>
              <a:sym typeface="Times New Roman"/>
            </a:endParaRPr>
          </a:p>
          <a:p>
            <a:pPr marL="457200" indent="-323850" algn="just">
              <a:lnSpc>
                <a:spcPct val="110000"/>
              </a:lnSpc>
              <a:spcBef>
                <a:spcPts val="600"/>
              </a:spcBef>
              <a:buClr>
                <a:srgbClr val="000000"/>
              </a:buClr>
              <a:buSzPts val="1500"/>
              <a:buFont typeface="Times New Roman"/>
              <a:buChar char="●"/>
            </a:pPr>
            <a:r>
              <a:rPr lang="en-US" sz="1500" b="1" kern="0">
                <a:solidFill>
                  <a:srgbClr val="000000"/>
                </a:solidFill>
                <a:latin typeface="Times New Roman"/>
                <a:ea typeface="Times New Roman"/>
                <a:cs typeface="Times New Roman"/>
                <a:sym typeface="Times New Roman"/>
              </a:rPr>
              <a:t>Tình trạng đơn hàng pool trong 4 tuần gần nhất:</a:t>
            </a:r>
            <a:endParaRPr sz="1500" b="1" kern="0">
              <a:solidFill>
                <a:srgbClr val="000000"/>
              </a:solidFill>
              <a:latin typeface="Times New Roman"/>
              <a:ea typeface="Times New Roman"/>
              <a:cs typeface="Times New Roman"/>
              <a:sym typeface="Times New Roman"/>
            </a:endParaRPr>
          </a:p>
          <a:p>
            <a:pPr algn="just">
              <a:lnSpc>
                <a:spcPct val="110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a:buClr>
                <a:srgbClr val="000000"/>
              </a:buClr>
              <a:buSzPts val="2800"/>
              <a:buFont typeface="Arial"/>
              <a:buNone/>
            </a:pPr>
            <a:endParaRPr sz="2800" kern="0">
              <a:solidFill>
                <a:srgbClr val="000000"/>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662248" y="2082627"/>
            <a:ext cx="6112649" cy="4189575"/>
          </a:xfrm>
          <a:prstGeom prst="rect">
            <a:avLst/>
          </a:prstGeom>
          <a:noFill/>
          <a:ln>
            <a:noFill/>
          </a:ln>
        </p:spPr>
      </p:pic>
    </p:spTree>
    <p:extLst>
      <p:ext uri="{BB962C8B-B14F-4D97-AF65-F5344CB8AC3E}">
        <p14:creationId xmlns:p14="http://schemas.microsoft.com/office/powerpoint/2010/main" val="170834713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63</a:t>
            </a:fld>
            <a:endParaRPr/>
          </a:p>
        </p:txBody>
      </p:sp>
      <p:graphicFrame>
        <p:nvGraphicFramePr>
          <p:cNvPr id="238" name="Google Shape;238;g31ccdae391d_0_332"/>
          <p:cNvGraphicFramePr/>
          <p:nvPr>
            <p:extLst/>
          </p:nvPr>
        </p:nvGraphicFramePr>
        <p:xfrm>
          <a:off x="474783" y="301869"/>
          <a:ext cx="11561850" cy="6185512"/>
        </p:xfrm>
        <a:graphic>
          <a:graphicData uri="http://schemas.openxmlformats.org/drawingml/2006/table">
            <a:tbl>
              <a:tblPr>
                <a:noFill/>
              </a:tblPr>
              <a:tblGrid>
                <a:gridCol w="778900"/>
                <a:gridCol w="1783525"/>
                <a:gridCol w="1599825"/>
                <a:gridCol w="3699800"/>
                <a:gridCol w="3699800"/>
              </a:tblGrid>
              <a:tr h="287464">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87464">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967203">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5e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r>
              <a:tr h="111449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06</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+ 05ea EDD 18/06.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+ 06ea EDD NIL.</a:t>
                      </a:r>
                      <a:endParaRPr sz="1300">
                        <a:solidFill>
                          <a:schemeClr val="dk1"/>
                        </a:solidFill>
                        <a:latin typeface="Times New Roman"/>
                        <a:ea typeface="Times New Roman"/>
                        <a:cs typeface="Times New Roman"/>
                        <a:sym typeface="Times New Roman"/>
                      </a:endParaRPr>
                    </a:p>
                  </a:txBody>
                  <a:tcPr marL="9525" marR="9525" marT="9525" marB="0" anchor="ctr"/>
                </a:tc>
              </a:tr>
              <a:tr h="96720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09</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tr>
              <a:tr h="96720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Controller: 01ea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HAN </a:t>
                      </a:r>
                      <a:r>
                        <a:rPr lang="en-US" sz="1300" dirty="0" err="1">
                          <a:solidFill>
                            <a:schemeClr val="dk1"/>
                          </a:solidFill>
                          <a:latin typeface="Times New Roman"/>
                          <a:ea typeface="Times New Roman"/>
                          <a:cs typeface="Times New Roman"/>
                          <a:sym typeface="Times New Roman"/>
                        </a:rPr>
                        <a:t>ngày</a:t>
                      </a:r>
                      <a:r>
                        <a:rPr lang="en-US" sz="1300" dirty="0">
                          <a:solidFill>
                            <a:schemeClr val="dk1"/>
                          </a:solidFill>
                          <a:latin typeface="Times New Roman"/>
                          <a:ea typeface="Times New Roman"/>
                          <a:cs typeface="Times New Roman"/>
                          <a:sym typeface="Times New Roman"/>
                        </a:rPr>
                        <a:t> 28/04</a:t>
                      </a:r>
                      <a:endParaRPr sz="1300" dirty="0">
                        <a:solidFill>
                          <a:schemeClr val="dk1"/>
                        </a:solidFill>
                        <a:latin typeface="Times New Roman"/>
                        <a:ea typeface="Times New Roman"/>
                        <a:cs typeface="Times New Roman"/>
                        <a:sym typeface="Times New Roman"/>
                      </a:endParaRPr>
                    </a:p>
                  </a:txBody>
                  <a:tcPr marL="9525" marR="9525" marT="9525" marB="0" anchor="ctr"/>
                </a:tc>
              </a:tr>
              <a:tr h="1574089">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5</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lượng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dịch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vụ</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TAT ở shop </a:t>
                      </a:r>
                      <a:r>
                        <a:rPr lang="en-US" sz="1300" dirty="0" err="1">
                          <a:latin typeface="Times New Roman"/>
                          <a:ea typeface="Times New Roman"/>
                          <a:cs typeface="Times New Roman"/>
                          <a:sym typeface="Times New Roman"/>
                        </a:rPr>
                        <a:t>rất</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dài</a:t>
                      </a:r>
                      <a:r>
                        <a:rPr lang="en-US" sz="1300" dirty="0">
                          <a:latin typeface="Times New Roman"/>
                          <a:ea typeface="Times New Roman"/>
                          <a:cs typeface="Times New Roman"/>
                          <a:sym typeface="Times New Roman"/>
                        </a:rPr>
                        <a:t> do </a:t>
                      </a:r>
                      <a:r>
                        <a:rPr lang="en-US" sz="1300" dirty="0" err="1">
                          <a:latin typeface="Times New Roman"/>
                          <a:ea typeface="Times New Roman"/>
                          <a:cs typeface="Times New Roman"/>
                          <a:sym typeface="Times New Roman"/>
                        </a:rPr>
                        <a:t>thiếu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hụt</a:t>
                      </a:r>
                      <a:r>
                        <a:rPr lang="en-US" sz="1300" dirty="0">
                          <a:latin typeface="Times New Roman"/>
                          <a:ea typeface="Times New Roman"/>
                          <a:cs typeface="Times New Roman"/>
                          <a:sym typeface="Times New Roman"/>
                        </a:rPr>
                        <a:t> sub part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Safran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dự</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kiến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cuối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tháng</a:t>
                      </a:r>
                      <a:r>
                        <a:rPr lang="en-US" sz="1300" dirty="0">
                          <a:latin typeface="Times New Roman"/>
                          <a:ea typeface="Times New Roman"/>
                          <a:cs typeface="Times New Roman"/>
                          <a:sym typeface="Times New Roman"/>
                        </a:rPr>
                        <a:t> 4 </a:t>
                      </a:r>
                      <a:r>
                        <a:rPr lang="en-US" sz="1300" dirty="0" err="1">
                          <a:latin typeface="Times New Roman"/>
                          <a:ea typeface="Times New Roman"/>
                          <a:cs typeface="Times New Roman"/>
                          <a:sym typeface="Times New Roman"/>
                        </a:rPr>
                        <a:t>mới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Mặc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dù</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đã</a:t>
                      </a:r>
                      <a:r>
                        <a:rPr lang="en-US" sz="1300" dirty="0">
                          <a:latin typeface="Times New Roman"/>
                          <a:ea typeface="Times New Roman"/>
                          <a:cs typeface="Times New Roman"/>
                          <a:sym typeface="Times New Roman"/>
                        </a:rPr>
                        <a:t> rob 20ea oven </a:t>
                      </a:r>
                      <a:r>
                        <a:rPr lang="en-US" sz="1300" dirty="0" err="1">
                          <a:latin typeface="Times New Roman"/>
                          <a:ea typeface="Times New Roman"/>
                          <a:cs typeface="Times New Roman"/>
                          <a:sym typeface="Times New Roman"/>
                        </a:rPr>
                        <a:t>từ</a:t>
                      </a:r>
                      <a:r>
                        <a:rPr lang="en-US" sz="1300" dirty="0">
                          <a:latin typeface="Times New Roman"/>
                          <a:ea typeface="Times New Roman"/>
                          <a:cs typeface="Times New Roman"/>
                          <a:sym typeface="Times New Roman"/>
                        </a:rPr>
                        <a:t> 02 </a:t>
                      </a:r>
                      <a:r>
                        <a:rPr lang="en-US" sz="1300" dirty="0" err="1">
                          <a:latin typeface="Times New Roman"/>
                          <a:ea typeface="Times New Roman"/>
                          <a:cs typeface="Times New Roman"/>
                          <a:sym typeface="Times New Roman"/>
                        </a:rPr>
                        <a:t>tàu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bảo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quản</a:t>
                      </a:r>
                      <a:r>
                        <a:rPr lang="en-US" sz="1300" dirty="0">
                          <a:latin typeface="Times New Roman"/>
                          <a:ea typeface="Times New Roman"/>
                          <a:cs typeface="Times New Roman"/>
                          <a:sym typeface="Times New Roman"/>
                        </a:rPr>
                        <a:t> A886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A887 </a:t>
                      </a:r>
                      <a:r>
                        <a:rPr lang="en-US" sz="1300" dirty="0" err="1">
                          <a:latin typeface="Times New Roman"/>
                          <a:ea typeface="Times New Roman"/>
                          <a:cs typeface="Times New Roman"/>
                          <a:sym typeface="Times New Roman"/>
                        </a:rPr>
                        <a:t>nhưng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vẫn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còn</a:t>
                      </a:r>
                      <a:r>
                        <a:rPr lang="en-US" sz="1300" dirty="0">
                          <a:latin typeface="Times New Roman"/>
                          <a:ea typeface="Times New Roman"/>
                          <a:cs typeface="Times New Roman"/>
                          <a:sym typeface="Times New Roman"/>
                        </a:rPr>
                        <a:t> 03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02 </a:t>
                      </a:r>
                      <a:r>
                        <a:rPr lang="en-US" sz="1300" dirty="0" err="1">
                          <a:latin typeface="Times New Roman"/>
                          <a:ea typeface="Times New Roman"/>
                          <a:cs typeface="Times New Roman"/>
                          <a:sym typeface="Times New Roman"/>
                        </a:rPr>
                        <a:t>tàu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khai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thác</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Trong </a:t>
                      </a:r>
                      <a:r>
                        <a:rPr lang="en-US" sz="1300" dirty="0" err="1">
                          <a:latin typeface="Times New Roman"/>
                          <a:ea typeface="Times New Roman"/>
                          <a:cs typeface="Times New Roman"/>
                          <a:sym typeface="Times New Roman"/>
                        </a:rPr>
                        <a:t>năm</a:t>
                      </a:r>
                      <a:r>
                        <a:rPr lang="en-US" sz="1300" dirty="0">
                          <a:latin typeface="Times New Roman"/>
                          <a:ea typeface="Times New Roman"/>
                          <a:cs typeface="Times New Roman"/>
                          <a:sym typeface="Times New Roman"/>
                        </a:rPr>
                        <a:t> 2025 </a:t>
                      </a:r>
                      <a:r>
                        <a:rPr lang="en-US" sz="1300" dirty="0" err="1">
                          <a:latin typeface="Times New Roman"/>
                          <a:ea typeface="Times New Roman"/>
                          <a:cs typeface="Times New Roman"/>
                          <a:sym typeface="Times New Roman"/>
                        </a:rPr>
                        <a:t>yêu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cầu</a:t>
                      </a:r>
                      <a:r>
                        <a:rPr lang="en-US" sz="1300" dirty="0">
                          <a:latin typeface="Times New Roman"/>
                          <a:ea typeface="Times New Roman"/>
                          <a:cs typeface="Times New Roman"/>
                          <a:sym typeface="Times New Roman"/>
                        </a:rPr>
                        <a:t> 28ea, trong </a:t>
                      </a:r>
                      <a:r>
                        <a:rPr lang="en-US" sz="1300" dirty="0" err="1">
                          <a:latin typeface="Times New Roman"/>
                          <a:ea typeface="Times New Roman"/>
                          <a:cs typeface="Times New Roman"/>
                          <a:sym typeface="Times New Roman"/>
                        </a:rPr>
                        <a:t>đó</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đã</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thay</a:t>
                      </a:r>
                      <a:r>
                        <a:rPr lang="en-US" sz="1300" dirty="0">
                          <a:latin typeface="Times New Roman"/>
                          <a:ea typeface="Times New Roman"/>
                          <a:cs typeface="Times New Roman"/>
                          <a:sym typeface="Times New Roman"/>
                        </a:rPr>
                        <a:t> 26ea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04 TH NFF.</a:t>
                      </a:r>
                      <a:endParaRPr sz="1300"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02ea </a:t>
                      </a:r>
                      <a:r>
                        <a:rPr lang="en-US" sz="1300" dirty="0" err="1">
                          <a:solidFill>
                            <a:schemeClr val="dk1"/>
                          </a:solidFill>
                          <a:latin typeface="Times New Roman"/>
                          <a:ea typeface="Times New Roman"/>
                          <a:cs typeface="Times New Roman"/>
                          <a:sym typeface="Times New Roman"/>
                        </a:rPr>
                        <a:t>gian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kho</a:t>
                      </a:r>
                      <a:r>
                        <a:rPr lang="en-US" sz="1300" dirty="0">
                          <a:solidFill>
                            <a:schemeClr val="dk1"/>
                          </a:solidFill>
                          <a:latin typeface="Times New Roman"/>
                          <a:ea typeface="Times New Roman"/>
                          <a:cs typeface="Times New Roman"/>
                          <a:sym typeface="Times New Roman"/>
                        </a:rPr>
                        <a:t> Vaeco 29/04 (</a:t>
                      </a:r>
                      <a:r>
                        <a:rPr lang="en-US" sz="1300" dirty="0" err="1">
                          <a:solidFill>
                            <a:schemeClr val="dk1"/>
                          </a:solidFill>
                          <a:latin typeface="Times New Roman"/>
                          <a:ea typeface="Times New Roman"/>
                          <a:cs typeface="Times New Roman"/>
                          <a:sym typeface="Times New Roman"/>
                        </a:rPr>
                        <a:t>còn</a:t>
                      </a:r>
                      <a:r>
                        <a:rPr lang="en-US" sz="1300" dirty="0">
                          <a:solidFill>
                            <a:schemeClr val="dk1"/>
                          </a:solidFill>
                          <a:latin typeface="Times New Roman"/>
                          <a:ea typeface="Times New Roman"/>
                          <a:cs typeface="Times New Roman"/>
                          <a:sym typeface="Times New Roman"/>
                        </a:rPr>
                        <a:t> 02 defect </a:t>
                      </a:r>
                      <a:r>
                        <a:rPr lang="en-US" sz="1300" dirty="0" err="1">
                          <a:solidFill>
                            <a:schemeClr val="dk1"/>
                          </a:solidFill>
                          <a:latin typeface="Times New Roman"/>
                          <a:ea typeface="Times New Roman"/>
                          <a:cs typeface="Times New Roman"/>
                          <a:sym typeface="Times New Roman"/>
                        </a:rPr>
                        <a:t>trên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khai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để</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oven </a:t>
                      </a:r>
                      <a:r>
                        <a:rPr lang="en-US" sz="1300" dirty="0" smtClean="0">
                          <a:solidFill>
                            <a:schemeClr val="dk1"/>
                          </a:solidFill>
                          <a:latin typeface="Times New Roman"/>
                          <a:ea typeface="Times New Roman"/>
                          <a:cs typeface="Times New Roman"/>
                          <a:sym typeface="Times New Roman"/>
                        </a:rPr>
                        <a:t>(</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yêu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đổi</a:t>
                      </a:r>
                      <a:r>
                        <a:rPr lang="en-US" sz="1300" dirty="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tr>
            </a:tbl>
          </a:graphicData>
        </a:graphic>
      </p:graphicFrame>
    </p:spTree>
    <p:extLst>
      <p:ext uri="{BB962C8B-B14F-4D97-AF65-F5344CB8AC3E}">
        <p14:creationId xmlns:p14="http://schemas.microsoft.com/office/powerpoint/2010/main" val="29424941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64</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indent="-355600" algn="just">
              <a:buClr>
                <a:srgbClr val="FF0000"/>
              </a:buClr>
              <a:buSzPts val="2000"/>
              <a:buFont typeface="Times New Roman"/>
              <a:buChar char="-"/>
            </a:pPr>
            <a:r>
              <a:rPr lang="en-US" sz="2000" b="1" kern="0" dirty="0" err="1">
                <a:solidFill>
                  <a:srgbClr val="FF0000"/>
                </a:solidFill>
                <a:latin typeface="Times New Roman"/>
                <a:ea typeface="Times New Roman"/>
                <a:cs typeface="Times New Roman"/>
                <a:sym typeface="Times New Roman"/>
              </a:rPr>
              <a:t>Một</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số</a:t>
            </a:r>
            <a:r>
              <a:rPr lang="en-US" sz="2000" b="1" kern="0" dirty="0">
                <a:solidFill>
                  <a:srgbClr val="FF0000"/>
                </a:solidFill>
                <a:latin typeface="Times New Roman"/>
                <a:ea typeface="Times New Roman"/>
                <a:cs typeface="Times New Roman"/>
                <a:sym typeface="Times New Roman"/>
              </a:rPr>
              <a:t> PTVT </a:t>
            </a:r>
            <a:r>
              <a:rPr lang="en-US" sz="2000" b="1" kern="0" dirty="0" err="1">
                <a:solidFill>
                  <a:srgbClr val="FF0000"/>
                </a:solidFill>
                <a:latin typeface="Times New Roman"/>
                <a:ea typeface="Times New Roman"/>
                <a:cs typeface="Times New Roman"/>
                <a:sym typeface="Times New Roman"/>
              </a:rPr>
              <a:t>cần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lưu</a:t>
            </a:r>
            <a:r>
              <a:rPr lang="en-US" sz="2000" b="1" kern="0" dirty="0">
                <a:solidFill>
                  <a:srgbClr val="FF0000"/>
                </a:solidFill>
                <a:latin typeface="Times New Roman"/>
                <a:ea typeface="Times New Roman"/>
                <a:cs typeface="Times New Roman"/>
                <a:sym typeface="Times New Roman"/>
              </a:rPr>
              <a:t> ý:</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    </a:t>
            </a:r>
            <a:r>
              <a:rPr lang="en-US" sz="1600" kern="0" dirty="0" err="1">
                <a:solidFill>
                  <a:srgbClr val="000000"/>
                </a:solidFill>
                <a:latin typeface="Times New Roman"/>
                <a:ea typeface="Times New Roman"/>
                <a:cs typeface="Times New Roman"/>
                <a:sym typeface="Times New Roman"/>
              </a:rPr>
              <a:t>Một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số</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thiết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bị</a:t>
            </a:r>
            <a:r>
              <a:rPr lang="en-US" sz="1600" kern="0" dirty="0">
                <a:solidFill>
                  <a:srgbClr val="000000"/>
                </a:solidFill>
                <a:latin typeface="Times New Roman"/>
                <a:ea typeface="Times New Roman"/>
                <a:cs typeface="Times New Roman"/>
                <a:sym typeface="Times New Roman"/>
              </a:rPr>
              <a:t> pooling </a:t>
            </a:r>
            <a:r>
              <a:rPr lang="en-US" sz="1600" kern="0" dirty="0" err="1">
                <a:solidFill>
                  <a:srgbClr val="000000"/>
                </a:solidFill>
                <a:latin typeface="Times New Roman"/>
                <a:ea typeface="Times New Roman"/>
                <a:cs typeface="Times New Roman"/>
                <a:sym typeface="Times New Roman"/>
              </a:rPr>
              <a:t>của</a:t>
            </a:r>
            <a:r>
              <a:rPr lang="en-US" sz="1600" kern="0" dirty="0">
                <a:solidFill>
                  <a:srgbClr val="000000"/>
                </a:solidFill>
                <a:latin typeface="Times New Roman"/>
                <a:ea typeface="Times New Roman"/>
                <a:cs typeface="Times New Roman"/>
                <a:sym typeface="Times New Roman"/>
              </a:rPr>
              <a:t> OEM Honeywell </a:t>
            </a:r>
            <a:r>
              <a:rPr lang="en-US" sz="1600" kern="0" dirty="0" err="1">
                <a:solidFill>
                  <a:srgbClr val="000000"/>
                </a:solidFill>
                <a:latin typeface="Times New Roman"/>
                <a:ea typeface="Times New Roman"/>
                <a:cs typeface="Times New Roman"/>
                <a:sym typeface="Times New Roman"/>
              </a:rPr>
              <a:t>liên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quan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hệ</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thống</a:t>
            </a:r>
            <a:r>
              <a:rPr lang="en-US" sz="1600" kern="0" dirty="0">
                <a:solidFill>
                  <a:srgbClr val="000000"/>
                </a:solidFill>
                <a:latin typeface="Times New Roman"/>
                <a:ea typeface="Times New Roman"/>
                <a:cs typeface="Times New Roman"/>
                <a:sym typeface="Times New Roman"/>
              </a:rPr>
              <a:t> Chiller (VCRU, Motor </a:t>
            </a:r>
            <a:r>
              <a:rPr lang="en-US" sz="1600" kern="0" dirty="0" err="1">
                <a:solidFill>
                  <a:srgbClr val="000000"/>
                </a:solidFill>
                <a:latin typeface="Times New Roman"/>
                <a:ea typeface="Times New Roman"/>
                <a:cs typeface="Times New Roman"/>
                <a:sym typeface="Times New Roman"/>
              </a:rPr>
              <a:t>Controler</a:t>
            </a:r>
            <a:r>
              <a:rPr lang="en-US" sz="1600" kern="0" dirty="0">
                <a:solidFill>
                  <a:srgbClr val="000000"/>
                </a:solidFill>
                <a:latin typeface="Times New Roman"/>
                <a:ea typeface="Times New Roman"/>
                <a:cs typeface="Times New Roman"/>
                <a:sym typeface="Times New Roman"/>
              </a:rPr>
              <a:t>) TAT </a:t>
            </a:r>
            <a:r>
              <a:rPr lang="en-US" sz="1600" kern="0" dirty="0" err="1">
                <a:solidFill>
                  <a:srgbClr val="000000"/>
                </a:solidFill>
                <a:latin typeface="Times New Roman"/>
                <a:ea typeface="Times New Roman"/>
                <a:cs typeface="Times New Roman"/>
                <a:sym typeface="Times New Roman"/>
              </a:rPr>
              <a:t>vẫn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rất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dài</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914400" indent="-330200" algn="just">
              <a:buClr>
                <a:srgbClr val="000000"/>
              </a:buClr>
              <a:buSzPts val="1600"/>
              <a:buFont typeface="Times New Roman"/>
              <a:buChar char="+"/>
            </a:pPr>
            <a:r>
              <a:rPr lang="en-US" sz="1600" kern="0" dirty="0" err="1">
                <a:solidFill>
                  <a:srgbClr val="000000"/>
                </a:solidFill>
                <a:latin typeface="Times New Roman"/>
                <a:ea typeface="Times New Roman"/>
                <a:cs typeface="Times New Roman"/>
                <a:sym typeface="Times New Roman"/>
              </a:rPr>
              <a:t>Hỏng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hóc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hệ</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thống</a:t>
            </a:r>
            <a:r>
              <a:rPr lang="en-US" sz="1600" kern="0" dirty="0">
                <a:solidFill>
                  <a:srgbClr val="000000"/>
                </a:solidFill>
                <a:latin typeface="Times New Roman"/>
                <a:ea typeface="Times New Roman"/>
                <a:cs typeface="Times New Roman"/>
                <a:sym typeface="Times New Roman"/>
              </a:rPr>
              <a:t> flight control </a:t>
            </a:r>
            <a:r>
              <a:rPr lang="en-US" sz="1600" kern="0" dirty="0" err="1">
                <a:solidFill>
                  <a:srgbClr val="000000"/>
                </a:solidFill>
                <a:latin typeface="Times New Roman"/>
                <a:ea typeface="Times New Roman"/>
                <a:cs typeface="Times New Roman"/>
                <a:sym typeface="Times New Roman"/>
              </a:rPr>
              <a:t>vẫn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nhiều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vẫn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chưa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giảm</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FF0000"/>
              </a:solidFill>
              <a:latin typeface="Times New Roman"/>
              <a:ea typeface="Times New Roman"/>
              <a:cs typeface="Times New Roman"/>
              <a:sym typeface="Times New Roman"/>
            </a:endParaRPr>
          </a:p>
          <a:p>
            <a:pPr marL="457200" indent="-355600" algn="just">
              <a:buClr>
                <a:srgbClr val="FF0000"/>
              </a:buClr>
              <a:buSzPts val="2000"/>
              <a:buFont typeface="Times New Roman"/>
              <a:buChar char="-"/>
            </a:pPr>
            <a:r>
              <a:rPr lang="en-US" sz="2000" b="1" kern="0" dirty="0" err="1">
                <a:solidFill>
                  <a:srgbClr val="FF0000"/>
                </a:solidFill>
                <a:latin typeface="Times New Roman"/>
                <a:ea typeface="Times New Roman"/>
                <a:cs typeface="Times New Roman"/>
                <a:sym typeface="Times New Roman"/>
              </a:rPr>
              <a:t>Hỏng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hóc</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ảnh</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hưởng</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cần</a:t>
            </a:r>
            <a:r>
              <a:rPr lang="en-US" sz="2000" b="1" kern="0" dirty="0">
                <a:solidFill>
                  <a:srgbClr val="FF0000"/>
                </a:solidFill>
                <a:latin typeface="Times New Roman"/>
                <a:ea typeface="Times New Roman"/>
                <a:cs typeface="Times New Roman"/>
                <a:sym typeface="Times New Roman"/>
              </a:rPr>
              <a:t> </a:t>
            </a:r>
            <a:r>
              <a:rPr lang="en-US" sz="2000" b="1" kern="0" dirty="0" err="1">
                <a:solidFill>
                  <a:srgbClr val="FF0000"/>
                </a:solidFill>
                <a:latin typeface="Times New Roman"/>
                <a:ea typeface="Times New Roman"/>
                <a:cs typeface="Times New Roman"/>
                <a:sym typeface="Times New Roman"/>
              </a:rPr>
              <a:t>lưu</a:t>
            </a:r>
            <a:r>
              <a:rPr lang="en-US" sz="2000" b="1" kern="0" dirty="0">
                <a:solidFill>
                  <a:srgbClr val="FF0000"/>
                </a:solidFill>
                <a:latin typeface="Times New Roman"/>
                <a:ea typeface="Times New Roman"/>
                <a:cs typeface="Times New Roman"/>
                <a:sym typeface="Times New Roman"/>
              </a:rPr>
              <a:t> ý:</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A888 - CHILLER SYS INOP DURING CRUISE: </a:t>
            </a:r>
            <a:r>
              <a:rPr lang="en-US" sz="1600" kern="0" dirty="0" err="1">
                <a:solidFill>
                  <a:srgbClr val="000000"/>
                </a:solidFill>
                <a:latin typeface="Times New Roman"/>
                <a:ea typeface="Times New Roman"/>
                <a:cs typeface="Times New Roman"/>
                <a:sym typeface="Times New Roman"/>
              </a:rPr>
              <a:t>đặt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 VCRU, </a:t>
            </a:r>
            <a:r>
              <a:rPr lang="en-US" sz="1600" kern="0" dirty="0" err="1">
                <a:solidFill>
                  <a:srgbClr val="000000"/>
                </a:solidFill>
                <a:latin typeface="Times New Roman"/>
                <a:ea typeface="Times New Roman"/>
                <a:cs typeface="Times New Roman"/>
                <a:sym typeface="Times New Roman"/>
              </a:rPr>
              <a:t>chưa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EDD.</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A892 - GALLEY CHILLER SYS INOP: </a:t>
            </a:r>
            <a:r>
              <a:rPr lang="en-US" sz="1600" kern="0" dirty="0" err="1">
                <a:solidFill>
                  <a:srgbClr val="000000"/>
                </a:solidFill>
                <a:latin typeface="Times New Roman"/>
                <a:ea typeface="Times New Roman"/>
                <a:cs typeface="Times New Roman"/>
                <a:sym typeface="Times New Roman"/>
              </a:rPr>
              <a:t>đặt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 Motor Controller,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Vaeco SGN 28/04.</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A890 - APU INOP: APU EDD </a:t>
            </a:r>
            <a:r>
              <a:rPr lang="en-US" sz="1600" kern="0" dirty="0" smtClean="0">
                <a:solidFill>
                  <a:srgbClr val="000000"/>
                </a:solidFill>
                <a:latin typeface="Times New Roman"/>
                <a:ea typeface="Times New Roman"/>
                <a:cs typeface="Times New Roman"/>
                <a:sym typeface="Times New Roman"/>
              </a:rPr>
              <a:t>09/05.</a:t>
            </a: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A897 - SEAL OF RH INBOARD AI-LERON DAMAGED:  </a:t>
            </a:r>
            <a:r>
              <a:rPr lang="en-US" sz="1600" kern="0" dirty="0" err="1">
                <a:solidFill>
                  <a:srgbClr val="000000"/>
                </a:solidFill>
                <a:latin typeface="Times New Roman"/>
                <a:ea typeface="Times New Roman"/>
                <a:cs typeface="Times New Roman"/>
                <a:sym typeface="Times New Roman"/>
              </a:rPr>
              <a:t>đặt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 Seal (Vaeco </a:t>
            </a:r>
            <a:r>
              <a:rPr lang="en-US" sz="1600" kern="0" dirty="0" err="1">
                <a:solidFill>
                  <a:srgbClr val="000000"/>
                </a:solidFill>
                <a:latin typeface="Times New Roman"/>
                <a:ea typeface="Times New Roman"/>
                <a:cs typeface="Times New Roman"/>
                <a:sym typeface="Times New Roman"/>
              </a:rPr>
              <a:t>cung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ứng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chờ</a:t>
            </a:r>
            <a:r>
              <a:rPr lang="en-US" sz="1600" kern="0" dirty="0">
                <a:solidFill>
                  <a:srgbClr val="000000"/>
                </a:solidFill>
                <a:latin typeface="Times New Roman"/>
                <a:ea typeface="Times New Roman"/>
                <a:cs typeface="Times New Roman"/>
                <a:sym typeface="Times New Roman"/>
              </a:rPr>
              <a:t> Airbus </a:t>
            </a:r>
            <a:r>
              <a:rPr lang="en-US" sz="1600" kern="0" dirty="0" err="1">
                <a:solidFill>
                  <a:srgbClr val="000000"/>
                </a:solidFill>
                <a:latin typeface="Times New Roman"/>
                <a:ea typeface="Times New Roman"/>
                <a:cs typeface="Times New Roman"/>
                <a:sym typeface="Times New Roman"/>
              </a:rPr>
              <a:t>cập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nhật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kế</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hoạch</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endParaRPr sz="20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lnSpc>
                <a:spcPct val="110000"/>
              </a:lnSpc>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85813" y="3548063"/>
            <a:ext cx="10620375" cy="1133475"/>
          </a:xfrm>
          <a:prstGeom prst="rect">
            <a:avLst/>
          </a:prstGeom>
          <a:noFill/>
          <a:ln>
            <a:noFill/>
          </a:ln>
        </p:spPr>
      </p:pic>
    </p:spTree>
    <p:extLst>
      <p:ext uri="{BB962C8B-B14F-4D97-AF65-F5344CB8AC3E}">
        <p14:creationId xmlns:p14="http://schemas.microsoft.com/office/powerpoint/2010/main" val="109138873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65</a:t>
            </a:fld>
            <a:endParaRPr/>
          </a:p>
        </p:txBody>
      </p:sp>
      <p:graphicFrame>
        <p:nvGraphicFramePr>
          <p:cNvPr id="255" name="Google Shape;255;g31ccdae391d_0_347"/>
          <p:cNvGraphicFramePr/>
          <p:nvPr/>
        </p:nvGraphicFramePr>
        <p:xfrm>
          <a:off x="439614" y="221847"/>
          <a:ext cx="11611325" cy="6427535"/>
        </p:xfrm>
        <a:graphic>
          <a:graphicData uri="http://schemas.openxmlformats.org/drawingml/2006/table">
            <a:tbl>
              <a:tblPr>
                <a:noFill/>
              </a:tblPr>
              <a:tblGrid>
                <a:gridCol w="548675"/>
                <a:gridCol w="1774900"/>
                <a:gridCol w="1550950"/>
                <a:gridCol w="2501400"/>
                <a:gridCol w="5235400"/>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7003974-606</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27588365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66</a:t>
            </a:fld>
            <a:endParaRPr/>
          </a:p>
        </p:txBody>
      </p:sp>
      <p:graphicFrame>
        <p:nvGraphicFramePr>
          <p:cNvPr id="263" name="Google Shape;263;g31ccdae391d_0_354"/>
          <p:cNvGraphicFramePr/>
          <p:nvPr/>
        </p:nvGraphicFramePr>
        <p:xfrm>
          <a:off x="392714" y="718223"/>
          <a:ext cx="11570675" cy="5310995"/>
        </p:xfrm>
        <a:graphic>
          <a:graphicData uri="http://schemas.openxmlformats.org/drawingml/2006/table">
            <a:tbl>
              <a:tblPr>
                <a:noFill/>
              </a:tblPr>
              <a:tblGrid>
                <a:gridCol w="741275"/>
                <a:gridCol w="1235450"/>
                <a:gridCol w="1470950"/>
                <a:gridCol w="4061500"/>
                <a:gridCol w="4061500"/>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03ea in stock. dự kiến 01ea về ngày 07/05.</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a:ea typeface="Times New Roman"/>
                          <a:cs typeface="Times New Roman"/>
                          <a:sym typeface="Times New Roman"/>
                        </a:rPr>
                        <a:t>- Ban QLVT </a:t>
                      </a:r>
                      <a:r>
                        <a:rPr lang="en-US" sz="1400" b="0" i="0" u="none" strike="noStrike" cap="none" dirty="0" err="1">
                          <a:solidFill>
                            <a:srgbClr val="000000"/>
                          </a:solidFill>
                          <a:latin typeface="Times New Roman"/>
                          <a:ea typeface="Times New Roman"/>
                          <a:cs typeface="Times New Roman"/>
                          <a:sym typeface="Times New Roman"/>
                        </a:rPr>
                        <a:t>đang</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làm</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việc</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với</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Safran</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thúc</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cụm</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phanh</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đang</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sửa</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chữa</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Tần</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suất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thay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B787 </a:t>
                      </a:r>
                      <a:r>
                        <a:rPr lang="en-US" sz="1400" u="none" strike="noStrike" cap="none" dirty="0" err="1">
                          <a:latin typeface="Times New Roman"/>
                          <a:ea typeface="Times New Roman"/>
                          <a:cs typeface="Times New Roman"/>
                          <a:sym typeface="Times New Roman"/>
                        </a:rPr>
                        <a:t>đang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gia</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tăng</a:t>
                      </a:r>
                      <a:r>
                        <a:rPr lang="en-US" sz="1400" u="none" strike="noStrike" cap="none" dirty="0">
                          <a:latin typeface="Times New Roman"/>
                          <a:ea typeface="Times New Roman"/>
                          <a:cs typeface="Times New Roman"/>
                          <a:sym typeface="Times New Roman"/>
                        </a:rPr>
                        <a:t>, Ban QLVT </a:t>
                      </a:r>
                      <a:r>
                        <a:rPr lang="en-US" sz="1400" u="none" strike="noStrike" cap="none" dirty="0" err="1">
                          <a:latin typeface="Times New Roman"/>
                          <a:ea typeface="Times New Roman"/>
                          <a:cs typeface="Times New Roman"/>
                          <a:sym typeface="Times New Roman"/>
                        </a:rPr>
                        <a:t>đã</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đề</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nghị</a:t>
                      </a:r>
                      <a:r>
                        <a:rPr lang="en-US" sz="1400" u="none" strike="noStrike" cap="none" dirty="0">
                          <a:latin typeface="Times New Roman"/>
                          <a:ea typeface="Times New Roman"/>
                          <a:cs typeface="Times New Roman"/>
                          <a:sym typeface="Times New Roman"/>
                        </a:rPr>
                        <a:t> Ban KT </a:t>
                      </a:r>
                      <a:r>
                        <a:rPr lang="en-US" sz="1400" u="none" strike="noStrike" cap="none" dirty="0" err="1">
                          <a:latin typeface="Times New Roman"/>
                          <a:ea typeface="Times New Roman"/>
                          <a:cs typeface="Times New Roman"/>
                          <a:sym typeface="Times New Roman"/>
                        </a:rPr>
                        <a:t>và</a:t>
                      </a:r>
                      <a:r>
                        <a:rPr lang="en-US" sz="1400" u="none" strike="noStrike" cap="none" dirty="0">
                          <a:latin typeface="Times New Roman"/>
                          <a:ea typeface="Times New Roman"/>
                          <a:cs typeface="Times New Roman"/>
                          <a:sym typeface="Times New Roman"/>
                        </a:rPr>
                        <a:t> VAECO </a:t>
                      </a:r>
                      <a:r>
                        <a:rPr lang="en-US" sz="1400" u="none" strike="noStrike" cap="none" dirty="0" err="1">
                          <a:latin typeface="Times New Roman"/>
                          <a:ea typeface="Times New Roman"/>
                          <a:cs typeface="Times New Roman"/>
                          <a:sym typeface="Times New Roman"/>
                        </a:rPr>
                        <a:t>cập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nhật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kế</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hoạch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thay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cho</a:t>
                      </a:r>
                      <a:r>
                        <a:rPr lang="en-US" sz="1400" u="none" strike="noStrike" cap="none" dirty="0">
                          <a:latin typeface="Times New Roman"/>
                          <a:ea typeface="Times New Roman"/>
                          <a:cs typeface="Times New Roman"/>
                          <a:sym typeface="Times New Roman"/>
                        </a:rPr>
                        <a:t> 3 </a:t>
                      </a:r>
                      <a:r>
                        <a:rPr lang="en-US" sz="1400" u="none" strike="noStrike" cap="none" dirty="0" err="1">
                          <a:latin typeface="Times New Roman"/>
                          <a:ea typeface="Times New Roman"/>
                          <a:cs typeface="Times New Roman"/>
                          <a:sym typeface="Times New Roman"/>
                        </a:rPr>
                        <a:t>tháng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tới</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và</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rà</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soát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làm</a:t>
                      </a:r>
                      <a:r>
                        <a:rPr lang="en-US" sz="1400" u="none" strike="noStrike" cap="none" dirty="0">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để</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tình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những</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05ea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latin typeface="Times New Roman"/>
                          <a:ea typeface="Times New Roman"/>
                          <a:cs typeface="Times New Roman"/>
                          <a:sym typeface="Times New Roman"/>
                        </a:rPr>
                        <a:t> - </a:t>
                      </a:r>
                      <a:r>
                        <a:rPr lang="en-US" sz="1400" u="none" strike="noStrike" cap="none" dirty="0" err="1">
                          <a:solidFill>
                            <a:schemeClr val="dk1"/>
                          </a:solidFill>
                          <a:latin typeface="Times New Roman"/>
                          <a:ea typeface="Times New Roman"/>
                          <a:cs typeface="Times New Roman"/>
                          <a:sym typeface="Times New Roman"/>
                        </a:rPr>
                        <a:t>Tần</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suất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A350 </a:t>
                      </a:r>
                      <a:r>
                        <a:rPr lang="en-US" sz="1400" u="none" strike="noStrike" cap="none" dirty="0" err="1">
                          <a:solidFill>
                            <a:schemeClr val="dk1"/>
                          </a:solidFill>
                          <a:latin typeface="Times New Roman"/>
                          <a:ea typeface="Times New Roman"/>
                          <a:cs typeface="Times New Roman"/>
                          <a:sym typeface="Times New Roman"/>
                        </a:rPr>
                        <a:t>đang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gia</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tăng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rất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nhanh</a:t>
                      </a:r>
                      <a:r>
                        <a:rPr lang="en-US" sz="1400" u="none" strike="noStrike" cap="none" dirty="0">
                          <a:solidFill>
                            <a:schemeClr val="dk1"/>
                          </a:solidFill>
                          <a:latin typeface="Times New Roman"/>
                          <a:ea typeface="Times New Roman"/>
                          <a:cs typeface="Times New Roman"/>
                          <a:sym typeface="Times New Roman"/>
                        </a:rPr>
                        <a:t>, Ban QLVT </a:t>
                      </a:r>
                      <a:r>
                        <a:rPr lang="en-US" sz="1400" u="none" strike="noStrike" cap="none" dirty="0" err="1">
                          <a:solidFill>
                            <a:schemeClr val="dk1"/>
                          </a:solidFill>
                          <a:latin typeface="Times New Roman"/>
                          <a:ea typeface="Times New Roman"/>
                          <a:cs typeface="Times New Roman"/>
                          <a:sym typeface="Times New Roman"/>
                        </a:rPr>
                        <a:t>đã</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đề</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nghị</a:t>
                      </a:r>
                      <a:r>
                        <a:rPr lang="en-US" sz="1400" u="none" strike="noStrike" cap="none" dirty="0">
                          <a:solidFill>
                            <a:schemeClr val="dk1"/>
                          </a:solidFill>
                          <a:latin typeface="Times New Roman"/>
                          <a:ea typeface="Times New Roman"/>
                          <a:cs typeface="Times New Roman"/>
                          <a:sym typeface="Times New Roman"/>
                        </a:rPr>
                        <a:t> Ban KT </a:t>
                      </a:r>
                      <a:r>
                        <a:rPr lang="en-US" sz="1400" u="none" strike="noStrike" cap="none" dirty="0" err="1">
                          <a:solidFill>
                            <a:schemeClr val="dk1"/>
                          </a:solidFill>
                          <a:latin typeface="Times New Roman"/>
                          <a:ea typeface="Times New Roman"/>
                          <a:cs typeface="Times New Roman"/>
                          <a:sym typeface="Times New Roman"/>
                        </a:rPr>
                        <a:t>và</a:t>
                      </a:r>
                      <a:r>
                        <a:rPr lang="en-US" sz="1400" u="none" strike="noStrike" cap="none" dirty="0">
                          <a:solidFill>
                            <a:schemeClr val="dk1"/>
                          </a:solidFill>
                          <a:latin typeface="Times New Roman"/>
                          <a:ea typeface="Times New Roman"/>
                          <a:cs typeface="Times New Roman"/>
                          <a:sym typeface="Times New Roman"/>
                        </a:rPr>
                        <a:t> VAECO </a:t>
                      </a:r>
                      <a:r>
                        <a:rPr lang="en-US" sz="1400" u="none" strike="noStrike" cap="none" dirty="0" err="1">
                          <a:solidFill>
                            <a:schemeClr val="dk1"/>
                          </a:solidFill>
                          <a:latin typeface="Times New Roman"/>
                          <a:ea typeface="Times New Roman"/>
                          <a:cs typeface="Times New Roman"/>
                          <a:sym typeface="Times New Roman"/>
                        </a:rPr>
                        <a:t>cập</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nhật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kế</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hoạch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cho</a:t>
                      </a:r>
                      <a:r>
                        <a:rPr lang="en-US" sz="1400" u="none" strike="noStrike" cap="none" dirty="0">
                          <a:solidFill>
                            <a:schemeClr val="dk1"/>
                          </a:solidFill>
                          <a:latin typeface="Times New Roman"/>
                          <a:ea typeface="Times New Roman"/>
                          <a:cs typeface="Times New Roman"/>
                          <a:sym typeface="Times New Roman"/>
                        </a:rPr>
                        <a:t> 3 </a:t>
                      </a:r>
                      <a:r>
                        <a:rPr lang="en-US" sz="1400" u="none" strike="noStrike" cap="none" dirty="0" err="1">
                          <a:solidFill>
                            <a:schemeClr val="dk1"/>
                          </a:solidFill>
                          <a:latin typeface="Times New Roman"/>
                          <a:ea typeface="Times New Roman"/>
                          <a:cs typeface="Times New Roman"/>
                          <a:sym typeface="Times New Roman"/>
                        </a:rPr>
                        <a:t>tháng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tới</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và</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rà</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soát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làm</a:t>
                      </a:r>
                      <a:r>
                        <a:rPr lang="en-US" sz="1400" u="none" strike="noStrike" cap="none" dirty="0">
                          <a:solidFill>
                            <a:schemeClr val="dk1"/>
                          </a:solidFill>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để</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tình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sz="1400" u="none" strike="noStrike" cap="none" dirty="0">
                          <a:solidFill>
                            <a:schemeClr val="dk1"/>
                          </a:solidFill>
                          <a:latin typeface="Times New Roman"/>
                          <a:ea typeface="Times New Roman"/>
                          <a:cs typeface="Times New Roman"/>
                          <a:sym typeface="Times New Roman"/>
                        </a:rPr>
                        <a:t>.</a:t>
                      </a:r>
                      <a:r>
                        <a:rPr lang="en-US" sz="1400" u="none" strike="noStrike" cap="none" dirty="0">
                          <a:latin typeface="Times New Roman"/>
                          <a:ea typeface="Times New Roman"/>
                          <a:cs typeface="Times New Roman"/>
                          <a:sym typeface="Times New Roman"/>
                        </a:rPr>
                        <a:t/>
                      </a:r>
                      <a:br>
                        <a:rPr lang="en-US" sz="1400" u="none" strike="noStrike" cap="none" dirty="0">
                          <a:latin typeface="Times New Roman"/>
                          <a:ea typeface="Times New Roman"/>
                          <a:cs typeface="Times New Roman"/>
                          <a:sym typeface="Times New Roman"/>
                        </a:rPr>
                      </a:b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02ea in stock. trong tuần 16 sẽ có thêm 05ea.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bl>
          </a:graphicData>
        </a:graphic>
      </p:graphicFrame>
    </p:spTree>
    <p:extLst>
      <p:ext uri="{BB962C8B-B14F-4D97-AF65-F5344CB8AC3E}">
        <p14:creationId xmlns:p14="http://schemas.microsoft.com/office/powerpoint/2010/main" val="8441754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67</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b="1" kern="0" dirty="0">
                <a:solidFill>
                  <a:srgbClr val="FF0000"/>
                </a:solidFill>
                <a:highlight>
                  <a:srgbClr val="FFFFFF"/>
                </a:highlight>
                <a:latin typeface="Times New Roman"/>
                <a:ea typeface="Times New Roman"/>
                <a:cs typeface="Times New Roman"/>
                <a:sym typeface="Times New Roman"/>
              </a:rPr>
              <a:t>Đội bay A350:</a:t>
            </a:r>
            <a:endParaRPr sz="1500" b="1" kern="0" dirty="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03ea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dài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&amp; 03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ngắn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+ 01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new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HAN 22/01).</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trong </a:t>
            </a:r>
            <a:r>
              <a:rPr lang="en-US" sz="1500" kern="0" dirty="0" err="1">
                <a:solidFill>
                  <a:srgbClr val="000000"/>
                </a:solidFill>
                <a:highlight>
                  <a:srgbClr val="FFFFFF"/>
                </a:highlight>
                <a:latin typeface="Times New Roman"/>
                <a:ea typeface="Times New Roman"/>
                <a:cs typeface="Times New Roman"/>
                <a:sym typeface="Times New Roman"/>
              </a:rPr>
              <a:t>kho</a:t>
            </a:r>
            <a:r>
              <a:rPr lang="en-US" sz="1500" kern="0" dirty="0">
                <a:solidFill>
                  <a:srgbClr val="000000"/>
                </a:solidFill>
                <a:highlight>
                  <a:srgbClr val="FFFFFF"/>
                </a:highlight>
                <a:latin typeface="Times New Roman"/>
                <a:ea typeface="Times New Roman"/>
                <a:cs typeface="Times New Roman"/>
                <a:sym typeface="Times New Roman"/>
              </a:rPr>
              <a:t>: NIL</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shop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chữa</a:t>
            </a:r>
            <a:r>
              <a:rPr lang="en-US" sz="1500" kern="0" dirty="0">
                <a:solidFill>
                  <a:srgbClr val="000000"/>
                </a:solidFill>
                <a:highlight>
                  <a:srgbClr val="FFFFFF"/>
                </a:highlight>
                <a:latin typeface="Times New Roman"/>
                <a:ea typeface="Times New Roman"/>
                <a:cs typeface="Times New Roman"/>
                <a:sym typeface="Times New Roman"/>
              </a:rPr>
              <a:t>: 08ea (04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21047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21043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21317, 21048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N3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21201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HAESL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03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SEASL 21584, 21414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21604). </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xếp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01 core engine stand </a:t>
            </a:r>
            <a:r>
              <a:rPr lang="en-US" sz="1500" kern="0" dirty="0" err="1">
                <a:solidFill>
                  <a:srgbClr val="000000"/>
                </a:solidFill>
                <a:highlight>
                  <a:srgbClr val="FFFFFF"/>
                </a:highlight>
                <a:latin typeface="Times New Roman"/>
                <a:ea typeface="Times New Roman"/>
                <a:cs typeface="Times New Roman"/>
                <a:sym typeface="Times New Roman"/>
              </a:rPr>
              <a:t>từ</a:t>
            </a:r>
            <a:r>
              <a:rPr lang="en-US" sz="1500" kern="0" dirty="0">
                <a:solidFill>
                  <a:srgbClr val="000000"/>
                </a:solidFill>
                <a:highlight>
                  <a:srgbClr val="FFFFFF"/>
                </a:highlight>
                <a:latin typeface="Times New Roman"/>
                <a:ea typeface="Times New Roman"/>
                <a:cs typeface="Times New Roman"/>
                <a:sym typeface="Times New Roman"/>
              </a:rPr>
              <a:t> N3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để</a:t>
            </a:r>
            <a:r>
              <a:rPr lang="en-US" sz="1500" kern="0" dirty="0">
                <a:solidFill>
                  <a:srgbClr val="000000"/>
                </a:solidFill>
                <a:highlight>
                  <a:srgbClr val="FFFFFF"/>
                </a:highlight>
                <a:latin typeface="Times New Roman"/>
                <a:ea typeface="Times New Roman"/>
                <a:cs typeface="Times New Roman"/>
                <a:sym typeface="Times New Roman"/>
              </a:rPr>
              <a:t> swap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tiếp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gửi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đi</a:t>
            </a:r>
            <a:r>
              <a:rPr lang="en-US" sz="1500" kern="0" dirty="0">
                <a:solidFill>
                  <a:srgbClr val="000000"/>
                </a:solidFill>
                <a:highlight>
                  <a:srgbClr val="FFFFFF"/>
                </a:highlight>
                <a:latin typeface="Times New Roman"/>
                <a:ea typeface="Times New Roman"/>
                <a:cs typeface="Times New Roman"/>
                <a:sym typeface="Times New Roman"/>
              </a:rPr>
              <a:t> shop.</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21047 </a:t>
            </a:r>
            <a:r>
              <a:rPr lang="en-US" sz="1500" kern="0" dirty="0" err="1">
                <a:solidFill>
                  <a:srgbClr val="000000"/>
                </a:solidFill>
                <a:highlight>
                  <a:srgbClr val="FFFFFF"/>
                </a:highlight>
                <a:latin typeface="Times New Roman"/>
                <a:ea typeface="Times New Roman"/>
                <a:cs typeface="Times New Roman"/>
                <a:sym typeface="Times New Roman"/>
              </a:rPr>
              <a:t>chuyển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SGN </a:t>
            </a:r>
            <a:r>
              <a:rPr lang="en-US" sz="1500" kern="0" dirty="0" err="1">
                <a:solidFill>
                  <a:srgbClr val="000000"/>
                </a:solidFill>
                <a:highlight>
                  <a:srgbClr val="FFFFFF"/>
                </a:highlight>
                <a:latin typeface="Times New Roman"/>
                <a:ea typeface="Times New Roman"/>
                <a:cs typeface="Times New Roman"/>
                <a:sym typeface="Times New Roman"/>
              </a:rPr>
              <a:t>thay</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cho</a:t>
            </a:r>
            <a:r>
              <a:rPr lang="en-US" sz="1500" kern="0" dirty="0">
                <a:solidFill>
                  <a:srgbClr val="000000"/>
                </a:solidFill>
                <a:highlight>
                  <a:srgbClr val="FFFFFF"/>
                </a:highlight>
                <a:latin typeface="Times New Roman"/>
                <a:ea typeface="Times New Roman"/>
                <a:cs typeface="Times New Roman"/>
                <a:sym typeface="Times New Roman"/>
              </a:rPr>
              <a:t> A899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27Apr2025.</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b="1" kern="0" dirty="0">
                <a:solidFill>
                  <a:srgbClr val="FF0000"/>
                </a:solidFill>
                <a:highlight>
                  <a:srgbClr val="FFFFFF"/>
                </a:highlight>
                <a:latin typeface="Times New Roman"/>
                <a:ea typeface="Times New Roman"/>
                <a:cs typeface="Times New Roman"/>
                <a:sym typeface="Times New Roman"/>
              </a:rPr>
              <a:t>- Đội bay B787:</a:t>
            </a:r>
            <a:endParaRPr sz="1500" b="1" kern="0" dirty="0">
              <a:solidFill>
                <a:srgbClr val="FF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10ea (2 </a:t>
            </a:r>
            <a:r>
              <a:rPr lang="en-US" sz="1500" kern="0" dirty="0" err="1">
                <a:solidFill>
                  <a:srgbClr val="000000"/>
                </a:solidFill>
                <a:highlight>
                  <a:srgbClr val="FFFFFF"/>
                </a:highlight>
                <a:latin typeface="Times New Roman"/>
                <a:ea typeface="Times New Roman"/>
                <a:cs typeface="Times New Roman"/>
                <a:sym typeface="Times New Roman"/>
              </a:rPr>
              <a:t>sở</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hữu</a:t>
            </a:r>
            <a:r>
              <a:rPr lang="en-US" sz="1500" kern="0" dirty="0">
                <a:solidFill>
                  <a:srgbClr val="000000"/>
                </a:solidFill>
                <a:highlight>
                  <a:srgbClr val="FFFFFF"/>
                </a:highlight>
                <a:latin typeface="Times New Roman"/>
                <a:ea typeface="Times New Roman"/>
                <a:cs typeface="Times New Roman"/>
                <a:sym typeface="Times New Roman"/>
              </a:rPr>
              <a:t>, 2 </a:t>
            </a:r>
            <a:r>
              <a:rPr lang="en-US" sz="1500" kern="0" dirty="0" err="1">
                <a:solidFill>
                  <a:srgbClr val="000000"/>
                </a:solidFill>
                <a:highlight>
                  <a:srgbClr val="FFFFFF"/>
                </a:highlight>
                <a:latin typeface="Times New Roman"/>
                <a:ea typeface="Times New Roman"/>
                <a:cs typeface="Times New Roman"/>
                <a:sym typeface="Times New Roman"/>
              </a:rPr>
              <a:t>dài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6 </a:t>
            </a:r>
            <a:r>
              <a:rPr lang="en-US" sz="1500" kern="0" dirty="0" err="1">
                <a:solidFill>
                  <a:srgbClr val="000000"/>
                </a:solidFill>
                <a:highlight>
                  <a:srgbClr val="FFFFFF"/>
                </a:highlight>
                <a:latin typeface="Times New Roman"/>
                <a:ea typeface="Times New Roman"/>
                <a:cs typeface="Times New Roman"/>
                <a:sym typeface="Times New Roman"/>
              </a:rPr>
              <a:t>ngắn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hạn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đã</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ký</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thêm</a:t>
            </a:r>
            <a:r>
              <a:rPr lang="en-US" sz="1500" kern="0" dirty="0">
                <a:solidFill>
                  <a:srgbClr val="000000"/>
                </a:solidFill>
                <a:highlight>
                  <a:srgbClr val="FFFFFF"/>
                </a:highlight>
                <a:latin typeface="Times New Roman"/>
                <a:ea typeface="Times New Roman"/>
                <a:cs typeface="Times New Roman"/>
                <a:sym typeface="Times New Roman"/>
              </a:rPr>
              <a:t> 01 </a:t>
            </a:r>
            <a:r>
              <a:rPr lang="en-US" sz="1500" kern="0" dirty="0" err="1">
                <a:solidFill>
                  <a:srgbClr val="000000"/>
                </a:solidFill>
                <a:highlight>
                  <a:srgbClr val="FFFFFF"/>
                </a:highlight>
                <a:latin typeface="Times New Roman"/>
                <a:ea typeface="Times New Roman"/>
                <a:cs typeface="Times New Roman"/>
                <a:sym typeface="Times New Roman"/>
              </a:rPr>
              <a:t>hđ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đc</a:t>
            </a:r>
            <a:r>
              <a:rPr lang="en-US" sz="1500" kern="0" dirty="0">
                <a:solidFill>
                  <a:srgbClr val="000000"/>
                </a:solidFill>
                <a:highlight>
                  <a:srgbClr val="FFFFFF"/>
                </a:highlight>
                <a:latin typeface="Times New Roman"/>
                <a:ea typeface="Times New Roman"/>
                <a:cs typeface="Times New Roman"/>
                <a:sym typeface="Times New Roman"/>
              </a:rPr>
              <a:t> Mar/2025 </a:t>
            </a:r>
            <a:r>
              <a:rPr lang="en-US" sz="1500" kern="0" dirty="0" err="1">
                <a:solidFill>
                  <a:srgbClr val="000000"/>
                </a:solidFill>
                <a:highlight>
                  <a:srgbClr val="FFFFFF"/>
                </a:highlight>
                <a:latin typeface="Times New Roman"/>
                <a:ea typeface="Times New Roman"/>
                <a:cs typeface="Times New Roman"/>
                <a:sym typeface="Times New Roman"/>
              </a:rPr>
              <a:t>với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Aercap</a:t>
            </a:r>
            <a:r>
              <a:rPr lang="en-US" sz="1500" kern="0" dirty="0">
                <a:solidFill>
                  <a:srgbClr val="000000"/>
                </a:solidFill>
                <a:highlight>
                  <a:srgbClr val="FFFFFF"/>
                </a:highlight>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trong </a:t>
            </a:r>
            <a:r>
              <a:rPr lang="en-US" sz="1500" kern="0" dirty="0" err="1">
                <a:solidFill>
                  <a:srgbClr val="000000"/>
                </a:solidFill>
                <a:highlight>
                  <a:srgbClr val="FFFFFF"/>
                </a:highlight>
                <a:latin typeface="Times New Roman"/>
                <a:ea typeface="Times New Roman"/>
                <a:cs typeface="Times New Roman"/>
                <a:sym typeface="Times New Roman"/>
              </a:rPr>
              <a:t>kho</a:t>
            </a:r>
            <a:r>
              <a:rPr lang="en-US" sz="1500" kern="0" dirty="0">
                <a:solidFill>
                  <a:srgbClr val="000000"/>
                </a:solidFill>
                <a:highlight>
                  <a:srgbClr val="FFFFFF"/>
                </a:highlight>
                <a:latin typeface="Times New Roman"/>
                <a:ea typeface="Times New Roman"/>
                <a:cs typeface="Times New Roman"/>
                <a:sym typeface="Times New Roman"/>
              </a:rPr>
              <a:t>: 0</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Số</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lượng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tại</a:t>
            </a:r>
            <a:r>
              <a:rPr lang="en-US" sz="1500" kern="0" dirty="0">
                <a:solidFill>
                  <a:srgbClr val="000000"/>
                </a:solidFill>
                <a:highlight>
                  <a:srgbClr val="FFFFFF"/>
                </a:highlight>
                <a:latin typeface="Times New Roman"/>
                <a:ea typeface="Times New Roman"/>
                <a:cs typeface="Times New Roman"/>
                <a:sym typeface="Times New Roman"/>
              </a:rPr>
              <a:t> shop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chữa</a:t>
            </a:r>
            <a:r>
              <a:rPr lang="en-US" sz="1500" kern="0" dirty="0">
                <a:solidFill>
                  <a:srgbClr val="000000"/>
                </a:solidFill>
                <a:highlight>
                  <a:srgbClr val="FFFFFF"/>
                </a:highlight>
                <a:latin typeface="Times New Roman"/>
                <a:ea typeface="Times New Roman"/>
                <a:cs typeface="Times New Roman"/>
                <a:sym typeface="Times New Roman"/>
              </a:rPr>
              <a:t>:</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04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ở KLM shop:  956533, 956599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956947, 956534 (inducted </a:t>
            </a:r>
            <a:r>
              <a:rPr lang="en-US" sz="1500" kern="0" dirty="0" err="1">
                <a:solidFill>
                  <a:srgbClr val="000000"/>
                </a:solidFill>
                <a:highlight>
                  <a:srgbClr val="FFFFFF"/>
                </a:highlight>
                <a:latin typeface="Times New Roman"/>
                <a:ea typeface="Times New Roman"/>
                <a:cs typeface="Times New Roman"/>
                <a:sym typeface="Times New Roman"/>
              </a:rPr>
              <a:t>tháng</a:t>
            </a:r>
            <a:r>
              <a:rPr lang="en-US" sz="1500" kern="0" dirty="0">
                <a:solidFill>
                  <a:srgbClr val="000000"/>
                </a:solidFill>
                <a:highlight>
                  <a:srgbClr val="FFFFFF"/>
                </a:highlight>
                <a:latin typeface="Times New Roman"/>
                <a:ea typeface="Times New Roman"/>
                <a:cs typeface="Times New Roman"/>
                <a:sym typeface="Times New Roman"/>
              </a:rPr>
              <a:t> 4/2025).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956533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về</a:t>
            </a:r>
            <a:r>
              <a:rPr lang="en-US" sz="1500" kern="0" dirty="0">
                <a:solidFill>
                  <a:srgbClr val="000000"/>
                </a:solidFill>
                <a:highlight>
                  <a:srgbClr val="FFFFFF"/>
                </a:highlight>
                <a:latin typeface="Times New Roman"/>
                <a:ea typeface="Times New Roman"/>
                <a:cs typeface="Times New Roman"/>
                <a:sym typeface="Times New Roman"/>
              </a:rPr>
              <a:t> SGN 05May.</a:t>
            </a:r>
            <a:endParaRPr sz="1500" kern="0" dirty="0">
              <a:solidFill>
                <a:srgbClr val="000000"/>
              </a:solidFill>
              <a:highlight>
                <a:srgbClr val="FFFFFF"/>
              </a:highlight>
              <a:latin typeface="Times New Roman"/>
              <a:ea typeface="Times New Roman"/>
              <a:cs typeface="Times New Roman"/>
              <a:sym typeface="Times New Roman"/>
            </a:endParaRPr>
          </a:p>
          <a:p>
            <a:pPr marL="457200" indent="-323850" algn="just">
              <a:buClr>
                <a:srgbClr val="000000"/>
              </a:buClr>
              <a:buSzPts val="1500"/>
              <a:buFont typeface="Times New Roman"/>
              <a:buChar char="+"/>
            </a:pPr>
            <a:r>
              <a:rPr lang="en-US" sz="1500" kern="0" dirty="0">
                <a:solidFill>
                  <a:srgbClr val="000000"/>
                </a:solidFill>
                <a:highlight>
                  <a:srgbClr val="FFFFFF"/>
                </a:highlight>
                <a:latin typeface="Times New Roman"/>
                <a:ea typeface="Times New Roman"/>
                <a:cs typeface="Times New Roman"/>
                <a:sym typeface="Times New Roman"/>
              </a:rPr>
              <a:t>01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ở GE shop: 958398 (delay in GEEVES)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kiến</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giao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cuối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tháng</a:t>
            </a:r>
            <a:r>
              <a:rPr lang="en-US" sz="1500" kern="0" dirty="0">
                <a:solidFill>
                  <a:srgbClr val="000000"/>
                </a:solidFill>
                <a:highlight>
                  <a:srgbClr val="FFFFFF"/>
                </a:highlight>
                <a:latin typeface="Times New Roman"/>
                <a:ea typeface="Times New Roman"/>
                <a:cs typeface="Times New Roman"/>
                <a:sym typeface="Times New Roman"/>
              </a:rPr>
              <a:t> 6/2025.</a:t>
            </a: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highlight>
                <a:srgbClr val="FFFFFF"/>
              </a:highlight>
              <a:latin typeface="Times New Roman"/>
              <a:ea typeface="Times New Roman"/>
              <a:cs typeface="Times New Roman"/>
              <a:sym typeface="Times New Roman"/>
            </a:endParaRPr>
          </a:p>
          <a:p>
            <a:pPr algn="just">
              <a:buClr>
                <a:srgbClr val="000000"/>
              </a:buClr>
              <a:buSzPts val="1500"/>
              <a:buFont typeface="Arial"/>
              <a:buNone/>
            </a:pP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động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cơ</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đáp</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ứng</a:t>
            </a:r>
            <a:r>
              <a:rPr lang="en-US" sz="1500" kern="0" dirty="0">
                <a:solidFill>
                  <a:srgbClr val="000000"/>
                </a:solidFill>
                <a:highlight>
                  <a:srgbClr val="FFFFFF"/>
                </a:highlight>
                <a:latin typeface="Times New Roman"/>
                <a:ea typeface="Times New Roman"/>
                <a:cs typeface="Times New Roman"/>
                <a:sym typeface="Times New Roman"/>
              </a:rPr>
              <a:t> KH </a:t>
            </a:r>
            <a:r>
              <a:rPr lang="en-US" sz="1500" kern="0" dirty="0" err="1">
                <a:solidFill>
                  <a:srgbClr val="000000"/>
                </a:solidFill>
                <a:highlight>
                  <a:srgbClr val="FFFFFF"/>
                </a:highlight>
                <a:latin typeface="Times New Roman"/>
                <a:ea typeface="Times New Roman"/>
                <a:cs typeface="Times New Roman"/>
                <a:sym typeface="Times New Roman"/>
              </a:rPr>
              <a:t>sửa</a:t>
            </a:r>
            <a:r>
              <a:rPr lang="en-US" sz="1500" kern="0" dirty="0">
                <a:solidFill>
                  <a:srgbClr val="000000"/>
                </a:solidFill>
                <a:highlight>
                  <a:srgbClr val="FFFFFF"/>
                </a:highlight>
                <a:latin typeface="Times New Roman"/>
                <a:ea typeface="Times New Roman"/>
                <a:cs typeface="Times New Roman"/>
                <a:sym typeface="Times New Roman"/>
              </a:rPr>
              <a:t> 2024-2025: B787 </a:t>
            </a:r>
            <a:r>
              <a:rPr lang="en-US" sz="1500" kern="0" dirty="0" err="1">
                <a:solidFill>
                  <a:srgbClr val="000000"/>
                </a:solidFill>
                <a:highlight>
                  <a:srgbClr val="FFFFFF"/>
                </a:highlight>
                <a:latin typeface="Times New Roman"/>
                <a:ea typeface="Times New Roman"/>
                <a:cs typeface="Times New Roman"/>
                <a:sym typeface="Times New Roman"/>
              </a:rPr>
              <a:t>có</a:t>
            </a:r>
            <a:r>
              <a:rPr lang="en-US" sz="1500" kern="0" dirty="0">
                <a:solidFill>
                  <a:srgbClr val="000000"/>
                </a:solidFill>
                <a:highlight>
                  <a:srgbClr val="FFFFFF"/>
                </a:highlight>
                <a:latin typeface="Times New Roman"/>
                <a:ea typeface="Times New Roman"/>
                <a:cs typeface="Times New Roman"/>
                <a:sym typeface="Times New Roman"/>
              </a:rPr>
              <a:t> 04 </a:t>
            </a:r>
            <a:r>
              <a:rPr lang="en-US" sz="1500" kern="0" dirty="0" err="1">
                <a:solidFill>
                  <a:srgbClr val="000000"/>
                </a:solidFill>
                <a:highlight>
                  <a:srgbClr val="FFFFFF"/>
                </a:highlight>
                <a:latin typeface="Times New Roman"/>
                <a:ea typeface="Times New Roman"/>
                <a:cs typeface="Times New Roman"/>
                <a:sym typeface="Times New Roman"/>
              </a:rPr>
              <a:t>dự</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phòng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đang</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06 </a:t>
            </a:r>
            <a:r>
              <a:rPr lang="en-US" sz="1500" kern="0" dirty="0" err="1">
                <a:solidFill>
                  <a:srgbClr val="000000"/>
                </a:solidFill>
                <a:highlight>
                  <a:srgbClr val="FFFFFF"/>
                </a:highlight>
                <a:latin typeface="Times New Roman"/>
                <a:ea typeface="Times New Roman"/>
                <a:cs typeface="Times New Roman"/>
                <a:sym typeface="Times New Roman"/>
              </a:rPr>
              <a:t>của</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Aercap</a:t>
            </a:r>
            <a:r>
              <a:rPr lang="en-US" sz="1500" kern="0" dirty="0">
                <a:solidFill>
                  <a:srgbClr val="000000"/>
                </a:solidFill>
                <a:highlight>
                  <a:srgbClr val="FFFFFF"/>
                </a:highlight>
                <a:latin typeface="Times New Roman"/>
                <a:ea typeface="Times New Roman"/>
                <a:cs typeface="Times New Roman"/>
                <a:sym typeface="Times New Roman"/>
              </a:rPr>
              <a:t> (956933; 958266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958934 958966 </a:t>
            </a:r>
            <a:r>
              <a:rPr lang="en-US" sz="1500" kern="0" dirty="0" err="1">
                <a:solidFill>
                  <a:srgbClr val="000000"/>
                </a:solidFill>
                <a:highlight>
                  <a:srgbClr val="FFFFFF"/>
                </a:highlight>
                <a:latin typeface="Times New Roman"/>
                <a:ea typeface="Times New Roman"/>
                <a:cs typeface="Times New Roman"/>
                <a:sym typeface="Times New Roman"/>
              </a:rPr>
              <a:t>và</a:t>
            </a:r>
            <a:r>
              <a:rPr lang="en-US" sz="1500" kern="0" dirty="0">
                <a:solidFill>
                  <a:srgbClr val="000000"/>
                </a:solidFill>
                <a:highlight>
                  <a:srgbClr val="FFFFFF"/>
                </a:highlight>
                <a:latin typeface="Times New Roman"/>
                <a:ea typeface="Times New Roman"/>
                <a:cs typeface="Times New Roman"/>
                <a:sym typeface="Times New Roman"/>
              </a:rPr>
              <a:t> 956626, 956980) trong </a:t>
            </a:r>
            <a:r>
              <a:rPr lang="en-US" sz="1500" kern="0" dirty="0" err="1">
                <a:solidFill>
                  <a:srgbClr val="000000"/>
                </a:solidFill>
                <a:highlight>
                  <a:srgbClr val="FFFFFF"/>
                </a:highlight>
                <a:latin typeface="Times New Roman"/>
                <a:ea typeface="Times New Roman"/>
                <a:cs typeface="Times New Roman"/>
                <a:sym typeface="Times New Roman"/>
              </a:rPr>
              <a:t>đó</a:t>
            </a:r>
            <a:r>
              <a:rPr lang="en-US" sz="1500" kern="0" dirty="0">
                <a:solidFill>
                  <a:srgbClr val="000000"/>
                </a:solidFill>
                <a:highlight>
                  <a:srgbClr val="FFFFFF"/>
                </a:highlight>
                <a:latin typeface="Times New Roman"/>
                <a:ea typeface="Times New Roman"/>
                <a:cs typeface="Times New Roman"/>
                <a:sym typeface="Times New Roman"/>
              </a:rPr>
              <a:t> 956980 </a:t>
            </a:r>
            <a:r>
              <a:rPr lang="en-US" sz="1500" kern="0" dirty="0" err="1">
                <a:solidFill>
                  <a:srgbClr val="000000"/>
                </a:solidFill>
                <a:highlight>
                  <a:srgbClr val="FFFFFF"/>
                </a:highlight>
                <a:latin typeface="Times New Roman"/>
                <a:ea typeface="Times New Roman"/>
                <a:cs typeface="Times New Roman"/>
                <a:sym typeface="Times New Roman"/>
              </a:rPr>
              <a:t>mới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thuê</a:t>
            </a:r>
            <a:r>
              <a:rPr lang="en-US" sz="1500" kern="0" dirty="0">
                <a:solidFill>
                  <a:srgbClr val="000000"/>
                </a:solidFill>
                <a:highlight>
                  <a:srgbClr val="FFFFFF"/>
                </a:highlight>
                <a:latin typeface="Times New Roman"/>
                <a:ea typeface="Times New Roman"/>
                <a:cs typeface="Times New Roman"/>
                <a:sym typeface="Times New Roman"/>
              </a:rPr>
              <a:t> do 01 </a:t>
            </a:r>
            <a:r>
              <a:rPr lang="en-US" sz="1500" kern="0" dirty="0" err="1">
                <a:solidFill>
                  <a:srgbClr val="000000"/>
                </a:solidFill>
                <a:highlight>
                  <a:srgbClr val="FFFFFF"/>
                </a:highlight>
                <a:latin typeface="Times New Roman"/>
                <a:ea typeface="Times New Roman"/>
                <a:cs typeface="Times New Roman"/>
                <a:sym typeface="Times New Roman"/>
              </a:rPr>
              <a:t>đc</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trên</a:t>
            </a:r>
            <a:r>
              <a:rPr lang="en-US" sz="1500" kern="0" dirty="0">
                <a:solidFill>
                  <a:srgbClr val="000000"/>
                </a:solidFill>
                <a:highlight>
                  <a:srgbClr val="FFFFFF"/>
                </a:highlight>
                <a:latin typeface="Times New Roman"/>
                <a:ea typeface="Times New Roman"/>
                <a:cs typeface="Times New Roman"/>
                <a:sym typeface="Times New Roman"/>
              </a:rPr>
              <a:t> A868 </a:t>
            </a:r>
            <a:r>
              <a:rPr lang="en-US" sz="1500" kern="0" dirty="0" err="1">
                <a:solidFill>
                  <a:srgbClr val="000000"/>
                </a:solidFill>
                <a:highlight>
                  <a:srgbClr val="FFFFFF"/>
                </a:highlight>
                <a:latin typeface="Times New Roman"/>
                <a:ea typeface="Times New Roman"/>
                <a:cs typeface="Times New Roman"/>
                <a:sym typeface="Times New Roman"/>
              </a:rPr>
              <a:t>phải</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tháo</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đầu</a:t>
            </a:r>
            <a:r>
              <a:rPr lang="en-US" sz="1500" kern="0" dirty="0">
                <a:solidFill>
                  <a:srgbClr val="000000"/>
                </a:solidFill>
                <a:highlight>
                  <a:srgbClr val="FFFFFF"/>
                </a:highlight>
                <a:latin typeface="Times New Roman"/>
                <a:ea typeface="Times New Roman"/>
                <a:cs typeface="Times New Roman"/>
                <a:sym typeface="Times New Roman"/>
              </a:rPr>
              <a:t> </a:t>
            </a:r>
            <a:r>
              <a:rPr lang="en-US" sz="1500" kern="0" dirty="0" err="1">
                <a:solidFill>
                  <a:srgbClr val="000000"/>
                </a:solidFill>
                <a:highlight>
                  <a:srgbClr val="FFFFFF"/>
                </a:highlight>
                <a:latin typeface="Times New Roman"/>
                <a:ea typeface="Times New Roman"/>
                <a:cs typeface="Times New Roman"/>
                <a:sym typeface="Times New Roman"/>
              </a:rPr>
              <a:t>tháng</a:t>
            </a:r>
            <a:r>
              <a:rPr lang="en-US" sz="1500" kern="0" dirty="0">
                <a:solidFill>
                  <a:srgbClr val="000000"/>
                </a:solidFill>
                <a:highlight>
                  <a:srgbClr val="FFFFFF"/>
                </a:highlight>
                <a:latin typeface="Times New Roman"/>
                <a:ea typeface="Times New Roman"/>
                <a:cs typeface="Times New Roman"/>
                <a:sym typeface="Times New Roman"/>
              </a:rPr>
              <a:t> 4/2025  </a:t>
            </a: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8623015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68</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Đội bay A321 Ceo:</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dự phòng: 13 (3 sở hữu, 10 thuê ngắn hạn)</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trong kho: NIL</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US chờ chuyển đi: NIL</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Số lượng động cơ đang sửa tại shop: 08ea </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Vướng mắc:</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Danh mục missing part list của động cơ sửa chữa về</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a:t>
            </a:r>
            <a:r>
              <a:rPr lang="en-US" sz="1600" b="1" kern="0">
                <a:solidFill>
                  <a:srgbClr val="000000"/>
                </a:solidFill>
                <a:latin typeface="Times New Roman"/>
                <a:ea typeface="Times New Roman"/>
                <a:cs typeface="Times New Roman"/>
                <a:sym typeface="Times New Roman"/>
              </a:rPr>
              <a:t> </a:t>
            </a:r>
            <a:r>
              <a:rPr lang="en-US" sz="1600" b="1" kern="0">
                <a:solidFill>
                  <a:srgbClr val="FF0000"/>
                </a:solidFill>
                <a:latin typeface="Times New Roman"/>
                <a:ea typeface="Times New Roman"/>
                <a:cs typeface="Times New Roman"/>
                <a:sym typeface="Times New Roman"/>
              </a:rPr>
              <a:t>Giải pháp:</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Thúc đẩy việc sửa chữa động cơ tại shop</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kern="0">
                <a:solidFill>
                  <a:srgbClr val="000000"/>
                </a:solidFill>
                <a:latin typeface="Times New Roman"/>
                <a:ea typeface="Times New Roman"/>
                <a:cs typeface="Times New Roman"/>
                <a:sym typeface="Times New Roman"/>
              </a:rPr>
              <a:t>+ Làm việc với Ban KT về KH động cơ về, tháo trả.</a:t>
            </a: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4358190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69</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600" b="1" kern="0">
                <a:solidFill>
                  <a:srgbClr val="FF0000"/>
                </a:solidFill>
                <a:latin typeface="Times New Roman"/>
                <a:ea typeface="Times New Roman"/>
                <a:cs typeface="Times New Roman"/>
                <a:sym typeface="Times New Roman"/>
              </a:rPr>
              <a:t>- Tình trạng trả động cơ thuê </a:t>
            </a:r>
            <a:endParaRPr sz="16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kern="0">
              <a:solidFill>
                <a:srgbClr val="000000"/>
              </a:solidFill>
              <a:latin typeface="Times New Roman"/>
              <a:ea typeface="Times New Roman"/>
              <a:cs typeface="Times New Roman"/>
              <a:sym typeface="Times New Roman"/>
            </a:endParaRPr>
          </a:p>
          <a:p>
            <a:pPr algn="just">
              <a:buClr>
                <a:srgbClr val="000000"/>
              </a:buClr>
              <a:buSzPts val="1600"/>
              <a:buFont typeface="Arial"/>
              <a:buNone/>
            </a:pPr>
            <a:endParaRPr sz="1600" b="1" kern="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a:solidFill>
                  <a:srgbClr val="000000"/>
                </a:solidFill>
                <a:latin typeface="Times New Roman"/>
                <a:ea typeface="Times New Roman"/>
                <a:cs typeface="Times New Roman"/>
                <a:sym typeface="Times New Roman"/>
              </a:rPr>
              <a:t>  </a:t>
            </a: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166700" y="2095500"/>
            <a:ext cx="11488001" cy="2795275"/>
          </a:xfrm>
          <a:prstGeom prst="rect">
            <a:avLst/>
          </a:prstGeom>
          <a:noFill/>
          <a:ln>
            <a:noFill/>
          </a:ln>
        </p:spPr>
      </p:pic>
    </p:spTree>
    <p:extLst>
      <p:ext uri="{BB962C8B-B14F-4D97-AF65-F5344CB8AC3E}">
        <p14:creationId xmlns:p14="http://schemas.microsoft.com/office/powerpoint/2010/main" val="426776637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70</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algn="just">
              <a:buClr>
                <a:srgbClr val="000000"/>
              </a:buClr>
              <a:buSzPts val="18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b="1" kern="0">
                <a:solidFill>
                  <a:srgbClr val="FF0000"/>
                </a:solidFill>
                <a:latin typeface="Times New Roman"/>
                <a:ea typeface="Times New Roman"/>
                <a:cs typeface="Times New Roman"/>
                <a:sym typeface="Times New Roman"/>
              </a:rPr>
              <a:t>- Đội bay A321 Neo:</a:t>
            </a:r>
            <a:endParaRPr sz="1500" b="1"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dự phòng: 05ea (2 sở hữu (đang SLB), 2 dài hạn và 01 thuê ngắn hạn thuê của PW).</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trong kho: NIL.</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động cơ sửa chữa: có 8 động cơ đang sửa (05ại ESA và 02 tại IHI, 01 tại MTU-H)</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Đang đàm phán với đối tác sửa đổi hợp đồng thuê sau khi trình kí LOI (Willis và ELFC)</a:t>
            </a:r>
            <a:endParaRPr sz="1500" kern="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nSpc>
                <a:spcPct val="115000"/>
              </a:lnSpc>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500"/>
              <a:buFont typeface="Arial"/>
              <a:buNone/>
            </a:pPr>
            <a:r>
              <a:rPr lang="en-US" sz="1500" kern="0">
                <a:solidFill>
                  <a:srgbClr val="FF0000"/>
                </a:solidFill>
                <a:latin typeface="Times New Roman"/>
                <a:ea typeface="Times New Roman"/>
                <a:cs typeface="Times New Roman"/>
                <a:sym typeface="Times New Roman"/>
              </a:rPr>
              <a:t>Vướng mắc:</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kern="0">
                <a:solidFill>
                  <a:srgbClr val="000000"/>
                </a:solidFill>
                <a:latin typeface="Times New Roman"/>
                <a:ea typeface="Times New Roman"/>
                <a:cs typeface="Times New Roman"/>
                <a:sym typeface="Times New Roman"/>
              </a:rPr>
            </a:br>
            <a:r>
              <a:rPr lang="en-US" sz="1500" kern="0">
                <a:solidFill>
                  <a:srgbClr val="000000"/>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FF0000"/>
                </a:solidFill>
                <a:latin typeface="Times New Roman"/>
                <a:ea typeface="Times New Roman"/>
                <a:cs typeface="Times New Roman"/>
                <a:sym typeface="Times New Roman"/>
              </a:rPr>
              <a:t>Giải pháp:</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Thúc đẩy động cơ sửa chữa tại shop. 	</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Tổ chức họp và tìm giải pháp với Ban KT, VAECO với danh mục MPL đc tháo khi gửi đi sửa.</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kern="0">
              <a:solidFill>
                <a:srgbClr val="FF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081777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71</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algn="just">
              <a:buClr>
                <a:srgbClr val="000000"/>
              </a:buClr>
              <a:buSzPts val="18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FF0000"/>
                </a:solidFill>
                <a:latin typeface="Times New Roman"/>
                <a:ea typeface="Times New Roman"/>
                <a:cs typeface="Times New Roman"/>
                <a:sym typeface="Times New Roman"/>
              </a:rPr>
              <a:t>-</a:t>
            </a: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Đội bay ATR:</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Số lượng dự phòng: 06:  03 ENG sở hữu, 03 ENG thuê ngắn hạn: (ED0321) (ED0036) (ED0715). </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ED0238 đang sửa tại shop PWC tại SING.</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ED0239, ED0217,ED0233, ED0214 đang sửa tại SA.</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Vướng mắc/ Khó khăn:</a:t>
            </a:r>
            <a:endParaRPr sz="1500" kern="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Các shop vẫn đang gặp trình trạng thiếu part, dẫn đến TAT bị kéo dài tại cả 02 shop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a:t>
            </a:r>
            <a:r>
              <a:rPr lang="en-US" sz="1500" kern="0">
                <a:solidFill>
                  <a:srgbClr val="FF0000"/>
                </a:solidFill>
                <a:latin typeface="Times New Roman"/>
                <a:ea typeface="Times New Roman"/>
                <a:cs typeface="Times New Roman"/>
                <a:sym typeface="Times New Roman"/>
              </a:rPr>
              <a:t>Giải pháp:</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r>
              <a:rPr lang="en-US" sz="1500" kern="0">
                <a:solidFill>
                  <a:srgbClr val="000000"/>
                </a:solidFill>
                <a:latin typeface="Times New Roman"/>
                <a:ea typeface="Times New Roman"/>
                <a:cs typeface="Times New Roman"/>
                <a:sym typeface="Times New Roman"/>
              </a:rPr>
              <a:t>+ Tiếp tục theo sát các động cơ đang sửa chữa tại PWC và StandardAero.</a:t>
            </a:r>
            <a:endParaRPr sz="1500" kern="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500" b="1" u="sng" kern="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b="1" u="sng" kern="0">
              <a:solidFill>
                <a:srgbClr val="000000"/>
              </a:solidFill>
              <a:latin typeface="Times New Roman"/>
              <a:ea typeface="Times New Roman"/>
              <a:cs typeface="Times New Roman"/>
              <a:sym typeface="Times New Roman"/>
            </a:endParaRPr>
          </a:p>
        </p:txBody>
      </p:sp>
      <p:pic>
        <p:nvPicPr>
          <p:cNvPr id="303" name="Google Shape;303;g31ccdae391d_0_389"/>
          <p:cNvPicPr preferRelativeResize="0"/>
          <p:nvPr/>
        </p:nvPicPr>
        <p:blipFill>
          <a:blip r:embed="rId3">
            <a:alphaModFix/>
          </a:blip>
          <a:stretch>
            <a:fillRect/>
          </a:stretch>
        </p:blipFill>
        <p:spPr>
          <a:xfrm>
            <a:off x="41700" y="2418225"/>
            <a:ext cx="11496974" cy="2795025"/>
          </a:xfrm>
          <a:prstGeom prst="rect">
            <a:avLst/>
          </a:prstGeom>
          <a:noFill/>
          <a:ln>
            <a:noFill/>
          </a:ln>
        </p:spPr>
      </p:pic>
    </p:spTree>
    <p:extLst>
      <p:ext uri="{BB962C8B-B14F-4D97-AF65-F5344CB8AC3E}">
        <p14:creationId xmlns:p14="http://schemas.microsoft.com/office/powerpoint/2010/main" val="371433747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72</a:t>
            </a:fld>
            <a:endParaRPr/>
          </a:p>
        </p:txBody>
      </p:sp>
      <p:sp>
        <p:nvSpPr>
          <p:cNvPr id="311" name="Google Shape;311;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A350: </a:t>
            </a:r>
            <a:r>
              <a:rPr lang="en-US" sz="1600" kern="0" dirty="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21047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N3)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a:t>
            </a:r>
            <a:r>
              <a:rPr lang="en-US" sz="1600" kern="0" dirty="0" smtClean="0">
                <a:solidFill>
                  <a:srgbClr val="000000"/>
                </a:solidFill>
                <a:latin typeface="Times New Roman"/>
                <a:ea typeface="Times New Roman"/>
                <a:cs typeface="Times New Roman"/>
                <a:sym typeface="Times New Roman"/>
              </a:rPr>
              <a:t>27/04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SGN</a:t>
            </a:r>
            <a:endParaRPr sz="1600" kern="0" dirty="0">
              <a:solidFill>
                <a:srgbClr val="000000"/>
              </a:solidFill>
              <a:latin typeface="Times New Roman"/>
              <a:ea typeface="Times New Roman"/>
              <a:cs typeface="Times New Roman"/>
              <a:sym typeface="Times New Roman"/>
            </a:endParaRPr>
          </a:p>
          <a:p>
            <a:pPr marL="914400" algn="just">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B787: </a:t>
            </a:r>
            <a:r>
              <a:rPr lang="en-US" sz="1600" kern="0" dirty="0">
                <a:solidFill>
                  <a:srgbClr val="000000"/>
                </a:solidFill>
                <a:latin typeface="Times New Roman"/>
                <a:ea typeface="Times New Roman"/>
                <a:cs typeface="Times New Roman"/>
                <a:sym typeface="Times New Roman"/>
              </a:rPr>
              <a:t>NIL stock.</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956533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KLM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SGN 05/05. </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CEO </a:t>
            </a:r>
            <a:r>
              <a:rPr lang="en-US" sz="1600" kern="0" dirty="0">
                <a:solidFill>
                  <a:srgbClr val="000000"/>
                </a:solidFill>
                <a:latin typeface="Times New Roman"/>
                <a:ea typeface="Times New Roman"/>
                <a:cs typeface="Times New Roman"/>
                <a:sym typeface="Times New Roman"/>
              </a:rPr>
              <a:t>: </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 Tháng 5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03ea: V16338 (09/05), V17403 (14/05), V16692 (25/05).</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30200">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A321 NEO</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P770904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28/04.</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P771130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30/04.</a:t>
            </a:r>
            <a:br>
              <a:rPr lang="en-US" sz="1600" kern="0" dirty="0">
                <a:solidFill>
                  <a:srgbClr val="000000"/>
                </a:solidFill>
                <a:latin typeface="Times New Roman"/>
                <a:ea typeface="Times New Roman"/>
                <a:cs typeface="Times New Roman"/>
                <a:sym typeface="Times New Roman"/>
              </a:rPr>
            </a:b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P770903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10/05.</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P771077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a:t>
            </a:r>
            <a:r>
              <a:rPr lang="en-US" sz="1600" kern="0" dirty="0" smtClean="0">
                <a:solidFill>
                  <a:srgbClr val="000000"/>
                </a:solidFill>
                <a:latin typeface="Times New Roman"/>
                <a:ea typeface="Times New Roman"/>
                <a:cs typeface="Times New Roman"/>
                <a:sym typeface="Times New Roman"/>
              </a:rPr>
              <a:t>23/05.</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P771391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a:t>
            </a:r>
            <a:r>
              <a:rPr lang="en-US" sz="1600" kern="0" dirty="0" smtClean="0">
                <a:solidFill>
                  <a:srgbClr val="000000"/>
                </a:solidFill>
                <a:latin typeface="Times New Roman"/>
                <a:ea typeface="Times New Roman"/>
                <a:cs typeface="Times New Roman"/>
                <a:sym typeface="Times New Roman"/>
              </a:rPr>
              <a:t>25/05.</a:t>
            </a:r>
            <a:endParaRPr sz="1600" kern="0" dirty="0">
              <a:solidFill>
                <a:srgbClr val="000000"/>
              </a:solidFill>
              <a:latin typeface="Times New Roman"/>
              <a:ea typeface="Times New Roman"/>
              <a:cs typeface="Times New Roman"/>
              <a:sym typeface="Times New Roman"/>
            </a:endParaRPr>
          </a:p>
          <a:p>
            <a:pPr marL="457200">
              <a:lnSpc>
                <a:spcPct val="115000"/>
              </a:lnSpc>
              <a:buClr>
                <a:srgbClr val="000000"/>
              </a:buClr>
              <a:buSzPts val="1100"/>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Động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cơ</a:t>
            </a:r>
            <a:r>
              <a:rPr lang="en-US" sz="1600" kern="0" dirty="0">
                <a:solidFill>
                  <a:srgbClr val="000000"/>
                </a:solidFill>
                <a:latin typeface="Times New Roman"/>
                <a:ea typeface="Times New Roman"/>
                <a:cs typeface="Times New Roman"/>
                <a:sym typeface="Times New Roman"/>
              </a:rPr>
              <a:t> P771387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HAN </a:t>
            </a:r>
            <a:r>
              <a:rPr lang="en-US" sz="1600" kern="0" dirty="0" smtClean="0">
                <a:solidFill>
                  <a:srgbClr val="000000"/>
                </a:solidFill>
                <a:latin typeface="Times New Roman"/>
                <a:ea typeface="Times New Roman"/>
                <a:cs typeface="Times New Roman"/>
                <a:sym typeface="Times New Roman"/>
              </a:rPr>
              <a:t>29/05.</a:t>
            </a:r>
            <a:endParaRPr sz="1600" kern="0" dirty="0">
              <a:solidFill>
                <a:srgbClr val="000000"/>
              </a:solidFill>
              <a:latin typeface="Times New Roman"/>
              <a:ea typeface="Times New Roman"/>
              <a:cs typeface="Times New Roman"/>
              <a:sym typeface="Times New Roman"/>
            </a:endParaRPr>
          </a:p>
          <a:p>
            <a:pPr>
              <a:lnSpc>
                <a:spcPct val="115000"/>
              </a:lnSpc>
              <a:buClr>
                <a:srgbClr val="000000"/>
              </a:buClr>
              <a:buFont typeface="Arial"/>
              <a:buNone/>
            </a:pP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b="1" kern="0" dirty="0">
                <a:solidFill>
                  <a:srgbClr val="000000"/>
                </a:solidFill>
                <a:latin typeface="Times New Roman"/>
                <a:ea typeface="Times New Roman"/>
                <a:cs typeface="Times New Roman"/>
                <a:sym typeface="Times New Roman"/>
              </a:rPr>
              <a:t>ATR:</a:t>
            </a:r>
            <a:r>
              <a:rPr lang="en-US" sz="1600" kern="0" dirty="0">
                <a:solidFill>
                  <a:srgbClr val="000000"/>
                </a:solidFill>
                <a:latin typeface="Times New Roman"/>
                <a:ea typeface="Times New Roman"/>
                <a:cs typeface="Times New Roman"/>
                <a:sym typeface="Times New Roman"/>
              </a:rPr>
              <a:t> 01 stock (ED0235).</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r>
              <a:rPr lang="en-US" sz="1600" kern="0" dirty="0">
                <a:solidFill>
                  <a:srgbClr val="000000"/>
                </a:solidFill>
                <a:latin typeface="Times New Roman"/>
                <a:ea typeface="Times New Roman"/>
                <a:cs typeface="Times New Roman"/>
                <a:sym typeface="Times New Roman"/>
              </a:rPr>
              <a:t>ED0239 </a:t>
            </a:r>
            <a:r>
              <a:rPr lang="en-US" sz="1600" kern="0" dirty="0" err="1">
                <a:solidFill>
                  <a:srgbClr val="000000"/>
                </a:solidFill>
                <a:latin typeface="Times New Roman"/>
                <a:ea typeface="Times New Roman"/>
                <a:cs typeface="Times New Roman"/>
                <a:sym typeface="Times New Roman"/>
              </a:rPr>
              <a:t>sửa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chữa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StandardAero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release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29/04/2025</a:t>
            </a: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6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600" b="1" kern="0" dirty="0">
              <a:solidFill>
                <a:srgbClr val="FF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6968632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73</a:t>
            </a:fld>
            <a:endParaRPr/>
          </a:p>
        </p:txBody>
      </p:sp>
      <p:sp>
        <p:nvSpPr>
          <p:cNvPr id="319" name="Google Shape;319;g31ccdae391d_0_403"/>
          <p:cNvSpPr txBox="1"/>
          <p:nvPr/>
        </p:nvSpPr>
        <p:spPr>
          <a:xfrm>
            <a:off x="7066700" y="571500"/>
            <a:ext cx="4085700" cy="3692700"/>
          </a:xfrm>
          <a:prstGeom prst="rect">
            <a:avLst/>
          </a:prstGeom>
          <a:noFill/>
          <a:ln>
            <a:noFill/>
          </a:ln>
        </p:spPr>
        <p:txBody>
          <a:bodyPr spcFirstLastPara="1" wrap="square" lIns="91425" tIns="91425" rIns="91425" bIns="91425" anchor="t" anchorCtr="0">
            <a:spAutoFit/>
          </a:bodyPr>
          <a:lstStyle/>
          <a:p>
            <a:pPr>
              <a:lnSpc>
                <a:spcPct val="115000"/>
              </a:lnSpc>
              <a:buClr>
                <a:srgbClr val="000000"/>
              </a:buClr>
              <a:buSzPts val="1100"/>
              <a:buFont typeface="Arial"/>
              <a:buNone/>
            </a:pPr>
            <a:r>
              <a:rPr lang="en-US" sz="1600" b="1" kern="0" dirty="0">
                <a:solidFill>
                  <a:srgbClr val="000000"/>
                </a:solidFill>
                <a:latin typeface="Times New Roman"/>
                <a:ea typeface="Times New Roman"/>
                <a:cs typeface="Times New Roman"/>
                <a:sym typeface="Times New Roman"/>
              </a:rPr>
              <a:t>APU A321 </a:t>
            </a:r>
            <a:endParaRPr sz="1600" b="1"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700" kern="0" dirty="0">
                <a:solidFill>
                  <a:srgbClr val="000000"/>
                </a:solidFill>
                <a:latin typeface="Times New Roman"/>
                <a:ea typeface="Times New Roman"/>
                <a:cs typeface="Times New Roman"/>
                <a:sym typeface="Times New Roman"/>
              </a:rPr>
              <a:t>+ </a:t>
            </a:r>
            <a:r>
              <a:rPr lang="en-US" sz="1400" kern="0" dirty="0">
                <a:solidFill>
                  <a:srgbClr val="000000"/>
                </a:solidFill>
                <a:latin typeface="Times New Roman"/>
                <a:ea typeface="Times New Roman"/>
                <a:cs typeface="Times New Roman"/>
                <a:sym typeface="Times New Roman"/>
              </a:rPr>
              <a:t>STK: 00 APU </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700"/>
              <a:buFont typeface="Arial"/>
              <a:buNone/>
            </a:pPr>
            <a:r>
              <a:rPr lang="en-US" sz="1400" kern="0" dirty="0">
                <a:solidFill>
                  <a:srgbClr val="000000"/>
                </a:solidFill>
                <a:latin typeface="Times New Roman"/>
                <a:ea typeface="Times New Roman"/>
                <a:cs typeface="Times New Roman"/>
                <a:sym typeface="Times New Roman"/>
              </a:rPr>
              <a:t>+ Tháng 5: 01ea EDD 10/05</a:t>
            </a:r>
            <a:r>
              <a:rPr lang="en-US" sz="1400" kern="0" dirty="0" smtClean="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A350</a:t>
            </a:r>
            <a:endParaRPr sz="1500" b="1"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0</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+ 01 APU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vận</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chuyển</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đi</a:t>
            </a:r>
            <a:r>
              <a:rPr lang="en-US" sz="1400" kern="0" dirty="0">
                <a:solidFill>
                  <a:srgbClr val="000000"/>
                </a:solidFill>
                <a:latin typeface="Times New Roman"/>
                <a:ea typeface="Times New Roman"/>
                <a:cs typeface="Times New Roman"/>
                <a:sym typeface="Times New Roman"/>
              </a:rPr>
              <a:t> shop </a:t>
            </a:r>
            <a:r>
              <a:rPr lang="en-US" sz="1400" kern="0" dirty="0" err="1">
                <a:solidFill>
                  <a:srgbClr val="000000"/>
                </a:solidFill>
                <a:latin typeface="Times New Roman"/>
                <a:ea typeface="Times New Roman"/>
                <a:cs typeface="Times New Roman"/>
                <a:sym typeface="Times New Roman"/>
              </a:rPr>
              <a:t>Lufth</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chữa</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+02 APU </a:t>
            </a:r>
            <a:r>
              <a:rPr lang="en-US" sz="1400" kern="0" dirty="0" err="1">
                <a:solidFill>
                  <a:srgbClr val="000000"/>
                </a:solidFill>
                <a:latin typeface="Times New Roman"/>
                <a:ea typeface="Times New Roman"/>
                <a:cs typeface="Times New Roman"/>
                <a:sym typeface="Times New Roman"/>
              </a:rPr>
              <a:t>đang</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chữa</a:t>
            </a:r>
            <a:r>
              <a:rPr lang="en-US" sz="1400" kern="0" dirty="0">
                <a:solidFill>
                  <a:srgbClr val="000000"/>
                </a:solidFill>
                <a:latin typeface="Times New Roman"/>
                <a:ea typeface="Times New Roman"/>
                <a:cs typeface="Times New Roman"/>
                <a:sym typeface="Times New Roman"/>
              </a:rPr>
              <a:t>: P-00263 DK 09/05/2025 </a:t>
            </a:r>
            <a:r>
              <a:rPr lang="en-US" sz="1400" kern="0" dirty="0" err="1">
                <a:solidFill>
                  <a:srgbClr val="000000"/>
                </a:solidFill>
                <a:latin typeface="Times New Roman"/>
                <a:ea typeface="Times New Roman"/>
                <a:cs typeface="Times New Roman"/>
                <a:sym typeface="Times New Roman"/>
              </a:rPr>
              <a:t>và</a:t>
            </a:r>
            <a:r>
              <a:rPr lang="en-US" sz="1400" kern="0" dirty="0">
                <a:solidFill>
                  <a:srgbClr val="000000"/>
                </a:solidFill>
                <a:latin typeface="Times New Roman"/>
                <a:ea typeface="Times New Roman"/>
                <a:cs typeface="Times New Roman"/>
                <a:sym typeface="Times New Roman"/>
              </a:rPr>
              <a:t> P-00194 </a:t>
            </a:r>
            <a:r>
              <a:rPr lang="en-US" sz="1400" kern="0" dirty="0" err="1">
                <a:solidFill>
                  <a:srgbClr val="000000"/>
                </a:solidFill>
                <a:latin typeface="Times New Roman"/>
                <a:ea typeface="Times New Roman"/>
                <a:cs typeface="Times New Roman"/>
                <a:sym typeface="Times New Roman"/>
              </a:rPr>
              <a:t>chưa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có</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ngày</a:t>
            </a:r>
            <a:r>
              <a:rPr lang="en-US" sz="1400" kern="0" dirty="0">
                <a:solidFill>
                  <a:srgbClr val="000000"/>
                </a:solidFill>
                <a:latin typeface="Times New Roman"/>
                <a:ea typeface="Times New Roman"/>
                <a:cs typeface="Times New Roman"/>
                <a:sym typeface="Times New Roman"/>
              </a:rPr>
              <a:t> release.</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100" kern="0" dirty="0">
                <a:solidFill>
                  <a:srgbClr val="000000"/>
                </a:solidFill>
                <a:latin typeface="Times New Roman"/>
                <a:ea typeface="Times New Roman"/>
                <a:cs typeface="Times New Roman"/>
                <a:sym typeface="Times New Roman"/>
              </a:rPr>
              <a:t> </a:t>
            </a:r>
            <a:endParaRPr sz="11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500" b="1" kern="0" dirty="0">
                <a:solidFill>
                  <a:srgbClr val="000000"/>
                </a:solidFill>
                <a:latin typeface="Times New Roman"/>
                <a:ea typeface="Times New Roman"/>
                <a:cs typeface="Times New Roman"/>
                <a:sym typeface="Times New Roman"/>
              </a:rPr>
              <a:t>APU B787 </a:t>
            </a:r>
            <a:endParaRPr sz="1500" b="1"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STK: 0 APU</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+ 01 APU (PWC-Z926122) </a:t>
            </a:r>
            <a:r>
              <a:rPr lang="en-US" sz="1400" kern="0" dirty="0" err="1">
                <a:solidFill>
                  <a:srgbClr val="000000"/>
                </a:solidFill>
                <a:latin typeface="Times New Roman"/>
                <a:ea typeface="Times New Roman"/>
                <a:cs typeface="Times New Roman"/>
                <a:sym typeface="Times New Roman"/>
              </a:rPr>
              <a:t>chưa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có</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dk</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về</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nSpc>
                <a:spcPct val="115000"/>
              </a:lnSpc>
              <a:buClr>
                <a:srgbClr val="000000"/>
              </a:buClr>
              <a:buSzPts val="1100"/>
              <a:buFont typeface="Arial"/>
              <a:buNone/>
            </a:pPr>
            <a:r>
              <a:rPr lang="en-US" sz="1400" kern="0" dirty="0">
                <a:solidFill>
                  <a:srgbClr val="000000"/>
                </a:solidFill>
                <a:latin typeface="Times New Roman"/>
                <a:ea typeface="Times New Roman"/>
                <a:cs typeface="Times New Roman"/>
                <a:sym typeface="Times New Roman"/>
              </a:rPr>
              <a:t>+01 APU ( PWC-Z925500) DK 30/04/2025 </a:t>
            </a:r>
            <a:r>
              <a:rPr lang="en-US" sz="1400" kern="0" dirty="0" err="1">
                <a:solidFill>
                  <a:srgbClr val="000000"/>
                </a:solidFill>
                <a:latin typeface="Times New Roman"/>
                <a:ea typeface="Times New Roman"/>
                <a:cs typeface="Times New Roman"/>
                <a:sym typeface="Times New Roman"/>
              </a:rPr>
              <a:t>sửa</a:t>
            </a:r>
            <a:r>
              <a:rPr lang="en-US" sz="1400" kern="0" dirty="0">
                <a:solidFill>
                  <a:srgbClr val="000000"/>
                </a:solidFill>
                <a:latin typeface="Times New Roman"/>
                <a:ea typeface="Times New Roman"/>
                <a:cs typeface="Times New Roman"/>
                <a:sym typeface="Times New Roman"/>
              </a:rPr>
              <a:t> </a:t>
            </a:r>
            <a:r>
              <a:rPr lang="en-US" sz="1400" kern="0" dirty="0" err="1">
                <a:solidFill>
                  <a:srgbClr val="000000"/>
                </a:solidFill>
                <a:latin typeface="Times New Roman"/>
                <a:ea typeface="Times New Roman"/>
                <a:cs typeface="Times New Roman"/>
                <a:sym typeface="Times New Roman"/>
              </a:rPr>
              <a:t>xong</a:t>
            </a:r>
            <a:r>
              <a:rPr lang="en-US" sz="1400" kern="0" dirty="0">
                <a:solidFill>
                  <a:srgbClr val="000000"/>
                </a:solidFill>
                <a:latin typeface="Times New Roman"/>
                <a:ea typeface="Times New Roman"/>
                <a:cs typeface="Times New Roman"/>
                <a:sym typeface="Times New Roman"/>
              </a:rPr>
              <a:t>.</a:t>
            </a:r>
            <a:endParaRPr sz="1400" kern="0" dirty="0">
              <a:solidFill>
                <a:srgbClr val="000000"/>
              </a:solidFill>
              <a:latin typeface="Times New Roman"/>
              <a:ea typeface="Times New Roman"/>
              <a:cs typeface="Times New Roman"/>
              <a:sym typeface="Times New Roman"/>
            </a:endParaRPr>
          </a:p>
          <a:p>
            <a:pPr algn="just">
              <a:lnSpc>
                <a:spcPct val="115000"/>
              </a:lnSpc>
              <a:buClr>
                <a:srgbClr val="000000"/>
              </a:buClr>
              <a:buSzPts val="1100"/>
              <a:buFont typeface="Arial"/>
              <a:buNone/>
            </a:pPr>
            <a:endParaRPr sz="1400" kern="0" dirty="0">
              <a:solidFill>
                <a:srgbClr val="000000"/>
              </a:solidFill>
              <a:latin typeface="Times New Roman"/>
              <a:ea typeface="Times New Roman"/>
              <a:cs typeface="Times New Roman"/>
              <a:sym typeface="Times New Roman"/>
            </a:endParaRPr>
          </a:p>
        </p:txBody>
      </p:sp>
      <p:pic>
        <p:nvPicPr>
          <p:cNvPr id="320" name="Google Shape;320;g31ccdae391d_0_403"/>
          <p:cNvPicPr preferRelativeResize="0"/>
          <p:nvPr/>
        </p:nvPicPr>
        <p:blipFill>
          <a:blip r:embed="rId3">
            <a:alphaModFix/>
          </a:blip>
          <a:stretch>
            <a:fillRect/>
          </a:stretch>
        </p:blipFill>
        <p:spPr>
          <a:xfrm>
            <a:off x="585075" y="571500"/>
            <a:ext cx="6481626" cy="5610622"/>
          </a:xfrm>
          <a:prstGeom prst="rect">
            <a:avLst/>
          </a:prstGeom>
          <a:noFill/>
          <a:ln>
            <a:noFill/>
          </a:ln>
        </p:spPr>
      </p:pic>
    </p:spTree>
    <p:extLst>
      <p:ext uri="{BB962C8B-B14F-4D97-AF65-F5344CB8AC3E}">
        <p14:creationId xmlns:p14="http://schemas.microsoft.com/office/powerpoint/2010/main" val="74127152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338eea6c084_0_0"/>
          <p:cNvSpPr txBox="1">
            <a:spLocks noGrp="1"/>
          </p:cNvSpPr>
          <p:nvPr>
            <p:ph type="title"/>
          </p:nvPr>
        </p:nvSpPr>
        <p:spPr>
          <a:xfrm>
            <a:off x="3727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27" name="Google Shape;32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74</a:t>
            </a:fld>
            <a:endParaRPr/>
          </a:p>
        </p:txBody>
      </p:sp>
      <p:sp>
        <p:nvSpPr>
          <p:cNvPr id="328" name="Google Shape;328;g338eea6c084_0_0"/>
          <p:cNvSpPr/>
          <p:nvPr/>
        </p:nvSpPr>
        <p:spPr>
          <a:xfrm>
            <a:off x="609900" y="191838"/>
            <a:ext cx="10972200" cy="6626700"/>
          </a:xfrm>
          <a:prstGeom prst="rect">
            <a:avLst/>
          </a:prstGeom>
          <a:noFill/>
          <a:ln>
            <a:noFill/>
          </a:ln>
        </p:spPr>
        <p:txBody>
          <a:bodyPr spcFirstLastPara="1" wrap="square" lIns="91425" tIns="45700" rIns="91425" bIns="45700" anchor="t" anchorCtr="0">
            <a:noAutofit/>
          </a:bodyPr>
          <a:lstStyle/>
          <a:p>
            <a:pPr algn="just">
              <a:lnSpc>
                <a:spcPct val="115000"/>
              </a:lnSpc>
              <a:buClr>
                <a:srgbClr val="000000"/>
              </a:buClr>
              <a:buSzPts val="1600"/>
              <a:buFont typeface="Arial"/>
              <a:buNone/>
            </a:pPr>
            <a:endParaRPr sz="1600" kern="0" dirty="0">
              <a:solidFill>
                <a:srgbClr val="000000"/>
              </a:solidFill>
              <a:latin typeface="Times New Roman"/>
              <a:ea typeface="Times New Roman"/>
              <a:cs typeface="Times New Roman"/>
              <a:sym typeface="Times New Roman"/>
            </a:endParaRPr>
          </a:p>
          <a:p>
            <a:pPr marL="457200" indent="-355600" algn="just">
              <a:lnSpc>
                <a:spcPct val="115000"/>
              </a:lnSpc>
              <a:buClr>
                <a:srgbClr val="000000"/>
              </a:buClr>
              <a:buSzPts val="2000"/>
              <a:buFont typeface="Times New Roman"/>
              <a:buAutoNum type="arabicPeriod"/>
            </a:pPr>
            <a:r>
              <a:rPr lang="en-US" sz="2000" b="1" kern="0" dirty="0">
                <a:solidFill>
                  <a:srgbClr val="000000"/>
                </a:solidFill>
                <a:latin typeface="Times New Roman"/>
                <a:ea typeface="Times New Roman"/>
                <a:cs typeface="Times New Roman"/>
                <a:sym typeface="Times New Roman"/>
              </a:rPr>
              <a:t>NHIÊN LIỆU:</a:t>
            </a:r>
            <a:endParaRPr sz="2000" b="1" kern="0" dirty="0">
              <a:solidFill>
                <a:srgbClr val="000000"/>
              </a:solidFill>
              <a:latin typeface="Times New Roman"/>
              <a:ea typeface="Times New Roman"/>
              <a:cs typeface="Times New Roman"/>
              <a:sym typeface="Times New Roman"/>
            </a:endParaRPr>
          </a:p>
          <a:p>
            <a:pPr indent="457200" algn="just">
              <a:lnSpc>
                <a:spcPct val="115000"/>
              </a:lnSpc>
              <a:buClr>
                <a:srgbClr val="000000"/>
              </a:buClr>
              <a:buFont typeface="Arial"/>
              <a:buNone/>
            </a:pPr>
            <a:r>
              <a:rPr lang="en-US" sz="1600" kern="0" dirty="0" err="1">
                <a:solidFill>
                  <a:srgbClr val="000000"/>
                </a:solidFill>
                <a:latin typeface="Times New Roman"/>
                <a:ea typeface="Times New Roman"/>
                <a:cs typeface="Times New Roman"/>
                <a:sym typeface="Times New Roman"/>
              </a:rPr>
              <a:t>Nhà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cung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cấp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SVO </a:t>
            </a:r>
            <a:r>
              <a:rPr lang="en-US" sz="1600" kern="0" dirty="0" err="1">
                <a:solidFill>
                  <a:srgbClr val="000000"/>
                </a:solidFill>
                <a:latin typeface="Times New Roman"/>
                <a:ea typeface="Times New Roman"/>
                <a:cs typeface="Times New Roman"/>
                <a:sym typeface="Times New Roman"/>
              </a:rPr>
              <a:t>là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công</a:t>
            </a:r>
            <a:r>
              <a:rPr lang="en-US" sz="1600" kern="0" dirty="0">
                <a:solidFill>
                  <a:srgbClr val="000000"/>
                </a:solidFill>
                <a:latin typeface="Times New Roman"/>
                <a:ea typeface="Times New Roman"/>
                <a:cs typeface="Times New Roman"/>
                <a:sym typeface="Times New Roman"/>
              </a:rPr>
              <a:t> ty </a:t>
            </a:r>
            <a:r>
              <a:rPr lang="en-US" sz="1600" kern="0" dirty="0" err="1">
                <a:solidFill>
                  <a:srgbClr val="000000"/>
                </a:solidFill>
                <a:latin typeface="Times New Roman"/>
                <a:ea typeface="Times New Roman"/>
                <a:cs typeface="Times New Roman"/>
                <a:sym typeface="Times New Roman"/>
              </a:rPr>
              <a:t>Skypec</a:t>
            </a:r>
            <a:r>
              <a:rPr lang="en-US" sz="1600" kern="0" dirty="0">
                <a:solidFill>
                  <a:srgbClr val="000000"/>
                </a:solidFill>
                <a:latin typeface="Times New Roman"/>
                <a:ea typeface="Times New Roman"/>
                <a:cs typeface="Times New Roman"/>
                <a:sym typeface="Times New Roman"/>
              </a:rPr>
              <a:t>. Ban QLVT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yêu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cầu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Skypec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trao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đổi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với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công</a:t>
            </a:r>
            <a:r>
              <a:rPr lang="en-US" sz="1600" kern="0" dirty="0">
                <a:solidFill>
                  <a:srgbClr val="000000"/>
                </a:solidFill>
                <a:latin typeface="Times New Roman"/>
                <a:ea typeface="Times New Roman"/>
                <a:cs typeface="Times New Roman"/>
                <a:sym typeface="Times New Roman"/>
              </a:rPr>
              <a:t> ty </a:t>
            </a:r>
            <a:r>
              <a:rPr lang="en-US" sz="1600" kern="0" dirty="0" err="1">
                <a:solidFill>
                  <a:srgbClr val="000000"/>
                </a:solidFill>
                <a:latin typeface="Times New Roman"/>
                <a:ea typeface="Times New Roman"/>
                <a:cs typeface="Times New Roman"/>
                <a:sym typeface="Times New Roman"/>
              </a:rPr>
              <a:t>tra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nạp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về</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dịch</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vụ</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hút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nhiên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liệu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hoàn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thiện</a:t>
            </a:r>
            <a:r>
              <a:rPr lang="en-US" sz="1600" kern="0" dirty="0">
                <a:solidFill>
                  <a:srgbClr val="000000"/>
                </a:solidFill>
                <a:latin typeface="Times New Roman"/>
                <a:ea typeface="Times New Roman"/>
                <a:cs typeface="Times New Roman"/>
                <a:sym typeface="Times New Roman"/>
              </a:rPr>
              <a:t> HĐ </a:t>
            </a:r>
            <a:r>
              <a:rPr lang="en-US" sz="1600" kern="0" dirty="0" err="1">
                <a:solidFill>
                  <a:srgbClr val="000000"/>
                </a:solidFill>
                <a:latin typeface="Times New Roman"/>
                <a:ea typeface="Times New Roman"/>
                <a:cs typeface="Times New Roman"/>
                <a:sym typeface="Times New Roman"/>
              </a:rPr>
              <a:t>với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Skypec</a:t>
            </a:r>
            <a:r>
              <a:rPr lang="en-US" sz="1600" kern="0" dirty="0" smtClean="0">
                <a:solidFill>
                  <a:srgbClr val="000000"/>
                </a:solidFill>
                <a:latin typeface="Times New Roman"/>
                <a:ea typeface="Times New Roman"/>
                <a:cs typeface="Times New Roman"/>
                <a:sym typeface="Times New Roman"/>
              </a:rPr>
              <a:t>.</a:t>
            </a:r>
            <a:endParaRPr sz="2000" kern="0" dirty="0">
              <a:solidFill>
                <a:srgbClr val="000000"/>
              </a:solidFill>
              <a:latin typeface="Times New Roman"/>
              <a:ea typeface="Times New Roman"/>
              <a:cs typeface="Times New Roman"/>
              <a:sym typeface="Times New Roman"/>
            </a:endParaRPr>
          </a:p>
          <a:p>
            <a:pPr marL="101600" algn="just">
              <a:lnSpc>
                <a:spcPct val="115000"/>
              </a:lnSpc>
              <a:buClr>
                <a:srgbClr val="000000"/>
              </a:buClr>
              <a:buSzPts val="2000"/>
              <a:buFont typeface="Arial"/>
              <a:buNone/>
            </a:pPr>
            <a:r>
              <a:rPr lang="en-US" sz="2000" b="1" kern="0" dirty="0" smtClean="0">
                <a:solidFill>
                  <a:srgbClr val="000000"/>
                </a:solidFill>
                <a:latin typeface="Times New Roman"/>
                <a:ea typeface="Times New Roman"/>
                <a:cs typeface="Times New Roman"/>
                <a:sym typeface="Times New Roman"/>
              </a:rPr>
              <a:t>2.   PTVT </a:t>
            </a:r>
            <a:r>
              <a:rPr lang="en-US" sz="2000" b="1" kern="0" dirty="0">
                <a:solidFill>
                  <a:srgbClr val="000000"/>
                </a:solidFill>
                <a:latin typeface="Times New Roman"/>
                <a:ea typeface="Times New Roman"/>
                <a:cs typeface="Times New Roman"/>
                <a:sym typeface="Times New Roman"/>
              </a:rPr>
              <a:t>DỰ PHÒNG FAK</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TGĐ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phê</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duyệt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mua</a:t>
            </a:r>
            <a:r>
              <a:rPr lang="en-US" sz="1600" kern="0" dirty="0">
                <a:solidFill>
                  <a:srgbClr val="000000"/>
                </a:solidFill>
                <a:latin typeface="Times New Roman"/>
                <a:ea typeface="Times New Roman"/>
                <a:cs typeface="Times New Roman"/>
                <a:sym typeface="Times New Roman"/>
              </a:rPr>
              <a:t> 63 item (5.18 </a:t>
            </a:r>
            <a:r>
              <a:rPr lang="en-US" sz="1600" kern="0" dirty="0" err="1">
                <a:solidFill>
                  <a:srgbClr val="000000"/>
                </a:solidFill>
                <a:latin typeface="Times New Roman"/>
                <a:ea typeface="Times New Roman"/>
                <a:cs typeface="Times New Roman"/>
                <a:sym typeface="Times New Roman"/>
              </a:rPr>
              <a:t>triệu</a:t>
            </a:r>
            <a:r>
              <a:rPr lang="en-US" sz="1600" kern="0" dirty="0">
                <a:solidFill>
                  <a:srgbClr val="000000"/>
                </a:solidFill>
                <a:latin typeface="Times New Roman"/>
                <a:ea typeface="Times New Roman"/>
                <a:cs typeface="Times New Roman"/>
                <a:sym typeface="Times New Roman"/>
              </a:rPr>
              <a:t> USD) trong </a:t>
            </a:r>
            <a:r>
              <a:rPr lang="en-US" sz="1600" kern="0" dirty="0" err="1">
                <a:solidFill>
                  <a:srgbClr val="000000"/>
                </a:solidFill>
                <a:latin typeface="Times New Roman"/>
                <a:ea typeface="Times New Roman"/>
                <a:cs typeface="Times New Roman"/>
                <a:sym typeface="Times New Roman"/>
              </a:rPr>
              <a:t>đó</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27ea in stock.</a:t>
            </a: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18ea </a:t>
            </a:r>
            <a:r>
              <a:rPr lang="en-US" sz="1600" kern="0" dirty="0" err="1">
                <a:solidFill>
                  <a:srgbClr val="000000"/>
                </a:solidFill>
                <a:latin typeface="Times New Roman"/>
                <a:ea typeface="Times New Roman"/>
                <a:cs typeface="Times New Roman"/>
                <a:sym typeface="Times New Roman"/>
              </a:rPr>
              <a:t>dự</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kiến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sẽ</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giao</a:t>
            </a:r>
            <a:r>
              <a:rPr lang="en-US" sz="1600" kern="0" dirty="0">
                <a:solidFill>
                  <a:srgbClr val="000000"/>
                </a:solidFill>
                <a:latin typeface="Times New Roman"/>
                <a:ea typeface="Times New Roman"/>
                <a:cs typeface="Times New Roman"/>
                <a:sym typeface="Times New Roman"/>
              </a:rPr>
              <a:t> HAN/SGN </a:t>
            </a:r>
            <a:r>
              <a:rPr lang="en-US" sz="1600" kern="0" dirty="0" err="1">
                <a:solidFill>
                  <a:srgbClr val="000000"/>
                </a:solidFill>
                <a:latin typeface="Times New Roman"/>
                <a:ea typeface="Times New Roman"/>
                <a:cs typeface="Times New Roman"/>
                <a:sym typeface="Times New Roman"/>
              </a:rPr>
              <a:t>trước</a:t>
            </a:r>
            <a:r>
              <a:rPr lang="en-US" sz="1600" kern="0" dirty="0">
                <a:solidFill>
                  <a:srgbClr val="000000"/>
                </a:solidFill>
                <a:latin typeface="Times New Roman"/>
                <a:ea typeface="Times New Roman"/>
                <a:cs typeface="Times New Roman"/>
                <a:sym typeface="Times New Roman"/>
              </a:rPr>
              <a:t> 04/05.</a:t>
            </a: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17ea </a:t>
            </a:r>
            <a:r>
              <a:rPr lang="en-US" sz="1600" kern="0" dirty="0" err="1">
                <a:solidFill>
                  <a:srgbClr val="000000"/>
                </a:solidFill>
                <a:latin typeface="Times New Roman"/>
                <a:ea typeface="Times New Roman"/>
                <a:cs typeface="Times New Roman"/>
                <a:sym typeface="Times New Roman"/>
              </a:rPr>
              <a:t>chưa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xác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lịch</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tiếp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tục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giục</a:t>
            </a:r>
            <a:r>
              <a:rPr lang="en-US" sz="1600" kern="0" dirty="0">
                <a:solidFill>
                  <a:srgbClr val="000000"/>
                </a:solidFill>
                <a:latin typeface="Times New Roman"/>
                <a:ea typeface="Times New Roman"/>
                <a:cs typeface="Times New Roman"/>
                <a:sym typeface="Times New Roman"/>
              </a:rPr>
              <a:t>.</a:t>
            </a:r>
            <a:endParaRPr sz="1600"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a:solidFill>
                  <a:srgbClr val="000000"/>
                </a:solidFill>
                <a:latin typeface="Times New Roman"/>
                <a:ea typeface="Times New Roman"/>
                <a:cs typeface="Times New Roman"/>
                <a:sym typeface="Times New Roman"/>
              </a:rPr>
              <a:t>01ea EMP pump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tòm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nguồn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mua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cũ</a:t>
            </a:r>
            <a:r>
              <a:rPr lang="en-US" sz="1600" kern="0" dirty="0">
                <a:solidFill>
                  <a:srgbClr val="000000"/>
                </a:solidFill>
                <a:latin typeface="Times New Roman"/>
                <a:ea typeface="Times New Roman"/>
                <a:cs typeface="Times New Roman"/>
                <a:sym typeface="Times New Roman"/>
              </a:rPr>
              <a:t> do </a:t>
            </a:r>
            <a:r>
              <a:rPr lang="en-US" sz="1600" kern="0" dirty="0" err="1">
                <a:solidFill>
                  <a:srgbClr val="000000"/>
                </a:solidFill>
                <a:latin typeface="Times New Roman"/>
                <a:ea typeface="Times New Roman"/>
                <a:cs typeface="Times New Roman"/>
                <a:sym typeface="Times New Roman"/>
              </a:rPr>
              <a:t>khố</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mới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leadtime</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dài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hơn</a:t>
            </a:r>
            <a:r>
              <a:rPr lang="en-US" sz="1600" kern="0" dirty="0">
                <a:solidFill>
                  <a:srgbClr val="000000"/>
                </a:solidFill>
                <a:latin typeface="Times New Roman"/>
                <a:ea typeface="Times New Roman"/>
                <a:cs typeface="Times New Roman"/>
                <a:sym typeface="Times New Roman"/>
              </a:rPr>
              <a:t> 500 day).</a:t>
            </a:r>
            <a:endParaRPr sz="1600" kern="0" dirty="0">
              <a:solidFill>
                <a:srgbClr val="000000"/>
              </a:solidFill>
              <a:latin typeface="Times New Roman"/>
              <a:ea typeface="Times New Roman"/>
              <a:cs typeface="Times New Roman"/>
              <a:sym typeface="Times New Roman"/>
            </a:endParaRPr>
          </a:p>
          <a:p>
            <a:pPr marL="101600" algn="just">
              <a:lnSpc>
                <a:spcPct val="115000"/>
              </a:lnSpc>
              <a:buClr>
                <a:srgbClr val="000000"/>
              </a:buClr>
              <a:buSzPts val="2000"/>
              <a:buFont typeface="Arial"/>
              <a:buNone/>
            </a:pPr>
            <a:r>
              <a:rPr lang="en-US" sz="2000" b="1" kern="0" dirty="0" smtClean="0">
                <a:solidFill>
                  <a:srgbClr val="000000"/>
                </a:solidFill>
                <a:latin typeface="Times New Roman"/>
                <a:ea typeface="Times New Roman"/>
                <a:cs typeface="Times New Roman"/>
                <a:sym typeface="Times New Roman"/>
              </a:rPr>
              <a:t>3.   VẬN </a:t>
            </a:r>
            <a:r>
              <a:rPr lang="en-US" sz="2000" b="1" kern="0" dirty="0">
                <a:solidFill>
                  <a:srgbClr val="000000"/>
                </a:solidFill>
                <a:latin typeface="Times New Roman"/>
                <a:ea typeface="Times New Roman"/>
                <a:cs typeface="Times New Roman"/>
                <a:sym typeface="Times New Roman"/>
              </a:rPr>
              <a:t>CHUYỂN, THUÊ KHO Ở NGA</a:t>
            </a:r>
            <a:endParaRPr sz="2000" b="1" kern="0" dirty="0">
              <a:solidFill>
                <a:srgbClr val="000000"/>
              </a:solidFill>
              <a:latin typeface="Times New Roman"/>
              <a:ea typeface="Times New Roman"/>
              <a:cs typeface="Times New Roman"/>
              <a:sym typeface="Times New Roman"/>
            </a:endParaRPr>
          </a:p>
          <a:p>
            <a:pPr marL="457200" indent="-330200" algn="just">
              <a:lnSpc>
                <a:spcPct val="115000"/>
              </a:lnSpc>
              <a:buClr>
                <a:srgbClr val="000000"/>
              </a:buClr>
              <a:buSzPts val="1600"/>
              <a:buFont typeface="Times New Roman"/>
              <a:buChar char="-"/>
            </a:pPr>
            <a:r>
              <a:rPr lang="en-US" sz="1600" kern="0" dirty="0" err="1">
                <a:solidFill>
                  <a:srgbClr val="000000"/>
                </a:solidFill>
                <a:latin typeface="Times New Roman"/>
                <a:ea typeface="Times New Roman"/>
                <a:cs typeface="Times New Roman"/>
                <a:sym typeface="Times New Roman"/>
              </a:rPr>
              <a:t>Vận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liên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hệ</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với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các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để</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tìm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trước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phương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án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nhưng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hiện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một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số</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vướng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mắc</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Cần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thông</a:t>
            </a:r>
            <a:r>
              <a:rPr lang="en-US" sz="1600" kern="0" dirty="0">
                <a:solidFill>
                  <a:srgbClr val="000000"/>
                </a:solidFill>
                <a:latin typeface="Times New Roman"/>
                <a:ea typeface="Times New Roman"/>
                <a:cs typeface="Times New Roman"/>
                <a:sym typeface="Times New Roman"/>
              </a:rPr>
              <a:t> tin </a:t>
            </a:r>
            <a:r>
              <a:rPr lang="en-US" sz="1600" kern="0" dirty="0" err="1">
                <a:solidFill>
                  <a:srgbClr val="000000"/>
                </a:solidFill>
                <a:latin typeface="Times New Roman"/>
                <a:ea typeface="Times New Roman"/>
                <a:cs typeface="Times New Roman"/>
                <a:sym typeface="Times New Roman"/>
              </a:rPr>
              <a:t>cụ</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thể</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hàng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cần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case by case (HS Code, product description, commercial invoice and purpose of use information in order to take action).</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Submit </a:t>
            </a:r>
            <a:r>
              <a:rPr lang="en-US" sz="1600" kern="0" dirty="0" err="1">
                <a:solidFill>
                  <a:srgbClr val="000000"/>
                </a:solidFill>
                <a:latin typeface="Times New Roman"/>
                <a:ea typeface="Times New Roman"/>
                <a:cs typeface="Times New Roman"/>
                <a:sym typeface="Times New Roman"/>
              </a:rPr>
              <a:t>thông</a:t>
            </a:r>
            <a:r>
              <a:rPr lang="en-US" sz="1600" kern="0" dirty="0">
                <a:solidFill>
                  <a:srgbClr val="000000"/>
                </a:solidFill>
                <a:latin typeface="Times New Roman"/>
                <a:ea typeface="Times New Roman"/>
                <a:cs typeface="Times New Roman"/>
                <a:sym typeface="Times New Roman"/>
              </a:rPr>
              <a:t> tin </a:t>
            </a:r>
            <a:r>
              <a:rPr lang="en-US" sz="1600" kern="0" dirty="0" err="1">
                <a:solidFill>
                  <a:srgbClr val="000000"/>
                </a:solidFill>
                <a:latin typeface="Times New Roman"/>
                <a:ea typeface="Times New Roman"/>
                <a:cs typeface="Times New Roman"/>
                <a:sym typeface="Times New Roman"/>
              </a:rPr>
              <a:t>đến</a:t>
            </a:r>
            <a:r>
              <a:rPr lang="en-US" sz="1600" kern="0" dirty="0">
                <a:solidFill>
                  <a:srgbClr val="000000"/>
                </a:solidFill>
                <a:latin typeface="Times New Roman"/>
                <a:ea typeface="Times New Roman"/>
                <a:cs typeface="Times New Roman"/>
                <a:sym typeface="Times New Roman"/>
              </a:rPr>
              <a:t> Airlines </a:t>
            </a:r>
            <a:r>
              <a:rPr lang="en-US" sz="1600" kern="0" dirty="0" err="1">
                <a:solidFill>
                  <a:srgbClr val="000000"/>
                </a:solidFill>
                <a:latin typeface="Times New Roman"/>
                <a:ea typeface="Times New Roman"/>
                <a:cs typeface="Times New Roman"/>
                <a:sym typeface="Times New Roman"/>
              </a:rPr>
              <a:t>để</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xin</a:t>
            </a:r>
            <a:r>
              <a:rPr lang="en-US" sz="1600" kern="0" dirty="0">
                <a:solidFill>
                  <a:srgbClr val="000000"/>
                </a:solidFill>
                <a:latin typeface="Times New Roman"/>
                <a:ea typeface="Times New Roman"/>
                <a:cs typeface="Times New Roman"/>
                <a:sym typeface="Times New Roman"/>
              </a:rPr>
              <a:t> approval.</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Nếu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thì</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cũng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mất</a:t>
            </a:r>
            <a:r>
              <a:rPr lang="en-US" sz="1600" kern="0" dirty="0">
                <a:solidFill>
                  <a:srgbClr val="000000"/>
                </a:solidFill>
                <a:latin typeface="Times New Roman"/>
                <a:ea typeface="Times New Roman"/>
                <a:cs typeface="Times New Roman"/>
                <a:sym typeface="Times New Roman"/>
              </a:rPr>
              <a:t> 3-5 </a:t>
            </a:r>
            <a:r>
              <a:rPr lang="en-US" sz="1600" kern="0" dirty="0" err="1">
                <a:solidFill>
                  <a:srgbClr val="000000"/>
                </a:solidFill>
                <a:latin typeface="Times New Roman"/>
                <a:ea typeface="Times New Roman"/>
                <a:cs typeface="Times New Roman"/>
                <a:sym typeface="Times New Roman"/>
              </a:rPr>
              <a:t>ngày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từ</a:t>
            </a:r>
            <a:r>
              <a:rPr lang="en-US" sz="1600" kern="0" dirty="0">
                <a:solidFill>
                  <a:srgbClr val="000000"/>
                </a:solidFill>
                <a:latin typeface="Times New Roman"/>
                <a:ea typeface="Times New Roman"/>
                <a:cs typeface="Times New Roman"/>
                <a:sym typeface="Times New Roman"/>
              </a:rPr>
              <a:t> VN. </a:t>
            </a:r>
            <a:r>
              <a:rPr lang="en-US" sz="1600" kern="0" dirty="0" err="1">
                <a:solidFill>
                  <a:srgbClr val="000000"/>
                </a:solidFill>
                <a:latin typeface="Times New Roman"/>
                <a:ea typeface="Times New Roman"/>
                <a:cs typeface="Times New Roman"/>
                <a:sym typeface="Times New Roman"/>
              </a:rPr>
              <a:t>Còn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từ</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châu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Âu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Mỹ</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hiện</a:t>
            </a:r>
            <a:r>
              <a:rPr lang="en-US" sz="1600" kern="0" dirty="0">
                <a:solidFill>
                  <a:srgbClr val="000000"/>
                </a:solidFill>
                <a:latin typeface="Times New Roman"/>
                <a:ea typeface="Times New Roman"/>
                <a:cs typeface="Times New Roman"/>
                <a:sym typeface="Times New Roman"/>
              </a:rPr>
              <a:t> nay </a:t>
            </a:r>
            <a:r>
              <a:rPr lang="en-US" sz="1600" kern="0" dirty="0" err="1">
                <a:solidFill>
                  <a:srgbClr val="000000"/>
                </a:solidFill>
                <a:latin typeface="Times New Roman"/>
                <a:ea typeface="Times New Roman"/>
                <a:cs typeface="Times New Roman"/>
                <a:sym typeface="Times New Roman"/>
              </a:rPr>
              <a:t>không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được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đến</a:t>
            </a:r>
            <a:r>
              <a:rPr lang="en-US" sz="1600" kern="0" dirty="0">
                <a:solidFill>
                  <a:srgbClr val="000000"/>
                </a:solidFill>
                <a:latin typeface="Times New Roman"/>
                <a:ea typeface="Times New Roman"/>
                <a:cs typeface="Times New Roman"/>
                <a:sym typeface="Times New Roman"/>
              </a:rPr>
              <a:t> Nga</a:t>
            </a:r>
            <a:endParaRPr sz="1600" kern="0" dirty="0">
              <a:solidFill>
                <a:srgbClr val="000000"/>
              </a:solidFill>
              <a:latin typeface="Times New Roman"/>
              <a:ea typeface="Times New Roman"/>
              <a:cs typeface="Times New Roman"/>
              <a:sym typeface="Times New Roman"/>
            </a:endParaRPr>
          </a:p>
          <a:p>
            <a:pPr marL="457200"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--&gt; </a:t>
            </a:r>
            <a:r>
              <a:rPr lang="en-US" sz="1600" kern="0" dirty="0" err="1">
                <a:solidFill>
                  <a:srgbClr val="000000"/>
                </a:solidFill>
                <a:latin typeface="Times New Roman"/>
                <a:ea typeface="Times New Roman"/>
                <a:cs typeface="Times New Roman"/>
                <a:sym typeface="Times New Roman"/>
              </a:rPr>
              <a:t>vẫn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khăn</a:t>
            </a:r>
            <a:r>
              <a:rPr lang="en-US" sz="1600" kern="0" dirty="0">
                <a:solidFill>
                  <a:srgbClr val="000000"/>
                </a:solidFill>
                <a:latin typeface="Times New Roman"/>
                <a:ea typeface="Times New Roman"/>
                <a:cs typeface="Times New Roman"/>
                <a:sym typeface="Times New Roman"/>
              </a:rPr>
              <a:t> trong </a:t>
            </a:r>
            <a:r>
              <a:rPr lang="en-US" sz="1600" kern="0" dirty="0" err="1">
                <a:solidFill>
                  <a:srgbClr val="000000"/>
                </a:solidFill>
                <a:latin typeface="Times New Roman"/>
                <a:ea typeface="Times New Roman"/>
                <a:cs typeface="Times New Roman"/>
                <a:sym typeface="Times New Roman"/>
              </a:rPr>
              <a:t>vận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chuyển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đang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tìm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thêm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pá</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khác</a:t>
            </a:r>
            <a:endParaRPr sz="1600" kern="0" dirty="0">
              <a:solidFill>
                <a:srgbClr val="000000"/>
              </a:solidFill>
              <a:latin typeface="Times New Roman"/>
              <a:ea typeface="Times New Roman"/>
              <a:cs typeface="Times New Roman"/>
              <a:sym typeface="Times New Roman"/>
            </a:endParaRPr>
          </a:p>
          <a:p>
            <a:pPr algn="just">
              <a:lnSpc>
                <a:spcPct val="115000"/>
              </a:lnSpc>
              <a:buClr>
                <a:srgbClr val="000000"/>
              </a:buClr>
              <a:buFont typeface="Arial"/>
              <a:buNone/>
            </a:pPr>
            <a:r>
              <a:rPr lang="en-US" sz="1600" kern="0" dirty="0" smtClean="0">
                <a:solidFill>
                  <a:srgbClr val="000000"/>
                </a:solidFill>
                <a:latin typeface="Times New Roman"/>
                <a:ea typeface="Times New Roman"/>
                <a:cs typeface="Times New Roman"/>
                <a:sym typeface="Times New Roman"/>
              </a:rPr>
              <a:t>   -    </a:t>
            </a:r>
            <a:r>
              <a:rPr lang="en-US" sz="1600" kern="0" dirty="0" err="1" smtClean="0">
                <a:solidFill>
                  <a:srgbClr val="000000"/>
                </a:solidFill>
                <a:latin typeface="Times New Roman"/>
                <a:ea typeface="Times New Roman"/>
                <a:cs typeface="Times New Roman"/>
                <a:sym typeface="Times New Roman"/>
              </a:rPr>
              <a:t>Thuê</a:t>
            </a:r>
            <a:r>
              <a:rPr lang="en-US" sz="1600" kern="0" dirty="0" smtClean="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Đối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tác</a:t>
            </a:r>
            <a:r>
              <a:rPr lang="en-US" sz="1600" kern="0" dirty="0">
                <a:solidFill>
                  <a:srgbClr val="000000"/>
                </a:solidFill>
                <a:latin typeface="Times New Roman"/>
                <a:ea typeface="Times New Roman"/>
                <a:cs typeface="Times New Roman"/>
                <a:sym typeface="Times New Roman"/>
              </a:rPr>
              <a:t> ở Nga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chấp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nhận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thuê</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nhưng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phải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làm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thủ</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tục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nhập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khẩu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vào</a:t>
            </a:r>
            <a:r>
              <a:rPr lang="en-US" sz="1600" kern="0" dirty="0">
                <a:solidFill>
                  <a:srgbClr val="000000"/>
                </a:solidFill>
                <a:latin typeface="Times New Roman"/>
                <a:ea typeface="Times New Roman"/>
                <a:cs typeface="Times New Roman"/>
                <a:sym typeface="Times New Roman"/>
              </a:rPr>
              <a:t> Nga, </a:t>
            </a:r>
            <a:r>
              <a:rPr lang="en-US" sz="1600" kern="0" dirty="0" err="1">
                <a:solidFill>
                  <a:srgbClr val="000000"/>
                </a:solidFill>
                <a:latin typeface="Times New Roman"/>
                <a:ea typeface="Times New Roman"/>
                <a:cs typeface="Times New Roman"/>
                <a:sym typeface="Times New Roman"/>
              </a:rPr>
              <a:t>như</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vậy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sẽ</a:t>
            </a:r>
            <a:r>
              <a:rPr lang="en-US" sz="1600" kern="0" dirty="0">
                <a:solidFill>
                  <a:srgbClr val="000000"/>
                </a:solidFill>
                <a:latin typeface="Times New Roman"/>
                <a:ea typeface="Times New Roman"/>
                <a:cs typeface="Times New Roman"/>
                <a:sym typeface="Times New Roman"/>
              </a:rPr>
              <a:t> vi </a:t>
            </a:r>
            <a:r>
              <a:rPr lang="en-US" sz="1600" kern="0" dirty="0" err="1">
                <a:solidFill>
                  <a:srgbClr val="000000"/>
                </a:solidFill>
                <a:latin typeface="Times New Roman"/>
                <a:ea typeface="Times New Roman"/>
                <a:cs typeface="Times New Roman"/>
                <a:sym typeface="Times New Roman"/>
              </a:rPr>
              <a:t>phạm</a:t>
            </a:r>
            <a:r>
              <a:rPr lang="en-US" sz="1600" kern="0" dirty="0">
                <a:solidFill>
                  <a:srgbClr val="000000"/>
                </a:solidFill>
                <a:latin typeface="Times New Roman"/>
                <a:ea typeface="Times New Roman"/>
                <a:cs typeface="Times New Roman"/>
                <a:sym typeface="Times New Roman"/>
              </a:rPr>
              <a:t> cam </a:t>
            </a:r>
            <a:r>
              <a:rPr lang="en-US" sz="1600" kern="0" dirty="0" err="1">
                <a:solidFill>
                  <a:srgbClr val="000000"/>
                </a:solidFill>
                <a:latin typeface="Times New Roman"/>
                <a:ea typeface="Times New Roman"/>
                <a:cs typeface="Times New Roman"/>
                <a:sym typeface="Times New Roman"/>
              </a:rPr>
              <a:t>kết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không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xuất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khẩu</a:t>
            </a:r>
            <a:r>
              <a:rPr lang="en-US" sz="1600" kern="0" dirty="0">
                <a:solidFill>
                  <a:srgbClr val="000000"/>
                </a:solidFill>
                <a:latin typeface="Times New Roman"/>
                <a:ea typeface="Times New Roman"/>
                <a:cs typeface="Times New Roman"/>
                <a:sym typeface="Times New Roman"/>
              </a:rPr>
              <a:t> PTVT </a:t>
            </a:r>
            <a:r>
              <a:rPr lang="en-US" sz="1600" kern="0" dirty="0" err="1">
                <a:solidFill>
                  <a:srgbClr val="000000"/>
                </a:solidFill>
                <a:latin typeface="Times New Roman"/>
                <a:ea typeface="Times New Roman"/>
                <a:cs typeface="Times New Roman"/>
                <a:sym typeface="Times New Roman"/>
              </a:rPr>
              <a:t>đã</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ký</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với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các</a:t>
            </a:r>
            <a:r>
              <a:rPr lang="en-US" sz="1600" kern="0" dirty="0">
                <a:solidFill>
                  <a:srgbClr val="000000"/>
                </a:solidFill>
                <a:latin typeface="Times New Roman"/>
                <a:ea typeface="Times New Roman"/>
                <a:cs typeface="Times New Roman"/>
                <a:sym typeface="Times New Roman"/>
              </a:rPr>
              <a:t> OEM</a:t>
            </a:r>
            <a:r>
              <a:rPr lang="en-US" sz="1600" kern="0" dirty="0" smtClean="0">
                <a:solidFill>
                  <a:srgbClr val="000000"/>
                </a:solidFill>
                <a:latin typeface="Times New Roman"/>
                <a:ea typeface="Times New Roman"/>
                <a:cs typeface="Times New Roman"/>
                <a:sym typeface="Times New Roman"/>
              </a:rPr>
              <a:t>.</a:t>
            </a:r>
          </a:p>
          <a:p>
            <a:pPr algn="just">
              <a:lnSpc>
                <a:spcPct val="115000"/>
              </a:lnSpc>
              <a:buClr>
                <a:srgbClr val="000000"/>
              </a:buClr>
              <a:buFont typeface="Arial"/>
              <a:buNone/>
            </a:pPr>
            <a:r>
              <a:rPr lang="en-US" sz="1600" kern="0" dirty="0">
                <a:solidFill>
                  <a:srgbClr val="000000"/>
                </a:solidFill>
                <a:latin typeface="Times New Roman"/>
                <a:ea typeface="Times New Roman"/>
                <a:cs typeface="Times New Roman"/>
                <a:sym typeface="Times New Roman"/>
              </a:rPr>
              <a:t>  -     </a:t>
            </a:r>
            <a:r>
              <a:rPr lang="en-US" sz="1600" kern="0" dirty="0" err="1">
                <a:solidFill>
                  <a:srgbClr val="000000"/>
                </a:solidFill>
                <a:latin typeface="Times New Roman"/>
                <a:ea typeface="Times New Roman"/>
                <a:cs typeface="Times New Roman"/>
                <a:sym typeface="Times New Roman"/>
              </a:rPr>
              <a:t>Ngoài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ra</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diện</a:t>
            </a:r>
            <a:r>
              <a:rPr lang="en-US" sz="1600" kern="0" dirty="0">
                <a:solidFill>
                  <a:srgbClr val="000000"/>
                </a:solidFill>
                <a:latin typeface="Times New Roman"/>
                <a:ea typeface="Times New Roman"/>
                <a:cs typeface="Times New Roman"/>
                <a:sym typeface="Times New Roman"/>
              </a:rPr>
              <a:t> Nga </a:t>
            </a:r>
            <a:r>
              <a:rPr lang="en-US" sz="1600" kern="0" dirty="0" err="1">
                <a:solidFill>
                  <a:srgbClr val="000000"/>
                </a:solidFill>
                <a:latin typeface="Times New Roman"/>
                <a:ea typeface="Times New Roman"/>
                <a:cs typeface="Times New Roman"/>
                <a:sym typeface="Times New Roman"/>
              </a:rPr>
              <a:t>có</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thông</a:t>
            </a:r>
            <a:r>
              <a:rPr lang="en-US" sz="1600" kern="0" dirty="0">
                <a:solidFill>
                  <a:srgbClr val="000000"/>
                </a:solidFill>
                <a:latin typeface="Times New Roman"/>
                <a:ea typeface="Times New Roman"/>
                <a:cs typeface="Times New Roman"/>
                <a:sym typeface="Times New Roman"/>
              </a:rPr>
              <a:t> tin </a:t>
            </a:r>
            <a:r>
              <a:rPr lang="en-US" sz="1600" kern="0" dirty="0" err="1">
                <a:solidFill>
                  <a:srgbClr val="000000"/>
                </a:solidFill>
                <a:latin typeface="Times New Roman"/>
                <a:ea typeface="Times New Roman"/>
                <a:cs typeface="Times New Roman"/>
                <a:sym typeface="Times New Roman"/>
              </a:rPr>
              <a:t>việc</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thiết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lập</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ngoại</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quan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RAMP </a:t>
            </a:r>
            <a:r>
              <a:rPr lang="en-US" sz="1600" kern="0" dirty="0" err="1">
                <a:solidFill>
                  <a:srgbClr val="000000"/>
                </a:solidFill>
                <a:latin typeface="Times New Roman"/>
                <a:ea typeface="Times New Roman"/>
                <a:cs typeface="Times New Roman"/>
                <a:sym typeface="Times New Roman"/>
              </a:rPr>
              <a:t>để</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dụng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cụ</a:t>
            </a:r>
            <a:r>
              <a:rPr lang="en-US" sz="1600" kern="0" dirty="0">
                <a:solidFill>
                  <a:srgbClr val="000000"/>
                </a:solidFill>
                <a:latin typeface="Times New Roman"/>
                <a:ea typeface="Times New Roman"/>
                <a:cs typeface="Times New Roman"/>
                <a:sym typeface="Times New Roman"/>
              </a:rPr>
              <a:t>, 1 </a:t>
            </a:r>
            <a:r>
              <a:rPr lang="en-US" sz="1600" kern="0" dirty="0" err="1">
                <a:solidFill>
                  <a:srgbClr val="000000"/>
                </a:solidFill>
                <a:latin typeface="Times New Roman"/>
                <a:ea typeface="Times New Roman"/>
                <a:cs typeface="Times New Roman"/>
                <a:sym typeface="Times New Roman"/>
              </a:rPr>
              <a:t>số</a:t>
            </a:r>
            <a:r>
              <a:rPr lang="en-US" sz="1600" kern="0" dirty="0">
                <a:solidFill>
                  <a:srgbClr val="000000"/>
                </a:solidFill>
                <a:latin typeface="Times New Roman"/>
                <a:ea typeface="Times New Roman"/>
                <a:cs typeface="Times New Roman"/>
                <a:sym typeface="Times New Roman"/>
              </a:rPr>
              <a:t> PTVT </a:t>
            </a:r>
            <a:r>
              <a:rPr lang="en-US" sz="1600" kern="0" dirty="0" err="1">
                <a:solidFill>
                  <a:srgbClr val="000000"/>
                </a:solidFill>
                <a:latin typeface="Times New Roman"/>
                <a:ea typeface="Times New Roman"/>
                <a:cs typeface="Times New Roman"/>
                <a:sym typeface="Times New Roman"/>
              </a:rPr>
              <a:t>tiêu</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hao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bánh</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là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không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thể</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và</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không</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cho</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phép</a:t>
            </a:r>
            <a:r>
              <a:rPr lang="en-US" sz="1600" kern="0" dirty="0">
                <a:solidFill>
                  <a:srgbClr val="000000"/>
                </a:solidFill>
                <a:latin typeface="Times New Roman"/>
                <a:ea typeface="Times New Roman"/>
                <a:cs typeface="Times New Roman"/>
                <a:sym typeface="Times New Roman"/>
              </a:rPr>
              <a:t> do </a:t>
            </a:r>
            <a:r>
              <a:rPr lang="en-US" sz="1600" kern="0" dirty="0" err="1">
                <a:solidFill>
                  <a:srgbClr val="000000"/>
                </a:solidFill>
                <a:latin typeface="Times New Roman"/>
                <a:ea typeface="Times New Roman"/>
                <a:cs typeface="Times New Roman"/>
                <a:sym typeface="Times New Roman"/>
              </a:rPr>
              <a:t>liên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quan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đến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quy</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trình</a:t>
            </a:r>
            <a:r>
              <a:rPr lang="en-US" sz="1600" kern="0" dirty="0">
                <a:solidFill>
                  <a:srgbClr val="000000"/>
                </a:solidFill>
                <a:latin typeface="Times New Roman"/>
                <a:ea typeface="Times New Roman"/>
                <a:cs typeface="Times New Roman"/>
                <a:sym typeface="Times New Roman"/>
              </a:rPr>
              <a:t> Hải </a:t>
            </a:r>
            <a:r>
              <a:rPr lang="en-US" sz="1600" kern="0" dirty="0" err="1">
                <a:solidFill>
                  <a:srgbClr val="000000"/>
                </a:solidFill>
                <a:latin typeface="Times New Roman"/>
                <a:ea typeface="Times New Roman"/>
                <a:cs typeface="Times New Roman"/>
                <a:sym typeface="Times New Roman"/>
              </a:rPr>
              <a:t>quan</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rất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nghiêm</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ngặt</a:t>
            </a:r>
            <a:r>
              <a:rPr lang="en-US" sz="1600" kern="0" dirty="0">
                <a:solidFill>
                  <a:srgbClr val="000000"/>
                </a:solidFill>
                <a:latin typeface="Times New Roman"/>
                <a:ea typeface="Times New Roman"/>
                <a:cs typeface="Times New Roman"/>
                <a:sym typeface="Times New Roman"/>
              </a:rPr>
              <a:t> </a:t>
            </a:r>
            <a:r>
              <a:rPr lang="en-US" sz="1600" kern="0" dirty="0" err="1">
                <a:solidFill>
                  <a:srgbClr val="000000"/>
                </a:solidFill>
                <a:latin typeface="Times New Roman"/>
                <a:ea typeface="Times New Roman"/>
                <a:cs typeface="Times New Roman"/>
                <a:sym typeface="Times New Roman"/>
              </a:rPr>
              <a:t>tại</a:t>
            </a:r>
            <a:r>
              <a:rPr lang="en-US" sz="1600" kern="0" dirty="0">
                <a:solidFill>
                  <a:srgbClr val="000000"/>
                </a:solidFill>
                <a:latin typeface="Times New Roman"/>
                <a:ea typeface="Times New Roman"/>
                <a:cs typeface="Times New Roman"/>
                <a:sym typeface="Times New Roman"/>
              </a:rPr>
              <a:t> </a:t>
            </a:r>
            <a:r>
              <a:rPr lang="en-US" sz="1600" kern="0" dirty="0" smtClean="0">
                <a:solidFill>
                  <a:srgbClr val="000000"/>
                </a:solidFill>
                <a:latin typeface="Times New Roman"/>
                <a:ea typeface="Times New Roman"/>
                <a:cs typeface="Times New Roman"/>
                <a:sym typeface="Times New Roman"/>
              </a:rPr>
              <a:t>SVO.</a:t>
            </a:r>
            <a:endParaRPr sz="1600"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r>
              <a:rPr lang="en-US" kern="0" dirty="0">
                <a:solidFill>
                  <a:srgbClr val="000000"/>
                </a:solidFill>
                <a:latin typeface="Times New Roman"/>
                <a:ea typeface="Times New Roman"/>
                <a:cs typeface="Times New Roman"/>
                <a:sym typeface="Times New Roman"/>
              </a:rPr>
              <a:t>  </a:t>
            </a: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800"/>
              <a:buFont typeface="Arial"/>
              <a:buNone/>
            </a:pPr>
            <a:endParaRPr kern="0" dirty="0">
              <a:solidFill>
                <a:srgbClr val="000000"/>
              </a:solidFill>
              <a:latin typeface="Times New Roman"/>
              <a:ea typeface="Times New Roman"/>
              <a:cs typeface="Times New Roman"/>
              <a:sym typeface="Times New Roman"/>
            </a:endParaRPr>
          </a:p>
          <a:p>
            <a:pPr algn="just">
              <a:buClr>
                <a:srgbClr val="000000"/>
              </a:buClr>
              <a:buSzPts val="1500"/>
              <a:buFont typeface="Arial"/>
              <a:buNone/>
            </a:pPr>
            <a:endParaRPr sz="1500" kern="0"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2938207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75210</TotalTime>
  <Words>14535</Words>
  <Application>Microsoft Office PowerPoint</Application>
  <PresentationFormat>Widescreen</PresentationFormat>
  <Paragraphs>2848</Paragraphs>
  <Slides>76</Slides>
  <Notes>64</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76</vt:i4>
      </vt:variant>
    </vt:vector>
  </HeadingPairs>
  <TitlesOfParts>
    <vt:vector size="93" baseType="lpstr">
      <vt:lpstr>MS PGothic</vt:lpstr>
      <vt:lpstr>Arial</vt:lpstr>
      <vt:lpstr>Calibri</vt:lpstr>
      <vt:lpstr>Cambria</vt:lpstr>
      <vt:lpstr>Exo</vt:lpstr>
      <vt:lpstr>Lora</vt:lpstr>
      <vt:lpstr>Montserrat</vt:lpstr>
      <vt:lpstr>Montserrat SemiBold</vt:lpstr>
      <vt:lpstr>Open Sans</vt:lpstr>
      <vt:lpstr>Source Sans Pro</vt:lpstr>
      <vt:lpstr>Symbol</vt:lpstr>
      <vt:lpstr>Tahoma</vt:lpstr>
      <vt:lpstr>Times</vt:lpstr>
      <vt:lpstr>Times New Roman</vt:lpstr>
      <vt:lpstr>Wingdings</vt:lpstr>
      <vt:lpstr>16-9 MASTER TEMPLATE</vt:lpstr>
      <vt:lpstr>Office Theme</vt:lpstr>
      <vt:lpstr>BÁO CÁO KỸ THUẬT (Tuần 17: 21/04/2025 – 27/04/2025)</vt:lpstr>
      <vt:lpstr>TỔNG HỢP AOG, DELAY VÀ GTB/ATB/DIV</vt:lpstr>
      <vt:lpstr>ATB/GTB COMPARISON</vt:lpstr>
      <vt:lpstr>CÁC SỰ KIỆN ATB/GTB/DIV</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A512 – START VAVLE FAULT</vt:lpstr>
      <vt:lpstr>PowerPoint Presentation</vt:lpstr>
      <vt:lpstr>TÌNH TRẠNG KỸ THUẬT ĐỘI BAY – A350</vt:lpstr>
      <vt:lpstr>PowerPoint Presentation</vt:lpstr>
      <vt:lpstr>PowerPoint Presentation</vt:lpstr>
      <vt:lpstr>PowerPoint Presentation</vt:lpstr>
      <vt:lpstr>TÌNH TRẠNG KỸ THUẬT ĐỘI BAY – B787</vt:lpstr>
      <vt:lpstr>PowerPoint Presentation</vt:lpstr>
      <vt:lpstr>PowerPoint Presentation</vt:lpstr>
      <vt:lpstr>PowerPoint Presentation</vt:lpstr>
      <vt:lpstr>PowerPoint Presentation</vt:lpstr>
      <vt:lpstr>PowerPoint Presentation</vt:lpstr>
      <vt:lpstr>PowerPoint Presentation</vt:lpstr>
      <vt:lpstr>TÌNH TRẠNG KỸ THUẬT ĐỘI BAY – ATR72</vt:lpstr>
      <vt:lpstr>TÌNH TRẠNG KỸ THUẬT ĐỘI BAY – ATR72</vt:lpstr>
      <vt:lpstr>DISPATCH RELIABILITY W17 (21/04/2025-27/04/2025)</vt:lpstr>
      <vt:lpstr>CÁC CÔNG VIỆC TRỌNG ĐIỂM TRONG TUẦN</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BQDB VÀ ĐANG TRONG BẢO DƯỠNG (BDĐK)</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Microsoft account</cp:lastModifiedBy>
  <cp:revision>11810</cp:revision>
  <cp:lastPrinted>2019-03-27T09:25:07Z</cp:lastPrinted>
  <dcterms:created xsi:type="dcterms:W3CDTF">2018-12-27T04:50:36Z</dcterms:created>
  <dcterms:modified xsi:type="dcterms:W3CDTF">2025-04-27T13:08:51Z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