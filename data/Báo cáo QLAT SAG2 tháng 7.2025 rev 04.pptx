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2.xml" ContentType="application/vnd.openxmlformats-officedocument.themeOverride+xml"/>
  <Override PartName="/ppt/notesSlides/notesSlide4.xml" ContentType="application/vnd.openxmlformats-officedocument.presentationml.notesSlide+xml"/>
  <Override PartName="/ppt/charts/chart3.xml" ContentType="application/vnd.openxmlformats-officedocument.drawingml.chart+xml"/>
  <Override PartName="/ppt/theme/themeOverride3.xml" ContentType="application/vnd.openxmlformats-officedocument.themeOverride+xml"/>
  <Override PartName="/ppt/charts/chart4.xml" ContentType="application/vnd.openxmlformats-officedocument.drawingml.chart+xml"/>
  <Override PartName="/ppt/theme/themeOverride4.xml" ContentType="application/vnd.openxmlformats-officedocument.themeOverride+xml"/>
  <Override PartName="/ppt/charts/chart5.xml" ContentType="application/vnd.openxmlformats-officedocument.drawingml.chart+xml"/>
  <Override PartName="/ppt/theme/themeOverride5.xml" ContentType="application/vnd.openxmlformats-officedocument.themeOverride+xml"/>
  <Override PartName="/ppt/charts/chart6.xml" ContentType="application/vnd.openxmlformats-officedocument.drawingml.chart+xml"/>
  <Override PartName="/ppt/theme/themeOverride6.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7.xml" ContentType="application/vnd.openxmlformats-officedocument.drawingml.chart+xml"/>
  <Override PartName="/ppt/theme/themeOverride7.xml" ContentType="application/vnd.openxmlformats-officedocument.themeOverride+xml"/>
  <Override PartName="/ppt/charts/chart8.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8.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9.xml" ContentType="application/vnd.openxmlformats-officedocument.drawingml.chart+xml"/>
  <Override PartName="/ppt/theme/themeOverride9.xml" ContentType="application/vnd.openxmlformats-officedocument.themeOverride+xml"/>
  <Override PartName="/ppt/charts/chart10.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10.xml" ContentType="application/vnd.openxmlformats-officedocument.themeOverride+xml"/>
  <Override PartName="/ppt/notesSlides/notesSlide9.xml" ContentType="application/vnd.openxmlformats-officedocument.presentationml.notesSlide+xml"/>
  <Override PartName="/ppt/charts/chart11.xml" ContentType="application/vnd.openxmlformats-officedocument.drawingml.chart+xml"/>
  <Override PartName="/ppt/theme/themeOverride11.xml" ContentType="application/vnd.openxmlformats-officedocument.themeOverride+xml"/>
  <Override PartName="/ppt/charts/chart12.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12.xml" ContentType="application/vnd.openxmlformats-officedocument.themeOverride+xml"/>
  <Override PartName="/ppt/notesSlides/notesSlide10.xml" ContentType="application/vnd.openxmlformats-officedocument.presentationml.notesSlide+xml"/>
  <Override PartName="/ppt/charts/chart13.xml" ContentType="application/vnd.openxmlformats-officedocument.drawingml.chart+xml"/>
  <Override PartName="/ppt/theme/themeOverride13.xml" ContentType="application/vnd.openxmlformats-officedocument.themeOverride+xml"/>
  <Override PartName="/ppt/charts/chart14.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14.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5.xml" ContentType="application/vnd.openxmlformats-officedocument.drawingml.chart+xml"/>
  <Override PartName="/ppt/theme/themeOverride15.xml" ContentType="application/vnd.openxmlformats-officedocument.themeOverride+xml"/>
  <Override PartName="/ppt/charts/chart1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16.xml" ContentType="application/vnd.openxmlformats-officedocument.themeOverride+xml"/>
  <Override PartName="/ppt/notesSlides/notesSlide13.xml" ContentType="application/vnd.openxmlformats-officedocument.presentationml.notesSlide+xml"/>
  <Override PartName="/ppt/charts/chart17.xml" ContentType="application/vnd.openxmlformats-officedocument.drawingml.chart+xml"/>
  <Override PartName="/ppt/theme/themeOverride17.xml" ContentType="application/vnd.openxmlformats-officedocument.themeOverride+xml"/>
  <Override PartName="/ppt/charts/chart18.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18.xml" ContentType="application/vnd.openxmlformats-officedocument.themeOverr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9.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19.xml" ContentType="application/vnd.openxmlformats-officedocument.themeOverride+xml"/>
  <Override PartName="/ppt/notesSlides/notesSlide16.xml" ContentType="application/vnd.openxmlformats-officedocument.presentationml.notesSlide+xml"/>
  <Override PartName="/ppt/charts/chart20.xml" ContentType="application/vnd.openxmlformats-officedocument.drawingml.chart+xml"/>
  <Override PartName="/ppt/theme/themeOverride20.xml" ContentType="application/vnd.openxmlformats-officedocument.themeOverride+xml"/>
  <Override PartName="/ppt/charts/chart21.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21.xml" ContentType="application/vnd.openxmlformats-officedocument.themeOverr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2.xml" ContentType="application/vnd.openxmlformats-officedocument.drawingml.chart+xml"/>
  <Override PartName="/ppt/theme/themeOverride22.xml" ContentType="application/vnd.openxmlformats-officedocument.themeOverride+xml"/>
  <Override PartName="/ppt/charts/chart23.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23.xml" ContentType="application/vnd.openxmlformats-officedocument.themeOverr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24.xml" ContentType="application/vnd.openxmlformats-officedocument.drawingml.chart+xml"/>
  <Override PartName="/ppt/theme/themeOverride24.xml" ContentType="application/vnd.openxmlformats-officedocument.themeOverride+xml"/>
  <Override PartName="/ppt/charts/chart25.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25.xml" ContentType="application/vnd.openxmlformats-officedocument.themeOverr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26.xml" ContentType="application/vnd.openxmlformats-officedocument.drawingml.chart+xml"/>
  <Override PartName="/ppt/theme/themeOverride26.xml" ContentType="application/vnd.openxmlformats-officedocument.themeOverride+xml"/>
  <Override PartName="/ppt/charts/chart27.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27.xml" ContentType="application/vnd.openxmlformats-officedocument.themeOverr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Lst>
  <p:notesMasterIdLst>
    <p:notesMasterId r:id="rId38"/>
  </p:notesMasterIdLst>
  <p:sldIdLst>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91" r:id="rId28"/>
    <p:sldId id="281" r:id="rId29"/>
    <p:sldId id="282" r:id="rId30"/>
    <p:sldId id="283" r:id="rId31"/>
    <p:sldId id="284" r:id="rId32"/>
    <p:sldId id="285" r:id="rId33"/>
    <p:sldId id="286" r:id="rId34"/>
    <p:sldId id="287" r:id="rId35"/>
    <p:sldId id="290" r:id="rId36"/>
    <p:sldId id="289" r:id="rId37"/>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056F90"/>
    <a:srgbClr val="E4AA2F"/>
    <a:srgbClr val="D2A43B"/>
    <a:srgbClr val="0068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27" autoAdjust="0"/>
    <p:restoredTop sz="96408" autoAdjust="0"/>
  </p:normalViewPr>
  <p:slideViewPr>
    <p:cSldViewPr snapToGrid="0">
      <p:cViewPr varScale="1">
        <p:scale>
          <a:sx n="94" d="100"/>
          <a:sy n="94" d="100"/>
        </p:scale>
        <p:origin x="60" y="54"/>
      </p:cViewPr>
      <p:guideLst>
        <p:guide orient="horz" pos="2160"/>
        <p:guide pos="3840"/>
      </p:guideLst>
    </p:cSldViewPr>
  </p:slideViewPr>
  <p:notesTextViewPr>
    <p:cViewPr>
      <p:scale>
        <a:sx n="1" d="1"/>
        <a:sy n="1" d="1"/>
      </p:scale>
      <p:origin x="0" y="0"/>
    </p:cViewPr>
  </p:notesTextViewPr>
  <p:notesViewPr>
    <p:cSldViewPr snapToGrid="0">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2" Type="http://schemas.openxmlformats.org/officeDocument/2006/relationships/oleObject" Target="file:///D:\P.MOC\SAG2\Bao%20cao%20SAG2-2025\Th&#225;ng%207\&#272;o%20l&#432;&#7901;ng%20th&#7921;c%20hi&#7879;n%20an%20to&#224;n%20b&#7897;%20ch&#7881;%20s&#7889;%20KPI%20n&#259;m%202025.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D:\P.MOC\SAG2\Bao%20cao%20SAG2-2025\Th&#225;ng%207\&#272;o%20l&#432;&#7901;ng%20th&#7921;c%20hi&#7879;n%20an%20to&#224;n%20b&#7897;%20ch&#7881;%20s&#7889;%20KPI%20n&#259;m%202025.xlsx" TargetMode="External"/></Relationships>
</file>

<file path=ppt/charts/_rels/chart3.xml.rels><?xml version="1.0" encoding="UTF-8" standalone="yes"?>
<Relationships xmlns="http://schemas.openxmlformats.org/package/2006/relationships"><Relationship Id="rId2" Type="http://schemas.openxmlformats.org/officeDocument/2006/relationships/oleObject" Target="file:///D:\P.MOC\SAG2\Bao%20cao%20SAG2-2025\Th&#225;ng%207\&#272;o%20l&#432;&#7901;ng%20th&#7921;c%20hi&#7879;n%20an%20to&#224;n%20b&#7897;%20ch&#7881;%20s&#7889;%20KPI%20n&#259;m%202025.xlsx" TargetMode="External"/><Relationship Id="rId1" Type="http://schemas.openxmlformats.org/officeDocument/2006/relationships/themeOverride" Target="../theme/themeOverride3.xml"/></Relationships>
</file>

<file path=ppt/charts/_rels/chart4.xml.rels><?xml version="1.0" encoding="UTF-8" standalone="yes"?>
<Relationships xmlns="http://schemas.openxmlformats.org/package/2006/relationships"><Relationship Id="rId2" Type="http://schemas.openxmlformats.org/officeDocument/2006/relationships/oleObject" Target="file:///D:\P.MOC\SAG2\Bao%20cao%20SAG2-2025\Th&#225;ng%207\&#272;o%20l&#432;&#7901;ng%20th&#7921;c%20hi&#7879;n%20an%20to&#224;n%20b&#7897;%20ch&#7881;%20s&#7889;%20KPI%20n&#259;m%202025.xlsx" TargetMode="External"/><Relationship Id="rId1" Type="http://schemas.openxmlformats.org/officeDocument/2006/relationships/themeOverride" Target="../theme/themeOverride4.xml"/></Relationships>
</file>

<file path=ppt/charts/_rels/chart5.xml.rels><?xml version="1.0" encoding="UTF-8" standalone="yes"?>
<Relationships xmlns="http://schemas.openxmlformats.org/package/2006/relationships"><Relationship Id="rId2" Type="http://schemas.openxmlformats.org/officeDocument/2006/relationships/oleObject" Target="file:///D:\P.MOC\SAG2\Bao%20cao%20SAG2-2025\Th&#225;ng%207\&#272;o%20l&#432;&#7901;ng%20th&#7921;c%20hi&#7879;n%20an%20to&#224;n%20b&#7897;%20ch&#7881;%20s&#7889;%20KPI%20n&#259;m%202025.xlsx" TargetMode="External"/><Relationship Id="rId1" Type="http://schemas.openxmlformats.org/officeDocument/2006/relationships/themeOverride" Target="../theme/themeOverride5.xml"/></Relationships>
</file>

<file path=ppt/charts/_rels/chart6.xml.rels><?xml version="1.0" encoding="UTF-8" standalone="yes"?>
<Relationships xmlns="http://schemas.openxmlformats.org/package/2006/relationships"><Relationship Id="rId2" Type="http://schemas.openxmlformats.org/officeDocument/2006/relationships/oleObject" Target="file:///D:\P.MOC\SAG2\Bao%20cao%20SAG2-2025\Th&#225;ng%207\&#272;o%20l&#432;&#7901;ng%20th&#7921;c%20hi&#7879;n%20an%20to&#224;n%20b&#7897;%20ch&#7881;%20s&#7889;%20KPI%20n&#259;m%202025.xlsx" TargetMode="External"/><Relationship Id="rId1" Type="http://schemas.openxmlformats.org/officeDocument/2006/relationships/themeOverride" Target="../theme/themeOverride6.xml"/></Relationships>
</file>

<file path=ppt/charts/_rels/chart7.xml.rels><?xml version="1.0" encoding="UTF-8" standalone="yes"?>
<Relationships xmlns="http://schemas.openxmlformats.org/package/2006/relationships"><Relationship Id="rId2" Type="http://schemas.openxmlformats.org/officeDocument/2006/relationships/oleObject" Target="file:///D:\P.MOC\SAG2\Bao%20cao%20SAG2-2025\Th&#225;ng%207\&#272;o%20l&#432;&#7901;ng%20th&#7921;c%20hi&#7879;n%20an%20to&#224;n%20b&#7897;%20ch&#7881;%20s&#7889;%20KPI%20n&#259;m%202025.xlsx" TargetMode="External"/><Relationship Id="rId1" Type="http://schemas.openxmlformats.org/officeDocument/2006/relationships/themeOverride" Target="../theme/themeOverride7.xml"/></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D:\P.MOC\SAG2\Bao%20cao%20SAG2-2025\Th&#225;ng%207\&#272;o%20l&#432;&#7901;ng%20th&#7921;c%20hi&#7879;n%20an%20to&#224;n%20b&#7897;%20ch&#7881;%20s&#7889;%20KPI%20n&#259;m%202025.xlsx" TargetMode="External"/></Relationships>
</file>

<file path=ppt/charts/_rels/chart9.xml.rels><?xml version="1.0" encoding="UTF-8" standalone="yes"?>
<Relationships xmlns="http://schemas.openxmlformats.org/package/2006/relationships"><Relationship Id="rId2" Type="http://schemas.openxmlformats.org/officeDocument/2006/relationships/oleObject" Target="file:///D:\P.MOC\SAG2\Bao%20cao%20SAG2-2025\Th&#225;ng%207\&#272;o%20l&#432;&#7901;ng%20th&#7921;c%20hi&#7879;n%20an%20to&#224;n%20b&#7897;%20ch&#7881;%20s&#7889;%20KPI%20n&#259;m%202025.xlsx" TargetMode="External"/><Relationship Id="rId1" Type="http://schemas.openxmlformats.org/officeDocument/2006/relationships/themeOverride" Target="../theme/themeOverride9.xml"/></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file:///D:\P.MOC\SAG2\Bao%20cao%20SAG2-2025\Th&#225;ng%207\&#272;o%20l&#432;&#7901;ng%20th&#7921;c%20hi&#7879;n%20an%20to&#224;n%20b&#7897;%20ch&#7881;%20s&#7889;%20KPI%20n&#259;m%202025.xlsx" TargetMode="External"/></Relationships>
</file>

<file path=ppt/charts/_rels/chart11.xml.rels><?xml version="1.0" encoding="UTF-8" standalone="yes"?>
<Relationships xmlns="http://schemas.openxmlformats.org/package/2006/relationships"><Relationship Id="rId2" Type="http://schemas.openxmlformats.org/officeDocument/2006/relationships/oleObject" Target="file:///D:\P.MOC\SAG2\Bao%20cao%20SAG2-2025\Th&#225;ng%207\&#272;o%20l&#432;&#7901;ng%20th&#7921;c%20hi&#7879;n%20an%20to&#224;n%20b&#7897;%20ch&#7881;%20s&#7889;%20KPI%20n&#259;m%202025.xlsx" TargetMode="External"/><Relationship Id="rId1" Type="http://schemas.openxmlformats.org/officeDocument/2006/relationships/themeOverride" Target="../theme/themeOverride11.xml"/></Relationships>
</file>

<file path=ppt/charts/_rels/chart12.xml.rels><?xml version="1.0" encoding="UTF-8" standalone="yes"?>
<Relationships xmlns="http://schemas.openxmlformats.org/package/2006/relationships"><Relationship Id="rId3" Type="http://schemas.openxmlformats.org/officeDocument/2006/relationships/themeOverride" Target="../theme/themeOverride12.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oleObject" Target="file:///D:\P.MOC\SAG2\Bao%20cao%20SAG2-2025\Th&#225;ng%207\&#272;o%20l&#432;&#7901;ng%20th&#7921;c%20hi&#7879;n%20an%20to&#224;n%20b&#7897;%20ch&#7881;%20s&#7889;%20KPI%20n&#259;m%202025.xlsx" TargetMode="External"/></Relationships>
</file>

<file path=ppt/charts/_rels/chart13.xml.rels><?xml version="1.0" encoding="UTF-8" standalone="yes"?>
<Relationships xmlns="http://schemas.openxmlformats.org/package/2006/relationships"><Relationship Id="rId2" Type="http://schemas.openxmlformats.org/officeDocument/2006/relationships/oleObject" Target="file:///D:\P.MOC\SAG2\Bao%20cao%20SAG2-2025\Th&#225;ng%207\&#272;o%20l&#432;&#7901;ng%20th&#7921;c%20hi&#7879;n%20an%20to&#224;n%20b&#7897;%20ch&#7881;%20s&#7889;%20KPI%20n&#259;m%202025.xlsx" TargetMode="External"/><Relationship Id="rId1" Type="http://schemas.openxmlformats.org/officeDocument/2006/relationships/themeOverride" Target="../theme/themeOverride13.xml"/></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14.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file:///D:\P.MOC\SAG2\Bao%20cao%20SAG2-2025\Th&#225;ng%207\&#272;o%20l&#432;&#7901;ng%20th&#7921;c%20hi&#7879;n%20an%20to&#224;n%20b&#7897;%20ch&#7881;%20s&#7889;%20KPI%20n&#259;m%202025.xlsx" TargetMode="External"/></Relationships>
</file>

<file path=ppt/charts/_rels/chart15.xml.rels><?xml version="1.0" encoding="UTF-8" standalone="yes"?>
<Relationships xmlns="http://schemas.openxmlformats.org/package/2006/relationships"><Relationship Id="rId2" Type="http://schemas.openxmlformats.org/officeDocument/2006/relationships/oleObject" Target="file:///D:\P.MOC\SAG2\Bao%20cao%20SAG2-2025\Th&#225;ng%207\&#272;o%20l&#432;&#7901;ng%20th&#7921;c%20hi&#7879;n%20an%20to&#224;n%20b&#7897;%20ch&#7881;%20s&#7889;%20KPI%20n&#259;m%202025.xlsx" TargetMode="External"/><Relationship Id="rId1" Type="http://schemas.openxmlformats.org/officeDocument/2006/relationships/themeOverride" Target="../theme/themeOverride15.xm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16.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oleObject" Target="file:///D:\P.MOC\SAG2\Bao%20cao%20SAG2-2025\Th&#225;ng%207\&#272;o%20l&#432;&#7901;ng%20th&#7921;c%20hi&#7879;n%20an%20to&#224;n%20b&#7897;%20ch&#7881;%20s&#7889;%20KPI%20n&#259;m%202025.xlsx" TargetMode="External"/></Relationships>
</file>

<file path=ppt/charts/_rels/chart17.xml.rels><?xml version="1.0" encoding="UTF-8" standalone="yes"?>
<Relationships xmlns="http://schemas.openxmlformats.org/package/2006/relationships"><Relationship Id="rId2" Type="http://schemas.openxmlformats.org/officeDocument/2006/relationships/oleObject" Target="file:///D:\P.MOC\SAG2\Bao%20cao%20SAG2-2025\Th&#225;ng%207\&#272;o%20l&#432;&#7901;ng%20th&#7921;c%20hi&#7879;n%20an%20to&#224;n%20b&#7897;%20ch&#7881;%20s&#7889;%20KPI%20n&#259;m%202025.xlsx" TargetMode="External"/><Relationship Id="rId1" Type="http://schemas.openxmlformats.org/officeDocument/2006/relationships/themeOverride" Target="../theme/themeOverride17.xm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18.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oleObject" Target="file:///D:\P.MOC\SAG2\Bao%20cao%20SAG2-2025\Th&#225;ng%207\&#272;o%20l&#432;&#7901;ng%20th&#7921;c%20hi&#7879;n%20an%20to&#224;n%20b&#7897;%20ch&#7881;%20s&#7889;%20KPI%20n&#259;m%202025.xlsx" TargetMode="External"/></Relationships>
</file>

<file path=ppt/charts/_rels/chart19.xml.rels><?xml version="1.0" encoding="UTF-8" standalone="yes"?>
<Relationships xmlns="http://schemas.openxmlformats.org/package/2006/relationships"><Relationship Id="rId3" Type="http://schemas.openxmlformats.org/officeDocument/2006/relationships/themeOverride" Target="../theme/themeOverride19.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oleObject" Target="file:///D:\P.MOC\SAG2\Bao%20cao%20SAG2-2025\T&#237;nh%20t&#7927;%20l&#7879;%20BCTN.xlsx" TargetMode="External"/></Relationships>
</file>

<file path=ppt/charts/_rels/chart20.xml.rels><?xml version="1.0" encoding="UTF-8" standalone="yes"?>
<Relationships xmlns="http://schemas.openxmlformats.org/package/2006/relationships"><Relationship Id="rId2" Type="http://schemas.openxmlformats.org/officeDocument/2006/relationships/oleObject" Target="file:///D:\P.MOC\SAG2\Bao%20cao%20SAG2-2025\Th&#225;ng%207\&#272;o%20l&#432;&#7901;ng%20th&#7921;c%20hi&#7879;n%20an%20to&#224;n%20b&#7897;%20ch&#7881;%20s&#7889;%20KPI%20n&#259;m%202025.xlsx" TargetMode="External"/><Relationship Id="rId1" Type="http://schemas.openxmlformats.org/officeDocument/2006/relationships/themeOverride" Target="../theme/themeOverride20.xml"/></Relationships>
</file>

<file path=ppt/charts/_rels/chart21.xml.rels><?xml version="1.0" encoding="UTF-8" standalone="yes"?>
<Relationships xmlns="http://schemas.openxmlformats.org/package/2006/relationships"><Relationship Id="rId3" Type="http://schemas.openxmlformats.org/officeDocument/2006/relationships/themeOverride" Target="../theme/themeOverride21.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oleObject" Target="file:///D:\P.MOC\SAG2\Bao%20cao%20SAG2-2025\Th&#225;ng%207\&#272;o%20l&#432;&#7901;ng%20th&#7921;c%20hi&#7879;n%20an%20to&#224;n%20b&#7897;%20ch&#7881;%20s&#7889;%20KPI%20n&#259;m%202025.xlsx" TargetMode="External"/></Relationships>
</file>

<file path=ppt/charts/_rels/chart22.xml.rels><?xml version="1.0" encoding="UTF-8" standalone="yes"?>
<Relationships xmlns="http://schemas.openxmlformats.org/package/2006/relationships"><Relationship Id="rId2" Type="http://schemas.openxmlformats.org/officeDocument/2006/relationships/oleObject" Target="file:///D:\P.MOC\SAG2\Bao%20cao%20SAG2-2025\Th&#225;ng%207\&#272;o%20l&#432;&#7901;ng%20th&#7921;c%20hi&#7879;n%20an%20to&#224;n%20b&#7897;%20ch&#7881;%20s&#7889;%20KPI%20n&#259;m%202025.xlsx" TargetMode="External"/><Relationship Id="rId1" Type="http://schemas.openxmlformats.org/officeDocument/2006/relationships/themeOverride" Target="../theme/themeOverride22.xml"/></Relationships>
</file>

<file path=ppt/charts/_rels/chart23.xml.rels><?xml version="1.0" encoding="UTF-8" standalone="yes"?>
<Relationships xmlns="http://schemas.openxmlformats.org/package/2006/relationships"><Relationship Id="rId3" Type="http://schemas.openxmlformats.org/officeDocument/2006/relationships/themeOverride" Target="../theme/themeOverride23.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SAG2\Bao%20cao%20SAG2-2025\Th&#225;ng%207\&#272;o%20l&#432;&#7901;ng%20th&#7921;c%20hi&#7879;n%20an%20to&#224;n%20b&#7897;%20ch&#7881;%20s&#7889;%20KPI%20n&#259;m%202025.xlsx" TargetMode="External"/></Relationships>
</file>

<file path=ppt/charts/_rels/chart24.xml.rels><?xml version="1.0" encoding="UTF-8" standalone="yes"?>
<Relationships xmlns="http://schemas.openxmlformats.org/package/2006/relationships"><Relationship Id="rId2" Type="http://schemas.openxmlformats.org/officeDocument/2006/relationships/oleObject" Target="file:///D:\P.MOC\SAG2\Bao%20cao%20SAG2-2025\Th&#225;ng%207\&#272;o%20l&#432;&#7901;ng%20th&#7921;c%20hi&#7879;n%20an%20to&#224;n%20b&#7897;%20ch&#7881;%20s&#7889;%20KPI%20n&#259;m%202025.xlsx" TargetMode="External"/><Relationship Id="rId1" Type="http://schemas.openxmlformats.org/officeDocument/2006/relationships/themeOverride" Target="../theme/themeOverride24.xml"/></Relationships>
</file>

<file path=ppt/charts/_rels/chart25.xml.rels><?xml version="1.0" encoding="UTF-8" standalone="yes"?>
<Relationships xmlns="http://schemas.openxmlformats.org/package/2006/relationships"><Relationship Id="rId3" Type="http://schemas.openxmlformats.org/officeDocument/2006/relationships/themeOverride" Target="../theme/themeOverride25.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D:\P.MOC\SAG2\Bao%20cao%20SAG2-2025\Th&#225;ng%207\&#272;o%20l&#432;&#7901;ng%20th&#7921;c%20hi&#7879;n%20an%20to&#224;n%20b&#7897;%20ch&#7881;%20s&#7889;%20KPI%20n&#259;m%202025.xlsx" TargetMode="External"/></Relationships>
</file>

<file path=ppt/charts/_rels/chart26.xml.rels><?xml version="1.0" encoding="UTF-8" standalone="yes"?>
<Relationships xmlns="http://schemas.openxmlformats.org/package/2006/relationships"><Relationship Id="rId2" Type="http://schemas.openxmlformats.org/officeDocument/2006/relationships/oleObject" Target="file:///D:\P.MOC\SAG2\Bao%20cao%20SAG2-2025\Th&#225;ng%207\&#272;o%20l&#432;&#7901;ng%20th&#7921;c%20hi&#7879;n%20an%20to&#224;n%20b&#7897;%20ch&#7881;%20s&#7889;%20KPI%20n&#259;m%202025.xlsx" TargetMode="External"/><Relationship Id="rId1" Type="http://schemas.openxmlformats.org/officeDocument/2006/relationships/themeOverride" Target="../theme/themeOverride26.xml"/></Relationships>
</file>

<file path=ppt/charts/_rels/chart27.xml.rels><?xml version="1.0" encoding="UTF-8" standalone="yes"?>
<Relationships xmlns="http://schemas.openxmlformats.org/package/2006/relationships"><Relationship Id="rId3" Type="http://schemas.openxmlformats.org/officeDocument/2006/relationships/themeOverride" Target="../theme/themeOverride27.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file:///D:\P.MOC\SAG2\Bao%20cao%20SAG2-2025\Th&#225;ng%207\&#272;o%20l&#432;&#7901;ng%20th&#7921;c%20hi&#7879;n%20an%20to&#224;n%20b&#7897;%20ch&#7881;%20s&#7889;%20KPI%20n&#259;m%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405492589058861E-2"/>
          <c:y val="2.5636498827477074E-2"/>
          <c:w val="0.96363823768567403"/>
          <c:h val="0.85493795609363621"/>
        </c:manualLayout>
      </c:layout>
      <c:barChart>
        <c:barDir val="col"/>
        <c:grouping val="clustered"/>
        <c:varyColors val="0"/>
        <c:ser>
          <c:idx val="0"/>
          <c:order val="0"/>
          <c:invertIfNegative val="0"/>
          <c:dLbls>
            <c:dLbl>
              <c:idx val="12"/>
              <c:layout>
                <c:manualLayout>
                  <c:x val="-3.2147658498714472E-3"/>
                  <c:y val="9.488454172300196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449-4DE9-94D1-5FA6899C2A55}"/>
                </c:ext>
              </c:extLst>
            </c:dLbl>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'MOR sự cố A,B,C,D'!$B$3:$B$26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A,B,C,D'!$D$3:$D$26</c:f>
              <c:numCache>
                <c:formatCode>General</c:formatCode>
                <c:ptCount val="13"/>
                <c:pt idx="0">
                  <c:v>0</c:v>
                </c:pt>
                <c:pt idx="1">
                  <c:v>0</c:v>
                </c:pt>
                <c:pt idx="2">
                  <c:v>0</c:v>
                </c:pt>
                <c:pt idx="3">
                  <c:v>0</c:v>
                </c:pt>
                <c:pt idx="4">
                  <c:v>1</c:v>
                </c:pt>
                <c:pt idx="5">
                  <c:v>1</c:v>
                </c:pt>
                <c:pt idx="6">
                  <c:v>1</c:v>
                </c:pt>
                <c:pt idx="7">
                  <c:v>0</c:v>
                </c:pt>
                <c:pt idx="8">
                  <c:v>0</c:v>
                </c:pt>
                <c:pt idx="9">
                  <c:v>2</c:v>
                </c:pt>
                <c:pt idx="10">
                  <c:v>2</c:v>
                </c:pt>
                <c:pt idx="11">
                  <c:v>0</c:v>
                </c:pt>
                <c:pt idx="12">
                  <c:v>1</c:v>
                </c:pt>
              </c:numCache>
            </c:numRef>
          </c:val>
          <c:extLst>
            <c:ext xmlns:c16="http://schemas.microsoft.com/office/drawing/2014/chart" uri="{C3380CC4-5D6E-409C-BE32-E72D297353CC}">
              <c16:uniqueId val="{00000000-4737-4602-B89E-75DCC59331C9}"/>
            </c:ext>
          </c:extLst>
        </c:ser>
        <c:dLbls>
          <c:showLegendKey val="0"/>
          <c:showVal val="0"/>
          <c:showCatName val="0"/>
          <c:showSerName val="0"/>
          <c:showPercent val="0"/>
          <c:showBubbleSize val="0"/>
        </c:dLbls>
        <c:gapWidth val="150"/>
        <c:axId val="454651656"/>
        <c:axId val="454651264"/>
      </c:barChart>
      <c:lineChart>
        <c:grouping val="standard"/>
        <c:varyColors val="0"/>
        <c:ser>
          <c:idx val="1"/>
          <c:order val="1"/>
          <c:spPr>
            <a:ln w="28575">
              <a:solidFill>
                <a:srgbClr val="7030A0"/>
              </a:solidFill>
            </a:ln>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22-4737-4602-B89E-75DCC59331C9}"/>
                </c:ext>
              </c:extLst>
            </c:dLbl>
            <c:dLbl>
              <c:idx val="1"/>
              <c:delete val="1"/>
              <c:extLst>
                <c:ext xmlns:c15="http://schemas.microsoft.com/office/drawing/2012/chart" uri="{CE6537A1-D6FC-4f65-9D91-7224C49458BB}"/>
                <c:ext xmlns:c16="http://schemas.microsoft.com/office/drawing/2014/chart" uri="{C3380CC4-5D6E-409C-BE32-E72D297353CC}">
                  <c16:uniqueId val="{00000021-4737-4602-B89E-75DCC59331C9}"/>
                </c:ext>
              </c:extLst>
            </c:dLbl>
            <c:dLbl>
              <c:idx val="2"/>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01-4737-4602-B89E-75DCC59331C9}"/>
                </c:ext>
              </c:extLst>
            </c:dLbl>
            <c:dLbl>
              <c:idx val="3"/>
              <c:delete val="1"/>
              <c:extLst>
                <c:ext xmlns:c15="http://schemas.microsoft.com/office/drawing/2012/chart" uri="{CE6537A1-D6FC-4f65-9D91-7224C49458BB}"/>
                <c:ext xmlns:c16="http://schemas.microsoft.com/office/drawing/2014/chart" uri="{C3380CC4-5D6E-409C-BE32-E72D297353CC}">
                  <c16:uniqueId val="{00000020-4737-4602-B89E-75DCC59331C9}"/>
                </c:ext>
              </c:extLst>
            </c:dLbl>
            <c:dLbl>
              <c:idx val="6"/>
              <c:layout>
                <c:manualLayout>
                  <c:x val="-2.3307052411567993E-2"/>
                  <c:y val="-7.5384319491246049E-2"/>
                </c:manualLayout>
              </c:layout>
              <c:spPr>
                <a:noFill/>
                <a:ln>
                  <a:noFill/>
                </a:ln>
                <a:effectLst/>
              </c:spPr>
              <c:txPr>
                <a:bodyPr wrap="square" lIns="38100" tIns="19050" rIns="38100" bIns="19050" anchor="ctr">
                  <a:no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15:layout>
                    <c:manualLayout>
                      <c:w val="5.4651019447814607E-2"/>
                      <c:h val="9.5338992297752348E-2"/>
                    </c:manualLayout>
                  </c15:layout>
                </c:ext>
                <c:ext xmlns:c16="http://schemas.microsoft.com/office/drawing/2014/chart" uri="{C3380CC4-5D6E-409C-BE32-E72D297353CC}">
                  <c16:uniqueId val="{00000003-4737-4602-B89E-75DCC59331C9}"/>
                </c:ext>
              </c:extLst>
            </c:dLbl>
            <c:dLbl>
              <c:idx val="7"/>
              <c:delete val="1"/>
              <c:extLst>
                <c:ext xmlns:c15="http://schemas.microsoft.com/office/drawing/2012/chart" uri="{CE6537A1-D6FC-4f65-9D91-7224C49458BB}"/>
                <c:ext xmlns:c16="http://schemas.microsoft.com/office/drawing/2014/chart" uri="{C3380CC4-5D6E-409C-BE32-E72D297353CC}">
                  <c16:uniqueId val="{00000023-4737-4602-B89E-75DCC59331C9}"/>
                </c:ext>
              </c:extLst>
            </c:dLbl>
            <c:dLbl>
              <c:idx val="8"/>
              <c:delete val="1"/>
              <c:extLst>
                <c:ext xmlns:c15="http://schemas.microsoft.com/office/drawing/2012/chart" uri="{CE6537A1-D6FC-4f65-9D91-7224C49458BB}"/>
                <c:ext xmlns:c16="http://schemas.microsoft.com/office/drawing/2014/chart" uri="{C3380CC4-5D6E-409C-BE32-E72D297353CC}">
                  <c16:uniqueId val="{00000024-4737-4602-B89E-75DCC59331C9}"/>
                </c:ext>
              </c:extLst>
            </c:dLbl>
            <c:dLbl>
              <c:idx val="9"/>
              <c:layout>
                <c:manualLayout>
                  <c:x val="-3.0540275573778749E-2"/>
                  <c:y val="-5.209883315896661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449-4DE9-94D1-5FA6899C2A55}"/>
                </c:ext>
              </c:extLst>
            </c:dLbl>
            <c:dLbl>
              <c:idx val="10"/>
              <c:layout>
                <c:manualLayout>
                  <c:x val="-3.0540275573778749E-2"/>
                  <c:y val="-8.092728415972015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4737-4602-B89E-75DCC59331C9}"/>
                </c:ext>
              </c:extLst>
            </c:dLbl>
            <c:dLbl>
              <c:idx val="11"/>
              <c:delete val="1"/>
              <c:extLst>
                <c:ext xmlns:c15="http://schemas.microsoft.com/office/drawing/2012/chart" uri="{CE6537A1-D6FC-4f65-9D91-7224C49458BB}"/>
                <c:ext xmlns:c16="http://schemas.microsoft.com/office/drawing/2014/chart" uri="{C3380CC4-5D6E-409C-BE32-E72D297353CC}">
                  <c16:uniqueId val="{0000001F-4737-4602-B89E-75DCC59331C9}"/>
                </c:ext>
              </c:extLst>
            </c:dLbl>
            <c:dLbl>
              <c:idx val="12"/>
              <c:layout>
                <c:manualLayout>
                  <c:x val="-4.1791956048328936E-2"/>
                  <c:y val="-8.646032327832095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4737-4602-B89E-75DCC59331C9}"/>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trendline>
            <c:spPr>
              <a:ln w="12700">
                <a:solidFill>
                  <a:srgbClr val="C00000"/>
                </a:solidFill>
              </a:ln>
            </c:spPr>
            <c:trendlineType val="linear"/>
            <c:dispRSqr val="0"/>
            <c:dispEq val="0"/>
          </c:trendline>
          <c:cat>
            <c:strRef>
              <c:f>'MOR sự cố A,B,C,D'!$B$3:$B$26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A,B,C,D'!$E$3:$E$26</c:f>
              <c:numCache>
                <c:formatCode>0.00</c:formatCode>
                <c:ptCount val="13"/>
                <c:pt idx="0">
                  <c:v>0</c:v>
                </c:pt>
                <c:pt idx="1">
                  <c:v>0</c:v>
                </c:pt>
                <c:pt idx="2">
                  <c:v>0</c:v>
                </c:pt>
                <c:pt idx="3">
                  <c:v>0</c:v>
                </c:pt>
                <c:pt idx="4">
                  <c:v>1.0088781275221954</c:v>
                </c:pt>
                <c:pt idx="5">
                  <c:v>0.8693384334521429</c:v>
                </c:pt>
                <c:pt idx="6">
                  <c:v>0.83347224537422904</c:v>
                </c:pt>
                <c:pt idx="7">
                  <c:v>0</c:v>
                </c:pt>
                <c:pt idx="8">
                  <c:v>0</c:v>
                </c:pt>
                <c:pt idx="9">
                  <c:v>1.7747803709290975</c:v>
                </c:pt>
                <c:pt idx="10">
                  <c:v>1.677993120228207</c:v>
                </c:pt>
                <c:pt idx="11">
                  <c:v>0</c:v>
                </c:pt>
                <c:pt idx="12">
                  <c:v>0.76899415564441709</c:v>
                </c:pt>
              </c:numCache>
            </c:numRef>
          </c:val>
          <c:smooth val="0"/>
          <c:extLst>
            <c:ext xmlns:c16="http://schemas.microsoft.com/office/drawing/2014/chart" uri="{C3380CC4-5D6E-409C-BE32-E72D297353CC}">
              <c16:uniqueId val="{00000004-4737-4602-B89E-75DCC59331C9}"/>
            </c:ext>
          </c:extLst>
        </c:ser>
        <c:ser>
          <c:idx val="2"/>
          <c:order val="2"/>
          <c:spPr>
            <a:ln w="25400">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449-4DE9-94D1-5FA6899C2A55}"/>
                </c:ext>
              </c:extLst>
            </c:dLbl>
            <c:dLbl>
              <c:idx val="9"/>
              <c:delete val="1"/>
              <c:extLst>
                <c:ext xmlns:c15="http://schemas.microsoft.com/office/drawing/2012/chart" uri="{CE6537A1-D6FC-4f65-9D91-7224C49458BB}"/>
                <c:ext xmlns:c16="http://schemas.microsoft.com/office/drawing/2014/chart" uri="{C3380CC4-5D6E-409C-BE32-E72D297353CC}">
                  <c16:uniqueId val="{00000005-4737-4602-B89E-75DCC59331C9}"/>
                </c:ext>
              </c:extLst>
            </c:dLbl>
            <c:dLbl>
              <c:idx val="12"/>
              <c:layout>
                <c:manualLayout>
                  <c:x val="1.6073829249356058E-3"/>
                  <c:y val="-0.1121645488959174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449-4DE9-94D1-5FA6899C2A55}"/>
                </c:ext>
              </c:extLst>
            </c:dLbl>
            <c:spPr>
              <a:solidFill>
                <a:srgbClr val="00B0F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A,B,C,D'!$B$3:$B$26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A,B,C,D'!$F$3:$F$26</c:f>
              <c:numCache>
                <c:formatCode>0.00</c:formatCode>
                <c:ptCount val="13"/>
                <c:pt idx="0">
                  <c:v>3.8615171673610371</c:v>
                </c:pt>
                <c:pt idx="1">
                  <c:v>3.8615171673610371</c:v>
                </c:pt>
                <c:pt idx="2">
                  <c:v>3.8615171673610371</c:v>
                </c:pt>
                <c:pt idx="3">
                  <c:v>3.8615171673610371</c:v>
                </c:pt>
                <c:pt idx="4">
                  <c:v>3.8615171673610371</c:v>
                </c:pt>
                <c:pt idx="5">
                  <c:v>3.8615171673610371</c:v>
                </c:pt>
                <c:pt idx="6">
                  <c:v>0.33666759480645114</c:v>
                </c:pt>
                <c:pt idx="7">
                  <c:v>0.33666759480645114</c:v>
                </c:pt>
                <c:pt idx="8">
                  <c:v>0.33666759480645114</c:v>
                </c:pt>
                <c:pt idx="9">
                  <c:v>0.33666759480645114</c:v>
                </c:pt>
                <c:pt idx="10">
                  <c:v>0.33666759480645114</c:v>
                </c:pt>
                <c:pt idx="11">
                  <c:v>0.33666759480645114</c:v>
                </c:pt>
                <c:pt idx="12">
                  <c:v>0.33666759480645114</c:v>
                </c:pt>
              </c:numCache>
            </c:numRef>
          </c:val>
          <c:smooth val="0"/>
          <c:extLst>
            <c:ext xmlns:c16="http://schemas.microsoft.com/office/drawing/2014/chart" uri="{C3380CC4-5D6E-409C-BE32-E72D297353CC}">
              <c16:uniqueId val="{00000006-4737-4602-B89E-75DCC59331C9}"/>
            </c:ext>
          </c:extLst>
        </c:ser>
        <c:ser>
          <c:idx val="3"/>
          <c:order val="3"/>
          <c:spPr>
            <a:ln w="25400">
              <a:solidFill>
                <a:srgbClr val="FFC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449-4DE9-94D1-5FA6899C2A55}"/>
                </c:ext>
              </c:extLst>
            </c:dLbl>
            <c:dLbl>
              <c:idx val="9"/>
              <c:delete val="1"/>
              <c:extLst>
                <c:ext xmlns:c15="http://schemas.microsoft.com/office/drawing/2012/chart" uri="{CE6537A1-D6FC-4f65-9D91-7224C49458BB}"/>
                <c:ext xmlns:c16="http://schemas.microsoft.com/office/drawing/2014/chart" uri="{C3380CC4-5D6E-409C-BE32-E72D297353CC}">
                  <c16:uniqueId val="{00000007-4737-4602-B89E-75DCC59331C9}"/>
                </c:ext>
              </c:extLst>
            </c:dLbl>
            <c:dLbl>
              <c:idx val="12"/>
              <c:layout>
                <c:manualLayout>
                  <c:x val="1.6073829249356058E-3"/>
                  <c:y val="-0.1540783696414388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449-4DE9-94D1-5FA6899C2A55}"/>
                </c:ext>
              </c:extLst>
            </c:dLbl>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A,B,C,D'!$B$3:$B$26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A,B,C,D'!$G$3:$G$26</c:f>
              <c:numCache>
                <c:formatCode>0.00</c:formatCode>
                <c:ptCount val="13"/>
                <c:pt idx="0">
                  <c:v>4.7983825991721627</c:v>
                </c:pt>
                <c:pt idx="1">
                  <c:v>4.7983825991721627</c:v>
                </c:pt>
                <c:pt idx="2">
                  <c:v>4.7983825991721627</c:v>
                </c:pt>
                <c:pt idx="3">
                  <c:v>4.7983825991721627</c:v>
                </c:pt>
                <c:pt idx="4">
                  <c:v>4.7983825991721627</c:v>
                </c:pt>
                <c:pt idx="5">
                  <c:v>4.7983825991721627</c:v>
                </c:pt>
                <c:pt idx="6">
                  <c:v>0.52004559491059077</c:v>
                </c:pt>
                <c:pt idx="7">
                  <c:v>0.52004559491059077</c:v>
                </c:pt>
                <c:pt idx="8">
                  <c:v>0.52004559491059077</c:v>
                </c:pt>
                <c:pt idx="9">
                  <c:v>0.52004559491059077</c:v>
                </c:pt>
                <c:pt idx="10">
                  <c:v>0.52004559491059077</c:v>
                </c:pt>
                <c:pt idx="11">
                  <c:v>0.52004559491059077</c:v>
                </c:pt>
                <c:pt idx="12">
                  <c:v>0.52004559491059077</c:v>
                </c:pt>
              </c:numCache>
            </c:numRef>
          </c:val>
          <c:smooth val="0"/>
          <c:extLst>
            <c:ext xmlns:c16="http://schemas.microsoft.com/office/drawing/2014/chart" uri="{C3380CC4-5D6E-409C-BE32-E72D297353CC}">
              <c16:uniqueId val="{00000008-4737-4602-B89E-75DCC59331C9}"/>
            </c:ext>
          </c:extLst>
        </c:ser>
        <c:ser>
          <c:idx val="4"/>
          <c:order val="4"/>
          <c:spPr>
            <a:ln w="25400">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449-4DE9-94D1-5FA6899C2A55}"/>
                </c:ext>
              </c:extLst>
            </c:dLbl>
            <c:dLbl>
              <c:idx val="12"/>
              <c:layout>
                <c:manualLayout>
                  <c:x val="1.6073829249356058E-3"/>
                  <c:y val="-0.18674373470593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449-4DE9-94D1-5FA6899C2A55}"/>
                </c:ext>
              </c:extLst>
            </c:dLbl>
            <c:spPr>
              <a:solidFill>
                <a:srgbClr val="FF0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A,B,C,D'!$B$3:$B$26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A,B,C,D'!$H$3:$H$26</c:f>
              <c:numCache>
                <c:formatCode>0.00</c:formatCode>
                <c:ptCount val="13"/>
                <c:pt idx="0">
                  <c:v>5.7352480309832883</c:v>
                </c:pt>
                <c:pt idx="1">
                  <c:v>5.7352480309832883</c:v>
                </c:pt>
                <c:pt idx="2">
                  <c:v>5.7352480309832883</c:v>
                </c:pt>
                <c:pt idx="3">
                  <c:v>5.7352480309832883</c:v>
                </c:pt>
                <c:pt idx="4">
                  <c:v>5.7352480309832883</c:v>
                </c:pt>
                <c:pt idx="5">
                  <c:v>5.7352480309832883</c:v>
                </c:pt>
                <c:pt idx="6">
                  <c:v>0.70342359501473029</c:v>
                </c:pt>
                <c:pt idx="7">
                  <c:v>0.70342359501473029</c:v>
                </c:pt>
                <c:pt idx="8">
                  <c:v>0.70342359501473029</c:v>
                </c:pt>
                <c:pt idx="9">
                  <c:v>0.70342359501473029</c:v>
                </c:pt>
                <c:pt idx="10">
                  <c:v>0.70342359501473029</c:v>
                </c:pt>
                <c:pt idx="11">
                  <c:v>0.70342359501473029</c:v>
                </c:pt>
                <c:pt idx="12">
                  <c:v>0.70342359501473029</c:v>
                </c:pt>
              </c:numCache>
            </c:numRef>
          </c:val>
          <c:smooth val="0"/>
          <c:extLst>
            <c:ext xmlns:c16="http://schemas.microsoft.com/office/drawing/2014/chart" uri="{C3380CC4-5D6E-409C-BE32-E72D297353CC}">
              <c16:uniqueId val="{0000000A-4737-4602-B89E-75DCC59331C9}"/>
            </c:ext>
          </c:extLst>
        </c:ser>
        <c:ser>
          <c:idx val="5"/>
          <c:order val="5"/>
          <c:spPr>
            <a:ln w="25400">
              <a:solidFill>
                <a:srgbClr val="339933"/>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449-4DE9-94D1-5FA6899C2A55}"/>
                </c:ext>
              </c:extLst>
            </c:dLbl>
            <c:dLbl>
              <c:idx val="9"/>
              <c:delete val="1"/>
              <c:extLst>
                <c:ext xmlns:c15="http://schemas.microsoft.com/office/drawing/2012/chart" uri="{CE6537A1-D6FC-4f65-9D91-7224C49458BB}"/>
                <c:ext xmlns:c16="http://schemas.microsoft.com/office/drawing/2014/chart" uri="{C3380CC4-5D6E-409C-BE32-E72D297353CC}">
                  <c16:uniqueId val="{0000000B-4737-4602-B89E-75DCC59331C9}"/>
                </c:ext>
              </c:extLst>
            </c:dLbl>
            <c:dLbl>
              <c:idx val="12"/>
              <c:layout>
                <c:manualLayout>
                  <c:x val="1.6073829249356058E-3"/>
                  <c:y val="-7.702914638368943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449-4DE9-94D1-5FA6899C2A55}"/>
                </c:ext>
              </c:extLst>
            </c:dLbl>
            <c:spPr>
              <a:solidFill>
                <a:srgbClr val="00B050"/>
              </a:solidFill>
              <a:ln>
                <a:noFill/>
              </a:ln>
              <a:effectLst/>
            </c:spPr>
            <c:txPr>
              <a:bodyPr wrap="square" lIns="38100" tIns="19050" rIns="38100" bIns="19050" anchor="ctr">
                <a:spAutoFit/>
              </a:bodyPr>
              <a:lstStyle/>
              <a:p>
                <a:pPr>
                  <a:defRPr sz="1200" b="1">
                    <a:solidFill>
                      <a:sysClr val="windowText" lastClr="000000"/>
                    </a:solidFill>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A,B,C,D'!$B$3:$B$26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A,B,C,D'!$I$3:$I$26</c:f>
              <c:numCache>
                <c:formatCode>0.00</c:formatCode>
                <c:ptCount val="13"/>
                <c:pt idx="0">
                  <c:v>2.9246517355499115</c:v>
                </c:pt>
                <c:pt idx="1">
                  <c:v>2.9246517355499115</c:v>
                </c:pt>
                <c:pt idx="2">
                  <c:v>2.9246517355499115</c:v>
                </c:pt>
                <c:pt idx="3">
                  <c:v>2.9246517355499115</c:v>
                </c:pt>
                <c:pt idx="4">
                  <c:v>2.9246517355499115</c:v>
                </c:pt>
                <c:pt idx="5">
                  <c:v>2.9246517355499115</c:v>
                </c:pt>
                <c:pt idx="6">
                  <c:v>0.14562511496719602</c:v>
                </c:pt>
                <c:pt idx="7">
                  <c:v>0.14562511496719602</c:v>
                </c:pt>
                <c:pt idx="8">
                  <c:v>0.14562511496719602</c:v>
                </c:pt>
                <c:pt idx="9">
                  <c:v>0.14562511496719602</c:v>
                </c:pt>
                <c:pt idx="10">
                  <c:v>0.14562511496719602</c:v>
                </c:pt>
                <c:pt idx="11">
                  <c:v>0.14562511496719602</c:v>
                </c:pt>
                <c:pt idx="12">
                  <c:v>0.14562511496719602</c:v>
                </c:pt>
              </c:numCache>
            </c:numRef>
          </c:val>
          <c:smooth val="0"/>
          <c:extLst>
            <c:ext xmlns:c16="http://schemas.microsoft.com/office/drawing/2014/chart" uri="{C3380CC4-5D6E-409C-BE32-E72D297353CC}">
              <c16:uniqueId val="{0000000C-4737-4602-B89E-75DCC59331C9}"/>
            </c:ext>
          </c:extLst>
        </c:ser>
        <c:dLbls>
          <c:showLegendKey val="0"/>
          <c:showVal val="1"/>
          <c:showCatName val="0"/>
          <c:showSerName val="0"/>
          <c:showPercent val="0"/>
          <c:showBubbleSize val="0"/>
        </c:dLbls>
        <c:marker val="1"/>
        <c:smooth val="0"/>
        <c:axId val="454651656"/>
        <c:axId val="454651264"/>
      </c:lineChart>
      <c:catAx>
        <c:axId val="454651656"/>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454651264"/>
        <c:crosses val="autoZero"/>
        <c:auto val="1"/>
        <c:lblAlgn val="ctr"/>
        <c:lblOffset val="100"/>
        <c:noMultiLvlLbl val="0"/>
      </c:catAx>
      <c:valAx>
        <c:axId val="454651264"/>
        <c:scaling>
          <c:orientation val="minMax"/>
        </c:scaling>
        <c:delete val="1"/>
        <c:axPos val="l"/>
        <c:numFmt formatCode="General" sourceLinked="1"/>
        <c:majorTickMark val="out"/>
        <c:minorTickMark val="none"/>
        <c:tickLblPos val="nextTo"/>
        <c:crossAx val="454651656"/>
        <c:crosses val="autoZero"/>
        <c:crossBetween val="between"/>
      </c:valAx>
    </c:plotArea>
    <c:plotVisOnly val="1"/>
    <c:dispBlanksAs val="gap"/>
    <c:showDLblsOverMax val="0"/>
  </c:chart>
  <c:spPr>
    <a:ln w="12700">
      <a:solidFill>
        <a:srgbClr val="C00000"/>
      </a:solidFill>
    </a:ln>
  </c:sp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000"/>
              <a:t>Báo cáo sự cố MOR </a:t>
            </a: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'MOR sự cố A,B,C,D'!$AB$3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'MOR sự cố A,B,C,D'!$AA$4:$AA$5</c:f>
              <c:strCache>
                <c:ptCount val="2"/>
                <c:pt idx="0">
                  <c:v>Số vụ</c:v>
                </c:pt>
                <c:pt idx="1">
                  <c:v>Tỷ lệ/10000CB</c:v>
                </c:pt>
              </c:strCache>
            </c:strRef>
          </c:cat>
          <c:val>
            <c:numRef>
              <c:f>'MOR sự cố A,B,C,D'!$AB$4:$AB$5</c:f>
              <c:numCache>
                <c:formatCode>0.00</c:formatCode>
                <c:ptCount val="2"/>
                <c:pt idx="0" formatCode="General">
                  <c:v>0</c:v>
                </c:pt>
                <c:pt idx="1">
                  <c:v>0</c:v>
                </c:pt>
              </c:numCache>
            </c:numRef>
          </c:val>
          <c:extLst>
            <c:ext xmlns:c16="http://schemas.microsoft.com/office/drawing/2014/chart" uri="{C3380CC4-5D6E-409C-BE32-E72D297353CC}">
              <c16:uniqueId val="{00000000-A410-41FD-BA65-1CB37CDC4603}"/>
            </c:ext>
          </c:extLst>
        </c:ser>
        <c:ser>
          <c:idx val="1"/>
          <c:order val="1"/>
          <c:tx>
            <c:strRef>
              <c:f>'MOR sự cố A,B,C,D'!$AC$3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'MOR sự cố A,B,C,D'!$AA$4:$AA$5</c:f>
              <c:strCache>
                <c:ptCount val="2"/>
                <c:pt idx="0">
                  <c:v>Số vụ</c:v>
                </c:pt>
                <c:pt idx="1">
                  <c:v>Tỷ lệ/10000CB</c:v>
                </c:pt>
              </c:strCache>
            </c:strRef>
          </c:cat>
          <c:val>
            <c:numRef>
              <c:f>'MOR sự cố A,B,C,D'!$AC$4:$AC$5</c:f>
              <c:numCache>
                <c:formatCode>0.00</c:formatCode>
                <c:ptCount val="2"/>
                <c:pt idx="0" formatCode="0">
                  <c:v>6</c:v>
                </c:pt>
                <c:pt idx="1">
                  <c:v>0.71834780005986232</c:v>
                </c:pt>
              </c:numCache>
            </c:numRef>
          </c:val>
          <c:extLst>
            <c:ext xmlns:c16="http://schemas.microsoft.com/office/drawing/2014/chart" uri="{C3380CC4-5D6E-409C-BE32-E72D297353CC}">
              <c16:uniqueId val="{00000001-A410-41FD-BA65-1CB37CDC4603}"/>
            </c:ext>
          </c:extLst>
        </c:ser>
        <c:dLbls>
          <c:showLegendKey val="0"/>
          <c:showVal val="0"/>
          <c:showCatName val="0"/>
          <c:showSerName val="0"/>
          <c:showPercent val="0"/>
          <c:showBubbleSize val="0"/>
        </c:dLbls>
        <c:gapWidth val="219"/>
        <c:overlap val="-27"/>
        <c:axId val="328426288"/>
        <c:axId val="328425896"/>
      </c:barChart>
      <c:catAx>
        <c:axId val="328426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5896"/>
        <c:crosses val="autoZero"/>
        <c:auto val="1"/>
        <c:lblAlgn val="ctr"/>
        <c:lblOffset val="100"/>
        <c:noMultiLvlLbl val="0"/>
      </c:catAx>
      <c:valAx>
        <c:axId val="3284258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6288"/>
        <c:crosses val="autoZero"/>
        <c:crossBetween val="between"/>
      </c:valAx>
      <c:spPr>
        <a:noFill/>
        <a:ln>
          <a:noFill/>
        </a:ln>
        <a:effectLst/>
      </c:spPr>
    </c:plotArea>
    <c:legend>
      <c:legendPos val="b"/>
      <c:layout>
        <c:manualLayout>
          <c:xMode val="edge"/>
          <c:yMode val="edge"/>
          <c:x val="2.5880345354891655E-3"/>
          <c:y val="0.93415568828748119"/>
          <c:w val="0.98877307073252008"/>
          <c:h val="4.8640736981273844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6350" cap="flat" cmpd="sng" algn="ctr">
      <a:solidFill>
        <a:schemeClr val="tx1"/>
      </a:solidFill>
      <a:round/>
    </a:ln>
    <a:effectLst/>
  </c:spPr>
  <c:txPr>
    <a:bodyPr/>
    <a:lstStyle/>
    <a:p>
      <a:pPr>
        <a:defRPr sz="100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405492589058861E-2"/>
          <c:y val="2.5636498827477074E-2"/>
          <c:w val="0.96363823768567403"/>
          <c:h val="0.88813852591402775"/>
        </c:manualLayout>
      </c:layout>
      <c:barChart>
        <c:barDir val="col"/>
        <c:grouping val="clustered"/>
        <c:varyColors val="0"/>
        <c:ser>
          <c:idx val="0"/>
          <c:order val="0"/>
          <c:invertIfNegative val="0"/>
          <c:dLbls>
            <c:dLbl>
              <c:idx val="12"/>
              <c:layout>
                <c:manualLayout>
                  <c:x val="-1.2784381597382051E-2"/>
                  <c:y val="-7.87849958677687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2FF-417C-8295-D78A72E1E665}"/>
                </c:ext>
              </c:extLst>
            </c:dLbl>
            <c:spPr>
              <a:solidFill>
                <a:schemeClr val="accent4">
                  <a:lumMod val="40000"/>
                  <a:lumOff val="60000"/>
                </a:schemeClr>
              </a:solidFill>
            </c:sp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'MOR sự cố A'!$B$3:$B$26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A'!$D$3:$D$26</c:f>
              <c:numCache>
                <c:formatCode>General</c:formatCode>
                <c:ptCount val="13"/>
                <c:pt idx="0">
                  <c:v>0</c:v>
                </c:pt>
                <c:pt idx="1">
                  <c:v>0</c:v>
                </c:pt>
                <c:pt idx="2">
                  <c:v>0</c:v>
                </c:pt>
                <c:pt idx="3">
                  <c:v>0</c:v>
                </c:pt>
                <c:pt idx="4">
                  <c:v>0</c:v>
                </c:pt>
                <c:pt idx="5">
                  <c:v>0</c:v>
                </c:pt>
                <c:pt idx="6">
                  <c:v>0</c:v>
                </c:pt>
                <c:pt idx="7">
                  <c:v>0</c:v>
                </c:pt>
                <c:pt idx="8">
                  <c:v>0</c:v>
                </c:pt>
                <c:pt idx="9">
                  <c:v>0</c:v>
                </c:pt>
                <c:pt idx="10">
                  <c:v>0</c:v>
                </c:pt>
                <c:pt idx="11">
                  <c:v>0</c:v>
                </c:pt>
                <c:pt idx="12">
                  <c:v>0</c:v>
                </c:pt>
              </c:numCache>
            </c:numRef>
          </c:val>
          <c:extLst>
            <c:ext xmlns:c16="http://schemas.microsoft.com/office/drawing/2014/chart" uri="{C3380CC4-5D6E-409C-BE32-E72D297353CC}">
              <c16:uniqueId val="{00000000-301F-41DF-8C47-A68B64EE8104}"/>
            </c:ext>
          </c:extLst>
        </c:ser>
        <c:dLbls>
          <c:showLegendKey val="0"/>
          <c:showVal val="0"/>
          <c:showCatName val="0"/>
          <c:showSerName val="0"/>
          <c:showPercent val="0"/>
          <c:showBubbleSize val="0"/>
        </c:dLbls>
        <c:gapWidth val="150"/>
        <c:axId val="454651656"/>
        <c:axId val="454651264"/>
      </c:barChart>
      <c:lineChart>
        <c:grouping val="standard"/>
        <c:varyColors val="0"/>
        <c:ser>
          <c:idx val="1"/>
          <c:order val="1"/>
          <c:spPr>
            <a:ln w="28575">
              <a:solidFill>
                <a:srgbClr val="7030A0"/>
              </a:solidFill>
            </a:ln>
          </c:spPr>
          <c:marker>
            <c:symbol val="none"/>
          </c:marker>
          <c:dLbls>
            <c:delete val="1"/>
          </c:dLbls>
          <c:cat>
            <c:strRef>
              <c:f>'MOR sự cố A'!$B$3:$B$26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A'!$E$3:$E$26</c:f>
              <c:numCache>
                <c:formatCode>0.00</c:formatCode>
                <c:ptCount val="13"/>
                <c:pt idx="0">
                  <c:v>0</c:v>
                </c:pt>
                <c:pt idx="1">
                  <c:v>0</c:v>
                </c:pt>
                <c:pt idx="2">
                  <c:v>0</c:v>
                </c:pt>
                <c:pt idx="3">
                  <c:v>0</c:v>
                </c:pt>
                <c:pt idx="4">
                  <c:v>0</c:v>
                </c:pt>
                <c:pt idx="5">
                  <c:v>0</c:v>
                </c:pt>
                <c:pt idx="6">
                  <c:v>0</c:v>
                </c:pt>
                <c:pt idx="7">
                  <c:v>0</c:v>
                </c:pt>
                <c:pt idx="8">
                  <c:v>0</c:v>
                </c:pt>
                <c:pt idx="9">
                  <c:v>0</c:v>
                </c:pt>
                <c:pt idx="10">
                  <c:v>0</c:v>
                </c:pt>
                <c:pt idx="11">
                  <c:v>0</c:v>
                </c:pt>
                <c:pt idx="12">
                  <c:v>0</c:v>
                </c:pt>
              </c:numCache>
            </c:numRef>
          </c:val>
          <c:smooth val="0"/>
          <c:extLst>
            <c:ext xmlns:c16="http://schemas.microsoft.com/office/drawing/2014/chart" uri="{C3380CC4-5D6E-409C-BE32-E72D297353CC}">
              <c16:uniqueId val="{00000004-301F-41DF-8C47-A68B64EE8104}"/>
            </c:ext>
          </c:extLst>
        </c:ser>
        <c:ser>
          <c:idx val="2"/>
          <c:order val="2"/>
          <c:spPr>
            <a:ln w="25400">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2FF-417C-8295-D78A72E1E665}"/>
                </c:ext>
              </c:extLst>
            </c:dLbl>
            <c:dLbl>
              <c:idx val="9"/>
              <c:delete val="1"/>
              <c:extLst>
                <c:ext xmlns:c15="http://schemas.microsoft.com/office/drawing/2012/chart" uri="{CE6537A1-D6FC-4f65-9D91-7224C49458BB}"/>
                <c:ext xmlns:c16="http://schemas.microsoft.com/office/drawing/2014/chart" uri="{C3380CC4-5D6E-409C-BE32-E72D297353CC}">
                  <c16:uniqueId val="{00000005-301F-41DF-8C47-A68B64EE8104}"/>
                </c:ext>
              </c:extLst>
            </c:dLbl>
            <c:dLbl>
              <c:idx val="12"/>
              <c:layout>
                <c:manualLayout>
                  <c:x val="0"/>
                  <c:y val="-8.454822229343558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2FF-417C-8295-D78A72E1E665}"/>
                </c:ext>
              </c:extLst>
            </c:dLbl>
            <c:spPr>
              <a:solidFill>
                <a:srgbClr val="00B0F0"/>
              </a:solidFill>
              <a:ln>
                <a:noFill/>
              </a:ln>
              <a:effectLst/>
            </c:sp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A'!$B$3:$B$26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A'!$F$3:$F$26</c:f>
              <c:numCache>
                <c:formatCode>0.00</c:formatCode>
                <c:ptCount val="13"/>
                <c:pt idx="0">
                  <c:v>3.8615171673610371</c:v>
                </c:pt>
                <c:pt idx="1">
                  <c:v>3.8615171673610371</c:v>
                </c:pt>
                <c:pt idx="2">
                  <c:v>3.8615171673610371</c:v>
                </c:pt>
                <c:pt idx="3">
                  <c:v>3.8615171673610371</c:v>
                </c:pt>
                <c:pt idx="4">
                  <c:v>3.8615171673610371</c:v>
                </c:pt>
                <c:pt idx="5">
                  <c:v>3.8615171673610371</c:v>
                </c:pt>
                <c:pt idx="6">
                  <c:v>0.33666759480645114</c:v>
                </c:pt>
                <c:pt idx="7">
                  <c:v>0.33666759480645114</c:v>
                </c:pt>
                <c:pt idx="8">
                  <c:v>0.33666759480645114</c:v>
                </c:pt>
                <c:pt idx="9">
                  <c:v>0.33666759480645114</c:v>
                </c:pt>
                <c:pt idx="10">
                  <c:v>0.33666759480645114</c:v>
                </c:pt>
                <c:pt idx="11">
                  <c:v>0.33666759480645114</c:v>
                </c:pt>
                <c:pt idx="12">
                  <c:v>0.33666759480645114</c:v>
                </c:pt>
              </c:numCache>
            </c:numRef>
          </c:val>
          <c:smooth val="0"/>
          <c:extLst>
            <c:ext xmlns:c16="http://schemas.microsoft.com/office/drawing/2014/chart" uri="{C3380CC4-5D6E-409C-BE32-E72D297353CC}">
              <c16:uniqueId val="{00000006-301F-41DF-8C47-A68B64EE8104}"/>
            </c:ext>
          </c:extLst>
        </c:ser>
        <c:ser>
          <c:idx val="3"/>
          <c:order val="3"/>
          <c:spPr>
            <a:ln w="25400">
              <a:solidFill>
                <a:srgbClr val="FFC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2FF-417C-8295-D78A72E1E665}"/>
                </c:ext>
              </c:extLst>
            </c:dLbl>
            <c:dLbl>
              <c:idx val="9"/>
              <c:delete val="1"/>
              <c:extLst>
                <c:ext xmlns:c15="http://schemas.microsoft.com/office/drawing/2012/chart" uri="{CE6537A1-D6FC-4f65-9D91-7224C49458BB}"/>
                <c:ext xmlns:c16="http://schemas.microsoft.com/office/drawing/2014/chart" uri="{C3380CC4-5D6E-409C-BE32-E72D297353CC}">
                  <c16:uniqueId val="{00000007-301F-41DF-8C47-A68B64EE8104}"/>
                </c:ext>
              </c:extLst>
            </c:dLbl>
            <c:dLbl>
              <c:idx val="12"/>
              <c:layout>
                <c:manualLayout>
                  <c:x val="0"/>
                  <c:y val="-0.11471364698250555"/>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2FF-417C-8295-D78A72E1E665}"/>
                </c:ext>
              </c:extLst>
            </c:dLbl>
            <c:spPr>
              <a:solidFill>
                <a:srgbClr val="FFC000"/>
              </a:solidFill>
              <a:ln>
                <a:noFill/>
              </a:ln>
              <a:effectLst/>
            </c:sp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A'!$B$3:$B$26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A'!$G$3:$G$26</c:f>
              <c:numCache>
                <c:formatCode>0.00</c:formatCode>
                <c:ptCount val="13"/>
                <c:pt idx="0">
                  <c:v>4.7983825991721627</c:v>
                </c:pt>
                <c:pt idx="1">
                  <c:v>4.7983825991721627</c:v>
                </c:pt>
                <c:pt idx="2">
                  <c:v>4.7983825991721627</c:v>
                </c:pt>
                <c:pt idx="3">
                  <c:v>4.7983825991721627</c:v>
                </c:pt>
                <c:pt idx="4">
                  <c:v>4.7983825991721627</c:v>
                </c:pt>
                <c:pt idx="5">
                  <c:v>4.7983825991721627</c:v>
                </c:pt>
                <c:pt idx="6">
                  <c:v>0.52004559491059077</c:v>
                </c:pt>
                <c:pt idx="7">
                  <c:v>0.52004559491059077</c:v>
                </c:pt>
                <c:pt idx="8">
                  <c:v>0.52004559491059077</c:v>
                </c:pt>
                <c:pt idx="9">
                  <c:v>0.52004559491059077</c:v>
                </c:pt>
                <c:pt idx="10">
                  <c:v>0.52004559491059077</c:v>
                </c:pt>
                <c:pt idx="11">
                  <c:v>0.52004559491059077</c:v>
                </c:pt>
                <c:pt idx="12">
                  <c:v>0.52004559491059077</c:v>
                </c:pt>
              </c:numCache>
            </c:numRef>
          </c:val>
          <c:smooth val="0"/>
          <c:extLst>
            <c:ext xmlns:c16="http://schemas.microsoft.com/office/drawing/2014/chart" uri="{C3380CC4-5D6E-409C-BE32-E72D297353CC}">
              <c16:uniqueId val="{00000008-301F-41DF-8C47-A68B64EE8104}"/>
            </c:ext>
          </c:extLst>
        </c:ser>
        <c:ser>
          <c:idx val="4"/>
          <c:order val="4"/>
          <c:spPr>
            <a:ln w="25400">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2FF-417C-8295-D78A72E1E665}"/>
                </c:ext>
              </c:extLst>
            </c:dLbl>
            <c:dLbl>
              <c:idx val="12"/>
              <c:layout>
                <c:manualLayout>
                  <c:x val="0"/>
                  <c:y val="-0.156427700430689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2FF-417C-8295-D78A72E1E665}"/>
                </c:ext>
              </c:extLst>
            </c:dLbl>
            <c:spPr>
              <a:solidFill>
                <a:srgbClr val="FF0000"/>
              </a:solid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A'!$B$3:$B$26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A'!$H$3:$H$26</c:f>
              <c:numCache>
                <c:formatCode>0.00</c:formatCode>
                <c:ptCount val="13"/>
                <c:pt idx="0">
                  <c:v>5.7352480309832883</c:v>
                </c:pt>
                <c:pt idx="1">
                  <c:v>5.7352480309832883</c:v>
                </c:pt>
                <c:pt idx="2">
                  <c:v>5.7352480309832883</c:v>
                </c:pt>
                <c:pt idx="3">
                  <c:v>5.7352480309832883</c:v>
                </c:pt>
                <c:pt idx="4">
                  <c:v>5.7352480309832883</c:v>
                </c:pt>
                <c:pt idx="5">
                  <c:v>5.7352480309832883</c:v>
                </c:pt>
                <c:pt idx="6">
                  <c:v>0.70342359501473029</c:v>
                </c:pt>
                <c:pt idx="7">
                  <c:v>0.70342359501473029</c:v>
                </c:pt>
                <c:pt idx="8">
                  <c:v>0.70342359501473029</c:v>
                </c:pt>
                <c:pt idx="9">
                  <c:v>0.70342359501473029</c:v>
                </c:pt>
                <c:pt idx="10">
                  <c:v>0.70342359501473029</c:v>
                </c:pt>
                <c:pt idx="11">
                  <c:v>0.70342359501473029</c:v>
                </c:pt>
                <c:pt idx="12">
                  <c:v>0.70342359501473029</c:v>
                </c:pt>
              </c:numCache>
            </c:numRef>
          </c:val>
          <c:smooth val="0"/>
          <c:extLst>
            <c:ext xmlns:c16="http://schemas.microsoft.com/office/drawing/2014/chart" uri="{C3380CC4-5D6E-409C-BE32-E72D297353CC}">
              <c16:uniqueId val="{0000000A-301F-41DF-8C47-A68B64EE8104}"/>
            </c:ext>
          </c:extLst>
        </c:ser>
        <c:ser>
          <c:idx val="5"/>
          <c:order val="5"/>
          <c:spPr>
            <a:ln w="25400">
              <a:solidFill>
                <a:srgbClr val="339933"/>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2FF-417C-8295-D78A72E1E665}"/>
                </c:ext>
              </c:extLst>
            </c:dLbl>
            <c:dLbl>
              <c:idx val="9"/>
              <c:delete val="1"/>
              <c:extLst>
                <c:ext xmlns:c15="http://schemas.microsoft.com/office/drawing/2012/chart" uri="{CE6537A1-D6FC-4f65-9D91-7224C49458BB}"/>
                <c:ext xmlns:c16="http://schemas.microsoft.com/office/drawing/2014/chart" uri="{C3380CC4-5D6E-409C-BE32-E72D297353CC}">
                  <c16:uniqueId val="{0000000B-301F-41DF-8C47-A68B64EE8104}"/>
                </c:ext>
              </c:extLst>
            </c:dLbl>
            <c:dLbl>
              <c:idx val="12"/>
              <c:layout>
                <c:manualLayout>
                  <c:x val="0"/>
                  <c:y val="-5.459533508058256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2FF-417C-8295-D78A72E1E665}"/>
                </c:ext>
              </c:extLst>
            </c:dLbl>
            <c:spPr>
              <a:solidFill>
                <a:srgbClr val="00B050"/>
              </a:solidFill>
              <a:ln>
                <a:noFill/>
              </a:ln>
              <a:effectLst/>
            </c:sp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A'!$B$3:$B$26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A'!$I$3:$I$26</c:f>
              <c:numCache>
                <c:formatCode>0.00</c:formatCode>
                <c:ptCount val="13"/>
                <c:pt idx="0">
                  <c:v>2.9246517355499115</c:v>
                </c:pt>
                <c:pt idx="1">
                  <c:v>2.9246517355499115</c:v>
                </c:pt>
                <c:pt idx="2">
                  <c:v>2.9246517355499115</c:v>
                </c:pt>
                <c:pt idx="3">
                  <c:v>2.9246517355499115</c:v>
                </c:pt>
                <c:pt idx="4">
                  <c:v>2.9246517355499115</c:v>
                </c:pt>
                <c:pt idx="5">
                  <c:v>2.9246517355499115</c:v>
                </c:pt>
                <c:pt idx="6">
                  <c:v>0.14562511496719602</c:v>
                </c:pt>
                <c:pt idx="7">
                  <c:v>0.14562511496719602</c:v>
                </c:pt>
                <c:pt idx="8">
                  <c:v>0.14562511496719602</c:v>
                </c:pt>
                <c:pt idx="9">
                  <c:v>0.14562511496719602</c:v>
                </c:pt>
                <c:pt idx="10">
                  <c:v>0.14562511496719602</c:v>
                </c:pt>
                <c:pt idx="11">
                  <c:v>0.14562511496719602</c:v>
                </c:pt>
                <c:pt idx="12">
                  <c:v>0.14562511496719602</c:v>
                </c:pt>
              </c:numCache>
            </c:numRef>
          </c:val>
          <c:smooth val="0"/>
          <c:extLst>
            <c:ext xmlns:c16="http://schemas.microsoft.com/office/drawing/2014/chart" uri="{C3380CC4-5D6E-409C-BE32-E72D297353CC}">
              <c16:uniqueId val="{0000000C-301F-41DF-8C47-A68B64EE8104}"/>
            </c:ext>
          </c:extLst>
        </c:ser>
        <c:dLbls>
          <c:showLegendKey val="0"/>
          <c:showVal val="1"/>
          <c:showCatName val="0"/>
          <c:showSerName val="0"/>
          <c:showPercent val="0"/>
          <c:showBubbleSize val="0"/>
        </c:dLbls>
        <c:marker val="1"/>
        <c:smooth val="0"/>
        <c:axId val="454651656"/>
        <c:axId val="454651264"/>
      </c:lineChart>
      <c:catAx>
        <c:axId val="454651656"/>
        <c:scaling>
          <c:orientation val="minMax"/>
        </c:scaling>
        <c:delete val="0"/>
        <c:axPos val="b"/>
        <c:numFmt formatCode="General" sourceLinked="0"/>
        <c:majorTickMark val="none"/>
        <c:minorTickMark val="none"/>
        <c:tickLblPos val="nextTo"/>
        <c:crossAx val="454651264"/>
        <c:crosses val="autoZero"/>
        <c:auto val="1"/>
        <c:lblAlgn val="ctr"/>
        <c:lblOffset val="100"/>
        <c:noMultiLvlLbl val="0"/>
      </c:catAx>
      <c:valAx>
        <c:axId val="454651264"/>
        <c:scaling>
          <c:orientation val="minMax"/>
        </c:scaling>
        <c:delete val="1"/>
        <c:axPos val="l"/>
        <c:numFmt formatCode="General" sourceLinked="1"/>
        <c:majorTickMark val="out"/>
        <c:minorTickMark val="none"/>
        <c:tickLblPos val="nextTo"/>
        <c:crossAx val="454651656"/>
        <c:crosses val="autoZero"/>
        <c:crossBetween val="between"/>
      </c:valAx>
    </c:plotArea>
    <c:plotVisOnly val="1"/>
    <c:dispBlanksAs val="gap"/>
    <c:showDLblsOverMax val="0"/>
  </c:chart>
  <c:spPr>
    <a:ln w="6350">
      <a:solidFill>
        <a:sysClr val="windowText" lastClr="000000"/>
      </a:solidFill>
    </a:ln>
  </c:spPr>
  <c:txPr>
    <a:bodyPr/>
    <a:lstStyle/>
    <a:p>
      <a:pPr>
        <a:defRPr sz="800" b="1">
          <a:latin typeface="Times New Roman" panose="02020603050405020304" pitchFamily="18" charset="0"/>
          <a:cs typeface="Times New Roman" panose="02020603050405020304" pitchFamily="18" charset="0"/>
        </a:defRPr>
      </a:pPr>
      <a:endParaRPr lang="en-US"/>
    </a:p>
  </c:tx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405492589058861E-2"/>
          <c:y val="2.5636498827477074E-2"/>
          <c:w val="0.96363823768567403"/>
          <c:h val="0.88813852591402775"/>
        </c:manualLayout>
      </c:layout>
      <c:barChart>
        <c:barDir val="col"/>
        <c:grouping val="clustered"/>
        <c:varyColors val="0"/>
        <c:ser>
          <c:idx val="0"/>
          <c:order val="0"/>
          <c:invertIfNegative val="0"/>
          <c:dLbls>
            <c:spPr>
              <a:solidFill>
                <a:schemeClr val="accent4">
                  <a:lumMod val="40000"/>
                  <a:lumOff val="60000"/>
                </a:schemeClr>
              </a:solidFill>
            </c:sp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'MOR sự cố C'!$B$3:$B$26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C'!$D$3:$D$26</c:f>
              <c:numCache>
                <c:formatCode>General</c:formatCode>
                <c:ptCount val="13"/>
                <c:pt idx="0">
                  <c:v>0</c:v>
                </c:pt>
                <c:pt idx="1">
                  <c:v>0</c:v>
                </c:pt>
                <c:pt idx="2">
                  <c:v>0</c:v>
                </c:pt>
                <c:pt idx="3">
                  <c:v>0</c:v>
                </c:pt>
                <c:pt idx="4">
                  <c:v>0</c:v>
                </c:pt>
                <c:pt idx="5">
                  <c:v>0</c:v>
                </c:pt>
                <c:pt idx="6">
                  <c:v>0</c:v>
                </c:pt>
                <c:pt idx="7">
                  <c:v>0</c:v>
                </c:pt>
                <c:pt idx="8">
                  <c:v>0</c:v>
                </c:pt>
                <c:pt idx="9">
                  <c:v>0</c:v>
                </c:pt>
                <c:pt idx="10">
                  <c:v>0</c:v>
                </c:pt>
                <c:pt idx="11">
                  <c:v>0</c:v>
                </c:pt>
                <c:pt idx="12">
                  <c:v>0</c:v>
                </c:pt>
              </c:numCache>
            </c:numRef>
          </c:val>
          <c:extLst>
            <c:ext xmlns:c16="http://schemas.microsoft.com/office/drawing/2014/chart" uri="{C3380CC4-5D6E-409C-BE32-E72D297353CC}">
              <c16:uniqueId val="{00000000-0019-4BD9-BE90-14525FB07076}"/>
            </c:ext>
          </c:extLst>
        </c:ser>
        <c:dLbls>
          <c:showLegendKey val="0"/>
          <c:showVal val="0"/>
          <c:showCatName val="0"/>
          <c:showSerName val="0"/>
          <c:showPercent val="0"/>
          <c:showBubbleSize val="0"/>
        </c:dLbls>
        <c:gapWidth val="150"/>
        <c:axId val="454651656"/>
        <c:axId val="454651264"/>
      </c:barChart>
      <c:lineChart>
        <c:grouping val="standard"/>
        <c:varyColors val="0"/>
        <c:ser>
          <c:idx val="1"/>
          <c:order val="1"/>
          <c:spPr>
            <a:ln w="28575">
              <a:solidFill>
                <a:srgbClr val="7030A0"/>
              </a:solidFill>
            </a:ln>
          </c:spPr>
          <c:marker>
            <c:symbol val="none"/>
          </c:marker>
          <c:dLbls>
            <c:delete val="1"/>
          </c:dLbls>
          <c:cat>
            <c:strRef>
              <c:f>'MOR sự cố C'!$B$3:$B$26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C'!$E$3:$E$26</c:f>
              <c:numCache>
                <c:formatCode>0.00</c:formatCode>
                <c:ptCount val="13"/>
                <c:pt idx="0">
                  <c:v>0</c:v>
                </c:pt>
                <c:pt idx="1">
                  <c:v>0</c:v>
                </c:pt>
                <c:pt idx="2">
                  <c:v>0</c:v>
                </c:pt>
                <c:pt idx="3">
                  <c:v>0</c:v>
                </c:pt>
                <c:pt idx="4">
                  <c:v>0</c:v>
                </c:pt>
                <c:pt idx="5">
                  <c:v>0</c:v>
                </c:pt>
                <c:pt idx="6">
                  <c:v>0</c:v>
                </c:pt>
                <c:pt idx="7">
                  <c:v>0</c:v>
                </c:pt>
                <c:pt idx="8">
                  <c:v>0</c:v>
                </c:pt>
                <c:pt idx="9">
                  <c:v>0</c:v>
                </c:pt>
                <c:pt idx="10">
                  <c:v>0</c:v>
                </c:pt>
                <c:pt idx="11">
                  <c:v>0</c:v>
                </c:pt>
                <c:pt idx="12">
                  <c:v>0</c:v>
                </c:pt>
              </c:numCache>
            </c:numRef>
          </c:val>
          <c:smooth val="0"/>
          <c:extLst>
            <c:ext xmlns:c16="http://schemas.microsoft.com/office/drawing/2014/chart" uri="{C3380CC4-5D6E-409C-BE32-E72D297353CC}">
              <c16:uniqueId val="{00000004-0019-4BD9-BE90-14525FB07076}"/>
            </c:ext>
          </c:extLst>
        </c:ser>
        <c:ser>
          <c:idx val="2"/>
          <c:order val="2"/>
          <c:spPr>
            <a:ln w="25400">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A83-4970-A5B3-445D4B63A082}"/>
                </c:ext>
              </c:extLst>
            </c:dLbl>
            <c:dLbl>
              <c:idx val="9"/>
              <c:layout>
                <c:manualLayout>
                  <c:x val="0.21127426872797711"/>
                  <c:y val="-0.12638685888199777"/>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019-4BD9-BE90-14525FB07076}"/>
                </c:ext>
              </c:extLst>
            </c:dLbl>
            <c:spPr>
              <a:solidFill>
                <a:srgbClr val="00B0F0"/>
              </a:solidFill>
              <a:ln>
                <a:noFill/>
              </a:ln>
              <a:effectLst/>
            </c:sp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C'!$B$3:$B$26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C'!$F$3:$F$26</c:f>
              <c:numCache>
                <c:formatCode>0.00</c:formatCode>
                <c:ptCount val="13"/>
                <c:pt idx="0">
                  <c:v>3.8615171673610371</c:v>
                </c:pt>
                <c:pt idx="1">
                  <c:v>3.8615171673610371</c:v>
                </c:pt>
                <c:pt idx="2">
                  <c:v>3.8615171673610371</c:v>
                </c:pt>
                <c:pt idx="3">
                  <c:v>3.8615171673610371</c:v>
                </c:pt>
                <c:pt idx="4">
                  <c:v>3.8615171673610371</c:v>
                </c:pt>
                <c:pt idx="5">
                  <c:v>3.8615171673610371</c:v>
                </c:pt>
                <c:pt idx="6">
                  <c:v>0.33666759480645114</c:v>
                </c:pt>
                <c:pt idx="7">
                  <c:v>0.33666759480645114</c:v>
                </c:pt>
                <c:pt idx="8">
                  <c:v>0.33666759480645114</c:v>
                </c:pt>
                <c:pt idx="9">
                  <c:v>0.33666759480645114</c:v>
                </c:pt>
                <c:pt idx="10">
                  <c:v>0.33666759480645114</c:v>
                </c:pt>
                <c:pt idx="11">
                  <c:v>0.33666759480645114</c:v>
                </c:pt>
                <c:pt idx="12">
                  <c:v>0.33666759480645114</c:v>
                </c:pt>
              </c:numCache>
            </c:numRef>
          </c:val>
          <c:smooth val="0"/>
          <c:extLst>
            <c:ext xmlns:c16="http://schemas.microsoft.com/office/drawing/2014/chart" uri="{C3380CC4-5D6E-409C-BE32-E72D297353CC}">
              <c16:uniqueId val="{00000006-0019-4BD9-BE90-14525FB07076}"/>
            </c:ext>
          </c:extLst>
        </c:ser>
        <c:ser>
          <c:idx val="3"/>
          <c:order val="3"/>
          <c:spPr>
            <a:ln w="25400">
              <a:solidFill>
                <a:srgbClr val="FFC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A83-4970-A5B3-445D4B63A082}"/>
                </c:ext>
              </c:extLst>
            </c:dLbl>
            <c:dLbl>
              <c:idx val="9"/>
              <c:layout>
                <c:manualLayout>
                  <c:x val="0.21127426872797711"/>
                  <c:y val="-0.1648524246286926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019-4BD9-BE90-14525FB07076}"/>
                </c:ext>
              </c:extLst>
            </c:dLbl>
            <c:spPr>
              <a:solidFill>
                <a:srgbClr val="FFC000"/>
              </a:solidFill>
              <a:ln>
                <a:noFill/>
              </a:ln>
              <a:effectLst/>
            </c:sp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C'!$B$3:$B$26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C'!$G$3:$G$26</c:f>
              <c:numCache>
                <c:formatCode>0.00</c:formatCode>
                <c:ptCount val="13"/>
                <c:pt idx="0">
                  <c:v>4.7983825991721627</c:v>
                </c:pt>
                <c:pt idx="1">
                  <c:v>4.7983825991721627</c:v>
                </c:pt>
                <c:pt idx="2">
                  <c:v>4.7983825991721627</c:v>
                </c:pt>
                <c:pt idx="3">
                  <c:v>4.7983825991721627</c:v>
                </c:pt>
                <c:pt idx="4">
                  <c:v>4.7983825991721627</c:v>
                </c:pt>
                <c:pt idx="5">
                  <c:v>4.7983825991721627</c:v>
                </c:pt>
                <c:pt idx="6">
                  <c:v>0.52004559491059077</c:v>
                </c:pt>
                <c:pt idx="7">
                  <c:v>0.52004559491059077</c:v>
                </c:pt>
                <c:pt idx="8">
                  <c:v>0.52004559491059077</c:v>
                </c:pt>
                <c:pt idx="9">
                  <c:v>0.52004559491059077</c:v>
                </c:pt>
                <c:pt idx="10">
                  <c:v>0.52004559491059077</c:v>
                </c:pt>
                <c:pt idx="11">
                  <c:v>0.52004559491059077</c:v>
                </c:pt>
                <c:pt idx="12">
                  <c:v>0.52004559491059077</c:v>
                </c:pt>
              </c:numCache>
            </c:numRef>
          </c:val>
          <c:smooth val="0"/>
          <c:extLst>
            <c:ext xmlns:c16="http://schemas.microsoft.com/office/drawing/2014/chart" uri="{C3380CC4-5D6E-409C-BE32-E72D297353CC}">
              <c16:uniqueId val="{00000008-0019-4BD9-BE90-14525FB07076}"/>
            </c:ext>
          </c:extLst>
        </c:ser>
        <c:ser>
          <c:idx val="4"/>
          <c:order val="4"/>
          <c:spPr>
            <a:ln w="25400">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A83-4970-A5B3-445D4B63A082}"/>
                </c:ext>
              </c:extLst>
            </c:dLbl>
            <c:dLbl>
              <c:idx val="9"/>
              <c:layout>
                <c:manualLayout>
                  <c:x val="0.21127426872797711"/>
                  <c:y val="-0.2143081520173004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0019-4BD9-BE90-14525FB07076}"/>
                </c:ext>
              </c:extLst>
            </c:dLbl>
            <c:spPr>
              <a:solidFill>
                <a:srgbClr val="FF0000"/>
              </a:solid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C'!$B$3:$B$26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C'!$H$3:$H$26</c:f>
              <c:numCache>
                <c:formatCode>0.00</c:formatCode>
                <c:ptCount val="13"/>
                <c:pt idx="0">
                  <c:v>5.7352480309832883</c:v>
                </c:pt>
                <c:pt idx="1">
                  <c:v>5.7352480309832883</c:v>
                </c:pt>
                <c:pt idx="2">
                  <c:v>5.7352480309832883</c:v>
                </c:pt>
                <c:pt idx="3">
                  <c:v>5.7352480309832883</c:v>
                </c:pt>
                <c:pt idx="4">
                  <c:v>5.7352480309832883</c:v>
                </c:pt>
                <c:pt idx="5">
                  <c:v>5.7352480309832883</c:v>
                </c:pt>
                <c:pt idx="6">
                  <c:v>0.70342359501473029</c:v>
                </c:pt>
                <c:pt idx="7">
                  <c:v>0.70342359501473029</c:v>
                </c:pt>
                <c:pt idx="8">
                  <c:v>0.70342359501473029</c:v>
                </c:pt>
                <c:pt idx="9">
                  <c:v>0.70342359501473029</c:v>
                </c:pt>
                <c:pt idx="10">
                  <c:v>0.70342359501473029</c:v>
                </c:pt>
                <c:pt idx="11">
                  <c:v>0.70342359501473029</c:v>
                </c:pt>
                <c:pt idx="12">
                  <c:v>0.70342359501473029</c:v>
                </c:pt>
              </c:numCache>
            </c:numRef>
          </c:val>
          <c:smooth val="0"/>
          <c:extLst>
            <c:ext xmlns:c16="http://schemas.microsoft.com/office/drawing/2014/chart" uri="{C3380CC4-5D6E-409C-BE32-E72D297353CC}">
              <c16:uniqueId val="{0000000A-0019-4BD9-BE90-14525FB07076}"/>
            </c:ext>
          </c:extLst>
        </c:ser>
        <c:ser>
          <c:idx val="5"/>
          <c:order val="5"/>
          <c:spPr>
            <a:ln w="25400">
              <a:solidFill>
                <a:srgbClr val="339933"/>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A83-4970-A5B3-445D4B63A082}"/>
                </c:ext>
              </c:extLst>
            </c:dLbl>
            <c:dLbl>
              <c:idx val="9"/>
              <c:layout>
                <c:manualLayout>
                  <c:x val="0.21127426872797711"/>
                  <c:y val="-8.792129313530273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0019-4BD9-BE90-14525FB07076}"/>
                </c:ext>
              </c:extLst>
            </c:dLbl>
            <c:spPr>
              <a:solidFill>
                <a:srgbClr val="00B050"/>
              </a:solidFill>
              <a:ln>
                <a:noFill/>
              </a:ln>
              <a:effectLst/>
            </c:sp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C'!$B$3:$B$26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C'!$I$3:$I$26</c:f>
              <c:numCache>
                <c:formatCode>0.00</c:formatCode>
                <c:ptCount val="13"/>
                <c:pt idx="0">
                  <c:v>2.9246517355499115</c:v>
                </c:pt>
                <c:pt idx="1">
                  <c:v>2.9246517355499115</c:v>
                </c:pt>
                <c:pt idx="2">
                  <c:v>2.9246517355499115</c:v>
                </c:pt>
                <c:pt idx="3">
                  <c:v>2.9246517355499115</c:v>
                </c:pt>
                <c:pt idx="4">
                  <c:v>2.9246517355499115</c:v>
                </c:pt>
                <c:pt idx="5">
                  <c:v>2.9246517355499115</c:v>
                </c:pt>
                <c:pt idx="6">
                  <c:v>0.14562511496719602</c:v>
                </c:pt>
                <c:pt idx="7">
                  <c:v>0.14562511496719602</c:v>
                </c:pt>
                <c:pt idx="8">
                  <c:v>0.14562511496719602</c:v>
                </c:pt>
                <c:pt idx="9">
                  <c:v>0.14562511496719602</c:v>
                </c:pt>
                <c:pt idx="10">
                  <c:v>0.14562511496719602</c:v>
                </c:pt>
                <c:pt idx="11">
                  <c:v>0.14562511496719602</c:v>
                </c:pt>
                <c:pt idx="12">
                  <c:v>0.14562511496719602</c:v>
                </c:pt>
              </c:numCache>
            </c:numRef>
          </c:val>
          <c:smooth val="0"/>
          <c:extLst>
            <c:ext xmlns:c16="http://schemas.microsoft.com/office/drawing/2014/chart" uri="{C3380CC4-5D6E-409C-BE32-E72D297353CC}">
              <c16:uniqueId val="{0000000C-0019-4BD9-BE90-14525FB07076}"/>
            </c:ext>
          </c:extLst>
        </c:ser>
        <c:dLbls>
          <c:showLegendKey val="0"/>
          <c:showVal val="1"/>
          <c:showCatName val="0"/>
          <c:showSerName val="0"/>
          <c:showPercent val="0"/>
          <c:showBubbleSize val="0"/>
        </c:dLbls>
        <c:marker val="1"/>
        <c:smooth val="0"/>
        <c:axId val="454651656"/>
        <c:axId val="454651264"/>
      </c:lineChart>
      <c:catAx>
        <c:axId val="454651656"/>
        <c:scaling>
          <c:orientation val="minMax"/>
        </c:scaling>
        <c:delete val="0"/>
        <c:axPos val="b"/>
        <c:numFmt formatCode="General" sourceLinked="0"/>
        <c:majorTickMark val="none"/>
        <c:minorTickMark val="none"/>
        <c:tickLblPos val="nextTo"/>
        <c:crossAx val="454651264"/>
        <c:crosses val="autoZero"/>
        <c:auto val="1"/>
        <c:lblAlgn val="ctr"/>
        <c:lblOffset val="100"/>
        <c:noMultiLvlLbl val="0"/>
      </c:catAx>
      <c:valAx>
        <c:axId val="454651264"/>
        <c:scaling>
          <c:orientation val="minMax"/>
        </c:scaling>
        <c:delete val="1"/>
        <c:axPos val="l"/>
        <c:numFmt formatCode="General" sourceLinked="1"/>
        <c:majorTickMark val="out"/>
        <c:minorTickMark val="none"/>
        <c:tickLblPos val="nextTo"/>
        <c:crossAx val="454651656"/>
        <c:crosses val="autoZero"/>
        <c:crossBetween val="between"/>
      </c:valAx>
    </c:plotArea>
    <c:plotVisOnly val="1"/>
    <c:dispBlanksAs val="gap"/>
    <c:showDLblsOverMax val="0"/>
  </c:chart>
  <c:spPr>
    <a:ln w="6350">
      <a:solidFill>
        <a:sysClr val="windowText" lastClr="000000"/>
      </a:solidFill>
    </a:ln>
  </c:spPr>
  <c:txPr>
    <a:bodyPr/>
    <a:lstStyle/>
    <a:p>
      <a:pPr>
        <a:defRPr sz="800" b="1">
          <a:latin typeface="Times New Roman" panose="02020603050405020304" pitchFamily="18" charset="0"/>
          <a:cs typeface="Times New Roman" panose="02020603050405020304" pitchFamily="18"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405492589058861E-2"/>
          <c:y val="2.5636498827477074E-2"/>
          <c:w val="0.96363823768567403"/>
          <c:h val="0.88813852591402775"/>
        </c:manualLayout>
      </c:layout>
      <c:barChart>
        <c:barDir val="col"/>
        <c:grouping val="clustered"/>
        <c:varyColors val="0"/>
        <c:ser>
          <c:idx val="0"/>
          <c:order val="0"/>
          <c:invertIfNegative val="0"/>
          <c:dLbls>
            <c:spPr>
              <a:solidFill>
                <a:schemeClr val="accent4">
                  <a:lumMod val="40000"/>
                  <a:lumOff val="60000"/>
                </a:schemeClr>
              </a:solidFill>
            </c:sp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'MOR sự cố 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D'!$D$3:$D$26</c:f>
              <c:numCache>
                <c:formatCode>General</c:formatCode>
                <c:ptCount val="13"/>
                <c:pt idx="0">
                  <c:v>0</c:v>
                </c:pt>
                <c:pt idx="1">
                  <c:v>0</c:v>
                </c:pt>
                <c:pt idx="2">
                  <c:v>0</c:v>
                </c:pt>
                <c:pt idx="3">
                  <c:v>0</c:v>
                </c:pt>
                <c:pt idx="4">
                  <c:v>1</c:v>
                </c:pt>
                <c:pt idx="5">
                  <c:v>1</c:v>
                </c:pt>
                <c:pt idx="6">
                  <c:v>1</c:v>
                </c:pt>
                <c:pt idx="7">
                  <c:v>0</c:v>
                </c:pt>
                <c:pt idx="8">
                  <c:v>0</c:v>
                </c:pt>
                <c:pt idx="9">
                  <c:v>2</c:v>
                </c:pt>
                <c:pt idx="10">
                  <c:v>2</c:v>
                </c:pt>
                <c:pt idx="11">
                  <c:v>0</c:v>
                </c:pt>
                <c:pt idx="12">
                  <c:v>1</c:v>
                </c:pt>
              </c:numCache>
            </c:numRef>
          </c:val>
          <c:extLst>
            <c:ext xmlns:c16="http://schemas.microsoft.com/office/drawing/2014/chart" uri="{C3380CC4-5D6E-409C-BE32-E72D297353CC}">
              <c16:uniqueId val="{00000000-DF00-4D4D-AB67-6A75052D4868}"/>
            </c:ext>
          </c:extLst>
        </c:ser>
        <c:dLbls>
          <c:showLegendKey val="0"/>
          <c:showVal val="0"/>
          <c:showCatName val="0"/>
          <c:showSerName val="0"/>
          <c:showPercent val="0"/>
          <c:showBubbleSize val="0"/>
        </c:dLbls>
        <c:gapWidth val="150"/>
        <c:axId val="454651656"/>
        <c:axId val="454651264"/>
      </c:barChart>
      <c:lineChart>
        <c:grouping val="standard"/>
        <c:varyColors val="0"/>
        <c:ser>
          <c:idx val="1"/>
          <c:order val="1"/>
          <c:spPr>
            <a:ln w="28575">
              <a:solidFill>
                <a:srgbClr val="7030A0"/>
              </a:solidFill>
            </a:ln>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4-A584-4E96-BE64-D0EAB13D6091}"/>
                </c:ext>
              </c:extLst>
            </c:dLbl>
            <c:dLbl>
              <c:idx val="1"/>
              <c:delete val="1"/>
              <c:extLst>
                <c:ext xmlns:c15="http://schemas.microsoft.com/office/drawing/2012/chart" uri="{CE6537A1-D6FC-4f65-9D91-7224C49458BB}"/>
                <c:ext xmlns:c16="http://schemas.microsoft.com/office/drawing/2014/chart" uri="{C3380CC4-5D6E-409C-BE32-E72D297353CC}">
                  <c16:uniqueId val="{00000005-A584-4E96-BE64-D0EAB13D6091}"/>
                </c:ext>
              </c:extLst>
            </c:dLbl>
            <c:dLbl>
              <c:idx val="2"/>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01-DF00-4D4D-AB67-6A75052D4868}"/>
                </c:ext>
              </c:extLst>
            </c:dLbl>
            <c:dLbl>
              <c:idx val="3"/>
              <c:delete val="1"/>
              <c:extLst>
                <c:ext xmlns:c15="http://schemas.microsoft.com/office/drawing/2012/chart" uri="{CE6537A1-D6FC-4f65-9D91-7224C49458BB}"/>
                <c:ext xmlns:c16="http://schemas.microsoft.com/office/drawing/2014/chart" uri="{C3380CC4-5D6E-409C-BE32-E72D297353CC}">
                  <c16:uniqueId val="{00000006-A584-4E96-BE64-D0EAB13D6091}"/>
                </c:ext>
              </c:extLst>
            </c:dLbl>
            <c:dLbl>
              <c:idx val="6"/>
              <c:layout>
                <c:manualLayout>
                  <c:x val="-2.255107730225191E-2"/>
                  <c:y val="-0.1131986159325257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F00-4D4D-AB67-6A75052D4868}"/>
                </c:ext>
              </c:extLst>
            </c:dLbl>
            <c:dLbl>
              <c:idx val="7"/>
              <c:delete val="1"/>
              <c:extLst>
                <c:ext xmlns:c15="http://schemas.microsoft.com/office/drawing/2012/chart" uri="{CE6537A1-D6FC-4f65-9D91-7224C49458BB}"/>
                <c:ext xmlns:c16="http://schemas.microsoft.com/office/drawing/2014/chart" uri="{C3380CC4-5D6E-409C-BE32-E72D297353CC}">
                  <c16:uniqueId val="{00000007-A584-4E96-BE64-D0EAB13D6091}"/>
                </c:ext>
              </c:extLst>
            </c:dLbl>
            <c:dLbl>
              <c:idx val="8"/>
              <c:delete val="1"/>
              <c:extLst>
                <c:ext xmlns:c15="http://schemas.microsoft.com/office/drawing/2012/chart" uri="{CE6537A1-D6FC-4f65-9D91-7224C49458BB}"/>
                <c:ext xmlns:c16="http://schemas.microsoft.com/office/drawing/2014/chart" uri="{C3380CC4-5D6E-409C-BE32-E72D297353CC}">
                  <c16:uniqueId val="{00000008-A584-4E96-BE64-D0EAB13D6091}"/>
                </c:ext>
              </c:extLst>
            </c:dLbl>
            <c:dLbl>
              <c:idx val="10"/>
              <c:layout>
                <c:manualLayout>
                  <c:x val="-3.8469484809723946E-2"/>
                  <c:y val="-0.1077035374891992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A584-4E96-BE64-D0EAB13D6091}"/>
                </c:ext>
              </c:extLst>
            </c:dLbl>
            <c:dLbl>
              <c:idx val="11"/>
              <c:delete val="1"/>
              <c:extLst>
                <c:ext xmlns:c15="http://schemas.microsoft.com/office/drawing/2012/chart" uri="{CE6537A1-D6FC-4f65-9D91-7224C49458BB}"/>
                <c:ext xmlns:c16="http://schemas.microsoft.com/office/drawing/2014/chart" uri="{C3380CC4-5D6E-409C-BE32-E72D297353CC}">
                  <c16:uniqueId val="{00000009-A584-4E96-BE64-D0EAB13D6091}"/>
                </c:ext>
              </c:extLst>
            </c:dLbl>
            <c:dLbl>
              <c:idx val="12"/>
              <c:layout>
                <c:manualLayout>
                  <c:x val="-6.4978438078334866E-2"/>
                  <c:y val="-7.473306682924021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584-4E96-BE64-D0EAB13D6091}"/>
                </c:ext>
              </c:extLst>
            </c:dLbl>
            <c:spPr>
              <a:noFill/>
              <a:ln>
                <a:noFill/>
              </a:ln>
              <a:effectLst/>
            </c:sp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'MOR sự cố 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D'!$E$3:$E$26</c:f>
              <c:numCache>
                <c:formatCode>0.00</c:formatCode>
                <c:ptCount val="13"/>
                <c:pt idx="0">
                  <c:v>0</c:v>
                </c:pt>
                <c:pt idx="1">
                  <c:v>0</c:v>
                </c:pt>
                <c:pt idx="2">
                  <c:v>0</c:v>
                </c:pt>
                <c:pt idx="3">
                  <c:v>0</c:v>
                </c:pt>
                <c:pt idx="4">
                  <c:v>1.0088781275221954</c:v>
                </c:pt>
                <c:pt idx="5">
                  <c:v>0.8693384334521429</c:v>
                </c:pt>
                <c:pt idx="6">
                  <c:v>0.83347224537422904</c:v>
                </c:pt>
                <c:pt idx="7">
                  <c:v>0</c:v>
                </c:pt>
                <c:pt idx="8">
                  <c:v>0</c:v>
                </c:pt>
                <c:pt idx="9">
                  <c:v>1.7747803709290975</c:v>
                </c:pt>
                <c:pt idx="10">
                  <c:v>1.677993120228207</c:v>
                </c:pt>
                <c:pt idx="11">
                  <c:v>0</c:v>
                </c:pt>
                <c:pt idx="12">
                  <c:v>0.76899415564441709</c:v>
                </c:pt>
              </c:numCache>
            </c:numRef>
          </c:val>
          <c:smooth val="0"/>
          <c:extLst>
            <c:ext xmlns:c16="http://schemas.microsoft.com/office/drawing/2014/chart" uri="{C3380CC4-5D6E-409C-BE32-E72D297353CC}">
              <c16:uniqueId val="{00000004-DF00-4D4D-AB67-6A75052D4868}"/>
            </c:ext>
          </c:extLst>
        </c:ser>
        <c:ser>
          <c:idx val="2"/>
          <c:order val="2"/>
          <c:spPr>
            <a:ln w="25400">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584-4E96-BE64-D0EAB13D6091}"/>
                </c:ext>
              </c:extLst>
            </c:dLbl>
            <c:dLbl>
              <c:idx val="9"/>
              <c:layout>
                <c:manualLayout>
                  <c:x val="0.20959236551504717"/>
                  <c:y val="-0.2417834515063654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F00-4D4D-AB67-6A75052D4868}"/>
                </c:ext>
              </c:extLst>
            </c:dLbl>
            <c:spPr>
              <a:solidFill>
                <a:srgbClr val="00B0F0"/>
              </a:solidFill>
              <a:ln>
                <a:noFill/>
              </a:ln>
              <a:effectLst/>
            </c:sp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D'!$F$3:$F$26</c:f>
              <c:numCache>
                <c:formatCode>0.00</c:formatCode>
                <c:ptCount val="13"/>
                <c:pt idx="0">
                  <c:v>3.8615171673610371</c:v>
                </c:pt>
                <c:pt idx="1">
                  <c:v>3.8615171673610371</c:v>
                </c:pt>
                <c:pt idx="2">
                  <c:v>3.8615171673610371</c:v>
                </c:pt>
                <c:pt idx="3">
                  <c:v>3.8615171673610371</c:v>
                </c:pt>
                <c:pt idx="4">
                  <c:v>3.8615171673610371</c:v>
                </c:pt>
                <c:pt idx="5">
                  <c:v>3.8615171673610371</c:v>
                </c:pt>
                <c:pt idx="6">
                  <c:v>0.33666759480645114</c:v>
                </c:pt>
                <c:pt idx="7">
                  <c:v>0.33666759480645114</c:v>
                </c:pt>
                <c:pt idx="8">
                  <c:v>0.33666759480645114</c:v>
                </c:pt>
                <c:pt idx="9">
                  <c:v>0.33666759480645114</c:v>
                </c:pt>
                <c:pt idx="10">
                  <c:v>0.33666759480645114</c:v>
                </c:pt>
                <c:pt idx="11">
                  <c:v>0.33666759480645114</c:v>
                </c:pt>
                <c:pt idx="12">
                  <c:v>0.33666759480645114</c:v>
                </c:pt>
              </c:numCache>
            </c:numRef>
          </c:val>
          <c:smooth val="0"/>
          <c:extLst>
            <c:ext xmlns:c16="http://schemas.microsoft.com/office/drawing/2014/chart" uri="{C3380CC4-5D6E-409C-BE32-E72D297353CC}">
              <c16:uniqueId val="{00000006-DF00-4D4D-AB67-6A75052D4868}"/>
            </c:ext>
          </c:extLst>
        </c:ser>
        <c:ser>
          <c:idx val="3"/>
          <c:order val="3"/>
          <c:spPr>
            <a:ln w="25400">
              <a:solidFill>
                <a:srgbClr val="FFC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584-4E96-BE64-D0EAB13D6091}"/>
                </c:ext>
              </c:extLst>
            </c:dLbl>
            <c:dLbl>
              <c:idx val="9"/>
              <c:layout>
                <c:manualLayout>
                  <c:x val="0.20959236551504717"/>
                  <c:y val="-0.2747539221663243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DF00-4D4D-AB67-6A75052D4868}"/>
                </c:ext>
              </c:extLst>
            </c:dLbl>
            <c:spPr>
              <a:solidFill>
                <a:srgbClr val="FFC000"/>
              </a:solidFill>
              <a:ln>
                <a:noFill/>
              </a:ln>
              <a:effectLst/>
            </c:sp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D'!$G$3:$G$26</c:f>
              <c:numCache>
                <c:formatCode>0.00</c:formatCode>
                <c:ptCount val="13"/>
                <c:pt idx="0">
                  <c:v>4.7983825991721627</c:v>
                </c:pt>
                <c:pt idx="1">
                  <c:v>4.7983825991721627</c:v>
                </c:pt>
                <c:pt idx="2">
                  <c:v>4.7983825991721627</c:v>
                </c:pt>
                <c:pt idx="3">
                  <c:v>4.7983825991721627</c:v>
                </c:pt>
                <c:pt idx="4">
                  <c:v>4.7983825991721627</c:v>
                </c:pt>
                <c:pt idx="5">
                  <c:v>4.7983825991721627</c:v>
                </c:pt>
                <c:pt idx="6">
                  <c:v>0.52004559491059077</c:v>
                </c:pt>
                <c:pt idx="7">
                  <c:v>0.52004559491059077</c:v>
                </c:pt>
                <c:pt idx="8">
                  <c:v>0.52004559491059077</c:v>
                </c:pt>
                <c:pt idx="9">
                  <c:v>0.52004559491059077</c:v>
                </c:pt>
                <c:pt idx="10">
                  <c:v>0.52004559491059077</c:v>
                </c:pt>
                <c:pt idx="11">
                  <c:v>0.52004559491059077</c:v>
                </c:pt>
                <c:pt idx="12">
                  <c:v>0.52004559491059077</c:v>
                </c:pt>
              </c:numCache>
            </c:numRef>
          </c:val>
          <c:smooth val="0"/>
          <c:extLst>
            <c:ext xmlns:c16="http://schemas.microsoft.com/office/drawing/2014/chart" uri="{C3380CC4-5D6E-409C-BE32-E72D297353CC}">
              <c16:uniqueId val="{00000008-DF00-4D4D-AB67-6A75052D4868}"/>
            </c:ext>
          </c:extLst>
        </c:ser>
        <c:ser>
          <c:idx val="4"/>
          <c:order val="4"/>
          <c:spPr>
            <a:ln w="25400">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584-4E96-BE64-D0EAB13D6091}"/>
                </c:ext>
              </c:extLst>
            </c:dLbl>
            <c:dLbl>
              <c:idx val="9"/>
              <c:layout>
                <c:manualLayout>
                  <c:x val="0.20959236551504717"/>
                  <c:y val="-0.3242096281562628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DF00-4D4D-AB67-6A75052D4868}"/>
                </c:ext>
              </c:extLst>
            </c:dLbl>
            <c:spPr>
              <a:solidFill>
                <a:srgbClr val="FF0000"/>
              </a:solidFill>
              <a:ln>
                <a:noFill/>
              </a:ln>
              <a:effectLst/>
            </c:sp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D'!$H$3:$H$26</c:f>
              <c:numCache>
                <c:formatCode>0.00</c:formatCode>
                <c:ptCount val="13"/>
                <c:pt idx="0">
                  <c:v>5.7352480309832883</c:v>
                </c:pt>
                <c:pt idx="1">
                  <c:v>5.7352480309832883</c:v>
                </c:pt>
                <c:pt idx="2">
                  <c:v>5.7352480309832883</c:v>
                </c:pt>
                <c:pt idx="3">
                  <c:v>5.7352480309832883</c:v>
                </c:pt>
                <c:pt idx="4">
                  <c:v>5.7352480309832883</c:v>
                </c:pt>
                <c:pt idx="5">
                  <c:v>5.7352480309832883</c:v>
                </c:pt>
                <c:pt idx="6">
                  <c:v>0.70342359501473029</c:v>
                </c:pt>
                <c:pt idx="7">
                  <c:v>0.70342359501473029</c:v>
                </c:pt>
                <c:pt idx="8">
                  <c:v>0.70342359501473029</c:v>
                </c:pt>
                <c:pt idx="9">
                  <c:v>0.70342359501473029</c:v>
                </c:pt>
                <c:pt idx="10">
                  <c:v>0.70342359501473029</c:v>
                </c:pt>
                <c:pt idx="11">
                  <c:v>0.70342359501473029</c:v>
                </c:pt>
                <c:pt idx="12">
                  <c:v>0.70342359501473029</c:v>
                </c:pt>
              </c:numCache>
            </c:numRef>
          </c:val>
          <c:smooth val="0"/>
          <c:extLst>
            <c:ext xmlns:c16="http://schemas.microsoft.com/office/drawing/2014/chart" uri="{C3380CC4-5D6E-409C-BE32-E72D297353CC}">
              <c16:uniqueId val="{0000000A-DF00-4D4D-AB67-6A75052D4868}"/>
            </c:ext>
          </c:extLst>
        </c:ser>
        <c:ser>
          <c:idx val="5"/>
          <c:order val="5"/>
          <c:spPr>
            <a:ln w="25400">
              <a:solidFill>
                <a:srgbClr val="339933"/>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584-4E96-BE64-D0EAB13D6091}"/>
                </c:ext>
              </c:extLst>
            </c:dLbl>
            <c:dLbl>
              <c:idx val="9"/>
              <c:layout>
                <c:manualLayout>
                  <c:x val="0.20959236551504717"/>
                  <c:y val="-0.2033179024030800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DF00-4D4D-AB67-6A75052D4868}"/>
                </c:ext>
              </c:extLst>
            </c:dLbl>
            <c:spPr>
              <a:solidFill>
                <a:srgbClr val="00B050"/>
              </a:solidFill>
              <a:ln>
                <a:noFill/>
              </a:ln>
              <a:effectLst/>
            </c:sp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D'!$I$3:$I$26</c:f>
              <c:numCache>
                <c:formatCode>0.00</c:formatCode>
                <c:ptCount val="13"/>
                <c:pt idx="0">
                  <c:v>2.9246517355499115</c:v>
                </c:pt>
                <c:pt idx="1">
                  <c:v>2.9246517355499115</c:v>
                </c:pt>
                <c:pt idx="2">
                  <c:v>2.9246517355499115</c:v>
                </c:pt>
                <c:pt idx="3">
                  <c:v>2.9246517355499115</c:v>
                </c:pt>
                <c:pt idx="4">
                  <c:v>2.9246517355499115</c:v>
                </c:pt>
                <c:pt idx="5">
                  <c:v>2.9246517355499115</c:v>
                </c:pt>
                <c:pt idx="6">
                  <c:v>0.14562511496719602</c:v>
                </c:pt>
                <c:pt idx="7">
                  <c:v>0.14562511496719602</c:v>
                </c:pt>
                <c:pt idx="8">
                  <c:v>0.14562511496719602</c:v>
                </c:pt>
                <c:pt idx="9">
                  <c:v>0.14562511496719602</c:v>
                </c:pt>
                <c:pt idx="10">
                  <c:v>0.14562511496719602</c:v>
                </c:pt>
                <c:pt idx="11">
                  <c:v>0.14562511496719602</c:v>
                </c:pt>
                <c:pt idx="12">
                  <c:v>0.14562511496719602</c:v>
                </c:pt>
              </c:numCache>
            </c:numRef>
          </c:val>
          <c:smooth val="0"/>
          <c:extLst>
            <c:ext xmlns:c16="http://schemas.microsoft.com/office/drawing/2014/chart" uri="{C3380CC4-5D6E-409C-BE32-E72D297353CC}">
              <c16:uniqueId val="{0000000C-DF00-4D4D-AB67-6A75052D4868}"/>
            </c:ext>
          </c:extLst>
        </c:ser>
        <c:dLbls>
          <c:showLegendKey val="0"/>
          <c:showVal val="1"/>
          <c:showCatName val="0"/>
          <c:showSerName val="0"/>
          <c:showPercent val="0"/>
          <c:showBubbleSize val="0"/>
        </c:dLbls>
        <c:marker val="1"/>
        <c:smooth val="0"/>
        <c:axId val="454651656"/>
        <c:axId val="454651264"/>
      </c:lineChart>
      <c:catAx>
        <c:axId val="454651656"/>
        <c:scaling>
          <c:orientation val="minMax"/>
        </c:scaling>
        <c:delete val="0"/>
        <c:axPos val="b"/>
        <c:numFmt formatCode="General" sourceLinked="0"/>
        <c:majorTickMark val="none"/>
        <c:minorTickMark val="none"/>
        <c:tickLblPos val="nextTo"/>
        <c:crossAx val="454651264"/>
        <c:crosses val="autoZero"/>
        <c:auto val="1"/>
        <c:lblAlgn val="ctr"/>
        <c:lblOffset val="100"/>
        <c:noMultiLvlLbl val="0"/>
      </c:catAx>
      <c:valAx>
        <c:axId val="454651264"/>
        <c:scaling>
          <c:orientation val="minMax"/>
        </c:scaling>
        <c:delete val="1"/>
        <c:axPos val="l"/>
        <c:numFmt formatCode="General" sourceLinked="1"/>
        <c:majorTickMark val="out"/>
        <c:minorTickMark val="none"/>
        <c:tickLblPos val="nextTo"/>
        <c:crossAx val="454651656"/>
        <c:crosses val="autoZero"/>
        <c:crossBetween val="between"/>
      </c:valAx>
    </c:plotArea>
    <c:plotVisOnly val="1"/>
    <c:dispBlanksAs val="gap"/>
    <c:showDLblsOverMax val="0"/>
  </c:chart>
  <c:spPr>
    <a:ln w="6350">
      <a:solidFill>
        <a:sysClr val="windowText" lastClr="000000"/>
      </a:solidFill>
    </a:ln>
  </c:spPr>
  <c:txPr>
    <a:bodyPr/>
    <a:lstStyle/>
    <a:p>
      <a:pPr>
        <a:defRPr sz="800" b="1">
          <a:latin typeface="Times New Roman" panose="02020603050405020304" pitchFamily="18" charset="0"/>
          <a:cs typeface="Times New Roman" panose="02020603050405020304" pitchFamily="18" charset="0"/>
        </a:defRPr>
      </a:pPr>
      <a:endParaRPr lang="en-US"/>
    </a:p>
  </c:tx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405492589058861E-2"/>
          <c:y val="2.5636498827477074E-2"/>
          <c:w val="0.96363823768567403"/>
          <c:h val="0.88813852591402775"/>
        </c:manualLayout>
      </c:layout>
      <c:barChart>
        <c:barDir val="col"/>
        <c:grouping val="clustered"/>
        <c:varyColors val="0"/>
        <c:ser>
          <c:idx val="0"/>
          <c:order val="0"/>
          <c:invertIfNegative val="0"/>
          <c:dLbls>
            <c:dLbl>
              <c:idx val="12"/>
              <c:layout>
                <c:manualLayout>
                  <c:x val="-1.5508444979212171E-2"/>
                  <c:y val="5.214256681023075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1394-475F-9361-27DDC32CC78B}"/>
                </c:ext>
              </c:extLst>
            </c:dLbl>
            <c:spPr>
              <a:solidFill>
                <a:schemeClr val="accent4">
                  <a:lumMod val="40000"/>
                  <a:lumOff val="60000"/>
                </a:schemeClr>
              </a:solidFill>
            </c:sp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'MOR sự cố B'!$B$3:$B$26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B'!$D$3:$D$26</c:f>
              <c:numCache>
                <c:formatCode>General</c:formatCode>
                <c:ptCount val="13"/>
                <c:pt idx="0">
                  <c:v>0</c:v>
                </c:pt>
                <c:pt idx="1">
                  <c:v>0</c:v>
                </c:pt>
                <c:pt idx="2">
                  <c:v>0</c:v>
                </c:pt>
                <c:pt idx="3">
                  <c:v>0</c:v>
                </c:pt>
                <c:pt idx="4">
                  <c:v>0</c:v>
                </c:pt>
                <c:pt idx="5">
                  <c:v>0</c:v>
                </c:pt>
                <c:pt idx="6">
                  <c:v>0</c:v>
                </c:pt>
                <c:pt idx="7">
                  <c:v>0</c:v>
                </c:pt>
                <c:pt idx="8">
                  <c:v>0</c:v>
                </c:pt>
                <c:pt idx="9">
                  <c:v>0</c:v>
                </c:pt>
                <c:pt idx="10">
                  <c:v>0</c:v>
                </c:pt>
                <c:pt idx="11">
                  <c:v>0</c:v>
                </c:pt>
                <c:pt idx="12">
                  <c:v>0</c:v>
                </c:pt>
              </c:numCache>
            </c:numRef>
          </c:val>
          <c:extLst>
            <c:ext xmlns:c16="http://schemas.microsoft.com/office/drawing/2014/chart" uri="{C3380CC4-5D6E-409C-BE32-E72D297353CC}">
              <c16:uniqueId val="{00000000-1394-475F-9361-27DDC32CC78B}"/>
            </c:ext>
          </c:extLst>
        </c:ser>
        <c:dLbls>
          <c:showLegendKey val="0"/>
          <c:showVal val="0"/>
          <c:showCatName val="0"/>
          <c:showSerName val="0"/>
          <c:showPercent val="0"/>
          <c:showBubbleSize val="0"/>
        </c:dLbls>
        <c:gapWidth val="150"/>
        <c:axId val="454651656"/>
        <c:axId val="454651264"/>
      </c:barChart>
      <c:lineChart>
        <c:grouping val="standard"/>
        <c:varyColors val="0"/>
        <c:ser>
          <c:idx val="1"/>
          <c:order val="1"/>
          <c:spPr>
            <a:ln w="28575">
              <a:solidFill>
                <a:srgbClr val="7030A0"/>
              </a:solidFill>
            </a:ln>
          </c:spPr>
          <c:marker>
            <c:symbol val="none"/>
          </c:marker>
          <c:dLbls>
            <c:delete val="1"/>
          </c:dLbls>
          <c:cat>
            <c:strRef>
              <c:f>'MOR sự cố B'!$B$3:$B$26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B'!$E$3:$E$26</c:f>
              <c:numCache>
                <c:formatCode>0.00</c:formatCode>
                <c:ptCount val="13"/>
                <c:pt idx="0">
                  <c:v>0</c:v>
                </c:pt>
                <c:pt idx="1">
                  <c:v>0</c:v>
                </c:pt>
                <c:pt idx="2">
                  <c:v>0</c:v>
                </c:pt>
                <c:pt idx="3">
                  <c:v>0</c:v>
                </c:pt>
                <c:pt idx="4">
                  <c:v>0</c:v>
                </c:pt>
                <c:pt idx="5">
                  <c:v>0</c:v>
                </c:pt>
                <c:pt idx="6">
                  <c:v>0</c:v>
                </c:pt>
                <c:pt idx="7">
                  <c:v>0</c:v>
                </c:pt>
                <c:pt idx="8">
                  <c:v>0</c:v>
                </c:pt>
                <c:pt idx="9">
                  <c:v>0</c:v>
                </c:pt>
                <c:pt idx="10">
                  <c:v>0</c:v>
                </c:pt>
                <c:pt idx="11">
                  <c:v>0</c:v>
                </c:pt>
                <c:pt idx="12">
                  <c:v>0</c:v>
                </c:pt>
              </c:numCache>
            </c:numRef>
          </c:val>
          <c:smooth val="0"/>
          <c:extLst>
            <c:ext xmlns:c16="http://schemas.microsoft.com/office/drawing/2014/chart" uri="{C3380CC4-5D6E-409C-BE32-E72D297353CC}">
              <c16:uniqueId val="{00000004-1394-475F-9361-27DDC32CC78B}"/>
            </c:ext>
          </c:extLst>
        </c:ser>
        <c:ser>
          <c:idx val="2"/>
          <c:order val="2"/>
          <c:spPr>
            <a:ln w="25400">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1394-475F-9361-27DDC32CC78B}"/>
                </c:ext>
              </c:extLst>
            </c:dLbl>
            <c:dLbl>
              <c:idx val="9"/>
              <c:layout>
                <c:manualLayout>
                  <c:x val="0.211948748049233"/>
                  <c:y val="-9.385662025841373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394-475F-9361-27DDC32CC78B}"/>
                </c:ext>
              </c:extLst>
            </c:dLbl>
            <c:spPr>
              <a:solidFill>
                <a:srgbClr val="00B0F0"/>
              </a:solidFill>
              <a:ln>
                <a:noFill/>
              </a:ln>
              <a:effectLst/>
            </c:sp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B'!$B$3:$B$26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B'!$F$3:$F$26</c:f>
              <c:numCache>
                <c:formatCode>0.00</c:formatCode>
                <c:ptCount val="13"/>
                <c:pt idx="0">
                  <c:v>3.8615171673610371</c:v>
                </c:pt>
                <c:pt idx="1">
                  <c:v>3.8615171673610371</c:v>
                </c:pt>
                <c:pt idx="2">
                  <c:v>3.8615171673610371</c:v>
                </c:pt>
                <c:pt idx="3">
                  <c:v>3.8615171673610371</c:v>
                </c:pt>
                <c:pt idx="4">
                  <c:v>3.8615171673610371</c:v>
                </c:pt>
                <c:pt idx="5">
                  <c:v>3.8615171673610371</c:v>
                </c:pt>
                <c:pt idx="6">
                  <c:v>0.33666759480645114</c:v>
                </c:pt>
                <c:pt idx="7">
                  <c:v>0.33666759480645114</c:v>
                </c:pt>
                <c:pt idx="8">
                  <c:v>0.33666759480645114</c:v>
                </c:pt>
                <c:pt idx="9">
                  <c:v>0.33666759480645114</c:v>
                </c:pt>
                <c:pt idx="10">
                  <c:v>0.33666759480645114</c:v>
                </c:pt>
                <c:pt idx="11">
                  <c:v>0.33666759480645114</c:v>
                </c:pt>
                <c:pt idx="12">
                  <c:v>0.33666759480645114</c:v>
                </c:pt>
              </c:numCache>
            </c:numRef>
          </c:val>
          <c:smooth val="0"/>
          <c:extLst>
            <c:ext xmlns:c16="http://schemas.microsoft.com/office/drawing/2014/chart" uri="{C3380CC4-5D6E-409C-BE32-E72D297353CC}">
              <c16:uniqueId val="{00000006-1394-475F-9361-27DDC32CC78B}"/>
            </c:ext>
          </c:extLst>
        </c:ser>
        <c:ser>
          <c:idx val="3"/>
          <c:order val="3"/>
          <c:spPr>
            <a:ln w="25400">
              <a:solidFill>
                <a:srgbClr val="FFC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1394-475F-9361-27DDC32CC78B}"/>
                </c:ext>
              </c:extLst>
            </c:dLbl>
            <c:dLbl>
              <c:idx val="9"/>
              <c:delete val="1"/>
              <c:extLst>
                <c:ext xmlns:c15="http://schemas.microsoft.com/office/drawing/2012/chart" uri="{CE6537A1-D6FC-4f65-9D91-7224C49458BB}"/>
                <c:ext xmlns:c16="http://schemas.microsoft.com/office/drawing/2014/chart" uri="{C3380CC4-5D6E-409C-BE32-E72D297353CC}">
                  <c16:uniqueId val="{00000007-1394-475F-9361-27DDC32CC78B}"/>
                </c:ext>
              </c:extLst>
            </c:dLbl>
            <c:dLbl>
              <c:idx val="12"/>
              <c:layout>
                <c:manualLayout>
                  <c:x val="-1.8954547121157966E-16"/>
                  <c:y val="-0.1459991870686434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1394-475F-9361-27DDC32CC78B}"/>
                </c:ext>
              </c:extLst>
            </c:dLbl>
            <c:spPr>
              <a:solidFill>
                <a:srgbClr val="FFC000"/>
              </a:solidFill>
              <a:ln>
                <a:noFill/>
              </a:ln>
              <a:effectLst/>
            </c:sp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B'!$B$3:$B$26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B'!$G$3:$G$26</c:f>
              <c:numCache>
                <c:formatCode>0.00</c:formatCode>
                <c:ptCount val="13"/>
                <c:pt idx="0">
                  <c:v>4.7983825991721627</c:v>
                </c:pt>
                <c:pt idx="1">
                  <c:v>4.7983825991721627</c:v>
                </c:pt>
                <c:pt idx="2">
                  <c:v>4.7983825991721627</c:v>
                </c:pt>
                <c:pt idx="3">
                  <c:v>4.7983825991721627</c:v>
                </c:pt>
                <c:pt idx="4">
                  <c:v>4.7983825991721627</c:v>
                </c:pt>
                <c:pt idx="5">
                  <c:v>4.7983825991721627</c:v>
                </c:pt>
                <c:pt idx="6">
                  <c:v>0.52004559491059077</c:v>
                </c:pt>
                <c:pt idx="7">
                  <c:v>0.52004559491059077</c:v>
                </c:pt>
                <c:pt idx="8">
                  <c:v>0.52004559491059077</c:v>
                </c:pt>
                <c:pt idx="9">
                  <c:v>0.52004559491059077</c:v>
                </c:pt>
                <c:pt idx="10">
                  <c:v>0.52004559491059077</c:v>
                </c:pt>
                <c:pt idx="11">
                  <c:v>0.52004559491059077</c:v>
                </c:pt>
                <c:pt idx="12">
                  <c:v>0.52004559491059077</c:v>
                </c:pt>
              </c:numCache>
            </c:numRef>
          </c:val>
          <c:smooth val="0"/>
          <c:extLst>
            <c:ext xmlns:c16="http://schemas.microsoft.com/office/drawing/2014/chart" uri="{C3380CC4-5D6E-409C-BE32-E72D297353CC}">
              <c16:uniqueId val="{00000008-1394-475F-9361-27DDC32CC78B}"/>
            </c:ext>
          </c:extLst>
        </c:ser>
        <c:ser>
          <c:idx val="4"/>
          <c:order val="4"/>
          <c:spPr>
            <a:ln w="25400">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1394-475F-9361-27DDC32CC78B}"/>
                </c:ext>
              </c:extLst>
            </c:dLbl>
            <c:dLbl>
              <c:idx val="12"/>
              <c:layout>
                <c:manualLayout>
                  <c:x val="-1.8954547121157966E-16"/>
                  <c:y val="-0.1877132405168272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1394-475F-9361-27DDC32CC78B}"/>
                </c:ext>
              </c:extLst>
            </c:dLbl>
            <c:spPr>
              <a:solidFill>
                <a:srgbClr val="FF0000"/>
              </a:solid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B'!$B$3:$B$26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B'!$H$3:$H$26</c:f>
              <c:numCache>
                <c:formatCode>0.00</c:formatCode>
                <c:ptCount val="13"/>
                <c:pt idx="0">
                  <c:v>5.7352480309832883</c:v>
                </c:pt>
                <c:pt idx="1">
                  <c:v>5.7352480309832883</c:v>
                </c:pt>
                <c:pt idx="2">
                  <c:v>5.7352480309832883</c:v>
                </c:pt>
                <c:pt idx="3">
                  <c:v>5.7352480309832883</c:v>
                </c:pt>
                <c:pt idx="4">
                  <c:v>5.7352480309832883</c:v>
                </c:pt>
                <c:pt idx="5">
                  <c:v>5.7352480309832883</c:v>
                </c:pt>
                <c:pt idx="6">
                  <c:v>0.70342359501473029</c:v>
                </c:pt>
                <c:pt idx="7">
                  <c:v>0.70342359501473029</c:v>
                </c:pt>
                <c:pt idx="8">
                  <c:v>0.70342359501473029</c:v>
                </c:pt>
                <c:pt idx="9">
                  <c:v>0.70342359501473029</c:v>
                </c:pt>
                <c:pt idx="10">
                  <c:v>0.70342359501473029</c:v>
                </c:pt>
                <c:pt idx="11">
                  <c:v>0.70342359501473029</c:v>
                </c:pt>
                <c:pt idx="12">
                  <c:v>0.70342359501473029</c:v>
                </c:pt>
              </c:numCache>
            </c:numRef>
          </c:val>
          <c:smooth val="0"/>
          <c:extLst>
            <c:ext xmlns:c16="http://schemas.microsoft.com/office/drawing/2014/chart" uri="{C3380CC4-5D6E-409C-BE32-E72D297353CC}">
              <c16:uniqueId val="{0000000A-1394-475F-9361-27DDC32CC78B}"/>
            </c:ext>
          </c:extLst>
        </c:ser>
        <c:ser>
          <c:idx val="5"/>
          <c:order val="5"/>
          <c:spPr>
            <a:ln w="25400">
              <a:solidFill>
                <a:srgbClr val="339933"/>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1394-475F-9361-27DDC32CC78B}"/>
                </c:ext>
              </c:extLst>
            </c:dLbl>
            <c:dLbl>
              <c:idx val="9"/>
              <c:layout>
                <c:manualLayout>
                  <c:x val="0.211948748049233"/>
                  <c:y val="-6.257108017227584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1394-475F-9361-27DDC32CC78B}"/>
                </c:ext>
              </c:extLst>
            </c:dLbl>
            <c:spPr>
              <a:solidFill>
                <a:srgbClr val="00B050"/>
              </a:solidFill>
              <a:ln>
                <a:noFill/>
              </a:ln>
              <a:effectLst/>
            </c:sp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B'!$B$3:$B$26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sự cố B'!$I$3:$I$26</c:f>
              <c:numCache>
                <c:formatCode>0.00</c:formatCode>
                <c:ptCount val="13"/>
                <c:pt idx="0">
                  <c:v>2.9246517355499115</c:v>
                </c:pt>
                <c:pt idx="1">
                  <c:v>2.9246517355499115</c:v>
                </c:pt>
                <c:pt idx="2">
                  <c:v>2.9246517355499115</c:v>
                </c:pt>
                <c:pt idx="3">
                  <c:v>2.9246517355499115</c:v>
                </c:pt>
                <c:pt idx="4">
                  <c:v>2.9246517355499115</c:v>
                </c:pt>
                <c:pt idx="5">
                  <c:v>2.9246517355499115</c:v>
                </c:pt>
                <c:pt idx="6">
                  <c:v>0.14562511496719602</c:v>
                </c:pt>
                <c:pt idx="7">
                  <c:v>0.14562511496719602</c:v>
                </c:pt>
                <c:pt idx="8">
                  <c:v>0.14562511496719602</c:v>
                </c:pt>
                <c:pt idx="9">
                  <c:v>0.14562511496719602</c:v>
                </c:pt>
                <c:pt idx="10">
                  <c:v>0.14562511496719602</c:v>
                </c:pt>
                <c:pt idx="11">
                  <c:v>0.14562511496719602</c:v>
                </c:pt>
                <c:pt idx="12">
                  <c:v>0.14562511496719602</c:v>
                </c:pt>
              </c:numCache>
            </c:numRef>
          </c:val>
          <c:smooth val="0"/>
          <c:extLst>
            <c:ext xmlns:c16="http://schemas.microsoft.com/office/drawing/2014/chart" uri="{C3380CC4-5D6E-409C-BE32-E72D297353CC}">
              <c16:uniqueId val="{0000000C-1394-475F-9361-27DDC32CC78B}"/>
            </c:ext>
          </c:extLst>
        </c:ser>
        <c:dLbls>
          <c:showLegendKey val="0"/>
          <c:showVal val="1"/>
          <c:showCatName val="0"/>
          <c:showSerName val="0"/>
          <c:showPercent val="0"/>
          <c:showBubbleSize val="0"/>
        </c:dLbls>
        <c:marker val="1"/>
        <c:smooth val="0"/>
        <c:axId val="454651656"/>
        <c:axId val="454651264"/>
      </c:lineChart>
      <c:catAx>
        <c:axId val="454651656"/>
        <c:scaling>
          <c:orientation val="minMax"/>
        </c:scaling>
        <c:delete val="0"/>
        <c:axPos val="b"/>
        <c:numFmt formatCode="General" sourceLinked="0"/>
        <c:majorTickMark val="none"/>
        <c:minorTickMark val="none"/>
        <c:tickLblPos val="nextTo"/>
        <c:crossAx val="454651264"/>
        <c:crosses val="autoZero"/>
        <c:auto val="1"/>
        <c:lblAlgn val="ctr"/>
        <c:lblOffset val="100"/>
        <c:noMultiLvlLbl val="0"/>
      </c:catAx>
      <c:valAx>
        <c:axId val="454651264"/>
        <c:scaling>
          <c:orientation val="minMax"/>
        </c:scaling>
        <c:delete val="1"/>
        <c:axPos val="l"/>
        <c:numFmt formatCode="General" sourceLinked="1"/>
        <c:majorTickMark val="out"/>
        <c:minorTickMark val="none"/>
        <c:tickLblPos val="nextTo"/>
        <c:crossAx val="454651656"/>
        <c:crosses val="autoZero"/>
        <c:crossBetween val="between"/>
      </c:valAx>
    </c:plotArea>
    <c:plotVisOnly val="1"/>
    <c:dispBlanksAs val="gap"/>
    <c:showDLblsOverMax val="0"/>
  </c:chart>
  <c:spPr>
    <a:ln w="6350">
      <a:solidFill>
        <a:sysClr val="windowText" lastClr="000000"/>
      </a:solidFill>
    </a:ln>
  </c:spPr>
  <c:txPr>
    <a:bodyPr/>
    <a:lstStyle/>
    <a:p>
      <a:pPr>
        <a:defRPr sz="800" b="1">
          <a:latin typeface="Times New Roman" panose="02020603050405020304" pitchFamily="18" charset="0"/>
          <a:cs typeface="Times New Roman" panose="02020603050405020304" pitchFamily="18" charset="0"/>
        </a:defRPr>
      </a:pPr>
      <a:endParaRPr lang="en-US"/>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405492589058861E-2"/>
          <c:y val="2.5636498827477074E-2"/>
          <c:w val="0.96363823768567403"/>
          <c:h val="0.88813852591402775"/>
        </c:manualLayout>
      </c:layout>
      <c:barChart>
        <c:barDir val="col"/>
        <c:grouping val="clustered"/>
        <c:varyColors val="0"/>
        <c:ser>
          <c:idx val="0"/>
          <c:order val="0"/>
          <c:invertIfNegative val="0"/>
          <c:dLbls>
            <c:dLbl>
              <c:idx val="0"/>
              <c:layout>
                <c:manualLayout>
                  <c:x val="0"/>
                  <c:y val="0.34541460752026859"/>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0-2737-47B7-9281-9E39672359DC}"/>
                </c:ext>
              </c:extLst>
            </c:dLbl>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'MOR vụ việc E'!$B$3:$B$26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vụ việc E'!$D$3:$D$26</c:f>
              <c:numCache>
                <c:formatCode>General</c:formatCode>
                <c:ptCount val="13"/>
                <c:pt idx="0">
                  <c:v>5</c:v>
                </c:pt>
                <c:pt idx="1">
                  <c:v>8</c:v>
                </c:pt>
                <c:pt idx="2">
                  <c:v>7</c:v>
                </c:pt>
                <c:pt idx="3">
                  <c:v>5</c:v>
                </c:pt>
                <c:pt idx="4">
                  <c:v>3</c:v>
                </c:pt>
                <c:pt idx="5">
                  <c:v>4</c:v>
                </c:pt>
                <c:pt idx="6">
                  <c:v>4</c:v>
                </c:pt>
                <c:pt idx="7">
                  <c:v>2</c:v>
                </c:pt>
                <c:pt idx="8">
                  <c:v>3</c:v>
                </c:pt>
                <c:pt idx="9">
                  <c:v>2</c:v>
                </c:pt>
                <c:pt idx="10">
                  <c:v>3</c:v>
                </c:pt>
                <c:pt idx="11">
                  <c:v>1</c:v>
                </c:pt>
                <c:pt idx="12">
                  <c:v>1</c:v>
                </c:pt>
              </c:numCache>
            </c:numRef>
          </c:val>
          <c:extLst>
            <c:ext xmlns:c16="http://schemas.microsoft.com/office/drawing/2014/chart" uri="{C3380CC4-5D6E-409C-BE32-E72D297353CC}">
              <c16:uniqueId val="{00000000-2737-47B7-9281-9E39672359DC}"/>
            </c:ext>
          </c:extLst>
        </c:ser>
        <c:dLbls>
          <c:showLegendKey val="0"/>
          <c:showVal val="0"/>
          <c:showCatName val="0"/>
          <c:showSerName val="0"/>
          <c:showPercent val="0"/>
          <c:showBubbleSize val="0"/>
        </c:dLbls>
        <c:gapWidth val="150"/>
        <c:axId val="454651656"/>
        <c:axId val="454651264"/>
      </c:barChart>
      <c:lineChart>
        <c:grouping val="standard"/>
        <c:varyColors val="0"/>
        <c:ser>
          <c:idx val="1"/>
          <c:order val="1"/>
          <c:spPr>
            <a:ln w="28575">
              <a:solidFill>
                <a:srgbClr val="7030A0"/>
              </a:solidFill>
            </a:ln>
          </c:spPr>
          <c:marker>
            <c:symbol val="none"/>
          </c:marker>
          <c:dLbls>
            <c:dLbl>
              <c:idx val="0"/>
              <c:layout>
                <c:manualLayout>
                  <c:x val="-2.7225170119343004E-2"/>
                  <c:y val="-0.26736763513525447"/>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737-47B7-9281-9E39672359DC}"/>
                </c:ext>
              </c:extLst>
            </c:dLbl>
            <c:dLbl>
              <c:idx val="1"/>
              <c:layout>
                <c:manualLayout>
                  <c:x val="-3.0112134576554907E-2"/>
                  <c:y val="-0.15300488459557735"/>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737-47B7-9281-9E39672359DC}"/>
                </c:ext>
              </c:extLst>
            </c:dLbl>
            <c:dLbl>
              <c:idx val="3"/>
              <c:layout>
                <c:manualLayout>
                  <c:x val="-2.302692644089506E-2"/>
                  <c:y val="-8.958317077357641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737-47B7-9281-9E39672359DC}"/>
                </c:ext>
              </c:extLst>
            </c:dLbl>
            <c:dLbl>
              <c:idx val="4"/>
              <c:layout>
                <c:manualLayout>
                  <c:x val="-3.0540731691635053E-2"/>
                  <c:y val="-0.13049095074712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2737-47B7-9281-9E39672359DC}"/>
                </c:ext>
              </c:extLst>
            </c:dLbl>
            <c:dLbl>
              <c:idx val="5"/>
              <c:layout>
                <c:manualLayout>
                  <c:x val="-3.3654738644384896E-2"/>
                  <c:y val="-8.694059936432632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737-47B7-9281-9E39672359DC}"/>
                </c:ext>
              </c:extLst>
            </c:dLbl>
            <c:dLbl>
              <c:idx val="6"/>
              <c:layout>
                <c:manualLayout>
                  <c:x val="-3.1883436610469898E-2"/>
                  <c:y val="-0.1001534564105766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737-47B7-9281-9E39672359DC}"/>
                </c:ext>
              </c:extLst>
            </c:dLbl>
            <c:dLbl>
              <c:idx val="7"/>
              <c:layout>
                <c:manualLayout>
                  <c:x val="-3.0540731691635053E-2"/>
                  <c:y val="-8.188400634274990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2737-47B7-9281-9E39672359DC}"/>
                </c:ext>
              </c:extLst>
            </c:dLbl>
            <c:dLbl>
              <c:idx val="8"/>
              <c:layout>
                <c:manualLayout>
                  <c:x val="-3.2148138622773742E-2"/>
                  <c:y val="-7.066701917251012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2737-47B7-9281-9E39672359DC}"/>
                </c:ext>
              </c:extLst>
            </c:dLbl>
            <c:dLbl>
              <c:idx val="9"/>
              <c:layout>
                <c:manualLayout>
                  <c:x val="-2.9849808332809768E-2"/>
                  <c:y val="-7.440601489592343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2-2737-47B7-9281-9E39672359DC}"/>
                </c:ext>
              </c:extLst>
            </c:dLbl>
            <c:dLbl>
              <c:idx val="10"/>
              <c:layout>
                <c:manualLayout>
                  <c:x val="-2.8933324760496485E-2"/>
                  <c:y val="-9.31009935129895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2737-47B7-9281-9E39672359DC}"/>
                </c:ext>
              </c:extLst>
            </c:dLbl>
            <c:dLbl>
              <c:idx val="11"/>
              <c:layout>
                <c:manualLayout>
                  <c:x val="-2.8933324760496367E-2"/>
                  <c:y val="-7.814501061933666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2737-47B7-9281-9E39672359DC}"/>
                </c:ext>
              </c:extLst>
            </c:dLbl>
            <c:dLbl>
              <c:idx val="12"/>
              <c:layout>
                <c:manualLayout>
                  <c:x val="-2.9849808332809882E-2"/>
                  <c:y val="-7.06670191725101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1-2737-47B7-9281-9E39672359DC}"/>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trendline>
            <c:spPr>
              <a:ln w="12700">
                <a:solidFill>
                  <a:srgbClr val="C00000"/>
                </a:solidFill>
              </a:ln>
            </c:spPr>
            <c:trendlineType val="linear"/>
            <c:dispRSqr val="0"/>
            <c:dispEq val="0"/>
          </c:trendline>
          <c:cat>
            <c:strRef>
              <c:f>'MOR vụ việc E'!$B$3:$B$26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vụ việc E'!$E$3:$E$26</c:f>
              <c:numCache>
                <c:formatCode>0.00</c:formatCode>
                <c:ptCount val="13"/>
                <c:pt idx="0">
                  <c:v>3.8544557508479804</c:v>
                </c:pt>
                <c:pt idx="1">
                  <c:v>6.8125691901558376</c:v>
                </c:pt>
                <c:pt idx="2">
                  <c:v>7.4922401798137646</c:v>
                </c:pt>
                <c:pt idx="3">
                  <c:v>5.2410901467505244</c:v>
                </c:pt>
                <c:pt idx="4">
                  <c:v>3.026634382566586</c:v>
                </c:pt>
                <c:pt idx="5">
                  <c:v>3.4773537338085716</c:v>
                </c:pt>
                <c:pt idx="6">
                  <c:v>3.3338889814969161</c:v>
                </c:pt>
                <c:pt idx="7">
                  <c:v>1.8208302986161691</c:v>
                </c:pt>
                <c:pt idx="8">
                  <c:v>2.6721296873608265</c:v>
                </c:pt>
                <c:pt idx="9">
                  <c:v>1.7747803709290975</c:v>
                </c:pt>
                <c:pt idx="10">
                  <c:v>2.5169896803423106</c:v>
                </c:pt>
                <c:pt idx="11">
                  <c:v>0.76196281621456874</c:v>
                </c:pt>
                <c:pt idx="12">
                  <c:v>0.76899415564441709</c:v>
                </c:pt>
              </c:numCache>
            </c:numRef>
          </c:val>
          <c:smooth val="0"/>
          <c:extLst>
            <c:ext xmlns:c16="http://schemas.microsoft.com/office/drawing/2014/chart" uri="{C3380CC4-5D6E-409C-BE32-E72D297353CC}">
              <c16:uniqueId val="{00000006-2737-47B7-9281-9E39672359DC}"/>
            </c:ext>
          </c:extLst>
        </c:ser>
        <c:ser>
          <c:idx val="2"/>
          <c:order val="2"/>
          <c:spPr>
            <a:ln w="25400">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A-2737-47B7-9281-9E39672359DC}"/>
                </c:ext>
              </c:extLst>
            </c:dLbl>
            <c:dLbl>
              <c:idx val="7"/>
              <c:delete val="1"/>
              <c:extLst>
                <c:ext xmlns:c15="http://schemas.microsoft.com/office/drawing/2012/chart" uri="{CE6537A1-D6FC-4f65-9D91-7224C49458BB}"/>
                <c:ext xmlns:c16="http://schemas.microsoft.com/office/drawing/2014/chart" uri="{C3380CC4-5D6E-409C-BE32-E72D297353CC}">
                  <c16:uniqueId val="{00000007-2737-47B7-9281-9E39672359DC}"/>
                </c:ext>
              </c:extLst>
            </c:dLbl>
            <c:dLbl>
              <c:idx val="9"/>
              <c:delete val="1"/>
              <c:extLst>
                <c:ext xmlns:c15="http://schemas.microsoft.com/office/drawing/2012/chart" uri="{CE6537A1-D6FC-4f65-9D91-7224C49458BB}"/>
                <c:ext xmlns:c16="http://schemas.microsoft.com/office/drawing/2014/chart" uri="{C3380CC4-5D6E-409C-BE32-E72D297353CC}">
                  <c16:uniqueId val="{00000008-2737-47B7-9281-9E39672359DC}"/>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E-2737-47B7-9281-9E39672359DC}"/>
                </c:ext>
              </c:extLst>
            </c:dLbl>
            <c:spPr>
              <a:solidFill>
                <a:srgbClr val="00B0F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1"/>
              </c:ext>
            </c:extLst>
          </c:dLbls>
          <c:cat>
            <c:strRef>
              <c:f>'MOR vụ việc E'!$B$3:$B$26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vụ việc E'!$F$3:$F$26</c:f>
              <c:numCache>
                <c:formatCode>0.00</c:formatCode>
                <c:ptCount val="13"/>
                <c:pt idx="0">
                  <c:v>3.8615171673610371</c:v>
                </c:pt>
                <c:pt idx="1">
                  <c:v>3.8615171673610371</c:v>
                </c:pt>
                <c:pt idx="2">
                  <c:v>3.8615171673610371</c:v>
                </c:pt>
                <c:pt idx="3">
                  <c:v>3.8615171673610371</c:v>
                </c:pt>
                <c:pt idx="4">
                  <c:v>3.8615171673610371</c:v>
                </c:pt>
                <c:pt idx="5">
                  <c:v>3.8615171673610371</c:v>
                </c:pt>
                <c:pt idx="6">
                  <c:v>4.95</c:v>
                </c:pt>
                <c:pt idx="7">
                  <c:v>4.95</c:v>
                </c:pt>
                <c:pt idx="8">
                  <c:v>4.95</c:v>
                </c:pt>
                <c:pt idx="9">
                  <c:v>4.95</c:v>
                </c:pt>
                <c:pt idx="10">
                  <c:v>4.95</c:v>
                </c:pt>
                <c:pt idx="11">
                  <c:v>4.95</c:v>
                </c:pt>
                <c:pt idx="12">
                  <c:v>4.95</c:v>
                </c:pt>
              </c:numCache>
            </c:numRef>
          </c:val>
          <c:smooth val="0"/>
          <c:extLst>
            <c:ext xmlns:c16="http://schemas.microsoft.com/office/drawing/2014/chart" uri="{C3380CC4-5D6E-409C-BE32-E72D297353CC}">
              <c16:uniqueId val="{00000009-2737-47B7-9281-9E39672359DC}"/>
            </c:ext>
          </c:extLst>
        </c:ser>
        <c:ser>
          <c:idx val="3"/>
          <c:order val="3"/>
          <c:spPr>
            <a:ln w="25400">
              <a:solidFill>
                <a:srgbClr val="FFC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9-2737-47B7-9281-9E39672359DC}"/>
                </c:ext>
              </c:extLst>
            </c:dLbl>
            <c:dLbl>
              <c:idx val="9"/>
              <c:delete val="1"/>
              <c:extLst>
                <c:ext xmlns:c15="http://schemas.microsoft.com/office/drawing/2012/chart" uri="{CE6537A1-D6FC-4f65-9D91-7224C49458BB}"/>
                <c:ext xmlns:c16="http://schemas.microsoft.com/office/drawing/2014/chart" uri="{C3380CC4-5D6E-409C-BE32-E72D297353CC}">
                  <c16:uniqueId val="{0000000C-2737-47B7-9281-9E39672359DC}"/>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D-2737-47B7-9281-9E39672359DC}"/>
                </c:ext>
              </c:extLst>
            </c:dLbl>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1"/>
              </c:ext>
            </c:extLst>
          </c:dLbls>
          <c:cat>
            <c:strRef>
              <c:f>'MOR vụ việc E'!$B$3:$B$26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vụ việc E'!$G$3:$G$26</c:f>
              <c:numCache>
                <c:formatCode>0.00</c:formatCode>
                <c:ptCount val="13"/>
                <c:pt idx="0">
                  <c:v>4.7983825991721627</c:v>
                </c:pt>
                <c:pt idx="1">
                  <c:v>4.7983825991721627</c:v>
                </c:pt>
                <c:pt idx="2">
                  <c:v>4.7983825991721627</c:v>
                </c:pt>
                <c:pt idx="3">
                  <c:v>4.7983825991721627</c:v>
                </c:pt>
                <c:pt idx="4">
                  <c:v>4.7983825991721627</c:v>
                </c:pt>
                <c:pt idx="5">
                  <c:v>4.7983825991721627</c:v>
                </c:pt>
                <c:pt idx="6">
                  <c:v>5.98</c:v>
                </c:pt>
                <c:pt idx="7">
                  <c:v>5.98</c:v>
                </c:pt>
                <c:pt idx="8">
                  <c:v>5.98</c:v>
                </c:pt>
                <c:pt idx="9">
                  <c:v>5.98</c:v>
                </c:pt>
                <c:pt idx="10">
                  <c:v>5.98</c:v>
                </c:pt>
                <c:pt idx="11">
                  <c:v>5.98</c:v>
                </c:pt>
                <c:pt idx="12">
                  <c:v>5.98</c:v>
                </c:pt>
              </c:numCache>
            </c:numRef>
          </c:val>
          <c:smooth val="0"/>
          <c:extLst>
            <c:ext xmlns:c16="http://schemas.microsoft.com/office/drawing/2014/chart" uri="{C3380CC4-5D6E-409C-BE32-E72D297353CC}">
              <c16:uniqueId val="{0000000D-2737-47B7-9281-9E39672359DC}"/>
            </c:ext>
          </c:extLst>
        </c:ser>
        <c:ser>
          <c:idx val="4"/>
          <c:order val="4"/>
          <c:spPr>
            <a:ln w="25400">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2737-47B7-9281-9E39672359DC}"/>
                </c:ext>
              </c:extLst>
            </c:dLbl>
            <c:dLbl>
              <c:idx val="7"/>
              <c:delete val="1"/>
              <c:extLst>
                <c:ext xmlns:c15="http://schemas.microsoft.com/office/drawing/2012/chart" uri="{CE6537A1-D6FC-4f65-9D91-7224C49458BB}"/>
                <c:ext xmlns:c16="http://schemas.microsoft.com/office/drawing/2014/chart" uri="{C3380CC4-5D6E-409C-BE32-E72D297353CC}">
                  <c16:uniqueId val="{0000000E-2737-47B7-9281-9E39672359DC}"/>
                </c:ext>
              </c:extLst>
            </c:dLbl>
            <c:dLbl>
              <c:idx val="9"/>
              <c:delete val="1"/>
              <c:extLst>
                <c:ext xmlns:c15="http://schemas.microsoft.com/office/drawing/2012/chart" uri="{CE6537A1-D6FC-4f65-9D91-7224C49458BB}"/>
                <c:ext xmlns:c16="http://schemas.microsoft.com/office/drawing/2014/chart" uri="{C3380CC4-5D6E-409C-BE32-E72D297353CC}">
                  <c16:uniqueId val="{0000000F-2737-47B7-9281-9E39672359DC}"/>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C-2737-47B7-9281-9E39672359DC}"/>
                </c:ext>
              </c:extLst>
            </c:dLbl>
            <c:spPr>
              <a:solidFill>
                <a:srgbClr val="FF0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1"/>
              </c:ext>
            </c:extLst>
          </c:dLbls>
          <c:cat>
            <c:strRef>
              <c:f>'MOR vụ việc E'!$B$3:$B$26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vụ việc E'!$H$3:$H$26</c:f>
              <c:numCache>
                <c:formatCode>0.00</c:formatCode>
                <c:ptCount val="13"/>
                <c:pt idx="0">
                  <c:v>5.7352480309832883</c:v>
                </c:pt>
                <c:pt idx="1">
                  <c:v>5.7352480309832883</c:v>
                </c:pt>
                <c:pt idx="2">
                  <c:v>5.7352480309832883</c:v>
                </c:pt>
                <c:pt idx="3">
                  <c:v>5.7352480309832883</c:v>
                </c:pt>
                <c:pt idx="4">
                  <c:v>5.7352480309832883</c:v>
                </c:pt>
                <c:pt idx="5">
                  <c:v>5.7352480309832883</c:v>
                </c:pt>
                <c:pt idx="6">
                  <c:v>7.05</c:v>
                </c:pt>
                <c:pt idx="7">
                  <c:v>7.05</c:v>
                </c:pt>
                <c:pt idx="8">
                  <c:v>7.05</c:v>
                </c:pt>
                <c:pt idx="9">
                  <c:v>7.05</c:v>
                </c:pt>
                <c:pt idx="10">
                  <c:v>7.05</c:v>
                </c:pt>
                <c:pt idx="11">
                  <c:v>7.05</c:v>
                </c:pt>
                <c:pt idx="12">
                  <c:v>7.05</c:v>
                </c:pt>
              </c:numCache>
            </c:numRef>
          </c:val>
          <c:smooth val="0"/>
          <c:extLst>
            <c:ext xmlns:c16="http://schemas.microsoft.com/office/drawing/2014/chart" uri="{C3380CC4-5D6E-409C-BE32-E72D297353CC}">
              <c16:uniqueId val="{00000010-2737-47B7-9281-9E39672359DC}"/>
            </c:ext>
          </c:extLst>
        </c:ser>
        <c:ser>
          <c:idx val="5"/>
          <c:order val="5"/>
          <c:spPr>
            <a:ln w="25400">
              <a:solidFill>
                <a:srgbClr val="339933"/>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B-2737-47B7-9281-9E39672359DC}"/>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F-2737-47B7-9281-9E39672359DC}"/>
                </c:ext>
              </c:extLst>
            </c:dLbl>
            <c:spPr>
              <a:solidFill>
                <a:srgbClr val="00B050"/>
              </a:solidFill>
              <a:ln>
                <a:noFill/>
              </a:ln>
              <a:effectLst/>
            </c:spPr>
            <c:txPr>
              <a:bodyPr wrap="square" lIns="38100" tIns="19050" rIns="38100" bIns="19050" anchor="ctr">
                <a:spAutoFit/>
              </a:bodyPr>
              <a:lstStyle/>
              <a:p>
                <a:pPr>
                  <a:defRPr sz="1200" b="1">
                    <a:solidFill>
                      <a:sysClr val="windowText" lastClr="000000"/>
                    </a:solidFill>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1"/>
              </c:ext>
            </c:extLst>
          </c:dLbls>
          <c:cat>
            <c:strRef>
              <c:f>'MOR vụ việc E'!$B$3:$B$26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'MOR vụ việc E'!$I$3:$I$26</c:f>
              <c:numCache>
                <c:formatCode>0.00</c:formatCode>
                <c:ptCount val="13"/>
                <c:pt idx="0">
                  <c:v>2.9246517355499115</c:v>
                </c:pt>
                <c:pt idx="1">
                  <c:v>2.9246517355499115</c:v>
                </c:pt>
                <c:pt idx="2">
                  <c:v>2.9246517355499115</c:v>
                </c:pt>
                <c:pt idx="3">
                  <c:v>2.9246517355499115</c:v>
                </c:pt>
                <c:pt idx="4">
                  <c:v>2.9246517355499115</c:v>
                </c:pt>
                <c:pt idx="5">
                  <c:v>2.9246517355499115</c:v>
                </c:pt>
                <c:pt idx="6">
                  <c:v>4.1004966582868354</c:v>
                </c:pt>
                <c:pt idx="7">
                  <c:v>4.1004966582868354</c:v>
                </c:pt>
                <c:pt idx="8">
                  <c:v>4.1004966582868354</c:v>
                </c:pt>
                <c:pt idx="9">
                  <c:v>4.1004966582868354</c:v>
                </c:pt>
                <c:pt idx="10">
                  <c:v>4.1004966582868354</c:v>
                </c:pt>
                <c:pt idx="11">
                  <c:v>4.1004966582868354</c:v>
                </c:pt>
                <c:pt idx="12">
                  <c:v>4.1004966582868354</c:v>
                </c:pt>
              </c:numCache>
            </c:numRef>
          </c:val>
          <c:smooth val="0"/>
          <c:extLst>
            <c:ext xmlns:c16="http://schemas.microsoft.com/office/drawing/2014/chart" uri="{C3380CC4-5D6E-409C-BE32-E72D297353CC}">
              <c16:uniqueId val="{00000012-2737-47B7-9281-9E39672359DC}"/>
            </c:ext>
          </c:extLst>
        </c:ser>
        <c:dLbls>
          <c:showLegendKey val="0"/>
          <c:showVal val="1"/>
          <c:showCatName val="0"/>
          <c:showSerName val="0"/>
          <c:showPercent val="0"/>
          <c:showBubbleSize val="0"/>
        </c:dLbls>
        <c:marker val="1"/>
        <c:smooth val="0"/>
        <c:axId val="454651656"/>
        <c:axId val="454651264"/>
      </c:lineChart>
      <c:catAx>
        <c:axId val="454651656"/>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454651264"/>
        <c:crosses val="autoZero"/>
        <c:auto val="1"/>
        <c:lblAlgn val="ctr"/>
        <c:lblOffset val="100"/>
        <c:noMultiLvlLbl val="0"/>
      </c:catAx>
      <c:valAx>
        <c:axId val="454651264"/>
        <c:scaling>
          <c:orientation val="minMax"/>
        </c:scaling>
        <c:delete val="1"/>
        <c:axPos val="l"/>
        <c:numFmt formatCode="General" sourceLinked="1"/>
        <c:majorTickMark val="out"/>
        <c:minorTickMark val="none"/>
        <c:tickLblPos val="nextTo"/>
        <c:crossAx val="454651656"/>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000"/>
              <a:t>Báo cáo vụ việc MOR </a:t>
            </a: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'MOR vụ việc E'!$AB$3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'MOR vụ việc E'!$AA$4:$AA$5</c:f>
              <c:strCache>
                <c:ptCount val="2"/>
                <c:pt idx="0">
                  <c:v>Số vụ</c:v>
                </c:pt>
                <c:pt idx="1">
                  <c:v>Tỷ lệ/10000CB</c:v>
                </c:pt>
              </c:strCache>
            </c:strRef>
          </c:cat>
          <c:val>
            <c:numRef>
              <c:f>'MOR vụ việc E'!$AB$4:$AB$5</c:f>
              <c:numCache>
                <c:formatCode>0.00</c:formatCode>
                <c:ptCount val="2"/>
                <c:pt idx="0" formatCode="General">
                  <c:v>23</c:v>
                </c:pt>
                <c:pt idx="1">
                  <c:v>2.9325139294411646</c:v>
                </c:pt>
              </c:numCache>
            </c:numRef>
          </c:val>
          <c:extLst>
            <c:ext xmlns:c16="http://schemas.microsoft.com/office/drawing/2014/chart" uri="{C3380CC4-5D6E-409C-BE32-E72D297353CC}">
              <c16:uniqueId val="{00000000-6D06-421F-95BD-163FA0E9F6A2}"/>
            </c:ext>
          </c:extLst>
        </c:ser>
        <c:ser>
          <c:idx val="1"/>
          <c:order val="1"/>
          <c:tx>
            <c:strRef>
              <c:f>'MOR vụ việc E'!$AC$3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'MOR vụ việc E'!$AA$4:$AA$5</c:f>
              <c:strCache>
                <c:ptCount val="2"/>
                <c:pt idx="0">
                  <c:v>Số vụ</c:v>
                </c:pt>
                <c:pt idx="1">
                  <c:v>Tỷ lệ/10000CB</c:v>
                </c:pt>
              </c:strCache>
            </c:strRef>
          </c:cat>
          <c:val>
            <c:numRef>
              <c:f>'MOR vụ việc E'!$AC$4:$AC$5</c:f>
              <c:numCache>
                <c:formatCode>0.00</c:formatCode>
                <c:ptCount val="2"/>
                <c:pt idx="0" formatCode="0">
                  <c:v>16</c:v>
                </c:pt>
                <c:pt idx="1">
                  <c:v>1.9155941334929663</c:v>
                </c:pt>
              </c:numCache>
            </c:numRef>
          </c:val>
          <c:extLst>
            <c:ext xmlns:c16="http://schemas.microsoft.com/office/drawing/2014/chart" uri="{C3380CC4-5D6E-409C-BE32-E72D297353CC}">
              <c16:uniqueId val="{00000001-6D06-421F-95BD-163FA0E9F6A2}"/>
            </c:ext>
          </c:extLst>
        </c:ser>
        <c:dLbls>
          <c:showLegendKey val="0"/>
          <c:showVal val="0"/>
          <c:showCatName val="0"/>
          <c:showSerName val="0"/>
          <c:showPercent val="0"/>
          <c:showBubbleSize val="0"/>
        </c:dLbls>
        <c:gapWidth val="219"/>
        <c:overlap val="-27"/>
        <c:axId val="328426288"/>
        <c:axId val="328425896"/>
      </c:barChart>
      <c:catAx>
        <c:axId val="328426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5896"/>
        <c:crosses val="autoZero"/>
        <c:auto val="1"/>
        <c:lblAlgn val="ctr"/>
        <c:lblOffset val="100"/>
        <c:noMultiLvlLbl val="0"/>
      </c:catAx>
      <c:valAx>
        <c:axId val="3284258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6288"/>
        <c:crosses val="autoZero"/>
        <c:crossBetween val="between"/>
      </c:valAx>
      <c:spPr>
        <a:noFill/>
        <a:ln>
          <a:noFill/>
        </a:ln>
        <a:effectLst/>
      </c:spPr>
    </c:plotArea>
    <c:legend>
      <c:legendPos val="b"/>
      <c:layout>
        <c:manualLayout>
          <c:xMode val="edge"/>
          <c:yMode val="edge"/>
          <c:x val="0"/>
          <c:y val="0.93415568828748119"/>
          <c:w val="1"/>
          <c:h val="4.8640736981273844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9525" cap="flat" cmpd="sng" algn="ctr">
      <a:solidFill>
        <a:schemeClr val="tx1"/>
      </a:solidFill>
      <a:round/>
    </a:ln>
    <a:effectLst/>
  </c:spPr>
  <c:txPr>
    <a:bodyPr/>
    <a:lstStyle/>
    <a:p>
      <a:pPr>
        <a:defRPr sz="100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405492589058861E-2"/>
          <c:y val="2.5636498827477074E-2"/>
          <c:w val="0.96363823768567403"/>
          <c:h val="0.88813852591402775"/>
        </c:manualLayout>
      </c:layout>
      <c:barChart>
        <c:barDir val="col"/>
        <c:grouping val="clustered"/>
        <c:varyColors val="0"/>
        <c:ser>
          <c:idx val="0"/>
          <c:order val="0"/>
          <c:invertIfNegative val="0"/>
          <c:dLbls>
            <c:spPr>
              <a:solidFill>
                <a:schemeClr val="accent4">
                  <a:lumMod val="40000"/>
                  <a:lumOff val="60000"/>
                </a:schemeClr>
              </a:solidFill>
            </c:sp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'Sự cố vụ việc bảo dưỡng tàu bay'!$B$3:$B$26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'Sự cố vụ việc bảo dưỡng tàu bay'!$D$3:$D$26</c:f>
              <c:numCache>
                <c:formatCode>General</c:formatCode>
                <c:ptCount val="13"/>
                <c:pt idx="0">
                  <c:v>0</c:v>
                </c:pt>
                <c:pt idx="1">
                  <c:v>0</c:v>
                </c:pt>
                <c:pt idx="2">
                  <c:v>0</c:v>
                </c:pt>
                <c:pt idx="3">
                  <c:v>0</c:v>
                </c:pt>
                <c:pt idx="4">
                  <c:v>0</c:v>
                </c:pt>
                <c:pt idx="5">
                  <c:v>1</c:v>
                </c:pt>
                <c:pt idx="6">
                  <c:v>0</c:v>
                </c:pt>
                <c:pt idx="7">
                  <c:v>0</c:v>
                </c:pt>
                <c:pt idx="8">
                  <c:v>0</c:v>
                </c:pt>
                <c:pt idx="9">
                  <c:v>0</c:v>
                </c:pt>
                <c:pt idx="10">
                  <c:v>0</c:v>
                </c:pt>
                <c:pt idx="11">
                  <c:v>0</c:v>
                </c:pt>
                <c:pt idx="12">
                  <c:v>0</c:v>
                </c:pt>
              </c:numCache>
            </c:numRef>
          </c:val>
          <c:extLst>
            <c:ext xmlns:c16="http://schemas.microsoft.com/office/drawing/2014/chart" uri="{C3380CC4-5D6E-409C-BE32-E72D297353CC}">
              <c16:uniqueId val="{00000000-1AE4-4949-B996-39C9BA5B6AC4}"/>
            </c:ext>
          </c:extLst>
        </c:ser>
        <c:dLbls>
          <c:showLegendKey val="0"/>
          <c:showVal val="0"/>
          <c:showCatName val="0"/>
          <c:showSerName val="0"/>
          <c:showPercent val="0"/>
          <c:showBubbleSize val="0"/>
        </c:dLbls>
        <c:gapWidth val="150"/>
        <c:axId val="454651656"/>
        <c:axId val="454651264"/>
      </c:barChart>
      <c:lineChart>
        <c:grouping val="standard"/>
        <c:varyColors val="0"/>
        <c:ser>
          <c:idx val="1"/>
          <c:order val="1"/>
          <c:spPr>
            <a:ln w="28575">
              <a:solidFill>
                <a:srgbClr val="7030A0"/>
              </a:solidFill>
            </a:ln>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18-1AE4-4949-B996-39C9BA5B6AC4}"/>
                </c:ext>
              </c:extLst>
            </c:dLbl>
            <c:dLbl>
              <c:idx val="1"/>
              <c:delete val="1"/>
              <c:extLst>
                <c:ext xmlns:c15="http://schemas.microsoft.com/office/drawing/2012/chart" uri="{CE6537A1-D6FC-4f65-9D91-7224C49458BB}"/>
                <c:ext xmlns:c16="http://schemas.microsoft.com/office/drawing/2014/chart" uri="{C3380CC4-5D6E-409C-BE32-E72D297353CC}">
                  <c16:uniqueId val="{00000019-1AE4-4949-B996-39C9BA5B6AC4}"/>
                </c:ext>
              </c:extLst>
            </c:dLbl>
            <c:dLbl>
              <c:idx val="2"/>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01-1AE4-4949-B996-39C9BA5B6AC4}"/>
                </c:ext>
              </c:extLst>
            </c:dLbl>
            <c:dLbl>
              <c:idx val="3"/>
              <c:delete val="1"/>
              <c:extLst>
                <c:ext xmlns:c15="http://schemas.microsoft.com/office/drawing/2012/chart" uri="{CE6537A1-D6FC-4f65-9D91-7224C49458BB}"/>
                <c:ext xmlns:c16="http://schemas.microsoft.com/office/drawing/2014/chart" uri="{C3380CC4-5D6E-409C-BE32-E72D297353CC}">
                  <c16:uniqueId val="{0000001A-1AE4-4949-B996-39C9BA5B6AC4}"/>
                </c:ext>
              </c:extLst>
            </c:dLbl>
            <c:dLbl>
              <c:idx val="4"/>
              <c:delete val="1"/>
              <c:extLst>
                <c:ext xmlns:c15="http://schemas.microsoft.com/office/drawing/2012/chart" uri="{CE6537A1-D6FC-4f65-9D91-7224C49458BB}"/>
                <c:ext xmlns:c16="http://schemas.microsoft.com/office/drawing/2014/chart" uri="{C3380CC4-5D6E-409C-BE32-E72D297353CC}">
                  <c16:uniqueId val="{0000001B-1AE4-4949-B996-39C9BA5B6AC4}"/>
                </c:ext>
              </c:extLst>
            </c:dLbl>
            <c:dLbl>
              <c:idx val="5"/>
              <c:layout>
                <c:manualLayout>
                  <c:x val="-4.7936085219707186E-2"/>
                  <c:y val="-4.842615012106546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AE4-4949-B996-39C9BA5B6AC4}"/>
                </c:ext>
              </c:extLst>
            </c:dLbl>
            <c:dLbl>
              <c:idx val="6"/>
              <c:delete val="1"/>
              <c:extLst>
                <c:ext xmlns:c15="http://schemas.microsoft.com/office/drawing/2012/chart" uri="{CE6537A1-D6FC-4f65-9D91-7224C49458BB}"/>
                <c:ext xmlns:c16="http://schemas.microsoft.com/office/drawing/2014/chart" uri="{C3380CC4-5D6E-409C-BE32-E72D297353CC}">
                  <c16:uniqueId val="{00000003-1AE4-4949-B996-39C9BA5B6AC4}"/>
                </c:ext>
              </c:extLst>
            </c:dLbl>
            <c:dLbl>
              <c:idx val="7"/>
              <c:delete val="1"/>
              <c:extLst>
                <c:ext xmlns:c15="http://schemas.microsoft.com/office/drawing/2012/chart" uri="{CE6537A1-D6FC-4f65-9D91-7224C49458BB}"/>
                <c:ext xmlns:c16="http://schemas.microsoft.com/office/drawing/2014/chart" uri="{C3380CC4-5D6E-409C-BE32-E72D297353CC}">
                  <c16:uniqueId val="{0000001C-1AE4-4949-B996-39C9BA5B6AC4}"/>
                </c:ext>
              </c:extLst>
            </c:dLbl>
            <c:dLbl>
              <c:idx val="8"/>
              <c:delete val="1"/>
              <c:extLst>
                <c:ext xmlns:c15="http://schemas.microsoft.com/office/drawing/2012/chart" uri="{CE6537A1-D6FC-4f65-9D91-7224C49458BB}"/>
                <c:ext xmlns:c16="http://schemas.microsoft.com/office/drawing/2014/chart" uri="{C3380CC4-5D6E-409C-BE32-E72D297353CC}">
                  <c16:uniqueId val="{0000001D-1AE4-4949-B996-39C9BA5B6AC4}"/>
                </c:ext>
              </c:extLst>
            </c:dLbl>
            <c:dLbl>
              <c:idx val="9"/>
              <c:delete val="1"/>
              <c:extLst>
                <c:ext xmlns:c15="http://schemas.microsoft.com/office/drawing/2012/chart" uri="{CE6537A1-D6FC-4f65-9D91-7224C49458BB}"/>
                <c:ext xmlns:c16="http://schemas.microsoft.com/office/drawing/2014/chart" uri="{C3380CC4-5D6E-409C-BE32-E72D297353CC}">
                  <c16:uniqueId val="{0000001E-1AE4-4949-B996-39C9BA5B6AC4}"/>
                </c:ext>
              </c:extLst>
            </c:dLbl>
            <c:dLbl>
              <c:idx val="10"/>
              <c:delete val="1"/>
              <c:extLst>
                <c:ext xmlns:c15="http://schemas.microsoft.com/office/drawing/2012/chart" uri="{CE6537A1-D6FC-4f65-9D91-7224C49458BB}"/>
                <c:ext xmlns:c16="http://schemas.microsoft.com/office/drawing/2014/chart" uri="{C3380CC4-5D6E-409C-BE32-E72D297353CC}">
                  <c16:uniqueId val="{0000001F-1AE4-4949-B996-39C9BA5B6AC4}"/>
                </c:ext>
              </c:extLst>
            </c:dLbl>
            <c:dLbl>
              <c:idx val="11"/>
              <c:delete val="1"/>
              <c:extLst>
                <c:ext xmlns:c15="http://schemas.microsoft.com/office/drawing/2012/chart" uri="{CE6537A1-D6FC-4f65-9D91-7224C49458BB}"/>
                <c:ext xmlns:c16="http://schemas.microsoft.com/office/drawing/2014/chart" uri="{C3380CC4-5D6E-409C-BE32-E72D297353CC}">
                  <c16:uniqueId val="{00000020-1AE4-4949-B996-39C9BA5B6AC4}"/>
                </c:ext>
              </c:extLst>
            </c:dLbl>
            <c:dLbl>
              <c:idx val="12"/>
              <c:delete val="1"/>
              <c:extLst>
                <c:ext xmlns:c15="http://schemas.microsoft.com/office/drawing/2012/chart" uri="{CE6537A1-D6FC-4f65-9D91-7224C49458BB}"/>
                <c:ext xmlns:c16="http://schemas.microsoft.com/office/drawing/2014/chart" uri="{C3380CC4-5D6E-409C-BE32-E72D297353CC}">
                  <c16:uniqueId val="{00000021-1AE4-4949-B996-39C9BA5B6AC4}"/>
                </c:ext>
              </c:extLst>
            </c:dLbl>
            <c:spPr>
              <a:noFill/>
              <a:ln>
                <a:noFill/>
              </a:ln>
              <a:effectLst/>
            </c:sp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'Sự cố vụ việc bảo dưỡng tàu bay'!$B$3:$B$26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'Sự cố vụ việc bảo dưỡng tàu bay'!$E$3:$E$26</c:f>
              <c:numCache>
                <c:formatCode>0.00</c:formatCode>
                <c:ptCount val="13"/>
                <c:pt idx="0">
                  <c:v>0</c:v>
                </c:pt>
                <c:pt idx="1">
                  <c:v>0</c:v>
                </c:pt>
                <c:pt idx="2">
                  <c:v>0</c:v>
                </c:pt>
                <c:pt idx="3">
                  <c:v>0</c:v>
                </c:pt>
                <c:pt idx="4">
                  <c:v>0</c:v>
                </c:pt>
                <c:pt idx="5">
                  <c:v>0.8693384334521429</c:v>
                </c:pt>
                <c:pt idx="6">
                  <c:v>0</c:v>
                </c:pt>
                <c:pt idx="7">
                  <c:v>0</c:v>
                </c:pt>
                <c:pt idx="8">
                  <c:v>0</c:v>
                </c:pt>
                <c:pt idx="9">
                  <c:v>0</c:v>
                </c:pt>
                <c:pt idx="10">
                  <c:v>0</c:v>
                </c:pt>
                <c:pt idx="11">
                  <c:v>0</c:v>
                </c:pt>
                <c:pt idx="12">
                  <c:v>0</c:v>
                </c:pt>
              </c:numCache>
            </c:numRef>
          </c:val>
          <c:smooth val="0"/>
          <c:extLst>
            <c:ext xmlns:c16="http://schemas.microsoft.com/office/drawing/2014/chart" uri="{C3380CC4-5D6E-409C-BE32-E72D297353CC}">
              <c16:uniqueId val="{00000004-1AE4-4949-B996-39C9BA5B6AC4}"/>
            </c:ext>
          </c:extLst>
        </c:ser>
        <c:ser>
          <c:idx val="2"/>
          <c:order val="2"/>
          <c:spPr>
            <a:ln w="25400">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D33-4EEA-92F2-C7CF2DBE087F}"/>
                </c:ext>
              </c:extLst>
            </c:dLbl>
            <c:dLbl>
              <c:idx val="7"/>
              <c:layout>
                <c:manualLayout>
                  <c:x val="0.38046885572180056"/>
                  <c:y val="-8.241015184527655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AE4-4949-B996-39C9BA5B6AC4}"/>
                </c:ext>
              </c:extLst>
            </c:dLbl>
            <c:spPr>
              <a:solidFill>
                <a:srgbClr val="00B0F0"/>
              </a:solidFill>
              <a:ln>
                <a:noFill/>
              </a:ln>
              <a:effectLst/>
            </c:sp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'Sự cố vụ việc bảo dưỡng tàu bay'!$B$3:$B$26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'Sự cố vụ việc bảo dưỡng tàu bay'!$F$3:$F$26</c:f>
              <c:numCache>
                <c:formatCode>0.00</c:formatCode>
                <c:ptCount val="13"/>
                <c:pt idx="0">
                  <c:v>3.8615171673610371</c:v>
                </c:pt>
                <c:pt idx="1">
                  <c:v>3.8615171673610371</c:v>
                </c:pt>
                <c:pt idx="2">
                  <c:v>3.8615171673610371</c:v>
                </c:pt>
                <c:pt idx="3">
                  <c:v>3.8615171673610371</c:v>
                </c:pt>
                <c:pt idx="4">
                  <c:v>3.8615171673610371</c:v>
                </c:pt>
                <c:pt idx="5">
                  <c:v>3.8615171673610371</c:v>
                </c:pt>
                <c:pt idx="6">
                  <c:v>0.43368797490235522</c:v>
                </c:pt>
                <c:pt idx="7">
                  <c:v>0.43368797490235522</c:v>
                </c:pt>
                <c:pt idx="8">
                  <c:v>0.43368797490235522</c:v>
                </c:pt>
                <c:pt idx="9">
                  <c:v>0.43368797490235522</c:v>
                </c:pt>
                <c:pt idx="10">
                  <c:v>0.43368797490235522</c:v>
                </c:pt>
                <c:pt idx="11">
                  <c:v>0.43368797490235522</c:v>
                </c:pt>
                <c:pt idx="12">
                  <c:v>0.43368797490235522</c:v>
                </c:pt>
              </c:numCache>
            </c:numRef>
          </c:val>
          <c:smooth val="0"/>
          <c:extLst>
            <c:ext xmlns:c16="http://schemas.microsoft.com/office/drawing/2014/chart" uri="{C3380CC4-5D6E-409C-BE32-E72D297353CC}">
              <c16:uniqueId val="{00000006-1AE4-4949-B996-39C9BA5B6AC4}"/>
            </c:ext>
          </c:extLst>
        </c:ser>
        <c:ser>
          <c:idx val="3"/>
          <c:order val="3"/>
          <c:spPr>
            <a:ln w="25400">
              <a:solidFill>
                <a:srgbClr val="FFC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D33-4EEA-92F2-C7CF2DBE087F}"/>
                </c:ext>
              </c:extLst>
            </c:dLbl>
            <c:dLbl>
              <c:idx val="7"/>
              <c:delete val="1"/>
              <c:extLst>
                <c:ext xmlns:c15="http://schemas.microsoft.com/office/drawing/2012/chart" uri="{CE6537A1-D6FC-4f65-9D91-7224C49458BB}"/>
                <c:ext xmlns:c16="http://schemas.microsoft.com/office/drawing/2014/chart" uri="{C3380CC4-5D6E-409C-BE32-E72D297353CC}">
                  <c16:uniqueId val="{00000007-1AE4-4949-B996-39C9BA5B6AC4}"/>
                </c:ext>
              </c:extLst>
            </c:dLbl>
            <c:dLbl>
              <c:idx val="12"/>
              <c:layout>
                <c:manualLayout>
                  <c:x val="8.9426440447431792E-3"/>
                  <c:y val="-0.1123774797890136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D33-4EEA-92F2-C7CF2DBE087F}"/>
                </c:ext>
              </c:extLst>
            </c:dLbl>
            <c:spPr>
              <a:solidFill>
                <a:srgbClr val="FFC000"/>
              </a:solidFill>
              <a:ln>
                <a:noFill/>
              </a:ln>
              <a:effectLst/>
            </c:sp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'Sự cố vụ việc bảo dưỡng tàu bay'!$B$3:$B$26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'Sự cố vụ việc bảo dưỡng tàu bay'!$G$3:$G$26</c:f>
              <c:numCache>
                <c:formatCode>0.00</c:formatCode>
                <c:ptCount val="13"/>
                <c:pt idx="0">
                  <c:v>4.7983825991721627</c:v>
                </c:pt>
                <c:pt idx="1">
                  <c:v>4.7983825991721627</c:v>
                </c:pt>
                <c:pt idx="2">
                  <c:v>4.7983825991721627</c:v>
                </c:pt>
                <c:pt idx="3">
                  <c:v>4.7983825991721627</c:v>
                </c:pt>
                <c:pt idx="4">
                  <c:v>4.7983825991721627</c:v>
                </c:pt>
                <c:pt idx="5">
                  <c:v>4.7983825991721627</c:v>
                </c:pt>
                <c:pt idx="6">
                  <c:v>0.637441557751243</c:v>
                </c:pt>
                <c:pt idx="7">
                  <c:v>0.637441557751243</c:v>
                </c:pt>
                <c:pt idx="8">
                  <c:v>0.637441557751243</c:v>
                </c:pt>
                <c:pt idx="9">
                  <c:v>0.637441557751243</c:v>
                </c:pt>
                <c:pt idx="10">
                  <c:v>0.637441557751243</c:v>
                </c:pt>
                <c:pt idx="11">
                  <c:v>0.637441557751243</c:v>
                </c:pt>
                <c:pt idx="12">
                  <c:v>0.637441557751243</c:v>
                </c:pt>
              </c:numCache>
            </c:numRef>
          </c:val>
          <c:smooth val="0"/>
          <c:extLst>
            <c:ext xmlns:c16="http://schemas.microsoft.com/office/drawing/2014/chart" uri="{C3380CC4-5D6E-409C-BE32-E72D297353CC}">
              <c16:uniqueId val="{00000008-1AE4-4949-B996-39C9BA5B6AC4}"/>
            </c:ext>
          </c:extLst>
        </c:ser>
        <c:ser>
          <c:idx val="4"/>
          <c:order val="4"/>
          <c:spPr>
            <a:ln w="25400">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D33-4EEA-92F2-C7CF2DBE087F}"/>
                </c:ext>
              </c:extLst>
            </c:dLbl>
            <c:dLbl>
              <c:idx val="12"/>
              <c:layout>
                <c:manualLayout>
                  <c:x val="9.7556116851742567E-3"/>
                  <c:y val="-0.1385988917397833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D33-4EEA-92F2-C7CF2DBE087F}"/>
                </c:ext>
              </c:extLst>
            </c:dLbl>
            <c:spPr>
              <a:solidFill>
                <a:srgbClr val="FF0000"/>
              </a:solid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'Sự cố vụ việc bảo dưỡng tàu bay'!$B$3:$B$26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'Sự cố vụ việc bảo dưỡng tàu bay'!$H$3:$H$26</c:f>
              <c:numCache>
                <c:formatCode>0.00</c:formatCode>
                <c:ptCount val="13"/>
                <c:pt idx="0">
                  <c:v>5.7352480309832883</c:v>
                </c:pt>
                <c:pt idx="1">
                  <c:v>5.7352480309832883</c:v>
                </c:pt>
                <c:pt idx="2">
                  <c:v>5.7352480309832883</c:v>
                </c:pt>
                <c:pt idx="3">
                  <c:v>5.7352480309832883</c:v>
                </c:pt>
                <c:pt idx="4">
                  <c:v>5.7352480309832883</c:v>
                </c:pt>
                <c:pt idx="5">
                  <c:v>5.7352480309832883</c:v>
                </c:pt>
                <c:pt idx="6">
                  <c:v>0.8411951406001309</c:v>
                </c:pt>
                <c:pt idx="7">
                  <c:v>0.8411951406001309</c:v>
                </c:pt>
                <c:pt idx="8">
                  <c:v>0.8411951406001309</c:v>
                </c:pt>
                <c:pt idx="9">
                  <c:v>0.8411951406001309</c:v>
                </c:pt>
                <c:pt idx="10">
                  <c:v>0.8411951406001309</c:v>
                </c:pt>
                <c:pt idx="11">
                  <c:v>0.8411951406001309</c:v>
                </c:pt>
                <c:pt idx="12">
                  <c:v>0.8411951406001309</c:v>
                </c:pt>
              </c:numCache>
            </c:numRef>
          </c:val>
          <c:smooth val="0"/>
          <c:extLst>
            <c:ext xmlns:c16="http://schemas.microsoft.com/office/drawing/2014/chart" uri="{C3380CC4-5D6E-409C-BE32-E72D297353CC}">
              <c16:uniqueId val="{0000000A-1AE4-4949-B996-39C9BA5B6AC4}"/>
            </c:ext>
          </c:extLst>
        </c:ser>
        <c:ser>
          <c:idx val="5"/>
          <c:order val="5"/>
          <c:spPr>
            <a:ln w="25400">
              <a:solidFill>
                <a:srgbClr val="339933"/>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D33-4EEA-92F2-C7CF2DBE087F}"/>
                </c:ext>
              </c:extLst>
            </c:dLbl>
            <c:dLbl>
              <c:idx val="7"/>
              <c:layout>
                <c:manualLayout>
                  <c:x val="0.38046885572180056"/>
                  <c:y val="-5.244282390153962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1AE4-4949-B996-39C9BA5B6AC4}"/>
                </c:ext>
              </c:extLst>
            </c:dLbl>
            <c:spPr>
              <a:solidFill>
                <a:srgbClr val="00B050"/>
              </a:solidFill>
              <a:ln>
                <a:noFill/>
              </a:ln>
              <a:effectLst/>
            </c:sp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'Sự cố vụ việc bảo dưỡng tàu bay'!$B$3:$B$26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'Sự cố vụ việc bảo dưỡng tàu bay'!$I$3:$I$26</c:f>
              <c:numCache>
                <c:formatCode>0.00</c:formatCode>
                <c:ptCount val="13"/>
                <c:pt idx="0">
                  <c:v>2.9246517355499115</c:v>
                </c:pt>
                <c:pt idx="1">
                  <c:v>2.9246517355499115</c:v>
                </c:pt>
                <c:pt idx="2">
                  <c:v>2.9246517355499115</c:v>
                </c:pt>
                <c:pt idx="3">
                  <c:v>2.9246517355499115</c:v>
                </c:pt>
                <c:pt idx="4">
                  <c:v>2.9246517355499115</c:v>
                </c:pt>
                <c:pt idx="5">
                  <c:v>2.9246517355499115</c:v>
                </c:pt>
                <c:pt idx="6">
                  <c:v>0.21843767245079404</c:v>
                </c:pt>
                <c:pt idx="7">
                  <c:v>0.21843767245079404</c:v>
                </c:pt>
                <c:pt idx="8">
                  <c:v>0.21843767245079404</c:v>
                </c:pt>
                <c:pt idx="9">
                  <c:v>0.21843767245079404</c:v>
                </c:pt>
                <c:pt idx="10">
                  <c:v>0.21843767245079404</c:v>
                </c:pt>
                <c:pt idx="11">
                  <c:v>0.21843767245079404</c:v>
                </c:pt>
                <c:pt idx="12">
                  <c:v>0.21843767245079404</c:v>
                </c:pt>
              </c:numCache>
            </c:numRef>
          </c:val>
          <c:smooth val="0"/>
          <c:extLst>
            <c:ext xmlns:c16="http://schemas.microsoft.com/office/drawing/2014/chart" uri="{C3380CC4-5D6E-409C-BE32-E72D297353CC}">
              <c16:uniqueId val="{0000000C-1AE4-4949-B996-39C9BA5B6AC4}"/>
            </c:ext>
          </c:extLst>
        </c:ser>
        <c:dLbls>
          <c:showLegendKey val="0"/>
          <c:showVal val="1"/>
          <c:showCatName val="0"/>
          <c:showSerName val="0"/>
          <c:showPercent val="0"/>
          <c:showBubbleSize val="0"/>
        </c:dLbls>
        <c:marker val="1"/>
        <c:smooth val="0"/>
        <c:axId val="454651656"/>
        <c:axId val="454651264"/>
      </c:lineChart>
      <c:catAx>
        <c:axId val="454651656"/>
        <c:scaling>
          <c:orientation val="minMax"/>
        </c:scaling>
        <c:delete val="0"/>
        <c:axPos val="b"/>
        <c:numFmt formatCode="General" sourceLinked="0"/>
        <c:majorTickMark val="none"/>
        <c:minorTickMark val="none"/>
        <c:tickLblPos val="nextTo"/>
        <c:crossAx val="454651264"/>
        <c:crosses val="autoZero"/>
        <c:auto val="1"/>
        <c:lblAlgn val="ctr"/>
        <c:lblOffset val="100"/>
        <c:noMultiLvlLbl val="0"/>
      </c:catAx>
      <c:valAx>
        <c:axId val="454651264"/>
        <c:scaling>
          <c:orientation val="minMax"/>
        </c:scaling>
        <c:delete val="1"/>
        <c:axPos val="l"/>
        <c:numFmt formatCode="General" sourceLinked="1"/>
        <c:majorTickMark val="out"/>
        <c:minorTickMark val="none"/>
        <c:tickLblPos val="nextTo"/>
        <c:crossAx val="454651656"/>
        <c:crosses val="autoZero"/>
        <c:crossBetween val="between"/>
      </c:valAx>
    </c:plotArea>
    <c:plotVisOnly val="1"/>
    <c:dispBlanksAs val="gap"/>
    <c:showDLblsOverMax val="0"/>
  </c:chart>
  <c:spPr>
    <a:ln w="6350">
      <a:solidFill>
        <a:sysClr val="windowText" lastClr="000000"/>
      </a:solidFill>
    </a:ln>
  </c:spPr>
  <c:txPr>
    <a:bodyPr/>
    <a:lstStyle/>
    <a:p>
      <a:pPr>
        <a:defRPr b="1">
          <a:latin typeface="Times New Roman" panose="02020603050405020304" pitchFamily="18" charset="0"/>
          <a:cs typeface="Times New Roman" panose="02020603050405020304" pitchFamily="18" charset="0"/>
        </a:defRPr>
      </a:pPr>
      <a:endParaRPr lang="en-US"/>
    </a:p>
  </c:txPr>
  <c:externalData r:id="rId2">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000"/>
              <a:t>Báo cáo vụ việc MOR </a:t>
            </a: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'Sự cố vụ việc bảo dưỡng tàu bay'!$AB$3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'Sự cố vụ việc bảo dưỡng tàu bay'!$AA$4:$AA$5</c:f>
              <c:strCache>
                <c:ptCount val="2"/>
                <c:pt idx="0">
                  <c:v>Số vụ</c:v>
                </c:pt>
                <c:pt idx="1">
                  <c:v>Tỷ lệ/10000CB</c:v>
                </c:pt>
              </c:strCache>
            </c:strRef>
          </c:cat>
          <c:val>
            <c:numRef>
              <c:f>'Sự cố vụ việc bảo dưỡng tàu bay'!$AB$4:$AB$5</c:f>
              <c:numCache>
                <c:formatCode>0.00</c:formatCode>
                <c:ptCount val="2"/>
                <c:pt idx="0" formatCode="General">
                  <c:v>2</c:v>
                </c:pt>
                <c:pt idx="1">
                  <c:v>0.25500121125575348</c:v>
                </c:pt>
              </c:numCache>
            </c:numRef>
          </c:val>
          <c:extLst>
            <c:ext xmlns:c16="http://schemas.microsoft.com/office/drawing/2014/chart" uri="{C3380CC4-5D6E-409C-BE32-E72D297353CC}">
              <c16:uniqueId val="{00000000-E179-45BA-A52F-047FC26BDE82}"/>
            </c:ext>
          </c:extLst>
        </c:ser>
        <c:ser>
          <c:idx val="1"/>
          <c:order val="1"/>
          <c:tx>
            <c:strRef>
              <c:f>'Sự cố vụ việc bảo dưỡng tàu bay'!$AC$3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'Sự cố vụ việc bảo dưỡng tàu bay'!$AA$4:$AA$5</c:f>
              <c:strCache>
                <c:ptCount val="2"/>
                <c:pt idx="0">
                  <c:v>Số vụ</c:v>
                </c:pt>
                <c:pt idx="1">
                  <c:v>Tỷ lệ/10000CB</c:v>
                </c:pt>
              </c:strCache>
            </c:strRef>
          </c:cat>
          <c:val>
            <c:numRef>
              <c:f>'Sự cố vụ việc bảo dưỡng tàu bay'!$AC$4:$AC$5</c:f>
              <c:numCache>
                <c:formatCode>0.00</c:formatCode>
                <c:ptCount val="2"/>
                <c:pt idx="0" formatCode="0">
                  <c:v>0</c:v>
                </c:pt>
                <c:pt idx="1">
                  <c:v>0</c:v>
                </c:pt>
              </c:numCache>
            </c:numRef>
          </c:val>
          <c:extLst>
            <c:ext xmlns:c16="http://schemas.microsoft.com/office/drawing/2014/chart" uri="{C3380CC4-5D6E-409C-BE32-E72D297353CC}">
              <c16:uniqueId val="{00000001-E179-45BA-A52F-047FC26BDE82}"/>
            </c:ext>
          </c:extLst>
        </c:ser>
        <c:dLbls>
          <c:showLegendKey val="0"/>
          <c:showVal val="0"/>
          <c:showCatName val="0"/>
          <c:showSerName val="0"/>
          <c:showPercent val="0"/>
          <c:showBubbleSize val="0"/>
        </c:dLbls>
        <c:gapWidth val="219"/>
        <c:overlap val="-27"/>
        <c:axId val="328426288"/>
        <c:axId val="328425896"/>
      </c:barChart>
      <c:catAx>
        <c:axId val="328426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5896"/>
        <c:crosses val="autoZero"/>
        <c:auto val="1"/>
        <c:lblAlgn val="ctr"/>
        <c:lblOffset val="100"/>
        <c:noMultiLvlLbl val="0"/>
      </c:catAx>
      <c:valAx>
        <c:axId val="3284258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6288"/>
        <c:crosses val="autoZero"/>
        <c:crossBetween val="between"/>
      </c:valAx>
      <c:spPr>
        <a:noFill/>
        <a:ln>
          <a:noFill/>
        </a:ln>
        <a:effectLst/>
      </c:spPr>
    </c:plotArea>
    <c:legend>
      <c:legendPos val="b"/>
      <c:layout>
        <c:manualLayout>
          <c:xMode val="edge"/>
          <c:yMode val="edge"/>
          <c:x val="0"/>
          <c:y val="0.93415568828748119"/>
          <c:w val="1"/>
          <c:h val="4.8640736981273844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9525" cap="flat" cmpd="sng" algn="ctr">
      <a:solidFill>
        <a:schemeClr val="tx1"/>
      </a:solidFill>
      <a:round/>
    </a:ln>
    <a:effectLst/>
  </c:spPr>
  <c:txPr>
    <a:bodyPr/>
    <a:lstStyle/>
    <a:p>
      <a:pPr>
        <a:defRPr sz="100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405492589058861E-2"/>
          <c:y val="2.5636498827477074E-2"/>
          <c:w val="0.96363823768567403"/>
          <c:h val="0.88813852591402775"/>
        </c:manualLayout>
      </c:layout>
      <c:barChart>
        <c:barDir val="col"/>
        <c:grouping val="clustered"/>
        <c:varyColors val="0"/>
        <c:ser>
          <c:idx val="0"/>
          <c:order val="0"/>
          <c:invertIfNegative val="0"/>
          <c:dLbls>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'Sự cố vụ việc sai lỗi con người'!$B$3:$B$26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'Sự cố vụ việc sai lỗi con người'!$D$3:$D$26</c:f>
              <c:numCache>
                <c:formatCode>General</c:formatCode>
                <c:ptCount val="13"/>
                <c:pt idx="0">
                  <c:v>1</c:v>
                </c:pt>
                <c:pt idx="1">
                  <c:v>1</c:v>
                </c:pt>
                <c:pt idx="2">
                  <c:v>0</c:v>
                </c:pt>
                <c:pt idx="3">
                  <c:v>3</c:v>
                </c:pt>
                <c:pt idx="4">
                  <c:v>1</c:v>
                </c:pt>
                <c:pt idx="5">
                  <c:v>1</c:v>
                </c:pt>
                <c:pt idx="6">
                  <c:v>2</c:v>
                </c:pt>
                <c:pt idx="7">
                  <c:v>0</c:v>
                </c:pt>
                <c:pt idx="8">
                  <c:v>0</c:v>
                </c:pt>
                <c:pt idx="9">
                  <c:v>1</c:v>
                </c:pt>
                <c:pt idx="10">
                  <c:v>1</c:v>
                </c:pt>
                <c:pt idx="11">
                  <c:v>1</c:v>
                </c:pt>
                <c:pt idx="12">
                  <c:v>1</c:v>
                </c:pt>
              </c:numCache>
            </c:numRef>
          </c:val>
          <c:extLst>
            <c:ext xmlns:c16="http://schemas.microsoft.com/office/drawing/2014/chart" uri="{C3380CC4-5D6E-409C-BE32-E72D297353CC}">
              <c16:uniqueId val="{00000000-37AA-4FD4-B1BA-A11DB51178E5}"/>
            </c:ext>
          </c:extLst>
        </c:ser>
        <c:dLbls>
          <c:showLegendKey val="0"/>
          <c:showVal val="0"/>
          <c:showCatName val="0"/>
          <c:showSerName val="0"/>
          <c:showPercent val="0"/>
          <c:showBubbleSize val="0"/>
        </c:dLbls>
        <c:gapWidth val="150"/>
        <c:axId val="454651656"/>
        <c:axId val="454651264"/>
      </c:barChart>
      <c:lineChart>
        <c:grouping val="standard"/>
        <c:varyColors val="0"/>
        <c:ser>
          <c:idx val="1"/>
          <c:order val="1"/>
          <c:spPr>
            <a:ln w="28575">
              <a:solidFill>
                <a:srgbClr val="7030A0"/>
              </a:solidFill>
            </a:ln>
          </c:spPr>
          <c:marker>
            <c:symbol val="none"/>
          </c:marker>
          <c:dLbls>
            <c:dLbl>
              <c:idx val="0"/>
              <c:layout>
                <c:manualLayout>
                  <c:x val="-3.7197342712214948E-2"/>
                  <c:y val="-0.14507717036782727"/>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7AA-4FD4-B1BA-A11DB51178E5}"/>
                </c:ext>
              </c:extLst>
            </c:dLbl>
            <c:dLbl>
              <c:idx val="1"/>
              <c:layout>
                <c:manualLayout>
                  <c:x val="-3.1883436610469967E-2"/>
                  <c:y val="-0.1556474560048274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7AA-4FD4-B1BA-A11DB51178E5}"/>
                </c:ext>
              </c:extLst>
            </c:dLbl>
            <c:dLbl>
              <c:idx val="2"/>
              <c:delete val="1"/>
              <c:extLst>
                <c:ext xmlns:c15="http://schemas.microsoft.com/office/drawing/2012/chart" uri="{CE6537A1-D6FC-4f65-9D91-7224C49458BB}"/>
                <c:ext xmlns:c16="http://schemas.microsoft.com/office/drawing/2014/chart" uri="{C3380CC4-5D6E-409C-BE32-E72D297353CC}">
                  <c16:uniqueId val="{00000026-37AA-4FD4-B1BA-A11DB51178E5}"/>
                </c:ext>
              </c:extLst>
            </c:dLbl>
            <c:dLbl>
              <c:idx val="3"/>
              <c:layout>
                <c:manualLayout>
                  <c:x val="-2.5681189171861882E-2"/>
                  <c:y val="-4.384299839074358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7AA-4FD4-B1BA-A11DB51178E5}"/>
                </c:ext>
              </c:extLst>
            </c:dLbl>
            <c:dLbl>
              <c:idx val="4"/>
              <c:layout>
                <c:manualLayout>
                  <c:x val="-1.9484322373064938E-2"/>
                  <c:y val="-4.465945681632577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7AA-4FD4-B1BA-A11DB51178E5}"/>
                </c:ext>
              </c:extLst>
            </c:dLbl>
            <c:dLbl>
              <c:idx val="5"/>
              <c:layout>
                <c:manualLayout>
                  <c:x val="-4.0739946780045007E-2"/>
                  <c:y val="-8.694059936432632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7AA-4FD4-B1BA-A11DB51178E5}"/>
                </c:ext>
              </c:extLst>
            </c:dLbl>
            <c:dLbl>
              <c:idx val="6"/>
              <c:layout>
                <c:manualLayout>
                  <c:x val="-9.5639407803799151E-3"/>
                  <c:y val="-0.1738685650740964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37AA-4FD4-B1BA-A11DB51178E5}"/>
                </c:ext>
              </c:extLst>
            </c:dLbl>
            <c:dLbl>
              <c:idx val="7"/>
              <c:delete val="1"/>
              <c:extLst>
                <c:ext xmlns:c15="http://schemas.microsoft.com/office/drawing/2012/chart" uri="{CE6537A1-D6FC-4f65-9D91-7224C49458BB}"/>
                <c:ext xmlns:c16="http://schemas.microsoft.com/office/drawing/2014/chart" uri="{C3380CC4-5D6E-409C-BE32-E72D297353CC}">
                  <c16:uniqueId val="{00000023-37AA-4FD4-B1BA-A11DB51178E5}"/>
                </c:ext>
              </c:extLst>
            </c:dLbl>
            <c:dLbl>
              <c:idx val="8"/>
              <c:delete val="1"/>
              <c:extLst>
                <c:ext xmlns:c15="http://schemas.microsoft.com/office/drawing/2012/chart" uri="{CE6537A1-D6FC-4f65-9D91-7224C49458BB}"/>
                <c:ext xmlns:c16="http://schemas.microsoft.com/office/drawing/2014/chart" uri="{C3380CC4-5D6E-409C-BE32-E72D297353CC}">
                  <c16:uniqueId val="{00000024-37AA-4FD4-B1BA-A11DB51178E5}"/>
                </c:ext>
              </c:extLst>
            </c:dLbl>
            <c:dLbl>
              <c:idx val="10"/>
              <c:layout>
                <c:manualLayout>
                  <c:x val="-2.8691822341139744E-2"/>
                  <c:y val="-5.653395060691476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37AA-4FD4-B1BA-A11DB51178E5}"/>
                </c:ext>
              </c:extLst>
            </c:dLbl>
            <c:dLbl>
              <c:idx val="11"/>
              <c:layout>
                <c:manualLayout>
                  <c:x val="-3.1879802601266383E-2"/>
                  <c:y val="-6.008954498470827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37AA-4FD4-B1BA-A11DB51178E5}"/>
                </c:ext>
              </c:extLst>
            </c:dLbl>
            <c:dLbl>
              <c:idx val="12"/>
              <c:layout>
                <c:manualLayout>
                  <c:x val="-4.6225713771836367E-2"/>
                  <c:y val="-6.008954498470827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37AA-4FD4-B1BA-A11DB51178E5}"/>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trendline>
            <c:spPr>
              <a:ln w="12700">
                <a:solidFill>
                  <a:srgbClr val="C00000"/>
                </a:solidFill>
              </a:ln>
            </c:spPr>
            <c:trendlineType val="linear"/>
            <c:dispRSqr val="0"/>
            <c:dispEq val="0"/>
          </c:trendline>
          <c:cat>
            <c:strRef>
              <c:f>'Sự cố vụ việc sai lỗi con người'!$B$3:$B$26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'Sự cố vụ việc sai lỗi con người'!$E$3:$E$26</c:f>
              <c:numCache>
                <c:formatCode>0.00</c:formatCode>
                <c:ptCount val="13"/>
                <c:pt idx="0">
                  <c:v>0.77089115016959608</c:v>
                </c:pt>
                <c:pt idx="1">
                  <c:v>0.8515711487694797</c:v>
                </c:pt>
                <c:pt idx="2">
                  <c:v>0</c:v>
                </c:pt>
                <c:pt idx="3">
                  <c:v>3.1446540880503147</c:v>
                </c:pt>
                <c:pt idx="4">
                  <c:v>1.0088781275221954</c:v>
                </c:pt>
                <c:pt idx="5">
                  <c:v>0.8693384334521429</c:v>
                </c:pt>
                <c:pt idx="6">
                  <c:v>1.6669444907484581</c:v>
                </c:pt>
                <c:pt idx="7">
                  <c:v>0</c:v>
                </c:pt>
                <c:pt idx="8">
                  <c:v>0</c:v>
                </c:pt>
                <c:pt idx="9">
                  <c:v>0.88739018546454873</c:v>
                </c:pt>
                <c:pt idx="10">
                  <c:v>0.83899656011410351</c:v>
                </c:pt>
                <c:pt idx="11">
                  <c:v>0.76196281621456874</c:v>
                </c:pt>
                <c:pt idx="12">
                  <c:v>0.76899415564441709</c:v>
                </c:pt>
              </c:numCache>
            </c:numRef>
          </c:val>
          <c:smooth val="0"/>
          <c:extLst>
            <c:ext xmlns:c16="http://schemas.microsoft.com/office/drawing/2014/chart" uri="{C3380CC4-5D6E-409C-BE32-E72D297353CC}">
              <c16:uniqueId val="{00000006-37AA-4FD4-B1BA-A11DB51178E5}"/>
            </c:ext>
          </c:extLst>
        </c:ser>
        <c:ser>
          <c:idx val="2"/>
          <c:order val="2"/>
          <c:spPr>
            <a:ln w="25400">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37AA-4FD4-B1BA-A11DB51178E5}"/>
                </c:ext>
              </c:extLst>
            </c:dLbl>
            <c:dLbl>
              <c:idx val="7"/>
              <c:layout>
                <c:manualLayout>
                  <c:x val="0.37458768056487995"/>
                  <c:y val="3.5555943777932511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7AA-4FD4-B1BA-A11DB51178E5}"/>
                </c:ext>
              </c:extLst>
            </c:dLbl>
            <c:spPr>
              <a:solidFill>
                <a:srgbClr val="00B0F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'Sự cố vụ việc sai lỗi con người'!$B$3:$B$26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'Sự cố vụ việc sai lỗi con người'!$F$3:$F$26</c:f>
              <c:numCache>
                <c:formatCode>0.00</c:formatCode>
                <c:ptCount val="13"/>
                <c:pt idx="0">
                  <c:v>3.8615171673610371</c:v>
                </c:pt>
                <c:pt idx="1">
                  <c:v>3.8615171673610371</c:v>
                </c:pt>
                <c:pt idx="2">
                  <c:v>3.8615171673610371</c:v>
                </c:pt>
                <c:pt idx="3">
                  <c:v>3.8615171673610371</c:v>
                </c:pt>
                <c:pt idx="4">
                  <c:v>3.8615171673610371</c:v>
                </c:pt>
                <c:pt idx="5">
                  <c:v>3.8615171673610371</c:v>
                </c:pt>
                <c:pt idx="6">
                  <c:v>1.5805742345107321</c:v>
                </c:pt>
                <c:pt idx="7">
                  <c:v>1.5805742345107321</c:v>
                </c:pt>
                <c:pt idx="8">
                  <c:v>1.5805742345107321</c:v>
                </c:pt>
                <c:pt idx="9">
                  <c:v>1.5805742345107321</c:v>
                </c:pt>
                <c:pt idx="10">
                  <c:v>1.5805742345107321</c:v>
                </c:pt>
                <c:pt idx="11">
                  <c:v>1.5805742345107321</c:v>
                </c:pt>
                <c:pt idx="12">
                  <c:v>1.5805742345107321</c:v>
                </c:pt>
              </c:numCache>
            </c:numRef>
          </c:val>
          <c:smooth val="0"/>
          <c:extLst>
            <c:ext xmlns:c16="http://schemas.microsoft.com/office/drawing/2014/chart" uri="{C3380CC4-5D6E-409C-BE32-E72D297353CC}">
              <c16:uniqueId val="{00000008-37AA-4FD4-B1BA-A11DB51178E5}"/>
            </c:ext>
          </c:extLst>
        </c:ser>
        <c:ser>
          <c:idx val="3"/>
          <c:order val="3"/>
          <c:spPr>
            <a:ln w="25400">
              <a:solidFill>
                <a:srgbClr val="FFC000"/>
              </a:solidFill>
            </a:ln>
          </c:spPr>
          <c:marker>
            <c:symbol val="none"/>
          </c:marker>
          <c:dLbls>
            <c:dLbl>
              <c:idx val="0"/>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37AA-4FD4-B1BA-A11DB51178E5}"/>
                </c:ext>
              </c:extLst>
            </c:dLbl>
            <c:dLbl>
              <c:idx val="6"/>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6="http://schemas.microsoft.com/office/drawing/2014/chart" uri="{C3380CC4-5D6E-409C-BE32-E72D297353CC}">
                  <c16:uniqueId val="{00000009-37AA-4FD4-B1BA-A11DB51178E5}"/>
                </c:ext>
              </c:extLst>
            </c:dLbl>
            <c:dLbl>
              <c:idx val="7"/>
              <c:layout>
                <c:manualLayout>
                  <c:x val="0.37299369043481656"/>
                  <c:y val="-1.3037028780373433E-16"/>
                </c:manualLayout>
              </c:layout>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7AA-4FD4-B1BA-A11DB51178E5}"/>
                </c:ext>
              </c:extLst>
            </c:dLbl>
            <c:spPr>
              <a:no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'Sự cố vụ việc sai lỗi con người'!$B$3:$B$26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'Sự cố vụ việc sai lỗi con người'!$G$3:$G$26</c:f>
              <c:numCache>
                <c:formatCode>0.00</c:formatCode>
                <c:ptCount val="13"/>
                <c:pt idx="0">
                  <c:v>4.7983825991721627</c:v>
                </c:pt>
                <c:pt idx="1">
                  <c:v>4.7983825991721627</c:v>
                </c:pt>
                <c:pt idx="2">
                  <c:v>4.7983825991721627</c:v>
                </c:pt>
                <c:pt idx="3">
                  <c:v>4.7983825991721627</c:v>
                </c:pt>
                <c:pt idx="4">
                  <c:v>4.7983825991721627</c:v>
                </c:pt>
                <c:pt idx="5">
                  <c:v>4.7983825991721627</c:v>
                </c:pt>
                <c:pt idx="6">
                  <c:v>2.0881213061052835</c:v>
                </c:pt>
                <c:pt idx="7">
                  <c:v>2.0881213061052835</c:v>
                </c:pt>
                <c:pt idx="8">
                  <c:v>2.0881213061052835</c:v>
                </c:pt>
                <c:pt idx="9">
                  <c:v>2.0881213061052835</c:v>
                </c:pt>
                <c:pt idx="10">
                  <c:v>2.0881213061052835</c:v>
                </c:pt>
                <c:pt idx="11">
                  <c:v>2.0881213061052835</c:v>
                </c:pt>
                <c:pt idx="12">
                  <c:v>2.0881213061052835</c:v>
                </c:pt>
              </c:numCache>
            </c:numRef>
          </c:val>
          <c:smooth val="0"/>
          <c:extLst>
            <c:ext xmlns:c16="http://schemas.microsoft.com/office/drawing/2014/chart" uri="{C3380CC4-5D6E-409C-BE32-E72D297353CC}">
              <c16:uniqueId val="{0000000B-37AA-4FD4-B1BA-A11DB51178E5}"/>
            </c:ext>
          </c:extLst>
        </c:ser>
        <c:ser>
          <c:idx val="4"/>
          <c:order val="4"/>
          <c:spPr>
            <a:ln w="25400">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37AA-4FD4-B1BA-A11DB51178E5}"/>
                </c:ext>
              </c:extLst>
            </c:dLbl>
            <c:dLbl>
              <c:idx val="7"/>
              <c:layout>
                <c:manualLayout>
                  <c:x val="0.36980571017468977"/>
                  <c:y val="-3.5555943777934467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7AA-4FD4-B1BA-A11DB51178E5}"/>
                </c:ext>
              </c:extLst>
            </c:dLbl>
            <c:spPr>
              <a:solidFill>
                <a:srgbClr val="FF0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'Sự cố vụ việc sai lỗi con người'!$B$3:$B$26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'Sự cố vụ việc sai lỗi con người'!$H$3:$H$26</c:f>
              <c:numCache>
                <c:formatCode>0.00</c:formatCode>
                <c:ptCount val="13"/>
                <c:pt idx="0">
                  <c:v>5.7352480309832883</c:v>
                </c:pt>
                <c:pt idx="1">
                  <c:v>5.7352480309832883</c:v>
                </c:pt>
                <c:pt idx="2">
                  <c:v>5.7352480309832883</c:v>
                </c:pt>
                <c:pt idx="3">
                  <c:v>5.7352480309832883</c:v>
                </c:pt>
                <c:pt idx="4">
                  <c:v>5.7352480309832883</c:v>
                </c:pt>
                <c:pt idx="5">
                  <c:v>5.7352480309832883</c:v>
                </c:pt>
                <c:pt idx="6">
                  <c:v>2.5956683776998344</c:v>
                </c:pt>
                <c:pt idx="7">
                  <c:v>2.5956683776998344</c:v>
                </c:pt>
                <c:pt idx="8">
                  <c:v>2.5956683776998344</c:v>
                </c:pt>
                <c:pt idx="9">
                  <c:v>2.5956683776998344</c:v>
                </c:pt>
                <c:pt idx="10">
                  <c:v>2.5956683776998344</c:v>
                </c:pt>
                <c:pt idx="11">
                  <c:v>2.5956683776998344</c:v>
                </c:pt>
                <c:pt idx="12">
                  <c:v>2.5956683776998344</c:v>
                </c:pt>
              </c:numCache>
            </c:numRef>
          </c:val>
          <c:smooth val="0"/>
          <c:extLst>
            <c:ext xmlns:c16="http://schemas.microsoft.com/office/drawing/2014/chart" uri="{C3380CC4-5D6E-409C-BE32-E72D297353CC}">
              <c16:uniqueId val="{0000000D-37AA-4FD4-B1BA-A11DB51178E5}"/>
            </c:ext>
          </c:extLst>
        </c:ser>
        <c:ser>
          <c:idx val="5"/>
          <c:order val="5"/>
          <c:spPr>
            <a:ln w="25400">
              <a:solidFill>
                <a:srgbClr val="339933"/>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37AA-4FD4-B1BA-A11DB51178E5}"/>
                </c:ext>
              </c:extLst>
            </c:dLbl>
            <c:dLbl>
              <c:idx val="7"/>
              <c:layout>
                <c:manualLayout>
                  <c:x val="0.37584467356902046"/>
                  <c:y val="-3.5555943777933812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37AA-4FD4-B1BA-A11DB51178E5}"/>
                </c:ext>
              </c:extLst>
            </c:dLbl>
            <c:spPr>
              <a:solidFill>
                <a:srgbClr val="00B050"/>
              </a:solidFill>
              <a:ln>
                <a:noFill/>
              </a:ln>
              <a:effectLst/>
            </c:spPr>
            <c:txPr>
              <a:bodyPr wrap="square" lIns="38100" tIns="19050" rIns="38100" bIns="19050" anchor="ctr">
                <a:spAutoFit/>
              </a:bodyPr>
              <a:lstStyle/>
              <a:p>
                <a:pPr>
                  <a:defRPr sz="1200" b="1">
                    <a:solidFill>
                      <a:sysClr val="windowText" lastClr="000000"/>
                    </a:solidFill>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'Sự cố vụ việc sai lỗi con người'!$B$3:$B$26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'Sự cố vụ việc sai lỗi con người'!$I$3:$I$26</c:f>
              <c:numCache>
                <c:formatCode>0.00</c:formatCode>
                <c:ptCount val="13"/>
                <c:pt idx="0">
                  <c:v>2.9246517355499115</c:v>
                </c:pt>
                <c:pt idx="1">
                  <c:v>2.9246517355499115</c:v>
                </c:pt>
                <c:pt idx="2">
                  <c:v>2.9246517355499115</c:v>
                </c:pt>
                <c:pt idx="3">
                  <c:v>2.9246517355499115</c:v>
                </c:pt>
                <c:pt idx="4">
                  <c:v>2.9246517355499115</c:v>
                </c:pt>
                <c:pt idx="5">
                  <c:v>2.9246517355499115</c:v>
                </c:pt>
                <c:pt idx="6">
                  <c:v>1.019375804770372</c:v>
                </c:pt>
                <c:pt idx="7">
                  <c:v>1.019375804770372</c:v>
                </c:pt>
                <c:pt idx="8">
                  <c:v>1.019375804770372</c:v>
                </c:pt>
                <c:pt idx="9">
                  <c:v>1.019375804770372</c:v>
                </c:pt>
                <c:pt idx="10">
                  <c:v>1.019375804770372</c:v>
                </c:pt>
                <c:pt idx="11">
                  <c:v>1.019375804770372</c:v>
                </c:pt>
                <c:pt idx="12">
                  <c:v>1.019375804770372</c:v>
                </c:pt>
              </c:numCache>
            </c:numRef>
          </c:val>
          <c:smooth val="0"/>
          <c:extLst>
            <c:ext xmlns:c16="http://schemas.microsoft.com/office/drawing/2014/chart" uri="{C3380CC4-5D6E-409C-BE32-E72D297353CC}">
              <c16:uniqueId val="{0000000F-37AA-4FD4-B1BA-A11DB51178E5}"/>
            </c:ext>
          </c:extLst>
        </c:ser>
        <c:dLbls>
          <c:showLegendKey val="0"/>
          <c:showVal val="1"/>
          <c:showCatName val="0"/>
          <c:showSerName val="0"/>
          <c:showPercent val="0"/>
          <c:showBubbleSize val="0"/>
        </c:dLbls>
        <c:marker val="1"/>
        <c:smooth val="0"/>
        <c:axId val="454651656"/>
        <c:axId val="454651264"/>
      </c:lineChart>
      <c:catAx>
        <c:axId val="454651656"/>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454651264"/>
        <c:crosses val="autoZero"/>
        <c:auto val="1"/>
        <c:lblAlgn val="ctr"/>
        <c:lblOffset val="100"/>
        <c:noMultiLvlLbl val="0"/>
      </c:catAx>
      <c:valAx>
        <c:axId val="454651264"/>
        <c:scaling>
          <c:orientation val="minMax"/>
        </c:scaling>
        <c:delete val="1"/>
        <c:axPos val="l"/>
        <c:numFmt formatCode="General" sourceLinked="1"/>
        <c:majorTickMark val="out"/>
        <c:minorTickMark val="none"/>
        <c:tickLblPos val="nextTo"/>
        <c:crossAx val="454651656"/>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000"/>
              <a:t>Báo cáo vụ việc MOR </a:t>
            </a: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'Sự cố vụ việc sai lỗi con người'!$AB$3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'Sự cố vụ việc sai lỗi con người'!$AA$4:$AA$5</c:f>
              <c:strCache>
                <c:ptCount val="2"/>
                <c:pt idx="0">
                  <c:v>Số vụ</c:v>
                </c:pt>
                <c:pt idx="1">
                  <c:v>Tỷ lệ/10000CB</c:v>
                </c:pt>
              </c:strCache>
            </c:strRef>
          </c:cat>
          <c:val>
            <c:numRef>
              <c:f>'Sự cố vụ việc sai lỗi con người'!$AB$4:$AB$5</c:f>
              <c:numCache>
                <c:formatCode>0.00</c:formatCode>
                <c:ptCount val="2"/>
                <c:pt idx="0" formatCode="General">
                  <c:v>8</c:v>
                </c:pt>
                <c:pt idx="1">
                  <c:v>1.0200048450230139</c:v>
                </c:pt>
              </c:numCache>
            </c:numRef>
          </c:val>
          <c:extLst>
            <c:ext xmlns:c16="http://schemas.microsoft.com/office/drawing/2014/chart" uri="{C3380CC4-5D6E-409C-BE32-E72D297353CC}">
              <c16:uniqueId val="{00000000-D714-4AB7-8186-71082841A368}"/>
            </c:ext>
          </c:extLst>
        </c:ser>
        <c:ser>
          <c:idx val="1"/>
          <c:order val="1"/>
          <c:tx>
            <c:strRef>
              <c:f>'Sự cố vụ việc sai lỗi con người'!$AC$3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'Sự cố vụ việc sai lỗi con người'!$AA$4:$AA$5</c:f>
              <c:strCache>
                <c:ptCount val="2"/>
                <c:pt idx="0">
                  <c:v>Số vụ</c:v>
                </c:pt>
                <c:pt idx="1">
                  <c:v>Tỷ lệ/10000CB</c:v>
                </c:pt>
              </c:strCache>
            </c:strRef>
          </c:cat>
          <c:val>
            <c:numRef>
              <c:f>'Sự cố vụ việc sai lỗi con người'!$AC$4:$AC$5</c:f>
              <c:numCache>
                <c:formatCode>0.00</c:formatCode>
                <c:ptCount val="2"/>
                <c:pt idx="0" formatCode="0">
                  <c:v>6</c:v>
                </c:pt>
                <c:pt idx="1">
                  <c:v>0.71834780005986232</c:v>
                </c:pt>
              </c:numCache>
            </c:numRef>
          </c:val>
          <c:extLst>
            <c:ext xmlns:c16="http://schemas.microsoft.com/office/drawing/2014/chart" uri="{C3380CC4-5D6E-409C-BE32-E72D297353CC}">
              <c16:uniqueId val="{00000001-D714-4AB7-8186-71082841A368}"/>
            </c:ext>
          </c:extLst>
        </c:ser>
        <c:dLbls>
          <c:showLegendKey val="0"/>
          <c:showVal val="0"/>
          <c:showCatName val="0"/>
          <c:showSerName val="0"/>
          <c:showPercent val="0"/>
          <c:showBubbleSize val="0"/>
        </c:dLbls>
        <c:gapWidth val="219"/>
        <c:overlap val="-27"/>
        <c:axId val="328426288"/>
        <c:axId val="328425896"/>
      </c:barChart>
      <c:catAx>
        <c:axId val="328426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5896"/>
        <c:crosses val="autoZero"/>
        <c:auto val="1"/>
        <c:lblAlgn val="ctr"/>
        <c:lblOffset val="100"/>
        <c:noMultiLvlLbl val="0"/>
      </c:catAx>
      <c:valAx>
        <c:axId val="3284258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6288"/>
        <c:crosses val="autoZero"/>
        <c:crossBetween val="between"/>
      </c:valAx>
      <c:spPr>
        <a:noFill/>
        <a:ln>
          <a:noFill/>
        </a:ln>
        <a:effectLst/>
      </c:spPr>
    </c:plotArea>
    <c:legend>
      <c:legendPos val="b"/>
      <c:layout>
        <c:manualLayout>
          <c:xMode val="edge"/>
          <c:yMode val="edge"/>
          <c:x val="0"/>
          <c:y val="0.93415568828748119"/>
          <c:w val="1"/>
          <c:h val="4.8640736981273844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9525" cap="flat" cmpd="sng" algn="ctr">
      <a:solidFill>
        <a:schemeClr val="tx1"/>
      </a:solidFill>
      <a:round/>
    </a:ln>
    <a:effectLst/>
  </c:spPr>
  <c:txPr>
    <a:bodyPr/>
    <a:lstStyle/>
    <a:p>
      <a:pPr>
        <a:defRPr sz="100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5689274607771267E-2"/>
          <c:y val="2.8326251094676794E-2"/>
          <c:w val="0.95546497499452976"/>
          <c:h val="0.86705042953100042"/>
        </c:manualLayout>
      </c:layout>
      <c:barChart>
        <c:barDir val="col"/>
        <c:grouping val="clustered"/>
        <c:varyColors val="0"/>
        <c:ser>
          <c:idx val="0"/>
          <c:order val="0"/>
          <c:invertIfNegative val="0"/>
          <c:dLbls>
            <c:dLbl>
              <c:idx val="0"/>
              <c:layout>
                <c:manualLayout>
                  <c:x val="0"/>
                  <c:y val="0.15835795111878884"/>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C8F-40CC-9783-1205A4F97B35}"/>
                </c:ext>
              </c:extLst>
            </c:dLbl>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'Concession rate loại 1'!$B$3:$B$26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'Concession rate loại 1'!$D$3:$D$26</c:f>
              <c:numCache>
                <c:formatCode>0</c:formatCode>
                <c:ptCount val="13"/>
                <c:pt idx="0">
                  <c:v>47</c:v>
                </c:pt>
                <c:pt idx="1">
                  <c:v>26</c:v>
                </c:pt>
                <c:pt idx="2">
                  <c:v>37</c:v>
                </c:pt>
                <c:pt idx="3">
                  <c:v>15</c:v>
                </c:pt>
                <c:pt idx="4">
                  <c:v>12</c:v>
                </c:pt>
                <c:pt idx="5">
                  <c:v>20</c:v>
                </c:pt>
                <c:pt idx="6">
                  <c:v>18</c:v>
                </c:pt>
                <c:pt idx="7">
                  <c:v>13</c:v>
                </c:pt>
                <c:pt idx="8">
                  <c:v>10</c:v>
                </c:pt>
                <c:pt idx="9">
                  <c:v>7</c:v>
                </c:pt>
                <c:pt idx="10">
                  <c:v>9</c:v>
                </c:pt>
                <c:pt idx="11">
                  <c:v>14</c:v>
                </c:pt>
                <c:pt idx="12">
                  <c:v>6</c:v>
                </c:pt>
              </c:numCache>
            </c:numRef>
          </c:val>
          <c:extLst>
            <c:ext xmlns:c16="http://schemas.microsoft.com/office/drawing/2014/chart" uri="{C3380CC4-5D6E-409C-BE32-E72D297353CC}">
              <c16:uniqueId val="{00000000-3F1C-4E68-8099-725AC39C0C44}"/>
            </c:ext>
          </c:extLst>
        </c:ser>
        <c:dLbls>
          <c:showLegendKey val="0"/>
          <c:showVal val="0"/>
          <c:showCatName val="0"/>
          <c:showSerName val="0"/>
          <c:showPercent val="0"/>
          <c:showBubbleSize val="0"/>
        </c:dLbls>
        <c:gapWidth val="150"/>
        <c:axId val="459164208"/>
        <c:axId val="459164600"/>
      </c:barChart>
      <c:lineChart>
        <c:grouping val="standard"/>
        <c:varyColors val="0"/>
        <c:ser>
          <c:idx val="1"/>
          <c:order val="1"/>
          <c:spPr>
            <a:ln w="28575">
              <a:solidFill>
                <a:srgbClr val="7030A0"/>
              </a:solidFill>
            </a:ln>
          </c:spPr>
          <c:marker>
            <c:symbol val="none"/>
          </c:marker>
          <c:dLbls>
            <c:dLbl>
              <c:idx val="0"/>
              <c:layout>
                <c:manualLayout>
                  <c:x val="-3.7304226245726171E-2"/>
                  <c:y val="-0.20248280536273019"/>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F1C-4E68-8099-725AC39C0C44}"/>
                </c:ext>
              </c:extLst>
            </c:dLbl>
            <c:dLbl>
              <c:idx val="1"/>
              <c:layout>
                <c:manualLayout>
                  <c:x val="-4.289986018258516E-2"/>
                  <c:y val="-0.1348984244005372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F1C-4E68-8099-725AC39C0C44}"/>
                </c:ext>
              </c:extLst>
            </c:dLbl>
            <c:dLbl>
              <c:idx val="3"/>
              <c:layout>
                <c:manualLayout>
                  <c:x val="-4.2899860182585098E-2"/>
                  <c:y val="-0.24303343394004601"/>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3-3F1C-4E68-8099-725AC39C0C44}"/>
                </c:ext>
              </c:extLst>
            </c:dLbl>
            <c:dLbl>
              <c:idx val="4"/>
              <c:layout>
                <c:manualLayout>
                  <c:x val="-4.228434044953075E-2"/>
                  <c:y val="-8.083091963078289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F1C-4E68-8099-725AC39C0C44}"/>
                </c:ext>
              </c:extLst>
            </c:dLbl>
            <c:dLbl>
              <c:idx val="5"/>
              <c:layout>
                <c:manualLayout>
                  <c:x val="-7.2743241179166029E-2"/>
                  <c:y val="-7.812754439229517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F1C-4E68-8099-725AC39C0C44}"/>
                </c:ext>
              </c:extLst>
            </c:dLbl>
            <c:dLbl>
              <c:idx val="6"/>
              <c:layout>
                <c:manualLayout>
                  <c:x val="-1.6726686327268113E-3"/>
                  <c:y val="-6.4610668199856489E-2"/>
                </c:manualLayout>
              </c:layout>
              <c:spPr>
                <a:noFill/>
              </c:spPr>
              <c:txPr>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F1C-4E68-8099-725AC39C0C44}"/>
                </c:ext>
              </c:extLst>
            </c:dLbl>
            <c:dLbl>
              <c:idx val="8"/>
              <c:layout>
                <c:manualLayout>
                  <c:x val="-3.5439014933439927E-2"/>
                  <c:y val="-0.11867814770728286"/>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7-3F1C-4E68-8099-725AC39C0C44}"/>
                </c:ext>
              </c:extLst>
            </c:dLbl>
            <c:dLbl>
              <c:idx val="11"/>
              <c:layout>
                <c:manualLayout>
                  <c:x val="-4.1034648870298784E-2"/>
                  <c:y val="-0.15382201832675158"/>
                </c:manualLayout>
              </c:layout>
              <c:dLblPos val="r"/>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8-3F1C-4E68-8099-725AC39C0C44}"/>
                </c:ext>
              </c:extLst>
            </c:dLbl>
            <c:dLbl>
              <c:idx val="12"/>
              <c:layout>
                <c:manualLayout>
                  <c:x val="-3.7304226245726171E-2"/>
                  <c:y val="-0.20788951158747271"/>
                </c:manualLayout>
              </c:layout>
              <c:dLblPos val="r"/>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9-3F1C-4E68-8099-725AC39C0C44}"/>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trendline>
            <c:spPr>
              <a:ln w="12700">
                <a:solidFill>
                  <a:srgbClr val="C00000"/>
                </a:solidFill>
              </a:ln>
            </c:spPr>
            <c:trendlineType val="linear"/>
            <c:dispRSqr val="0"/>
            <c:dispEq val="0"/>
          </c:trendline>
          <c:cat>
            <c:strRef>
              <c:f>'Concession rate loại 1'!$B$3:$B$26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'Concession rate loại 1'!$E$3:$E$26</c:f>
              <c:numCache>
                <c:formatCode>0.00</c:formatCode>
                <c:ptCount val="13"/>
                <c:pt idx="0">
                  <c:v>36.231884057971016</c:v>
                </c:pt>
                <c:pt idx="1">
                  <c:v>22.140849868006473</c:v>
                </c:pt>
                <c:pt idx="2">
                  <c:v>39.601840950444185</c:v>
                </c:pt>
                <c:pt idx="3">
                  <c:v>15.723270440251572</c:v>
                </c:pt>
                <c:pt idx="4">
                  <c:v>12.106537530266344</c:v>
                </c:pt>
                <c:pt idx="5">
                  <c:v>17.386768669042858</c:v>
                </c:pt>
                <c:pt idx="6">
                  <c:v>15.002500416736122</c:v>
                </c:pt>
                <c:pt idx="7">
                  <c:v>11.835396941005099</c:v>
                </c:pt>
                <c:pt idx="8">
                  <c:v>8.9070989578694224</c:v>
                </c:pt>
                <c:pt idx="9">
                  <c:v>6.2117312982518413</c:v>
                </c:pt>
                <c:pt idx="10">
                  <c:v>7.5509690410269314</c:v>
                </c:pt>
                <c:pt idx="11">
                  <c:v>10.667479427003963</c:v>
                </c:pt>
                <c:pt idx="12">
                  <c:v>4.6139649338665025</c:v>
                </c:pt>
              </c:numCache>
            </c:numRef>
          </c:val>
          <c:smooth val="0"/>
          <c:extLst>
            <c:ext xmlns:c16="http://schemas.microsoft.com/office/drawing/2014/chart" uri="{C3380CC4-5D6E-409C-BE32-E72D297353CC}">
              <c16:uniqueId val="{0000000A-3F1C-4E68-8099-725AC39C0C44}"/>
            </c:ext>
          </c:extLst>
        </c:ser>
        <c:ser>
          <c:idx val="2"/>
          <c:order val="2"/>
          <c:spPr>
            <a:ln w="25400">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C8F-40CC-9783-1205A4F97B35}"/>
                </c:ext>
              </c:extLst>
            </c:dLbl>
            <c:dLbl>
              <c:idx val="7"/>
              <c:delete val="1"/>
              <c:extLst>
                <c:ext xmlns:c15="http://schemas.microsoft.com/office/drawing/2012/chart" uri="{CE6537A1-D6FC-4f65-9D91-7224C49458BB}"/>
                <c:ext xmlns:c16="http://schemas.microsoft.com/office/drawing/2014/chart" uri="{C3380CC4-5D6E-409C-BE32-E72D297353CC}">
                  <c16:uniqueId val="{0000000B-3F1C-4E68-8099-725AC39C0C44}"/>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C8F-40CC-9783-1205A4F97B35}"/>
                </c:ext>
              </c:extLst>
            </c:dLbl>
            <c:spPr>
              <a:solidFill>
                <a:srgbClr val="00B0F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1"/>
              </c:ext>
            </c:extLst>
          </c:dLbls>
          <c:cat>
            <c:strRef>
              <c:f>'Concession rate loại 1'!$B$3:$B$26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'Concession rate loại 1'!$F$3:$F$26</c:f>
              <c:numCache>
                <c:formatCode>0.00</c:formatCode>
                <c:ptCount val="13"/>
                <c:pt idx="0">
                  <c:v>20.5</c:v>
                </c:pt>
                <c:pt idx="1">
                  <c:v>20.5</c:v>
                </c:pt>
                <c:pt idx="2">
                  <c:v>20.5</c:v>
                </c:pt>
                <c:pt idx="3">
                  <c:v>20.5</c:v>
                </c:pt>
                <c:pt idx="4">
                  <c:v>20.5</c:v>
                </c:pt>
                <c:pt idx="5">
                  <c:v>20.5</c:v>
                </c:pt>
                <c:pt idx="6">
                  <c:v>35.659999999999997</c:v>
                </c:pt>
                <c:pt idx="7">
                  <c:v>35.659999999999997</c:v>
                </c:pt>
                <c:pt idx="8">
                  <c:v>35.659999999999997</c:v>
                </c:pt>
                <c:pt idx="9">
                  <c:v>35.659999999999997</c:v>
                </c:pt>
                <c:pt idx="10">
                  <c:v>35.659999999999997</c:v>
                </c:pt>
                <c:pt idx="11">
                  <c:v>35.659999999999997</c:v>
                </c:pt>
                <c:pt idx="12">
                  <c:v>35.659999999999997</c:v>
                </c:pt>
              </c:numCache>
            </c:numRef>
          </c:val>
          <c:smooth val="0"/>
          <c:extLst>
            <c:ext xmlns:c16="http://schemas.microsoft.com/office/drawing/2014/chart" uri="{C3380CC4-5D6E-409C-BE32-E72D297353CC}">
              <c16:uniqueId val="{0000000C-3F1C-4E68-8099-725AC39C0C44}"/>
            </c:ext>
          </c:extLst>
        </c:ser>
        <c:ser>
          <c:idx val="3"/>
          <c:order val="3"/>
          <c:spPr>
            <a:ln w="25400">
              <a:solidFill>
                <a:srgbClr val="FFC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C8F-40CC-9783-1205A4F97B35}"/>
                </c:ext>
              </c:extLst>
            </c:dLbl>
            <c:dLbl>
              <c:idx val="7"/>
              <c:delete val="1"/>
              <c:extLst>
                <c:ext xmlns:c15="http://schemas.microsoft.com/office/drawing/2012/chart" uri="{CE6537A1-D6FC-4f65-9D91-7224C49458BB}"/>
                <c:ext xmlns:c16="http://schemas.microsoft.com/office/drawing/2014/chart" uri="{C3380CC4-5D6E-409C-BE32-E72D297353CC}">
                  <c16:uniqueId val="{0000000D-3F1C-4E68-8099-725AC39C0C44}"/>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0C8F-40CC-9783-1205A4F97B35}"/>
                </c:ext>
              </c:extLst>
            </c:dLbl>
            <c:spPr>
              <a:solidFill>
                <a:srgbClr val="FFC00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1"/>
              </c:ext>
            </c:extLst>
          </c:dLbls>
          <c:cat>
            <c:strRef>
              <c:f>'Concession rate loại 1'!$B$3:$B$26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'Concession rate loại 1'!$G$3:$G$26</c:f>
              <c:numCache>
                <c:formatCode>0.00</c:formatCode>
                <c:ptCount val="13"/>
                <c:pt idx="0">
                  <c:v>24.9</c:v>
                </c:pt>
                <c:pt idx="1">
                  <c:v>24.9</c:v>
                </c:pt>
                <c:pt idx="2">
                  <c:v>24.9</c:v>
                </c:pt>
                <c:pt idx="3">
                  <c:v>24.9</c:v>
                </c:pt>
                <c:pt idx="4">
                  <c:v>24.9</c:v>
                </c:pt>
                <c:pt idx="5">
                  <c:v>24.9</c:v>
                </c:pt>
                <c:pt idx="6">
                  <c:v>46.17</c:v>
                </c:pt>
                <c:pt idx="7">
                  <c:v>46.17</c:v>
                </c:pt>
                <c:pt idx="8">
                  <c:v>46.17</c:v>
                </c:pt>
                <c:pt idx="9">
                  <c:v>46.17</c:v>
                </c:pt>
                <c:pt idx="10">
                  <c:v>46.17</c:v>
                </c:pt>
                <c:pt idx="11">
                  <c:v>46.17</c:v>
                </c:pt>
                <c:pt idx="12">
                  <c:v>46.17</c:v>
                </c:pt>
              </c:numCache>
            </c:numRef>
          </c:val>
          <c:smooth val="0"/>
          <c:extLst>
            <c:ext xmlns:c16="http://schemas.microsoft.com/office/drawing/2014/chart" uri="{C3380CC4-5D6E-409C-BE32-E72D297353CC}">
              <c16:uniqueId val="{0000000E-3F1C-4E68-8099-725AC39C0C44}"/>
            </c:ext>
          </c:extLst>
        </c:ser>
        <c:ser>
          <c:idx val="4"/>
          <c:order val="4"/>
          <c:spPr>
            <a:ln w="25400">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C8F-40CC-9783-1205A4F97B35}"/>
                </c:ext>
              </c:extLst>
            </c:dLbl>
            <c:dLbl>
              <c:idx val="7"/>
              <c:delete val="1"/>
              <c:extLst>
                <c:ext xmlns:c15="http://schemas.microsoft.com/office/drawing/2012/chart" uri="{CE6537A1-D6FC-4f65-9D91-7224C49458BB}"/>
                <c:ext xmlns:c16="http://schemas.microsoft.com/office/drawing/2014/chart" uri="{C3380CC4-5D6E-409C-BE32-E72D297353CC}">
                  <c16:uniqueId val="{0000000F-3F1C-4E68-8099-725AC39C0C44}"/>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C8F-40CC-9783-1205A4F97B35}"/>
                </c:ext>
              </c:extLst>
            </c:dLbl>
            <c:spPr>
              <a:solidFill>
                <a:srgbClr val="FF000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'Concession rate loại 1'!$B$3:$B$26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'Concession rate loại 1'!$H$3:$H$26</c:f>
              <c:numCache>
                <c:formatCode>0.00</c:formatCode>
                <c:ptCount val="13"/>
                <c:pt idx="0">
                  <c:v>28.84</c:v>
                </c:pt>
                <c:pt idx="1">
                  <c:v>28.84</c:v>
                </c:pt>
                <c:pt idx="2">
                  <c:v>28.84</c:v>
                </c:pt>
                <c:pt idx="3">
                  <c:v>28.84</c:v>
                </c:pt>
                <c:pt idx="4">
                  <c:v>28.84</c:v>
                </c:pt>
                <c:pt idx="5">
                  <c:v>28.84</c:v>
                </c:pt>
                <c:pt idx="6">
                  <c:v>52.74</c:v>
                </c:pt>
                <c:pt idx="7">
                  <c:v>52.74</c:v>
                </c:pt>
                <c:pt idx="8">
                  <c:v>52.74</c:v>
                </c:pt>
                <c:pt idx="9">
                  <c:v>52.74</c:v>
                </c:pt>
                <c:pt idx="10">
                  <c:v>52.74</c:v>
                </c:pt>
                <c:pt idx="11">
                  <c:v>52.74</c:v>
                </c:pt>
                <c:pt idx="12">
                  <c:v>52.74</c:v>
                </c:pt>
              </c:numCache>
            </c:numRef>
          </c:val>
          <c:smooth val="0"/>
          <c:extLst>
            <c:ext xmlns:c16="http://schemas.microsoft.com/office/drawing/2014/chart" uri="{C3380CC4-5D6E-409C-BE32-E72D297353CC}">
              <c16:uniqueId val="{00000010-3F1C-4E68-8099-725AC39C0C44}"/>
            </c:ext>
          </c:extLst>
        </c:ser>
        <c:ser>
          <c:idx val="5"/>
          <c:order val="5"/>
          <c:spPr>
            <a:ln w="25400">
              <a:solidFill>
                <a:srgbClr val="339933"/>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C8F-40CC-9783-1205A4F97B35}"/>
                </c:ext>
              </c:extLst>
            </c:dLbl>
            <c:dLbl>
              <c:idx val="7"/>
              <c:delete val="1"/>
              <c:extLst>
                <c:ext xmlns:c15="http://schemas.microsoft.com/office/drawing/2012/chart" uri="{CE6537A1-D6FC-4f65-9D91-7224C49458BB}"/>
                <c:ext xmlns:c16="http://schemas.microsoft.com/office/drawing/2014/chart" uri="{C3380CC4-5D6E-409C-BE32-E72D297353CC}">
                  <c16:uniqueId val="{00000011-3F1C-4E68-8099-725AC39C0C44}"/>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0C8F-40CC-9783-1205A4F97B35}"/>
                </c:ext>
              </c:extLst>
            </c:dLbl>
            <c:spPr>
              <a:solidFill>
                <a:srgbClr val="339933"/>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1"/>
              </c:ext>
            </c:extLst>
          </c:dLbls>
          <c:cat>
            <c:strRef>
              <c:f>'Concession rate loại 1'!$B$3:$B$26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'Concession rate loại 1'!$I$3:$I$26</c:f>
              <c:numCache>
                <c:formatCode>0.00</c:formatCode>
                <c:ptCount val="13"/>
                <c:pt idx="0">
                  <c:v>15.19</c:v>
                </c:pt>
                <c:pt idx="1">
                  <c:v>15.19</c:v>
                </c:pt>
                <c:pt idx="2">
                  <c:v>15.19</c:v>
                </c:pt>
                <c:pt idx="3">
                  <c:v>15.19</c:v>
                </c:pt>
                <c:pt idx="4">
                  <c:v>15.19</c:v>
                </c:pt>
                <c:pt idx="5">
                  <c:v>15.19</c:v>
                </c:pt>
                <c:pt idx="6">
                  <c:v>25.21</c:v>
                </c:pt>
                <c:pt idx="7">
                  <c:v>25.21</c:v>
                </c:pt>
                <c:pt idx="8">
                  <c:v>25.21</c:v>
                </c:pt>
                <c:pt idx="9">
                  <c:v>25.21</c:v>
                </c:pt>
                <c:pt idx="10">
                  <c:v>25.21</c:v>
                </c:pt>
                <c:pt idx="11">
                  <c:v>25.21</c:v>
                </c:pt>
                <c:pt idx="12">
                  <c:v>25.21</c:v>
                </c:pt>
              </c:numCache>
            </c:numRef>
          </c:val>
          <c:smooth val="0"/>
          <c:extLst>
            <c:ext xmlns:c16="http://schemas.microsoft.com/office/drawing/2014/chart" uri="{C3380CC4-5D6E-409C-BE32-E72D297353CC}">
              <c16:uniqueId val="{00000012-3F1C-4E68-8099-725AC39C0C44}"/>
            </c:ext>
          </c:extLst>
        </c:ser>
        <c:dLbls>
          <c:showLegendKey val="0"/>
          <c:showVal val="1"/>
          <c:showCatName val="0"/>
          <c:showSerName val="0"/>
          <c:showPercent val="0"/>
          <c:showBubbleSize val="0"/>
        </c:dLbls>
        <c:marker val="1"/>
        <c:smooth val="0"/>
        <c:axId val="459164208"/>
        <c:axId val="459164600"/>
      </c:lineChart>
      <c:catAx>
        <c:axId val="459164208"/>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459164600"/>
        <c:crosses val="autoZero"/>
        <c:auto val="1"/>
        <c:lblAlgn val="ctr"/>
        <c:lblOffset val="100"/>
        <c:noMultiLvlLbl val="0"/>
      </c:catAx>
      <c:valAx>
        <c:axId val="459164600"/>
        <c:scaling>
          <c:orientation val="minMax"/>
        </c:scaling>
        <c:delete val="1"/>
        <c:axPos val="l"/>
        <c:numFmt formatCode="0" sourceLinked="1"/>
        <c:majorTickMark val="out"/>
        <c:minorTickMark val="none"/>
        <c:tickLblPos val="nextTo"/>
        <c:crossAx val="459164208"/>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000"/>
              <a:t>NHÂN NHƯỢNG</a:t>
            </a: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'Concession rate loại 1'!$Y$3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'Concession rate loại 1'!$X$4:$X$5</c:f>
              <c:strCache>
                <c:ptCount val="2"/>
                <c:pt idx="0">
                  <c:v>Số vụ</c:v>
                </c:pt>
                <c:pt idx="1">
                  <c:v>Tỷ lệ/10000CB</c:v>
                </c:pt>
              </c:strCache>
            </c:strRef>
          </c:cat>
          <c:val>
            <c:numRef>
              <c:f>'Concession rate loại 1'!$Y$4:$Y$5</c:f>
              <c:numCache>
                <c:formatCode>0.00</c:formatCode>
                <c:ptCount val="2"/>
                <c:pt idx="0" formatCode="0">
                  <c:v>313</c:v>
                </c:pt>
                <c:pt idx="1">
                  <c:v>39.907689561525416</c:v>
                </c:pt>
              </c:numCache>
            </c:numRef>
          </c:val>
          <c:extLst>
            <c:ext xmlns:c16="http://schemas.microsoft.com/office/drawing/2014/chart" uri="{C3380CC4-5D6E-409C-BE32-E72D297353CC}">
              <c16:uniqueId val="{00000000-AC01-4F85-87BC-6DF27D272F0C}"/>
            </c:ext>
          </c:extLst>
        </c:ser>
        <c:ser>
          <c:idx val="1"/>
          <c:order val="1"/>
          <c:tx>
            <c:strRef>
              <c:f>'Concession rate loại 1'!$Z$3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'Concession rate loại 1'!$X$4:$X$5</c:f>
              <c:strCache>
                <c:ptCount val="2"/>
                <c:pt idx="0">
                  <c:v>Số vụ</c:v>
                </c:pt>
                <c:pt idx="1">
                  <c:v>Tỷ lệ/10000CB</c:v>
                </c:pt>
              </c:strCache>
            </c:strRef>
          </c:cat>
          <c:val>
            <c:numRef>
              <c:f>'Concession rate loại 1'!$Z$4:$Z$5</c:f>
              <c:numCache>
                <c:formatCode>0.00</c:formatCode>
                <c:ptCount val="2"/>
                <c:pt idx="0" formatCode="0">
                  <c:v>77</c:v>
                </c:pt>
                <c:pt idx="1">
                  <c:v>9.218796767434899</c:v>
                </c:pt>
              </c:numCache>
            </c:numRef>
          </c:val>
          <c:extLst>
            <c:ext xmlns:c16="http://schemas.microsoft.com/office/drawing/2014/chart" uri="{C3380CC4-5D6E-409C-BE32-E72D297353CC}">
              <c16:uniqueId val="{00000001-AC01-4F85-87BC-6DF27D272F0C}"/>
            </c:ext>
          </c:extLst>
        </c:ser>
        <c:dLbls>
          <c:showLegendKey val="0"/>
          <c:showVal val="0"/>
          <c:showCatName val="0"/>
          <c:showSerName val="0"/>
          <c:showPercent val="0"/>
          <c:showBubbleSize val="0"/>
        </c:dLbls>
        <c:gapWidth val="219"/>
        <c:overlap val="-27"/>
        <c:axId val="530330880"/>
        <c:axId val="530329704"/>
      </c:barChart>
      <c:catAx>
        <c:axId val="530330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530329704"/>
        <c:crosses val="autoZero"/>
        <c:auto val="1"/>
        <c:lblAlgn val="ctr"/>
        <c:lblOffset val="100"/>
        <c:noMultiLvlLbl val="0"/>
      </c:catAx>
      <c:valAx>
        <c:axId val="53032970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530330880"/>
        <c:crosses val="autoZero"/>
        <c:crossBetween val="between"/>
      </c:valAx>
      <c:spPr>
        <a:noFill/>
        <a:ln>
          <a:noFill/>
        </a:ln>
        <a:effectLst/>
      </c:spPr>
    </c:plotArea>
    <c:legend>
      <c:legendPos val="b"/>
      <c:layout>
        <c:manualLayout>
          <c:xMode val="edge"/>
          <c:yMode val="edge"/>
          <c:x val="6.3992077891956009E-3"/>
          <c:y val="0.91699108958854314"/>
          <c:w val="0.98984173878427872"/>
          <c:h val="6.1320628516162892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9525" cap="flat" cmpd="sng" algn="ctr">
      <a:solidFill>
        <a:sysClr val="windowText" lastClr="000000"/>
      </a:solidFill>
      <a:round/>
    </a:ln>
    <a:effectLst/>
  </c:spPr>
  <c:txPr>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2.0932857701266142E-2"/>
          <c:y val="2.8326251094676794E-2"/>
          <c:w val="0.95022138402122325"/>
          <c:h val="0.86814092868766268"/>
        </c:manualLayout>
      </c:layout>
      <c:barChart>
        <c:barDir val="col"/>
        <c:grouping val="clustered"/>
        <c:varyColors val="0"/>
        <c:ser>
          <c:idx val="0"/>
          <c:order val="0"/>
          <c:invertIfNegative val="0"/>
          <c:dLbls>
            <c:dLbl>
              <c:idx val="0"/>
              <c:layout>
                <c:manualLayout>
                  <c:x val="-7.5066239705339825E-18"/>
                  <c:y val="0.1610822310142958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A187-4C0C-B279-37F2D43D144C}"/>
                </c:ext>
              </c:extLst>
            </c:dLbl>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'Concession rate loại 2-7'!$B$3:$B$26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'Concession rate loại 2-7'!$D$3:$D$26</c:f>
              <c:numCache>
                <c:formatCode>0</c:formatCode>
                <c:ptCount val="13"/>
                <c:pt idx="0">
                  <c:v>47</c:v>
                </c:pt>
                <c:pt idx="1">
                  <c:v>26</c:v>
                </c:pt>
                <c:pt idx="2">
                  <c:v>37</c:v>
                </c:pt>
                <c:pt idx="3">
                  <c:v>15</c:v>
                </c:pt>
                <c:pt idx="4">
                  <c:v>12</c:v>
                </c:pt>
                <c:pt idx="5">
                  <c:v>20</c:v>
                </c:pt>
                <c:pt idx="6">
                  <c:v>45</c:v>
                </c:pt>
                <c:pt idx="7">
                  <c:v>16</c:v>
                </c:pt>
                <c:pt idx="8">
                  <c:v>31</c:v>
                </c:pt>
                <c:pt idx="9">
                  <c:v>22</c:v>
                </c:pt>
                <c:pt idx="10">
                  <c:v>36</c:v>
                </c:pt>
                <c:pt idx="11">
                  <c:v>24</c:v>
                </c:pt>
                <c:pt idx="12">
                  <c:v>19</c:v>
                </c:pt>
              </c:numCache>
            </c:numRef>
          </c:val>
          <c:extLst>
            <c:ext xmlns:c16="http://schemas.microsoft.com/office/drawing/2014/chart" uri="{C3380CC4-5D6E-409C-BE32-E72D297353CC}">
              <c16:uniqueId val="{00000000-A187-4C0C-B279-37F2D43D144C}"/>
            </c:ext>
          </c:extLst>
        </c:ser>
        <c:dLbls>
          <c:showLegendKey val="0"/>
          <c:showVal val="0"/>
          <c:showCatName val="0"/>
          <c:showSerName val="0"/>
          <c:showPercent val="0"/>
          <c:showBubbleSize val="0"/>
        </c:dLbls>
        <c:gapWidth val="150"/>
        <c:axId val="459164208"/>
        <c:axId val="459164600"/>
      </c:barChart>
      <c:lineChart>
        <c:grouping val="standard"/>
        <c:varyColors val="0"/>
        <c:ser>
          <c:idx val="1"/>
          <c:order val="1"/>
          <c:spPr>
            <a:ln w="28575">
              <a:solidFill>
                <a:srgbClr val="7030A0"/>
              </a:solidFill>
            </a:ln>
          </c:spPr>
          <c:marker>
            <c:symbol val="none"/>
          </c:marker>
          <c:dLbls>
            <c:dLbl>
              <c:idx val="0"/>
              <c:layout>
                <c:manualLayout>
                  <c:x val="-3.7304226245726171E-2"/>
                  <c:y val="-0.20248280536273019"/>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187-4C0C-B279-37F2D43D144C}"/>
                </c:ext>
              </c:extLst>
            </c:dLbl>
            <c:dLbl>
              <c:idx val="1"/>
              <c:layout>
                <c:manualLayout>
                  <c:x val="-4.289986018258516E-2"/>
                  <c:y val="-0.1348984244005372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187-4C0C-B279-37F2D43D144C}"/>
                </c:ext>
              </c:extLst>
            </c:dLbl>
            <c:dLbl>
              <c:idx val="3"/>
              <c:layout>
                <c:manualLayout>
                  <c:x val="-4.2899860182585098E-2"/>
                  <c:y val="-0.24303343394004601"/>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3-A187-4C0C-B279-37F2D43D144C}"/>
                </c:ext>
              </c:extLst>
            </c:dLbl>
            <c:dLbl>
              <c:idx val="4"/>
              <c:layout>
                <c:manualLayout>
                  <c:x val="-4.228434044953075E-2"/>
                  <c:y val="-8.083091963078289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187-4C0C-B279-37F2D43D144C}"/>
                </c:ext>
              </c:extLst>
            </c:dLbl>
            <c:dLbl>
              <c:idx val="5"/>
              <c:layout>
                <c:manualLayout>
                  <c:x val="-7.2743241179166029E-2"/>
                  <c:y val="-7.812754439229517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187-4C0C-B279-37F2D43D144C}"/>
                </c:ext>
              </c:extLst>
            </c:dLbl>
            <c:dLbl>
              <c:idx val="6"/>
              <c:layout>
                <c:manualLayout>
                  <c:x val="-1.8050925611280591E-2"/>
                  <c:y val="-0.15665787942489517"/>
                </c:manualLayout>
              </c:layout>
              <c:spPr>
                <a:noFill/>
              </c:spPr>
              <c:txPr>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187-4C0C-B279-37F2D43D144C}"/>
                </c:ext>
              </c:extLst>
            </c:dLbl>
            <c:dLbl>
              <c:idx val="7"/>
              <c:layout>
                <c:manualLayout>
                  <c:x val="-3.2756555728122132E-2"/>
                  <c:y val="-9.904273858115181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A187-4C0C-B279-37F2D43D144C}"/>
                </c:ext>
              </c:extLst>
            </c:dLbl>
            <c:dLbl>
              <c:idx val="8"/>
              <c:layout>
                <c:manualLayout>
                  <c:x val="-3.2163326766116773E-2"/>
                  <c:y val="-0.140769525810747"/>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7-A187-4C0C-B279-37F2D43D144C}"/>
                </c:ext>
              </c:extLst>
            </c:dLbl>
            <c:dLbl>
              <c:idx val="9"/>
              <c:layout>
                <c:manualLayout>
                  <c:x val="-4.2583522446558775E-2"/>
                  <c:y val="-0.1137702833515833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A187-4C0C-B279-37F2D43D144C}"/>
                </c:ext>
              </c:extLst>
            </c:dLbl>
            <c:dLbl>
              <c:idx val="10"/>
              <c:layout>
                <c:manualLayout>
                  <c:x val="-3.6032211300934348E-2"/>
                  <c:y val="-0.1248159419294069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A187-4C0C-B279-37F2D43D144C}"/>
                </c:ext>
              </c:extLst>
            </c:dLbl>
            <c:dLbl>
              <c:idx val="11"/>
              <c:layout>
                <c:manualLayout>
                  <c:x val="-4.1034648870298784E-2"/>
                  <c:y val="-0.15382201832675158"/>
                </c:manualLayout>
              </c:layout>
              <c:dLblPos val="r"/>
              <c:showLegendKey val="0"/>
              <c:showVal val="1"/>
              <c:showCatName val="0"/>
              <c:showSerName val="0"/>
              <c:showPercent val="0"/>
              <c:showBubbleSize val="0"/>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08-A187-4C0C-B279-37F2D43D144C}"/>
                </c:ext>
              </c:extLst>
            </c:dLbl>
            <c:dLbl>
              <c:idx val="12"/>
              <c:layout>
                <c:manualLayout>
                  <c:x val="-3.7304226245726171E-2"/>
                  <c:y val="-0.20788951158747271"/>
                </c:manualLayout>
              </c:layout>
              <c:dLblPos val="r"/>
              <c:showLegendKey val="0"/>
              <c:showVal val="1"/>
              <c:showCatName val="0"/>
              <c:showSerName val="0"/>
              <c:showPercent val="0"/>
              <c:showBubbleSize val="0"/>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09-A187-4C0C-B279-37F2D43D144C}"/>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trendline>
            <c:spPr>
              <a:ln w="12700">
                <a:solidFill>
                  <a:srgbClr val="C00000"/>
                </a:solidFill>
              </a:ln>
            </c:spPr>
            <c:trendlineType val="linear"/>
            <c:dispRSqr val="0"/>
            <c:dispEq val="0"/>
          </c:trendline>
          <c:cat>
            <c:strRef>
              <c:f>'Concession rate loại 2-7'!$B$3:$B$26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'Concession rate loại 2-7'!$E$3:$E$26</c:f>
              <c:numCache>
                <c:formatCode>0.00</c:formatCode>
                <c:ptCount val="13"/>
                <c:pt idx="0">
                  <c:v>36.231884057971016</c:v>
                </c:pt>
                <c:pt idx="1">
                  <c:v>22.140849868006473</c:v>
                </c:pt>
                <c:pt idx="2">
                  <c:v>39.601840950444185</c:v>
                </c:pt>
                <c:pt idx="3">
                  <c:v>15.723270440251572</c:v>
                </c:pt>
                <c:pt idx="4">
                  <c:v>12.106537530266344</c:v>
                </c:pt>
                <c:pt idx="5">
                  <c:v>17.386768669042858</c:v>
                </c:pt>
                <c:pt idx="6">
                  <c:v>37.506251041840308</c:v>
                </c:pt>
                <c:pt idx="7">
                  <c:v>14.566642388929353</c:v>
                </c:pt>
                <c:pt idx="8">
                  <c:v>27.612006769395208</c:v>
                </c:pt>
                <c:pt idx="9">
                  <c:v>19.522584080220074</c:v>
                </c:pt>
                <c:pt idx="10">
                  <c:v>30.203876164107726</c:v>
                </c:pt>
                <c:pt idx="11">
                  <c:v>18.287107589149649</c:v>
                </c:pt>
                <c:pt idx="12">
                  <c:v>14.610888957243924</c:v>
                </c:pt>
              </c:numCache>
            </c:numRef>
          </c:val>
          <c:smooth val="0"/>
          <c:extLst>
            <c:ext xmlns:c16="http://schemas.microsoft.com/office/drawing/2014/chart" uri="{C3380CC4-5D6E-409C-BE32-E72D297353CC}">
              <c16:uniqueId val="{0000000A-A187-4C0C-B279-37F2D43D144C}"/>
            </c:ext>
          </c:extLst>
        </c:ser>
        <c:ser>
          <c:idx val="2"/>
          <c:order val="2"/>
          <c:spPr>
            <a:ln w="25400">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A187-4C0C-B279-37F2D43D144C}"/>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A187-4C0C-B279-37F2D43D144C}"/>
                </c:ext>
              </c:extLst>
            </c:dLbl>
            <c:spPr>
              <a:solidFill>
                <a:srgbClr val="00B0F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1"/>
              </c:ext>
            </c:extLst>
          </c:dLbls>
          <c:cat>
            <c:strRef>
              <c:f>'Concession rate loại 2-7'!$B$3:$B$26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'Concession rate loại 2-7'!$F$3:$F$26</c:f>
              <c:numCache>
                <c:formatCode>0.00</c:formatCode>
                <c:ptCount val="13"/>
                <c:pt idx="0">
                  <c:v>20.5</c:v>
                </c:pt>
                <c:pt idx="1">
                  <c:v>20.5</c:v>
                </c:pt>
                <c:pt idx="2">
                  <c:v>20.5</c:v>
                </c:pt>
                <c:pt idx="3">
                  <c:v>20.5</c:v>
                </c:pt>
                <c:pt idx="4">
                  <c:v>20.5</c:v>
                </c:pt>
                <c:pt idx="5">
                  <c:v>20.5</c:v>
                </c:pt>
                <c:pt idx="6">
                  <c:v>34.35</c:v>
                </c:pt>
                <c:pt idx="7">
                  <c:v>34.35</c:v>
                </c:pt>
                <c:pt idx="8">
                  <c:v>34.35</c:v>
                </c:pt>
                <c:pt idx="9">
                  <c:v>34.35</c:v>
                </c:pt>
                <c:pt idx="10">
                  <c:v>34.35</c:v>
                </c:pt>
                <c:pt idx="11">
                  <c:v>34.35</c:v>
                </c:pt>
                <c:pt idx="12">
                  <c:v>34.35</c:v>
                </c:pt>
              </c:numCache>
            </c:numRef>
          </c:val>
          <c:smooth val="0"/>
          <c:extLst>
            <c:ext xmlns:c16="http://schemas.microsoft.com/office/drawing/2014/chart" uri="{C3380CC4-5D6E-409C-BE32-E72D297353CC}">
              <c16:uniqueId val="{0000000C-A187-4C0C-B279-37F2D43D144C}"/>
            </c:ext>
          </c:extLst>
        </c:ser>
        <c:ser>
          <c:idx val="3"/>
          <c:order val="3"/>
          <c:spPr>
            <a:ln w="25400">
              <a:solidFill>
                <a:srgbClr val="FFC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A187-4C0C-B279-37F2D43D144C}"/>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A187-4C0C-B279-37F2D43D144C}"/>
                </c:ext>
              </c:extLst>
            </c:dLbl>
            <c:spPr>
              <a:solidFill>
                <a:srgbClr val="FFC00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1"/>
              </c:ext>
            </c:extLst>
          </c:dLbls>
          <c:cat>
            <c:strRef>
              <c:f>'Concession rate loại 2-7'!$B$3:$B$26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'Concession rate loại 2-7'!$G$3:$G$26</c:f>
              <c:numCache>
                <c:formatCode>0.00</c:formatCode>
                <c:ptCount val="13"/>
                <c:pt idx="0">
                  <c:v>24.9</c:v>
                </c:pt>
                <c:pt idx="1">
                  <c:v>24.9</c:v>
                </c:pt>
                <c:pt idx="2">
                  <c:v>24.9</c:v>
                </c:pt>
                <c:pt idx="3">
                  <c:v>24.9</c:v>
                </c:pt>
                <c:pt idx="4">
                  <c:v>24.9</c:v>
                </c:pt>
                <c:pt idx="5">
                  <c:v>24.9</c:v>
                </c:pt>
                <c:pt idx="6">
                  <c:v>44.5</c:v>
                </c:pt>
                <c:pt idx="7">
                  <c:v>44.5</c:v>
                </c:pt>
                <c:pt idx="8">
                  <c:v>44.5</c:v>
                </c:pt>
                <c:pt idx="9">
                  <c:v>44.5</c:v>
                </c:pt>
                <c:pt idx="10">
                  <c:v>44.5</c:v>
                </c:pt>
                <c:pt idx="11">
                  <c:v>44.5</c:v>
                </c:pt>
                <c:pt idx="12">
                  <c:v>44.5</c:v>
                </c:pt>
              </c:numCache>
            </c:numRef>
          </c:val>
          <c:smooth val="0"/>
          <c:extLst>
            <c:ext xmlns:c16="http://schemas.microsoft.com/office/drawing/2014/chart" uri="{C3380CC4-5D6E-409C-BE32-E72D297353CC}">
              <c16:uniqueId val="{0000000E-A187-4C0C-B279-37F2D43D144C}"/>
            </c:ext>
          </c:extLst>
        </c:ser>
        <c:ser>
          <c:idx val="4"/>
          <c:order val="4"/>
          <c:spPr>
            <a:ln w="25400">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A187-4C0C-B279-37F2D43D144C}"/>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A187-4C0C-B279-37F2D43D144C}"/>
                </c:ext>
              </c:extLst>
            </c:dLbl>
            <c:spPr>
              <a:solidFill>
                <a:srgbClr val="FF000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'Concession rate loại 2-7'!$B$3:$B$26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'Concession rate loại 2-7'!$H$3:$H$26</c:f>
              <c:numCache>
                <c:formatCode>0.00</c:formatCode>
                <c:ptCount val="13"/>
                <c:pt idx="0">
                  <c:v>28.84</c:v>
                </c:pt>
                <c:pt idx="1">
                  <c:v>28.84</c:v>
                </c:pt>
                <c:pt idx="2">
                  <c:v>28.84</c:v>
                </c:pt>
                <c:pt idx="3">
                  <c:v>28.84</c:v>
                </c:pt>
                <c:pt idx="4">
                  <c:v>28.84</c:v>
                </c:pt>
                <c:pt idx="5">
                  <c:v>28.84</c:v>
                </c:pt>
                <c:pt idx="6">
                  <c:v>54.65</c:v>
                </c:pt>
                <c:pt idx="7">
                  <c:v>54.65</c:v>
                </c:pt>
                <c:pt idx="8">
                  <c:v>54.65</c:v>
                </c:pt>
                <c:pt idx="9">
                  <c:v>54.65</c:v>
                </c:pt>
                <c:pt idx="10">
                  <c:v>54.65</c:v>
                </c:pt>
                <c:pt idx="11">
                  <c:v>54.65</c:v>
                </c:pt>
                <c:pt idx="12">
                  <c:v>54.65</c:v>
                </c:pt>
              </c:numCache>
            </c:numRef>
          </c:val>
          <c:smooth val="0"/>
          <c:extLst>
            <c:ext xmlns:c16="http://schemas.microsoft.com/office/drawing/2014/chart" uri="{C3380CC4-5D6E-409C-BE32-E72D297353CC}">
              <c16:uniqueId val="{00000010-A187-4C0C-B279-37F2D43D144C}"/>
            </c:ext>
          </c:extLst>
        </c:ser>
        <c:ser>
          <c:idx val="5"/>
          <c:order val="5"/>
          <c:spPr>
            <a:ln w="25400">
              <a:solidFill>
                <a:srgbClr val="339933"/>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A187-4C0C-B279-37F2D43D144C}"/>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A187-4C0C-B279-37F2D43D144C}"/>
                </c:ext>
              </c:extLst>
            </c:dLbl>
            <c:spPr>
              <a:solidFill>
                <a:srgbClr val="339933"/>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1"/>
              </c:ext>
            </c:extLst>
          </c:dLbls>
          <c:cat>
            <c:strRef>
              <c:f>'Concession rate loại 2-7'!$B$3:$B$26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'Concession rate loại 2-7'!$I$3:$I$26</c:f>
              <c:numCache>
                <c:formatCode>0.00</c:formatCode>
                <c:ptCount val="13"/>
                <c:pt idx="0">
                  <c:v>15.19</c:v>
                </c:pt>
                <c:pt idx="1">
                  <c:v>15.19</c:v>
                </c:pt>
                <c:pt idx="2">
                  <c:v>15.19</c:v>
                </c:pt>
                <c:pt idx="3">
                  <c:v>15.19</c:v>
                </c:pt>
                <c:pt idx="4">
                  <c:v>15.19</c:v>
                </c:pt>
                <c:pt idx="5">
                  <c:v>15.19</c:v>
                </c:pt>
                <c:pt idx="6">
                  <c:v>24.202089337175792</c:v>
                </c:pt>
                <c:pt idx="7">
                  <c:v>24.202089337175792</c:v>
                </c:pt>
                <c:pt idx="8">
                  <c:v>24.202089337175792</c:v>
                </c:pt>
                <c:pt idx="9">
                  <c:v>24.202089337175792</c:v>
                </c:pt>
                <c:pt idx="10">
                  <c:v>24.202089337175792</c:v>
                </c:pt>
                <c:pt idx="11">
                  <c:v>24.202089337175792</c:v>
                </c:pt>
                <c:pt idx="12">
                  <c:v>24.202089337175792</c:v>
                </c:pt>
              </c:numCache>
            </c:numRef>
          </c:val>
          <c:smooth val="0"/>
          <c:extLst>
            <c:ext xmlns:c16="http://schemas.microsoft.com/office/drawing/2014/chart" uri="{C3380CC4-5D6E-409C-BE32-E72D297353CC}">
              <c16:uniqueId val="{00000012-A187-4C0C-B279-37F2D43D144C}"/>
            </c:ext>
          </c:extLst>
        </c:ser>
        <c:dLbls>
          <c:showLegendKey val="0"/>
          <c:showVal val="1"/>
          <c:showCatName val="0"/>
          <c:showSerName val="0"/>
          <c:showPercent val="0"/>
          <c:showBubbleSize val="0"/>
        </c:dLbls>
        <c:marker val="1"/>
        <c:smooth val="0"/>
        <c:axId val="459164208"/>
        <c:axId val="459164600"/>
      </c:lineChart>
      <c:catAx>
        <c:axId val="459164208"/>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459164600"/>
        <c:crosses val="autoZero"/>
        <c:auto val="1"/>
        <c:lblAlgn val="ctr"/>
        <c:lblOffset val="100"/>
        <c:noMultiLvlLbl val="0"/>
      </c:catAx>
      <c:valAx>
        <c:axId val="459164600"/>
        <c:scaling>
          <c:orientation val="minMax"/>
        </c:scaling>
        <c:delete val="1"/>
        <c:axPos val="l"/>
        <c:numFmt formatCode="0" sourceLinked="1"/>
        <c:majorTickMark val="out"/>
        <c:minorTickMark val="none"/>
        <c:tickLblPos val="nextTo"/>
        <c:crossAx val="459164208"/>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000"/>
              <a:t>NHÂN NHƯỢNG</a:t>
            </a: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'Concession rate loại 2-7'!$Y$3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'Concession rate loại 2-7'!$X$4:$X$5</c:f>
              <c:strCache>
                <c:ptCount val="2"/>
                <c:pt idx="0">
                  <c:v>Số vụ</c:v>
                </c:pt>
                <c:pt idx="1">
                  <c:v>Tỷ lệ/10000CB</c:v>
                </c:pt>
              </c:strCache>
            </c:strRef>
          </c:cat>
          <c:val>
            <c:numRef>
              <c:f>'Concession rate loại 2-7'!$Y$4:$Y$5</c:f>
              <c:numCache>
                <c:formatCode>0.00</c:formatCode>
                <c:ptCount val="2"/>
                <c:pt idx="0" formatCode="0">
                  <c:v>313</c:v>
                </c:pt>
                <c:pt idx="1">
                  <c:v>39.907689561525416</c:v>
                </c:pt>
              </c:numCache>
            </c:numRef>
          </c:val>
          <c:extLst>
            <c:ext xmlns:c16="http://schemas.microsoft.com/office/drawing/2014/chart" uri="{C3380CC4-5D6E-409C-BE32-E72D297353CC}">
              <c16:uniqueId val="{00000000-684E-44DA-8BE0-A30027CF78F4}"/>
            </c:ext>
          </c:extLst>
        </c:ser>
        <c:ser>
          <c:idx val="1"/>
          <c:order val="1"/>
          <c:tx>
            <c:strRef>
              <c:f>'Concession rate loại 2-7'!$Z$3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'Concession rate loại 2-7'!$X$4:$X$5</c:f>
              <c:strCache>
                <c:ptCount val="2"/>
                <c:pt idx="0">
                  <c:v>Số vụ</c:v>
                </c:pt>
                <c:pt idx="1">
                  <c:v>Tỷ lệ/10000CB</c:v>
                </c:pt>
              </c:strCache>
            </c:strRef>
          </c:cat>
          <c:val>
            <c:numRef>
              <c:f>'Concession rate loại 2-7'!$Z$4:$Z$5</c:f>
              <c:numCache>
                <c:formatCode>0.00</c:formatCode>
                <c:ptCount val="2"/>
                <c:pt idx="0" formatCode="0">
                  <c:v>193</c:v>
                </c:pt>
                <c:pt idx="1">
                  <c:v>23.106854235258904</c:v>
                </c:pt>
              </c:numCache>
            </c:numRef>
          </c:val>
          <c:extLst>
            <c:ext xmlns:c16="http://schemas.microsoft.com/office/drawing/2014/chart" uri="{C3380CC4-5D6E-409C-BE32-E72D297353CC}">
              <c16:uniqueId val="{00000001-684E-44DA-8BE0-A30027CF78F4}"/>
            </c:ext>
          </c:extLst>
        </c:ser>
        <c:dLbls>
          <c:showLegendKey val="0"/>
          <c:showVal val="0"/>
          <c:showCatName val="0"/>
          <c:showSerName val="0"/>
          <c:showPercent val="0"/>
          <c:showBubbleSize val="0"/>
        </c:dLbls>
        <c:gapWidth val="219"/>
        <c:overlap val="-27"/>
        <c:axId val="530330880"/>
        <c:axId val="530329704"/>
      </c:barChart>
      <c:catAx>
        <c:axId val="530330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530329704"/>
        <c:crosses val="autoZero"/>
        <c:auto val="1"/>
        <c:lblAlgn val="ctr"/>
        <c:lblOffset val="100"/>
        <c:noMultiLvlLbl val="0"/>
      </c:catAx>
      <c:valAx>
        <c:axId val="53032970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530330880"/>
        <c:crosses val="autoZero"/>
        <c:crossBetween val="between"/>
      </c:valAx>
      <c:spPr>
        <a:noFill/>
        <a:ln>
          <a:noFill/>
        </a:ln>
        <a:effectLst/>
      </c:spPr>
    </c:plotArea>
    <c:legend>
      <c:legendPos val="b"/>
      <c:layout>
        <c:manualLayout>
          <c:xMode val="edge"/>
          <c:yMode val="edge"/>
          <c:x val="6.3992077891956009E-3"/>
          <c:y val="0.91699108958854314"/>
          <c:w val="0.98984173878427872"/>
          <c:h val="6.1320628516162892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9525" cap="flat" cmpd="sng" algn="ctr">
      <a:solidFill>
        <a:sysClr val="windowText" lastClr="000000"/>
      </a:solidFill>
      <a:round/>
    </a:ln>
    <a:effectLst/>
  </c:spPr>
  <c:txPr>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2.0833336181285019E-2"/>
          <c:y val="2.0887728459530026E-2"/>
          <c:w val="0.96180555033431081"/>
          <c:h val="0.87455580092030616"/>
        </c:manualLayout>
      </c:layout>
      <c:barChart>
        <c:barDir val="col"/>
        <c:grouping val="clustered"/>
        <c:varyColors val="0"/>
        <c:ser>
          <c:idx val="0"/>
          <c:order val="0"/>
          <c:invertIfNegative val="0"/>
          <c:dLbls>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GTB_ATB_RTO_DIV!$B$3:$B$26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GTB_ATB_RTO_DIV!$D$3:$D$26</c:f>
              <c:numCache>
                <c:formatCode>0</c:formatCode>
                <c:ptCount val="13"/>
                <c:pt idx="0">
                  <c:v>9</c:v>
                </c:pt>
                <c:pt idx="1">
                  <c:v>7</c:v>
                </c:pt>
                <c:pt idx="2">
                  <c:v>7</c:v>
                </c:pt>
                <c:pt idx="3">
                  <c:v>3</c:v>
                </c:pt>
                <c:pt idx="4">
                  <c:v>9</c:v>
                </c:pt>
                <c:pt idx="5">
                  <c:v>13</c:v>
                </c:pt>
                <c:pt idx="6">
                  <c:v>9</c:v>
                </c:pt>
                <c:pt idx="7">
                  <c:v>12</c:v>
                </c:pt>
                <c:pt idx="8">
                  <c:v>5</c:v>
                </c:pt>
                <c:pt idx="9">
                  <c:v>7</c:v>
                </c:pt>
                <c:pt idx="10">
                  <c:v>10</c:v>
                </c:pt>
                <c:pt idx="11">
                  <c:v>10</c:v>
                </c:pt>
                <c:pt idx="12">
                  <c:v>4</c:v>
                </c:pt>
              </c:numCache>
            </c:numRef>
          </c:val>
          <c:extLst>
            <c:ext xmlns:c16="http://schemas.microsoft.com/office/drawing/2014/chart" uri="{C3380CC4-5D6E-409C-BE32-E72D297353CC}">
              <c16:uniqueId val="{00000000-FF7D-47B8-8D5D-97C9621C8BEC}"/>
            </c:ext>
          </c:extLst>
        </c:ser>
        <c:dLbls>
          <c:showLegendKey val="0"/>
          <c:showVal val="0"/>
          <c:showCatName val="0"/>
          <c:showSerName val="0"/>
          <c:showPercent val="0"/>
          <c:showBubbleSize val="0"/>
        </c:dLbls>
        <c:gapWidth val="150"/>
        <c:axId val="327493648"/>
        <c:axId val="327487768"/>
      </c:barChart>
      <c:lineChart>
        <c:grouping val="standard"/>
        <c:varyColors val="0"/>
        <c:ser>
          <c:idx val="1"/>
          <c:order val="1"/>
          <c:spPr>
            <a:ln w="28575">
              <a:solidFill>
                <a:srgbClr val="7030A0"/>
              </a:solidFill>
            </a:ln>
          </c:spPr>
          <c:marker>
            <c:symbol val="none"/>
          </c:marker>
          <c:dLbls>
            <c:dLbl>
              <c:idx val="0"/>
              <c:layout>
                <c:manualLayout>
                  <c:x val="-2.9972455431460286E-2"/>
                  <c:y val="-0.1539551034765011"/>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1-FF7D-47B8-8D5D-97C9621C8BEC}"/>
                </c:ext>
              </c:extLst>
            </c:dLbl>
            <c:dLbl>
              <c:idx val="1"/>
              <c:layout>
                <c:manualLayout>
                  <c:x val="-3.1845733895926549E-2"/>
                  <c:y val="-0.11878082675955015"/>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2-FF7D-47B8-8D5D-97C9621C8BEC}"/>
                </c:ext>
              </c:extLst>
            </c:dLbl>
            <c:dLbl>
              <c:idx val="3"/>
              <c:layout>
                <c:manualLayout>
                  <c:x val="-4.3085404682724156E-2"/>
                  <c:y val="-0.1288347521117544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F7D-47B8-8D5D-97C9621C8BEC}"/>
                </c:ext>
              </c:extLst>
            </c:dLbl>
            <c:dLbl>
              <c:idx val="5"/>
              <c:layout>
                <c:manualLayout>
                  <c:x val="-6.6819842827511758E-2"/>
                  <c:y val="-0.13421407370305938"/>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F7D-47B8-8D5D-97C9621C8BEC}"/>
                </c:ext>
              </c:extLst>
            </c:dLbl>
            <c:dLbl>
              <c:idx val="6"/>
              <c:layout>
                <c:manualLayout>
                  <c:x val="-1.5849599168735764E-2"/>
                  <c:y val="-0.29090839343712399"/>
                </c:manualLayout>
              </c:layout>
              <c:spPr>
                <a:noFill/>
              </c:spPr>
              <c:txPr>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F7D-47B8-8D5D-97C9621C8BEC}"/>
                </c:ext>
              </c:extLst>
            </c:dLbl>
            <c:dLbl>
              <c:idx val="7"/>
              <c:layout>
                <c:manualLayout>
                  <c:x val="-2.896255082129625E-2"/>
                  <c:y val="-0.12503561026931773"/>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6-FF7D-47B8-8D5D-97C9621C8BEC}"/>
                </c:ext>
              </c:extLst>
            </c:dLbl>
            <c:dLbl>
              <c:idx val="8"/>
              <c:layout>
                <c:manualLayout>
                  <c:x val="-4.1022057634051763E-2"/>
                  <c:y val="-0.17537321643847348"/>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7-FF7D-47B8-8D5D-97C9621C8BEC}"/>
                </c:ext>
              </c:extLst>
            </c:dLbl>
            <c:dLbl>
              <c:idx val="9"/>
              <c:layout>
                <c:manualLayout>
                  <c:x val="-3.9675549192195618E-2"/>
                  <c:y val="-9.217394821092216E-2"/>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8-FF7D-47B8-8D5D-97C9621C8BEC}"/>
                </c:ext>
              </c:extLst>
            </c:dLbl>
            <c:dLbl>
              <c:idx val="10"/>
              <c:layout>
                <c:manualLayout>
                  <c:x val="-3.7184038706412161E-2"/>
                  <c:y val="-0.21054753874308094"/>
                </c:manualLayout>
              </c:layout>
              <c:dLblPos val="r"/>
              <c:showLegendKey val="0"/>
              <c:showVal val="1"/>
              <c:showCatName val="0"/>
              <c:showSerName val="0"/>
              <c:showPercent val="0"/>
              <c:showBubbleSize val="0"/>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09-FF7D-47B8-8D5D-97C9621C8BEC}"/>
                </c:ext>
              </c:extLst>
            </c:dLbl>
            <c:dLbl>
              <c:idx val="11"/>
              <c:layout>
                <c:manualLayout>
                  <c:x val="-3.9593792099365074E-2"/>
                  <c:y val="-0.28500942965878967"/>
                </c:manualLayout>
              </c:layout>
              <c:dLblPos val="r"/>
              <c:showLegendKey val="0"/>
              <c:showVal val="1"/>
              <c:showCatName val="0"/>
              <c:showSerName val="0"/>
              <c:showPercent val="0"/>
              <c:showBubbleSize val="0"/>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0A-FF7D-47B8-8D5D-97C9621C8BEC}"/>
                </c:ext>
              </c:extLst>
            </c:dLbl>
            <c:dLbl>
              <c:idx val="12"/>
              <c:layout>
                <c:manualLayout>
                  <c:x val="-3.1632611279928224E-2"/>
                  <c:y val="-0.12926721053980714"/>
                </c:manualLayout>
              </c:layout>
              <c:dLblPos val="r"/>
              <c:showLegendKey val="0"/>
              <c:showVal val="1"/>
              <c:showCatName val="0"/>
              <c:showSerName val="0"/>
              <c:showPercent val="0"/>
              <c:showBubbleSize val="0"/>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0B-FF7D-47B8-8D5D-97C9621C8BEC}"/>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trendline>
            <c:spPr>
              <a:ln w="12700">
                <a:solidFill>
                  <a:srgbClr val="C00000"/>
                </a:solidFill>
              </a:ln>
            </c:spPr>
            <c:trendlineType val="linear"/>
            <c:dispRSqr val="0"/>
            <c:dispEq val="0"/>
          </c:trendline>
          <c:cat>
            <c:strRef>
              <c:f>GTB_ATB_RTO_DIV!$B$3:$B$26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GTB_ATB_RTO_DIV!$E$3:$E$26</c:f>
              <c:numCache>
                <c:formatCode>0.00</c:formatCode>
                <c:ptCount val="13"/>
                <c:pt idx="0">
                  <c:v>6.9380203515263643</c:v>
                </c:pt>
                <c:pt idx="1">
                  <c:v>5.9609980413863575</c:v>
                </c:pt>
                <c:pt idx="2">
                  <c:v>7.4922401798137646</c:v>
                </c:pt>
                <c:pt idx="3">
                  <c:v>3.1446540880503147</c:v>
                </c:pt>
                <c:pt idx="4">
                  <c:v>9.079903147699758</c:v>
                </c:pt>
                <c:pt idx="5">
                  <c:v>11.301399634877859</c:v>
                </c:pt>
                <c:pt idx="6">
                  <c:v>7.5012502083680612</c:v>
                </c:pt>
                <c:pt idx="7">
                  <c:v>10.924981791697014</c:v>
                </c:pt>
                <c:pt idx="8">
                  <c:v>4.4535494789347112</c:v>
                </c:pt>
                <c:pt idx="9">
                  <c:v>6.2117312982518413</c:v>
                </c:pt>
                <c:pt idx="10">
                  <c:v>8.3899656011410357</c:v>
                </c:pt>
                <c:pt idx="11">
                  <c:v>7.6196281621456876</c:v>
                </c:pt>
                <c:pt idx="12">
                  <c:v>3.0759766225776684</c:v>
                </c:pt>
              </c:numCache>
            </c:numRef>
          </c:val>
          <c:smooth val="0"/>
          <c:extLst>
            <c:ext xmlns:c16="http://schemas.microsoft.com/office/drawing/2014/chart" uri="{C3380CC4-5D6E-409C-BE32-E72D297353CC}">
              <c16:uniqueId val="{0000000C-FF7D-47B8-8D5D-97C9621C8BEC}"/>
            </c:ext>
          </c:extLst>
        </c:ser>
        <c:ser>
          <c:idx val="2"/>
          <c:order val="2"/>
          <c:spPr>
            <a:ln w="25400">
              <a:solidFill>
                <a:srgbClr val="00B0F0"/>
              </a:solidFill>
            </a:ln>
          </c:spPr>
          <c:marker>
            <c:symbol val="none"/>
          </c:marker>
          <c:dLbls>
            <c:dLbl>
              <c:idx val="1"/>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E-FF7D-47B8-8D5D-97C9621C8BEC}"/>
                </c:ext>
              </c:extLst>
            </c:dLbl>
            <c:dLbl>
              <c:idx val="2"/>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F-FF7D-47B8-8D5D-97C9621C8BEC}"/>
                </c:ext>
              </c:extLst>
            </c:dLbl>
            <c:dLbl>
              <c:idx val="3"/>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0-FF7D-47B8-8D5D-97C9621C8BEC}"/>
                </c:ext>
              </c:extLst>
            </c:dLbl>
            <c:dLbl>
              <c:idx val="4"/>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1-FF7D-47B8-8D5D-97C9621C8BEC}"/>
                </c:ext>
              </c:extLst>
            </c:dLbl>
            <c:dLbl>
              <c:idx val="5"/>
              <c:delete val="1"/>
              <c:extLst>
                <c:ext xmlns:c15="http://schemas.microsoft.com/office/drawing/2012/chart" uri="{CE6537A1-D6FC-4f65-9D91-7224C49458BB}"/>
                <c:ext xmlns:c16="http://schemas.microsoft.com/office/drawing/2014/chart" uri="{C3380CC4-5D6E-409C-BE32-E72D297353CC}">
                  <c16:uniqueId val="{00000012-FF7D-47B8-8D5D-97C9621C8BEC}"/>
                </c:ext>
              </c:extLst>
            </c:dLbl>
            <c:dLbl>
              <c:idx val="6"/>
              <c:delete val="1"/>
              <c:extLst>
                <c:ext xmlns:c15="http://schemas.microsoft.com/office/drawing/2012/chart" uri="{CE6537A1-D6FC-4f65-9D91-7224C49458BB}"/>
                <c:ext xmlns:c16="http://schemas.microsoft.com/office/drawing/2014/chart" uri="{C3380CC4-5D6E-409C-BE32-E72D297353CC}">
                  <c16:uniqueId val="{00000013-FF7D-47B8-8D5D-97C9621C8BEC}"/>
                </c:ext>
              </c:extLst>
            </c:dLbl>
            <c:dLbl>
              <c:idx val="7"/>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4-FF7D-47B8-8D5D-97C9621C8BEC}"/>
                </c:ext>
              </c:extLst>
            </c:dLbl>
            <c:dLbl>
              <c:idx val="8"/>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5-FF7D-47B8-8D5D-97C9621C8BEC}"/>
                </c:ext>
              </c:extLst>
            </c:dLbl>
            <c:dLbl>
              <c:idx val="9"/>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6-FF7D-47B8-8D5D-97C9621C8BEC}"/>
                </c:ext>
              </c:extLst>
            </c:dLbl>
            <c:dLbl>
              <c:idx val="10"/>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17-FF7D-47B8-8D5D-97C9621C8BEC}"/>
                </c:ext>
              </c:extLst>
            </c:dLbl>
            <c:dLbl>
              <c:idx val="11"/>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18-FF7D-47B8-8D5D-97C9621C8BEC}"/>
                </c:ext>
              </c:extLst>
            </c:dLbl>
            <c:dLbl>
              <c:idx val="12"/>
              <c:spPr>
                <a:solidFill>
                  <a:srgbClr val="00B0F0"/>
                </a:solidFill>
              </c:spPr>
              <c:txPr>
                <a:bodyPr wrap="square" lIns="38100" tIns="19050" rIns="38100" bIns="19050" anchor="ctr">
                  <a:noAutofit/>
                </a:bodyPr>
                <a:lstStyle/>
                <a:p>
                  <a:pPr>
                    <a:defRPr sz="1200" b="1">
                      <a:latin typeface="Times New Roman" panose="02020603050405020304" pitchFamily="18" charset="0"/>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9-FF7D-47B8-8D5D-97C9621C8BEC}"/>
                </c:ext>
              </c:extLst>
            </c:dLbl>
            <c:spPr>
              <a:solidFill>
                <a:srgbClr val="00B0F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GTB_ATB_RTO_DIV!$B$3:$B$26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GTB_ATB_RTO_DIV!$F$3:$F$26</c:f>
              <c:numCache>
                <c:formatCode>0.00</c:formatCode>
                <c:ptCount val="13"/>
                <c:pt idx="0">
                  <c:v>13.300190648287957</c:v>
                </c:pt>
                <c:pt idx="1">
                  <c:v>13.300190648287957</c:v>
                </c:pt>
                <c:pt idx="2">
                  <c:v>13.300190648287957</c:v>
                </c:pt>
                <c:pt idx="3">
                  <c:v>13.300190648287957</c:v>
                </c:pt>
                <c:pt idx="4">
                  <c:v>13.300190648287957</c:v>
                </c:pt>
                <c:pt idx="5">
                  <c:v>13.300190648287957</c:v>
                </c:pt>
                <c:pt idx="6">
                  <c:v>8.9700000000000006</c:v>
                </c:pt>
                <c:pt idx="7">
                  <c:v>8.9700000000000006</c:v>
                </c:pt>
                <c:pt idx="8">
                  <c:v>8.9700000000000006</c:v>
                </c:pt>
                <c:pt idx="9">
                  <c:v>8.9700000000000006</c:v>
                </c:pt>
                <c:pt idx="10">
                  <c:v>8.9700000000000006</c:v>
                </c:pt>
                <c:pt idx="11">
                  <c:v>8.9700000000000006</c:v>
                </c:pt>
                <c:pt idx="12">
                  <c:v>8.9700000000000006</c:v>
                </c:pt>
              </c:numCache>
            </c:numRef>
          </c:val>
          <c:smooth val="0"/>
          <c:extLst>
            <c:ext xmlns:c16="http://schemas.microsoft.com/office/drawing/2014/chart" uri="{C3380CC4-5D6E-409C-BE32-E72D297353CC}">
              <c16:uniqueId val="{0000001A-FF7D-47B8-8D5D-97C9621C8BEC}"/>
            </c:ext>
          </c:extLst>
        </c:ser>
        <c:ser>
          <c:idx val="3"/>
          <c:order val="3"/>
          <c:spPr>
            <a:ln w="25400">
              <a:solidFill>
                <a:srgbClr val="FFC000"/>
              </a:solidFill>
            </a:ln>
          </c:spPr>
          <c:marker>
            <c:symbol val="none"/>
          </c:marker>
          <c:dLbls>
            <c:dLbl>
              <c:idx val="1"/>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1C-FF7D-47B8-8D5D-97C9621C8BEC}"/>
                </c:ext>
              </c:extLst>
            </c:dLbl>
            <c:dLbl>
              <c:idx val="2"/>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1D-FF7D-47B8-8D5D-97C9621C8BEC}"/>
                </c:ext>
              </c:extLst>
            </c:dLbl>
            <c:dLbl>
              <c:idx val="3"/>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E-FF7D-47B8-8D5D-97C9621C8BEC}"/>
                </c:ext>
              </c:extLst>
            </c:dLbl>
            <c:dLbl>
              <c:idx val="4"/>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F-FF7D-47B8-8D5D-97C9621C8BEC}"/>
                </c:ext>
              </c:extLst>
            </c:dLbl>
            <c:dLbl>
              <c:idx val="5"/>
              <c:delete val="1"/>
              <c:extLst>
                <c:ext xmlns:c15="http://schemas.microsoft.com/office/drawing/2012/chart" uri="{CE6537A1-D6FC-4f65-9D91-7224C49458BB}"/>
                <c:ext xmlns:c16="http://schemas.microsoft.com/office/drawing/2014/chart" uri="{C3380CC4-5D6E-409C-BE32-E72D297353CC}">
                  <c16:uniqueId val="{00000020-FF7D-47B8-8D5D-97C9621C8BEC}"/>
                </c:ext>
              </c:extLst>
            </c:dLbl>
            <c:dLbl>
              <c:idx val="6"/>
              <c:delete val="1"/>
              <c:extLst>
                <c:ext xmlns:c15="http://schemas.microsoft.com/office/drawing/2012/chart" uri="{CE6537A1-D6FC-4f65-9D91-7224C49458BB}"/>
                <c:ext xmlns:c16="http://schemas.microsoft.com/office/drawing/2014/chart" uri="{C3380CC4-5D6E-409C-BE32-E72D297353CC}">
                  <c16:uniqueId val="{00000021-FF7D-47B8-8D5D-97C9621C8BEC}"/>
                </c:ext>
              </c:extLst>
            </c:dLbl>
            <c:dLbl>
              <c:idx val="7"/>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2-FF7D-47B8-8D5D-97C9621C8BEC}"/>
                </c:ext>
              </c:extLst>
            </c:dLbl>
            <c:dLbl>
              <c:idx val="8"/>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3-FF7D-47B8-8D5D-97C9621C8BEC}"/>
                </c:ext>
              </c:extLst>
            </c:dLbl>
            <c:dLbl>
              <c:idx val="9"/>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4-FF7D-47B8-8D5D-97C9621C8BEC}"/>
                </c:ext>
              </c:extLst>
            </c:dLbl>
            <c:dLbl>
              <c:idx val="10"/>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25-FF7D-47B8-8D5D-97C9621C8BEC}"/>
                </c:ext>
              </c:extLst>
            </c:dLbl>
            <c:dLbl>
              <c:idx val="11"/>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26-FF7D-47B8-8D5D-97C9621C8BEC}"/>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FF7D-47B8-8D5D-97C9621C8BEC}"/>
                </c:ext>
              </c:extLst>
            </c:dLbl>
            <c:spPr>
              <a:solidFill>
                <a:srgbClr val="FFC00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GTB_ATB_RTO_DIV!$B$3:$B$26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GTB_ATB_RTO_DIV!$G$3:$G$26</c:f>
              <c:numCache>
                <c:formatCode>0.00</c:formatCode>
                <c:ptCount val="13"/>
                <c:pt idx="0">
                  <c:v>15.209632431802575</c:v>
                </c:pt>
                <c:pt idx="1">
                  <c:v>15.209632431802575</c:v>
                </c:pt>
                <c:pt idx="2">
                  <c:v>15.209632431802575</c:v>
                </c:pt>
                <c:pt idx="3">
                  <c:v>15.209632431802575</c:v>
                </c:pt>
                <c:pt idx="4">
                  <c:v>15.209632431802575</c:v>
                </c:pt>
                <c:pt idx="5">
                  <c:v>15.209632431802575</c:v>
                </c:pt>
                <c:pt idx="6">
                  <c:v>10.27</c:v>
                </c:pt>
                <c:pt idx="7">
                  <c:v>10.27</c:v>
                </c:pt>
                <c:pt idx="8">
                  <c:v>10.27</c:v>
                </c:pt>
                <c:pt idx="9">
                  <c:v>10.27</c:v>
                </c:pt>
                <c:pt idx="10">
                  <c:v>10.27</c:v>
                </c:pt>
                <c:pt idx="11">
                  <c:v>10.27</c:v>
                </c:pt>
                <c:pt idx="12">
                  <c:v>10.27</c:v>
                </c:pt>
              </c:numCache>
            </c:numRef>
          </c:val>
          <c:smooth val="0"/>
          <c:extLst>
            <c:ext xmlns:c16="http://schemas.microsoft.com/office/drawing/2014/chart" uri="{C3380CC4-5D6E-409C-BE32-E72D297353CC}">
              <c16:uniqueId val="{00000028-FF7D-47B8-8D5D-97C9621C8BEC}"/>
            </c:ext>
          </c:extLst>
        </c:ser>
        <c:ser>
          <c:idx val="4"/>
          <c:order val="4"/>
          <c:spPr>
            <a:ln w="25400">
              <a:solidFill>
                <a:srgbClr val="FF0000"/>
              </a:solidFill>
            </a:ln>
          </c:spPr>
          <c:marker>
            <c:symbol val="none"/>
          </c:marker>
          <c:dLbls>
            <c:dLbl>
              <c:idx val="1"/>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2A-FF7D-47B8-8D5D-97C9621C8BEC}"/>
                </c:ext>
              </c:extLst>
            </c:dLbl>
            <c:dLbl>
              <c:idx val="2"/>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2B-FF7D-47B8-8D5D-97C9621C8BEC}"/>
                </c:ext>
              </c:extLst>
            </c:dLbl>
            <c:dLbl>
              <c:idx val="3"/>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C-FF7D-47B8-8D5D-97C9621C8BEC}"/>
                </c:ext>
              </c:extLst>
            </c:dLbl>
            <c:dLbl>
              <c:idx val="4"/>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D-FF7D-47B8-8D5D-97C9621C8BEC}"/>
                </c:ext>
              </c:extLst>
            </c:dLbl>
            <c:dLbl>
              <c:idx val="5"/>
              <c:delete val="1"/>
              <c:extLst>
                <c:ext xmlns:c15="http://schemas.microsoft.com/office/drawing/2012/chart" uri="{CE6537A1-D6FC-4f65-9D91-7224C49458BB}"/>
                <c:ext xmlns:c16="http://schemas.microsoft.com/office/drawing/2014/chart" uri="{C3380CC4-5D6E-409C-BE32-E72D297353CC}">
                  <c16:uniqueId val="{0000002E-FF7D-47B8-8D5D-97C9621C8BEC}"/>
                </c:ext>
              </c:extLst>
            </c:dLbl>
            <c:dLbl>
              <c:idx val="6"/>
              <c:delete val="1"/>
              <c:extLst>
                <c:ext xmlns:c15="http://schemas.microsoft.com/office/drawing/2012/chart" uri="{CE6537A1-D6FC-4f65-9D91-7224C49458BB}"/>
                <c:ext xmlns:c16="http://schemas.microsoft.com/office/drawing/2014/chart" uri="{C3380CC4-5D6E-409C-BE32-E72D297353CC}">
                  <c16:uniqueId val="{0000002F-FF7D-47B8-8D5D-97C9621C8BEC}"/>
                </c:ext>
              </c:extLst>
            </c:dLbl>
            <c:dLbl>
              <c:idx val="7"/>
              <c:delete val="1"/>
              <c:extLst>
                <c:ext xmlns:c15="http://schemas.microsoft.com/office/drawing/2012/chart" uri="{CE6537A1-D6FC-4f65-9D91-7224C49458BB}"/>
                <c:ext xmlns:c16="http://schemas.microsoft.com/office/drawing/2014/chart" uri="{C3380CC4-5D6E-409C-BE32-E72D297353CC}">
                  <c16:uniqueId val="{00000030-FF7D-47B8-8D5D-97C9621C8BEC}"/>
                </c:ext>
              </c:extLst>
            </c:dLbl>
            <c:dLbl>
              <c:idx val="8"/>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31-FF7D-47B8-8D5D-97C9621C8BEC}"/>
                </c:ext>
              </c:extLst>
            </c:dLbl>
            <c:dLbl>
              <c:idx val="9"/>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32-FF7D-47B8-8D5D-97C9621C8BEC}"/>
                </c:ext>
              </c:extLst>
            </c:dLbl>
            <c:dLbl>
              <c:idx val="10"/>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33-FF7D-47B8-8D5D-97C9621C8BEC}"/>
                </c:ext>
              </c:extLst>
            </c:dLbl>
            <c:dLbl>
              <c:idx val="11"/>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34-FF7D-47B8-8D5D-97C9621C8BEC}"/>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5-FF7D-47B8-8D5D-97C9621C8BEC}"/>
                </c:ext>
              </c:extLst>
            </c:dLbl>
            <c:spPr>
              <a:solidFill>
                <a:srgbClr val="FF000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GTB_ATB_RTO_DIV!$B$3:$B$26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GTB_ATB_RTO_DIV!$H$3:$H$26</c:f>
              <c:numCache>
                <c:formatCode>0.00</c:formatCode>
                <c:ptCount val="13"/>
                <c:pt idx="0">
                  <c:v>17.119074215317191</c:v>
                </c:pt>
                <c:pt idx="1">
                  <c:v>17.119074215317191</c:v>
                </c:pt>
                <c:pt idx="2">
                  <c:v>17.119074215317191</c:v>
                </c:pt>
                <c:pt idx="3">
                  <c:v>17.119074215317191</c:v>
                </c:pt>
                <c:pt idx="4">
                  <c:v>17.119074215317191</c:v>
                </c:pt>
                <c:pt idx="5">
                  <c:v>17.119074215317191</c:v>
                </c:pt>
                <c:pt idx="6">
                  <c:v>11.57</c:v>
                </c:pt>
                <c:pt idx="7">
                  <c:v>11.57</c:v>
                </c:pt>
                <c:pt idx="8">
                  <c:v>11.57</c:v>
                </c:pt>
                <c:pt idx="9">
                  <c:v>11.57</c:v>
                </c:pt>
                <c:pt idx="10">
                  <c:v>11.57</c:v>
                </c:pt>
                <c:pt idx="11">
                  <c:v>11.57</c:v>
                </c:pt>
                <c:pt idx="12">
                  <c:v>11.57</c:v>
                </c:pt>
              </c:numCache>
            </c:numRef>
          </c:val>
          <c:smooth val="0"/>
          <c:extLst>
            <c:ext xmlns:c16="http://schemas.microsoft.com/office/drawing/2014/chart" uri="{C3380CC4-5D6E-409C-BE32-E72D297353CC}">
              <c16:uniqueId val="{00000036-FF7D-47B8-8D5D-97C9621C8BEC}"/>
            </c:ext>
          </c:extLst>
        </c:ser>
        <c:ser>
          <c:idx val="5"/>
          <c:order val="5"/>
          <c:spPr>
            <a:ln w="25400">
              <a:solidFill>
                <a:srgbClr val="339933"/>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8-FF7D-47B8-8D5D-97C9621C8BEC}"/>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9-FF7D-47B8-8D5D-97C9621C8BEC}"/>
                </c:ext>
              </c:extLst>
            </c:dLbl>
            <c:spPr>
              <a:solidFill>
                <a:srgbClr val="92D05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1"/>
              </c:ext>
            </c:extLst>
          </c:dLbls>
          <c:cat>
            <c:strRef>
              <c:f>GTB_ATB_RTO_DIV!$B$3:$B$26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GTB_ATB_RTO_DIV!$I$3:$I$26</c:f>
              <c:numCache>
                <c:formatCode>0.00</c:formatCode>
                <c:ptCount val="13"/>
                <c:pt idx="0">
                  <c:v>11.390748864773339</c:v>
                </c:pt>
                <c:pt idx="1">
                  <c:v>11.390748864773339</c:v>
                </c:pt>
                <c:pt idx="2">
                  <c:v>11.390748864773339</c:v>
                </c:pt>
                <c:pt idx="3">
                  <c:v>11.390748864773339</c:v>
                </c:pt>
                <c:pt idx="4">
                  <c:v>11.390748864773339</c:v>
                </c:pt>
                <c:pt idx="5">
                  <c:v>11.390748864773339</c:v>
                </c:pt>
                <c:pt idx="6">
                  <c:v>7.28</c:v>
                </c:pt>
                <c:pt idx="7">
                  <c:v>7.28</c:v>
                </c:pt>
                <c:pt idx="8">
                  <c:v>7.28</c:v>
                </c:pt>
                <c:pt idx="9">
                  <c:v>7.28</c:v>
                </c:pt>
                <c:pt idx="10">
                  <c:v>7.28</c:v>
                </c:pt>
                <c:pt idx="11">
                  <c:v>7.28</c:v>
                </c:pt>
                <c:pt idx="12">
                  <c:v>7.28</c:v>
                </c:pt>
              </c:numCache>
            </c:numRef>
          </c:val>
          <c:smooth val="0"/>
          <c:extLst>
            <c:ext xmlns:c16="http://schemas.microsoft.com/office/drawing/2014/chart" uri="{C3380CC4-5D6E-409C-BE32-E72D297353CC}">
              <c16:uniqueId val="{00000038-FF7D-47B8-8D5D-97C9621C8BEC}"/>
            </c:ext>
          </c:extLst>
        </c:ser>
        <c:dLbls>
          <c:showLegendKey val="0"/>
          <c:showVal val="1"/>
          <c:showCatName val="0"/>
          <c:showSerName val="0"/>
          <c:showPercent val="0"/>
          <c:showBubbleSize val="0"/>
        </c:dLbls>
        <c:marker val="1"/>
        <c:smooth val="0"/>
        <c:axId val="327493648"/>
        <c:axId val="327487768"/>
      </c:lineChart>
      <c:catAx>
        <c:axId val="327493648"/>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327487768"/>
        <c:crosses val="autoZero"/>
        <c:auto val="1"/>
        <c:lblAlgn val="ctr"/>
        <c:lblOffset val="100"/>
        <c:noMultiLvlLbl val="0"/>
      </c:catAx>
      <c:valAx>
        <c:axId val="327487768"/>
        <c:scaling>
          <c:orientation val="minMax"/>
        </c:scaling>
        <c:delete val="1"/>
        <c:axPos val="l"/>
        <c:numFmt formatCode="0" sourceLinked="1"/>
        <c:majorTickMark val="out"/>
        <c:minorTickMark val="none"/>
        <c:tickLblPos val="nextTo"/>
        <c:crossAx val="327493648"/>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000"/>
              <a:t>GIÁN ĐOẠN KHAI THÁC</a:t>
            </a: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GTB_ATB_RTO_DIV!$AA$3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GTB_ATB_RTO_DIV!$Z$4:$Z$5</c:f>
              <c:strCache>
                <c:ptCount val="2"/>
                <c:pt idx="0">
                  <c:v>Số vụ</c:v>
                </c:pt>
                <c:pt idx="1">
                  <c:v>Tỷ lệ/10000CB</c:v>
                </c:pt>
              </c:strCache>
            </c:strRef>
          </c:cat>
          <c:val>
            <c:numRef>
              <c:f>GTB_ATB_RTO_DIV!$AA$4:$AA$5</c:f>
              <c:numCache>
                <c:formatCode>0.00</c:formatCode>
                <c:ptCount val="2"/>
                <c:pt idx="0" formatCode="0">
                  <c:v>65</c:v>
                </c:pt>
                <c:pt idx="1">
                  <c:v>8.2875393658119876</c:v>
                </c:pt>
              </c:numCache>
            </c:numRef>
          </c:val>
          <c:extLst>
            <c:ext xmlns:c16="http://schemas.microsoft.com/office/drawing/2014/chart" uri="{C3380CC4-5D6E-409C-BE32-E72D297353CC}">
              <c16:uniqueId val="{00000000-0CDC-4967-9093-086AAD182E88}"/>
            </c:ext>
          </c:extLst>
        </c:ser>
        <c:ser>
          <c:idx val="1"/>
          <c:order val="1"/>
          <c:tx>
            <c:strRef>
              <c:f>GTB_ATB_RTO_DIV!$AB$3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GTB_ATB_RTO_DIV!$Z$4:$Z$5</c:f>
              <c:strCache>
                <c:ptCount val="2"/>
                <c:pt idx="0">
                  <c:v>Số vụ</c:v>
                </c:pt>
                <c:pt idx="1">
                  <c:v>Tỷ lệ/10000CB</c:v>
                </c:pt>
              </c:strCache>
            </c:strRef>
          </c:cat>
          <c:val>
            <c:numRef>
              <c:f>GTB_ATB_RTO_DIV!$AB$4:$AB$5</c:f>
              <c:numCache>
                <c:formatCode>0.00</c:formatCode>
                <c:ptCount val="2"/>
                <c:pt idx="0" formatCode="0">
                  <c:v>57</c:v>
                </c:pt>
                <c:pt idx="1">
                  <c:v>6.8243041005686917</c:v>
                </c:pt>
              </c:numCache>
            </c:numRef>
          </c:val>
          <c:extLst>
            <c:ext xmlns:c16="http://schemas.microsoft.com/office/drawing/2014/chart" uri="{C3380CC4-5D6E-409C-BE32-E72D297353CC}">
              <c16:uniqueId val="{00000001-0CDC-4967-9093-086AAD182E88}"/>
            </c:ext>
          </c:extLst>
        </c:ser>
        <c:dLbls>
          <c:showLegendKey val="0"/>
          <c:showVal val="0"/>
          <c:showCatName val="0"/>
          <c:showSerName val="0"/>
          <c:showPercent val="0"/>
          <c:showBubbleSize val="0"/>
        </c:dLbls>
        <c:gapWidth val="219"/>
        <c:overlap val="-27"/>
        <c:axId val="327494432"/>
        <c:axId val="327485416"/>
      </c:barChart>
      <c:catAx>
        <c:axId val="3274944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7485416"/>
        <c:crosses val="autoZero"/>
        <c:auto val="1"/>
        <c:lblAlgn val="ctr"/>
        <c:lblOffset val="100"/>
        <c:noMultiLvlLbl val="0"/>
      </c:catAx>
      <c:valAx>
        <c:axId val="32748541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7494432"/>
        <c:crosses val="autoZero"/>
        <c:crossBetween val="between"/>
      </c:valAx>
      <c:spPr>
        <a:noFill/>
        <a:ln>
          <a:noFill/>
        </a:ln>
        <a:effectLst/>
      </c:spPr>
    </c:plotArea>
    <c:legend>
      <c:legendPos val="b"/>
      <c:layout>
        <c:manualLayout>
          <c:xMode val="edge"/>
          <c:yMode val="edge"/>
          <c:x val="0"/>
          <c:y val="0.92822092140665291"/>
          <c:w val="1"/>
          <c:h val="5.3024888434719177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6350" cap="flat" cmpd="sng" algn="ctr">
      <a:solidFill>
        <a:schemeClr val="tx1"/>
      </a:solidFill>
      <a:round/>
    </a:ln>
    <a:effectLst/>
  </c:spPr>
  <c:txPr>
    <a:bodyPr/>
    <a:lstStyle/>
    <a:p>
      <a:pPr>
        <a:defRPr sz="1200" b="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b="0"/>
              <a:t>Phân loại BCTN tháng 7</a:t>
            </a:r>
            <a:r>
              <a:rPr lang="en-US" b="0" baseline="0"/>
              <a:t> năm </a:t>
            </a:r>
            <a:r>
              <a:rPr lang="en-US" b="0"/>
              <a:t>2025</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pieChart>
        <c:varyColors val="1"/>
        <c:ser>
          <c:idx val="0"/>
          <c:order val="0"/>
          <c:tx>
            <c:strRef>
              <c:f>Sheet1!$B$1</c:f>
              <c:strCache>
                <c:ptCount val="1"/>
                <c:pt idx="0">
                  <c:v>Số sự việc</c:v>
                </c:pt>
              </c:strCache>
            </c:strRef>
          </c:tx>
          <c:spPr>
            <a:ln w="6350"/>
          </c:spPr>
          <c:dPt>
            <c:idx val="0"/>
            <c:bubble3D val="0"/>
            <c:spPr>
              <a:solidFill>
                <a:schemeClr val="accent1"/>
              </a:solidFill>
              <a:ln w="6350">
                <a:solidFill>
                  <a:schemeClr val="lt1"/>
                </a:solidFill>
              </a:ln>
              <a:effectLst/>
            </c:spPr>
            <c:extLst>
              <c:ext xmlns:c16="http://schemas.microsoft.com/office/drawing/2014/chart" uri="{C3380CC4-5D6E-409C-BE32-E72D297353CC}">
                <c16:uniqueId val="{00000001-7537-4456-98E5-DFBD51E4F428}"/>
              </c:ext>
            </c:extLst>
          </c:dPt>
          <c:dPt>
            <c:idx val="1"/>
            <c:bubble3D val="0"/>
            <c:spPr>
              <a:solidFill>
                <a:schemeClr val="accent2"/>
              </a:solidFill>
              <a:ln w="6350">
                <a:solidFill>
                  <a:schemeClr val="lt1"/>
                </a:solidFill>
              </a:ln>
              <a:effectLst/>
            </c:spPr>
            <c:extLst>
              <c:ext xmlns:c16="http://schemas.microsoft.com/office/drawing/2014/chart" uri="{C3380CC4-5D6E-409C-BE32-E72D297353CC}">
                <c16:uniqueId val="{00000003-7537-4456-98E5-DFBD51E4F428}"/>
              </c:ext>
            </c:extLst>
          </c:dPt>
          <c:dPt>
            <c:idx val="2"/>
            <c:bubble3D val="0"/>
            <c:spPr>
              <a:solidFill>
                <a:schemeClr val="accent2">
                  <a:lumMod val="40000"/>
                  <a:lumOff val="60000"/>
                </a:schemeClr>
              </a:solidFill>
              <a:ln w="6350">
                <a:solidFill>
                  <a:schemeClr val="lt1"/>
                </a:solidFill>
              </a:ln>
              <a:effectLst/>
            </c:spPr>
            <c:extLst>
              <c:ext xmlns:c16="http://schemas.microsoft.com/office/drawing/2014/chart" uri="{C3380CC4-5D6E-409C-BE32-E72D297353CC}">
                <c16:uniqueId val="{00000005-7537-4456-98E5-DFBD51E4F428}"/>
              </c:ext>
            </c:extLst>
          </c:dPt>
          <c:dPt>
            <c:idx val="3"/>
            <c:bubble3D val="0"/>
            <c:spPr>
              <a:solidFill>
                <a:srgbClr val="00B0F0"/>
              </a:solidFill>
              <a:ln w="6350">
                <a:solidFill>
                  <a:schemeClr val="lt1"/>
                </a:solidFill>
              </a:ln>
              <a:effectLst/>
            </c:spPr>
            <c:extLst>
              <c:ext xmlns:c16="http://schemas.microsoft.com/office/drawing/2014/chart" uri="{C3380CC4-5D6E-409C-BE32-E72D297353CC}">
                <c16:uniqueId val="{00000007-7537-4456-98E5-DFBD51E4F428}"/>
              </c:ext>
            </c:extLst>
          </c:dPt>
          <c:dPt>
            <c:idx val="4"/>
            <c:bubble3D val="0"/>
            <c:spPr>
              <a:solidFill>
                <a:srgbClr val="92D050"/>
              </a:solidFill>
              <a:ln w="6350">
                <a:solidFill>
                  <a:schemeClr val="lt1"/>
                </a:solidFill>
              </a:ln>
              <a:effectLst/>
            </c:spPr>
            <c:extLst>
              <c:ext xmlns:c16="http://schemas.microsoft.com/office/drawing/2014/chart" uri="{C3380CC4-5D6E-409C-BE32-E72D297353CC}">
                <c16:uniqueId val="{00000009-7537-4456-98E5-DFBD51E4F428}"/>
              </c:ext>
            </c:extLst>
          </c:dPt>
          <c:dPt>
            <c:idx val="5"/>
            <c:bubble3D val="0"/>
            <c:spPr>
              <a:solidFill>
                <a:srgbClr val="FFC000"/>
              </a:solidFill>
              <a:ln w="6350">
                <a:solidFill>
                  <a:schemeClr val="lt1"/>
                </a:solidFill>
              </a:ln>
              <a:effectLst/>
            </c:spPr>
            <c:extLst>
              <c:ext xmlns:c16="http://schemas.microsoft.com/office/drawing/2014/chart" uri="{C3380CC4-5D6E-409C-BE32-E72D297353CC}">
                <c16:uniqueId val="{0000000B-7537-4456-98E5-DFBD51E4F428}"/>
              </c:ext>
            </c:extLst>
          </c:dPt>
          <c:dPt>
            <c:idx val="6"/>
            <c:bubble3D val="0"/>
            <c:spPr>
              <a:solidFill>
                <a:schemeClr val="accent4">
                  <a:lumMod val="40000"/>
                  <a:lumOff val="60000"/>
                </a:schemeClr>
              </a:solidFill>
              <a:ln w="6350">
                <a:solidFill>
                  <a:schemeClr val="lt1"/>
                </a:solidFill>
              </a:ln>
              <a:effectLst/>
            </c:spPr>
            <c:extLst>
              <c:ext xmlns:c16="http://schemas.microsoft.com/office/drawing/2014/chart" uri="{C3380CC4-5D6E-409C-BE32-E72D297353CC}">
                <c16:uniqueId val="{0000000D-7537-4456-98E5-DFBD51E4F428}"/>
              </c:ext>
            </c:extLst>
          </c:dPt>
          <c:dPt>
            <c:idx val="7"/>
            <c:bubble3D val="0"/>
            <c:spPr>
              <a:solidFill>
                <a:schemeClr val="accent2">
                  <a:lumMod val="60000"/>
                </a:schemeClr>
              </a:solidFill>
              <a:ln w="6350">
                <a:solidFill>
                  <a:schemeClr val="lt1"/>
                </a:solidFill>
              </a:ln>
              <a:effectLst/>
            </c:spPr>
            <c:extLst>
              <c:ext xmlns:c16="http://schemas.microsoft.com/office/drawing/2014/chart" uri="{C3380CC4-5D6E-409C-BE32-E72D297353CC}">
                <c16:uniqueId val="{0000000F-7537-4456-98E5-DFBD51E4F428}"/>
              </c:ext>
            </c:extLst>
          </c:dPt>
          <c:dPt>
            <c:idx val="8"/>
            <c:bubble3D val="0"/>
            <c:spPr>
              <a:solidFill>
                <a:srgbClr val="FFFF00"/>
              </a:solidFill>
              <a:ln w="6350">
                <a:solidFill>
                  <a:schemeClr val="lt1"/>
                </a:solidFill>
              </a:ln>
              <a:effectLst/>
            </c:spPr>
            <c:extLst>
              <c:ext xmlns:c16="http://schemas.microsoft.com/office/drawing/2014/chart" uri="{C3380CC4-5D6E-409C-BE32-E72D297353CC}">
                <c16:uniqueId val="{00000011-7537-4456-98E5-DFBD51E4F428}"/>
              </c:ext>
            </c:extLst>
          </c:dPt>
          <c:dPt>
            <c:idx val="9"/>
            <c:bubble3D val="0"/>
            <c:spPr>
              <a:solidFill>
                <a:schemeClr val="accent4">
                  <a:lumMod val="60000"/>
                </a:schemeClr>
              </a:solidFill>
              <a:ln w="6350">
                <a:solidFill>
                  <a:schemeClr val="lt1"/>
                </a:solidFill>
              </a:ln>
              <a:effectLst/>
            </c:spPr>
            <c:extLst>
              <c:ext xmlns:c16="http://schemas.microsoft.com/office/drawing/2014/chart" uri="{C3380CC4-5D6E-409C-BE32-E72D297353CC}">
                <c16:uniqueId val="{00000013-7537-4456-98E5-DFBD51E4F428}"/>
              </c:ext>
            </c:extLst>
          </c:dPt>
          <c:dLbls>
            <c:dLbl>
              <c:idx val="7"/>
              <c:layout>
                <c:manualLayout>
                  <c:x val="-2.0469225534842369E-2"/>
                  <c:y val="3.812555195306469E-2"/>
                </c:manualLayout>
              </c:layout>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F-7537-4456-98E5-DFBD51E4F428}"/>
                </c:ext>
              </c:extLst>
            </c:dLbl>
            <c:spPr>
              <a:noFill/>
              <a:ln>
                <a:noFill/>
              </a:ln>
              <a:effectLst/>
            </c:spPr>
            <c:txPr>
              <a:bodyPr rot="0" spcFirstLastPara="1" vertOverflow="ellipsis" vert="horz" wrap="square" anchor="ctr" anchorCtr="1"/>
              <a:lstStyle/>
              <a:p>
                <a:pPr>
                  <a:defRPr sz="9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Sheet1!$A$2:$A$11</c:f>
              <c:strCache>
                <c:ptCount val="10"/>
                <c:pt idx="1">
                  <c:v>Hoàn thiện HSBD</c:v>
                </c:pt>
                <c:pt idx="2">
                  <c:v>Báo cáo PTVT</c:v>
                </c:pt>
                <c:pt idx="3">
                  <c:v>Báo cáo DC/TTB MĐ</c:v>
                </c:pt>
                <c:pt idx="4">
                  <c:v>Báo cáo môi trường làm việc</c:v>
                </c:pt>
                <c:pt idx="5">
                  <c:v>Báo cáo về cơ sở vật chất</c:v>
                </c:pt>
                <c:pt idx="6">
                  <c:v>Báo cáo sai lỗi cá nhân</c:v>
                </c:pt>
                <c:pt idx="7">
                  <c:v>Góp ý quy trình, mẫu biểu</c:v>
                </c:pt>
                <c:pt idx="8">
                  <c:v>Báo cáo theo CV3245</c:v>
                </c:pt>
                <c:pt idx="9">
                  <c:v>Báo cáo TLKT/ DLBD</c:v>
                </c:pt>
              </c:strCache>
            </c:strRef>
          </c:cat>
          <c:val>
            <c:numRef>
              <c:f>Sheet1!$B$2:$B$11</c:f>
              <c:numCache>
                <c:formatCode>General</c:formatCode>
                <c:ptCount val="10"/>
                <c:pt idx="1">
                  <c:v>1</c:v>
                </c:pt>
                <c:pt idx="2">
                  <c:v>7</c:v>
                </c:pt>
                <c:pt idx="3">
                  <c:v>18</c:v>
                </c:pt>
                <c:pt idx="5">
                  <c:v>9</c:v>
                </c:pt>
                <c:pt idx="6">
                  <c:v>11</c:v>
                </c:pt>
                <c:pt idx="7">
                  <c:v>4</c:v>
                </c:pt>
                <c:pt idx="8">
                  <c:v>4</c:v>
                </c:pt>
              </c:numCache>
            </c:numRef>
          </c:val>
          <c:extLst>
            <c:ext xmlns:c16="http://schemas.microsoft.com/office/drawing/2014/chart" uri="{C3380CC4-5D6E-409C-BE32-E72D297353CC}">
              <c16:uniqueId val="{00000014-7537-4456-98E5-DFBD51E4F428}"/>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solidFill>
        <a:srgbClr val="000000"/>
      </a:solidFill>
    </a:ln>
    <a:effectLst/>
  </c:spPr>
  <c:txPr>
    <a:bodyPr/>
    <a:lstStyle/>
    <a:p>
      <a:pPr>
        <a:defRPr b="1">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9382229162258281E-2"/>
          <c:y val="3.1916487750823223E-2"/>
          <c:w val="0.96412662382987269"/>
          <c:h val="0.87228474402313261"/>
        </c:manualLayout>
      </c:layout>
      <c:barChart>
        <c:barDir val="col"/>
        <c:grouping val="clustered"/>
        <c:varyColors val="0"/>
        <c:ser>
          <c:idx val="0"/>
          <c:order val="0"/>
          <c:invertIfNegative val="0"/>
          <c:dLbls>
            <c:spPr>
              <a:solidFill>
                <a:schemeClr val="accent4">
                  <a:lumMod val="40000"/>
                  <a:lumOff val="60000"/>
                </a:schemeClr>
              </a:solidFill>
            </c:sp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'Cut Tire Events'!$B$3:$B$26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'Cut Tire Events'!$D$3:$D$26</c:f>
              <c:numCache>
                <c:formatCode>0</c:formatCode>
                <c:ptCount val="13"/>
                <c:pt idx="0">
                  <c:v>9</c:v>
                </c:pt>
                <c:pt idx="1">
                  <c:v>5</c:v>
                </c:pt>
                <c:pt idx="2">
                  <c:v>7</c:v>
                </c:pt>
                <c:pt idx="3">
                  <c:v>5</c:v>
                </c:pt>
                <c:pt idx="4">
                  <c:v>5</c:v>
                </c:pt>
                <c:pt idx="5">
                  <c:v>12</c:v>
                </c:pt>
                <c:pt idx="6">
                  <c:v>1</c:v>
                </c:pt>
                <c:pt idx="7">
                  <c:v>4</c:v>
                </c:pt>
                <c:pt idx="8">
                  <c:v>8</c:v>
                </c:pt>
                <c:pt idx="9">
                  <c:v>4</c:v>
                </c:pt>
                <c:pt idx="10">
                  <c:v>17</c:v>
                </c:pt>
                <c:pt idx="11">
                  <c:v>6</c:v>
                </c:pt>
                <c:pt idx="12">
                  <c:v>10</c:v>
                </c:pt>
              </c:numCache>
            </c:numRef>
          </c:val>
          <c:extLst>
            <c:ext xmlns:c16="http://schemas.microsoft.com/office/drawing/2014/chart" uri="{C3380CC4-5D6E-409C-BE32-E72D297353CC}">
              <c16:uniqueId val="{00000000-837B-4665-9DC9-A1086CFCB0E4}"/>
            </c:ext>
          </c:extLst>
        </c:ser>
        <c:dLbls>
          <c:showLegendKey val="0"/>
          <c:showVal val="0"/>
          <c:showCatName val="0"/>
          <c:showSerName val="0"/>
          <c:showPercent val="0"/>
          <c:showBubbleSize val="0"/>
        </c:dLbls>
        <c:gapWidth val="150"/>
        <c:axId val="530395304"/>
        <c:axId val="530385112"/>
      </c:barChart>
      <c:lineChart>
        <c:grouping val="standard"/>
        <c:varyColors val="0"/>
        <c:ser>
          <c:idx val="1"/>
          <c:order val="1"/>
          <c:spPr>
            <a:ln w="28575">
              <a:solidFill>
                <a:srgbClr val="7030A0"/>
              </a:solidFill>
            </a:ln>
          </c:spPr>
          <c:marker>
            <c:symbol val="none"/>
          </c:marker>
          <c:dLbls>
            <c:dLbl>
              <c:idx val="0"/>
              <c:layout>
                <c:manualLayout>
                  <c:x val="-1.3737374392939206E-2"/>
                  <c:y val="-0.14861638833697299"/>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1-837B-4665-9DC9-A1086CFCB0E4}"/>
                </c:ext>
              </c:extLst>
            </c:dLbl>
            <c:dLbl>
              <c:idx val="1"/>
              <c:layout>
                <c:manualLayout>
                  <c:x val="-2.9621213534775162E-2"/>
                  <c:y val="-9.042097562027641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8DD-4158-BC76-0710E7893FF7}"/>
                </c:ext>
              </c:extLst>
            </c:dLbl>
            <c:dLbl>
              <c:idx val="2"/>
              <c:layout>
                <c:manualLayout>
                  <c:x val="-2.6186869936540392E-2"/>
                  <c:y val="-0.1044669524156592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8DD-4158-BC76-0710E7893FF7}"/>
                </c:ext>
              </c:extLst>
            </c:dLbl>
            <c:dLbl>
              <c:idx val="4"/>
              <c:layout>
                <c:manualLayout>
                  <c:x val="-3.3055557133009963E-2"/>
                  <c:y val="-8.690948142143073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8DD-4158-BC76-0710E7893FF7}"/>
                </c:ext>
              </c:extLst>
            </c:dLbl>
            <c:dLbl>
              <c:idx val="5"/>
              <c:layout>
                <c:manualLayout>
                  <c:x val="-4.5934345626390531E-2"/>
                  <c:y val="-0.10446695241565916"/>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8DD-4158-BC76-0710E7893FF7}"/>
                </c:ext>
              </c:extLst>
            </c:dLbl>
            <c:dLbl>
              <c:idx val="6"/>
              <c:layout>
                <c:manualLayout>
                  <c:x val="-2.4040405187643672E-2"/>
                  <c:y val="-0.103096087200078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37B-4665-9DC9-A1086CFCB0E4}"/>
                </c:ext>
              </c:extLst>
            </c:dLbl>
            <c:dLbl>
              <c:idx val="7"/>
              <c:layout>
                <c:manualLayout>
                  <c:x val="-3.2626264183230613E-2"/>
                  <c:y val="-6.4137026798507274E-2"/>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3-837B-4665-9DC9-A1086CFCB0E4}"/>
                </c:ext>
              </c:extLst>
            </c:dLbl>
            <c:dLbl>
              <c:idx val="8"/>
              <c:layout>
                <c:manualLayout>
                  <c:x val="-2.575757698676101E-2"/>
                  <c:y val="-0.13933857827065277"/>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4-837B-4665-9DC9-A1086CFCB0E4}"/>
                </c:ext>
              </c:extLst>
            </c:dLbl>
            <c:dLbl>
              <c:idx val="9"/>
              <c:layout>
                <c:manualLayout>
                  <c:x val="-3.1338385333892688E-2"/>
                  <c:y val="-0.29408763915332625"/>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8DD-4158-BC76-0710E7893FF7}"/>
                </c:ext>
              </c:extLst>
            </c:dLbl>
            <c:dLbl>
              <c:idx val="10"/>
              <c:layout>
                <c:manualLayout>
                  <c:x val="-3.3914143032568789E-2"/>
                  <c:y val="-0.15011637700065308"/>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8DD-4158-BC76-0710E7893FF7}"/>
                </c:ext>
              </c:extLst>
            </c:dLbl>
            <c:dLbl>
              <c:idx val="11"/>
              <c:layout>
                <c:manualLayout>
                  <c:x val="-3.2626264183230613E-2"/>
                  <c:y val="-0.25224279410975886"/>
                </c:manualLayout>
              </c:layout>
              <c:dLblPos val="r"/>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5-837B-4665-9DC9-A1086CFCB0E4}"/>
                </c:ext>
              </c:extLst>
            </c:dLbl>
            <c:dLbl>
              <c:idx val="12"/>
              <c:layout>
                <c:manualLayout>
                  <c:x val="-2.5827480752126781E-2"/>
                  <c:y val="-0.17903766373315552"/>
                </c:manualLayout>
              </c:layout>
              <c:dLblPos val="r"/>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6-837B-4665-9DC9-A1086CFCB0E4}"/>
                </c:ext>
              </c:extLst>
            </c:dLbl>
            <c:spPr>
              <a:noFill/>
              <a:ln>
                <a:noFill/>
              </a:ln>
              <a:effectLst/>
            </c:sp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trendline>
            <c:spPr>
              <a:ln w="12700">
                <a:solidFill>
                  <a:srgbClr val="C00000"/>
                </a:solidFill>
              </a:ln>
            </c:spPr>
            <c:trendlineType val="linear"/>
            <c:dispRSqr val="0"/>
            <c:dispEq val="0"/>
          </c:trendline>
          <c:cat>
            <c:strRef>
              <c:f>'Cut Tire Events'!$B$3:$B$26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'Cut Tire Events'!$E$3:$E$26</c:f>
              <c:numCache>
                <c:formatCode>0.00</c:formatCode>
                <c:ptCount val="13"/>
                <c:pt idx="0">
                  <c:v>6.9380203515263643</c:v>
                </c:pt>
                <c:pt idx="1">
                  <c:v>4.2578557438473981</c:v>
                </c:pt>
                <c:pt idx="2">
                  <c:v>7.4922401798137646</c:v>
                </c:pt>
                <c:pt idx="3">
                  <c:v>5.2410901467505244</c:v>
                </c:pt>
                <c:pt idx="4">
                  <c:v>5.0443906376109764</c:v>
                </c:pt>
                <c:pt idx="5">
                  <c:v>10.432061201425714</c:v>
                </c:pt>
                <c:pt idx="6">
                  <c:v>0.83347224537422904</c:v>
                </c:pt>
                <c:pt idx="7">
                  <c:v>3.6416605972323381</c:v>
                </c:pt>
                <c:pt idx="8">
                  <c:v>7.1256791662955372</c:v>
                </c:pt>
                <c:pt idx="9">
                  <c:v>3.5495607418581949</c:v>
                </c:pt>
                <c:pt idx="10">
                  <c:v>14.26294152193976</c:v>
                </c:pt>
                <c:pt idx="11">
                  <c:v>4.5717768972874122</c:v>
                </c:pt>
                <c:pt idx="12">
                  <c:v>7.6899415564441709</c:v>
                </c:pt>
              </c:numCache>
            </c:numRef>
          </c:val>
          <c:smooth val="0"/>
          <c:extLst>
            <c:ext xmlns:c16="http://schemas.microsoft.com/office/drawing/2014/chart" uri="{C3380CC4-5D6E-409C-BE32-E72D297353CC}">
              <c16:uniqueId val="{00000007-837B-4665-9DC9-A1086CFCB0E4}"/>
            </c:ext>
          </c:extLst>
        </c:ser>
        <c:ser>
          <c:idx val="2"/>
          <c:order val="2"/>
          <c:spPr>
            <a:ln w="25400">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8DD-4158-BC76-0710E7893FF7}"/>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8DD-4158-BC76-0710E7893FF7}"/>
                </c:ext>
              </c:extLst>
            </c:dLbl>
            <c:spPr>
              <a:solidFill>
                <a:srgbClr val="00B0F0"/>
              </a:solid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strRef>
              <c:f>'Cut Tire Events'!$B$3:$B$26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'Cut Tire Events'!$F$3:$F$26</c:f>
              <c:numCache>
                <c:formatCode>0.00</c:formatCode>
                <c:ptCount val="13"/>
                <c:pt idx="0">
                  <c:v>11.683672056961605</c:v>
                </c:pt>
                <c:pt idx="1">
                  <c:v>11.683672056961605</c:v>
                </c:pt>
                <c:pt idx="2">
                  <c:v>11.683672056961605</c:v>
                </c:pt>
                <c:pt idx="3">
                  <c:v>11.683672056961605</c:v>
                </c:pt>
                <c:pt idx="4">
                  <c:v>11.683672056961605</c:v>
                </c:pt>
                <c:pt idx="5">
                  <c:v>11.683672056961605</c:v>
                </c:pt>
                <c:pt idx="6">
                  <c:v>6.8377802024731364</c:v>
                </c:pt>
                <c:pt idx="7">
                  <c:v>6.8377802024731364</c:v>
                </c:pt>
                <c:pt idx="8">
                  <c:v>6.8377802024731364</c:v>
                </c:pt>
                <c:pt idx="9">
                  <c:v>6.8377802024731364</c:v>
                </c:pt>
                <c:pt idx="10">
                  <c:v>6.8377802024731364</c:v>
                </c:pt>
                <c:pt idx="11">
                  <c:v>6.8377802024731364</c:v>
                </c:pt>
                <c:pt idx="12">
                  <c:v>6.8377802024731364</c:v>
                </c:pt>
              </c:numCache>
            </c:numRef>
          </c:val>
          <c:smooth val="0"/>
          <c:extLst>
            <c:ext xmlns:c16="http://schemas.microsoft.com/office/drawing/2014/chart" uri="{C3380CC4-5D6E-409C-BE32-E72D297353CC}">
              <c16:uniqueId val="{00000009-837B-4665-9DC9-A1086CFCB0E4}"/>
            </c:ext>
          </c:extLst>
        </c:ser>
        <c:ser>
          <c:idx val="3"/>
          <c:order val="3"/>
          <c:spPr>
            <a:ln w="25400">
              <a:solidFill>
                <a:srgbClr val="FFC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8DD-4158-BC76-0710E7893FF7}"/>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48DD-4158-BC76-0710E7893FF7}"/>
                </c:ext>
              </c:extLst>
            </c:dLbl>
            <c:spPr>
              <a:solidFill>
                <a:srgbClr val="FFC000"/>
              </a:solid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strRef>
              <c:f>'Cut Tire Events'!$B$3:$B$26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'Cut Tire Events'!$G$3:$G$26</c:f>
              <c:numCache>
                <c:formatCode>0.00</c:formatCode>
                <c:ptCount val="13"/>
                <c:pt idx="0">
                  <c:v>14.593388907273475</c:v>
                </c:pt>
                <c:pt idx="1">
                  <c:v>14.593388907273475</c:v>
                </c:pt>
                <c:pt idx="2">
                  <c:v>14.593388907273475</c:v>
                </c:pt>
                <c:pt idx="3">
                  <c:v>14.593388907273475</c:v>
                </c:pt>
                <c:pt idx="4">
                  <c:v>14.593388907273475</c:v>
                </c:pt>
                <c:pt idx="5">
                  <c:v>14.593388907273475</c:v>
                </c:pt>
                <c:pt idx="6">
                  <c:v>8.0038454009607438</c:v>
                </c:pt>
                <c:pt idx="7">
                  <c:v>8.0038454009607438</c:v>
                </c:pt>
                <c:pt idx="8">
                  <c:v>8.0038454009607438</c:v>
                </c:pt>
                <c:pt idx="9">
                  <c:v>8.0038454009607438</c:v>
                </c:pt>
                <c:pt idx="10">
                  <c:v>8.0038454009607438</c:v>
                </c:pt>
                <c:pt idx="11">
                  <c:v>8.0038454009607438</c:v>
                </c:pt>
                <c:pt idx="12">
                  <c:v>8.0038454009607438</c:v>
                </c:pt>
              </c:numCache>
            </c:numRef>
          </c:val>
          <c:smooth val="0"/>
          <c:extLst>
            <c:ext xmlns:c16="http://schemas.microsoft.com/office/drawing/2014/chart" uri="{C3380CC4-5D6E-409C-BE32-E72D297353CC}">
              <c16:uniqueId val="{0000000B-837B-4665-9DC9-A1086CFCB0E4}"/>
            </c:ext>
          </c:extLst>
        </c:ser>
        <c:ser>
          <c:idx val="4"/>
          <c:order val="4"/>
          <c:spPr>
            <a:ln w="25400">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8DD-4158-BC76-0710E7893FF7}"/>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8DD-4158-BC76-0710E7893FF7}"/>
                </c:ext>
              </c:extLst>
            </c:dLbl>
            <c:spPr>
              <a:solidFill>
                <a:srgbClr val="FF0000"/>
              </a:solidFill>
              <a:ln>
                <a:noFill/>
              </a:ln>
              <a:effectLst/>
            </c:spPr>
            <c:dLblPos val="r"/>
            <c:showLegendKey val="0"/>
            <c:showVal val="0"/>
            <c:showCatName val="0"/>
            <c:showSerName val="0"/>
            <c:showPercent val="0"/>
            <c:showBubbleSize val="0"/>
            <c:extLst>
              <c:ext xmlns:c15="http://schemas.microsoft.com/office/drawing/2012/chart" uri="{CE6537A1-D6FC-4f65-9D91-7224C49458BB}">
                <c15:showLeaderLines val="1"/>
              </c:ext>
            </c:extLst>
          </c:dLbls>
          <c:cat>
            <c:strRef>
              <c:f>'Cut Tire Events'!$B$3:$B$26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'Cut Tire Events'!$H$3:$H$26</c:f>
              <c:numCache>
                <c:formatCode>0.00</c:formatCode>
                <c:ptCount val="13"/>
                <c:pt idx="0">
                  <c:v>17.503105757585345</c:v>
                </c:pt>
                <c:pt idx="1">
                  <c:v>17.503105757585345</c:v>
                </c:pt>
                <c:pt idx="2">
                  <c:v>17.503105757585345</c:v>
                </c:pt>
                <c:pt idx="3">
                  <c:v>17.503105757585345</c:v>
                </c:pt>
                <c:pt idx="4">
                  <c:v>17.503105757585345</c:v>
                </c:pt>
                <c:pt idx="5">
                  <c:v>17.503105757585345</c:v>
                </c:pt>
                <c:pt idx="6">
                  <c:v>9.1699105994483503</c:v>
                </c:pt>
                <c:pt idx="7">
                  <c:v>9.1699105994483503</c:v>
                </c:pt>
                <c:pt idx="8">
                  <c:v>9.1699105994483503</c:v>
                </c:pt>
                <c:pt idx="9">
                  <c:v>9.1699105994483503</c:v>
                </c:pt>
                <c:pt idx="10">
                  <c:v>9.1699105994483503</c:v>
                </c:pt>
                <c:pt idx="11">
                  <c:v>9.1699105994483503</c:v>
                </c:pt>
                <c:pt idx="12">
                  <c:v>9.1699105994483503</c:v>
                </c:pt>
              </c:numCache>
            </c:numRef>
          </c:val>
          <c:smooth val="0"/>
          <c:extLst>
            <c:ext xmlns:c16="http://schemas.microsoft.com/office/drawing/2014/chart" uri="{C3380CC4-5D6E-409C-BE32-E72D297353CC}">
              <c16:uniqueId val="{0000000D-837B-4665-9DC9-A1086CFCB0E4}"/>
            </c:ext>
          </c:extLst>
        </c:ser>
        <c:ser>
          <c:idx val="5"/>
          <c:order val="5"/>
          <c:spPr>
            <a:ln w="25400">
              <a:solidFill>
                <a:srgbClr val="339933"/>
              </a:solidFill>
            </a:ln>
          </c:spPr>
          <c:marker>
            <c:symbol val="none"/>
          </c:marker>
          <c:dLbls>
            <c:dLbl>
              <c:idx val="0"/>
              <c:spPr>
                <a:solidFill>
                  <a:srgbClr val="00B050"/>
                </a:solidFill>
                <a:ln>
                  <a:noFill/>
                </a:ln>
                <a:effectLst/>
              </c:spPr>
              <c:txPr>
                <a:bodyPr wrap="square" lIns="38100" tIns="19050" rIns="38100" bIns="19050" anchor="ctr">
                  <a:noAutofit/>
                </a:bodyPr>
                <a:lstStyle/>
                <a:p>
                  <a:pPr>
                    <a:defRPr/>
                  </a:pPr>
                  <a:endParaRPr lang="en-US"/>
                </a:p>
              </c:txPr>
              <c:dLblPos val="l"/>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48DD-4158-BC76-0710E7893FF7}"/>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48DD-4158-BC76-0710E7893FF7}"/>
                </c:ext>
              </c:extLst>
            </c:dLbl>
            <c:spPr>
              <a:solidFill>
                <a:srgbClr val="00B050"/>
              </a:solid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strRef>
              <c:f>'Cut Tire Events'!$B$3:$B$26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'Cut Tire Events'!$I$3:$I$26</c:f>
              <c:numCache>
                <c:formatCode>0.00</c:formatCode>
                <c:ptCount val="13"/>
                <c:pt idx="0">
                  <c:v>8.7739552066497346</c:v>
                </c:pt>
                <c:pt idx="1">
                  <c:v>8.7739552066497346</c:v>
                </c:pt>
                <c:pt idx="2">
                  <c:v>8.7739552066497346</c:v>
                </c:pt>
                <c:pt idx="3">
                  <c:v>8.7739552066497346</c:v>
                </c:pt>
                <c:pt idx="4">
                  <c:v>8.7739552066497346</c:v>
                </c:pt>
                <c:pt idx="5">
                  <c:v>8.7739552066497346</c:v>
                </c:pt>
                <c:pt idx="6">
                  <c:v>5.67</c:v>
                </c:pt>
                <c:pt idx="7">
                  <c:v>5.67</c:v>
                </c:pt>
                <c:pt idx="8">
                  <c:v>5.67</c:v>
                </c:pt>
                <c:pt idx="9">
                  <c:v>5.67</c:v>
                </c:pt>
                <c:pt idx="10">
                  <c:v>5.67</c:v>
                </c:pt>
                <c:pt idx="11">
                  <c:v>5.67</c:v>
                </c:pt>
                <c:pt idx="12">
                  <c:v>5.67</c:v>
                </c:pt>
              </c:numCache>
            </c:numRef>
          </c:val>
          <c:smooth val="0"/>
          <c:extLst>
            <c:ext xmlns:c16="http://schemas.microsoft.com/office/drawing/2014/chart" uri="{C3380CC4-5D6E-409C-BE32-E72D297353CC}">
              <c16:uniqueId val="{0000000F-837B-4665-9DC9-A1086CFCB0E4}"/>
            </c:ext>
          </c:extLst>
        </c:ser>
        <c:dLbls>
          <c:showLegendKey val="0"/>
          <c:showVal val="1"/>
          <c:showCatName val="0"/>
          <c:showSerName val="0"/>
          <c:showPercent val="0"/>
          <c:showBubbleSize val="0"/>
        </c:dLbls>
        <c:marker val="1"/>
        <c:smooth val="0"/>
        <c:axId val="530395304"/>
        <c:axId val="530385112"/>
      </c:lineChart>
      <c:catAx>
        <c:axId val="530395304"/>
        <c:scaling>
          <c:orientation val="minMax"/>
        </c:scaling>
        <c:delete val="0"/>
        <c:axPos val="b"/>
        <c:numFmt formatCode="General" sourceLinked="0"/>
        <c:majorTickMark val="none"/>
        <c:minorTickMark val="none"/>
        <c:tickLblPos val="nextTo"/>
        <c:crossAx val="530385112"/>
        <c:crosses val="autoZero"/>
        <c:auto val="1"/>
        <c:lblAlgn val="ctr"/>
        <c:lblOffset val="100"/>
        <c:noMultiLvlLbl val="0"/>
      </c:catAx>
      <c:valAx>
        <c:axId val="530385112"/>
        <c:scaling>
          <c:orientation val="minMax"/>
        </c:scaling>
        <c:delete val="1"/>
        <c:axPos val="l"/>
        <c:numFmt formatCode="0" sourceLinked="1"/>
        <c:majorTickMark val="out"/>
        <c:minorTickMark val="none"/>
        <c:tickLblPos val="nextTo"/>
        <c:crossAx val="530395304"/>
        <c:crosses val="autoZero"/>
        <c:crossBetween val="between"/>
      </c:valAx>
    </c:plotArea>
    <c:plotVisOnly val="1"/>
    <c:dispBlanksAs val="gap"/>
    <c:showDLblsOverMax val="0"/>
  </c:chart>
  <c:spPr>
    <a:ln w="6350">
      <a:solidFill>
        <a:sysClr val="windowText" lastClr="000000"/>
      </a:solidFill>
    </a:ln>
  </c:spPr>
  <c:txPr>
    <a:bodyPr/>
    <a:lstStyle/>
    <a:p>
      <a:pPr>
        <a:defRPr b="1">
          <a:latin typeface="Times New Roman" panose="02020603050405020304" pitchFamily="18" charset="0"/>
          <a:cs typeface="Times New Roman" panose="02020603050405020304" pitchFamily="18" charset="0"/>
        </a:defRPr>
      </a:pPr>
      <a:endParaRPr lang="en-US"/>
    </a:p>
  </c:txPr>
  <c:externalData r:id="rId2">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000"/>
              <a:t>LỐP CẮT</a:t>
            </a: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'Cut Tire Events'!$AB$3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'Cut Tire Events'!$AA$4:$AA$5</c:f>
              <c:strCache>
                <c:ptCount val="2"/>
                <c:pt idx="0">
                  <c:v>Số vụ</c:v>
                </c:pt>
                <c:pt idx="1">
                  <c:v>Tỷ lệ/10000CB</c:v>
                </c:pt>
              </c:strCache>
            </c:strRef>
          </c:cat>
          <c:val>
            <c:numRef>
              <c:f>'Cut Tire Events'!$AB$4:$AB$5</c:f>
              <c:numCache>
                <c:formatCode>0.00</c:formatCode>
                <c:ptCount val="2"/>
                <c:pt idx="0" formatCode="0">
                  <c:v>31</c:v>
                </c:pt>
                <c:pt idx="1">
                  <c:v>4.7357888143723548</c:v>
                </c:pt>
              </c:numCache>
            </c:numRef>
          </c:val>
          <c:extLst>
            <c:ext xmlns:c16="http://schemas.microsoft.com/office/drawing/2014/chart" uri="{C3380CC4-5D6E-409C-BE32-E72D297353CC}">
              <c16:uniqueId val="{00000000-2143-4C91-84A4-8A1C097A9117}"/>
            </c:ext>
          </c:extLst>
        </c:ser>
        <c:ser>
          <c:idx val="1"/>
          <c:order val="1"/>
          <c:tx>
            <c:strRef>
              <c:f>'Cut Tire Events'!$AC$3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'Cut Tire Events'!$AA$4:$AA$5</c:f>
              <c:strCache>
                <c:ptCount val="2"/>
                <c:pt idx="0">
                  <c:v>Số vụ</c:v>
                </c:pt>
                <c:pt idx="1">
                  <c:v>Tỷ lệ/10000CB</c:v>
                </c:pt>
              </c:strCache>
            </c:strRef>
          </c:cat>
          <c:val>
            <c:numRef>
              <c:f>'Cut Tire Events'!$AC$4:$AC$5</c:f>
              <c:numCache>
                <c:formatCode>0.00</c:formatCode>
                <c:ptCount val="2"/>
                <c:pt idx="0" formatCode="0">
                  <c:v>50</c:v>
                </c:pt>
                <c:pt idx="1">
                  <c:v>5.9862316671655194</c:v>
                </c:pt>
              </c:numCache>
            </c:numRef>
          </c:val>
          <c:extLst>
            <c:ext xmlns:c16="http://schemas.microsoft.com/office/drawing/2014/chart" uri="{C3380CC4-5D6E-409C-BE32-E72D297353CC}">
              <c16:uniqueId val="{00000001-2143-4C91-84A4-8A1C097A9117}"/>
            </c:ext>
          </c:extLst>
        </c:ser>
        <c:dLbls>
          <c:showLegendKey val="0"/>
          <c:showVal val="0"/>
          <c:showCatName val="0"/>
          <c:showSerName val="0"/>
          <c:showPercent val="0"/>
          <c:showBubbleSize val="0"/>
        </c:dLbls>
        <c:gapWidth val="219"/>
        <c:overlap val="-27"/>
        <c:axId val="530391384"/>
        <c:axId val="530387072"/>
      </c:barChart>
      <c:catAx>
        <c:axId val="530391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30387072"/>
        <c:crosses val="autoZero"/>
        <c:auto val="1"/>
        <c:lblAlgn val="ctr"/>
        <c:lblOffset val="100"/>
        <c:noMultiLvlLbl val="0"/>
      </c:catAx>
      <c:valAx>
        <c:axId val="53038707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30391384"/>
        <c:crosses val="autoZero"/>
        <c:crossBetween val="between"/>
      </c:valAx>
      <c:spPr>
        <a:noFill/>
        <a:ln>
          <a:noFill/>
        </a:ln>
        <a:effectLst/>
      </c:spPr>
    </c:plotArea>
    <c:legend>
      <c:legendPos val="b"/>
      <c:layout>
        <c:manualLayout>
          <c:xMode val="edge"/>
          <c:yMode val="edge"/>
          <c:x val="0"/>
          <c:y val="0.92421064941139786"/>
          <c:w val="1"/>
          <c:h val="5.5987370390582367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6350" cap="flat" cmpd="sng" algn="ctr">
      <a:solidFill>
        <a:schemeClr val="tx1"/>
      </a:solidFill>
      <a:round/>
    </a:ln>
    <a:effectLst/>
  </c:spPr>
  <c:txPr>
    <a:bodyPr/>
    <a:lstStyle/>
    <a:p>
      <a:pPr>
        <a:defRPr sz="100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invertIfNegative val="0"/>
          <c:dLbls>
            <c:spPr>
              <a:solidFill>
                <a:schemeClr val="accent4">
                  <a:lumMod val="40000"/>
                  <a:lumOff val="60000"/>
                </a:schemeClr>
              </a:solidFill>
            </c:sp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PDA!$B$3:$B$26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PDA!$D$3:$D$26</c:f>
              <c:numCache>
                <c:formatCode>0</c:formatCode>
                <c:ptCount val="13"/>
                <c:pt idx="0">
                  <c:v>2</c:v>
                </c:pt>
                <c:pt idx="1">
                  <c:v>0</c:v>
                </c:pt>
                <c:pt idx="2">
                  <c:v>0</c:v>
                </c:pt>
                <c:pt idx="3">
                  <c:v>3</c:v>
                </c:pt>
                <c:pt idx="4">
                  <c:v>2</c:v>
                </c:pt>
                <c:pt idx="5">
                  <c:v>3</c:v>
                </c:pt>
                <c:pt idx="6">
                  <c:v>2</c:v>
                </c:pt>
                <c:pt idx="7">
                  <c:v>1</c:v>
                </c:pt>
                <c:pt idx="8">
                  <c:v>0</c:v>
                </c:pt>
                <c:pt idx="9">
                  <c:v>0</c:v>
                </c:pt>
                <c:pt idx="10">
                  <c:v>1</c:v>
                </c:pt>
                <c:pt idx="11">
                  <c:v>3</c:v>
                </c:pt>
                <c:pt idx="12">
                  <c:v>2</c:v>
                </c:pt>
              </c:numCache>
            </c:numRef>
          </c:val>
          <c:extLst>
            <c:ext xmlns:c16="http://schemas.microsoft.com/office/drawing/2014/chart" uri="{C3380CC4-5D6E-409C-BE32-E72D297353CC}">
              <c16:uniqueId val="{00000000-05A6-408A-B866-EDA1DB9FF4A2}"/>
            </c:ext>
          </c:extLst>
        </c:ser>
        <c:dLbls>
          <c:showLegendKey val="0"/>
          <c:showVal val="0"/>
          <c:showCatName val="0"/>
          <c:showSerName val="0"/>
          <c:showPercent val="0"/>
          <c:showBubbleSize val="0"/>
        </c:dLbls>
        <c:gapWidth val="150"/>
        <c:axId val="527263552"/>
        <c:axId val="527259240"/>
      </c:barChart>
      <c:lineChart>
        <c:grouping val="standard"/>
        <c:varyColors val="0"/>
        <c:ser>
          <c:idx val="1"/>
          <c:order val="1"/>
          <c:spPr>
            <a:ln w="28575">
              <a:solidFill>
                <a:srgbClr val="7030A0"/>
              </a:solidFill>
            </a:ln>
          </c:spPr>
          <c:marker>
            <c:symbol val="none"/>
          </c:marker>
          <c:dLbls>
            <c:dLbl>
              <c:idx val="0"/>
              <c:layout>
                <c:manualLayout>
                  <c:x val="8.1565671486601796E-3"/>
                  <c:y val="-6.508136049643256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1EB-435B-BABF-5743917F20B4}"/>
                </c:ext>
              </c:extLst>
            </c:dLbl>
            <c:dLbl>
              <c:idx val="1"/>
              <c:delete val="1"/>
              <c:extLst>
                <c:ext xmlns:c15="http://schemas.microsoft.com/office/drawing/2012/chart" uri="{CE6537A1-D6FC-4f65-9D91-7224C49458BB}"/>
                <c:ext xmlns:c16="http://schemas.microsoft.com/office/drawing/2014/chart" uri="{C3380CC4-5D6E-409C-BE32-E72D297353CC}">
                  <c16:uniqueId val="{00000002-A1EB-435B-BABF-5743917F20B4}"/>
                </c:ext>
              </c:extLst>
            </c:dLbl>
            <c:dLbl>
              <c:idx val="2"/>
              <c:delete val="1"/>
              <c:extLst>
                <c:ext xmlns:c15="http://schemas.microsoft.com/office/drawing/2012/chart" uri="{CE6537A1-D6FC-4f65-9D91-7224C49458BB}"/>
                <c:ext xmlns:c16="http://schemas.microsoft.com/office/drawing/2014/chart" uri="{C3380CC4-5D6E-409C-BE32-E72D297353CC}">
                  <c16:uniqueId val="{00000003-A1EB-435B-BABF-5743917F20B4}"/>
                </c:ext>
              </c:extLst>
            </c:dLbl>
            <c:dLbl>
              <c:idx val="4"/>
              <c:layout>
                <c:manualLayout>
                  <c:x val="-2.7904045508574362E-2"/>
                  <c:y val="-0.11170681279238426"/>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1EB-435B-BABF-5743917F20B4}"/>
                </c:ext>
              </c:extLst>
            </c:dLbl>
            <c:dLbl>
              <c:idx val="5"/>
              <c:layout>
                <c:manualLayout>
                  <c:x val="-3.1338389571168121E-2"/>
                  <c:y val="-0.13890499329835615"/>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1EB-435B-BABF-5743917F20B4}"/>
                </c:ext>
              </c:extLst>
            </c:dLbl>
            <c:dLbl>
              <c:idx val="6"/>
              <c:layout>
                <c:manualLayout>
                  <c:x val="3.0050510547694771E-3"/>
                  <c:y val="-4.176863434845672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1EB-435B-BABF-5743917F20B4}"/>
                </c:ext>
              </c:extLst>
            </c:dLbl>
            <c:dLbl>
              <c:idx val="8"/>
              <c:delete val="1"/>
              <c:extLst>
                <c:ext xmlns:c15="http://schemas.microsoft.com/office/drawing/2012/chart" uri="{CE6537A1-D6FC-4f65-9D91-7224C49458BB}"/>
                <c:ext xmlns:c16="http://schemas.microsoft.com/office/drawing/2014/chart" uri="{C3380CC4-5D6E-409C-BE32-E72D297353CC}">
                  <c16:uniqueId val="{00000001-A1EB-435B-BABF-5743917F20B4}"/>
                </c:ext>
              </c:extLst>
            </c:dLbl>
            <c:dLbl>
              <c:idx val="9"/>
              <c:delete val="1"/>
              <c:extLst>
                <c:ext xmlns:c15="http://schemas.microsoft.com/office/drawing/2012/chart" uri="{CE6537A1-D6FC-4f65-9D91-7224C49458BB}"/>
                <c:ext xmlns:c16="http://schemas.microsoft.com/office/drawing/2014/chart" uri="{C3380CC4-5D6E-409C-BE32-E72D297353CC}">
                  <c16:uniqueId val="{00000000-A1EB-435B-BABF-5743917F20B4}"/>
                </c:ext>
              </c:extLst>
            </c:dLbl>
            <c:dLbl>
              <c:idx val="10"/>
              <c:layout>
                <c:manualLayout>
                  <c:x val="-3.3055561602465068E-2"/>
                  <c:y val="-6.896681485442854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1EB-435B-BABF-5743917F20B4}"/>
                </c:ext>
              </c:extLst>
            </c:dLbl>
            <c:dLbl>
              <c:idx val="11"/>
              <c:layout>
                <c:manualLayout>
                  <c:x val="-3.1338389571168059E-2"/>
                  <c:y val="-0.18553044559430779"/>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1EB-435B-BABF-5743917F20B4}"/>
                </c:ext>
              </c:extLst>
            </c:dLbl>
            <c:dLbl>
              <c:idx val="12"/>
              <c:layout>
                <c:manualLayout>
                  <c:x val="-4.8080816876312639E-2"/>
                  <c:y val="-0.32152134812416688"/>
                </c:manualLayout>
              </c:layout>
              <c:dLblPos val="r"/>
              <c:showLegendKey val="0"/>
              <c:showVal val="1"/>
              <c:showCatName val="0"/>
              <c:showSerName val="0"/>
              <c:showPercent val="0"/>
              <c:showBubbleSize val="0"/>
              <c:extLst>
                <c:ext xmlns:c15="http://schemas.microsoft.com/office/drawing/2012/chart" uri="{CE6537A1-D6FC-4f65-9D91-7224C49458BB}">
                  <c15:layout>
                    <c:manualLayout>
                      <c:w val="5.0316655987298876E-2"/>
                      <c:h val="5.6339088190941626E-2"/>
                    </c:manualLayout>
                  </c15:layout>
                </c:ext>
                <c:ext xmlns:c16="http://schemas.microsoft.com/office/drawing/2014/chart" uri="{C3380CC4-5D6E-409C-BE32-E72D297353CC}">
                  <c16:uniqueId val="{0000000A-A1EB-435B-BABF-5743917F20B4}"/>
                </c:ext>
              </c:extLst>
            </c:dLbl>
            <c:spPr>
              <a:noFill/>
              <a:ln>
                <a:noFill/>
              </a:ln>
              <a:effectLst/>
            </c:sp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trendline>
            <c:spPr>
              <a:ln w="12700">
                <a:solidFill>
                  <a:srgbClr val="C00000"/>
                </a:solidFill>
              </a:ln>
            </c:spPr>
            <c:trendlineType val="linear"/>
            <c:dispRSqr val="0"/>
            <c:dispEq val="0"/>
          </c:trendline>
          <c:cat>
            <c:strRef>
              <c:f>PDA!$B$3:$B$26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PDA!$E$3:$E$26</c:f>
              <c:numCache>
                <c:formatCode>0.00</c:formatCode>
                <c:ptCount val="13"/>
                <c:pt idx="0">
                  <c:v>1.5417823003391922</c:v>
                </c:pt>
                <c:pt idx="1">
                  <c:v>0</c:v>
                </c:pt>
                <c:pt idx="2">
                  <c:v>0</c:v>
                </c:pt>
                <c:pt idx="3">
                  <c:v>3.1446540880503147</c:v>
                </c:pt>
                <c:pt idx="4">
                  <c:v>2.0177562550443908</c:v>
                </c:pt>
                <c:pt idx="5">
                  <c:v>2.6080153003564286</c:v>
                </c:pt>
                <c:pt idx="6">
                  <c:v>1.6669444907484581</c:v>
                </c:pt>
                <c:pt idx="7">
                  <c:v>0.91041514930808454</c:v>
                </c:pt>
                <c:pt idx="8">
                  <c:v>0</c:v>
                </c:pt>
                <c:pt idx="9">
                  <c:v>0</c:v>
                </c:pt>
                <c:pt idx="10">
                  <c:v>0.83899656011410351</c:v>
                </c:pt>
                <c:pt idx="11">
                  <c:v>2.2858884486437061</c:v>
                </c:pt>
                <c:pt idx="12">
                  <c:v>1.5379883112888342</c:v>
                </c:pt>
              </c:numCache>
            </c:numRef>
          </c:val>
          <c:smooth val="0"/>
          <c:extLst>
            <c:ext xmlns:c16="http://schemas.microsoft.com/office/drawing/2014/chart" uri="{C3380CC4-5D6E-409C-BE32-E72D297353CC}">
              <c16:uniqueId val="{00000001-05A6-408A-B866-EDA1DB9FF4A2}"/>
            </c:ext>
          </c:extLst>
        </c:ser>
        <c:ser>
          <c:idx val="2"/>
          <c:order val="2"/>
          <c:spPr>
            <a:ln w="25400">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A1EB-435B-BABF-5743917F20B4}"/>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A1EB-435B-BABF-5743917F20B4}"/>
                </c:ext>
              </c:extLst>
            </c:dLbl>
            <c:spPr>
              <a:solidFill>
                <a:srgbClr val="00B0F0"/>
              </a:solidFill>
              <a:ln>
                <a:solidFill>
                  <a:srgbClr val="00B0F0"/>
                </a:solid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strRef>
              <c:f>PDA!$B$3:$B$26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PDA!$F$3:$F$26</c:f>
              <c:numCache>
                <c:formatCode>0.00</c:formatCode>
                <c:ptCount val="13"/>
                <c:pt idx="0">
                  <c:v>3.2711236928020275</c:v>
                </c:pt>
                <c:pt idx="1">
                  <c:v>3.2711236928020275</c:v>
                </c:pt>
                <c:pt idx="2">
                  <c:v>3.2711236928020275</c:v>
                </c:pt>
                <c:pt idx="3">
                  <c:v>3.2711236928020275</c:v>
                </c:pt>
                <c:pt idx="4">
                  <c:v>3.2711236928020275</c:v>
                </c:pt>
                <c:pt idx="5">
                  <c:v>3.2711236928020275</c:v>
                </c:pt>
                <c:pt idx="6">
                  <c:v>2.2287462259104638</c:v>
                </c:pt>
                <c:pt idx="7">
                  <c:v>2.2287462259104638</c:v>
                </c:pt>
                <c:pt idx="8">
                  <c:v>2.2287462259104638</c:v>
                </c:pt>
                <c:pt idx="9">
                  <c:v>2.2287462259104638</c:v>
                </c:pt>
                <c:pt idx="10">
                  <c:v>2.2287462259104638</c:v>
                </c:pt>
                <c:pt idx="11">
                  <c:v>2.2287462259104638</c:v>
                </c:pt>
                <c:pt idx="12">
                  <c:v>2.2287462259104638</c:v>
                </c:pt>
              </c:numCache>
            </c:numRef>
          </c:val>
          <c:smooth val="0"/>
          <c:extLst>
            <c:ext xmlns:c16="http://schemas.microsoft.com/office/drawing/2014/chart" uri="{C3380CC4-5D6E-409C-BE32-E72D297353CC}">
              <c16:uniqueId val="{00000003-05A6-408A-B866-EDA1DB9FF4A2}"/>
            </c:ext>
          </c:extLst>
        </c:ser>
        <c:ser>
          <c:idx val="3"/>
          <c:order val="3"/>
          <c:spPr>
            <a:ln w="25400">
              <a:solidFill>
                <a:srgbClr val="FFC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1EB-435B-BABF-5743917F20B4}"/>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A1EB-435B-BABF-5743917F20B4}"/>
                </c:ext>
              </c:extLst>
            </c:dLbl>
            <c:spPr>
              <a:solidFill>
                <a:srgbClr val="FFC000"/>
              </a:solid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strRef>
              <c:f>PDA!$B$3:$B$26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PDA!$G$3:$G$26</c:f>
              <c:numCache>
                <c:formatCode>0.00</c:formatCode>
                <c:ptCount val="13"/>
                <c:pt idx="0">
                  <c:v>4.1222473856040551</c:v>
                </c:pt>
                <c:pt idx="1">
                  <c:v>4.1222473856040551</c:v>
                </c:pt>
                <c:pt idx="2">
                  <c:v>4.1222473856040551</c:v>
                </c:pt>
                <c:pt idx="3">
                  <c:v>4.1222473856040551</c:v>
                </c:pt>
                <c:pt idx="4">
                  <c:v>4.1222473856040551</c:v>
                </c:pt>
                <c:pt idx="5">
                  <c:v>4.1222473856040551</c:v>
                </c:pt>
                <c:pt idx="6">
                  <c:v>2.7713069100955003</c:v>
                </c:pt>
                <c:pt idx="7">
                  <c:v>2.7713069100955003</c:v>
                </c:pt>
                <c:pt idx="8">
                  <c:v>2.7713069100955003</c:v>
                </c:pt>
                <c:pt idx="9">
                  <c:v>2.7713069100955003</c:v>
                </c:pt>
                <c:pt idx="10">
                  <c:v>2.7713069100955003</c:v>
                </c:pt>
                <c:pt idx="11">
                  <c:v>2.7713069100955003</c:v>
                </c:pt>
                <c:pt idx="12">
                  <c:v>2.7713069100955003</c:v>
                </c:pt>
              </c:numCache>
            </c:numRef>
          </c:val>
          <c:smooth val="0"/>
          <c:extLst>
            <c:ext xmlns:c16="http://schemas.microsoft.com/office/drawing/2014/chart" uri="{C3380CC4-5D6E-409C-BE32-E72D297353CC}">
              <c16:uniqueId val="{00000005-05A6-408A-B866-EDA1DB9FF4A2}"/>
            </c:ext>
          </c:extLst>
        </c:ser>
        <c:ser>
          <c:idx val="4"/>
          <c:order val="4"/>
          <c:spPr>
            <a:ln w="25400">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A1EB-435B-BABF-5743917F20B4}"/>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A1EB-435B-BABF-5743917F20B4}"/>
                </c:ext>
              </c:extLst>
            </c:dLbl>
            <c:spPr>
              <a:solidFill>
                <a:srgbClr val="FF0000"/>
              </a:solid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strRef>
              <c:f>PDA!$B$3:$B$26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PDA!$H$3:$H$26</c:f>
              <c:numCache>
                <c:formatCode>0.00</c:formatCode>
                <c:ptCount val="13"/>
                <c:pt idx="0">
                  <c:v>4.9733710784060827</c:v>
                </c:pt>
                <c:pt idx="1">
                  <c:v>4.9733710784060827</c:v>
                </c:pt>
                <c:pt idx="2">
                  <c:v>4.9733710784060827</c:v>
                </c:pt>
                <c:pt idx="3">
                  <c:v>4.9733710784060827</c:v>
                </c:pt>
                <c:pt idx="4">
                  <c:v>4.9733710784060827</c:v>
                </c:pt>
                <c:pt idx="5">
                  <c:v>4.9733710784060827</c:v>
                </c:pt>
                <c:pt idx="6">
                  <c:v>3.3138675942805369</c:v>
                </c:pt>
                <c:pt idx="7">
                  <c:v>3.3138675942805369</c:v>
                </c:pt>
                <c:pt idx="8">
                  <c:v>3.3138675942805369</c:v>
                </c:pt>
                <c:pt idx="9">
                  <c:v>3.3138675942805369</c:v>
                </c:pt>
                <c:pt idx="10">
                  <c:v>3.3138675942805369</c:v>
                </c:pt>
                <c:pt idx="11">
                  <c:v>3.3138675942805369</c:v>
                </c:pt>
                <c:pt idx="12">
                  <c:v>3.3138675942805369</c:v>
                </c:pt>
              </c:numCache>
            </c:numRef>
          </c:val>
          <c:smooth val="0"/>
          <c:extLst>
            <c:ext xmlns:c16="http://schemas.microsoft.com/office/drawing/2014/chart" uri="{C3380CC4-5D6E-409C-BE32-E72D297353CC}">
              <c16:uniqueId val="{00000007-05A6-408A-B866-EDA1DB9FF4A2}"/>
            </c:ext>
          </c:extLst>
        </c:ser>
        <c:ser>
          <c:idx val="5"/>
          <c:order val="5"/>
          <c:spPr>
            <a:ln w="25400">
              <a:solidFill>
                <a:srgbClr val="339933"/>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A1EB-435B-BABF-5743917F20B4}"/>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A1EB-435B-BABF-5743917F20B4}"/>
                </c:ext>
              </c:extLst>
            </c:dLbl>
            <c:spPr>
              <a:solidFill>
                <a:srgbClr val="00B050"/>
              </a:solidFill>
              <a:ln>
                <a:noFill/>
              </a:ln>
              <a:effectLst/>
            </c:spPr>
            <c:dLblPos val="l"/>
            <c:showLegendKey val="0"/>
            <c:showVal val="0"/>
            <c:showCatName val="0"/>
            <c:showSerName val="0"/>
            <c:showPercent val="0"/>
            <c:showBubbleSize val="0"/>
            <c:extLst>
              <c:ext xmlns:c15="http://schemas.microsoft.com/office/drawing/2012/chart" uri="{CE6537A1-D6FC-4f65-9D91-7224C49458BB}">
                <c15:showLeaderLines val="1"/>
              </c:ext>
            </c:extLst>
          </c:dLbls>
          <c:cat>
            <c:strRef>
              <c:f>PDA!$B$3:$B$26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PDA!$I$3:$I$26</c:f>
              <c:numCache>
                <c:formatCode>0.00</c:formatCode>
                <c:ptCount val="13"/>
                <c:pt idx="0">
                  <c:v>2.42</c:v>
                </c:pt>
                <c:pt idx="1">
                  <c:v>2.42</c:v>
                </c:pt>
                <c:pt idx="2">
                  <c:v>2.42</c:v>
                </c:pt>
                <c:pt idx="3">
                  <c:v>2.42</c:v>
                </c:pt>
                <c:pt idx="4">
                  <c:v>2.42</c:v>
                </c:pt>
                <c:pt idx="5">
                  <c:v>2.42</c:v>
                </c:pt>
                <c:pt idx="6">
                  <c:v>1.69</c:v>
                </c:pt>
                <c:pt idx="7">
                  <c:v>1.69</c:v>
                </c:pt>
                <c:pt idx="8">
                  <c:v>1.69</c:v>
                </c:pt>
                <c:pt idx="9">
                  <c:v>1.69</c:v>
                </c:pt>
                <c:pt idx="10">
                  <c:v>1.69</c:v>
                </c:pt>
                <c:pt idx="11">
                  <c:v>1.69</c:v>
                </c:pt>
                <c:pt idx="12">
                  <c:v>1.69</c:v>
                </c:pt>
              </c:numCache>
            </c:numRef>
          </c:val>
          <c:smooth val="0"/>
          <c:extLst>
            <c:ext xmlns:c16="http://schemas.microsoft.com/office/drawing/2014/chart" uri="{C3380CC4-5D6E-409C-BE32-E72D297353CC}">
              <c16:uniqueId val="{00000009-05A6-408A-B866-EDA1DB9FF4A2}"/>
            </c:ext>
          </c:extLst>
        </c:ser>
        <c:dLbls>
          <c:showLegendKey val="0"/>
          <c:showVal val="1"/>
          <c:showCatName val="0"/>
          <c:showSerName val="0"/>
          <c:showPercent val="0"/>
          <c:showBubbleSize val="0"/>
        </c:dLbls>
        <c:marker val="1"/>
        <c:smooth val="0"/>
        <c:axId val="527263552"/>
        <c:axId val="527259240"/>
      </c:lineChart>
      <c:catAx>
        <c:axId val="527263552"/>
        <c:scaling>
          <c:orientation val="minMax"/>
        </c:scaling>
        <c:delete val="0"/>
        <c:axPos val="b"/>
        <c:numFmt formatCode="General" sourceLinked="0"/>
        <c:majorTickMark val="none"/>
        <c:minorTickMark val="none"/>
        <c:tickLblPos val="nextTo"/>
        <c:crossAx val="527259240"/>
        <c:crosses val="autoZero"/>
        <c:auto val="1"/>
        <c:lblAlgn val="ctr"/>
        <c:lblOffset val="100"/>
        <c:noMultiLvlLbl val="0"/>
      </c:catAx>
      <c:valAx>
        <c:axId val="527259240"/>
        <c:scaling>
          <c:orientation val="minMax"/>
        </c:scaling>
        <c:delete val="1"/>
        <c:axPos val="l"/>
        <c:numFmt formatCode="0" sourceLinked="1"/>
        <c:majorTickMark val="out"/>
        <c:minorTickMark val="none"/>
        <c:tickLblPos val="nextTo"/>
        <c:crossAx val="527263552"/>
        <c:crosses val="autoZero"/>
        <c:crossBetween val="between"/>
      </c:valAx>
    </c:plotArea>
    <c:plotVisOnly val="1"/>
    <c:dispBlanksAs val="gap"/>
    <c:showDLblsOverMax val="0"/>
  </c:chart>
  <c:spPr>
    <a:ln w="12700">
      <a:solidFill>
        <a:sysClr val="windowText" lastClr="000000"/>
      </a:solidFill>
    </a:ln>
  </c:spPr>
  <c:txPr>
    <a:bodyPr/>
    <a:lstStyle/>
    <a:p>
      <a:pPr>
        <a:defRPr b="1">
          <a:latin typeface="Times New Roman" panose="02020603050405020304" pitchFamily="18" charset="0"/>
          <a:cs typeface="Times New Roman" panose="02020603050405020304" pitchFamily="18" charset="0"/>
        </a:defRPr>
      </a:pPr>
      <a:endParaRPr lang="en-US"/>
    </a:p>
  </c:txPr>
  <c:externalData r:id="rId2">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000"/>
              <a:t>VỤ VIỆC PDA</a:t>
            </a: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PDA!$AB$3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PDA!$AA$4:$AA$5</c:f>
              <c:strCache>
                <c:ptCount val="2"/>
                <c:pt idx="0">
                  <c:v>Số vụ</c:v>
                </c:pt>
                <c:pt idx="1">
                  <c:v>Tỷ lệ/10000CB</c:v>
                </c:pt>
              </c:strCache>
            </c:strRef>
          </c:cat>
          <c:val>
            <c:numRef>
              <c:f>PDA!$AB$4:$AB$5</c:f>
              <c:numCache>
                <c:formatCode>0.00</c:formatCode>
                <c:ptCount val="2"/>
                <c:pt idx="0" formatCode="0">
                  <c:v>14</c:v>
                </c:pt>
                <c:pt idx="1">
                  <c:v>1.7850084787902742</c:v>
                </c:pt>
              </c:numCache>
            </c:numRef>
          </c:val>
          <c:extLst>
            <c:ext xmlns:c16="http://schemas.microsoft.com/office/drawing/2014/chart" uri="{C3380CC4-5D6E-409C-BE32-E72D297353CC}">
              <c16:uniqueId val="{00000000-0337-495A-997A-435223580F58}"/>
            </c:ext>
          </c:extLst>
        </c:ser>
        <c:ser>
          <c:idx val="1"/>
          <c:order val="1"/>
          <c:tx>
            <c:strRef>
              <c:f>PDA!$AC$3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PDA!$AA$4:$AA$5</c:f>
              <c:strCache>
                <c:ptCount val="2"/>
                <c:pt idx="0">
                  <c:v>Số vụ</c:v>
                </c:pt>
                <c:pt idx="1">
                  <c:v>Tỷ lệ/10000CB</c:v>
                </c:pt>
              </c:strCache>
            </c:strRef>
          </c:cat>
          <c:val>
            <c:numRef>
              <c:f>PDA!$AC$4:$AC$5</c:f>
              <c:numCache>
                <c:formatCode>0.00</c:formatCode>
                <c:ptCount val="2"/>
                <c:pt idx="0" formatCode="0">
                  <c:v>9</c:v>
                </c:pt>
                <c:pt idx="1">
                  <c:v>1.0775217000897934</c:v>
                </c:pt>
              </c:numCache>
            </c:numRef>
          </c:val>
          <c:extLst>
            <c:ext xmlns:c16="http://schemas.microsoft.com/office/drawing/2014/chart" uri="{C3380CC4-5D6E-409C-BE32-E72D297353CC}">
              <c16:uniqueId val="{00000001-0337-495A-997A-435223580F58}"/>
            </c:ext>
          </c:extLst>
        </c:ser>
        <c:dLbls>
          <c:showLegendKey val="0"/>
          <c:showVal val="0"/>
          <c:showCatName val="0"/>
          <c:showSerName val="0"/>
          <c:showPercent val="0"/>
          <c:showBubbleSize val="0"/>
        </c:dLbls>
        <c:gapWidth val="219"/>
        <c:overlap val="-27"/>
        <c:axId val="527264336"/>
        <c:axId val="527259632"/>
      </c:barChart>
      <c:catAx>
        <c:axId val="527264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27259632"/>
        <c:crosses val="autoZero"/>
        <c:auto val="1"/>
        <c:lblAlgn val="ctr"/>
        <c:lblOffset val="100"/>
        <c:noMultiLvlLbl val="0"/>
      </c:catAx>
      <c:valAx>
        <c:axId val="5272596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27264336"/>
        <c:crosses val="autoZero"/>
        <c:crossBetween val="between"/>
      </c:valAx>
      <c:spPr>
        <a:noFill/>
        <a:ln>
          <a:noFill/>
        </a:ln>
        <a:effectLst/>
      </c:spPr>
    </c:plotArea>
    <c:legend>
      <c:legendPos val="b"/>
      <c:layout>
        <c:manualLayout>
          <c:xMode val="edge"/>
          <c:yMode val="edge"/>
          <c:x val="1.6233607808284693E-3"/>
          <c:y val="0.92846051953786146"/>
          <c:w val="0.99837663921917152"/>
          <c:h val="5.284789167709176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6350" cap="flat" cmpd="sng" algn="ctr">
      <a:solidFill>
        <a:schemeClr val="tx1"/>
      </a:solidFill>
      <a:round/>
    </a:ln>
    <a:effectLst/>
  </c:spPr>
  <c:txPr>
    <a:bodyPr/>
    <a:lstStyle/>
    <a:p>
      <a:pPr>
        <a:defRPr sz="1200" b="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invertIfNegative val="0"/>
          <c:dLbls>
            <c:spPr>
              <a:solidFill>
                <a:schemeClr val="accent4">
                  <a:lumMod val="40000"/>
                  <a:lumOff val="60000"/>
                </a:schemeClr>
              </a:solidFill>
            </c:sp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FOD!$B$3:$B$26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FOD!$D$3:$D$26</c:f>
              <c:numCache>
                <c:formatCode>0</c:formatCode>
                <c:ptCount val="13"/>
                <c:pt idx="0">
                  <c:v>12</c:v>
                </c:pt>
                <c:pt idx="1">
                  <c:v>12</c:v>
                </c:pt>
                <c:pt idx="2">
                  <c:v>8</c:v>
                </c:pt>
                <c:pt idx="3">
                  <c:v>13</c:v>
                </c:pt>
                <c:pt idx="4">
                  <c:v>12</c:v>
                </c:pt>
                <c:pt idx="5">
                  <c:v>6</c:v>
                </c:pt>
                <c:pt idx="6">
                  <c:v>3</c:v>
                </c:pt>
                <c:pt idx="7">
                  <c:v>4</c:v>
                </c:pt>
                <c:pt idx="8">
                  <c:v>3</c:v>
                </c:pt>
                <c:pt idx="9">
                  <c:v>9</c:v>
                </c:pt>
                <c:pt idx="10">
                  <c:v>15</c:v>
                </c:pt>
                <c:pt idx="11">
                  <c:v>11</c:v>
                </c:pt>
                <c:pt idx="12">
                  <c:v>13</c:v>
                </c:pt>
              </c:numCache>
            </c:numRef>
          </c:val>
          <c:extLst>
            <c:ext xmlns:c16="http://schemas.microsoft.com/office/drawing/2014/chart" uri="{C3380CC4-5D6E-409C-BE32-E72D297353CC}">
              <c16:uniqueId val="{00000000-ECDB-4DE0-AC05-3240C40E1CDD}"/>
            </c:ext>
          </c:extLst>
        </c:ser>
        <c:dLbls>
          <c:showLegendKey val="0"/>
          <c:showVal val="0"/>
          <c:showCatName val="0"/>
          <c:showSerName val="0"/>
          <c:showPercent val="0"/>
          <c:showBubbleSize val="0"/>
        </c:dLbls>
        <c:gapWidth val="150"/>
        <c:axId val="532688864"/>
        <c:axId val="532690824"/>
      </c:barChart>
      <c:lineChart>
        <c:grouping val="standard"/>
        <c:varyColors val="0"/>
        <c:ser>
          <c:idx val="1"/>
          <c:order val="1"/>
          <c:spPr>
            <a:ln w="28575">
              <a:solidFill>
                <a:srgbClr val="7030A0"/>
              </a:solidFill>
            </a:ln>
          </c:spPr>
          <c:marker>
            <c:symbol val="none"/>
          </c:marker>
          <c:dLbls>
            <c:dLbl>
              <c:idx val="0"/>
              <c:layout>
                <c:manualLayout>
                  <c:x val="-2.7533692707868106E-2"/>
                  <c:y val="-0.24398372750066838"/>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1-ECDB-4DE0-AC05-3240C40E1CDD}"/>
                </c:ext>
              </c:extLst>
            </c:dLbl>
            <c:dLbl>
              <c:idx val="1"/>
              <c:layout>
                <c:manualLayout>
                  <c:x val="-3.4946599627424246E-2"/>
                  <c:y val="-0.18694413734798726"/>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2-ECDB-4DE0-AC05-3240C40E1CDD}"/>
                </c:ext>
              </c:extLst>
            </c:dLbl>
            <c:dLbl>
              <c:idx val="2"/>
              <c:layout>
                <c:manualLayout>
                  <c:x val="-3.2887585866227871E-2"/>
                  <c:y val="-0.1238863237302465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94C-4F9D-8F05-6958F4485A66}"/>
                </c:ext>
              </c:extLst>
            </c:dLbl>
            <c:dLbl>
              <c:idx val="4"/>
              <c:layout>
                <c:manualLayout>
                  <c:x val="-3.0324916837690695E-2"/>
                  <c:y val="-8.717926484721050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94C-4F9D-8F05-6958F4485A66}"/>
                </c:ext>
              </c:extLst>
            </c:dLbl>
            <c:dLbl>
              <c:idx val="5"/>
              <c:layout>
                <c:manualLayout>
                  <c:x val="-2.2636909752078924E-2"/>
                  <c:y val="-0.10186208840042495"/>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94C-4F9D-8F05-6958F4485A66}"/>
                </c:ext>
              </c:extLst>
            </c:dLbl>
            <c:dLbl>
              <c:idx val="6"/>
              <c:layout>
                <c:manualLayout>
                  <c:x val="-2.9470693828178282E-2"/>
                  <c:y val="-8.350855895890688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94C-4F9D-8F05-6958F4485A66}"/>
                </c:ext>
              </c:extLst>
            </c:dLbl>
            <c:dLbl>
              <c:idx val="8"/>
              <c:layout>
                <c:manualLayout>
                  <c:x val="-3.4596031885252822E-2"/>
                  <c:y val="-8.350855895890688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94C-4F9D-8F05-6958F4485A66}"/>
                </c:ext>
              </c:extLst>
            </c:dLbl>
            <c:dLbl>
              <c:idx val="9"/>
              <c:layout>
                <c:manualLayout>
                  <c:x val="-3.8524785112466868E-2"/>
                  <c:y val="-8.9816103415635257E-2"/>
                </c:manualLayout>
              </c:layout>
              <c:dLblPos val="r"/>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3-ECDB-4DE0-AC05-3240C40E1CDD}"/>
                </c:ext>
              </c:extLst>
            </c:dLbl>
            <c:dLbl>
              <c:idx val="10"/>
              <c:layout>
                <c:manualLayout>
                  <c:x val="-3.0012553715157118E-2"/>
                  <c:y val="-0.17875875224902993"/>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4-ECDB-4DE0-AC05-3240C40E1CDD}"/>
                </c:ext>
              </c:extLst>
            </c:dLbl>
            <c:dLbl>
              <c:idx val="11"/>
              <c:layout>
                <c:manualLayout>
                  <c:x val="-2.6983492375756962E-2"/>
                  <c:y val="-0.20755674058659035"/>
                </c:manualLayout>
              </c:layout>
              <c:dLblPos val="r"/>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5-ECDB-4DE0-AC05-3240C40E1CDD}"/>
                </c:ext>
              </c:extLst>
            </c:dLbl>
            <c:dLbl>
              <c:idx val="12"/>
              <c:layout>
                <c:manualLayout>
                  <c:x val="-4.131125218728092E-2"/>
                  <c:y val="-0.2315562203290629"/>
                </c:manualLayout>
              </c:layout>
              <c:dLblPos val="r"/>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6-ECDB-4DE0-AC05-3240C40E1CDD}"/>
                </c:ext>
              </c:extLst>
            </c:dLbl>
            <c:spPr>
              <a:noFill/>
              <a:ln>
                <a:noFill/>
              </a:ln>
              <a:effectLst/>
            </c:sp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trendline>
            <c:spPr>
              <a:ln w="12700">
                <a:solidFill>
                  <a:srgbClr val="C00000"/>
                </a:solidFill>
              </a:ln>
            </c:spPr>
            <c:trendlineType val="linear"/>
            <c:dispRSqr val="0"/>
            <c:dispEq val="0"/>
          </c:trendline>
          <c:cat>
            <c:strRef>
              <c:f>FOD!$B$3:$B$26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FOD!$E$3:$E$26</c:f>
              <c:numCache>
                <c:formatCode>0.00</c:formatCode>
                <c:ptCount val="13"/>
                <c:pt idx="0">
                  <c:v>9.250693802035153</c:v>
                </c:pt>
                <c:pt idx="1">
                  <c:v>10.218853785233756</c:v>
                </c:pt>
                <c:pt idx="2">
                  <c:v>8.5625602055014447</c:v>
                </c:pt>
                <c:pt idx="3">
                  <c:v>13.626834381551364</c:v>
                </c:pt>
                <c:pt idx="4">
                  <c:v>12.106537530266344</c:v>
                </c:pt>
                <c:pt idx="5">
                  <c:v>5.2160306007128572</c:v>
                </c:pt>
                <c:pt idx="6">
                  <c:v>2.5004167361226872</c:v>
                </c:pt>
                <c:pt idx="7">
                  <c:v>3.6416605972323381</c:v>
                </c:pt>
                <c:pt idx="8">
                  <c:v>2.6721296873608265</c:v>
                </c:pt>
                <c:pt idx="9">
                  <c:v>7.9865116691809392</c:v>
                </c:pt>
                <c:pt idx="10">
                  <c:v>12.584948401711554</c:v>
                </c:pt>
                <c:pt idx="11">
                  <c:v>8.381590978360256</c:v>
                </c:pt>
                <c:pt idx="12">
                  <c:v>9.9969240233774226</c:v>
                </c:pt>
              </c:numCache>
            </c:numRef>
          </c:val>
          <c:smooth val="0"/>
          <c:extLst>
            <c:ext xmlns:c16="http://schemas.microsoft.com/office/drawing/2014/chart" uri="{C3380CC4-5D6E-409C-BE32-E72D297353CC}">
              <c16:uniqueId val="{00000007-ECDB-4DE0-AC05-3240C40E1CDD}"/>
            </c:ext>
          </c:extLst>
        </c:ser>
        <c:ser>
          <c:idx val="2"/>
          <c:order val="2"/>
          <c:spPr>
            <a:ln w="28575">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D94C-4F9D-8F05-6958F4485A66}"/>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D94C-4F9D-8F05-6958F4485A66}"/>
                </c:ext>
              </c:extLst>
            </c:dLbl>
            <c:spPr>
              <a:solidFill>
                <a:srgbClr val="00B0F0"/>
              </a:solidFill>
              <a:ln>
                <a:solidFill>
                  <a:srgbClr val="00B0F0"/>
                </a:solidFill>
              </a:ln>
              <a:effectLst/>
            </c:spPr>
            <c:dLblPos val="r"/>
            <c:showLegendKey val="0"/>
            <c:showVal val="0"/>
            <c:showCatName val="0"/>
            <c:showSerName val="0"/>
            <c:showPercent val="0"/>
            <c:showBubbleSize val="0"/>
            <c:extLst>
              <c:ext xmlns:c15="http://schemas.microsoft.com/office/drawing/2012/chart" uri="{CE6537A1-D6FC-4f65-9D91-7224C49458BB}">
                <c15:showLeaderLines val="0"/>
              </c:ext>
            </c:extLst>
          </c:dLbls>
          <c:cat>
            <c:strRef>
              <c:f>FOD!$B$3:$B$26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FOD!$F$3:$F$26</c:f>
              <c:numCache>
                <c:formatCode>0.00</c:formatCode>
                <c:ptCount val="13"/>
                <c:pt idx="0">
                  <c:v>10.210000000000001</c:v>
                </c:pt>
                <c:pt idx="1">
                  <c:v>10.210000000000001</c:v>
                </c:pt>
                <c:pt idx="2">
                  <c:v>10.210000000000001</c:v>
                </c:pt>
                <c:pt idx="3">
                  <c:v>10.210000000000001</c:v>
                </c:pt>
                <c:pt idx="4">
                  <c:v>10.210000000000001</c:v>
                </c:pt>
                <c:pt idx="5">
                  <c:v>10.210000000000001</c:v>
                </c:pt>
                <c:pt idx="6">
                  <c:v>10.210000000000001</c:v>
                </c:pt>
                <c:pt idx="7">
                  <c:v>10.210000000000001</c:v>
                </c:pt>
                <c:pt idx="8">
                  <c:v>10.210000000000001</c:v>
                </c:pt>
                <c:pt idx="9">
                  <c:v>10.210000000000001</c:v>
                </c:pt>
                <c:pt idx="10">
                  <c:v>10.210000000000001</c:v>
                </c:pt>
                <c:pt idx="11">
                  <c:v>10.210000000000001</c:v>
                </c:pt>
                <c:pt idx="12">
                  <c:v>10.210000000000001</c:v>
                </c:pt>
              </c:numCache>
            </c:numRef>
          </c:val>
          <c:smooth val="0"/>
          <c:extLst>
            <c:ext xmlns:c16="http://schemas.microsoft.com/office/drawing/2014/chart" uri="{C3380CC4-5D6E-409C-BE32-E72D297353CC}">
              <c16:uniqueId val="{00000009-ECDB-4DE0-AC05-3240C40E1CDD}"/>
            </c:ext>
          </c:extLst>
        </c:ser>
        <c:ser>
          <c:idx val="3"/>
          <c:order val="3"/>
          <c:spPr>
            <a:ln w="28575">
              <a:solidFill>
                <a:srgbClr val="FFC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D94C-4F9D-8F05-6958F4485A66}"/>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D94C-4F9D-8F05-6958F4485A66}"/>
                </c:ext>
              </c:extLst>
            </c:dLbl>
            <c:spPr>
              <a:solidFill>
                <a:srgbClr val="FFC000"/>
              </a:solid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FOD!$B$3:$B$26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FOD!$G$3:$G$26</c:f>
              <c:numCache>
                <c:formatCode>0.00</c:formatCode>
                <c:ptCount val="13"/>
                <c:pt idx="0">
                  <c:v>12.71</c:v>
                </c:pt>
                <c:pt idx="1">
                  <c:v>12.71</c:v>
                </c:pt>
                <c:pt idx="2">
                  <c:v>12.71</c:v>
                </c:pt>
                <c:pt idx="3">
                  <c:v>12.71</c:v>
                </c:pt>
                <c:pt idx="4">
                  <c:v>12.71</c:v>
                </c:pt>
                <c:pt idx="5">
                  <c:v>12.71</c:v>
                </c:pt>
                <c:pt idx="6">
                  <c:v>12.71</c:v>
                </c:pt>
                <c:pt idx="7">
                  <c:v>12.71</c:v>
                </c:pt>
                <c:pt idx="8">
                  <c:v>12.71</c:v>
                </c:pt>
                <c:pt idx="9">
                  <c:v>12.71</c:v>
                </c:pt>
                <c:pt idx="10">
                  <c:v>12.71</c:v>
                </c:pt>
                <c:pt idx="11">
                  <c:v>12.71</c:v>
                </c:pt>
                <c:pt idx="12">
                  <c:v>12.71</c:v>
                </c:pt>
              </c:numCache>
            </c:numRef>
          </c:val>
          <c:smooth val="0"/>
          <c:extLst>
            <c:ext xmlns:c16="http://schemas.microsoft.com/office/drawing/2014/chart" uri="{C3380CC4-5D6E-409C-BE32-E72D297353CC}">
              <c16:uniqueId val="{0000000B-ECDB-4DE0-AC05-3240C40E1CDD}"/>
            </c:ext>
          </c:extLst>
        </c:ser>
        <c:ser>
          <c:idx val="4"/>
          <c:order val="4"/>
          <c:spPr>
            <a:ln w="28575">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94C-4F9D-8F05-6958F4485A66}"/>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D94C-4F9D-8F05-6958F4485A66}"/>
                </c:ext>
              </c:extLst>
            </c:dLbl>
            <c:spPr>
              <a:solidFill>
                <a:srgbClr val="FF0000"/>
              </a:solidFill>
              <a:ln>
                <a:noFill/>
              </a:ln>
              <a:effectLst/>
            </c:spPr>
            <c:dLblPos val="r"/>
            <c:showLegendKey val="0"/>
            <c:showVal val="0"/>
            <c:showCatName val="0"/>
            <c:showSerName val="0"/>
            <c:showPercent val="0"/>
            <c:showBubbleSize val="0"/>
            <c:extLst>
              <c:ext xmlns:c15="http://schemas.microsoft.com/office/drawing/2012/chart" uri="{CE6537A1-D6FC-4f65-9D91-7224C49458BB}">
                <c15:showLeaderLines val="0"/>
              </c:ext>
            </c:extLst>
          </c:dLbls>
          <c:cat>
            <c:strRef>
              <c:f>FOD!$B$3:$B$26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FOD!$H$3:$H$26</c:f>
              <c:numCache>
                <c:formatCode>0.00</c:formatCode>
                <c:ptCount val="13"/>
                <c:pt idx="0">
                  <c:v>15.22</c:v>
                </c:pt>
                <c:pt idx="1">
                  <c:v>15.22</c:v>
                </c:pt>
                <c:pt idx="2">
                  <c:v>15.22</c:v>
                </c:pt>
                <c:pt idx="3">
                  <c:v>15.22</c:v>
                </c:pt>
                <c:pt idx="4">
                  <c:v>15.22</c:v>
                </c:pt>
                <c:pt idx="5">
                  <c:v>15.22</c:v>
                </c:pt>
                <c:pt idx="6">
                  <c:v>15.22</c:v>
                </c:pt>
                <c:pt idx="7">
                  <c:v>15.22</c:v>
                </c:pt>
                <c:pt idx="8">
                  <c:v>15.22</c:v>
                </c:pt>
                <c:pt idx="9">
                  <c:v>15.22</c:v>
                </c:pt>
                <c:pt idx="10">
                  <c:v>15.22</c:v>
                </c:pt>
                <c:pt idx="11">
                  <c:v>15.22</c:v>
                </c:pt>
                <c:pt idx="12">
                  <c:v>15.22</c:v>
                </c:pt>
              </c:numCache>
            </c:numRef>
          </c:val>
          <c:smooth val="0"/>
          <c:extLst>
            <c:ext xmlns:c16="http://schemas.microsoft.com/office/drawing/2014/chart" uri="{C3380CC4-5D6E-409C-BE32-E72D297353CC}">
              <c16:uniqueId val="{0000000D-ECDB-4DE0-AC05-3240C40E1CDD}"/>
            </c:ext>
          </c:extLst>
        </c:ser>
        <c:ser>
          <c:idx val="5"/>
          <c:order val="5"/>
          <c:spPr>
            <a:ln w="28575">
              <a:solidFill>
                <a:srgbClr val="00B05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D94C-4F9D-8F05-6958F4485A66}"/>
                </c:ext>
              </c:extLst>
            </c:dLbl>
            <c:dLbl>
              <c:idx val="6"/>
              <c:spPr>
                <a:solidFill>
                  <a:srgbClr val="00B050"/>
                </a:solidFill>
                <a:ln>
                  <a:noFill/>
                </a:ln>
                <a:effectLst/>
              </c:spPr>
              <c:txPr>
                <a:bodyPr/>
                <a:lstStyle/>
                <a:p>
                  <a:pPr>
                    <a:defRPr/>
                  </a:pPr>
                  <a:endParaRPr lang="en-US"/>
                </a:p>
              </c:txPr>
              <c:dLblPos val="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ECDB-4DE0-AC05-3240C40E1CDD}"/>
                </c:ext>
              </c:extLst>
            </c:dLbl>
            <c:dLbl>
              <c:idx val="7"/>
              <c:delete val="1"/>
              <c:extLst>
                <c:ext xmlns:c15="http://schemas.microsoft.com/office/drawing/2012/chart" uri="{CE6537A1-D6FC-4f65-9D91-7224C49458BB}"/>
                <c:ext xmlns:c16="http://schemas.microsoft.com/office/drawing/2014/chart" uri="{C3380CC4-5D6E-409C-BE32-E72D297353CC}">
                  <c16:uniqueId val="{0000000F-ECDB-4DE0-AC05-3240C40E1CDD}"/>
                </c:ext>
              </c:extLst>
            </c:dLbl>
            <c:dLbl>
              <c:idx val="12"/>
              <c:spPr>
                <a:solidFill>
                  <a:srgbClr val="00B050"/>
                </a:solidFill>
                <a:ln>
                  <a:noFill/>
                </a:ln>
                <a:effectLst/>
              </c:spPr>
              <c:txPr>
                <a:bodyPr wrap="square" lIns="38100" tIns="19050" rIns="38100" bIns="19050" anchor="ctr">
                  <a:noAutofit/>
                </a:bodyPr>
                <a:lstStyle/>
                <a:p>
                  <a:pPr>
                    <a:defRPr/>
                  </a:pPr>
                  <a:endParaRPr lang="en-US"/>
                </a:p>
              </c:txPr>
              <c:dLblPos val="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D94C-4F9D-8F05-6958F4485A66}"/>
                </c:ext>
              </c:extLst>
            </c:dLbl>
            <c:spPr>
              <a:solidFill>
                <a:srgbClr val="00B050"/>
              </a:solidFill>
              <a:ln>
                <a:noFill/>
              </a:ln>
              <a:effectLst/>
            </c:spPr>
            <c:dLblPos val="r"/>
            <c:showLegendKey val="0"/>
            <c:showVal val="0"/>
            <c:showCatName val="0"/>
            <c:showSerName val="0"/>
            <c:showPercent val="0"/>
            <c:showBubbleSize val="0"/>
            <c:extLst>
              <c:ext xmlns:c15="http://schemas.microsoft.com/office/drawing/2012/chart" uri="{CE6537A1-D6FC-4f65-9D91-7224C49458BB}">
                <c15:showLeaderLines val="0"/>
              </c:ext>
            </c:extLst>
          </c:dLbls>
          <c:cat>
            <c:strRef>
              <c:f>FOD!$B$3:$B$26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FOD!$I$3:$I$26</c:f>
              <c:numCache>
                <c:formatCode>0.00</c:formatCode>
                <c:ptCount val="13"/>
                <c:pt idx="0">
                  <c:v>7.6964519356576622</c:v>
                </c:pt>
                <c:pt idx="1">
                  <c:v>7.6964519356576622</c:v>
                </c:pt>
                <c:pt idx="2">
                  <c:v>7.6964519356576622</c:v>
                </c:pt>
                <c:pt idx="3">
                  <c:v>7.6964519356576622</c:v>
                </c:pt>
                <c:pt idx="4">
                  <c:v>7.6964519356576622</c:v>
                </c:pt>
                <c:pt idx="5">
                  <c:v>7.6964519356576622</c:v>
                </c:pt>
                <c:pt idx="6">
                  <c:v>7.6964519356576622</c:v>
                </c:pt>
                <c:pt idx="7">
                  <c:v>7.6964519356576622</c:v>
                </c:pt>
                <c:pt idx="8">
                  <c:v>7.6964519356576622</c:v>
                </c:pt>
                <c:pt idx="9">
                  <c:v>7.6964519356576622</c:v>
                </c:pt>
                <c:pt idx="10">
                  <c:v>7.6964519356576622</c:v>
                </c:pt>
                <c:pt idx="11">
                  <c:v>7.6964519356576622</c:v>
                </c:pt>
                <c:pt idx="12">
                  <c:v>7.6964519356576622</c:v>
                </c:pt>
              </c:numCache>
            </c:numRef>
          </c:val>
          <c:smooth val="0"/>
          <c:extLst>
            <c:ext xmlns:c16="http://schemas.microsoft.com/office/drawing/2014/chart" uri="{C3380CC4-5D6E-409C-BE32-E72D297353CC}">
              <c16:uniqueId val="{00000010-ECDB-4DE0-AC05-3240C40E1CDD}"/>
            </c:ext>
          </c:extLst>
        </c:ser>
        <c:dLbls>
          <c:showLegendKey val="0"/>
          <c:showVal val="1"/>
          <c:showCatName val="0"/>
          <c:showSerName val="0"/>
          <c:showPercent val="0"/>
          <c:showBubbleSize val="0"/>
        </c:dLbls>
        <c:marker val="1"/>
        <c:smooth val="0"/>
        <c:axId val="532688864"/>
        <c:axId val="532690824"/>
      </c:lineChart>
      <c:catAx>
        <c:axId val="532688864"/>
        <c:scaling>
          <c:orientation val="minMax"/>
        </c:scaling>
        <c:delete val="0"/>
        <c:axPos val="b"/>
        <c:numFmt formatCode="General" sourceLinked="0"/>
        <c:majorTickMark val="none"/>
        <c:minorTickMark val="none"/>
        <c:tickLblPos val="nextTo"/>
        <c:crossAx val="532690824"/>
        <c:crosses val="autoZero"/>
        <c:auto val="1"/>
        <c:lblAlgn val="ctr"/>
        <c:lblOffset val="100"/>
        <c:noMultiLvlLbl val="0"/>
      </c:catAx>
      <c:valAx>
        <c:axId val="532690824"/>
        <c:scaling>
          <c:orientation val="minMax"/>
        </c:scaling>
        <c:delete val="1"/>
        <c:axPos val="l"/>
        <c:numFmt formatCode="0" sourceLinked="1"/>
        <c:majorTickMark val="out"/>
        <c:minorTickMark val="none"/>
        <c:tickLblPos val="nextTo"/>
        <c:crossAx val="532688864"/>
        <c:crosses val="autoZero"/>
        <c:crossBetween val="between"/>
      </c:valAx>
    </c:plotArea>
    <c:plotVisOnly val="1"/>
    <c:dispBlanksAs val="gap"/>
    <c:showDLblsOverMax val="0"/>
  </c:chart>
  <c:spPr>
    <a:ln w="6350">
      <a:solidFill>
        <a:sysClr val="windowText" lastClr="000000"/>
      </a:solidFill>
    </a:ln>
  </c:spPr>
  <c:txPr>
    <a:bodyPr/>
    <a:lstStyle/>
    <a:p>
      <a:pPr>
        <a:defRPr sz="1000" b="1">
          <a:latin typeface="Times New Roman" panose="02020603050405020304" pitchFamily="18" charset="0"/>
          <a:cs typeface="Times New Roman" panose="02020603050405020304" pitchFamily="18" charset="0"/>
        </a:defRPr>
      </a:pPr>
      <a:endParaRPr lang="en-US"/>
    </a:p>
  </c:txPr>
  <c:externalData r:id="rId2">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000"/>
              <a:t>VỤ VIỆC FOD</a:t>
            </a:r>
          </a:p>
        </c:rich>
      </c:tx>
      <c:layout>
        <c:manualLayout>
          <c:xMode val="edge"/>
          <c:yMode val="edge"/>
          <c:x val="0.371748131197851"/>
          <c:y val="3.8585209003215437E-2"/>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manualLayout>
          <c:layoutTarget val="inner"/>
          <c:xMode val="edge"/>
          <c:yMode val="edge"/>
          <c:x val="6.1220131213157288E-2"/>
          <c:y val="0.13529559207028383"/>
          <c:w val="0.8769931406805942"/>
          <c:h val="0.68785958427222316"/>
        </c:manualLayout>
      </c:layout>
      <c:barChart>
        <c:barDir val="col"/>
        <c:grouping val="clustered"/>
        <c:varyColors val="0"/>
        <c:ser>
          <c:idx val="0"/>
          <c:order val="0"/>
          <c:tx>
            <c:strRef>
              <c:f>FOD!$AA$3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FOD!$Z$4:$Z$5</c:f>
              <c:strCache>
                <c:ptCount val="2"/>
                <c:pt idx="0">
                  <c:v>Số vụ</c:v>
                </c:pt>
                <c:pt idx="1">
                  <c:v>Tỷ lệ/10000CB</c:v>
                </c:pt>
              </c:strCache>
            </c:strRef>
          </c:cat>
          <c:val>
            <c:numRef>
              <c:f>FOD!$AA$4:$AA$5</c:f>
              <c:numCache>
                <c:formatCode>0.00</c:formatCode>
                <c:ptCount val="2"/>
                <c:pt idx="0" formatCode="0">
                  <c:v>59</c:v>
                </c:pt>
                <c:pt idx="1">
                  <c:v>7.5225357320447275</c:v>
                </c:pt>
              </c:numCache>
            </c:numRef>
          </c:val>
          <c:extLst>
            <c:ext xmlns:c16="http://schemas.microsoft.com/office/drawing/2014/chart" uri="{C3380CC4-5D6E-409C-BE32-E72D297353CC}">
              <c16:uniqueId val="{00000000-F15B-41CF-9314-A5F12349FFB2}"/>
            </c:ext>
          </c:extLst>
        </c:ser>
        <c:ser>
          <c:idx val="1"/>
          <c:order val="1"/>
          <c:tx>
            <c:strRef>
              <c:f>FOD!$AB$3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FOD!$Z$4:$Z$5</c:f>
              <c:strCache>
                <c:ptCount val="2"/>
                <c:pt idx="0">
                  <c:v>Số vụ</c:v>
                </c:pt>
                <c:pt idx="1">
                  <c:v>Tỷ lệ/10000CB</c:v>
                </c:pt>
              </c:strCache>
            </c:strRef>
          </c:cat>
          <c:val>
            <c:numRef>
              <c:f>FOD!$AB$4:$AB$5</c:f>
              <c:numCache>
                <c:formatCode>0.00</c:formatCode>
                <c:ptCount val="2"/>
                <c:pt idx="0" formatCode="0">
                  <c:v>58</c:v>
                </c:pt>
                <c:pt idx="1">
                  <c:v>6.9440287339120026</c:v>
                </c:pt>
              </c:numCache>
            </c:numRef>
          </c:val>
          <c:extLst>
            <c:ext xmlns:c16="http://schemas.microsoft.com/office/drawing/2014/chart" uri="{C3380CC4-5D6E-409C-BE32-E72D297353CC}">
              <c16:uniqueId val="{00000001-F15B-41CF-9314-A5F12349FFB2}"/>
            </c:ext>
          </c:extLst>
        </c:ser>
        <c:dLbls>
          <c:showLegendKey val="0"/>
          <c:showVal val="0"/>
          <c:showCatName val="0"/>
          <c:showSerName val="0"/>
          <c:showPercent val="0"/>
          <c:showBubbleSize val="0"/>
        </c:dLbls>
        <c:gapWidth val="219"/>
        <c:overlap val="-27"/>
        <c:axId val="532691608"/>
        <c:axId val="532696312"/>
      </c:barChart>
      <c:catAx>
        <c:axId val="5326916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32696312"/>
        <c:crosses val="autoZero"/>
        <c:auto val="1"/>
        <c:lblAlgn val="ctr"/>
        <c:lblOffset val="100"/>
        <c:noMultiLvlLbl val="0"/>
      </c:catAx>
      <c:valAx>
        <c:axId val="53269631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32691608"/>
        <c:crosses val="autoZero"/>
        <c:crossBetween val="between"/>
      </c:valAx>
      <c:spPr>
        <a:noFill/>
        <a:ln>
          <a:noFill/>
        </a:ln>
        <a:effectLst/>
      </c:spPr>
    </c:plotArea>
    <c:legend>
      <c:legendPos val="b"/>
      <c:layout>
        <c:manualLayout>
          <c:xMode val="edge"/>
          <c:yMode val="edge"/>
          <c:x val="3.1976756944170023E-3"/>
          <c:y val="0.91329847836544553"/>
          <c:w val="0.99680232430558302"/>
          <c:h val="6.507552446654627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6350" cap="flat" cmpd="sng" algn="ctr">
      <a:solidFill>
        <a:schemeClr val="tx1"/>
      </a:solidFill>
      <a:round/>
    </a:ln>
    <a:effectLst/>
  </c:spPr>
  <c:txPr>
    <a:bodyPr/>
    <a:lstStyle/>
    <a:p>
      <a:pPr>
        <a:defRPr sz="1000" b="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invertIfNegative val="0"/>
          <c:dLbls>
            <c:spPr>
              <a:solidFill>
                <a:schemeClr val="accent4">
                  <a:lumMod val="40000"/>
                  <a:lumOff val="60000"/>
                </a:schemeClr>
              </a:solidFill>
            </c:sp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IFSD!$B$3:$B$26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IFSD!$D$3:$D$26</c:f>
              <c:numCache>
                <c:formatCode>0</c:formatCode>
                <c:ptCount val="13"/>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721F-49A6-81B3-34C75C0A5C29}"/>
            </c:ext>
          </c:extLst>
        </c:ser>
        <c:dLbls>
          <c:showLegendKey val="0"/>
          <c:showVal val="0"/>
          <c:showCatName val="0"/>
          <c:showSerName val="0"/>
          <c:showPercent val="0"/>
          <c:showBubbleSize val="0"/>
        </c:dLbls>
        <c:gapWidth val="150"/>
        <c:axId val="532698272"/>
        <c:axId val="532698664"/>
      </c:barChart>
      <c:lineChart>
        <c:grouping val="standard"/>
        <c:varyColors val="0"/>
        <c:ser>
          <c:idx val="1"/>
          <c:order val="1"/>
          <c:spPr>
            <a:ln w="28575">
              <a:solidFill>
                <a:srgbClr val="7030A0"/>
              </a:solidFill>
            </a:ln>
          </c:spPr>
          <c:marker>
            <c:symbol val="none"/>
          </c:marker>
          <c:dLbls>
            <c:delete val="1"/>
          </c:dLbls>
          <c:cat>
            <c:strRef>
              <c:f>IFSD!$B$3:$B$26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IFSD!$E$3:$E$26</c:f>
              <c:numCache>
                <c:formatCode>0.00</c:formatCode>
                <c:ptCount val="13"/>
                <c:pt idx="0">
                  <c:v>0</c:v>
                </c:pt>
                <c:pt idx="1">
                  <c:v>0</c:v>
                </c:pt>
                <c:pt idx="2">
                  <c:v>0</c:v>
                </c:pt>
                <c:pt idx="3">
                  <c:v>0</c:v>
                </c:pt>
                <c:pt idx="4">
                  <c:v>0</c:v>
                </c:pt>
                <c:pt idx="5">
                  <c:v>0</c:v>
                </c:pt>
                <c:pt idx="6">
                  <c:v>0</c:v>
                </c:pt>
                <c:pt idx="7">
                  <c:v>0</c:v>
                </c:pt>
                <c:pt idx="8">
                  <c:v>0</c:v>
                </c:pt>
                <c:pt idx="9">
                  <c:v>0</c:v>
                </c:pt>
                <c:pt idx="10">
                  <c:v>0</c:v>
                </c:pt>
                <c:pt idx="11">
                  <c:v>0</c:v>
                </c:pt>
                <c:pt idx="12">
                  <c:v>0</c:v>
                </c:pt>
              </c:numCache>
            </c:numRef>
          </c:val>
          <c:smooth val="0"/>
          <c:extLst>
            <c:ext xmlns:c16="http://schemas.microsoft.com/office/drawing/2014/chart" uri="{C3380CC4-5D6E-409C-BE32-E72D297353CC}">
              <c16:uniqueId val="{00000006-721F-49A6-81B3-34C75C0A5C29}"/>
            </c:ext>
          </c:extLst>
        </c:ser>
        <c:ser>
          <c:idx val="2"/>
          <c:order val="2"/>
          <c:spPr>
            <a:ln w="19050">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721F-49A6-81B3-34C75C0A5C29}"/>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721F-49A6-81B3-34C75C0A5C29}"/>
                </c:ext>
              </c:extLst>
            </c:dLbl>
            <c:spPr>
              <a:solidFill>
                <a:srgbClr val="00B0F0"/>
              </a:solidFill>
              <a:ln>
                <a:solidFill>
                  <a:srgbClr val="00B0F0"/>
                </a:solid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IFSD!$B$3:$B$26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IFSD!$F$3:$F$26</c:f>
              <c:numCache>
                <c:formatCode>0.00</c:formatCode>
                <c:ptCount val="13"/>
                <c:pt idx="0">
                  <c:v>0.16</c:v>
                </c:pt>
                <c:pt idx="1">
                  <c:v>0.16</c:v>
                </c:pt>
                <c:pt idx="2">
                  <c:v>0.16</c:v>
                </c:pt>
                <c:pt idx="3">
                  <c:v>0.16</c:v>
                </c:pt>
                <c:pt idx="4">
                  <c:v>0.16</c:v>
                </c:pt>
                <c:pt idx="5">
                  <c:v>0.16</c:v>
                </c:pt>
                <c:pt idx="6">
                  <c:v>0.16</c:v>
                </c:pt>
                <c:pt idx="7">
                  <c:v>0.16</c:v>
                </c:pt>
                <c:pt idx="8">
                  <c:v>0.16</c:v>
                </c:pt>
                <c:pt idx="9">
                  <c:v>0.16</c:v>
                </c:pt>
                <c:pt idx="10">
                  <c:v>0.16</c:v>
                </c:pt>
                <c:pt idx="11">
                  <c:v>0.16</c:v>
                </c:pt>
                <c:pt idx="12">
                  <c:v>0.16</c:v>
                </c:pt>
              </c:numCache>
            </c:numRef>
          </c:val>
          <c:smooth val="0"/>
          <c:extLst>
            <c:ext xmlns:c16="http://schemas.microsoft.com/office/drawing/2014/chart" uri="{C3380CC4-5D6E-409C-BE32-E72D297353CC}">
              <c16:uniqueId val="{00000008-721F-49A6-81B3-34C75C0A5C29}"/>
            </c:ext>
          </c:extLst>
        </c:ser>
        <c:ser>
          <c:idx val="3"/>
          <c:order val="3"/>
          <c:spPr>
            <a:ln>
              <a:solidFill>
                <a:srgbClr val="FFC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721F-49A6-81B3-34C75C0A5C29}"/>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721F-49A6-81B3-34C75C0A5C29}"/>
                </c:ext>
              </c:extLst>
            </c:dLbl>
            <c:spPr>
              <a:solidFill>
                <a:srgbClr val="FFC000"/>
              </a:solid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IFSD!$B$3:$B$26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IFSD!$G$3:$G$26</c:f>
              <c:numCache>
                <c:formatCode>0.00</c:formatCode>
                <c:ptCount val="13"/>
                <c:pt idx="0">
                  <c:v>0.32</c:v>
                </c:pt>
                <c:pt idx="1">
                  <c:v>0.32</c:v>
                </c:pt>
                <c:pt idx="2">
                  <c:v>0.32</c:v>
                </c:pt>
                <c:pt idx="3">
                  <c:v>0.32</c:v>
                </c:pt>
                <c:pt idx="4">
                  <c:v>0.32</c:v>
                </c:pt>
                <c:pt idx="5">
                  <c:v>0.32</c:v>
                </c:pt>
                <c:pt idx="6">
                  <c:v>0.32</c:v>
                </c:pt>
                <c:pt idx="7">
                  <c:v>0.32</c:v>
                </c:pt>
                <c:pt idx="8">
                  <c:v>0.32</c:v>
                </c:pt>
                <c:pt idx="9">
                  <c:v>0.32</c:v>
                </c:pt>
                <c:pt idx="10">
                  <c:v>0.32</c:v>
                </c:pt>
                <c:pt idx="11">
                  <c:v>0.32</c:v>
                </c:pt>
                <c:pt idx="12">
                  <c:v>0.32</c:v>
                </c:pt>
              </c:numCache>
            </c:numRef>
          </c:val>
          <c:smooth val="0"/>
          <c:extLst>
            <c:ext xmlns:c16="http://schemas.microsoft.com/office/drawing/2014/chart" uri="{C3380CC4-5D6E-409C-BE32-E72D297353CC}">
              <c16:uniqueId val="{0000000A-721F-49A6-81B3-34C75C0A5C29}"/>
            </c:ext>
          </c:extLst>
        </c:ser>
        <c:ser>
          <c:idx val="4"/>
          <c:order val="4"/>
          <c:spPr>
            <a:ln>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721F-49A6-81B3-34C75C0A5C29}"/>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721F-49A6-81B3-34C75C0A5C29}"/>
                </c:ext>
              </c:extLst>
            </c:dLbl>
            <c:spPr>
              <a:solidFill>
                <a:srgbClr val="FF0000"/>
              </a:solid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IFSD!$B$3:$B$26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IFSD!$H$3:$H$26</c:f>
              <c:numCache>
                <c:formatCode>0.00</c:formatCode>
                <c:ptCount val="13"/>
                <c:pt idx="0">
                  <c:v>0.48</c:v>
                </c:pt>
                <c:pt idx="1">
                  <c:v>0.48</c:v>
                </c:pt>
                <c:pt idx="2">
                  <c:v>0.48</c:v>
                </c:pt>
                <c:pt idx="3">
                  <c:v>0.48</c:v>
                </c:pt>
                <c:pt idx="4">
                  <c:v>0.48</c:v>
                </c:pt>
                <c:pt idx="5">
                  <c:v>0.48</c:v>
                </c:pt>
                <c:pt idx="6">
                  <c:v>0.48</c:v>
                </c:pt>
                <c:pt idx="7">
                  <c:v>0.48</c:v>
                </c:pt>
                <c:pt idx="8">
                  <c:v>0.48</c:v>
                </c:pt>
                <c:pt idx="9">
                  <c:v>0.48</c:v>
                </c:pt>
                <c:pt idx="10">
                  <c:v>0.48</c:v>
                </c:pt>
                <c:pt idx="11">
                  <c:v>0.48</c:v>
                </c:pt>
                <c:pt idx="12">
                  <c:v>0.48</c:v>
                </c:pt>
              </c:numCache>
            </c:numRef>
          </c:val>
          <c:smooth val="0"/>
          <c:extLst>
            <c:ext xmlns:c16="http://schemas.microsoft.com/office/drawing/2014/chart" uri="{C3380CC4-5D6E-409C-BE32-E72D297353CC}">
              <c16:uniqueId val="{0000000C-721F-49A6-81B3-34C75C0A5C29}"/>
            </c:ext>
          </c:extLst>
        </c:ser>
        <c:ser>
          <c:idx val="5"/>
          <c:order val="5"/>
          <c:spPr>
            <a:ln w="19050">
              <a:solidFill>
                <a:srgbClr val="00B05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721F-49A6-81B3-34C75C0A5C29}"/>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721F-49A6-81B3-34C75C0A5C29}"/>
                </c:ext>
              </c:extLst>
            </c:dLbl>
            <c:spPr>
              <a:solidFill>
                <a:srgbClr val="00B050"/>
              </a:solid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IFSD!$B$3:$B$26</c:f>
              <c:strCache>
                <c:ptCount val="13"/>
                <c:pt idx="0">
                  <c:v>Jul.24</c:v>
                </c:pt>
                <c:pt idx="1">
                  <c:v>Aug.24</c:v>
                </c:pt>
                <c:pt idx="2">
                  <c:v>Sep.24</c:v>
                </c:pt>
                <c:pt idx="3">
                  <c:v>Oct.24</c:v>
                </c:pt>
                <c:pt idx="4">
                  <c:v>Nov.24</c:v>
                </c:pt>
                <c:pt idx="5">
                  <c:v>Dec.24</c:v>
                </c:pt>
                <c:pt idx="6">
                  <c:v>Jan.25</c:v>
                </c:pt>
                <c:pt idx="7">
                  <c:v>Feb.25</c:v>
                </c:pt>
                <c:pt idx="8">
                  <c:v>Mar.25</c:v>
                </c:pt>
                <c:pt idx="9">
                  <c:v>Apr.25</c:v>
                </c:pt>
                <c:pt idx="10">
                  <c:v>May.25</c:v>
                </c:pt>
                <c:pt idx="11">
                  <c:v>Jun.25</c:v>
                </c:pt>
                <c:pt idx="12">
                  <c:v>Jul.25</c:v>
                </c:pt>
              </c:strCache>
            </c:strRef>
          </c:cat>
          <c:val>
            <c:numRef>
              <c:f>IFSD!$I$3:$I$26</c:f>
              <c:numCache>
                <c:formatCode>0.00</c:formatCode>
                <c:ptCount val="13"/>
                <c:pt idx="0">
                  <c:v>0</c:v>
                </c:pt>
                <c:pt idx="1">
                  <c:v>0</c:v>
                </c:pt>
                <c:pt idx="2">
                  <c:v>0</c:v>
                </c:pt>
                <c:pt idx="3">
                  <c:v>0</c:v>
                </c:pt>
                <c:pt idx="4">
                  <c:v>0</c:v>
                </c:pt>
                <c:pt idx="5">
                  <c:v>0</c:v>
                </c:pt>
                <c:pt idx="6">
                  <c:v>0</c:v>
                </c:pt>
                <c:pt idx="7">
                  <c:v>0</c:v>
                </c:pt>
                <c:pt idx="8">
                  <c:v>0</c:v>
                </c:pt>
                <c:pt idx="9">
                  <c:v>0</c:v>
                </c:pt>
                <c:pt idx="10">
                  <c:v>0</c:v>
                </c:pt>
                <c:pt idx="11">
                  <c:v>0</c:v>
                </c:pt>
                <c:pt idx="12">
                  <c:v>0</c:v>
                </c:pt>
              </c:numCache>
            </c:numRef>
          </c:val>
          <c:smooth val="0"/>
          <c:extLst>
            <c:ext xmlns:c16="http://schemas.microsoft.com/office/drawing/2014/chart" uri="{C3380CC4-5D6E-409C-BE32-E72D297353CC}">
              <c16:uniqueId val="{0000000E-721F-49A6-81B3-34C75C0A5C29}"/>
            </c:ext>
          </c:extLst>
        </c:ser>
        <c:dLbls>
          <c:showLegendKey val="0"/>
          <c:showVal val="1"/>
          <c:showCatName val="0"/>
          <c:showSerName val="0"/>
          <c:showPercent val="0"/>
          <c:showBubbleSize val="0"/>
        </c:dLbls>
        <c:marker val="1"/>
        <c:smooth val="0"/>
        <c:axId val="532698272"/>
        <c:axId val="532698664"/>
      </c:lineChart>
      <c:catAx>
        <c:axId val="532698272"/>
        <c:scaling>
          <c:orientation val="minMax"/>
        </c:scaling>
        <c:delete val="0"/>
        <c:axPos val="b"/>
        <c:numFmt formatCode="General" sourceLinked="0"/>
        <c:majorTickMark val="none"/>
        <c:minorTickMark val="none"/>
        <c:tickLblPos val="nextTo"/>
        <c:crossAx val="532698664"/>
        <c:crosses val="autoZero"/>
        <c:auto val="1"/>
        <c:lblAlgn val="ctr"/>
        <c:lblOffset val="100"/>
        <c:noMultiLvlLbl val="0"/>
      </c:catAx>
      <c:valAx>
        <c:axId val="532698664"/>
        <c:scaling>
          <c:orientation val="minMax"/>
        </c:scaling>
        <c:delete val="1"/>
        <c:axPos val="l"/>
        <c:numFmt formatCode="0" sourceLinked="1"/>
        <c:majorTickMark val="out"/>
        <c:minorTickMark val="none"/>
        <c:tickLblPos val="nextTo"/>
        <c:crossAx val="532698272"/>
        <c:crosses val="autoZero"/>
        <c:crossBetween val="between"/>
      </c:valAx>
    </c:plotArea>
    <c:plotVisOnly val="1"/>
    <c:dispBlanksAs val="gap"/>
    <c:showDLblsOverMax val="0"/>
  </c:chart>
  <c:spPr>
    <a:ln w="6350">
      <a:solidFill>
        <a:sysClr val="windowText" lastClr="000000"/>
      </a:solidFill>
    </a:ln>
  </c:spPr>
  <c:txPr>
    <a:bodyPr/>
    <a:lstStyle/>
    <a:p>
      <a:pPr>
        <a:defRPr b="1">
          <a:latin typeface="Times New Roman" panose="02020603050405020304" pitchFamily="18" charset="0"/>
          <a:cs typeface="Times New Roman" panose="02020603050405020304" pitchFamily="18" charset="0"/>
        </a:defRPr>
      </a:pPr>
      <a:endParaRPr lang="en-US"/>
    </a:p>
  </c:txPr>
  <c:externalData r:id="rId2">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000"/>
              <a:t>VỤ VIỆC IFSD</a:t>
            </a:r>
          </a:p>
        </c:rich>
      </c:tx>
      <c:layout>
        <c:manualLayout>
          <c:xMode val="edge"/>
          <c:yMode val="edge"/>
          <c:x val="0.371748131197851"/>
          <c:y val="3.8585209003215437E-2"/>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manualLayout>
          <c:layoutTarget val="inner"/>
          <c:xMode val="edge"/>
          <c:yMode val="edge"/>
          <c:x val="6.1220131213157288E-2"/>
          <c:y val="0.13529559207028383"/>
          <c:w val="0.89625708633320644"/>
          <c:h val="0.68785958427222316"/>
        </c:manualLayout>
      </c:layout>
      <c:barChart>
        <c:barDir val="col"/>
        <c:grouping val="clustered"/>
        <c:varyColors val="0"/>
        <c:ser>
          <c:idx val="0"/>
          <c:order val="0"/>
          <c:tx>
            <c:strRef>
              <c:f>IFSD!$AA$3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IFSD!$Z$4:$Z$5</c:f>
              <c:strCache>
                <c:ptCount val="2"/>
                <c:pt idx="0">
                  <c:v>Số vụ</c:v>
                </c:pt>
                <c:pt idx="1">
                  <c:v>Tỷ lệ/10000CB</c:v>
                </c:pt>
              </c:strCache>
            </c:strRef>
          </c:cat>
          <c:val>
            <c:numRef>
              <c:f>IFSD!$AA$4:$AA$5</c:f>
              <c:numCache>
                <c:formatCode>0.00</c:formatCode>
                <c:ptCount val="2"/>
                <c:pt idx="0" formatCode="0">
                  <c:v>0</c:v>
                </c:pt>
                <c:pt idx="1">
                  <c:v>0</c:v>
                </c:pt>
              </c:numCache>
            </c:numRef>
          </c:val>
          <c:extLst>
            <c:ext xmlns:c16="http://schemas.microsoft.com/office/drawing/2014/chart" uri="{C3380CC4-5D6E-409C-BE32-E72D297353CC}">
              <c16:uniqueId val="{00000000-87AD-4607-B520-26CBB99374D0}"/>
            </c:ext>
          </c:extLst>
        </c:ser>
        <c:ser>
          <c:idx val="1"/>
          <c:order val="1"/>
          <c:tx>
            <c:strRef>
              <c:f>IFSD!$AB$3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IFSD!$Z$4:$Z$5</c:f>
              <c:strCache>
                <c:ptCount val="2"/>
                <c:pt idx="0">
                  <c:v>Số vụ</c:v>
                </c:pt>
                <c:pt idx="1">
                  <c:v>Tỷ lệ/10000CB</c:v>
                </c:pt>
              </c:strCache>
            </c:strRef>
          </c:cat>
          <c:val>
            <c:numRef>
              <c:f>IFSD!$AB$4:$AB$5</c:f>
              <c:numCache>
                <c:formatCode>0.00</c:formatCode>
                <c:ptCount val="2"/>
                <c:pt idx="0" formatCode="0">
                  <c:v>0</c:v>
                </c:pt>
                <c:pt idx="1">
                  <c:v>0</c:v>
                </c:pt>
              </c:numCache>
            </c:numRef>
          </c:val>
          <c:extLst>
            <c:ext xmlns:c16="http://schemas.microsoft.com/office/drawing/2014/chart" uri="{C3380CC4-5D6E-409C-BE32-E72D297353CC}">
              <c16:uniqueId val="{00000001-87AD-4607-B520-26CBB99374D0}"/>
            </c:ext>
          </c:extLst>
        </c:ser>
        <c:dLbls>
          <c:showLegendKey val="0"/>
          <c:showVal val="0"/>
          <c:showCatName val="0"/>
          <c:showSerName val="0"/>
          <c:showPercent val="0"/>
          <c:showBubbleSize val="0"/>
        </c:dLbls>
        <c:gapWidth val="219"/>
        <c:overlap val="-27"/>
        <c:axId val="532692784"/>
        <c:axId val="532693176"/>
      </c:barChart>
      <c:catAx>
        <c:axId val="532692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32693176"/>
        <c:crosses val="autoZero"/>
        <c:auto val="1"/>
        <c:lblAlgn val="ctr"/>
        <c:lblOffset val="100"/>
        <c:noMultiLvlLbl val="0"/>
      </c:catAx>
      <c:valAx>
        <c:axId val="532693176"/>
        <c:scaling>
          <c:orientation val="minMax"/>
          <c:max val="2"/>
          <c:min val="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32692784"/>
        <c:crosses val="autoZero"/>
        <c:crossBetween val="between"/>
        <c:majorUnit val="1"/>
        <c:minorUnit val="0.5"/>
      </c:valAx>
      <c:spPr>
        <a:noFill/>
        <a:ln>
          <a:noFill/>
        </a:ln>
        <a:effectLst/>
      </c:spPr>
    </c:plotArea>
    <c:legend>
      <c:legendPos val="b"/>
      <c:layout>
        <c:manualLayout>
          <c:xMode val="edge"/>
          <c:yMode val="edge"/>
          <c:x val="7.1260224988870771E-4"/>
          <c:y val="0.91329847836544553"/>
          <c:w val="0.99503681778291087"/>
          <c:h val="5.4547180798541664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6350" cap="flat" cmpd="sng" algn="ctr">
      <a:solidFill>
        <a:schemeClr val="tx1"/>
      </a:solidFill>
      <a:round/>
    </a:ln>
    <a:effectLst/>
  </c:spPr>
  <c:txPr>
    <a:bodyPr/>
    <a:lstStyle/>
    <a:p>
      <a:pPr>
        <a:defRPr sz="1200" b="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64E30043-8C10-7B47-A809-3F1C83F4798E}" type="datetimeFigureOut">
              <a:rPr lang="en-US" smtClean="0"/>
              <a:t>8/8/2025</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9249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878014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608039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4017707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7460433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4126440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624935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1787879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err="1"/>
              <a:t>Vụ</a:t>
            </a:r>
            <a:r>
              <a:rPr lang="en-US" dirty="0"/>
              <a:t> B225 </a:t>
            </a:r>
            <a:r>
              <a:rPr lang="en-US" dirty="0" err="1"/>
              <a:t>quên</a:t>
            </a:r>
            <a:r>
              <a:rPr lang="en-US" dirty="0"/>
              <a:t> </a:t>
            </a:r>
            <a:r>
              <a:rPr lang="en-US" dirty="0" err="1"/>
              <a:t>rút</a:t>
            </a:r>
            <a:r>
              <a:rPr lang="en-US" dirty="0"/>
              <a:t> </a:t>
            </a:r>
            <a:r>
              <a:rPr lang="en-US" dirty="0" err="1"/>
              <a:t>chèn</a:t>
            </a:r>
            <a:r>
              <a:rPr lang="en-US" dirty="0"/>
              <a:t> </a:t>
            </a:r>
            <a:r>
              <a:rPr lang="en-US" dirty="0" err="1"/>
              <a:t>và</a:t>
            </a:r>
            <a:r>
              <a:rPr lang="en-US" dirty="0"/>
              <a:t> B218 </a:t>
            </a:r>
            <a:r>
              <a:rPr lang="en-US" dirty="0" err="1"/>
              <a:t>ấn</a:t>
            </a:r>
            <a:r>
              <a:rPr lang="en-US" dirty="0"/>
              <a:t> </a:t>
            </a:r>
            <a:r>
              <a:rPr lang="en-US" dirty="0" err="1"/>
              <a:t>nhầm</a:t>
            </a:r>
            <a:r>
              <a:rPr lang="en-US" dirty="0"/>
              <a:t> </a:t>
            </a:r>
            <a:r>
              <a:rPr lang="en-US" dirty="0" err="1"/>
              <a:t>dập</a:t>
            </a:r>
            <a:r>
              <a:rPr lang="en-US" dirty="0"/>
              <a:t> </a:t>
            </a:r>
            <a:r>
              <a:rPr lang="en-US" dirty="0" err="1"/>
              <a:t>cháy</a:t>
            </a:r>
            <a:r>
              <a:rPr lang="en-US" dirty="0"/>
              <a:t> </a:t>
            </a:r>
            <a:r>
              <a:rPr lang="en-US" dirty="0" err="1"/>
              <a:t>động</a:t>
            </a:r>
            <a:r>
              <a:rPr lang="en-US" dirty="0"/>
              <a:t> c</a:t>
            </a:r>
            <a:r>
              <a:rPr lang="vi-VN" dirty="0"/>
              <a:t>ơ</a:t>
            </a:r>
            <a:endParaRPr dirty="0"/>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9159482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7 B787; 9 A321; 3 AMP Task </a:t>
            </a:r>
            <a:endParaRPr dirty="0"/>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9855695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5914457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7 B787; 9 A321; 3 AMP Task </a:t>
            </a:r>
            <a:endParaRPr dirty="0"/>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11</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41399680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RTO: B223 TO </a:t>
            </a:r>
            <a:r>
              <a:rPr lang="en-US" dirty="0" err="1"/>
              <a:t>Configue</a:t>
            </a:r>
            <a:endParaRPr dirty="0"/>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4342234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7902048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0345803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42949076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0846488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7634041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7349308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4994497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734142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5909677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22</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2558534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23</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7358251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24</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6986141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25</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2855813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26</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8256058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27</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8817039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28</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40775582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29</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2080404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30</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907402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31</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5710565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1465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smtClean="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a:t>
            </a:fld>
            <a:endParaRPr kumimoji="0" lang="vi"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59206172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smtClean="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a:t>
            </a:fld>
            <a:endParaRPr kumimoji="0" lang="vi" sz="1333" b="0" i="0" u="none" strike="noStrike" kern="0" cap="none" spc="0" normalizeH="0" baseline="0" noProof="0">
              <a:ln>
                <a:noFill/>
              </a:ln>
              <a:solidFill>
                <a:srgbClr val="595959"/>
              </a:solidFill>
              <a:effectLst/>
              <a:uLnTx/>
              <a:uFillTx/>
              <a:latin typeface="Arial"/>
              <a:ea typeface="+mn-ea"/>
              <a:cs typeface="Arial"/>
              <a:sym typeface="Arial"/>
            </a:endParaRPr>
          </a:p>
        </p:txBody>
      </p:sp>
    </p:spTree>
    <p:extLst>
      <p:ext uri="{BB962C8B-B14F-4D97-AF65-F5344CB8AC3E}">
        <p14:creationId xmlns:p14="http://schemas.microsoft.com/office/powerpoint/2010/main" val="1777342797"/>
      </p:ext>
    </p:extLst>
  </p:cSld>
  <p:clrMap bg1="lt1" tx1="dk1" bg2="dk2" tx2="lt2" accent1="accent1" accent2="accent2" accent3="accent3" accent4="accent4" accent5="accent5" accent6="accent6" hlink="hlink" folHlink="folHlink"/>
  <p:sldLayoutIdLst>
    <p:sldLayoutId id="214748365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chart" Target="../charts/chart6.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chart" Target="../charts/chart8.xml"/><Relationship Id="rId4" Type="http://schemas.openxmlformats.org/officeDocument/2006/relationships/chart" Target="../charts/char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chart" Target="../charts/chart10.xml"/><Relationship Id="rId4" Type="http://schemas.openxmlformats.org/officeDocument/2006/relationships/chart" Target="../charts/chart9.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chart" Target="../charts/chart12.xml"/><Relationship Id="rId4" Type="http://schemas.openxmlformats.org/officeDocument/2006/relationships/chart" Target="../charts/char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chart" Target="../charts/chart14.xml"/><Relationship Id="rId4" Type="http://schemas.openxmlformats.org/officeDocument/2006/relationships/chart" Target="../charts/char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chart" Target="../charts/chart16.xml"/><Relationship Id="rId4" Type="http://schemas.openxmlformats.org/officeDocument/2006/relationships/chart" Target="../charts/char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chart" Target="../charts/chart18.xml"/><Relationship Id="rId4" Type="http://schemas.openxmlformats.org/officeDocument/2006/relationships/chart" Target="../charts/char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chart" Target="../charts/char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chart" Target="../charts/chart21.xml"/><Relationship Id="rId4" Type="http://schemas.openxmlformats.org/officeDocument/2006/relationships/chart" Target="../charts/chart20.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chart" Target="../charts/chart23.xml"/><Relationship Id="rId4" Type="http://schemas.openxmlformats.org/officeDocument/2006/relationships/chart" Target="../charts/chart2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chart" Target="../charts/chart25.xml"/><Relationship Id="rId4" Type="http://schemas.openxmlformats.org/officeDocument/2006/relationships/chart" Target="../charts/chart2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chart" Target="../charts/chart27.xml"/><Relationship Id="rId4" Type="http://schemas.openxmlformats.org/officeDocument/2006/relationships/chart" Target="../charts/chart2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547855" y="-699715"/>
            <a:ext cx="15478540" cy="8735833"/>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0</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7" name="TextBox 1"/>
          <p:cNvSpPr txBox="1">
            <a:spLocks noChangeArrowheads="1"/>
          </p:cNvSpPr>
          <p:nvPr/>
        </p:nvSpPr>
        <p:spPr bwMode="auto">
          <a:xfrm>
            <a:off x="4143514" y="508566"/>
            <a:ext cx="7709357" cy="1323632"/>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2667" b="0" i="0" u="none" strike="noStrike" kern="0" cap="none" spc="0" normalizeH="0" baseline="0" noProof="0" dirty="0">
                <a:ln>
                  <a:noFill/>
                </a:ln>
                <a:solidFill>
                  <a:srgbClr val="F4981C"/>
                </a:solidFill>
                <a:effectLst/>
                <a:uLnTx/>
                <a:uFillTx/>
                <a:latin typeface="Times New Roman" panose="02020603050405020304" pitchFamily="18" charset="0"/>
                <a:ea typeface="+mn-ea"/>
                <a:cs typeface="Times New Roman" panose="02020603050405020304" pitchFamily="18" charset="0"/>
                <a:sym typeface="Arial"/>
              </a:rPr>
              <a:t>ỦY BAN AN TOÀN HÀNG KHÔNG</a:t>
            </a:r>
          </a:p>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2667" b="1" i="0" u="none" strike="noStrike" kern="0" cap="none" spc="0" normalizeH="0" baseline="0" noProof="0" dirty="0">
                <a:ln>
                  <a:noFill/>
                </a:ln>
                <a:solidFill>
                  <a:srgbClr val="F4981C"/>
                </a:solidFill>
                <a:effectLst/>
                <a:uLnTx/>
                <a:uFillTx/>
                <a:latin typeface="Times New Roman" panose="02020603050405020304" pitchFamily="18" charset="0"/>
                <a:ea typeface="+mn-ea"/>
                <a:cs typeface="Times New Roman" panose="02020603050405020304" pitchFamily="18" charset="0"/>
                <a:sym typeface="Arial"/>
              </a:rPr>
              <a:t>TỔ CÔNG TÁC AN </a:t>
            </a:r>
            <a:r>
              <a:rPr kumimoji="0" lang="en-US" altLang="en-US" sz="2400" b="1" i="0" u="none" strike="noStrike" kern="0" cap="none" spc="0" normalizeH="0" baseline="0" noProof="0" dirty="0">
                <a:ln>
                  <a:noFill/>
                </a:ln>
                <a:solidFill>
                  <a:srgbClr val="F4981C"/>
                </a:solidFill>
                <a:effectLst/>
                <a:uLnTx/>
                <a:uFillTx/>
                <a:latin typeface="Times New Roman" panose="02020603050405020304" pitchFamily="18" charset="0"/>
                <a:ea typeface="+mn-ea"/>
                <a:cs typeface="Times New Roman" panose="02020603050405020304" pitchFamily="18" charset="0"/>
                <a:sym typeface="Arial"/>
              </a:rPr>
              <a:t>TOÀN</a:t>
            </a:r>
            <a:r>
              <a:rPr kumimoji="0" lang="en-US" altLang="en-US" sz="2667" b="1" i="0" u="none" strike="noStrike" kern="0" cap="none" spc="0" normalizeH="0" baseline="0" noProof="0" dirty="0">
                <a:ln>
                  <a:noFill/>
                </a:ln>
                <a:solidFill>
                  <a:srgbClr val="F4981C"/>
                </a:solidFill>
                <a:effectLst/>
                <a:uLnTx/>
                <a:uFillTx/>
                <a:latin typeface="Times New Roman" panose="02020603050405020304" pitchFamily="18" charset="0"/>
                <a:ea typeface="+mn-ea"/>
                <a:cs typeface="Times New Roman" panose="02020603050405020304" pitchFamily="18" charset="0"/>
                <a:sym typeface="Arial"/>
              </a:rPr>
              <a:t> KỸ THUẬT - SAG2</a:t>
            </a:r>
          </a:p>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2667" b="0" i="0" u="none" strike="noStrike" kern="0" cap="none" spc="0" normalizeH="0" baseline="0" noProof="0" dirty="0">
                <a:ln>
                  <a:noFill/>
                </a:ln>
                <a:solidFill>
                  <a:srgbClr val="FFFFFF"/>
                </a:solidFill>
                <a:effectLst/>
                <a:uLnTx/>
                <a:uFillTx/>
                <a:latin typeface="Arial"/>
                <a:ea typeface="+mn-ea"/>
                <a:cs typeface="Arial" panose="020B0604020202020204" pitchFamily="34" charset="0"/>
                <a:sym typeface="Wingdings"/>
              </a:rPr>
              <a:t></a:t>
            </a:r>
            <a:endParaRPr kumimoji="0" lang="en-US" altLang="en-US" sz="2667" b="0" i="0" u="none" strike="noStrike" kern="0" cap="none" spc="0" normalizeH="0" baseline="0" noProof="0" dirty="0">
              <a:ln>
                <a:noFill/>
              </a:ln>
              <a:solidFill>
                <a:srgbClr val="FFFFFF"/>
              </a:solidFill>
              <a:effectLst/>
              <a:uLnTx/>
              <a:uFillTx/>
              <a:latin typeface="Arial"/>
              <a:ea typeface="+mn-ea"/>
              <a:cs typeface="Arial" panose="020B0604020202020204" pitchFamily="34" charset="0"/>
              <a:sym typeface="Arial"/>
            </a:endParaRPr>
          </a:p>
        </p:txBody>
      </p:sp>
      <p:sp>
        <p:nvSpPr>
          <p:cNvPr id="8" name="Title 4">
            <a:extLst>
              <a:ext uri="{FF2B5EF4-FFF2-40B4-BE49-F238E27FC236}">
                <a16:creationId xmlns:a16="http://schemas.microsoft.com/office/drawing/2014/main" id="{6249D37E-0AC3-024F-BE7A-B0B092B12FC4}"/>
              </a:ext>
            </a:extLst>
          </p:cNvPr>
          <p:cNvSpPr>
            <a:spLocks noGrp="1"/>
          </p:cNvSpPr>
          <p:nvPr>
            <p:ph type="title"/>
          </p:nvPr>
        </p:nvSpPr>
        <p:spPr>
          <a:xfrm>
            <a:off x="1344460" y="2590800"/>
            <a:ext cx="10134816" cy="4151623"/>
          </a:xfr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lvl1pPr>
              <a:defRPr b="1" i="0">
                <a:solidFill>
                  <a:srgbClr val="D2A43B"/>
                </a:solidFill>
                <a:latin typeface="Montserrat" pitchFamily="2" charset="77"/>
              </a:defRPr>
            </a:lvl1pPr>
          </a:lstStyle>
          <a:p>
            <a:pPr algn="ctr"/>
            <a:r>
              <a:rPr lang="en-US" altLang="vi-VN" sz="4400">
                <a:solidFill>
                  <a:schemeClr val="accent1"/>
                </a:solidFill>
                <a:latin typeface="Times New Roman" panose="02020603050405020304" pitchFamily="18" charset="0"/>
                <a:cs typeface="Times New Roman" panose="02020603050405020304" pitchFamily="18" charset="0"/>
              </a:rPr>
              <a:t>BÁO CÁO QUẢN LÝ AN TOÀN</a:t>
            </a:r>
            <a:br>
              <a:rPr lang="en-US" altLang="vi-VN" sz="4400">
                <a:solidFill>
                  <a:schemeClr val="accent1"/>
                </a:solidFill>
                <a:latin typeface="Times New Roman" panose="02020603050405020304" pitchFamily="18" charset="0"/>
                <a:cs typeface="Times New Roman" panose="02020603050405020304" pitchFamily="18" charset="0"/>
              </a:rPr>
            </a:br>
            <a:r>
              <a:rPr lang="en-US" altLang="vi-VN" sz="4400">
                <a:solidFill>
                  <a:schemeClr val="accent1"/>
                </a:solidFill>
                <a:latin typeface="Times New Roman" panose="02020603050405020304" pitchFamily="18" charset="0"/>
                <a:cs typeface="Times New Roman" panose="02020603050405020304" pitchFamily="18" charset="0"/>
              </a:rPr>
              <a:t>THÁNG </a:t>
            </a:r>
            <a:r>
              <a:rPr lang="en-US" altLang="vi-VN" sz="4400" smtClean="0">
                <a:solidFill>
                  <a:schemeClr val="accent1"/>
                </a:solidFill>
                <a:latin typeface="Times New Roman" panose="02020603050405020304" pitchFamily="18" charset="0"/>
                <a:cs typeface="Times New Roman" panose="02020603050405020304" pitchFamily="18" charset="0"/>
              </a:rPr>
              <a:t>07 </a:t>
            </a:r>
            <a:r>
              <a:rPr lang="en-US" altLang="vi-VN" sz="4400">
                <a:solidFill>
                  <a:schemeClr val="accent1"/>
                </a:solidFill>
                <a:latin typeface="Times New Roman" panose="02020603050405020304" pitchFamily="18" charset="0"/>
                <a:cs typeface="Times New Roman" panose="02020603050405020304" pitchFamily="18" charset="0"/>
              </a:rPr>
              <a:t>NĂM 2025</a:t>
            </a:r>
            <a:r>
              <a:rPr lang="en-US" altLang="vi-VN" sz="4400" dirty="0">
                <a:solidFill>
                  <a:schemeClr val="accent1"/>
                </a:solidFill>
                <a:latin typeface="Times New Roman" panose="02020603050405020304" pitchFamily="18" charset="0"/>
                <a:cs typeface="Times New Roman" panose="02020603050405020304" pitchFamily="18" charset="0"/>
              </a:rPr>
              <a:t/>
            </a:r>
            <a:br>
              <a:rPr lang="en-US" altLang="vi-VN" sz="4400" dirty="0">
                <a:solidFill>
                  <a:schemeClr val="accent1"/>
                </a:solidFill>
                <a:latin typeface="Times New Roman" panose="02020603050405020304" pitchFamily="18" charset="0"/>
                <a:cs typeface="Times New Roman" panose="02020603050405020304" pitchFamily="18" charset="0"/>
              </a:rPr>
            </a:br>
            <a:r>
              <a:rPr lang="en-US" altLang="vi-VN" sz="2667" dirty="0">
                <a:solidFill>
                  <a:srgbClr val="404040"/>
                </a:solidFill>
                <a:latin typeface="Times New Roman" panose="02020603050405020304" pitchFamily="18" charset="0"/>
                <a:cs typeface="Times New Roman" panose="02020603050405020304" pitchFamily="18" charset="0"/>
              </a:rPr>
              <a:t/>
            </a:r>
            <a:br>
              <a:rPr lang="en-US" altLang="vi-VN" sz="2667" dirty="0">
                <a:solidFill>
                  <a:srgbClr val="404040"/>
                </a:solidFill>
                <a:latin typeface="Times New Roman" panose="02020603050405020304" pitchFamily="18" charset="0"/>
                <a:cs typeface="Times New Roman" panose="02020603050405020304" pitchFamily="18" charset="0"/>
              </a:rPr>
            </a:br>
            <a:r>
              <a:rPr lang="en-US" altLang="vi-VN" sz="2400" b="0" dirty="0">
                <a:solidFill>
                  <a:schemeClr val="bg1"/>
                </a:solidFill>
                <a:latin typeface="Times New Roman" panose="02020603050405020304" pitchFamily="18" charset="0"/>
                <a:cs typeface="Times New Roman" panose="02020603050405020304" pitchFamily="18" charset="0"/>
              </a:rPr>
              <a:t>(LĨNH VỰC KỸ THUẬT VÀ BẢO DƯỠNG TÀU BAY) </a:t>
            </a:r>
            <a:r>
              <a:rPr lang="en-US" altLang="vi-VN" sz="2400" dirty="0">
                <a:solidFill>
                  <a:schemeClr val="bg1"/>
                </a:solidFill>
                <a:latin typeface="Times New Roman" panose="02020603050405020304" pitchFamily="18" charset="0"/>
                <a:cs typeface="Times New Roman" panose="02020603050405020304" pitchFamily="18" charset="0"/>
              </a:rPr>
              <a:t/>
            </a:r>
            <a:br>
              <a:rPr lang="en-US" altLang="vi-VN" sz="2400" dirty="0">
                <a:solidFill>
                  <a:schemeClr val="bg1"/>
                </a:solidFill>
                <a:latin typeface="Times New Roman" panose="02020603050405020304" pitchFamily="18" charset="0"/>
                <a:cs typeface="Times New Roman" panose="02020603050405020304" pitchFamily="18" charset="0"/>
              </a:rPr>
            </a:br>
            <a:r>
              <a:rPr lang="en-US" altLang="vi-VN" sz="2667" b="0" dirty="0">
                <a:solidFill>
                  <a:srgbClr val="00FF00"/>
                </a:solidFill>
                <a:latin typeface="Times New Roman" panose="02020603050405020304" pitchFamily="18" charset="0"/>
                <a:cs typeface="Times New Roman" panose="02020603050405020304" pitchFamily="18" charset="0"/>
              </a:rPr>
              <a:t>            </a:t>
            </a:r>
            <a:br>
              <a:rPr lang="en-US" altLang="vi-VN" sz="2667" b="0" dirty="0">
                <a:solidFill>
                  <a:srgbClr val="00FF00"/>
                </a:solidFill>
                <a:latin typeface="Times New Roman" panose="02020603050405020304" pitchFamily="18" charset="0"/>
                <a:cs typeface="Times New Roman" panose="02020603050405020304" pitchFamily="18" charset="0"/>
              </a:rPr>
            </a:br>
            <a:r>
              <a:rPr lang="en-US" altLang="vi-VN" sz="2667">
                <a:solidFill>
                  <a:srgbClr val="00FF00"/>
                </a:solidFill>
                <a:latin typeface="Times New Roman" panose="02020603050405020304" pitchFamily="18" charset="0"/>
                <a:cs typeface="Times New Roman" panose="02020603050405020304" pitchFamily="18" charset="0"/>
              </a:rPr>
              <a:t>                                                </a:t>
            </a:r>
            <a:br>
              <a:rPr lang="en-US" altLang="vi-VN" sz="2667">
                <a:solidFill>
                  <a:srgbClr val="00FF00"/>
                </a:solidFill>
                <a:latin typeface="Times New Roman" panose="02020603050405020304" pitchFamily="18" charset="0"/>
                <a:cs typeface="Times New Roman" panose="02020603050405020304" pitchFamily="18" charset="0"/>
              </a:rPr>
            </a:br>
            <a:r>
              <a:rPr lang="en-US" altLang="vi-VN" sz="2667">
                <a:solidFill>
                  <a:srgbClr val="00FF00"/>
                </a:solidFill>
                <a:latin typeface="Times New Roman" panose="02020603050405020304" pitchFamily="18" charset="0"/>
                <a:cs typeface="Times New Roman" panose="02020603050405020304" pitchFamily="18" charset="0"/>
              </a:rPr>
              <a:t>                                                         </a:t>
            </a:r>
            <a:r>
              <a:rPr lang="en-US" altLang="vi-VN" sz="2667" smtClean="0">
                <a:solidFill>
                  <a:srgbClr val="00FF00"/>
                </a:solidFill>
                <a:latin typeface="Times New Roman" panose="02020603050405020304" pitchFamily="18" charset="0"/>
                <a:cs typeface="Times New Roman" panose="02020603050405020304" pitchFamily="18" charset="0"/>
              </a:rPr>
              <a:t/>
            </a:r>
            <a:br>
              <a:rPr lang="en-US" altLang="vi-VN" sz="2667" smtClean="0">
                <a:solidFill>
                  <a:srgbClr val="00FF00"/>
                </a:solidFill>
                <a:latin typeface="Times New Roman" panose="02020603050405020304" pitchFamily="18" charset="0"/>
                <a:cs typeface="Times New Roman" panose="02020603050405020304" pitchFamily="18" charset="0"/>
              </a:rPr>
            </a:br>
            <a:r>
              <a:rPr lang="en-US" altLang="vi-VN" sz="2667" smtClean="0">
                <a:solidFill>
                  <a:srgbClr val="00FF00"/>
                </a:solidFill>
                <a:latin typeface="Times New Roman" panose="02020603050405020304" pitchFamily="18" charset="0"/>
                <a:cs typeface="Times New Roman" panose="02020603050405020304" pitchFamily="18" charset="0"/>
              </a:rPr>
              <a:t>                                                           </a:t>
            </a:r>
            <a:r>
              <a:rPr lang="en-US" altLang="vi-VN" sz="2000" b="0" i="1" smtClean="0">
                <a:solidFill>
                  <a:schemeClr val="bg1"/>
                </a:solidFill>
                <a:latin typeface="Times New Roman" panose="02020603050405020304" pitchFamily="18" charset="0"/>
                <a:cs typeface="Times New Roman" panose="02020603050405020304" pitchFamily="18" charset="0"/>
              </a:rPr>
              <a:t>Hà </a:t>
            </a:r>
            <a:r>
              <a:rPr lang="en-US" altLang="vi-VN" sz="2000" b="0" i="1" dirty="0" err="1">
                <a:solidFill>
                  <a:schemeClr val="bg1"/>
                </a:solidFill>
                <a:latin typeface="Times New Roman" panose="02020603050405020304" pitchFamily="18" charset="0"/>
                <a:cs typeface="Times New Roman" panose="02020603050405020304" pitchFamily="18" charset="0"/>
              </a:rPr>
              <a:t>Nội</a:t>
            </a:r>
            <a:r>
              <a:rPr lang="en-US" altLang="vi-VN" sz="2000" b="0" i="1">
                <a:solidFill>
                  <a:schemeClr val="bg1"/>
                </a:solidFill>
                <a:latin typeface="Times New Roman" panose="02020603050405020304" pitchFamily="18" charset="0"/>
                <a:cs typeface="Times New Roman" panose="02020603050405020304" pitchFamily="18" charset="0"/>
              </a:rPr>
              <a:t>, ngày </a:t>
            </a:r>
            <a:r>
              <a:rPr lang="en-US" altLang="vi-VN" sz="2000" b="0" i="1" smtClean="0">
                <a:solidFill>
                  <a:schemeClr val="bg1"/>
                </a:solidFill>
                <a:latin typeface="Times New Roman" panose="02020603050405020304" pitchFamily="18" charset="0"/>
                <a:cs typeface="Times New Roman" panose="02020603050405020304" pitchFamily="18" charset="0"/>
              </a:rPr>
              <a:t>31 tháng </a:t>
            </a:r>
            <a:r>
              <a:rPr lang="en-US" altLang="vi-VN" sz="2000" b="0" i="1">
                <a:solidFill>
                  <a:schemeClr val="bg1"/>
                </a:solidFill>
                <a:latin typeface="Times New Roman" panose="02020603050405020304" pitchFamily="18" charset="0"/>
                <a:cs typeface="Times New Roman" panose="02020603050405020304" pitchFamily="18" charset="0"/>
              </a:rPr>
              <a:t>7</a:t>
            </a:r>
            <a:r>
              <a:rPr lang="en-US" altLang="vi-VN" sz="2000" b="0" i="1" smtClean="0">
                <a:solidFill>
                  <a:schemeClr val="bg1"/>
                </a:solidFill>
                <a:latin typeface="Times New Roman" panose="02020603050405020304" pitchFamily="18" charset="0"/>
                <a:cs typeface="Times New Roman" panose="02020603050405020304" pitchFamily="18" charset="0"/>
              </a:rPr>
              <a:t> </a:t>
            </a:r>
            <a:r>
              <a:rPr lang="en-US" altLang="vi-VN" sz="2000" b="0" i="1" err="1">
                <a:solidFill>
                  <a:schemeClr val="bg1"/>
                </a:solidFill>
                <a:latin typeface="Times New Roman" panose="02020603050405020304" pitchFamily="18" charset="0"/>
                <a:cs typeface="Times New Roman" panose="02020603050405020304" pitchFamily="18" charset="0"/>
              </a:rPr>
              <a:t>năm</a:t>
            </a:r>
            <a:r>
              <a:rPr lang="en-US" altLang="vi-VN" sz="2000" b="0" i="1">
                <a:solidFill>
                  <a:schemeClr val="bg1"/>
                </a:solidFill>
                <a:latin typeface="Times New Roman" panose="02020603050405020304" pitchFamily="18" charset="0"/>
                <a:cs typeface="Times New Roman" panose="02020603050405020304" pitchFamily="18" charset="0"/>
              </a:rPr>
              <a:t> 2025</a:t>
            </a:r>
            <a:r>
              <a:rPr lang="en-US" altLang="vi-VN" sz="2667" b="0" dirty="0">
                <a:solidFill>
                  <a:srgbClr val="00FF00"/>
                </a:solidFill>
                <a:latin typeface="Times New Roman" panose="02020603050405020304" pitchFamily="18" charset="0"/>
                <a:cs typeface="Times New Roman" panose="02020603050405020304" pitchFamily="18" charset="0"/>
              </a:rPr>
              <a:t>	</a:t>
            </a:r>
            <a:endParaRPr lang="en-US" sz="266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4323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extBox 3"/>
          <p:cNvSpPr txBox="1">
            <a:spLocks noChangeArrowheads="1"/>
          </p:cNvSpPr>
          <p:nvPr/>
        </p:nvSpPr>
        <p:spPr bwMode="auto">
          <a:xfrm>
            <a:off x="1109134" y="863660"/>
            <a:ext cx="10286999" cy="748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4267" b="1" i="0" u="none" strike="noStrike" kern="0" cap="none" spc="0" normalizeH="0" baseline="0" noProof="0" dirty="0">
                <a:ln>
                  <a:noFill/>
                </a:ln>
                <a:solidFill>
                  <a:srgbClr val="F4981C"/>
                </a:solidFill>
                <a:effectLst/>
                <a:uLnTx/>
                <a:uFillTx/>
                <a:latin typeface="Times New Roman" panose="02020603050405020304" pitchFamily="18" charset="0"/>
                <a:ea typeface="+mn-ea"/>
                <a:cs typeface="Times New Roman" panose="02020603050405020304" pitchFamily="18" charset="0"/>
                <a:sym typeface="Arial"/>
              </a:rPr>
              <a:t>NỘI DUNG BÁO CÁO </a:t>
            </a:r>
          </a:p>
        </p:txBody>
      </p:sp>
      <p:sp>
        <p:nvSpPr>
          <p:cNvPr id="5" name="TextBox 1"/>
          <p:cNvSpPr txBox="1">
            <a:spLocks noChangeArrowheads="1"/>
          </p:cNvSpPr>
          <p:nvPr/>
        </p:nvSpPr>
        <p:spPr bwMode="auto">
          <a:xfrm>
            <a:off x="1109134" y="2093417"/>
            <a:ext cx="10096905" cy="40729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457189" marR="0" lvl="0" indent="-457189" algn="just" defTabSz="1219170" rtl="0" eaLnBrk="1" fontAlgn="auto" latinLnBrk="0" hangingPunct="1">
              <a:lnSpc>
                <a:spcPct val="100000"/>
              </a:lnSpc>
              <a:spcBef>
                <a:spcPts val="800"/>
              </a:spcBef>
              <a:spcAft>
                <a:spcPts val="800"/>
              </a:spcAft>
              <a:buClr>
                <a:srgbClr val="000000"/>
              </a:buClr>
              <a:buSzTx/>
              <a:buFontTx/>
              <a:buAutoNum type="arabicPeriod"/>
              <a:tabLst/>
              <a:defRPr/>
            </a:pP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Tình</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hình</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thực</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hiện</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an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toàn</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Bộ</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số</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thực</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hiện</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an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toàn</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 KPIs.</a:t>
            </a:r>
          </a:p>
          <a:p>
            <a:pPr marL="457189" marR="0" lvl="0" indent="-457189" algn="just" defTabSz="1219170" rtl="0" eaLnBrk="1" fontAlgn="auto" latinLnBrk="0" hangingPunct="1">
              <a:lnSpc>
                <a:spcPct val="100000"/>
              </a:lnSpc>
              <a:spcBef>
                <a:spcPts val="800"/>
              </a:spcBef>
              <a:spcAft>
                <a:spcPts val="800"/>
              </a:spcAft>
              <a:buClr>
                <a:srgbClr val="000000"/>
              </a:buClr>
              <a:buSzTx/>
              <a:buFontTx/>
              <a:buAutoNum type="arabicPeriod"/>
              <a:tabLst/>
              <a:defRPr/>
            </a:pP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Các</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việc</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an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toàn</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khác</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t>
            </a:r>
          </a:p>
          <a:p>
            <a:pPr marL="457189" marR="0" lvl="0" indent="-457189" algn="just" defTabSz="1219170" rtl="0" eaLnBrk="1" fontAlgn="auto" latinLnBrk="0" hangingPunct="1">
              <a:lnSpc>
                <a:spcPct val="100000"/>
              </a:lnSpc>
              <a:spcBef>
                <a:spcPts val="800"/>
              </a:spcBef>
              <a:spcAft>
                <a:spcPts val="800"/>
              </a:spcAft>
              <a:buClr>
                <a:srgbClr val="000000"/>
              </a:buClr>
              <a:buSzTx/>
              <a:buFontTx/>
              <a:buAutoNum type="arabicPeriod"/>
              <a:tabLst/>
              <a:defRPr/>
            </a:pP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Chương</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trình</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an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toàn</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chất</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lượng</a:t>
            </a:r>
            <a:endPar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457189" marR="0" lvl="0" indent="-457189" algn="just" defTabSz="1219170" rtl="0" eaLnBrk="1" fontAlgn="auto" latinLnBrk="0" hangingPunct="1">
              <a:lnSpc>
                <a:spcPct val="100000"/>
              </a:lnSpc>
              <a:spcBef>
                <a:spcPts val="800"/>
              </a:spcBef>
              <a:spcAft>
                <a:spcPts val="800"/>
              </a:spcAft>
              <a:buClr>
                <a:srgbClr val="000000"/>
              </a:buClr>
              <a:buSzTx/>
              <a:buFontTx/>
              <a:buAutoNum type="arabicPeriod"/>
              <a:tabLst/>
              <a:defRPr/>
            </a:pP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Rà</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soát</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TBKL </a:t>
            </a:r>
            <a:r>
              <a:rPr kumimoji="0" lang="en-US" altLang="en-US" sz="3200" b="0" i="0" u="none" strike="noStrike" kern="0" cap="none" spc="-20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SAG 2 </a:t>
            </a:r>
            <a:endPar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457189" marR="0" lvl="0" indent="-457189" algn="just" defTabSz="1219170" rtl="0" eaLnBrk="1" fontAlgn="auto" latinLnBrk="0" hangingPunct="1">
              <a:lnSpc>
                <a:spcPct val="100000"/>
              </a:lnSpc>
              <a:spcBef>
                <a:spcPts val="800"/>
              </a:spcBef>
              <a:spcAft>
                <a:spcPts val="800"/>
              </a:spcAft>
              <a:buClr>
                <a:srgbClr val="000000"/>
              </a:buClr>
              <a:buSzTx/>
              <a:buFontTx/>
              <a:buAutoNum type="arabicPeriod"/>
              <a:tabLst/>
              <a:defRPr/>
            </a:pP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Đề</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xuất</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và</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kiến</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nghị</a:t>
            </a:r>
            <a:endPar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457189" marR="0" lvl="0" indent="-457189" algn="just" defTabSz="1219170" rtl="0" eaLnBrk="1" fontAlgn="auto" latinLnBrk="0" hangingPunct="1">
              <a:lnSpc>
                <a:spcPct val="100000"/>
              </a:lnSpc>
              <a:spcBef>
                <a:spcPts val="800"/>
              </a:spcBef>
              <a:spcAft>
                <a:spcPts val="800"/>
              </a:spcAft>
              <a:buClr>
                <a:srgbClr val="000000"/>
              </a:buClr>
              <a:buSzTx/>
              <a:buFontTx/>
              <a:buAutoNum type="arabicPeriod"/>
              <a:tabLst/>
              <a:defRPr/>
            </a:pP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Phụ</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lục</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t>
            </a:r>
          </a:p>
        </p:txBody>
      </p:sp>
    </p:spTree>
    <p:extLst>
      <p:ext uri="{BB962C8B-B14F-4D97-AF65-F5344CB8AC3E}">
        <p14:creationId xmlns:p14="http://schemas.microsoft.com/office/powerpoint/2010/main" val="4161769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1143000" y="1005810"/>
            <a:ext cx="9601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SỐ 1.1 </a:t>
            </a: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TỶ LỆ SỰ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CỐ </a:t>
            </a:r>
            <a:r>
              <a:rPr kumimoji="0" lang="en-US" altLang="en-US" sz="18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MỨC A</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B, C, D LĨNH VỰC KỸ THUẬT</a:t>
            </a:r>
            <a:endPar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985381" y="5249188"/>
            <a:ext cx="10766982" cy="1546577"/>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35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35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35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7/2025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có</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01 sự cố mức D, tăng 01 sự cố so với tháng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trước</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và</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01 sự cố so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cùng</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7/2025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0.77 sự cố/10000 B</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0.77 điểm so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trước</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và</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0.77 điểm so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cùng</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Không đạt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mục</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tiêu</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2025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0.15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báo</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cáo</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/10000 CB</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 tháng năm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2025 có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06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cố mức D,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06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 cố tương ứng tăng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0.72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năm 2024. KPI 7</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tháng năm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2025 là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0.72, không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mục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tiêu</a:t>
            </a:r>
            <a:endPar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135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Note: </a:t>
            </a:r>
            <a:r>
              <a:rPr kumimoji="0" lang="en-US" sz="135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Tính</a:t>
            </a:r>
            <a:r>
              <a:rPr kumimoji="0" lang="en-US" sz="135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cả</a:t>
            </a:r>
            <a:r>
              <a:rPr kumimoji="0" lang="en-US" sz="135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các</a:t>
            </a:r>
            <a:r>
              <a:rPr kumimoji="0" lang="en-US" sz="135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a:t>
            </a:r>
            <a:r>
              <a:rPr kumimoji="0" lang="en-US" sz="135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việc</a:t>
            </a:r>
            <a:r>
              <a:rPr kumimoji="0" lang="en-US" sz="135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liên</a:t>
            </a:r>
            <a:r>
              <a:rPr kumimoji="0" lang="en-US" sz="135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quan</a:t>
            </a:r>
            <a:r>
              <a:rPr kumimoji="0" lang="en-US" sz="135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đến</a:t>
            </a:r>
            <a:r>
              <a:rPr kumimoji="0" lang="en-US" sz="135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sai</a:t>
            </a:r>
            <a:r>
              <a:rPr kumimoji="0" lang="en-US" sz="135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lỗi</a:t>
            </a:r>
            <a:r>
              <a:rPr kumimoji="0" lang="en-US" sz="135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con ng</a:t>
            </a:r>
            <a:r>
              <a:rPr kumimoji="0" lang="vi-VN" sz="135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ư</a:t>
            </a:r>
            <a:r>
              <a:rPr kumimoji="0" lang="en-US" sz="135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ời</a:t>
            </a:r>
            <a:r>
              <a:rPr kumimoji="0" lang="en-US" sz="135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FOD….</a:t>
            </a:r>
          </a:p>
        </p:txBody>
      </p:sp>
      <p:graphicFrame>
        <p:nvGraphicFramePr>
          <p:cNvPr id="12" name="Chart 11">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87970366"/>
              </p:ext>
            </p:extLst>
          </p:nvPr>
        </p:nvGraphicFramePr>
        <p:xfrm>
          <a:off x="985381" y="1593770"/>
          <a:ext cx="7901042" cy="343679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2B24350F-4546-41B6-BA84-7A454B646DAE}"/>
              </a:ext>
            </a:extLst>
          </p:cNvPr>
          <p:cNvGraphicFramePr>
            <a:graphicFrameLocks/>
          </p:cNvGraphicFramePr>
          <p:nvPr>
            <p:extLst/>
          </p:nvPr>
        </p:nvGraphicFramePr>
        <p:xfrm>
          <a:off x="9092485" y="1593770"/>
          <a:ext cx="2358008" cy="3436789"/>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511411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3</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1143000" y="1005810"/>
            <a:ext cx="9601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SỐ 1.1 </a:t>
            </a: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TỶ LỆ SỰ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CỐ </a:t>
            </a:r>
            <a:r>
              <a:rPr kumimoji="0" lang="en-US" altLang="en-US" sz="18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MỨC A</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B, C, D LĨNH VỰC KỸ THUẬT</a:t>
            </a:r>
            <a:endPar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17" name="TextBox 2"/>
          <p:cNvSpPr txBox="1">
            <a:spLocks noChangeArrowheads="1"/>
          </p:cNvSpPr>
          <p:nvPr/>
        </p:nvSpPr>
        <p:spPr bwMode="auto">
          <a:xfrm>
            <a:off x="2639614" y="1787236"/>
            <a:ext cx="253090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0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TỶ </a:t>
            </a:r>
            <a:r>
              <a:rPr kumimoji="0" lang="en-US" altLang="en-US" sz="10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LỆ SỰ </a:t>
            </a:r>
            <a:r>
              <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CỐ </a:t>
            </a:r>
            <a:r>
              <a:rPr kumimoji="0" lang="en-US" altLang="en-US" sz="10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MỨC A</a:t>
            </a:r>
            <a:endParaRPr kumimoji="0" lang="en-US" altLang="en-US" sz="10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18" name="TextBox 2"/>
          <p:cNvSpPr txBox="1">
            <a:spLocks noChangeArrowheads="1"/>
          </p:cNvSpPr>
          <p:nvPr/>
        </p:nvSpPr>
        <p:spPr bwMode="auto">
          <a:xfrm>
            <a:off x="7946889" y="4496025"/>
            <a:ext cx="253090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0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TỶ </a:t>
            </a:r>
            <a:r>
              <a:rPr kumimoji="0" lang="en-US" altLang="en-US" sz="10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LỆ SỰ </a:t>
            </a:r>
            <a:r>
              <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CỐ </a:t>
            </a:r>
            <a:r>
              <a:rPr kumimoji="0" lang="en-US" altLang="en-US" sz="10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MỨC D</a:t>
            </a:r>
            <a:endParaRPr kumimoji="0" lang="en-US" altLang="en-US" sz="10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19" name="TextBox 2"/>
          <p:cNvSpPr txBox="1">
            <a:spLocks noChangeArrowheads="1"/>
          </p:cNvSpPr>
          <p:nvPr/>
        </p:nvSpPr>
        <p:spPr bwMode="auto">
          <a:xfrm>
            <a:off x="2753410" y="4485332"/>
            <a:ext cx="253090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0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TỶ </a:t>
            </a:r>
            <a:r>
              <a:rPr kumimoji="0" lang="en-US" altLang="en-US" sz="10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LỆ SỰ </a:t>
            </a:r>
            <a:r>
              <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CỐ </a:t>
            </a:r>
            <a:r>
              <a:rPr kumimoji="0" lang="en-US" altLang="en-US" sz="10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MỨC C</a:t>
            </a:r>
            <a:endParaRPr kumimoji="0" lang="en-US" altLang="en-US" sz="10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20" name="TextBox 2"/>
          <p:cNvSpPr txBox="1">
            <a:spLocks noChangeArrowheads="1"/>
          </p:cNvSpPr>
          <p:nvPr/>
        </p:nvSpPr>
        <p:spPr bwMode="auto">
          <a:xfrm>
            <a:off x="7892610" y="1787236"/>
            <a:ext cx="253090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0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TỶ </a:t>
            </a:r>
            <a:r>
              <a:rPr kumimoji="0" lang="en-US" altLang="en-US" sz="10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LỆ SỰ </a:t>
            </a:r>
            <a:r>
              <a:rPr kumimoji="0" lang="en-US" altLang="en-US" sz="10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CỐ </a:t>
            </a:r>
            <a:r>
              <a:rPr kumimoji="0" lang="en-US" altLang="en-US" sz="10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MỨC B</a:t>
            </a:r>
            <a:endParaRPr kumimoji="0" lang="en-US" altLang="en-US" sz="10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graphicFrame>
        <p:nvGraphicFramePr>
          <p:cNvPr id="14" name="Chart 13">
            <a:extLst>
              <a:ext uri="{FF2B5EF4-FFF2-40B4-BE49-F238E27FC236}">
                <a16:creationId xmlns:a16="http://schemas.microsoft.com/office/drawing/2014/main" id="{00000000-0008-0000-0100-000002000000}"/>
              </a:ext>
            </a:extLst>
          </p:cNvPr>
          <p:cNvGraphicFramePr>
            <a:graphicFrameLocks/>
          </p:cNvGraphicFramePr>
          <p:nvPr>
            <p:extLst/>
          </p:nvPr>
        </p:nvGraphicFramePr>
        <p:xfrm>
          <a:off x="1620295" y="1685388"/>
          <a:ext cx="4808915" cy="243563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3" name="Chart 22">
            <a:extLst>
              <a:ext uri="{FF2B5EF4-FFF2-40B4-BE49-F238E27FC236}">
                <a16:creationId xmlns:a16="http://schemas.microsoft.com/office/drawing/2014/main" id="{00000000-0008-0000-0100-000002000000}"/>
              </a:ext>
            </a:extLst>
          </p:cNvPr>
          <p:cNvGraphicFramePr>
            <a:graphicFrameLocks/>
          </p:cNvGraphicFramePr>
          <p:nvPr>
            <p:extLst/>
          </p:nvPr>
        </p:nvGraphicFramePr>
        <p:xfrm>
          <a:off x="1620296" y="4431265"/>
          <a:ext cx="4808915" cy="231115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4" name="Chart 23">
            <a:extLst>
              <a:ext uri="{FF2B5EF4-FFF2-40B4-BE49-F238E27FC236}">
                <a16:creationId xmlns:a16="http://schemas.microsoft.com/office/drawing/2014/main" id="{00000000-0008-0000-0100-000002000000}"/>
              </a:ext>
            </a:extLst>
          </p:cNvPr>
          <p:cNvGraphicFramePr>
            <a:graphicFrameLocks/>
          </p:cNvGraphicFramePr>
          <p:nvPr>
            <p:extLst/>
          </p:nvPr>
        </p:nvGraphicFramePr>
        <p:xfrm>
          <a:off x="6603900" y="4431263"/>
          <a:ext cx="4786911" cy="231115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2" name="Chart 21">
            <a:extLst>
              <a:ext uri="{FF2B5EF4-FFF2-40B4-BE49-F238E27FC236}">
                <a16:creationId xmlns:a16="http://schemas.microsoft.com/office/drawing/2014/main" id="{00000000-0008-0000-0100-000002000000}"/>
              </a:ext>
            </a:extLst>
          </p:cNvPr>
          <p:cNvGraphicFramePr>
            <a:graphicFrameLocks/>
          </p:cNvGraphicFramePr>
          <p:nvPr>
            <p:extLst/>
          </p:nvPr>
        </p:nvGraphicFramePr>
        <p:xfrm>
          <a:off x="6603900" y="1685388"/>
          <a:ext cx="4786911" cy="2435630"/>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28706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4</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graphicFrame>
        <p:nvGraphicFramePr>
          <p:cNvPr id="5" name="Table 4">
            <a:extLst>
              <a:ext uri="{FF2B5EF4-FFF2-40B4-BE49-F238E27FC236}">
                <a16:creationId xmlns:a16="http://schemas.microsoft.com/office/drawing/2014/main" id="{391D7B56-DDD6-448C-843A-C5B1338CC229}"/>
              </a:ext>
            </a:extLst>
          </p:cNvPr>
          <p:cNvGraphicFramePr>
            <a:graphicFrameLocks noGrp="1"/>
          </p:cNvGraphicFramePr>
          <p:nvPr>
            <p:extLst/>
          </p:nvPr>
        </p:nvGraphicFramePr>
        <p:xfrm>
          <a:off x="876561" y="1066792"/>
          <a:ext cx="10721496" cy="5117877"/>
        </p:xfrm>
        <a:graphic>
          <a:graphicData uri="http://schemas.openxmlformats.org/drawingml/2006/table">
            <a:tbl>
              <a:tblPr firstRow="1" firstCol="1" lastRow="1" lastCol="1" bandRow="1" bandCol="1"/>
              <a:tblGrid>
                <a:gridCol w="381065">
                  <a:extLst>
                    <a:ext uri="{9D8B030D-6E8A-4147-A177-3AD203B41FA5}">
                      <a16:colId xmlns:a16="http://schemas.microsoft.com/office/drawing/2014/main" val="20000"/>
                    </a:ext>
                  </a:extLst>
                </a:gridCol>
                <a:gridCol w="809636">
                  <a:extLst>
                    <a:ext uri="{9D8B030D-6E8A-4147-A177-3AD203B41FA5}">
                      <a16:colId xmlns:a16="http://schemas.microsoft.com/office/drawing/2014/main" val="20001"/>
                    </a:ext>
                  </a:extLst>
                </a:gridCol>
                <a:gridCol w="1438351">
                  <a:extLst>
                    <a:ext uri="{9D8B030D-6E8A-4147-A177-3AD203B41FA5}">
                      <a16:colId xmlns:a16="http://schemas.microsoft.com/office/drawing/2014/main" val="20002"/>
                    </a:ext>
                  </a:extLst>
                </a:gridCol>
                <a:gridCol w="7307376">
                  <a:extLst>
                    <a:ext uri="{9D8B030D-6E8A-4147-A177-3AD203B41FA5}">
                      <a16:colId xmlns:a16="http://schemas.microsoft.com/office/drawing/2014/main" val="20003"/>
                    </a:ext>
                  </a:extLst>
                </a:gridCol>
                <a:gridCol w="785068">
                  <a:extLst>
                    <a:ext uri="{9D8B030D-6E8A-4147-A177-3AD203B41FA5}">
                      <a16:colId xmlns:a16="http://schemas.microsoft.com/office/drawing/2014/main" val="20004"/>
                    </a:ext>
                  </a:extLst>
                </a:gridCol>
              </a:tblGrid>
              <a:tr h="583364">
                <a:tc>
                  <a:txBody>
                    <a:bodyPr/>
                    <a:lstStyle/>
                    <a:p>
                      <a:pPr algn="ctr">
                        <a:spcAft>
                          <a:spcPts val="0"/>
                        </a:spcAft>
                      </a:pPr>
                      <a:r>
                        <a:rPr lang="de-DE" sz="1200" b="1">
                          <a:solidFill>
                            <a:srgbClr val="000000"/>
                          </a:solidFill>
                          <a:effectLst/>
                          <a:latin typeface="Times New Roman" panose="02020603050405020304" pitchFamily="18" charset="0"/>
                          <a:ea typeface="Times New Roman"/>
                          <a:cs typeface="Times New Roman" panose="02020603050405020304" pitchFamily="18" charset="0"/>
                        </a:rPr>
                        <a:t>TT</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Thời gian</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Loại tầu bay/ </a:t>
                      </a:r>
                    </a:p>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Số </a:t>
                      </a:r>
                      <a:r>
                        <a:rPr lang="de-DE" sz="1200" b="1">
                          <a:solidFill>
                            <a:srgbClr val="000000"/>
                          </a:solidFill>
                          <a:effectLst/>
                          <a:latin typeface="Times New Roman" panose="02020603050405020304" pitchFamily="18" charset="0"/>
                          <a:ea typeface="Times New Roman"/>
                          <a:cs typeface="Times New Roman" panose="02020603050405020304" pitchFamily="18" charset="0"/>
                        </a:rPr>
                        <a:t>đăng ký</a:t>
                      </a: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a:t>
                      </a:r>
                    </a:p>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Chặng</a:t>
                      </a:r>
                      <a:r>
                        <a:rPr lang="de-DE" sz="1200" b="1" baseline="0" dirty="0">
                          <a:solidFill>
                            <a:srgbClr val="000000"/>
                          </a:solidFill>
                          <a:effectLst/>
                          <a:latin typeface="Times New Roman" panose="02020603050405020304" pitchFamily="18" charset="0"/>
                          <a:ea typeface="Times New Roman"/>
                          <a:cs typeface="Times New Roman" panose="02020603050405020304" pitchFamily="18" charset="0"/>
                        </a:rPr>
                        <a:t> bay</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Nội dung sự cố</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Phân loại</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743909">
                <a:tc>
                  <a:txBody>
                    <a:bodyPr/>
                    <a:lstStyle/>
                    <a:p>
                      <a:pPr algn="ctr">
                        <a:spcAft>
                          <a:spcPts val="0"/>
                        </a:spcAft>
                      </a:pPr>
                      <a:r>
                        <a:rPr lang="en-SG" sz="1200" b="0">
                          <a:effectLst/>
                          <a:latin typeface="Times New Roman" panose="02020603050405020304" pitchFamily="18" charset="0"/>
                          <a:ea typeface="Times New Roman" panose="02020603050405020304" pitchFamily="18" charset="0"/>
                          <a:cs typeface="Times New Roman" panose="02020603050405020304" pitchFamily="18" charset="0"/>
                        </a:rPr>
                        <a:t>1</a:t>
                      </a: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sz="1200" b="0" i="0" u="none" strike="noStrike" cap="none"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a:rPr>
                        <a:t>08/01</a:t>
                      </a:r>
                      <a:endParaRPr lang="en-US" sz="1200" b="0" i="0" u="none" strike="noStrike" cap="non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sz="1200" b="0" i="0" u="none" strike="noStrike" cap="none"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a:rPr>
                        <a:t>ATR72</a:t>
                      </a:r>
                    </a:p>
                    <a:p>
                      <a:pPr algn="ctr" rtl="0" fontAlgn="ctr"/>
                      <a:r>
                        <a:rPr lang="en-US" sz="1200" b="0" i="0" u="none" strike="noStrike" cap="none"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a:rPr>
                        <a:t>VN-B225</a:t>
                      </a:r>
                    </a:p>
                    <a:p>
                      <a:pPr algn="ctr" rtl="0" fontAlgn="ctr"/>
                      <a:r>
                        <a:rPr lang="en-US" sz="1200" b="0" i="0" u="none" strike="noStrike" cap="none"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a:rPr>
                        <a:t>VN8096</a:t>
                      </a:r>
                    </a:p>
                    <a:p>
                      <a:pPr algn="ctr" rtl="0" fontAlgn="ctr"/>
                      <a:r>
                        <a:rPr lang="en-US" sz="1200" b="0" i="0" u="none" strike="noStrike" cap="none"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a:rPr>
                        <a:t>VCS-SGN </a:t>
                      </a:r>
                      <a:endParaRPr lang="en-US" sz="1200" b="0" i="0" u="none" strike="noStrike" cap="non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rtl="0" fontAlgn="ctr"/>
                      <a:r>
                        <a:rPr lang="vi-VN" sz="1200" b="0" i="0" u="none" strike="noStrike" cap="non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a:rPr>
                        <a:t>Sau khi NVKT ngắt headset với tổ bay đã quên không rút chèn bánh mũi mà tiến hành đẩy xe đựng chèn chóp tới vị trí đã được quy định bởi sân </a:t>
                      </a:r>
                      <a:r>
                        <a:rPr lang="vi-VN" sz="1200" b="0" i="0" u="none" strike="noStrike" cap="none"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a:rPr>
                        <a:t>bay.</a:t>
                      </a:r>
                      <a:r>
                        <a:rPr lang="en-US" sz="1200" b="0" i="0" u="none" strike="noStrike" cap="none"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a:rPr>
                        <a:t> </a:t>
                      </a:r>
                      <a:r>
                        <a:rPr lang="vi-VN" sz="1200" b="0" i="0" u="none" strike="noStrike" cap="none"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a:rPr>
                        <a:t>Trong </a:t>
                      </a:r>
                      <a:r>
                        <a:rPr lang="vi-VN" sz="1200" b="0" i="0" u="none" strike="noStrike" cap="non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a:rPr>
                        <a:t>quá trình di chuyển xe dựng chèn chóp đến vị trí quy định, tàu bay đã lăn bánh và lốp bánh mũi va vào chèn trước và đẩy chèn ra xa khoảng 0.5m.</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SG" sz="1200" b="1" smtClean="0">
                          <a:effectLst/>
                          <a:latin typeface="Times New Roman" panose="02020603050405020304" pitchFamily="18" charset="0"/>
                          <a:ea typeface="Calibri" panose="020F0502020204030204" pitchFamily="34" charset="0"/>
                          <a:cs typeface="Times New Roman" panose="02020603050405020304" pitchFamily="18" charset="0"/>
                        </a:rPr>
                        <a:t>D</a:t>
                      </a:r>
                      <a:endParaRPr lang="en-SG" sz="1200" b="1">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6422877"/>
                  </a:ext>
                </a:extLst>
              </a:tr>
              <a:tr h="864524">
                <a:tc>
                  <a:txBody>
                    <a:bodyPr/>
                    <a:lstStyle/>
                    <a:p>
                      <a:pPr algn="ctr">
                        <a:spcAft>
                          <a:spcPts val="0"/>
                        </a:spcAft>
                      </a:pPr>
                      <a:r>
                        <a:rPr lang="en-SG" sz="1200" b="0" smtClean="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SG" sz="1200" b="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13/04</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A350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VN-A899</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VN607</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SGN-BKK</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Theo báo cáo của cơ trưởng, trong khi bay bằng, cảnh báo "ENG 1 STALL” xuất hiện trong 3 giây. Tổ bay quyết định cho tàu quay lại SGN để kiểm tra. Thực hiện VISUAL CHECK động cơ số 1 không phát hiện hỏng hóc. Tiến hành C/O BSI OF ENG #1 AFTER STALL, phát hiện hỏng hóc tại HPC STG 3 BLADE. Tàu dừng bay chờ thay động cơ (REF.BSI REPORT #BSI02-250219)</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SG" sz="1200" b="1" smtClean="0">
                          <a:effectLst/>
                          <a:latin typeface="Times New Roman" panose="02020603050405020304" pitchFamily="18" charset="0"/>
                          <a:ea typeface="Calibri" panose="020F0502020204030204" pitchFamily="34" charset="0"/>
                          <a:cs typeface="Times New Roman" panose="02020603050405020304" pitchFamily="18" charset="0"/>
                        </a:rPr>
                        <a:t>D</a:t>
                      </a:r>
                      <a:endParaRPr lang="en-SG" sz="12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850443"/>
                  </a:ext>
                </a:extLst>
              </a:tr>
              <a:tr h="599092">
                <a:tc>
                  <a:txBody>
                    <a:bodyPr/>
                    <a:lstStyle/>
                    <a:p>
                      <a:pPr algn="ctr">
                        <a:spcAft>
                          <a:spcPts val="0"/>
                        </a:spcAft>
                      </a:pPr>
                      <a:r>
                        <a:rPr lang="en-SG" sz="1200" b="0" smtClean="0">
                          <a:effectLst/>
                          <a:latin typeface="Times New Roman" panose="02020603050405020304" pitchFamily="18" charset="0"/>
                          <a:ea typeface="Times New Roman" panose="02020603050405020304" pitchFamily="18" charset="0"/>
                          <a:cs typeface="Times New Roman" panose="02020603050405020304" pitchFamily="18" charset="0"/>
                        </a:rPr>
                        <a:t>3</a:t>
                      </a:r>
                      <a:endParaRPr lang="en-SG" sz="1200" b="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20/04</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A321</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VN-A621</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VN1715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HAN-VII</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Cơ trưởng báo cáo, trong khi lấy độ cao, xuất hiện cảnh báo "ENG 1 HIGH VIBRATION" và VIB WAS 7.5 AT 8000 FT.</a:t>
                      </a: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ENG 1 INSPECTION WAS DEPLOYED &amp; FOUND ONE BLADE OF HPT1 WAS MISSING MATERIAL IN AREA A AND B; A/C GROUNDED FOR ENGINE CHANGE./. </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SG" sz="1200" b="1" smtClean="0">
                          <a:effectLst/>
                          <a:latin typeface="Times New Roman" panose="02020603050405020304" pitchFamily="18" charset="0"/>
                          <a:ea typeface="Calibri" panose="020F0502020204030204" pitchFamily="34" charset="0"/>
                          <a:cs typeface="Times New Roman" panose="02020603050405020304" pitchFamily="18" charset="0"/>
                        </a:rPr>
                        <a:t>D</a:t>
                      </a:r>
                      <a:endParaRPr lang="en-SG" sz="12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07882992"/>
                  </a:ext>
                </a:extLst>
              </a:tr>
              <a:tr h="599092">
                <a:tc>
                  <a:txBody>
                    <a:bodyPr/>
                    <a:lstStyle/>
                    <a:p>
                      <a:pPr algn="ctr">
                        <a:spcAft>
                          <a:spcPts val="0"/>
                        </a:spcAft>
                      </a:pPr>
                      <a:r>
                        <a:rPr lang="en-SG" sz="1200" b="0" smtClean="0">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n-SG" sz="1200" b="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05/05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A350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VN-A894</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VN263</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HAN-SGN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Trong khi bay bằng, xuất hiện cảnh báo "ENG 2 STALL" AND "ENG 2 EGT OVER LIMIT", cơ trưởng quyết định quay lại HAN để kiểm tra hỏng hóc. Tàu thay thế động cơ số 2 và thực hiện bảo dưỡng định kỳ từ 07-15/5. Đưa tàu bay vao khai thác từ 15/5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SG" sz="1200" b="1" smtClean="0">
                          <a:effectLst/>
                          <a:latin typeface="Times New Roman" panose="02020603050405020304" pitchFamily="18" charset="0"/>
                          <a:ea typeface="Calibri" panose="020F0502020204030204" pitchFamily="34" charset="0"/>
                          <a:cs typeface="Times New Roman" panose="02020603050405020304" pitchFamily="18" charset="0"/>
                        </a:rPr>
                        <a:t>D</a:t>
                      </a:r>
                      <a:endParaRPr lang="en-SG" sz="12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24820474"/>
                  </a:ext>
                </a:extLst>
              </a:tr>
              <a:tr h="599092">
                <a:tc>
                  <a:txBody>
                    <a:bodyPr/>
                    <a:lstStyle/>
                    <a:p>
                      <a:pPr algn="ctr">
                        <a:spcAft>
                          <a:spcPts val="0"/>
                        </a:spcAft>
                      </a:pPr>
                      <a:r>
                        <a:rPr lang="en-SG" sz="1200" b="0" smtClean="0">
                          <a:effectLst/>
                          <a:latin typeface="Times New Roman" panose="02020603050405020304" pitchFamily="18" charset="0"/>
                          <a:ea typeface="Times New Roman" panose="02020603050405020304" pitchFamily="18" charset="0"/>
                          <a:cs typeface="Times New Roman" panose="02020603050405020304" pitchFamily="18" charset="0"/>
                        </a:rPr>
                        <a:t>5</a:t>
                      </a:r>
                      <a:endParaRPr lang="en-SG" sz="1200" b="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09/05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A350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VN-A896</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VN19</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HAN-CDG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Trog chuyến bay xuất hiện cảnh báo ECAM “HYD ENG1 Y PUMP PRESS LO" AND "HYD Y SYS OVHT”. Cơ trưởng quyết định cho tàu quay lại HAN để khắc phục sự cố. Thưc hiện thay thế Y EDP 1, 2 &amp; FILTERS, tàu bay được tiếp tục đưa vào khai thác ngày 10/5/2025.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SG" sz="1200" b="1" smtClean="0">
                          <a:effectLst/>
                          <a:latin typeface="Times New Roman" panose="02020603050405020304" pitchFamily="18" charset="0"/>
                          <a:ea typeface="Calibri" panose="020F0502020204030204" pitchFamily="34" charset="0"/>
                          <a:cs typeface="Times New Roman" panose="02020603050405020304" pitchFamily="18" charset="0"/>
                        </a:rPr>
                        <a:t>D</a:t>
                      </a:r>
                      <a:endParaRPr lang="en-SG" sz="12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27158299"/>
                  </a:ext>
                </a:extLst>
              </a:tr>
              <a:tr h="599092">
                <a:tc>
                  <a:txBody>
                    <a:bodyPr/>
                    <a:lstStyle/>
                    <a:p>
                      <a:pPr algn="ctr">
                        <a:spcAft>
                          <a:spcPts val="0"/>
                        </a:spcAft>
                      </a:pPr>
                      <a:r>
                        <a:rPr lang="en-SG" sz="1200" b="0" smtClean="0">
                          <a:effectLst/>
                          <a:latin typeface="Times New Roman" panose="02020603050405020304" pitchFamily="18" charset="0"/>
                          <a:ea typeface="Times New Roman" panose="02020603050405020304" pitchFamily="18" charset="0"/>
                          <a:cs typeface="Times New Roman" panose="02020603050405020304" pitchFamily="18" charset="0"/>
                        </a:rPr>
                        <a:t>6</a:t>
                      </a:r>
                      <a:endParaRPr lang="en-SG" sz="1200" b="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smtClean="0">
                          <a:effectLst/>
                          <a:latin typeface="Times New Roman" panose="02020603050405020304" pitchFamily="18" charset="0"/>
                          <a:ea typeface="Times New Roman" panose="02020603050405020304" pitchFamily="18" charset="0"/>
                          <a:cs typeface="Times New Roman" panose="02020603050405020304" pitchFamily="18" charset="0"/>
                        </a:rPr>
                        <a:t>16/07</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A321</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VN-A357</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VN601</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SGN-BKK</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Trong khi thực hiện lăn vào, tổ lái nhận thấy có tiếng ồn lớn và bánh mũi có hiện tượng kéo sang phải, tuy nhiên không có cảnh báo ECAM. Tổ lái đã thông báo cho ATC và được phép dừng chờ. Sau đó, tàu bay không thực hiện được rẽ trái, tổ lái đã dừng tàu bay trên đường lăn và yêu cầu kéo về gate. Bộ phận mặt đất tại BKK đã tìm thấy A DETACHED STEERING-RELATED PART trên đường lăn.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SG" sz="1200" b="1" smtClean="0">
                          <a:effectLst/>
                          <a:latin typeface="Times New Roman" panose="02020603050405020304" pitchFamily="18" charset="0"/>
                          <a:ea typeface="Calibri" panose="020F0502020204030204" pitchFamily="34" charset="0"/>
                          <a:cs typeface="Times New Roman" panose="02020603050405020304" pitchFamily="18" charset="0"/>
                        </a:rPr>
                        <a:t>D</a:t>
                      </a:r>
                      <a:endParaRPr lang="en-SG" sz="12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11472173"/>
                  </a:ext>
                </a:extLst>
              </a:tr>
            </a:tbl>
          </a:graphicData>
        </a:graphic>
      </p:graphicFrame>
      <p:sp>
        <p:nvSpPr>
          <p:cNvPr id="8" name="Rectangle 7">
            <a:extLst>
              <a:ext uri="{FF2B5EF4-FFF2-40B4-BE49-F238E27FC236}">
                <a16:creationId xmlns:a16="http://schemas.microsoft.com/office/drawing/2014/main" id="{390C36C0-A577-4B52-B73F-6CE05F198329}"/>
              </a:ext>
            </a:extLst>
          </p:cNvPr>
          <p:cNvSpPr/>
          <p:nvPr/>
        </p:nvSpPr>
        <p:spPr>
          <a:xfrm>
            <a:off x="784704" y="507399"/>
            <a:ext cx="10721496" cy="379656"/>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Bảng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tổng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hợp</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vụ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việc</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mức </a:t>
            </a:r>
            <a:r>
              <a:rPr kumimoji="0" lang="en-US" altLang="en-US" sz="1867"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D tháng 07/2025</a:t>
            </a:r>
            <a:endPar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Tree>
    <p:extLst>
      <p:ext uri="{BB962C8B-B14F-4D97-AF65-F5344CB8AC3E}">
        <p14:creationId xmlns:p14="http://schemas.microsoft.com/office/powerpoint/2010/main" val="31499804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5</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1142999" y="1005810"/>
            <a:ext cx="9601201"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SỐ 1.2 </a:t>
            </a: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TỶ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LỆ VỤ VIỆC MỨC E</a:t>
            </a:r>
            <a:endPar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899552" y="5272951"/>
            <a:ext cx="10700600" cy="1338828"/>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35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35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35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7/2025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có</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01 vụ việc báo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cáo</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bằng số vụ tháng trước và giảm 04 vụ việc so với cùng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7/2025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0.77 vụ việc/10000 </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CB</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0.01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trước</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và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giảm 3.08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so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cùng</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mục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tiêu</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2025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4.10 vụ việc/10000 </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CB</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6 tháng năm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2025 có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16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 cố vụ việc, giảm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07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việc tương ứng giảm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1.01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năm 2024. KPI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 tháng năm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2025 là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1.92,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mục tiêu</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t>
            </a:r>
            <a:endPar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graphicFrame>
        <p:nvGraphicFramePr>
          <p:cNvPr id="9" name="Chart 8">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2976967705"/>
              </p:ext>
            </p:extLst>
          </p:nvPr>
        </p:nvGraphicFramePr>
        <p:xfrm>
          <a:off x="985381" y="1745673"/>
          <a:ext cx="8083804" cy="339663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2B24350F-4546-41B6-BA84-7A454B646DAE}"/>
              </a:ext>
            </a:extLst>
          </p:cNvPr>
          <p:cNvGraphicFramePr>
            <a:graphicFrameLocks/>
          </p:cNvGraphicFramePr>
          <p:nvPr>
            <p:extLst/>
          </p:nvPr>
        </p:nvGraphicFramePr>
        <p:xfrm>
          <a:off x="9277003" y="1745673"/>
          <a:ext cx="2263642" cy="339663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142123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6</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graphicFrame>
        <p:nvGraphicFramePr>
          <p:cNvPr id="5" name="Table 4">
            <a:extLst>
              <a:ext uri="{FF2B5EF4-FFF2-40B4-BE49-F238E27FC236}">
                <a16:creationId xmlns:a16="http://schemas.microsoft.com/office/drawing/2014/main" id="{391D7B56-DDD6-448C-843A-C5B1338CC229}"/>
              </a:ext>
            </a:extLst>
          </p:cNvPr>
          <p:cNvGraphicFramePr>
            <a:graphicFrameLocks noGrp="1"/>
          </p:cNvGraphicFramePr>
          <p:nvPr>
            <p:extLst/>
          </p:nvPr>
        </p:nvGraphicFramePr>
        <p:xfrm>
          <a:off x="876561" y="1066791"/>
          <a:ext cx="10721496" cy="1572538"/>
        </p:xfrm>
        <a:graphic>
          <a:graphicData uri="http://schemas.openxmlformats.org/drawingml/2006/table">
            <a:tbl>
              <a:tblPr firstRow="1" firstCol="1" lastRow="1" lastCol="1" bandRow="1" bandCol="1"/>
              <a:tblGrid>
                <a:gridCol w="381065">
                  <a:extLst>
                    <a:ext uri="{9D8B030D-6E8A-4147-A177-3AD203B41FA5}">
                      <a16:colId xmlns:a16="http://schemas.microsoft.com/office/drawing/2014/main" val="20000"/>
                    </a:ext>
                  </a:extLst>
                </a:gridCol>
                <a:gridCol w="809636">
                  <a:extLst>
                    <a:ext uri="{9D8B030D-6E8A-4147-A177-3AD203B41FA5}">
                      <a16:colId xmlns:a16="http://schemas.microsoft.com/office/drawing/2014/main" val="20001"/>
                    </a:ext>
                  </a:extLst>
                </a:gridCol>
                <a:gridCol w="1438351">
                  <a:extLst>
                    <a:ext uri="{9D8B030D-6E8A-4147-A177-3AD203B41FA5}">
                      <a16:colId xmlns:a16="http://schemas.microsoft.com/office/drawing/2014/main" val="20002"/>
                    </a:ext>
                  </a:extLst>
                </a:gridCol>
                <a:gridCol w="7307376">
                  <a:extLst>
                    <a:ext uri="{9D8B030D-6E8A-4147-A177-3AD203B41FA5}">
                      <a16:colId xmlns:a16="http://schemas.microsoft.com/office/drawing/2014/main" val="20003"/>
                    </a:ext>
                  </a:extLst>
                </a:gridCol>
                <a:gridCol w="785068">
                  <a:extLst>
                    <a:ext uri="{9D8B030D-6E8A-4147-A177-3AD203B41FA5}">
                      <a16:colId xmlns:a16="http://schemas.microsoft.com/office/drawing/2014/main" val="20004"/>
                    </a:ext>
                  </a:extLst>
                </a:gridCol>
              </a:tblGrid>
              <a:tr h="613167">
                <a:tc>
                  <a:txBody>
                    <a:bodyPr/>
                    <a:lstStyle/>
                    <a:p>
                      <a:pPr algn="ctr">
                        <a:spcAft>
                          <a:spcPts val="0"/>
                        </a:spcAft>
                      </a:pPr>
                      <a:r>
                        <a:rPr lang="de-DE" sz="1200" b="1">
                          <a:solidFill>
                            <a:srgbClr val="000000"/>
                          </a:solidFill>
                          <a:effectLst/>
                          <a:latin typeface="Times New Roman" panose="02020603050405020304" pitchFamily="18" charset="0"/>
                          <a:ea typeface="Times New Roman"/>
                          <a:cs typeface="Times New Roman" panose="02020603050405020304" pitchFamily="18" charset="0"/>
                        </a:rPr>
                        <a:t>TT</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Thời gian</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Loại tầu bay/ </a:t>
                      </a:r>
                    </a:p>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Số </a:t>
                      </a:r>
                      <a:r>
                        <a:rPr lang="de-DE" sz="1200" b="1">
                          <a:solidFill>
                            <a:srgbClr val="000000"/>
                          </a:solidFill>
                          <a:effectLst/>
                          <a:latin typeface="Times New Roman" panose="02020603050405020304" pitchFamily="18" charset="0"/>
                          <a:ea typeface="Times New Roman"/>
                          <a:cs typeface="Times New Roman" panose="02020603050405020304" pitchFamily="18" charset="0"/>
                        </a:rPr>
                        <a:t>đăng ký</a:t>
                      </a: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a:t>
                      </a:r>
                    </a:p>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Chặng</a:t>
                      </a:r>
                      <a:r>
                        <a:rPr lang="de-DE" sz="1200" b="1" baseline="0" dirty="0">
                          <a:solidFill>
                            <a:srgbClr val="000000"/>
                          </a:solidFill>
                          <a:effectLst/>
                          <a:latin typeface="Times New Roman" panose="02020603050405020304" pitchFamily="18" charset="0"/>
                          <a:ea typeface="Times New Roman"/>
                          <a:cs typeface="Times New Roman" panose="02020603050405020304" pitchFamily="18" charset="0"/>
                        </a:rPr>
                        <a:t> bay</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Nội dung sự cố</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Phân loại</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959371">
                <a:tc>
                  <a:txBody>
                    <a:bodyPr/>
                    <a:lstStyle/>
                    <a:p>
                      <a:pPr algn="ctr">
                        <a:spcAft>
                          <a:spcPts val="0"/>
                        </a:spcAft>
                      </a:pPr>
                      <a:r>
                        <a:rPr lang="en-SG" sz="1200" b="0">
                          <a:effectLst/>
                          <a:latin typeface="Times New Roman" panose="02020603050405020304" pitchFamily="18" charset="0"/>
                          <a:ea typeface="Times New Roman" panose="02020603050405020304" pitchFamily="18" charset="0"/>
                          <a:cs typeface="Times New Roman" panose="02020603050405020304" pitchFamily="18" charset="0"/>
                        </a:rPr>
                        <a:t>1</a:t>
                      </a: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07/7</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B787</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VN-A870</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VN35</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HAN-MUC</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Trong chuyến bay, tàu bay bị nứt kính L FWD WINDOW. Tổ lái đã liên lạc với OCC, xác nhận tình trạng và kiểm tra theo WINDOW DAMAGE FWD L CHECKLIST. Tổ bay quyết định tiếp tục chuyến bay và hạ cánh an toàn tại MUC. Tàu bay đang dừng bay và chờ phụ tùng thay thế tại MUC</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SG" sz="1400" b="1" smtClean="0">
                          <a:effectLst/>
                          <a:latin typeface="Times New Roman" panose="02020603050405020304" pitchFamily="18" charset="0"/>
                          <a:ea typeface="Calibri" panose="020F0502020204030204" pitchFamily="34" charset="0"/>
                          <a:cs typeface="Times New Roman" panose="02020603050405020304" pitchFamily="18" charset="0"/>
                        </a:rPr>
                        <a:t>E</a:t>
                      </a:r>
                      <a:endParaRPr lang="en-SG"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6422877"/>
                  </a:ext>
                </a:extLst>
              </a:tr>
            </a:tbl>
          </a:graphicData>
        </a:graphic>
      </p:graphicFrame>
      <p:sp>
        <p:nvSpPr>
          <p:cNvPr id="8" name="Rectangle 7">
            <a:extLst>
              <a:ext uri="{FF2B5EF4-FFF2-40B4-BE49-F238E27FC236}">
                <a16:creationId xmlns:a16="http://schemas.microsoft.com/office/drawing/2014/main" id="{390C36C0-A577-4B52-B73F-6CE05F198329}"/>
              </a:ext>
            </a:extLst>
          </p:cNvPr>
          <p:cNvSpPr/>
          <p:nvPr/>
        </p:nvSpPr>
        <p:spPr>
          <a:xfrm>
            <a:off x="784704" y="507399"/>
            <a:ext cx="10721496" cy="379656"/>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Bảng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tổng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hợp</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vụ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việc</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mức E </a:t>
            </a:r>
            <a:r>
              <a:rPr kumimoji="0" lang="en-US" altLang="en-US" sz="1867"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07/2025</a:t>
            </a:r>
            <a:endPar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Tree>
    <p:extLst>
      <p:ext uri="{BB962C8B-B14F-4D97-AF65-F5344CB8AC3E}">
        <p14:creationId xmlns:p14="http://schemas.microsoft.com/office/powerpoint/2010/main" val="2284842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7</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1142999" y="1005810"/>
            <a:ext cx="9601201"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SỐ 1.3 </a:t>
            </a: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TỶ LỆ SỰ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CỐ VỤ VIỆC TRONG BẢO DƯỠNG TÀU BAY</a:t>
            </a:r>
            <a:endPar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899552" y="5279015"/>
            <a:ext cx="10726921" cy="1338828"/>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35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35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35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7/2025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có</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00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cố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việc trong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bảo dưỡng,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bằng số sự cố so với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trước và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bằng sự cố cùng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7/2025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 0.00 báo cáo/10000 </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CB</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bằng số điểm so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trước</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và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bằng số điểm </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so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cùng</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Đạt mục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tiêu</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2025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0.22 báo cáo/10000 CB</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 tháng năm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2025 có 00 sự cố vụ việc, giảm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02 sự cố tương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ứng giảm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0.26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năm 2024. KPI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 tháng năm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2025 là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0.00,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mục tiêu. </a:t>
            </a:r>
          </a:p>
        </p:txBody>
      </p:sp>
      <p:graphicFrame>
        <p:nvGraphicFramePr>
          <p:cNvPr id="12" name="Chart 11">
            <a:extLst>
              <a:ext uri="{FF2B5EF4-FFF2-40B4-BE49-F238E27FC236}">
                <a16:creationId xmlns:a16="http://schemas.microsoft.com/office/drawing/2014/main" id="{00000000-0008-0000-0100-000002000000}"/>
              </a:ext>
            </a:extLst>
          </p:cNvPr>
          <p:cNvGraphicFramePr>
            <a:graphicFrameLocks/>
          </p:cNvGraphicFramePr>
          <p:nvPr>
            <p:extLst/>
          </p:nvPr>
        </p:nvGraphicFramePr>
        <p:xfrm>
          <a:off x="985380" y="1648495"/>
          <a:ext cx="7810889" cy="339035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2B24350F-4546-41B6-BA84-7A454B646DAE}"/>
              </a:ext>
            </a:extLst>
          </p:cNvPr>
          <p:cNvGraphicFramePr>
            <a:graphicFrameLocks/>
          </p:cNvGraphicFramePr>
          <p:nvPr>
            <p:extLst/>
          </p:nvPr>
        </p:nvGraphicFramePr>
        <p:xfrm>
          <a:off x="9079606" y="1648495"/>
          <a:ext cx="2461040" cy="3390359"/>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113822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8</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1143001" y="1005810"/>
            <a:ext cx="9601200"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SỐ 1.4 </a:t>
            </a: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TỶ LỆ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 CỐ, VỤ VIỆC DO SAI LỖI CON NGƯỜI</a:t>
            </a:r>
            <a:endPar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899553" y="5311423"/>
            <a:ext cx="10641092" cy="1131079"/>
          </a:xfrm>
          <a:prstGeom prst="rect">
            <a:avLst/>
          </a:prstGeom>
          <a:noFill/>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35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35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35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7/2025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có</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01 sự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cố do sai lỗi con người</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bằng</a:t>
            </a:r>
            <a:r>
              <a:rPr kumimoji="0" lang="en-US" sz="1350" b="0" i="0" u="none" strike="noStrike" kern="0" cap="none" spc="0" normalizeH="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số s</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ự cố so với tháng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trước và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bằng</a:t>
            </a:r>
            <a:r>
              <a:rPr kumimoji="0" lang="en-US" sz="1350" b="0" i="0" u="none" strike="noStrike" kern="0" cap="none" spc="0" normalizeH="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số</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cố so với cùng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7/2025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0.77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 cố/10000 </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CB</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a:t>
            </a:r>
            <a:r>
              <a:rPr kumimoji="0" lang="en-US" sz="1350" b="0" i="0" u="none" strike="noStrike" kern="0" cap="none" spc="0" normalizeH="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0.01</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điểm so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trước</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và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bằng số điểm so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cùng</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mục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tiêu</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2025: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1.02 sự cố/10000 </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CB</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 tháng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đầu năm 2025 có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06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 cố,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giảm 02 sự cố tương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ứng giảm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0.25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năm 2024. KPI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 tháng năm 2025: 0.72,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mục tiêu.</a:t>
            </a:r>
          </a:p>
        </p:txBody>
      </p:sp>
      <p:graphicFrame>
        <p:nvGraphicFramePr>
          <p:cNvPr id="9" name="Chart 8">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3877941434"/>
              </p:ext>
            </p:extLst>
          </p:nvPr>
        </p:nvGraphicFramePr>
        <p:xfrm>
          <a:off x="985380" y="1571826"/>
          <a:ext cx="7967427" cy="357183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2B24350F-4546-41B6-BA84-7A454B646DAE}"/>
              </a:ext>
            </a:extLst>
          </p:cNvPr>
          <p:cNvGraphicFramePr>
            <a:graphicFrameLocks/>
          </p:cNvGraphicFramePr>
          <p:nvPr>
            <p:extLst>
              <p:ext uri="{D42A27DB-BD31-4B8C-83A1-F6EECF244321}">
                <p14:modId xmlns:p14="http://schemas.microsoft.com/office/powerpoint/2010/main" val="3635860631"/>
              </p:ext>
            </p:extLst>
          </p:nvPr>
        </p:nvGraphicFramePr>
        <p:xfrm>
          <a:off x="9110749" y="1571826"/>
          <a:ext cx="2360815" cy="357183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462677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9</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001892"/>
            <a:ext cx="10555264"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a:t>
            </a:r>
            <a:r>
              <a:rPr kumimoji="0" lang="en-US" altLang="en-US" sz="1867"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2.1 </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TỶ LỆ NHÂN NHƯỢNG TÀU </a:t>
            </a:r>
            <a:r>
              <a:rPr kumimoji="0" lang="en-US" altLang="en-US" sz="18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BAY LOẠI 1</a:t>
            </a:r>
            <a:r>
              <a:rPr kumimoji="0" lang="en-US" sz="18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MEL, CDL, AMM, SRM)</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880533" y="5195846"/>
            <a:ext cx="10712504" cy="1338828"/>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35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35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35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7/2025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đã cấp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06 NN, giảm 08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NN so với tháng trước và giảm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41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NN so với cùng kỳ năm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tháng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7/2025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4.61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NN/10000 CB,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giảm 6.06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tháng tr</a:t>
            </a:r>
            <a:r>
              <a:rPr kumimoji="0" lang="vi-VN"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ư</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ớc và giảm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31.62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2024. Đạt mục tiêu năm 2025 là 25.21 NN/10000CB. </a:t>
            </a:r>
            <a:endPar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 tháng năm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2025 đã cấp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77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NN, giảm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236 NN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việc tương ứng giảm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30.69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năm 2024. KPI 7</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tháng năm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2025 là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9.22,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mục tiêu.</a:t>
            </a:r>
          </a:p>
        </p:txBody>
      </p:sp>
      <p:graphicFrame>
        <p:nvGraphicFramePr>
          <p:cNvPr id="9" name="Chart 8">
            <a:extLst>
              <a:ext uri="{FF2B5EF4-FFF2-40B4-BE49-F238E27FC236}">
                <a16:creationId xmlns:a16="http://schemas.microsoft.com/office/drawing/2014/main" id="{00000000-0008-0000-0200-000009000000}"/>
              </a:ext>
            </a:extLst>
          </p:cNvPr>
          <p:cNvGraphicFramePr>
            <a:graphicFrameLocks/>
          </p:cNvGraphicFramePr>
          <p:nvPr>
            <p:extLst>
              <p:ext uri="{D42A27DB-BD31-4B8C-83A1-F6EECF244321}">
                <p14:modId xmlns:p14="http://schemas.microsoft.com/office/powerpoint/2010/main" val="81031532"/>
              </p:ext>
            </p:extLst>
          </p:nvPr>
        </p:nvGraphicFramePr>
        <p:xfrm>
          <a:off x="985380" y="1596980"/>
          <a:ext cx="7984053" cy="332618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5A4ADDF6-D5F0-44AE-BD9E-BDBB2B8BDDF6}"/>
              </a:ext>
            </a:extLst>
          </p:cNvPr>
          <p:cNvGraphicFramePr>
            <a:graphicFrameLocks/>
          </p:cNvGraphicFramePr>
          <p:nvPr/>
        </p:nvGraphicFramePr>
        <p:xfrm>
          <a:off x="9160625" y="1596981"/>
          <a:ext cx="2380020" cy="332618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43722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10</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extBox 3">
            <a:extLst>
              <a:ext uri="{FF2B5EF4-FFF2-40B4-BE49-F238E27FC236}">
                <a16:creationId xmlns:a16="http://schemas.microsoft.com/office/drawing/2014/main" id="{0F1D4589-DA8C-4079-B9A4-00C42685A90E}"/>
              </a:ext>
            </a:extLst>
          </p:cNvPr>
          <p:cNvSpPr txBox="1"/>
          <p:nvPr/>
        </p:nvSpPr>
        <p:spPr>
          <a:xfrm>
            <a:off x="910225" y="393770"/>
            <a:ext cx="10839769" cy="379656"/>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Bảng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tổng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hợp</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nhân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nhượng</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loại 1 tháng 7/2025</a:t>
            </a:r>
            <a:endPar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graphicFrame>
        <p:nvGraphicFramePr>
          <p:cNvPr id="5" name="Table 4"/>
          <p:cNvGraphicFramePr>
            <a:graphicFrameLocks noGrp="1"/>
          </p:cNvGraphicFramePr>
          <p:nvPr>
            <p:extLst/>
          </p:nvPr>
        </p:nvGraphicFramePr>
        <p:xfrm>
          <a:off x="910224" y="1055920"/>
          <a:ext cx="10839770" cy="3050567"/>
        </p:xfrm>
        <a:graphic>
          <a:graphicData uri="http://schemas.openxmlformats.org/drawingml/2006/table">
            <a:tbl>
              <a:tblPr>
                <a:tableStyleId>{5C22544A-7EE6-4342-B048-85BDC9FD1C3A}</a:tableStyleId>
              </a:tblPr>
              <a:tblGrid>
                <a:gridCol w="383511">
                  <a:extLst>
                    <a:ext uri="{9D8B030D-6E8A-4147-A177-3AD203B41FA5}">
                      <a16:colId xmlns:a16="http://schemas.microsoft.com/office/drawing/2014/main" val="2775948120"/>
                    </a:ext>
                  </a:extLst>
                </a:gridCol>
                <a:gridCol w="638096">
                  <a:extLst>
                    <a:ext uri="{9D8B030D-6E8A-4147-A177-3AD203B41FA5}">
                      <a16:colId xmlns:a16="http://schemas.microsoft.com/office/drawing/2014/main" val="3142476265"/>
                    </a:ext>
                  </a:extLst>
                </a:gridCol>
                <a:gridCol w="1734081">
                  <a:extLst>
                    <a:ext uri="{9D8B030D-6E8A-4147-A177-3AD203B41FA5}">
                      <a16:colId xmlns:a16="http://schemas.microsoft.com/office/drawing/2014/main" val="1826772911"/>
                    </a:ext>
                  </a:extLst>
                </a:gridCol>
                <a:gridCol w="1213658">
                  <a:extLst>
                    <a:ext uri="{9D8B030D-6E8A-4147-A177-3AD203B41FA5}">
                      <a16:colId xmlns:a16="http://schemas.microsoft.com/office/drawing/2014/main" val="2425298528"/>
                    </a:ext>
                  </a:extLst>
                </a:gridCol>
                <a:gridCol w="735619">
                  <a:extLst>
                    <a:ext uri="{9D8B030D-6E8A-4147-A177-3AD203B41FA5}">
                      <a16:colId xmlns:a16="http://schemas.microsoft.com/office/drawing/2014/main" val="3144982089"/>
                    </a:ext>
                  </a:extLst>
                </a:gridCol>
                <a:gridCol w="682580">
                  <a:extLst>
                    <a:ext uri="{9D8B030D-6E8A-4147-A177-3AD203B41FA5}">
                      <a16:colId xmlns:a16="http://schemas.microsoft.com/office/drawing/2014/main" val="1552011708"/>
                    </a:ext>
                  </a:extLst>
                </a:gridCol>
                <a:gridCol w="1349940">
                  <a:extLst>
                    <a:ext uri="{9D8B030D-6E8A-4147-A177-3AD203B41FA5}">
                      <a16:colId xmlns:a16="http://schemas.microsoft.com/office/drawing/2014/main" val="2189097087"/>
                    </a:ext>
                  </a:extLst>
                </a:gridCol>
                <a:gridCol w="2486891">
                  <a:extLst>
                    <a:ext uri="{9D8B030D-6E8A-4147-A177-3AD203B41FA5}">
                      <a16:colId xmlns:a16="http://schemas.microsoft.com/office/drawing/2014/main" val="74169935"/>
                    </a:ext>
                  </a:extLst>
                </a:gridCol>
                <a:gridCol w="990570">
                  <a:extLst>
                    <a:ext uri="{9D8B030D-6E8A-4147-A177-3AD203B41FA5}">
                      <a16:colId xmlns:a16="http://schemas.microsoft.com/office/drawing/2014/main" val="3478438467"/>
                    </a:ext>
                  </a:extLst>
                </a:gridCol>
                <a:gridCol w="624824">
                  <a:extLst>
                    <a:ext uri="{9D8B030D-6E8A-4147-A177-3AD203B41FA5}">
                      <a16:colId xmlns:a16="http://schemas.microsoft.com/office/drawing/2014/main" val="2325188638"/>
                    </a:ext>
                  </a:extLst>
                </a:gridCol>
              </a:tblGrid>
              <a:tr h="444200">
                <a:tc>
                  <a:txBody>
                    <a:bodyPr/>
                    <a:lstStyle/>
                    <a:p>
                      <a:pPr algn="ctr" fontAlgn="ctr">
                        <a:lnSpc>
                          <a:spcPct val="150000"/>
                        </a:lnSpc>
                      </a:pPr>
                      <a:r>
                        <a:rPr lang="en-SG" sz="1100" b="0" i="0" u="none" strike="noStrike">
                          <a:solidFill>
                            <a:srgbClr val="000000"/>
                          </a:solidFill>
                          <a:effectLst/>
                          <a:latin typeface="Times New Roman" panose="02020603050405020304" pitchFamily="18" charset="0"/>
                          <a:cs typeface="Times New Roman" panose="02020603050405020304" pitchFamily="18" charset="0"/>
                        </a:rPr>
                        <a:t>ID</a:t>
                      </a:r>
                      <a:endParaRPr lang="en-SG"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100" u="none" strike="noStrike">
                          <a:effectLst/>
                          <a:latin typeface="Times New Roman" panose="02020603050405020304" pitchFamily="18" charset="0"/>
                          <a:cs typeface="Times New Roman" panose="02020603050405020304" pitchFamily="18" charset="0"/>
                        </a:rPr>
                        <a:t>A/C Reg</a:t>
                      </a:r>
                      <a:r>
                        <a:rPr lang="en-SG" sz="1100" u="none" strike="noStrike" dirty="0">
                          <a:effectLst/>
                          <a:latin typeface="Times New Roman" panose="02020603050405020304" pitchFamily="18" charset="0"/>
                          <a:cs typeface="Times New Roman" panose="02020603050405020304" pitchFamily="18" charset="0"/>
                        </a:rPr>
                        <a:t>.</a:t>
                      </a:r>
                      <a:endParaRPr lang="en-SG"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100" u="none" strike="noStrike" dirty="0" err="1">
                          <a:effectLst/>
                          <a:latin typeface="Times New Roman" panose="02020603050405020304" pitchFamily="18" charset="0"/>
                          <a:cs typeface="Times New Roman" panose="02020603050405020304" pitchFamily="18" charset="0"/>
                        </a:rPr>
                        <a:t>Concess</a:t>
                      </a:r>
                      <a:r>
                        <a:rPr lang="en-SG" sz="1100" u="none" strike="noStrike" dirty="0">
                          <a:effectLst/>
                          <a:latin typeface="Times New Roman" panose="02020603050405020304" pitchFamily="18" charset="0"/>
                          <a:cs typeface="Times New Roman" panose="02020603050405020304" pitchFamily="18" charset="0"/>
                        </a:rPr>
                        <a:t>. No.</a:t>
                      </a:r>
                      <a:endParaRPr lang="en-SG"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100" u="none" strike="noStrike" dirty="0">
                          <a:effectLst/>
                          <a:latin typeface="Times New Roman" panose="02020603050405020304" pitchFamily="18" charset="0"/>
                          <a:cs typeface="Times New Roman" panose="02020603050405020304" pitchFamily="18" charset="0"/>
                        </a:rPr>
                        <a:t>Reason</a:t>
                      </a:r>
                      <a:endParaRPr lang="en-SG"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100" u="none" strike="noStrike">
                          <a:effectLst/>
                          <a:latin typeface="Times New Roman" panose="02020603050405020304" pitchFamily="18" charset="0"/>
                          <a:cs typeface="Times New Roman" panose="02020603050405020304" pitchFamily="18" charset="0"/>
                        </a:rPr>
                        <a:t>Conc. Type</a:t>
                      </a:r>
                      <a:endParaRPr lang="en-SG"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100" u="none" strike="noStrike" dirty="0">
                          <a:effectLst/>
                          <a:latin typeface="Times New Roman" panose="02020603050405020304" pitchFamily="18" charset="0"/>
                          <a:cs typeface="Times New Roman" panose="02020603050405020304" pitchFamily="18" charset="0"/>
                        </a:rPr>
                        <a:t>ADD No</a:t>
                      </a:r>
                      <a:endParaRPr lang="en-SG"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100" u="none" strike="noStrike" dirty="0">
                          <a:effectLst/>
                          <a:latin typeface="Times New Roman" panose="02020603050405020304" pitchFamily="18" charset="0"/>
                          <a:cs typeface="Times New Roman" panose="02020603050405020304" pitchFamily="18" charset="0"/>
                        </a:rPr>
                        <a:t>REF</a:t>
                      </a:r>
                      <a:endParaRPr lang="en-SG"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100" u="none" strike="noStrike" dirty="0">
                          <a:effectLst/>
                          <a:latin typeface="Times New Roman" panose="02020603050405020304" pitchFamily="18" charset="0"/>
                          <a:cs typeface="Times New Roman" panose="02020603050405020304" pitchFamily="18" charset="0"/>
                        </a:rPr>
                        <a:t>Contents</a:t>
                      </a:r>
                      <a:endParaRPr lang="en-SG"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100" u="none" strike="noStrike" dirty="0">
                          <a:effectLst/>
                          <a:latin typeface="Times New Roman" panose="02020603050405020304" pitchFamily="18" charset="0"/>
                          <a:cs typeface="Times New Roman" panose="02020603050405020304" pitchFamily="18" charset="0"/>
                        </a:rPr>
                        <a:t>Issue Date</a:t>
                      </a:r>
                      <a:endParaRPr lang="en-SG"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ctr" defTabSz="914400" rtl="0" eaLnBrk="1" fontAlgn="ctr" latinLnBrk="0" hangingPunct="1">
                        <a:lnSpc>
                          <a:spcPct val="150000"/>
                        </a:lnSpc>
                        <a:spcBef>
                          <a:spcPts val="0"/>
                        </a:spcBef>
                        <a:spcAft>
                          <a:spcPts val="0"/>
                        </a:spcAft>
                        <a:buClrTx/>
                        <a:buSzTx/>
                        <a:buFontTx/>
                        <a:buNone/>
                        <a:tabLst/>
                        <a:defRPr/>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Issue by</a:t>
                      </a: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211553877"/>
                  </a:ext>
                </a:extLst>
              </a:tr>
              <a:tr h="588247">
                <a:tc>
                  <a:txBody>
                    <a:bodyPr/>
                    <a:lstStyle/>
                    <a:p>
                      <a:pPr algn="ctr" fontAlgn="ctr">
                        <a:lnSpc>
                          <a:spcPct val="100000"/>
                        </a:lnSpc>
                      </a:pPr>
                      <a:r>
                        <a:rPr lang="en-US" sz="1000" b="0" i="0" u="none" strike="noStrike">
                          <a:solidFill>
                            <a:schemeClr val="tx1"/>
                          </a:solidFill>
                          <a:effectLst/>
                          <a:latin typeface="Times New Roman" panose="02020603050405020304" pitchFamily="18" charset="0"/>
                          <a:cs typeface="Times New Roman" panose="02020603050405020304" pitchFamily="18" charset="0"/>
                        </a:rPr>
                        <a:t>1</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A392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392-03/25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Difficult troubleshooting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B1599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MEL 33-40-01B</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ALL NAV LIGHT SYS 1 INOP</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1-Jul-25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SQD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0088016"/>
                  </a:ext>
                </a:extLst>
              </a:tr>
              <a:tr h="445128">
                <a:tc>
                  <a:txBody>
                    <a:bodyPr/>
                    <a:lstStyle/>
                    <a:p>
                      <a:pPr algn="ctr" fontAlgn="ctr">
                        <a:lnSpc>
                          <a:spcPct val="100000"/>
                        </a:lnSpc>
                      </a:pPr>
                      <a:r>
                        <a:rPr lang="en-US" sz="1000" b="0" i="0" u="none" strike="noStrike" smtClean="0">
                          <a:solidFill>
                            <a:schemeClr val="tx1"/>
                          </a:solidFill>
                          <a:effectLst/>
                          <a:latin typeface="Times New Roman" panose="02020603050405020304" pitchFamily="18" charset="0"/>
                          <a:cs typeface="Times New Roman" panose="02020603050405020304" pitchFamily="18" charset="0"/>
                        </a:rPr>
                        <a:t>2</a:t>
                      </a:r>
                      <a:endParaRPr lang="en-US" sz="1000" b="0" i="0" u="none" strike="noStrike">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A612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867-06/25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KY THUAT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B2127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MEL 47-10-01A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B2127 RAISED: FUEL INERTING </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SYSTEM FAULT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14-Jul-25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SQD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9077216"/>
                  </a:ext>
                </a:extLst>
              </a:tr>
              <a:tr h="482232">
                <a:tc>
                  <a:txBody>
                    <a:bodyPr/>
                    <a:lstStyle/>
                    <a:p>
                      <a:pPr algn="ctr" fontAlgn="ctr">
                        <a:lnSpc>
                          <a:spcPct val="100000"/>
                        </a:lnSpc>
                      </a:pPr>
                      <a:r>
                        <a:rPr lang="en-US" sz="1000" b="0" i="0" u="none" strike="noStrike" smtClean="0">
                          <a:solidFill>
                            <a:schemeClr val="tx1"/>
                          </a:solidFill>
                          <a:effectLst/>
                          <a:latin typeface="Times New Roman" panose="02020603050405020304" pitchFamily="18" charset="0"/>
                          <a:cs typeface="Times New Roman" panose="02020603050405020304" pitchFamily="18" charset="0"/>
                        </a:rPr>
                        <a:t>3</a:t>
                      </a:r>
                      <a:endParaRPr lang="en-US" sz="1000" b="0" i="0" u="none" strike="noStrike">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chemeClr val="tx1"/>
                          </a:solidFill>
                          <a:effectLst/>
                          <a:latin typeface="Times New Roman" panose="02020603050405020304" pitchFamily="18" charset="0"/>
                          <a:cs typeface="Times New Roman" panose="02020603050405020304" pitchFamily="18" charset="0"/>
                        </a:rPr>
                        <a:t>A864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chemeClr val="tx1"/>
                          </a:solidFill>
                          <a:effectLst/>
                          <a:latin typeface="Times New Roman" panose="02020603050405020304" pitchFamily="18" charset="0"/>
                          <a:cs typeface="Times New Roman" panose="02020603050405020304" pitchFamily="18" charset="0"/>
                        </a:rPr>
                        <a:t>864-08/25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chemeClr val="tx1"/>
                          </a:solidFill>
                          <a:effectLst/>
                          <a:latin typeface="Times New Roman" panose="02020603050405020304" pitchFamily="18" charset="0"/>
                          <a:cs typeface="Times New Roman" panose="02020603050405020304" pitchFamily="18" charset="0"/>
                        </a:rPr>
                        <a:t>Part Long Lead Time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chemeClr val="tx1"/>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chemeClr val="tx1"/>
                          </a:solidFill>
                          <a:effectLst/>
                          <a:latin typeface="Times New Roman" panose="02020603050405020304" pitchFamily="18" charset="0"/>
                          <a:cs typeface="Times New Roman" panose="02020603050405020304" pitchFamily="18" charset="0"/>
                        </a:rPr>
                        <a:t>B1323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chemeClr val="tx1"/>
                          </a:solidFill>
                          <a:effectLst/>
                          <a:latin typeface="Times New Roman" panose="02020603050405020304" pitchFamily="18" charset="0"/>
                          <a:cs typeface="Times New Roman" panose="02020603050405020304" pitchFamily="18" charset="0"/>
                        </a:rPr>
                        <a:t>MEL 33-24-01A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chemeClr val="tx1"/>
                          </a:solidFill>
                          <a:effectLst/>
                          <a:latin typeface="Times New Roman" panose="02020603050405020304" pitchFamily="18" charset="0"/>
                          <a:cs typeface="Times New Roman" panose="02020603050405020304" pitchFamily="18" charset="0"/>
                        </a:rPr>
                        <a:t>RAISED SEAT BELT SIGN 29DEF INOP</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chemeClr val="tx1"/>
                          </a:solidFill>
                          <a:effectLst/>
                          <a:latin typeface="Times New Roman" panose="02020603050405020304" pitchFamily="18" charset="0"/>
                          <a:cs typeface="Times New Roman" panose="02020603050405020304" pitchFamily="18" charset="0"/>
                        </a:rPr>
                        <a:t>29-Jul-25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chemeClr val="tx1"/>
                          </a:solidFill>
                          <a:effectLst/>
                          <a:latin typeface="Times New Roman" panose="02020603050405020304" pitchFamily="18" charset="0"/>
                          <a:cs typeface="Times New Roman" panose="02020603050405020304" pitchFamily="18" charset="0"/>
                        </a:rPr>
                        <a:t>SQD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4786720"/>
                  </a:ext>
                </a:extLst>
              </a:tr>
              <a:tr h="412123">
                <a:tc>
                  <a:txBody>
                    <a:bodyPr/>
                    <a:lstStyle/>
                    <a:p>
                      <a:pPr algn="ctr" fontAlgn="ctr">
                        <a:lnSpc>
                          <a:spcPct val="100000"/>
                        </a:lnSpc>
                      </a:pPr>
                      <a:r>
                        <a:rPr lang="en-US" sz="1000" b="0" i="0" u="none" strike="noStrike" smtClean="0">
                          <a:solidFill>
                            <a:schemeClr val="tx1"/>
                          </a:solidFill>
                          <a:effectLst/>
                          <a:latin typeface="Times New Roman" panose="02020603050405020304" pitchFamily="18" charset="0"/>
                          <a:cs typeface="Times New Roman" panose="02020603050405020304" pitchFamily="18" charset="0"/>
                        </a:rPr>
                        <a:t>4</a:t>
                      </a:r>
                      <a:endParaRPr lang="en-US" sz="1000" b="0" i="0" u="none" strike="noStrike">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A867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867-06/25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Thuong mai</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B1604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MEL 21-51-01-02-01-01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STATUS MSG: CABIN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AIR CPRSR </a:t>
                      </a:r>
                      <a:r>
                        <a:rPr lang="en-US" sz="1000" b="0" i="0" u="none" strike="noStrike">
                          <a:solidFill>
                            <a:srgbClr val="000000"/>
                          </a:solidFill>
                          <a:effectLst/>
                          <a:latin typeface="Times New Roman" panose="02020603050405020304" pitchFamily="18" charset="0"/>
                          <a:cs typeface="Times New Roman" panose="02020603050405020304" pitchFamily="18" charset="0"/>
                        </a:rPr>
                        <a:t>L1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8-Jul-25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SQD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96833777"/>
                  </a:ext>
                </a:extLst>
              </a:tr>
              <a:tr h="414817">
                <a:tc>
                  <a:txBody>
                    <a:bodyPr/>
                    <a:lstStyle/>
                    <a:p>
                      <a:pPr algn="ctr" fontAlgn="ctr">
                        <a:lnSpc>
                          <a:spcPct val="100000"/>
                        </a:lnSpc>
                      </a:pPr>
                      <a:r>
                        <a:rPr lang="en-US" sz="1000" b="0" i="0" u="none" strike="noStrike" smtClean="0">
                          <a:solidFill>
                            <a:schemeClr val="tx1"/>
                          </a:solidFill>
                          <a:effectLst/>
                          <a:latin typeface="Times New Roman" panose="02020603050405020304" pitchFamily="18" charset="0"/>
                          <a:cs typeface="Times New Roman" panose="02020603050405020304" pitchFamily="18" charset="0"/>
                        </a:rPr>
                        <a:t>5</a:t>
                      </a:r>
                      <a:endParaRPr lang="en-US" sz="1000" b="0" i="0" u="none" strike="noStrike">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A886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HVN/VN-A886/2025-07-13/01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Part Long Lead Time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B1396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MEL 27-44-01A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F/CTL STABILAIZER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E1 ACTUATOR</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13-Jul-25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SQD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87501275"/>
                  </a:ext>
                </a:extLst>
              </a:tr>
              <a:tr h="263820">
                <a:tc>
                  <a:txBody>
                    <a:bodyPr/>
                    <a:lstStyle/>
                    <a:p>
                      <a:pPr algn="ctr" fontAlgn="ctr">
                        <a:lnSpc>
                          <a:spcPct val="100000"/>
                        </a:lnSpc>
                      </a:pPr>
                      <a:r>
                        <a:rPr lang="en-US" sz="1000" b="0" i="0" u="none" strike="noStrike" smtClean="0">
                          <a:solidFill>
                            <a:schemeClr val="tx1"/>
                          </a:solidFill>
                          <a:effectLst/>
                          <a:latin typeface="Times New Roman" panose="02020603050405020304" pitchFamily="18" charset="0"/>
                          <a:cs typeface="Times New Roman" panose="02020603050405020304" pitchFamily="18" charset="0"/>
                        </a:rPr>
                        <a:t>6</a:t>
                      </a:r>
                      <a:endParaRPr lang="en-US" sz="1000" b="0" i="0" u="none" strike="noStrike">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A886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HVN/VN-A886/2025-07-18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Part Long Lead Time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B1396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MEL 27-44-01A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F/CTL STABILAIZER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E1 ACTUATOR</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18-Jul-25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lnSpc>
                          <a:spcPct val="100000"/>
                        </a:lnSpc>
                      </a:pPr>
                      <a:r>
                        <a:rPr lang="en-US" sz="1000" b="0" i="0" u="none" strike="noStrike">
                          <a:solidFill>
                            <a:srgbClr val="000000"/>
                          </a:solidFill>
                          <a:effectLst/>
                          <a:latin typeface="Times New Roman" panose="02020603050405020304" pitchFamily="18" charset="0"/>
                          <a:cs typeface="Times New Roman" panose="02020603050405020304" pitchFamily="18" charset="0"/>
                        </a:rPr>
                        <a:t>CAAV</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1170559"/>
                  </a:ext>
                </a:extLst>
              </a:tr>
            </a:tbl>
          </a:graphicData>
        </a:graphic>
      </p:graphicFrame>
    </p:spTree>
    <p:extLst>
      <p:ext uri="{BB962C8B-B14F-4D97-AF65-F5344CB8AC3E}">
        <p14:creationId xmlns:p14="http://schemas.microsoft.com/office/powerpoint/2010/main" val="42491140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11</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001892"/>
            <a:ext cx="10555264"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a:t>
            </a:r>
            <a:r>
              <a:rPr kumimoji="0" lang="en-US" altLang="en-US" sz="1867"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2.2 </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TỶ LỆ NHÂN NHƯỢNG TÀU </a:t>
            </a:r>
            <a:r>
              <a:rPr kumimoji="0" lang="en-US" altLang="en-US" sz="18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BAY LOẠI 2…7</a:t>
            </a:r>
            <a:r>
              <a:rPr kumimoji="0" lang="en-US" sz="18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(AMS, CMS, MME, AMP…)</a:t>
            </a:r>
            <a:r>
              <a:rPr kumimoji="0" lang="en-US" altLang="en-US" sz="18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880533" y="5310724"/>
            <a:ext cx="10660112" cy="1338828"/>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35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35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35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7/2025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đã cấp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19 NN, giảm 05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NN so với tháng trước và giảm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28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NN so với cùng kỳ năm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tháng 7</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/2025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14.61 NN/10000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CB,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giảm 3.68 điểm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so với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trước và giảm 21.62 điểm so với cùng kỳ 2024.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ạt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mục tiêu năm 2025 là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24.20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NN/10000CB. </a:t>
            </a:r>
            <a:endPar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 tháng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đầu năm 2025 đã cấp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193 NN</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giảm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120 NN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tương ứng giảm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16.80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năm 2024. KPI năm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 tháng 2025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23.11, đạt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mục tiêu.</a:t>
            </a:r>
          </a:p>
        </p:txBody>
      </p:sp>
      <p:graphicFrame>
        <p:nvGraphicFramePr>
          <p:cNvPr id="9" name="Chart 8">
            <a:extLst>
              <a:ext uri="{FF2B5EF4-FFF2-40B4-BE49-F238E27FC236}">
                <a16:creationId xmlns:a16="http://schemas.microsoft.com/office/drawing/2014/main" id="{00000000-0008-0000-0200-000009000000}"/>
              </a:ext>
            </a:extLst>
          </p:cNvPr>
          <p:cNvGraphicFramePr>
            <a:graphicFrameLocks/>
          </p:cNvGraphicFramePr>
          <p:nvPr>
            <p:extLst>
              <p:ext uri="{D42A27DB-BD31-4B8C-83A1-F6EECF244321}">
                <p14:modId xmlns:p14="http://schemas.microsoft.com/office/powerpoint/2010/main" val="3850587856"/>
              </p:ext>
            </p:extLst>
          </p:nvPr>
        </p:nvGraphicFramePr>
        <p:xfrm>
          <a:off x="985380" y="1652954"/>
          <a:ext cx="7754173" cy="344931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5A4ADDF6-D5F0-44AE-BD9E-BDBB2B8BDDF6}"/>
              </a:ext>
            </a:extLst>
          </p:cNvPr>
          <p:cNvGraphicFramePr>
            <a:graphicFrameLocks/>
          </p:cNvGraphicFramePr>
          <p:nvPr>
            <p:extLst/>
          </p:nvPr>
        </p:nvGraphicFramePr>
        <p:xfrm>
          <a:off x="9047285" y="1652954"/>
          <a:ext cx="2401958" cy="3449319"/>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141392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12</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001893"/>
            <a:ext cx="10638772"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0" fontAlgn="auto" latinLnBrk="0" hangingPunct="0">
              <a:lnSpc>
                <a:spcPct val="100000"/>
              </a:lnSpc>
              <a:spcBef>
                <a:spcPts val="0"/>
              </a:spcBef>
              <a:spcAft>
                <a:spcPts val="0"/>
              </a:spcAft>
              <a:buClr>
                <a:srgbClr val="000000"/>
              </a:buClr>
              <a:buSzTx/>
              <a:buFontTx/>
              <a:buNone/>
              <a:tabLst/>
              <a:defRPr/>
            </a:pPr>
            <a:r>
              <a:rPr kumimoji="0" 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3 – TỶ LỆ SỰ CỐ, VỤ VIỆC GIÁN ĐOẠN KHAI THÁC VÌ LÝ DO KỸ THUẬT</a:t>
            </a:r>
            <a:endParaRPr kumimoji="0" 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985381" y="5311423"/>
            <a:ext cx="10596578" cy="1338828"/>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35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35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35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7/2025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xảy</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ra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việc</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tàu</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bay GĐKT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vì</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lý</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do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 GTB</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giảm 06 vụ so với tháng trước và giảm 05 vụ so với cùng kỳ năm 2024. </a:t>
            </a:r>
            <a:endPar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7</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/2025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3.08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/10000CB</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giảm 4.54 điểm </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so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trước</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và</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giảm</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3.86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so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cùng</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mục</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tiêu</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2025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7.28 </a:t>
            </a:r>
            <a:r>
              <a:rPr kumimoji="0" lang="en-US" sz="135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a:t>
            </a:r>
            <a:r>
              <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10000 CB</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 tháng năm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2025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xảy ra 57 vụ việc, giảm 08 vụ tương ứng giảm 1.47 điểm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so với cùng kỳ năm 2024. KPI 7</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tháng năm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2025 là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6.82, đạt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mục tiêu.</a:t>
            </a:r>
            <a:endPar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graphicFrame>
        <p:nvGraphicFramePr>
          <p:cNvPr id="9" name="Chart 8">
            <a:extLst>
              <a:ext uri="{FF2B5EF4-FFF2-40B4-BE49-F238E27FC236}">
                <a16:creationId xmlns:a16="http://schemas.microsoft.com/office/drawing/2014/main" id="{00000000-0008-0000-0300-000002000000}"/>
              </a:ext>
            </a:extLst>
          </p:cNvPr>
          <p:cNvGraphicFramePr>
            <a:graphicFrameLocks/>
          </p:cNvGraphicFramePr>
          <p:nvPr>
            <p:extLst>
              <p:ext uri="{D42A27DB-BD31-4B8C-83A1-F6EECF244321}">
                <p14:modId xmlns:p14="http://schemas.microsoft.com/office/powerpoint/2010/main" val="323290414"/>
              </p:ext>
            </p:extLst>
          </p:nvPr>
        </p:nvGraphicFramePr>
        <p:xfrm>
          <a:off x="1114812" y="1740877"/>
          <a:ext cx="7448895" cy="336279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029E13A4-1973-4FA2-913F-0486F9630CBD}"/>
              </a:ext>
            </a:extLst>
          </p:cNvPr>
          <p:cNvGraphicFramePr>
            <a:graphicFrameLocks/>
          </p:cNvGraphicFramePr>
          <p:nvPr>
            <p:extLst/>
          </p:nvPr>
        </p:nvGraphicFramePr>
        <p:xfrm>
          <a:off x="8809892" y="1740877"/>
          <a:ext cx="2730753" cy="336279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082884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13</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Rectangle 3"/>
          <p:cNvSpPr/>
          <p:nvPr/>
        </p:nvSpPr>
        <p:spPr>
          <a:xfrm>
            <a:off x="1112459" y="352763"/>
            <a:ext cx="10549952" cy="379656"/>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Bảng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tổng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hợp</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kiện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đoạn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khai</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thác do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nguyên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nhân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kỹ</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thuật</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7/2025</a:t>
            </a:r>
            <a:endPar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graphicFrame>
        <p:nvGraphicFramePr>
          <p:cNvPr id="5" name="Table 4"/>
          <p:cNvGraphicFramePr>
            <a:graphicFrameLocks noGrp="1"/>
          </p:cNvGraphicFramePr>
          <p:nvPr>
            <p:extLst/>
          </p:nvPr>
        </p:nvGraphicFramePr>
        <p:xfrm>
          <a:off x="1025427" y="913677"/>
          <a:ext cx="10724015" cy="5815018"/>
        </p:xfrm>
        <a:graphic>
          <a:graphicData uri="http://schemas.openxmlformats.org/drawingml/2006/table">
            <a:tbl>
              <a:tblPr/>
              <a:tblGrid>
                <a:gridCol w="324195">
                  <a:extLst>
                    <a:ext uri="{9D8B030D-6E8A-4147-A177-3AD203B41FA5}">
                      <a16:colId xmlns:a16="http://schemas.microsoft.com/office/drawing/2014/main" val="597640897"/>
                    </a:ext>
                  </a:extLst>
                </a:gridCol>
                <a:gridCol w="407324">
                  <a:extLst>
                    <a:ext uri="{9D8B030D-6E8A-4147-A177-3AD203B41FA5}">
                      <a16:colId xmlns:a16="http://schemas.microsoft.com/office/drawing/2014/main" val="3112661825"/>
                    </a:ext>
                  </a:extLst>
                </a:gridCol>
                <a:gridCol w="407324">
                  <a:extLst>
                    <a:ext uri="{9D8B030D-6E8A-4147-A177-3AD203B41FA5}">
                      <a16:colId xmlns:a16="http://schemas.microsoft.com/office/drawing/2014/main" val="2452639611"/>
                    </a:ext>
                  </a:extLst>
                </a:gridCol>
                <a:gridCol w="399011">
                  <a:extLst>
                    <a:ext uri="{9D8B030D-6E8A-4147-A177-3AD203B41FA5}">
                      <a16:colId xmlns:a16="http://schemas.microsoft.com/office/drawing/2014/main" val="3132563159"/>
                    </a:ext>
                  </a:extLst>
                </a:gridCol>
                <a:gridCol w="340821">
                  <a:extLst>
                    <a:ext uri="{9D8B030D-6E8A-4147-A177-3AD203B41FA5}">
                      <a16:colId xmlns:a16="http://schemas.microsoft.com/office/drawing/2014/main" val="1049592144"/>
                    </a:ext>
                  </a:extLst>
                </a:gridCol>
                <a:gridCol w="473826">
                  <a:extLst>
                    <a:ext uri="{9D8B030D-6E8A-4147-A177-3AD203B41FA5}">
                      <a16:colId xmlns:a16="http://schemas.microsoft.com/office/drawing/2014/main" val="2971342196"/>
                    </a:ext>
                  </a:extLst>
                </a:gridCol>
                <a:gridCol w="678917">
                  <a:extLst>
                    <a:ext uri="{9D8B030D-6E8A-4147-A177-3AD203B41FA5}">
                      <a16:colId xmlns:a16="http://schemas.microsoft.com/office/drawing/2014/main" val="2844994950"/>
                    </a:ext>
                  </a:extLst>
                </a:gridCol>
                <a:gridCol w="443301">
                  <a:extLst>
                    <a:ext uri="{9D8B030D-6E8A-4147-A177-3AD203B41FA5}">
                      <a16:colId xmlns:a16="http://schemas.microsoft.com/office/drawing/2014/main" val="2647951519"/>
                    </a:ext>
                  </a:extLst>
                </a:gridCol>
                <a:gridCol w="1413164">
                  <a:extLst>
                    <a:ext uri="{9D8B030D-6E8A-4147-A177-3AD203B41FA5}">
                      <a16:colId xmlns:a16="http://schemas.microsoft.com/office/drawing/2014/main" val="3725708236"/>
                    </a:ext>
                  </a:extLst>
                </a:gridCol>
                <a:gridCol w="1637607">
                  <a:extLst>
                    <a:ext uri="{9D8B030D-6E8A-4147-A177-3AD203B41FA5}">
                      <a16:colId xmlns:a16="http://schemas.microsoft.com/office/drawing/2014/main" val="1457096139"/>
                    </a:ext>
                  </a:extLst>
                </a:gridCol>
                <a:gridCol w="432262">
                  <a:extLst>
                    <a:ext uri="{9D8B030D-6E8A-4147-A177-3AD203B41FA5}">
                      <a16:colId xmlns:a16="http://schemas.microsoft.com/office/drawing/2014/main" val="1899391533"/>
                    </a:ext>
                  </a:extLst>
                </a:gridCol>
                <a:gridCol w="3766263">
                  <a:extLst>
                    <a:ext uri="{9D8B030D-6E8A-4147-A177-3AD203B41FA5}">
                      <a16:colId xmlns:a16="http://schemas.microsoft.com/office/drawing/2014/main" val="1162097116"/>
                    </a:ext>
                  </a:extLst>
                </a:gridCol>
              </a:tblGrid>
              <a:tr h="266636">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STT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Date</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Flight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ATA</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Engneering Assessment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764583858"/>
                  </a:ext>
                </a:extLst>
              </a:tr>
              <a:tr h="993527">
                <a:tc>
                  <a:txBody>
                    <a:bodyPr/>
                    <a:lstStyle/>
                    <a:p>
                      <a:pPr algn="ctr" fontAlgn="ctr"/>
                      <a:r>
                        <a:rPr lang="en-US" sz="900" b="0" i="0" u="none" strike="noStrike" smtClean="0">
                          <a:solidFill>
                            <a:schemeClr val="tx1"/>
                          </a:solidFill>
                          <a:effectLst/>
                          <a:latin typeface="Times New Roman" panose="02020603050405020304" pitchFamily="18" charset="0"/>
                          <a:cs typeface="Times New Roman" panose="02020603050405020304" pitchFamily="18" charset="0"/>
                        </a:rPr>
                        <a:t>1</a:t>
                      </a:r>
                      <a:endParaRPr lang="en-US" sz="900" b="0" i="0" u="none" strike="noStrike">
                        <a:solidFill>
                          <a:schemeClr val="tx1"/>
                        </a:solidFill>
                        <a:effectLst/>
                        <a:latin typeface="Times New Roman" panose="02020603050405020304" pitchFamily="18" charset="0"/>
                        <a:cs typeface="Times New Roman" panose="02020603050405020304" pitchFamily="18" charset="0"/>
                      </a:endParaRP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A350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A890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19/07</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VN246</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rtl="0"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GTB</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DURING PUSHBACK CANNOT START ENG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2. </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RPLD </a:t>
                      </a:r>
                      <a:r>
                        <a:rPr lang="en-US" sz="900" b="0" i="0" u="none" strike="noStrike">
                          <a:solidFill>
                            <a:srgbClr val="000000"/>
                          </a:solidFill>
                          <a:effectLst/>
                          <a:latin typeface="Times New Roman" panose="02020603050405020304" pitchFamily="18" charset="0"/>
                          <a:cs typeface="Times New Roman" panose="02020603050405020304" pitchFamily="18" charset="0"/>
                        </a:rPr>
                        <a:t>PNEUMATIC STARTER &amp; SERVICE OIL FOR PNEUMATIC STARTER. ENG RUN FOR LEAK CHECK. SATIS</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27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vi-VN" sz="900" b="0" i="0" u="none" strike="noStrike" smtClean="0">
                          <a:solidFill>
                            <a:srgbClr val="000000"/>
                          </a:solidFill>
                          <a:effectLst/>
                          <a:latin typeface="Times New Roman" panose="02020603050405020304" pitchFamily="18" charset="0"/>
                          <a:cs typeface="Times New Roman" panose="02020603050405020304" pitchFamily="18" charset="0"/>
                        </a:rPr>
                        <a:t>Hỏng </a:t>
                      </a:r>
                      <a:r>
                        <a:rPr lang="vi-VN" sz="900" b="0" i="0" u="none" strike="noStrike">
                          <a:solidFill>
                            <a:srgbClr val="000000"/>
                          </a:solidFill>
                          <a:effectLst/>
                          <a:latin typeface="Times New Roman" panose="02020603050405020304" pitchFamily="18" charset="0"/>
                          <a:cs typeface="Times New Roman" panose="02020603050405020304" pitchFamily="18" charset="0"/>
                        </a:rPr>
                        <a:t>hóc Starter đã xảy ra nhiều lần trên đội bay VNA, xuất hiện từ khi mới nhận tàu, vẫn được NSX xác định nguyên nhân do lỗi Oil Servicing, thừa hoặc thiếu oil đều sẽ gây ra hỏng hóc. </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Đối với Starter tàu A890: dù khối đã được sử dụng trong thời gian dài (TSO = 28284 FH), tuy nhiên trước khi thay động cơ và thực hiện Oil Servicing ngày 17/07 khối hoạt động bình thường, kiểm tra MCD tần suất không phát hiện hỏng hóc. Sau đó 02 ngày vào 19/07 trong event A890, kiểm tra MCD đã phát hiện nhiều mạt kim loại. Hiện tượng này giống với một số hỏng hóc Starter trước đây do lỗi Oil Servicing, do đó nghi ngờ hỏng hóc trên A890 có cùng nguyên nhân.</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Hiện NSX đưa ra giải pháp phòng ngừa duy nhất là đảm bảo việc Service Oil được thực hiện chuẩn xác. Tất cả các khuyến cáo của NSX đều đã được VNA/VAECO tuân thủ. VNA đã phối hợp với VAECO ban hành TM yêu cầu thực hiện quy trình Servicing chặt hơn so với AMM. Mặc dù góp phần giảm được số sự vụ, tuy nhiên vẫn không phòng tránh được hoàn toàn vấn đề.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9449205"/>
                  </a:ext>
                </a:extLst>
              </a:tr>
              <a:tr h="993527">
                <a:tc>
                  <a:txBody>
                    <a:bodyPr/>
                    <a:lstStyle/>
                    <a:p>
                      <a:pPr algn="ctr" fontAlgn="ctr"/>
                      <a:r>
                        <a:rPr lang="en-US" sz="900" b="0" i="0" u="none" strike="noStrike" smtClean="0">
                          <a:solidFill>
                            <a:schemeClr val="tx1"/>
                          </a:solidFill>
                          <a:effectLst/>
                          <a:latin typeface="Times New Roman" panose="02020603050405020304" pitchFamily="18" charset="0"/>
                          <a:cs typeface="Times New Roman" panose="02020603050405020304" pitchFamily="18" charset="0"/>
                        </a:rPr>
                        <a:t>2</a:t>
                      </a:r>
                      <a:endParaRPr lang="en-US" sz="900" b="0" i="0" u="none" strike="noStrike">
                        <a:solidFill>
                          <a:schemeClr val="tx1"/>
                        </a:solidFill>
                        <a:effectLst/>
                        <a:latin typeface="Times New Roman" panose="02020603050405020304" pitchFamily="18" charset="0"/>
                        <a:cs typeface="Times New Roman" panose="02020603050405020304" pitchFamily="18" charset="0"/>
                      </a:endParaRP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A604</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17/07</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VN648</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SGN-MNL</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rtl="0"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GTB</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AFTER </a:t>
                      </a:r>
                      <a:r>
                        <a:rPr lang="en-US" sz="900" b="0" i="0" u="none" strike="noStrike">
                          <a:solidFill>
                            <a:srgbClr val="000000"/>
                          </a:solidFill>
                          <a:effectLst/>
                          <a:latin typeface="Times New Roman" panose="02020603050405020304" pitchFamily="18" charset="0"/>
                          <a:cs typeface="Times New Roman" panose="02020603050405020304" pitchFamily="18" charset="0"/>
                        </a:rPr>
                        <a:t>PUSHBACK CAPT REPORT VIA VHF: AFT CARGO HEAT FAULT, AFT CARGO ISO VALVE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FAULT.</a:t>
                      </a:r>
                      <a:r>
                        <a:rPr lang="en-US" sz="900" b="0" i="0" u="none" strike="noStrike">
                          <a:solidFill>
                            <a:srgbClr val="000000"/>
                          </a:solidFill>
                          <a:effectLst/>
                          <a:latin typeface="Times New Roman" panose="02020603050405020304" pitchFamily="18" charset="0"/>
                          <a:cs typeface="Times New Roman" panose="02020603050405020304" pitchFamily="18" charset="0"/>
                        </a:rPr>
                        <a:t/>
                      </a:r>
                      <a:br>
                        <a:rPr lang="en-US"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a:solidFill>
                            <a:srgbClr val="000000"/>
                          </a:solidFill>
                          <a:effectLst/>
                          <a:latin typeface="Times New Roman" panose="02020603050405020304" pitchFamily="18" charset="0"/>
                          <a:cs typeface="Times New Roman" panose="02020603050405020304" pitchFamily="18" charset="0"/>
                        </a:rPr>
                        <a:t>- TSV ADVICE RESET BUT NIL HELP. A/C CARRING LIVE ANIMALS. CAPT DECIDED GTB FOR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RECTIFY.</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RPLD </a:t>
                      </a:r>
                      <a:r>
                        <a:rPr lang="en-US" sz="900" b="0" i="0" u="none" strike="noStrike">
                          <a:solidFill>
                            <a:srgbClr val="000000"/>
                          </a:solidFill>
                          <a:effectLst/>
                          <a:latin typeface="Times New Roman" panose="02020603050405020304" pitchFamily="18" charset="0"/>
                          <a:cs typeface="Times New Roman" panose="02020603050405020304" pitchFamily="18" charset="0"/>
                        </a:rPr>
                        <a:t>CONTROLLER HEAT 10HC (ROBBED FROM A509 TO SERVICE A604). CHECK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SATIS</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77</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vi-VN" sz="900" b="0" i="0" u="none" strike="noStrike">
                          <a:solidFill>
                            <a:srgbClr val="000000"/>
                          </a:solidFill>
                          <a:effectLst/>
                          <a:latin typeface="Times New Roman" panose="02020603050405020304" pitchFamily="18" charset="0"/>
                          <a:cs typeface="Times New Roman" panose="02020603050405020304" pitchFamily="18" charset="0"/>
                        </a:rPr>
                        <a:t>Khối CHC trên A604 đã khai thác được hơn 27k FH và chưa hỏng lần nào. Theo thống kê hỏng hóc thì khối CHC 600611-00-601 trong 05 năm gần đây chỉ tháo năm 2023 (5 lần) và 2025 (2 lần). Hiện AIB không có topic nào liên quan đến ĐTC của khối này và không có chương trình nâng cấp. Tiếp tục theo dõi thêm</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6276731"/>
                  </a:ext>
                </a:extLst>
              </a:tr>
              <a:tr h="993527">
                <a:tc>
                  <a:txBody>
                    <a:bodyPr/>
                    <a:lstStyle/>
                    <a:p>
                      <a:pPr algn="ctr" fontAlgn="ctr"/>
                      <a:r>
                        <a:rPr lang="en-US" sz="900" b="0" i="0" u="none" strike="noStrike" smtClean="0">
                          <a:solidFill>
                            <a:schemeClr val="tx1"/>
                          </a:solidFill>
                          <a:effectLst/>
                          <a:latin typeface="Times New Roman" panose="02020603050405020304" pitchFamily="18" charset="0"/>
                          <a:cs typeface="Times New Roman" panose="02020603050405020304" pitchFamily="18" charset="0"/>
                        </a:rPr>
                        <a:t>3</a:t>
                      </a:r>
                      <a:endParaRPr lang="en-US" sz="900" b="0" i="0" u="none" strike="noStrike">
                        <a:solidFill>
                          <a:schemeClr val="tx1"/>
                        </a:solidFill>
                        <a:effectLst/>
                        <a:latin typeface="Times New Roman" panose="02020603050405020304" pitchFamily="18" charset="0"/>
                        <a:cs typeface="Times New Roman" panose="02020603050405020304" pitchFamily="18" charset="0"/>
                      </a:endParaRP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A350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A891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09/07</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VN259</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HAN-SGN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rtl="0"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GTB</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A/C </a:t>
                      </a:r>
                      <a:r>
                        <a:rPr lang="en-US" sz="900" b="0" i="0" u="none" strike="noStrike">
                          <a:solidFill>
                            <a:srgbClr val="000000"/>
                          </a:solidFill>
                          <a:effectLst/>
                          <a:latin typeface="Times New Roman" panose="02020603050405020304" pitchFamily="18" charset="0"/>
                          <a:cs typeface="Times New Roman" panose="02020603050405020304" pitchFamily="18" charset="0"/>
                        </a:rPr>
                        <a:t>GTB DUE TO DM BRK NORMAL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BRK</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Ref </a:t>
                      </a:r>
                      <a:r>
                        <a:rPr lang="en-US" sz="900" b="0" i="0" u="none" strike="noStrike">
                          <a:solidFill>
                            <a:srgbClr val="000000"/>
                          </a:solidFill>
                          <a:effectLst/>
                          <a:latin typeface="Times New Roman" panose="02020603050405020304" pitchFamily="18" charset="0"/>
                          <a:cs typeface="Times New Roman" panose="02020603050405020304" pitchFamily="18" charset="0"/>
                        </a:rPr>
                        <a:t>AFI 32-42-xx.BC001.42A (Rev 104) BITE test BSCS 1 and 2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SATIS</a:t>
                      </a:r>
                      <a:r>
                        <a:rPr lang="en-US" sz="900" b="0" i="0" u="none" strike="noStrike">
                          <a:solidFill>
                            <a:srgbClr val="000000"/>
                          </a:solidFill>
                          <a:effectLst/>
                          <a:latin typeface="Times New Roman" panose="02020603050405020304" pitchFamily="18" charset="0"/>
                          <a:cs typeface="Times New Roman" panose="02020603050405020304" pitchFamily="18" charset="0"/>
                        </a:rPr>
                        <a:t>; DM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GONE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73</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vi-VN" sz="900" b="0" i="0" u="none" strike="noStrike">
                          <a:solidFill>
                            <a:srgbClr val="000000"/>
                          </a:solidFill>
                          <a:effectLst/>
                          <a:latin typeface="Times New Roman" panose="02020603050405020304" pitchFamily="18" charset="0"/>
                          <a:cs typeface="Times New Roman" panose="02020603050405020304" pitchFamily="18" charset="0"/>
                        </a:rPr>
                        <a:t>Trong quá trình Taxi (được khoảng 100m), thì xuất hiện cảnh báo về </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Brake</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a:t>
                      </a:r>
                      <a:r>
                        <a:rPr lang="en-US" sz="900" b="0" i="0" u="none" strike="noStrike" baseline="0" smtClean="0">
                          <a:solidFill>
                            <a:srgbClr val="000000"/>
                          </a:solidFill>
                          <a:effectLst/>
                          <a:latin typeface="Times New Roman" panose="02020603050405020304" pitchFamily="18" charset="0"/>
                          <a:cs typeface="Times New Roman" panose="02020603050405020304" pitchFamily="18" charset="0"/>
                        </a:rPr>
                        <a:t> </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Với </a:t>
                      </a:r>
                      <a:r>
                        <a:rPr lang="vi-VN" sz="900" b="0" i="0" u="none" strike="noStrike">
                          <a:solidFill>
                            <a:srgbClr val="000000"/>
                          </a:solidFill>
                          <a:effectLst/>
                          <a:latin typeface="Times New Roman" panose="02020603050405020304" pitchFamily="18" charset="0"/>
                          <a:cs typeface="Times New Roman" panose="02020603050405020304" pitchFamily="18" charset="0"/>
                        </a:rPr>
                        <a:t>FC 32X1F4UA, đây là lần đầu tiên xảy ra trên đội tàu bay </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A350</a:t>
                      </a:r>
                      <a:r>
                        <a:rPr lang="vi-VN" sz="900" b="0" i="0" u="none" strike="noStrike">
                          <a:solidFill>
                            <a:srgbClr val="000000"/>
                          </a:solidFill>
                          <a:effectLst/>
                          <a:latin typeface="Times New Roman" panose="02020603050405020304" pitchFamily="18" charset="0"/>
                          <a:cs typeface="Times New Roman" panose="02020603050405020304" pitchFamily="18" charset="0"/>
                        </a:rPr>
                        <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Theo Airbus phân tích qua TR 81622239, nghi ngờ do pressure transducer 12GG1 cung sai tín hiệu (tín hiệu áp suất thủy lực từ bình tích áp cao hơn áp suất áp dụng lên phanh</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a:t>
                      </a:r>
                      <a:r>
                        <a:rPr lang="vi-VN" sz="900" b="0" i="0" u="none" strike="noStrike">
                          <a:solidFill>
                            <a:srgbClr val="000000"/>
                          </a:solidFill>
                          <a:effectLst/>
                          <a:latin typeface="Times New Roman" panose="02020603050405020304" pitchFamily="18" charset="0"/>
                          <a:cs typeface="Times New Roman" panose="02020603050405020304" pitchFamily="18" charset="0"/>
                        </a:rPr>
                        <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Đây là lần đầu tiên xảy ra hỏng hóc này trên đội tàu bay A350</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Với pressure transducer thì mới chỉ thay 1 lần kể từ khi EIS (năm </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2024)</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 </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Transducer </a:t>
                      </a:r>
                      <a:r>
                        <a:rPr lang="vi-VN" sz="900" b="0" i="0" u="none" strike="noStrike">
                          <a:solidFill>
                            <a:srgbClr val="000000"/>
                          </a:solidFill>
                          <a:effectLst/>
                          <a:latin typeface="Times New Roman" panose="02020603050405020304" pitchFamily="18" charset="0"/>
                          <a:cs typeface="Times New Roman" panose="02020603050405020304" pitchFamily="18" charset="0"/>
                        </a:rPr>
                        <a:t>không phải là thiết bị repairable nên không gửi đi sửa và ko có SFR. </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Tiếp tục theo dõi thêm hỏng hóc này</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481746"/>
                  </a:ext>
                </a:extLst>
              </a:tr>
              <a:tr h="993527">
                <a:tc>
                  <a:txBody>
                    <a:bodyPr/>
                    <a:lstStyle/>
                    <a:p>
                      <a:pPr algn="ctr" fontAlgn="ctr"/>
                      <a:r>
                        <a:rPr lang="en-US" sz="900" b="0" i="0" u="none" strike="noStrike" smtClean="0">
                          <a:solidFill>
                            <a:schemeClr val="tx1"/>
                          </a:solidFill>
                          <a:effectLst/>
                          <a:latin typeface="Times New Roman" panose="02020603050405020304" pitchFamily="18" charset="0"/>
                          <a:cs typeface="Times New Roman" panose="02020603050405020304" pitchFamily="18" charset="0"/>
                        </a:rPr>
                        <a:t>4</a:t>
                      </a:r>
                      <a:endParaRPr lang="en-US" sz="900" b="0" i="0" u="none" strike="noStrike">
                        <a:solidFill>
                          <a:schemeClr val="tx1"/>
                        </a:solidFill>
                        <a:effectLst/>
                        <a:latin typeface="Times New Roman" panose="02020603050405020304" pitchFamily="18" charset="0"/>
                        <a:cs typeface="Times New Roman" panose="02020603050405020304" pitchFamily="18" charset="0"/>
                      </a:endParaRP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A350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A899</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01/07</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VN209</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HAN-SGN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rtl="0"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GTB</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DURING PUSHBACK CAPT REPORT “ HYD ENG 2 G PUMP</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900" b="0" i="0" u="none" strike="noStrike">
                          <a:solidFill>
                            <a:srgbClr val="000000"/>
                          </a:solidFill>
                          <a:effectLst/>
                          <a:latin typeface="Times New Roman" panose="02020603050405020304" pitchFamily="18" charset="0"/>
                          <a:cs typeface="Times New Roman" panose="02020603050405020304" pitchFamily="18" charset="0"/>
                        </a:rPr>
                        <a:t>DEACTIVATED G ENG2 PUMP AND RAISED ADD MEL : 29-10-01A.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79</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vi-VN" sz="900" b="0" i="0" u="none" strike="noStrike">
                          <a:solidFill>
                            <a:srgbClr val="000000"/>
                          </a:solidFill>
                          <a:effectLst/>
                          <a:latin typeface="Times New Roman" panose="02020603050405020304" pitchFamily="18" charset="0"/>
                          <a:cs typeface="Times New Roman" panose="02020603050405020304" pitchFamily="18" charset="0"/>
                        </a:rPr>
                        <a:t>Hỏng hóc TR fault có 2 nguyên nhân chính là do hỏng HCU (do ĐTC của thiết bị) hoặc hỏng TM817/TM824 (chân cắm bị cháy do ẩm hoặc bụi bẩn). Ban KT đã ra SO yêu cầu thay toàn bộ junction của TM và kiểm tra HCU có dấu hiệu quá nhiệt hay không cũng như kiểm tra TM theo tần suất C check. Hiện AIB không có khuyến cáo hay topic nào liên quan đến cảnh báo này.</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1795344"/>
                  </a:ext>
                </a:extLst>
              </a:tr>
            </a:tbl>
          </a:graphicData>
        </a:graphic>
      </p:graphicFrame>
    </p:spTree>
    <p:extLst>
      <p:ext uri="{BB962C8B-B14F-4D97-AF65-F5344CB8AC3E}">
        <p14:creationId xmlns:p14="http://schemas.microsoft.com/office/powerpoint/2010/main" val="25029600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14</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001892"/>
            <a:ext cx="106387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0" fontAlgn="auto" latinLnBrk="0" hangingPunct="0">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4 – CHỈ SỐ BÁO CÁO TỰ NGUYỆN</a:t>
            </a:r>
            <a:endPar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9" name="Rectangle 8"/>
          <p:cNvSpPr/>
          <p:nvPr/>
        </p:nvSpPr>
        <p:spPr>
          <a:xfrm>
            <a:off x="1672672" y="1349368"/>
            <a:ext cx="9623939" cy="584775"/>
          </a:xfrm>
          <a:prstGeom prst="rect">
            <a:avLst/>
          </a:prstGeom>
        </p:spPr>
        <p:txBody>
          <a:bodyPr wrap="square">
            <a:spAutoFit/>
          </a:bodyPr>
          <a:lstStyle/>
          <a:p>
            <a:pPr marL="0" marR="0" lvl="0" indent="0" algn="just" defTabSz="1219170" rtl="0" eaLnBrk="1" fontAlgn="auto" latinLnBrk="0" hangingPunct="1">
              <a:lnSpc>
                <a:spcPct val="100000"/>
              </a:lnSpc>
              <a:spcBef>
                <a:spcPts val="800"/>
              </a:spcBef>
              <a:spcAft>
                <a:spcPts val="800"/>
              </a:spcAft>
              <a:buClr>
                <a:srgbClr val="000000"/>
              </a:buClr>
              <a:buSzTx/>
              <a:buFontTx/>
              <a:buChar char="-"/>
              <a:tabLst/>
              <a:defRPr/>
            </a:pP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7/2025</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54 </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BCTN,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trong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đó</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Hệ</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thống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QLAT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của</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VAECO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ghi</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nhận</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50 </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BC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Ban KT &amp; Ban SQD chủ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động báo cáo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4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BC theo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CV3245, các </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BCTN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được</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phân</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loại</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như</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sau</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t>
            </a:r>
            <a:endParaRPr kumimoji="0" lang="en-US" sz="16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8" name="Rectangle 7"/>
          <p:cNvSpPr/>
          <p:nvPr/>
        </p:nvSpPr>
        <p:spPr>
          <a:xfrm>
            <a:off x="1672672" y="6141469"/>
            <a:ext cx="10523832" cy="338554"/>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KPI tháng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7/2025 đạt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mục tiêu năm 2025 là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54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BCTN</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a:t>
            </a:r>
          </a:p>
        </p:txBody>
      </p:sp>
      <p:graphicFrame>
        <p:nvGraphicFramePr>
          <p:cNvPr id="11" name="Chart 10"/>
          <p:cNvGraphicFramePr>
            <a:graphicFrameLocks/>
          </p:cNvGraphicFramePr>
          <p:nvPr>
            <p:extLst/>
          </p:nvPr>
        </p:nvGraphicFramePr>
        <p:xfrm>
          <a:off x="2598179" y="2279561"/>
          <a:ext cx="6686550" cy="378230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6346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15</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001892"/>
            <a:ext cx="10638772"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0" fontAlgn="auto" latinLnBrk="0" hangingPunct="0">
              <a:lnSpc>
                <a:spcPct val="100000"/>
              </a:lnSpc>
              <a:spcBef>
                <a:spcPts val="0"/>
              </a:spcBef>
              <a:spcAft>
                <a:spcPts val="0"/>
              </a:spcAft>
              <a:buClr>
                <a:srgbClr val="000000"/>
              </a:buClr>
              <a:buSzTx/>
              <a:buFontTx/>
              <a:buNone/>
              <a:tabLst/>
              <a:defRPr/>
            </a:pP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5 - TỶ LỆ CẮT LỐP TÀU BAY</a:t>
            </a:r>
            <a:endPar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1066802" y="5403595"/>
            <a:ext cx="10557351" cy="1338828"/>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35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35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35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7/2025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có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10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việc tàu bay bị cắt lốp,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04 vụ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việc tháng trước và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01 vụ so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 cùng kỳ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tháng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7/2025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7.69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vụ/10000 CB,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3.12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tháng trước và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0.75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2024.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Không đạt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mục tiêu năm 2025 là 5,67 vụ/ 10000 CB. </a:t>
            </a:r>
            <a:endPar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 tháng năm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2025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có 50 vụ, tăng 19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việc tương ứng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1.25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năm 2024. KPI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 tháng năm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2025 là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5.99, không đạt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mục tiêu.</a:t>
            </a:r>
          </a:p>
        </p:txBody>
      </p:sp>
      <p:graphicFrame>
        <p:nvGraphicFramePr>
          <p:cNvPr id="11" name="Chart 10">
            <a:extLst>
              <a:ext uri="{FF2B5EF4-FFF2-40B4-BE49-F238E27FC236}">
                <a16:creationId xmlns:a16="http://schemas.microsoft.com/office/drawing/2014/main" id="{00000000-0008-0000-0400-000002000000}"/>
              </a:ext>
            </a:extLst>
          </p:cNvPr>
          <p:cNvGraphicFramePr>
            <a:graphicFrameLocks/>
          </p:cNvGraphicFramePr>
          <p:nvPr>
            <p:extLst>
              <p:ext uri="{D42A27DB-BD31-4B8C-83A1-F6EECF244321}">
                <p14:modId xmlns:p14="http://schemas.microsoft.com/office/powerpoint/2010/main" val="3562658523"/>
              </p:ext>
            </p:extLst>
          </p:nvPr>
        </p:nvGraphicFramePr>
        <p:xfrm>
          <a:off x="1160721" y="1663998"/>
          <a:ext cx="7722022" cy="361669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05930E83-BF54-42B2-B143-96E69E24AE6F}"/>
              </a:ext>
            </a:extLst>
          </p:cNvPr>
          <p:cNvGraphicFramePr>
            <a:graphicFrameLocks/>
          </p:cNvGraphicFramePr>
          <p:nvPr>
            <p:extLst/>
          </p:nvPr>
        </p:nvGraphicFramePr>
        <p:xfrm>
          <a:off x="9004663" y="1648496"/>
          <a:ext cx="2535982" cy="363219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218190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16</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Content Placeholder 4"/>
          <p:cNvSpPr txBox="1">
            <a:spLocks/>
          </p:cNvSpPr>
          <p:nvPr/>
        </p:nvSpPr>
        <p:spPr>
          <a:xfrm>
            <a:off x="816839" y="646420"/>
            <a:ext cx="10845572" cy="468569"/>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Bảng tổng hợp sự kiện lốp cắt </a:t>
            </a:r>
            <a:r>
              <a:rPr kumimoji="0" lang="en-US" altLang="en-US" sz="1867" b="1" i="0" u="none" strike="noStrike" kern="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sym typeface="Arial"/>
              </a:rPr>
              <a:t>tháng 7/2025</a:t>
            </a:r>
            <a:endParaRPr kumimoji="0" lang="en-US" sz="1867" b="0" i="1"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graphicFrame>
        <p:nvGraphicFramePr>
          <p:cNvPr id="5" name="Table 4"/>
          <p:cNvGraphicFramePr>
            <a:graphicFrameLocks noGrp="1"/>
          </p:cNvGraphicFramePr>
          <p:nvPr>
            <p:extLst/>
          </p:nvPr>
        </p:nvGraphicFramePr>
        <p:xfrm>
          <a:off x="816838" y="1230569"/>
          <a:ext cx="10845573" cy="4075433"/>
        </p:xfrm>
        <a:graphic>
          <a:graphicData uri="http://schemas.openxmlformats.org/drawingml/2006/table">
            <a:tbl>
              <a:tblPr>
                <a:tableStyleId>{5C22544A-7EE6-4342-B048-85BDC9FD1C3A}</a:tableStyleId>
              </a:tblPr>
              <a:tblGrid>
                <a:gridCol w="262867">
                  <a:extLst>
                    <a:ext uri="{9D8B030D-6E8A-4147-A177-3AD203B41FA5}">
                      <a16:colId xmlns:a16="http://schemas.microsoft.com/office/drawing/2014/main" val="2556146720"/>
                    </a:ext>
                  </a:extLst>
                </a:gridCol>
                <a:gridCol w="703709">
                  <a:extLst>
                    <a:ext uri="{9D8B030D-6E8A-4147-A177-3AD203B41FA5}">
                      <a16:colId xmlns:a16="http://schemas.microsoft.com/office/drawing/2014/main" val="280978439"/>
                    </a:ext>
                  </a:extLst>
                </a:gridCol>
                <a:gridCol w="347041">
                  <a:extLst>
                    <a:ext uri="{9D8B030D-6E8A-4147-A177-3AD203B41FA5}">
                      <a16:colId xmlns:a16="http://schemas.microsoft.com/office/drawing/2014/main" val="1746553157"/>
                    </a:ext>
                  </a:extLst>
                </a:gridCol>
                <a:gridCol w="347041">
                  <a:extLst>
                    <a:ext uri="{9D8B030D-6E8A-4147-A177-3AD203B41FA5}">
                      <a16:colId xmlns:a16="http://schemas.microsoft.com/office/drawing/2014/main" val="789722712"/>
                    </a:ext>
                  </a:extLst>
                </a:gridCol>
                <a:gridCol w="470435">
                  <a:extLst>
                    <a:ext uri="{9D8B030D-6E8A-4147-A177-3AD203B41FA5}">
                      <a16:colId xmlns:a16="http://schemas.microsoft.com/office/drawing/2014/main" val="2014199728"/>
                    </a:ext>
                  </a:extLst>
                </a:gridCol>
                <a:gridCol w="358548">
                  <a:extLst>
                    <a:ext uri="{9D8B030D-6E8A-4147-A177-3AD203B41FA5}">
                      <a16:colId xmlns:a16="http://schemas.microsoft.com/office/drawing/2014/main" val="2145532655"/>
                    </a:ext>
                  </a:extLst>
                </a:gridCol>
                <a:gridCol w="353859">
                  <a:extLst>
                    <a:ext uri="{9D8B030D-6E8A-4147-A177-3AD203B41FA5}">
                      <a16:colId xmlns:a16="http://schemas.microsoft.com/office/drawing/2014/main" val="1204552570"/>
                    </a:ext>
                  </a:extLst>
                </a:gridCol>
                <a:gridCol w="556061">
                  <a:extLst>
                    <a:ext uri="{9D8B030D-6E8A-4147-A177-3AD203B41FA5}">
                      <a16:colId xmlns:a16="http://schemas.microsoft.com/office/drawing/2014/main" val="2320246163"/>
                    </a:ext>
                  </a:extLst>
                </a:gridCol>
                <a:gridCol w="798707">
                  <a:extLst>
                    <a:ext uri="{9D8B030D-6E8A-4147-A177-3AD203B41FA5}">
                      <a16:colId xmlns:a16="http://schemas.microsoft.com/office/drawing/2014/main" val="1665281072"/>
                    </a:ext>
                  </a:extLst>
                </a:gridCol>
                <a:gridCol w="647055">
                  <a:extLst>
                    <a:ext uri="{9D8B030D-6E8A-4147-A177-3AD203B41FA5}">
                      <a16:colId xmlns:a16="http://schemas.microsoft.com/office/drawing/2014/main" val="2420637937"/>
                    </a:ext>
                  </a:extLst>
                </a:gridCol>
                <a:gridCol w="556061">
                  <a:extLst>
                    <a:ext uri="{9D8B030D-6E8A-4147-A177-3AD203B41FA5}">
                      <a16:colId xmlns:a16="http://schemas.microsoft.com/office/drawing/2014/main" val="1784441051"/>
                    </a:ext>
                  </a:extLst>
                </a:gridCol>
                <a:gridCol w="444849">
                  <a:extLst>
                    <a:ext uri="{9D8B030D-6E8A-4147-A177-3AD203B41FA5}">
                      <a16:colId xmlns:a16="http://schemas.microsoft.com/office/drawing/2014/main" val="2454518777"/>
                    </a:ext>
                  </a:extLst>
                </a:gridCol>
                <a:gridCol w="606612">
                  <a:extLst>
                    <a:ext uri="{9D8B030D-6E8A-4147-A177-3AD203B41FA5}">
                      <a16:colId xmlns:a16="http://schemas.microsoft.com/office/drawing/2014/main" val="1946257698"/>
                    </a:ext>
                  </a:extLst>
                </a:gridCol>
                <a:gridCol w="687496">
                  <a:extLst>
                    <a:ext uri="{9D8B030D-6E8A-4147-A177-3AD203B41FA5}">
                      <a16:colId xmlns:a16="http://schemas.microsoft.com/office/drawing/2014/main" val="3539464948"/>
                    </a:ext>
                  </a:extLst>
                </a:gridCol>
                <a:gridCol w="606612">
                  <a:extLst>
                    <a:ext uri="{9D8B030D-6E8A-4147-A177-3AD203B41FA5}">
                      <a16:colId xmlns:a16="http://schemas.microsoft.com/office/drawing/2014/main" val="81123186"/>
                    </a:ext>
                  </a:extLst>
                </a:gridCol>
                <a:gridCol w="606612">
                  <a:extLst>
                    <a:ext uri="{9D8B030D-6E8A-4147-A177-3AD203B41FA5}">
                      <a16:colId xmlns:a16="http://schemas.microsoft.com/office/drawing/2014/main" val="2598074248"/>
                    </a:ext>
                  </a:extLst>
                </a:gridCol>
                <a:gridCol w="326055">
                  <a:extLst>
                    <a:ext uri="{9D8B030D-6E8A-4147-A177-3AD203B41FA5}">
                      <a16:colId xmlns:a16="http://schemas.microsoft.com/office/drawing/2014/main" val="3970312533"/>
                    </a:ext>
                  </a:extLst>
                </a:gridCol>
                <a:gridCol w="667273">
                  <a:extLst>
                    <a:ext uri="{9D8B030D-6E8A-4147-A177-3AD203B41FA5}">
                      <a16:colId xmlns:a16="http://schemas.microsoft.com/office/drawing/2014/main" val="3774492039"/>
                    </a:ext>
                  </a:extLst>
                </a:gridCol>
                <a:gridCol w="434741">
                  <a:extLst>
                    <a:ext uri="{9D8B030D-6E8A-4147-A177-3AD203B41FA5}">
                      <a16:colId xmlns:a16="http://schemas.microsoft.com/office/drawing/2014/main" val="637771663"/>
                    </a:ext>
                  </a:extLst>
                </a:gridCol>
                <a:gridCol w="1063939">
                  <a:extLst>
                    <a:ext uri="{9D8B030D-6E8A-4147-A177-3AD203B41FA5}">
                      <a16:colId xmlns:a16="http://schemas.microsoft.com/office/drawing/2014/main" val="3535789250"/>
                    </a:ext>
                  </a:extLst>
                </a:gridCol>
              </a:tblGrid>
              <a:tr h="589918">
                <a:tc>
                  <a:txBody>
                    <a:bodyPr/>
                    <a:lstStyle/>
                    <a:p>
                      <a:pPr algn="ctr"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200" u="none" strike="noStrike" dirty="0">
                          <a:effectLst/>
                          <a:latin typeface="Times New Roman" panose="02020603050405020304" pitchFamily="18" charset="0"/>
                          <a:cs typeface="Times New Roman" panose="02020603050405020304" pitchFamily="18" charset="0"/>
                        </a:rPr>
                        <a:t>Occur Date</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200" u="none" strike="noStrike" dirty="0">
                          <a:effectLst/>
                          <a:latin typeface="Times New Roman" panose="02020603050405020304" pitchFamily="18" charset="0"/>
                          <a:cs typeface="Times New Roman" panose="02020603050405020304" pitchFamily="18" charset="0"/>
                        </a:rPr>
                        <a:t>A/C</a:t>
                      </a:r>
                      <a:br>
                        <a:rPr lang="en-US" sz="1200" u="none" strike="noStrike" dirty="0">
                          <a:effectLst/>
                          <a:latin typeface="Times New Roman" panose="02020603050405020304" pitchFamily="18" charset="0"/>
                          <a:cs typeface="Times New Roman" panose="02020603050405020304" pitchFamily="18" charset="0"/>
                        </a:rPr>
                      </a:br>
                      <a:r>
                        <a:rPr lang="en-US" sz="1200" u="none" strike="noStrike" dirty="0">
                          <a:effectLst/>
                          <a:latin typeface="Times New Roman" panose="02020603050405020304" pitchFamily="18" charset="0"/>
                          <a:cs typeface="Times New Roman" panose="02020603050405020304" pitchFamily="18" charset="0"/>
                        </a:rPr>
                        <a:t> Type</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200" u="none" strike="noStrike" dirty="0">
                          <a:effectLst/>
                          <a:latin typeface="Times New Roman" panose="02020603050405020304" pitchFamily="18" charset="0"/>
                          <a:cs typeface="Times New Roman" panose="02020603050405020304" pitchFamily="18" charset="0"/>
                        </a:rPr>
                        <a:t>A/C </a:t>
                      </a:r>
                      <a:br>
                        <a:rPr lang="en-US" sz="1200" u="none" strike="noStrike" dirty="0">
                          <a:effectLst/>
                          <a:latin typeface="Times New Roman" panose="02020603050405020304" pitchFamily="18" charset="0"/>
                          <a:cs typeface="Times New Roman" panose="02020603050405020304" pitchFamily="18" charset="0"/>
                        </a:rPr>
                      </a:br>
                      <a:r>
                        <a:rPr lang="en-US" sz="1200" u="none" strike="noStrike" dirty="0" err="1">
                          <a:effectLst/>
                          <a:latin typeface="Times New Roman" panose="02020603050405020304" pitchFamily="18" charset="0"/>
                          <a:cs typeface="Times New Roman" panose="02020603050405020304" pitchFamily="18" charset="0"/>
                        </a:rPr>
                        <a:t>Reg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200" u="none" strike="noStrike">
                          <a:effectLst/>
                          <a:latin typeface="Times New Roman" panose="02020603050405020304" pitchFamily="18" charset="0"/>
                          <a:cs typeface="Times New Roman" panose="02020603050405020304" pitchFamily="18" charset="0"/>
                        </a:rPr>
                        <a:t>FLT No</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200" u="none" strike="noStrike">
                          <a:effectLst/>
                          <a:latin typeface="Times New Roman" panose="02020603050405020304" pitchFamily="18" charset="0"/>
                          <a:cs typeface="Times New Roman" panose="02020603050405020304" pitchFamily="18" charset="0"/>
                        </a:rPr>
                        <a:t>DEP</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200" u="none" strike="noStrike">
                          <a:effectLst/>
                          <a:latin typeface="Times New Roman" panose="02020603050405020304" pitchFamily="18" charset="0"/>
                          <a:cs typeface="Times New Roman" panose="02020603050405020304" pitchFamily="18" charset="0"/>
                        </a:rPr>
                        <a:t>ARR</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200" u="none" strike="noStrike" dirty="0">
                          <a:effectLst/>
                          <a:latin typeface="Times New Roman" panose="02020603050405020304" pitchFamily="18" charset="0"/>
                          <a:cs typeface="Times New Roman" panose="02020603050405020304" pitchFamily="18" charset="0"/>
                        </a:rPr>
                        <a:t>Station</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200" u="none" strike="noStrike">
                          <a:effectLst/>
                          <a:latin typeface="Times New Roman" panose="02020603050405020304" pitchFamily="18" charset="0"/>
                          <a:cs typeface="Times New Roman" panose="02020603050405020304" pitchFamily="18" charset="0"/>
                        </a:rPr>
                        <a:t>Location</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200" u="none" strike="noStrike" dirty="0">
                          <a:effectLst/>
                          <a:latin typeface="Times New Roman" panose="02020603050405020304" pitchFamily="18" charset="0"/>
                          <a:cs typeface="Times New Roman" panose="02020603050405020304" pitchFamily="18" charset="0"/>
                        </a:rPr>
                        <a:t>Phase</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200" u="none" strike="noStrike" dirty="0">
                          <a:effectLst/>
                          <a:latin typeface="Times New Roman" panose="02020603050405020304" pitchFamily="18" charset="0"/>
                          <a:cs typeface="Times New Roman" panose="02020603050405020304" pitchFamily="18" charset="0"/>
                        </a:rPr>
                        <a:t>Tire </a:t>
                      </a:r>
                      <a:r>
                        <a:rPr lang="en-US" sz="1200" u="none" strike="noStrike" dirty="0" err="1">
                          <a:effectLst/>
                          <a:latin typeface="Times New Roman" panose="02020603050405020304" pitchFamily="18" charset="0"/>
                          <a:cs typeface="Times New Roman" panose="02020603050405020304" pitchFamily="18" charset="0"/>
                        </a:rPr>
                        <a:t>Pos</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200" u="none" strike="noStrike">
                          <a:effectLst/>
                          <a:latin typeface="Times New Roman" panose="02020603050405020304" pitchFamily="18" charset="0"/>
                          <a:cs typeface="Times New Roman" panose="02020603050405020304" pitchFamily="18" charset="0"/>
                        </a:rPr>
                        <a:t>Áp suất </a:t>
                      </a:r>
                      <a:br>
                        <a:rPr lang="en-US" sz="1200" u="none" strike="noStrike">
                          <a:effectLst/>
                          <a:latin typeface="Times New Roman" panose="02020603050405020304" pitchFamily="18" charset="0"/>
                          <a:cs typeface="Times New Roman" panose="02020603050405020304" pitchFamily="18" charset="0"/>
                        </a:rPr>
                      </a:br>
                      <a:r>
                        <a:rPr lang="en-US" sz="1200" u="none" strike="noStrike">
                          <a:effectLst/>
                          <a:latin typeface="Times New Roman" panose="02020603050405020304" pitchFamily="18" charset="0"/>
                          <a:cs typeface="Times New Roman" panose="02020603050405020304" pitchFamily="18" charset="0"/>
                        </a:rPr>
                        <a:t>(psi)</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200" u="none" strike="noStrike" dirty="0">
                          <a:effectLst/>
                          <a:latin typeface="Times New Roman" panose="02020603050405020304" pitchFamily="18" charset="0"/>
                          <a:cs typeface="Times New Roman" panose="02020603050405020304" pitchFamily="18" charset="0"/>
                        </a:rPr>
                        <a:t>P/N WHEEL </a:t>
                      </a:r>
                      <a:br>
                        <a:rPr lang="en-US" sz="1200" u="none" strike="noStrike" dirty="0">
                          <a:effectLst/>
                          <a:latin typeface="Times New Roman" panose="02020603050405020304" pitchFamily="18" charset="0"/>
                          <a:cs typeface="Times New Roman" panose="02020603050405020304" pitchFamily="18" charset="0"/>
                        </a:rPr>
                      </a:br>
                      <a:r>
                        <a:rPr lang="en-US" sz="1200" u="none" strike="noStrike" dirty="0">
                          <a:effectLst/>
                          <a:latin typeface="Times New Roman" panose="02020603050405020304" pitchFamily="18" charset="0"/>
                          <a:cs typeface="Times New Roman" panose="02020603050405020304" pitchFamily="18" charset="0"/>
                        </a:rPr>
                        <a:t>OFF</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200" u="none" strike="noStrike" dirty="0">
                          <a:effectLst/>
                          <a:latin typeface="Times New Roman" panose="02020603050405020304" pitchFamily="18" charset="0"/>
                          <a:cs typeface="Times New Roman" panose="02020603050405020304" pitchFamily="18" charset="0"/>
                        </a:rPr>
                        <a:t>S/N WHEEL </a:t>
                      </a:r>
                      <a:br>
                        <a:rPr lang="en-US" sz="1200" u="none" strike="noStrike" dirty="0">
                          <a:effectLst/>
                          <a:latin typeface="Times New Roman" panose="02020603050405020304" pitchFamily="18" charset="0"/>
                          <a:cs typeface="Times New Roman" panose="02020603050405020304" pitchFamily="18" charset="0"/>
                        </a:rPr>
                      </a:br>
                      <a:r>
                        <a:rPr lang="en-US" sz="1200" u="none" strike="noStrike" dirty="0">
                          <a:effectLst/>
                          <a:latin typeface="Times New Roman" panose="02020603050405020304" pitchFamily="18" charset="0"/>
                          <a:cs typeface="Times New Roman" panose="02020603050405020304" pitchFamily="18" charset="0"/>
                        </a:rPr>
                        <a:t>OFF</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200" u="none" strike="noStrike" dirty="0">
                          <a:effectLst/>
                          <a:latin typeface="Times New Roman" panose="02020603050405020304" pitchFamily="18" charset="0"/>
                          <a:cs typeface="Times New Roman" panose="02020603050405020304" pitchFamily="18" charset="0"/>
                        </a:rPr>
                        <a:t>P/N</a:t>
                      </a:r>
                      <a:br>
                        <a:rPr lang="en-US" sz="1200" u="none" strike="noStrike" dirty="0">
                          <a:effectLst/>
                          <a:latin typeface="Times New Roman" panose="02020603050405020304" pitchFamily="18" charset="0"/>
                          <a:cs typeface="Times New Roman" panose="02020603050405020304" pitchFamily="18" charset="0"/>
                        </a:rPr>
                      </a:br>
                      <a:r>
                        <a:rPr lang="en-US" sz="1200" u="none" strike="noStrike" dirty="0">
                          <a:effectLst/>
                          <a:latin typeface="Times New Roman" panose="02020603050405020304" pitchFamily="18" charset="0"/>
                          <a:cs typeface="Times New Roman" panose="02020603050405020304" pitchFamily="18" charset="0"/>
                        </a:rPr>
                        <a:t>TIRE OFF </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200" u="none" strike="noStrike" dirty="0">
                          <a:effectLst/>
                          <a:latin typeface="Times New Roman" panose="02020603050405020304" pitchFamily="18" charset="0"/>
                          <a:cs typeface="Times New Roman" panose="02020603050405020304" pitchFamily="18" charset="0"/>
                        </a:rPr>
                        <a:t>S/N</a:t>
                      </a:r>
                      <a:br>
                        <a:rPr lang="en-US" sz="1200" u="none" strike="noStrike" dirty="0">
                          <a:effectLst/>
                          <a:latin typeface="Times New Roman" panose="02020603050405020304" pitchFamily="18" charset="0"/>
                          <a:cs typeface="Times New Roman" panose="02020603050405020304" pitchFamily="18" charset="0"/>
                        </a:rPr>
                      </a:br>
                      <a:r>
                        <a:rPr lang="en-US" sz="1200" u="none" strike="noStrike" dirty="0">
                          <a:effectLst/>
                          <a:latin typeface="Times New Roman" panose="02020603050405020304" pitchFamily="18" charset="0"/>
                          <a:cs typeface="Times New Roman" panose="02020603050405020304" pitchFamily="18" charset="0"/>
                        </a:rPr>
                        <a:t>TIRE OFF </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200" u="none" strike="noStrike" dirty="0">
                          <a:effectLst/>
                          <a:latin typeface="Times New Roman" panose="02020603050405020304" pitchFamily="18" charset="0"/>
                          <a:cs typeface="Times New Roman" panose="02020603050405020304" pitchFamily="18" charset="0"/>
                        </a:rPr>
                        <a:t>R/N</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200" u="none" strike="noStrike" dirty="0">
                          <a:effectLst/>
                          <a:latin typeface="Times New Roman" panose="02020603050405020304" pitchFamily="18" charset="0"/>
                          <a:cs typeface="Times New Roman" panose="02020603050405020304" pitchFamily="18" charset="0"/>
                        </a:rPr>
                        <a:t>Tire </a:t>
                      </a:r>
                      <a:r>
                        <a:rPr lang="en-US" sz="1200" u="none" strike="noStrike" dirty="0" err="1">
                          <a:effectLst/>
                          <a:latin typeface="Times New Roman" panose="02020603050405020304" pitchFamily="18" charset="0"/>
                          <a:cs typeface="Times New Roman" panose="02020603050405020304" pitchFamily="18" charset="0"/>
                        </a:rPr>
                        <a:t>manufacrer</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200" u="none" strike="noStrike" dirty="0" err="1">
                          <a:effectLst/>
                          <a:latin typeface="Times New Roman" panose="02020603050405020304" pitchFamily="18" charset="0"/>
                          <a:cs typeface="Times New Roman" panose="02020603050405020304" pitchFamily="18" charset="0"/>
                        </a:rPr>
                        <a:t>Sô</a:t>
                      </a:r>
                      <a:r>
                        <a:rPr lang="en-US" sz="1200" u="none" strike="noStrike" dirty="0">
                          <a:effectLst/>
                          <a:latin typeface="Times New Roman" panose="02020603050405020304" pitchFamily="18" charset="0"/>
                          <a:cs typeface="Times New Roman" panose="02020603050405020304" pitchFamily="18" charset="0"/>
                        </a:rPr>
                        <a:t>́ CY</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200" u="none" strike="noStrike" dirty="0">
                          <a:effectLst/>
                          <a:latin typeface="Times New Roman" panose="02020603050405020304" pitchFamily="18" charset="0"/>
                          <a:cs typeface="Times New Roman" panose="02020603050405020304" pitchFamily="18" charset="0"/>
                        </a:rPr>
                        <a:t>Detailed Cut</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291912203"/>
                  </a:ext>
                </a:extLst>
              </a:tr>
              <a:tr h="422716">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02-Jul-25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A619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VN7173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DAD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DAD LINE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PARKING #21-DAD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TX CHECK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MW #4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C20500100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42284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M20101-01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3346T204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R3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Michellin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CUT OUT OF LIMIT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5965566"/>
                  </a:ext>
                </a:extLst>
              </a:tr>
              <a:tr h="340311">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14-Jul-25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A616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VN7174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DAD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 LINE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PARKING #96-TSN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TX CHECK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RH NW</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3-1531-3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E0368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M08201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5135T291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R0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Michellin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CUT OUT OF LIMIT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3794787"/>
                  </a:ext>
                </a:extLst>
              </a:tr>
              <a:tr h="340311">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18-Jul-25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A512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VN7063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CXR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HAN LINE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PARKING #43-NBA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TERM CHECK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LH NW</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3-1531-3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A8879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M08201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3179T238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R3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Michellin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CUT OUT OF LIMIT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3622773"/>
                  </a:ext>
                </a:extLst>
              </a:tr>
              <a:tr h="340311">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20-Jul-25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VN1200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VCA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HAN LINE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PARKING #26-NBA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TX CHECK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LH NW</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3-1531-3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C0363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M08201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4333T388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R0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Michellin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CUT OUT OF LIMIT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7108791"/>
                  </a:ext>
                </a:extLst>
              </a:tr>
              <a:tr h="340311">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21-Jul-25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N/A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N/A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N/A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HAN BASE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HANGAR #02-NBA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BASE CHECK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MW #3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3-1678-1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0273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M18801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4358t187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R0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Michellin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CUT OUT OF LIMIT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7491005"/>
                  </a:ext>
                </a:extLst>
              </a:tr>
              <a:tr h="340311">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23-Jul-25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VN213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 LINE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PARKING #05-TSN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TERM CHECK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MW #6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C20649000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1820C20649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M19501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4174T259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R1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Michellin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182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CUT OUT OF LIMIT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4005485"/>
                  </a:ext>
                </a:extLst>
              </a:tr>
              <a:tr h="340311">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23-Jul-25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VN7204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HAN LINE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PARKING #21-NBA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TX CHECK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MW #10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C20598000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5830C20598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M18501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3257B229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R0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Michellin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CUT OUT OF LIMIT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702462"/>
                  </a:ext>
                </a:extLst>
              </a:tr>
              <a:tr h="340311">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28-Jul-25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A603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VN7387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DLI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 LINE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PARKING #99-TSN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TX CHECK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MW #4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C20500100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50590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M20101-01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4090T184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R1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Michellin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CUT OUT OF LIMIT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5563033"/>
                  </a:ext>
                </a:extLst>
              </a:tr>
              <a:tr h="340311">
                <a:tc>
                  <a:txBody>
                    <a:bodyPr/>
                    <a:lstStyle/>
                    <a:p>
                      <a:pPr algn="ctr"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9</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21/07/2025</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B787</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A862</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VN7069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LHR</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HAN</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HAN</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TX CHECK</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MW #6</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CUT OUT OF LIMIT</a:t>
                      </a:r>
                      <a:endParaRPr kumimoji="0" lang="en-US" sz="1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867268"/>
                  </a:ext>
                </a:extLst>
              </a:tr>
              <a:tr h="340311">
                <a:tc>
                  <a:txBody>
                    <a:bodyPr/>
                    <a:lstStyle/>
                    <a:p>
                      <a:pPr algn="ctr"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10</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29/07/2025</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A321</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A604</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VN921</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VTE</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PNH</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PNH</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TX CHECK</a:t>
                      </a: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MW #4</a:t>
                      </a:r>
                      <a:endParaRPr kumimoji="0" lang="en-US" sz="10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CUT OUT OF LIMIT</a:t>
                      </a:r>
                      <a:endParaRPr kumimoji="0" lang="en-US" sz="1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7385862"/>
                  </a:ext>
                </a:extLst>
              </a:tr>
            </a:tbl>
          </a:graphicData>
        </a:graphic>
      </p:graphicFrame>
    </p:spTree>
    <p:extLst>
      <p:ext uri="{BB962C8B-B14F-4D97-AF65-F5344CB8AC3E}">
        <p14:creationId xmlns:p14="http://schemas.microsoft.com/office/powerpoint/2010/main" val="25354094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17</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759111" y="1001892"/>
            <a:ext cx="10865043"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0" fontAlgn="auto" latinLnBrk="0" hangingPunct="0">
              <a:lnSpc>
                <a:spcPct val="100000"/>
              </a:lnSpc>
              <a:spcBef>
                <a:spcPts val="0"/>
              </a:spcBef>
              <a:spcAft>
                <a:spcPts val="0"/>
              </a:spcAft>
              <a:buClr>
                <a:srgbClr val="000000"/>
              </a:buClr>
              <a:buSzTx/>
              <a:buFontTx/>
              <a:buNone/>
              <a:tabLst/>
              <a:defRPr/>
            </a:pPr>
            <a:r>
              <a:rPr kumimoji="0" 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6 - TỶ LỆ DỮ LIỆU ĐẦU VÀO CHO HỆ THỐNG AGS/LOMS</a:t>
            </a:r>
            <a:endParaRPr kumimoji="0" 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graphicFrame>
        <p:nvGraphicFramePr>
          <p:cNvPr id="9" name="Table 8"/>
          <p:cNvGraphicFramePr>
            <a:graphicFrameLocks noGrp="1"/>
          </p:cNvGraphicFramePr>
          <p:nvPr>
            <p:extLst/>
          </p:nvPr>
        </p:nvGraphicFramePr>
        <p:xfrm>
          <a:off x="745254" y="5663096"/>
          <a:ext cx="10860874" cy="1079327"/>
        </p:xfrm>
        <a:graphic>
          <a:graphicData uri="http://schemas.openxmlformats.org/drawingml/2006/table">
            <a:tbl>
              <a:tblPr firstRow="1" bandRow="1">
                <a:tableStyleId>{5C22544A-7EE6-4342-B048-85BDC9FD1C3A}</a:tableStyleId>
              </a:tblPr>
              <a:tblGrid>
                <a:gridCol w="374651">
                  <a:extLst>
                    <a:ext uri="{9D8B030D-6E8A-4147-A177-3AD203B41FA5}">
                      <a16:colId xmlns:a16="http://schemas.microsoft.com/office/drawing/2014/main" val="20000"/>
                    </a:ext>
                  </a:extLst>
                </a:gridCol>
                <a:gridCol w="1795459">
                  <a:extLst>
                    <a:ext uri="{9D8B030D-6E8A-4147-A177-3AD203B41FA5}">
                      <a16:colId xmlns:a16="http://schemas.microsoft.com/office/drawing/2014/main" val="20001"/>
                    </a:ext>
                  </a:extLst>
                </a:gridCol>
                <a:gridCol w="413876">
                  <a:extLst>
                    <a:ext uri="{9D8B030D-6E8A-4147-A177-3AD203B41FA5}">
                      <a16:colId xmlns:a16="http://schemas.microsoft.com/office/drawing/2014/main" val="20002"/>
                    </a:ext>
                  </a:extLst>
                </a:gridCol>
                <a:gridCol w="2337184">
                  <a:extLst>
                    <a:ext uri="{9D8B030D-6E8A-4147-A177-3AD203B41FA5}">
                      <a16:colId xmlns:a16="http://schemas.microsoft.com/office/drawing/2014/main" val="20003"/>
                    </a:ext>
                  </a:extLst>
                </a:gridCol>
                <a:gridCol w="421992">
                  <a:extLst>
                    <a:ext uri="{9D8B030D-6E8A-4147-A177-3AD203B41FA5}">
                      <a16:colId xmlns:a16="http://schemas.microsoft.com/office/drawing/2014/main" val="20004"/>
                    </a:ext>
                  </a:extLst>
                </a:gridCol>
                <a:gridCol w="2556295">
                  <a:extLst>
                    <a:ext uri="{9D8B030D-6E8A-4147-A177-3AD203B41FA5}">
                      <a16:colId xmlns:a16="http://schemas.microsoft.com/office/drawing/2014/main" val="20005"/>
                    </a:ext>
                  </a:extLst>
                </a:gridCol>
                <a:gridCol w="421992">
                  <a:extLst>
                    <a:ext uri="{9D8B030D-6E8A-4147-A177-3AD203B41FA5}">
                      <a16:colId xmlns:a16="http://schemas.microsoft.com/office/drawing/2014/main" val="20006"/>
                    </a:ext>
                  </a:extLst>
                </a:gridCol>
                <a:gridCol w="2539425">
                  <a:extLst>
                    <a:ext uri="{9D8B030D-6E8A-4147-A177-3AD203B41FA5}">
                      <a16:colId xmlns:a16="http://schemas.microsoft.com/office/drawing/2014/main" val="20007"/>
                    </a:ext>
                  </a:extLst>
                </a:gridCol>
              </a:tblGrid>
              <a:tr h="1079327">
                <a:tc>
                  <a:txBody>
                    <a:bodyPr/>
                    <a:lstStyle/>
                    <a:p>
                      <a:endParaRPr lang="en-US" sz="2100" dirty="0">
                        <a:solidFill>
                          <a:schemeClr val="tx1"/>
                        </a:solidFill>
                      </a:endParaRPr>
                    </a:p>
                  </a:txBody>
                  <a:tcPr marL="121920" marR="121920" marT="60960" marB="6096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just"/>
                      <a:r>
                        <a:rPr lang="en-US" sz="1300" b="1" dirty="0" err="1">
                          <a:solidFill>
                            <a:schemeClr val="tx1"/>
                          </a:solidFill>
                          <a:latin typeface="Times New Roman" panose="02020603050405020304" pitchFamily="18" charset="0"/>
                          <a:cs typeface="Times New Roman" panose="02020603050405020304" pitchFamily="18" charset="0"/>
                        </a:rPr>
                        <a:t>Đạt</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mục</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tiêu</a:t>
                      </a:r>
                      <a:r>
                        <a:rPr lang="en-US" sz="1300" b="1" baseline="0" dirty="0">
                          <a:solidFill>
                            <a:schemeClr val="tx1"/>
                          </a:solidFill>
                          <a:latin typeface="Times New Roman" panose="02020603050405020304" pitchFamily="18" charset="0"/>
                          <a:cs typeface="Times New Roman" panose="02020603050405020304" pitchFamily="18" charset="0"/>
                        </a:rPr>
                        <a:t>.</a:t>
                      </a:r>
                    </a:p>
                    <a:p>
                      <a:pPr algn="just"/>
                      <a:r>
                        <a:rPr lang="en-US" sz="1300" b="0" baseline="0" dirty="0" err="1">
                          <a:solidFill>
                            <a:schemeClr val="tx1"/>
                          </a:solidFill>
                          <a:latin typeface="Times New Roman" panose="02020603050405020304" pitchFamily="18" charset="0"/>
                          <a:cs typeface="Times New Roman" panose="02020603050405020304" pitchFamily="18" charset="0"/>
                        </a:rPr>
                        <a:t>Tiếp</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tục</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theo</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dõi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và</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không</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cần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có</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hành</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động</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bổ</a:t>
                      </a:r>
                      <a:r>
                        <a:rPr lang="en-US" sz="1300" b="0" baseline="0" dirty="0">
                          <a:solidFill>
                            <a:schemeClr val="tx1"/>
                          </a:solidFill>
                          <a:latin typeface="Times New Roman" panose="02020603050405020304" pitchFamily="18" charset="0"/>
                          <a:cs typeface="Times New Roman" panose="02020603050405020304" pitchFamily="18" charset="0"/>
                        </a:rPr>
                        <a:t> sung.</a:t>
                      </a:r>
                      <a:endParaRPr lang="en-US" sz="13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endParaRPr lang="en-US" sz="13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just"/>
                      <a:r>
                        <a:rPr lang="en-US" sz="1300" b="1" dirty="0" err="1">
                          <a:solidFill>
                            <a:schemeClr val="tx1"/>
                          </a:solidFill>
                          <a:latin typeface="Times New Roman" panose="02020603050405020304" pitchFamily="18" charset="0"/>
                          <a:cs typeface="Times New Roman" panose="02020603050405020304" pitchFamily="18" charset="0"/>
                        </a:rPr>
                        <a:t>Thấp</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hơn</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mục</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tiêu</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đến</a:t>
                      </a:r>
                      <a:r>
                        <a:rPr lang="en-US" sz="1300" b="1" baseline="0" dirty="0">
                          <a:solidFill>
                            <a:schemeClr val="tx1"/>
                          </a:solidFill>
                          <a:latin typeface="Times New Roman" panose="02020603050405020304" pitchFamily="18" charset="0"/>
                          <a:cs typeface="Times New Roman" panose="02020603050405020304" pitchFamily="18" charset="0"/>
                        </a:rPr>
                        <a:t> 5%.</a:t>
                      </a:r>
                    </a:p>
                    <a:p>
                      <a:pPr algn="just"/>
                      <a:r>
                        <a:rPr lang="en-US" sz="1300" b="0" baseline="0" dirty="0">
                          <a:solidFill>
                            <a:schemeClr val="tx1"/>
                          </a:solidFill>
                          <a:latin typeface="Times New Roman" panose="02020603050405020304" pitchFamily="18" charset="0"/>
                          <a:cs typeface="Times New Roman" panose="02020603050405020304" pitchFamily="18" charset="0"/>
                        </a:rPr>
                        <a:t>Theo </a:t>
                      </a:r>
                      <a:r>
                        <a:rPr lang="en-US" sz="1300" b="0" baseline="0" dirty="0" err="1">
                          <a:solidFill>
                            <a:schemeClr val="tx1"/>
                          </a:solidFill>
                          <a:latin typeface="Times New Roman" panose="02020603050405020304" pitchFamily="18" charset="0"/>
                          <a:cs typeface="Times New Roman" panose="02020603050405020304" pitchFamily="18" charset="0"/>
                        </a:rPr>
                        <a:t>dõi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Nếu</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xảy</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ra</a:t>
                      </a:r>
                      <a:r>
                        <a:rPr lang="en-US" sz="1300" b="0" baseline="0" dirty="0">
                          <a:solidFill>
                            <a:schemeClr val="tx1"/>
                          </a:solidFill>
                          <a:latin typeface="Times New Roman" panose="02020603050405020304" pitchFamily="18" charset="0"/>
                          <a:cs typeface="Times New Roman" panose="02020603050405020304" pitchFamily="18" charset="0"/>
                        </a:rPr>
                        <a:t> 3 </a:t>
                      </a:r>
                      <a:r>
                        <a:rPr lang="en-US" sz="1300" b="0" baseline="0" dirty="0" err="1">
                          <a:solidFill>
                            <a:schemeClr val="tx1"/>
                          </a:solidFill>
                          <a:latin typeface="Times New Roman" panose="02020603050405020304" pitchFamily="18" charset="0"/>
                          <a:cs typeface="Times New Roman" panose="02020603050405020304" pitchFamily="18" charset="0"/>
                        </a:rPr>
                        <a:t>tháng</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liên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tục</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thì</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phải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tìm</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nguyên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nhân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và</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có</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giải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pháp</a:t>
                      </a:r>
                      <a:r>
                        <a:rPr lang="en-US" sz="1300" b="0" baseline="0" dirty="0">
                          <a:solidFill>
                            <a:schemeClr val="tx1"/>
                          </a:solidFill>
                          <a:latin typeface="Times New Roman" panose="02020603050405020304" pitchFamily="18" charset="0"/>
                          <a:cs typeface="Times New Roman" panose="02020603050405020304" pitchFamily="18" charset="0"/>
                        </a:rPr>
                        <a:t>.</a:t>
                      </a:r>
                      <a:endParaRPr lang="en-US" sz="13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endParaRPr lang="en-US" sz="13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just"/>
                      <a:r>
                        <a:rPr lang="en-US" sz="1300" b="1" dirty="0" err="1">
                          <a:solidFill>
                            <a:schemeClr val="tx1"/>
                          </a:solidFill>
                          <a:latin typeface="Times New Roman" panose="02020603050405020304" pitchFamily="18" charset="0"/>
                          <a:cs typeface="Times New Roman" panose="02020603050405020304" pitchFamily="18" charset="0"/>
                        </a:rPr>
                        <a:t>Thấp</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hơn</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mục</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tiêu</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từ</a:t>
                      </a:r>
                      <a:r>
                        <a:rPr lang="en-US" sz="1300" b="1" baseline="0" dirty="0">
                          <a:solidFill>
                            <a:schemeClr val="tx1"/>
                          </a:solidFill>
                          <a:latin typeface="Times New Roman" panose="02020603050405020304" pitchFamily="18" charset="0"/>
                          <a:cs typeface="Times New Roman" panose="02020603050405020304" pitchFamily="18" charset="0"/>
                        </a:rPr>
                        <a:t> 6-10%.</a:t>
                      </a:r>
                    </a:p>
                    <a:p>
                      <a:pPr algn="just"/>
                      <a:r>
                        <a:rPr lang="en-US" sz="1300" b="0" baseline="0" dirty="0" err="1">
                          <a:solidFill>
                            <a:schemeClr val="tx1"/>
                          </a:solidFill>
                          <a:latin typeface="Times New Roman" panose="02020603050405020304" pitchFamily="18" charset="0"/>
                          <a:cs typeface="Times New Roman" panose="02020603050405020304" pitchFamily="18" charset="0"/>
                        </a:rPr>
                        <a:t>Nếu</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xảy</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ra</a:t>
                      </a:r>
                      <a:r>
                        <a:rPr lang="en-US" sz="1300" b="0" baseline="0" dirty="0">
                          <a:solidFill>
                            <a:schemeClr val="tx1"/>
                          </a:solidFill>
                          <a:latin typeface="Times New Roman" panose="02020603050405020304" pitchFamily="18" charset="0"/>
                          <a:cs typeface="Times New Roman" panose="02020603050405020304" pitchFamily="18" charset="0"/>
                        </a:rPr>
                        <a:t> 2 </a:t>
                      </a:r>
                      <a:r>
                        <a:rPr lang="en-US" sz="1300" b="0" baseline="0" dirty="0" err="1">
                          <a:solidFill>
                            <a:schemeClr val="tx1"/>
                          </a:solidFill>
                          <a:latin typeface="Times New Roman" panose="02020603050405020304" pitchFamily="18" charset="0"/>
                          <a:cs typeface="Times New Roman" panose="02020603050405020304" pitchFamily="18" charset="0"/>
                        </a:rPr>
                        <a:t>tháng</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liên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tục</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thì</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phải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tìm</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nguyên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nhân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và</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có</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giải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pháp</a:t>
                      </a:r>
                      <a:r>
                        <a:rPr lang="en-US" sz="1300" b="0" baseline="0" dirty="0">
                          <a:solidFill>
                            <a:schemeClr val="tx1"/>
                          </a:solidFill>
                          <a:latin typeface="Times New Roman" panose="02020603050405020304" pitchFamily="18" charset="0"/>
                          <a:cs typeface="Times New Roman" panose="02020603050405020304" pitchFamily="18" charset="0"/>
                        </a:rPr>
                        <a:t>. </a:t>
                      </a:r>
                      <a:endParaRPr lang="en-US" sz="13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endParaRPr lang="en-US" sz="1300" b="0" dirty="0">
                        <a:latin typeface="Times New Roman" panose="02020603050405020304" pitchFamily="18" charset="0"/>
                        <a:cs typeface="Times New Roman" panose="02020603050405020304" pitchFamily="18" charset="0"/>
                      </a:endParaRPr>
                    </a:p>
                  </a:txBody>
                  <a:tcPr marL="121920" marR="121920" marT="60960" marB="6096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300" b="1" dirty="0" err="1">
                          <a:solidFill>
                            <a:schemeClr val="tx1"/>
                          </a:solidFill>
                          <a:latin typeface="Times New Roman" panose="02020603050405020304" pitchFamily="18" charset="0"/>
                          <a:cs typeface="Times New Roman" panose="02020603050405020304" pitchFamily="18" charset="0"/>
                        </a:rPr>
                        <a:t>Thấp</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hơn</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mục</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tiêu</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từ</a:t>
                      </a:r>
                      <a:r>
                        <a:rPr lang="en-US" sz="1300" b="1" baseline="0" dirty="0">
                          <a:solidFill>
                            <a:schemeClr val="tx1"/>
                          </a:solidFill>
                          <a:latin typeface="Times New Roman" panose="02020603050405020304" pitchFamily="18" charset="0"/>
                          <a:cs typeface="Times New Roman" panose="02020603050405020304" pitchFamily="18" charset="0"/>
                        </a:rPr>
                        <a:t> 11%.</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300" b="0" baseline="0" dirty="0" err="1">
                          <a:solidFill>
                            <a:schemeClr val="tx1"/>
                          </a:solidFill>
                          <a:latin typeface="Times New Roman" panose="02020603050405020304" pitchFamily="18" charset="0"/>
                          <a:cs typeface="Times New Roman" panose="02020603050405020304" pitchFamily="18" charset="0"/>
                        </a:rPr>
                        <a:t>Khi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xảy</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ra</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phải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xác</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định</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nguyên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nhân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và</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có</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giải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pháp</a:t>
                      </a:r>
                      <a:r>
                        <a:rPr lang="en-US" sz="1300" b="0" baseline="0" dirty="0">
                          <a:solidFill>
                            <a:schemeClr val="tx1"/>
                          </a:solidFill>
                          <a:latin typeface="Times New Roman" panose="02020603050405020304" pitchFamily="18" charset="0"/>
                          <a:cs typeface="Times New Roman" panose="02020603050405020304" pitchFamily="18" charset="0"/>
                        </a:rPr>
                        <a:t>.</a:t>
                      </a:r>
                      <a:endParaRPr lang="en-US" sz="13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0" name="Table 9"/>
          <p:cNvGraphicFramePr>
            <a:graphicFrameLocks noGrp="1"/>
          </p:cNvGraphicFramePr>
          <p:nvPr>
            <p:extLst/>
          </p:nvPr>
        </p:nvGraphicFramePr>
        <p:xfrm>
          <a:off x="759109" y="1462227"/>
          <a:ext cx="10823570" cy="4105995"/>
        </p:xfrm>
        <a:graphic>
          <a:graphicData uri="http://schemas.openxmlformats.org/drawingml/2006/table">
            <a:tbl>
              <a:tblPr firstRow="1" bandRow="1">
                <a:tableStyleId>{5C22544A-7EE6-4342-B048-85BDC9FD1C3A}</a:tableStyleId>
              </a:tblPr>
              <a:tblGrid>
                <a:gridCol w="693909">
                  <a:extLst>
                    <a:ext uri="{9D8B030D-6E8A-4147-A177-3AD203B41FA5}">
                      <a16:colId xmlns:a16="http://schemas.microsoft.com/office/drawing/2014/main" val="20000"/>
                    </a:ext>
                  </a:extLst>
                </a:gridCol>
                <a:gridCol w="826719">
                  <a:extLst>
                    <a:ext uri="{9D8B030D-6E8A-4147-A177-3AD203B41FA5}">
                      <a16:colId xmlns:a16="http://schemas.microsoft.com/office/drawing/2014/main" val="20001"/>
                    </a:ext>
                  </a:extLst>
                </a:gridCol>
                <a:gridCol w="634652">
                  <a:extLst>
                    <a:ext uri="{9D8B030D-6E8A-4147-A177-3AD203B41FA5}">
                      <a16:colId xmlns:a16="http://schemas.microsoft.com/office/drawing/2014/main" val="20002"/>
                    </a:ext>
                  </a:extLst>
                </a:gridCol>
                <a:gridCol w="509392">
                  <a:extLst>
                    <a:ext uri="{9D8B030D-6E8A-4147-A177-3AD203B41FA5}">
                      <a16:colId xmlns:a16="http://schemas.microsoft.com/office/drawing/2014/main" val="20003"/>
                    </a:ext>
                  </a:extLst>
                </a:gridCol>
                <a:gridCol w="542795">
                  <a:extLst>
                    <a:ext uri="{9D8B030D-6E8A-4147-A177-3AD203B41FA5}">
                      <a16:colId xmlns:a16="http://schemas.microsoft.com/office/drawing/2014/main" val="20004"/>
                    </a:ext>
                  </a:extLst>
                </a:gridCol>
                <a:gridCol w="630408">
                  <a:extLst>
                    <a:ext uri="{9D8B030D-6E8A-4147-A177-3AD203B41FA5}">
                      <a16:colId xmlns:a16="http://schemas.microsoft.com/office/drawing/2014/main" val="20005"/>
                    </a:ext>
                  </a:extLst>
                </a:gridCol>
                <a:gridCol w="518478">
                  <a:extLst>
                    <a:ext uri="{9D8B030D-6E8A-4147-A177-3AD203B41FA5}">
                      <a16:colId xmlns:a16="http://schemas.microsoft.com/office/drawing/2014/main" val="20006"/>
                    </a:ext>
                  </a:extLst>
                </a:gridCol>
                <a:gridCol w="543723">
                  <a:extLst>
                    <a:ext uri="{9D8B030D-6E8A-4147-A177-3AD203B41FA5}">
                      <a16:colId xmlns:a16="http://schemas.microsoft.com/office/drawing/2014/main" val="20007"/>
                    </a:ext>
                  </a:extLst>
                </a:gridCol>
                <a:gridCol w="641105">
                  <a:extLst>
                    <a:ext uri="{9D8B030D-6E8A-4147-A177-3AD203B41FA5}">
                      <a16:colId xmlns:a16="http://schemas.microsoft.com/office/drawing/2014/main" val="20008"/>
                    </a:ext>
                  </a:extLst>
                </a:gridCol>
                <a:gridCol w="608644">
                  <a:extLst>
                    <a:ext uri="{9D8B030D-6E8A-4147-A177-3AD203B41FA5}">
                      <a16:colId xmlns:a16="http://schemas.microsoft.com/office/drawing/2014/main" val="20009"/>
                    </a:ext>
                  </a:extLst>
                </a:gridCol>
                <a:gridCol w="592413">
                  <a:extLst>
                    <a:ext uri="{9D8B030D-6E8A-4147-A177-3AD203B41FA5}">
                      <a16:colId xmlns:a16="http://schemas.microsoft.com/office/drawing/2014/main" val="20010"/>
                    </a:ext>
                  </a:extLst>
                </a:gridCol>
                <a:gridCol w="624875">
                  <a:extLst>
                    <a:ext uri="{9D8B030D-6E8A-4147-A177-3AD203B41FA5}">
                      <a16:colId xmlns:a16="http://schemas.microsoft.com/office/drawing/2014/main" val="20011"/>
                    </a:ext>
                  </a:extLst>
                </a:gridCol>
                <a:gridCol w="543723">
                  <a:extLst>
                    <a:ext uri="{9D8B030D-6E8A-4147-A177-3AD203B41FA5}">
                      <a16:colId xmlns:a16="http://schemas.microsoft.com/office/drawing/2014/main" val="20012"/>
                    </a:ext>
                  </a:extLst>
                </a:gridCol>
                <a:gridCol w="559952">
                  <a:extLst>
                    <a:ext uri="{9D8B030D-6E8A-4147-A177-3AD203B41FA5}">
                      <a16:colId xmlns:a16="http://schemas.microsoft.com/office/drawing/2014/main" val="20013"/>
                    </a:ext>
                  </a:extLst>
                </a:gridCol>
                <a:gridCol w="608643">
                  <a:extLst>
                    <a:ext uri="{9D8B030D-6E8A-4147-A177-3AD203B41FA5}">
                      <a16:colId xmlns:a16="http://schemas.microsoft.com/office/drawing/2014/main" val="20014"/>
                    </a:ext>
                  </a:extLst>
                </a:gridCol>
                <a:gridCol w="665451">
                  <a:extLst>
                    <a:ext uri="{9D8B030D-6E8A-4147-A177-3AD203B41FA5}">
                      <a16:colId xmlns:a16="http://schemas.microsoft.com/office/drawing/2014/main" val="20015"/>
                    </a:ext>
                  </a:extLst>
                </a:gridCol>
                <a:gridCol w="1078688">
                  <a:extLst>
                    <a:ext uri="{9D8B030D-6E8A-4147-A177-3AD203B41FA5}">
                      <a16:colId xmlns:a16="http://schemas.microsoft.com/office/drawing/2014/main" val="20016"/>
                    </a:ext>
                  </a:extLst>
                </a:gridCol>
              </a:tblGrid>
              <a:tr h="364836">
                <a:tc rowSpan="2" gridSpan="2">
                  <a:txBody>
                    <a:bodyPr/>
                    <a:lstStyle/>
                    <a:p>
                      <a:pPr algn="ctr"/>
                      <a:r>
                        <a:rPr lang="en-US" sz="1200" b="1" dirty="0" err="1">
                          <a:solidFill>
                            <a:schemeClr val="tx1"/>
                          </a:solidFill>
                          <a:latin typeface="Times New Roman" panose="02020603050405020304" pitchFamily="18" charset="0"/>
                          <a:cs typeface="Times New Roman" panose="02020603050405020304" pitchFamily="18" charset="0"/>
                        </a:rPr>
                        <a:t>Đội</a:t>
                      </a:r>
                      <a:r>
                        <a:rPr lang="en-US" sz="1200" b="1" baseline="0" dirty="0">
                          <a:solidFill>
                            <a:schemeClr val="tx1"/>
                          </a:solidFill>
                          <a:latin typeface="Times New Roman" panose="02020603050405020304" pitchFamily="18" charset="0"/>
                          <a:cs typeface="Times New Roman" panose="02020603050405020304" pitchFamily="18" charset="0"/>
                        </a:rPr>
                        <a:t> bay</a:t>
                      </a: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pPr algn="ctr"/>
                      <a:endParaRPr lang="en-US" sz="1600" dirty="0"/>
                    </a:p>
                  </a:txBody>
                  <a:tcPr anchor="ctr"/>
                </a:tc>
                <a:tc rowSpan="2">
                  <a:txBody>
                    <a:bodyPr/>
                    <a:lstStyle/>
                    <a:p>
                      <a:pPr algn="ctr"/>
                      <a:r>
                        <a:rPr lang="en-US" sz="1200" b="1" dirty="0">
                          <a:solidFill>
                            <a:schemeClr val="tx1"/>
                          </a:solidFill>
                          <a:latin typeface="Times New Roman" panose="02020603050405020304" pitchFamily="18" charset="0"/>
                          <a:cs typeface="Times New Roman" panose="02020603050405020304" pitchFamily="18" charset="0"/>
                        </a:rPr>
                        <a:t>MT</a:t>
                      </a:r>
                    </a:p>
                    <a:p>
                      <a:pPr algn="ctr"/>
                      <a:r>
                        <a:rPr lang="en-US" sz="1200" b="1">
                          <a:solidFill>
                            <a:schemeClr val="tx1"/>
                          </a:solidFill>
                          <a:latin typeface="Times New Roman" panose="02020603050405020304" pitchFamily="18" charset="0"/>
                          <a:cs typeface="Times New Roman" panose="02020603050405020304" pitchFamily="18" charset="0"/>
                        </a:rPr>
                        <a:t>2025</a:t>
                      </a: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12">
                  <a:txBody>
                    <a:bodyPr/>
                    <a:lstStyle/>
                    <a:p>
                      <a:pPr algn="ctr"/>
                      <a:r>
                        <a:rPr lang="en-US" sz="1300" b="1" dirty="0" err="1">
                          <a:solidFill>
                            <a:schemeClr val="tx1"/>
                          </a:solidFill>
                          <a:latin typeface="Times New Roman" panose="02020603050405020304" pitchFamily="18" charset="0"/>
                          <a:cs typeface="Times New Roman" panose="02020603050405020304" pitchFamily="18" charset="0"/>
                        </a:rPr>
                        <a:t>Giá</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trị</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thực</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hiện</a:t>
                      </a:r>
                      <a:r>
                        <a:rPr lang="en-US" sz="1300" b="1" baseline="0" dirty="0">
                          <a:solidFill>
                            <a:schemeClr val="tx1"/>
                          </a:solidFill>
                          <a:latin typeface="Times New Roman" panose="02020603050405020304" pitchFamily="18" charset="0"/>
                          <a:cs typeface="Times New Roman" panose="02020603050405020304" pitchFamily="18" charset="0"/>
                        </a:rPr>
                        <a:t>  (%)</a:t>
                      </a:r>
                      <a:endParaRPr lang="en-US" sz="13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rowSpan="2">
                  <a:txBody>
                    <a:bodyPr/>
                    <a:lstStyle/>
                    <a:p>
                      <a:pPr algn="ctr"/>
                      <a:r>
                        <a:rPr lang="en-US" sz="1200" b="1">
                          <a:solidFill>
                            <a:schemeClr val="tx1"/>
                          </a:solidFill>
                          <a:latin typeface="Times New Roman" panose="02020603050405020304" pitchFamily="18" charset="0"/>
                          <a:cs typeface="Times New Roman" panose="02020603050405020304" pitchFamily="18" charset="0"/>
                        </a:rPr>
                        <a:t>MT</a:t>
                      </a:r>
                      <a:endParaRPr lang="en-US" sz="1200" b="1" dirty="0">
                        <a:solidFill>
                          <a:schemeClr val="tx1"/>
                        </a:solidFill>
                        <a:latin typeface="Times New Roman" panose="02020603050405020304" pitchFamily="18" charset="0"/>
                        <a:cs typeface="Times New Roman" panose="02020603050405020304" pitchFamily="18" charset="0"/>
                      </a:endParaRPr>
                    </a:p>
                    <a:p>
                      <a:pPr algn="ctr"/>
                      <a:r>
                        <a:rPr lang="en-US" sz="1200" b="1">
                          <a:solidFill>
                            <a:schemeClr val="tx1"/>
                          </a:solidFill>
                          <a:latin typeface="Times New Roman" panose="02020603050405020304" pitchFamily="18" charset="0"/>
                          <a:cs typeface="Times New Roman" panose="02020603050405020304" pitchFamily="18" charset="0"/>
                        </a:rPr>
                        <a:t>2024</a:t>
                      </a: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en-US" sz="1200" b="1" err="1">
                          <a:solidFill>
                            <a:schemeClr val="tx1"/>
                          </a:solidFill>
                          <a:latin typeface="Times New Roman" panose="02020603050405020304" pitchFamily="18" charset="0"/>
                          <a:cs typeface="Times New Roman" panose="02020603050405020304" pitchFamily="18" charset="0"/>
                        </a:rPr>
                        <a:t>Đánh</a:t>
                      </a:r>
                      <a:r>
                        <a:rPr lang="en-US" sz="1200" b="1" baseline="0">
                          <a:solidFill>
                            <a:schemeClr val="tx1"/>
                          </a:solidFill>
                          <a:latin typeface="Times New Roman" panose="02020603050405020304" pitchFamily="18" charset="0"/>
                          <a:cs typeface="Times New Roman" panose="02020603050405020304" pitchFamily="18" charset="0"/>
                        </a:rPr>
                        <a:t> giá 2025</a:t>
                      </a: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91103">
                <a:tc gridSpan="2" vMerge="1">
                  <a:txBody>
                    <a:bodyPr/>
                    <a:lstStyle/>
                    <a:p>
                      <a:endParaRPr lang="en-US" dirty="0"/>
                    </a:p>
                  </a:txBody>
                  <a:tcPr/>
                </a:tc>
                <a:tc hMerge="1" vMerge="1">
                  <a:txBody>
                    <a:bodyPr/>
                    <a:lstStyle/>
                    <a:p>
                      <a:endParaRPr lang="en-US" dirty="0"/>
                    </a:p>
                  </a:txBody>
                  <a:tcPr/>
                </a:tc>
                <a:tc vMerge="1">
                  <a:txBody>
                    <a:bodyPr/>
                    <a:lstStyle/>
                    <a:p>
                      <a:endParaRPr lang="en-US" dirty="0"/>
                    </a:p>
                  </a:txBody>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Jan</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Feb</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Mar</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Apr</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May</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Jun</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Jul</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Aug</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Sep</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Oct</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Nov</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Dec</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10001"/>
                  </a:ext>
                </a:extLst>
              </a:tr>
              <a:tr h="436498">
                <a:tc gridSpan="2">
                  <a:txBody>
                    <a:bodyPr/>
                    <a:lstStyle/>
                    <a:p>
                      <a:r>
                        <a:rPr lang="en-US" sz="1200" b="1">
                          <a:latin typeface="Times New Roman" panose="02020603050405020304" pitchFamily="18" charset="0"/>
                          <a:cs typeface="Times New Roman" panose="02020603050405020304" pitchFamily="18" charset="0"/>
                        </a:rPr>
                        <a:t>B787</a:t>
                      </a:r>
                      <a:endParaRPr lang="en-US" sz="1200" b="1" dirty="0">
                        <a:solidFill>
                          <a:srgbClr val="0070C0"/>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tc>
                <a:tc>
                  <a:txBody>
                    <a:bodyPr/>
                    <a:lstStyle/>
                    <a:p>
                      <a:pPr algn="ctr" fontAlgn="ctr"/>
                      <a:r>
                        <a:rPr lang="en-US" sz="1200" b="1" kern="1200">
                          <a:solidFill>
                            <a:srgbClr val="00B05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B05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200" b="1" kern="1200">
                          <a:solidFill>
                            <a:srgbClr val="000000"/>
                          </a:solidFill>
                          <a:effectLst/>
                          <a:latin typeface="Times New Roman" panose="02020603050405020304" pitchFamily="18" charset="0"/>
                          <a:ea typeface="Calibri"/>
                          <a:cs typeface="Times New Roman" panose="02020603050405020304" pitchFamily="18" charset="0"/>
                        </a:rPr>
                        <a:t>89</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15000"/>
                        </a:lnSpc>
                        <a:spcAft>
                          <a:spcPts val="0"/>
                        </a:spcAft>
                      </a:pP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91</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ctr" defTabSz="914400" rtl="0" eaLnBrk="1" latinLnBrk="0" hangingPunct="1">
                        <a:lnSpc>
                          <a:spcPct val="115000"/>
                        </a:lnSpc>
                        <a:spcAft>
                          <a:spcPts val="0"/>
                        </a:spcAft>
                      </a:pPr>
                      <a:r>
                        <a:rPr lang="en-US" sz="1200" b="1" kern="1200" smtClean="0">
                          <a:solidFill>
                            <a:schemeClr val="tx1"/>
                          </a:solidFill>
                          <a:effectLst/>
                          <a:latin typeface="Times New Roman" panose="02020603050405020304" pitchFamily="18" charset="0"/>
                          <a:ea typeface="Calibri"/>
                          <a:cs typeface="Times New Roman" panose="02020603050405020304" pitchFamily="18" charset="0"/>
                        </a:rPr>
                        <a:t>93</a:t>
                      </a: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93</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ctr" defTabSz="914400" rtl="0" eaLnBrk="1" fontAlgn="ctr" latinLnBrk="0" hangingPunct="1"/>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93</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98</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91</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kern="1200">
                          <a:solidFill>
                            <a:srgbClr val="00000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Không đạt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36498">
                <a:tc gridSpan="2">
                  <a:txBody>
                    <a:bodyPr/>
                    <a:lstStyle/>
                    <a:p>
                      <a:pPr marL="0" algn="l" defTabSz="914400" rtl="0" eaLnBrk="1" latinLnBrk="0" hangingPunct="1"/>
                      <a:r>
                        <a:rPr lang="en-US" sz="1200" b="1">
                          <a:latin typeface="Times New Roman" panose="02020603050405020304" pitchFamily="18" charset="0"/>
                          <a:cs typeface="Times New Roman" panose="02020603050405020304" pitchFamily="18" charset="0"/>
                        </a:rPr>
                        <a:t>A350</a:t>
                      </a:r>
                      <a:endParaRPr lang="en-US" sz="1200" b="1" kern="1200" dirty="0">
                        <a:solidFill>
                          <a:srgbClr val="0070C0"/>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tc>
                <a:tc>
                  <a:txBody>
                    <a:bodyPr/>
                    <a:lstStyle/>
                    <a:p>
                      <a:pPr algn="ctr" fontAlgn="ctr"/>
                      <a:r>
                        <a:rPr lang="en-US" sz="1200" b="1" kern="1200">
                          <a:solidFill>
                            <a:srgbClr val="00B05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B05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200" b="1" kern="1200">
                          <a:solidFill>
                            <a:srgbClr val="000000"/>
                          </a:solidFill>
                          <a:effectLst/>
                          <a:latin typeface="Times New Roman" panose="02020603050405020304" pitchFamily="18" charset="0"/>
                          <a:ea typeface="Calibri"/>
                          <a:cs typeface="Times New Roman" panose="02020603050405020304" pitchFamily="18" charset="0"/>
                        </a:rPr>
                        <a:t>98</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lnSpc>
                          <a:spcPct val="115000"/>
                        </a:lnSpc>
                        <a:spcAft>
                          <a:spcPts val="0"/>
                        </a:spcAft>
                      </a:pP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99</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algn="ctr" defTabSz="914400" rtl="0" eaLnBrk="1" latinLnBrk="0" hangingPunct="1">
                        <a:lnSpc>
                          <a:spcPct val="115000"/>
                        </a:lnSpc>
                        <a:spcAft>
                          <a:spcPts val="0"/>
                        </a:spcAft>
                      </a:pPr>
                      <a:r>
                        <a:rPr lang="en-US" sz="1200" b="1" kern="1200" smtClean="0">
                          <a:solidFill>
                            <a:schemeClr val="tx1"/>
                          </a:solidFill>
                          <a:effectLst/>
                          <a:latin typeface="Times New Roman" panose="02020603050405020304" pitchFamily="18" charset="0"/>
                          <a:ea typeface="Calibri"/>
                          <a:cs typeface="Times New Roman" panose="02020603050405020304" pitchFamily="18" charset="0"/>
                        </a:rPr>
                        <a:t>100</a:t>
                      </a: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96</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algn="ctr" defTabSz="914400" rtl="0" eaLnBrk="1" fontAlgn="ctr" latinLnBrk="0" hangingPunct="1"/>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100</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100</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90</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kern="1200">
                          <a:solidFill>
                            <a:srgbClr val="00000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Không đạt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42952">
                <a:tc>
                  <a:txBody>
                    <a:bodyPr/>
                    <a:lstStyle/>
                    <a:p>
                      <a:r>
                        <a:rPr lang="en-US" sz="1300" b="1" smtClean="0">
                          <a:latin typeface="Times New Roman" panose="02020603050405020304" pitchFamily="18" charset="0"/>
                          <a:cs typeface="Times New Roman" panose="02020603050405020304" pitchFamily="18" charset="0"/>
                        </a:rPr>
                        <a:t>A321</a:t>
                      </a:r>
                      <a:endParaRPr lang="en-US" sz="1300" b="1"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200" b="1">
                          <a:latin typeface="Times New Roman" panose="02020603050405020304" pitchFamily="18" charset="0"/>
                          <a:cs typeface="Times New Roman" panose="02020603050405020304" pitchFamily="18" charset="0"/>
                        </a:rPr>
                        <a:t>QAR</a:t>
                      </a:r>
                      <a:endParaRPr lang="en-US" sz="1200" b="1" dirty="0">
                        <a:solidFill>
                          <a:srgbClr val="0070C0"/>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1" kern="1200" smtClean="0">
                          <a:solidFill>
                            <a:srgbClr val="00B050"/>
                          </a:solidFill>
                          <a:effectLst/>
                          <a:latin typeface="Times New Roman" panose="02020603050405020304" pitchFamily="18" charset="0"/>
                          <a:ea typeface="Calibri"/>
                          <a:cs typeface="Times New Roman" panose="02020603050405020304" pitchFamily="18" charset="0"/>
                        </a:rPr>
                        <a:t>90%</a:t>
                      </a:r>
                      <a:endParaRPr lang="en-US" sz="1200" b="1" kern="1200" dirty="0">
                        <a:solidFill>
                          <a:srgbClr val="00B05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94</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lnSpc>
                          <a:spcPct val="115000"/>
                        </a:lnSpc>
                        <a:spcAft>
                          <a:spcPts val="0"/>
                        </a:spcAft>
                      </a:pP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91</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algn="ctr" defTabSz="914400" rtl="0" eaLnBrk="1" latinLnBrk="0" hangingPunct="1">
                        <a:lnSpc>
                          <a:spcPct val="115000"/>
                        </a:lnSpc>
                        <a:spcAft>
                          <a:spcPts val="0"/>
                        </a:spcAft>
                      </a:pPr>
                      <a:r>
                        <a:rPr lang="en-US" sz="1200" b="1" kern="1200" smtClean="0">
                          <a:solidFill>
                            <a:schemeClr val="tx1"/>
                          </a:solidFill>
                          <a:effectLst/>
                          <a:latin typeface="Times New Roman" panose="02020603050405020304" pitchFamily="18" charset="0"/>
                          <a:ea typeface="Calibri"/>
                          <a:cs typeface="Times New Roman" panose="02020603050405020304" pitchFamily="18" charset="0"/>
                        </a:rPr>
                        <a:t>90</a:t>
                      </a: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93</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algn="ctr" defTabSz="914400" rtl="0" eaLnBrk="1" fontAlgn="ctr" latinLnBrk="0" hangingPunct="1"/>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97</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93</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86</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90%</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Không đạt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2560689"/>
                  </a:ext>
                </a:extLst>
              </a:tr>
              <a:tr h="542952">
                <a:tc>
                  <a:txBody>
                    <a:bodyPr/>
                    <a:lstStyle/>
                    <a:p>
                      <a:r>
                        <a:rPr lang="en-US" sz="1300" b="1" smtClean="0">
                          <a:latin typeface="Times New Roman" panose="02020603050405020304" pitchFamily="18" charset="0"/>
                          <a:cs typeface="Times New Roman" panose="02020603050405020304" pitchFamily="18" charset="0"/>
                        </a:rPr>
                        <a:t>A321</a:t>
                      </a:r>
                      <a:endParaRPr lang="en-US" sz="1300" b="1"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0" algn="l" rtl="0">
                        <a:lnSpc>
                          <a:spcPct val="100000"/>
                        </a:lnSpc>
                        <a:spcBef>
                          <a:spcPts val="0"/>
                        </a:spcBef>
                        <a:spcAft>
                          <a:spcPts val="0"/>
                        </a:spcAft>
                        <a:buClr>
                          <a:srgbClr val="000000"/>
                        </a:buClr>
                        <a:buFont typeface="Arial"/>
                      </a:pPr>
                      <a:r>
                        <a:rPr lang="en-US" sz="1200" b="1" i="0" u="none" strike="noStrike" cap="none" smtClean="0">
                          <a:solidFill>
                            <a:schemeClr val="dk1"/>
                          </a:solidFill>
                          <a:latin typeface="Times New Roman" panose="02020603050405020304" pitchFamily="18" charset="0"/>
                          <a:ea typeface="+mn-ea"/>
                          <a:cs typeface="Times New Roman" panose="02020603050405020304" pitchFamily="18" charset="0"/>
                          <a:sym typeface="Arial"/>
                        </a:rPr>
                        <a:t>WQAR</a:t>
                      </a:r>
                      <a:endParaRPr lang="en-US" sz="12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1" kern="1200" smtClean="0">
                          <a:solidFill>
                            <a:srgbClr val="00B05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B05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92</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lnSpc>
                          <a:spcPct val="115000"/>
                        </a:lnSpc>
                        <a:spcAft>
                          <a:spcPts val="0"/>
                        </a:spcAft>
                      </a:pP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algn="ctr" defTabSz="914400" rtl="0" eaLnBrk="1" latinLnBrk="0" hangingPunct="1">
                        <a:lnSpc>
                          <a:spcPct val="115000"/>
                        </a:lnSpc>
                        <a:spcAft>
                          <a:spcPts val="0"/>
                        </a:spcAft>
                      </a:pPr>
                      <a:r>
                        <a:rPr lang="en-US" sz="1200" b="1" kern="1200" smtClean="0">
                          <a:solidFill>
                            <a:schemeClr val="tx1"/>
                          </a:solidFill>
                          <a:effectLst/>
                          <a:latin typeface="Times New Roman" panose="02020603050405020304" pitchFamily="18" charset="0"/>
                          <a:ea typeface="Calibri"/>
                          <a:cs typeface="Times New Roman" panose="02020603050405020304" pitchFamily="18" charset="0"/>
                        </a:rPr>
                        <a:t>96</a:t>
                      </a: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92</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ctr" defTabSz="914400" rtl="0" eaLnBrk="1" fontAlgn="ctr" latinLnBrk="0" hangingPunct="1"/>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94</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81</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kern="1200">
                          <a:solidFill>
                            <a:srgbClr val="00000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Không đạt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78026">
                <a:tc>
                  <a:txBody>
                    <a:bodyPr/>
                    <a:lstStyle/>
                    <a:p>
                      <a:r>
                        <a:rPr lang="en-US" sz="1300" b="1" smtClean="0">
                          <a:latin typeface="Times New Roman" panose="02020603050405020304" pitchFamily="18" charset="0"/>
                          <a:cs typeface="Times New Roman" panose="02020603050405020304" pitchFamily="18" charset="0"/>
                        </a:rPr>
                        <a:t>A320</a:t>
                      </a:r>
                    </a:p>
                    <a:p>
                      <a:r>
                        <a:rPr lang="en-US" sz="1300" b="1" smtClean="0">
                          <a:latin typeface="Times New Roman" panose="02020603050405020304" pitchFamily="18" charset="0"/>
                          <a:cs typeface="Times New Roman" panose="02020603050405020304" pitchFamily="18" charset="0"/>
                        </a:rPr>
                        <a:t>A321</a:t>
                      </a:r>
                      <a:endParaRPr lang="en-US" sz="1300" b="1"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200" b="1">
                          <a:latin typeface="Times New Roman" panose="02020603050405020304" pitchFamily="18" charset="0"/>
                          <a:cs typeface="Times New Roman" panose="02020603050405020304" pitchFamily="18" charset="0"/>
                        </a:rPr>
                        <a:t>NEO</a:t>
                      </a:r>
                      <a:endParaRPr lang="en-US" sz="1200" b="1" dirty="0">
                        <a:solidFill>
                          <a:srgbClr val="0070C0"/>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1" kern="1200">
                          <a:solidFill>
                            <a:srgbClr val="00B05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B05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93</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lnSpc>
                          <a:spcPct val="115000"/>
                        </a:lnSpc>
                        <a:spcAft>
                          <a:spcPts val="0"/>
                        </a:spcAft>
                      </a:pP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92</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ctr" defTabSz="914400" rtl="0" eaLnBrk="1" latinLnBrk="0" hangingPunct="1">
                        <a:lnSpc>
                          <a:spcPct val="115000"/>
                        </a:lnSpc>
                        <a:spcAft>
                          <a:spcPts val="0"/>
                        </a:spcAft>
                      </a:pPr>
                      <a:r>
                        <a:rPr lang="en-US" sz="1200" b="1" kern="1200" smtClean="0">
                          <a:solidFill>
                            <a:schemeClr val="tx1"/>
                          </a:solidFill>
                          <a:effectLst/>
                          <a:latin typeface="Times New Roman" panose="02020603050405020304" pitchFamily="18" charset="0"/>
                          <a:ea typeface="Calibri"/>
                          <a:cs typeface="Times New Roman" panose="02020603050405020304" pitchFamily="18" charset="0"/>
                        </a:rPr>
                        <a:t>94</a:t>
                      </a: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99</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algn="ctr" defTabSz="914400" rtl="0" eaLnBrk="1" fontAlgn="ctr" latinLnBrk="0" hangingPunct="1"/>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96</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91</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94</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kern="1200">
                          <a:solidFill>
                            <a:srgbClr val="00000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Không đạt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436498">
                <a:tc gridSpan="2">
                  <a:txBody>
                    <a:bodyPr/>
                    <a:lstStyle/>
                    <a:p>
                      <a:r>
                        <a:rPr lang="en-US" sz="1200" b="1">
                          <a:latin typeface="Times New Roman" panose="02020603050405020304" pitchFamily="18" charset="0"/>
                          <a:cs typeface="Times New Roman" panose="02020603050405020304" pitchFamily="18" charset="0"/>
                        </a:rPr>
                        <a:t>ATR</a:t>
                      </a:r>
                      <a:endParaRPr lang="en-US" sz="1200" b="1" kern="1200" dirty="0">
                        <a:solidFill>
                          <a:srgbClr val="0070C0"/>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tc>
                <a:tc>
                  <a:txBody>
                    <a:bodyPr/>
                    <a:lstStyle/>
                    <a:p>
                      <a:pPr algn="ctr" fontAlgn="ctr"/>
                      <a:r>
                        <a:rPr lang="en-US" sz="1200" b="1" kern="1200">
                          <a:solidFill>
                            <a:srgbClr val="00B05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B05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200" b="1" kern="1200">
                          <a:solidFill>
                            <a:srgbClr val="000000"/>
                          </a:solidFill>
                          <a:effectLst/>
                          <a:latin typeface="Times New Roman" panose="02020603050405020304" pitchFamily="18" charset="0"/>
                          <a:ea typeface="Calibri"/>
                          <a:cs typeface="Times New Roman" panose="02020603050405020304" pitchFamily="18" charset="0"/>
                        </a:rPr>
                        <a:t>99</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200" b="1" smtClean="0">
                          <a:solidFill>
                            <a:schemeClr val="tx1"/>
                          </a:solidFill>
                          <a:latin typeface="Times New Roman" panose="02020603050405020304" pitchFamily="18" charset="0"/>
                          <a:cs typeface="Times New Roman" panose="02020603050405020304" pitchFamily="18" charset="0"/>
                        </a:rPr>
                        <a:t>99</a:t>
                      </a: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algn="ctr" defTabSz="914400" rtl="0" eaLnBrk="1" latinLnBrk="0" hangingPunct="1"/>
                      <a:r>
                        <a:rPr lang="en-US" sz="1200" b="1" kern="1200" smtClean="0">
                          <a:solidFill>
                            <a:schemeClr val="tx1"/>
                          </a:solidFill>
                          <a:latin typeface="Times New Roman" panose="02020603050405020304" pitchFamily="18" charset="0"/>
                          <a:ea typeface="+mn-ea"/>
                          <a:cs typeface="Times New Roman" panose="02020603050405020304" pitchFamily="18" charset="0"/>
                        </a:rPr>
                        <a:t>95</a:t>
                      </a:r>
                      <a:endParaRPr lang="en-US" sz="12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94</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algn="ctr" defTabSz="914400" rtl="0" eaLnBrk="1" fontAlgn="ctr" latinLnBrk="0" hangingPunct="1"/>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97</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88</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200" smtClean="0">
                          <a:solidFill>
                            <a:schemeClr val="tx1"/>
                          </a:solidFill>
                          <a:latin typeface="Times New Roman" panose="02020603050405020304" pitchFamily="18" charset="0"/>
                          <a:ea typeface="+mn-ea"/>
                          <a:cs typeface="Times New Roman" panose="02020603050405020304" pitchFamily="18" charset="0"/>
                        </a:rPr>
                        <a:t>94</a:t>
                      </a:r>
                      <a:endParaRPr lang="en-US" sz="12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kern="1200">
                          <a:solidFill>
                            <a:srgbClr val="00000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Không đạt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436498">
                <a:tc gridSpan="2">
                  <a:txBody>
                    <a:bodyPr/>
                    <a:lstStyle/>
                    <a:p>
                      <a:r>
                        <a:rPr lang="en-US" sz="1200" b="1" i="1">
                          <a:latin typeface="Times New Roman" panose="02020603050405020304" pitchFamily="18" charset="0"/>
                          <a:cs typeface="Times New Roman" panose="02020603050405020304" pitchFamily="18" charset="0"/>
                        </a:rPr>
                        <a:t>Total</a:t>
                      </a:r>
                      <a:endParaRPr lang="en-US" sz="1200" b="1" i="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tc>
                <a:tc>
                  <a:txBody>
                    <a:bodyPr/>
                    <a:lstStyle/>
                    <a:p>
                      <a:pPr algn="ctr"/>
                      <a:r>
                        <a:rPr lang="en-US" sz="1200" b="1" kern="1200">
                          <a:solidFill>
                            <a:srgbClr val="00B050"/>
                          </a:solidFill>
                          <a:effectLst/>
                          <a:latin typeface="Times New Roman" panose="02020603050405020304" pitchFamily="18" charset="0"/>
                          <a:ea typeface="Calibri"/>
                          <a:cs typeface="Times New Roman" panose="02020603050405020304" pitchFamily="18" charset="0"/>
                        </a:rPr>
                        <a:t>94%</a:t>
                      </a:r>
                      <a:endParaRPr lang="en-US" sz="1200" b="1" kern="1200" dirty="0">
                        <a:solidFill>
                          <a:srgbClr val="00B05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a:solidFill>
                            <a:schemeClr val="tx1"/>
                          </a:solidFill>
                          <a:latin typeface="Times New Roman" panose="02020603050405020304" pitchFamily="18" charset="0"/>
                          <a:cs typeface="Times New Roman" panose="02020603050405020304" pitchFamily="18" charset="0"/>
                        </a:rPr>
                        <a:t>94</a:t>
                      </a: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lnSpc>
                          <a:spcPct val="115000"/>
                        </a:lnSpc>
                        <a:spcAft>
                          <a:spcPts val="0"/>
                        </a:spcAft>
                      </a:pP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94</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algn="ctr" defTabSz="914400" rtl="0" eaLnBrk="1" latinLnBrk="0" hangingPunct="1">
                        <a:lnSpc>
                          <a:spcPct val="115000"/>
                        </a:lnSpc>
                        <a:spcAft>
                          <a:spcPts val="0"/>
                        </a:spcAft>
                      </a:pPr>
                      <a:r>
                        <a:rPr lang="en-US" sz="1200" b="1" kern="1200" smtClean="0">
                          <a:solidFill>
                            <a:schemeClr val="tx1"/>
                          </a:solidFill>
                          <a:effectLst/>
                          <a:latin typeface="Times New Roman" panose="02020603050405020304" pitchFamily="18" charset="0"/>
                          <a:ea typeface="Calibri"/>
                          <a:cs typeface="Times New Roman" panose="02020603050405020304" pitchFamily="18" charset="0"/>
                        </a:rPr>
                        <a:t>94</a:t>
                      </a: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200" b="1" smtClean="0">
                          <a:solidFill>
                            <a:schemeClr val="tx1"/>
                          </a:solidFill>
                          <a:latin typeface="Times New Roman" panose="02020603050405020304" pitchFamily="18" charset="0"/>
                          <a:cs typeface="Times New Roman" panose="02020603050405020304" pitchFamily="18" charset="0"/>
                        </a:rPr>
                        <a:t>94</a:t>
                      </a: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96</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200" smtClean="0">
                          <a:solidFill>
                            <a:schemeClr val="tx1"/>
                          </a:solidFill>
                          <a:effectLst/>
                          <a:latin typeface="Times New Roman" panose="02020603050405020304" pitchFamily="18" charset="0"/>
                          <a:ea typeface="Calibri"/>
                          <a:cs typeface="Times New Roman" panose="02020603050405020304" pitchFamily="18" charset="0"/>
                        </a:rPr>
                        <a:t>95</a:t>
                      </a: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89</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kern="1200">
                          <a:solidFill>
                            <a:srgbClr val="000000"/>
                          </a:solidFill>
                          <a:effectLst/>
                          <a:latin typeface="Times New Roman" panose="02020603050405020304" pitchFamily="18" charset="0"/>
                          <a:ea typeface="Calibri"/>
                          <a:cs typeface="Times New Roman" panose="02020603050405020304" pitchFamily="18" charset="0"/>
                        </a:rPr>
                        <a:t>94%</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Không đạt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9696940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18</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001892"/>
            <a:ext cx="10638772"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0" fontAlgn="auto" latinLnBrk="0" hangingPunct="0">
              <a:lnSpc>
                <a:spcPct val="100000"/>
              </a:lnSpc>
              <a:spcBef>
                <a:spcPts val="0"/>
              </a:spcBef>
              <a:spcAft>
                <a:spcPts val="0"/>
              </a:spcAft>
              <a:buClr>
                <a:srgbClr val="000000"/>
              </a:buClr>
              <a:buSzTx/>
              <a:buFontTx/>
              <a:buNone/>
              <a:tabLst/>
              <a:defRPr/>
            </a:pPr>
            <a:r>
              <a:rPr kumimoji="0" 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7 - TỶ LỆ VỤ VIỆC THIẾT BỊ R</a:t>
            </a:r>
            <a:r>
              <a:rPr kumimoji="0" lang="vi-VN"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Ơ</a:t>
            </a:r>
            <a:r>
              <a:rPr kumimoji="0" 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I KHỎI MÁY BAY (PDA)</a:t>
            </a:r>
            <a:endParaRPr kumimoji="0" 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880534" y="5183709"/>
            <a:ext cx="10743619" cy="1338828"/>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35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35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35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7/2025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có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02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việc thiết bị r</a:t>
            </a:r>
            <a:r>
              <a:rPr kumimoji="0" lang="vi-VN"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ơ</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i khỏi tàu bay,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giảm 01 vụ so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 tháng trước và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bằng số vụ so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 cùng kỳ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tháng 7</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/2025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1.54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vụ/10000CB</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giảm 0.75 điểm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so với tháng trước và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bằng số điểm cùng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 2024.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mục tiêu năm 2025 là 1.69 vụ/10000CB. </a:t>
            </a:r>
            <a:endPar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 tháng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đầu năm 2025 có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09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việc, giảm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05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việc tương ứng giảm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0.71 điểm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so với cùng kỳ năm 2024. KPI 7</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tháng năm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2025 là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1.08,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mục tiêu.</a:t>
            </a:r>
          </a:p>
        </p:txBody>
      </p:sp>
      <p:graphicFrame>
        <p:nvGraphicFramePr>
          <p:cNvPr id="10" name="Chart 9">
            <a:extLst>
              <a:ext uri="{FF2B5EF4-FFF2-40B4-BE49-F238E27FC236}">
                <a16:creationId xmlns:a16="http://schemas.microsoft.com/office/drawing/2014/main" id="{27C5D5AD-8D42-4015-9AB5-CEAD88A7C484}"/>
              </a:ext>
            </a:extLst>
          </p:cNvPr>
          <p:cNvGraphicFramePr>
            <a:graphicFrameLocks/>
          </p:cNvGraphicFramePr>
          <p:nvPr>
            <p:extLst>
              <p:ext uri="{D42A27DB-BD31-4B8C-83A1-F6EECF244321}">
                <p14:modId xmlns:p14="http://schemas.microsoft.com/office/powerpoint/2010/main" val="3484636930"/>
              </p:ext>
            </p:extLst>
          </p:nvPr>
        </p:nvGraphicFramePr>
        <p:xfrm>
          <a:off x="880534" y="1648496"/>
          <a:ext cx="7395881" cy="326860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EBE1F88D-F545-4B51-B0C1-D6E2B55435D3}"/>
              </a:ext>
            </a:extLst>
          </p:cNvPr>
          <p:cNvGraphicFramePr>
            <a:graphicFrameLocks/>
          </p:cNvGraphicFramePr>
          <p:nvPr>
            <p:extLst/>
          </p:nvPr>
        </p:nvGraphicFramePr>
        <p:xfrm>
          <a:off x="8569032" y="1648160"/>
          <a:ext cx="2971613" cy="3288491"/>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1019111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19</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graphicFrame>
        <p:nvGraphicFramePr>
          <p:cNvPr id="4" name="Table 3"/>
          <p:cNvGraphicFramePr>
            <a:graphicFrameLocks noGrp="1"/>
          </p:cNvGraphicFramePr>
          <p:nvPr>
            <p:extLst/>
          </p:nvPr>
        </p:nvGraphicFramePr>
        <p:xfrm>
          <a:off x="908480" y="1508389"/>
          <a:ext cx="10633095" cy="2232693"/>
        </p:xfrm>
        <a:graphic>
          <a:graphicData uri="http://schemas.openxmlformats.org/drawingml/2006/table">
            <a:tbl>
              <a:tblPr/>
              <a:tblGrid>
                <a:gridCol w="328993">
                  <a:extLst>
                    <a:ext uri="{9D8B030D-6E8A-4147-A177-3AD203B41FA5}">
                      <a16:colId xmlns:a16="http://schemas.microsoft.com/office/drawing/2014/main" val="4288310163"/>
                    </a:ext>
                  </a:extLst>
                </a:gridCol>
                <a:gridCol w="566921">
                  <a:extLst>
                    <a:ext uri="{9D8B030D-6E8A-4147-A177-3AD203B41FA5}">
                      <a16:colId xmlns:a16="http://schemas.microsoft.com/office/drawing/2014/main" val="437831638"/>
                    </a:ext>
                  </a:extLst>
                </a:gridCol>
                <a:gridCol w="475181">
                  <a:extLst>
                    <a:ext uri="{9D8B030D-6E8A-4147-A177-3AD203B41FA5}">
                      <a16:colId xmlns:a16="http://schemas.microsoft.com/office/drawing/2014/main" val="3588523982"/>
                    </a:ext>
                  </a:extLst>
                </a:gridCol>
                <a:gridCol w="547667">
                  <a:extLst>
                    <a:ext uri="{9D8B030D-6E8A-4147-A177-3AD203B41FA5}">
                      <a16:colId xmlns:a16="http://schemas.microsoft.com/office/drawing/2014/main" val="3041379110"/>
                    </a:ext>
                  </a:extLst>
                </a:gridCol>
                <a:gridCol w="515449">
                  <a:extLst>
                    <a:ext uri="{9D8B030D-6E8A-4147-A177-3AD203B41FA5}">
                      <a16:colId xmlns:a16="http://schemas.microsoft.com/office/drawing/2014/main" val="4122108199"/>
                    </a:ext>
                  </a:extLst>
                </a:gridCol>
                <a:gridCol w="557077">
                  <a:extLst>
                    <a:ext uri="{9D8B030D-6E8A-4147-A177-3AD203B41FA5}">
                      <a16:colId xmlns:a16="http://schemas.microsoft.com/office/drawing/2014/main" val="1567101728"/>
                    </a:ext>
                  </a:extLst>
                </a:gridCol>
                <a:gridCol w="526093">
                  <a:extLst>
                    <a:ext uri="{9D8B030D-6E8A-4147-A177-3AD203B41FA5}">
                      <a16:colId xmlns:a16="http://schemas.microsoft.com/office/drawing/2014/main" val="189086330"/>
                    </a:ext>
                  </a:extLst>
                </a:gridCol>
                <a:gridCol w="1478072">
                  <a:extLst>
                    <a:ext uri="{9D8B030D-6E8A-4147-A177-3AD203B41FA5}">
                      <a16:colId xmlns:a16="http://schemas.microsoft.com/office/drawing/2014/main" val="3806539691"/>
                    </a:ext>
                  </a:extLst>
                </a:gridCol>
                <a:gridCol w="726509">
                  <a:extLst>
                    <a:ext uri="{9D8B030D-6E8A-4147-A177-3AD203B41FA5}">
                      <a16:colId xmlns:a16="http://schemas.microsoft.com/office/drawing/2014/main" val="2040033175"/>
                    </a:ext>
                  </a:extLst>
                </a:gridCol>
                <a:gridCol w="609411">
                  <a:extLst>
                    <a:ext uri="{9D8B030D-6E8A-4147-A177-3AD203B41FA5}">
                      <a16:colId xmlns:a16="http://schemas.microsoft.com/office/drawing/2014/main" val="2018227743"/>
                    </a:ext>
                  </a:extLst>
                </a:gridCol>
                <a:gridCol w="676595">
                  <a:extLst>
                    <a:ext uri="{9D8B030D-6E8A-4147-A177-3AD203B41FA5}">
                      <a16:colId xmlns:a16="http://schemas.microsoft.com/office/drawing/2014/main" val="510124"/>
                    </a:ext>
                  </a:extLst>
                </a:gridCol>
                <a:gridCol w="726509">
                  <a:extLst>
                    <a:ext uri="{9D8B030D-6E8A-4147-A177-3AD203B41FA5}">
                      <a16:colId xmlns:a16="http://schemas.microsoft.com/office/drawing/2014/main" val="497708624"/>
                    </a:ext>
                  </a:extLst>
                </a:gridCol>
                <a:gridCol w="649871">
                  <a:extLst>
                    <a:ext uri="{9D8B030D-6E8A-4147-A177-3AD203B41FA5}">
                      <a16:colId xmlns:a16="http://schemas.microsoft.com/office/drawing/2014/main" val="3062081063"/>
                    </a:ext>
                  </a:extLst>
                </a:gridCol>
                <a:gridCol w="1370995">
                  <a:extLst>
                    <a:ext uri="{9D8B030D-6E8A-4147-A177-3AD203B41FA5}">
                      <a16:colId xmlns:a16="http://schemas.microsoft.com/office/drawing/2014/main" val="1003420114"/>
                    </a:ext>
                  </a:extLst>
                </a:gridCol>
                <a:gridCol w="877752">
                  <a:extLst>
                    <a:ext uri="{9D8B030D-6E8A-4147-A177-3AD203B41FA5}">
                      <a16:colId xmlns:a16="http://schemas.microsoft.com/office/drawing/2014/main" val="1962478193"/>
                    </a:ext>
                  </a:extLst>
                </a:gridCol>
              </a:tblGrid>
              <a:tr h="746852">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STT</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Occur Date</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A/C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Reg</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FLT No</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ARR from</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Occur Location </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Phase</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DESCREPTION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(of drop Part  )</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Drop part Dimension</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Drop part weight</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Catergory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(I/II/III)</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GB" sz="1100" b="0" i="0" u="none" strike="noStrike" dirty="0">
                          <a:solidFill>
                            <a:srgbClr val="000000"/>
                          </a:solidFill>
                          <a:effectLst/>
                          <a:latin typeface="Times New Roman" panose="02020603050405020304" pitchFamily="18" charset="0"/>
                          <a:cs typeface="Times New Roman" panose="02020603050405020304" pitchFamily="18" charset="0"/>
                        </a:rPr>
                        <a:t>Impact to flight </a:t>
                      </a:r>
                      <a:br>
                        <a:rPr lang="en-GB" sz="1100" b="0" i="0" u="none" strike="noStrike" dirty="0">
                          <a:solidFill>
                            <a:srgbClr val="000000"/>
                          </a:solidFill>
                          <a:effectLst/>
                          <a:latin typeface="Times New Roman" panose="02020603050405020304" pitchFamily="18" charset="0"/>
                          <a:cs typeface="Times New Roman" panose="02020603050405020304" pitchFamily="18" charset="0"/>
                        </a:rPr>
                      </a:br>
                      <a:r>
                        <a:rPr lang="en-GB" sz="1100" b="0" i="0" u="none" strike="noStrike" dirty="0">
                          <a:solidFill>
                            <a:srgbClr val="000000"/>
                          </a:solidFill>
                          <a:effectLst/>
                          <a:latin typeface="Times New Roman" panose="02020603050405020304" pitchFamily="18" charset="0"/>
                          <a:cs typeface="Times New Roman" panose="02020603050405020304" pitchFamily="18" charset="0"/>
                        </a:rPr>
                        <a:t>(DELAY, AOG..) </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Impact Time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(minute)</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Action taken</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Cause by</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4135460928"/>
                  </a:ext>
                </a:extLst>
              </a:tr>
              <a:tr h="714316">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25-Jul-25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VN209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TX CHECK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DURING RPL MW # 3 FOUND 2 RIVETS ON CLIPS OF ROTOR SLOTS BRK # 3 MISSING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RIVETS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N/A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NIL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NIL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C/O REPLACED BRAKE #3 -&gt;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EQUIPMENT RELIABILITY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14394027"/>
                  </a:ext>
                </a:extLst>
              </a:tr>
              <a:tr h="714316">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26-Jul-25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A603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TPE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TX CHECK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DURING TRANSIT CHECK, TCAS TA/RA KNOB ON TCAS CONTROL UNIT IS MISSING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KNOB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N/A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NIL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NIL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C/O REPLACED TCAS CONTROL UNIT,SATIS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EQUIPMENT RELIABILITY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2905048"/>
                  </a:ext>
                </a:extLst>
              </a:tr>
            </a:tbl>
          </a:graphicData>
        </a:graphic>
      </p:graphicFrame>
      <p:sp>
        <p:nvSpPr>
          <p:cNvPr id="5" name="TextBox 4">
            <a:extLst>
              <a:ext uri="{FF2B5EF4-FFF2-40B4-BE49-F238E27FC236}">
                <a16:creationId xmlns:a16="http://schemas.microsoft.com/office/drawing/2014/main" id="{0F1D4589-DA8C-4079-B9A4-00C42685A90E}"/>
              </a:ext>
            </a:extLst>
          </p:cNvPr>
          <p:cNvSpPr txBox="1"/>
          <p:nvPr/>
        </p:nvSpPr>
        <p:spPr>
          <a:xfrm>
            <a:off x="1017039" y="919353"/>
            <a:ext cx="10641812" cy="379656"/>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Bảng</a:t>
            </a: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tổng</a:t>
            </a: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00"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hợp</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sự kiện PDA </a:t>
            </a:r>
            <a:r>
              <a:rPr kumimoji="0" lang="en-US" altLang="en-US" sz="1800"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7/2025</a:t>
            </a:r>
            <a:endPar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Tree>
    <p:extLst>
      <p:ext uri="{BB962C8B-B14F-4D97-AF65-F5344CB8AC3E}">
        <p14:creationId xmlns:p14="http://schemas.microsoft.com/office/powerpoint/2010/main" val="11227383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20</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001892"/>
            <a:ext cx="10638772"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0" fontAlgn="auto" latinLnBrk="0" hangingPunct="0">
              <a:lnSpc>
                <a:spcPct val="100000"/>
              </a:lnSpc>
              <a:spcBef>
                <a:spcPts val="0"/>
              </a:spcBef>
              <a:spcAft>
                <a:spcPts val="0"/>
              </a:spcAft>
              <a:buClr>
                <a:srgbClr val="000000"/>
              </a:buClr>
              <a:buSzTx/>
              <a:buFontTx/>
              <a:buNone/>
              <a:tabLst/>
              <a:defRPr/>
            </a:pPr>
            <a:r>
              <a:rPr kumimoji="0" 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8 - TỶ LỆ VỤ VIỆC FOD</a:t>
            </a:r>
            <a:endParaRPr kumimoji="0" 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1002006" y="5333066"/>
            <a:ext cx="10555263" cy="1131079"/>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35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35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35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35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35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7/2025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có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13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việc FOD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(07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chim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va +01 vụ sét đánh +04 FOD)</a:t>
            </a:r>
            <a:r>
              <a:rPr kumimoji="0" lang="fr-FR"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fr-FR"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02 vụ so với </a:t>
            </a:r>
            <a:r>
              <a:rPr kumimoji="0" lang="fr-FR"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trước và </a:t>
            </a:r>
            <a:r>
              <a:rPr kumimoji="0" lang="fr-FR"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01 vụ </a:t>
            </a:r>
            <a:r>
              <a:rPr kumimoji="0" lang="fr-FR"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so với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cùng kỳ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tháng 7</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/2025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10.0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vụ/10000CB,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1.62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tháng trước và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0.75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2024.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Không đạt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mục tiêu năm 2025 là 7,70 vụ/10000CB. </a:t>
            </a:r>
            <a:endPar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 tháng năm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2025 có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58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việc,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giảm 01 vụ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tương ứng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giảm 0.58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năm 2024. KPI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 tháng năm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2025 là </a:t>
            </a:r>
            <a:r>
              <a:rPr kumimoji="0" lang="en-US" sz="135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6.94, </a:t>
            </a:r>
            <a:r>
              <a:rPr kumimoji="0" lang="en-US" sz="135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mục tiêu.</a:t>
            </a:r>
          </a:p>
        </p:txBody>
      </p:sp>
      <p:graphicFrame>
        <p:nvGraphicFramePr>
          <p:cNvPr id="11" name="Chart 10">
            <a:extLst>
              <a:ext uri="{FF2B5EF4-FFF2-40B4-BE49-F238E27FC236}">
                <a16:creationId xmlns:a16="http://schemas.microsoft.com/office/drawing/2014/main" id="{D3F15087-8C48-45D9-A684-D1D86CBD9C67}"/>
              </a:ext>
            </a:extLst>
          </p:cNvPr>
          <p:cNvGraphicFramePr>
            <a:graphicFrameLocks/>
          </p:cNvGraphicFramePr>
          <p:nvPr>
            <p:extLst>
              <p:ext uri="{D42A27DB-BD31-4B8C-83A1-F6EECF244321}">
                <p14:modId xmlns:p14="http://schemas.microsoft.com/office/powerpoint/2010/main" val="2115359444"/>
              </p:ext>
            </p:extLst>
          </p:nvPr>
        </p:nvGraphicFramePr>
        <p:xfrm>
          <a:off x="1002006" y="1687132"/>
          <a:ext cx="7811068" cy="345982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1">
            <a:extLst>
              <a:ext uri="{FF2B5EF4-FFF2-40B4-BE49-F238E27FC236}">
                <a16:creationId xmlns:a16="http://schemas.microsoft.com/office/drawing/2014/main" id="{EBE1F88D-F545-4B51-B0C1-D6E2B55435D3}"/>
              </a:ext>
            </a:extLst>
          </p:cNvPr>
          <p:cNvGraphicFramePr>
            <a:graphicFrameLocks/>
          </p:cNvGraphicFramePr>
          <p:nvPr>
            <p:extLst/>
          </p:nvPr>
        </p:nvGraphicFramePr>
        <p:xfrm>
          <a:off x="8987245" y="1687131"/>
          <a:ext cx="2420983" cy="3459825"/>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589623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21</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Content Placeholder 4"/>
          <p:cNvSpPr txBox="1">
            <a:spLocks/>
          </p:cNvSpPr>
          <p:nvPr/>
        </p:nvSpPr>
        <p:spPr>
          <a:xfrm>
            <a:off x="1260570" y="204602"/>
            <a:ext cx="10401840" cy="457197"/>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r>
              <a:rPr kumimoji="0" lang="en-US" altLang="en-US" sz="2133" b="1"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Bảng tổng hợp sự kiện FOD </a:t>
            </a:r>
            <a:r>
              <a:rPr kumimoji="0" lang="en-US" altLang="en-US" sz="2133" b="1" i="0" u="none" strike="noStrike" kern="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sym typeface="Arial"/>
              </a:rPr>
              <a:t>tháng 7/2025</a:t>
            </a:r>
            <a:endParaRPr kumimoji="0" lang="en-US" sz="2133" b="0" i="1"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graphicFrame>
        <p:nvGraphicFramePr>
          <p:cNvPr id="5" name="Table 4"/>
          <p:cNvGraphicFramePr>
            <a:graphicFrameLocks noGrp="1"/>
          </p:cNvGraphicFramePr>
          <p:nvPr>
            <p:extLst>
              <p:ext uri="{D42A27DB-BD31-4B8C-83A1-F6EECF244321}">
                <p14:modId xmlns:p14="http://schemas.microsoft.com/office/powerpoint/2010/main" val="2131915750"/>
              </p:ext>
            </p:extLst>
          </p:nvPr>
        </p:nvGraphicFramePr>
        <p:xfrm>
          <a:off x="1260570" y="661799"/>
          <a:ext cx="10401841" cy="6054061"/>
        </p:xfrm>
        <a:graphic>
          <a:graphicData uri="http://schemas.openxmlformats.org/drawingml/2006/table">
            <a:tbl>
              <a:tblPr/>
              <a:tblGrid>
                <a:gridCol w="343472">
                  <a:extLst>
                    <a:ext uri="{9D8B030D-6E8A-4147-A177-3AD203B41FA5}">
                      <a16:colId xmlns:a16="http://schemas.microsoft.com/office/drawing/2014/main" val="1214785010"/>
                    </a:ext>
                  </a:extLst>
                </a:gridCol>
                <a:gridCol w="421048">
                  <a:extLst>
                    <a:ext uri="{9D8B030D-6E8A-4147-A177-3AD203B41FA5}">
                      <a16:colId xmlns:a16="http://schemas.microsoft.com/office/drawing/2014/main" val="465361344"/>
                    </a:ext>
                  </a:extLst>
                </a:gridCol>
                <a:gridCol w="460347">
                  <a:extLst>
                    <a:ext uri="{9D8B030D-6E8A-4147-A177-3AD203B41FA5}">
                      <a16:colId xmlns:a16="http://schemas.microsoft.com/office/drawing/2014/main" val="2775212924"/>
                    </a:ext>
                  </a:extLst>
                </a:gridCol>
                <a:gridCol w="538941">
                  <a:extLst>
                    <a:ext uri="{9D8B030D-6E8A-4147-A177-3AD203B41FA5}">
                      <a16:colId xmlns:a16="http://schemas.microsoft.com/office/drawing/2014/main" val="1629208302"/>
                    </a:ext>
                  </a:extLst>
                </a:gridCol>
                <a:gridCol w="412713">
                  <a:extLst>
                    <a:ext uri="{9D8B030D-6E8A-4147-A177-3AD203B41FA5}">
                      <a16:colId xmlns:a16="http://schemas.microsoft.com/office/drawing/2014/main" val="534488100"/>
                    </a:ext>
                  </a:extLst>
                </a:gridCol>
                <a:gridCol w="636931">
                  <a:extLst>
                    <a:ext uri="{9D8B030D-6E8A-4147-A177-3AD203B41FA5}">
                      <a16:colId xmlns:a16="http://schemas.microsoft.com/office/drawing/2014/main" val="2392973619"/>
                    </a:ext>
                  </a:extLst>
                </a:gridCol>
                <a:gridCol w="677760">
                  <a:extLst>
                    <a:ext uri="{9D8B030D-6E8A-4147-A177-3AD203B41FA5}">
                      <a16:colId xmlns:a16="http://schemas.microsoft.com/office/drawing/2014/main" val="1661087426"/>
                    </a:ext>
                  </a:extLst>
                </a:gridCol>
                <a:gridCol w="2800861">
                  <a:extLst>
                    <a:ext uri="{9D8B030D-6E8A-4147-A177-3AD203B41FA5}">
                      <a16:colId xmlns:a16="http://schemas.microsoft.com/office/drawing/2014/main" val="2980937143"/>
                    </a:ext>
                  </a:extLst>
                </a:gridCol>
                <a:gridCol w="3258145">
                  <a:extLst>
                    <a:ext uri="{9D8B030D-6E8A-4147-A177-3AD203B41FA5}">
                      <a16:colId xmlns:a16="http://schemas.microsoft.com/office/drawing/2014/main" val="654224780"/>
                    </a:ext>
                  </a:extLst>
                </a:gridCol>
                <a:gridCol w="851623">
                  <a:extLst>
                    <a:ext uri="{9D8B030D-6E8A-4147-A177-3AD203B41FA5}">
                      <a16:colId xmlns:a16="http://schemas.microsoft.com/office/drawing/2014/main" val="3916574977"/>
                    </a:ext>
                  </a:extLst>
                </a:gridCol>
              </a:tblGrid>
              <a:tr h="342058">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ID</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A/C</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Date</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STA</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Action</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CAT.</a:t>
                      </a:r>
                    </a:p>
                  </a:txBody>
                  <a:tcPr marL="10219" marR="10219" marT="102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19762196"/>
                  </a:ext>
                </a:extLst>
              </a:tr>
              <a:tr h="451456">
                <a:tc>
                  <a:txBody>
                    <a:bodyPr/>
                    <a:lstStyle/>
                    <a:p>
                      <a:pPr algn="ctr" fontAlgn="ctr"/>
                      <a:r>
                        <a:rPr lang="en-US" sz="900" b="0" i="0" u="none" strike="noStrike">
                          <a:solidFill>
                            <a:schemeClr val="tx1"/>
                          </a:solidFill>
                          <a:effectLst/>
                          <a:latin typeface="Times New Roman" panose="02020603050405020304" pitchFamily="18" charset="0"/>
                          <a:cs typeface="Times New Roman" panose="02020603050405020304" pitchFamily="18" charset="0"/>
                        </a:rPr>
                        <a:t>1</a:t>
                      </a: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A396</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27/07</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VN631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SGN-CGK</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T/X CHECK FOUND ENG #1 FAN BLADE #2 BEND AT LEADING EDGE.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DVI </a:t>
                      </a:r>
                      <a:r>
                        <a:rPr lang="en-US" sz="900" b="0" i="0" u="none" strike="noStrike">
                          <a:solidFill>
                            <a:srgbClr val="000000"/>
                          </a:solidFill>
                          <a:effectLst/>
                          <a:latin typeface="Times New Roman" panose="02020603050405020304" pitchFamily="18" charset="0"/>
                          <a:cs typeface="Times New Roman" panose="02020603050405020304" pitchFamily="18" charset="0"/>
                        </a:rPr>
                        <a:t>FAN BLADE IAW AMM 72-31-11-200-010-B REV 05/25, DAMAGE WITHIN LIMIT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FOD</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5738815"/>
                  </a:ext>
                </a:extLst>
              </a:tr>
              <a:tr h="426664">
                <a:tc>
                  <a:txBody>
                    <a:bodyPr/>
                    <a:lstStyle/>
                    <a:p>
                      <a:pPr algn="ctr" fontAlgn="ctr"/>
                      <a:r>
                        <a:rPr lang="en-US" sz="900" b="0" i="0" u="none" strike="noStrike" smtClean="0">
                          <a:solidFill>
                            <a:schemeClr val="tx1"/>
                          </a:solidFill>
                          <a:effectLst/>
                          <a:latin typeface="Times New Roman" panose="02020603050405020304" pitchFamily="18" charset="0"/>
                          <a:cs typeface="Times New Roman" panose="02020603050405020304" pitchFamily="18" charset="0"/>
                        </a:rPr>
                        <a:t>2</a:t>
                      </a:r>
                      <a:endParaRPr lang="en-US" sz="900" b="0" i="0" u="none" strike="noStrike">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A323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27/07</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VN7113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HAN-SGN </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vi-VN" sz="900" b="0" i="0" u="none" strike="noStrike" smtClean="0">
                          <a:solidFill>
                            <a:srgbClr val="000000"/>
                          </a:solidFill>
                          <a:effectLst/>
                          <a:latin typeface="Times New Roman" panose="02020603050405020304" pitchFamily="18" charset="0"/>
                          <a:cs typeface="Times New Roman" panose="02020603050405020304" pitchFamily="18" charset="0"/>
                        </a:rPr>
                        <a:t>AFTER </a:t>
                      </a:r>
                      <a:r>
                        <a:rPr lang="vi-VN" sz="900" b="0" i="0" u="none" strike="noStrike">
                          <a:solidFill>
                            <a:srgbClr val="000000"/>
                          </a:solidFill>
                          <a:effectLst/>
                          <a:latin typeface="Times New Roman" panose="02020603050405020304" pitchFamily="18" charset="0"/>
                          <a:cs typeface="Times New Roman" panose="02020603050405020304" pitchFamily="18" charset="0"/>
                        </a:rPr>
                        <a:t>VN7113 HAN-SGN : TERM CHECK FOUND BIRD STRIKE TO ENG </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2</a:t>
                      </a:r>
                      <a:endParaRPr lang="vi-VN"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BSI </a:t>
                      </a:r>
                      <a:r>
                        <a:rPr lang="en-US" sz="900" b="0" i="0" u="none" strike="noStrike">
                          <a:solidFill>
                            <a:srgbClr val="000000"/>
                          </a:solidFill>
                          <a:effectLst/>
                          <a:latin typeface="Times New Roman" panose="02020603050405020304" pitchFamily="18" charset="0"/>
                          <a:cs typeface="Times New Roman" panose="02020603050405020304" pitchFamily="18" charset="0"/>
                        </a:rPr>
                        <a:t>ENG 2 FOUND SATIS, ERU &amp; CHECK LEAK FOUND SATIS. A/C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SERVICEABLE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Bird</a:t>
                      </a:r>
                      <a:r>
                        <a:rPr lang="en-US" sz="900" b="0" i="0" u="none" strike="noStrike" baseline="0" smtClean="0">
                          <a:solidFill>
                            <a:srgbClr val="000000"/>
                          </a:solidFill>
                          <a:effectLst/>
                          <a:latin typeface="Times New Roman" panose="02020603050405020304" pitchFamily="18" charset="0"/>
                          <a:cs typeface="Times New Roman" panose="02020603050405020304" pitchFamily="18" charset="0"/>
                        </a:rPr>
                        <a:t> strike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6930229"/>
                  </a:ext>
                </a:extLst>
              </a:tr>
              <a:tr h="321607">
                <a:tc>
                  <a:txBody>
                    <a:bodyPr/>
                    <a:lstStyle/>
                    <a:p>
                      <a:pPr algn="ctr" fontAlgn="ctr"/>
                      <a:r>
                        <a:rPr lang="en-US" sz="900" b="0" i="0" u="none" strike="noStrike" smtClean="0">
                          <a:solidFill>
                            <a:schemeClr val="tx1"/>
                          </a:solidFill>
                          <a:effectLst/>
                          <a:latin typeface="Times New Roman" panose="02020603050405020304" pitchFamily="18" charset="0"/>
                          <a:cs typeface="Times New Roman" panose="02020603050405020304" pitchFamily="18" charset="0"/>
                        </a:rPr>
                        <a:t>3</a:t>
                      </a:r>
                      <a:endParaRPr lang="en-US" sz="900" b="0" i="0" u="none" strike="noStrike">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A320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A515</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24/07</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CXR</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VN1341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CXR-SGN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01 DENT AT LEADING EDGE OF RH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THS</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REF </a:t>
                      </a:r>
                      <a:r>
                        <a:rPr lang="en-US" sz="900" b="0" i="0" u="none" strike="noStrike">
                          <a:solidFill>
                            <a:srgbClr val="000000"/>
                          </a:solidFill>
                          <a:effectLst/>
                          <a:latin typeface="Times New Roman" panose="02020603050405020304" pitchFamily="18" charset="0"/>
                          <a:cs typeface="Times New Roman" panose="02020603050405020304" pitchFamily="18" charset="0"/>
                        </a:rPr>
                        <a:t>SRM 55-14-11-283-001. (D x W x L: 3 x 26 x 58mm). OPEN ADD B054: “01 DENT AT RH THS” AND ADD B055: “NDT INSP FOR 01 DENT AT RH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THS</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FOD</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17960"/>
                  </a:ext>
                </a:extLst>
              </a:tr>
              <a:tr h="290979">
                <a:tc>
                  <a:txBody>
                    <a:bodyPr/>
                    <a:lstStyle/>
                    <a:p>
                      <a:pPr algn="ctr" fontAlgn="ctr"/>
                      <a:r>
                        <a:rPr lang="en-US" sz="900" b="0" i="0" u="none" strike="noStrike" smtClean="0">
                          <a:solidFill>
                            <a:schemeClr val="tx1"/>
                          </a:solidFill>
                          <a:effectLst/>
                          <a:latin typeface="Times New Roman" panose="02020603050405020304" pitchFamily="18" charset="0"/>
                          <a:cs typeface="Times New Roman" panose="02020603050405020304" pitchFamily="18" charset="0"/>
                        </a:rPr>
                        <a:t>4</a:t>
                      </a:r>
                      <a:endParaRPr lang="en-US" sz="900" b="0" i="0" u="none" strike="noStrike">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A608</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23/07</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VN631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SGN-CGK</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BLADE 11TH OF ENG 2 BE BENDED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CHECK </a:t>
                      </a:r>
                      <a:r>
                        <a:rPr lang="en-US" sz="900" b="0" i="0" u="none" strike="noStrike">
                          <a:solidFill>
                            <a:srgbClr val="000000"/>
                          </a:solidFill>
                          <a:effectLst/>
                          <a:latin typeface="Times New Roman" panose="02020603050405020304" pitchFamily="18" charset="0"/>
                          <a:cs typeface="Times New Roman" panose="02020603050405020304" pitchFamily="18" charset="0"/>
                        </a:rPr>
                        <a:t>FOUND DAMAGE WITHIN LIMIT, RAISED ADD DO THE TAP TEST IN 10 FC. A/C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SERVICEABLE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indent="0" algn="l" defTabSz="914400" rtl="0" eaLnBrk="1" fontAlgn="b" latinLnBrk="0" hangingPunct="1">
                        <a:lnSpc>
                          <a:spcPct val="100000"/>
                        </a:lnSpc>
                        <a:spcBef>
                          <a:spcPts val="0"/>
                        </a:spcBef>
                        <a:spcAft>
                          <a:spcPts val="0"/>
                        </a:spcAft>
                        <a:buClr>
                          <a:srgbClr val="000000"/>
                        </a:buClr>
                        <a:buSzTx/>
                        <a:buFont typeface="Arial"/>
                        <a:buNone/>
                        <a:tabLst/>
                        <a:defRPr/>
                      </a:pP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FOD</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9723697"/>
                  </a:ext>
                </a:extLst>
              </a:tr>
              <a:tr h="467097">
                <a:tc>
                  <a:txBody>
                    <a:bodyPr/>
                    <a:lstStyle/>
                    <a:p>
                      <a:pPr algn="ctr" fontAlgn="ctr"/>
                      <a:r>
                        <a:rPr lang="en-US" sz="900" b="0" i="0" u="none" strike="noStrike" smtClean="0">
                          <a:solidFill>
                            <a:schemeClr val="tx1"/>
                          </a:solidFill>
                          <a:effectLst/>
                          <a:latin typeface="Times New Roman" panose="02020603050405020304" pitchFamily="18" charset="0"/>
                          <a:cs typeface="Times New Roman" panose="02020603050405020304" pitchFamily="18" charset="0"/>
                        </a:rPr>
                        <a:t>5</a:t>
                      </a:r>
                      <a:endParaRPr lang="en-US" sz="900" b="0" i="0" u="none" strike="noStrike">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A614</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14/07</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BKK</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VN600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BKK-SGN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DURING </a:t>
                      </a:r>
                      <a:r>
                        <a:rPr lang="en-US" sz="900" b="0" i="0" u="none" strike="noStrike">
                          <a:solidFill>
                            <a:srgbClr val="000000"/>
                          </a:solidFill>
                          <a:effectLst/>
                          <a:latin typeface="Times New Roman" panose="02020603050405020304" pitchFamily="18" charset="0"/>
                          <a:cs typeface="Times New Roman" panose="02020603050405020304" pitchFamily="18" charset="0"/>
                        </a:rPr>
                        <a:t>WALK AROUND FOUND BIRD STRIKE ON TOP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OF ENG#1</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TVJ </a:t>
                      </a:r>
                      <a:r>
                        <a:rPr lang="en-US" sz="900" b="0" i="0" u="none" strike="noStrike">
                          <a:solidFill>
                            <a:srgbClr val="000000"/>
                          </a:solidFill>
                          <a:effectLst/>
                          <a:latin typeface="Times New Roman" panose="02020603050405020304" pitchFamily="18" charset="0"/>
                          <a:cs typeface="Times New Roman" panose="02020603050405020304" pitchFamily="18" charset="0"/>
                        </a:rPr>
                        <a:t>C/O INSP ENG#1 FOUND SIGN OF BIRD STRIKE OM TOP OF INLET COWL BUT NOT ENTER TO THE ROODTER INLET, NO DAMAGE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FOUND</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indent="0" algn="l" defTabSz="914400" rtl="0" eaLnBrk="1" fontAlgn="b" latinLnBrk="0" hangingPunct="1">
                        <a:lnSpc>
                          <a:spcPct val="100000"/>
                        </a:lnSpc>
                        <a:spcBef>
                          <a:spcPts val="0"/>
                        </a:spcBef>
                        <a:spcAft>
                          <a:spcPts val="0"/>
                        </a:spcAft>
                        <a:buClr>
                          <a:srgbClr val="000000"/>
                        </a:buClr>
                        <a:buSzTx/>
                        <a:buFont typeface="Arial"/>
                        <a:buNone/>
                        <a:tabLst/>
                        <a:defRPr/>
                      </a:pP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Bird</a:t>
                      </a:r>
                      <a:r>
                        <a:rPr lang="en-US" sz="900" b="0" i="0" u="none" strike="noStrike" baseline="0" smtClean="0">
                          <a:solidFill>
                            <a:srgbClr val="000000"/>
                          </a:solidFill>
                          <a:effectLst/>
                          <a:latin typeface="Times New Roman" panose="02020603050405020304" pitchFamily="18" charset="0"/>
                          <a:cs typeface="Times New Roman" panose="02020603050405020304" pitchFamily="18" charset="0"/>
                        </a:rPr>
                        <a:t> strike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1478706"/>
                  </a:ext>
                </a:extLst>
              </a:tr>
              <a:tr h="398182">
                <a:tc>
                  <a:txBody>
                    <a:bodyPr/>
                    <a:lstStyle/>
                    <a:p>
                      <a:pPr algn="ctr" fontAlgn="ctr"/>
                      <a:r>
                        <a:rPr lang="en-US" sz="900" b="0" i="0" u="none" strike="noStrike" smtClean="0">
                          <a:solidFill>
                            <a:schemeClr val="tx1"/>
                          </a:solidFill>
                          <a:effectLst/>
                          <a:latin typeface="Times New Roman" panose="02020603050405020304" pitchFamily="18" charset="0"/>
                          <a:cs typeface="Times New Roman" panose="02020603050405020304" pitchFamily="18" charset="0"/>
                        </a:rPr>
                        <a:t>6</a:t>
                      </a:r>
                      <a:endParaRPr lang="en-US" sz="900" b="0" i="0" u="none" strike="noStrike">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A615</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13/07</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VN7579</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HAN-DLI</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 </a:t>
                      </a:r>
                      <a:r>
                        <a:rPr lang="en-US" sz="900" b="0" i="0" u="none" strike="noStrike">
                          <a:solidFill>
                            <a:srgbClr val="000000"/>
                          </a:solidFill>
                          <a:effectLst/>
                          <a:latin typeface="Times New Roman" panose="02020603050405020304" pitchFamily="18" charset="0"/>
                          <a:cs typeface="Times New Roman" panose="02020603050405020304" pitchFamily="18" charset="0"/>
                        </a:rPr>
                        <a:t>CAPT REPORT “F/O WINDSHEILD CRACKS”. C/O CHECK FOUND A/C HAD HAIL STRIKE</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vi-VN" sz="900" b="0" i="0" u="none" strike="noStrike" smtClean="0">
                          <a:solidFill>
                            <a:srgbClr val="000000"/>
                          </a:solidFill>
                          <a:effectLst/>
                          <a:latin typeface="Times New Roman" panose="02020603050405020304" pitchFamily="18" charset="0"/>
                          <a:cs typeface="Times New Roman" panose="02020603050405020304" pitchFamily="18" charset="0"/>
                        </a:rPr>
                        <a:t>C/O </a:t>
                      </a:r>
                      <a:r>
                        <a:rPr lang="vi-VN" sz="900" b="0" i="0" u="none" strike="noStrike">
                          <a:solidFill>
                            <a:srgbClr val="000000"/>
                          </a:solidFill>
                          <a:effectLst/>
                          <a:latin typeface="Times New Roman" panose="02020603050405020304" pitchFamily="18" charset="0"/>
                          <a:cs typeface="Times New Roman" panose="02020603050405020304" pitchFamily="18" charset="0"/>
                        </a:rPr>
                        <a:t>INSPECTION AFTER HAIL </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STRIKE</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 </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BSI </a:t>
                      </a:r>
                      <a:r>
                        <a:rPr lang="vi-VN" sz="900" b="0" i="0" u="none" strike="noStrike">
                          <a:solidFill>
                            <a:srgbClr val="000000"/>
                          </a:solidFill>
                          <a:effectLst/>
                          <a:latin typeface="Times New Roman" panose="02020603050405020304" pitchFamily="18" charset="0"/>
                          <a:cs typeface="Times New Roman" panose="02020603050405020304" pitchFamily="18" charset="0"/>
                        </a:rPr>
                        <a:t>OF LPC STAGE 1.5, 2.5 BLADES </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 </a:t>
                      </a:r>
                      <a:r>
                        <a:rPr lang="vi-VN" sz="900" b="0" i="0" u="none" strike="noStrike">
                          <a:solidFill>
                            <a:srgbClr val="000000"/>
                          </a:solidFill>
                          <a:effectLst/>
                          <a:latin typeface="Times New Roman" panose="02020603050405020304" pitchFamily="18" charset="0"/>
                          <a:cs typeface="Times New Roman" panose="02020603050405020304" pitchFamily="18" charset="0"/>
                        </a:rPr>
                        <a:t>HPC STAGE 3, 6 BLADES C/O ON BOTH ENG#1 </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FOUND </a:t>
                      </a:r>
                      <a:r>
                        <a:rPr lang="vi-VN" sz="900" b="0" i="0" u="none" strike="noStrike">
                          <a:solidFill>
                            <a:srgbClr val="000000"/>
                          </a:solidFill>
                          <a:effectLst/>
                          <a:latin typeface="Times New Roman" panose="02020603050405020304" pitchFamily="18" charset="0"/>
                          <a:cs typeface="Times New Roman" panose="02020603050405020304" pitchFamily="18" charset="0"/>
                        </a:rPr>
                        <a:t>DEFECT IN LIMIT, ENG#2 NIL </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FINDING</a:t>
                      </a:r>
                      <a:r>
                        <a:rPr lang="vi-VN" sz="900" b="0" i="0" u="none" strike="noStrike">
                          <a:solidFill>
                            <a:srgbClr val="000000"/>
                          </a:solidFill>
                          <a:effectLst/>
                          <a:latin typeface="Times New Roman" panose="02020603050405020304" pitchFamily="18" charset="0"/>
                          <a:cs typeface="Times New Roman" panose="02020603050405020304" pitchFamily="18" charset="0"/>
                        </a:rPr>
                        <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REPLACED RADOME, ENG 1 AIR INTAKE COWL ,WINDSHIELD </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RH.</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 </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ENGS </a:t>
                      </a:r>
                      <a:r>
                        <a:rPr lang="vi-VN" sz="900" b="0" i="0" u="none" strike="noStrike">
                          <a:solidFill>
                            <a:srgbClr val="000000"/>
                          </a:solidFill>
                          <a:effectLst/>
                          <a:latin typeface="Times New Roman" panose="02020603050405020304" pitchFamily="18" charset="0"/>
                          <a:cs typeface="Times New Roman" panose="02020603050405020304" pitchFamily="18" charset="0"/>
                        </a:rPr>
                        <a:t>RUN UP, FLT CTL </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TEST</a:t>
                      </a:r>
                      <a:r>
                        <a:rPr lang="en-US" sz="900" b="0" i="0" u="none" strike="noStrike" baseline="0" smtClean="0">
                          <a:solidFill>
                            <a:srgbClr val="000000"/>
                          </a:solidFill>
                          <a:effectLst/>
                          <a:latin typeface="Times New Roman" panose="02020603050405020304" pitchFamily="18" charset="0"/>
                          <a:cs typeface="Times New Roman" panose="02020603050405020304" pitchFamily="18" charset="0"/>
                        </a:rPr>
                        <a:t> </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ALL SATIS</a:t>
                      </a:r>
                      <a:endParaRPr lang="vi-VN"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indent="0" algn="l" defTabSz="914400" rtl="0" eaLnBrk="1" fontAlgn="b" latinLnBrk="0" hangingPunct="1">
                        <a:lnSpc>
                          <a:spcPct val="100000"/>
                        </a:lnSpc>
                        <a:spcBef>
                          <a:spcPts val="0"/>
                        </a:spcBef>
                        <a:spcAft>
                          <a:spcPts val="0"/>
                        </a:spcAft>
                        <a:buClr>
                          <a:srgbClr val="000000"/>
                        </a:buClr>
                        <a:buSzTx/>
                        <a:buFont typeface="Arial"/>
                        <a:buNone/>
                        <a:tabLst/>
                        <a:defRPr/>
                      </a:pP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Hail</a:t>
                      </a:r>
                      <a:r>
                        <a:rPr lang="en-US" sz="900" b="0" i="0" u="none" strike="noStrike" baseline="0" smtClean="0">
                          <a:solidFill>
                            <a:srgbClr val="000000"/>
                          </a:solidFill>
                          <a:effectLst/>
                          <a:latin typeface="Times New Roman" panose="02020603050405020304" pitchFamily="18" charset="0"/>
                          <a:cs typeface="Times New Roman" panose="02020603050405020304" pitchFamily="18" charset="0"/>
                        </a:rPr>
                        <a:t> strike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0111985"/>
                  </a:ext>
                </a:extLst>
              </a:tr>
              <a:tr h="345856">
                <a:tc>
                  <a:txBody>
                    <a:bodyPr/>
                    <a:lstStyle/>
                    <a:p>
                      <a:pPr algn="ctr" fontAlgn="ctr"/>
                      <a:r>
                        <a:rPr lang="en-US" sz="900" b="0" i="0" u="none" strike="noStrike" smtClean="0">
                          <a:solidFill>
                            <a:schemeClr val="tx1"/>
                          </a:solidFill>
                          <a:effectLst/>
                          <a:latin typeface="Times New Roman" panose="02020603050405020304" pitchFamily="18" charset="0"/>
                          <a:cs typeface="Times New Roman" panose="02020603050405020304" pitchFamily="18" charset="0"/>
                        </a:rPr>
                        <a:t>7</a:t>
                      </a:r>
                      <a:endParaRPr lang="en-US" sz="900" b="0" i="0" u="none" strike="noStrike">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A358</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12/07</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VN1375</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HUI-SGN </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DURING </a:t>
                      </a:r>
                      <a:r>
                        <a:rPr lang="en-US" sz="900" b="0" i="0" u="none" strike="noStrike">
                          <a:solidFill>
                            <a:srgbClr val="000000"/>
                          </a:solidFill>
                          <a:effectLst/>
                          <a:latin typeface="Times New Roman" panose="02020603050405020304" pitchFamily="18" charset="0"/>
                          <a:cs typeface="Times New Roman" panose="02020603050405020304" pitchFamily="18" charset="0"/>
                        </a:rPr>
                        <a:t>T/X CHK CAPT REPORT BIRDSTRIKE AT CAPT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WINDSHIELD</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900" b="0" i="0" u="none" strike="noStrike">
                          <a:solidFill>
                            <a:srgbClr val="000000"/>
                          </a:solidFill>
                          <a:effectLst/>
                          <a:latin typeface="Times New Roman" panose="02020603050405020304" pitchFamily="18" charset="0"/>
                          <a:cs typeface="Times New Roman" panose="02020603050405020304" pitchFamily="18" charset="0"/>
                        </a:rPr>
                        <a:t>CLEAN AND INSPECT CAPT WINDSHIELD FOUND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SATIS</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indent="0" algn="l" defTabSz="914400" rtl="0" eaLnBrk="1" fontAlgn="b" latinLnBrk="0" hangingPunct="1">
                        <a:lnSpc>
                          <a:spcPct val="100000"/>
                        </a:lnSpc>
                        <a:spcBef>
                          <a:spcPts val="0"/>
                        </a:spcBef>
                        <a:spcAft>
                          <a:spcPts val="0"/>
                        </a:spcAft>
                        <a:buClr>
                          <a:srgbClr val="000000"/>
                        </a:buClr>
                        <a:buSzTx/>
                        <a:buFont typeface="Arial"/>
                        <a:buNone/>
                        <a:tabLst/>
                        <a:defRPr/>
                      </a:pP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Bird</a:t>
                      </a:r>
                      <a:r>
                        <a:rPr lang="en-US" sz="900" b="0" i="0" u="none" strike="noStrike" baseline="0" smtClean="0">
                          <a:solidFill>
                            <a:srgbClr val="000000"/>
                          </a:solidFill>
                          <a:effectLst/>
                          <a:latin typeface="Times New Roman" panose="02020603050405020304" pitchFamily="18" charset="0"/>
                          <a:cs typeface="Times New Roman" panose="02020603050405020304" pitchFamily="18" charset="0"/>
                        </a:rPr>
                        <a:t> strike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3433445"/>
                  </a:ext>
                </a:extLst>
              </a:tr>
              <a:tr h="423740">
                <a:tc>
                  <a:txBody>
                    <a:bodyPr/>
                    <a:lstStyle/>
                    <a:p>
                      <a:pPr algn="ctr" fontAlgn="ctr"/>
                      <a:r>
                        <a:rPr lang="en-US" sz="900" b="0" i="0" u="none" strike="noStrike" smtClean="0">
                          <a:solidFill>
                            <a:schemeClr val="tx1"/>
                          </a:solidFill>
                          <a:effectLst/>
                          <a:latin typeface="Times New Roman" panose="02020603050405020304" pitchFamily="18" charset="0"/>
                          <a:cs typeface="Times New Roman" panose="02020603050405020304" pitchFamily="18" charset="0"/>
                        </a:rPr>
                        <a:t>8</a:t>
                      </a:r>
                      <a:endParaRPr lang="en-US" sz="900" b="0" i="0" u="none" strike="noStrike">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A392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12/07</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DAD</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VN137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SGN-DAD </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AFTER </a:t>
                      </a:r>
                      <a:r>
                        <a:rPr lang="en-US" sz="900" b="0" i="0" u="none" strike="noStrike">
                          <a:solidFill>
                            <a:srgbClr val="000000"/>
                          </a:solidFill>
                          <a:effectLst/>
                          <a:latin typeface="Times New Roman" panose="02020603050405020304" pitchFamily="18" charset="0"/>
                          <a:cs typeface="Times New Roman" panose="02020603050405020304" pitchFamily="18" charset="0"/>
                        </a:rPr>
                        <a:t>FLT VN136 SGN-DAD FOUND BIRD STRIKE ON ENG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1</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900" b="0" i="0" u="none" strike="noStrike">
                          <a:solidFill>
                            <a:srgbClr val="000000"/>
                          </a:solidFill>
                          <a:effectLst/>
                          <a:latin typeface="Times New Roman" panose="02020603050405020304" pitchFamily="18" charset="0"/>
                          <a:cs typeface="Times New Roman" panose="02020603050405020304" pitchFamily="18" charset="0"/>
                        </a:rPr>
                        <a:t>INSPECTION IAW AMM05-51-14-200-803-A (MAY 2025). FOUND BIRD STRIKE ON ENG 1 AREA A WITH NO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DAMAGE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indent="0" algn="l" defTabSz="914400" rtl="0" eaLnBrk="1" fontAlgn="b" latinLnBrk="0" hangingPunct="1">
                        <a:lnSpc>
                          <a:spcPct val="100000"/>
                        </a:lnSpc>
                        <a:spcBef>
                          <a:spcPts val="0"/>
                        </a:spcBef>
                        <a:spcAft>
                          <a:spcPts val="0"/>
                        </a:spcAft>
                        <a:buClr>
                          <a:srgbClr val="000000"/>
                        </a:buClr>
                        <a:buSzTx/>
                        <a:buFont typeface="Arial"/>
                        <a:buNone/>
                        <a:tabLst/>
                        <a:defRPr/>
                      </a:pP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Bird</a:t>
                      </a:r>
                      <a:r>
                        <a:rPr lang="en-US" sz="900" b="0" i="0" u="none" strike="noStrike" baseline="0" smtClean="0">
                          <a:solidFill>
                            <a:srgbClr val="000000"/>
                          </a:solidFill>
                          <a:effectLst/>
                          <a:latin typeface="Times New Roman" panose="02020603050405020304" pitchFamily="18" charset="0"/>
                          <a:cs typeface="Times New Roman" panose="02020603050405020304" pitchFamily="18" charset="0"/>
                        </a:rPr>
                        <a:t> strike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7827275"/>
                  </a:ext>
                </a:extLst>
              </a:tr>
              <a:tr h="367993">
                <a:tc>
                  <a:txBody>
                    <a:bodyPr/>
                    <a:lstStyle/>
                    <a:p>
                      <a:pPr algn="ctr" fontAlgn="ctr"/>
                      <a:r>
                        <a:rPr lang="en-US" sz="900" b="0" i="0" u="none" strike="noStrike" smtClean="0">
                          <a:solidFill>
                            <a:schemeClr val="tx1"/>
                          </a:solidFill>
                          <a:effectLst/>
                          <a:latin typeface="Times New Roman" panose="02020603050405020304" pitchFamily="18" charset="0"/>
                          <a:cs typeface="Times New Roman" panose="02020603050405020304" pitchFamily="18" charset="0"/>
                        </a:rPr>
                        <a:t>9</a:t>
                      </a:r>
                      <a:endParaRPr lang="en-US" sz="900" b="0" i="0" u="none" strike="noStrike">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A608</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12/07</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VN1186</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HPH-SGN </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AFTER </a:t>
                      </a:r>
                      <a:r>
                        <a:rPr lang="en-US" sz="900" b="0" i="0" u="none" strike="noStrike">
                          <a:solidFill>
                            <a:srgbClr val="000000"/>
                          </a:solidFill>
                          <a:effectLst/>
                          <a:latin typeface="Times New Roman" panose="02020603050405020304" pitchFamily="18" charset="0"/>
                          <a:cs typeface="Times New Roman" panose="02020603050405020304" pitchFamily="18" charset="0"/>
                        </a:rPr>
                        <a:t>VN1187 HPH-SGN FOUND EVIDENCE OF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BIRD STRIKE AT </a:t>
                      </a:r>
                      <a:r>
                        <a:rPr lang="en-US" sz="900" b="0" i="0" u="none" strike="noStrike">
                          <a:solidFill>
                            <a:srgbClr val="000000"/>
                          </a:solidFill>
                          <a:effectLst/>
                          <a:latin typeface="Times New Roman" panose="02020603050405020304" pitchFamily="18" charset="0"/>
                          <a:cs typeface="Times New Roman" panose="02020603050405020304" pitchFamily="18" charset="0"/>
                        </a:rPr>
                        <a:t>P2T2 ENG#1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900" b="0" i="0" u="none" strike="noStrike">
                          <a:solidFill>
                            <a:srgbClr val="000000"/>
                          </a:solidFill>
                          <a:effectLst/>
                          <a:latin typeface="Times New Roman" panose="02020603050405020304" pitchFamily="18" charset="0"/>
                          <a:cs typeface="Times New Roman" panose="02020603050405020304" pitchFamily="18" charset="0"/>
                        </a:rPr>
                        <a:t>RPLD P2T2 ENG#1 SATIS. A/C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SERVICEABLE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indent="0" algn="l" defTabSz="914400" rtl="0" eaLnBrk="1" fontAlgn="b" latinLnBrk="0" hangingPunct="1">
                        <a:lnSpc>
                          <a:spcPct val="100000"/>
                        </a:lnSpc>
                        <a:spcBef>
                          <a:spcPts val="0"/>
                        </a:spcBef>
                        <a:spcAft>
                          <a:spcPts val="0"/>
                        </a:spcAft>
                        <a:buClr>
                          <a:srgbClr val="000000"/>
                        </a:buClr>
                        <a:buSzTx/>
                        <a:buFont typeface="Arial"/>
                        <a:buNone/>
                        <a:tabLst/>
                        <a:defRPr/>
                      </a:pP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Bird</a:t>
                      </a:r>
                      <a:r>
                        <a:rPr lang="en-US" sz="900" b="0" i="0" u="none" strike="noStrike" baseline="0" smtClean="0">
                          <a:solidFill>
                            <a:srgbClr val="000000"/>
                          </a:solidFill>
                          <a:effectLst/>
                          <a:latin typeface="Times New Roman" panose="02020603050405020304" pitchFamily="18" charset="0"/>
                          <a:cs typeface="Times New Roman" panose="02020603050405020304" pitchFamily="18" charset="0"/>
                        </a:rPr>
                        <a:t> strike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523156"/>
                  </a:ext>
                </a:extLst>
              </a:tr>
              <a:tr h="437882">
                <a:tc>
                  <a:txBody>
                    <a:bodyPr/>
                    <a:lstStyle/>
                    <a:p>
                      <a:pPr algn="ctr" fontAlgn="ctr"/>
                      <a:r>
                        <a:rPr lang="en-US" sz="900" b="0" i="0" u="none" strike="noStrike" smtClean="0">
                          <a:solidFill>
                            <a:schemeClr val="tx1"/>
                          </a:solidFill>
                          <a:effectLst/>
                          <a:latin typeface="Times New Roman" panose="02020603050405020304" pitchFamily="18" charset="0"/>
                          <a:cs typeface="Times New Roman" panose="02020603050405020304" pitchFamily="18" charset="0"/>
                        </a:rPr>
                        <a:t>10</a:t>
                      </a:r>
                      <a:endParaRPr lang="en-US" sz="900" b="0" i="0" u="none" strike="noStrike">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A326</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10/07</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VN1371</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HAN-HUI</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CAPT </a:t>
                      </a:r>
                      <a:r>
                        <a:rPr lang="en-US" sz="900" b="0" i="0" u="none" strike="noStrike">
                          <a:solidFill>
                            <a:srgbClr val="000000"/>
                          </a:solidFill>
                          <a:effectLst/>
                          <a:latin typeface="Times New Roman" panose="02020603050405020304" pitchFamily="18" charset="0"/>
                          <a:cs typeface="Times New Roman" panose="02020603050405020304" pitchFamily="18" charset="0"/>
                        </a:rPr>
                        <a:t>REPORT “A/C SUSPECT LIGHTING STRIKE</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900" b="0" i="0" u="none" strike="noStrike">
                          <a:solidFill>
                            <a:srgbClr val="000000"/>
                          </a:solidFill>
                          <a:effectLst/>
                          <a:latin typeface="Times New Roman" panose="02020603050405020304" pitchFamily="18" charset="0"/>
                          <a:cs typeface="Times New Roman" panose="02020603050405020304" pitchFamily="18" charset="0"/>
                        </a:rPr>
                        <a:t>INSPECTION AFTER LIGHTNING STRIKE FOR MAX 200 FC IAW TASK 05-51-18-200-802-A NO DAMAGES FOUND.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indent="0" algn="l" defTabSz="914400" rtl="0" eaLnBrk="1" fontAlgn="b" latinLnBrk="0" hangingPunct="1">
                        <a:lnSpc>
                          <a:spcPct val="100000"/>
                        </a:lnSpc>
                        <a:spcBef>
                          <a:spcPts val="0"/>
                        </a:spcBef>
                        <a:spcAft>
                          <a:spcPts val="0"/>
                        </a:spcAft>
                        <a:buClr>
                          <a:srgbClr val="000000"/>
                        </a:buClr>
                        <a:buSzTx/>
                        <a:buFont typeface="Arial"/>
                        <a:buNone/>
                        <a:tabLst/>
                        <a:defRPr/>
                      </a:pP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Lighning strike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6124271"/>
                  </a:ext>
                </a:extLst>
              </a:tr>
              <a:tr h="399245">
                <a:tc>
                  <a:txBody>
                    <a:bodyPr/>
                    <a:lstStyle/>
                    <a:p>
                      <a:pPr algn="ctr" fontAlgn="ctr"/>
                      <a:r>
                        <a:rPr lang="en-US" sz="900" b="0" i="0" u="none" strike="noStrike" smtClean="0">
                          <a:solidFill>
                            <a:schemeClr val="tx1"/>
                          </a:solidFill>
                          <a:effectLst/>
                          <a:latin typeface="Times New Roman" panose="02020603050405020304" pitchFamily="18" charset="0"/>
                          <a:cs typeface="Times New Roman" panose="02020603050405020304" pitchFamily="18" charset="0"/>
                        </a:rPr>
                        <a:t>11</a:t>
                      </a:r>
                      <a:endParaRPr lang="en-US" sz="900" b="0" i="0" u="none" strike="noStrike">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A320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A515</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10/07</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DAD</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VN187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HAN-DAD </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FOUND BIRD STRIKE AT RADOME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 C/O CLEANED AND CHK NO FOUND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DAMAGE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indent="0" algn="l" defTabSz="914400" rtl="0" eaLnBrk="1" fontAlgn="b" latinLnBrk="0" hangingPunct="1">
                        <a:lnSpc>
                          <a:spcPct val="100000"/>
                        </a:lnSpc>
                        <a:spcBef>
                          <a:spcPts val="0"/>
                        </a:spcBef>
                        <a:spcAft>
                          <a:spcPts val="0"/>
                        </a:spcAft>
                        <a:buClr>
                          <a:srgbClr val="000000"/>
                        </a:buClr>
                        <a:buSzTx/>
                        <a:buFont typeface="Arial"/>
                        <a:buNone/>
                        <a:tabLst/>
                        <a:defRPr/>
                      </a:pP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Bird</a:t>
                      </a:r>
                      <a:r>
                        <a:rPr lang="en-US" sz="900" b="0" i="0" u="none" strike="noStrike" baseline="0" smtClean="0">
                          <a:solidFill>
                            <a:srgbClr val="000000"/>
                          </a:solidFill>
                          <a:effectLst/>
                          <a:latin typeface="Times New Roman" panose="02020603050405020304" pitchFamily="18" charset="0"/>
                          <a:cs typeface="Times New Roman" panose="02020603050405020304" pitchFamily="18" charset="0"/>
                        </a:rPr>
                        <a:t> strike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1879329"/>
                  </a:ext>
                </a:extLst>
              </a:tr>
              <a:tr h="412124">
                <a:tc>
                  <a:txBody>
                    <a:bodyPr/>
                    <a:lstStyle/>
                    <a:p>
                      <a:pPr algn="ctr" fontAlgn="ctr"/>
                      <a:r>
                        <a:rPr lang="en-US" sz="900" b="0" i="0" u="none" strike="noStrike" smtClean="0">
                          <a:solidFill>
                            <a:schemeClr val="tx1"/>
                          </a:solidFill>
                          <a:effectLst/>
                          <a:latin typeface="Times New Roman" panose="02020603050405020304" pitchFamily="18" charset="0"/>
                          <a:cs typeface="Times New Roman" panose="02020603050405020304" pitchFamily="18" charset="0"/>
                        </a:rPr>
                        <a:t>12</a:t>
                      </a:r>
                      <a:endParaRPr lang="en-US" sz="900" b="0" i="0" u="none" strike="noStrike">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A320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A515</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07/07</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DLI</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VN1575</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HAN-DLI</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AFTER VN1575 HAN-DLI FOUND BIRD STRIKE ON ENG 1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cap="none" smtClean="0">
                          <a:solidFill>
                            <a:srgbClr val="000000"/>
                          </a:solidFill>
                          <a:effectLst/>
                          <a:latin typeface="Times New Roman" panose="02020603050405020304" pitchFamily="18" charset="0"/>
                          <a:ea typeface="+mn-ea"/>
                          <a:cs typeface="Times New Roman" panose="02020603050405020304" pitchFamily="18" charset="0"/>
                          <a:sym typeface="Arial"/>
                        </a:rPr>
                        <a:t>Kiểm tra, đánh giá chim va ENG #1 luồng ngoài</a:t>
                      </a:r>
                      <a:endParaRPr lang="en-US" sz="9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indent="0" algn="l" defTabSz="914400" rtl="0" eaLnBrk="1" fontAlgn="b" latinLnBrk="0" hangingPunct="1">
                        <a:lnSpc>
                          <a:spcPct val="100000"/>
                        </a:lnSpc>
                        <a:spcBef>
                          <a:spcPts val="0"/>
                        </a:spcBef>
                        <a:spcAft>
                          <a:spcPts val="0"/>
                        </a:spcAft>
                        <a:buClr>
                          <a:srgbClr val="000000"/>
                        </a:buClr>
                        <a:buSzTx/>
                        <a:buFont typeface="Arial"/>
                        <a:buNone/>
                        <a:tabLst/>
                        <a:defRPr/>
                      </a:pP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Bird</a:t>
                      </a:r>
                      <a:r>
                        <a:rPr lang="en-US" sz="900" b="0" i="0" u="none" strike="noStrike" baseline="0" smtClean="0">
                          <a:solidFill>
                            <a:srgbClr val="000000"/>
                          </a:solidFill>
                          <a:effectLst/>
                          <a:latin typeface="Times New Roman" panose="02020603050405020304" pitchFamily="18" charset="0"/>
                          <a:cs typeface="Times New Roman" panose="02020603050405020304" pitchFamily="18" charset="0"/>
                        </a:rPr>
                        <a:t> strike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1480337"/>
                  </a:ext>
                </a:extLst>
              </a:tr>
              <a:tr h="572637">
                <a:tc>
                  <a:txBody>
                    <a:bodyPr/>
                    <a:lstStyle/>
                    <a:p>
                      <a:pPr algn="ctr" fontAlgn="ctr"/>
                      <a:r>
                        <a:rPr lang="en-US" sz="900" b="0" i="0" u="none" strike="noStrike" smtClean="0">
                          <a:solidFill>
                            <a:schemeClr val="tx1"/>
                          </a:solidFill>
                          <a:effectLst/>
                          <a:latin typeface="Times New Roman" panose="02020603050405020304" pitchFamily="18" charset="0"/>
                          <a:cs typeface="Times New Roman" panose="02020603050405020304" pitchFamily="18" charset="0"/>
                        </a:rPr>
                        <a:t>13</a:t>
                      </a:r>
                      <a:endParaRPr lang="en-US" sz="900" b="0" i="0" u="none" strike="noStrike">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A621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01/07</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VN7082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DAD-HAN </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TERM CHECK FOUND BIRD STRIKE TO ENG#2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9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900" b="0" i="0" u="none" strike="noStrike">
                          <a:solidFill>
                            <a:srgbClr val="000000"/>
                          </a:solidFill>
                          <a:effectLst/>
                          <a:latin typeface="Times New Roman" panose="02020603050405020304" pitchFamily="18" charset="0"/>
                          <a:cs typeface="Times New Roman" panose="02020603050405020304" pitchFamily="18" charset="0"/>
                        </a:rPr>
                        <a:t>AMM.TASK 05-51-14-200-803-A INSPECTION OF THE AIRCRAFT AFTER A BIRD STRIKE, FOUND SATIS.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indent="0" algn="l" defTabSz="914400" rtl="0" eaLnBrk="1" fontAlgn="b" latinLnBrk="0" hangingPunct="1">
                        <a:lnSpc>
                          <a:spcPct val="100000"/>
                        </a:lnSpc>
                        <a:spcBef>
                          <a:spcPts val="0"/>
                        </a:spcBef>
                        <a:spcAft>
                          <a:spcPts val="0"/>
                        </a:spcAft>
                        <a:buClr>
                          <a:srgbClr val="000000"/>
                        </a:buClr>
                        <a:buSzTx/>
                        <a:buFont typeface="Arial"/>
                        <a:buNone/>
                        <a:tabLst/>
                        <a:defRPr/>
                      </a:pP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Bird</a:t>
                      </a:r>
                      <a:r>
                        <a:rPr lang="en-US" sz="900" b="0" i="0" u="none" strike="noStrike" baseline="0" smtClean="0">
                          <a:solidFill>
                            <a:srgbClr val="000000"/>
                          </a:solidFill>
                          <a:effectLst/>
                          <a:latin typeface="Times New Roman" panose="02020603050405020304" pitchFamily="18" charset="0"/>
                          <a:cs typeface="Times New Roman" panose="02020603050405020304" pitchFamily="18" charset="0"/>
                        </a:rPr>
                        <a:t> strike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195364"/>
                  </a:ext>
                </a:extLst>
              </a:tr>
            </a:tbl>
          </a:graphicData>
        </a:graphic>
      </p:graphicFrame>
    </p:spTree>
    <p:extLst>
      <p:ext uri="{BB962C8B-B14F-4D97-AF65-F5344CB8AC3E}">
        <p14:creationId xmlns:p14="http://schemas.microsoft.com/office/powerpoint/2010/main" val="34425141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22</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1027135" y="922221"/>
            <a:ext cx="9953978"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676070"/>
            <a:ext cx="106387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0" fontAlgn="auto" latinLnBrk="0" hangingPunct="0">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9 – CHỈ SỐ TẮT ĐỘNG CƠ TRÊN KHÔNG</a:t>
            </a:r>
            <a:endPar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918792" y="5271046"/>
            <a:ext cx="10743619" cy="830997"/>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7/2025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có 00 vụ việc tắt động cơ trên không.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tháng 7 là 0.00 vụ/10000CB, đạt mục tiêu.</a:t>
            </a:r>
            <a:endPar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2025 là 0,00 vụ/10000CB, đạt mục tiêu. </a:t>
            </a:r>
          </a:p>
        </p:txBody>
      </p:sp>
      <p:graphicFrame>
        <p:nvGraphicFramePr>
          <p:cNvPr id="9" name="Chart 8">
            <a:extLst>
              <a:ext uri="{FF2B5EF4-FFF2-40B4-BE49-F238E27FC236}">
                <a16:creationId xmlns:a16="http://schemas.microsoft.com/office/drawing/2014/main" id="{D3F15087-8C48-45D9-A684-D1D86CBD9C67}"/>
              </a:ext>
            </a:extLst>
          </p:cNvPr>
          <p:cNvGraphicFramePr>
            <a:graphicFrameLocks/>
          </p:cNvGraphicFramePr>
          <p:nvPr>
            <p:extLst/>
          </p:nvPr>
        </p:nvGraphicFramePr>
        <p:xfrm>
          <a:off x="985381" y="2376631"/>
          <a:ext cx="7516781" cy="251103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EBE1F88D-F545-4B51-B0C1-D6E2B55435D3}"/>
              </a:ext>
            </a:extLst>
          </p:cNvPr>
          <p:cNvGraphicFramePr>
            <a:graphicFrameLocks/>
          </p:cNvGraphicFramePr>
          <p:nvPr>
            <p:extLst/>
          </p:nvPr>
        </p:nvGraphicFramePr>
        <p:xfrm>
          <a:off x="8816094" y="2370718"/>
          <a:ext cx="2165019" cy="2516948"/>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217438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23</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1188837" y="528980"/>
            <a:ext cx="10440668" cy="643912"/>
          </a:xfrm>
        </p:spPr>
        <p:txBody>
          <a:bodyPr>
            <a:noAutofit/>
          </a:bodyPr>
          <a:lstStyle/>
          <a:p>
            <a:pPr algn="l"/>
            <a:r>
              <a:rPr lang="en-US" altLang="en-US" sz="3200">
                <a:solidFill>
                  <a:schemeClr val="accent1"/>
                </a:solidFill>
                <a:latin typeface="Times New Roman" panose="02020603050405020304" pitchFamily="18" charset="0"/>
                <a:cs typeface="Times New Roman" panose="02020603050405020304" pitchFamily="18" charset="0"/>
              </a:rPr>
              <a:t>2. </a:t>
            </a:r>
            <a:r>
              <a:rPr lang="en-US" sz="3200">
                <a:solidFill>
                  <a:schemeClr val="accent1"/>
                </a:solidFill>
                <a:latin typeface="Times New Roman" panose="02020603050405020304" pitchFamily="18" charset="0"/>
                <a:ea typeface="Times New Roman"/>
                <a:cs typeface="Times New Roman" panose="02020603050405020304" pitchFamily="18" charset="0"/>
                <a:sym typeface="Times New Roman"/>
              </a:rPr>
              <a:t>Các vụ việc an toàn khác tháng </a:t>
            </a:r>
            <a:r>
              <a:rPr lang="en-US" sz="3200" smtClean="0">
                <a:solidFill>
                  <a:schemeClr val="accent1"/>
                </a:solidFill>
                <a:latin typeface="Times New Roman" panose="02020603050405020304" pitchFamily="18" charset="0"/>
                <a:ea typeface="Times New Roman"/>
                <a:cs typeface="Times New Roman" panose="02020603050405020304" pitchFamily="18" charset="0"/>
                <a:sym typeface="Times New Roman"/>
              </a:rPr>
              <a:t>7.2025</a:t>
            </a:r>
            <a:endParaRPr lang="en-US" sz="3200" dirty="0">
              <a:ln w="0"/>
              <a:solidFill>
                <a:schemeClr val="accent1"/>
              </a:solidFill>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446254557"/>
              </p:ext>
            </p:extLst>
          </p:nvPr>
        </p:nvGraphicFramePr>
        <p:xfrm>
          <a:off x="1188837" y="1288472"/>
          <a:ext cx="10440668" cy="5458431"/>
        </p:xfrm>
        <a:graphic>
          <a:graphicData uri="http://schemas.openxmlformats.org/drawingml/2006/table">
            <a:tbl>
              <a:tblPr firstRow="1" bandRow="1">
                <a:tableStyleId>{5C22544A-7EE6-4342-B048-85BDC9FD1C3A}</a:tableStyleId>
              </a:tblPr>
              <a:tblGrid>
                <a:gridCol w="3549417">
                  <a:extLst>
                    <a:ext uri="{9D8B030D-6E8A-4147-A177-3AD203B41FA5}">
                      <a16:colId xmlns:a16="http://schemas.microsoft.com/office/drawing/2014/main" val="3521703937"/>
                    </a:ext>
                  </a:extLst>
                </a:gridCol>
                <a:gridCol w="3025832">
                  <a:extLst>
                    <a:ext uri="{9D8B030D-6E8A-4147-A177-3AD203B41FA5}">
                      <a16:colId xmlns:a16="http://schemas.microsoft.com/office/drawing/2014/main" val="4294047070"/>
                    </a:ext>
                  </a:extLst>
                </a:gridCol>
                <a:gridCol w="3865419">
                  <a:extLst>
                    <a:ext uri="{9D8B030D-6E8A-4147-A177-3AD203B41FA5}">
                      <a16:colId xmlns:a16="http://schemas.microsoft.com/office/drawing/2014/main" val="3319095434"/>
                    </a:ext>
                  </a:extLst>
                </a:gridCol>
              </a:tblGrid>
              <a:tr h="415776">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aseline="0" smtClean="0">
                          <a:solidFill>
                            <a:schemeClr val="tx1"/>
                          </a:solidFill>
                          <a:latin typeface="Times New Roman" panose="02020603050405020304" pitchFamily="18" charset="0"/>
                          <a:cs typeface="Times New Roman" panose="02020603050405020304" pitchFamily="18" charset="0"/>
                        </a:rPr>
                        <a:t>Tàu bay B219 quay lại</a:t>
                      </a:r>
                      <a:endParaRPr lang="en-US" sz="1600" baseline="0" dirty="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500" b="1"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500" b="1"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7108425"/>
                  </a:ext>
                </a:extLst>
              </a:tr>
              <a:tr h="367801">
                <a:tc>
                  <a:txBody>
                    <a:bodyPr/>
                    <a:lstStyle/>
                    <a:p>
                      <a:pPr algn="ctr"/>
                      <a:r>
                        <a:rPr lang="en-US" sz="1200" b="1" kern="1200" dirty="0" err="1">
                          <a:solidFill>
                            <a:schemeClr val="tx1"/>
                          </a:solidFill>
                          <a:latin typeface="Times New Roman" panose="02020603050405020304" pitchFamily="18" charset="0"/>
                          <a:ea typeface="+mn-ea"/>
                          <a:cs typeface="Times New Roman" panose="02020603050405020304" pitchFamily="18" charset="0"/>
                        </a:rPr>
                        <a:t>Mô</a:t>
                      </a:r>
                      <a:r>
                        <a:rPr lang="en-US" sz="1200" b="1" kern="1200" dirty="0">
                          <a:solidFill>
                            <a:schemeClr val="tx1"/>
                          </a:solidFill>
                          <a:latin typeface="Times New Roman" panose="02020603050405020304" pitchFamily="18" charset="0"/>
                          <a:ea typeface="+mn-ea"/>
                          <a:cs typeface="Times New Roman" panose="02020603050405020304" pitchFamily="18" charset="0"/>
                        </a:rPr>
                        <a:t> </a:t>
                      </a:r>
                      <a:r>
                        <a:rPr lang="en-US" sz="1200" b="1" kern="1200" dirty="0" err="1">
                          <a:solidFill>
                            <a:schemeClr val="tx1"/>
                          </a:solidFill>
                          <a:latin typeface="Times New Roman" panose="02020603050405020304" pitchFamily="18" charset="0"/>
                          <a:ea typeface="+mn-ea"/>
                          <a:cs typeface="Times New Roman" panose="02020603050405020304" pitchFamily="18" charset="0"/>
                        </a:rPr>
                        <a:t>tả</a:t>
                      </a:r>
                      <a:endParaRPr lang="en-US" sz="12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kern="1200" dirty="0" err="1">
                          <a:solidFill>
                            <a:schemeClr val="tx1"/>
                          </a:solidFill>
                          <a:latin typeface="Times New Roman" panose="02020603050405020304" pitchFamily="18" charset="0"/>
                          <a:ea typeface="+mn-ea"/>
                          <a:cs typeface="Times New Roman" panose="02020603050405020304" pitchFamily="18" charset="0"/>
                        </a:rPr>
                        <a:t>Nguyên</a:t>
                      </a:r>
                      <a:r>
                        <a:rPr lang="en-US" sz="1200" b="1" kern="1200" dirty="0">
                          <a:solidFill>
                            <a:schemeClr val="tx1"/>
                          </a:solidFill>
                          <a:latin typeface="Times New Roman" panose="02020603050405020304" pitchFamily="18" charset="0"/>
                          <a:ea typeface="+mn-ea"/>
                          <a:cs typeface="Times New Roman" panose="02020603050405020304" pitchFamily="18" charset="0"/>
                        </a:rPr>
                        <a:t> </a:t>
                      </a:r>
                      <a:r>
                        <a:rPr lang="en-US" sz="1200" b="1" kern="1200" dirty="0" err="1">
                          <a:solidFill>
                            <a:schemeClr val="tx1"/>
                          </a:solidFill>
                          <a:latin typeface="Times New Roman" panose="02020603050405020304" pitchFamily="18" charset="0"/>
                          <a:ea typeface="+mn-ea"/>
                          <a:cs typeface="Times New Roman" panose="02020603050405020304" pitchFamily="18" charset="0"/>
                        </a:rPr>
                        <a:t>nhân</a:t>
                      </a:r>
                      <a:endParaRPr lang="en-US" sz="12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kern="1200" dirty="0" err="1">
                          <a:solidFill>
                            <a:schemeClr val="tx1"/>
                          </a:solidFill>
                          <a:latin typeface="Times New Roman" panose="02020603050405020304" pitchFamily="18" charset="0"/>
                          <a:ea typeface="+mn-ea"/>
                          <a:cs typeface="Times New Roman" panose="02020603050405020304" pitchFamily="18" charset="0"/>
                        </a:rPr>
                        <a:t>Khắc</a:t>
                      </a:r>
                      <a:r>
                        <a:rPr lang="en-US" sz="1200" b="1" kern="1200" dirty="0">
                          <a:solidFill>
                            <a:schemeClr val="tx1"/>
                          </a:solidFill>
                          <a:latin typeface="Times New Roman" panose="02020603050405020304" pitchFamily="18" charset="0"/>
                          <a:ea typeface="+mn-ea"/>
                          <a:cs typeface="Times New Roman" panose="02020603050405020304" pitchFamily="18" charset="0"/>
                        </a:rPr>
                        <a:t> </a:t>
                      </a:r>
                      <a:r>
                        <a:rPr lang="en-US" sz="1200" b="1" kern="1200" dirty="0" err="1">
                          <a:solidFill>
                            <a:schemeClr val="tx1"/>
                          </a:solidFill>
                          <a:latin typeface="Times New Roman" panose="02020603050405020304" pitchFamily="18" charset="0"/>
                          <a:ea typeface="+mn-ea"/>
                          <a:cs typeface="Times New Roman" panose="02020603050405020304" pitchFamily="18" charset="0"/>
                        </a:rPr>
                        <a:t>phục</a:t>
                      </a:r>
                      <a:r>
                        <a:rPr lang="en-US" sz="1200" b="1" kern="1200" dirty="0">
                          <a:solidFill>
                            <a:schemeClr val="tx1"/>
                          </a:solidFill>
                          <a:latin typeface="Times New Roman" panose="02020603050405020304" pitchFamily="18" charset="0"/>
                          <a:ea typeface="+mn-ea"/>
                          <a:cs typeface="Times New Roman" panose="02020603050405020304" pitchFamily="18" charset="0"/>
                        </a:rPr>
                        <a:t> – </a:t>
                      </a:r>
                      <a:r>
                        <a:rPr lang="en-US" sz="1200" b="1" kern="1200" dirty="0" err="1">
                          <a:solidFill>
                            <a:schemeClr val="tx1"/>
                          </a:solidFill>
                          <a:latin typeface="Times New Roman" panose="02020603050405020304" pitchFamily="18" charset="0"/>
                          <a:ea typeface="+mn-ea"/>
                          <a:cs typeface="Times New Roman" panose="02020603050405020304" pitchFamily="18" charset="0"/>
                        </a:rPr>
                        <a:t>Phòng</a:t>
                      </a:r>
                      <a:r>
                        <a:rPr lang="en-US" sz="1200" b="1" kern="1200" dirty="0">
                          <a:solidFill>
                            <a:schemeClr val="tx1"/>
                          </a:solidFill>
                          <a:latin typeface="Times New Roman" panose="02020603050405020304" pitchFamily="18" charset="0"/>
                          <a:ea typeface="+mn-ea"/>
                          <a:cs typeface="Times New Roman" panose="02020603050405020304" pitchFamily="18" charset="0"/>
                        </a:rPr>
                        <a:t> </a:t>
                      </a:r>
                      <a:r>
                        <a:rPr lang="en-US" sz="1200" b="1" kern="1200" dirty="0" err="1">
                          <a:solidFill>
                            <a:schemeClr val="tx1"/>
                          </a:solidFill>
                          <a:latin typeface="Times New Roman" panose="02020603050405020304" pitchFamily="18" charset="0"/>
                          <a:ea typeface="+mn-ea"/>
                          <a:cs typeface="Times New Roman" panose="02020603050405020304" pitchFamily="18" charset="0"/>
                        </a:rPr>
                        <a:t>ngừa</a:t>
                      </a:r>
                      <a:endParaRPr lang="en-US" sz="12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1495605"/>
                  </a:ext>
                </a:extLst>
              </a:tr>
              <a:tr h="4674854">
                <a:tc>
                  <a:txBody>
                    <a:bodyPr/>
                    <a:lstStyle/>
                    <a:p>
                      <a:pPr marL="285750" lvl="0" indent="-285750" algn="just">
                        <a:buFont typeface="Arial" panose="020B0604020202020204" pitchFamily="34" charset="0"/>
                        <a:buChar char="•"/>
                      </a:pPr>
                      <a:r>
                        <a:rPr lang="en-US" sz="1200" kern="1200" smtClean="0">
                          <a:solidFill>
                            <a:schemeClr val="dk1"/>
                          </a:solidFill>
                          <a:effectLst/>
                          <a:latin typeface="Times New Roman" panose="02020603050405020304" pitchFamily="18" charset="0"/>
                          <a:ea typeface="+mn-ea"/>
                          <a:cs typeface="Times New Roman" panose="02020603050405020304" pitchFamily="18" charset="0"/>
                        </a:rPr>
                        <a:t>Tàu bay VN-B219 hoàn thiện định kỳ Y08 check tại TTBD Nội trường HCM ngày 23/06/2025. </a:t>
                      </a:r>
                    </a:p>
                    <a:p>
                      <a:pPr marL="285750" lvl="0" indent="-285750" algn="just">
                        <a:buFont typeface="Arial" panose="020B0604020202020204" pitchFamily="34" charset="0"/>
                        <a:buChar char="•"/>
                      </a:pPr>
                      <a:r>
                        <a:rPr lang="en-US" sz="1200" kern="1200" smtClean="0">
                          <a:solidFill>
                            <a:schemeClr val="dk1"/>
                          </a:solidFill>
                          <a:effectLst/>
                          <a:latin typeface="Times New Roman" panose="02020603050405020304" pitchFamily="18" charset="0"/>
                          <a:ea typeface="+mn-ea"/>
                          <a:cs typeface="Times New Roman" panose="02020603050405020304" pitchFamily="18" charset="0"/>
                        </a:rPr>
                        <a:t>Ngày 24/06/2025, trong quá trình lăn bánh ra đường cất hạ cánh để thực hiện chuyến bay 0V8067 (SGN-VCS), chuyến bay thứ 3 sau định kỳ, tàu phải quay lại sân đỗ do nhiệt độ cao của Eng#2 Inter Turbine (Eng#2 High ITT - 810 oC). Trong quá trình khắc phục hỏng hóc, nhân viên CRS của TTBD NgT HCM phát hiện 02 seals (P/N RA50A54) của Eng#2 Handling Bleed Valve duct đã bị hỏng.</a:t>
                      </a:r>
                      <a:endParaRPr lang="en-US" sz="1200" kern="1200" dirty="0" smtClean="0">
                        <a:solidFill>
                          <a:schemeClr val="dk1"/>
                        </a:solidFill>
                        <a:effectLst/>
                        <a:latin typeface="Times New Roman" panose="02020603050405020304" pitchFamily="18" charset="0"/>
                        <a:ea typeface="+mn-ea"/>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just" defTabSz="228600" rtl="0" eaLnBrk="1" fontAlgn="auto" latinLnBrk="0" hangingPunct="1">
                        <a:lnSpc>
                          <a:spcPct val="100000"/>
                        </a:lnSpc>
                        <a:spcBef>
                          <a:spcPts val="0"/>
                        </a:spcBef>
                        <a:spcAft>
                          <a:spcPts val="0"/>
                        </a:spcAft>
                        <a:buClrTx/>
                        <a:buSzTx/>
                        <a:buFontTx/>
                        <a:buNone/>
                        <a:tabLst>
                          <a:tab pos="173038" algn="l"/>
                        </a:tabLst>
                        <a:defRPr/>
                      </a:pPr>
                      <a:r>
                        <a:rPr lang="vi-VN" sz="1200" b="0" kern="1200" baseline="0" smtClean="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Nguyên </a:t>
                      </a:r>
                      <a:r>
                        <a:rPr lang="vi-VN" sz="12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nhân</a:t>
                      </a:r>
                      <a:r>
                        <a:rPr lang="en-US" sz="12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 </a:t>
                      </a:r>
                      <a:r>
                        <a:rPr lang="vi-VN" sz="12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chính:</a:t>
                      </a:r>
                    </a:p>
                    <a:p>
                      <a:pPr marL="285750" lvl="0" indent="-285750" algn="just">
                        <a:buFont typeface="+mj-lt"/>
                        <a:buAutoNum type="arabicPeriod"/>
                      </a:pPr>
                      <a:r>
                        <a:rPr lang="en-US" sz="1200" kern="1200" smtClean="0">
                          <a:solidFill>
                            <a:schemeClr val="dk1"/>
                          </a:solidFill>
                          <a:effectLst/>
                          <a:latin typeface="Times New Roman" panose="02020603050405020304" pitchFamily="18" charset="0"/>
                          <a:ea typeface="+mn-ea"/>
                          <a:cs typeface="Times New Roman" panose="02020603050405020304" pitchFamily="18" charset="0"/>
                        </a:rPr>
                        <a:t>Công việc bảo dưỡng được NVKT thực hiện theo thói quen, không tuân thủ DLBD và các quy trình bảo dưỡng.</a:t>
                      </a:r>
                    </a:p>
                    <a:p>
                      <a:pPr marL="285750" lvl="0" indent="-285750" algn="just">
                        <a:buFont typeface="+mj-lt"/>
                        <a:buAutoNum type="arabicPeriod"/>
                      </a:pPr>
                      <a:r>
                        <a:rPr lang="en-US" sz="1200" kern="1200" smtClean="0">
                          <a:solidFill>
                            <a:schemeClr val="dk1"/>
                          </a:solidFill>
                          <a:effectLst/>
                          <a:latin typeface="Times New Roman" panose="02020603050405020304" pitchFamily="18" charset="0"/>
                          <a:ea typeface="+mn-ea"/>
                          <a:cs typeface="Times New Roman" panose="02020603050405020304" pitchFamily="18" charset="0"/>
                        </a:rPr>
                        <a:t>Các sai lệch trong quá trình bảo dưỡng không được báo cáo, yêu cầu trợ giúp đúng theo quy định.</a:t>
                      </a:r>
                    </a:p>
                    <a:p>
                      <a:pPr marL="285750" lvl="0" indent="-285750" algn="just">
                        <a:buFont typeface="+mj-lt"/>
                        <a:buAutoNum type="arabicPeriod"/>
                      </a:pPr>
                      <a:r>
                        <a:rPr lang="en-US" sz="1200" kern="1200" smtClean="0">
                          <a:solidFill>
                            <a:schemeClr val="dk1"/>
                          </a:solidFill>
                          <a:effectLst/>
                          <a:latin typeface="Times New Roman" panose="02020603050405020304" pitchFamily="18" charset="0"/>
                          <a:ea typeface="+mn-ea"/>
                          <a:cs typeface="Times New Roman" panose="02020603050405020304" pitchFamily="18" charset="0"/>
                        </a:rPr>
                        <a:t>Công tác giám sát bảo dưỡng, biên soạn EO, đánh giá WP chưa chặt chẽ nên chưa phát hiện kịp thời các sai lệch giữa DLBD và thực tế triển khai công việc, các công việc được thực hiện theo thói quen.</a:t>
                      </a:r>
                      <a:endParaRPr lang="en-US" sz="1200" b="0" kern="1200" baseline="0" dirty="0" smtClean="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baseline="0" noProof="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sym typeface="Arial"/>
                        </a:rPr>
                        <a:t>Khắc phục:</a:t>
                      </a: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US" sz="1200" kern="1200" smtClean="0">
                          <a:solidFill>
                            <a:schemeClr val="dk1"/>
                          </a:solidFill>
                          <a:effectLst/>
                          <a:latin typeface="Times New Roman" panose="02020603050405020304" pitchFamily="18" charset="0"/>
                          <a:ea typeface="+mn-ea"/>
                          <a:cs typeface="Times New Roman" panose="02020603050405020304" pitchFamily="18" charset="0"/>
                        </a:rPr>
                        <a:t>Ban KT, TTĐHBD theo chức năng nhiệm vụ: Rà soát lại các task cards, EO trên đội tầu bay ATR72 và báo cáo cho NSX, khách hàng (VNA, VASCO, K6) để cập nhật lại các sai lệch khi phát hiện.</a:t>
                      </a: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US" sz="1200" kern="1200" smtClean="0">
                          <a:solidFill>
                            <a:schemeClr val="dk1"/>
                          </a:solidFill>
                          <a:effectLst/>
                          <a:latin typeface="Times New Roman" panose="02020603050405020304" pitchFamily="18" charset="0"/>
                          <a:ea typeface="+mn-ea"/>
                          <a:cs typeface="Times New Roman" panose="02020603050405020304" pitchFamily="18" charset="0"/>
                        </a:rPr>
                        <a:t>Các</a:t>
                      </a:r>
                      <a:r>
                        <a:rPr lang="en-US" sz="1200" kern="1200" baseline="0" smtClean="0">
                          <a:solidFill>
                            <a:schemeClr val="dk1"/>
                          </a:solidFill>
                          <a:effectLst/>
                          <a:latin typeface="Times New Roman" panose="02020603050405020304" pitchFamily="18" charset="0"/>
                          <a:ea typeface="+mn-ea"/>
                          <a:cs typeface="Times New Roman" panose="02020603050405020304" pitchFamily="18" charset="0"/>
                        </a:rPr>
                        <a:t> TTBD </a:t>
                      </a:r>
                      <a:r>
                        <a:rPr lang="en-US" sz="1200" kern="1200" smtClean="0">
                          <a:solidFill>
                            <a:schemeClr val="dk1"/>
                          </a:solidFill>
                          <a:effectLst/>
                          <a:latin typeface="Times New Roman" panose="02020603050405020304" pitchFamily="18" charset="0"/>
                          <a:ea typeface="+mn-ea"/>
                          <a:cs typeface="Times New Roman" panose="02020603050405020304" pitchFamily="18" charset="0"/>
                        </a:rPr>
                        <a:t>Phổ biến, truyền thông nội bộ cho các NVKT, tăng cường giám sát, yêu cầu NVKT tuyệt đối tuân thủ các yêu cầu trong DLBD khi thực hiện công việc, tuân thủ quy trình báo cáo khi phát hiện các sai lệch.</a:t>
                      </a: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US" sz="1200" kern="1200" smtClean="0">
                          <a:solidFill>
                            <a:schemeClr val="dk1"/>
                          </a:solidFill>
                          <a:effectLst/>
                          <a:latin typeface="Times New Roman" panose="02020603050405020304" pitchFamily="18" charset="0"/>
                          <a:ea typeface="+mn-ea"/>
                          <a:cs typeface="Times New Roman" panose="02020603050405020304" pitchFamily="18" charset="0"/>
                        </a:rPr>
                        <a:t>Ban ATCL Tăng cường kiểm tra, giám sát định kỳ để phát hiện ra các sai sót trong hồ sơ bảo dưỡng và yếu tố tiềm ẩn nguy cơ ảnh hưởng đến an toàn bay và tăng cường giám sát các nội dung tương tự.</a:t>
                      </a: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US" sz="1200" kern="1200" smtClean="0">
                          <a:solidFill>
                            <a:schemeClr val="dk1"/>
                          </a:solidFill>
                          <a:effectLst/>
                          <a:latin typeface="Times New Roman" panose="02020603050405020304" pitchFamily="18" charset="0"/>
                          <a:ea typeface="+mn-ea"/>
                          <a:cs typeface="Times New Roman" panose="02020603050405020304" pitchFamily="18" charset="0"/>
                        </a:rPr>
                        <a:t>Ban ATCL Chủ trì phối hợp với TTBDNgT/NoT HCM, Ban KT, TTĐHBD triển khai rà soát, đánh giá công tác bảo dưỡng tầu bay ATR72 nhằm phát hiện đầy đủ các hạn chế, tồn tại và đưa ra giải pháp nâng cao chất lượng bảo dưỡng</a:t>
                      </a:r>
                      <a:r>
                        <a:rPr lang="en-US" sz="1200" kern="1200" smtClean="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 </a:t>
                      </a:r>
                      <a:endParaRPr lang="vi-VN" sz="1200" kern="1200" dirty="0" smtClean="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1302729"/>
                  </a:ext>
                </a:extLst>
              </a:tr>
            </a:tbl>
          </a:graphicData>
        </a:graphic>
      </p:graphicFrame>
    </p:spTree>
    <p:extLst>
      <p:ext uri="{BB962C8B-B14F-4D97-AF65-F5344CB8AC3E}">
        <p14:creationId xmlns:p14="http://schemas.microsoft.com/office/powerpoint/2010/main" val="209850364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24</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txBox="1">
            <a:spLocks/>
          </p:cNvSpPr>
          <p:nvPr/>
        </p:nvSpPr>
        <p:spPr bwMode="auto">
          <a:xfrm>
            <a:off x="853294" y="418447"/>
            <a:ext cx="8320951" cy="69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ctr" rtl="0" eaLnBrk="0" fontAlgn="base" hangingPunct="0">
              <a:spcBef>
                <a:spcPct val="0"/>
              </a:spcBef>
              <a:spcAft>
                <a:spcPct val="0"/>
              </a:spcAft>
              <a:defRPr sz="4400" b="1" kern="1200">
                <a:solidFill>
                  <a:srgbClr val="D1930F"/>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a:lstStyle>
          <a:p>
            <a:pPr marL="0" marR="0" lvl="0" indent="0" algn="l" defTabSz="1219170" rtl="0" eaLnBrk="1" fontAlgn="base" latinLnBrk="0" hangingPunct="1">
              <a:lnSpc>
                <a:spcPct val="100000"/>
              </a:lnSpc>
              <a:spcBef>
                <a:spcPct val="0"/>
              </a:spcBef>
              <a:spcAft>
                <a:spcPct val="0"/>
              </a:spcAft>
              <a:buClr>
                <a:srgbClr val="000000"/>
              </a:buClr>
              <a:buSzTx/>
              <a:buFontTx/>
              <a:buNone/>
              <a:tabLst/>
              <a:defRPr/>
            </a:pP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3.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Chương</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trình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đánh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giá</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ATCL</a:t>
            </a:r>
          </a:p>
        </p:txBody>
      </p:sp>
      <p:sp>
        <p:nvSpPr>
          <p:cNvPr id="5" name="TextBox 4"/>
          <p:cNvSpPr txBox="1"/>
          <p:nvPr/>
        </p:nvSpPr>
        <p:spPr>
          <a:xfrm>
            <a:off x="1252604" y="1113403"/>
            <a:ext cx="10254641" cy="3934410"/>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800"/>
              </a:spcBef>
              <a:spcAft>
                <a:spcPts val="0"/>
              </a:spcAft>
              <a:buClr>
                <a:srgbClr val="000000"/>
              </a:buClr>
              <a:buSzTx/>
              <a:buFontTx/>
              <a:buNone/>
              <a:tabLst/>
              <a:defRPr/>
            </a:pP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3.1.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Chương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trình</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của</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Cục</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Hàng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không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a:t>
            </a:r>
            <a:endParaRPr kumimoji="0" lang="en-US" sz="2400" b="1" i="0" u="none" strike="noStrike" kern="0" cap="none" spc="0" normalizeH="0" baseline="0" noProof="0" dirty="0">
              <a:ln>
                <a:noFill/>
              </a:ln>
              <a:solidFill>
                <a:srgbClr val="F4981C">
                  <a:lumMod val="50000"/>
                </a:srgbClr>
              </a:solidFill>
              <a:effectLst/>
              <a:uLnTx/>
              <a:uFillTx/>
              <a:latin typeface="Times New Roman" panose="02020603050405020304" pitchFamily="18" charset="0"/>
              <a:ea typeface="+mn-ea"/>
              <a:cs typeface="Times New Roman" panose="02020603050405020304" pitchFamily="18" charset="0"/>
              <a:sym typeface="Arial"/>
            </a:endParaRPr>
          </a:p>
          <a:p>
            <a:pPr marL="0" marR="0" lvl="0" indent="0" algn="just" defTabSz="1219170" rtl="0" eaLnBrk="1" fontAlgn="auto" latinLnBrk="0" hangingPunct="1">
              <a:lnSpc>
                <a:spcPct val="100000"/>
              </a:lnSpc>
              <a:spcBef>
                <a:spcPts val="800"/>
              </a:spcBef>
              <a:spcAft>
                <a:spcPts val="0"/>
              </a:spcAft>
              <a:buClr>
                <a:srgbClr val="000000"/>
              </a:buClr>
              <a:buSzTx/>
              <a:buFontTx/>
              <a:buNone/>
              <a:tabLst/>
              <a:defRPr/>
            </a:pPr>
            <a: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 of A:</a:t>
            </a:r>
          </a:p>
          <a:p>
            <a:pPr marL="342900" marR="0" lvl="0" indent="-342900" algn="just" defTabSz="914400" rtl="0" eaLnBrk="1" fontAlgn="auto" latinLnBrk="0" hangingPunct="1">
              <a:lnSpc>
                <a:spcPct val="100000"/>
              </a:lnSpc>
              <a:spcBef>
                <a:spcPts val="600"/>
              </a:spcBef>
              <a:spcAft>
                <a:spcPts val="0"/>
              </a:spcAft>
              <a:buClrTx/>
              <a:buSzTx/>
              <a:buFontTx/>
              <a:buChar char="-"/>
              <a:tabLst/>
              <a:defRPr/>
            </a:pP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Tháng 07/2025, Cục HKVN đã tiến hành gia hạn Giấy chứng nhận đủ điều kiện bay cho 08 tàu bay của TCT đã được kiểm tra trong tháng 06/2025 </a:t>
            </a:r>
            <a:r>
              <a:rPr kumimoji="0" lang="pt-BR"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theo định kỳ: VN-B223, VN-A399 , VN-A509 , VN-A609 , VN-A619 , VN-A621 , VN-A866 , VN-A892</a:t>
            </a: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và gia hạn cho 01 tàu bay sau khi tháo bảo quản: VN-A622.</a:t>
            </a:r>
          </a:p>
          <a:p>
            <a:pPr marL="342900" marR="0" lvl="0" indent="-342900" algn="just" defTabSz="914400" rtl="0" eaLnBrk="1" fontAlgn="auto" latinLnBrk="0" hangingPunct="1">
              <a:lnSpc>
                <a:spcPct val="100000"/>
              </a:lnSpc>
              <a:spcBef>
                <a:spcPts val="600"/>
              </a:spcBef>
              <a:spcAft>
                <a:spcPts val="0"/>
              </a:spcAft>
              <a:buClrTx/>
              <a:buSzTx/>
              <a:buFontTx/>
              <a:buChar char="-"/>
              <a:tabLst/>
              <a:defRPr/>
            </a:pP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Tháng 07/025, Ban ATCL tiếp tục phối hợp với Cục HKVN kiểm tra CoA cho 05 tàu bay hết hạn vào tháng 07/2025: VN-A353, </a:t>
            </a:r>
            <a:r>
              <a:rPr kumimoji="0" lang="en-US" altLang="en-US" sz="18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VN-A356, VN-A601, VN-A874, </a:t>
            </a: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VN-A898</a:t>
            </a:r>
            <a:r>
              <a:rPr kumimoji="0" lang="pt-BR"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Cục HKVN đã đưa ra 06 khuyến cáo liên quan tới tình trạng tàu bay của VNA. Hiện ban ATCL đang phối hợp cùng VAECO và Ban KT khắc phục và trả lời các khuyến cáo của Cục HK để gia hạn chứng chỉ CofA cho các tàu bay nêu trên.</a:t>
            </a:r>
          </a:p>
          <a:p>
            <a:pPr marL="342900" marR="0" lvl="0" indent="-342900" algn="just" defTabSz="914400" rtl="0" eaLnBrk="1" fontAlgn="auto" latinLnBrk="0" hangingPunct="1">
              <a:lnSpc>
                <a:spcPct val="100000"/>
              </a:lnSpc>
              <a:spcBef>
                <a:spcPts val="600"/>
              </a:spcBef>
              <a:spcAft>
                <a:spcPts val="0"/>
              </a:spcAft>
              <a:buClrTx/>
              <a:buSzTx/>
              <a:buFontTx/>
              <a:buChar char="-"/>
              <a:tabLst/>
              <a:defRPr/>
            </a:pPr>
            <a:r>
              <a:rPr kumimoji="0" lang="pt-BR"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Tháng 08/2025, Ban ATCL tiếp tục làm việc với Cục HKVN để gia hạn </a:t>
            </a: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Giấy chứng nhận đủ điều kiện bay cho các tàu hết hạn theo định kỳ và kiểm tra gia hạn cho các tàu Bảo quản dừng bay được đưa vào khai thác trong tháng </a:t>
            </a:r>
            <a:r>
              <a:rPr kumimoji="0" lang="en-US" altLang="en-US" sz="18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08/2025</a:t>
            </a:r>
            <a:r>
              <a:rPr kumimoji="0" lang="en-US" altLang="en-US" sz="1800" b="0" i="0" u="none" strike="noStrike" kern="1200" cap="none" spc="0" normalizeH="0" baseline="0" noProof="0">
                <a:ln>
                  <a:noFill/>
                </a:ln>
                <a:solidFill>
                  <a:srgbClr val="F4981C">
                    <a:lumMod val="50000"/>
                  </a:srgbClr>
                </a:solidFill>
                <a:effectLst/>
                <a:uLnTx/>
                <a:uFillTx/>
                <a:latin typeface="Arial"/>
                <a:ea typeface="+mn-ea"/>
                <a:cs typeface="Times New Roman" panose="02020603050405020304" pitchFamily="18" charset="0"/>
              </a:rPr>
              <a:t>.</a:t>
            </a:r>
            <a:endParaRPr kumimoji="0" lang="pt-BR" altLang="en-US" sz="1800" b="0" i="0" u="none" strike="noStrike" kern="1200" cap="none" spc="0" normalizeH="0" baseline="0" noProof="0">
              <a:ln>
                <a:noFill/>
              </a:ln>
              <a:solidFill>
                <a:srgbClr val="F4981C">
                  <a:lumMod val="50000"/>
                </a:srgbClr>
              </a:solidFill>
              <a:effectLst/>
              <a:uLnTx/>
              <a:uFillTx/>
              <a:latin typeface="Arial"/>
              <a:ea typeface="+mn-ea"/>
              <a:cs typeface="Times New Roman" panose="02020603050405020304" pitchFamily="18" charset="0"/>
            </a:endParaRPr>
          </a:p>
        </p:txBody>
      </p:sp>
    </p:spTree>
    <p:extLst>
      <p:ext uri="{BB962C8B-B14F-4D97-AF65-F5344CB8AC3E}">
        <p14:creationId xmlns:p14="http://schemas.microsoft.com/office/powerpoint/2010/main" val="18319875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25</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txBox="1">
            <a:spLocks/>
          </p:cNvSpPr>
          <p:nvPr/>
        </p:nvSpPr>
        <p:spPr bwMode="auto">
          <a:xfrm>
            <a:off x="853294" y="418447"/>
            <a:ext cx="8320951" cy="69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ctr" rtl="0" eaLnBrk="0" fontAlgn="base" hangingPunct="0">
              <a:spcBef>
                <a:spcPct val="0"/>
              </a:spcBef>
              <a:spcAft>
                <a:spcPct val="0"/>
              </a:spcAft>
              <a:defRPr sz="4400" b="1" kern="1200">
                <a:solidFill>
                  <a:srgbClr val="D1930F"/>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a:lstStyle>
          <a:p>
            <a:pPr marL="0" marR="0" lvl="0" indent="0" algn="l" defTabSz="1219170" rtl="0" eaLnBrk="1" fontAlgn="base" latinLnBrk="0" hangingPunct="1">
              <a:lnSpc>
                <a:spcPct val="100000"/>
              </a:lnSpc>
              <a:spcBef>
                <a:spcPct val="0"/>
              </a:spcBef>
              <a:spcAft>
                <a:spcPct val="0"/>
              </a:spcAft>
              <a:buClr>
                <a:srgbClr val="000000"/>
              </a:buClr>
              <a:buSzTx/>
              <a:buFontTx/>
              <a:buNone/>
              <a:tabLst/>
              <a:defRPr/>
            </a:pP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3.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Chương</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trình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đánh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giá</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ATCL</a:t>
            </a:r>
          </a:p>
        </p:txBody>
      </p:sp>
      <p:sp>
        <p:nvSpPr>
          <p:cNvPr id="5" name="TextBox 4"/>
          <p:cNvSpPr txBox="1"/>
          <p:nvPr/>
        </p:nvSpPr>
        <p:spPr>
          <a:xfrm>
            <a:off x="1252604" y="1054507"/>
            <a:ext cx="10254641" cy="1744004"/>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800"/>
              </a:spcBef>
              <a:spcAft>
                <a:spcPts val="0"/>
              </a:spcAft>
              <a:buClr>
                <a:srgbClr val="000000"/>
              </a:buClr>
              <a:buSzTx/>
              <a:buFontTx/>
              <a:buNone/>
              <a:tabLst/>
              <a:defRPr/>
            </a:pP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3.1.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Chương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trình</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của</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Cục</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Hàng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không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a:t>
            </a:r>
            <a:endParaRPr kumimoji="0" lang="en-US" sz="2400" b="1" i="0" u="none" strike="noStrike" kern="0" cap="none" spc="0" normalizeH="0" baseline="0" noProof="0" dirty="0">
              <a:ln>
                <a:noFill/>
              </a:ln>
              <a:solidFill>
                <a:srgbClr val="F4981C">
                  <a:lumMod val="50000"/>
                </a:srgbClr>
              </a:solidFill>
              <a:effectLst/>
              <a:uLnTx/>
              <a:uFillTx/>
              <a:latin typeface="Times New Roman" panose="02020603050405020304" pitchFamily="18" charset="0"/>
              <a:ea typeface="+mn-ea"/>
              <a:cs typeface="Times New Roman" panose="02020603050405020304" pitchFamily="18" charset="0"/>
              <a:sym typeface="Arial"/>
            </a:endParaRPr>
          </a:p>
          <a:p>
            <a:pPr marL="0" marR="0" lvl="0" indent="0" algn="just" defTabSz="1219170" rtl="0" eaLnBrk="1" fontAlgn="auto" latinLnBrk="0" hangingPunct="1">
              <a:lnSpc>
                <a:spcPct val="100000"/>
              </a:lnSpc>
              <a:spcBef>
                <a:spcPts val="800"/>
              </a:spcBef>
              <a:spcAft>
                <a:spcPts val="0"/>
              </a:spcAft>
              <a:buClr>
                <a:srgbClr val="000000"/>
              </a:buClr>
              <a:buSzTx/>
              <a:buFontTx/>
              <a:buNone/>
              <a:tabLst/>
              <a:defRPr/>
            </a:pPr>
            <a: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 of </a:t>
            </a:r>
            <a:r>
              <a:rPr kumimoji="0" lang="en-US" sz="24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a:t>
            </a:r>
            <a:endParaRPr kumimoji="0" lang="pt-BR" altLang="en-US" sz="1867"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457189" marR="0" lvl="0" indent="-457189" algn="just" defTabSz="1219170" rtl="0" eaLnBrk="1" fontAlgn="auto" latinLnBrk="0" hangingPunct="1">
              <a:lnSpc>
                <a:spcPct val="100000"/>
              </a:lnSpc>
              <a:spcBef>
                <a:spcPts val="800"/>
              </a:spcBef>
              <a:spcAft>
                <a:spcPts val="0"/>
              </a:spcAft>
              <a:buClr>
                <a:srgbClr val="000000"/>
              </a:buClr>
              <a:buSzTx/>
              <a:buFontTx/>
              <a:buChar char="-"/>
              <a:tabLst/>
              <a:defRPr/>
            </a:pPr>
            <a:r>
              <a:rPr kumimoji="0" lang="en-SG"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Một số finding đáng chú ý trong đợt kiểm tra CoA vừa qua</a:t>
            </a:r>
            <a:r>
              <a:rPr kumimoji="0" lang="en-SG" altLang="en-US" sz="18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t>
            </a:r>
            <a:endParaRPr kumimoji="0" lang="en-SG"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0" marR="0" lvl="0" indent="0" algn="just" defTabSz="1219170" rtl="0" eaLnBrk="1" fontAlgn="auto" latinLnBrk="0" hangingPunct="1">
              <a:lnSpc>
                <a:spcPct val="100000"/>
              </a:lnSpc>
              <a:spcBef>
                <a:spcPts val="800"/>
              </a:spcBef>
              <a:spcAft>
                <a:spcPts val="0"/>
              </a:spcAft>
              <a:buClr>
                <a:srgbClr val="000000"/>
              </a:buClr>
              <a:buSzTx/>
              <a:buFontTx/>
              <a:buNone/>
              <a:tabLst/>
              <a:defRPr/>
            </a:pPr>
            <a:endParaRPr kumimoji="0" lang="pt-BR" altLang="en-US" sz="2133"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10" name="Rectangle 9"/>
          <p:cNvSpPr/>
          <p:nvPr/>
        </p:nvSpPr>
        <p:spPr>
          <a:xfrm>
            <a:off x="6970015" y="6192639"/>
            <a:ext cx="4326595" cy="461665"/>
          </a:xfrm>
          <a:prstGeom prst="rect">
            <a:avLst/>
          </a:prstGeom>
          <a:ln w="6350">
            <a:solidFill>
              <a:schemeClr val="tx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VN-A353 BOTH ENGINES HEATSHIELD SEALANT DAMAGED (DUE TO CHAFING)</a:t>
            </a:r>
            <a:endParaRPr kumimoji="0" 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4" name="Rectangle 13"/>
          <p:cNvSpPr/>
          <p:nvPr/>
        </p:nvSpPr>
        <p:spPr>
          <a:xfrm>
            <a:off x="1812175" y="6192639"/>
            <a:ext cx="4463934" cy="461665"/>
          </a:xfrm>
          <a:prstGeom prst="rect">
            <a:avLst/>
          </a:prstGeom>
          <a:solidFill>
            <a:schemeClr val="bg1"/>
          </a:solidFill>
          <a:ln w="6350">
            <a:solidFill>
              <a:schemeClr val="tx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VN-A356  ENG#1 EGT HARNESS CHAFING WITH </a:t>
            </a:r>
            <a:r>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BOTH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C-DUCT HEATSHIELDS</a:t>
            </a:r>
            <a:endParaRPr kumimoji="0" lang="vi-VN"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12" name="Picture 11"/>
          <p:cNvPicPr/>
          <p:nvPr/>
        </p:nvPicPr>
        <p:blipFill>
          <a:blip r:embed="rId4"/>
          <a:stretch>
            <a:fillRect/>
          </a:stretch>
        </p:blipFill>
        <p:spPr>
          <a:xfrm>
            <a:off x="1812175" y="2589316"/>
            <a:ext cx="4463934" cy="1826523"/>
          </a:xfrm>
          <a:prstGeom prst="rect">
            <a:avLst/>
          </a:prstGeom>
        </p:spPr>
      </p:pic>
      <p:pic>
        <p:nvPicPr>
          <p:cNvPr id="15" name="Picture 14"/>
          <p:cNvPicPr/>
          <p:nvPr/>
        </p:nvPicPr>
        <p:blipFill>
          <a:blip r:embed="rId5"/>
          <a:stretch>
            <a:fillRect/>
          </a:stretch>
        </p:blipFill>
        <p:spPr>
          <a:xfrm>
            <a:off x="1812175" y="4487691"/>
            <a:ext cx="4463934" cy="1604989"/>
          </a:xfrm>
          <a:prstGeom prst="rect">
            <a:avLst/>
          </a:prstGeom>
        </p:spPr>
      </p:pic>
      <p:pic>
        <p:nvPicPr>
          <p:cNvPr id="16" name="Picture 15"/>
          <p:cNvPicPr/>
          <p:nvPr/>
        </p:nvPicPr>
        <p:blipFill>
          <a:blip r:embed="rId6"/>
          <a:stretch>
            <a:fillRect/>
          </a:stretch>
        </p:blipFill>
        <p:spPr>
          <a:xfrm>
            <a:off x="6970015" y="2595480"/>
            <a:ext cx="4326595" cy="1814193"/>
          </a:xfrm>
          <a:prstGeom prst="rect">
            <a:avLst/>
          </a:prstGeom>
        </p:spPr>
      </p:pic>
      <p:pic>
        <p:nvPicPr>
          <p:cNvPr id="17" name="Picture 16"/>
          <p:cNvPicPr/>
          <p:nvPr/>
        </p:nvPicPr>
        <p:blipFill>
          <a:blip r:embed="rId7"/>
          <a:stretch>
            <a:fillRect/>
          </a:stretch>
        </p:blipFill>
        <p:spPr>
          <a:xfrm>
            <a:off x="6970017" y="4487691"/>
            <a:ext cx="2049292" cy="1604989"/>
          </a:xfrm>
          <a:prstGeom prst="rect">
            <a:avLst/>
          </a:prstGeom>
        </p:spPr>
      </p:pic>
      <p:pic>
        <p:nvPicPr>
          <p:cNvPr id="18" name="Picture 17"/>
          <p:cNvPicPr/>
          <p:nvPr/>
        </p:nvPicPr>
        <p:blipFill>
          <a:blip r:embed="rId8"/>
          <a:stretch>
            <a:fillRect/>
          </a:stretch>
        </p:blipFill>
        <p:spPr>
          <a:xfrm>
            <a:off x="9077498" y="4488070"/>
            <a:ext cx="2219112" cy="1604229"/>
          </a:xfrm>
          <a:prstGeom prst="rect">
            <a:avLst/>
          </a:prstGeom>
        </p:spPr>
      </p:pic>
    </p:spTree>
    <p:extLst>
      <p:ext uri="{BB962C8B-B14F-4D97-AF65-F5344CB8AC3E}">
        <p14:creationId xmlns:p14="http://schemas.microsoft.com/office/powerpoint/2010/main" val="13511225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26</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txBox="1">
            <a:spLocks/>
          </p:cNvSpPr>
          <p:nvPr/>
        </p:nvSpPr>
        <p:spPr bwMode="auto">
          <a:xfrm>
            <a:off x="914400" y="385395"/>
            <a:ext cx="8176480" cy="69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ctr" rtl="0" eaLnBrk="0" fontAlgn="base" hangingPunct="0">
              <a:spcBef>
                <a:spcPct val="0"/>
              </a:spcBef>
              <a:spcAft>
                <a:spcPct val="0"/>
              </a:spcAft>
              <a:defRPr sz="4400" b="1" kern="1200">
                <a:solidFill>
                  <a:srgbClr val="D1930F"/>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a:lstStyle>
          <a:p>
            <a:pPr marL="0" marR="0" lvl="0" indent="0" algn="l" defTabSz="1219170" rtl="0" eaLnBrk="1" fontAlgn="base" latinLnBrk="0" hangingPunct="1">
              <a:lnSpc>
                <a:spcPct val="100000"/>
              </a:lnSpc>
              <a:spcBef>
                <a:spcPct val="0"/>
              </a:spcBef>
              <a:spcAft>
                <a:spcPct val="0"/>
              </a:spcAft>
              <a:buClr>
                <a:srgbClr val="000000"/>
              </a:buClr>
              <a:buSzTx/>
              <a:buFontTx/>
              <a:buNone/>
              <a:tabLst/>
              <a:defRPr/>
            </a:pP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3.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Chương</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trình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đánh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giá</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ATCL</a:t>
            </a:r>
          </a:p>
        </p:txBody>
      </p:sp>
      <p:sp>
        <p:nvSpPr>
          <p:cNvPr id="5" name="TextBox 4"/>
          <p:cNvSpPr txBox="1">
            <a:spLocks noChangeArrowheads="1"/>
          </p:cNvSpPr>
          <p:nvPr/>
        </p:nvSpPr>
        <p:spPr bwMode="auto">
          <a:xfrm>
            <a:off x="1308835" y="1065616"/>
            <a:ext cx="9987776" cy="5027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just" defTabSz="1219170" rtl="0" eaLnBrk="1" fontAlgn="auto" latinLnBrk="0" hangingPunct="1">
              <a:lnSpc>
                <a:spcPct val="100000"/>
              </a:lnSpc>
              <a:spcBef>
                <a:spcPts val="800"/>
              </a:spcBef>
              <a:spcAft>
                <a:spcPts val="0"/>
              </a:spcAft>
              <a:buClr>
                <a:srgbClr val="000000"/>
              </a:buClr>
              <a:buSzTx/>
              <a:buFontTx/>
              <a:buNone/>
              <a:tabLst/>
              <a:defRPr/>
            </a:pP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3.2. </a:t>
            </a:r>
            <a:r>
              <a:rPr kumimoji="0" lang="en-US" altLang="en-US" sz="26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Chương</a:t>
            </a: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26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trình</a:t>
            </a: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26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26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26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của</a:t>
            </a: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ban SQD</a:t>
            </a:r>
          </a:p>
        </p:txBody>
      </p:sp>
      <p:sp>
        <p:nvSpPr>
          <p:cNvPr id="6" name="TextBox 5"/>
          <p:cNvSpPr txBox="1"/>
          <p:nvPr/>
        </p:nvSpPr>
        <p:spPr>
          <a:xfrm>
            <a:off x="1308835" y="1599096"/>
            <a:ext cx="10123253" cy="3436967"/>
          </a:xfrm>
          <a:prstGeom prst="rect">
            <a:avLst/>
          </a:prstGeom>
          <a:noFill/>
          <a:ln w="6350">
            <a:noFill/>
          </a:ln>
        </p:spPr>
        <p:txBody>
          <a:bodyPr wrap="squar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CMR</a:t>
            </a:r>
            <a:r>
              <a:rPr kumimoji="0" lang="en-US" sz="1867"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t>
            </a:r>
          </a:p>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42900" marR="0" lvl="0" indent="-342900" algn="just"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Trong tháng 07, Ban ATCL đã thực hiện gia hạn Chứng chỉ CMR cho 13 tàu bay (VN-A339, VN-A353, VN-A356, VN-A601, VN-A605, VN-A606, VN-A611, VN-A612, VN-A613, VN-A893, VN-A898, VN-A872, VN-A874) hết hạn tháng 06/2025 và 02 tàu bay tháo bảo quản dừng bay (VN-A622, VN-A866).</a:t>
            </a:r>
          </a:p>
          <a:p>
            <a:pPr marL="342900" marR="0" lvl="0" indent="-342900" algn="just"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Trong tháng 07, Ban ATCL cũng đang tiến hành kiểm tra hồ sơ và thực tế 13 tàu bay hết hạn trong tháng 08/2025: VN-A329, VN-A331, VN-A390, VN-A392, VN-A393, VN-A602, VN-A603, VN-A610, VN-A616, VN-A868, VN-A873, VN-A887, VN-A896</a:t>
            </a:r>
            <a:r>
              <a:rPr kumimoji="0" lang="en-US" sz="18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Tx/>
              <a:buChar char="-"/>
              <a:tabLst/>
              <a:defRPr/>
            </a:pPr>
            <a:endParaRPr kumimoji="0" 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Tx/>
              <a:buChar char="-"/>
              <a:tabLst/>
              <a:defRPr/>
            </a:pPr>
            <a:r>
              <a:rPr kumimoji="0" lang="en-US" altLang="en-US" sz="18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Một </a:t>
            </a: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số Finding đáng chú ý</a:t>
            </a:r>
            <a:r>
              <a:rPr kumimoji="0" lang="en-US" altLang="en-US" sz="18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Nil</a:t>
            </a:r>
            <a:endPar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42900" marR="0" lvl="0" indent="-342900" algn="just" defTabSz="914400" rtl="0" eaLnBrk="1" fontAlgn="auto" latinLnBrk="0" hangingPunct="1">
              <a:lnSpc>
                <a:spcPct val="100000"/>
              </a:lnSpc>
              <a:spcBef>
                <a:spcPts val="0"/>
              </a:spcBef>
              <a:spcAft>
                <a:spcPts val="0"/>
              </a:spcAft>
              <a:buClrTx/>
              <a:buSzTx/>
              <a:buFontTx/>
              <a:buChar char="-"/>
              <a:tabLst/>
              <a:defRPr/>
            </a:pPr>
            <a:endParaRPr kumimoji="0" lang="en-US" sz="18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3689747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27</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txBox="1">
            <a:spLocks/>
          </p:cNvSpPr>
          <p:nvPr/>
        </p:nvSpPr>
        <p:spPr bwMode="auto">
          <a:xfrm>
            <a:off x="1016001" y="354778"/>
            <a:ext cx="8110689" cy="69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ctr" rtl="0" eaLnBrk="0" fontAlgn="base" hangingPunct="0">
              <a:spcBef>
                <a:spcPct val="0"/>
              </a:spcBef>
              <a:spcAft>
                <a:spcPct val="0"/>
              </a:spcAft>
              <a:defRPr sz="4400" b="1" kern="1200">
                <a:solidFill>
                  <a:srgbClr val="D1930F"/>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a:lstStyle>
          <a:p>
            <a:pPr marL="0" marR="0" lvl="0" indent="0" algn="l" defTabSz="1219170" rtl="0" eaLnBrk="1" fontAlgn="base" latinLnBrk="0" hangingPunct="1">
              <a:lnSpc>
                <a:spcPct val="100000"/>
              </a:lnSpc>
              <a:spcBef>
                <a:spcPct val="0"/>
              </a:spcBef>
              <a:spcAft>
                <a:spcPct val="0"/>
              </a:spcAft>
              <a:buClr>
                <a:srgbClr val="000000"/>
              </a:buClr>
              <a:buSzTx/>
              <a:buFontTx/>
              <a:buNone/>
              <a:tabLst/>
              <a:defRPr/>
            </a:pP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3.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Chương</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trình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đánh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giá</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ATCL</a:t>
            </a:r>
          </a:p>
        </p:txBody>
      </p:sp>
      <p:sp>
        <p:nvSpPr>
          <p:cNvPr id="5" name="TextBox 4">
            <a:extLst>
              <a:ext uri="{FF2B5EF4-FFF2-40B4-BE49-F238E27FC236}">
                <a16:creationId xmlns:a16="http://schemas.microsoft.com/office/drawing/2014/main" id="{6B0B1C0E-A6D2-430E-B998-576FFBFC494D}"/>
              </a:ext>
            </a:extLst>
          </p:cNvPr>
          <p:cNvSpPr txBox="1"/>
          <p:nvPr/>
        </p:nvSpPr>
        <p:spPr>
          <a:xfrm>
            <a:off x="1488439" y="997877"/>
            <a:ext cx="10080468" cy="461665"/>
          </a:xfrm>
          <a:prstGeom prst="rect">
            <a:avLst/>
          </a:prstGeom>
          <a:noFill/>
        </p:spPr>
        <p:txBody>
          <a:bodyPr wrap="square" rtlCol="0">
            <a:spAutoFit/>
          </a:bodyPr>
          <a:lstStyle/>
          <a:p>
            <a:pPr marL="0" marR="0" lvl="0" indent="0" algn="just" defTabSz="1219170" rtl="0" eaLnBrk="1" fontAlgn="auto" latinLnBrk="0" hangingPunct="1">
              <a:lnSpc>
                <a:spcPct val="100000"/>
              </a:lnSpc>
              <a:spcBef>
                <a:spcPts val="800"/>
              </a:spcBef>
              <a:spcAft>
                <a:spcPts val="800"/>
              </a:spcAft>
              <a:buClr>
                <a:srgbClr val="000000"/>
              </a:buClr>
              <a:buSzTx/>
              <a:buFontTx/>
              <a:buNone/>
              <a:tabLst/>
              <a:defRPr/>
            </a:pP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3.3.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Chương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trình</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của</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Cục</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Hàng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không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nước</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ngoài</a:t>
            </a:r>
            <a:r>
              <a:rPr kumimoji="0" lang="en-US" sz="2400" b="1" i="0" u="none" strike="noStrike" kern="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a:t>
            </a:r>
            <a:endParaRPr kumimoji="0" lang="en-US" sz="2400" b="1" i="0" u="none" strike="noStrike" kern="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7" name="Rectangle 6"/>
          <p:cNvSpPr/>
          <p:nvPr/>
        </p:nvSpPr>
        <p:spPr>
          <a:xfrm>
            <a:off x="1421475" y="1563100"/>
            <a:ext cx="10147431" cy="923330"/>
          </a:xfrm>
          <a:prstGeom prst="rect">
            <a:avLst/>
          </a:prstGeom>
        </p:spPr>
        <p:txBody>
          <a:bodyPr wrap="square">
            <a:spAutoFit/>
          </a:bodyPr>
          <a:lstStyle/>
          <a:p>
            <a:pPr marL="342900" marR="0" lvl="0" indent="-342900" algn="just" defTabSz="914400" rtl="0" eaLnBrk="1" fontAlgn="auto" latinLnBrk="0" hangingPunct="1">
              <a:lnSpc>
                <a:spcPct val="100000"/>
              </a:lnSpc>
              <a:spcBef>
                <a:spcPts val="600"/>
              </a:spcBef>
              <a:spcAft>
                <a:spcPts val="0"/>
              </a:spcAft>
              <a:buClrTx/>
              <a:buSzTx/>
              <a:buFontTx/>
              <a:buChar char="-"/>
              <a:tabLst/>
              <a:defRPr/>
            </a:pPr>
            <a:r>
              <a:rPr kumimoji="0" lang="en-SG"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Ngày 11/07/2025, Nhà chức trách Hàng không Italia đã kiểm tra tàu bay VN-A864 tại sân bay MXP và đưa ra một số khuyến cáo cần khắc phục về tình trạng tàu bay. Hiện Ban ATCL đang triển khai tới các CQ, ĐV để khắc phục và trả lời Nhà chức </a:t>
            </a:r>
            <a:r>
              <a:rPr kumimoji="0" lang="en-SG" altLang="en-US" sz="18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trách.</a:t>
            </a:r>
            <a:endParaRPr kumimoji="0" lang="en-SG"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11" name="Picture 10"/>
          <p:cNvPicPr>
            <a:picLocks noChangeAspect="1"/>
          </p:cNvPicPr>
          <p:nvPr/>
        </p:nvPicPr>
        <p:blipFill>
          <a:blip r:embed="rId4"/>
          <a:stretch>
            <a:fillRect/>
          </a:stretch>
        </p:blipFill>
        <p:spPr>
          <a:xfrm>
            <a:off x="1951595" y="2589988"/>
            <a:ext cx="6606119" cy="2497386"/>
          </a:xfrm>
          <a:prstGeom prst="rect">
            <a:avLst/>
          </a:prstGeom>
        </p:spPr>
      </p:pic>
      <p:pic>
        <p:nvPicPr>
          <p:cNvPr id="12" name="Picture 11"/>
          <p:cNvPicPr>
            <a:picLocks noChangeAspect="1"/>
          </p:cNvPicPr>
          <p:nvPr/>
        </p:nvPicPr>
        <p:blipFill>
          <a:blip r:embed="rId5"/>
          <a:stretch>
            <a:fillRect/>
          </a:stretch>
        </p:blipFill>
        <p:spPr>
          <a:xfrm>
            <a:off x="9038492" y="2589988"/>
            <a:ext cx="2413486" cy="1832958"/>
          </a:xfrm>
          <a:prstGeom prst="rect">
            <a:avLst/>
          </a:prstGeom>
        </p:spPr>
      </p:pic>
      <p:pic>
        <p:nvPicPr>
          <p:cNvPr id="13" name="Picture 12"/>
          <p:cNvPicPr>
            <a:picLocks noChangeAspect="1"/>
          </p:cNvPicPr>
          <p:nvPr/>
        </p:nvPicPr>
        <p:blipFill>
          <a:blip r:embed="rId6"/>
          <a:stretch>
            <a:fillRect/>
          </a:stretch>
        </p:blipFill>
        <p:spPr>
          <a:xfrm>
            <a:off x="9038492" y="4583217"/>
            <a:ext cx="2420743" cy="2159206"/>
          </a:xfrm>
          <a:prstGeom prst="rect">
            <a:avLst/>
          </a:prstGeom>
        </p:spPr>
      </p:pic>
      <p:pic>
        <p:nvPicPr>
          <p:cNvPr id="14" name="Picture 13"/>
          <p:cNvPicPr>
            <a:picLocks noChangeAspect="1"/>
          </p:cNvPicPr>
          <p:nvPr/>
        </p:nvPicPr>
        <p:blipFill>
          <a:blip r:embed="rId7"/>
          <a:stretch>
            <a:fillRect/>
          </a:stretch>
        </p:blipFill>
        <p:spPr>
          <a:xfrm>
            <a:off x="1946226" y="5275385"/>
            <a:ext cx="3329160" cy="1467038"/>
          </a:xfrm>
          <a:prstGeom prst="rect">
            <a:avLst/>
          </a:prstGeom>
        </p:spPr>
      </p:pic>
      <p:pic>
        <p:nvPicPr>
          <p:cNvPr id="15" name="Picture 14"/>
          <p:cNvPicPr>
            <a:picLocks noChangeAspect="1"/>
          </p:cNvPicPr>
          <p:nvPr/>
        </p:nvPicPr>
        <p:blipFill>
          <a:blip r:embed="rId8"/>
          <a:stretch>
            <a:fillRect/>
          </a:stretch>
        </p:blipFill>
        <p:spPr>
          <a:xfrm>
            <a:off x="5574323" y="5275385"/>
            <a:ext cx="3238821" cy="1467038"/>
          </a:xfrm>
          <a:prstGeom prst="rect">
            <a:avLst/>
          </a:prstGeom>
        </p:spPr>
      </p:pic>
    </p:spTree>
    <p:extLst>
      <p:ext uri="{BB962C8B-B14F-4D97-AF65-F5344CB8AC3E}">
        <p14:creationId xmlns:p14="http://schemas.microsoft.com/office/powerpoint/2010/main" val="27246314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28</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txBox="1">
            <a:spLocks/>
          </p:cNvSpPr>
          <p:nvPr/>
        </p:nvSpPr>
        <p:spPr bwMode="auto">
          <a:xfrm>
            <a:off x="1016001" y="354778"/>
            <a:ext cx="8110689" cy="69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ctr" rtl="0" eaLnBrk="0" fontAlgn="base" hangingPunct="0">
              <a:spcBef>
                <a:spcPct val="0"/>
              </a:spcBef>
              <a:spcAft>
                <a:spcPct val="0"/>
              </a:spcAft>
              <a:defRPr sz="4400" b="1" kern="1200">
                <a:solidFill>
                  <a:srgbClr val="D1930F"/>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a:lstStyle>
          <a:p>
            <a:pPr marL="0" marR="0" lvl="0" indent="0" algn="l" defTabSz="1219170" rtl="0" eaLnBrk="1" fontAlgn="base" latinLnBrk="0" hangingPunct="1">
              <a:lnSpc>
                <a:spcPct val="100000"/>
              </a:lnSpc>
              <a:spcBef>
                <a:spcPct val="0"/>
              </a:spcBef>
              <a:spcAft>
                <a:spcPct val="0"/>
              </a:spcAft>
              <a:buClr>
                <a:srgbClr val="000000"/>
              </a:buClr>
              <a:buSzTx/>
              <a:buFontTx/>
              <a:buNone/>
              <a:tabLst/>
              <a:defRPr/>
            </a:pP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3.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Chương</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trình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đánh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giá</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ATCL</a:t>
            </a:r>
          </a:p>
        </p:txBody>
      </p:sp>
      <p:sp>
        <p:nvSpPr>
          <p:cNvPr id="5" name="TextBox 4">
            <a:extLst>
              <a:ext uri="{FF2B5EF4-FFF2-40B4-BE49-F238E27FC236}">
                <a16:creationId xmlns:a16="http://schemas.microsoft.com/office/drawing/2014/main" id="{6B0B1C0E-A6D2-430E-B998-576FFBFC494D}"/>
              </a:ext>
            </a:extLst>
          </p:cNvPr>
          <p:cNvSpPr txBox="1"/>
          <p:nvPr/>
        </p:nvSpPr>
        <p:spPr>
          <a:xfrm>
            <a:off x="1488439" y="997877"/>
            <a:ext cx="10080468" cy="461665"/>
          </a:xfrm>
          <a:prstGeom prst="rect">
            <a:avLst/>
          </a:prstGeom>
          <a:noFill/>
        </p:spPr>
        <p:txBody>
          <a:bodyPr wrap="square" rtlCol="0">
            <a:spAutoFit/>
          </a:bodyPr>
          <a:lstStyle/>
          <a:p>
            <a:pPr marL="0" marR="0" lvl="0" indent="0" algn="just" defTabSz="1219170" rtl="0" eaLnBrk="1" fontAlgn="auto" latinLnBrk="0" hangingPunct="1">
              <a:lnSpc>
                <a:spcPct val="100000"/>
              </a:lnSpc>
              <a:spcBef>
                <a:spcPts val="800"/>
              </a:spcBef>
              <a:spcAft>
                <a:spcPts val="800"/>
              </a:spcAft>
              <a:buClr>
                <a:srgbClr val="000000"/>
              </a:buClr>
              <a:buSzTx/>
              <a:buFontTx/>
              <a:buNone/>
              <a:tabLst/>
              <a:defRPr/>
            </a:pP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3.3.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Chương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trình</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của</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Cục</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Hàng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không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nước</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ngoài</a:t>
            </a:r>
            <a:r>
              <a:rPr kumimoji="0" lang="en-US" sz="2400" b="1" i="0" u="none" strike="noStrike" kern="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a:t>
            </a:r>
            <a:endParaRPr kumimoji="0" lang="en-US" sz="2400" b="1" i="0" u="none" strike="noStrike" kern="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7" name="Rectangle 6"/>
          <p:cNvSpPr/>
          <p:nvPr/>
        </p:nvSpPr>
        <p:spPr>
          <a:xfrm>
            <a:off x="1488440" y="1589476"/>
            <a:ext cx="9958185" cy="1477328"/>
          </a:xfrm>
          <a:prstGeom prst="rect">
            <a:avLst/>
          </a:prstGeom>
        </p:spPr>
        <p:txBody>
          <a:bodyPr wrap="square">
            <a:spAutoFit/>
          </a:bodyPr>
          <a:lstStyle/>
          <a:p>
            <a:pPr marL="342900" marR="0" lvl="0" indent="-342900" algn="just" defTabSz="914400" rtl="0" eaLnBrk="1" fontAlgn="auto" latinLnBrk="0" hangingPunct="1">
              <a:lnSpc>
                <a:spcPct val="100000"/>
              </a:lnSpc>
              <a:spcBef>
                <a:spcPts val="600"/>
              </a:spcBef>
              <a:spcAft>
                <a:spcPts val="0"/>
              </a:spcAft>
              <a:buClrTx/>
              <a:buSzTx/>
              <a:buFontTx/>
              <a:buChar char="-"/>
              <a:tabLst/>
              <a:defRPr/>
            </a:pPr>
            <a:r>
              <a:rPr kumimoji="0" lang="en-SG"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Liên quan tới khuyến cáo của Nhà chức trách Hàng không Đức tại MUC ngày 29/4/2025 về việc mở MEL cho cho hỏng của hóc ghế tàu bay và việc áp dụng tài liệu MPL cho các hỏng hóc Placard. Sau khi làm việc cùng Cục HKVN, VAECO, KT hiện Ban ATCL đang phối hợp cùng các CQ, ĐV để thống nhất về quy trình trả lời các Nhà chức trách, đặc biệt là đối với các tàu bay tới Châu Âu trong thời gian </a:t>
            </a:r>
            <a:r>
              <a:rPr kumimoji="0" lang="en-SG" altLang="en-US" sz="18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tới</a:t>
            </a:r>
            <a:r>
              <a:rPr kumimoji="0" lang="en-SG" altLang="en-US" sz="1800" b="0" i="0" u="none" strike="noStrike" kern="1200" cap="none" spc="0" normalizeH="0" baseline="0" noProof="0" smtClean="0">
                <a:ln>
                  <a:noFill/>
                </a:ln>
                <a:solidFill>
                  <a:srgbClr val="F4981C">
                    <a:lumMod val="50000"/>
                  </a:srgbClr>
                </a:solidFill>
                <a:effectLst/>
                <a:uLnTx/>
                <a:uFillTx/>
                <a:latin typeface="Arial"/>
                <a:ea typeface="+mn-ea"/>
                <a:cs typeface="Times New Roman" panose="02020603050405020304" pitchFamily="18" charset="0"/>
              </a:rPr>
              <a:t>.</a:t>
            </a:r>
            <a:endParaRPr kumimoji="0" lang="en-SG"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8190477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29</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txBox="1">
            <a:spLocks/>
          </p:cNvSpPr>
          <p:nvPr/>
        </p:nvSpPr>
        <p:spPr bwMode="auto">
          <a:xfrm>
            <a:off x="1016001" y="354778"/>
            <a:ext cx="8110689" cy="69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ctr" rtl="0" eaLnBrk="0" fontAlgn="base" hangingPunct="0">
              <a:spcBef>
                <a:spcPct val="0"/>
              </a:spcBef>
              <a:spcAft>
                <a:spcPct val="0"/>
              </a:spcAft>
              <a:defRPr sz="4400" b="1" kern="1200">
                <a:solidFill>
                  <a:srgbClr val="D1930F"/>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a:lstStyle>
          <a:p>
            <a:pPr marL="0" marR="0" lvl="0" indent="0" algn="l" defTabSz="1219170" rtl="0" eaLnBrk="1" fontAlgn="base" latinLnBrk="0" hangingPunct="1">
              <a:lnSpc>
                <a:spcPct val="100000"/>
              </a:lnSpc>
              <a:spcBef>
                <a:spcPct val="0"/>
              </a:spcBef>
              <a:spcAft>
                <a:spcPct val="0"/>
              </a:spcAft>
              <a:buClr>
                <a:srgbClr val="000000"/>
              </a:buClr>
              <a:buSzTx/>
              <a:buFontTx/>
              <a:buNone/>
              <a:tabLst/>
              <a:defRPr/>
            </a:pP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3.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Chương</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trình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đánh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giá</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ATCL</a:t>
            </a:r>
          </a:p>
        </p:txBody>
      </p:sp>
      <p:sp>
        <p:nvSpPr>
          <p:cNvPr id="8" name="TextBox 7">
            <a:extLst>
              <a:ext uri="{FF2B5EF4-FFF2-40B4-BE49-F238E27FC236}">
                <a16:creationId xmlns:a16="http://schemas.microsoft.com/office/drawing/2014/main" id="{6B0B1C0E-A6D2-430E-B998-576FFBFC494D}"/>
              </a:ext>
            </a:extLst>
          </p:cNvPr>
          <p:cNvSpPr txBox="1"/>
          <p:nvPr/>
        </p:nvSpPr>
        <p:spPr>
          <a:xfrm>
            <a:off x="1430250" y="1168134"/>
            <a:ext cx="10080468" cy="461665"/>
          </a:xfrm>
          <a:prstGeom prst="rect">
            <a:avLst/>
          </a:prstGeom>
          <a:noFill/>
        </p:spPr>
        <p:txBody>
          <a:bodyPr wrap="square" rtlCol="0">
            <a:spAutoFit/>
          </a:bodyPr>
          <a:lstStyle/>
          <a:p>
            <a:pPr marL="0" marR="0" lvl="0" indent="0" algn="just" defTabSz="1219170" rtl="0" eaLnBrk="1" fontAlgn="auto" latinLnBrk="0" hangingPunct="1">
              <a:lnSpc>
                <a:spcPct val="100000"/>
              </a:lnSpc>
              <a:spcBef>
                <a:spcPts val="800"/>
              </a:spcBef>
              <a:spcAft>
                <a:spcPts val="800"/>
              </a:spcAft>
              <a:buClr>
                <a:srgbClr val="000000"/>
              </a:buClr>
              <a:buSzTx/>
              <a:buFontTx/>
              <a:buNone/>
              <a:tabLst/>
              <a:defRPr/>
            </a:pPr>
            <a:r>
              <a:rPr kumimoji="0" lang="en-US" sz="24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3.4. </a:t>
            </a:r>
            <a:r>
              <a:rPr kumimoji="0" lang="en-US" altLang="en-US" sz="24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Báo cáo Quản lý rủi ro an toàn: </a:t>
            </a:r>
          </a:p>
        </p:txBody>
      </p:sp>
      <p:sp>
        <p:nvSpPr>
          <p:cNvPr id="9" name="Rectangle 8">
            <a:extLst>
              <a:ext uri="{FF2B5EF4-FFF2-40B4-BE49-F238E27FC236}">
                <a16:creationId xmlns:a16="http://schemas.microsoft.com/office/drawing/2014/main" id="{2C3565C8-5466-4F30-96A9-51997BB1A8C4}"/>
              </a:ext>
            </a:extLst>
          </p:cNvPr>
          <p:cNvSpPr/>
          <p:nvPr/>
        </p:nvSpPr>
        <p:spPr>
          <a:xfrm>
            <a:off x="1016001" y="1748199"/>
            <a:ext cx="10494717" cy="5066002"/>
          </a:xfrm>
          <a:prstGeom prst="rect">
            <a:avLst/>
          </a:prstGeom>
        </p:spPr>
        <p:txBody>
          <a:bodyPr wrap="square">
            <a:spAutoFit/>
          </a:bodyPr>
          <a:lstStyle/>
          <a:p>
            <a:pPr marL="742950" marR="0" lvl="1" indent="-285750" algn="just" defTabSz="914400" rtl="0" eaLnBrk="1" fontAlgn="auto" latinLnBrk="0" hangingPunct="1">
              <a:lnSpc>
                <a:spcPct val="107000"/>
              </a:lnSpc>
              <a:spcBef>
                <a:spcPts val="600"/>
              </a:spcBef>
              <a:spcAft>
                <a:spcPts val="0"/>
              </a:spcAft>
              <a:buClrTx/>
              <a:buSzTx/>
              <a:buFont typeface="Times New Roman" panose="02020603050405020304" pitchFamily="18" charset="0"/>
              <a:buChar char="-"/>
              <a:tabLst/>
              <a:defRPr/>
            </a:pP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Xử</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lý</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1" i="0" u="none" strike="noStrike" kern="1200" cap="none" spc="0" normalizeH="0" baseline="0" noProof="0" dirty="0" err="1">
                <a:ln>
                  <a:noFill/>
                </a:ln>
                <a:solidFill>
                  <a:srgbClr val="0070C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eReport</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Trong</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tháng</a:t>
            </a:r>
            <a:r>
              <a:rPr kumimoji="0" lang="en-US" sz="2000" b="0" i="0" u="none" strike="noStrike" kern="1200" cap="none" spc="0" normalizeH="0" baseline="0" noProof="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smtClean="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7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đã</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tiếp</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nhận</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và</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xử</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lý</a:t>
            </a:r>
            <a:r>
              <a:rPr kumimoji="0" lang="en-US" sz="2000" b="0" i="0" u="none" strike="noStrike" kern="1200" cap="none" spc="0" normalizeH="0" baseline="0" noProof="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1" i="0" u="none" strike="noStrike" kern="1200" cap="none" spc="0" normalizeH="0" baseline="0" noProof="0" smtClean="0">
                <a:ln>
                  <a:noFill/>
                </a:ln>
                <a:solidFill>
                  <a:srgbClr val="FF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63 </a:t>
            </a:r>
            <a:r>
              <a:rPr kumimoji="0" lang="en-US" sz="2000" b="1" i="0" u="none" strike="noStrike" kern="1200" cap="none" spc="0" normalizeH="0" baseline="0" noProof="0" dirty="0" err="1">
                <a:ln>
                  <a:noFill/>
                </a:ln>
                <a:solidFill>
                  <a:srgbClr val="FF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eReport</a:t>
            </a:r>
            <a:r>
              <a:rPr kumimoji="0" 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và</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chấp</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nhận</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nhập</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vào</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CSDL </a:t>
            </a:r>
            <a:r>
              <a:rPr kumimoji="0" lang="en-US" sz="2000" b="1" i="0" u="none" strike="noStrike" kern="1200" cap="none" spc="0" normalizeH="0" baseline="0" noProof="0" smtClean="0">
                <a:ln>
                  <a:noFill/>
                </a:ln>
                <a:solidFill>
                  <a:srgbClr val="00B05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41 </a:t>
            </a:r>
            <a:r>
              <a:rPr kumimoji="0" lang="en-US" sz="2000" b="1" i="0" u="none" strike="noStrike" kern="1200" cap="none" spc="0" normalizeH="0" baseline="0" noProof="0" dirty="0" err="1">
                <a:ln>
                  <a:noFill/>
                </a:ln>
                <a:solidFill>
                  <a:srgbClr val="00B05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sự</a:t>
            </a:r>
            <a:r>
              <a:rPr kumimoji="0" lang="en-US" sz="2000" b="1" i="0" u="none" strike="noStrike" kern="1200" cap="none" spc="0" normalizeH="0" baseline="0" noProof="0" dirty="0">
                <a:ln>
                  <a:noFill/>
                </a:ln>
                <a:solidFill>
                  <a:srgbClr val="00B05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1" i="0" u="none" strike="noStrike" kern="1200" cap="none" spc="0" normalizeH="0" baseline="0" noProof="0" dirty="0" err="1">
                <a:ln>
                  <a:noFill/>
                </a:ln>
                <a:solidFill>
                  <a:srgbClr val="00B05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vụ</a:t>
            </a:r>
            <a:r>
              <a:rPr kumimoji="0" lang="en-US" sz="2000" b="1" i="0" u="none" strike="noStrike" kern="1200" cap="none" spc="0" normalizeH="0" baseline="0" noProof="0" dirty="0">
                <a:ln>
                  <a:noFill/>
                </a:ln>
                <a:solidFill>
                  <a:srgbClr val="00B05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Occurences</a:t>
            </a:r>
            <a:r>
              <a:rPr kumimoji="0" lang="en-US" sz="2000" b="0" i="0" u="none" strike="noStrike" kern="1200" cap="none" spc="0" normalizeH="0" baseline="0" noProof="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smtClean="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giảm 02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vụ</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và</a:t>
            </a:r>
            <a:r>
              <a:rPr kumimoji="0" lang="en-US" sz="2000" b="0" i="0" u="none" strike="noStrike" kern="1200" cap="none" spc="0" normalizeH="0" baseline="0" noProof="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smtClean="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01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eReport</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so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với</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tháng</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trước</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742950" marR="0" lvl="1" indent="-285750" algn="just" defTabSz="914400" rtl="0" eaLnBrk="1" fontAlgn="auto" latinLnBrk="0" hangingPunct="1">
              <a:lnSpc>
                <a:spcPct val="107000"/>
              </a:lnSpc>
              <a:spcBef>
                <a:spcPts val="600"/>
              </a:spcBef>
              <a:spcAft>
                <a:spcPts val="0"/>
              </a:spcAft>
              <a:buClrTx/>
              <a:buSzTx/>
              <a:buFont typeface="Times New Roman" panose="02020603050405020304" pitchFamily="18" charset="0"/>
              <a:buChar char="-"/>
              <a:tabLst/>
              <a:defRPr/>
            </a:pP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Trong</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tháng</a:t>
            </a:r>
            <a:r>
              <a:rPr kumimoji="0" lang="en-US" sz="2000" b="0" i="0" u="none" strike="noStrike" kern="1200" cap="none" spc="0" normalizeH="0" baseline="0" noProof="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smtClean="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07/2025</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khối</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Kỹ</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thuật</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đã</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khai</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báo</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1143000" marR="0" lvl="2" indent="-228600" algn="just" defTabSz="914400" rtl="0" eaLnBrk="1" fontAlgn="auto" latinLnBrk="0" hangingPunct="1">
              <a:lnSpc>
                <a:spcPct val="107000"/>
              </a:lnSpc>
              <a:spcBef>
                <a:spcPts val="600"/>
              </a:spcBef>
              <a:spcAft>
                <a:spcPts val="0"/>
              </a:spcAft>
              <a:buClrTx/>
              <a:buSzTx/>
              <a:buFont typeface="Wingdings" panose="05000000000000000000" pitchFamily="2" charset="2"/>
              <a:buChar char=""/>
              <a:tabLst>
                <a:tab pos="360680" algn="l"/>
                <a:tab pos="630555" algn="l"/>
                <a:tab pos="810260" algn="l"/>
              </a:tabLst>
              <a:defRPr/>
            </a:pP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Tổng</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số</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Risk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khai</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báo</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mới</a:t>
            </a:r>
            <a:r>
              <a:rPr kumimoji="0" lang="en-US" sz="2000" b="0" i="0" u="none" strike="noStrike" kern="1200" cap="none" spc="0" normalizeH="0" baseline="0" noProof="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1" i="0" u="none" strike="noStrike" kern="1200" cap="none" spc="0" normalizeH="0" baseline="0" noProof="0" smtClean="0">
                <a:ln>
                  <a:noFill/>
                </a:ln>
                <a:solidFill>
                  <a:srgbClr val="0070C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01 </a:t>
            </a:r>
            <a:r>
              <a:rPr kumimoji="0" lang="en-US" sz="2000" b="1" i="0" u="none" strike="noStrike" kern="1200" cap="none" spc="0" normalizeH="0" baseline="0" noProof="0" dirty="0">
                <a:ln>
                  <a:noFill/>
                </a:ln>
                <a:solidFill>
                  <a:srgbClr val="0070C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Risk</a:t>
            </a:r>
            <a:endParaRPr kumimoji="0" lang="en-US" sz="2000" b="1"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gn="just" defTabSz="914400" rtl="0" eaLnBrk="1" fontAlgn="auto" latinLnBrk="0" hangingPunct="1">
              <a:lnSpc>
                <a:spcPct val="107000"/>
              </a:lnSpc>
              <a:spcBef>
                <a:spcPts val="600"/>
              </a:spcBef>
              <a:spcAft>
                <a:spcPts val="0"/>
              </a:spcAft>
              <a:buClrTx/>
              <a:buSzTx/>
              <a:buFont typeface="Wingdings" panose="05000000000000000000" pitchFamily="2" charset="2"/>
              <a:buChar char=""/>
              <a:tabLst>
                <a:tab pos="360680" algn="l"/>
                <a:tab pos="630555" algn="l"/>
                <a:tab pos="810260" algn="l"/>
              </a:tabLst>
              <a:defRPr/>
            </a:pP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Tổng</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số</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Hazard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khai</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báo</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mới</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Không</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có</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gn="just" defTabSz="914400" rtl="0" eaLnBrk="1" fontAlgn="auto" latinLnBrk="0" hangingPunct="1">
              <a:lnSpc>
                <a:spcPct val="107000"/>
              </a:lnSpc>
              <a:spcBef>
                <a:spcPts val="600"/>
              </a:spcBef>
              <a:spcAft>
                <a:spcPts val="0"/>
              </a:spcAft>
              <a:buClrTx/>
              <a:buSzTx/>
              <a:buFont typeface="Wingdings" panose="05000000000000000000" pitchFamily="2" charset="2"/>
              <a:buChar char=""/>
              <a:tabLst>
                <a:tab pos="360680" algn="l"/>
                <a:tab pos="630555" algn="l"/>
                <a:tab pos="810260" algn="l"/>
              </a:tabLst>
              <a:defRPr/>
            </a:pP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Tổng</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số</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Risk review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Quản</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lý</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sự</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thay</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đổi</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600200" marR="0" lvl="3" indent="-228600" algn="just" defTabSz="914400" rtl="0" eaLnBrk="1" fontAlgn="auto" latinLnBrk="0" hangingPunct="1">
              <a:lnSpc>
                <a:spcPct val="107000"/>
              </a:lnSpc>
              <a:spcBef>
                <a:spcPts val="600"/>
              </a:spcBef>
              <a:spcAft>
                <a:spcPts val="0"/>
              </a:spcAft>
              <a:buClrTx/>
              <a:buSzTx/>
              <a:buFont typeface="Times New Roman" panose="02020603050405020304" pitchFamily="18" charset="0"/>
              <a:buChar char="-"/>
              <a:tabLst>
                <a:tab pos="360680" algn="l"/>
                <a:tab pos="630555" algn="l"/>
                <a:tab pos="810260" algn="l"/>
              </a:tabLst>
              <a:defRPr/>
            </a:pP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Không</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có</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mở</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mới</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trên</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AQD.</a:t>
            </a:r>
            <a:endPar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1143000" marR="0" lvl="2" indent="-228600" algn="just" defTabSz="914400" rtl="0" eaLnBrk="1" fontAlgn="auto" latinLnBrk="0" hangingPunct="1">
              <a:lnSpc>
                <a:spcPct val="107000"/>
              </a:lnSpc>
              <a:spcBef>
                <a:spcPts val="600"/>
              </a:spcBef>
              <a:spcAft>
                <a:spcPts val="0"/>
              </a:spcAft>
              <a:buClrTx/>
              <a:buSzTx/>
              <a:buFont typeface="Wingdings" panose="05000000000000000000" pitchFamily="2" charset="2"/>
              <a:buChar char=""/>
              <a:tabLst>
                <a:tab pos="360680" algn="l"/>
                <a:tab pos="630555" algn="l"/>
                <a:tab pos="810260" algn="l"/>
              </a:tabLst>
              <a:defRPr/>
            </a:pPr>
            <a:r>
              <a:rPr kumimoji="0" lang="en-US" sz="2000" b="0" i="0" u="none" strike="noStrike" kern="1200" cap="none" spc="0" normalizeH="0" baseline="0" noProof="0" smtClean="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Nhân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xét</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1" i="0" u="none" strike="noStrike" kern="1200" cap="none" spc="0" normalizeH="0" baseline="0" noProof="0" dirty="0" err="1">
                <a:ln>
                  <a:noFill/>
                </a:ln>
                <a:solidFill>
                  <a:srgbClr val="FF99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chất</a:t>
            </a:r>
            <a:r>
              <a:rPr kumimoji="0" lang="en-US" sz="2000" b="1" i="0" u="none" strike="noStrike" kern="1200" cap="none" spc="0" normalizeH="0" baseline="0" noProof="0" dirty="0">
                <a:ln>
                  <a:noFill/>
                </a:ln>
                <a:solidFill>
                  <a:srgbClr val="FF99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1" i="0" u="none" strike="noStrike" kern="1200" cap="none" spc="0" normalizeH="0" baseline="0" noProof="0" dirty="0" err="1">
                <a:ln>
                  <a:noFill/>
                </a:ln>
                <a:solidFill>
                  <a:srgbClr val="FF99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lượng</a:t>
            </a:r>
            <a:r>
              <a:rPr kumimoji="0" lang="en-US" sz="2000" b="1" i="0" u="none" strike="noStrike" kern="1200" cap="none" spc="0" normalizeH="0" baseline="0" noProof="0" dirty="0">
                <a:ln>
                  <a:noFill/>
                </a:ln>
                <a:solidFill>
                  <a:srgbClr val="FF99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1" i="0" u="none" strike="noStrike" kern="1200" cap="none" spc="0" normalizeH="0" baseline="0" noProof="0" dirty="0" err="1">
                <a:ln>
                  <a:noFill/>
                </a:ln>
                <a:solidFill>
                  <a:srgbClr val="FF99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khai</a:t>
            </a:r>
            <a:r>
              <a:rPr kumimoji="0" lang="en-US" sz="2000" b="1" i="0" u="none" strike="noStrike" kern="1200" cap="none" spc="0" normalizeH="0" baseline="0" noProof="0" dirty="0">
                <a:ln>
                  <a:noFill/>
                </a:ln>
                <a:solidFill>
                  <a:srgbClr val="FF99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1" i="0" u="none" strike="noStrike" kern="1200" cap="none" spc="0" normalizeH="0" baseline="0" noProof="0" dirty="0" err="1">
                <a:ln>
                  <a:noFill/>
                </a:ln>
                <a:solidFill>
                  <a:srgbClr val="FF99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báo</a:t>
            </a:r>
            <a:r>
              <a:rPr kumimoji="0" lang="en-US" sz="2000" b="1" i="0" u="none" strike="noStrike" kern="1200" cap="none" spc="0" normalizeH="0" baseline="0" noProof="0" dirty="0">
                <a:ln>
                  <a:noFill/>
                </a:ln>
                <a:solidFill>
                  <a:srgbClr val="FF99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trên</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AQD</a:t>
            </a:r>
            <a:r>
              <a:rPr kumimoji="0" lang="en-US" sz="2000" b="0" i="0" u="none" strike="noStrike" kern="1200" cap="none" spc="0" normalizeH="0" baseline="0" noProof="0" smtClean="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t>
            </a:r>
          </a:p>
          <a:p>
            <a:pPr marL="1439863" marR="0" lvl="2" indent="-271463" algn="just" defTabSz="914400" rtl="0" eaLnBrk="1" fontAlgn="auto" latinLnBrk="0" hangingPunct="1">
              <a:lnSpc>
                <a:spcPct val="107000"/>
              </a:lnSpc>
              <a:spcBef>
                <a:spcPts val="600"/>
              </a:spcBef>
              <a:spcAft>
                <a:spcPts val="0"/>
              </a:spcAft>
              <a:buClrTx/>
              <a:buSzTx/>
              <a:buFont typeface="Arial" panose="020B0604020202020204" pitchFamily="34" charset="0"/>
              <a:buChar char="•"/>
              <a:tabLst>
                <a:tab pos="360363" algn="l"/>
                <a:tab pos="719138" algn="l"/>
                <a:tab pos="1346200" algn="l"/>
              </a:tabLst>
              <a:defRPr/>
            </a:pPr>
            <a:r>
              <a:rPr kumimoji="0" lang="en-US" sz="2000" b="0" i="0" u="none" strike="noStrike" kern="1200" cap="none" spc="0" normalizeH="0" baseline="0" noProof="0" smtClean="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Vẫn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chưa</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được</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cập</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nhật</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đầy</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đủ</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các</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trường</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thông</a:t>
            </a:r>
            <a:r>
              <a:rPr kumimoji="0" lang="en-US" sz="2000" b="0" i="0" u="none" strike="noStrike" kern="1200" cap="none" spc="0" normalizeH="0" baseline="0" noProof="0" dirty="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tin </a:t>
            </a:r>
            <a:r>
              <a:rPr kumimoji="0" lang="en-US" sz="2000" b="0" i="0" u="none" strike="noStrike" kern="1200" cap="none" spc="0" normalizeH="0" baseline="0" noProof="0" err="1">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trên</a:t>
            </a:r>
            <a:r>
              <a:rPr kumimoji="0" lang="en-US" sz="2000" b="0" i="0" u="none" strike="noStrike" kern="1200" cap="none" spc="0" normalizeH="0" baseline="0" noProof="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smtClean="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AQD;</a:t>
            </a:r>
          </a:p>
          <a:p>
            <a:pPr marL="1439863" marR="0" lvl="2" indent="-271463" algn="just" defTabSz="914400" rtl="0" eaLnBrk="1" fontAlgn="auto" latinLnBrk="0" hangingPunct="1">
              <a:lnSpc>
                <a:spcPct val="107000"/>
              </a:lnSpc>
              <a:spcBef>
                <a:spcPts val="600"/>
              </a:spcBef>
              <a:spcAft>
                <a:spcPts val="0"/>
              </a:spcAft>
              <a:buClrTx/>
              <a:buSzTx/>
              <a:buFont typeface="Arial" panose="020B0604020202020204" pitchFamily="34" charset="0"/>
              <a:buChar char="•"/>
              <a:tabLst>
                <a:tab pos="360363" algn="l"/>
                <a:tab pos="719138" algn="l"/>
                <a:tab pos="1346200" algn="l"/>
              </a:tabLst>
              <a:defRPr/>
            </a:pPr>
            <a:r>
              <a:rPr kumimoji="0" lang="vi-VN" sz="2000" b="0" i="0" u="none" strike="noStrike" kern="1200" cap="none" spc="0" normalizeH="0" baseline="0" noProof="0" smtClean="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Các ĐV chưa Upload </a:t>
            </a:r>
            <a:r>
              <a:rPr kumimoji="0" lang="vi-VN" sz="2000" b="0" i="0" u="none" strike="noStrike" kern="1200" cap="none" spc="0" normalizeH="0" baseline="0" noProof="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bằng chứng, tài liệu tham chiếu (Ví dụ: Tham chiếu tài liệu, căn cứ khi triển khai các Risk/ Hazard/Action/Barrier). </a:t>
            </a:r>
            <a:endParaRPr kumimoji="0" lang="vi-VN" sz="2000" b="0" i="0" u="none" strike="noStrike" kern="1200" cap="none" spc="0" normalizeH="0" baseline="0" noProof="0" smtClean="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p>
            <a:pPr marL="1439863" marR="0" lvl="2" indent="-271463" algn="just" defTabSz="914400" rtl="0" eaLnBrk="1" fontAlgn="auto" latinLnBrk="0" hangingPunct="1">
              <a:lnSpc>
                <a:spcPct val="107000"/>
              </a:lnSpc>
              <a:spcBef>
                <a:spcPts val="600"/>
              </a:spcBef>
              <a:spcAft>
                <a:spcPts val="0"/>
              </a:spcAft>
              <a:buClrTx/>
              <a:buSzTx/>
              <a:buFont typeface="Arial" panose="020B0604020202020204" pitchFamily="34" charset="0"/>
              <a:buChar char="•"/>
              <a:tabLst>
                <a:tab pos="360363" algn="l"/>
                <a:tab pos="719138" algn="l"/>
                <a:tab pos="1346200" algn="l"/>
              </a:tabLst>
              <a:defRPr/>
            </a:pPr>
            <a:r>
              <a:rPr kumimoji="0" lang="vi-VN" sz="2000" b="0" i="0" u="none" strike="noStrike" kern="1200" cap="none" spc="0" normalizeH="0" baseline="0" noProof="0" smtClean="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Các </a:t>
            </a:r>
            <a:r>
              <a:rPr kumimoji="0" lang="vi-VN" sz="2000" b="0" i="0" u="none" strike="noStrike" kern="1200" cap="none" spc="0" normalizeH="0" baseline="0" noProof="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đơn vị chủ động nhận diện các risk/ Hazard và quản lý sự thay đổi liên quan đến đơn vị mình và cập nhật lên AQD để quản trị và theo dõi</a:t>
            </a:r>
            <a:r>
              <a:rPr kumimoji="0" lang="en-US" sz="2000" b="0" i="0" u="none" strike="noStrike" kern="1200" cap="none" spc="0" normalizeH="0" baseline="0" noProof="0" smtClean="0">
                <a:ln>
                  <a:noFill/>
                </a:ln>
                <a:solidFill>
                  <a:srgbClr val="21212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595320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30</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txBox="1">
            <a:spLocks/>
          </p:cNvSpPr>
          <p:nvPr/>
        </p:nvSpPr>
        <p:spPr bwMode="auto">
          <a:xfrm>
            <a:off x="1190445" y="501901"/>
            <a:ext cx="841114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ctr" rtl="0" eaLnBrk="0" fontAlgn="base" hangingPunct="0">
              <a:spcBef>
                <a:spcPct val="0"/>
              </a:spcBef>
              <a:spcAft>
                <a:spcPct val="0"/>
              </a:spcAft>
              <a:defRPr sz="4400" b="1" kern="1200">
                <a:solidFill>
                  <a:srgbClr val="D1930F"/>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a:lstStyle>
          <a:p>
            <a:pPr marL="0" marR="0" lvl="0" indent="0" algn="l" defTabSz="1219170" rtl="0" eaLnBrk="1" fontAlgn="base" latinLnBrk="0" hangingPunct="1">
              <a:lnSpc>
                <a:spcPct val="100000"/>
              </a:lnSpc>
              <a:spcBef>
                <a:spcPct val="0"/>
              </a:spcBef>
              <a:spcAft>
                <a:spcPct val="0"/>
              </a:spcAft>
              <a:buClr>
                <a:srgbClr val="000000"/>
              </a:buClr>
              <a:buSzTx/>
              <a:buFontTx/>
              <a:buNone/>
              <a:tabLst/>
              <a:defRPr/>
            </a:pP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4.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Rà</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soát</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thực</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hiện</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TBKL SAG2</a:t>
            </a:r>
            <a:endPar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endParaRPr>
          </a:p>
        </p:txBody>
      </p:sp>
      <p:sp>
        <p:nvSpPr>
          <p:cNvPr id="5" name="Content Placeholder 1">
            <a:extLst>
              <a:ext uri="{FF2B5EF4-FFF2-40B4-BE49-F238E27FC236}">
                <a16:creationId xmlns:a16="http://schemas.microsoft.com/office/drawing/2014/main" id="{A48FD03A-A3A2-400F-9862-F7429338E7A7}"/>
              </a:ext>
            </a:extLst>
          </p:cNvPr>
          <p:cNvSpPr txBox="1">
            <a:spLocks/>
          </p:cNvSpPr>
          <p:nvPr/>
        </p:nvSpPr>
        <p:spPr>
          <a:xfrm>
            <a:off x="1286468" y="1337631"/>
            <a:ext cx="10010143" cy="294342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4212" marR="0" lvl="0" indent="-342900" algn="just" defTabSz="914400" rtl="0" eaLnBrk="1" fontAlgn="auto" latinLnBrk="0" hangingPunct="1">
              <a:lnSpc>
                <a:spcPct val="120000"/>
              </a:lnSpc>
              <a:spcBef>
                <a:spcPts val="300"/>
              </a:spcBef>
              <a:spcAft>
                <a:spcPts val="0"/>
              </a:spcAft>
              <a:buClr>
                <a:srgbClr val="000000"/>
              </a:buClr>
              <a:buSzTx/>
              <a:buFont typeface="+mj-lt"/>
              <a:buAutoNum type="arabicPeriod"/>
              <a:tabLst/>
              <a:defRPr/>
            </a:pPr>
            <a:r>
              <a:rPr kumimoji="0" lang="en-US" sz="1800" b="1" i="0" u="none" strike="noStrike" kern="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sym typeface="Arial"/>
              </a:rPr>
              <a:t>SAG2-06/2025-01</a:t>
            </a:r>
            <a:r>
              <a:rPr kumimoji="0" lang="en-US" sz="1800" b="0"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US" sz="1800" b="0" i="0" u="none" strike="noStrike" kern="120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sym typeface="Arial"/>
              </a:rPr>
              <a:t>VAECO </a:t>
            </a:r>
            <a:r>
              <a:rPr kumimoji="0" lang="en-US" sz="18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nghiên cứu giải pháp hỗ trợ ĐTV công tác kiểm tra AN trước chuyến bay (áo phao, thiết bị khẩn nguy, </a:t>
            </a:r>
            <a:r>
              <a:rPr kumimoji="0" lang="en-US" sz="1800" b="0" i="0" u="none" strike="noStrike" kern="120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sym typeface="Arial"/>
              </a:rPr>
              <a:t>....): Công </a:t>
            </a:r>
            <a:r>
              <a:rPr kumimoji="0" lang="en-US" sz="18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tác kiểm tra AN áo phao, thiết bị khẩn nguy</a:t>
            </a:r>
            <a:r>
              <a:rPr kumimoji="0" lang="en-US" sz="1800" b="0" i="0" u="none" strike="noStrike" kern="120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sym typeface="Arial"/>
              </a:rPr>
              <a:t>, ... </a:t>
            </a:r>
            <a:r>
              <a:rPr kumimoji="0" lang="en-US" sz="18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trên cabin trước chuyến bay thuộc trách nhiệm của ĐTV, sau khi thực hiện kiểm tra AN, ĐTV có trách nhiệm kí xác nhận trên Ipad. Ngoài ra, hiện thời gian transit giữa mối chuyến bay ngắn (A320/A321 – 35’), NVKT của VAECO phải đảm bảo các vấn đề về kỹ thuật khác nên không thể bố trí để hỗ trợ ĐTV thực hiện nội dung nêu trên</a:t>
            </a:r>
            <a:r>
              <a:rPr kumimoji="0" lang="en-US" sz="1800" b="0" i="0" u="none" strike="noStrike" kern="120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sym typeface="Arial"/>
              </a:rPr>
              <a:t>. </a:t>
            </a:r>
          </a:p>
          <a:p>
            <a:pPr marL="684212" marR="0" lvl="0" indent="-342900" algn="just" defTabSz="914400" rtl="0" eaLnBrk="1" fontAlgn="auto" latinLnBrk="0" hangingPunct="1">
              <a:lnSpc>
                <a:spcPct val="120000"/>
              </a:lnSpc>
              <a:spcBef>
                <a:spcPts val="300"/>
              </a:spcBef>
              <a:spcAft>
                <a:spcPts val="0"/>
              </a:spcAft>
              <a:buClr>
                <a:srgbClr val="000000"/>
              </a:buClr>
              <a:buSzTx/>
              <a:buFont typeface="+mj-lt"/>
              <a:buAutoNum type="arabicPeriod"/>
              <a:tabLst/>
              <a:defRPr/>
            </a:pPr>
            <a:r>
              <a:rPr kumimoji="0" lang="en-US" sz="1800" b="1" i="0" u="none" strike="noStrike" kern="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sym typeface="Arial"/>
              </a:rPr>
              <a:t>SAG2-06/2025-01</a:t>
            </a:r>
            <a:r>
              <a:rPr kumimoji="0" lang="en-US" sz="1800" b="0"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US" sz="18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Liên quan đến công tác cập nhật </a:t>
            </a:r>
            <a:r>
              <a:rPr kumimoji="0" lang="en-US" sz="1800" b="0" i="0" u="none" strike="noStrike" kern="120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sym typeface="Arial"/>
              </a:rPr>
              <a:t>AMOS, </a:t>
            </a:r>
            <a:r>
              <a:rPr kumimoji="0" lang="en-US" sz="18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VAECO rà soát, quán triệt cán bộ nhân viên liên quan đến việc cập nhật thông tin đúng, đủ và kịp thời, không làm ảnh hưởng đến khả phi của các tàu bay:</a:t>
            </a:r>
          </a:p>
          <a:p>
            <a:pPr marL="1084262" marR="0" lvl="1" indent="-285750" algn="just" defTabSz="914400" rtl="0" eaLnBrk="1" fontAlgn="auto" latinLnBrk="0" hangingPunct="1">
              <a:lnSpc>
                <a:spcPct val="120000"/>
              </a:lnSpc>
              <a:spcBef>
                <a:spcPts val="300"/>
              </a:spcBef>
              <a:spcAft>
                <a:spcPts val="0"/>
              </a:spcAft>
              <a:buClr>
                <a:srgbClr val="000000"/>
              </a:buClr>
              <a:buSzTx/>
              <a:buFont typeface="Wingdings" panose="05000000000000000000" pitchFamily="2" charset="2"/>
              <a:buChar char="Ø"/>
              <a:tabLst/>
              <a:defRPr/>
            </a:pPr>
            <a:r>
              <a:rPr kumimoji="0" lang="en-US" sz="18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Tổ ACC đang thực hiện rà soát, đồng nhất dữ liệu</a:t>
            </a:r>
          </a:p>
          <a:p>
            <a:pPr marL="1084262" marR="0" lvl="1" indent="-285750" algn="just" defTabSz="914400" rtl="0" eaLnBrk="1" fontAlgn="auto" latinLnBrk="0" hangingPunct="1">
              <a:lnSpc>
                <a:spcPct val="120000"/>
              </a:lnSpc>
              <a:spcBef>
                <a:spcPts val="300"/>
              </a:spcBef>
              <a:spcAft>
                <a:spcPts val="0"/>
              </a:spcAft>
              <a:buClr>
                <a:srgbClr val="000000"/>
              </a:buClr>
              <a:buSzTx/>
              <a:buFont typeface="Wingdings" panose="05000000000000000000" pitchFamily="2" charset="2"/>
              <a:buChar char="Ø"/>
              <a:tabLst/>
              <a:defRPr/>
            </a:pPr>
            <a:r>
              <a:rPr kumimoji="0" lang="en-US" sz="18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VAECO đã phổ biến, quán triệt và </a:t>
            </a:r>
            <a:r>
              <a:rPr kumimoji="0" lang="en-US" sz="1800" b="0" i="0" u="none" strike="noStrike" kern="120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sym typeface="Arial"/>
              </a:rPr>
              <a:t>tăng </a:t>
            </a:r>
            <a:r>
              <a:rPr kumimoji="0" lang="en-US" sz="18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cường giám sát việc ghi chép HSBD. </a:t>
            </a:r>
          </a:p>
        </p:txBody>
      </p:sp>
    </p:spTree>
    <p:extLst>
      <p:ext uri="{BB962C8B-B14F-4D97-AF65-F5344CB8AC3E}">
        <p14:creationId xmlns:p14="http://schemas.microsoft.com/office/powerpoint/2010/main" val="29970122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31</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6" name="Title 1"/>
          <p:cNvSpPr>
            <a:spLocks noGrp="1"/>
          </p:cNvSpPr>
          <p:nvPr>
            <p:ph type="title"/>
          </p:nvPr>
        </p:nvSpPr>
        <p:spPr>
          <a:xfrm>
            <a:off x="1318846" y="329017"/>
            <a:ext cx="9759821" cy="658791"/>
          </a:xfrm>
        </p:spPr>
        <p:txBody>
          <a:bodyPr>
            <a:noAutofit/>
          </a:bodyPr>
          <a:lstStyle/>
          <a:p>
            <a:r>
              <a:rPr lang="en-US" altLang="en-US" sz="3200" dirty="0">
                <a:solidFill>
                  <a:schemeClr val="accent1"/>
                </a:solidFill>
                <a:latin typeface="Times New Roman" panose="02020603050405020304" pitchFamily="18" charset="0"/>
                <a:cs typeface="Times New Roman" panose="02020603050405020304" pitchFamily="18" charset="0"/>
              </a:rPr>
              <a:t>5. </a:t>
            </a:r>
            <a:r>
              <a:rPr lang="en-US" altLang="en-US" sz="3200" err="1">
                <a:solidFill>
                  <a:schemeClr val="accent1"/>
                </a:solidFill>
                <a:latin typeface="Times New Roman" panose="02020603050405020304" pitchFamily="18" charset="0"/>
                <a:cs typeface="Times New Roman" panose="02020603050405020304" pitchFamily="18" charset="0"/>
              </a:rPr>
              <a:t>Đề</a:t>
            </a:r>
            <a:r>
              <a:rPr lang="en-US" altLang="en-US" sz="3200">
                <a:solidFill>
                  <a:schemeClr val="accent1"/>
                </a:solidFill>
                <a:latin typeface="Times New Roman" panose="02020603050405020304" pitchFamily="18" charset="0"/>
                <a:cs typeface="Times New Roman" panose="02020603050405020304" pitchFamily="18" charset="0"/>
              </a:rPr>
              <a:t> </a:t>
            </a:r>
            <a:r>
              <a:rPr lang="en-US" altLang="en-US" sz="3200" smtClean="0">
                <a:solidFill>
                  <a:schemeClr val="accent1"/>
                </a:solidFill>
                <a:latin typeface="Times New Roman" panose="02020603050405020304" pitchFamily="18" charset="0"/>
                <a:cs typeface="Times New Roman" panose="02020603050405020304" pitchFamily="18" charset="0"/>
              </a:rPr>
              <a:t>xuất</a:t>
            </a:r>
            <a:r>
              <a:rPr lang="en-US" altLang="en-US" sz="3200" dirty="0">
                <a:solidFill>
                  <a:schemeClr val="accent1"/>
                </a:solidFill>
                <a:latin typeface="Times New Roman" panose="02020603050405020304" pitchFamily="18" charset="0"/>
                <a:cs typeface="Times New Roman" panose="02020603050405020304" pitchFamily="18" charset="0"/>
              </a:rPr>
              <a:t>, </a:t>
            </a:r>
            <a:r>
              <a:rPr lang="en-US" altLang="en-US" sz="3200" dirty="0" err="1">
                <a:solidFill>
                  <a:schemeClr val="accent1"/>
                </a:solidFill>
                <a:latin typeface="Times New Roman" panose="02020603050405020304" pitchFamily="18" charset="0"/>
                <a:cs typeface="Times New Roman" panose="02020603050405020304" pitchFamily="18" charset="0"/>
              </a:rPr>
              <a:t>kiến</a:t>
            </a:r>
            <a:r>
              <a:rPr lang="en-US" altLang="en-US" sz="3200" dirty="0">
                <a:solidFill>
                  <a:schemeClr val="accent1"/>
                </a:solidFill>
                <a:latin typeface="Times New Roman" panose="02020603050405020304" pitchFamily="18" charset="0"/>
                <a:cs typeface="Times New Roman" panose="02020603050405020304" pitchFamily="18" charset="0"/>
              </a:rPr>
              <a:t> </a:t>
            </a:r>
            <a:r>
              <a:rPr lang="en-US" altLang="en-US" sz="3200" err="1">
                <a:solidFill>
                  <a:schemeClr val="accent1"/>
                </a:solidFill>
                <a:latin typeface="Times New Roman" panose="02020603050405020304" pitchFamily="18" charset="0"/>
                <a:cs typeface="Times New Roman" panose="02020603050405020304" pitchFamily="18" charset="0"/>
              </a:rPr>
              <a:t>nghị</a:t>
            </a:r>
            <a:r>
              <a:rPr lang="en-US" altLang="en-US" sz="3200" smtClean="0">
                <a:solidFill>
                  <a:schemeClr val="accent1"/>
                </a:solidFill>
                <a:latin typeface="Times New Roman" panose="02020603050405020304" pitchFamily="18" charset="0"/>
                <a:cs typeface="Times New Roman" panose="02020603050405020304" pitchFamily="18" charset="0"/>
              </a:rPr>
              <a:t>:</a:t>
            </a:r>
            <a:endParaRPr lang="en-US" sz="1600" b="0" dirty="0">
              <a:ln w="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Rectangle 4"/>
          <p:cNvSpPr/>
          <p:nvPr/>
        </p:nvSpPr>
        <p:spPr>
          <a:xfrm>
            <a:off x="1318846" y="1097745"/>
            <a:ext cx="10199077" cy="5930854"/>
          </a:xfrm>
          <a:prstGeom prst="rect">
            <a:avLst/>
          </a:prstGeom>
        </p:spPr>
        <p:txBody>
          <a:bodyPr wrap="square">
            <a:spAutoFit/>
          </a:bodyPr>
          <a:lstStyle/>
          <a:p>
            <a:pPr marL="342900" marR="0" lvl="0" indent="-342900" algn="just" defTabSz="914400" rtl="0" eaLnBrk="1" fontAlgn="auto" latinLnBrk="0" hangingPunct="1">
              <a:lnSpc>
                <a:spcPct val="120000"/>
              </a:lnSpc>
              <a:spcBef>
                <a:spcPts val="0"/>
              </a:spcBef>
              <a:spcAft>
                <a:spcPts val="0"/>
              </a:spcAft>
              <a:buClrTx/>
              <a:buSzTx/>
              <a:buFont typeface="+mj-lt"/>
              <a:buAutoNum type="arabicPeriod"/>
              <a:tabLst/>
              <a:defRPr/>
            </a:pPr>
            <a:r>
              <a:rPr kumimoji="0" lang="en-US" sz="1450" b="0" i="0" u="none" strike="noStrike" kern="1200" cap="none" spc="0" normalizeH="0" baseline="0" noProof="0">
                <a:ln w="0"/>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Từ thực tế bị mất Techlog, VAECO đề nghị VNA ban hành quy trình hướng dẫn cho việc tái tạo lại </a:t>
            </a:r>
            <a:r>
              <a:rPr kumimoji="0" lang="en-US" sz="1450" b="0" i="0" u="none" strike="noStrike" kern="1200" cap="none" spc="0" normalizeH="0" baseline="0" noProof="0" smtClean="0">
                <a:ln w="0"/>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Techlog (</a:t>
            </a:r>
            <a:r>
              <a:rPr kumimoji="0" lang="en-US" sz="1450" b="0" i="0" u="none" strike="noStrike" kern="1200" cap="none" spc="0" normalizeH="0" baseline="0" noProof="0">
                <a:ln w="0"/>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Nội dung này đã được VAECO nêu trong kỳ họp lần trước nhưng VNA chưa đưa ra được quy trình cụ thể</a:t>
            </a:r>
            <a:r>
              <a:rPr kumimoji="0" lang="en-US" sz="1450" b="0" i="0" u="none" strike="noStrike" kern="1200" cap="none" spc="0" normalizeH="0" baseline="0" noProof="0" smtClean="0">
                <a:ln w="0"/>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a:t>
            </a:r>
          </a:p>
          <a:p>
            <a:pPr marL="342900" marR="0" lvl="0" indent="-342900" algn="just" defTabSz="914400" rtl="0" eaLnBrk="1" fontAlgn="auto" latinLnBrk="0" hangingPunct="1">
              <a:lnSpc>
                <a:spcPct val="120000"/>
              </a:lnSpc>
              <a:spcBef>
                <a:spcPts val="0"/>
              </a:spcBef>
              <a:spcAft>
                <a:spcPts val="0"/>
              </a:spcAft>
              <a:buClrTx/>
              <a:buSzTx/>
              <a:buFont typeface="+mj-lt"/>
              <a:buAutoNum type="arabicPeriod"/>
              <a:tabLst/>
              <a:defRPr/>
            </a:pPr>
            <a:r>
              <a:rPr lang="en-US" sz="1450" smtClean="0">
                <a:ln w="0"/>
                <a:solidFill>
                  <a:srgbClr val="000000"/>
                </a:solidFill>
                <a:latin typeface="Times New Roman" panose="02020603050405020304" pitchFamily="18" charset="0"/>
                <a:ea typeface="Tahoma" panose="020B0604030504040204" pitchFamily="34" charset="0"/>
                <a:cs typeface="Times New Roman" panose="02020603050405020304" pitchFamily="18" charset="0"/>
              </a:rPr>
              <a:t>Các </a:t>
            </a:r>
            <a:r>
              <a:rPr lang="en-US" sz="1450">
                <a:ln w="0"/>
                <a:solidFill>
                  <a:srgbClr val="000000"/>
                </a:solidFill>
                <a:latin typeface="Times New Roman" panose="02020603050405020304" pitchFamily="18" charset="0"/>
                <a:ea typeface="Tahoma" panose="020B0604030504040204" pitchFamily="34" charset="0"/>
                <a:cs typeface="Times New Roman" panose="02020603050405020304" pitchFamily="18" charset="0"/>
              </a:rPr>
              <a:t>thông tin an toàn như HIRA, báo cáo tự nguyện được VAECO kiểm soát trên hệ thống của VAECO, theo quy trình và phê chuẩn riêng của VAECO. Các nội dung liên quan đến VNA vẫn đang được VAECO báo cáo/chia sẻ lên AQD. </a:t>
            </a:r>
          </a:p>
          <a:p>
            <a:pPr marL="800100" lvl="1" indent="-342900" algn="just">
              <a:lnSpc>
                <a:spcPct val="120000"/>
              </a:lnSpc>
              <a:buFont typeface="Wingdings" panose="05000000000000000000" pitchFamily="2" charset="2"/>
              <a:buChar char="Ø"/>
              <a:defRPr/>
            </a:pPr>
            <a:r>
              <a:rPr lang="en-US" sz="1450" smtClean="0">
                <a:ln w="0"/>
                <a:solidFill>
                  <a:srgbClr val="000000"/>
                </a:solidFill>
                <a:latin typeface="Times New Roman" panose="02020603050405020304" pitchFamily="18" charset="0"/>
                <a:ea typeface="Tahoma" panose="020B0604030504040204" pitchFamily="34" charset="0"/>
                <a:cs typeface="Times New Roman" panose="02020603050405020304" pitchFamily="18" charset="0"/>
              </a:rPr>
              <a:t>Đề </a:t>
            </a:r>
            <a:r>
              <a:rPr lang="en-US" sz="1450">
                <a:ln w="0"/>
                <a:solidFill>
                  <a:srgbClr val="000000"/>
                </a:solidFill>
                <a:latin typeface="Times New Roman" panose="02020603050405020304" pitchFamily="18" charset="0"/>
                <a:ea typeface="Tahoma" panose="020B0604030504040204" pitchFamily="34" charset="0"/>
                <a:cs typeface="Times New Roman" panose="02020603050405020304" pitchFamily="18" charset="0"/>
              </a:rPr>
              <a:t>nghị: VAECO sẽ không tiếp tục cập nhật các nội dung không liên quan đến VNA trên AQD.</a:t>
            </a:r>
          </a:p>
          <a:p>
            <a:pPr marL="800100" lvl="1" indent="-342900" algn="just">
              <a:lnSpc>
                <a:spcPct val="120000"/>
              </a:lnSpc>
              <a:buFont typeface="Wingdings" panose="05000000000000000000" pitchFamily="2" charset="2"/>
              <a:buChar char="Ø"/>
              <a:defRPr/>
            </a:pPr>
            <a:r>
              <a:rPr lang="en-US" sz="1450">
                <a:ln w="0"/>
                <a:solidFill>
                  <a:srgbClr val="000000"/>
                </a:solidFill>
                <a:latin typeface="Times New Roman" panose="02020603050405020304" pitchFamily="18" charset="0"/>
                <a:ea typeface="Tahoma" panose="020B0604030504040204" pitchFamily="34" charset="0"/>
                <a:cs typeface="Times New Roman" panose="02020603050405020304" pitchFamily="18" charset="0"/>
              </a:rPr>
              <a:t>Ngoài ra, hiện các nội dung như khuyến cáo SAFA, ngoài việc trả lời VNA theo công văn, VAECO vẫn phải trả lời trên AQD gây trùng lặp nội dung, lãng phí nguồn lực.</a:t>
            </a:r>
          </a:p>
          <a:p>
            <a:pPr marL="342900" marR="0" lvl="0" indent="-342900" algn="just" defTabSz="914400" rtl="0" eaLnBrk="1" fontAlgn="auto" latinLnBrk="0" hangingPunct="1">
              <a:lnSpc>
                <a:spcPct val="120000"/>
              </a:lnSpc>
              <a:spcBef>
                <a:spcPts val="0"/>
              </a:spcBef>
              <a:spcAft>
                <a:spcPts val="0"/>
              </a:spcAft>
              <a:buClrTx/>
              <a:buSzTx/>
              <a:buFont typeface="+mj-lt"/>
              <a:buAutoNum type="arabicPeriod"/>
              <a:tabLst/>
              <a:defRPr/>
            </a:pPr>
            <a:r>
              <a:rPr kumimoji="0" lang="en-US" sz="1450" b="0" i="0" u="none" strike="noStrike" kern="1200" cap="none" spc="0" normalizeH="0" baseline="0" noProof="0" smtClean="0">
                <a:ln w="0"/>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Theo c</a:t>
            </a:r>
            <a:r>
              <a:rPr kumimoji="0" lang="vi-VN" sz="1450" b="0" i="0" u="none" strike="noStrike" kern="1200" cap="none" spc="0" normalizeH="0" baseline="0" noProof="0" smtClean="0">
                <a:ln w="0"/>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ông văn số 614/TCTHKVN-DVHK ngày 19/6/2025 của Ban Dịch vụ hành khách – TCTHKVN về việc đánh giá, cung cấp thông tin phương án chuyển giao dịch vụ thông thoại, đặt/thu chèn, chóp an toàn cho công ty PVMĐ tại sân bay trong nước.</a:t>
            </a:r>
            <a:r>
              <a:rPr kumimoji="0" lang="en-US" sz="1450" b="0" i="0" u="none" strike="noStrike" kern="1200" cap="none" spc="0" normalizeH="0" baseline="0" noProof="0" smtClean="0">
                <a:ln w="0"/>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 Tuy nhiên, </a:t>
            </a:r>
            <a:r>
              <a:rPr kumimoji="0" lang="vi-VN" sz="1450" b="0" i="0" u="none" strike="noStrike" kern="1200" cap="none" spc="0" normalizeH="0" baseline="0" noProof="0" smtClean="0">
                <a:ln w="0"/>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theo các quy định hiện tại của VNA được mô tả tại các tài liệu MME, LMM, GOM hay AMS, VNA chưa phân định cụ thể các công việc nào được thực hiện bởi nhân viên ủy quyền (CRS A/B1/B2) hoặc nhân viên được thực hiện thông thoại/chèn/chóp khác. MME, LMM đang gọi chung là nhân viên mặt đất (Ground staff)</a:t>
            </a:r>
            <a:r>
              <a:rPr kumimoji="0" lang="en-US" sz="1450" b="0" i="0" u="none" strike="noStrike" kern="1200" cap="none" spc="0" normalizeH="0" baseline="0" noProof="0" smtClean="0">
                <a:ln w="0"/>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a:t>
            </a:r>
          </a:p>
          <a:p>
            <a:pPr marL="800100" marR="0" lvl="1" indent="-342900" algn="just"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r>
              <a:rPr lang="en-US" sz="1450">
                <a:ln w="0"/>
                <a:solidFill>
                  <a:srgbClr val="000000"/>
                </a:solidFill>
                <a:latin typeface="Times New Roman" panose="02020603050405020304" pitchFamily="18" charset="0"/>
                <a:ea typeface="Tahoma" panose="020B0604030504040204" pitchFamily="34" charset="0"/>
                <a:cs typeface="Times New Roman" panose="02020603050405020304" pitchFamily="18" charset="0"/>
              </a:rPr>
              <a:t>Đ</a:t>
            </a:r>
            <a:r>
              <a:rPr kumimoji="0" lang="en-US" sz="1450" b="0" i="0" u="none" strike="noStrike" kern="1200" cap="none" spc="0" normalizeH="0" baseline="0" noProof="0" smtClean="0">
                <a:ln w="0"/>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ề </a:t>
            </a:r>
            <a:r>
              <a:rPr kumimoji="0" lang="en-US" sz="1450" b="0" i="0" u="none" strike="noStrike" kern="1200" cap="none" spc="0" normalizeH="0" baseline="0" noProof="0">
                <a:ln w="0"/>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nghị</a:t>
            </a:r>
            <a:r>
              <a:rPr kumimoji="0" lang="vi-VN" sz="1450" b="0" i="0" u="none" strike="noStrike" kern="1200" cap="none" spc="0" normalizeH="0" baseline="0" noProof="0">
                <a:ln w="0"/>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 VNA phân định trách nhiệm cụ thể từng công việc phải thực hiện bởi nhân viên ủy quyền hoặc nhân viên được thực hiện thông thoại/chèn/chóp</a:t>
            </a:r>
            <a:r>
              <a:rPr kumimoji="0" lang="vi-VN" sz="1450" b="0" i="0" u="none" strike="noStrike" kern="1200" cap="none" spc="0" normalizeH="0" baseline="0" noProof="0" smtClean="0">
                <a:ln w="0"/>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a:t>
            </a:r>
            <a:r>
              <a:rPr kumimoji="0" lang="en-US" sz="1450" b="0" i="0" u="none" strike="noStrike" kern="1200" cap="none" spc="0" normalizeH="0" baseline="0" noProof="0" smtClean="0">
                <a:ln w="0"/>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 (</a:t>
            </a:r>
            <a:r>
              <a:rPr kumimoji="0" lang="vi-VN" sz="1450" b="0" i="0" u="none" strike="noStrike" kern="120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rPr>
              <a:t>V</a:t>
            </a:r>
            <a:r>
              <a:rPr kumimoji="0" lang="en-US" sz="1450" b="0" i="0" u="none" strike="noStrike" kern="120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rPr>
              <a:t>í dụ</a:t>
            </a:r>
            <a:r>
              <a:rPr kumimoji="0" lang="vi-VN" sz="1450" b="0" i="0" u="none" strike="noStrike" kern="120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vi-VN" sz="145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rPr>
              <a:t>Trong transit checklist (AMS A320/A321) có yêu cầu NVKT phải đảm bảo ko có foreign object tại vị trí bãi đậu trước khi tầu đến. Theo quy định của CHK, việc thực hiện transit checklist thuộc chức năng của NV ủy quyền; do đó, trước khi tầu đến, NV ủy quyền của VAECO bắt buộc phải có mặt để thực hiện công việc kiểm tra </a:t>
            </a:r>
            <a:r>
              <a:rPr kumimoji="0" lang="vi-VN" sz="1450" b="0" i="0" u="none" strike="noStrike" kern="120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rPr>
              <a:t>FOD</a:t>
            </a:r>
            <a:r>
              <a:rPr lang="en-US" sz="1450" smtClean="0">
                <a:ln w="0"/>
                <a:solidFill>
                  <a:srgbClr val="000000"/>
                </a:solidFill>
                <a:latin typeface="Times New Roman" panose="02020603050405020304" pitchFamily="18" charset="0"/>
                <a:ea typeface="Tahoma" panose="020B0604030504040204" pitchFamily="34" charset="0"/>
                <a:cs typeface="Times New Roman" panose="02020603050405020304" pitchFamily="18" charset="0"/>
              </a:rPr>
              <a:t>).</a:t>
            </a:r>
          </a:p>
          <a:p>
            <a:pPr marL="342900" indent="-342900">
              <a:lnSpc>
                <a:spcPct val="120000"/>
              </a:lnSpc>
              <a:buFont typeface="+mj-lt"/>
              <a:buAutoNum type="arabicPeriod"/>
            </a:pPr>
            <a:r>
              <a:rPr lang="vi-VN" sz="1450">
                <a:latin typeface="Times New Roman" panose="02020603050405020304" pitchFamily="18" charset="0"/>
                <a:cs typeface="Times New Roman" panose="02020603050405020304" pitchFamily="18" charset="0"/>
              </a:rPr>
              <a:t>VAECO tăng cường báo cáo AQD các vụ việc với tàu VASCO như với tàu VNA .</a:t>
            </a:r>
          </a:p>
          <a:p>
            <a:pPr marL="342900" indent="-342900">
              <a:lnSpc>
                <a:spcPct val="120000"/>
              </a:lnSpc>
              <a:buFont typeface="+mj-lt"/>
              <a:buAutoNum type="arabicPeriod"/>
            </a:pPr>
            <a:r>
              <a:rPr lang="vi-VN" sz="1450">
                <a:latin typeface="Times New Roman" panose="02020603050405020304" pitchFamily="18" charset="0"/>
                <a:cs typeface="Times New Roman" panose="02020603050405020304" pitchFamily="18" charset="0"/>
              </a:rPr>
              <a:t>SGNLINE và CN Nội thất xem xét và đề xuất, MCC đặt hàng các vật tư dự phòng tối thiểu cho </a:t>
            </a:r>
            <a:r>
              <a:rPr lang="vi-VN" sz="1450" smtClean="0">
                <a:latin typeface="Times New Roman" panose="02020603050405020304" pitchFamily="18" charset="0"/>
                <a:cs typeface="Times New Roman" panose="02020603050405020304" pitchFamily="18" charset="0"/>
              </a:rPr>
              <a:t>đội </a:t>
            </a:r>
            <a:r>
              <a:rPr lang="vi-VN" sz="1450">
                <a:latin typeface="Times New Roman" panose="02020603050405020304" pitchFamily="18" charset="0"/>
                <a:cs typeface="Times New Roman" panose="02020603050405020304" pitchFamily="18" charset="0"/>
              </a:rPr>
              <a:t>tàu AT.</a:t>
            </a:r>
          </a:p>
          <a:p>
            <a:pPr marL="342900" indent="-342900">
              <a:lnSpc>
                <a:spcPct val="120000"/>
              </a:lnSpc>
              <a:buFont typeface="+mj-lt"/>
              <a:buAutoNum type="arabicPeriod"/>
            </a:pPr>
            <a:r>
              <a:rPr lang="vi-VN" sz="1450">
                <a:latin typeface="Times New Roman" panose="02020603050405020304" pitchFamily="18" charset="0"/>
                <a:cs typeface="Times New Roman" panose="02020603050405020304" pitchFamily="18" charset="0"/>
              </a:rPr>
              <a:t>Đối với trường hợp động cơ tàu XU238 hết hạn LLP vào 5/9, chưa  có động cơ thay thế; đang dự kiến dừng B221 để swap nhưng chưa có slot kết hợp làm 8Y (AOG): Đề nghị xem xét thêm  phương án thuê động cơ cho XU238</a:t>
            </a:r>
            <a:r>
              <a:rPr lang="vi-VN" sz="1450" smtClean="0">
                <a:latin typeface="Times New Roman" panose="02020603050405020304" pitchFamily="18" charset="0"/>
                <a:cs typeface="Times New Roman" panose="02020603050405020304" pitchFamily="18" charset="0"/>
              </a:rPr>
              <a:t>.</a:t>
            </a:r>
            <a:endParaRPr kumimoji="0" lang="en-US" sz="1400" b="0" i="0" u="none" strike="noStrike" kern="1200" cap="none" spc="0" normalizeH="0" baseline="0" noProof="0" smtClean="0">
              <a:ln w="0"/>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5391129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877334" y="4061688"/>
            <a:ext cx="6795451" cy="707846"/>
          </a:xfrm>
          <a:prstGeom prst="rect">
            <a:avLst/>
          </a:prstGeom>
          <a:noFill/>
          <a:ln>
            <a:noFill/>
          </a:ln>
        </p:spPr>
        <p:txBody>
          <a:bodyPr spcFirstLastPara="1" wrap="square" lIns="91433" tIns="45700" rIns="91433" bIns="45700"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vi" sz="4000" b="1" i="1" u="none" strike="noStrike" kern="0" cap="none" spc="0" normalizeH="0" baseline="0" noProof="0">
                <a:ln>
                  <a:noFill/>
                </a:ln>
                <a:solidFill>
                  <a:srgbClr val="FFFFFF"/>
                </a:solidFill>
                <a:effectLst/>
                <a:uLnTx/>
                <a:uFillTx/>
                <a:latin typeface="Times New Roman" panose="02020603050405020304" pitchFamily="18" charset="0"/>
                <a:ea typeface="Montserrat SemiBold"/>
                <a:cs typeface="Times New Roman" panose="02020603050405020304" pitchFamily="18" charset="0"/>
                <a:sym typeface="Montserrat SemiBold"/>
              </a:rPr>
              <a:t>THANK </a:t>
            </a:r>
            <a:r>
              <a:rPr kumimoji="0" lang="vi" sz="4000" b="1" i="1" u="none" strike="noStrike" kern="0" cap="none" spc="0" normalizeH="0" baseline="0" noProof="0" smtClean="0">
                <a:ln>
                  <a:noFill/>
                </a:ln>
                <a:solidFill>
                  <a:srgbClr val="FFFFFF"/>
                </a:solidFill>
                <a:effectLst/>
                <a:uLnTx/>
                <a:uFillTx/>
                <a:latin typeface="Times New Roman" panose="02020603050405020304" pitchFamily="18" charset="0"/>
                <a:ea typeface="Montserrat SemiBold"/>
                <a:cs typeface="Times New Roman" panose="02020603050405020304" pitchFamily="18" charset="0"/>
                <a:sym typeface="Montserrat SemiBold"/>
              </a:rPr>
              <a:t>YOU</a:t>
            </a:r>
            <a:r>
              <a:rPr kumimoji="0" lang="en-US" sz="4000" b="1" i="1" u="none" strike="noStrike" kern="0" cap="none" spc="0" normalizeH="0" baseline="0" noProof="0" smtClean="0">
                <a:ln>
                  <a:noFill/>
                </a:ln>
                <a:solidFill>
                  <a:srgbClr val="FFFFFF"/>
                </a:solidFill>
                <a:effectLst/>
                <a:uLnTx/>
                <a:uFillTx/>
                <a:latin typeface="Times New Roman" panose="02020603050405020304" pitchFamily="18" charset="0"/>
                <a:ea typeface="Montserrat SemiBold"/>
                <a:cs typeface="Times New Roman" panose="02020603050405020304" pitchFamily="18" charset="0"/>
                <a:sym typeface="Montserrat SemiBold"/>
              </a:rPr>
              <a:t>!</a:t>
            </a:r>
            <a:endParaRPr kumimoji="0" sz="4000" b="1" i="1" u="none" strike="noStrike" kern="0" cap="none" spc="0" normalizeH="0" baseline="0" noProof="0">
              <a:ln>
                <a:noFill/>
              </a:ln>
              <a:solidFill>
                <a:srgbClr val="FFFFFF"/>
              </a:solidFill>
              <a:effectLst/>
              <a:uLnTx/>
              <a:uFillTx/>
              <a:latin typeface="Times New Roman" panose="02020603050405020304" pitchFamily="18" charset="0"/>
              <a:ea typeface="Montserrat SemiBold"/>
              <a:cs typeface="Times New Roman" panose="02020603050405020304" pitchFamily="18" charset="0"/>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32</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Tree>
    <p:extLst>
      <p:ext uri="{BB962C8B-B14F-4D97-AF65-F5344CB8AC3E}">
        <p14:creationId xmlns:p14="http://schemas.microsoft.com/office/powerpoint/2010/main" val="346835052"/>
      </p:ext>
    </p:extLst>
  </p:cSld>
  <p:clrMapOvr>
    <a:masterClrMapping/>
  </p:clrMapOvr>
</p:sld>
</file>

<file path=ppt/theme/theme1.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F4981C"/>
      </a:accent1>
      <a:accent2>
        <a:srgbClr val="212121"/>
      </a:accent2>
      <a:accent3>
        <a:srgbClr val="9CD6DF"/>
      </a:accent3>
      <a:accent4>
        <a:srgbClr val="FFBD0E"/>
      </a:accent4>
      <a:accent5>
        <a:srgbClr val="0097A7"/>
      </a:accent5>
      <a:accent6>
        <a:srgbClr val="DEA610"/>
      </a:accent6>
      <a:hlink>
        <a:srgbClr val="00688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0/xmlns/"/>
    <ds:schemaRef ds:uri="http://www.w3.org/2001/XMLSchema"/>
    <ds:schemaRef ds:uri="e189f61e-1295-4779-a752-040c7fad5177"/>
    <ds:schemaRef ds:uri="b6015720-aa74-4be3-ba0d-eab08776cb9b"/>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CE18D4A-261A-4850-B6EF-E8D1177C057C}">
  <ds:schemaRefs>
    <ds:schemaRef ds:uri="b6015720-aa74-4be3-ba0d-eab08776cb9b"/>
    <ds:schemaRef ds:uri="http://schemas.microsoft.com/office/infopath/2007/PartnerControls"/>
    <ds:schemaRef ds:uri="e189f61e-1295-4779-a752-040c7fad5177"/>
    <ds:schemaRef ds:uri="http://purl.org/dc/elements/1.1/"/>
    <ds:schemaRef ds:uri="http://schemas.microsoft.com/office/2006/documentManagement/types"/>
    <ds:schemaRef ds:uri="http://purl.org/dc/terms/"/>
    <ds:schemaRef ds:uri="http://www.w3.org/XML/1998/namespace"/>
    <ds:schemaRef ds:uri="http://schemas.microsoft.com/office/2006/metadata/properties"/>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3B911D9C-B9DB-42A8-B756-3CC928D5245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16-9 MASTER TEMPLATE</Template>
  <TotalTime>45575</TotalTime>
  <Words>6058</Words>
  <Application>Microsoft Office PowerPoint</Application>
  <PresentationFormat>Widescreen</PresentationFormat>
  <Paragraphs>942</Paragraphs>
  <Slides>33</Slides>
  <Notes>33</Notes>
  <HiddenSlides>7</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MS PGothic</vt:lpstr>
      <vt:lpstr>Arial</vt:lpstr>
      <vt:lpstr>Calibri</vt:lpstr>
      <vt:lpstr>Cambria</vt:lpstr>
      <vt:lpstr>Montserrat</vt:lpstr>
      <vt:lpstr>Montserrat SemiBold</vt:lpstr>
      <vt:lpstr>Tahoma</vt:lpstr>
      <vt:lpstr>Times New Roman</vt:lpstr>
      <vt:lpstr>Wingdings</vt:lpstr>
      <vt:lpstr>1_Simple Light</vt:lpstr>
      <vt:lpstr>BÁO CÁO QUẢN LÝ AN TOÀN THÁNG 07 NĂM 2025  (LĨNH VỰC KỸ THUẬT VÀ BẢO DƯỠNG TÀU BAY)                                                                                                                                                                                     Hà Nội, ngày 31 tháng 7 năm 2025 </vt:lpstr>
      <vt:lpstr>PowerPoint Presentation</vt:lpstr>
      <vt:lpstr>1. Tình hình sự cố, vụ việc an toàn (MOR M&amp;E) &amp; KPI</vt:lpstr>
      <vt:lpstr>1. Tình hình sự cố, vụ việc an toàn (MOR M&amp;E) &amp; KPI</vt:lpstr>
      <vt:lpstr>PowerPoint Presentation</vt:lpstr>
      <vt:lpstr>1. Tình hình sự cố, vụ việc an toàn (MOR M&amp;E) &amp; KPI</vt:lpstr>
      <vt:lpstr>PowerPoint Presentation</vt:lpstr>
      <vt:lpstr>1. Tình hình sự cố, vụ việc an toàn (MOR M&amp;E) &amp; KPI</vt:lpstr>
      <vt:lpstr>1. Tình hình sự cố, vụ việc an toàn (MOR M&amp;E) &amp; KPI</vt:lpstr>
      <vt:lpstr>1. Tình hình sự cố, vụ việc an toàn (MOR M&amp;E) &amp; KPI</vt:lpstr>
      <vt:lpstr>PowerPoint Presentation</vt:lpstr>
      <vt:lpstr>1. Tình hình sự cố, vụ việc an toàn (MOR M&amp;E) &amp; KPI</vt:lpstr>
      <vt:lpstr>1. Tình hình sự cố, vụ việc an toàn (MOR M&amp;E) &amp; KPI</vt:lpstr>
      <vt:lpstr>PowerPoint Presentation</vt:lpstr>
      <vt:lpstr>1. Tình hình sự cố, vụ việc an toàn (MOR M&amp;E) &amp; KPI</vt:lpstr>
      <vt:lpstr>1. Tình hình sự cố, vụ việc an toàn (MOR M&amp;E) &amp; KPI</vt:lpstr>
      <vt:lpstr>PowerPoint Presentation</vt:lpstr>
      <vt:lpstr>1. Tình hình sự cố, vụ việc an toàn (MOR M&amp;E) &amp; KPI</vt:lpstr>
      <vt:lpstr>1. Tình hình sự cố, vụ việc an toàn (MOR M&amp;E) &amp; KPI</vt:lpstr>
      <vt:lpstr>PowerPoint Presentation</vt:lpstr>
      <vt:lpstr>1. Tình hình sự cố, vụ việc an toàn (MOR M&amp;E) &amp; KPI</vt:lpstr>
      <vt:lpstr>PowerPoint Presentation</vt:lpstr>
      <vt:lpstr>1. Tình hình sự cố, vụ việc an toàn (MOR M&amp;E) &amp; KPI</vt:lpstr>
      <vt:lpstr>2. Các vụ việc an toàn khác tháng 7.2025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5. Đề xuất, kiến nghị:</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Van Nguyen</dc:creator>
  <cp:lastModifiedBy>Thang Nguyen Chien</cp:lastModifiedBy>
  <cp:revision>1609</cp:revision>
  <cp:lastPrinted>2019-10-17T05:58:57Z</cp:lastPrinted>
  <dcterms:created xsi:type="dcterms:W3CDTF">2018-12-27T04:50:36Z</dcterms:created>
  <dcterms:modified xsi:type="dcterms:W3CDTF">2025-08-08T02:52:13Z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